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92" d="100"/>
          <a:sy n="92" d="100"/>
        </p:scale>
        <p:origin x="10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8/22/2024</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‹Nº›</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8/22/2024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8/22/2024</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‹Nº›</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8/22/2024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257300" y="2909102"/>
            <a:ext cx="4800600" cy="299639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6633864" y="2909102"/>
            <a:ext cx="4800600" cy="299639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8/22/2024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8/22/2024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8/22/2024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8/22/2024</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‹Nº›</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8/22/2024</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8/22/2024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8/22/2024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8/22/2024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‹Nº›</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PE" sz="6600" dirty="0"/>
              <a:t>Transformación de espacio vectorial </a:t>
            </a:r>
            <a:r>
              <a:rPr lang="es-PE" sz="6600" dirty="0" err="1"/>
              <a:t>rgb</a:t>
            </a:r>
            <a:r>
              <a:rPr lang="es-PE" sz="6600" dirty="0"/>
              <a:t> a </a:t>
            </a:r>
            <a:r>
              <a:rPr lang="es-PE" sz="6600" dirty="0" err="1"/>
              <a:t>hsv</a:t>
            </a:r>
            <a:r>
              <a:rPr lang="es-PE" sz="6600" dirty="0"/>
              <a:t> y Procesos morfológicos i</a:t>
            </a:r>
          </a:p>
        </p:txBody>
      </p:sp>
    </p:spTree>
    <p:extLst>
      <p:ext uri="{BB962C8B-B14F-4D97-AF65-F5344CB8AC3E}">
        <p14:creationId xmlns:p14="http://schemas.microsoft.com/office/powerpoint/2010/main" val="2437612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Objetivos:</a:t>
            </a:r>
            <a:br>
              <a:rPr lang="es-PE" dirty="0"/>
            </a:br>
            <a:endParaRPr lang="es-PE" dirty="0"/>
          </a:p>
        </p:txBody>
      </p:sp>
      <p:sp>
        <p:nvSpPr>
          <p:cNvPr id="3" name="Marcador de contenido 2"/>
          <p:cNvSpPr>
            <a:spLocks noGrp="1"/>
          </p:cNvSpPr>
          <p:nvPr>
            <p:ph idx="1"/>
          </p:nvPr>
        </p:nvSpPr>
        <p:spPr>
          <a:xfrm>
            <a:off x="1251678" y="1751527"/>
            <a:ext cx="10178322" cy="4494727"/>
          </a:xfrm>
        </p:spPr>
        <p:txBody>
          <a:bodyPr>
            <a:normAutofit lnSpcReduction="10000"/>
          </a:bodyPr>
          <a:lstStyle/>
          <a:p>
            <a:pPr algn="just"/>
            <a:r>
              <a:rPr lang="es-PE" dirty="0">
                <a:solidFill>
                  <a:schemeClr val="tx1"/>
                </a:solidFill>
              </a:rPr>
              <a:t>Conocer lo que es un espacio de color HSV.</a:t>
            </a:r>
          </a:p>
          <a:p>
            <a:pPr algn="just"/>
            <a:r>
              <a:rPr lang="es-PE" dirty="0">
                <a:solidFill>
                  <a:schemeClr val="tx1"/>
                </a:solidFill>
              </a:rPr>
              <a:t>Conocer lo que significa las siglas HSV.</a:t>
            </a:r>
          </a:p>
          <a:p>
            <a:pPr algn="just"/>
            <a:r>
              <a:rPr lang="es-PE" dirty="0">
                <a:solidFill>
                  <a:schemeClr val="tx1"/>
                </a:solidFill>
              </a:rPr>
              <a:t>Detectar los valores HSV de los colores Rojo, Verde y Azul.</a:t>
            </a:r>
          </a:p>
          <a:p>
            <a:pPr algn="just"/>
            <a:r>
              <a:rPr lang="es-PE" dirty="0">
                <a:solidFill>
                  <a:schemeClr val="tx1"/>
                </a:solidFill>
              </a:rPr>
              <a:t>Reconocimiento de un objeto mediante los valores HSV</a:t>
            </a:r>
          </a:p>
          <a:p>
            <a:pPr algn="just"/>
            <a:r>
              <a:rPr lang="es-PE" dirty="0">
                <a:solidFill>
                  <a:schemeClr val="tx1"/>
                </a:solidFill>
              </a:rPr>
              <a:t>Seguimiento de un objeto utilizando una webcam.</a:t>
            </a:r>
          </a:p>
          <a:p>
            <a:pPr algn="just"/>
            <a:r>
              <a:rPr lang="es-PE" dirty="0">
                <a:solidFill>
                  <a:schemeClr val="tx1"/>
                </a:solidFill>
              </a:rPr>
              <a:t>Conocer el filtro Gaussiano.</a:t>
            </a:r>
          </a:p>
          <a:p>
            <a:pPr algn="just"/>
            <a:r>
              <a:rPr lang="es-PE" dirty="0">
                <a:solidFill>
                  <a:schemeClr val="tx1"/>
                </a:solidFill>
              </a:rPr>
              <a:t>Conocer el filtro Medio.</a:t>
            </a:r>
          </a:p>
          <a:p>
            <a:pPr algn="just"/>
            <a:r>
              <a:rPr lang="es-PE" sz="2100" dirty="0">
                <a:solidFill>
                  <a:schemeClr val="tx1"/>
                </a:solidFill>
              </a:rPr>
              <a:t>Definiciones básicas del proceso morfológico</a:t>
            </a:r>
          </a:p>
          <a:p>
            <a:pPr algn="just"/>
            <a:r>
              <a:rPr lang="es-PE" sz="2100" dirty="0">
                <a:solidFill>
                  <a:schemeClr val="tx1"/>
                </a:solidFill>
              </a:rPr>
              <a:t>Elementos del proceso morfológico </a:t>
            </a:r>
          </a:p>
          <a:p>
            <a:pPr algn="just"/>
            <a:r>
              <a:rPr lang="es-PE" sz="2100" dirty="0">
                <a:solidFill>
                  <a:schemeClr val="tx1"/>
                </a:solidFill>
              </a:rPr>
              <a:t>Filtro de erosión.</a:t>
            </a:r>
          </a:p>
          <a:p>
            <a:pPr algn="just"/>
            <a:r>
              <a:rPr lang="es-PE" sz="2100" dirty="0">
                <a:solidFill>
                  <a:schemeClr val="tx1"/>
                </a:solidFill>
              </a:rPr>
              <a:t>Filtro de dilatación.</a:t>
            </a:r>
            <a:endParaRPr lang="es-PE" dirty="0">
              <a:solidFill>
                <a:schemeClr val="tx1"/>
              </a:solidFill>
            </a:endParaRPr>
          </a:p>
          <a:p>
            <a:pPr algn="just"/>
            <a:endParaRPr lang="es-PE" dirty="0">
              <a:solidFill>
                <a:schemeClr val="tx1"/>
              </a:solidFill>
            </a:endParaRPr>
          </a:p>
          <a:p>
            <a:endParaRPr lang="es-PE" dirty="0"/>
          </a:p>
        </p:txBody>
      </p:sp>
    </p:spTree>
    <p:extLst>
      <p:ext uri="{BB962C8B-B14F-4D97-AF65-F5344CB8AC3E}">
        <p14:creationId xmlns:p14="http://schemas.microsoft.com/office/powerpoint/2010/main" val="1515257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¿Qué es un espacio de color HSV?</a:t>
            </a:r>
          </a:p>
        </p:txBody>
      </p:sp>
      <p:sp>
        <p:nvSpPr>
          <p:cNvPr id="3" name="Marcador de contenido 2"/>
          <p:cNvSpPr>
            <a:spLocks noGrp="1"/>
          </p:cNvSpPr>
          <p:nvPr>
            <p:ph idx="1"/>
          </p:nvPr>
        </p:nvSpPr>
        <p:spPr/>
        <p:txBody>
          <a:bodyPr/>
          <a:lstStyle/>
          <a:p>
            <a:pPr algn="just"/>
            <a:r>
              <a:rPr lang="es-PE" dirty="0">
                <a:solidFill>
                  <a:schemeClr val="tx1"/>
                </a:solidFill>
              </a:rPr>
              <a:t>Dentro del ordenador, los colores vienen codificados por números. Hay varias formas de codificar los colores. La más popular es el sistema de color RGB, que sin duda todos conocéis. Este sistema asigna a cada color una cantidad de Rojo, Verde y Azul entre 0 y 255. Por ejemplo, el rojo puro es [255,0,0]. Hasta aquí todo correcto, ¿no?</a:t>
            </a:r>
          </a:p>
          <a:p>
            <a:pPr algn="just"/>
            <a:r>
              <a:rPr lang="es-PE" dirty="0">
                <a:solidFill>
                  <a:schemeClr val="tx1"/>
                </a:solidFill>
              </a:rPr>
              <a:t>Pero hay otras formas de codificar los colores. El </a:t>
            </a:r>
            <a:r>
              <a:rPr lang="es-PE" b="1" dirty="0">
                <a:solidFill>
                  <a:schemeClr val="tx1"/>
                </a:solidFill>
              </a:rPr>
              <a:t>HSV</a:t>
            </a:r>
            <a:r>
              <a:rPr lang="es-PE" dirty="0">
                <a:solidFill>
                  <a:schemeClr val="tx1"/>
                </a:solidFill>
              </a:rPr>
              <a:t> (del inglés </a:t>
            </a:r>
            <a:r>
              <a:rPr lang="es-PE" dirty="0" err="1">
                <a:solidFill>
                  <a:schemeClr val="tx1"/>
                </a:solidFill>
              </a:rPr>
              <a:t>Hue,Saturation,Value</a:t>
            </a:r>
            <a:r>
              <a:rPr lang="es-PE" dirty="0">
                <a:solidFill>
                  <a:schemeClr val="tx1"/>
                </a:solidFill>
              </a:rPr>
              <a:t> – Tono, Saturación y Valor) es ideal para reconocimiento de colores.</a:t>
            </a:r>
          </a:p>
          <a:p>
            <a:pPr marL="0" indent="0">
              <a:buNone/>
            </a:pPr>
            <a:endParaRPr lang="es-PE" dirty="0"/>
          </a:p>
        </p:txBody>
      </p:sp>
    </p:spTree>
    <p:extLst>
      <p:ext uri="{BB962C8B-B14F-4D97-AF65-F5344CB8AC3E}">
        <p14:creationId xmlns:p14="http://schemas.microsoft.com/office/powerpoint/2010/main" val="3504153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¿Qué significa los valores HSV?</a:t>
            </a:r>
          </a:p>
        </p:txBody>
      </p:sp>
      <p:sp>
        <p:nvSpPr>
          <p:cNvPr id="3" name="Marcador de contenido 2"/>
          <p:cNvSpPr>
            <a:spLocks noGrp="1"/>
          </p:cNvSpPr>
          <p:nvPr>
            <p:ph idx="1"/>
          </p:nvPr>
        </p:nvSpPr>
        <p:spPr>
          <a:xfrm>
            <a:off x="1251678" y="1435995"/>
            <a:ext cx="10178322" cy="3593591"/>
          </a:xfrm>
        </p:spPr>
        <p:txBody>
          <a:bodyPr/>
          <a:lstStyle/>
          <a:p>
            <a:pPr algn="just"/>
            <a:r>
              <a:rPr lang="es-PE" b="1" dirty="0" err="1">
                <a:solidFill>
                  <a:schemeClr val="tx1"/>
                </a:solidFill>
              </a:rPr>
              <a:t>Hue</a:t>
            </a:r>
            <a:r>
              <a:rPr lang="es-PE" b="1" dirty="0">
                <a:solidFill>
                  <a:schemeClr val="tx1"/>
                </a:solidFill>
              </a:rPr>
              <a:t> (H)</a:t>
            </a:r>
            <a:r>
              <a:rPr lang="es-PE" dirty="0">
                <a:solidFill>
                  <a:schemeClr val="tx1"/>
                </a:solidFill>
              </a:rPr>
              <a:t> es el tono de color (por ejemplo verde, rojo, morado…)</a:t>
            </a:r>
          </a:p>
          <a:p>
            <a:pPr algn="just"/>
            <a:r>
              <a:rPr lang="es-PE" b="1" dirty="0" err="1">
                <a:solidFill>
                  <a:schemeClr val="tx1"/>
                </a:solidFill>
              </a:rPr>
              <a:t>Saturation</a:t>
            </a:r>
            <a:r>
              <a:rPr lang="es-PE" b="1" dirty="0">
                <a:solidFill>
                  <a:schemeClr val="tx1"/>
                </a:solidFill>
              </a:rPr>
              <a:t> (S)</a:t>
            </a:r>
            <a:r>
              <a:rPr lang="es-PE" dirty="0">
                <a:solidFill>
                  <a:schemeClr val="tx1"/>
                </a:solidFill>
              </a:rPr>
              <a:t> es la intensidad de esta tonalidad. Cuanta menos saturación, más gris es el color.</a:t>
            </a:r>
          </a:p>
          <a:p>
            <a:pPr algn="just"/>
            <a:r>
              <a:rPr lang="es-PE" b="1" dirty="0" err="1">
                <a:solidFill>
                  <a:schemeClr val="tx1"/>
                </a:solidFill>
              </a:rPr>
              <a:t>Value</a:t>
            </a:r>
            <a:r>
              <a:rPr lang="es-PE" dirty="0">
                <a:solidFill>
                  <a:schemeClr val="tx1"/>
                </a:solidFill>
              </a:rPr>
              <a:t> (</a:t>
            </a:r>
            <a:r>
              <a:rPr lang="es-PE" b="1" dirty="0">
                <a:solidFill>
                  <a:schemeClr val="tx1"/>
                </a:solidFill>
              </a:rPr>
              <a:t>V</a:t>
            </a:r>
            <a:r>
              <a:rPr lang="es-PE" dirty="0">
                <a:solidFill>
                  <a:schemeClr val="tx1"/>
                </a:solidFill>
              </a:rPr>
              <a:t>) es la luminosidad del color</a:t>
            </a:r>
            <a:r>
              <a:rPr lang="es-PE" b="1" dirty="0">
                <a:solidFill>
                  <a:schemeClr val="tx1"/>
                </a:solidFill>
              </a:rPr>
              <a:t>.</a:t>
            </a:r>
            <a:endParaRPr lang="es-PE" dirty="0">
              <a:solidFill>
                <a:schemeClr val="tx1"/>
              </a:solidFill>
            </a:endParaRPr>
          </a:p>
          <a:p>
            <a:pPr marL="0" indent="0">
              <a:buNone/>
            </a:pPr>
            <a:endParaRPr lang="es-PE" dirty="0"/>
          </a:p>
        </p:txBody>
      </p:sp>
      <p:pic>
        <p:nvPicPr>
          <p:cNvPr id="4" name="Imagen 3"/>
          <p:cNvPicPr>
            <a:picLocks noChangeAspect="1"/>
          </p:cNvPicPr>
          <p:nvPr/>
        </p:nvPicPr>
        <p:blipFill>
          <a:blip r:embed="rId2"/>
          <a:stretch>
            <a:fillRect/>
          </a:stretch>
        </p:blipFill>
        <p:spPr>
          <a:xfrm>
            <a:off x="2680950" y="3168397"/>
            <a:ext cx="6730843" cy="2524066"/>
          </a:xfrm>
          <a:prstGeom prst="rect">
            <a:avLst/>
          </a:prstGeom>
        </p:spPr>
      </p:pic>
      <p:sp>
        <p:nvSpPr>
          <p:cNvPr id="5" name="CuadroTexto 4"/>
          <p:cNvSpPr txBox="1"/>
          <p:nvPr/>
        </p:nvSpPr>
        <p:spPr>
          <a:xfrm>
            <a:off x="1251678" y="5910147"/>
            <a:ext cx="10343974" cy="646331"/>
          </a:xfrm>
          <a:prstGeom prst="rect">
            <a:avLst/>
          </a:prstGeom>
          <a:noFill/>
        </p:spPr>
        <p:txBody>
          <a:bodyPr wrap="square" rtlCol="0">
            <a:spAutoFit/>
          </a:bodyPr>
          <a:lstStyle/>
          <a:p>
            <a:r>
              <a:rPr lang="es-PE" b="1" u="sng" dirty="0"/>
              <a:t>Nota importante:</a:t>
            </a:r>
            <a:r>
              <a:rPr lang="es-PE" dirty="0"/>
              <a:t> en algunos programas el rango de </a:t>
            </a:r>
            <a:r>
              <a:rPr lang="es-PE" dirty="0" err="1"/>
              <a:t>Hue</a:t>
            </a:r>
            <a:r>
              <a:rPr lang="es-PE" dirty="0"/>
              <a:t> es de 0 a 100 o de 0 a 360. También hay veces en que </a:t>
            </a:r>
            <a:r>
              <a:rPr lang="es-PE" dirty="0" err="1"/>
              <a:t>Saturation</a:t>
            </a:r>
            <a:r>
              <a:rPr lang="es-PE" dirty="0"/>
              <a:t> y </a:t>
            </a:r>
            <a:r>
              <a:rPr lang="es-PE" dirty="0" err="1"/>
              <a:t>Value</a:t>
            </a:r>
            <a:r>
              <a:rPr lang="es-PE" dirty="0"/>
              <a:t> van de 0 a 100. </a:t>
            </a:r>
            <a:r>
              <a:rPr lang="es-PE" b="1" dirty="0"/>
              <a:t>El rango de </a:t>
            </a:r>
            <a:r>
              <a:rPr lang="es-PE" b="1" dirty="0" err="1"/>
              <a:t>OpenCV</a:t>
            </a:r>
            <a:r>
              <a:rPr lang="es-PE" b="1" dirty="0"/>
              <a:t> es de </a:t>
            </a:r>
            <a:r>
              <a:rPr lang="es-PE" b="1" u="sng" dirty="0"/>
              <a:t>0 a 255</a:t>
            </a:r>
            <a:r>
              <a:rPr lang="es-PE" b="1" dirty="0"/>
              <a:t> para H, S y V.</a:t>
            </a:r>
            <a:endParaRPr lang="es-PE" dirty="0"/>
          </a:p>
        </p:txBody>
      </p:sp>
    </p:spTree>
    <p:extLst>
      <p:ext uri="{BB962C8B-B14F-4D97-AF65-F5344CB8AC3E}">
        <p14:creationId xmlns:p14="http://schemas.microsoft.com/office/powerpoint/2010/main" val="4273274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CALCULO DEL VALOR HSV DE LOS COLORES RGB</a:t>
            </a:r>
          </a:p>
        </p:txBody>
      </p:sp>
      <p:pic>
        <p:nvPicPr>
          <p:cNvPr id="6" name="Imagen 5"/>
          <p:cNvPicPr>
            <a:picLocks noChangeAspect="1"/>
          </p:cNvPicPr>
          <p:nvPr/>
        </p:nvPicPr>
        <p:blipFill rotWithShape="1">
          <a:blip r:embed="rId2"/>
          <a:srcRect l="43415" t="15758" r="10951" b="56999"/>
          <a:stretch/>
        </p:blipFill>
        <p:spPr>
          <a:xfrm>
            <a:off x="1251678" y="2454066"/>
            <a:ext cx="10031885" cy="336718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20823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Imagen:</a:t>
            </a: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1179" y="1128451"/>
            <a:ext cx="4400550" cy="5514975"/>
          </a:xfrm>
          <a:prstGeom prst="rect">
            <a:avLst/>
          </a:prstGeom>
        </p:spPr>
      </p:pic>
      <p:sp>
        <p:nvSpPr>
          <p:cNvPr id="3" name="CuadroTexto 2">
            <a:extLst>
              <a:ext uri="{FF2B5EF4-FFF2-40B4-BE49-F238E27FC236}">
                <a16:creationId xmlns:a16="http://schemas.microsoft.com/office/drawing/2014/main" id="{B69A7FC8-F14F-4FFD-BFC9-21D34D9D59D6}"/>
              </a:ext>
            </a:extLst>
          </p:cNvPr>
          <p:cNvSpPr txBox="1"/>
          <p:nvPr/>
        </p:nvSpPr>
        <p:spPr>
          <a:xfrm>
            <a:off x="8660296" y="1128451"/>
            <a:ext cx="2769704" cy="1477328"/>
          </a:xfrm>
          <a:prstGeom prst="rect">
            <a:avLst/>
          </a:prstGeom>
          <a:noFill/>
        </p:spPr>
        <p:txBody>
          <a:bodyPr wrap="square" rtlCol="0">
            <a:spAutoFit/>
          </a:bodyPr>
          <a:lstStyle/>
          <a:p>
            <a:r>
              <a:rPr lang="es-MX" dirty="0"/>
              <a:t> R   G   B</a:t>
            </a:r>
          </a:p>
          <a:p>
            <a:endParaRPr lang="es-MX" dirty="0"/>
          </a:p>
          <a:p>
            <a:r>
              <a:rPr lang="es-MX" dirty="0" err="1"/>
              <a:t>Rmin</a:t>
            </a:r>
            <a:r>
              <a:rPr lang="es-MX" dirty="0"/>
              <a:t> </a:t>
            </a:r>
            <a:r>
              <a:rPr lang="es-MX" dirty="0" err="1"/>
              <a:t>Gmin</a:t>
            </a:r>
            <a:r>
              <a:rPr lang="es-MX" dirty="0"/>
              <a:t> </a:t>
            </a:r>
            <a:r>
              <a:rPr lang="es-MX" dirty="0" err="1"/>
              <a:t>Bmin</a:t>
            </a:r>
            <a:endParaRPr lang="es-MX" dirty="0"/>
          </a:p>
          <a:p>
            <a:endParaRPr lang="es-MX" dirty="0"/>
          </a:p>
          <a:p>
            <a:r>
              <a:rPr lang="es-MX" dirty="0" err="1"/>
              <a:t>Rmax</a:t>
            </a:r>
            <a:r>
              <a:rPr lang="es-MX" dirty="0"/>
              <a:t> </a:t>
            </a:r>
            <a:r>
              <a:rPr lang="es-MX" dirty="0" err="1"/>
              <a:t>Gmax</a:t>
            </a:r>
            <a:r>
              <a:rPr lang="es-MX" dirty="0"/>
              <a:t> </a:t>
            </a:r>
            <a:r>
              <a:rPr lang="es-MX" dirty="0" err="1"/>
              <a:t>Bmax</a:t>
            </a:r>
            <a:endParaRPr lang="es-PE" dirty="0"/>
          </a:p>
        </p:txBody>
      </p:sp>
      <p:sp>
        <p:nvSpPr>
          <p:cNvPr id="5" name="CuadroTexto 4">
            <a:extLst>
              <a:ext uri="{FF2B5EF4-FFF2-40B4-BE49-F238E27FC236}">
                <a16:creationId xmlns:a16="http://schemas.microsoft.com/office/drawing/2014/main" id="{F79A22FA-2E3E-4DD5-8ACE-FD9392BAA5F0}"/>
              </a:ext>
            </a:extLst>
          </p:cNvPr>
          <p:cNvSpPr txBox="1"/>
          <p:nvPr/>
        </p:nvSpPr>
        <p:spPr>
          <a:xfrm>
            <a:off x="8660296" y="3429000"/>
            <a:ext cx="2769704" cy="2031325"/>
          </a:xfrm>
          <a:prstGeom prst="rect">
            <a:avLst/>
          </a:prstGeom>
          <a:noFill/>
        </p:spPr>
        <p:txBody>
          <a:bodyPr wrap="square" rtlCol="0">
            <a:spAutoFit/>
          </a:bodyPr>
          <a:lstStyle/>
          <a:p>
            <a:r>
              <a:rPr lang="es-MX" dirty="0"/>
              <a:t>H    S    V</a:t>
            </a:r>
          </a:p>
          <a:p>
            <a:endParaRPr lang="es-MX" dirty="0"/>
          </a:p>
          <a:p>
            <a:r>
              <a:rPr lang="es-MX" dirty="0" err="1"/>
              <a:t>Hmin</a:t>
            </a:r>
            <a:r>
              <a:rPr lang="es-MX" dirty="0"/>
              <a:t>   </a:t>
            </a:r>
            <a:r>
              <a:rPr lang="es-MX" dirty="0" err="1"/>
              <a:t>Smin</a:t>
            </a:r>
            <a:r>
              <a:rPr lang="es-MX" dirty="0"/>
              <a:t>   </a:t>
            </a:r>
            <a:r>
              <a:rPr lang="es-MX" dirty="0" err="1"/>
              <a:t>Vmin</a:t>
            </a:r>
            <a:endParaRPr lang="es-MX" dirty="0"/>
          </a:p>
          <a:p>
            <a:endParaRPr lang="es-MX" dirty="0"/>
          </a:p>
          <a:p>
            <a:r>
              <a:rPr lang="es-MX" dirty="0" err="1"/>
              <a:t>Hmax</a:t>
            </a:r>
            <a:r>
              <a:rPr lang="es-MX" dirty="0"/>
              <a:t>  </a:t>
            </a:r>
            <a:r>
              <a:rPr lang="es-MX" dirty="0" err="1"/>
              <a:t>Smax</a:t>
            </a:r>
            <a:r>
              <a:rPr lang="es-MX" dirty="0"/>
              <a:t>   </a:t>
            </a:r>
            <a:r>
              <a:rPr lang="es-MX" dirty="0" err="1"/>
              <a:t>Vmax</a:t>
            </a:r>
            <a:endParaRPr lang="es-MX" dirty="0"/>
          </a:p>
          <a:p>
            <a:endParaRPr lang="es-MX" dirty="0"/>
          </a:p>
          <a:p>
            <a:r>
              <a:rPr lang="es-MX" dirty="0" err="1"/>
              <a:t>Smax</a:t>
            </a:r>
            <a:r>
              <a:rPr lang="es-MX" dirty="0"/>
              <a:t> y </a:t>
            </a:r>
            <a:r>
              <a:rPr lang="es-MX" dirty="0" err="1"/>
              <a:t>Vmax</a:t>
            </a:r>
            <a:r>
              <a:rPr lang="es-MX" dirty="0"/>
              <a:t> =255 </a:t>
            </a:r>
            <a:endParaRPr lang="es-PE" dirty="0"/>
          </a:p>
        </p:txBody>
      </p:sp>
    </p:spTree>
    <p:extLst>
      <p:ext uri="{BB962C8B-B14F-4D97-AF65-F5344CB8AC3E}">
        <p14:creationId xmlns:p14="http://schemas.microsoft.com/office/powerpoint/2010/main" val="1282096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Código:</a:t>
            </a:r>
          </a:p>
        </p:txBody>
      </p:sp>
      <p:pic>
        <p:nvPicPr>
          <p:cNvPr id="4" name="Imagen 3"/>
          <p:cNvPicPr>
            <a:picLocks noChangeAspect="1"/>
          </p:cNvPicPr>
          <p:nvPr/>
        </p:nvPicPr>
        <p:blipFill rotWithShape="1">
          <a:blip r:embed="rId2"/>
          <a:srcRect l="23345" t="10685" r="47606" b="55495"/>
          <a:stretch/>
        </p:blipFill>
        <p:spPr>
          <a:xfrm>
            <a:off x="1251678" y="1352282"/>
            <a:ext cx="4814271" cy="31511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Imagen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9450" y="1012541"/>
            <a:ext cx="4400550" cy="55149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Imagen 8"/>
          <p:cNvPicPr>
            <a:picLocks noChangeAspect="1"/>
          </p:cNvPicPr>
          <p:nvPr/>
        </p:nvPicPr>
        <p:blipFill rotWithShape="1">
          <a:blip r:embed="rId4"/>
          <a:srcRect l="34753" t="13878" r="54050" b="69024"/>
          <a:stretch/>
        </p:blipFill>
        <p:spPr>
          <a:xfrm>
            <a:off x="1251678" y="4984124"/>
            <a:ext cx="1797798" cy="15433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Imagen 9"/>
          <p:cNvPicPr>
            <a:picLocks noChangeAspect="1"/>
          </p:cNvPicPr>
          <p:nvPr/>
        </p:nvPicPr>
        <p:blipFill rotWithShape="1">
          <a:blip r:embed="rId4"/>
          <a:srcRect l="78698" t="15006" r="10739" b="67896"/>
          <a:stretch/>
        </p:blipFill>
        <p:spPr>
          <a:xfrm>
            <a:off x="4365937" y="4980506"/>
            <a:ext cx="1700012" cy="15470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62676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resultado:</a:t>
            </a:r>
          </a:p>
        </p:txBody>
      </p:sp>
      <p:pic>
        <p:nvPicPr>
          <p:cNvPr id="4" name="Imagen 3"/>
          <p:cNvPicPr>
            <a:picLocks noChangeAspect="1"/>
          </p:cNvPicPr>
          <p:nvPr/>
        </p:nvPicPr>
        <p:blipFill rotWithShape="1">
          <a:blip r:embed="rId2"/>
          <a:srcRect l="10880" t="14066" r="53944" b="5894"/>
          <a:stretch/>
        </p:blipFill>
        <p:spPr>
          <a:xfrm>
            <a:off x="1558344" y="1275009"/>
            <a:ext cx="4288665" cy="5486400"/>
          </a:xfrm>
          <a:prstGeom prst="rect">
            <a:avLst/>
          </a:prstGeom>
        </p:spPr>
      </p:pic>
      <p:pic>
        <p:nvPicPr>
          <p:cNvPr id="5" name="Imagen 4"/>
          <p:cNvPicPr>
            <a:picLocks noChangeAspect="1"/>
          </p:cNvPicPr>
          <p:nvPr/>
        </p:nvPicPr>
        <p:blipFill rotWithShape="1">
          <a:blip r:embed="rId2"/>
          <a:srcRect l="54296" t="15006" r="10739" b="5330"/>
          <a:stretch/>
        </p:blipFill>
        <p:spPr>
          <a:xfrm>
            <a:off x="6606863" y="1275009"/>
            <a:ext cx="4262908" cy="5460642"/>
          </a:xfrm>
          <a:prstGeom prst="rect">
            <a:avLst/>
          </a:prstGeom>
        </p:spPr>
      </p:pic>
    </p:spTree>
    <p:extLst>
      <p:ext uri="{BB962C8B-B14F-4D97-AF65-F5344CB8AC3E}">
        <p14:creationId xmlns:p14="http://schemas.microsoft.com/office/powerpoint/2010/main" val="999165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CODIGO DE LA CAMARA:</a:t>
            </a:r>
          </a:p>
        </p:txBody>
      </p:sp>
      <p:pic>
        <p:nvPicPr>
          <p:cNvPr id="4" name="Imagen 3"/>
          <p:cNvPicPr>
            <a:picLocks noChangeAspect="1"/>
          </p:cNvPicPr>
          <p:nvPr/>
        </p:nvPicPr>
        <p:blipFill rotWithShape="1">
          <a:blip r:embed="rId2"/>
          <a:srcRect l="9930" t="13128" r="59437" b="32386"/>
          <a:stretch/>
        </p:blipFill>
        <p:spPr>
          <a:xfrm>
            <a:off x="1251678" y="1081825"/>
            <a:ext cx="5058970" cy="35674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n 4"/>
          <p:cNvPicPr>
            <a:picLocks noChangeAspect="1"/>
          </p:cNvPicPr>
          <p:nvPr/>
        </p:nvPicPr>
        <p:blipFill rotWithShape="1">
          <a:blip r:embed="rId3"/>
          <a:srcRect r="69245"/>
          <a:stretch/>
        </p:blipFill>
        <p:spPr>
          <a:xfrm>
            <a:off x="7314456" y="1282998"/>
            <a:ext cx="2988643" cy="26125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n 5"/>
          <p:cNvPicPr>
            <a:picLocks noChangeAspect="1"/>
          </p:cNvPicPr>
          <p:nvPr/>
        </p:nvPicPr>
        <p:blipFill rotWithShape="1">
          <a:blip r:embed="rId3"/>
          <a:srcRect l="31026" r="34299"/>
          <a:stretch/>
        </p:blipFill>
        <p:spPr>
          <a:xfrm>
            <a:off x="2362876" y="4810575"/>
            <a:ext cx="2360054" cy="18298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Imagen 6"/>
          <p:cNvPicPr>
            <a:picLocks noChangeAspect="1"/>
          </p:cNvPicPr>
          <p:nvPr/>
        </p:nvPicPr>
        <p:blipFill rotWithShape="1">
          <a:blip r:embed="rId3"/>
          <a:srcRect l="65972"/>
          <a:stretch/>
        </p:blipFill>
        <p:spPr>
          <a:xfrm>
            <a:off x="7481101" y="4410770"/>
            <a:ext cx="2821998" cy="22296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47728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Calculo de los parámetros HSV:</a:t>
            </a:r>
          </a:p>
        </p:txBody>
      </p:sp>
      <p:pic>
        <p:nvPicPr>
          <p:cNvPr id="7" name="Imagen 6"/>
          <p:cNvPicPr>
            <a:picLocks noChangeAspect="1"/>
          </p:cNvPicPr>
          <p:nvPr/>
        </p:nvPicPr>
        <p:blipFill rotWithShape="1">
          <a:blip r:embed="rId2">
            <a:extLst>
              <a:ext uri="{28A0092B-C50C-407E-A947-70E740481C1C}">
                <a14:useLocalDpi xmlns:a14="http://schemas.microsoft.com/office/drawing/2010/main" val="0"/>
              </a:ext>
            </a:extLst>
          </a:blip>
          <a:srcRect r="35485"/>
          <a:stretch/>
        </p:blipFill>
        <p:spPr>
          <a:xfrm>
            <a:off x="1251678" y="1128451"/>
            <a:ext cx="4582452" cy="55583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Imagen 7"/>
          <p:cNvPicPr>
            <a:picLocks noChangeAspect="1"/>
          </p:cNvPicPr>
          <p:nvPr/>
        </p:nvPicPr>
        <p:blipFill rotWithShape="1">
          <a:blip r:embed="rId3"/>
          <a:srcRect t="372" r="51807" b="32531"/>
          <a:stretch/>
        </p:blipFill>
        <p:spPr>
          <a:xfrm>
            <a:off x="6950579" y="1128451"/>
            <a:ext cx="3629874" cy="28413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Imagen 8"/>
          <p:cNvPicPr>
            <a:picLocks noChangeAspect="1"/>
          </p:cNvPicPr>
          <p:nvPr/>
        </p:nvPicPr>
        <p:blipFill rotWithShape="1">
          <a:blip r:embed="rId3"/>
          <a:srcRect l="57561" t="11480" r="4590" b="50083"/>
          <a:stretch/>
        </p:blipFill>
        <p:spPr>
          <a:xfrm>
            <a:off x="6582546" y="4194909"/>
            <a:ext cx="4364496" cy="24919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08533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sz="5400" b="1" dirty="0"/>
              <a:t>Filtrado gaussiano:</a:t>
            </a:r>
            <a:endParaRPr lang="es-PE" dirty="0"/>
          </a:p>
        </p:txBody>
      </p:sp>
      <p:sp>
        <p:nvSpPr>
          <p:cNvPr id="3" name="Marcador de contenido 2"/>
          <p:cNvSpPr>
            <a:spLocks noGrp="1"/>
          </p:cNvSpPr>
          <p:nvPr>
            <p:ph idx="1"/>
          </p:nvPr>
        </p:nvSpPr>
        <p:spPr>
          <a:xfrm>
            <a:off x="1251678" y="1712890"/>
            <a:ext cx="5200637" cy="4919729"/>
          </a:xfrm>
        </p:spPr>
        <p:txBody>
          <a:bodyPr>
            <a:normAutofit lnSpcReduction="10000"/>
          </a:bodyPr>
          <a:lstStyle/>
          <a:p>
            <a:pPr algn="just"/>
            <a:r>
              <a:rPr lang="es-PE" dirty="0">
                <a:solidFill>
                  <a:schemeClr val="tx1"/>
                </a:solidFill>
                <a:latin typeface="Lato"/>
              </a:rPr>
              <a:t>En este enfoque, en lugar de un filtro de caja que consiste en coeficientes de filtro iguales, se utiliza un núcleo gaussiano. Se realiza con la función, </a:t>
            </a:r>
            <a:r>
              <a:rPr lang="es-PE" b="1" dirty="0">
                <a:solidFill>
                  <a:schemeClr val="tx1"/>
                </a:solidFill>
                <a:latin typeface="Lato"/>
              </a:rPr>
              <a:t>cv2.GaussianBlur ()</a:t>
            </a:r>
            <a:r>
              <a:rPr lang="es-PE" dirty="0">
                <a:solidFill>
                  <a:schemeClr val="tx1"/>
                </a:solidFill>
                <a:latin typeface="Lato"/>
              </a:rPr>
              <a:t> . Deberíamos especificar el ancho y la altura del núcleo, que debería ser positivo e impar. También debemos especificar la desviación estándar en las direcciones X e Y, </a:t>
            </a:r>
            <a:r>
              <a:rPr lang="es-PE" dirty="0" err="1">
                <a:solidFill>
                  <a:schemeClr val="tx1"/>
                </a:solidFill>
                <a:latin typeface="Lato"/>
              </a:rPr>
              <a:t>sigmaX</a:t>
            </a:r>
            <a:r>
              <a:rPr lang="es-PE" dirty="0">
                <a:solidFill>
                  <a:schemeClr val="tx1"/>
                </a:solidFill>
                <a:latin typeface="Lato"/>
              </a:rPr>
              <a:t> y </a:t>
            </a:r>
            <a:r>
              <a:rPr lang="es-PE" dirty="0" err="1">
                <a:solidFill>
                  <a:schemeClr val="tx1"/>
                </a:solidFill>
                <a:latin typeface="Lato"/>
              </a:rPr>
              <a:t>sigmaY</a:t>
            </a:r>
            <a:r>
              <a:rPr lang="es-PE" dirty="0">
                <a:solidFill>
                  <a:schemeClr val="tx1"/>
                </a:solidFill>
                <a:latin typeface="Lato"/>
              </a:rPr>
              <a:t> respectivamente. Si solo se especifica </a:t>
            </a:r>
            <a:r>
              <a:rPr lang="es-PE" dirty="0" err="1">
                <a:solidFill>
                  <a:schemeClr val="tx1"/>
                </a:solidFill>
                <a:latin typeface="Lato"/>
              </a:rPr>
              <a:t>sigmaX</a:t>
            </a:r>
            <a:r>
              <a:rPr lang="es-PE" dirty="0">
                <a:solidFill>
                  <a:schemeClr val="tx1"/>
                </a:solidFill>
                <a:latin typeface="Lato"/>
              </a:rPr>
              <a:t>, </a:t>
            </a:r>
            <a:r>
              <a:rPr lang="es-PE" dirty="0" err="1">
                <a:solidFill>
                  <a:schemeClr val="tx1"/>
                </a:solidFill>
                <a:latin typeface="Lato"/>
              </a:rPr>
              <a:t>sigmaY</a:t>
            </a:r>
            <a:r>
              <a:rPr lang="es-PE" dirty="0">
                <a:solidFill>
                  <a:schemeClr val="tx1"/>
                </a:solidFill>
                <a:latin typeface="Lato"/>
              </a:rPr>
              <a:t> se toma como igual a </a:t>
            </a:r>
            <a:r>
              <a:rPr lang="es-PE" dirty="0" err="1">
                <a:solidFill>
                  <a:schemeClr val="tx1"/>
                </a:solidFill>
                <a:latin typeface="Lato"/>
              </a:rPr>
              <a:t>sigmaX</a:t>
            </a:r>
            <a:r>
              <a:rPr lang="es-PE" dirty="0">
                <a:solidFill>
                  <a:schemeClr val="tx1"/>
                </a:solidFill>
                <a:latin typeface="Lato"/>
              </a:rPr>
              <a:t>. Si ambos se dan como ceros, se calculan a partir del tamaño del núcleo. El filtrado gaussiano es altamente efectivo para eliminar el ruido gaussiano de la imagen.</a:t>
            </a:r>
            <a:endParaRPr lang="es-PE" dirty="0">
              <a:solidFill>
                <a:schemeClr val="tx1"/>
              </a:solidFill>
            </a:endParaRPr>
          </a:p>
          <a:p>
            <a:endParaRPr lang="es-PE" dirty="0"/>
          </a:p>
        </p:txBody>
      </p:sp>
      <p:pic>
        <p:nvPicPr>
          <p:cNvPr id="4" name="Picture 2" descr="Desenfoque gaussiano"/>
          <p:cNvPicPr>
            <a:picLocks noChangeAspect="1" noChangeArrowheads="1"/>
          </p:cNvPicPr>
          <p:nvPr/>
        </p:nvPicPr>
        <p:blipFill rotWithShape="1">
          <a:blip r:embed="rId2">
            <a:extLst>
              <a:ext uri="{28A0092B-C50C-407E-A947-70E740481C1C}">
                <a14:useLocalDpi xmlns:a14="http://schemas.microsoft.com/office/drawing/2010/main" val="0"/>
              </a:ext>
            </a:extLst>
          </a:blip>
          <a:srcRect t="3096"/>
          <a:stretch/>
        </p:blipFill>
        <p:spPr bwMode="auto">
          <a:xfrm>
            <a:off x="6720760" y="2176529"/>
            <a:ext cx="5008520" cy="305229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5" name="Rectángulo 4"/>
          <p:cNvSpPr/>
          <p:nvPr/>
        </p:nvSpPr>
        <p:spPr>
          <a:xfrm>
            <a:off x="6720760" y="5642973"/>
            <a:ext cx="5008520" cy="646331"/>
          </a:xfrm>
          <a:prstGeom prst="rect">
            <a:avLst/>
          </a:prstGeom>
        </p:spPr>
        <p:txBody>
          <a:bodyPr wrap="square">
            <a:spAutoFit/>
          </a:bodyPr>
          <a:lstStyle/>
          <a:p>
            <a:pPr algn="just"/>
            <a:r>
              <a:rPr lang="es-PE" dirty="0">
                <a:latin typeface="Lato"/>
              </a:rPr>
              <a:t>Si lo desea, puede crear un núcleo gaussiano con la función, </a:t>
            </a:r>
            <a:r>
              <a:rPr lang="es-PE" b="1" dirty="0">
                <a:latin typeface="Lato"/>
              </a:rPr>
              <a:t>cv2.getGaussianKernel ()</a:t>
            </a:r>
            <a:r>
              <a:rPr lang="es-PE" dirty="0">
                <a:latin typeface="Lato"/>
              </a:rPr>
              <a:t>.</a:t>
            </a:r>
            <a:endParaRPr lang="es-PE" dirty="0"/>
          </a:p>
        </p:txBody>
      </p:sp>
    </p:spTree>
    <p:extLst>
      <p:ext uri="{BB962C8B-B14F-4D97-AF65-F5344CB8AC3E}">
        <p14:creationId xmlns:p14="http://schemas.microsoft.com/office/powerpoint/2010/main" val="2201314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FILTRADO GAUSSIANO:</a:t>
            </a:r>
          </a:p>
        </p:txBody>
      </p:sp>
      <p:pic>
        <p:nvPicPr>
          <p:cNvPr id="4" name="Imagen 3"/>
          <p:cNvPicPr>
            <a:picLocks noChangeAspect="1"/>
          </p:cNvPicPr>
          <p:nvPr/>
        </p:nvPicPr>
        <p:blipFill rotWithShape="1">
          <a:blip r:embed="rId2"/>
          <a:srcRect l="57358" t="10685" r="8416" b="62823"/>
          <a:stretch/>
        </p:blipFill>
        <p:spPr>
          <a:xfrm>
            <a:off x="3523445" y="2305315"/>
            <a:ext cx="5382296" cy="29621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24138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Filtro medio:</a:t>
            </a:r>
          </a:p>
        </p:txBody>
      </p:sp>
      <p:sp>
        <p:nvSpPr>
          <p:cNvPr id="4" name="Rectángulo 3"/>
          <p:cNvSpPr/>
          <p:nvPr/>
        </p:nvSpPr>
        <p:spPr>
          <a:xfrm>
            <a:off x="1081825" y="1687280"/>
            <a:ext cx="4649273" cy="4524315"/>
          </a:xfrm>
          <a:prstGeom prst="rect">
            <a:avLst/>
          </a:prstGeom>
        </p:spPr>
        <p:txBody>
          <a:bodyPr wrap="square">
            <a:spAutoFit/>
          </a:bodyPr>
          <a:lstStyle/>
          <a:p>
            <a:pPr algn="just"/>
            <a:r>
              <a:rPr lang="es-PE" dirty="0">
                <a:latin typeface="Lato"/>
              </a:rPr>
              <a:t>Aquí, la función </a:t>
            </a:r>
            <a:r>
              <a:rPr lang="es-PE" b="1" dirty="0">
                <a:latin typeface="Lato"/>
              </a:rPr>
              <a:t>cv2.medianBlur ()</a:t>
            </a:r>
            <a:r>
              <a:rPr lang="es-PE" dirty="0">
                <a:latin typeface="Lato"/>
              </a:rPr>
              <a:t> calcula la mediana de todos los píxeles debajo de la ventana del núcleo y el píxel central se reemplaza con este valor medio. Esto es altamente efectivo para eliminar el ruido de sal y pimienta. Una cosa interesante a tener en cuenta es que, en los filtros de cuadro y gaussianos, el valor filtrado para el elemento central puede ser un valor que puede no existir en la imagen original. Sin embargo, este no es el caso en el filtrado medio, ya que el elemento central siempre se reemplaza por algún valor de píxel en la imagen. Esto reduce el ruido de manera efectiva. El tamaño del núcleo debe ser un entero impar positivo.</a:t>
            </a:r>
            <a:endParaRPr lang="es-PE" dirty="0"/>
          </a:p>
        </p:txBody>
      </p:sp>
      <p:pic>
        <p:nvPicPr>
          <p:cNvPr id="5" name="Imagen 4"/>
          <p:cNvPicPr>
            <a:picLocks noChangeAspect="1"/>
          </p:cNvPicPr>
          <p:nvPr/>
        </p:nvPicPr>
        <p:blipFill rotWithShape="1">
          <a:blip r:embed="rId2"/>
          <a:srcRect l="57148" t="10497" r="9260" b="62260"/>
          <a:stretch/>
        </p:blipFill>
        <p:spPr>
          <a:xfrm>
            <a:off x="5900950" y="790646"/>
            <a:ext cx="5844581" cy="24253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2" descr="Median Blurring"/>
          <p:cNvPicPr>
            <a:picLocks noChangeAspect="1" noChangeArrowheads="1"/>
          </p:cNvPicPr>
          <p:nvPr/>
        </p:nvPicPr>
        <p:blipFill rotWithShape="1">
          <a:blip r:embed="rId3">
            <a:extLst>
              <a:ext uri="{28A0092B-C50C-407E-A947-70E740481C1C}">
                <a14:useLocalDpi xmlns:a14="http://schemas.microsoft.com/office/drawing/2010/main" val="0"/>
              </a:ext>
            </a:extLst>
          </a:blip>
          <a:srcRect t="6232"/>
          <a:stretch/>
        </p:blipFill>
        <p:spPr bwMode="auto">
          <a:xfrm>
            <a:off x="6547503" y="3678982"/>
            <a:ext cx="4551476" cy="27693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0775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sz="5400" b="1" dirty="0"/>
              <a:t>Actividad de Aprendizaje: </a:t>
            </a:r>
            <a:endParaRPr lang="es-PE" dirty="0"/>
          </a:p>
        </p:txBody>
      </p:sp>
      <p:grpSp>
        <p:nvGrpSpPr>
          <p:cNvPr id="4" name="Grupo 3"/>
          <p:cNvGrpSpPr/>
          <p:nvPr/>
        </p:nvGrpSpPr>
        <p:grpSpPr>
          <a:xfrm>
            <a:off x="701506" y="1704363"/>
            <a:ext cx="11123060" cy="4687584"/>
            <a:chOff x="701506" y="1846032"/>
            <a:chExt cx="11123060" cy="4687584"/>
          </a:xfrm>
        </p:grpSpPr>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506" y="2240924"/>
              <a:ext cx="3044485" cy="42693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CuadroTexto 5"/>
            <p:cNvSpPr txBox="1"/>
            <p:nvPr/>
          </p:nvSpPr>
          <p:spPr>
            <a:xfrm>
              <a:off x="1275008" y="1871592"/>
              <a:ext cx="1697003" cy="369332"/>
            </a:xfrm>
            <a:prstGeom prst="rect">
              <a:avLst/>
            </a:prstGeom>
            <a:noFill/>
          </p:spPr>
          <p:txBody>
            <a:bodyPr wrap="none" rtlCol="0">
              <a:spAutoFit/>
            </a:bodyPr>
            <a:lstStyle/>
            <a:p>
              <a:r>
                <a:rPr lang="es-PE" b="1" dirty="0"/>
                <a:t>Imagen Original</a:t>
              </a:r>
            </a:p>
          </p:txBody>
        </p:sp>
        <p:pic>
          <p:nvPicPr>
            <p:cNvPr id="7" name="Imagen 6"/>
            <p:cNvPicPr>
              <a:picLocks noChangeAspect="1"/>
            </p:cNvPicPr>
            <p:nvPr/>
          </p:nvPicPr>
          <p:blipFill rotWithShape="1">
            <a:blip r:embed="rId3"/>
            <a:srcRect l="34859" t="4110" r="27641" b="5518"/>
            <a:stretch/>
          </p:blipFill>
          <p:spPr>
            <a:xfrm>
              <a:off x="4610636" y="2240924"/>
              <a:ext cx="3168203" cy="42926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CuadroTexto 7"/>
            <p:cNvSpPr txBox="1"/>
            <p:nvPr/>
          </p:nvSpPr>
          <p:spPr>
            <a:xfrm>
              <a:off x="5002936" y="1871592"/>
              <a:ext cx="2444515" cy="369332"/>
            </a:xfrm>
            <a:prstGeom prst="rect">
              <a:avLst/>
            </a:prstGeom>
            <a:noFill/>
          </p:spPr>
          <p:txBody>
            <a:bodyPr wrap="none" rtlCol="0">
              <a:spAutoFit/>
            </a:bodyPr>
            <a:lstStyle/>
            <a:p>
              <a:r>
                <a:rPr lang="es-PE" b="1" dirty="0"/>
                <a:t>Binarización Adaptativa</a:t>
              </a:r>
            </a:p>
          </p:txBody>
        </p:sp>
        <p:pic>
          <p:nvPicPr>
            <p:cNvPr id="9" name="Imagen 8"/>
            <p:cNvPicPr>
              <a:picLocks noChangeAspect="1"/>
            </p:cNvPicPr>
            <p:nvPr/>
          </p:nvPicPr>
          <p:blipFill rotWithShape="1">
            <a:blip r:embed="rId4"/>
            <a:srcRect l="49859" t="4109" r="12430" b="5330"/>
            <a:stretch/>
          </p:blipFill>
          <p:spPr>
            <a:xfrm>
              <a:off x="8643484" y="2215364"/>
              <a:ext cx="3181082" cy="429490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CuadroTexto 9"/>
            <p:cNvSpPr txBox="1"/>
            <p:nvPr/>
          </p:nvSpPr>
          <p:spPr>
            <a:xfrm>
              <a:off x="9559609" y="1846032"/>
              <a:ext cx="1348831" cy="369332"/>
            </a:xfrm>
            <a:prstGeom prst="rect">
              <a:avLst/>
            </a:prstGeom>
            <a:noFill/>
          </p:spPr>
          <p:txBody>
            <a:bodyPr wrap="none" rtlCol="0">
              <a:spAutoFit/>
            </a:bodyPr>
            <a:lstStyle/>
            <a:p>
              <a:r>
                <a:rPr lang="es-PE" b="1" dirty="0"/>
                <a:t>Filtro Media</a:t>
              </a:r>
            </a:p>
          </p:txBody>
        </p:sp>
      </p:grpSp>
    </p:spTree>
    <p:extLst>
      <p:ext uri="{BB962C8B-B14F-4D97-AF65-F5344CB8AC3E}">
        <p14:creationId xmlns:p14="http://schemas.microsoft.com/office/powerpoint/2010/main" val="3474744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Teoría: </a:t>
            </a:r>
          </a:p>
        </p:txBody>
      </p:sp>
      <p:sp>
        <p:nvSpPr>
          <p:cNvPr id="4" name="Marcador de contenido 2"/>
          <p:cNvSpPr>
            <a:spLocks noGrp="1"/>
          </p:cNvSpPr>
          <p:nvPr>
            <p:ph idx="1"/>
          </p:nvPr>
        </p:nvSpPr>
        <p:spPr>
          <a:xfrm>
            <a:off x="1082899" y="1680695"/>
            <a:ext cx="4622442" cy="4739424"/>
          </a:xfrm>
        </p:spPr>
        <p:txBody>
          <a:bodyPr>
            <a:normAutofit fontScale="92500" lnSpcReduction="10000"/>
          </a:bodyPr>
          <a:lstStyle/>
          <a:p>
            <a:pPr algn="just"/>
            <a:r>
              <a:rPr lang="es-PE" sz="2000" b="0" dirty="0">
                <a:solidFill>
                  <a:schemeClr val="tx1"/>
                </a:solidFill>
                <a:latin typeface="Arial" panose="020B0604020202020204" pitchFamily="34" charset="0"/>
                <a:cs typeface="Arial" panose="020B0604020202020204" pitchFamily="34" charset="0"/>
              </a:rPr>
              <a:t>Las transformaciones morfológicas son algunas operaciones simples basadas en la forma de la imagen. Normalmente se realiza en imágenes binarias. Necesita dos entradas, una es nuestra imagen original, la segunda se llama elemento de estructuración o </a:t>
            </a:r>
            <a:r>
              <a:rPr lang="es-PE" sz="2000" b="0" dirty="0" err="1">
                <a:solidFill>
                  <a:schemeClr val="tx1"/>
                </a:solidFill>
                <a:latin typeface="Arial" panose="020B0604020202020204" pitchFamily="34" charset="0"/>
                <a:cs typeface="Arial" panose="020B0604020202020204" pitchFamily="34" charset="0"/>
              </a:rPr>
              <a:t>kernel</a:t>
            </a:r>
            <a:r>
              <a:rPr lang="es-PE" sz="2000" b="0" dirty="0">
                <a:solidFill>
                  <a:schemeClr val="tx1"/>
                </a:solidFill>
                <a:latin typeface="Arial" panose="020B0604020202020204" pitchFamily="34" charset="0"/>
                <a:cs typeface="Arial" panose="020B0604020202020204" pitchFamily="34" charset="0"/>
              </a:rPr>
              <a:t> que decide la naturaleza de la operación. Dos operadores morfológicos básicos son la erosión y la dilatación. Luego, sus variantes de formas como Apertura, Cierre, Gradiente, etc. también entran en juego. Los veremos uno por uno con la ayuda de la siguiente imagen:</a:t>
            </a:r>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9408" y="2065081"/>
            <a:ext cx="5270592" cy="3936474"/>
          </a:xfrm>
          <a:prstGeom prst="rect">
            <a:avLst/>
          </a:prstGeom>
        </p:spPr>
      </p:pic>
    </p:spTree>
    <p:extLst>
      <p:ext uri="{BB962C8B-B14F-4D97-AF65-F5344CB8AC3E}">
        <p14:creationId xmlns:p14="http://schemas.microsoft.com/office/powerpoint/2010/main" val="1655356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EROSIÓN:</a:t>
            </a:r>
          </a:p>
        </p:txBody>
      </p:sp>
      <p:sp>
        <p:nvSpPr>
          <p:cNvPr id="4" name="Marcador de contenido 2"/>
          <p:cNvSpPr>
            <a:spLocks noGrp="1"/>
          </p:cNvSpPr>
          <p:nvPr>
            <p:ph idx="1"/>
          </p:nvPr>
        </p:nvSpPr>
        <p:spPr/>
        <p:txBody>
          <a:bodyPr>
            <a:normAutofit/>
          </a:bodyPr>
          <a:lstStyle/>
          <a:p>
            <a:pPr algn="just"/>
            <a:r>
              <a:rPr lang="es-PE" sz="2000" b="0" dirty="0">
                <a:solidFill>
                  <a:schemeClr val="tx1"/>
                </a:solidFill>
              </a:rPr>
              <a:t>La idea básica de la erosión es como la erosión del suelo solamente, erosiona los límites del objeto de primer plano (siempre trate de mantener el primer plano en blanco). Entonces ¿Qué es lo que hace? El </a:t>
            </a:r>
            <a:r>
              <a:rPr lang="es-PE" sz="2000" b="0" dirty="0" err="1">
                <a:solidFill>
                  <a:schemeClr val="tx1"/>
                </a:solidFill>
              </a:rPr>
              <a:t>kernel</a:t>
            </a:r>
            <a:r>
              <a:rPr lang="es-PE" sz="2000" b="0" dirty="0">
                <a:solidFill>
                  <a:schemeClr val="tx1"/>
                </a:solidFill>
              </a:rPr>
              <a:t> se desliza a través de la imagen . Un píxel en la imagen original (1 o 0) se considerará 1 solo si todos los píxeles debajo del </a:t>
            </a:r>
            <a:r>
              <a:rPr lang="es-PE" sz="2000" b="0" dirty="0" err="1">
                <a:solidFill>
                  <a:schemeClr val="tx1"/>
                </a:solidFill>
              </a:rPr>
              <a:t>kernel</a:t>
            </a:r>
            <a:r>
              <a:rPr lang="es-PE" sz="2000" b="0" dirty="0">
                <a:solidFill>
                  <a:schemeClr val="tx1"/>
                </a:solidFill>
              </a:rPr>
              <a:t> son 1, de lo contrario se erosionará (se pondrá a cero).</a:t>
            </a:r>
          </a:p>
          <a:p>
            <a:pPr algn="just"/>
            <a:r>
              <a:rPr lang="es-PE" sz="2000" b="0" dirty="0">
                <a:solidFill>
                  <a:schemeClr val="tx1"/>
                </a:solidFill>
              </a:rPr>
              <a:t>Entonces, lo que sucede es que todos los píxeles cerca del límite se descartarán dependiendo del tamaño del </a:t>
            </a:r>
            <a:r>
              <a:rPr lang="es-PE" sz="2000" b="0" dirty="0" err="1">
                <a:solidFill>
                  <a:schemeClr val="tx1"/>
                </a:solidFill>
              </a:rPr>
              <a:t>kernel</a:t>
            </a:r>
            <a:r>
              <a:rPr lang="es-PE" sz="2000" b="0" dirty="0">
                <a:solidFill>
                  <a:schemeClr val="tx1"/>
                </a:solidFill>
              </a:rPr>
              <a:t>. Por lo tanto, el grosor o el tamaño del objeto en primer plano disminuye o simplemente la región blanca disminuye en la imagen. Es útil para eliminar pequeños ruidos blancos (como hemos visto en el capítulo del espacio de color), separar dos objetos conectados, etc.</a:t>
            </a:r>
          </a:p>
        </p:txBody>
      </p:sp>
    </p:spTree>
    <p:extLst>
      <p:ext uri="{BB962C8B-B14F-4D97-AF65-F5344CB8AC3E}">
        <p14:creationId xmlns:p14="http://schemas.microsoft.com/office/powerpoint/2010/main" val="3943337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EROSIÓN:</a:t>
            </a:r>
          </a:p>
        </p:txBody>
      </p:sp>
      <p:pic>
        <p:nvPicPr>
          <p:cNvPr id="4" name="Imagen 3"/>
          <p:cNvPicPr>
            <a:picLocks noChangeAspect="1"/>
          </p:cNvPicPr>
          <p:nvPr/>
        </p:nvPicPr>
        <p:blipFill rotWithShape="1">
          <a:blip r:embed="rId2"/>
          <a:srcRect l="46479" t="17449" r="26374" b="67896"/>
          <a:stretch/>
        </p:blipFill>
        <p:spPr>
          <a:xfrm>
            <a:off x="979868" y="2492703"/>
            <a:ext cx="5522611" cy="28906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n 4"/>
          <p:cNvPicPr>
            <a:picLocks noChangeAspect="1"/>
          </p:cNvPicPr>
          <p:nvPr/>
        </p:nvPicPr>
        <p:blipFill rotWithShape="1">
          <a:blip r:embed="rId3"/>
          <a:srcRect l="4284" t="10540" r="48695" b="27996"/>
          <a:stretch/>
        </p:blipFill>
        <p:spPr>
          <a:xfrm>
            <a:off x="6787165" y="2089637"/>
            <a:ext cx="5030415" cy="3696797"/>
          </a:xfrm>
          <a:prstGeom prst="rect">
            <a:avLst/>
          </a:prstGeom>
        </p:spPr>
      </p:pic>
    </p:spTree>
    <p:extLst>
      <p:ext uri="{BB962C8B-B14F-4D97-AF65-F5344CB8AC3E}">
        <p14:creationId xmlns:p14="http://schemas.microsoft.com/office/powerpoint/2010/main" val="2177027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Dilatación:</a:t>
            </a:r>
          </a:p>
        </p:txBody>
      </p:sp>
      <p:sp>
        <p:nvSpPr>
          <p:cNvPr id="4" name="Marcador de contenido 2"/>
          <p:cNvSpPr>
            <a:spLocks noGrp="1"/>
          </p:cNvSpPr>
          <p:nvPr>
            <p:ph idx="1"/>
          </p:nvPr>
        </p:nvSpPr>
        <p:spPr>
          <a:xfrm>
            <a:off x="1251678" y="2170091"/>
            <a:ext cx="10178322" cy="3593591"/>
          </a:xfrm>
        </p:spPr>
        <p:txBody>
          <a:bodyPr/>
          <a:lstStyle/>
          <a:p>
            <a:pPr algn="just"/>
            <a:r>
              <a:rPr lang="es-PE" dirty="0">
                <a:solidFill>
                  <a:schemeClr val="tx1"/>
                </a:solidFill>
              </a:rPr>
              <a:t>Es justo lo contrario de la erosión. Aquí, un elemento de píxel es '1' si al menos un píxel debajo del núcleo es '1'. Por lo tanto, aumenta la región blanca en la imagen o el tamaño del objeto en primer plano aumenta. Normalmente, en casos como la eliminación de ruido, la erosión es seguida por la dilatación. Porque, la erosión elimina los ruidos blancos, pero también encoge nuestro objeto. Así lo dilataremos. Como el ruido se ha ido, no volverán, pero nuestra área de objetos aumenta. También es útil para unir partes rotas de un objeto.</a:t>
            </a:r>
          </a:p>
        </p:txBody>
      </p:sp>
    </p:spTree>
    <p:extLst>
      <p:ext uri="{BB962C8B-B14F-4D97-AF65-F5344CB8AC3E}">
        <p14:creationId xmlns:p14="http://schemas.microsoft.com/office/powerpoint/2010/main" val="1700496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DILATACIÓN:</a:t>
            </a:r>
          </a:p>
        </p:txBody>
      </p:sp>
      <p:pic>
        <p:nvPicPr>
          <p:cNvPr id="4" name="Imagen 3"/>
          <p:cNvPicPr>
            <a:picLocks noChangeAspect="1"/>
          </p:cNvPicPr>
          <p:nvPr/>
        </p:nvPicPr>
        <p:blipFill rotWithShape="1">
          <a:blip r:embed="rId2"/>
          <a:srcRect l="46585" t="17450" r="25211" b="67707"/>
          <a:stretch/>
        </p:blipFill>
        <p:spPr>
          <a:xfrm>
            <a:off x="1031384" y="2456965"/>
            <a:ext cx="4943060" cy="245986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n 4"/>
          <p:cNvPicPr>
            <a:picLocks noChangeAspect="1"/>
          </p:cNvPicPr>
          <p:nvPr/>
        </p:nvPicPr>
        <p:blipFill rotWithShape="1">
          <a:blip r:embed="rId3"/>
          <a:srcRect l="4245" t="10298" r="48790" b="26954"/>
          <a:stretch/>
        </p:blipFill>
        <p:spPr>
          <a:xfrm>
            <a:off x="6310649" y="2060620"/>
            <a:ext cx="5486400" cy="4121239"/>
          </a:xfrm>
          <a:prstGeom prst="rect">
            <a:avLst/>
          </a:prstGeom>
        </p:spPr>
      </p:pic>
    </p:spTree>
    <p:extLst>
      <p:ext uri="{BB962C8B-B14F-4D97-AF65-F5344CB8AC3E}">
        <p14:creationId xmlns:p14="http://schemas.microsoft.com/office/powerpoint/2010/main" val="3061532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ACTIVIDAD VIRTUAL:</a:t>
            </a:r>
          </a:p>
        </p:txBody>
      </p:sp>
      <p:grpSp>
        <p:nvGrpSpPr>
          <p:cNvPr id="4" name="Grupo 3"/>
          <p:cNvGrpSpPr/>
          <p:nvPr/>
        </p:nvGrpSpPr>
        <p:grpSpPr>
          <a:xfrm>
            <a:off x="353776" y="1890581"/>
            <a:ext cx="8661435" cy="4279813"/>
            <a:chOff x="701506" y="1846032"/>
            <a:chExt cx="11123060" cy="4687584"/>
          </a:xfrm>
        </p:grpSpPr>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506" y="2240924"/>
              <a:ext cx="3044485" cy="42693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CuadroTexto 5"/>
            <p:cNvSpPr txBox="1"/>
            <p:nvPr/>
          </p:nvSpPr>
          <p:spPr>
            <a:xfrm>
              <a:off x="1275008" y="1871592"/>
              <a:ext cx="1697003" cy="369332"/>
            </a:xfrm>
            <a:prstGeom prst="rect">
              <a:avLst/>
            </a:prstGeom>
            <a:noFill/>
          </p:spPr>
          <p:txBody>
            <a:bodyPr wrap="none" rtlCol="0">
              <a:spAutoFit/>
            </a:bodyPr>
            <a:lstStyle/>
            <a:p>
              <a:r>
                <a:rPr lang="es-PE" b="1" dirty="0"/>
                <a:t>Imagen Original</a:t>
              </a:r>
            </a:p>
          </p:txBody>
        </p:sp>
        <p:pic>
          <p:nvPicPr>
            <p:cNvPr id="7" name="Imagen 6"/>
            <p:cNvPicPr>
              <a:picLocks noChangeAspect="1"/>
            </p:cNvPicPr>
            <p:nvPr/>
          </p:nvPicPr>
          <p:blipFill rotWithShape="1">
            <a:blip r:embed="rId3"/>
            <a:srcRect l="34859" t="4110" r="27641" b="5518"/>
            <a:stretch/>
          </p:blipFill>
          <p:spPr>
            <a:xfrm>
              <a:off x="4610636" y="2240924"/>
              <a:ext cx="3168203" cy="42926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CuadroTexto 7"/>
            <p:cNvSpPr txBox="1"/>
            <p:nvPr/>
          </p:nvSpPr>
          <p:spPr>
            <a:xfrm>
              <a:off x="4610636" y="1871592"/>
              <a:ext cx="2444515" cy="369332"/>
            </a:xfrm>
            <a:prstGeom prst="rect">
              <a:avLst/>
            </a:prstGeom>
            <a:noFill/>
          </p:spPr>
          <p:txBody>
            <a:bodyPr wrap="none" rtlCol="0">
              <a:spAutoFit/>
            </a:bodyPr>
            <a:lstStyle/>
            <a:p>
              <a:r>
                <a:rPr lang="es-PE" b="1" dirty="0"/>
                <a:t>Binarización Adaptativa</a:t>
              </a:r>
            </a:p>
          </p:txBody>
        </p:sp>
        <p:pic>
          <p:nvPicPr>
            <p:cNvPr id="9" name="Imagen 8"/>
            <p:cNvPicPr>
              <a:picLocks noChangeAspect="1"/>
            </p:cNvPicPr>
            <p:nvPr/>
          </p:nvPicPr>
          <p:blipFill rotWithShape="1">
            <a:blip r:embed="rId4"/>
            <a:srcRect l="49859" t="4109" r="12430" b="5330"/>
            <a:stretch/>
          </p:blipFill>
          <p:spPr>
            <a:xfrm>
              <a:off x="8643484" y="2215364"/>
              <a:ext cx="3181082" cy="429490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CuadroTexto 9"/>
            <p:cNvSpPr txBox="1"/>
            <p:nvPr/>
          </p:nvSpPr>
          <p:spPr>
            <a:xfrm>
              <a:off x="9559609" y="1846032"/>
              <a:ext cx="1348831" cy="369332"/>
            </a:xfrm>
            <a:prstGeom prst="rect">
              <a:avLst/>
            </a:prstGeom>
            <a:noFill/>
          </p:spPr>
          <p:txBody>
            <a:bodyPr wrap="none" rtlCol="0">
              <a:spAutoFit/>
            </a:bodyPr>
            <a:lstStyle/>
            <a:p>
              <a:r>
                <a:rPr lang="es-PE" b="1" dirty="0"/>
                <a:t>Filtro Media</a:t>
              </a:r>
            </a:p>
          </p:txBody>
        </p:sp>
      </p:grpSp>
      <p:pic>
        <p:nvPicPr>
          <p:cNvPr id="11" name="Imagen 10"/>
          <p:cNvPicPr>
            <a:picLocks noChangeAspect="1"/>
          </p:cNvPicPr>
          <p:nvPr/>
        </p:nvPicPr>
        <p:blipFill rotWithShape="1">
          <a:blip r:embed="rId5"/>
          <a:srcRect l="56937" t="4486" r="5247" b="5330"/>
          <a:stretch/>
        </p:blipFill>
        <p:spPr>
          <a:xfrm>
            <a:off x="9497956" y="2227785"/>
            <a:ext cx="2477082" cy="38979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2" name="CuadroTexto 11"/>
          <p:cNvSpPr txBox="1"/>
          <p:nvPr/>
        </p:nvSpPr>
        <p:spPr>
          <a:xfrm>
            <a:off x="9641485" y="1874517"/>
            <a:ext cx="2190023" cy="369332"/>
          </a:xfrm>
          <a:prstGeom prst="rect">
            <a:avLst/>
          </a:prstGeom>
          <a:noFill/>
        </p:spPr>
        <p:txBody>
          <a:bodyPr wrap="none" rtlCol="0">
            <a:spAutoFit/>
          </a:bodyPr>
          <a:lstStyle/>
          <a:p>
            <a:r>
              <a:rPr lang="es-PE" b="1" dirty="0"/>
              <a:t>Eliminación de Ruido</a:t>
            </a:r>
          </a:p>
        </p:txBody>
      </p:sp>
    </p:spTree>
    <p:extLst>
      <p:ext uri="{BB962C8B-B14F-4D97-AF65-F5344CB8AC3E}">
        <p14:creationId xmlns:p14="http://schemas.microsoft.com/office/powerpoint/2010/main" val="3249800990"/>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Distintivo</Template>
  <TotalTime>440</TotalTime>
  <Words>1030</Words>
  <Application>Microsoft Office PowerPoint</Application>
  <PresentationFormat>Panorámica</PresentationFormat>
  <Paragraphs>63</Paragraphs>
  <Slides>20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Arial</vt:lpstr>
      <vt:lpstr>Gill Sans MT</vt:lpstr>
      <vt:lpstr>Impact</vt:lpstr>
      <vt:lpstr>Lato</vt:lpstr>
      <vt:lpstr>Badge</vt:lpstr>
      <vt:lpstr>Transformación de espacio vectorial rgb a hsv y Procesos morfológicos i</vt:lpstr>
      <vt:lpstr>Objetivos: </vt:lpstr>
      <vt:lpstr>¿Qué es un espacio de color HSV?</vt:lpstr>
      <vt:lpstr>¿Qué significa los valores HSV?</vt:lpstr>
      <vt:lpstr>CALCULO DEL VALOR HSV DE LOS COLORES RGB</vt:lpstr>
      <vt:lpstr>Imagen:</vt:lpstr>
      <vt:lpstr>Código:</vt:lpstr>
      <vt:lpstr>resultado:</vt:lpstr>
      <vt:lpstr>CODIGO DE LA CAMARA:</vt:lpstr>
      <vt:lpstr>Calculo de los parámetros HSV:</vt:lpstr>
      <vt:lpstr>Filtrado gaussiano:</vt:lpstr>
      <vt:lpstr>FILTRADO GAUSSIANO:</vt:lpstr>
      <vt:lpstr>Filtro medio:</vt:lpstr>
      <vt:lpstr>Actividad de Aprendizaje: </vt:lpstr>
      <vt:lpstr>Teoría: </vt:lpstr>
      <vt:lpstr>EROSIÓN:</vt:lpstr>
      <vt:lpstr>EROSIÓN:</vt:lpstr>
      <vt:lpstr>Dilatación:</vt:lpstr>
      <vt:lpstr>DILATACIÓN:</vt:lpstr>
      <vt:lpstr>ACTIVIDAD VIRTUAL: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Cambio de espacio rgb a hsv</dc:title>
  <dc:creator>pc001n</dc:creator>
  <cp:lastModifiedBy>JAIME ANTONIO HUAYTALLA PARIONA</cp:lastModifiedBy>
  <cp:revision>26</cp:revision>
  <dcterms:created xsi:type="dcterms:W3CDTF">2019-04-17T21:19:44Z</dcterms:created>
  <dcterms:modified xsi:type="dcterms:W3CDTF">2024-08-22T15:11:07Z</dcterms:modified>
</cp:coreProperties>
</file>