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0" r:id="rId4"/>
    <p:sldId id="271" r:id="rId5"/>
    <p:sldId id="28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5528" y="1073681"/>
            <a:ext cx="10318418" cy="4394988"/>
          </a:xfrm>
        </p:spPr>
        <p:txBody>
          <a:bodyPr/>
          <a:lstStyle/>
          <a:p>
            <a:r>
              <a:rPr lang="es-PE" dirty="0"/>
              <a:t>Procesamiento de imágenes: sesión 1</a:t>
            </a:r>
          </a:p>
        </p:txBody>
      </p:sp>
    </p:spTree>
    <p:extLst>
      <p:ext uri="{BB962C8B-B14F-4D97-AF65-F5344CB8AC3E}">
        <p14:creationId xmlns:p14="http://schemas.microsoft.com/office/powerpoint/2010/main" val="149957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Objetivos: </a:t>
            </a:r>
          </a:p>
        </p:txBody>
      </p:sp>
      <p:sp>
        <p:nvSpPr>
          <p:cNvPr id="4" name="Marcador de contenido 3"/>
          <p:cNvSpPr txBox="1">
            <a:spLocks noGrp="1"/>
          </p:cNvSpPr>
          <p:nvPr>
            <p:ph idx="1"/>
          </p:nvPr>
        </p:nvSpPr>
        <p:spPr>
          <a:xfrm>
            <a:off x="1251678" y="1445534"/>
            <a:ext cx="10178322" cy="5142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Aprender a cargar una imagen.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Aprender a encender una webcam con Python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 a dibujar diferentes formas geométricas con OpenCV.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 a manipular la función cv2.line().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 a manipular la función cv2.circle().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 a manipular la función cv2.rectangle().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</a:rPr>
              <a:t>Aprende a manipular la función cv2.putText().</a:t>
            </a:r>
          </a:p>
          <a:p>
            <a:pPr marL="285750" indent="-285750" algn="just"/>
            <a:r>
              <a:rPr lang="es-PE" dirty="0">
                <a:solidFill>
                  <a:schemeClr val="tx1"/>
                </a:solidFill>
              </a:rPr>
              <a:t>Aprende a realizar operaciones aritméticas con imágenes.</a:t>
            </a:r>
          </a:p>
          <a:p>
            <a:pPr marL="285750" indent="-285750" algn="just"/>
            <a:r>
              <a:rPr lang="es-PE" dirty="0">
                <a:solidFill>
                  <a:schemeClr val="tx1"/>
                </a:solidFill>
              </a:rPr>
              <a:t>Aprende a manipular la función cv2.add().</a:t>
            </a:r>
          </a:p>
          <a:p>
            <a:pPr marL="285750" indent="-285750" algn="just"/>
            <a:r>
              <a:rPr lang="es-PE" dirty="0">
                <a:solidFill>
                  <a:schemeClr val="tx1"/>
                </a:solidFill>
              </a:rPr>
              <a:t>Aprende a manipular la función cv2.addWeighted().</a:t>
            </a:r>
          </a:p>
          <a:p>
            <a:pPr marL="285750" indent="-285750" algn="just"/>
            <a:r>
              <a:rPr lang="es-PE" dirty="0">
                <a:solidFill>
                  <a:schemeClr val="tx1"/>
                </a:solidFill>
              </a:rPr>
              <a:t>Aprende a manipular la función cv2.subtract().</a:t>
            </a:r>
          </a:p>
          <a:p>
            <a:pPr marL="285750" indent="-285750" algn="just"/>
            <a:r>
              <a:rPr lang="es-PE" dirty="0">
                <a:solidFill>
                  <a:schemeClr val="tx1"/>
                </a:solidFill>
              </a:rPr>
              <a:t>Aprende a manipular la función cv2.absdiff().</a:t>
            </a:r>
          </a:p>
        </p:txBody>
      </p:sp>
    </p:spTree>
    <p:extLst>
      <p:ext uri="{BB962C8B-B14F-4D97-AF65-F5344CB8AC3E}">
        <p14:creationId xmlns:p14="http://schemas.microsoft.com/office/powerpoint/2010/main" val="4130473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Manejo de una imagen: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53451" t="14582" r="27218" b="73334"/>
          <a:stretch/>
        </p:blipFill>
        <p:spPr>
          <a:xfrm>
            <a:off x="1251678" y="2276199"/>
            <a:ext cx="5638519" cy="27728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36549" t="20643" r="25634" b="9276"/>
          <a:stretch/>
        </p:blipFill>
        <p:spPr>
          <a:xfrm>
            <a:off x="7342491" y="1538108"/>
            <a:ext cx="4370479" cy="45535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313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ENCENDER UNA WEBCAM DESDE PYTHON: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4751" t="13265" r="70211" b="56810"/>
          <a:stretch/>
        </p:blipFill>
        <p:spPr>
          <a:xfrm>
            <a:off x="1251678" y="2279561"/>
            <a:ext cx="5473396" cy="36778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2" descr="Resultado de imagen para encender una webcam opencv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54" t="33612" r="1945" b="8726"/>
          <a:stretch/>
        </p:blipFill>
        <p:spPr bwMode="auto">
          <a:xfrm>
            <a:off x="6888705" y="2181308"/>
            <a:ext cx="4913090" cy="41293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71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60BB4-DD49-46B4-98AD-07053DD1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Conectar un cámara </a:t>
            </a:r>
            <a:r>
              <a:rPr lang="es-MX" dirty="0" err="1"/>
              <a:t>ip</a:t>
            </a:r>
            <a:r>
              <a:rPr lang="es-MX" dirty="0"/>
              <a:t> a </a:t>
            </a:r>
            <a:r>
              <a:rPr lang="es-MX" dirty="0" err="1"/>
              <a:t>python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86A342-091B-4C33-95B5-3BAF40E912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38" t="10031" r="15538" b="57542"/>
          <a:stretch/>
        </p:blipFill>
        <p:spPr>
          <a:xfrm>
            <a:off x="1251678" y="1874517"/>
            <a:ext cx="6417281" cy="2725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87DE45-476A-46BF-A6AD-6FA7E3FD07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268" t="9415" r="7116" b="24296"/>
          <a:stretch/>
        </p:blipFill>
        <p:spPr>
          <a:xfrm>
            <a:off x="7964596" y="1874517"/>
            <a:ext cx="3753791" cy="2725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4D9609A-2212-4AD2-96FE-14D1B9EF89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30" t="29323" r="71385" b="63084"/>
          <a:stretch/>
        </p:blipFill>
        <p:spPr>
          <a:xfrm>
            <a:off x="1251678" y="5430130"/>
            <a:ext cx="3896363" cy="8581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547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157897" y="683062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una línea: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276290" y="187451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PE" dirty="0">
                <a:latin typeface="Lato"/>
              </a:rPr>
              <a:t>Para dibujar una línea, debe pasar las coordenadas iniciales y finales de la línea. Crearemos una imagen en negro y dibujaremos una línea azul en ella desde las esquinas superior izquierda a inferior derecha.</a:t>
            </a:r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1866" t="7142" r="41455" b="74938"/>
          <a:stretch/>
        </p:blipFill>
        <p:spPr>
          <a:xfrm>
            <a:off x="1276290" y="3591972"/>
            <a:ext cx="5947836" cy="14399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35485" t="17695" r="25896" b="10628"/>
          <a:stretch/>
        </p:blipFill>
        <p:spPr>
          <a:xfrm>
            <a:off x="7699219" y="1874517"/>
            <a:ext cx="4019889" cy="44130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58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38956" y="626965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una línea en una imagen: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8581" t="23271" r="33620" b="57815"/>
          <a:stretch/>
        </p:blipFill>
        <p:spPr>
          <a:xfrm>
            <a:off x="1093504" y="3270897"/>
            <a:ext cx="5682131" cy="1814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4701" t="399" r="59309" b="43678"/>
          <a:stretch/>
        </p:blipFill>
        <p:spPr>
          <a:xfrm>
            <a:off x="7048009" y="1975200"/>
            <a:ext cx="4637621" cy="40515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410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38955" y="395146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 Rectángulo: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08644" y="24239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sp>
        <p:nvSpPr>
          <p:cNvPr id="6" name="Rectángulo 5"/>
          <p:cNvSpPr/>
          <p:nvPr/>
        </p:nvSpPr>
        <p:spPr>
          <a:xfrm>
            <a:off x="938955" y="15929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PE" dirty="0">
                <a:latin typeface="Lato"/>
              </a:rPr>
              <a:t>Para dibujar un rectángulo, necesita la esquina superior izquierda y la esquina inferior derecha del rectángulo. Esta vez dibujaremos un rectángulo verde en la esquina superior derecha de la imagen.</a:t>
            </a:r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18023" t="7541" r="30261" b="74540"/>
          <a:stretch/>
        </p:blipFill>
        <p:spPr>
          <a:xfrm>
            <a:off x="938955" y="3316696"/>
            <a:ext cx="6096000" cy="16571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7388" t="13514" r="53992" b="15406"/>
          <a:stretch/>
        </p:blipFill>
        <p:spPr>
          <a:xfrm>
            <a:off x="7494543" y="1592922"/>
            <a:ext cx="4312693" cy="4462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742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041986" y="639845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 Rectángulo: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711675" y="26686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8135" t="7541" r="28246" b="73942"/>
          <a:stretch/>
        </p:blipFill>
        <p:spPr>
          <a:xfrm>
            <a:off x="1041987" y="2662802"/>
            <a:ext cx="5859550" cy="1861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34478" t="15306" r="27239" b="13415"/>
          <a:stretch/>
        </p:blipFill>
        <p:spPr>
          <a:xfrm>
            <a:off x="7542982" y="1755826"/>
            <a:ext cx="4217159" cy="44144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054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797288" y="820149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 Rectángulo en una Figura: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466977" y="28489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8246" t="7541" r="27239" b="73743"/>
          <a:stretch/>
        </p:blipFill>
        <p:spPr>
          <a:xfrm>
            <a:off x="926078" y="2829460"/>
            <a:ext cx="6077915" cy="19710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34254" t="15306" r="23657" b="28746"/>
          <a:stretch/>
        </p:blipFill>
        <p:spPr>
          <a:xfrm>
            <a:off x="7231193" y="2275715"/>
            <a:ext cx="4528921" cy="33846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575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64713" y="446661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 Circulo: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34402" y="2475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sp>
        <p:nvSpPr>
          <p:cNvPr id="6" name="Rectángulo 5"/>
          <p:cNvSpPr/>
          <p:nvPr/>
        </p:nvSpPr>
        <p:spPr>
          <a:xfrm>
            <a:off x="964713" y="155210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PE" dirty="0">
                <a:latin typeface="Lato"/>
              </a:rPr>
              <a:t>Para dibujar un círculo, necesita sus coordenadas centrales y su radio. Dibujaremos un círculo dentro del rectángulo dibujado arriba.</a:t>
            </a:r>
            <a:endParaRPr lang="es-PE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/>
          <a:srcRect l="2686" t="6944" r="49739" b="68965"/>
          <a:stretch/>
        </p:blipFill>
        <p:spPr>
          <a:xfrm>
            <a:off x="964713" y="3012945"/>
            <a:ext cx="6096000" cy="1989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23731" t="7142" r="37650" b="20981"/>
          <a:stretch/>
        </p:blipFill>
        <p:spPr>
          <a:xfrm>
            <a:off x="7339992" y="1552104"/>
            <a:ext cx="4417991" cy="46228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4763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861682" y="292115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 Circulo: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531371" y="2320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799" t="7142" r="48843" b="69164"/>
          <a:stretch/>
        </p:blipFill>
        <p:spPr>
          <a:xfrm>
            <a:off x="1003351" y="2690220"/>
            <a:ext cx="6216638" cy="20096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3731" t="7342" r="37650" b="21379"/>
          <a:stretch/>
        </p:blipFill>
        <p:spPr>
          <a:xfrm>
            <a:off x="7363446" y="1410958"/>
            <a:ext cx="4435524" cy="46026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214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51834" y="433783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un Circulo en una Imagen: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21523" y="24625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910" t="7143" r="49851" b="68766"/>
          <a:stretch/>
        </p:blipFill>
        <p:spPr>
          <a:xfrm>
            <a:off x="951834" y="2647222"/>
            <a:ext cx="6125644" cy="19065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63358" t="15306" r="2500" b="29343"/>
          <a:stretch/>
        </p:blipFill>
        <p:spPr>
          <a:xfrm>
            <a:off x="7273295" y="1828177"/>
            <a:ext cx="4531057" cy="41299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8472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591226" y="408025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4000" b="1">
                <a:solidFill>
                  <a:srgbClr val="002060"/>
                </a:solidFill>
                <a:latin typeface="Times New Roman"/>
                <a:cs typeface="Times New Roman"/>
              </a:rPr>
              <a:t>Dibujar un Circulo en una Webcam: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260915" y="24367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559" t="5750" r="44366" b="52240"/>
          <a:stretch/>
        </p:blipFill>
        <p:spPr>
          <a:xfrm>
            <a:off x="2572426" y="2233984"/>
            <a:ext cx="6086901" cy="316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268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38956" y="420276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Texto: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120330" y="2532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80" t="6546" r="29477" b="66973"/>
          <a:stretch/>
        </p:blipFill>
        <p:spPr>
          <a:xfrm>
            <a:off x="2675623" y="1422989"/>
            <a:ext cx="6310340" cy="20060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ángulo 7"/>
          <p:cNvSpPr/>
          <p:nvPr/>
        </p:nvSpPr>
        <p:spPr>
          <a:xfrm>
            <a:off x="2675623" y="3673633"/>
            <a:ext cx="63103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/>
              <a:t>Coloque las coordenadas de donde desea colocarlo (es decir, la esquina inferior izquierda donde comienzan los datos).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/>
              <a:t>Tipo de fuente (Ver documentos cv2.putText () para fuentes compatibles)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/>
              <a:t>Escala de fuente (especifica el tamaño de la fuente)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dirty="0"/>
              <a:t>Se recomiendan elementos regulares como color, grosor, tipo de línea, etc. Para una mejor apariencia .</a:t>
            </a:r>
            <a:r>
              <a:rPr lang="es-PE" dirty="0" err="1"/>
              <a:t>lineType</a:t>
            </a:r>
            <a:r>
              <a:rPr lang="es-PE" dirty="0"/>
              <a:t> = cv2.LINE_AA</a:t>
            </a:r>
          </a:p>
        </p:txBody>
      </p:sp>
    </p:spTree>
    <p:extLst>
      <p:ext uri="{BB962C8B-B14F-4D97-AF65-F5344CB8AC3E}">
        <p14:creationId xmlns:p14="http://schemas.microsoft.com/office/powerpoint/2010/main" val="3798645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029108" y="626965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Dibujar Texto en una Imagen: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98797" y="26557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36" t="5749" r="30149" b="67173"/>
          <a:stretch/>
        </p:blipFill>
        <p:spPr>
          <a:xfrm>
            <a:off x="3071274" y="2731569"/>
            <a:ext cx="6633822" cy="2454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3486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642741" y="614087"/>
            <a:ext cx="10718155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 Dibujar Texto en una Webcam: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312430" y="26428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23" t="6147" r="15037" b="43081"/>
          <a:stretch/>
        </p:blipFill>
        <p:spPr>
          <a:xfrm>
            <a:off x="2773288" y="1691180"/>
            <a:ext cx="6844197" cy="4357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3850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2"/>
          <p:cNvSpPr>
            <a:spLocks noGrp="1"/>
          </p:cNvSpPr>
          <p:nvPr>
            <p:ph type="title"/>
          </p:nvPr>
        </p:nvSpPr>
        <p:spPr>
          <a:xfrm>
            <a:off x="842171" y="310903"/>
            <a:ext cx="10728841" cy="381955"/>
          </a:xfrm>
        </p:spPr>
        <p:txBody>
          <a:bodyPr>
            <a:normAutofit fontScale="90000"/>
          </a:bodyPr>
          <a:lstStyle/>
          <a:p>
            <a:r>
              <a:rPr lang="es-PE" dirty="0"/>
              <a:t>Imágenes de Prueba:</a:t>
            </a:r>
          </a:p>
        </p:txBody>
      </p:sp>
      <p:sp>
        <p:nvSpPr>
          <p:cNvPr id="8" name="Subtítulo 4"/>
          <p:cNvSpPr txBox="1">
            <a:spLocks/>
          </p:cNvSpPr>
          <p:nvPr/>
        </p:nvSpPr>
        <p:spPr>
          <a:xfrm>
            <a:off x="739140" y="1294763"/>
            <a:ext cx="5017770" cy="5368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>
                <a:solidFill>
                  <a:schemeClr val="tx1"/>
                </a:solidFill>
              </a:rPr>
              <a:t>Condición: Ambas imágenes deben de ser del mismo tamaño.</a:t>
            </a:r>
          </a:p>
        </p:txBody>
      </p:sp>
      <p:pic>
        <p:nvPicPr>
          <p:cNvPr id="9" name="Marcador de contenido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25" y="2433562"/>
            <a:ext cx="3810000" cy="3810000"/>
          </a:xfrm>
        </p:spPr>
      </p:pic>
      <p:pic>
        <p:nvPicPr>
          <p:cNvPr id="10" name="Marcador de contenido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641" y="1628062"/>
            <a:ext cx="4615500" cy="461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3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00319" y="292115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Sumar Imágenes: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018712" y="136441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PE" dirty="0">
                <a:latin typeface="Lato"/>
              </a:rPr>
              <a:t>Se pueden añadir dos imágenes por la función OpenCV, cv2.add() o simplemente por la operación </a:t>
            </a:r>
            <a:r>
              <a:rPr lang="es-PE" dirty="0" err="1">
                <a:latin typeface="Lato"/>
              </a:rPr>
              <a:t>numpy</a:t>
            </a:r>
            <a:r>
              <a:rPr lang="es-PE" dirty="0">
                <a:latin typeface="Lato"/>
              </a:rPr>
              <a:t>. Ambas imágenes deben tener la misma profundidad y tipo, o la segunda imagen puede ser un valor escalar.res = img1 + img2</a:t>
            </a:r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2836" t="17098" r="46716" b="26357"/>
          <a:stretch/>
        </p:blipFill>
        <p:spPr>
          <a:xfrm>
            <a:off x="7338362" y="1489423"/>
            <a:ext cx="4484471" cy="4682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112" t="5948" r="68209" b="55426"/>
          <a:stretch/>
        </p:blipFill>
        <p:spPr>
          <a:xfrm>
            <a:off x="1170774" y="3239706"/>
            <a:ext cx="5545653" cy="29320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4582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041986" y="432260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Resultado de suma de imágenes: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3269" t="46973" r="73923" b="42971"/>
          <a:stretch/>
        </p:blipFill>
        <p:spPr>
          <a:xfrm>
            <a:off x="1041986" y="4822961"/>
            <a:ext cx="3326527" cy="14684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112" t="5948" r="68209" b="55426"/>
          <a:stretch/>
        </p:blipFill>
        <p:spPr>
          <a:xfrm>
            <a:off x="1041987" y="1609111"/>
            <a:ext cx="5422824" cy="28670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22836" t="17098" r="46716" b="26357"/>
          <a:stretch/>
        </p:blipFill>
        <p:spPr>
          <a:xfrm>
            <a:off x="7235331" y="1609111"/>
            <a:ext cx="4484471" cy="4682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3122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810167" y="304994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Mezclar Imágenes: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928560" y="1377291"/>
            <a:ext cx="107089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>
                <a:latin typeface="Lato"/>
              </a:rPr>
              <a:t>Esto también es una adición de imagen, pero se otorgan diferentes pesos a las imágenes para que parezca una mezcla o transparencia. Las imágenes se agregan según la siguiente ecuación:</a:t>
            </a:r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46679" t="40393" r="34067" b="55426"/>
          <a:stretch/>
        </p:blipFill>
        <p:spPr>
          <a:xfrm>
            <a:off x="3271233" y="2599010"/>
            <a:ext cx="5482230" cy="6693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928560" y="3711144"/>
                <a:ext cx="1070894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PE" dirty="0"/>
                  <a:t>Al variar </a:t>
                </a:r>
                <a14:m>
                  <m:oMath xmlns:m="http://schemas.openxmlformats.org/officeDocument/2006/math">
                    <m:r>
                      <a:rPr lang="es-P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PE" dirty="0"/>
                  <a:t> de 0 </a:t>
                </a:r>
                <a14:m>
                  <m:oMath xmlns:m="http://schemas.openxmlformats.org/officeDocument/2006/math">
                    <m:r>
                      <a:rPr lang="es-P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P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dirty="0"/>
                  <a:t>1, puede realizar una transición genial entre una imagen a otra.</a:t>
                </a: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60" y="3711144"/>
                <a:ext cx="107089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55" t="-8333" b="-28333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928560" y="4265690"/>
            <a:ext cx="107089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PE" dirty="0"/>
              <a:t>Aquí tomé dos imágenes para combinarlas. La primera imagen recibe un peso de 0.7 y la segunda imagen recibe 0.3. cv2.addWeighted()aplica la siguiente ecuación en la imagen.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4"/>
          <a:srcRect l="46567" t="64485" r="33732" b="31135"/>
          <a:stretch/>
        </p:blipFill>
        <p:spPr>
          <a:xfrm>
            <a:off x="3374628" y="5312712"/>
            <a:ext cx="5716825" cy="714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6469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39" y="2722384"/>
            <a:ext cx="3556000" cy="254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1035354" y="658633"/>
            <a:ext cx="10728841" cy="381955"/>
          </a:xfrm>
        </p:spPr>
        <p:txBody>
          <a:bodyPr>
            <a:normAutofit fontScale="90000"/>
          </a:bodyPr>
          <a:lstStyle/>
          <a:p>
            <a:r>
              <a:rPr lang="es-PE" dirty="0"/>
              <a:t>Mezclar Imágenes: </a:t>
            </a:r>
          </a:p>
        </p:txBody>
      </p:sp>
      <p:sp>
        <p:nvSpPr>
          <p:cNvPr id="6" name="Subtítulo 4"/>
          <p:cNvSpPr txBox="1">
            <a:spLocks/>
          </p:cNvSpPr>
          <p:nvPr/>
        </p:nvSpPr>
        <p:spPr>
          <a:xfrm>
            <a:off x="1035354" y="1281884"/>
            <a:ext cx="5017770" cy="5368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/>
              <a:t>Imágenes de prueba </a:t>
            </a:r>
            <a:endParaRPr lang="es-PE" dirty="0"/>
          </a:p>
        </p:txBody>
      </p:sp>
      <p:pic>
        <p:nvPicPr>
          <p:cNvPr id="7" name="Marcador de contenido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124" y="2637641"/>
            <a:ext cx="3793280" cy="27094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0358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26077" y="437716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Resultado de Suma de Imágenes: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8433" t="39398" r="31381" b="33325"/>
          <a:stretch/>
        </p:blipFill>
        <p:spPr>
          <a:xfrm>
            <a:off x="977593" y="1859557"/>
            <a:ext cx="6121530" cy="23360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/>
              <p:cNvSpPr txBox="1"/>
              <p:nvPr/>
            </p:nvSpPr>
            <p:spPr>
              <a:xfrm>
                <a:off x="1582505" y="5145107"/>
                <a:ext cx="480867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𝑑𝑠𝑡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=0.5∗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𝑖𝑚𝑔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1+0.5∗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𝑖𝑚𝑔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2+0</m:t>
                      </m:r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505" y="5145107"/>
                <a:ext cx="480867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3606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35149" t="16700" r="43246" b="52638"/>
          <a:stretch/>
        </p:blipFill>
        <p:spPr>
          <a:xfrm>
            <a:off x="7339568" y="2393923"/>
            <a:ext cx="4515966" cy="36034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5337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003350" y="549693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Resta de Imágenes: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93" y="1945551"/>
            <a:ext cx="8855264" cy="393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4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067744" y="317873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Plantilla de Imagen: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24" t="6148" r="50187" b="76132"/>
          <a:stretch/>
        </p:blipFill>
        <p:spPr>
          <a:xfrm>
            <a:off x="2578786" y="1668920"/>
            <a:ext cx="7875101" cy="15821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3695" t="6745" r="35857" b="41688"/>
          <a:stretch/>
        </p:blipFill>
        <p:spPr>
          <a:xfrm>
            <a:off x="3472885" y="3606556"/>
            <a:ext cx="5814513" cy="27888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539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771531" y="317872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Resta de Imágenes: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448" t="6347" r="49963" b="48258"/>
          <a:stretch/>
        </p:blipFill>
        <p:spPr>
          <a:xfrm>
            <a:off x="1023389" y="2014294"/>
            <a:ext cx="6045959" cy="3111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/>
          <a:srcRect l="49813" t="16700" r="16717" b="31533"/>
          <a:stretch/>
        </p:blipFill>
        <p:spPr>
          <a:xfrm>
            <a:off x="7560674" y="2014294"/>
            <a:ext cx="4080680" cy="3548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0507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926077" y="420904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Resta Absoluta de Imágenes (</a:t>
            </a:r>
            <a:r>
              <a:rPr lang="es-PE" sz="4000" b="1" dirty="0" err="1">
                <a:solidFill>
                  <a:srgbClr val="002060"/>
                </a:solidFill>
                <a:latin typeface="Times New Roman"/>
                <a:cs typeface="Times New Roman"/>
              </a:rPr>
              <a:t>absdiff</a:t>
            </a: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):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595766" y="2449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12202" t="30439" r="39104" b="28149"/>
          <a:stretch/>
        </p:blipFill>
        <p:spPr>
          <a:xfrm>
            <a:off x="1403749" y="1453390"/>
            <a:ext cx="9967528" cy="47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0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849" y="2573061"/>
            <a:ext cx="3114997" cy="3438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ítulo 2"/>
          <p:cNvSpPr>
            <a:spLocks noGrp="1"/>
          </p:cNvSpPr>
          <p:nvPr>
            <p:ph type="title"/>
          </p:nvPr>
        </p:nvSpPr>
        <p:spPr>
          <a:xfrm>
            <a:off x="945202" y="684391"/>
            <a:ext cx="10728841" cy="381955"/>
          </a:xfrm>
        </p:spPr>
        <p:txBody>
          <a:bodyPr>
            <a:normAutofit fontScale="90000"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Times New Roman"/>
                <a:cs typeface="Times New Roman"/>
              </a:rPr>
              <a:t>Resta Absoluta de Imágenes:</a:t>
            </a:r>
            <a:endParaRPr lang="es-PE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Marcador de contenido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813" y="2573061"/>
            <a:ext cx="3095082" cy="34160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ubtítulo 4"/>
          <p:cNvSpPr txBox="1">
            <a:spLocks/>
          </p:cNvSpPr>
          <p:nvPr/>
        </p:nvSpPr>
        <p:spPr>
          <a:xfrm>
            <a:off x="945201" y="1307641"/>
            <a:ext cx="10728841" cy="21444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PE" dirty="0">
                <a:solidFill>
                  <a:schemeClr val="tx1"/>
                </a:solidFill>
              </a:rPr>
              <a:t>Para aplicar sustracción de imágenes OpenCV nos ofrece dos funciones: cv2.subtract y cv2.absdiff, vamos a ver como usar cada una de ellas y lo que hacen, ¡vamos por ello!.</a:t>
            </a:r>
          </a:p>
        </p:txBody>
      </p:sp>
    </p:spTree>
    <p:extLst>
      <p:ext uri="{BB962C8B-B14F-4D97-AF65-F5344CB8AC3E}">
        <p14:creationId xmlns:p14="http://schemas.microsoft.com/office/powerpoint/2010/main" val="3663790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1248049" y="485298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Resta Absoluta de Imágenes: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917738" y="26042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34366" t="18890" r="35074" b="42285"/>
          <a:stretch/>
        </p:blipFill>
        <p:spPr>
          <a:xfrm>
            <a:off x="1248049" y="1786874"/>
            <a:ext cx="5736722" cy="2441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35149" t="16700" r="43918" b="39697"/>
          <a:stretch/>
        </p:blipFill>
        <p:spPr>
          <a:xfrm>
            <a:off x="7658784" y="1786874"/>
            <a:ext cx="3739501" cy="4379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/>
          <a:srcRect l="4702" t="21479" r="82985" b="69562"/>
          <a:stretch/>
        </p:blipFill>
        <p:spPr>
          <a:xfrm>
            <a:off x="1248049" y="4855552"/>
            <a:ext cx="2802453" cy="11464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6978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4"/>
          <p:cNvSpPr txBox="1">
            <a:spLocks/>
          </p:cNvSpPr>
          <p:nvPr/>
        </p:nvSpPr>
        <p:spPr>
          <a:xfrm>
            <a:off x="668499" y="562572"/>
            <a:ext cx="8855241" cy="674331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 err="1">
                <a:solidFill>
                  <a:srgbClr val="002060"/>
                </a:solidFill>
                <a:latin typeface="Times New Roman"/>
                <a:cs typeface="Times New Roman"/>
              </a:rPr>
              <a:t>Bitwise</a:t>
            </a:r>
            <a:r>
              <a:rPr lang="es-PE" sz="4000" b="1" dirty="0">
                <a:solidFill>
                  <a:srgbClr val="002060"/>
                </a:solidFill>
                <a:latin typeface="Times New Roman"/>
                <a:cs typeface="Times New Roman"/>
              </a:rPr>
              <a:t> aplicado en Imágenes: </a:t>
            </a:r>
            <a:endParaRPr lang="es-PE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338188" y="2591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PE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6418" t="8935" r="22762" b="55625"/>
          <a:stretch/>
        </p:blipFill>
        <p:spPr>
          <a:xfrm>
            <a:off x="668499" y="2277445"/>
            <a:ext cx="6196083" cy="31960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48918" t="16899" r="16716" b="31732"/>
          <a:stretch/>
        </p:blipFill>
        <p:spPr>
          <a:xfrm>
            <a:off x="7311070" y="1997666"/>
            <a:ext cx="4425339" cy="37190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1338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60027" y="3125586"/>
            <a:ext cx="5316547" cy="1492132"/>
          </a:xfrm>
        </p:spPr>
        <p:txBody>
          <a:bodyPr>
            <a:noAutofit/>
          </a:bodyPr>
          <a:lstStyle/>
          <a:p>
            <a:r>
              <a:rPr lang="es-PE" sz="96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12410893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238</TotalTime>
  <Words>608</Words>
  <Application>Microsoft Office PowerPoint</Application>
  <PresentationFormat>Panorámica</PresentationFormat>
  <Paragraphs>58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Arial</vt:lpstr>
      <vt:lpstr>Cambria Math</vt:lpstr>
      <vt:lpstr>Gill Sans MT</vt:lpstr>
      <vt:lpstr>Impact</vt:lpstr>
      <vt:lpstr>Lato</vt:lpstr>
      <vt:lpstr>Times New Roman</vt:lpstr>
      <vt:lpstr>Badge</vt:lpstr>
      <vt:lpstr>Procesamiento de imágenes: sesión 1</vt:lpstr>
      <vt:lpstr>Objetivos: </vt:lpstr>
      <vt:lpstr>Manejo de una imagen:</vt:lpstr>
      <vt:lpstr>ENCENDER UNA WEBCAM DESDE PYTHON:</vt:lpstr>
      <vt:lpstr>Conectar un cámara ip a python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Imágenes de Prueba:</vt:lpstr>
      <vt:lpstr>Presentación de PowerPoint</vt:lpstr>
      <vt:lpstr>Presentación de PowerPoint</vt:lpstr>
      <vt:lpstr>Presentación de PowerPoint</vt:lpstr>
      <vt:lpstr>Mezclar Imágenes: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Resta Absoluta de Imágenes:</vt:lpstr>
      <vt:lpstr>Presentación de PowerPoint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Procesamiento de imágenes: sesión 1</dc:title>
  <dc:creator>pc001n</dc:creator>
  <cp:lastModifiedBy>JAIME ANTONIO HUAYTALLA PARIONA</cp:lastModifiedBy>
  <cp:revision>31</cp:revision>
  <dcterms:created xsi:type="dcterms:W3CDTF">2020-07-04T23:20:32Z</dcterms:created>
  <dcterms:modified xsi:type="dcterms:W3CDTF">2024-08-22T15:10:07Z</dcterms:modified>
</cp:coreProperties>
</file>