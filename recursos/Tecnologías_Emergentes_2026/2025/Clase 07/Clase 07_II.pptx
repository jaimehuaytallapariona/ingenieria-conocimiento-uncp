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2" r:id="rId7"/>
    <p:sldId id="263" r:id="rId8"/>
    <p:sldId id="265" r:id="rId9"/>
    <p:sldId id="266" r:id="rId10"/>
    <p:sldId id="267" r:id="rId11"/>
    <p:sldId id="268" r:id="rId12"/>
    <p:sldId id="269" r:id="rId13"/>
    <p:sldId id="270" r:id="rId14"/>
    <p:sldId id="271" r:id="rId15"/>
    <p:sldId id="272" r:id="rId16"/>
    <p:sldId id="273" r:id="rId17"/>
    <p:sldId id="274"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97" autoAdjust="0"/>
    <p:restoredTop sz="94660"/>
  </p:normalViewPr>
  <p:slideViewPr>
    <p:cSldViewPr snapToGrid="0">
      <p:cViewPr varScale="1">
        <p:scale>
          <a:sx n="95" d="100"/>
          <a:sy n="95" d="100"/>
        </p:scale>
        <p:origin x="14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8/22/2024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‹Nº›</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8/22/2024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8/22/2024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‹Nº›</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8/22/2024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257300" y="2909102"/>
            <a:ext cx="4800600" cy="299639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633864" y="2909102"/>
            <a:ext cx="4800600" cy="299639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8/22/2024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8/22/2024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8/22/2024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8/22/2024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‹Nº›</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8/22/2024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8/22/2024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8/22/2024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8/22/2024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‹Nº›</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PE" sz="6000" dirty="0"/>
              <a:t>Transformaciones geométricas de imágenes</a:t>
            </a:r>
          </a:p>
        </p:txBody>
      </p:sp>
    </p:spTree>
    <p:extLst>
      <p:ext uri="{BB962C8B-B14F-4D97-AF65-F5344CB8AC3E}">
        <p14:creationId xmlns:p14="http://schemas.microsoft.com/office/powerpoint/2010/main" val="1191624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OBJETIVOS:</a:t>
            </a:r>
          </a:p>
        </p:txBody>
      </p:sp>
      <p:sp>
        <p:nvSpPr>
          <p:cNvPr id="3" name="Marcador de contenido 2"/>
          <p:cNvSpPr>
            <a:spLocks noGrp="1"/>
          </p:cNvSpPr>
          <p:nvPr>
            <p:ph idx="1"/>
          </p:nvPr>
        </p:nvSpPr>
        <p:spPr>
          <a:xfrm>
            <a:off x="1251678" y="1874517"/>
            <a:ext cx="10178322" cy="4436131"/>
          </a:xfrm>
        </p:spPr>
        <p:txBody>
          <a:bodyPr>
            <a:normAutofit/>
          </a:bodyPr>
          <a:lstStyle/>
          <a:p>
            <a:pPr algn="just"/>
            <a:r>
              <a:rPr lang="es-PE" dirty="0">
                <a:solidFill>
                  <a:schemeClr val="tx1"/>
                </a:solidFill>
              </a:rPr>
              <a:t>Aprenderemos a escalar una imagen.</a:t>
            </a:r>
          </a:p>
          <a:p>
            <a:pPr algn="just"/>
            <a:r>
              <a:rPr lang="es-PE" dirty="0">
                <a:solidFill>
                  <a:schemeClr val="tx1"/>
                </a:solidFill>
              </a:rPr>
              <a:t>Aprenderemos a trasladar una imagen.</a:t>
            </a:r>
          </a:p>
          <a:p>
            <a:pPr algn="just"/>
            <a:r>
              <a:rPr lang="es-PE" dirty="0">
                <a:solidFill>
                  <a:schemeClr val="tx1"/>
                </a:solidFill>
              </a:rPr>
              <a:t>Aprenderemos a rotar una imagen.</a:t>
            </a:r>
          </a:p>
          <a:p>
            <a:pPr algn="just"/>
            <a:r>
              <a:rPr lang="es-PE" dirty="0">
                <a:solidFill>
                  <a:schemeClr val="tx1"/>
                </a:solidFill>
              </a:rPr>
              <a:t>Aprenderemos a realizar una transformación afín de  una imagen.</a:t>
            </a:r>
          </a:p>
          <a:p>
            <a:r>
              <a:rPr lang="es-PE" dirty="0">
                <a:solidFill>
                  <a:schemeClr val="tx1"/>
                </a:solidFill>
              </a:rPr>
              <a:t>Aprender a segmentar una imagen.</a:t>
            </a:r>
          </a:p>
          <a:p>
            <a:r>
              <a:rPr lang="es-PE" dirty="0">
                <a:solidFill>
                  <a:schemeClr val="tx1"/>
                </a:solidFill>
              </a:rPr>
              <a:t>Conocer los diversos tipos de umbralización. </a:t>
            </a:r>
          </a:p>
          <a:p>
            <a:r>
              <a:rPr lang="es-PE" dirty="0">
                <a:solidFill>
                  <a:schemeClr val="tx1"/>
                </a:solidFill>
              </a:rPr>
              <a:t>Aprender los diferentes tipos de umbralización adaptativa.</a:t>
            </a:r>
          </a:p>
          <a:p>
            <a:r>
              <a:rPr lang="es-PE" dirty="0">
                <a:solidFill>
                  <a:schemeClr val="tx1"/>
                </a:solidFill>
              </a:rPr>
              <a:t>Aprender a realizar una umbralización adaptativa.</a:t>
            </a:r>
          </a:p>
          <a:p>
            <a:r>
              <a:rPr lang="es-PE" dirty="0">
                <a:solidFill>
                  <a:schemeClr val="tx1"/>
                </a:solidFill>
              </a:rPr>
              <a:t>Aprender a realizar una umbralización automática mediante el  método Otsu</a:t>
            </a:r>
          </a:p>
          <a:p>
            <a:pPr marL="0" indent="0">
              <a:buNone/>
            </a:pPr>
            <a:endParaRPr lang="es-PE" dirty="0"/>
          </a:p>
        </p:txBody>
      </p:sp>
    </p:spTree>
    <p:extLst>
      <p:ext uri="{BB962C8B-B14F-4D97-AF65-F5344CB8AC3E}">
        <p14:creationId xmlns:p14="http://schemas.microsoft.com/office/powerpoint/2010/main" val="1493117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Escalar:</a:t>
            </a:r>
          </a:p>
        </p:txBody>
      </p:sp>
      <p:sp>
        <p:nvSpPr>
          <p:cNvPr id="3" name="Marcador de contenido 2"/>
          <p:cNvSpPr>
            <a:spLocks noGrp="1"/>
          </p:cNvSpPr>
          <p:nvPr>
            <p:ph idx="1"/>
          </p:nvPr>
        </p:nvSpPr>
        <p:spPr>
          <a:xfrm>
            <a:off x="1159098" y="1274050"/>
            <a:ext cx="5823675" cy="1739607"/>
          </a:xfrm>
        </p:spPr>
        <p:txBody>
          <a:bodyPr>
            <a:normAutofit/>
          </a:bodyPr>
          <a:lstStyle/>
          <a:p>
            <a:pPr algn="just"/>
            <a:r>
              <a:rPr lang="es-PE" sz="1800" dirty="0">
                <a:solidFill>
                  <a:schemeClr val="tx1"/>
                </a:solidFill>
              </a:rPr>
              <a:t>El escalado es simplemente redimensionar la imagen. </a:t>
            </a:r>
            <a:r>
              <a:rPr lang="es-PE" sz="1800" dirty="0" err="1">
                <a:solidFill>
                  <a:schemeClr val="tx1"/>
                </a:solidFill>
              </a:rPr>
              <a:t>OpenCV</a:t>
            </a:r>
            <a:r>
              <a:rPr lang="es-PE" sz="1800" dirty="0">
                <a:solidFill>
                  <a:schemeClr val="tx1"/>
                </a:solidFill>
              </a:rPr>
              <a:t> viene con una función </a:t>
            </a:r>
            <a:r>
              <a:rPr lang="es-PE" sz="1800" b="1" dirty="0">
                <a:solidFill>
                  <a:schemeClr val="tx1"/>
                </a:solidFill>
              </a:rPr>
              <a:t>cv2.resize ()</a:t>
            </a:r>
            <a:r>
              <a:rPr lang="es-PE" sz="1800" dirty="0">
                <a:solidFill>
                  <a:schemeClr val="tx1"/>
                </a:solidFill>
              </a:rPr>
              <a:t> para este propósito. El tamaño de la imagen se puede especificar manualmente, o puede especificar el factor de escala. </a:t>
            </a:r>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6027" y="382385"/>
            <a:ext cx="4153973" cy="28108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n 5"/>
          <p:cNvPicPr>
            <a:picLocks noChangeAspect="1"/>
          </p:cNvPicPr>
          <p:nvPr/>
        </p:nvPicPr>
        <p:blipFill rotWithShape="1">
          <a:blip r:embed="rId3"/>
          <a:srcRect l="39824" t="55214" r="37042" b="13409"/>
          <a:stretch/>
        </p:blipFill>
        <p:spPr>
          <a:xfrm>
            <a:off x="7276026" y="3503054"/>
            <a:ext cx="4153973" cy="31676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Imagen 6"/>
          <p:cNvPicPr>
            <a:picLocks noChangeAspect="1"/>
          </p:cNvPicPr>
          <p:nvPr/>
        </p:nvPicPr>
        <p:blipFill rotWithShape="1">
          <a:blip r:embed="rId4"/>
          <a:srcRect l="17641" t="19516" r="35352" b="47228"/>
          <a:stretch/>
        </p:blipFill>
        <p:spPr>
          <a:xfrm>
            <a:off x="1205386" y="3013657"/>
            <a:ext cx="5731098" cy="22795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Imagen 7"/>
          <p:cNvPicPr>
            <a:picLocks noChangeAspect="1"/>
          </p:cNvPicPr>
          <p:nvPr/>
        </p:nvPicPr>
        <p:blipFill rotWithShape="1">
          <a:blip r:embed="rId5"/>
          <a:srcRect l="8345" t="21582" r="84578" b="72405"/>
          <a:stretch/>
        </p:blipFill>
        <p:spPr>
          <a:xfrm>
            <a:off x="2938810" y="5628067"/>
            <a:ext cx="1903646" cy="9092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91426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Escalar:</a:t>
            </a:r>
          </a:p>
        </p:txBody>
      </p:sp>
      <p:pic>
        <p:nvPicPr>
          <p:cNvPr id="5" name="Imagen 4"/>
          <p:cNvPicPr>
            <a:picLocks noChangeAspect="1"/>
          </p:cNvPicPr>
          <p:nvPr/>
        </p:nvPicPr>
        <p:blipFill rotWithShape="1">
          <a:blip r:embed="rId2"/>
          <a:srcRect l="10880" t="15570" r="42324" b="52114"/>
          <a:stretch/>
        </p:blipFill>
        <p:spPr>
          <a:xfrm>
            <a:off x="1091589" y="1426295"/>
            <a:ext cx="5705341" cy="22151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n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6523" y="781629"/>
            <a:ext cx="4153973" cy="28108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Imagen 8"/>
          <p:cNvPicPr>
            <a:picLocks noChangeAspect="1"/>
          </p:cNvPicPr>
          <p:nvPr/>
        </p:nvPicPr>
        <p:blipFill rotWithShape="1">
          <a:blip r:embed="rId4"/>
          <a:srcRect l="8662" t="74754" r="82993" b="18670"/>
          <a:stretch/>
        </p:blipFill>
        <p:spPr>
          <a:xfrm>
            <a:off x="4675031" y="382385"/>
            <a:ext cx="1802306" cy="7984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Imagen 9"/>
          <p:cNvPicPr>
            <a:picLocks noChangeAspect="1"/>
          </p:cNvPicPr>
          <p:nvPr/>
        </p:nvPicPr>
        <p:blipFill rotWithShape="1">
          <a:blip r:embed="rId5"/>
          <a:srcRect l="10986" t="15136" r="41901" b="51550"/>
          <a:stretch/>
        </p:blipFill>
        <p:spPr>
          <a:xfrm>
            <a:off x="1072270" y="3915177"/>
            <a:ext cx="5743978" cy="22835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Imagen 10"/>
          <p:cNvPicPr>
            <a:picLocks noChangeAspect="1"/>
          </p:cNvPicPr>
          <p:nvPr/>
        </p:nvPicPr>
        <p:blipFill rotWithShape="1">
          <a:blip r:embed="rId6"/>
          <a:srcRect l="9190" t="33795" r="51303" b="45162"/>
          <a:stretch/>
        </p:blipFill>
        <p:spPr>
          <a:xfrm>
            <a:off x="7116523" y="4237149"/>
            <a:ext cx="4313477" cy="14424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02070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Traslación: </a:t>
            </a:r>
          </a:p>
        </p:txBody>
      </p:sp>
      <p:sp>
        <p:nvSpPr>
          <p:cNvPr id="3" name="Marcador de contenido 2"/>
          <p:cNvSpPr>
            <a:spLocks noGrp="1"/>
          </p:cNvSpPr>
          <p:nvPr>
            <p:ph idx="1"/>
          </p:nvPr>
        </p:nvSpPr>
        <p:spPr>
          <a:xfrm>
            <a:off x="1251678" y="1242812"/>
            <a:ext cx="5612761" cy="1796795"/>
          </a:xfrm>
        </p:spPr>
        <p:txBody>
          <a:bodyPr/>
          <a:lstStyle/>
          <a:p>
            <a:pPr algn="just"/>
            <a:r>
              <a:rPr lang="es-PE" dirty="0">
                <a:solidFill>
                  <a:schemeClr val="tx1"/>
                </a:solidFill>
              </a:rPr>
              <a:t>La traducción es el desplazamiento de la ubicación del objeto. Si conoce el cambio en la dirección (x, y), déjelo ser (</a:t>
            </a:r>
            <a:r>
              <a:rPr lang="es-PE" dirty="0" err="1">
                <a:solidFill>
                  <a:schemeClr val="tx1"/>
                </a:solidFill>
              </a:rPr>
              <a:t>t_x</a:t>
            </a:r>
            <a:r>
              <a:rPr lang="es-PE" dirty="0">
                <a:solidFill>
                  <a:schemeClr val="tx1"/>
                </a:solidFill>
              </a:rPr>
              <a:t>, </a:t>
            </a:r>
            <a:r>
              <a:rPr lang="es-PE" dirty="0" err="1">
                <a:solidFill>
                  <a:schemeClr val="tx1"/>
                </a:solidFill>
              </a:rPr>
              <a:t>t_y</a:t>
            </a:r>
            <a:r>
              <a:rPr lang="es-PE" dirty="0">
                <a:solidFill>
                  <a:schemeClr val="tx1"/>
                </a:solidFill>
              </a:rPr>
              <a:t>), puede crear la matriz de transformación de la M siguiente manera:</a:t>
            </a:r>
          </a:p>
          <a:p>
            <a:pPr algn="just"/>
            <a:endParaRPr lang="es-PE" dirty="0">
              <a:solidFill>
                <a:schemeClr val="tx1"/>
              </a:solidFill>
            </a:endParaRPr>
          </a:p>
          <a:p>
            <a:pPr algn="just"/>
            <a:endParaRPr lang="es-PE" dirty="0">
              <a:solidFill>
                <a:schemeClr val="tx1"/>
              </a:solidFill>
            </a:endParaRPr>
          </a:p>
          <a:p>
            <a:pPr marL="0" indent="0" algn="just">
              <a:buNone/>
            </a:pPr>
            <a:endParaRPr lang="es-PE" dirty="0">
              <a:solidFill>
                <a:schemeClr val="tx1"/>
              </a:solidFill>
            </a:endParaRPr>
          </a:p>
          <a:p>
            <a:pPr algn="just"/>
            <a:endParaRPr lang="es-PE" dirty="0"/>
          </a:p>
          <a:p>
            <a:pPr algn="just"/>
            <a:endParaRPr lang="es-PE" dirty="0"/>
          </a:p>
          <a:p>
            <a:pPr algn="just"/>
            <a:endParaRPr lang="es-PE" dirty="0"/>
          </a:p>
        </p:txBody>
      </p:sp>
      <p:pic>
        <p:nvPicPr>
          <p:cNvPr id="1033" name="Picture 9" descr="M = \ begin {bmatrix} 1 &amp; 0 &amp; t_x \\ 0 &amp; 1 &amp; t_y \ end {bmatri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1933" y="3128301"/>
            <a:ext cx="2092249" cy="77173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p:cNvPicPr>
            <a:picLocks noChangeAspect="1"/>
          </p:cNvPicPr>
          <p:nvPr/>
        </p:nvPicPr>
        <p:blipFill rotWithShape="1">
          <a:blip r:embed="rId3"/>
          <a:srcRect l="15422" t="8994" r="47395" b="67333"/>
          <a:stretch/>
        </p:blipFill>
        <p:spPr>
          <a:xfrm>
            <a:off x="1529134" y="4489143"/>
            <a:ext cx="5335305" cy="19097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p:cNvPicPr>
            <a:picLocks noChangeAspect="1"/>
          </p:cNvPicPr>
          <p:nvPr/>
        </p:nvPicPr>
        <p:blipFill rotWithShape="1">
          <a:blip r:embed="rId4"/>
          <a:srcRect l="39824" t="23528" r="15176" b="18792"/>
          <a:stretch/>
        </p:blipFill>
        <p:spPr>
          <a:xfrm>
            <a:off x="7431773" y="3614524"/>
            <a:ext cx="4078169" cy="29389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Imagen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93870" y="469089"/>
            <a:ext cx="4153973" cy="28108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3487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Rotación:</a:t>
            </a:r>
          </a:p>
        </p:txBody>
      </p:sp>
      <p:sp>
        <p:nvSpPr>
          <p:cNvPr id="3" name="Marcador de contenido 2"/>
          <p:cNvSpPr>
            <a:spLocks noGrp="1"/>
          </p:cNvSpPr>
          <p:nvPr>
            <p:ph idx="1"/>
          </p:nvPr>
        </p:nvSpPr>
        <p:spPr>
          <a:xfrm>
            <a:off x="1251678" y="1423116"/>
            <a:ext cx="5904332" cy="1410235"/>
          </a:xfrm>
        </p:spPr>
        <p:txBody>
          <a:bodyPr>
            <a:normAutofit/>
          </a:bodyPr>
          <a:lstStyle/>
          <a:p>
            <a:pPr algn="just"/>
            <a:r>
              <a:rPr lang="es-PE" dirty="0">
                <a:solidFill>
                  <a:schemeClr val="tx1"/>
                </a:solidFill>
              </a:rPr>
              <a:t>La rotación de una imagen para un ángulo </a:t>
            </a:r>
            <a:r>
              <a:rPr lang="es-PE" dirty="0" err="1">
                <a:solidFill>
                  <a:schemeClr val="tx1"/>
                </a:solidFill>
              </a:rPr>
              <a:t>tetha</a:t>
            </a:r>
            <a:r>
              <a:rPr lang="es-PE" dirty="0">
                <a:solidFill>
                  <a:schemeClr val="tx1"/>
                </a:solidFill>
              </a:rPr>
              <a:t> se logra mediante la matriz de transformación de la forma</a:t>
            </a:r>
          </a:p>
          <a:p>
            <a:pPr algn="just"/>
            <a:endParaRPr lang="es-PE" dirty="0">
              <a:solidFill>
                <a:schemeClr val="tx1"/>
              </a:solidFill>
            </a:endParaRPr>
          </a:p>
          <a:p>
            <a:pPr algn="just"/>
            <a:endParaRPr lang="es-PE" dirty="0">
              <a:solidFill>
                <a:schemeClr val="tx1"/>
              </a:solidFill>
            </a:endParaRPr>
          </a:p>
          <a:p>
            <a:pPr algn="just"/>
            <a:endParaRPr lang="es-PE" dirty="0">
              <a:solidFill>
                <a:schemeClr val="tx1"/>
              </a:solidFill>
            </a:endParaRPr>
          </a:p>
          <a:p>
            <a:pPr algn="just"/>
            <a:endParaRPr lang="es-PE" dirty="0">
              <a:solidFill>
                <a:schemeClr val="tx1"/>
              </a:solidFill>
            </a:endParaRPr>
          </a:p>
          <a:p>
            <a:pPr marL="0" indent="0" algn="just">
              <a:buNone/>
            </a:pPr>
            <a:endParaRPr lang="es-PE" dirty="0">
              <a:solidFill>
                <a:schemeClr val="tx1"/>
              </a:solidFill>
            </a:endParaRPr>
          </a:p>
          <a:p>
            <a:pPr marL="0" indent="0" algn="just">
              <a:buNone/>
            </a:pPr>
            <a:endParaRPr lang="es-PE" dirty="0">
              <a:solidFill>
                <a:schemeClr val="tx1"/>
              </a:solidFill>
            </a:endParaRPr>
          </a:p>
        </p:txBody>
      </p:sp>
      <p:pic>
        <p:nvPicPr>
          <p:cNvPr id="2052" name="Picture 4" descr="M = \ begin {bmatrix} cos \ theta &amp; -sin \ theta \\ sin \ theta &amp; cos \ theta \ end {bmatri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816" y="2833351"/>
            <a:ext cx="3006055" cy="861610"/>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p:cNvPicPr>
            <a:picLocks noChangeAspect="1"/>
          </p:cNvPicPr>
          <p:nvPr/>
        </p:nvPicPr>
        <p:blipFill rotWithShape="1">
          <a:blip r:embed="rId3"/>
          <a:srcRect l="24718" t="33382" r="28275" b="42005"/>
          <a:stretch/>
        </p:blipFill>
        <p:spPr>
          <a:xfrm>
            <a:off x="1424911" y="4134119"/>
            <a:ext cx="5731099" cy="16871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p:cNvPicPr>
            <a:picLocks noChangeAspect="1"/>
          </p:cNvPicPr>
          <p:nvPr/>
        </p:nvPicPr>
        <p:blipFill rotWithShape="1">
          <a:blip r:embed="rId4"/>
          <a:srcRect l="29578" t="22709" r="25422" b="19798"/>
          <a:stretch/>
        </p:blipFill>
        <p:spPr>
          <a:xfrm>
            <a:off x="7414226" y="3694961"/>
            <a:ext cx="4133617" cy="29692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Imagen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93870" y="469089"/>
            <a:ext cx="4153973" cy="28108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CuadroTexto 5"/>
          <p:cNvSpPr txBox="1"/>
          <p:nvPr/>
        </p:nvSpPr>
        <p:spPr>
          <a:xfrm>
            <a:off x="4816699" y="382385"/>
            <a:ext cx="1943161" cy="646331"/>
          </a:xfrm>
          <a:prstGeom prst="rect">
            <a:avLst/>
          </a:prstGeom>
          <a:noFill/>
        </p:spPr>
        <p:txBody>
          <a:bodyPr wrap="none" rtlCol="0">
            <a:spAutoFit/>
          </a:bodyPr>
          <a:lstStyle/>
          <a:p>
            <a:r>
              <a:rPr lang="es-PE" dirty="0"/>
              <a:t>M= cos2a+sen2a</a:t>
            </a:r>
          </a:p>
          <a:p>
            <a:r>
              <a:rPr lang="es-PE" dirty="0"/>
              <a:t>M=1</a:t>
            </a:r>
          </a:p>
        </p:txBody>
      </p:sp>
    </p:spTree>
    <p:extLst>
      <p:ext uri="{BB962C8B-B14F-4D97-AF65-F5344CB8AC3E}">
        <p14:creationId xmlns:p14="http://schemas.microsoft.com/office/powerpoint/2010/main" val="930616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PE" sz="4800" dirty="0"/>
              <a:t>Transformación </a:t>
            </a:r>
            <a:r>
              <a:rPr lang="es-PE" sz="4800" dirty="0" err="1"/>
              <a:t>afin</a:t>
            </a:r>
            <a:r>
              <a:rPr lang="es-PE" sz="4800" dirty="0"/>
              <a:t> </a:t>
            </a:r>
          </a:p>
        </p:txBody>
      </p:sp>
      <p:sp>
        <p:nvSpPr>
          <p:cNvPr id="3" name="Marcador de contenido 2"/>
          <p:cNvSpPr>
            <a:spLocks noGrp="1"/>
          </p:cNvSpPr>
          <p:nvPr>
            <p:ph idx="1"/>
          </p:nvPr>
        </p:nvSpPr>
        <p:spPr>
          <a:xfrm>
            <a:off x="1251678" y="1371602"/>
            <a:ext cx="5857460" cy="1951148"/>
          </a:xfrm>
        </p:spPr>
        <p:txBody>
          <a:bodyPr>
            <a:normAutofit fontScale="92500"/>
          </a:bodyPr>
          <a:lstStyle/>
          <a:p>
            <a:pPr algn="just">
              <a:lnSpc>
                <a:spcPct val="100000"/>
              </a:lnSpc>
            </a:pPr>
            <a:r>
              <a:rPr lang="es-PE" dirty="0">
                <a:solidFill>
                  <a:schemeClr val="tx1"/>
                </a:solidFill>
              </a:rPr>
              <a:t>En una transformación afín, todas las líneas paralelas en la imagen original seguirán siendo paralelas en la imagen de salida. Para encontrar la matriz de transformación, necesitamos tres puntos de la imagen de entrada y sus ubicaciones correspondientes en la imagen de salida. </a:t>
            </a:r>
          </a:p>
        </p:txBody>
      </p:sp>
      <p:pic>
        <p:nvPicPr>
          <p:cNvPr id="4" name="Imagen 3"/>
          <p:cNvPicPr>
            <a:picLocks noChangeAspect="1"/>
          </p:cNvPicPr>
          <p:nvPr/>
        </p:nvPicPr>
        <p:blipFill rotWithShape="1">
          <a:blip r:embed="rId2"/>
          <a:srcRect l="24929" t="33231" r="29332" b="36519"/>
          <a:stretch/>
        </p:blipFill>
        <p:spPr>
          <a:xfrm>
            <a:off x="1251678" y="3657602"/>
            <a:ext cx="6089280" cy="23954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9899" y="382385"/>
            <a:ext cx="4153973" cy="28108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n 5"/>
          <p:cNvPicPr>
            <a:picLocks noChangeAspect="1"/>
          </p:cNvPicPr>
          <p:nvPr/>
        </p:nvPicPr>
        <p:blipFill rotWithShape="1">
          <a:blip r:embed="rId4"/>
          <a:srcRect l="29578" t="22334" r="25316" b="19610"/>
          <a:stretch/>
        </p:blipFill>
        <p:spPr>
          <a:xfrm>
            <a:off x="7559899" y="3657602"/>
            <a:ext cx="4153973" cy="30060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61643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Umbralización en OpenCV</a:t>
            </a:r>
            <a:endParaRPr lang="es-PE" dirty="0"/>
          </a:p>
        </p:txBody>
      </p:sp>
      <p:sp>
        <p:nvSpPr>
          <p:cNvPr id="4" name="Marcador de contenido 2"/>
          <p:cNvSpPr>
            <a:spLocks noGrp="1"/>
          </p:cNvSpPr>
          <p:nvPr>
            <p:ph idx="1"/>
          </p:nvPr>
        </p:nvSpPr>
        <p:spPr>
          <a:xfrm>
            <a:off x="1251678" y="1474632"/>
            <a:ext cx="10178322" cy="3593591"/>
          </a:xfrm>
        </p:spPr>
        <p:txBody>
          <a:bodyPr/>
          <a:lstStyle/>
          <a:p>
            <a:pPr algn="just"/>
            <a:r>
              <a:rPr lang="es-PE" dirty="0">
                <a:solidFill>
                  <a:schemeClr val="tx1"/>
                </a:solidFill>
              </a:rPr>
              <a:t>La umbralización es uno de los métodos más simples y eficientes de segmentación, segmentar quiere decir, separar o extraer las regiones de una imagen que nos interese estudiar o analizar, para lograr separar la región deseada se establece un valor que define el umbral, los pixeles cuya intensidad superen el umbral serán rechazado o aceptados, según sea el caso.</a:t>
            </a:r>
          </a:p>
          <a:p>
            <a:pPr algn="just"/>
            <a:r>
              <a:rPr lang="es-PE" dirty="0">
                <a:solidFill>
                  <a:schemeClr val="tx1"/>
                </a:solidFill>
              </a:rPr>
              <a:t>En </a:t>
            </a:r>
            <a:r>
              <a:rPr lang="es-PE" dirty="0" err="1">
                <a:solidFill>
                  <a:schemeClr val="tx1"/>
                </a:solidFill>
              </a:rPr>
              <a:t>OpenCV</a:t>
            </a:r>
            <a:r>
              <a:rPr lang="es-PE" dirty="0">
                <a:solidFill>
                  <a:schemeClr val="tx1"/>
                </a:solidFill>
              </a:rPr>
              <a:t> podemos aplicar esta técnica mediante la función cv::</a:t>
            </a:r>
            <a:r>
              <a:rPr lang="es-PE" dirty="0" err="1">
                <a:solidFill>
                  <a:schemeClr val="tx1"/>
                </a:solidFill>
              </a:rPr>
              <a:t>threshold</a:t>
            </a:r>
            <a:r>
              <a:rPr lang="es-PE" dirty="0">
                <a:solidFill>
                  <a:schemeClr val="tx1"/>
                </a:solidFill>
              </a:rPr>
              <a:t>, tenemos disponibles varios tipos de umbralización, la imagen de entrada debe ser a escala de grises, esta función se define del siguiente modo:</a:t>
            </a:r>
          </a:p>
        </p:txBody>
      </p:sp>
      <p:pic>
        <p:nvPicPr>
          <p:cNvPr id="5" name="Imagen 4"/>
          <p:cNvPicPr>
            <a:picLocks noChangeAspect="1"/>
          </p:cNvPicPr>
          <p:nvPr/>
        </p:nvPicPr>
        <p:blipFill rotWithShape="1">
          <a:blip r:embed="rId2"/>
          <a:srcRect l="21549" t="34922" r="22676" b="41404"/>
          <a:stretch/>
        </p:blipFill>
        <p:spPr>
          <a:xfrm>
            <a:off x="1897578" y="4421821"/>
            <a:ext cx="8886521" cy="21206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58159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Imagen de prueba:</a:t>
            </a:r>
          </a:p>
        </p:txBody>
      </p:sp>
      <p:pic>
        <p:nvPicPr>
          <p:cNvPr id="1026" name="Picture 2" descr="herramienta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2108" y="1653437"/>
            <a:ext cx="4905823" cy="49058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0674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51678" y="382385"/>
            <a:ext cx="10178322" cy="815350"/>
          </a:xfrm>
        </p:spPr>
        <p:txBody>
          <a:bodyPr/>
          <a:lstStyle/>
          <a:p>
            <a:r>
              <a:rPr lang="es-PE" b="1" dirty="0"/>
              <a:t>Umbral binario (THRESH_BINARY)</a:t>
            </a:r>
            <a:endParaRPr lang="es-PE" dirty="0"/>
          </a:p>
        </p:txBody>
      </p:sp>
      <p:sp>
        <p:nvSpPr>
          <p:cNvPr id="5" name="CuadroTexto 4"/>
          <p:cNvSpPr txBox="1"/>
          <p:nvPr/>
        </p:nvSpPr>
        <p:spPr>
          <a:xfrm>
            <a:off x="1251675" y="1532359"/>
            <a:ext cx="6067425" cy="1323439"/>
          </a:xfrm>
          <a:prstGeom prst="rect">
            <a:avLst/>
          </a:prstGeom>
          <a:noFill/>
        </p:spPr>
        <p:txBody>
          <a:bodyPr wrap="square" rtlCol="0">
            <a:spAutoFit/>
          </a:bodyPr>
          <a:lstStyle/>
          <a:p>
            <a:pPr algn="just"/>
            <a:r>
              <a:rPr lang="es-PE" sz="2000" dirty="0"/>
              <a:t>Si la intensidad del pixel es mayor al umbral establecido el pixel de destino a establece al máximo valor definido, en caso contrario se establece a cero:</a:t>
            </a:r>
          </a:p>
        </p:txBody>
      </p:sp>
      <p:pic>
        <p:nvPicPr>
          <p:cNvPr id="6" name="Imagen 5"/>
          <p:cNvPicPr>
            <a:picLocks noChangeAspect="1"/>
          </p:cNvPicPr>
          <p:nvPr/>
        </p:nvPicPr>
        <p:blipFill>
          <a:blip r:embed="rId2"/>
          <a:stretch>
            <a:fillRect/>
          </a:stretch>
        </p:blipFill>
        <p:spPr>
          <a:xfrm>
            <a:off x="1325624" y="5259107"/>
            <a:ext cx="6009584" cy="10000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Imagen 6"/>
          <p:cNvPicPr>
            <a:picLocks noChangeAspect="1"/>
          </p:cNvPicPr>
          <p:nvPr/>
        </p:nvPicPr>
        <p:blipFill rotWithShape="1">
          <a:blip r:embed="rId3"/>
          <a:srcRect l="12042" t="23837" r="59120" b="25058"/>
          <a:stretch/>
        </p:blipFill>
        <p:spPr>
          <a:xfrm>
            <a:off x="7577910" y="2023878"/>
            <a:ext cx="4082783" cy="40678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Imagen 2"/>
          <p:cNvPicPr>
            <a:picLocks noChangeAspect="1"/>
          </p:cNvPicPr>
          <p:nvPr/>
        </p:nvPicPr>
        <p:blipFill rotWithShape="1">
          <a:blip r:embed="rId4"/>
          <a:srcRect l="6550" t="12188" r="38203" b="69587"/>
          <a:stretch/>
        </p:blipFill>
        <p:spPr>
          <a:xfrm>
            <a:off x="1325624" y="3190421"/>
            <a:ext cx="5993476" cy="15747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99038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51678" y="382385"/>
            <a:ext cx="10178322" cy="725198"/>
          </a:xfrm>
        </p:spPr>
        <p:txBody>
          <a:bodyPr>
            <a:normAutofit fontScale="90000"/>
          </a:bodyPr>
          <a:lstStyle/>
          <a:p>
            <a:r>
              <a:rPr lang="es-PE" sz="3800" b="1" dirty="0"/>
              <a:t>Umbral binario invertido (THRESH_BINARY_INV)</a:t>
            </a:r>
            <a:br>
              <a:rPr lang="es-PE" b="1" dirty="0"/>
            </a:br>
            <a:endParaRPr lang="es-PE" dirty="0"/>
          </a:p>
        </p:txBody>
      </p:sp>
      <p:sp>
        <p:nvSpPr>
          <p:cNvPr id="3" name="Marcador de contenido 2"/>
          <p:cNvSpPr>
            <a:spLocks noGrp="1"/>
          </p:cNvSpPr>
          <p:nvPr>
            <p:ph idx="1"/>
          </p:nvPr>
        </p:nvSpPr>
        <p:spPr>
          <a:xfrm>
            <a:off x="1251678" y="1560909"/>
            <a:ext cx="5912074" cy="1307205"/>
          </a:xfrm>
        </p:spPr>
        <p:txBody>
          <a:bodyPr>
            <a:normAutofit fontScale="92500" lnSpcReduction="10000"/>
          </a:bodyPr>
          <a:lstStyle/>
          <a:p>
            <a:pPr marL="0" indent="0" algn="just">
              <a:buNone/>
            </a:pPr>
            <a:r>
              <a:rPr lang="es-PE" dirty="0">
                <a:solidFill>
                  <a:schemeClr val="tx1"/>
                </a:solidFill>
              </a:rPr>
              <a:t>Similar al anterior, solo que aplicado al inverso, si la intensidad supera el umbral definido el valor resultante será establecido a cero, en caso contrario se establecerá al máximo valor definido.</a:t>
            </a:r>
          </a:p>
        </p:txBody>
      </p:sp>
      <p:pic>
        <p:nvPicPr>
          <p:cNvPr id="5" name="Imagen 4"/>
          <p:cNvPicPr>
            <a:picLocks noChangeAspect="1"/>
          </p:cNvPicPr>
          <p:nvPr/>
        </p:nvPicPr>
        <p:blipFill>
          <a:blip r:embed="rId2"/>
          <a:stretch>
            <a:fillRect/>
          </a:stretch>
        </p:blipFill>
        <p:spPr>
          <a:xfrm>
            <a:off x="1251678" y="5338275"/>
            <a:ext cx="5848350" cy="8667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n 5"/>
          <p:cNvPicPr>
            <a:picLocks noChangeAspect="1"/>
          </p:cNvPicPr>
          <p:nvPr/>
        </p:nvPicPr>
        <p:blipFill rotWithShape="1">
          <a:blip r:embed="rId3"/>
          <a:srcRect l="12148" t="23837" r="60493" b="25434"/>
          <a:stretch/>
        </p:blipFill>
        <p:spPr>
          <a:xfrm>
            <a:off x="7356208" y="1767626"/>
            <a:ext cx="4073792" cy="4246809"/>
          </a:xfrm>
          <a:prstGeom prst="rect">
            <a:avLst/>
          </a:prstGeom>
        </p:spPr>
      </p:pic>
      <p:pic>
        <p:nvPicPr>
          <p:cNvPr id="7" name="Imagen 6"/>
          <p:cNvPicPr>
            <a:picLocks noChangeAspect="1"/>
          </p:cNvPicPr>
          <p:nvPr/>
        </p:nvPicPr>
        <p:blipFill rotWithShape="1">
          <a:blip r:embed="rId4"/>
          <a:srcRect l="6444" t="12376" r="37253" b="69963"/>
          <a:stretch/>
        </p:blipFill>
        <p:spPr>
          <a:xfrm>
            <a:off x="1263586" y="3321440"/>
            <a:ext cx="5912074" cy="15635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29641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51678" y="382385"/>
            <a:ext cx="10178322" cy="879745"/>
          </a:xfrm>
        </p:spPr>
        <p:txBody>
          <a:bodyPr>
            <a:normAutofit fontScale="90000"/>
          </a:bodyPr>
          <a:lstStyle/>
          <a:p>
            <a:r>
              <a:rPr lang="es-PE" b="1" dirty="0"/>
              <a:t>Truncar (THRESH_TRUNC)</a:t>
            </a:r>
            <a:br>
              <a:rPr lang="es-PE" b="1" dirty="0"/>
            </a:br>
            <a:endParaRPr lang="es-PE" dirty="0"/>
          </a:p>
        </p:txBody>
      </p:sp>
      <p:sp>
        <p:nvSpPr>
          <p:cNvPr id="3" name="Marcador de contenido 2"/>
          <p:cNvSpPr>
            <a:spLocks noGrp="1"/>
          </p:cNvSpPr>
          <p:nvPr>
            <p:ph idx="1"/>
          </p:nvPr>
        </p:nvSpPr>
        <p:spPr>
          <a:xfrm>
            <a:off x="1251677" y="1429556"/>
            <a:ext cx="6176687" cy="1545464"/>
          </a:xfrm>
        </p:spPr>
        <p:txBody>
          <a:bodyPr>
            <a:noAutofit/>
          </a:bodyPr>
          <a:lstStyle/>
          <a:p>
            <a:pPr marL="0" indent="0" algn="just">
              <a:buNone/>
            </a:pPr>
            <a:r>
              <a:rPr lang="es-PE" sz="1800" dirty="0">
                <a:solidFill>
                  <a:schemeClr val="tx1"/>
                </a:solidFill>
              </a:rPr>
              <a:t>En este caso si la intensidad del pixel es superior al umbral entonces el pixel destino se establece a el valor del umbral, en caso contrario el valor será igual al original, en otras palabras, cualquier pixel que supere el umbral tomará el valor del mismo, los demás permanecen igual.</a:t>
            </a:r>
          </a:p>
        </p:txBody>
      </p:sp>
      <p:pic>
        <p:nvPicPr>
          <p:cNvPr id="5" name="Imagen 4"/>
          <p:cNvPicPr>
            <a:picLocks noChangeAspect="1"/>
          </p:cNvPicPr>
          <p:nvPr/>
        </p:nvPicPr>
        <p:blipFill>
          <a:blip r:embed="rId2"/>
          <a:stretch>
            <a:fillRect/>
          </a:stretch>
        </p:blipFill>
        <p:spPr>
          <a:xfrm>
            <a:off x="1251677" y="5396248"/>
            <a:ext cx="6176687" cy="8953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n 5"/>
          <p:cNvPicPr>
            <a:picLocks noChangeAspect="1"/>
          </p:cNvPicPr>
          <p:nvPr/>
        </p:nvPicPr>
        <p:blipFill rotWithShape="1">
          <a:blip r:embed="rId3"/>
          <a:srcRect l="12359" t="24589" r="59014" b="24871"/>
          <a:stretch/>
        </p:blipFill>
        <p:spPr>
          <a:xfrm>
            <a:off x="7688687" y="1967384"/>
            <a:ext cx="4016504" cy="39868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Imagen 6"/>
          <p:cNvPicPr>
            <a:picLocks noChangeAspect="1"/>
          </p:cNvPicPr>
          <p:nvPr/>
        </p:nvPicPr>
        <p:blipFill rotWithShape="1">
          <a:blip r:embed="rId4"/>
          <a:srcRect l="6866" t="12564" r="38204" b="69587"/>
          <a:stretch/>
        </p:blipFill>
        <p:spPr>
          <a:xfrm>
            <a:off x="1251677" y="3412902"/>
            <a:ext cx="6176687" cy="15454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47749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51678" y="382385"/>
            <a:ext cx="10178322" cy="892623"/>
          </a:xfrm>
        </p:spPr>
        <p:txBody>
          <a:bodyPr/>
          <a:lstStyle/>
          <a:p>
            <a:r>
              <a:rPr lang="es-PE" b="1" dirty="0"/>
              <a:t>Ajustar a cero (THRESH_TOZERO)</a:t>
            </a:r>
            <a:endParaRPr lang="es-PE" dirty="0"/>
          </a:p>
        </p:txBody>
      </p:sp>
      <p:sp>
        <p:nvSpPr>
          <p:cNvPr id="3" name="Marcador de contenido 2"/>
          <p:cNvSpPr>
            <a:spLocks noGrp="1"/>
          </p:cNvSpPr>
          <p:nvPr>
            <p:ph idx="1"/>
          </p:nvPr>
        </p:nvSpPr>
        <p:spPr>
          <a:xfrm>
            <a:off x="1251678" y="1984151"/>
            <a:ext cx="6385494" cy="830686"/>
          </a:xfrm>
        </p:spPr>
        <p:txBody>
          <a:bodyPr/>
          <a:lstStyle/>
          <a:p>
            <a:pPr marL="0" indent="0" algn="just">
              <a:buNone/>
            </a:pPr>
            <a:r>
              <a:rPr lang="es-PE" dirty="0">
                <a:solidFill>
                  <a:schemeClr val="tx1"/>
                </a:solidFill>
              </a:rPr>
              <a:t>Cualquier pixel cuya intensidad no supere el umbral se establecerá a cero, se define de la siguiente manera:</a:t>
            </a:r>
          </a:p>
        </p:txBody>
      </p:sp>
      <p:pic>
        <p:nvPicPr>
          <p:cNvPr id="5" name="Imagen 4"/>
          <p:cNvPicPr>
            <a:picLocks noChangeAspect="1"/>
          </p:cNvPicPr>
          <p:nvPr/>
        </p:nvPicPr>
        <p:blipFill>
          <a:blip r:embed="rId2"/>
          <a:stretch>
            <a:fillRect/>
          </a:stretch>
        </p:blipFill>
        <p:spPr>
          <a:xfrm>
            <a:off x="1298303" y="5300462"/>
            <a:ext cx="6124575" cy="9715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n 5"/>
          <p:cNvPicPr>
            <a:picLocks noChangeAspect="1"/>
          </p:cNvPicPr>
          <p:nvPr/>
        </p:nvPicPr>
        <p:blipFill rotWithShape="1">
          <a:blip r:embed="rId3"/>
          <a:srcRect l="12042" t="25339" r="59754" b="25623"/>
          <a:stretch/>
        </p:blipFill>
        <p:spPr>
          <a:xfrm>
            <a:off x="7875432" y="2277549"/>
            <a:ext cx="3770090" cy="36853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Imagen 6"/>
          <p:cNvPicPr>
            <a:picLocks noChangeAspect="1"/>
          </p:cNvPicPr>
          <p:nvPr/>
        </p:nvPicPr>
        <p:blipFill rotWithShape="1">
          <a:blip r:embed="rId4"/>
          <a:srcRect l="6655" t="12564" r="37887" b="69775"/>
          <a:stretch/>
        </p:blipFill>
        <p:spPr>
          <a:xfrm>
            <a:off x="1251678" y="3380705"/>
            <a:ext cx="6385494" cy="12106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24401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51678" y="382385"/>
            <a:ext cx="10178322" cy="815350"/>
          </a:xfrm>
        </p:spPr>
        <p:txBody>
          <a:bodyPr>
            <a:normAutofit fontScale="90000"/>
          </a:bodyPr>
          <a:lstStyle/>
          <a:p>
            <a:r>
              <a:rPr lang="es-PE" sz="4000" b="1" dirty="0"/>
              <a:t>Ajuste a cero invertido (THRESH_TOZERO_INV)</a:t>
            </a:r>
            <a:br>
              <a:rPr lang="es-PE" b="1" dirty="0"/>
            </a:br>
            <a:endParaRPr lang="es-PE" dirty="0"/>
          </a:p>
        </p:txBody>
      </p:sp>
      <p:sp>
        <p:nvSpPr>
          <p:cNvPr id="3" name="Marcador de contenido 2"/>
          <p:cNvSpPr>
            <a:spLocks noGrp="1"/>
          </p:cNvSpPr>
          <p:nvPr>
            <p:ph idx="1"/>
          </p:nvPr>
        </p:nvSpPr>
        <p:spPr>
          <a:xfrm>
            <a:off x="1251678" y="1820919"/>
            <a:ext cx="6282463" cy="1126901"/>
          </a:xfrm>
        </p:spPr>
        <p:txBody>
          <a:bodyPr/>
          <a:lstStyle/>
          <a:p>
            <a:pPr marL="0" indent="0" algn="just">
              <a:buNone/>
            </a:pPr>
            <a:r>
              <a:rPr lang="es-PE" dirty="0">
                <a:solidFill>
                  <a:schemeClr val="tx1"/>
                </a:solidFill>
              </a:rPr>
              <a:t>Similar al anterior, pero al inverso, esta vez, si la intensidad supera el umbral establecido el valor de salida se ajustará acero.</a:t>
            </a:r>
          </a:p>
        </p:txBody>
      </p:sp>
      <p:pic>
        <p:nvPicPr>
          <p:cNvPr id="5" name="Imagen 4"/>
          <p:cNvPicPr>
            <a:picLocks noChangeAspect="1"/>
          </p:cNvPicPr>
          <p:nvPr/>
        </p:nvPicPr>
        <p:blipFill>
          <a:blip r:embed="rId2"/>
          <a:stretch>
            <a:fillRect/>
          </a:stretch>
        </p:blipFill>
        <p:spPr>
          <a:xfrm>
            <a:off x="1251678" y="5420565"/>
            <a:ext cx="6282463" cy="8643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n 5"/>
          <p:cNvPicPr>
            <a:picLocks noChangeAspect="1"/>
          </p:cNvPicPr>
          <p:nvPr/>
        </p:nvPicPr>
        <p:blipFill rotWithShape="1">
          <a:blip r:embed="rId3"/>
          <a:srcRect l="12359" t="26280" r="59225" b="24682"/>
          <a:stretch/>
        </p:blipFill>
        <p:spPr>
          <a:xfrm>
            <a:off x="7875431" y="2414068"/>
            <a:ext cx="3763816" cy="3651881"/>
          </a:xfrm>
          <a:prstGeom prst="rect">
            <a:avLst/>
          </a:prstGeom>
        </p:spPr>
      </p:pic>
      <p:pic>
        <p:nvPicPr>
          <p:cNvPr id="7" name="Imagen 6"/>
          <p:cNvPicPr>
            <a:picLocks noChangeAspect="1"/>
          </p:cNvPicPr>
          <p:nvPr/>
        </p:nvPicPr>
        <p:blipFill rotWithShape="1">
          <a:blip r:embed="rId4"/>
          <a:srcRect l="6444" t="12376" r="37254" b="69775"/>
          <a:stretch/>
        </p:blipFill>
        <p:spPr>
          <a:xfrm>
            <a:off x="1251678" y="3326834"/>
            <a:ext cx="6282463" cy="17147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92674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51678" y="342628"/>
            <a:ext cx="10178322" cy="1492132"/>
          </a:xfrm>
        </p:spPr>
        <p:txBody>
          <a:bodyPr/>
          <a:lstStyle/>
          <a:p>
            <a:r>
              <a:rPr lang="es-PE" dirty="0"/>
              <a:t>Umbralización adaptativa</a:t>
            </a:r>
          </a:p>
        </p:txBody>
      </p:sp>
      <p:sp>
        <p:nvSpPr>
          <p:cNvPr id="4" name="Marcador de contenido 3"/>
          <p:cNvSpPr>
            <a:spLocks noGrp="1"/>
          </p:cNvSpPr>
          <p:nvPr>
            <p:ph idx="1"/>
          </p:nvPr>
        </p:nvSpPr>
        <p:spPr>
          <a:xfrm>
            <a:off x="1251678" y="1320084"/>
            <a:ext cx="6282463" cy="5080715"/>
          </a:xfrm>
        </p:spPr>
        <p:txBody>
          <a:bodyPr>
            <a:noAutofit/>
          </a:bodyPr>
          <a:lstStyle/>
          <a:p>
            <a:pPr marL="0" indent="0" algn="just">
              <a:buNone/>
            </a:pPr>
            <a:r>
              <a:rPr lang="es-PE" sz="1500" dirty="0">
                <a:solidFill>
                  <a:schemeClr val="tx1"/>
                </a:solidFill>
              </a:rPr>
              <a:t>En la sección anterior, utilizamos un valor global como valor umbral. Pero puede no ser bueno en todas las condiciones donde la imagen tiene diferentes condiciones de iluminación en diferentes áreas. En ese caso, vamos por un umbral adaptativo. En esto, el algoritmo calcula el umbral para pequeñas regiones de la imagen. Por lo tanto, obtenemos diferentes umbrales para diferentes regiones de la misma imagen y nos da mejores resultados para imágenes con iluminación variable.</a:t>
            </a:r>
          </a:p>
          <a:p>
            <a:pPr marL="0" indent="0" algn="just">
              <a:buNone/>
            </a:pPr>
            <a:r>
              <a:rPr lang="es-PE" sz="1500" dirty="0">
                <a:solidFill>
                  <a:schemeClr val="tx1"/>
                </a:solidFill>
              </a:rPr>
              <a:t>Tiene tres parámetros de entrada 'especiales' y solo un argumento de salida.</a:t>
            </a:r>
          </a:p>
          <a:p>
            <a:pPr marL="0" indent="0" algn="just">
              <a:buNone/>
            </a:pPr>
            <a:r>
              <a:rPr lang="es-PE" sz="1500" dirty="0">
                <a:solidFill>
                  <a:schemeClr val="tx1"/>
                </a:solidFill>
              </a:rPr>
              <a:t>Método adaptativo : decide cómo se calcula el valor de umbral.</a:t>
            </a:r>
          </a:p>
          <a:p>
            <a:pPr marL="0" indent="0" algn="just">
              <a:buNone/>
            </a:pPr>
            <a:r>
              <a:rPr lang="es-PE" sz="1500" b="1" dirty="0">
                <a:solidFill>
                  <a:schemeClr val="tx1"/>
                </a:solidFill>
              </a:rPr>
              <a:t>cv2.ADAPTIVE_THRESH_MEAN_C: </a:t>
            </a:r>
            <a:r>
              <a:rPr lang="es-PE" sz="1500" dirty="0">
                <a:solidFill>
                  <a:schemeClr val="tx1"/>
                </a:solidFill>
              </a:rPr>
              <a:t>el valor umbral es la media del área del vecindario.</a:t>
            </a:r>
          </a:p>
          <a:p>
            <a:pPr marL="0" indent="0" algn="just">
              <a:buNone/>
            </a:pPr>
            <a:r>
              <a:rPr lang="es-PE" sz="1500" b="1" dirty="0">
                <a:solidFill>
                  <a:schemeClr val="tx1"/>
                </a:solidFill>
              </a:rPr>
              <a:t>cv2.ADAPTIVE_THRESH_GAUSSIAN_C:</a:t>
            </a:r>
            <a:r>
              <a:rPr lang="es-PE" sz="1500" dirty="0">
                <a:solidFill>
                  <a:schemeClr val="tx1"/>
                </a:solidFill>
              </a:rPr>
              <a:t> el valor umbral es la suma ponderada de los valores del vecindario donde los pesos son una ventana gaussiana.</a:t>
            </a:r>
          </a:p>
          <a:p>
            <a:pPr marL="0" indent="0" algn="just">
              <a:buNone/>
            </a:pPr>
            <a:r>
              <a:rPr lang="es-PE" sz="1500" b="1" dirty="0">
                <a:solidFill>
                  <a:schemeClr val="tx1"/>
                </a:solidFill>
              </a:rPr>
              <a:t>Tamaño del bloque : </a:t>
            </a:r>
            <a:r>
              <a:rPr lang="es-PE" sz="1500" dirty="0">
                <a:solidFill>
                  <a:schemeClr val="tx1"/>
                </a:solidFill>
              </a:rPr>
              <a:t>decide el tamaño del área del vecindario.</a:t>
            </a:r>
          </a:p>
          <a:p>
            <a:pPr marL="0" indent="0" algn="just">
              <a:buNone/>
            </a:pPr>
            <a:r>
              <a:rPr lang="es-PE" sz="1500" b="1" dirty="0">
                <a:solidFill>
                  <a:schemeClr val="tx1"/>
                </a:solidFill>
              </a:rPr>
              <a:t>C -</a:t>
            </a:r>
            <a:r>
              <a:rPr lang="es-PE" sz="1500" dirty="0">
                <a:solidFill>
                  <a:schemeClr val="tx1"/>
                </a:solidFill>
              </a:rPr>
              <a:t> Es solo una constante que se resta de la media o la media ponderada calculada.</a:t>
            </a:r>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72236" y="1320084"/>
            <a:ext cx="3457764" cy="48488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06683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sz="5400" b="1" dirty="0">
                <a:solidFill>
                  <a:schemeClr val="tx1"/>
                </a:solidFill>
              </a:rPr>
              <a:t>cv2.ADAPTIVE_THRESH_MEAN_C:</a:t>
            </a:r>
            <a:endParaRPr lang="es-PE" dirty="0"/>
          </a:p>
        </p:txBody>
      </p:sp>
      <p:pic>
        <p:nvPicPr>
          <p:cNvPr id="4" name="Imagen 3"/>
          <p:cNvPicPr>
            <a:picLocks noChangeAspect="1"/>
          </p:cNvPicPr>
          <p:nvPr/>
        </p:nvPicPr>
        <p:blipFill rotWithShape="1">
          <a:blip r:embed="rId2"/>
          <a:srcRect l="14472" t="7303" r="24367" b="72405"/>
          <a:stretch/>
        </p:blipFill>
        <p:spPr>
          <a:xfrm>
            <a:off x="1251678" y="3651481"/>
            <a:ext cx="6179431" cy="20863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p:cNvPicPr>
            <a:picLocks noChangeAspect="1"/>
          </p:cNvPicPr>
          <p:nvPr/>
        </p:nvPicPr>
        <p:blipFill rotWithShape="1">
          <a:blip r:embed="rId3"/>
          <a:srcRect l="45317" t="4485" r="16655" b="6270"/>
          <a:stretch/>
        </p:blipFill>
        <p:spPr>
          <a:xfrm>
            <a:off x="7794711" y="1449514"/>
            <a:ext cx="3776956" cy="498348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ángulo 5"/>
          <p:cNvSpPr/>
          <p:nvPr/>
        </p:nvSpPr>
        <p:spPr>
          <a:xfrm>
            <a:off x="1251677" y="1551351"/>
            <a:ext cx="6179431" cy="2308324"/>
          </a:xfrm>
          <a:prstGeom prst="rect">
            <a:avLst/>
          </a:prstGeom>
        </p:spPr>
        <p:txBody>
          <a:bodyPr wrap="square">
            <a:spAutoFit/>
          </a:bodyPr>
          <a:lstStyle/>
          <a:p>
            <a:pPr algn="just"/>
            <a:r>
              <a:rPr lang="es-PE" b="1" dirty="0"/>
              <a:t>cv2.ADAPTIVE_THRESH_MEAN_C: </a:t>
            </a:r>
            <a:r>
              <a:rPr lang="es-PE" dirty="0"/>
              <a:t>el valor umbral es la media del área del vecindario.</a:t>
            </a:r>
          </a:p>
          <a:p>
            <a:pPr algn="just"/>
            <a:r>
              <a:rPr lang="es-PE" b="1" dirty="0"/>
              <a:t>Tamaño del bloque : </a:t>
            </a:r>
            <a:r>
              <a:rPr lang="es-PE" dirty="0"/>
              <a:t>decide el tamaño del área del vecindario.</a:t>
            </a:r>
          </a:p>
          <a:p>
            <a:pPr algn="just"/>
            <a:r>
              <a:rPr lang="es-PE" b="1" dirty="0"/>
              <a:t>C -</a:t>
            </a:r>
            <a:r>
              <a:rPr lang="es-PE" dirty="0"/>
              <a:t> Es solo una constante que se resta de la media o la media ponderada calculada.</a:t>
            </a:r>
          </a:p>
          <a:p>
            <a:pPr algn="just"/>
            <a:endParaRPr lang="es-PE" dirty="0"/>
          </a:p>
          <a:p>
            <a:pPr algn="just"/>
            <a:endParaRPr lang="es-PE" dirty="0"/>
          </a:p>
        </p:txBody>
      </p:sp>
    </p:spTree>
    <p:extLst>
      <p:ext uri="{BB962C8B-B14F-4D97-AF65-F5344CB8AC3E}">
        <p14:creationId xmlns:p14="http://schemas.microsoft.com/office/powerpoint/2010/main" val="3515691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PE" sz="4500" b="1" dirty="0">
                <a:solidFill>
                  <a:schemeClr val="tx1"/>
                </a:solidFill>
              </a:rPr>
              <a:t>cv2.ADAPTIVE_THRESH_GAUSSIAN_C:</a:t>
            </a:r>
            <a:endParaRPr lang="es-PE" sz="4500" dirty="0"/>
          </a:p>
        </p:txBody>
      </p:sp>
      <p:pic>
        <p:nvPicPr>
          <p:cNvPr id="5" name="Imagen 4"/>
          <p:cNvPicPr>
            <a:picLocks noChangeAspect="1"/>
          </p:cNvPicPr>
          <p:nvPr/>
        </p:nvPicPr>
        <p:blipFill rotWithShape="1">
          <a:blip r:embed="rId2"/>
          <a:srcRect l="22817" t="22522" r="14015" b="56060"/>
          <a:stretch/>
        </p:blipFill>
        <p:spPr>
          <a:xfrm>
            <a:off x="1251678" y="3907608"/>
            <a:ext cx="6050643" cy="22409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ángulo 5"/>
          <p:cNvSpPr/>
          <p:nvPr/>
        </p:nvSpPr>
        <p:spPr>
          <a:xfrm>
            <a:off x="1154805" y="1537895"/>
            <a:ext cx="6147516" cy="2031325"/>
          </a:xfrm>
          <a:prstGeom prst="rect">
            <a:avLst/>
          </a:prstGeom>
        </p:spPr>
        <p:txBody>
          <a:bodyPr wrap="square">
            <a:spAutoFit/>
          </a:bodyPr>
          <a:lstStyle/>
          <a:p>
            <a:pPr algn="just"/>
            <a:r>
              <a:rPr lang="es-PE" b="1" dirty="0"/>
              <a:t>cv2.ADAPTIVE_THRESH_GAUSSIAN_C:</a:t>
            </a:r>
            <a:r>
              <a:rPr lang="es-PE" dirty="0"/>
              <a:t> el valor umbral es la suma ponderada de los valores del vecindario donde los pesos son una ventana gaussiana.</a:t>
            </a:r>
          </a:p>
          <a:p>
            <a:pPr algn="just"/>
            <a:r>
              <a:rPr lang="es-PE" b="1" dirty="0"/>
              <a:t>Tamaño del bloque : </a:t>
            </a:r>
            <a:r>
              <a:rPr lang="es-PE" dirty="0"/>
              <a:t>decide el tamaño del área del vecindario.</a:t>
            </a:r>
          </a:p>
          <a:p>
            <a:pPr algn="just"/>
            <a:r>
              <a:rPr lang="es-PE" b="1" dirty="0"/>
              <a:t>C -</a:t>
            </a:r>
            <a:r>
              <a:rPr lang="es-PE" dirty="0"/>
              <a:t> Es solo una constante que se resta de la media o la media ponderada calculada.</a:t>
            </a:r>
          </a:p>
        </p:txBody>
      </p:sp>
      <p:pic>
        <p:nvPicPr>
          <p:cNvPr id="7" name="Imagen 6"/>
          <p:cNvPicPr>
            <a:picLocks noChangeAspect="1"/>
          </p:cNvPicPr>
          <p:nvPr/>
        </p:nvPicPr>
        <p:blipFill rotWithShape="1">
          <a:blip r:embed="rId3"/>
          <a:srcRect l="24929" t="7303" r="37042" b="6269"/>
          <a:stretch/>
        </p:blipFill>
        <p:spPr>
          <a:xfrm>
            <a:off x="7643610" y="1537895"/>
            <a:ext cx="4017413" cy="51333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98524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Binarización por el método Otsu:</a:t>
            </a:r>
          </a:p>
        </p:txBody>
      </p:sp>
      <p:sp>
        <p:nvSpPr>
          <p:cNvPr id="3" name="Rectángulo 2"/>
          <p:cNvSpPr/>
          <p:nvPr/>
        </p:nvSpPr>
        <p:spPr>
          <a:xfrm>
            <a:off x="1251678" y="1427794"/>
            <a:ext cx="6096000" cy="1754326"/>
          </a:xfrm>
          <a:prstGeom prst="rect">
            <a:avLst/>
          </a:prstGeom>
        </p:spPr>
        <p:txBody>
          <a:bodyPr>
            <a:spAutoFit/>
          </a:bodyPr>
          <a:lstStyle/>
          <a:p>
            <a:pPr algn="just"/>
            <a:r>
              <a:rPr lang="es-PE" dirty="0"/>
              <a:t>El método Otsu calcula automáticamente un valor umbral a partir del histograma de la imagen para una imagen bimodal (</a:t>
            </a:r>
            <a:r>
              <a:rPr lang="es-PE" i="1" dirty="0"/>
              <a:t>en palabras simples, la imagen bimodal es una imagen cuyo histograma tiene dos picos</a:t>
            </a:r>
            <a:r>
              <a:rPr lang="es-PE" dirty="0"/>
              <a:t>). Para las imágenes que no son bimodales, la binarización no será precisa.</a:t>
            </a:r>
          </a:p>
        </p:txBody>
      </p:sp>
      <p:pic>
        <p:nvPicPr>
          <p:cNvPr id="5" name="Imagen 4"/>
          <p:cNvPicPr>
            <a:picLocks noChangeAspect="1"/>
          </p:cNvPicPr>
          <p:nvPr/>
        </p:nvPicPr>
        <p:blipFill rotWithShape="1">
          <a:blip r:embed="rId2"/>
          <a:srcRect l="22605" t="22898" r="12218" b="53429"/>
          <a:stretch/>
        </p:blipFill>
        <p:spPr>
          <a:xfrm>
            <a:off x="1251678" y="3570486"/>
            <a:ext cx="6096000" cy="21039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n 5"/>
          <p:cNvPicPr>
            <a:picLocks noChangeAspect="1"/>
          </p:cNvPicPr>
          <p:nvPr/>
        </p:nvPicPr>
        <p:blipFill rotWithShape="1">
          <a:blip r:embed="rId3"/>
          <a:srcRect l="46259" t="4109" r="16232" b="6081"/>
          <a:stretch/>
        </p:blipFill>
        <p:spPr>
          <a:xfrm>
            <a:off x="7666149" y="1427794"/>
            <a:ext cx="3763851" cy="50668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03879632"/>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Distintivo</Template>
  <TotalTime>582</TotalTime>
  <Words>942</Words>
  <Application>Microsoft Office PowerPoint</Application>
  <PresentationFormat>Panorámica</PresentationFormat>
  <Paragraphs>62</Paragraphs>
  <Slides>18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18</vt:i4>
      </vt:variant>
    </vt:vector>
  </HeadingPairs>
  <TitlesOfParts>
    <vt:vector size="22" baseType="lpstr">
      <vt:lpstr>Arial</vt:lpstr>
      <vt:lpstr>Gill Sans MT</vt:lpstr>
      <vt:lpstr>Impact</vt:lpstr>
      <vt:lpstr>Badge</vt:lpstr>
      <vt:lpstr>Transformaciones geométricas de imágenes</vt:lpstr>
      <vt:lpstr>OBJETIVOS:</vt:lpstr>
      <vt:lpstr>Escalar:</vt:lpstr>
      <vt:lpstr>Escalar:</vt:lpstr>
      <vt:lpstr>Traslación: </vt:lpstr>
      <vt:lpstr>Rotación:</vt:lpstr>
      <vt:lpstr>Transformación afin </vt:lpstr>
      <vt:lpstr>Umbralización en OpenCV</vt:lpstr>
      <vt:lpstr>Imagen de prueba:</vt:lpstr>
      <vt:lpstr>Umbral binario (THRESH_BINARY)</vt:lpstr>
      <vt:lpstr>Umbral binario invertido (THRESH_BINARY_INV) </vt:lpstr>
      <vt:lpstr>Truncar (THRESH_TRUNC) </vt:lpstr>
      <vt:lpstr>Ajustar a cero (THRESH_TOZERO)</vt:lpstr>
      <vt:lpstr>Ajuste a cero invertido (THRESH_TOZERO_INV) </vt:lpstr>
      <vt:lpstr>Umbralización adaptativa</vt:lpstr>
      <vt:lpstr>cv2.ADAPTIVE_THRESH_MEAN_C:</vt:lpstr>
      <vt:lpstr>cv2.ADAPTIVE_THRESH_GAUSSIAN_C:</vt:lpstr>
      <vt:lpstr>Binarización por el método Otsu: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Transformaciones geométricas de imágenes</dc:title>
  <dc:creator>pc001n</dc:creator>
  <cp:lastModifiedBy>JAIME ANTONIO HUAYTALLA PARIONA</cp:lastModifiedBy>
  <cp:revision>24</cp:revision>
  <dcterms:created xsi:type="dcterms:W3CDTF">2019-07-01T14:19:22Z</dcterms:created>
  <dcterms:modified xsi:type="dcterms:W3CDTF">2024-08-22T15:10:37Z</dcterms:modified>
</cp:coreProperties>
</file>