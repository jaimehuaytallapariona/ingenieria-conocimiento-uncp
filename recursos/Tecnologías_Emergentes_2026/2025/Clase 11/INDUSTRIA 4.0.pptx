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370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 u="sng">
                <a:solidFill>
                  <a:schemeClr val="hlink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 u="sng">
                <a:solidFill>
                  <a:schemeClr val="hlink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471928"/>
            <a:ext cx="12192000" cy="4386071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2493263"/>
            <a:ext cx="12192000" cy="4364990"/>
          </a:xfrm>
          <a:custGeom>
            <a:avLst/>
            <a:gdLst/>
            <a:ahLst/>
            <a:cxnLst/>
            <a:rect l="l" t="t" r="r" b="b"/>
            <a:pathLst>
              <a:path w="12192000" h="4364990">
                <a:moveTo>
                  <a:pt x="12192000" y="0"/>
                </a:moveTo>
                <a:lnTo>
                  <a:pt x="0" y="0"/>
                </a:lnTo>
                <a:lnTo>
                  <a:pt x="0" y="4364736"/>
                </a:lnTo>
                <a:lnTo>
                  <a:pt x="12192000" y="4364736"/>
                </a:lnTo>
                <a:lnTo>
                  <a:pt x="12192000" y="0"/>
                </a:lnTo>
                <a:close/>
              </a:path>
            </a:pathLst>
          </a:custGeom>
          <a:solidFill>
            <a:srgbClr val="11427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051560"/>
            <a:ext cx="12191999" cy="1914143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0" y="5958839"/>
            <a:ext cx="12192000" cy="899160"/>
          </a:xfrm>
          <a:custGeom>
            <a:avLst/>
            <a:gdLst/>
            <a:ahLst/>
            <a:cxnLst/>
            <a:rect l="l" t="t" r="r" b="b"/>
            <a:pathLst>
              <a:path w="12192000" h="899159">
                <a:moveTo>
                  <a:pt x="12192000" y="0"/>
                </a:moveTo>
                <a:lnTo>
                  <a:pt x="0" y="0"/>
                </a:lnTo>
                <a:lnTo>
                  <a:pt x="0" y="899160"/>
                </a:lnTo>
                <a:lnTo>
                  <a:pt x="12192000" y="89916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3366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5487" y="332231"/>
            <a:ext cx="3368039" cy="576071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922776" y="3197352"/>
            <a:ext cx="3511295" cy="441959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956183" y="3230799"/>
            <a:ext cx="3444697" cy="37410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1073150"/>
          </a:xfrm>
          <a:custGeom>
            <a:avLst/>
            <a:gdLst/>
            <a:ahLst/>
            <a:cxnLst/>
            <a:rect l="l" t="t" r="r" b="b"/>
            <a:pathLst>
              <a:path w="12192000" h="1073150">
                <a:moveTo>
                  <a:pt x="12192000" y="0"/>
                </a:moveTo>
                <a:lnTo>
                  <a:pt x="0" y="0"/>
                </a:lnTo>
                <a:lnTo>
                  <a:pt x="0" y="1072896"/>
                </a:lnTo>
                <a:lnTo>
                  <a:pt x="12192000" y="1072896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3366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0991088" y="0"/>
            <a:ext cx="1201420" cy="1073150"/>
          </a:xfrm>
          <a:custGeom>
            <a:avLst/>
            <a:gdLst/>
            <a:ahLst/>
            <a:cxnLst/>
            <a:rect l="l" t="t" r="r" b="b"/>
            <a:pathLst>
              <a:path w="1201420" h="1073150">
                <a:moveTo>
                  <a:pt x="1200911" y="0"/>
                </a:moveTo>
                <a:lnTo>
                  <a:pt x="0" y="0"/>
                </a:lnTo>
                <a:lnTo>
                  <a:pt x="0" y="1072896"/>
                </a:lnTo>
                <a:lnTo>
                  <a:pt x="1200911" y="1072896"/>
                </a:lnTo>
                <a:lnTo>
                  <a:pt x="1200911" y="0"/>
                </a:lnTo>
                <a:close/>
              </a:path>
            </a:pathLst>
          </a:custGeom>
          <a:solidFill>
            <a:srgbClr val="003366">
              <a:alpha val="749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6742176"/>
            <a:ext cx="12192000" cy="116205"/>
          </a:xfrm>
          <a:custGeom>
            <a:avLst/>
            <a:gdLst/>
            <a:ahLst/>
            <a:cxnLst/>
            <a:rect l="l" t="t" r="r" b="b"/>
            <a:pathLst>
              <a:path w="12192000" h="116204">
                <a:moveTo>
                  <a:pt x="12192000" y="0"/>
                </a:moveTo>
                <a:lnTo>
                  <a:pt x="0" y="0"/>
                </a:lnTo>
                <a:lnTo>
                  <a:pt x="0" y="115824"/>
                </a:lnTo>
                <a:lnTo>
                  <a:pt x="12192000" y="115824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9352" y="6376415"/>
            <a:ext cx="1716023" cy="29260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8340" y="58907"/>
            <a:ext cx="8454147" cy="1000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8340" y="2626850"/>
            <a:ext cx="8999220" cy="24168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 u="sng">
                <a:solidFill>
                  <a:schemeClr val="hlink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jpg"/><Relationship Id="rId4" Type="http://schemas.openxmlformats.org/officeDocument/2006/relationships/image" Target="../media/image21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adb.org/en/improvinglives/future-work-robots-versus-humans" TargetMode="External"/><Relationship Id="rId2" Type="http://schemas.openxmlformats.org/officeDocument/2006/relationships/hyperlink" Target="https://ourworldindata.org/uploads/2018/09/Population-cartogram_World-2.png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helpsystems.com/es/blog/siete-robots-de-software-que-su-empresa-necesita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67082" y="3817409"/>
            <a:ext cx="1647189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¿Estamos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preparados?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AAD2DC4-85E5-98D3-0F6A-01E35623AAC1}"/>
              </a:ext>
            </a:extLst>
          </p:cNvPr>
          <p:cNvSpPr/>
          <p:nvPr/>
        </p:nvSpPr>
        <p:spPr>
          <a:xfrm>
            <a:off x="152400" y="76200"/>
            <a:ext cx="3962400" cy="914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52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130" dirty="0"/>
              <a:t>Introducción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0819" y="1375317"/>
            <a:ext cx="10826115" cy="47564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715" indent="-635" algn="just">
              <a:lnSpc>
                <a:spcPct val="100000"/>
              </a:lnSpc>
              <a:spcBef>
                <a:spcPts val="90"/>
              </a:spcBef>
            </a:pPr>
            <a:r>
              <a:rPr sz="1400" spc="45" dirty="0">
                <a:latin typeface="Arial MT"/>
                <a:cs typeface="Arial MT"/>
              </a:rPr>
              <a:t>Actualmente</a:t>
            </a:r>
            <a:r>
              <a:rPr sz="1400" spc="1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la</a:t>
            </a:r>
            <a:r>
              <a:rPr sz="1400" spc="1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rápida</a:t>
            </a:r>
            <a:r>
              <a:rPr sz="1400" spc="165" dirty="0">
                <a:latin typeface="Arial MT"/>
                <a:cs typeface="Arial MT"/>
              </a:rPr>
              <a:t> </a:t>
            </a:r>
            <a:r>
              <a:rPr sz="1400" spc="45" dirty="0">
                <a:latin typeface="Arial MT"/>
                <a:cs typeface="Arial MT"/>
              </a:rPr>
              <a:t>adopción</a:t>
            </a:r>
            <a:r>
              <a:rPr sz="1400" spc="2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</a:t>
            </a:r>
            <a:r>
              <a:rPr sz="1400" spc="1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la</a:t>
            </a:r>
            <a:r>
              <a:rPr sz="1400" spc="160" dirty="0">
                <a:latin typeface="Arial MT"/>
                <a:cs typeface="Arial MT"/>
              </a:rPr>
              <a:t> </a:t>
            </a:r>
            <a:r>
              <a:rPr sz="1400" spc="45" dirty="0">
                <a:latin typeface="Arial MT"/>
                <a:cs typeface="Arial MT"/>
              </a:rPr>
              <a:t>innovación</a:t>
            </a:r>
            <a:r>
              <a:rPr sz="1400" spc="254" dirty="0">
                <a:latin typeface="Arial MT"/>
                <a:cs typeface="Arial MT"/>
              </a:rPr>
              <a:t> </a:t>
            </a:r>
            <a:r>
              <a:rPr sz="1400" spc="50" dirty="0">
                <a:latin typeface="Arial MT"/>
                <a:cs typeface="Arial MT"/>
              </a:rPr>
              <a:t>tecnológica</a:t>
            </a:r>
            <a:r>
              <a:rPr sz="1400" spc="16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esta</a:t>
            </a:r>
            <a:r>
              <a:rPr sz="1400" spc="1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llevando</a:t>
            </a:r>
            <a:r>
              <a:rPr sz="1400" spc="2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la</a:t>
            </a:r>
            <a:r>
              <a:rPr sz="1400" spc="1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economía</a:t>
            </a:r>
            <a:r>
              <a:rPr sz="1400" spc="16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</a:t>
            </a:r>
            <a:r>
              <a:rPr sz="1400" spc="1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una</a:t>
            </a:r>
            <a:r>
              <a:rPr sz="1400" spc="16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era</a:t>
            </a:r>
            <a:r>
              <a:rPr sz="1400" spc="160" dirty="0">
                <a:latin typeface="Arial MT"/>
                <a:cs typeface="Arial MT"/>
              </a:rPr>
              <a:t> </a:t>
            </a:r>
            <a:r>
              <a:rPr sz="1400" spc="50" dirty="0">
                <a:latin typeface="Arial MT"/>
                <a:cs typeface="Arial MT"/>
              </a:rPr>
              <a:t>digital,</a:t>
            </a:r>
            <a:r>
              <a:rPr sz="1400" spc="1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en</a:t>
            </a:r>
            <a:r>
              <a:rPr sz="1400" spc="28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muchos</a:t>
            </a:r>
            <a:r>
              <a:rPr sz="1400" spc="2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casos,</a:t>
            </a:r>
            <a:r>
              <a:rPr sz="1400" spc="105" dirty="0">
                <a:latin typeface="Arial MT"/>
                <a:cs typeface="Arial MT"/>
              </a:rPr>
              <a:t> </a:t>
            </a:r>
            <a:r>
              <a:rPr sz="1400" spc="55" dirty="0">
                <a:latin typeface="Arial MT"/>
                <a:cs typeface="Arial MT"/>
              </a:rPr>
              <a:t>de </a:t>
            </a:r>
            <a:r>
              <a:rPr sz="1400" dirty="0">
                <a:latin typeface="Arial MT"/>
                <a:cs typeface="Arial MT"/>
              </a:rPr>
              <a:t>manera</a:t>
            </a:r>
            <a:r>
              <a:rPr sz="1400" spc="140" dirty="0">
                <a:latin typeface="Arial MT"/>
                <a:cs typeface="Arial MT"/>
              </a:rPr>
              <a:t>  </a:t>
            </a:r>
            <a:r>
              <a:rPr sz="1400" spc="50" dirty="0">
                <a:latin typeface="Arial MT"/>
                <a:cs typeface="Arial MT"/>
              </a:rPr>
              <a:t>disruptiva.</a:t>
            </a:r>
            <a:r>
              <a:rPr sz="1400" spc="105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El</a:t>
            </a:r>
            <a:r>
              <a:rPr sz="1400" spc="180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aprendizaje</a:t>
            </a:r>
            <a:r>
              <a:rPr sz="1400" spc="140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automático</a:t>
            </a:r>
            <a:r>
              <a:rPr sz="1400" spc="175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y</a:t>
            </a:r>
            <a:r>
              <a:rPr sz="1400" spc="175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las</a:t>
            </a:r>
            <a:r>
              <a:rPr sz="1400" spc="175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técnicas</a:t>
            </a:r>
            <a:r>
              <a:rPr sz="1400" spc="190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de</a:t>
            </a:r>
            <a:r>
              <a:rPr sz="1400" spc="130" dirty="0">
                <a:latin typeface="Arial MT"/>
                <a:cs typeface="Arial MT"/>
              </a:rPr>
              <a:t>  </a:t>
            </a:r>
            <a:r>
              <a:rPr sz="1400" spc="50" dirty="0">
                <a:latin typeface="Arial MT"/>
                <a:cs typeface="Arial MT"/>
              </a:rPr>
              <a:t>inteligencia</a:t>
            </a:r>
            <a:r>
              <a:rPr sz="1400" spc="130" dirty="0">
                <a:latin typeface="Arial MT"/>
                <a:cs typeface="Arial MT"/>
              </a:rPr>
              <a:t>  </a:t>
            </a:r>
            <a:r>
              <a:rPr sz="1400" spc="50" dirty="0">
                <a:latin typeface="Arial MT"/>
                <a:cs typeface="Arial MT"/>
              </a:rPr>
              <a:t>artificial,</a:t>
            </a:r>
            <a:r>
              <a:rPr sz="1400" spc="105" dirty="0">
                <a:latin typeface="Arial MT"/>
                <a:cs typeface="Arial MT"/>
              </a:rPr>
              <a:t>  </a:t>
            </a:r>
            <a:r>
              <a:rPr sz="1400" spc="50" dirty="0">
                <a:latin typeface="Arial MT"/>
                <a:cs typeface="Arial MT"/>
              </a:rPr>
              <a:t>como</a:t>
            </a:r>
            <a:r>
              <a:rPr sz="1400" spc="170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las</a:t>
            </a:r>
            <a:r>
              <a:rPr sz="1400" spc="175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redes</a:t>
            </a:r>
            <a:r>
              <a:rPr sz="1400" spc="175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neuronales,</a:t>
            </a:r>
            <a:r>
              <a:rPr sz="1400" spc="110" dirty="0">
                <a:latin typeface="Arial MT"/>
                <a:cs typeface="Arial MT"/>
              </a:rPr>
              <a:t>  </a:t>
            </a:r>
            <a:r>
              <a:rPr sz="1400" spc="-25" dirty="0">
                <a:latin typeface="Arial MT"/>
                <a:cs typeface="Arial MT"/>
              </a:rPr>
              <a:t>son </a:t>
            </a:r>
            <a:r>
              <a:rPr sz="1400" dirty="0">
                <a:latin typeface="Arial MT"/>
                <a:cs typeface="Arial MT"/>
              </a:rPr>
              <a:t>tecnologías</a:t>
            </a:r>
            <a:r>
              <a:rPr sz="1400" spc="3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</a:t>
            </a:r>
            <a:r>
              <a:rPr sz="1400" spc="1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vanguardia</a:t>
            </a:r>
            <a:r>
              <a:rPr sz="1400" spc="2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que</a:t>
            </a:r>
            <a:r>
              <a:rPr sz="1400" spc="1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están</a:t>
            </a:r>
            <a:r>
              <a:rPr sz="1400" spc="27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catalizando</a:t>
            </a:r>
            <a:r>
              <a:rPr sz="1400" spc="30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el</a:t>
            </a:r>
            <a:r>
              <a:rPr sz="1400" spc="2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cambio</a:t>
            </a:r>
            <a:r>
              <a:rPr sz="1400" spc="27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</a:t>
            </a:r>
            <a:r>
              <a:rPr sz="1400" spc="1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una</a:t>
            </a:r>
            <a:r>
              <a:rPr sz="1400" spc="1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era</a:t>
            </a:r>
            <a:r>
              <a:rPr sz="1400" spc="14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digital.</a:t>
            </a:r>
            <a:endParaRPr sz="1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45"/>
              </a:spcBef>
            </a:pPr>
            <a:endParaRPr sz="1400" dirty="0">
              <a:latin typeface="Arial MT"/>
              <a:cs typeface="Arial MT"/>
            </a:endParaRPr>
          </a:p>
          <a:p>
            <a:pPr marL="13335" marR="16510" indent="-635" algn="just">
              <a:lnSpc>
                <a:spcPct val="100000"/>
              </a:lnSpc>
            </a:pPr>
            <a:r>
              <a:rPr sz="1400" spc="20" dirty="0">
                <a:latin typeface="Arial MT"/>
                <a:cs typeface="Arial MT"/>
              </a:rPr>
              <a:t>Como</a:t>
            </a:r>
            <a:r>
              <a:rPr sz="1400" spc="160" dirty="0">
                <a:latin typeface="Arial MT"/>
                <a:cs typeface="Arial MT"/>
              </a:rPr>
              <a:t> </a:t>
            </a:r>
            <a:r>
              <a:rPr sz="1400" spc="20" dirty="0">
                <a:latin typeface="Arial MT"/>
                <a:cs typeface="Arial MT"/>
              </a:rPr>
              <a:t>parte</a:t>
            </a:r>
            <a:r>
              <a:rPr sz="1400" spc="90" dirty="0">
                <a:latin typeface="Arial MT"/>
                <a:cs typeface="Arial MT"/>
              </a:rPr>
              <a:t> </a:t>
            </a:r>
            <a:r>
              <a:rPr sz="1400" spc="20" dirty="0">
                <a:latin typeface="Arial MT"/>
                <a:cs typeface="Arial MT"/>
              </a:rPr>
              <a:t>de</a:t>
            </a:r>
            <a:r>
              <a:rPr sz="1400" spc="95" dirty="0">
                <a:latin typeface="Arial MT"/>
                <a:cs typeface="Arial MT"/>
              </a:rPr>
              <a:t> </a:t>
            </a:r>
            <a:r>
              <a:rPr sz="1400" spc="20" dirty="0">
                <a:latin typeface="Arial MT"/>
                <a:cs typeface="Arial MT"/>
              </a:rPr>
              <a:t>estas</a:t>
            </a:r>
            <a:r>
              <a:rPr sz="1400" spc="175" dirty="0">
                <a:latin typeface="Arial MT"/>
                <a:cs typeface="Arial MT"/>
              </a:rPr>
              <a:t> </a:t>
            </a:r>
            <a:r>
              <a:rPr sz="1400" spc="20" dirty="0">
                <a:latin typeface="Arial MT"/>
                <a:cs typeface="Arial MT"/>
              </a:rPr>
              <a:t>innovaciones,</a:t>
            </a:r>
            <a:r>
              <a:rPr sz="1400" spc="40" dirty="0">
                <a:latin typeface="Arial MT"/>
                <a:cs typeface="Arial MT"/>
              </a:rPr>
              <a:t> </a:t>
            </a:r>
            <a:r>
              <a:rPr sz="1400" spc="20" dirty="0">
                <a:latin typeface="Arial MT"/>
                <a:cs typeface="Arial MT"/>
              </a:rPr>
              <a:t>nos</a:t>
            </a:r>
            <a:r>
              <a:rPr sz="1400" spc="185" dirty="0">
                <a:latin typeface="Arial MT"/>
                <a:cs typeface="Arial MT"/>
              </a:rPr>
              <a:t> </a:t>
            </a:r>
            <a:r>
              <a:rPr sz="1400" spc="20" dirty="0">
                <a:latin typeface="Arial MT"/>
                <a:cs typeface="Arial MT"/>
              </a:rPr>
              <a:t>enfrentamos</a:t>
            </a:r>
            <a:r>
              <a:rPr sz="1400" spc="180" dirty="0">
                <a:latin typeface="Arial MT"/>
                <a:cs typeface="Arial MT"/>
              </a:rPr>
              <a:t> </a:t>
            </a:r>
            <a:r>
              <a:rPr sz="1400" spc="20" dirty="0">
                <a:latin typeface="Arial MT"/>
                <a:cs typeface="Arial MT"/>
              </a:rPr>
              <a:t>a</a:t>
            </a:r>
            <a:r>
              <a:rPr sz="1400" spc="90" dirty="0">
                <a:latin typeface="Arial MT"/>
                <a:cs typeface="Arial MT"/>
              </a:rPr>
              <a:t> </a:t>
            </a:r>
            <a:r>
              <a:rPr sz="1400" spc="20" dirty="0">
                <a:latin typeface="Arial MT"/>
                <a:cs typeface="Arial MT"/>
              </a:rPr>
              <a:t>nuevos</a:t>
            </a:r>
            <a:r>
              <a:rPr sz="1400" spc="185" dirty="0">
                <a:latin typeface="Arial MT"/>
                <a:cs typeface="Arial MT"/>
              </a:rPr>
              <a:t> </a:t>
            </a:r>
            <a:r>
              <a:rPr sz="1400" spc="50" dirty="0">
                <a:latin typeface="Arial MT"/>
                <a:cs typeface="Arial MT"/>
              </a:rPr>
              <a:t>procesos,</a:t>
            </a:r>
            <a:r>
              <a:rPr sz="1400" spc="40" dirty="0">
                <a:latin typeface="Arial MT"/>
                <a:cs typeface="Arial MT"/>
              </a:rPr>
              <a:t> </a:t>
            </a:r>
            <a:r>
              <a:rPr sz="1400" spc="55" dirty="0">
                <a:latin typeface="Arial MT"/>
                <a:cs typeface="Arial MT"/>
              </a:rPr>
              <a:t>productos,</a:t>
            </a:r>
            <a:r>
              <a:rPr sz="1400" spc="40" dirty="0">
                <a:latin typeface="Arial MT"/>
                <a:cs typeface="Arial MT"/>
              </a:rPr>
              <a:t> </a:t>
            </a:r>
            <a:r>
              <a:rPr sz="1400" spc="55" dirty="0">
                <a:latin typeface="Arial MT"/>
                <a:cs typeface="Arial MT"/>
              </a:rPr>
              <a:t>servicios,</a:t>
            </a:r>
            <a:r>
              <a:rPr sz="1400" spc="40" dirty="0">
                <a:latin typeface="Arial MT"/>
                <a:cs typeface="Arial MT"/>
              </a:rPr>
              <a:t> </a:t>
            </a:r>
            <a:r>
              <a:rPr sz="1400" spc="45" dirty="0">
                <a:latin typeface="Arial MT"/>
                <a:cs typeface="Arial MT"/>
              </a:rPr>
              <a:t>modelos</a:t>
            </a:r>
            <a:r>
              <a:rPr sz="1400" spc="185" dirty="0">
                <a:latin typeface="Arial MT"/>
                <a:cs typeface="Arial MT"/>
              </a:rPr>
              <a:t> </a:t>
            </a:r>
            <a:r>
              <a:rPr sz="1400" spc="20" dirty="0">
                <a:latin typeface="Arial MT"/>
                <a:cs typeface="Arial MT"/>
              </a:rPr>
              <a:t>de</a:t>
            </a:r>
            <a:r>
              <a:rPr sz="1400" spc="90" dirty="0">
                <a:latin typeface="Arial MT"/>
                <a:cs typeface="Arial MT"/>
              </a:rPr>
              <a:t> </a:t>
            </a:r>
            <a:r>
              <a:rPr sz="1400" spc="45" dirty="0">
                <a:latin typeface="Arial MT"/>
                <a:cs typeface="Arial MT"/>
              </a:rPr>
              <a:t>negocio, </a:t>
            </a:r>
            <a:r>
              <a:rPr sz="1400" spc="20" dirty="0">
                <a:latin typeface="Arial MT"/>
                <a:cs typeface="Arial MT"/>
              </a:rPr>
              <a:t>que</a:t>
            </a:r>
            <a:r>
              <a:rPr sz="1400" spc="90" dirty="0">
                <a:latin typeface="Arial MT"/>
                <a:cs typeface="Arial MT"/>
              </a:rPr>
              <a:t> </a:t>
            </a:r>
            <a:r>
              <a:rPr sz="1400" spc="20" dirty="0">
                <a:latin typeface="Arial MT"/>
                <a:cs typeface="Arial MT"/>
              </a:rPr>
              <a:t>se</a:t>
            </a:r>
            <a:r>
              <a:rPr sz="1400" spc="95" dirty="0">
                <a:latin typeface="Arial MT"/>
                <a:cs typeface="Arial MT"/>
              </a:rPr>
              <a:t> </a:t>
            </a:r>
            <a:r>
              <a:rPr sz="1400" spc="-25" dirty="0">
                <a:latin typeface="Arial MT"/>
                <a:cs typeface="Arial MT"/>
              </a:rPr>
              <a:t>han </a:t>
            </a:r>
            <a:r>
              <a:rPr sz="1400" spc="45" dirty="0">
                <a:latin typeface="Arial MT"/>
                <a:cs typeface="Arial MT"/>
              </a:rPr>
              <a:t>transformado</a:t>
            </a:r>
            <a:r>
              <a:rPr sz="1400" spc="114" dirty="0">
                <a:latin typeface="Arial MT"/>
                <a:cs typeface="Arial MT"/>
              </a:rPr>
              <a:t> </a:t>
            </a:r>
            <a:r>
              <a:rPr sz="1400" spc="10" dirty="0">
                <a:latin typeface="Arial MT"/>
                <a:cs typeface="Arial MT"/>
              </a:rPr>
              <a:t>y</a:t>
            </a:r>
            <a:r>
              <a:rPr sz="1400" spc="100" dirty="0">
                <a:latin typeface="Arial MT"/>
                <a:cs typeface="Arial MT"/>
              </a:rPr>
              <a:t> </a:t>
            </a:r>
            <a:r>
              <a:rPr sz="1400" spc="10" dirty="0">
                <a:latin typeface="Arial MT"/>
                <a:cs typeface="Arial MT"/>
              </a:rPr>
              <a:t>tienen</a:t>
            </a:r>
            <a:r>
              <a:rPr sz="1400" spc="114" dirty="0">
                <a:latin typeface="Arial MT"/>
                <a:cs typeface="Arial MT"/>
              </a:rPr>
              <a:t> </a:t>
            </a:r>
            <a:r>
              <a:rPr sz="1400" spc="10" dirty="0">
                <a:latin typeface="Arial MT"/>
                <a:cs typeface="Arial MT"/>
              </a:rPr>
              <a:t>un</a:t>
            </a:r>
            <a:r>
              <a:rPr sz="1400" spc="120" dirty="0">
                <a:latin typeface="Arial MT"/>
                <a:cs typeface="Arial MT"/>
              </a:rPr>
              <a:t> </a:t>
            </a:r>
            <a:r>
              <a:rPr sz="1400" spc="10" dirty="0">
                <a:latin typeface="Arial MT"/>
                <a:cs typeface="Arial MT"/>
              </a:rPr>
              <a:t>efecto</a:t>
            </a:r>
            <a:r>
              <a:rPr sz="1400" spc="120" dirty="0">
                <a:latin typeface="Arial MT"/>
                <a:cs typeface="Arial MT"/>
              </a:rPr>
              <a:t> </a:t>
            </a:r>
            <a:r>
              <a:rPr sz="1400" spc="45" dirty="0">
                <a:latin typeface="Arial MT"/>
                <a:cs typeface="Arial MT"/>
              </a:rPr>
              <a:t>directo</a:t>
            </a:r>
            <a:r>
              <a:rPr sz="1400" spc="120" dirty="0">
                <a:latin typeface="Arial MT"/>
                <a:cs typeface="Arial MT"/>
              </a:rPr>
              <a:t> </a:t>
            </a:r>
            <a:r>
              <a:rPr sz="1400" spc="10" dirty="0">
                <a:latin typeface="Arial MT"/>
                <a:cs typeface="Arial MT"/>
              </a:rPr>
              <a:t>en</a:t>
            </a:r>
            <a:r>
              <a:rPr sz="1400" spc="114" dirty="0">
                <a:latin typeface="Arial MT"/>
                <a:cs typeface="Arial MT"/>
              </a:rPr>
              <a:t> </a:t>
            </a:r>
            <a:r>
              <a:rPr sz="1400" spc="10" dirty="0">
                <a:latin typeface="Arial MT"/>
                <a:cs typeface="Arial MT"/>
              </a:rPr>
              <a:t>mercados,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55" dirty="0">
                <a:latin typeface="Arial MT"/>
                <a:cs typeface="Arial MT"/>
              </a:rPr>
              <a:t>instituciones</a:t>
            </a:r>
            <a:r>
              <a:rPr sz="1400" spc="130" dirty="0">
                <a:latin typeface="Arial MT"/>
                <a:cs typeface="Arial MT"/>
              </a:rPr>
              <a:t> </a:t>
            </a:r>
            <a:r>
              <a:rPr sz="1400" spc="10" dirty="0">
                <a:latin typeface="Arial MT"/>
                <a:cs typeface="Arial MT"/>
              </a:rPr>
              <a:t>e </a:t>
            </a:r>
            <a:r>
              <a:rPr sz="1400" spc="55" dirty="0">
                <a:latin typeface="Arial MT"/>
                <a:cs typeface="Arial MT"/>
              </a:rPr>
              <a:t>incluso</a:t>
            </a:r>
            <a:r>
              <a:rPr sz="1400" spc="125" dirty="0">
                <a:latin typeface="Arial MT"/>
                <a:cs typeface="Arial MT"/>
              </a:rPr>
              <a:t> </a:t>
            </a:r>
            <a:r>
              <a:rPr sz="1400" spc="10" dirty="0">
                <a:latin typeface="Arial MT"/>
                <a:cs typeface="Arial MT"/>
              </a:rPr>
              <a:t>en</a:t>
            </a:r>
            <a:r>
              <a:rPr sz="1400" spc="114" dirty="0">
                <a:latin typeface="Arial MT"/>
                <a:cs typeface="Arial MT"/>
              </a:rPr>
              <a:t> </a:t>
            </a:r>
            <a:r>
              <a:rPr sz="1400" spc="10" dirty="0">
                <a:latin typeface="Arial MT"/>
                <a:cs typeface="Arial MT"/>
              </a:rPr>
              <a:t>el</a:t>
            </a:r>
            <a:r>
              <a:rPr sz="1400" spc="125" dirty="0">
                <a:latin typeface="Arial MT"/>
                <a:cs typeface="Arial MT"/>
              </a:rPr>
              <a:t> </a:t>
            </a:r>
            <a:r>
              <a:rPr sz="1400" spc="45" dirty="0">
                <a:latin typeface="Arial MT"/>
                <a:cs typeface="Arial MT"/>
              </a:rPr>
              <a:t>proceso</a:t>
            </a:r>
            <a:r>
              <a:rPr sz="1400" spc="120" dirty="0">
                <a:latin typeface="Arial MT"/>
                <a:cs typeface="Arial MT"/>
              </a:rPr>
              <a:t> </a:t>
            </a:r>
            <a:r>
              <a:rPr sz="1400" spc="10" dirty="0">
                <a:latin typeface="Arial MT"/>
                <a:cs typeface="Arial MT"/>
              </a:rPr>
              <a:t>de</a:t>
            </a:r>
            <a:r>
              <a:rPr sz="1400" spc="40" dirty="0">
                <a:latin typeface="Arial MT"/>
                <a:cs typeface="Arial MT"/>
              </a:rPr>
              <a:t> </a:t>
            </a:r>
            <a:r>
              <a:rPr sz="1400" spc="45" dirty="0">
                <a:latin typeface="Arial MT"/>
                <a:cs typeface="Arial MT"/>
              </a:rPr>
              <a:t>innovación</a:t>
            </a:r>
            <a:r>
              <a:rPr sz="1400" spc="120" dirty="0">
                <a:latin typeface="Arial MT"/>
                <a:cs typeface="Arial MT"/>
              </a:rPr>
              <a:t> </a:t>
            </a:r>
            <a:r>
              <a:rPr sz="1400" spc="10" dirty="0">
                <a:latin typeface="Arial MT"/>
                <a:cs typeface="Arial MT"/>
              </a:rPr>
              <a:t>en</a:t>
            </a:r>
            <a:r>
              <a:rPr sz="1400" spc="120" dirty="0">
                <a:latin typeface="Arial MT"/>
                <a:cs typeface="Arial MT"/>
              </a:rPr>
              <a:t> </a:t>
            </a:r>
            <a:r>
              <a:rPr sz="1400" spc="10" dirty="0">
                <a:latin typeface="Arial MT"/>
                <a:cs typeface="Arial MT"/>
              </a:rPr>
              <a:t>sí.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10" dirty="0">
                <a:latin typeface="Arial MT"/>
                <a:cs typeface="Arial MT"/>
              </a:rPr>
              <a:t>Bajo</a:t>
            </a:r>
            <a:r>
              <a:rPr sz="1400" spc="125" dirty="0">
                <a:latin typeface="Arial MT"/>
                <a:cs typeface="Arial MT"/>
              </a:rPr>
              <a:t> </a:t>
            </a:r>
            <a:r>
              <a:rPr sz="1400" spc="10" dirty="0">
                <a:latin typeface="Arial MT"/>
                <a:cs typeface="Arial MT"/>
              </a:rPr>
              <a:t>esta</a:t>
            </a:r>
            <a:r>
              <a:rPr sz="1400" spc="4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nueva </a:t>
            </a:r>
            <a:r>
              <a:rPr sz="1400" spc="55" dirty="0">
                <a:latin typeface="Arial MT"/>
                <a:cs typeface="Arial MT"/>
              </a:rPr>
              <a:t>configuración,</a:t>
            </a:r>
            <a:r>
              <a:rPr sz="1400" spc="4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varios</a:t>
            </a:r>
            <a:r>
              <a:rPr sz="1400" spc="120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cambios</a:t>
            </a:r>
            <a:r>
              <a:rPr sz="1400" spc="120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se</a:t>
            </a:r>
            <a:r>
              <a:rPr sz="1400" spc="70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pueden</a:t>
            </a:r>
            <a:r>
              <a:rPr sz="1400" spc="114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ver</a:t>
            </a:r>
            <a:r>
              <a:rPr sz="1400" spc="114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en</a:t>
            </a:r>
            <a:r>
              <a:rPr sz="1400" spc="100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la</a:t>
            </a:r>
            <a:r>
              <a:rPr sz="1400" spc="60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relación</a:t>
            </a:r>
            <a:r>
              <a:rPr sz="1400" spc="100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cliente-proveedor,</a:t>
            </a:r>
            <a:r>
              <a:rPr sz="1400" spc="4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en</a:t>
            </a:r>
            <a:r>
              <a:rPr sz="1400" spc="110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la</a:t>
            </a:r>
            <a:r>
              <a:rPr sz="1400" spc="60" dirty="0">
                <a:latin typeface="Arial MT"/>
                <a:cs typeface="Arial MT"/>
              </a:rPr>
              <a:t>  </a:t>
            </a:r>
            <a:r>
              <a:rPr sz="1400" spc="45" dirty="0">
                <a:latin typeface="Arial MT"/>
                <a:cs typeface="Arial MT"/>
              </a:rPr>
              <a:t>competencia</a:t>
            </a:r>
            <a:r>
              <a:rPr sz="1400" spc="70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de</a:t>
            </a:r>
            <a:r>
              <a:rPr sz="1400" spc="70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los</a:t>
            </a:r>
            <a:r>
              <a:rPr sz="1400" spc="105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mercados</a:t>
            </a:r>
            <a:r>
              <a:rPr sz="1400" spc="105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y</a:t>
            </a:r>
            <a:r>
              <a:rPr sz="1400" spc="120" dirty="0">
                <a:latin typeface="Arial MT"/>
                <a:cs typeface="Arial MT"/>
              </a:rPr>
              <a:t>  </a:t>
            </a:r>
            <a:r>
              <a:rPr sz="1400" spc="-25" dirty="0">
                <a:latin typeface="Arial MT"/>
                <a:cs typeface="Arial MT"/>
              </a:rPr>
              <a:t>en </a:t>
            </a:r>
            <a:r>
              <a:rPr sz="1400" spc="50" dirty="0">
                <a:latin typeface="Arial MT"/>
                <a:cs typeface="Arial MT"/>
              </a:rPr>
              <a:t>estructura</a:t>
            </a:r>
            <a:r>
              <a:rPr sz="1400" spc="160" dirty="0">
                <a:latin typeface="Arial MT"/>
                <a:cs typeface="Arial MT"/>
              </a:rPr>
              <a:t> </a:t>
            </a:r>
            <a:r>
              <a:rPr sz="1400" spc="10" dirty="0">
                <a:latin typeface="Arial MT"/>
                <a:cs typeface="Arial MT"/>
              </a:rPr>
              <a:t>y</a:t>
            </a:r>
            <a:r>
              <a:rPr sz="1400" spc="165" dirty="0">
                <a:latin typeface="Arial MT"/>
                <a:cs typeface="Arial MT"/>
              </a:rPr>
              <a:t> </a:t>
            </a:r>
            <a:r>
              <a:rPr sz="1400" spc="10" dirty="0">
                <a:latin typeface="Arial MT"/>
                <a:cs typeface="Arial MT"/>
              </a:rPr>
              <a:t>funcionamiento</a:t>
            </a:r>
            <a:r>
              <a:rPr sz="1400" spc="280" dirty="0">
                <a:latin typeface="Arial MT"/>
                <a:cs typeface="Arial MT"/>
              </a:rPr>
              <a:t> </a:t>
            </a:r>
            <a:r>
              <a:rPr sz="1400" spc="10" dirty="0">
                <a:latin typeface="Arial MT"/>
                <a:cs typeface="Arial MT"/>
              </a:rPr>
              <a:t>de</a:t>
            </a:r>
            <a:r>
              <a:rPr sz="1400" spc="100" dirty="0">
                <a:latin typeface="Arial MT"/>
                <a:cs typeface="Arial MT"/>
              </a:rPr>
              <a:t> </a:t>
            </a:r>
            <a:r>
              <a:rPr sz="1400" spc="10" dirty="0">
                <a:latin typeface="Arial MT"/>
                <a:cs typeface="Arial MT"/>
              </a:rPr>
              <a:t>las</a:t>
            </a:r>
            <a:r>
              <a:rPr sz="1400" spc="195" dirty="0">
                <a:latin typeface="Arial MT"/>
                <a:cs typeface="Arial MT"/>
              </a:rPr>
              <a:t> </a:t>
            </a:r>
            <a:r>
              <a:rPr sz="1400" spc="40" dirty="0">
                <a:latin typeface="Arial MT"/>
                <a:cs typeface="Arial MT"/>
              </a:rPr>
              <a:t>industrias.</a:t>
            </a:r>
            <a:endParaRPr sz="1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40"/>
              </a:spcBef>
            </a:pPr>
            <a:endParaRPr sz="1400" dirty="0">
              <a:latin typeface="Arial MT"/>
              <a:cs typeface="Arial MT"/>
            </a:endParaRPr>
          </a:p>
          <a:p>
            <a:pPr marL="13970" marR="16510" algn="just">
              <a:lnSpc>
                <a:spcPct val="100000"/>
              </a:lnSpc>
            </a:pPr>
            <a:r>
              <a:rPr sz="1400" dirty="0">
                <a:latin typeface="Arial MT"/>
                <a:cs typeface="Arial MT"/>
              </a:rPr>
              <a:t>Hoy</a:t>
            </a:r>
            <a:r>
              <a:rPr sz="1400" spc="27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en</a:t>
            </a:r>
            <a:r>
              <a:rPr sz="1400" spc="27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día,</a:t>
            </a:r>
            <a:r>
              <a:rPr sz="1400" spc="1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como</a:t>
            </a:r>
            <a:r>
              <a:rPr sz="1400" spc="270" dirty="0">
                <a:latin typeface="Arial MT"/>
                <a:cs typeface="Arial MT"/>
              </a:rPr>
              <a:t> </a:t>
            </a:r>
            <a:r>
              <a:rPr sz="1400" spc="45" dirty="0">
                <a:latin typeface="Arial MT"/>
                <a:cs typeface="Arial MT"/>
              </a:rPr>
              <a:t>formuladores</a:t>
            </a:r>
            <a:r>
              <a:rPr sz="1400" spc="3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</a:t>
            </a:r>
            <a:r>
              <a:rPr sz="1400" spc="180" dirty="0">
                <a:latin typeface="Arial MT"/>
                <a:cs typeface="Arial MT"/>
              </a:rPr>
              <a:t> </a:t>
            </a:r>
            <a:r>
              <a:rPr sz="1400" spc="45" dirty="0">
                <a:latin typeface="Arial MT"/>
                <a:cs typeface="Arial MT"/>
              </a:rPr>
              <a:t>políticas,</a:t>
            </a:r>
            <a:r>
              <a:rPr sz="1400" spc="1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tenemos</a:t>
            </a:r>
            <a:r>
              <a:rPr sz="1400" spc="27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que</a:t>
            </a:r>
            <a:r>
              <a:rPr sz="1400" spc="18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lograr,</a:t>
            </a:r>
            <a:r>
              <a:rPr sz="1400" spc="1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como</a:t>
            </a:r>
            <a:r>
              <a:rPr sz="1400" spc="27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siempre,</a:t>
            </a:r>
            <a:r>
              <a:rPr sz="1400" spc="1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un</a:t>
            </a:r>
            <a:r>
              <a:rPr sz="1400" spc="270" dirty="0">
                <a:latin typeface="Arial MT"/>
                <a:cs typeface="Arial MT"/>
              </a:rPr>
              <a:t> </a:t>
            </a:r>
            <a:r>
              <a:rPr sz="1400" spc="50" dirty="0">
                <a:latin typeface="Arial MT"/>
                <a:cs typeface="Arial MT"/>
              </a:rPr>
              <a:t>equilibrio</a:t>
            </a:r>
            <a:r>
              <a:rPr sz="1400" spc="27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entre</a:t>
            </a:r>
            <a:r>
              <a:rPr sz="1400" spc="18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las</a:t>
            </a:r>
            <a:r>
              <a:rPr sz="1400" spc="275" dirty="0">
                <a:latin typeface="Arial MT"/>
                <a:cs typeface="Arial MT"/>
              </a:rPr>
              <a:t> </a:t>
            </a:r>
            <a:r>
              <a:rPr sz="1400" spc="50" dirty="0">
                <a:latin typeface="Arial MT"/>
                <a:cs typeface="Arial MT"/>
              </a:rPr>
              <a:t>oportunidades</a:t>
            </a:r>
            <a:r>
              <a:rPr sz="1400" spc="28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</a:t>
            </a:r>
            <a:r>
              <a:rPr sz="1400" spc="18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tales </a:t>
            </a:r>
            <a:r>
              <a:rPr sz="1400" dirty="0">
                <a:latin typeface="Arial MT"/>
                <a:cs typeface="Arial MT"/>
              </a:rPr>
              <a:t>innovaciones</a:t>
            </a:r>
            <a:r>
              <a:rPr sz="1400" spc="60" dirty="0">
                <a:latin typeface="Arial MT"/>
                <a:cs typeface="Arial MT"/>
              </a:rPr>
              <a:t>  </a:t>
            </a:r>
            <a:r>
              <a:rPr sz="1400" spc="45" dirty="0">
                <a:latin typeface="Arial MT"/>
                <a:cs typeface="Arial MT"/>
              </a:rPr>
              <a:t>tecnológicas</a:t>
            </a:r>
            <a:r>
              <a:rPr sz="1400" spc="60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con</a:t>
            </a:r>
            <a:r>
              <a:rPr sz="1400" spc="75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los</a:t>
            </a:r>
            <a:r>
              <a:rPr sz="1400" spc="95" dirty="0">
                <a:latin typeface="Arial MT"/>
                <a:cs typeface="Arial MT"/>
              </a:rPr>
              <a:t>  </a:t>
            </a:r>
            <a:r>
              <a:rPr sz="1400" spc="45" dirty="0">
                <a:latin typeface="Arial MT"/>
                <a:cs typeface="Arial MT"/>
              </a:rPr>
              <a:t>riesgos</a:t>
            </a:r>
            <a:r>
              <a:rPr sz="1400" spc="70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que</a:t>
            </a:r>
            <a:r>
              <a:rPr sz="1400" spc="4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plantean,</a:t>
            </a:r>
            <a:r>
              <a:rPr sz="1400" spc="38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teniendo</a:t>
            </a:r>
            <a:r>
              <a:rPr sz="1400" spc="75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en</a:t>
            </a:r>
            <a:r>
              <a:rPr sz="1400" spc="85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cuenta</a:t>
            </a:r>
            <a:r>
              <a:rPr sz="1400" spc="4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fundamentales</a:t>
            </a:r>
            <a:r>
              <a:rPr sz="1400" spc="75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premisas</a:t>
            </a:r>
            <a:r>
              <a:rPr sz="1400" spc="70" dirty="0">
                <a:latin typeface="Arial MT"/>
                <a:cs typeface="Arial MT"/>
              </a:rPr>
              <a:t>  </a:t>
            </a:r>
            <a:r>
              <a:rPr sz="1400" spc="45" dirty="0">
                <a:latin typeface="Arial MT"/>
                <a:cs typeface="Arial MT"/>
              </a:rPr>
              <a:t>económicas.</a:t>
            </a:r>
            <a:r>
              <a:rPr sz="1400" spc="39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En</a:t>
            </a:r>
            <a:r>
              <a:rPr sz="1400" spc="75" dirty="0">
                <a:latin typeface="Arial MT"/>
                <a:cs typeface="Arial MT"/>
              </a:rPr>
              <a:t>  </a:t>
            </a:r>
            <a:r>
              <a:rPr sz="1400" spc="-25" dirty="0">
                <a:latin typeface="Arial MT"/>
                <a:cs typeface="Arial MT"/>
              </a:rPr>
              <a:t>ese </a:t>
            </a:r>
            <a:r>
              <a:rPr sz="1400" dirty="0">
                <a:latin typeface="Arial MT"/>
                <a:cs typeface="Arial MT"/>
              </a:rPr>
              <a:t>sentido,</a:t>
            </a:r>
            <a:r>
              <a:rPr sz="1400" spc="335" dirty="0">
                <a:latin typeface="Arial MT"/>
                <a:cs typeface="Arial MT"/>
              </a:rPr>
              <a:t> </a:t>
            </a:r>
            <a:r>
              <a:rPr sz="1400" spc="45" dirty="0">
                <a:latin typeface="Arial MT"/>
                <a:cs typeface="Arial MT"/>
              </a:rPr>
              <a:t>considero</a:t>
            </a:r>
            <a:r>
              <a:rPr sz="1400" spc="484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que,</a:t>
            </a:r>
            <a:r>
              <a:rPr sz="1400" spc="3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como</a:t>
            </a:r>
            <a:r>
              <a:rPr sz="1400" spc="65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banqueros</a:t>
            </a:r>
            <a:r>
              <a:rPr sz="1400" spc="49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centrales</a:t>
            </a:r>
            <a:r>
              <a:rPr sz="1400" spc="49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y</a:t>
            </a:r>
            <a:r>
              <a:rPr sz="1400" spc="49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reguladores</a:t>
            </a:r>
            <a:r>
              <a:rPr sz="1400" spc="495" dirty="0">
                <a:latin typeface="Arial MT"/>
                <a:cs typeface="Arial MT"/>
              </a:rPr>
              <a:t> </a:t>
            </a:r>
            <a:r>
              <a:rPr sz="1400" spc="45" dirty="0">
                <a:latin typeface="Arial MT"/>
                <a:cs typeface="Arial MT"/>
              </a:rPr>
              <a:t>financieros,</a:t>
            </a:r>
            <a:r>
              <a:rPr sz="1400" spc="3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antes</a:t>
            </a:r>
            <a:r>
              <a:rPr sz="1400" spc="49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</a:t>
            </a:r>
            <a:r>
              <a:rPr sz="1400" spc="39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analizar</a:t>
            </a:r>
            <a:r>
              <a:rPr sz="1400" spc="60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los</a:t>
            </a:r>
            <a:r>
              <a:rPr sz="1400" spc="495" dirty="0">
                <a:latin typeface="Arial MT"/>
                <a:cs typeface="Arial MT"/>
              </a:rPr>
              <a:t> </a:t>
            </a:r>
            <a:r>
              <a:rPr sz="1400" spc="45" dirty="0">
                <a:latin typeface="Arial MT"/>
                <a:cs typeface="Arial MT"/>
              </a:rPr>
              <a:t>cambios</a:t>
            </a:r>
            <a:r>
              <a:rPr sz="1400" spc="49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actuales</a:t>
            </a:r>
            <a:r>
              <a:rPr sz="1400" spc="49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en</a:t>
            </a:r>
            <a:r>
              <a:rPr sz="1400" spc="484" dirty="0">
                <a:latin typeface="Arial MT"/>
                <a:cs typeface="Arial MT"/>
              </a:rPr>
              <a:t> </a:t>
            </a:r>
            <a:r>
              <a:rPr sz="1400" spc="-25" dirty="0">
                <a:latin typeface="Arial MT"/>
                <a:cs typeface="Arial MT"/>
              </a:rPr>
              <a:t>el </a:t>
            </a:r>
            <a:r>
              <a:rPr sz="1400" spc="10" dirty="0">
                <a:latin typeface="Arial MT"/>
                <a:cs typeface="Arial MT"/>
              </a:rPr>
              <a:t>sistema</a:t>
            </a:r>
            <a:r>
              <a:rPr sz="1400" spc="120" dirty="0">
                <a:latin typeface="Arial MT"/>
                <a:cs typeface="Arial MT"/>
              </a:rPr>
              <a:t> </a:t>
            </a:r>
            <a:r>
              <a:rPr sz="1400" spc="10" dirty="0">
                <a:latin typeface="Arial MT"/>
                <a:cs typeface="Arial MT"/>
              </a:rPr>
              <a:t>financiero,</a:t>
            </a:r>
            <a:r>
              <a:rPr sz="1400" spc="70" dirty="0">
                <a:latin typeface="Arial MT"/>
                <a:cs typeface="Arial MT"/>
              </a:rPr>
              <a:t> </a:t>
            </a:r>
            <a:r>
              <a:rPr sz="1400" spc="10" dirty="0">
                <a:latin typeface="Arial MT"/>
                <a:cs typeface="Arial MT"/>
              </a:rPr>
              <a:t>es</a:t>
            </a:r>
            <a:r>
              <a:rPr sz="1400" spc="195" dirty="0">
                <a:latin typeface="Arial MT"/>
                <a:cs typeface="Arial MT"/>
              </a:rPr>
              <a:t> </a:t>
            </a:r>
            <a:r>
              <a:rPr sz="1400" spc="10" dirty="0">
                <a:latin typeface="Arial MT"/>
                <a:cs typeface="Arial MT"/>
              </a:rPr>
              <a:t>necesario</a:t>
            </a:r>
            <a:r>
              <a:rPr sz="1400" spc="210" dirty="0">
                <a:latin typeface="Arial MT"/>
                <a:cs typeface="Arial MT"/>
              </a:rPr>
              <a:t> </a:t>
            </a:r>
            <a:r>
              <a:rPr sz="1400" spc="10" dirty="0">
                <a:latin typeface="Arial MT"/>
                <a:cs typeface="Arial MT"/>
              </a:rPr>
              <a:t>que</a:t>
            </a:r>
            <a:r>
              <a:rPr sz="1400" spc="125" dirty="0">
                <a:latin typeface="Arial MT"/>
                <a:cs typeface="Arial MT"/>
              </a:rPr>
              <a:t> </a:t>
            </a:r>
            <a:r>
              <a:rPr sz="1400" spc="10" dirty="0">
                <a:latin typeface="Arial MT"/>
                <a:cs typeface="Arial MT"/>
              </a:rPr>
              <a:t>tomemos</a:t>
            </a:r>
            <a:r>
              <a:rPr sz="1400" spc="220" dirty="0">
                <a:latin typeface="Arial MT"/>
                <a:cs typeface="Arial MT"/>
              </a:rPr>
              <a:t> </a:t>
            </a:r>
            <a:r>
              <a:rPr sz="1400" spc="10" dirty="0">
                <a:latin typeface="Arial MT"/>
                <a:cs typeface="Arial MT"/>
              </a:rPr>
              <a:t>un</a:t>
            </a:r>
            <a:r>
              <a:rPr sz="1400" spc="185" dirty="0">
                <a:latin typeface="Arial MT"/>
                <a:cs typeface="Arial MT"/>
              </a:rPr>
              <a:t> </a:t>
            </a:r>
            <a:r>
              <a:rPr sz="1400" spc="10" dirty="0">
                <a:latin typeface="Arial MT"/>
                <a:cs typeface="Arial MT"/>
              </a:rPr>
              <a:t>par</a:t>
            </a:r>
            <a:r>
              <a:rPr sz="1400" spc="180" dirty="0">
                <a:latin typeface="Arial MT"/>
                <a:cs typeface="Arial MT"/>
              </a:rPr>
              <a:t> </a:t>
            </a:r>
            <a:r>
              <a:rPr sz="1400" spc="10" dirty="0">
                <a:latin typeface="Arial MT"/>
                <a:cs typeface="Arial MT"/>
              </a:rPr>
              <a:t>de</a:t>
            </a:r>
            <a:r>
              <a:rPr sz="1400" spc="95" dirty="0">
                <a:latin typeface="Arial MT"/>
                <a:cs typeface="Arial MT"/>
              </a:rPr>
              <a:t> </a:t>
            </a:r>
            <a:r>
              <a:rPr sz="1400" spc="10" dirty="0">
                <a:latin typeface="Arial MT"/>
                <a:cs typeface="Arial MT"/>
              </a:rPr>
              <a:t>pasos</a:t>
            </a:r>
            <a:r>
              <a:rPr sz="1400" spc="220" dirty="0">
                <a:latin typeface="Arial MT"/>
                <a:cs typeface="Arial MT"/>
              </a:rPr>
              <a:t> </a:t>
            </a:r>
            <a:r>
              <a:rPr sz="1400" spc="10" dirty="0">
                <a:latin typeface="Arial MT"/>
                <a:cs typeface="Arial MT"/>
              </a:rPr>
              <a:t>atrás</a:t>
            </a:r>
            <a:r>
              <a:rPr sz="1400" spc="185" dirty="0">
                <a:latin typeface="Arial MT"/>
                <a:cs typeface="Arial MT"/>
              </a:rPr>
              <a:t> </a:t>
            </a:r>
            <a:r>
              <a:rPr sz="1400" spc="10" dirty="0">
                <a:latin typeface="Arial MT"/>
                <a:cs typeface="Arial MT"/>
              </a:rPr>
              <a:t>y</a:t>
            </a:r>
            <a:r>
              <a:rPr sz="1400" spc="190" dirty="0">
                <a:latin typeface="Arial MT"/>
                <a:cs typeface="Arial MT"/>
              </a:rPr>
              <a:t> </a:t>
            </a:r>
            <a:r>
              <a:rPr sz="1400" spc="10" dirty="0">
                <a:latin typeface="Arial MT"/>
                <a:cs typeface="Arial MT"/>
              </a:rPr>
              <a:t>reflexionar</a:t>
            </a:r>
            <a:r>
              <a:rPr sz="1400" spc="235" dirty="0">
                <a:latin typeface="Arial MT"/>
                <a:cs typeface="Arial MT"/>
              </a:rPr>
              <a:t> </a:t>
            </a:r>
            <a:r>
              <a:rPr sz="1400" spc="50" dirty="0">
                <a:latin typeface="Arial MT"/>
                <a:cs typeface="Arial MT"/>
              </a:rPr>
              <a:t>sobre</a:t>
            </a:r>
            <a:r>
              <a:rPr sz="1400" spc="125" dirty="0">
                <a:latin typeface="Arial MT"/>
                <a:cs typeface="Arial MT"/>
              </a:rPr>
              <a:t> </a:t>
            </a:r>
            <a:r>
              <a:rPr sz="1400" spc="10" dirty="0">
                <a:latin typeface="Arial MT"/>
                <a:cs typeface="Arial MT"/>
              </a:rPr>
              <a:t>la</a:t>
            </a:r>
            <a:r>
              <a:rPr sz="1400" spc="95" dirty="0">
                <a:latin typeface="Arial MT"/>
                <a:cs typeface="Arial MT"/>
              </a:rPr>
              <a:t> </a:t>
            </a:r>
            <a:r>
              <a:rPr sz="1400" spc="10" dirty="0">
                <a:latin typeface="Arial MT"/>
                <a:cs typeface="Arial MT"/>
              </a:rPr>
              <a:t>imagen</a:t>
            </a:r>
            <a:r>
              <a:rPr sz="1400" spc="185" dirty="0">
                <a:latin typeface="Arial MT"/>
                <a:cs typeface="Arial MT"/>
              </a:rPr>
              <a:t> </a:t>
            </a:r>
            <a:r>
              <a:rPr sz="1400" spc="10" dirty="0">
                <a:latin typeface="Arial MT"/>
                <a:cs typeface="Arial MT"/>
              </a:rPr>
              <a:t>más</a:t>
            </a:r>
            <a:r>
              <a:rPr sz="1400" spc="19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amplia.</a:t>
            </a:r>
            <a:endParaRPr sz="1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40"/>
              </a:spcBef>
            </a:pPr>
            <a:endParaRPr sz="1400" dirty="0">
              <a:latin typeface="Arial MT"/>
              <a:cs typeface="Arial MT"/>
            </a:endParaRPr>
          </a:p>
          <a:p>
            <a:pPr marL="12700" marR="5080" algn="just">
              <a:lnSpc>
                <a:spcPct val="100000"/>
              </a:lnSpc>
            </a:pPr>
            <a:r>
              <a:rPr sz="1400" dirty="0">
                <a:latin typeface="Arial MT"/>
                <a:cs typeface="Arial MT"/>
              </a:rPr>
              <a:t>El</a:t>
            </a:r>
            <a:r>
              <a:rPr sz="1400" spc="310" dirty="0">
                <a:latin typeface="Arial MT"/>
                <a:cs typeface="Arial MT"/>
              </a:rPr>
              <a:t> </a:t>
            </a:r>
            <a:r>
              <a:rPr sz="1400" spc="45" dirty="0">
                <a:latin typeface="Arial MT"/>
                <a:cs typeface="Arial MT"/>
              </a:rPr>
              <a:t>impacto</a:t>
            </a:r>
            <a:r>
              <a:rPr sz="1400" spc="3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</a:t>
            </a:r>
            <a:r>
              <a:rPr sz="1400" spc="2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las</a:t>
            </a:r>
            <a:r>
              <a:rPr sz="1400" spc="3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tecnologías</a:t>
            </a:r>
            <a:r>
              <a:rPr sz="1400" spc="3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</a:t>
            </a:r>
            <a:r>
              <a:rPr sz="1400" spc="215" dirty="0">
                <a:latin typeface="Arial MT"/>
                <a:cs typeface="Arial MT"/>
              </a:rPr>
              <a:t> </a:t>
            </a:r>
            <a:r>
              <a:rPr sz="1400" spc="50" dirty="0">
                <a:latin typeface="Arial MT"/>
                <a:cs typeface="Arial MT"/>
              </a:rPr>
              <a:t>uso</a:t>
            </a:r>
            <a:r>
              <a:rPr sz="1400" spc="29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general</a:t>
            </a:r>
            <a:r>
              <a:rPr sz="1400" spc="3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en</a:t>
            </a:r>
            <a:r>
              <a:rPr sz="1400" spc="29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la</a:t>
            </a:r>
            <a:r>
              <a:rPr sz="1400" spc="2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economía</a:t>
            </a:r>
            <a:r>
              <a:rPr sz="1400" spc="2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ha</a:t>
            </a:r>
            <a:r>
              <a:rPr sz="1400" spc="2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sido</a:t>
            </a:r>
            <a:r>
              <a:rPr sz="1400" spc="30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analizado</a:t>
            </a:r>
            <a:r>
              <a:rPr sz="1400" spc="3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y</a:t>
            </a:r>
            <a:r>
              <a:rPr sz="1400" spc="305" dirty="0">
                <a:latin typeface="Arial MT"/>
                <a:cs typeface="Arial MT"/>
              </a:rPr>
              <a:t> </a:t>
            </a:r>
            <a:r>
              <a:rPr sz="1400" spc="60" dirty="0">
                <a:latin typeface="Arial MT"/>
                <a:cs typeface="Arial MT"/>
              </a:rPr>
              <a:t>discutido</a:t>
            </a:r>
            <a:r>
              <a:rPr sz="1400" spc="30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tanto</a:t>
            </a:r>
            <a:r>
              <a:rPr sz="1400" spc="30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en</a:t>
            </a:r>
            <a:r>
              <a:rPr sz="1400" spc="30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la</a:t>
            </a:r>
            <a:r>
              <a:rPr sz="1400" spc="2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academia</a:t>
            </a:r>
            <a:r>
              <a:rPr sz="1400" spc="250" dirty="0">
                <a:latin typeface="Arial MT"/>
                <a:cs typeface="Arial MT"/>
              </a:rPr>
              <a:t> </a:t>
            </a:r>
            <a:r>
              <a:rPr sz="1400" spc="50" dirty="0">
                <a:latin typeface="Arial MT"/>
                <a:cs typeface="Arial MT"/>
              </a:rPr>
              <a:t>como</a:t>
            </a:r>
            <a:r>
              <a:rPr sz="1400" spc="30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en</a:t>
            </a:r>
            <a:r>
              <a:rPr sz="1400" spc="300" dirty="0">
                <a:latin typeface="Arial MT"/>
                <a:cs typeface="Arial MT"/>
              </a:rPr>
              <a:t> </a:t>
            </a:r>
            <a:r>
              <a:rPr sz="1400" spc="60" dirty="0">
                <a:latin typeface="Arial MT"/>
                <a:cs typeface="Arial MT"/>
              </a:rPr>
              <a:t>la </a:t>
            </a:r>
            <a:r>
              <a:rPr sz="1400" spc="55" dirty="0">
                <a:latin typeface="Arial MT"/>
                <a:cs typeface="Arial MT"/>
              </a:rPr>
              <a:t>industria</a:t>
            </a:r>
            <a:r>
              <a:rPr sz="1400" spc="254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</a:t>
            </a:r>
            <a:r>
              <a:rPr sz="1400" spc="229" dirty="0">
                <a:latin typeface="Arial MT"/>
                <a:cs typeface="Arial MT"/>
              </a:rPr>
              <a:t> </a:t>
            </a:r>
            <a:r>
              <a:rPr sz="1400" spc="50" dirty="0">
                <a:latin typeface="Arial MT"/>
                <a:cs typeface="Arial MT"/>
              </a:rPr>
              <a:t>forma</a:t>
            </a:r>
            <a:r>
              <a:rPr sz="1400" spc="2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regular.</a:t>
            </a:r>
            <a:r>
              <a:rPr sz="1400" spc="17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Sin</a:t>
            </a:r>
            <a:r>
              <a:rPr sz="1400" spc="3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embargo,</a:t>
            </a:r>
            <a:r>
              <a:rPr sz="1400" spc="17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en</a:t>
            </a:r>
            <a:r>
              <a:rPr sz="1400" spc="3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esta</a:t>
            </a:r>
            <a:r>
              <a:rPr sz="1400" spc="229" dirty="0">
                <a:latin typeface="Arial MT"/>
                <a:cs typeface="Arial MT"/>
              </a:rPr>
              <a:t> </a:t>
            </a:r>
            <a:r>
              <a:rPr sz="1400" spc="45" dirty="0">
                <a:latin typeface="Arial MT"/>
                <a:cs typeface="Arial MT"/>
              </a:rPr>
              <a:t>ocasión</a:t>
            </a:r>
            <a:r>
              <a:rPr sz="1400" spc="3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la</a:t>
            </a:r>
            <a:r>
              <a:rPr sz="1400" spc="2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velocidad</a:t>
            </a:r>
            <a:r>
              <a:rPr sz="1400" spc="3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del</a:t>
            </a:r>
            <a:r>
              <a:rPr sz="1400" spc="315" dirty="0">
                <a:latin typeface="Arial MT"/>
                <a:cs typeface="Arial MT"/>
              </a:rPr>
              <a:t> </a:t>
            </a:r>
            <a:r>
              <a:rPr sz="1400" spc="50" dirty="0">
                <a:latin typeface="Arial MT"/>
                <a:cs typeface="Arial MT"/>
              </a:rPr>
              <a:t>progreso</a:t>
            </a:r>
            <a:r>
              <a:rPr sz="1400" spc="310" dirty="0">
                <a:latin typeface="Arial MT"/>
                <a:cs typeface="Arial MT"/>
              </a:rPr>
              <a:t> </a:t>
            </a:r>
            <a:r>
              <a:rPr sz="1400" spc="50" dirty="0">
                <a:latin typeface="Arial MT"/>
                <a:cs typeface="Arial MT"/>
              </a:rPr>
              <a:t>tecnológico</a:t>
            </a:r>
            <a:r>
              <a:rPr sz="1400" spc="3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está</a:t>
            </a:r>
            <a:r>
              <a:rPr sz="1400" spc="254" dirty="0">
                <a:latin typeface="Arial MT"/>
                <a:cs typeface="Arial MT"/>
              </a:rPr>
              <a:t> </a:t>
            </a:r>
            <a:r>
              <a:rPr sz="1400" spc="50" dirty="0">
                <a:latin typeface="Arial MT"/>
                <a:cs typeface="Arial MT"/>
              </a:rPr>
              <a:t>dificultando</a:t>
            </a:r>
            <a:r>
              <a:rPr sz="1400" spc="3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mantener</a:t>
            </a:r>
            <a:r>
              <a:rPr sz="1400" spc="335" dirty="0">
                <a:latin typeface="Arial MT"/>
                <a:cs typeface="Arial MT"/>
              </a:rPr>
              <a:t> </a:t>
            </a:r>
            <a:r>
              <a:rPr sz="1400" spc="-25" dirty="0">
                <a:latin typeface="Arial MT"/>
                <a:cs typeface="Arial MT"/>
              </a:rPr>
              <a:t>el </a:t>
            </a:r>
            <a:r>
              <a:rPr sz="1400" spc="55" dirty="0">
                <a:latin typeface="Arial MT"/>
                <a:cs typeface="Arial MT"/>
              </a:rPr>
              <a:t>ritmo</a:t>
            </a:r>
            <a:r>
              <a:rPr sz="1400" spc="265" dirty="0">
                <a:latin typeface="Arial MT"/>
                <a:cs typeface="Arial MT"/>
              </a:rPr>
              <a:t> </a:t>
            </a:r>
            <a:r>
              <a:rPr sz="1400" spc="10" dirty="0">
                <a:latin typeface="Arial MT"/>
                <a:cs typeface="Arial MT"/>
              </a:rPr>
              <a:t>para</a:t>
            </a:r>
            <a:r>
              <a:rPr sz="1400" spc="170" dirty="0">
                <a:latin typeface="Arial MT"/>
                <a:cs typeface="Arial MT"/>
              </a:rPr>
              <a:t> </a:t>
            </a:r>
            <a:r>
              <a:rPr sz="1400" u="sng" spc="4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comprender</a:t>
            </a:r>
            <a:r>
              <a:rPr sz="1400" u="sng" spc="30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1400" u="sng" spc="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sus</a:t>
            </a:r>
            <a:r>
              <a:rPr sz="1400" u="sng" spc="27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1400" u="sng" spc="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consecuencias</a:t>
            </a:r>
            <a:r>
              <a:rPr sz="1400" u="sng" spc="28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1400" u="sng" spc="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no</a:t>
            </a:r>
            <a:r>
              <a:rPr sz="1400" u="sng" spc="26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1400" u="sng" spc="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intencionadas</a:t>
            </a:r>
            <a:r>
              <a:rPr sz="1400" u="sng" spc="30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1400" u="sng" spc="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en</a:t>
            </a:r>
            <a:r>
              <a:rPr sz="1400" u="sng" spc="26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1400" u="sng" spc="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la</a:t>
            </a:r>
            <a:r>
              <a:rPr sz="1400" u="sng" spc="17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1400" u="sng" spc="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economía</a:t>
            </a:r>
            <a:r>
              <a:rPr sz="1400" u="sng" spc="2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1400" u="sng" spc="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y</a:t>
            </a:r>
            <a:r>
              <a:rPr sz="1400" spc="10" dirty="0">
                <a:latin typeface="Arial MT"/>
                <a:cs typeface="Arial MT"/>
              </a:rPr>
              <a:t>,</a:t>
            </a:r>
            <a:r>
              <a:rPr sz="1400" spc="120" dirty="0">
                <a:latin typeface="Arial MT"/>
                <a:cs typeface="Arial MT"/>
              </a:rPr>
              <a:t> </a:t>
            </a:r>
            <a:r>
              <a:rPr sz="1400" spc="10" dirty="0">
                <a:latin typeface="Arial MT"/>
                <a:cs typeface="Arial MT"/>
              </a:rPr>
              <a:t>más</a:t>
            </a:r>
            <a:r>
              <a:rPr sz="1400" spc="305" dirty="0">
                <a:latin typeface="Arial MT"/>
                <a:cs typeface="Arial MT"/>
              </a:rPr>
              <a:t> </a:t>
            </a:r>
            <a:r>
              <a:rPr sz="1400" spc="10" dirty="0">
                <a:latin typeface="Arial MT"/>
                <a:cs typeface="Arial MT"/>
              </a:rPr>
              <a:t>generalmente,</a:t>
            </a:r>
            <a:r>
              <a:rPr sz="1400" spc="114" dirty="0">
                <a:latin typeface="Arial MT"/>
                <a:cs typeface="Arial MT"/>
              </a:rPr>
              <a:t> </a:t>
            </a:r>
            <a:r>
              <a:rPr sz="1400" spc="10" dirty="0">
                <a:latin typeface="Arial MT"/>
                <a:cs typeface="Arial MT"/>
              </a:rPr>
              <a:t>en</a:t>
            </a:r>
            <a:r>
              <a:rPr sz="1400" spc="265" dirty="0">
                <a:latin typeface="Arial MT"/>
                <a:cs typeface="Arial MT"/>
              </a:rPr>
              <a:t> </a:t>
            </a:r>
            <a:r>
              <a:rPr sz="1400" spc="10" dirty="0">
                <a:latin typeface="Arial MT"/>
                <a:cs typeface="Arial MT"/>
              </a:rPr>
              <a:t>la</a:t>
            </a:r>
            <a:r>
              <a:rPr sz="1400" spc="204" dirty="0">
                <a:latin typeface="Arial MT"/>
                <a:cs typeface="Arial MT"/>
              </a:rPr>
              <a:t> </a:t>
            </a:r>
            <a:r>
              <a:rPr sz="1400" spc="10" dirty="0">
                <a:latin typeface="Arial MT"/>
                <a:cs typeface="Arial MT"/>
              </a:rPr>
              <a:t>sociedad</a:t>
            </a:r>
            <a:r>
              <a:rPr sz="1400" spc="265" dirty="0">
                <a:latin typeface="Arial MT"/>
                <a:cs typeface="Arial MT"/>
              </a:rPr>
              <a:t> </a:t>
            </a:r>
            <a:r>
              <a:rPr sz="1400" spc="10" dirty="0">
                <a:latin typeface="Arial MT"/>
                <a:cs typeface="Arial MT"/>
              </a:rPr>
              <a:t>misma.</a:t>
            </a:r>
            <a:r>
              <a:rPr sz="1400" spc="120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Esto </a:t>
            </a:r>
            <a:r>
              <a:rPr sz="1400" dirty="0">
                <a:latin typeface="Arial MT"/>
                <a:cs typeface="Arial MT"/>
              </a:rPr>
              <a:t>es</a:t>
            </a:r>
            <a:r>
              <a:rPr sz="1400" spc="55" dirty="0">
                <a:latin typeface="Arial MT"/>
                <a:cs typeface="Arial MT"/>
              </a:rPr>
              <a:t>  </a:t>
            </a:r>
            <a:r>
              <a:rPr sz="1400" spc="50" dirty="0">
                <a:latin typeface="Arial MT"/>
                <a:cs typeface="Arial MT"/>
              </a:rPr>
              <a:t>particularmente</a:t>
            </a:r>
            <a:r>
              <a:rPr sz="1400" spc="415" dirty="0">
                <a:latin typeface="Arial MT"/>
                <a:cs typeface="Arial MT"/>
              </a:rPr>
              <a:t> </a:t>
            </a:r>
            <a:r>
              <a:rPr sz="1400" spc="55" dirty="0">
                <a:latin typeface="Arial MT"/>
                <a:cs typeface="Arial MT"/>
              </a:rPr>
              <a:t>cierto  </a:t>
            </a:r>
            <a:r>
              <a:rPr sz="1400" dirty="0">
                <a:latin typeface="Arial MT"/>
                <a:cs typeface="Arial MT"/>
              </a:rPr>
              <a:t>en</a:t>
            </a:r>
            <a:r>
              <a:rPr sz="1400" spc="55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las</a:t>
            </a:r>
            <a:r>
              <a:rPr sz="1400" spc="70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finanzas</a:t>
            </a:r>
            <a:r>
              <a:rPr sz="1400" spc="75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con</a:t>
            </a:r>
            <a:r>
              <a:rPr sz="1400" spc="70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un</a:t>
            </a:r>
            <a:r>
              <a:rPr sz="1400" spc="70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diseño</a:t>
            </a:r>
            <a:r>
              <a:rPr sz="1400" spc="70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de</a:t>
            </a:r>
            <a:r>
              <a:rPr sz="1400" spc="445" dirty="0">
                <a:latin typeface="Arial MT"/>
                <a:cs typeface="Arial MT"/>
              </a:rPr>
              <a:t> </a:t>
            </a:r>
            <a:r>
              <a:rPr sz="1400" spc="45" dirty="0">
                <a:latin typeface="Arial MT"/>
                <a:cs typeface="Arial MT"/>
              </a:rPr>
              <a:t>regulación,</a:t>
            </a:r>
            <a:r>
              <a:rPr sz="1400" spc="37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típicamente,</a:t>
            </a:r>
            <a:r>
              <a:rPr sz="1400" spc="365" dirty="0">
                <a:latin typeface="Arial MT"/>
                <a:cs typeface="Arial MT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rezagado</a:t>
            </a:r>
            <a:r>
              <a:rPr sz="1400" u="sng" spc="6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detrás</a:t>
            </a:r>
            <a:r>
              <a:rPr sz="1400" u="sng" spc="7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de</a:t>
            </a:r>
            <a:r>
              <a:rPr sz="1400" u="sng" spc="41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lo</a:t>
            </a:r>
            <a:r>
              <a:rPr sz="1400" u="sng" spc="7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 </a:t>
            </a:r>
            <a:r>
              <a:rPr sz="1400" u="sng" spc="5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tecnológico</a:t>
            </a:r>
            <a:r>
              <a:rPr sz="1400" u="sng" spc="7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 </a:t>
            </a:r>
            <a:r>
              <a:rPr sz="1400" u="sng" spc="-5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y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progreso</a:t>
            </a:r>
            <a:r>
              <a:rPr sz="1400" u="sng" spc="28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de</a:t>
            </a:r>
            <a:r>
              <a:rPr sz="1400" u="sng" spc="15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la</a:t>
            </a:r>
            <a:r>
              <a:rPr sz="1400" u="sng" spc="15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innovación</a:t>
            </a:r>
            <a:r>
              <a:rPr sz="1400" u="sng" spc="3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en</a:t>
            </a:r>
            <a:r>
              <a:rPr sz="1400" u="sng" spc="22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los</a:t>
            </a:r>
            <a:r>
              <a:rPr sz="1400" u="sng" spc="254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1400" u="sng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mercados</a:t>
            </a:r>
            <a:r>
              <a:rPr sz="1400" spc="-10" dirty="0">
                <a:latin typeface="Arial MT"/>
                <a:cs typeface="Arial MT"/>
              </a:rPr>
              <a:t>.</a:t>
            </a:r>
            <a:endParaRPr sz="1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05"/>
              </a:spcBef>
            </a:pPr>
            <a:endParaRPr sz="1400" dirty="0">
              <a:latin typeface="Arial MT"/>
              <a:cs typeface="Arial MT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FF752AF-1387-7C7A-D569-FEED45A6DA58}"/>
              </a:ext>
            </a:extLst>
          </p:cNvPr>
          <p:cNvSpPr/>
          <p:nvPr/>
        </p:nvSpPr>
        <p:spPr>
          <a:xfrm>
            <a:off x="76200" y="6248400"/>
            <a:ext cx="1981200" cy="4577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52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¿Qué</a:t>
            </a:r>
            <a:r>
              <a:rPr spc="45" dirty="0"/>
              <a:t> </a:t>
            </a:r>
            <a:r>
              <a:rPr dirty="0"/>
              <a:t>es</a:t>
            </a:r>
            <a:r>
              <a:rPr spc="210" dirty="0"/>
              <a:t> </a:t>
            </a:r>
            <a:r>
              <a:rPr spc="80" dirty="0"/>
              <a:t>la</a:t>
            </a:r>
            <a:r>
              <a:rPr spc="25" dirty="0"/>
              <a:t> </a:t>
            </a:r>
            <a:r>
              <a:rPr spc="145" dirty="0"/>
              <a:t>industria</a:t>
            </a:r>
            <a:r>
              <a:rPr spc="50" dirty="0"/>
              <a:t> </a:t>
            </a:r>
            <a:r>
              <a:rPr spc="-20" dirty="0"/>
              <a:t>4.0?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34251" y="1353946"/>
            <a:ext cx="5121011" cy="511685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69986" y="1296868"/>
            <a:ext cx="5942965" cy="25850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-635" algn="just">
              <a:lnSpc>
                <a:spcPct val="100000"/>
              </a:lnSpc>
              <a:spcBef>
                <a:spcPts val="90"/>
              </a:spcBef>
            </a:pPr>
            <a:r>
              <a:rPr sz="1400" dirty="0">
                <a:latin typeface="Arial MT"/>
                <a:cs typeface="Arial MT"/>
              </a:rPr>
              <a:t>La</a:t>
            </a:r>
            <a:r>
              <a:rPr sz="1400" spc="204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humanidad</a:t>
            </a:r>
            <a:r>
              <a:rPr sz="1400" spc="260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ha</a:t>
            </a:r>
            <a:r>
              <a:rPr sz="1400" spc="204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experimentado</a:t>
            </a:r>
            <a:r>
              <a:rPr sz="1400" spc="250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4</a:t>
            </a:r>
            <a:r>
              <a:rPr sz="1400" spc="204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revoluciones</a:t>
            </a:r>
            <a:r>
              <a:rPr sz="1400" spc="254" dirty="0">
                <a:latin typeface="Arial MT"/>
                <a:cs typeface="Arial MT"/>
              </a:rPr>
              <a:t>  </a:t>
            </a:r>
            <a:r>
              <a:rPr sz="1400" spc="50" dirty="0">
                <a:latin typeface="Arial MT"/>
                <a:cs typeface="Arial MT"/>
              </a:rPr>
              <a:t>industriales.</a:t>
            </a:r>
            <a:r>
              <a:rPr sz="1400" spc="175" dirty="0">
                <a:latin typeface="Arial MT"/>
                <a:cs typeface="Arial MT"/>
              </a:rPr>
              <a:t>  </a:t>
            </a:r>
            <a:r>
              <a:rPr sz="1400" spc="-25" dirty="0">
                <a:latin typeface="Arial MT"/>
                <a:cs typeface="Arial MT"/>
              </a:rPr>
              <a:t>La </a:t>
            </a:r>
            <a:r>
              <a:rPr sz="1400" spc="45" dirty="0">
                <a:latin typeface="Arial MT"/>
                <a:cs typeface="Arial MT"/>
              </a:rPr>
              <a:t>primera</a:t>
            </a:r>
            <a:r>
              <a:rPr sz="1400" spc="60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con</a:t>
            </a:r>
            <a:r>
              <a:rPr sz="1400" spc="105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la</a:t>
            </a:r>
            <a:r>
              <a:rPr sz="1400" spc="65" dirty="0">
                <a:latin typeface="Arial MT"/>
                <a:cs typeface="Arial MT"/>
              </a:rPr>
              <a:t>  </a:t>
            </a:r>
            <a:r>
              <a:rPr sz="1400" spc="55" dirty="0">
                <a:latin typeface="Arial MT"/>
                <a:cs typeface="Arial MT"/>
              </a:rPr>
              <a:t>introducción</a:t>
            </a:r>
            <a:r>
              <a:rPr sz="1400" spc="114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de</a:t>
            </a:r>
            <a:r>
              <a:rPr sz="1400" spc="65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las</a:t>
            </a:r>
            <a:r>
              <a:rPr sz="1400" spc="110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máquinas</a:t>
            </a:r>
            <a:r>
              <a:rPr sz="1400" spc="110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de</a:t>
            </a:r>
            <a:r>
              <a:rPr sz="1400" spc="65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vapor</a:t>
            </a:r>
            <a:r>
              <a:rPr sz="1400" spc="114" dirty="0">
                <a:latin typeface="Arial MT"/>
                <a:cs typeface="Arial MT"/>
              </a:rPr>
              <a:t>  </a:t>
            </a:r>
            <a:r>
              <a:rPr sz="1400" spc="-10" dirty="0">
                <a:latin typeface="Arial MT"/>
                <a:cs typeface="Arial MT"/>
              </a:rPr>
              <a:t>ayudando </a:t>
            </a:r>
            <a:r>
              <a:rPr sz="1400" spc="50" dirty="0">
                <a:latin typeface="Arial MT"/>
                <a:cs typeface="Arial MT"/>
              </a:rPr>
              <a:t>principalmente</a:t>
            </a:r>
            <a:r>
              <a:rPr sz="1400" spc="2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</a:t>
            </a:r>
            <a:r>
              <a:rPr sz="1400" spc="2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la</a:t>
            </a:r>
            <a:r>
              <a:rPr sz="1400" spc="2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carga</a:t>
            </a:r>
            <a:r>
              <a:rPr sz="1400" spc="27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</a:t>
            </a:r>
            <a:r>
              <a:rPr sz="1400" spc="2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peso</a:t>
            </a:r>
            <a:r>
              <a:rPr sz="1400" spc="3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que</a:t>
            </a:r>
            <a:r>
              <a:rPr sz="1400" spc="2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en</a:t>
            </a:r>
            <a:r>
              <a:rPr sz="1400" spc="3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ese</a:t>
            </a:r>
            <a:r>
              <a:rPr sz="1400" spc="2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entonces</a:t>
            </a:r>
            <a:r>
              <a:rPr sz="1400" spc="3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se</a:t>
            </a:r>
            <a:r>
              <a:rPr sz="1400" spc="24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realizaba </a:t>
            </a:r>
            <a:r>
              <a:rPr sz="1400" dirty="0">
                <a:latin typeface="Arial MT"/>
                <a:cs typeface="Arial MT"/>
              </a:rPr>
              <a:t>con</a:t>
            </a:r>
            <a:r>
              <a:rPr sz="1400" spc="29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caballos.</a:t>
            </a:r>
            <a:r>
              <a:rPr sz="1400" spc="1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La</a:t>
            </a:r>
            <a:r>
              <a:rPr sz="1400" spc="2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segunda</a:t>
            </a:r>
            <a:r>
              <a:rPr sz="1400" spc="210" dirty="0">
                <a:latin typeface="Arial MT"/>
                <a:cs typeface="Arial MT"/>
              </a:rPr>
              <a:t> </a:t>
            </a:r>
            <a:r>
              <a:rPr sz="1400" spc="50" dirty="0">
                <a:latin typeface="Arial MT"/>
                <a:cs typeface="Arial MT"/>
              </a:rPr>
              <a:t>suma</a:t>
            </a:r>
            <a:r>
              <a:rPr sz="1400" spc="2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las</a:t>
            </a:r>
            <a:r>
              <a:rPr sz="1400" spc="3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máquinas</a:t>
            </a:r>
            <a:r>
              <a:rPr sz="1400" spc="30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para</a:t>
            </a:r>
            <a:r>
              <a:rPr sz="1400" spc="204" dirty="0">
                <a:latin typeface="Arial MT"/>
                <a:cs typeface="Arial MT"/>
              </a:rPr>
              <a:t> </a:t>
            </a:r>
            <a:r>
              <a:rPr sz="1400" spc="45" dirty="0">
                <a:latin typeface="Arial MT"/>
                <a:cs typeface="Arial MT"/>
              </a:rPr>
              <a:t>procesos</a:t>
            </a:r>
            <a:r>
              <a:rPr sz="1400" spc="30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en</a:t>
            </a:r>
            <a:r>
              <a:rPr sz="1400" spc="30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serie </a:t>
            </a:r>
            <a:r>
              <a:rPr sz="1400" dirty="0">
                <a:latin typeface="Arial MT"/>
                <a:cs typeface="Arial MT"/>
              </a:rPr>
              <a:t>y</a:t>
            </a:r>
            <a:r>
              <a:rPr sz="1400" spc="39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lo</a:t>
            </a:r>
            <a:r>
              <a:rPr sz="1400" spc="39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más</a:t>
            </a:r>
            <a:r>
              <a:rPr sz="1400" spc="395" dirty="0">
                <a:latin typeface="Arial MT"/>
                <a:cs typeface="Arial MT"/>
              </a:rPr>
              <a:t> </a:t>
            </a:r>
            <a:r>
              <a:rPr sz="1400" spc="50" dirty="0">
                <a:latin typeface="Arial MT"/>
                <a:cs typeface="Arial MT"/>
              </a:rPr>
              <a:t>importante,</a:t>
            </a:r>
            <a:r>
              <a:rPr sz="1400" spc="26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la</a:t>
            </a:r>
            <a:r>
              <a:rPr sz="1400" spc="3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energía</a:t>
            </a:r>
            <a:r>
              <a:rPr sz="1400" spc="30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eléctrica,</a:t>
            </a:r>
            <a:r>
              <a:rPr sz="1400" spc="254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la</a:t>
            </a:r>
            <a:r>
              <a:rPr sz="1400" spc="30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cual</a:t>
            </a:r>
            <a:r>
              <a:rPr sz="1400" spc="400" dirty="0">
                <a:latin typeface="Arial MT"/>
                <a:cs typeface="Arial MT"/>
              </a:rPr>
              <a:t> </a:t>
            </a:r>
            <a:r>
              <a:rPr sz="1400" spc="55" dirty="0">
                <a:latin typeface="Arial MT"/>
                <a:cs typeface="Arial MT"/>
              </a:rPr>
              <a:t>sustituye</a:t>
            </a:r>
            <a:r>
              <a:rPr sz="1400" spc="3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al</a:t>
            </a:r>
            <a:r>
              <a:rPr sz="1400" spc="40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vapor. </a:t>
            </a:r>
            <a:r>
              <a:rPr sz="1400" dirty="0">
                <a:latin typeface="Arial MT"/>
                <a:cs typeface="Arial MT"/>
              </a:rPr>
              <a:t>Con</a:t>
            </a:r>
            <a:r>
              <a:rPr sz="1400" spc="3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la</a:t>
            </a:r>
            <a:r>
              <a:rPr sz="1400" spc="254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llegada</a:t>
            </a:r>
            <a:r>
              <a:rPr sz="1400" spc="2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del</a:t>
            </a:r>
            <a:r>
              <a:rPr sz="1400" spc="345" dirty="0">
                <a:latin typeface="Arial MT"/>
                <a:cs typeface="Arial MT"/>
              </a:rPr>
              <a:t> </a:t>
            </a:r>
            <a:r>
              <a:rPr sz="1400" spc="55" dirty="0">
                <a:latin typeface="Arial MT"/>
                <a:cs typeface="Arial MT"/>
              </a:rPr>
              <a:t>hombre</a:t>
            </a:r>
            <a:r>
              <a:rPr sz="1400" spc="2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</a:t>
            </a:r>
            <a:r>
              <a:rPr sz="1400" spc="2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la</a:t>
            </a:r>
            <a:r>
              <a:rPr sz="1400" spc="235" dirty="0">
                <a:latin typeface="Arial MT"/>
                <a:cs typeface="Arial MT"/>
              </a:rPr>
              <a:t> </a:t>
            </a:r>
            <a:r>
              <a:rPr sz="1400" spc="55" dirty="0">
                <a:latin typeface="Arial MT"/>
                <a:cs typeface="Arial MT"/>
              </a:rPr>
              <a:t>luna</a:t>
            </a:r>
            <a:r>
              <a:rPr sz="1400" spc="2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se</a:t>
            </a:r>
            <a:r>
              <a:rPr sz="1400" spc="2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marca</a:t>
            </a:r>
            <a:r>
              <a:rPr sz="1400" spc="2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el</a:t>
            </a:r>
            <a:r>
              <a:rPr sz="1400" spc="320" dirty="0">
                <a:latin typeface="Arial MT"/>
                <a:cs typeface="Arial MT"/>
              </a:rPr>
              <a:t> </a:t>
            </a:r>
            <a:r>
              <a:rPr sz="1400" spc="60" dirty="0">
                <a:latin typeface="Arial MT"/>
                <a:cs typeface="Arial MT"/>
              </a:rPr>
              <a:t>inicio</a:t>
            </a:r>
            <a:r>
              <a:rPr sz="1400" spc="30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</a:t>
            </a:r>
            <a:r>
              <a:rPr sz="1400" spc="2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la</a:t>
            </a:r>
            <a:r>
              <a:rPr sz="1400" spc="23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tercera </a:t>
            </a:r>
            <a:r>
              <a:rPr sz="1400" spc="45" dirty="0">
                <a:latin typeface="Arial MT"/>
                <a:cs typeface="Arial MT"/>
              </a:rPr>
              <a:t>revolución</a:t>
            </a:r>
            <a:r>
              <a:rPr sz="1400" spc="70" dirty="0">
                <a:latin typeface="Arial MT"/>
                <a:cs typeface="Arial MT"/>
              </a:rPr>
              <a:t>  </a:t>
            </a:r>
            <a:r>
              <a:rPr sz="1400" spc="50" dirty="0">
                <a:latin typeface="Arial MT"/>
                <a:cs typeface="Arial MT"/>
              </a:rPr>
              <a:t>industrial;</a:t>
            </a:r>
            <a:r>
              <a:rPr sz="1400" spc="484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la</a:t>
            </a:r>
            <a:r>
              <a:rPr sz="1400" spc="455" dirty="0">
                <a:latin typeface="Arial MT"/>
                <a:cs typeface="Arial MT"/>
              </a:rPr>
              <a:t> </a:t>
            </a:r>
            <a:r>
              <a:rPr sz="1400" spc="55" dirty="0">
                <a:latin typeface="Arial MT"/>
                <a:cs typeface="Arial MT"/>
              </a:rPr>
              <a:t>incorporación</a:t>
            </a:r>
            <a:r>
              <a:rPr sz="1400" spc="70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de</a:t>
            </a:r>
            <a:r>
              <a:rPr sz="1400" spc="459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las</a:t>
            </a:r>
            <a:r>
              <a:rPr sz="1400" spc="75" dirty="0">
                <a:latin typeface="Arial MT"/>
                <a:cs typeface="Arial MT"/>
              </a:rPr>
              <a:t>  </a:t>
            </a:r>
            <a:r>
              <a:rPr sz="1400" spc="45" dirty="0">
                <a:latin typeface="Arial MT"/>
                <a:cs typeface="Arial MT"/>
              </a:rPr>
              <a:t>computadoras</a:t>
            </a:r>
            <a:r>
              <a:rPr sz="1400" spc="75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y</a:t>
            </a:r>
            <a:r>
              <a:rPr sz="1400" spc="75" dirty="0">
                <a:latin typeface="Arial MT"/>
                <a:cs typeface="Arial MT"/>
              </a:rPr>
              <a:t>  </a:t>
            </a:r>
            <a:r>
              <a:rPr sz="1400" spc="-25" dirty="0">
                <a:latin typeface="Arial MT"/>
                <a:cs typeface="Arial MT"/>
              </a:rPr>
              <a:t>los </a:t>
            </a:r>
            <a:r>
              <a:rPr sz="1400" spc="45" dirty="0">
                <a:latin typeface="Arial MT"/>
                <a:cs typeface="Arial MT"/>
              </a:rPr>
              <a:t>procesos</a:t>
            </a:r>
            <a:r>
              <a:rPr sz="1400" spc="254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automatizados</a:t>
            </a:r>
            <a:r>
              <a:rPr sz="1400" spc="2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se</a:t>
            </a:r>
            <a:r>
              <a:rPr sz="1400" spc="18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apoderaron</a:t>
            </a:r>
            <a:r>
              <a:rPr sz="1400" spc="2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del</a:t>
            </a:r>
            <a:r>
              <a:rPr sz="1400" spc="260" dirty="0">
                <a:latin typeface="Arial MT"/>
                <a:cs typeface="Arial MT"/>
              </a:rPr>
              <a:t> </a:t>
            </a:r>
            <a:r>
              <a:rPr sz="1400" spc="50" dirty="0">
                <a:latin typeface="Arial MT"/>
                <a:cs typeface="Arial MT"/>
              </a:rPr>
              <a:t>mundo</a:t>
            </a:r>
            <a:r>
              <a:rPr sz="1400" spc="250" dirty="0">
                <a:latin typeface="Arial MT"/>
                <a:cs typeface="Arial MT"/>
              </a:rPr>
              <a:t> </a:t>
            </a:r>
            <a:r>
              <a:rPr sz="1400" spc="50" dirty="0">
                <a:latin typeface="Arial MT"/>
                <a:cs typeface="Arial MT"/>
              </a:rPr>
              <a:t>industrial</a:t>
            </a:r>
            <a:r>
              <a:rPr sz="1400" spc="29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y</a:t>
            </a:r>
            <a:r>
              <a:rPr sz="1400" spc="254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</a:t>
            </a:r>
            <a:r>
              <a:rPr sz="1400" spc="165" dirty="0">
                <a:latin typeface="Arial MT"/>
                <a:cs typeface="Arial MT"/>
              </a:rPr>
              <a:t> </a:t>
            </a:r>
            <a:r>
              <a:rPr sz="1400" spc="55" dirty="0">
                <a:latin typeface="Arial MT"/>
                <a:cs typeface="Arial MT"/>
              </a:rPr>
              <a:t>los </a:t>
            </a:r>
            <a:r>
              <a:rPr sz="1400" dirty="0">
                <a:latin typeface="Arial MT"/>
                <a:cs typeface="Arial MT"/>
              </a:rPr>
              <a:t>hogares;</a:t>
            </a:r>
            <a:r>
              <a:rPr sz="1400" spc="200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hay</a:t>
            </a:r>
            <a:r>
              <a:rPr sz="1400" spc="225" dirty="0">
                <a:latin typeface="Arial MT"/>
                <a:cs typeface="Arial MT"/>
              </a:rPr>
              <a:t>  </a:t>
            </a:r>
            <a:r>
              <a:rPr sz="1400" spc="50" dirty="0">
                <a:latin typeface="Arial MT"/>
                <a:cs typeface="Arial MT"/>
              </a:rPr>
              <a:t>robots</a:t>
            </a:r>
            <a:r>
              <a:rPr sz="1400" spc="229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armando</a:t>
            </a:r>
            <a:r>
              <a:rPr sz="1400" spc="225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autos,</a:t>
            </a:r>
            <a:r>
              <a:rPr sz="1400" spc="160" dirty="0">
                <a:latin typeface="Arial MT"/>
                <a:cs typeface="Arial MT"/>
              </a:rPr>
              <a:t>  </a:t>
            </a:r>
            <a:r>
              <a:rPr sz="1400" spc="45" dirty="0">
                <a:latin typeface="Arial MT"/>
                <a:cs typeface="Arial MT"/>
              </a:rPr>
              <a:t>videojuegos,</a:t>
            </a:r>
            <a:r>
              <a:rPr sz="1400" spc="155" dirty="0">
                <a:latin typeface="Arial MT"/>
                <a:cs typeface="Arial MT"/>
              </a:rPr>
              <a:t>  </a:t>
            </a:r>
            <a:r>
              <a:rPr sz="1400" spc="40" dirty="0">
                <a:latin typeface="Arial MT"/>
                <a:cs typeface="Arial MT"/>
              </a:rPr>
              <a:t>computadoras </a:t>
            </a:r>
            <a:r>
              <a:rPr sz="1400" dirty="0">
                <a:latin typeface="Arial MT"/>
                <a:cs typeface="Arial MT"/>
              </a:rPr>
              <a:t>personales</a:t>
            </a:r>
            <a:r>
              <a:rPr sz="1400" spc="19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esto</a:t>
            </a:r>
            <a:r>
              <a:rPr sz="1400" spc="190" dirty="0">
                <a:latin typeface="Arial MT"/>
                <a:cs typeface="Arial MT"/>
              </a:rPr>
              <a:t> </a:t>
            </a:r>
            <a:r>
              <a:rPr sz="1400" spc="50" dirty="0">
                <a:latin typeface="Arial MT"/>
                <a:cs typeface="Arial MT"/>
              </a:rPr>
              <a:t>solo</a:t>
            </a:r>
            <a:r>
              <a:rPr sz="1400" spc="19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fue</a:t>
            </a:r>
            <a:r>
              <a:rPr sz="1400" spc="10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la</a:t>
            </a:r>
            <a:r>
              <a:rPr sz="1400" spc="10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entrada</a:t>
            </a:r>
            <a:r>
              <a:rPr sz="1400" spc="10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</a:t>
            </a:r>
            <a:r>
              <a:rPr sz="1400" spc="10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la</a:t>
            </a:r>
            <a:r>
              <a:rPr sz="1400" spc="100" dirty="0">
                <a:latin typeface="Arial MT"/>
                <a:cs typeface="Arial MT"/>
              </a:rPr>
              <a:t> </a:t>
            </a:r>
            <a:r>
              <a:rPr sz="1400" spc="60" dirty="0">
                <a:latin typeface="Arial MT"/>
                <a:cs typeface="Arial MT"/>
              </a:rPr>
              <a:t>industria</a:t>
            </a:r>
            <a:r>
              <a:rPr sz="1400" spc="10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4.0:</a:t>
            </a:r>
            <a:r>
              <a:rPr sz="1400" spc="1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el</a:t>
            </a:r>
            <a:r>
              <a:rPr sz="1400" spc="20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internet</a:t>
            </a:r>
            <a:r>
              <a:rPr sz="1400" spc="20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</a:t>
            </a:r>
            <a:r>
              <a:rPr sz="1400" spc="100" dirty="0">
                <a:latin typeface="Arial MT"/>
                <a:cs typeface="Arial MT"/>
              </a:rPr>
              <a:t> </a:t>
            </a:r>
            <a:r>
              <a:rPr sz="1400" spc="-25" dirty="0">
                <a:latin typeface="Arial MT"/>
                <a:cs typeface="Arial MT"/>
              </a:rPr>
              <a:t>las </a:t>
            </a:r>
            <a:r>
              <a:rPr sz="1400" dirty="0">
                <a:latin typeface="Arial MT"/>
                <a:cs typeface="Arial MT"/>
              </a:rPr>
              <a:t>cosas,</a:t>
            </a:r>
            <a:r>
              <a:rPr sz="1400" spc="10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los</a:t>
            </a:r>
            <a:r>
              <a:rPr sz="1400" spc="285" dirty="0">
                <a:latin typeface="Arial MT"/>
                <a:cs typeface="Arial MT"/>
              </a:rPr>
              <a:t> </a:t>
            </a:r>
            <a:r>
              <a:rPr sz="1400" spc="55" dirty="0">
                <a:latin typeface="Arial MT"/>
                <a:cs typeface="Arial MT"/>
              </a:rPr>
              <a:t>algoritmos</a:t>
            </a:r>
            <a:r>
              <a:rPr sz="1400" spc="28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</a:t>
            </a:r>
            <a:r>
              <a:rPr sz="1400" spc="190" dirty="0">
                <a:latin typeface="Arial MT"/>
                <a:cs typeface="Arial MT"/>
              </a:rPr>
              <a:t> </a:t>
            </a:r>
            <a:r>
              <a:rPr sz="1400" spc="45" dirty="0">
                <a:latin typeface="Arial MT"/>
                <a:cs typeface="Arial MT"/>
              </a:rPr>
              <a:t>programadores</a:t>
            </a:r>
            <a:r>
              <a:rPr sz="1400" spc="28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vs</a:t>
            </a:r>
            <a:r>
              <a:rPr sz="1400" spc="28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AI,</a:t>
            </a:r>
            <a:r>
              <a:rPr sz="1400" spc="10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teléfonos</a:t>
            </a:r>
            <a:r>
              <a:rPr sz="1400" spc="285" dirty="0">
                <a:latin typeface="Arial MT"/>
                <a:cs typeface="Arial MT"/>
              </a:rPr>
              <a:t> </a:t>
            </a:r>
            <a:r>
              <a:rPr sz="1400" spc="35" dirty="0">
                <a:latin typeface="Arial MT"/>
                <a:cs typeface="Arial MT"/>
              </a:rPr>
              <a:t>inteligentes, </a:t>
            </a:r>
            <a:r>
              <a:rPr sz="1400" spc="-10" dirty="0">
                <a:latin typeface="Arial MT"/>
                <a:cs typeface="Arial MT"/>
              </a:rPr>
              <a:t>ciberseguridad.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80C0906-B3F7-6867-9A1D-9E0E8E9E361C}"/>
              </a:ext>
            </a:extLst>
          </p:cNvPr>
          <p:cNvSpPr/>
          <p:nvPr/>
        </p:nvSpPr>
        <p:spPr>
          <a:xfrm>
            <a:off x="76200" y="6248400"/>
            <a:ext cx="1981200" cy="4577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52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95" dirty="0"/>
              <a:t>Componentes</a:t>
            </a:r>
            <a:r>
              <a:rPr spc="235" dirty="0"/>
              <a:t> </a:t>
            </a:r>
            <a:r>
              <a:rPr spc="80" dirty="0"/>
              <a:t>de</a:t>
            </a:r>
            <a:r>
              <a:rPr spc="30" dirty="0"/>
              <a:t> </a:t>
            </a:r>
            <a:r>
              <a:rPr spc="80" dirty="0"/>
              <a:t>la</a:t>
            </a:r>
            <a:r>
              <a:rPr spc="5" dirty="0"/>
              <a:t> </a:t>
            </a:r>
            <a:r>
              <a:rPr spc="140" dirty="0"/>
              <a:t>industria</a:t>
            </a:r>
            <a:r>
              <a:rPr spc="30" dirty="0"/>
              <a:t> </a:t>
            </a:r>
            <a:r>
              <a:rPr spc="-25" dirty="0"/>
              <a:t>4.0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2691" y="1192166"/>
            <a:ext cx="9103515" cy="499465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72773AD8-9C75-DECE-E501-0E42AE3BBD26}"/>
              </a:ext>
            </a:extLst>
          </p:cNvPr>
          <p:cNvSpPr/>
          <p:nvPr/>
        </p:nvSpPr>
        <p:spPr>
          <a:xfrm>
            <a:off x="76200" y="6248400"/>
            <a:ext cx="1981200" cy="4577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52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90" dirty="0"/>
              <a:t>Robots</a:t>
            </a:r>
            <a:r>
              <a:rPr spc="210" dirty="0"/>
              <a:t> </a:t>
            </a:r>
            <a:r>
              <a:rPr spc="120" dirty="0"/>
              <a:t>autónomos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384222"/>
            <a:ext cx="10806430" cy="6978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6870" marR="5080" indent="-344805" algn="just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6870" algn="l"/>
                <a:tab pos="359410" algn="l"/>
              </a:tabLst>
            </a:pPr>
            <a:r>
              <a:rPr sz="1600" dirty="0">
                <a:latin typeface="Arial"/>
                <a:cs typeface="Arial"/>
              </a:rPr>
              <a:t>	</a:t>
            </a:r>
            <a:r>
              <a:rPr sz="1600" b="1" dirty="0">
                <a:latin typeface="Arial"/>
                <a:cs typeface="Arial"/>
              </a:rPr>
              <a:t>A</a:t>
            </a:r>
            <a:r>
              <a:rPr sz="1400" b="1" dirty="0">
                <a:latin typeface="Arial"/>
                <a:cs typeface="Arial"/>
              </a:rPr>
              <a:t>nteriormente</a:t>
            </a:r>
            <a:r>
              <a:rPr sz="1400" b="1" spc="170" dirty="0">
                <a:latin typeface="Arial"/>
                <a:cs typeface="Arial"/>
              </a:rPr>
              <a:t> </a:t>
            </a:r>
            <a:r>
              <a:rPr sz="1400" dirty="0">
                <a:latin typeface="Arial MT"/>
                <a:cs typeface="Arial MT"/>
              </a:rPr>
              <a:t>los</a:t>
            </a:r>
            <a:r>
              <a:rPr sz="1400" spc="260" dirty="0">
                <a:latin typeface="Arial MT"/>
                <a:cs typeface="Arial MT"/>
              </a:rPr>
              <a:t> </a:t>
            </a:r>
            <a:r>
              <a:rPr sz="1400" spc="55" dirty="0">
                <a:latin typeface="Arial MT"/>
                <a:cs typeface="Arial MT"/>
              </a:rPr>
              <a:t>robots</a:t>
            </a:r>
            <a:r>
              <a:rPr sz="1400" spc="260" dirty="0">
                <a:latin typeface="Arial MT"/>
                <a:cs typeface="Arial MT"/>
              </a:rPr>
              <a:t> </a:t>
            </a:r>
            <a:r>
              <a:rPr sz="1400" spc="45" dirty="0">
                <a:latin typeface="Arial MT"/>
                <a:cs typeface="Arial MT"/>
              </a:rPr>
              <a:t>funcionaban</a:t>
            </a:r>
            <a:r>
              <a:rPr sz="1400" spc="254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con</a:t>
            </a:r>
            <a:r>
              <a:rPr sz="1400" spc="254" dirty="0">
                <a:latin typeface="Arial MT"/>
                <a:cs typeface="Arial MT"/>
              </a:rPr>
              <a:t> </a:t>
            </a:r>
            <a:r>
              <a:rPr sz="1400" spc="50" dirty="0">
                <a:latin typeface="Arial MT"/>
                <a:cs typeface="Arial MT"/>
              </a:rPr>
              <a:t>algoritmos</a:t>
            </a:r>
            <a:r>
              <a:rPr sz="1400" spc="2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creados</a:t>
            </a:r>
            <a:r>
              <a:rPr sz="1400" spc="2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por</a:t>
            </a:r>
            <a:r>
              <a:rPr sz="1400" spc="280" dirty="0">
                <a:latin typeface="Arial MT"/>
                <a:cs typeface="Arial MT"/>
              </a:rPr>
              <a:t> </a:t>
            </a:r>
            <a:r>
              <a:rPr sz="1400" spc="45" dirty="0">
                <a:latin typeface="Arial MT"/>
                <a:cs typeface="Arial MT"/>
              </a:rPr>
              <a:t>programadores,</a:t>
            </a:r>
            <a:r>
              <a:rPr sz="1400" spc="114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los</a:t>
            </a:r>
            <a:r>
              <a:rPr sz="1400" spc="2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cuales</a:t>
            </a:r>
            <a:r>
              <a:rPr sz="1400" spc="2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establecían</a:t>
            </a:r>
            <a:r>
              <a:rPr sz="1400" spc="254" dirty="0">
                <a:latin typeface="Arial MT"/>
                <a:cs typeface="Arial MT"/>
              </a:rPr>
              <a:t> </a:t>
            </a:r>
            <a:r>
              <a:rPr sz="1400" spc="50" dirty="0">
                <a:latin typeface="Arial MT"/>
                <a:cs typeface="Arial MT"/>
              </a:rPr>
              <a:t>los</a:t>
            </a:r>
            <a:r>
              <a:rPr sz="1400" spc="2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límites</a:t>
            </a:r>
            <a:r>
              <a:rPr sz="1400" spc="29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y</a:t>
            </a:r>
            <a:r>
              <a:rPr sz="1400" spc="260" dirty="0">
                <a:latin typeface="Arial MT"/>
                <a:cs typeface="Arial MT"/>
              </a:rPr>
              <a:t> </a:t>
            </a:r>
            <a:r>
              <a:rPr sz="1400" spc="-25" dirty="0">
                <a:latin typeface="Arial MT"/>
                <a:cs typeface="Arial MT"/>
              </a:rPr>
              <a:t>las </a:t>
            </a:r>
            <a:r>
              <a:rPr sz="1400" dirty="0">
                <a:latin typeface="Arial MT"/>
                <a:cs typeface="Arial MT"/>
              </a:rPr>
              <a:t>tareas</a:t>
            </a:r>
            <a:r>
              <a:rPr sz="1400" spc="155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que</a:t>
            </a:r>
            <a:r>
              <a:rPr sz="1400" spc="100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ejecutaba</a:t>
            </a:r>
            <a:r>
              <a:rPr sz="1400" spc="110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el</a:t>
            </a:r>
            <a:r>
              <a:rPr sz="1400" spc="145" dirty="0">
                <a:latin typeface="Arial MT"/>
                <a:cs typeface="Arial MT"/>
              </a:rPr>
              <a:t>  </a:t>
            </a:r>
            <a:r>
              <a:rPr sz="1400" spc="50" dirty="0">
                <a:latin typeface="Arial MT"/>
                <a:cs typeface="Arial MT"/>
              </a:rPr>
              <a:t>robot.</a:t>
            </a:r>
            <a:r>
              <a:rPr sz="1400" spc="90" dirty="0">
                <a:latin typeface="Arial MT"/>
                <a:cs typeface="Arial MT"/>
              </a:rPr>
              <a:t>  </a:t>
            </a:r>
            <a:r>
              <a:rPr sz="1400" spc="45" dirty="0">
                <a:latin typeface="Arial MT"/>
                <a:cs typeface="Arial MT"/>
              </a:rPr>
              <a:t>Actualmente</a:t>
            </a:r>
            <a:r>
              <a:rPr sz="1400" spc="110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los</a:t>
            </a:r>
            <a:r>
              <a:rPr sz="1400" spc="145" dirty="0">
                <a:latin typeface="Arial MT"/>
                <a:cs typeface="Arial MT"/>
              </a:rPr>
              <a:t>  </a:t>
            </a:r>
            <a:r>
              <a:rPr sz="1400" spc="55" dirty="0">
                <a:latin typeface="Arial MT"/>
                <a:cs typeface="Arial MT"/>
              </a:rPr>
              <a:t>robots</a:t>
            </a:r>
            <a:r>
              <a:rPr sz="1400" spc="145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son</a:t>
            </a:r>
            <a:r>
              <a:rPr sz="1400" spc="155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entrenados</a:t>
            </a:r>
            <a:r>
              <a:rPr sz="1400" spc="150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mediante</a:t>
            </a:r>
            <a:r>
              <a:rPr sz="1400" spc="110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Machine</a:t>
            </a:r>
            <a:r>
              <a:rPr sz="1400" spc="100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Learning</a:t>
            </a:r>
            <a:r>
              <a:rPr sz="1400" spc="150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y</a:t>
            </a:r>
            <a:r>
              <a:rPr sz="1400" spc="160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utilizan</a:t>
            </a:r>
            <a:r>
              <a:rPr sz="1400" spc="140" dirty="0">
                <a:latin typeface="Arial MT"/>
                <a:cs typeface="Arial MT"/>
              </a:rPr>
              <a:t>  </a:t>
            </a:r>
            <a:r>
              <a:rPr sz="1400" spc="-10" dirty="0">
                <a:latin typeface="Arial MT"/>
                <a:cs typeface="Arial MT"/>
              </a:rPr>
              <a:t>redes </a:t>
            </a:r>
            <a:r>
              <a:rPr sz="1400" spc="10" dirty="0">
                <a:latin typeface="Arial MT"/>
                <a:cs typeface="Arial MT"/>
              </a:rPr>
              <a:t>neuronales</a:t>
            </a:r>
            <a:r>
              <a:rPr sz="1400" spc="280" dirty="0">
                <a:latin typeface="Arial MT"/>
                <a:cs typeface="Arial MT"/>
              </a:rPr>
              <a:t> </a:t>
            </a:r>
            <a:r>
              <a:rPr sz="1400" spc="10" dirty="0">
                <a:latin typeface="Arial MT"/>
                <a:cs typeface="Arial MT"/>
              </a:rPr>
              <a:t>para</a:t>
            </a:r>
            <a:r>
              <a:rPr sz="1400" spc="114" dirty="0">
                <a:latin typeface="Arial MT"/>
                <a:cs typeface="Arial MT"/>
              </a:rPr>
              <a:t> </a:t>
            </a:r>
            <a:r>
              <a:rPr sz="1400" spc="10" dirty="0">
                <a:latin typeface="Arial MT"/>
                <a:cs typeface="Arial MT"/>
              </a:rPr>
              <a:t>tomar</a:t>
            </a:r>
            <a:r>
              <a:rPr sz="1400" spc="240" dirty="0">
                <a:latin typeface="Arial MT"/>
                <a:cs typeface="Arial MT"/>
              </a:rPr>
              <a:t> </a:t>
            </a:r>
            <a:r>
              <a:rPr sz="1400" spc="10" dirty="0">
                <a:latin typeface="Arial MT"/>
                <a:cs typeface="Arial MT"/>
              </a:rPr>
              <a:t>decisiones,</a:t>
            </a:r>
            <a:r>
              <a:rPr sz="1400" spc="120" dirty="0">
                <a:latin typeface="Arial MT"/>
                <a:cs typeface="Arial MT"/>
              </a:rPr>
              <a:t> </a:t>
            </a:r>
            <a:r>
              <a:rPr sz="1400" spc="10" dirty="0">
                <a:latin typeface="Arial MT"/>
                <a:cs typeface="Arial MT"/>
              </a:rPr>
              <a:t>y</a:t>
            </a:r>
            <a:r>
              <a:rPr sz="1400" spc="185" dirty="0">
                <a:latin typeface="Arial MT"/>
                <a:cs typeface="Arial MT"/>
              </a:rPr>
              <a:t> </a:t>
            </a:r>
            <a:r>
              <a:rPr sz="1400" spc="10" dirty="0">
                <a:latin typeface="Arial MT"/>
                <a:cs typeface="Arial MT"/>
              </a:rPr>
              <a:t>así</a:t>
            </a:r>
            <a:r>
              <a:rPr sz="1400" spc="125" dirty="0">
                <a:latin typeface="Arial MT"/>
                <a:cs typeface="Arial MT"/>
              </a:rPr>
              <a:t> </a:t>
            </a:r>
            <a:r>
              <a:rPr sz="1400" spc="10" dirty="0">
                <a:latin typeface="Arial MT"/>
                <a:cs typeface="Arial MT"/>
              </a:rPr>
              <a:t>ejecutar</a:t>
            </a:r>
            <a:r>
              <a:rPr sz="1400" spc="270" dirty="0">
                <a:latin typeface="Arial MT"/>
                <a:cs typeface="Arial MT"/>
              </a:rPr>
              <a:t> </a:t>
            </a:r>
            <a:r>
              <a:rPr sz="1400" spc="10" dirty="0">
                <a:latin typeface="Arial MT"/>
                <a:cs typeface="Arial MT"/>
              </a:rPr>
              <a:t>tareas</a:t>
            </a:r>
            <a:r>
              <a:rPr sz="1400" spc="240" dirty="0">
                <a:latin typeface="Arial MT"/>
                <a:cs typeface="Arial MT"/>
              </a:rPr>
              <a:t> </a:t>
            </a:r>
            <a:r>
              <a:rPr sz="1400" spc="10" dirty="0">
                <a:latin typeface="Arial MT"/>
                <a:cs typeface="Arial MT"/>
              </a:rPr>
              <a:t>más</a:t>
            </a:r>
            <a:r>
              <a:rPr sz="1400" spc="220" dirty="0">
                <a:latin typeface="Arial MT"/>
                <a:cs typeface="Arial MT"/>
              </a:rPr>
              <a:t> </a:t>
            </a:r>
            <a:r>
              <a:rPr sz="1400" spc="10" dirty="0">
                <a:latin typeface="Arial MT"/>
                <a:cs typeface="Arial MT"/>
              </a:rPr>
              <a:t>eficientes</a:t>
            </a:r>
            <a:r>
              <a:rPr sz="1400" spc="275" dirty="0">
                <a:latin typeface="Arial MT"/>
                <a:cs typeface="Arial MT"/>
              </a:rPr>
              <a:t> </a:t>
            </a:r>
            <a:r>
              <a:rPr sz="1400" spc="10" dirty="0">
                <a:latin typeface="Arial MT"/>
                <a:cs typeface="Arial MT"/>
              </a:rPr>
              <a:t>y</a:t>
            </a:r>
            <a:r>
              <a:rPr sz="1400" spc="185" dirty="0">
                <a:latin typeface="Arial MT"/>
                <a:cs typeface="Arial MT"/>
              </a:rPr>
              <a:t> </a:t>
            </a:r>
            <a:r>
              <a:rPr sz="1400" spc="10" dirty="0">
                <a:latin typeface="Arial MT"/>
                <a:cs typeface="Arial MT"/>
              </a:rPr>
              <a:t>de</a:t>
            </a:r>
            <a:r>
              <a:rPr sz="1400" spc="120" dirty="0">
                <a:latin typeface="Arial MT"/>
                <a:cs typeface="Arial MT"/>
              </a:rPr>
              <a:t> </a:t>
            </a:r>
            <a:r>
              <a:rPr sz="1400" spc="10" dirty="0">
                <a:latin typeface="Arial MT"/>
                <a:cs typeface="Arial MT"/>
              </a:rPr>
              <a:t>forma</a:t>
            </a:r>
            <a:r>
              <a:rPr sz="1400" spc="114" dirty="0">
                <a:latin typeface="Arial MT"/>
                <a:cs typeface="Arial MT"/>
              </a:rPr>
              <a:t> </a:t>
            </a:r>
            <a:r>
              <a:rPr sz="1400" spc="10" dirty="0">
                <a:latin typeface="Arial MT"/>
                <a:cs typeface="Arial MT"/>
              </a:rPr>
              <a:t>completamente</a:t>
            </a:r>
            <a:r>
              <a:rPr sz="1400" spc="204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autónoma.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96456" y="2874264"/>
            <a:ext cx="4721351" cy="265480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02176" y="2853889"/>
            <a:ext cx="3852915" cy="2793322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B0C0E7F7-1861-39C2-981C-55772F6697E1}"/>
              </a:ext>
            </a:extLst>
          </p:cNvPr>
          <p:cNvSpPr/>
          <p:nvPr/>
        </p:nvSpPr>
        <p:spPr>
          <a:xfrm>
            <a:off x="76200" y="6248400"/>
            <a:ext cx="1981200" cy="4577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52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70" dirty="0"/>
              <a:t>Sistemas</a:t>
            </a:r>
            <a:r>
              <a:rPr spc="235" dirty="0"/>
              <a:t> </a:t>
            </a:r>
            <a:r>
              <a:rPr spc="114" dirty="0"/>
              <a:t>integrados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384222"/>
            <a:ext cx="10811510" cy="6978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6235" marR="5080" indent="-344170" algn="just">
              <a:lnSpc>
                <a:spcPct val="100000"/>
              </a:lnSpc>
              <a:spcBef>
                <a:spcPts val="105"/>
              </a:spcBef>
              <a:buChar char="•"/>
              <a:tabLst>
                <a:tab pos="356235" algn="l"/>
                <a:tab pos="359410" algn="l"/>
              </a:tabLst>
            </a:pPr>
            <a:r>
              <a:rPr sz="1600" dirty="0">
                <a:latin typeface="Arial MT"/>
                <a:cs typeface="Arial MT"/>
              </a:rPr>
              <a:t>	E</a:t>
            </a:r>
            <a:r>
              <a:rPr sz="1400" dirty="0">
                <a:latin typeface="Arial MT"/>
                <a:cs typeface="Arial MT"/>
              </a:rPr>
              <a:t>n</a:t>
            </a:r>
            <a:r>
              <a:rPr sz="1400" spc="2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la</a:t>
            </a:r>
            <a:r>
              <a:rPr sz="1400" spc="16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actualidad</a:t>
            </a:r>
            <a:r>
              <a:rPr sz="1400" spc="28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la</a:t>
            </a:r>
            <a:r>
              <a:rPr sz="1400" spc="195" dirty="0">
                <a:latin typeface="Arial MT"/>
                <a:cs typeface="Arial MT"/>
              </a:rPr>
              <a:t> </a:t>
            </a:r>
            <a:r>
              <a:rPr sz="1400" spc="45" dirty="0">
                <a:latin typeface="Arial MT"/>
                <a:cs typeface="Arial MT"/>
              </a:rPr>
              <a:t>integración</a:t>
            </a:r>
            <a:r>
              <a:rPr sz="1400" spc="28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</a:t>
            </a:r>
            <a:r>
              <a:rPr sz="1400" spc="19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los</a:t>
            </a:r>
            <a:r>
              <a:rPr sz="1400" spc="26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sistemas</a:t>
            </a:r>
            <a:r>
              <a:rPr sz="1400" spc="29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es</a:t>
            </a:r>
            <a:r>
              <a:rPr sz="1400" spc="29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fundamental</a:t>
            </a:r>
            <a:r>
              <a:rPr sz="1400" spc="30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para</a:t>
            </a:r>
            <a:r>
              <a:rPr sz="1400" spc="19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la</a:t>
            </a:r>
            <a:r>
              <a:rPr sz="1400" spc="190" dirty="0">
                <a:latin typeface="Arial MT"/>
                <a:cs typeface="Arial MT"/>
              </a:rPr>
              <a:t> </a:t>
            </a:r>
            <a:r>
              <a:rPr sz="1400" spc="50" dirty="0">
                <a:latin typeface="Arial MT"/>
                <a:cs typeface="Arial MT"/>
              </a:rPr>
              <a:t>toma</a:t>
            </a:r>
            <a:r>
              <a:rPr sz="1400" spc="19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</a:t>
            </a:r>
            <a:r>
              <a:rPr sz="1400" spc="19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decisiones</a:t>
            </a:r>
            <a:r>
              <a:rPr sz="1400" spc="27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en</a:t>
            </a:r>
            <a:r>
              <a:rPr sz="1400" spc="28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tiempo</a:t>
            </a:r>
            <a:r>
              <a:rPr sz="1400" spc="28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real.</a:t>
            </a:r>
            <a:r>
              <a:rPr sz="1400" spc="1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Por</a:t>
            </a:r>
            <a:r>
              <a:rPr sz="1400" spc="28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ejemplo:</a:t>
            </a:r>
            <a:r>
              <a:rPr sz="1400" spc="195" dirty="0">
                <a:latin typeface="Arial MT"/>
                <a:cs typeface="Arial MT"/>
              </a:rPr>
              <a:t> </a:t>
            </a:r>
            <a:r>
              <a:rPr sz="1400" spc="40" dirty="0">
                <a:latin typeface="Arial MT"/>
                <a:cs typeface="Arial MT"/>
              </a:rPr>
              <a:t>los </a:t>
            </a:r>
            <a:r>
              <a:rPr sz="1400" dirty="0">
                <a:latin typeface="Arial MT"/>
                <a:cs typeface="Arial MT"/>
              </a:rPr>
              <a:t>sistemas</a:t>
            </a:r>
            <a:r>
              <a:rPr sz="1400" spc="160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de</a:t>
            </a:r>
            <a:r>
              <a:rPr sz="1400" spc="100" dirty="0">
                <a:latin typeface="Arial MT"/>
                <a:cs typeface="Arial MT"/>
              </a:rPr>
              <a:t>  </a:t>
            </a:r>
            <a:r>
              <a:rPr sz="1400" spc="50" dirty="0">
                <a:latin typeface="Arial MT"/>
                <a:cs typeface="Arial MT"/>
              </a:rPr>
              <a:t>gestión</a:t>
            </a:r>
            <a:r>
              <a:rPr sz="1400" spc="145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envían</a:t>
            </a:r>
            <a:r>
              <a:rPr sz="1400" spc="145" dirty="0">
                <a:latin typeface="Arial MT"/>
                <a:cs typeface="Arial MT"/>
              </a:rPr>
              <a:t>  </a:t>
            </a:r>
            <a:r>
              <a:rPr sz="1400" spc="55" dirty="0">
                <a:latin typeface="Arial MT"/>
                <a:cs typeface="Arial MT"/>
              </a:rPr>
              <a:t>información</a:t>
            </a:r>
            <a:r>
              <a:rPr sz="1400" spc="145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a</a:t>
            </a:r>
            <a:r>
              <a:rPr sz="1400" spc="105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los</a:t>
            </a:r>
            <a:r>
              <a:rPr sz="1400" spc="160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sistemas</a:t>
            </a:r>
            <a:r>
              <a:rPr sz="1400" spc="165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de</a:t>
            </a:r>
            <a:r>
              <a:rPr sz="1400" spc="114" dirty="0">
                <a:latin typeface="Arial MT"/>
                <a:cs typeface="Arial MT"/>
              </a:rPr>
              <a:t>  </a:t>
            </a:r>
            <a:r>
              <a:rPr sz="1400" spc="55" dirty="0">
                <a:latin typeface="Arial MT"/>
                <a:cs typeface="Arial MT"/>
              </a:rPr>
              <a:t>producción,</a:t>
            </a:r>
            <a:r>
              <a:rPr sz="1400" spc="80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los</a:t>
            </a:r>
            <a:r>
              <a:rPr sz="1400" spc="165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cuales</a:t>
            </a:r>
            <a:r>
              <a:rPr sz="1400" spc="145" dirty="0">
                <a:latin typeface="Arial MT"/>
                <a:cs typeface="Arial MT"/>
              </a:rPr>
              <a:t>  </a:t>
            </a:r>
            <a:r>
              <a:rPr sz="1400" spc="50" dirty="0">
                <a:latin typeface="Arial MT"/>
                <a:cs typeface="Arial MT"/>
              </a:rPr>
              <a:t>solo</a:t>
            </a:r>
            <a:r>
              <a:rPr sz="1400" spc="160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fabrican</a:t>
            </a:r>
            <a:r>
              <a:rPr sz="1400" spc="145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los</a:t>
            </a:r>
            <a:r>
              <a:rPr sz="1400" spc="160" dirty="0">
                <a:latin typeface="Arial MT"/>
                <a:cs typeface="Arial MT"/>
              </a:rPr>
              <a:t>  </a:t>
            </a:r>
            <a:r>
              <a:rPr sz="1400" spc="35" dirty="0">
                <a:latin typeface="Arial MT"/>
                <a:cs typeface="Arial MT"/>
              </a:rPr>
              <a:t>componentes </a:t>
            </a:r>
            <a:r>
              <a:rPr sz="1400" dirty="0">
                <a:latin typeface="Arial MT"/>
                <a:cs typeface="Arial MT"/>
              </a:rPr>
              <a:t>necesarios</a:t>
            </a:r>
            <a:r>
              <a:rPr sz="1400" spc="3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y</a:t>
            </a:r>
            <a:r>
              <a:rPr sz="1400" spc="2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personalizados</a:t>
            </a:r>
            <a:r>
              <a:rPr sz="1400" spc="39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</a:t>
            </a:r>
            <a:r>
              <a:rPr sz="1400" spc="17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acuerdo</a:t>
            </a:r>
            <a:r>
              <a:rPr sz="1400" spc="30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</a:t>
            </a:r>
            <a:r>
              <a:rPr sz="1400" spc="17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la</a:t>
            </a:r>
            <a:r>
              <a:rPr sz="1400" spc="1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demanda</a:t>
            </a:r>
            <a:r>
              <a:rPr sz="1400" spc="2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(inventario</a:t>
            </a:r>
            <a:r>
              <a:rPr sz="1400" spc="300" dirty="0">
                <a:latin typeface="Arial MT"/>
                <a:cs typeface="Arial MT"/>
              </a:rPr>
              <a:t> </a:t>
            </a:r>
            <a:r>
              <a:rPr sz="1400" spc="-25" dirty="0">
                <a:latin typeface="Arial MT"/>
                <a:cs typeface="Arial MT"/>
              </a:rPr>
              <a:t>0).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50079" y="4660391"/>
            <a:ext cx="2276855" cy="132892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3544" y="2602992"/>
            <a:ext cx="2103119" cy="131673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141207" y="2465832"/>
            <a:ext cx="1935479" cy="1469135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3328415" y="3523488"/>
            <a:ext cx="1972310" cy="1000125"/>
            <a:chOff x="3328415" y="3523488"/>
            <a:chExt cx="1972310" cy="1000125"/>
          </a:xfrm>
        </p:grpSpPr>
        <p:sp>
          <p:nvSpPr>
            <p:cNvPr id="8" name="object 8"/>
            <p:cNvSpPr/>
            <p:nvPr/>
          </p:nvSpPr>
          <p:spPr>
            <a:xfrm>
              <a:off x="3340607" y="3535680"/>
              <a:ext cx="1948180" cy="975360"/>
            </a:xfrm>
            <a:custGeom>
              <a:avLst/>
              <a:gdLst/>
              <a:ahLst/>
              <a:cxnLst/>
              <a:rect l="l" t="t" r="r" b="b"/>
              <a:pathLst>
                <a:path w="1948179" h="975360">
                  <a:moveTo>
                    <a:pt x="1825752" y="0"/>
                  </a:moveTo>
                  <a:lnTo>
                    <a:pt x="0" y="0"/>
                  </a:lnTo>
                  <a:lnTo>
                    <a:pt x="0" y="243840"/>
                  </a:lnTo>
                  <a:lnTo>
                    <a:pt x="1581912" y="243840"/>
                  </a:lnTo>
                  <a:lnTo>
                    <a:pt x="1581912" y="731520"/>
                  </a:lnTo>
                  <a:lnTo>
                    <a:pt x="1459992" y="731520"/>
                  </a:lnTo>
                  <a:lnTo>
                    <a:pt x="1703832" y="975360"/>
                  </a:lnTo>
                  <a:lnTo>
                    <a:pt x="1947672" y="731520"/>
                  </a:lnTo>
                  <a:lnTo>
                    <a:pt x="1825752" y="731520"/>
                  </a:lnTo>
                  <a:lnTo>
                    <a:pt x="1825752" y="0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340607" y="3535680"/>
              <a:ext cx="1948180" cy="975360"/>
            </a:xfrm>
            <a:custGeom>
              <a:avLst/>
              <a:gdLst/>
              <a:ahLst/>
              <a:cxnLst/>
              <a:rect l="l" t="t" r="r" b="b"/>
              <a:pathLst>
                <a:path w="1948179" h="975360">
                  <a:moveTo>
                    <a:pt x="0" y="243840"/>
                  </a:moveTo>
                  <a:lnTo>
                    <a:pt x="1581912" y="243840"/>
                  </a:lnTo>
                  <a:lnTo>
                    <a:pt x="1581912" y="731520"/>
                  </a:lnTo>
                  <a:lnTo>
                    <a:pt x="1459992" y="731520"/>
                  </a:lnTo>
                  <a:lnTo>
                    <a:pt x="1703832" y="975360"/>
                  </a:lnTo>
                  <a:lnTo>
                    <a:pt x="1947672" y="731520"/>
                  </a:lnTo>
                  <a:lnTo>
                    <a:pt x="1825752" y="731520"/>
                  </a:lnTo>
                  <a:lnTo>
                    <a:pt x="1825752" y="0"/>
                  </a:lnTo>
                  <a:lnTo>
                    <a:pt x="0" y="0"/>
                  </a:lnTo>
                  <a:lnTo>
                    <a:pt x="0" y="243840"/>
                  </a:lnTo>
                  <a:close/>
                </a:path>
              </a:pathLst>
            </a:custGeom>
            <a:ln w="24384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6132574" y="3352800"/>
            <a:ext cx="1716405" cy="978535"/>
            <a:chOff x="6132574" y="3352800"/>
            <a:chExt cx="1716405" cy="978535"/>
          </a:xfrm>
        </p:grpSpPr>
        <p:sp>
          <p:nvSpPr>
            <p:cNvPr id="11" name="object 11"/>
            <p:cNvSpPr/>
            <p:nvPr/>
          </p:nvSpPr>
          <p:spPr>
            <a:xfrm>
              <a:off x="6144766" y="3364991"/>
              <a:ext cx="1691639" cy="954405"/>
            </a:xfrm>
            <a:custGeom>
              <a:avLst/>
              <a:gdLst/>
              <a:ahLst/>
              <a:cxnLst/>
              <a:rect l="l" t="t" r="r" b="b"/>
              <a:pathLst>
                <a:path w="1691640" h="954404">
                  <a:moveTo>
                    <a:pt x="1453134" y="0"/>
                  </a:moveTo>
                  <a:lnTo>
                    <a:pt x="1453134" y="209384"/>
                  </a:lnTo>
                  <a:lnTo>
                    <a:pt x="0" y="209384"/>
                  </a:lnTo>
                  <a:lnTo>
                    <a:pt x="0" y="954023"/>
                  </a:lnTo>
                  <a:lnTo>
                    <a:pt x="238506" y="954023"/>
                  </a:lnTo>
                  <a:lnTo>
                    <a:pt x="238506" y="447890"/>
                  </a:lnTo>
                  <a:lnTo>
                    <a:pt x="1453134" y="447890"/>
                  </a:lnTo>
                  <a:lnTo>
                    <a:pt x="1453134" y="657263"/>
                  </a:lnTo>
                  <a:lnTo>
                    <a:pt x="1691640" y="328637"/>
                  </a:lnTo>
                  <a:lnTo>
                    <a:pt x="1453134" y="0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144766" y="3364991"/>
              <a:ext cx="1691639" cy="954405"/>
            </a:xfrm>
            <a:custGeom>
              <a:avLst/>
              <a:gdLst/>
              <a:ahLst/>
              <a:cxnLst/>
              <a:rect l="l" t="t" r="r" b="b"/>
              <a:pathLst>
                <a:path w="1691640" h="954404">
                  <a:moveTo>
                    <a:pt x="238506" y="954023"/>
                  </a:moveTo>
                  <a:lnTo>
                    <a:pt x="238506" y="447890"/>
                  </a:lnTo>
                  <a:lnTo>
                    <a:pt x="1453134" y="447890"/>
                  </a:lnTo>
                  <a:lnTo>
                    <a:pt x="1453134" y="657263"/>
                  </a:lnTo>
                  <a:lnTo>
                    <a:pt x="1691640" y="328637"/>
                  </a:lnTo>
                  <a:lnTo>
                    <a:pt x="1453134" y="0"/>
                  </a:lnTo>
                  <a:lnTo>
                    <a:pt x="1453134" y="209384"/>
                  </a:lnTo>
                  <a:lnTo>
                    <a:pt x="0" y="209384"/>
                  </a:lnTo>
                  <a:lnTo>
                    <a:pt x="0" y="954023"/>
                  </a:lnTo>
                  <a:lnTo>
                    <a:pt x="238506" y="954023"/>
                  </a:lnTo>
                  <a:close/>
                </a:path>
              </a:pathLst>
            </a:custGeom>
            <a:ln w="24384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EE2E83D-D2C1-8EF9-C36D-84628C7A89AA}"/>
              </a:ext>
            </a:extLst>
          </p:cNvPr>
          <p:cNvSpPr/>
          <p:nvPr/>
        </p:nvSpPr>
        <p:spPr>
          <a:xfrm>
            <a:off x="76200" y="6248400"/>
            <a:ext cx="1981200" cy="4577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52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75" dirty="0"/>
              <a:t>Internet</a:t>
            </a:r>
            <a:r>
              <a:rPr spc="250" dirty="0"/>
              <a:t> </a:t>
            </a:r>
            <a:r>
              <a:rPr spc="80" dirty="0"/>
              <a:t>de</a:t>
            </a:r>
            <a:r>
              <a:rPr spc="50" dirty="0"/>
              <a:t> </a:t>
            </a:r>
            <a:r>
              <a:rPr dirty="0"/>
              <a:t>las</a:t>
            </a:r>
            <a:r>
              <a:rPr spc="235" dirty="0"/>
              <a:t> </a:t>
            </a:r>
            <a:r>
              <a:rPr spc="70" dirty="0"/>
              <a:t>cosas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384222"/>
            <a:ext cx="10584815" cy="6978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6870" marR="5080" indent="-344805" algn="just">
              <a:lnSpc>
                <a:spcPct val="100000"/>
              </a:lnSpc>
              <a:spcBef>
                <a:spcPts val="105"/>
              </a:spcBef>
              <a:buChar char="•"/>
              <a:tabLst>
                <a:tab pos="356870" algn="l"/>
                <a:tab pos="359410" algn="l"/>
              </a:tabLst>
            </a:pPr>
            <a:r>
              <a:rPr sz="1600" dirty="0">
                <a:latin typeface="Arial MT"/>
                <a:cs typeface="Arial MT"/>
              </a:rPr>
              <a:t>	C</a:t>
            </a:r>
            <a:r>
              <a:rPr sz="1400" dirty="0">
                <a:latin typeface="Arial MT"/>
                <a:cs typeface="Arial MT"/>
              </a:rPr>
              <a:t>omo</a:t>
            </a:r>
            <a:r>
              <a:rPr sz="1400" spc="2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el</a:t>
            </a:r>
            <a:r>
              <a:rPr sz="1400" spc="245" dirty="0">
                <a:latin typeface="Arial MT"/>
                <a:cs typeface="Arial MT"/>
              </a:rPr>
              <a:t> </a:t>
            </a:r>
            <a:r>
              <a:rPr sz="1400" spc="55" dirty="0">
                <a:latin typeface="Arial MT"/>
                <a:cs typeface="Arial MT"/>
              </a:rPr>
              <a:t>nombre</a:t>
            </a:r>
            <a:r>
              <a:rPr sz="1400" spc="1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lo</a:t>
            </a:r>
            <a:r>
              <a:rPr sz="1400" spc="229" dirty="0">
                <a:latin typeface="Arial MT"/>
                <a:cs typeface="Arial MT"/>
              </a:rPr>
              <a:t> </a:t>
            </a:r>
            <a:r>
              <a:rPr sz="1400" spc="45" dirty="0">
                <a:latin typeface="Arial MT"/>
                <a:cs typeface="Arial MT"/>
              </a:rPr>
              <a:t>indica,</a:t>
            </a:r>
            <a:r>
              <a:rPr sz="1400" spc="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hoy</a:t>
            </a:r>
            <a:r>
              <a:rPr sz="1400" spc="2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en</a:t>
            </a:r>
            <a:r>
              <a:rPr sz="1400" spc="2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día</a:t>
            </a:r>
            <a:r>
              <a:rPr sz="1400" spc="114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todo</a:t>
            </a:r>
            <a:r>
              <a:rPr sz="1400" spc="2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se</a:t>
            </a:r>
            <a:r>
              <a:rPr sz="1400" spc="1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puede</a:t>
            </a:r>
            <a:r>
              <a:rPr sz="1400" spc="1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conectar</a:t>
            </a:r>
            <a:r>
              <a:rPr sz="1400" spc="2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</a:t>
            </a:r>
            <a:r>
              <a:rPr sz="1400" spc="1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internet:</a:t>
            </a:r>
            <a:r>
              <a:rPr sz="1400" spc="17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desde</a:t>
            </a:r>
            <a:r>
              <a:rPr sz="1400" spc="1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la</a:t>
            </a:r>
            <a:r>
              <a:rPr sz="1400" spc="1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cafetera</a:t>
            </a:r>
            <a:r>
              <a:rPr sz="1400" spc="1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hasta</a:t>
            </a:r>
            <a:r>
              <a:rPr sz="1400" spc="1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las</a:t>
            </a:r>
            <a:r>
              <a:rPr sz="1400" spc="2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luces</a:t>
            </a:r>
            <a:r>
              <a:rPr sz="1400" spc="26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</a:t>
            </a:r>
            <a:r>
              <a:rPr sz="1400" spc="1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la</a:t>
            </a:r>
            <a:r>
              <a:rPr sz="1400" spc="1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casa,</a:t>
            </a:r>
            <a:r>
              <a:rPr sz="1400" spc="85" dirty="0">
                <a:latin typeface="Arial MT"/>
                <a:cs typeface="Arial MT"/>
              </a:rPr>
              <a:t> </a:t>
            </a:r>
            <a:r>
              <a:rPr sz="1400" spc="-25" dirty="0">
                <a:latin typeface="Arial MT"/>
                <a:cs typeface="Arial MT"/>
              </a:rPr>
              <a:t>los </a:t>
            </a:r>
            <a:r>
              <a:rPr sz="1400" dirty="0">
                <a:latin typeface="Arial MT"/>
                <a:cs typeface="Arial MT"/>
              </a:rPr>
              <a:t>juguetes</a:t>
            </a:r>
            <a:r>
              <a:rPr sz="1400" spc="4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y</a:t>
            </a:r>
            <a:r>
              <a:rPr sz="1400" spc="4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los</a:t>
            </a:r>
            <a:r>
              <a:rPr sz="1400" spc="475" dirty="0">
                <a:latin typeface="Arial MT"/>
                <a:cs typeface="Arial MT"/>
              </a:rPr>
              <a:t> </a:t>
            </a:r>
            <a:r>
              <a:rPr sz="1400" spc="50" dirty="0">
                <a:latin typeface="Arial MT"/>
                <a:cs typeface="Arial MT"/>
              </a:rPr>
              <a:t>periféricos.</a:t>
            </a:r>
            <a:r>
              <a:rPr sz="1400" spc="3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Todos</a:t>
            </a:r>
            <a:r>
              <a:rPr sz="1400" spc="4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estos</a:t>
            </a:r>
            <a:r>
              <a:rPr sz="1400" spc="480" dirty="0">
                <a:latin typeface="Arial MT"/>
                <a:cs typeface="Arial MT"/>
              </a:rPr>
              <a:t> </a:t>
            </a:r>
            <a:r>
              <a:rPr sz="1400" spc="55" dirty="0">
                <a:latin typeface="Arial MT"/>
                <a:cs typeface="Arial MT"/>
              </a:rPr>
              <a:t>dispositivos</a:t>
            </a:r>
            <a:r>
              <a:rPr sz="1400" spc="4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están</a:t>
            </a:r>
            <a:r>
              <a:rPr sz="1400" spc="46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enviando</a:t>
            </a:r>
            <a:r>
              <a:rPr sz="1400" spc="445" dirty="0">
                <a:latin typeface="Arial MT"/>
                <a:cs typeface="Arial MT"/>
              </a:rPr>
              <a:t> </a:t>
            </a:r>
            <a:r>
              <a:rPr sz="1400" spc="50" dirty="0">
                <a:latin typeface="Arial MT"/>
                <a:cs typeface="Arial MT"/>
              </a:rPr>
              <a:t>información</a:t>
            </a:r>
            <a:r>
              <a:rPr sz="1400" spc="4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</a:t>
            </a:r>
            <a:r>
              <a:rPr sz="1400" spc="3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los</a:t>
            </a:r>
            <a:r>
              <a:rPr sz="1400" spc="4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fabricantes,</a:t>
            </a:r>
            <a:r>
              <a:rPr sz="1400" spc="30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la</a:t>
            </a:r>
            <a:r>
              <a:rPr sz="1400" spc="3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cual</a:t>
            </a:r>
            <a:r>
              <a:rPr sz="1400" spc="480" dirty="0">
                <a:latin typeface="Arial MT"/>
                <a:cs typeface="Arial MT"/>
              </a:rPr>
              <a:t> </a:t>
            </a:r>
            <a:r>
              <a:rPr sz="1400" spc="55" dirty="0">
                <a:latin typeface="Arial MT"/>
                <a:cs typeface="Arial MT"/>
              </a:rPr>
              <a:t>sirve</a:t>
            </a:r>
            <a:r>
              <a:rPr sz="1400" spc="355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para </a:t>
            </a:r>
            <a:r>
              <a:rPr sz="1400" spc="20" dirty="0">
                <a:latin typeface="Arial MT"/>
                <a:cs typeface="Arial MT"/>
              </a:rPr>
              <a:t>retroalimentarse</a:t>
            </a:r>
            <a:r>
              <a:rPr sz="1400" spc="114" dirty="0">
                <a:latin typeface="Arial MT"/>
                <a:cs typeface="Arial MT"/>
              </a:rPr>
              <a:t> </a:t>
            </a:r>
            <a:r>
              <a:rPr sz="1400" spc="20" dirty="0">
                <a:latin typeface="Arial MT"/>
                <a:cs typeface="Arial MT"/>
              </a:rPr>
              <a:t>y</a:t>
            </a:r>
            <a:r>
              <a:rPr sz="1400" spc="155" dirty="0">
                <a:latin typeface="Arial MT"/>
                <a:cs typeface="Arial MT"/>
              </a:rPr>
              <a:t> </a:t>
            </a:r>
            <a:r>
              <a:rPr sz="1400" spc="20" dirty="0">
                <a:latin typeface="Arial MT"/>
                <a:cs typeface="Arial MT"/>
              </a:rPr>
              <a:t>ofrecer</a:t>
            </a:r>
            <a:r>
              <a:rPr sz="1400" spc="175" dirty="0">
                <a:latin typeface="Arial MT"/>
                <a:cs typeface="Arial MT"/>
              </a:rPr>
              <a:t> </a:t>
            </a:r>
            <a:r>
              <a:rPr sz="1400" spc="50" dirty="0">
                <a:latin typeface="Arial MT"/>
                <a:cs typeface="Arial MT"/>
              </a:rPr>
              <a:t>servicios</a:t>
            </a:r>
            <a:r>
              <a:rPr sz="1400" spc="180" dirty="0">
                <a:latin typeface="Arial MT"/>
                <a:cs typeface="Arial MT"/>
              </a:rPr>
              <a:t> </a:t>
            </a:r>
            <a:r>
              <a:rPr sz="1400" spc="20" dirty="0">
                <a:latin typeface="Arial MT"/>
                <a:cs typeface="Arial MT"/>
              </a:rPr>
              <a:t>más</a:t>
            </a:r>
            <a:r>
              <a:rPr sz="1400" spc="155" dirty="0">
                <a:latin typeface="Arial MT"/>
                <a:cs typeface="Arial MT"/>
              </a:rPr>
              <a:t> </a:t>
            </a:r>
            <a:r>
              <a:rPr sz="1400" spc="20" dirty="0">
                <a:latin typeface="Arial MT"/>
                <a:cs typeface="Arial MT"/>
              </a:rPr>
              <a:t>a</a:t>
            </a:r>
            <a:r>
              <a:rPr sz="1400" spc="40" dirty="0">
                <a:latin typeface="Arial MT"/>
                <a:cs typeface="Arial MT"/>
              </a:rPr>
              <a:t> </a:t>
            </a:r>
            <a:r>
              <a:rPr sz="1400" spc="20" dirty="0">
                <a:latin typeface="Arial MT"/>
                <a:cs typeface="Arial MT"/>
              </a:rPr>
              <a:t>la</a:t>
            </a:r>
            <a:r>
              <a:rPr sz="1400" spc="65" dirty="0">
                <a:latin typeface="Arial MT"/>
                <a:cs typeface="Arial MT"/>
              </a:rPr>
              <a:t> </a:t>
            </a:r>
            <a:r>
              <a:rPr sz="1400" spc="20" dirty="0">
                <a:latin typeface="Arial MT"/>
                <a:cs typeface="Arial MT"/>
              </a:rPr>
              <a:t>medida,</a:t>
            </a:r>
            <a:r>
              <a:rPr sz="1400" spc="45" dirty="0">
                <a:latin typeface="Arial MT"/>
                <a:cs typeface="Arial MT"/>
              </a:rPr>
              <a:t> </a:t>
            </a:r>
            <a:r>
              <a:rPr sz="1400" spc="20" dirty="0">
                <a:latin typeface="Arial MT"/>
                <a:cs typeface="Arial MT"/>
              </a:rPr>
              <a:t>entre</a:t>
            </a:r>
            <a:r>
              <a:rPr sz="1400" spc="65" dirty="0">
                <a:latin typeface="Arial MT"/>
                <a:cs typeface="Arial MT"/>
              </a:rPr>
              <a:t> </a:t>
            </a:r>
            <a:r>
              <a:rPr sz="1400" spc="20" dirty="0">
                <a:latin typeface="Arial MT"/>
                <a:cs typeface="Arial MT"/>
              </a:rPr>
              <a:t>otras</a:t>
            </a:r>
            <a:r>
              <a:rPr sz="1400" spc="15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cosas.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9468" y="3265795"/>
            <a:ext cx="2474853" cy="224460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47944" y="2788920"/>
            <a:ext cx="1289303" cy="12953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67328" y="2724911"/>
            <a:ext cx="1350263" cy="132283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98664" y="2788920"/>
            <a:ext cx="1362455" cy="135331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016710" y="4409957"/>
            <a:ext cx="6857365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E46C0A"/>
                </a:solidFill>
                <a:latin typeface="Calibri"/>
                <a:cs typeface="Calibri"/>
              </a:rPr>
              <a:t>Como</a:t>
            </a:r>
            <a:r>
              <a:rPr sz="2400" spc="70" dirty="0">
                <a:solidFill>
                  <a:srgbClr val="E46C0A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E46C0A"/>
                </a:solidFill>
                <a:latin typeface="Calibri"/>
                <a:cs typeface="Calibri"/>
              </a:rPr>
              <a:t>claro</a:t>
            </a:r>
            <a:r>
              <a:rPr sz="2400" spc="70" dirty="0">
                <a:solidFill>
                  <a:srgbClr val="E46C0A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E46C0A"/>
                </a:solidFill>
                <a:latin typeface="Calibri"/>
                <a:cs typeface="Calibri"/>
              </a:rPr>
              <a:t>ejemplo:</a:t>
            </a:r>
            <a:r>
              <a:rPr sz="2400" spc="70" dirty="0">
                <a:solidFill>
                  <a:srgbClr val="E46C0A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E46C0A"/>
                </a:solidFill>
                <a:latin typeface="Calibri"/>
                <a:cs typeface="Calibri"/>
              </a:rPr>
              <a:t>en</a:t>
            </a:r>
            <a:r>
              <a:rPr sz="2400" spc="75" dirty="0">
                <a:solidFill>
                  <a:srgbClr val="E46C0A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E46C0A"/>
                </a:solidFill>
                <a:latin typeface="Calibri"/>
                <a:cs typeface="Calibri"/>
              </a:rPr>
              <a:t>AliEexpress</a:t>
            </a:r>
            <a:r>
              <a:rPr sz="2400" spc="65" dirty="0">
                <a:solidFill>
                  <a:srgbClr val="E46C0A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E46C0A"/>
                </a:solidFill>
                <a:latin typeface="Calibri"/>
                <a:cs typeface="Calibri"/>
              </a:rPr>
              <a:t>se</a:t>
            </a:r>
            <a:r>
              <a:rPr sz="2400" spc="70" dirty="0">
                <a:solidFill>
                  <a:srgbClr val="E46C0A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E46C0A"/>
                </a:solidFill>
                <a:latin typeface="Calibri"/>
                <a:cs typeface="Calibri"/>
              </a:rPr>
              <a:t>vende</a:t>
            </a:r>
            <a:r>
              <a:rPr sz="2400" spc="60" dirty="0">
                <a:solidFill>
                  <a:srgbClr val="E46C0A"/>
                </a:solidFill>
                <a:latin typeface="Calibri"/>
                <a:cs typeface="Calibri"/>
              </a:rPr>
              <a:t>  </a:t>
            </a:r>
            <a:r>
              <a:rPr sz="2400" spc="-20" dirty="0">
                <a:solidFill>
                  <a:srgbClr val="E46C0A"/>
                </a:solidFill>
                <a:latin typeface="Calibri"/>
                <a:cs typeface="Calibri"/>
              </a:rPr>
              <a:t>este </a:t>
            </a:r>
            <a:r>
              <a:rPr sz="2400" dirty="0">
                <a:solidFill>
                  <a:srgbClr val="E46C0A"/>
                </a:solidFill>
                <a:latin typeface="Calibri"/>
                <a:cs typeface="Calibri"/>
              </a:rPr>
              <a:t>dispositivo</a:t>
            </a:r>
            <a:r>
              <a:rPr sz="2400" spc="85" dirty="0">
                <a:solidFill>
                  <a:srgbClr val="E46C0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E46C0A"/>
                </a:solidFill>
                <a:latin typeface="Calibri"/>
                <a:cs typeface="Calibri"/>
              </a:rPr>
              <a:t>el</a:t>
            </a:r>
            <a:r>
              <a:rPr sz="2400" spc="60" dirty="0">
                <a:solidFill>
                  <a:srgbClr val="E46C0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E46C0A"/>
                </a:solidFill>
                <a:latin typeface="Calibri"/>
                <a:cs typeface="Calibri"/>
              </a:rPr>
              <a:t>cual</a:t>
            </a:r>
            <a:r>
              <a:rPr sz="2400" spc="60" dirty="0">
                <a:solidFill>
                  <a:srgbClr val="E46C0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E46C0A"/>
                </a:solidFill>
                <a:latin typeface="Calibri"/>
                <a:cs typeface="Calibri"/>
              </a:rPr>
              <a:t>controla</a:t>
            </a:r>
            <a:r>
              <a:rPr sz="2400" spc="85" dirty="0">
                <a:solidFill>
                  <a:srgbClr val="E46C0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E46C0A"/>
                </a:solidFill>
                <a:latin typeface="Calibri"/>
                <a:cs typeface="Calibri"/>
              </a:rPr>
              <a:t>desde</a:t>
            </a:r>
            <a:r>
              <a:rPr sz="2400" spc="60" dirty="0">
                <a:solidFill>
                  <a:srgbClr val="E46C0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E46C0A"/>
                </a:solidFill>
                <a:latin typeface="Calibri"/>
                <a:cs typeface="Calibri"/>
              </a:rPr>
              <a:t>4</a:t>
            </a:r>
            <a:r>
              <a:rPr sz="2400" spc="65" dirty="0">
                <a:solidFill>
                  <a:srgbClr val="E46C0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E46C0A"/>
                </a:solidFill>
                <a:latin typeface="Calibri"/>
                <a:cs typeface="Calibri"/>
              </a:rPr>
              <a:t>hasta</a:t>
            </a:r>
            <a:r>
              <a:rPr sz="2400" spc="60" dirty="0">
                <a:solidFill>
                  <a:srgbClr val="E46C0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E46C0A"/>
                </a:solidFill>
                <a:latin typeface="Calibri"/>
                <a:cs typeface="Calibri"/>
              </a:rPr>
              <a:t>20</a:t>
            </a:r>
            <a:r>
              <a:rPr sz="2400" spc="65" dirty="0">
                <a:solidFill>
                  <a:srgbClr val="E46C0A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E46C0A"/>
                </a:solidFill>
                <a:latin typeface="Calibri"/>
                <a:cs typeface="Calibri"/>
              </a:rPr>
              <a:t>funciones </a:t>
            </a:r>
            <a:r>
              <a:rPr sz="2400" dirty="0">
                <a:solidFill>
                  <a:srgbClr val="E46C0A"/>
                </a:solidFill>
                <a:latin typeface="Calibri"/>
                <a:cs typeface="Calibri"/>
              </a:rPr>
              <a:t>en</a:t>
            </a:r>
            <a:r>
              <a:rPr sz="2400" spc="225" dirty="0">
                <a:solidFill>
                  <a:srgbClr val="E46C0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E46C0A"/>
                </a:solidFill>
                <a:latin typeface="Calibri"/>
                <a:cs typeface="Calibri"/>
              </a:rPr>
              <a:t>su</a:t>
            </a:r>
            <a:r>
              <a:rPr sz="2400" spc="229" dirty="0">
                <a:solidFill>
                  <a:srgbClr val="E46C0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E46C0A"/>
                </a:solidFill>
                <a:latin typeface="Calibri"/>
                <a:cs typeface="Calibri"/>
              </a:rPr>
              <a:t>casa,</a:t>
            </a:r>
            <a:r>
              <a:rPr sz="2400" spc="200" dirty="0">
                <a:solidFill>
                  <a:srgbClr val="E46C0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E46C0A"/>
                </a:solidFill>
                <a:latin typeface="Calibri"/>
                <a:cs typeface="Calibri"/>
              </a:rPr>
              <a:t>dependiendo</a:t>
            </a:r>
            <a:r>
              <a:rPr sz="2400" spc="220" dirty="0">
                <a:solidFill>
                  <a:srgbClr val="E46C0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E46C0A"/>
                </a:solidFill>
                <a:latin typeface="Calibri"/>
                <a:cs typeface="Calibri"/>
              </a:rPr>
              <a:t>del</a:t>
            </a:r>
            <a:r>
              <a:rPr sz="2400" spc="200" dirty="0">
                <a:solidFill>
                  <a:srgbClr val="E46C0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E46C0A"/>
                </a:solidFill>
                <a:latin typeface="Calibri"/>
                <a:cs typeface="Calibri"/>
              </a:rPr>
              <a:t>modelo</a:t>
            </a:r>
            <a:r>
              <a:rPr sz="2400" spc="210" dirty="0">
                <a:solidFill>
                  <a:srgbClr val="E46C0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E46C0A"/>
                </a:solidFill>
                <a:latin typeface="Calibri"/>
                <a:cs typeface="Calibri"/>
              </a:rPr>
              <a:t>por</a:t>
            </a:r>
            <a:r>
              <a:rPr sz="2400" spc="204" dirty="0">
                <a:solidFill>
                  <a:srgbClr val="E46C0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E46C0A"/>
                </a:solidFill>
                <a:latin typeface="Calibri"/>
                <a:cs typeface="Calibri"/>
              </a:rPr>
              <a:t>un</a:t>
            </a:r>
            <a:r>
              <a:rPr sz="2400" spc="229" dirty="0">
                <a:solidFill>
                  <a:srgbClr val="E46C0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E46C0A"/>
                </a:solidFill>
                <a:latin typeface="Calibri"/>
                <a:cs typeface="Calibri"/>
              </a:rPr>
              <a:t>costo</a:t>
            </a:r>
            <a:r>
              <a:rPr sz="2400" spc="210" dirty="0">
                <a:solidFill>
                  <a:srgbClr val="E46C0A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E46C0A"/>
                </a:solidFill>
                <a:latin typeface="Calibri"/>
                <a:cs typeface="Calibri"/>
              </a:rPr>
              <a:t>de </a:t>
            </a:r>
            <a:r>
              <a:rPr sz="2400" dirty="0">
                <a:solidFill>
                  <a:srgbClr val="E46C0A"/>
                </a:solidFill>
                <a:latin typeface="Calibri"/>
                <a:cs typeface="Calibri"/>
              </a:rPr>
              <a:t>21</a:t>
            </a:r>
            <a:r>
              <a:rPr sz="2400" spc="-30" dirty="0">
                <a:solidFill>
                  <a:srgbClr val="E46C0A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E46C0A"/>
                </a:solidFill>
                <a:latin typeface="Calibri"/>
                <a:cs typeface="Calibri"/>
              </a:rPr>
              <a:t>dólares.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B49C403-DC2C-C94C-8F04-D8BE52871349}"/>
              </a:ext>
            </a:extLst>
          </p:cNvPr>
          <p:cNvSpPr/>
          <p:nvPr/>
        </p:nvSpPr>
        <p:spPr>
          <a:xfrm>
            <a:off x="76200" y="6248400"/>
            <a:ext cx="1981200" cy="4577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52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105" dirty="0"/>
              <a:t>Big</a:t>
            </a:r>
            <a:r>
              <a:rPr spc="185" dirty="0"/>
              <a:t> </a:t>
            </a:r>
            <a:r>
              <a:rPr spc="75" dirty="0"/>
              <a:t>data</a:t>
            </a:r>
            <a:r>
              <a:rPr spc="-10" dirty="0"/>
              <a:t> </a:t>
            </a:r>
            <a:r>
              <a:rPr dirty="0"/>
              <a:t>y</a:t>
            </a:r>
            <a:r>
              <a:rPr spc="170" dirty="0"/>
              <a:t> </a:t>
            </a:r>
            <a:r>
              <a:rPr spc="75" dirty="0"/>
              <a:t>analítica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135" y="1384222"/>
            <a:ext cx="10824845" cy="20262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1600" dirty="0">
                <a:latin typeface="Arial MT"/>
                <a:cs typeface="Arial MT"/>
              </a:rPr>
              <a:t>La</a:t>
            </a:r>
            <a:r>
              <a:rPr sz="1600" spc="125" dirty="0">
                <a:latin typeface="Arial MT"/>
                <a:cs typeface="Arial MT"/>
              </a:rPr>
              <a:t> </a:t>
            </a:r>
            <a:r>
              <a:rPr sz="1600" spc="60" dirty="0">
                <a:latin typeface="Arial MT"/>
                <a:cs typeface="Arial MT"/>
              </a:rPr>
              <a:t>complejidad</a:t>
            </a:r>
            <a:r>
              <a:rPr sz="1600" spc="2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del</a:t>
            </a:r>
            <a:r>
              <a:rPr sz="1600" spc="250" dirty="0">
                <a:latin typeface="Arial MT"/>
                <a:cs typeface="Arial MT"/>
              </a:rPr>
              <a:t> </a:t>
            </a:r>
            <a:r>
              <a:rPr sz="1600" spc="50" dirty="0">
                <a:latin typeface="Arial MT"/>
                <a:cs typeface="Arial MT"/>
              </a:rPr>
              <a:t>Big</a:t>
            </a:r>
            <a:r>
              <a:rPr sz="1600" spc="2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Data</a:t>
            </a:r>
            <a:r>
              <a:rPr sz="1600" spc="1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se</a:t>
            </a:r>
            <a:r>
              <a:rPr sz="1600" spc="10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debe</a:t>
            </a:r>
            <a:r>
              <a:rPr sz="1600" spc="130" dirty="0">
                <a:latin typeface="Arial MT"/>
                <a:cs typeface="Arial MT"/>
              </a:rPr>
              <a:t> </a:t>
            </a:r>
            <a:r>
              <a:rPr sz="1600" spc="65" dirty="0">
                <a:latin typeface="Arial MT"/>
                <a:cs typeface="Arial MT"/>
              </a:rPr>
              <a:t>principalmente</a:t>
            </a:r>
            <a:r>
              <a:rPr sz="1600" spc="1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</a:t>
            </a:r>
            <a:r>
              <a:rPr sz="1600" spc="130" dirty="0">
                <a:latin typeface="Arial MT"/>
                <a:cs typeface="Arial MT"/>
              </a:rPr>
              <a:t> </a:t>
            </a:r>
            <a:r>
              <a:rPr sz="1600" spc="50" dirty="0">
                <a:latin typeface="Arial MT"/>
                <a:cs typeface="Arial MT"/>
              </a:rPr>
              <a:t>la</a:t>
            </a:r>
            <a:r>
              <a:rPr sz="1600" spc="1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naturaleza</a:t>
            </a:r>
            <a:r>
              <a:rPr sz="1600" spc="1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no</a:t>
            </a:r>
            <a:r>
              <a:rPr sz="1600" spc="240" dirty="0">
                <a:latin typeface="Arial MT"/>
                <a:cs typeface="Arial MT"/>
              </a:rPr>
              <a:t> </a:t>
            </a:r>
            <a:r>
              <a:rPr sz="1600" spc="60" dirty="0">
                <a:latin typeface="Arial MT"/>
                <a:cs typeface="Arial MT"/>
              </a:rPr>
              <a:t>estructurada</a:t>
            </a:r>
            <a:r>
              <a:rPr sz="1600" spc="10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</a:t>
            </a:r>
            <a:r>
              <a:rPr sz="1600" spc="1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gran</a:t>
            </a:r>
            <a:r>
              <a:rPr sz="1600" spc="2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parte</a:t>
            </a:r>
            <a:r>
              <a:rPr sz="1600" spc="1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</a:t>
            </a:r>
            <a:r>
              <a:rPr sz="1600" spc="130" dirty="0">
                <a:latin typeface="Arial MT"/>
                <a:cs typeface="Arial MT"/>
              </a:rPr>
              <a:t> </a:t>
            </a:r>
            <a:r>
              <a:rPr sz="1600" spc="60" dirty="0">
                <a:latin typeface="Arial MT"/>
                <a:cs typeface="Arial MT"/>
              </a:rPr>
              <a:t>los</a:t>
            </a:r>
            <a:r>
              <a:rPr sz="1600" spc="229" dirty="0">
                <a:latin typeface="Arial MT"/>
                <a:cs typeface="Arial MT"/>
              </a:rPr>
              <a:t> </a:t>
            </a:r>
            <a:r>
              <a:rPr sz="1600" spc="55" dirty="0">
                <a:latin typeface="Arial MT"/>
                <a:cs typeface="Arial MT"/>
              </a:rPr>
              <a:t>datos </a:t>
            </a:r>
            <a:r>
              <a:rPr sz="1600" dirty="0">
                <a:latin typeface="Arial MT"/>
                <a:cs typeface="Arial MT"/>
              </a:rPr>
              <a:t>generados</a:t>
            </a:r>
            <a:r>
              <a:rPr sz="1600" spc="254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por</a:t>
            </a:r>
            <a:r>
              <a:rPr sz="1600" spc="26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las</a:t>
            </a:r>
            <a:r>
              <a:rPr sz="1600" spc="254" dirty="0">
                <a:latin typeface="Arial MT"/>
                <a:cs typeface="Arial MT"/>
              </a:rPr>
              <a:t> </a:t>
            </a:r>
            <a:r>
              <a:rPr sz="1600" spc="45" dirty="0">
                <a:latin typeface="Arial MT"/>
                <a:cs typeface="Arial MT"/>
              </a:rPr>
              <a:t>tecnologías</a:t>
            </a:r>
            <a:r>
              <a:rPr sz="1600" spc="225" dirty="0">
                <a:latin typeface="Arial MT"/>
                <a:cs typeface="Arial MT"/>
              </a:rPr>
              <a:t> </a:t>
            </a:r>
            <a:r>
              <a:rPr sz="1600" spc="50" dirty="0">
                <a:latin typeface="Arial MT"/>
                <a:cs typeface="Arial MT"/>
              </a:rPr>
              <a:t>modernas,</a:t>
            </a:r>
            <a:r>
              <a:rPr sz="1600" spc="90" dirty="0">
                <a:latin typeface="Arial MT"/>
                <a:cs typeface="Arial MT"/>
              </a:rPr>
              <a:t> </a:t>
            </a:r>
            <a:r>
              <a:rPr sz="1600" spc="65" dirty="0">
                <a:latin typeface="Arial MT"/>
                <a:cs typeface="Arial MT"/>
              </a:rPr>
              <a:t>como:</a:t>
            </a:r>
            <a:r>
              <a:rPr sz="1600" spc="175" dirty="0">
                <a:latin typeface="Arial MT"/>
                <a:cs typeface="Arial MT"/>
              </a:rPr>
              <a:t> </a:t>
            </a:r>
            <a:r>
              <a:rPr sz="1600" spc="60" dirty="0">
                <a:latin typeface="Arial MT"/>
                <a:cs typeface="Arial MT"/>
              </a:rPr>
              <a:t>los</a:t>
            </a:r>
            <a:r>
              <a:rPr sz="1600" spc="2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web</a:t>
            </a:r>
            <a:r>
              <a:rPr sz="1600" spc="260" dirty="0">
                <a:latin typeface="Arial MT"/>
                <a:cs typeface="Arial MT"/>
              </a:rPr>
              <a:t> </a:t>
            </a:r>
            <a:r>
              <a:rPr sz="1600" spc="65" dirty="0">
                <a:latin typeface="Arial MT"/>
                <a:cs typeface="Arial MT"/>
              </a:rPr>
              <a:t>logs,</a:t>
            </a:r>
            <a:r>
              <a:rPr sz="1600" spc="70" dirty="0">
                <a:latin typeface="Arial MT"/>
                <a:cs typeface="Arial MT"/>
              </a:rPr>
              <a:t> </a:t>
            </a:r>
            <a:r>
              <a:rPr sz="1600" spc="50" dirty="0">
                <a:latin typeface="Arial MT"/>
                <a:cs typeface="Arial MT"/>
              </a:rPr>
              <a:t>la</a:t>
            </a:r>
            <a:r>
              <a:rPr sz="1600" spc="155" dirty="0">
                <a:latin typeface="Arial MT"/>
                <a:cs typeface="Arial MT"/>
              </a:rPr>
              <a:t> </a:t>
            </a:r>
            <a:r>
              <a:rPr sz="1600" spc="65" dirty="0">
                <a:latin typeface="Arial MT"/>
                <a:cs typeface="Arial MT"/>
              </a:rPr>
              <a:t>identificación</a:t>
            </a:r>
            <a:r>
              <a:rPr sz="1600" spc="235" dirty="0">
                <a:latin typeface="Arial MT"/>
                <a:cs typeface="Arial MT"/>
              </a:rPr>
              <a:t> </a:t>
            </a:r>
            <a:r>
              <a:rPr sz="1600" spc="60" dirty="0">
                <a:latin typeface="Arial MT"/>
                <a:cs typeface="Arial MT"/>
              </a:rPr>
              <a:t>por</a:t>
            </a:r>
            <a:r>
              <a:rPr sz="1600" spc="229" dirty="0">
                <a:latin typeface="Arial MT"/>
                <a:cs typeface="Arial MT"/>
              </a:rPr>
              <a:t> </a:t>
            </a:r>
            <a:r>
              <a:rPr sz="1600" spc="55" dirty="0">
                <a:latin typeface="Arial MT"/>
                <a:cs typeface="Arial MT"/>
              </a:rPr>
              <a:t>radiofrecuencia</a:t>
            </a:r>
            <a:r>
              <a:rPr sz="1600" spc="15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(RFID),</a:t>
            </a:r>
            <a:r>
              <a:rPr sz="1600" spc="100" dirty="0">
                <a:latin typeface="Arial MT"/>
                <a:cs typeface="Arial MT"/>
              </a:rPr>
              <a:t> </a:t>
            </a:r>
            <a:r>
              <a:rPr sz="1600" spc="30" dirty="0">
                <a:latin typeface="Arial MT"/>
                <a:cs typeface="Arial MT"/>
              </a:rPr>
              <a:t>los </a:t>
            </a:r>
            <a:r>
              <a:rPr sz="1600" spc="45" dirty="0">
                <a:latin typeface="Arial MT"/>
                <a:cs typeface="Arial MT"/>
              </a:rPr>
              <a:t>sensores</a:t>
            </a:r>
            <a:r>
              <a:rPr sz="1600" spc="30" dirty="0">
                <a:latin typeface="Arial MT"/>
                <a:cs typeface="Arial MT"/>
              </a:rPr>
              <a:t>  </a:t>
            </a:r>
            <a:r>
              <a:rPr sz="1600" spc="65" dirty="0">
                <a:latin typeface="Arial MT"/>
                <a:cs typeface="Arial MT"/>
              </a:rPr>
              <a:t>incorporados</a:t>
            </a:r>
            <a:r>
              <a:rPr sz="1600" spc="30" dirty="0">
                <a:latin typeface="Arial MT"/>
                <a:cs typeface="Arial MT"/>
              </a:rPr>
              <a:t>  </a:t>
            </a:r>
            <a:r>
              <a:rPr sz="1600" dirty="0">
                <a:latin typeface="Arial MT"/>
                <a:cs typeface="Arial MT"/>
              </a:rPr>
              <a:t>en</a:t>
            </a:r>
            <a:r>
              <a:rPr sz="1600" spc="35" dirty="0">
                <a:latin typeface="Arial MT"/>
                <a:cs typeface="Arial MT"/>
              </a:rPr>
              <a:t>  </a:t>
            </a:r>
            <a:r>
              <a:rPr sz="1600" spc="75" dirty="0">
                <a:latin typeface="Arial MT"/>
                <a:cs typeface="Arial MT"/>
              </a:rPr>
              <a:t>dispositivos,</a:t>
            </a:r>
            <a:r>
              <a:rPr sz="1600" spc="355" dirty="0">
                <a:latin typeface="Arial MT"/>
                <a:cs typeface="Arial MT"/>
              </a:rPr>
              <a:t> </a:t>
            </a:r>
            <a:r>
              <a:rPr sz="1600" spc="50" dirty="0">
                <a:latin typeface="Arial MT"/>
                <a:cs typeface="Arial MT"/>
              </a:rPr>
              <a:t>la</a:t>
            </a:r>
            <a:r>
              <a:rPr sz="1600" spc="390" dirty="0">
                <a:latin typeface="Arial MT"/>
                <a:cs typeface="Arial MT"/>
              </a:rPr>
              <a:t> </a:t>
            </a:r>
            <a:r>
              <a:rPr sz="1600" spc="50" dirty="0">
                <a:latin typeface="Arial MT"/>
                <a:cs typeface="Arial MT"/>
              </a:rPr>
              <a:t>maquinaria,</a:t>
            </a:r>
            <a:r>
              <a:rPr sz="1600" spc="360" dirty="0">
                <a:latin typeface="Arial MT"/>
                <a:cs typeface="Arial MT"/>
              </a:rPr>
              <a:t> </a:t>
            </a:r>
            <a:r>
              <a:rPr sz="1600" spc="60" dirty="0">
                <a:latin typeface="Arial MT"/>
                <a:cs typeface="Arial MT"/>
              </a:rPr>
              <a:t>los</a:t>
            </a:r>
            <a:r>
              <a:rPr sz="1600" spc="30" dirty="0">
                <a:latin typeface="Arial MT"/>
                <a:cs typeface="Arial MT"/>
              </a:rPr>
              <a:t>  </a:t>
            </a:r>
            <a:r>
              <a:rPr sz="1600" spc="55" dirty="0">
                <a:latin typeface="Arial MT"/>
                <a:cs typeface="Arial MT"/>
              </a:rPr>
              <a:t>vehículos,</a:t>
            </a:r>
            <a:r>
              <a:rPr sz="1600" spc="35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las</a:t>
            </a:r>
            <a:r>
              <a:rPr sz="1600" spc="490" dirty="0">
                <a:latin typeface="Arial MT"/>
                <a:cs typeface="Arial MT"/>
              </a:rPr>
              <a:t> </a:t>
            </a:r>
            <a:r>
              <a:rPr sz="1600" spc="50" dirty="0">
                <a:latin typeface="Arial MT"/>
                <a:cs typeface="Arial MT"/>
              </a:rPr>
              <a:t>búsquedas</a:t>
            </a:r>
            <a:r>
              <a:rPr sz="1600" spc="30" dirty="0">
                <a:latin typeface="Arial MT"/>
                <a:cs typeface="Arial MT"/>
              </a:rPr>
              <a:t>  </a:t>
            </a:r>
            <a:r>
              <a:rPr sz="1600" dirty="0">
                <a:latin typeface="Arial MT"/>
                <a:cs typeface="Arial MT"/>
              </a:rPr>
              <a:t>en</a:t>
            </a:r>
            <a:r>
              <a:rPr sz="1600" spc="49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Internet,</a:t>
            </a:r>
            <a:r>
              <a:rPr sz="1600" spc="35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las</a:t>
            </a:r>
            <a:r>
              <a:rPr sz="1600" spc="30" dirty="0">
                <a:latin typeface="Arial MT"/>
                <a:cs typeface="Arial MT"/>
              </a:rPr>
              <a:t>  </a:t>
            </a:r>
            <a:r>
              <a:rPr sz="1600" spc="-10" dirty="0">
                <a:latin typeface="Arial MT"/>
                <a:cs typeface="Arial MT"/>
              </a:rPr>
              <a:t>redes </a:t>
            </a:r>
            <a:r>
              <a:rPr sz="1600" spc="50" dirty="0">
                <a:latin typeface="Arial MT"/>
                <a:cs typeface="Arial MT"/>
              </a:rPr>
              <a:t>sociales</a:t>
            </a:r>
            <a:r>
              <a:rPr sz="1600" spc="40" dirty="0">
                <a:latin typeface="Arial MT"/>
                <a:cs typeface="Arial MT"/>
              </a:rPr>
              <a:t>  </a:t>
            </a:r>
            <a:r>
              <a:rPr sz="1600" spc="60" dirty="0">
                <a:latin typeface="Arial MT"/>
                <a:cs typeface="Arial MT"/>
              </a:rPr>
              <a:t>como</a:t>
            </a:r>
            <a:r>
              <a:rPr sz="1600" spc="40" dirty="0">
                <a:latin typeface="Arial MT"/>
                <a:cs typeface="Arial MT"/>
              </a:rPr>
              <a:t>  </a:t>
            </a:r>
            <a:r>
              <a:rPr sz="1600" dirty="0">
                <a:latin typeface="Arial MT"/>
                <a:cs typeface="Arial MT"/>
              </a:rPr>
              <a:t>Facebook,</a:t>
            </a:r>
            <a:r>
              <a:rPr sz="1600" spc="400" dirty="0">
                <a:latin typeface="Arial MT"/>
                <a:cs typeface="Arial MT"/>
              </a:rPr>
              <a:t> </a:t>
            </a:r>
            <a:r>
              <a:rPr sz="1600" spc="60" dirty="0">
                <a:latin typeface="Arial MT"/>
                <a:cs typeface="Arial MT"/>
              </a:rPr>
              <a:t>computadoras</a:t>
            </a:r>
            <a:r>
              <a:rPr sz="1600" spc="35" dirty="0">
                <a:latin typeface="Arial MT"/>
                <a:cs typeface="Arial MT"/>
              </a:rPr>
              <a:t>  </a:t>
            </a:r>
            <a:r>
              <a:rPr sz="1600" spc="60" dirty="0">
                <a:latin typeface="Arial MT"/>
                <a:cs typeface="Arial MT"/>
              </a:rPr>
              <a:t>portátiles,</a:t>
            </a:r>
            <a:r>
              <a:rPr sz="1600" spc="405" dirty="0">
                <a:latin typeface="Arial MT"/>
                <a:cs typeface="Arial MT"/>
              </a:rPr>
              <a:t> </a:t>
            </a:r>
            <a:r>
              <a:rPr sz="1600" spc="50" dirty="0">
                <a:latin typeface="Arial MT"/>
                <a:cs typeface="Arial MT"/>
              </a:rPr>
              <a:t>teléfonos</a:t>
            </a:r>
            <a:r>
              <a:rPr sz="1600" spc="35" dirty="0">
                <a:latin typeface="Arial MT"/>
                <a:cs typeface="Arial MT"/>
              </a:rPr>
              <a:t>  </a:t>
            </a:r>
            <a:r>
              <a:rPr sz="1600" spc="55" dirty="0">
                <a:latin typeface="Arial MT"/>
                <a:cs typeface="Arial MT"/>
              </a:rPr>
              <a:t>inteligentes,</a:t>
            </a:r>
            <a:r>
              <a:rPr sz="1600" spc="405" dirty="0">
                <a:latin typeface="Arial MT"/>
                <a:cs typeface="Arial MT"/>
              </a:rPr>
              <a:t> </a:t>
            </a:r>
            <a:r>
              <a:rPr sz="1600" spc="70" dirty="0">
                <a:latin typeface="Arial MT"/>
                <a:cs typeface="Arial MT"/>
              </a:rPr>
              <a:t>dispositivos</a:t>
            </a:r>
            <a:r>
              <a:rPr sz="1600" spc="35" dirty="0">
                <a:latin typeface="Arial MT"/>
                <a:cs typeface="Arial MT"/>
              </a:rPr>
              <a:t>  </a:t>
            </a:r>
            <a:r>
              <a:rPr sz="1600" dirty="0">
                <a:latin typeface="Arial MT"/>
                <a:cs typeface="Arial MT"/>
              </a:rPr>
              <a:t>GPS</a:t>
            </a:r>
            <a:r>
              <a:rPr sz="1600" spc="4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y</a:t>
            </a:r>
            <a:r>
              <a:rPr sz="1600" spc="50" dirty="0">
                <a:latin typeface="Arial MT"/>
                <a:cs typeface="Arial MT"/>
              </a:rPr>
              <a:t>  </a:t>
            </a:r>
            <a:r>
              <a:rPr sz="1600" spc="55" dirty="0">
                <a:latin typeface="Arial MT"/>
                <a:cs typeface="Arial MT"/>
              </a:rPr>
              <a:t>registros</a:t>
            </a:r>
            <a:r>
              <a:rPr sz="1600" spc="35" dirty="0">
                <a:latin typeface="Arial MT"/>
                <a:cs typeface="Arial MT"/>
              </a:rPr>
              <a:t>  </a:t>
            </a:r>
            <a:r>
              <a:rPr sz="1600" spc="40" dirty="0">
                <a:latin typeface="Arial MT"/>
                <a:cs typeface="Arial MT"/>
              </a:rPr>
              <a:t>de </a:t>
            </a:r>
            <a:r>
              <a:rPr sz="1600" spc="50" dirty="0">
                <a:latin typeface="Arial MT"/>
                <a:cs typeface="Arial MT"/>
              </a:rPr>
              <a:t>centros</a:t>
            </a:r>
            <a:r>
              <a:rPr sz="1600" spc="18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</a:t>
            </a:r>
            <a:r>
              <a:rPr sz="1600" spc="75" dirty="0">
                <a:latin typeface="Arial MT"/>
                <a:cs typeface="Arial MT"/>
              </a:rPr>
              <a:t> </a:t>
            </a:r>
            <a:r>
              <a:rPr sz="1600" spc="45" dirty="0">
                <a:latin typeface="Arial MT"/>
                <a:cs typeface="Arial MT"/>
              </a:rPr>
              <a:t>llamadas,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entre</a:t>
            </a:r>
            <a:r>
              <a:rPr sz="1600" spc="70" dirty="0">
                <a:latin typeface="Arial MT"/>
                <a:cs typeface="Arial MT"/>
              </a:rPr>
              <a:t> </a:t>
            </a:r>
            <a:r>
              <a:rPr sz="1600" spc="55" dirty="0">
                <a:latin typeface="Arial MT"/>
                <a:cs typeface="Arial MT"/>
              </a:rPr>
              <a:t>otros.</a:t>
            </a:r>
            <a:endParaRPr sz="1600">
              <a:latin typeface="Arial MT"/>
              <a:cs typeface="Arial MT"/>
            </a:endParaRPr>
          </a:p>
          <a:p>
            <a:pPr marL="12700" marR="6350" algn="just">
              <a:lnSpc>
                <a:spcPct val="100000"/>
              </a:lnSpc>
              <a:spcBef>
                <a:spcPts val="385"/>
              </a:spcBef>
            </a:pPr>
            <a:r>
              <a:rPr sz="1600" dirty="0">
                <a:latin typeface="Arial MT"/>
                <a:cs typeface="Arial MT"/>
              </a:rPr>
              <a:t>En</a:t>
            </a:r>
            <a:r>
              <a:rPr sz="1600" spc="420" dirty="0">
                <a:latin typeface="Arial MT"/>
                <a:cs typeface="Arial MT"/>
              </a:rPr>
              <a:t> </a:t>
            </a:r>
            <a:r>
              <a:rPr sz="1600" spc="50" dirty="0">
                <a:latin typeface="Arial MT"/>
                <a:cs typeface="Arial MT"/>
              </a:rPr>
              <a:t>la</a:t>
            </a:r>
            <a:r>
              <a:rPr sz="1600" spc="28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mayoría</a:t>
            </a:r>
            <a:r>
              <a:rPr sz="1600" spc="28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</a:t>
            </a:r>
            <a:r>
              <a:rPr sz="1600" spc="315" dirty="0">
                <a:latin typeface="Arial MT"/>
                <a:cs typeface="Arial MT"/>
              </a:rPr>
              <a:t> </a:t>
            </a:r>
            <a:r>
              <a:rPr sz="1600" spc="60" dirty="0">
                <a:latin typeface="Arial MT"/>
                <a:cs typeface="Arial MT"/>
              </a:rPr>
              <a:t>los</a:t>
            </a:r>
            <a:r>
              <a:rPr sz="1600" spc="415" dirty="0">
                <a:latin typeface="Arial MT"/>
                <a:cs typeface="Arial MT"/>
              </a:rPr>
              <a:t> </a:t>
            </a:r>
            <a:r>
              <a:rPr sz="1600" spc="45" dirty="0">
                <a:latin typeface="Arial MT"/>
                <a:cs typeface="Arial MT"/>
              </a:rPr>
              <a:t>casos,</a:t>
            </a:r>
            <a:r>
              <a:rPr sz="1600" spc="254" dirty="0">
                <a:latin typeface="Arial MT"/>
                <a:cs typeface="Arial MT"/>
              </a:rPr>
              <a:t> </a:t>
            </a:r>
            <a:r>
              <a:rPr sz="1600" spc="45" dirty="0">
                <a:latin typeface="Arial MT"/>
                <a:cs typeface="Arial MT"/>
              </a:rPr>
              <a:t>con</a:t>
            </a:r>
            <a:r>
              <a:rPr sz="1600" spc="4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el</a:t>
            </a:r>
            <a:r>
              <a:rPr sz="1600" spc="430" dirty="0">
                <a:latin typeface="Arial MT"/>
                <a:cs typeface="Arial MT"/>
              </a:rPr>
              <a:t> </a:t>
            </a:r>
            <a:r>
              <a:rPr sz="1600" spc="55" dirty="0">
                <a:latin typeface="Arial MT"/>
                <a:cs typeface="Arial MT"/>
              </a:rPr>
              <a:t>fin</a:t>
            </a:r>
            <a:r>
              <a:rPr sz="1600" spc="4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</a:t>
            </a:r>
            <a:r>
              <a:rPr sz="1600" spc="285" dirty="0">
                <a:latin typeface="Arial MT"/>
                <a:cs typeface="Arial MT"/>
              </a:rPr>
              <a:t> </a:t>
            </a:r>
            <a:r>
              <a:rPr sz="1600" spc="50" dirty="0">
                <a:latin typeface="Arial MT"/>
                <a:cs typeface="Arial MT"/>
              </a:rPr>
              <a:t>utilizar</a:t>
            </a:r>
            <a:r>
              <a:rPr sz="1600" spc="4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eficazmente</a:t>
            </a:r>
            <a:r>
              <a:rPr sz="1600" spc="3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el</a:t>
            </a:r>
            <a:r>
              <a:rPr sz="1600" spc="434" dirty="0">
                <a:latin typeface="Arial MT"/>
                <a:cs typeface="Arial MT"/>
              </a:rPr>
              <a:t> </a:t>
            </a:r>
            <a:r>
              <a:rPr sz="1600" spc="60" dirty="0">
                <a:latin typeface="Arial MT"/>
                <a:cs typeface="Arial MT"/>
              </a:rPr>
              <a:t>Big</a:t>
            </a:r>
            <a:r>
              <a:rPr sz="1600" spc="4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Data,</a:t>
            </a:r>
            <a:r>
              <a:rPr sz="1600" spc="2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esto</a:t>
            </a:r>
            <a:r>
              <a:rPr sz="1600" spc="4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debe</a:t>
            </a:r>
            <a:r>
              <a:rPr sz="1600" spc="315" dirty="0">
                <a:latin typeface="Arial MT"/>
                <a:cs typeface="Arial MT"/>
              </a:rPr>
              <a:t> </a:t>
            </a:r>
            <a:r>
              <a:rPr sz="1600" spc="60" dirty="0">
                <a:latin typeface="Arial MT"/>
                <a:cs typeface="Arial MT"/>
              </a:rPr>
              <a:t>combinarse</a:t>
            </a:r>
            <a:r>
              <a:rPr sz="1600" spc="320" dirty="0">
                <a:latin typeface="Arial MT"/>
                <a:cs typeface="Arial MT"/>
              </a:rPr>
              <a:t> </a:t>
            </a:r>
            <a:r>
              <a:rPr sz="1600" spc="55" dirty="0">
                <a:latin typeface="Arial MT"/>
                <a:cs typeface="Arial MT"/>
              </a:rPr>
              <a:t>con</a:t>
            </a:r>
            <a:r>
              <a:rPr sz="1600" spc="420" dirty="0">
                <a:latin typeface="Arial MT"/>
                <a:cs typeface="Arial MT"/>
              </a:rPr>
              <a:t> </a:t>
            </a:r>
            <a:r>
              <a:rPr sz="1600" spc="55" dirty="0">
                <a:latin typeface="Arial MT"/>
                <a:cs typeface="Arial MT"/>
              </a:rPr>
              <a:t>datos </a:t>
            </a:r>
            <a:r>
              <a:rPr sz="1600" spc="60" dirty="0">
                <a:latin typeface="Arial MT"/>
                <a:cs typeface="Arial MT"/>
              </a:rPr>
              <a:t>estructurados</a:t>
            </a:r>
            <a:r>
              <a:rPr sz="1600" spc="285" dirty="0">
                <a:latin typeface="Arial MT"/>
                <a:cs typeface="Arial MT"/>
              </a:rPr>
              <a:t> </a:t>
            </a:r>
            <a:r>
              <a:rPr sz="1600" spc="50" dirty="0">
                <a:latin typeface="Arial MT"/>
                <a:cs typeface="Arial MT"/>
              </a:rPr>
              <a:t>(normalmente</a:t>
            </a:r>
            <a:r>
              <a:rPr sz="1600" spc="18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</a:t>
            </a:r>
            <a:r>
              <a:rPr sz="1600" spc="165" dirty="0">
                <a:latin typeface="Arial MT"/>
                <a:cs typeface="Arial MT"/>
              </a:rPr>
              <a:t> </a:t>
            </a:r>
            <a:r>
              <a:rPr sz="1600" spc="55" dirty="0">
                <a:latin typeface="Arial MT"/>
                <a:cs typeface="Arial MT"/>
              </a:rPr>
              <a:t>una</a:t>
            </a:r>
            <a:r>
              <a:rPr sz="1600" spc="18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base</a:t>
            </a:r>
            <a:r>
              <a:rPr sz="1600" spc="19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</a:t>
            </a:r>
            <a:r>
              <a:rPr sz="1600" spc="16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datos</a:t>
            </a:r>
            <a:r>
              <a:rPr sz="1600" spc="290" dirty="0">
                <a:latin typeface="Arial MT"/>
                <a:cs typeface="Arial MT"/>
              </a:rPr>
              <a:t> </a:t>
            </a:r>
            <a:r>
              <a:rPr sz="1600" spc="50" dirty="0">
                <a:latin typeface="Arial MT"/>
                <a:cs typeface="Arial MT"/>
              </a:rPr>
              <a:t>relacional)</a:t>
            </a:r>
            <a:r>
              <a:rPr sz="1600" spc="16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</a:t>
            </a:r>
            <a:r>
              <a:rPr sz="1600" spc="185" dirty="0">
                <a:latin typeface="Arial MT"/>
                <a:cs typeface="Arial MT"/>
              </a:rPr>
              <a:t> </a:t>
            </a:r>
            <a:r>
              <a:rPr sz="1600" spc="55" dirty="0">
                <a:latin typeface="Arial MT"/>
                <a:cs typeface="Arial MT"/>
              </a:rPr>
              <a:t>una</a:t>
            </a:r>
            <a:r>
              <a:rPr sz="1600" spc="185" dirty="0">
                <a:latin typeface="Arial MT"/>
                <a:cs typeface="Arial MT"/>
              </a:rPr>
              <a:t> </a:t>
            </a:r>
            <a:r>
              <a:rPr sz="1600" spc="55" dirty="0">
                <a:latin typeface="Arial MT"/>
                <a:cs typeface="Arial MT"/>
              </a:rPr>
              <a:t>aplicación</a:t>
            </a:r>
            <a:r>
              <a:rPr sz="1600" spc="300" dirty="0">
                <a:latin typeface="Arial MT"/>
                <a:cs typeface="Arial MT"/>
              </a:rPr>
              <a:t> </a:t>
            </a:r>
            <a:r>
              <a:rPr sz="1600" spc="45" dirty="0">
                <a:latin typeface="Arial MT"/>
                <a:cs typeface="Arial MT"/>
              </a:rPr>
              <a:t>comercial</a:t>
            </a:r>
            <a:r>
              <a:rPr sz="1600" spc="3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más</a:t>
            </a:r>
            <a:r>
              <a:rPr sz="1600" spc="295" dirty="0">
                <a:latin typeface="Arial MT"/>
                <a:cs typeface="Arial MT"/>
              </a:rPr>
              <a:t> </a:t>
            </a:r>
            <a:r>
              <a:rPr sz="1600" spc="45" dirty="0">
                <a:latin typeface="Arial MT"/>
                <a:cs typeface="Arial MT"/>
              </a:rPr>
              <a:t>convencional, </a:t>
            </a:r>
            <a:r>
              <a:rPr sz="1600" spc="65" dirty="0">
                <a:latin typeface="Arial MT"/>
                <a:cs typeface="Arial MT"/>
              </a:rPr>
              <a:t>como</a:t>
            </a:r>
            <a:r>
              <a:rPr sz="1600" spc="1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un</a:t>
            </a:r>
            <a:r>
              <a:rPr sz="1600" spc="1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ERP</a:t>
            </a:r>
            <a:r>
              <a:rPr sz="1600" spc="50" dirty="0">
                <a:latin typeface="Arial MT"/>
                <a:cs typeface="Arial MT"/>
              </a:rPr>
              <a:t> (Enterprise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45" dirty="0">
                <a:latin typeface="Arial MT"/>
                <a:cs typeface="Arial MT"/>
              </a:rPr>
              <a:t>Resource</a:t>
            </a:r>
            <a:r>
              <a:rPr sz="1600" spc="30" dirty="0">
                <a:latin typeface="Arial MT"/>
                <a:cs typeface="Arial MT"/>
              </a:rPr>
              <a:t> </a:t>
            </a:r>
            <a:r>
              <a:rPr sz="1600" spc="55" dirty="0">
                <a:latin typeface="Arial MT"/>
                <a:cs typeface="Arial MT"/>
              </a:rPr>
              <a:t>Planning)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</a:t>
            </a:r>
            <a:r>
              <a:rPr sz="1600" spc="16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un</a:t>
            </a:r>
            <a:r>
              <a:rPr sz="1600" spc="1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CRM</a:t>
            </a:r>
            <a:r>
              <a:rPr sz="1600" spc="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(Customer</a:t>
            </a:r>
            <a:r>
              <a:rPr sz="1600" spc="135" dirty="0">
                <a:latin typeface="Arial MT"/>
                <a:cs typeface="Arial MT"/>
              </a:rPr>
              <a:t> </a:t>
            </a:r>
            <a:r>
              <a:rPr sz="1600" spc="55" dirty="0">
                <a:latin typeface="Arial MT"/>
                <a:cs typeface="Arial MT"/>
              </a:rPr>
              <a:t>Relationship</a:t>
            </a:r>
            <a:r>
              <a:rPr sz="1600" spc="11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Management).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657294" y="3477768"/>
            <a:ext cx="7352665" cy="2971800"/>
            <a:chOff x="3657294" y="3477768"/>
            <a:chExt cx="7352665" cy="29718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57294" y="3477768"/>
              <a:ext cx="4105961" cy="29717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269479" y="3627120"/>
              <a:ext cx="988060" cy="927100"/>
            </a:xfrm>
            <a:custGeom>
              <a:avLst/>
              <a:gdLst/>
              <a:ahLst/>
              <a:cxnLst/>
              <a:rect l="l" t="t" r="r" b="b"/>
              <a:pathLst>
                <a:path w="988059" h="927100">
                  <a:moveTo>
                    <a:pt x="755904" y="0"/>
                  </a:moveTo>
                  <a:lnTo>
                    <a:pt x="231647" y="0"/>
                  </a:lnTo>
                  <a:lnTo>
                    <a:pt x="0" y="463295"/>
                  </a:lnTo>
                  <a:lnTo>
                    <a:pt x="231647" y="926591"/>
                  </a:lnTo>
                  <a:lnTo>
                    <a:pt x="755904" y="926591"/>
                  </a:lnTo>
                  <a:lnTo>
                    <a:pt x="987552" y="463295"/>
                  </a:lnTo>
                  <a:lnTo>
                    <a:pt x="7559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269479" y="3627120"/>
              <a:ext cx="988060" cy="927100"/>
            </a:xfrm>
            <a:custGeom>
              <a:avLst/>
              <a:gdLst/>
              <a:ahLst/>
              <a:cxnLst/>
              <a:rect l="l" t="t" r="r" b="b"/>
              <a:pathLst>
                <a:path w="988059" h="927100">
                  <a:moveTo>
                    <a:pt x="0" y="463295"/>
                  </a:moveTo>
                  <a:lnTo>
                    <a:pt x="231647" y="0"/>
                  </a:lnTo>
                  <a:lnTo>
                    <a:pt x="755904" y="0"/>
                  </a:lnTo>
                  <a:lnTo>
                    <a:pt x="987552" y="463295"/>
                  </a:lnTo>
                  <a:lnTo>
                    <a:pt x="755904" y="926591"/>
                  </a:lnTo>
                  <a:lnTo>
                    <a:pt x="231647" y="926591"/>
                  </a:lnTo>
                  <a:lnTo>
                    <a:pt x="0" y="463295"/>
                  </a:lnTo>
                  <a:close/>
                </a:path>
              </a:pathLst>
            </a:custGeom>
            <a:ln w="24384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193023" y="4215383"/>
              <a:ext cx="988060" cy="927100"/>
            </a:xfrm>
            <a:custGeom>
              <a:avLst/>
              <a:gdLst/>
              <a:ahLst/>
              <a:cxnLst/>
              <a:rect l="l" t="t" r="r" b="b"/>
              <a:pathLst>
                <a:path w="988059" h="927100">
                  <a:moveTo>
                    <a:pt x="755904" y="0"/>
                  </a:moveTo>
                  <a:lnTo>
                    <a:pt x="231647" y="0"/>
                  </a:lnTo>
                  <a:lnTo>
                    <a:pt x="0" y="463295"/>
                  </a:lnTo>
                  <a:lnTo>
                    <a:pt x="231647" y="926591"/>
                  </a:lnTo>
                  <a:lnTo>
                    <a:pt x="755904" y="926591"/>
                  </a:lnTo>
                  <a:lnTo>
                    <a:pt x="987552" y="463295"/>
                  </a:lnTo>
                  <a:lnTo>
                    <a:pt x="7559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193023" y="4215383"/>
              <a:ext cx="988060" cy="927100"/>
            </a:xfrm>
            <a:custGeom>
              <a:avLst/>
              <a:gdLst/>
              <a:ahLst/>
              <a:cxnLst/>
              <a:rect l="l" t="t" r="r" b="b"/>
              <a:pathLst>
                <a:path w="988059" h="927100">
                  <a:moveTo>
                    <a:pt x="0" y="463295"/>
                  </a:moveTo>
                  <a:lnTo>
                    <a:pt x="231647" y="0"/>
                  </a:lnTo>
                  <a:lnTo>
                    <a:pt x="755904" y="0"/>
                  </a:lnTo>
                  <a:lnTo>
                    <a:pt x="987552" y="463295"/>
                  </a:lnTo>
                  <a:lnTo>
                    <a:pt x="755904" y="926591"/>
                  </a:lnTo>
                  <a:lnTo>
                    <a:pt x="231647" y="926591"/>
                  </a:lnTo>
                  <a:lnTo>
                    <a:pt x="0" y="463295"/>
                  </a:lnTo>
                  <a:close/>
                </a:path>
              </a:pathLst>
            </a:custGeom>
            <a:ln w="24384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116567" y="3654552"/>
              <a:ext cx="988060" cy="927100"/>
            </a:xfrm>
            <a:custGeom>
              <a:avLst/>
              <a:gdLst/>
              <a:ahLst/>
              <a:cxnLst/>
              <a:rect l="l" t="t" r="r" b="b"/>
              <a:pathLst>
                <a:path w="988059" h="927100">
                  <a:moveTo>
                    <a:pt x="755904" y="0"/>
                  </a:moveTo>
                  <a:lnTo>
                    <a:pt x="231647" y="0"/>
                  </a:lnTo>
                  <a:lnTo>
                    <a:pt x="0" y="463296"/>
                  </a:lnTo>
                  <a:lnTo>
                    <a:pt x="231647" y="926592"/>
                  </a:lnTo>
                  <a:lnTo>
                    <a:pt x="755904" y="926592"/>
                  </a:lnTo>
                  <a:lnTo>
                    <a:pt x="987552" y="463296"/>
                  </a:lnTo>
                  <a:lnTo>
                    <a:pt x="7559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116567" y="3654552"/>
              <a:ext cx="988060" cy="927100"/>
            </a:xfrm>
            <a:custGeom>
              <a:avLst/>
              <a:gdLst/>
              <a:ahLst/>
              <a:cxnLst/>
              <a:rect l="l" t="t" r="r" b="b"/>
              <a:pathLst>
                <a:path w="988059" h="927100">
                  <a:moveTo>
                    <a:pt x="0" y="463296"/>
                  </a:moveTo>
                  <a:lnTo>
                    <a:pt x="231647" y="0"/>
                  </a:lnTo>
                  <a:lnTo>
                    <a:pt x="755904" y="0"/>
                  </a:lnTo>
                  <a:lnTo>
                    <a:pt x="987552" y="463296"/>
                  </a:lnTo>
                  <a:lnTo>
                    <a:pt x="755904" y="926592"/>
                  </a:lnTo>
                  <a:lnTo>
                    <a:pt x="231647" y="926592"/>
                  </a:lnTo>
                  <a:lnTo>
                    <a:pt x="0" y="463296"/>
                  </a:lnTo>
                  <a:close/>
                </a:path>
              </a:pathLst>
            </a:custGeom>
            <a:ln w="24384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086088" y="4764024"/>
              <a:ext cx="988060" cy="927100"/>
            </a:xfrm>
            <a:custGeom>
              <a:avLst/>
              <a:gdLst/>
              <a:ahLst/>
              <a:cxnLst/>
              <a:rect l="l" t="t" r="r" b="b"/>
              <a:pathLst>
                <a:path w="988059" h="927100">
                  <a:moveTo>
                    <a:pt x="755904" y="0"/>
                  </a:moveTo>
                  <a:lnTo>
                    <a:pt x="231647" y="0"/>
                  </a:lnTo>
                  <a:lnTo>
                    <a:pt x="0" y="463295"/>
                  </a:lnTo>
                  <a:lnTo>
                    <a:pt x="231647" y="926591"/>
                  </a:lnTo>
                  <a:lnTo>
                    <a:pt x="755904" y="926591"/>
                  </a:lnTo>
                  <a:lnTo>
                    <a:pt x="987552" y="463295"/>
                  </a:lnTo>
                  <a:lnTo>
                    <a:pt x="7559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086088" y="4764024"/>
              <a:ext cx="988060" cy="927100"/>
            </a:xfrm>
            <a:custGeom>
              <a:avLst/>
              <a:gdLst/>
              <a:ahLst/>
              <a:cxnLst/>
              <a:rect l="l" t="t" r="r" b="b"/>
              <a:pathLst>
                <a:path w="988059" h="927100">
                  <a:moveTo>
                    <a:pt x="0" y="463295"/>
                  </a:moveTo>
                  <a:lnTo>
                    <a:pt x="231647" y="0"/>
                  </a:lnTo>
                  <a:lnTo>
                    <a:pt x="755904" y="0"/>
                  </a:lnTo>
                  <a:lnTo>
                    <a:pt x="987552" y="463295"/>
                  </a:lnTo>
                  <a:lnTo>
                    <a:pt x="755904" y="926591"/>
                  </a:lnTo>
                  <a:lnTo>
                    <a:pt x="231647" y="926591"/>
                  </a:lnTo>
                  <a:lnTo>
                    <a:pt x="0" y="463295"/>
                  </a:lnTo>
                  <a:close/>
                </a:path>
              </a:pathLst>
            </a:custGeom>
            <a:ln w="24384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239000" y="4700016"/>
              <a:ext cx="984885" cy="927100"/>
            </a:xfrm>
            <a:custGeom>
              <a:avLst/>
              <a:gdLst/>
              <a:ahLst/>
              <a:cxnLst/>
              <a:rect l="l" t="t" r="r" b="b"/>
              <a:pathLst>
                <a:path w="984884" h="927100">
                  <a:moveTo>
                    <a:pt x="752856" y="0"/>
                  </a:moveTo>
                  <a:lnTo>
                    <a:pt x="231647" y="0"/>
                  </a:lnTo>
                  <a:lnTo>
                    <a:pt x="0" y="463295"/>
                  </a:lnTo>
                  <a:lnTo>
                    <a:pt x="231647" y="926591"/>
                  </a:lnTo>
                  <a:lnTo>
                    <a:pt x="752856" y="926591"/>
                  </a:lnTo>
                  <a:lnTo>
                    <a:pt x="984504" y="463295"/>
                  </a:lnTo>
                  <a:lnTo>
                    <a:pt x="7528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239000" y="4700016"/>
              <a:ext cx="984885" cy="927100"/>
            </a:xfrm>
            <a:custGeom>
              <a:avLst/>
              <a:gdLst/>
              <a:ahLst/>
              <a:cxnLst/>
              <a:rect l="l" t="t" r="r" b="b"/>
              <a:pathLst>
                <a:path w="984884" h="927100">
                  <a:moveTo>
                    <a:pt x="0" y="463295"/>
                  </a:moveTo>
                  <a:lnTo>
                    <a:pt x="231647" y="0"/>
                  </a:lnTo>
                  <a:lnTo>
                    <a:pt x="752856" y="0"/>
                  </a:lnTo>
                  <a:lnTo>
                    <a:pt x="984504" y="463295"/>
                  </a:lnTo>
                  <a:lnTo>
                    <a:pt x="752856" y="926591"/>
                  </a:lnTo>
                  <a:lnTo>
                    <a:pt x="231647" y="926591"/>
                  </a:lnTo>
                  <a:lnTo>
                    <a:pt x="0" y="463295"/>
                  </a:lnTo>
                  <a:close/>
                </a:path>
              </a:pathLst>
            </a:custGeom>
            <a:ln w="24384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0009632" y="4300727"/>
              <a:ext cx="988060" cy="927100"/>
            </a:xfrm>
            <a:custGeom>
              <a:avLst/>
              <a:gdLst/>
              <a:ahLst/>
              <a:cxnLst/>
              <a:rect l="l" t="t" r="r" b="b"/>
              <a:pathLst>
                <a:path w="988059" h="927100">
                  <a:moveTo>
                    <a:pt x="755904" y="0"/>
                  </a:moveTo>
                  <a:lnTo>
                    <a:pt x="231647" y="0"/>
                  </a:lnTo>
                  <a:lnTo>
                    <a:pt x="0" y="463296"/>
                  </a:lnTo>
                  <a:lnTo>
                    <a:pt x="231647" y="926592"/>
                  </a:lnTo>
                  <a:lnTo>
                    <a:pt x="755904" y="926592"/>
                  </a:lnTo>
                  <a:lnTo>
                    <a:pt x="987552" y="463296"/>
                  </a:lnTo>
                  <a:lnTo>
                    <a:pt x="7559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0009630" y="4300727"/>
              <a:ext cx="988060" cy="927100"/>
            </a:xfrm>
            <a:custGeom>
              <a:avLst/>
              <a:gdLst/>
              <a:ahLst/>
              <a:cxnLst/>
              <a:rect l="l" t="t" r="r" b="b"/>
              <a:pathLst>
                <a:path w="988059" h="927100">
                  <a:moveTo>
                    <a:pt x="0" y="463296"/>
                  </a:moveTo>
                  <a:lnTo>
                    <a:pt x="231647" y="0"/>
                  </a:lnTo>
                  <a:lnTo>
                    <a:pt x="755904" y="0"/>
                  </a:lnTo>
                  <a:lnTo>
                    <a:pt x="987552" y="463296"/>
                  </a:lnTo>
                  <a:lnTo>
                    <a:pt x="755904" y="926592"/>
                  </a:lnTo>
                  <a:lnTo>
                    <a:pt x="231647" y="926592"/>
                  </a:lnTo>
                  <a:lnTo>
                    <a:pt x="0" y="463296"/>
                  </a:lnTo>
                  <a:close/>
                </a:path>
              </a:pathLst>
            </a:custGeom>
            <a:ln w="24384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466344" y="4751832"/>
            <a:ext cx="2816860" cy="1493520"/>
            <a:chOff x="466344" y="4751832"/>
            <a:chExt cx="2816860" cy="1493520"/>
          </a:xfrm>
        </p:grpSpPr>
        <p:sp>
          <p:nvSpPr>
            <p:cNvPr id="19" name="object 19"/>
            <p:cNvSpPr/>
            <p:nvPr/>
          </p:nvSpPr>
          <p:spPr>
            <a:xfrm>
              <a:off x="2286000" y="5227320"/>
              <a:ext cx="984885" cy="927100"/>
            </a:xfrm>
            <a:custGeom>
              <a:avLst/>
              <a:gdLst/>
              <a:ahLst/>
              <a:cxnLst/>
              <a:rect l="l" t="t" r="r" b="b"/>
              <a:pathLst>
                <a:path w="984885" h="927100">
                  <a:moveTo>
                    <a:pt x="752856" y="0"/>
                  </a:moveTo>
                  <a:lnTo>
                    <a:pt x="231647" y="0"/>
                  </a:lnTo>
                  <a:lnTo>
                    <a:pt x="0" y="463295"/>
                  </a:lnTo>
                  <a:lnTo>
                    <a:pt x="231647" y="926591"/>
                  </a:lnTo>
                  <a:lnTo>
                    <a:pt x="752856" y="926591"/>
                  </a:lnTo>
                  <a:lnTo>
                    <a:pt x="984504" y="463295"/>
                  </a:lnTo>
                  <a:lnTo>
                    <a:pt x="7528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286000" y="5227320"/>
              <a:ext cx="984885" cy="927100"/>
            </a:xfrm>
            <a:custGeom>
              <a:avLst/>
              <a:gdLst/>
              <a:ahLst/>
              <a:cxnLst/>
              <a:rect l="l" t="t" r="r" b="b"/>
              <a:pathLst>
                <a:path w="984885" h="927100">
                  <a:moveTo>
                    <a:pt x="0" y="463295"/>
                  </a:moveTo>
                  <a:lnTo>
                    <a:pt x="231647" y="0"/>
                  </a:lnTo>
                  <a:lnTo>
                    <a:pt x="752856" y="0"/>
                  </a:lnTo>
                  <a:lnTo>
                    <a:pt x="984504" y="463295"/>
                  </a:lnTo>
                  <a:lnTo>
                    <a:pt x="752856" y="926591"/>
                  </a:lnTo>
                  <a:lnTo>
                    <a:pt x="231647" y="926591"/>
                  </a:lnTo>
                  <a:lnTo>
                    <a:pt x="0" y="463295"/>
                  </a:lnTo>
                  <a:close/>
                </a:path>
              </a:pathLst>
            </a:custGeom>
            <a:ln w="24384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350263" y="4764024"/>
              <a:ext cx="988060" cy="927100"/>
            </a:xfrm>
            <a:custGeom>
              <a:avLst/>
              <a:gdLst/>
              <a:ahLst/>
              <a:cxnLst/>
              <a:rect l="l" t="t" r="r" b="b"/>
              <a:pathLst>
                <a:path w="988060" h="927100">
                  <a:moveTo>
                    <a:pt x="755904" y="0"/>
                  </a:moveTo>
                  <a:lnTo>
                    <a:pt x="231647" y="0"/>
                  </a:lnTo>
                  <a:lnTo>
                    <a:pt x="0" y="463295"/>
                  </a:lnTo>
                  <a:lnTo>
                    <a:pt x="231647" y="926591"/>
                  </a:lnTo>
                  <a:lnTo>
                    <a:pt x="755904" y="926591"/>
                  </a:lnTo>
                  <a:lnTo>
                    <a:pt x="987552" y="463295"/>
                  </a:lnTo>
                  <a:lnTo>
                    <a:pt x="7559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350263" y="4764024"/>
              <a:ext cx="988060" cy="927100"/>
            </a:xfrm>
            <a:custGeom>
              <a:avLst/>
              <a:gdLst/>
              <a:ahLst/>
              <a:cxnLst/>
              <a:rect l="l" t="t" r="r" b="b"/>
              <a:pathLst>
                <a:path w="988060" h="927100">
                  <a:moveTo>
                    <a:pt x="0" y="463295"/>
                  </a:moveTo>
                  <a:lnTo>
                    <a:pt x="231647" y="0"/>
                  </a:lnTo>
                  <a:lnTo>
                    <a:pt x="755904" y="0"/>
                  </a:lnTo>
                  <a:lnTo>
                    <a:pt x="987552" y="463295"/>
                  </a:lnTo>
                  <a:lnTo>
                    <a:pt x="755904" y="926591"/>
                  </a:lnTo>
                  <a:lnTo>
                    <a:pt x="231647" y="926591"/>
                  </a:lnTo>
                  <a:lnTo>
                    <a:pt x="0" y="463295"/>
                  </a:lnTo>
                  <a:close/>
                </a:path>
              </a:pathLst>
            </a:custGeom>
            <a:ln w="24384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78536" y="5306568"/>
              <a:ext cx="984885" cy="927100"/>
            </a:xfrm>
            <a:custGeom>
              <a:avLst/>
              <a:gdLst/>
              <a:ahLst/>
              <a:cxnLst/>
              <a:rect l="l" t="t" r="r" b="b"/>
              <a:pathLst>
                <a:path w="984885" h="927100">
                  <a:moveTo>
                    <a:pt x="752856" y="0"/>
                  </a:moveTo>
                  <a:lnTo>
                    <a:pt x="231647" y="0"/>
                  </a:lnTo>
                  <a:lnTo>
                    <a:pt x="0" y="463295"/>
                  </a:lnTo>
                  <a:lnTo>
                    <a:pt x="231647" y="926591"/>
                  </a:lnTo>
                  <a:lnTo>
                    <a:pt x="752856" y="926591"/>
                  </a:lnTo>
                  <a:lnTo>
                    <a:pt x="984504" y="463295"/>
                  </a:lnTo>
                  <a:lnTo>
                    <a:pt x="7528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78536" y="5306568"/>
              <a:ext cx="984885" cy="927100"/>
            </a:xfrm>
            <a:custGeom>
              <a:avLst/>
              <a:gdLst/>
              <a:ahLst/>
              <a:cxnLst/>
              <a:rect l="l" t="t" r="r" b="b"/>
              <a:pathLst>
                <a:path w="984885" h="927100">
                  <a:moveTo>
                    <a:pt x="0" y="463295"/>
                  </a:moveTo>
                  <a:lnTo>
                    <a:pt x="231647" y="0"/>
                  </a:lnTo>
                  <a:lnTo>
                    <a:pt x="752856" y="0"/>
                  </a:lnTo>
                  <a:lnTo>
                    <a:pt x="984504" y="463295"/>
                  </a:lnTo>
                  <a:lnTo>
                    <a:pt x="752856" y="926591"/>
                  </a:lnTo>
                  <a:lnTo>
                    <a:pt x="231647" y="926591"/>
                  </a:lnTo>
                  <a:lnTo>
                    <a:pt x="0" y="463295"/>
                  </a:lnTo>
                  <a:close/>
                </a:path>
              </a:pathLst>
            </a:custGeom>
            <a:ln w="24384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Rectángulo 24">
            <a:extLst>
              <a:ext uri="{FF2B5EF4-FFF2-40B4-BE49-F238E27FC236}">
                <a16:creationId xmlns:a16="http://schemas.microsoft.com/office/drawing/2014/main" id="{63848BD8-BE65-FC39-3466-E976F90CBC38}"/>
              </a:ext>
            </a:extLst>
          </p:cNvPr>
          <p:cNvSpPr/>
          <p:nvPr/>
        </p:nvSpPr>
        <p:spPr>
          <a:xfrm>
            <a:off x="76200" y="6324600"/>
            <a:ext cx="1981200" cy="3815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52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50" dirty="0"/>
              <a:t>Realidad</a:t>
            </a:r>
            <a:r>
              <a:rPr spc="215" dirty="0"/>
              <a:t> </a:t>
            </a:r>
            <a:r>
              <a:rPr spc="90" dirty="0"/>
              <a:t>Aumentada</a:t>
            </a:r>
            <a:r>
              <a:rPr spc="75" dirty="0"/>
              <a:t> </a:t>
            </a:r>
            <a:r>
              <a:rPr spc="-20" dirty="0"/>
              <a:t>(RA)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7785" y="1384222"/>
            <a:ext cx="10828655" cy="1886585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" marR="5080" algn="just">
              <a:lnSpc>
                <a:spcPts val="1680"/>
              </a:lnSpc>
              <a:spcBef>
                <a:spcPts val="360"/>
              </a:spcBef>
            </a:pPr>
            <a:r>
              <a:rPr sz="1600" dirty="0">
                <a:latin typeface="Arial MT"/>
                <a:cs typeface="Arial MT"/>
              </a:rPr>
              <a:t>E</a:t>
            </a:r>
            <a:r>
              <a:rPr sz="1400" dirty="0">
                <a:latin typeface="Arial MT"/>
                <a:cs typeface="Arial MT"/>
              </a:rPr>
              <a:t>s</a:t>
            </a:r>
            <a:r>
              <a:rPr sz="1400" spc="265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una</a:t>
            </a:r>
            <a:r>
              <a:rPr sz="1400" spc="235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tecnología</a:t>
            </a:r>
            <a:r>
              <a:rPr sz="1400" spc="240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que</a:t>
            </a:r>
            <a:r>
              <a:rPr sz="1400" spc="225" dirty="0">
                <a:latin typeface="Arial MT"/>
                <a:cs typeface="Arial MT"/>
              </a:rPr>
              <a:t>  </a:t>
            </a:r>
            <a:r>
              <a:rPr sz="1400" spc="45" dirty="0">
                <a:latin typeface="Arial MT"/>
                <a:cs typeface="Arial MT"/>
              </a:rPr>
              <a:t>permite</a:t>
            </a:r>
            <a:r>
              <a:rPr sz="1400" spc="245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superponer</a:t>
            </a:r>
            <a:r>
              <a:rPr sz="1400" spc="280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elementos</a:t>
            </a:r>
            <a:r>
              <a:rPr sz="1400" spc="265" dirty="0">
                <a:latin typeface="Arial MT"/>
                <a:cs typeface="Arial MT"/>
              </a:rPr>
              <a:t>  </a:t>
            </a:r>
            <a:r>
              <a:rPr sz="1400" spc="45" dirty="0">
                <a:latin typeface="Arial MT"/>
                <a:cs typeface="Arial MT"/>
              </a:rPr>
              <a:t>virtuales</a:t>
            </a:r>
            <a:r>
              <a:rPr sz="1400" spc="280" dirty="0">
                <a:latin typeface="Arial MT"/>
                <a:cs typeface="Arial MT"/>
              </a:rPr>
              <a:t>  </a:t>
            </a:r>
            <a:r>
              <a:rPr sz="1400" spc="55" dirty="0">
                <a:latin typeface="Arial MT"/>
                <a:cs typeface="Arial MT"/>
              </a:rPr>
              <a:t>sobre</a:t>
            </a:r>
            <a:r>
              <a:rPr sz="1400" spc="240" dirty="0">
                <a:latin typeface="Arial MT"/>
                <a:cs typeface="Arial MT"/>
              </a:rPr>
              <a:t>  </a:t>
            </a:r>
            <a:r>
              <a:rPr sz="1400" spc="45" dirty="0">
                <a:latin typeface="Arial MT"/>
                <a:cs typeface="Arial MT"/>
              </a:rPr>
              <a:t>nuestra</a:t>
            </a:r>
            <a:r>
              <a:rPr sz="1400" spc="220" dirty="0">
                <a:latin typeface="Arial MT"/>
                <a:cs typeface="Arial MT"/>
              </a:rPr>
              <a:t>  </a:t>
            </a:r>
            <a:r>
              <a:rPr sz="1400" spc="55" dirty="0">
                <a:latin typeface="Arial MT"/>
                <a:cs typeface="Arial MT"/>
              </a:rPr>
              <a:t>visión</a:t>
            </a:r>
            <a:r>
              <a:rPr sz="1400" spc="265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de</a:t>
            </a:r>
            <a:r>
              <a:rPr sz="1400" spc="225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la</a:t>
            </a:r>
            <a:r>
              <a:rPr sz="1400" spc="225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realidad.</a:t>
            </a:r>
            <a:r>
              <a:rPr sz="1400" spc="195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A</a:t>
            </a:r>
            <a:r>
              <a:rPr sz="1400" spc="275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través</a:t>
            </a:r>
            <a:r>
              <a:rPr sz="1400" spc="265" dirty="0">
                <a:latin typeface="Arial MT"/>
                <a:cs typeface="Arial MT"/>
              </a:rPr>
              <a:t>  </a:t>
            </a:r>
            <a:r>
              <a:rPr sz="1400" spc="55" dirty="0">
                <a:latin typeface="Arial MT"/>
                <a:cs typeface="Arial MT"/>
              </a:rPr>
              <a:t>de </a:t>
            </a:r>
            <a:r>
              <a:rPr sz="1400" dirty="0">
                <a:latin typeface="Arial MT"/>
                <a:cs typeface="Arial MT"/>
              </a:rPr>
              <a:t>gafas,</a:t>
            </a:r>
            <a:r>
              <a:rPr sz="1400" spc="300" dirty="0">
                <a:latin typeface="Arial MT"/>
                <a:cs typeface="Arial MT"/>
              </a:rPr>
              <a:t> </a:t>
            </a:r>
            <a:r>
              <a:rPr sz="1400" i="1" spc="50" dirty="0">
                <a:latin typeface="Arial"/>
                <a:cs typeface="Arial"/>
              </a:rPr>
              <a:t>smartphones</a:t>
            </a:r>
            <a:r>
              <a:rPr sz="1400" i="1" spc="395" dirty="0">
                <a:latin typeface="Arial"/>
                <a:cs typeface="Arial"/>
              </a:rPr>
              <a:t> </a:t>
            </a:r>
            <a:r>
              <a:rPr sz="1400" dirty="0">
                <a:latin typeface="Arial MT"/>
                <a:cs typeface="Arial MT"/>
              </a:rPr>
              <a:t>y</a:t>
            </a:r>
            <a:r>
              <a:rPr sz="1400" spc="4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tabletas</a:t>
            </a:r>
            <a:r>
              <a:rPr sz="1400" spc="39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—estos</a:t>
            </a:r>
            <a:r>
              <a:rPr sz="1400" spc="39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dos</a:t>
            </a:r>
            <a:r>
              <a:rPr sz="1400" spc="420" dirty="0">
                <a:latin typeface="Arial MT"/>
                <a:cs typeface="Arial MT"/>
              </a:rPr>
              <a:t> </a:t>
            </a:r>
            <a:r>
              <a:rPr sz="1400" spc="55" dirty="0">
                <a:latin typeface="Arial MT"/>
                <a:cs typeface="Arial MT"/>
              </a:rPr>
              <a:t>últimos</a:t>
            </a:r>
            <a:r>
              <a:rPr sz="1400" spc="40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han</a:t>
            </a:r>
            <a:r>
              <a:rPr sz="1400" spc="385" dirty="0">
                <a:latin typeface="Arial MT"/>
                <a:cs typeface="Arial MT"/>
              </a:rPr>
              <a:t> </a:t>
            </a:r>
            <a:r>
              <a:rPr sz="1400" spc="45" dirty="0">
                <a:latin typeface="Arial MT"/>
                <a:cs typeface="Arial MT"/>
              </a:rPr>
              <a:t>resultado</a:t>
            </a:r>
            <a:r>
              <a:rPr sz="1400" spc="39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ser</a:t>
            </a:r>
            <a:r>
              <a:rPr sz="1400" spc="4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sus</a:t>
            </a:r>
            <a:r>
              <a:rPr sz="1400" spc="39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dos</a:t>
            </a:r>
            <a:r>
              <a:rPr sz="1400" spc="4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grandes</a:t>
            </a:r>
            <a:r>
              <a:rPr sz="1400" spc="4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aliados—,</a:t>
            </a:r>
            <a:r>
              <a:rPr sz="1400" spc="254" dirty="0">
                <a:latin typeface="Arial MT"/>
                <a:cs typeface="Arial MT"/>
              </a:rPr>
              <a:t> </a:t>
            </a:r>
            <a:r>
              <a:rPr sz="1400" spc="50" dirty="0">
                <a:latin typeface="Arial MT"/>
                <a:cs typeface="Arial MT"/>
              </a:rPr>
              <a:t>compiten</a:t>
            </a:r>
            <a:r>
              <a:rPr sz="1400" spc="38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entre</a:t>
            </a:r>
            <a:r>
              <a:rPr sz="1400" spc="30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ellos</a:t>
            </a:r>
            <a:r>
              <a:rPr sz="1400" spc="420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para </a:t>
            </a:r>
            <a:r>
              <a:rPr sz="1400" spc="10" dirty="0">
                <a:latin typeface="Arial MT"/>
                <a:cs typeface="Arial MT"/>
              </a:rPr>
              <a:t>inventar</a:t>
            </a:r>
            <a:r>
              <a:rPr sz="1400" spc="254" dirty="0">
                <a:latin typeface="Arial MT"/>
                <a:cs typeface="Arial MT"/>
              </a:rPr>
              <a:t> </a:t>
            </a:r>
            <a:r>
              <a:rPr sz="1400" spc="10" dirty="0">
                <a:latin typeface="Arial MT"/>
                <a:cs typeface="Arial MT"/>
              </a:rPr>
              <a:t>la</a:t>
            </a:r>
            <a:r>
              <a:rPr sz="1400" spc="75" dirty="0">
                <a:latin typeface="Arial MT"/>
                <a:cs typeface="Arial MT"/>
              </a:rPr>
              <a:t> </a:t>
            </a:r>
            <a:r>
              <a:rPr sz="1400" spc="10" dirty="0">
                <a:latin typeface="Arial MT"/>
                <a:cs typeface="Arial MT"/>
              </a:rPr>
              <a:t>plataforma,</a:t>
            </a:r>
            <a:r>
              <a:rPr sz="1400" spc="105" dirty="0">
                <a:latin typeface="Arial MT"/>
                <a:cs typeface="Arial MT"/>
              </a:rPr>
              <a:t> </a:t>
            </a:r>
            <a:r>
              <a:rPr sz="1400" spc="10" dirty="0">
                <a:latin typeface="Arial MT"/>
                <a:cs typeface="Arial MT"/>
              </a:rPr>
              <a:t>el</a:t>
            </a:r>
            <a:r>
              <a:rPr sz="1400" spc="85" dirty="0">
                <a:latin typeface="Arial MT"/>
                <a:cs typeface="Arial MT"/>
              </a:rPr>
              <a:t> </a:t>
            </a:r>
            <a:r>
              <a:rPr sz="1400" i="1" spc="10" dirty="0">
                <a:latin typeface="Arial"/>
                <a:cs typeface="Arial"/>
              </a:rPr>
              <a:t>kit</a:t>
            </a:r>
            <a:r>
              <a:rPr sz="1400" i="1" spc="114" dirty="0">
                <a:latin typeface="Arial"/>
                <a:cs typeface="Arial"/>
              </a:rPr>
              <a:t> </a:t>
            </a:r>
            <a:r>
              <a:rPr sz="1400" spc="10" dirty="0">
                <a:latin typeface="Arial MT"/>
                <a:cs typeface="Arial MT"/>
              </a:rPr>
              <a:t>de</a:t>
            </a:r>
            <a:r>
              <a:rPr sz="1400" spc="105" dirty="0">
                <a:latin typeface="Arial MT"/>
                <a:cs typeface="Arial MT"/>
              </a:rPr>
              <a:t> </a:t>
            </a:r>
            <a:r>
              <a:rPr sz="1400" spc="10" dirty="0">
                <a:latin typeface="Arial MT"/>
                <a:cs typeface="Arial MT"/>
              </a:rPr>
              <a:t>herramientas,</a:t>
            </a:r>
            <a:r>
              <a:rPr sz="1400" spc="75" dirty="0">
                <a:latin typeface="Arial MT"/>
                <a:cs typeface="Arial MT"/>
              </a:rPr>
              <a:t> </a:t>
            </a:r>
            <a:r>
              <a:rPr sz="1400" spc="10" dirty="0">
                <a:latin typeface="Arial MT"/>
                <a:cs typeface="Arial MT"/>
              </a:rPr>
              <a:t>el</a:t>
            </a:r>
            <a:r>
              <a:rPr sz="1400" spc="120" dirty="0">
                <a:latin typeface="Arial MT"/>
                <a:cs typeface="Arial MT"/>
              </a:rPr>
              <a:t> </a:t>
            </a:r>
            <a:r>
              <a:rPr sz="1400" i="1" spc="10" dirty="0">
                <a:latin typeface="Arial"/>
                <a:cs typeface="Arial"/>
              </a:rPr>
              <a:t>wearable</a:t>
            </a:r>
            <a:r>
              <a:rPr sz="1400" i="1" spc="40" dirty="0">
                <a:latin typeface="Arial"/>
                <a:cs typeface="Arial"/>
              </a:rPr>
              <a:t> </a:t>
            </a:r>
            <a:r>
              <a:rPr sz="1400" spc="10" dirty="0">
                <a:latin typeface="Arial MT"/>
                <a:cs typeface="Arial MT"/>
              </a:rPr>
              <a:t>o</a:t>
            </a:r>
            <a:r>
              <a:rPr sz="1400" spc="200" dirty="0">
                <a:latin typeface="Arial MT"/>
                <a:cs typeface="Arial MT"/>
              </a:rPr>
              <a:t> </a:t>
            </a:r>
            <a:r>
              <a:rPr sz="1400" spc="10" dirty="0">
                <a:latin typeface="Arial MT"/>
                <a:cs typeface="Arial MT"/>
              </a:rPr>
              <a:t>la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i="1" spc="10" dirty="0">
                <a:latin typeface="Arial"/>
                <a:cs typeface="Arial"/>
              </a:rPr>
              <a:t>app</a:t>
            </a:r>
            <a:r>
              <a:rPr sz="1400" i="1" spc="105" dirty="0">
                <a:latin typeface="Arial"/>
                <a:cs typeface="Arial"/>
              </a:rPr>
              <a:t> </a:t>
            </a:r>
            <a:r>
              <a:rPr sz="1400" spc="10" dirty="0">
                <a:latin typeface="Arial MT"/>
                <a:cs typeface="Arial MT"/>
              </a:rPr>
              <a:t>que</a:t>
            </a:r>
            <a:r>
              <a:rPr sz="1400" spc="135" dirty="0">
                <a:latin typeface="Arial MT"/>
                <a:cs typeface="Arial MT"/>
              </a:rPr>
              <a:t> </a:t>
            </a:r>
            <a:r>
              <a:rPr sz="1400" spc="10" dirty="0">
                <a:latin typeface="Arial MT"/>
                <a:cs typeface="Arial MT"/>
              </a:rPr>
              <a:t>nos</a:t>
            </a:r>
            <a:r>
              <a:rPr sz="1400" spc="204" dirty="0">
                <a:latin typeface="Arial MT"/>
                <a:cs typeface="Arial MT"/>
              </a:rPr>
              <a:t> </a:t>
            </a:r>
            <a:r>
              <a:rPr sz="1400" spc="10" dirty="0">
                <a:latin typeface="Arial MT"/>
                <a:cs typeface="Arial MT"/>
              </a:rPr>
              <a:t>enganche</a:t>
            </a:r>
            <a:r>
              <a:rPr sz="1400" spc="17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definitivamente.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35"/>
              </a:spcBef>
            </a:pPr>
            <a:endParaRPr sz="1400">
              <a:latin typeface="Arial MT"/>
              <a:cs typeface="Arial MT"/>
            </a:endParaRPr>
          </a:p>
          <a:p>
            <a:pPr marL="12700" algn="just">
              <a:lnSpc>
                <a:spcPct val="100000"/>
              </a:lnSpc>
            </a:pPr>
            <a:r>
              <a:rPr sz="1400" dirty="0">
                <a:latin typeface="Arial MT"/>
                <a:cs typeface="Arial MT"/>
              </a:rPr>
              <a:t>DIFERENCIAS</a:t>
            </a:r>
            <a:r>
              <a:rPr sz="1400" spc="8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ENTRE</a:t>
            </a:r>
            <a:r>
              <a:rPr sz="1400" spc="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LA</a:t>
            </a:r>
            <a:r>
              <a:rPr sz="1400" spc="1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REALIDAD</a:t>
            </a:r>
            <a:r>
              <a:rPr sz="1400" spc="50" dirty="0">
                <a:latin typeface="Arial MT"/>
                <a:cs typeface="Arial MT"/>
              </a:rPr>
              <a:t> </a:t>
            </a:r>
            <a:r>
              <a:rPr sz="1400" spc="-25" dirty="0">
                <a:latin typeface="Arial MT"/>
                <a:cs typeface="Arial MT"/>
              </a:rPr>
              <a:t>AUMENTADA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Y</a:t>
            </a:r>
            <a:r>
              <a:rPr sz="1400" spc="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LA</a:t>
            </a:r>
            <a:r>
              <a:rPr sz="1400" spc="1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REALIDAD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VIRTUAL</a:t>
            </a:r>
            <a:endParaRPr sz="1400">
              <a:latin typeface="Arial MT"/>
              <a:cs typeface="Arial MT"/>
            </a:endParaRPr>
          </a:p>
          <a:p>
            <a:pPr marL="12700" marR="27305" algn="just">
              <a:lnSpc>
                <a:spcPct val="98600"/>
              </a:lnSpc>
              <a:spcBef>
                <a:spcPts val="360"/>
              </a:spcBef>
            </a:pPr>
            <a:r>
              <a:rPr sz="1400" spc="10" dirty="0">
                <a:latin typeface="Arial MT"/>
                <a:cs typeface="Arial MT"/>
              </a:rPr>
              <a:t>A</a:t>
            </a:r>
            <a:r>
              <a:rPr sz="1400" spc="165" dirty="0">
                <a:latin typeface="Arial MT"/>
                <a:cs typeface="Arial MT"/>
              </a:rPr>
              <a:t> </a:t>
            </a:r>
            <a:r>
              <a:rPr sz="1400" spc="10" dirty="0">
                <a:latin typeface="Arial MT"/>
                <a:cs typeface="Arial MT"/>
              </a:rPr>
              <a:t>pesar</a:t>
            </a:r>
            <a:r>
              <a:rPr sz="1400" spc="185" dirty="0">
                <a:latin typeface="Arial MT"/>
                <a:cs typeface="Arial MT"/>
              </a:rPr>
              <a:t> </a:t>
            </a:r>
            <a:r>
              <a:rPr sz="1400" spc="10" dirty="0">
                <a:latin typeface="Arial MT"/>
                <a:cs typeface="Arial MT"/>
              </a:rPr>
              <a:t>de</a:t>
            </a:r>
            <a:r>
              <a:rPr sz="1400" spc="65" dirty="0">
                <a:latin typeface="Arial MT"/>
                <a:cs typeface="Arial MT"/>
              </a:rPr>
              <a:t> </a:t>
            </a:r>
            <a:r>
              <a:rPr sz="1400" spc="10" dirty="0">
                <a:latin typeface="Arial MT"/>
                <a:cs typeface="Arial MT"/>
              </a:rPr>
              <a:t>estar</a:t>
            </a:r>
            <a:r>
              <a:rPr sz="1400" spc="210" dirty="0">
                <a:latin typeface="Arial MT"/>
                <a:cs typeface="Arial MT"/>
              </a:rPr>
              <a:t> </a:t>
            </a:r>
            <a:r>
              <a:rPr sz="1400" spc="10" dirty="0">
                <a:latin typeface="Arial MT"/>
                <a:cs typeface="Arial MT"/>
              </a:rPr>
              <a:t>entrelazadas,</a:t>
            </a:r>
            <a:r>
              <a:rPr sz="1400" spc="45" dirty="0">
                <a:latin typeface="Arial MT"/>
                <a:cs typeface="Arial MT"/>
              </a:rPr>
              <a:t> </a:t>
            </a:r>
            <a:r>
              <a:rPr sz="1400" spc="10" dirty="0">
                <a:latin typeface="Arial MT"/>
                <a:cs typeface="Arial MT"/>
              </a:rPr>
              <a:t>plantean</a:t>
            </a:r>
            <a:r>
              <a:rPr sz="1400" spc="155" dirty="0">
                <a:latin typeface="Arial MT"/>
                <a:cs typeface="Arial MT"/>
              </a:rPr>
              <a:t> </a:t>
            </a:r>
            <a:r>
              <a:rPr sz="1400" spc="45" dirty="0">
                <a:latin typeface="Arial MT"/>
                <a:cs typeface="Arial MT"/>
              </a:rPr>
              <a:t>revoluciones</a:t>
            </a:r>
            <a:r>
              <a:rPr sz="1400" spc="165" dirty="0">
                <a:latin typeface="Arial MT"/>
                <a:cs typeface="Arial MT"/>
              </a:rPr>
              <a:t> </a:t>
            </a:r>
            <a:r>
              <a:rPr sz="1400" spc="10" dirty="0">
                <a:latin typeface="Arial MT"/>
                <a:cs typeface="Arial MT"/>
              </a:rPr>
              <a:t>diferentes.</a:t>
            </a:r>
            <a:r>
              <a:rPr sz="1400" spc="40" dirty="0">
                <a:latin typeface="Arial MT"/>
                <a:cs typeface="Arial MT"/>
              </a:rPr>
              <a:t> </a:t>
            </a:r>
            <a:r>
              <a:rPr sz="1400" spc="10" dirty="0">
                <a:latin typeface="Arial MT"/>
                <a:cs typeface="Arial MT"/>
              </a:rPr>
              <a:t>Mientras</a:t>
            </a:r>
            <a:r>
              <a:rPr sz="1400" spc="195" dirty="0">
                <a:latin typeface="Arial MT"/>
                <a:cs typeface="Arial MT"/>
              </a:rPr>
              <a:t> </a:t>
            </a:r>
            <a:r>
              <a:rPr sz="1400" spc="10" dirty="0">
                <a:latin typeface="Arial MT"/>
                <a:cs typeface="Arial MT"/>
              </a:rPr>
              <a:t>que</a:t>
            </a:r>
            <a:r>
              <a:rPr sz="1400" spc="95" dirty="0">
                <a:latin typeface="Arial MT"/>
                <a:cs typeface="Arial MT"/>
              </a:rPr>
              <a:t> </a:t>
            </a:r>
            <a:r>
              <a:rPr sz="1400" spc="10" dirty="0">
                <a:latin typeface="Arial MT"/>
                <a:cs typeface="Arial MT"/>
              </a:rPr>
              <a:t>la</a:t>
            </a:r>
            <a:r>
              <a:rPr sz="1400" spc="65" dirty="0">
                <a:latin typeface="Arial MT"/>
                <a:cs typeface="Arial MT"/>
              </a:rPr>
              <a:t> </a:t>
            </a:r>
            <a:r>
              <a:rPr sz="1400" spc="10" dirty="0">
                <a:latin typeface="Arial MT"/>
                <a:cs typeface="Arial MT"/>
              </a:rPr>
              <a:t>Realidad</a:t>
            </a:r>
            <a:r>
              <a:rPr sz="1400" spc="180" dirty="0">
                <a:latin typeface="Arial MT"/>
                <a:cs typeface="Arial MT"/>
              </a:rPr>
              <a:t> </a:t>
            </a:r>
            <a:r>
              <a:rPr sz="1400" spc="10" dirty="0">
                <a:latin typeface="Arial MT"/>
                <a:cs typeface="Arial MT"/>
              </a:rPr>
              <a:t>Virtual</a:t>
            </a:r>
            <a:r>
              <a:rPr sz="1400" spc="195" dirty="0">
                <a:latin typeface="Arial MT"/>
                <a:cs typeface="Arial MT"/>
              </a:rPr>
              <a:t> </a:t>
            </a:r>
            <a:r>
              <a:rPr sz="1400" spc="45" dirty="0">
                <a:latin typeface="Arial MT"/>
                <a:cs typeface="Arial MT"/>
              </a:rPr>
              <a:t>permite</a:t>
            </a:r>
            <a:r>
              <a:rPr sz="1400" spc="65" dirty="0">
                <a:latin typeface="Arial MT"/>
                <a:cs typeface="Arial MT"/>
              </a:rPr>
              <a:t> </a:t>
            </a:r>
            <a:r>
              <a:rPr sz="1400" spc="10" dirty="0">
                <a:latin typeface="Arial MT"/>
                <a:cs typeface="Arial MT"/>
              </a:rPr>
              <a:t>crear</a:t>
            </a:r>
            <a:r>
              <a:rPr sz="1400" spc="215" dirty="0">
                <a:latin typeface="Arial MT"/>
                <a:cs typeface="Arial MT"/>
              </a:rPr>
              <a:t> </a:t>
            </a:r>
            <a:r>
              <a:rPr sz="1400" spc="10" dirty="0">
                <a:latin typeface="Arial MT"/>
                <a:cs typeface="Arial MT"/>
              </a:rPr>
              <a:t>un</a:t>
            </a:r>
            <a:r>
              <a:rPr sz="1400" spc="155" dirty="0">
                <a:latin typeface="Arial MT"/>
                <a:cs typeface="Arial MT"/>
              </a:rPr>
              <a:t> </a:t>
            </a:r>
            <a:r>
              <a:rPr sz="1400" spc="50" dirty="0">
                <a:latin typeface="Arial MT"/>
                <a:cs typeface="Arial MT"/>
              </a:rPr>
              <a:t>mundo</a:t>
            </a:r>
            <a:r>
              <a:rPr sz="1400" spc="190" dirty="0">
                <a:latin typeface="Arial MT"/>
                <a:cs typeface="Arial MT"/>
              </a:rPr>
              <a:t> </a:t>
            </a:r>
            <a:r>
              <a:rPr sz="1400" spc="45" dirty="0">
                <a:latin typeface="Arial MT"/>
                <a:cs typeface="Arial MT"/>
              </a:rPr>
              <a:t>virtual </a:t>
            </a:r>
            <a:r>
              <a:rPr sz="1400" dirty="0">
                <a:latin typeface="Arial MT"/>
                <a:cs typeface="Arial MT"/>
              </a:rPr>
              <a:t>desde</a:t>
            </a:r>
            <a:r>
              <a:rPr sz="1400" spc="2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cero</a:t>
            </a:r>
            <a:r>
              <a:rPr sz="1400" spc="3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con</a:t>
            </a:r>
            <a:r>
              <a:rPr sz="1400" spc="3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todo</a:t>
            </a:r>
            <a:r>
              <a:rPr sz="1400" spc="37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lo</a:t>
            </a:r>
            <a:r>
              <a:rPr sz="1400" spc="37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que</a:t>
            </a:r>
            <a:r>
              <a:rPr sz="1400" spc="29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queramos,</a:t>
            </a:r>
            <a:r>
              <a:rPr sz="1400" spc="204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pero</a:t>
            </a:r>
            <a:r>
              <a:rPr sz="1400" spc="3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un</a:t>
            </a:r>
            <a:r>
              <a:rPr sz="1400" spc="375" dirty="0">
                <a:latin typeface="Arial MT"/>
                <a:cs typeface="Arial MT"/>
              </a:rPr>
              <a:t> </a:t>
            </a:r>
            <a:r>
              <a:rPr sz="1400" b="1" dirty="0">
                <a:latin typeface="Arial"/>
                <a:cs typeface="Arial"/>
              </a:rPr>
              <a:t>mundo</a:t>
            </a:r>
            <a:r>
              <a:rPr sz="1400" b="1" spc="29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fantástico,</a:t>
            </a:r>
            <a:r>
              <a:rPr sz="1400" b="1" spc="295" dirty="0">
                <a:latin typeface="Arial"/>
                <a:cs typeface="Arial"/>
              </a:rPr>
              <a:t> </a:t>
            </a:r>
            <a:r>
              <a:rPr sz="1400" dirty="0">
                <a:latin typeface="Arial MT"/>
                <a:cs typeface="Arial MT"/>
              </a:rPr>
              <a:t>lo</a:t>
            </a:r>
            <a:r>
              <a:rPr sz="1400" spc="37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que</a:t>
            </a:r>
            <a:r>
              <a:rPr sz="1400" spc="26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hace</a:t>
            </a:r>
            <a:r>
              <a:rPr sz="1400" spc="2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la</a:t>
            </a:r>
            <a:r>
              <a:rPr sz="1400" spc="29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Realidad</a:t>
            </a:r>
            <a:r>
              <a:rPr sz="1400" spc="3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Aumentada</a:t>
            </a:r>
            <a:r>
              <a:rPr sz="1400" spc="26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es</a:t>
            </a:r>
            <a:r>
              <a:rPr sz="1400" spc="38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agregar</a:t>
            </a:r>
            <a:r>
              <a:rPr sz="1400" spc="40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elementos </a:t>
            </a:r>
            <a:r>
              <a:rPr sz="1400" spc="10" dirty="0">
                <a:latin typeface="Arial MT"/>
                <a:cs typeface="Arial MT"/>
              </a:rPr>
              <a:t>virtuales</a:t>
            </a:r>
            <a:r>
              <a:rPr sz="1400" spc="204" dirty="0">
                <a:latin typeface="Arial MT"/>
                <a:cs typeface="Arial MT"/>
              </a:rPr>
              <a:t> </a:t>
            </a:r>
            <a:r>
              <a:rPr sz="1400" spc="10" dirty="0">
                <a:latin typeface="Arial MT"/>
                <a:cs typeface="Arial MT"/>
              </a:rPr>
              <a:t>(información</a:t>
            </a:r>
            <a:r>
              <a:rPr sz="1400" spc="235" dirty="0">
                <a:latin typeface="Arial MT"/>
                <a:cs typeface="Arial MT"/>
              </a:rPr>
              <a:t> </a:t>
            </a:r>
            <a:r>
              <a:rPr sz="1400" spc="10" dirty="0">
                <a:latin typeface="Arial MT"/>
                <a:cs typeface="Arial MT"/>
              </a:rPr>
              <a:t>adicional</a:t>
            </a:r>
            <a:r>
              <a:rPr sz="1400" spc="240" dirty="0">
                <a:latin typeface="Arial MT"/>
                <a:cs typeface="Arial MT"/>
              </a:rPr>
              <a:t> </a:t>
            </a:r>
            <a:r>
              <a:rPr sz="1400" spc="10" dirty="0">
                <a:latin typeface="Arial MT"/>
                <a:cs typeface="Arial MT"/>
              </a:rPr>
              <a:t>en</a:t>
            </a:r>
            <a:r>
              <a:rPr sz="1400" spc="175" dirty="0">
                <a:latin typeface="Arial MT"/>
                <a:cs typeface="Arial MT"/>
              </a:rPr>
              <a:t> </a:t>
            </a:r>
            <a:r>
              <a:rPr sz="1400" spc="10" dirty="0">
                <a:latin typeface="Arial MT"/>
                <a:cs typeface="Arial MT"/>
              </a:rPr>
              <a:t>forma</a:t>
            </a:r>
            <a:r>
              <a:rPr sz="1400" spc="85" dirty="0">
                <a:latin typeface="Arial MT"/>
                <a:cs typeface="Arial MT"/>
              </a:rPr>
              <a:t> </a:t>
            </a:r>
            <a:r>
              <a:rPr sz="1400" spc="10" dirty="0">
                <a:latin typeface="Arial MT"/>
                <a:cs typeface="Arial MT"/>
              </a:rPr>
              <a:t>de</a:t>
            </a:r>
            <a:r>
              <a:rPr sz="1400" spc="90" dirty="0">
                <a:latin typeface="Arial MT"/>
                <a:cs typeface="Arial MT"/>
              </a:rPr>
              <a:t> </a:t>
            </a:r>
            <a:r>
              <a:rPr sz="1400" spc="45" dirty="0">
                <a:latin typeface="Arial MT"/>
                <a:cs typeface="Arial MT"/>
              </a:rPr>
              <a:t>gráficos</a:t>
            </a:r>
            <a:r>
              <a:rPr sz="1400" spc="215" dirty="0">
                <a:latin typeface="Arial MT"/>
                <a:cs typeface="Arial MT"/>
              </a:rPr>
              <a:t> </a:t>
            </a:r>
            <a:r>
              <a:rPr sz="1400" spc="10" dirty="0">
                <a:latin typeface="Arial MT"/>
                <a:cs typeface="Arial MT"/>
              </a:rPr>
              <a:t>o</a:t>
            </a:r>
            <a:r>
              <a:rPr sz="1400" spc="180" dirty="0">
                <a:latin typeface="Arial MT"/>
                <a:cs typeface="Arial MT"/>
              </a:rPr>
              <a:t> </a:t>
            </a:r>
            <a:r>
              <a:rPr sz="1400" spc="10" dirty="0">
                <a:latin typeface="Arial MT"/>
                <a:cs typeface="Arial MT"/>
              </a:rPr>
              <a:t>imágenes)</a:t>
            </a:r>
            <a:r>
              <a:rPr sz="1400" spc="110" dirty="0">
                <a:latin typeface="Arial MT"/>
                <a:cs typeface="Arial MT"/>
              </a:rPr>
              <a:t> </a:t>
            </a:r>
            <a:r>
              <a:rPr sz="1400" spc="10" dirty="0">
                <a:latin typeface="Arial MT"/>
                <a:cs typeface="Arial MT"/>
              </a:rPr>
              <a:t>a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b="1" dirty="0">
                <a:latin typeface="Arial"/>
                <a:cs typeface="Arial"/>
              </a:rPr>
              <a:t>nuestro</a:t>
            </a:r>
            <a:r>
              <a:rPr sz="1400" b="1" spc="11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entorno</a:t>
            </a:r>
            <a:r>
              <a:rPr sz="1400" b="1" spc="114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real.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71144" y="3727703"/>
            <a:ext cx="4364990" cy="2283460"/>
            <a:chOff x="771144" y="3727703"/>
            <a:chExt cx="4364990" cy="228346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1144" y="3727703"/>
              <a:ext cx="2447543" cy="137769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13304" y="4636007"/>
              <a:ext cx="2322575" cy="1374647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5919216" y="3727703"/>
            <a:ext cx="4544695" cy="2338070"/>
            <a:chOff x="5919216" y="3727703"/>
            <a:chExt cx="4544695" cy="233807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79664" y="3727703"/>
              <a:ext cx="2484119" cy="137464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19216" y="4690871"/>
              <a:ext cx="2520695" cy="1374647"/>
            </a:xfrm>
            <a:prstGeom prst="rect">
              <a:avLst/>
            </a:prstGeom>
          </p:spPr>
        </p:pic>
      </p:grpSp>
      <p:sp>
        <p:nvSpPr>
          <p:cNvPr id="10" name="Rectángulo 9">
            <a:extLst>
              <a:ext uri="{FF2B5EF4-FFF2-40B4-BE49-F238E27FC236}">
                <a16:creationId xmlns:a16="http://schemas.microsoft.com/office/drawing/2014/main" id="{273D6ADE-EF5C-76C0-FD3A-6909C5EC1171}"/>
              </a:ext>
            </a:extLst>
          </p:cNvPr>
          <p:cNvSpPr/>
          <p:nvPr/>
        </p:nvSpPr>
        <p:spPr>
          <a:xfrm>
            <a:off x="76200" y="6248400"/>
            <a:ext cx="1981200" cy="4577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913120" y="4511040"/>
            <a:ext cx="1972310" cy="1411605"/>
            <a:chOff x="5913120" y="4511040"/>
            <a:chExt cx="1972310" cy="1411605"/>
          </a:xfrm>
        </p:grpSpPr>
        <p:sp>
          <p:nvSpPr>
            <p:cNvPr id="3" name="object 3"/>
            <p:cNvSpPr/>
            <p:nvPr/>
          </p:nvSpPr>
          <p:spPr>
            <a:xfrm>
              <a:off x="6888480" y="4983480"/>
              <a:ext cx="984885" cy="927100"/>
            </a:xfrm>
            <a:custGeom>
              <a:avLst/>
              <a:gdLst/>
              <a:ahLst/>
              <a:cxnLst/>
              <a:rect l="l" t="t" r="r" b="b"/>
              <a:pathLst>
                <a:path w="984884" h="927100">
                  <a:moveTo>
                    <a:pt x="0" y="463296"/>
                  </a:moveTo>
                  <a:lnTo>
                    <a:pt x="231647" y="0"/>
                  </a:lnTo>
                  <a:lnTo>
                    <a:pt x="752856" y="0"/>
                  </a:lnTo>
                  <a:lnTo>
                    <a:pt x="984504" y="463296"/>
                  </a:lnTo>
                  <a:lnTo>
                    <a:pt x="752856" y="926592"/>
                  </a:lnTo>
                  <a:lnTo>
                    <a:pt x="231647" y="926592"/>
                  </a:lnTo>
                  <a:lnTo>
                    <a:pt x="0" y="463296"/>
                  </a:lnTo>
                  <a:close/>
                </a:path>
              </a:pathLst>
            </a:custGeom>
            <a:ln w="24384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925312" y="4523232"/>
              <a:ext cx="984885" cy="927100"/>
            </a:xfrm>
            <a:custGeom>
              <a:avLst/>
              <a:gdLst/>
              <a:ahLst/>
              <a:cxnLst/>
              <a:rect l="l" t="t" r="r" b="b"/>
              <a:pathLst>
                <a:path w="984884" h="927100">
                  <a:moveTo>
                    <a:pt x="752856" y="0"/>
                  </a:moveTo>
                  <a:lnTo>
                    <a:pt x="231647" y="0"/>
                  </a:lnTo>
                  <a:lnTo>
                    <a:pt x="0" y="463296"/>
                  </a:lnTo>
                  <a:lnTo>
                    <a:pt x="231647" y="926592"/>
                  </a:lnTo>
                  <a:lnTo>
                    <a:pt x="752856" y="926592"/>
                  </a:lnTo>
                  <a:lnTo>
                    <a:pt x="984504" y="463296"/>
                  </a:lnTo>
                  <a:lnTo>
                    <a:pt x="7528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925312" y="4523232"/>
              <a:ext cx="984885" cy="927100"/>
            </a:xfrm>
            <a:custGeom>
              <a:avLst/>
              <a:gdLst/>
              <a:ahLst/>
              <a:cxnLst/>
              <a:rect l="l" t="t" r="r" b="b"/>
              <a:pathLst>
                <a:path w="984884" h="927100">
                  <a:moveTo>
                    <a:pt x="0" y="463296"/>
                  </a:moveTo>
                  <a:lnTo>
                    <a:pt x="231647" y="0"/>
                  </a:lnTo>
                  <a:lnTo>
                    <a:pt x="752856" y="0"/>
                  </a:lnTo>
                  <a:lnTo>
                    <a:pt x="984504" y="463296"/>
                  </a:lnTo>
                  <a:lnTo>
                    <a:pt x="752856" y="926592"/>
                  </a:lnTo>
                  <a:lnTo>
                    <a:pt x="231647" y="926592"/>
                  </a:lnTo>
                  <a:lnTo>
                    <a:pt x="0" y="463296"/>
                  </a:lnTo>
                  <a:close/>
                </a:path>
              </a:pathLst>
            </a:custGeom>
            <a:ln w="24384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4160520" y="5023103"/>
            <a:ext cx="1868805" cy="1582420"/>
            <a:chOff x="4160520" y="5023103"/>
            <a:chExt cx="1868805" cy="1582420"/>
          </a:xfrm>
        </p:grpSpPr>
        <p:sp>
          <p:nvSpPr>
            <p:cNvPr id="7" name="object 7"/>
            <p:cNvSpPr/>
            <p:nvPr/>
          </p:nvSpPr>
          <p:spPr>
            <a:xfrm>
              <a:off x="4172712" y="5666231"/>
              <a:ext cx="988060" cy="927100"/>
            </a:xfrm>
            <a:custGeom>
              <a:avLst/>
              <a:gdLst/>
              <a:ahLst/>
              <a:cxnLst/>
              <a:rect l="l" t="t" r="r" b="b"/>
              <a:pathLst>
                <a:path w="988060" h="927100">
                  <a:moveTo>
                    <a:pt x="0" y="463296"/>
                  </a:moveTo>
                  <a:lnTo>
                    <a:pt x="231647" y="0"/>
                  </a:lnTo>
                  <a:lnTo>
                    <a:pt x="755904" y="0"/>
                  </a:lnTo>
                  <a:lnTo>
                    <a:pt x="987552" y="463296"/>
                  </a:lnTo>
                  <a:lnTo>
                    <a:pt x="755904" y="926592"/>
                  </a:lnTo>
                  <a:lnTo>
                    <a:pt x="231647" y="926592"/>
                  </a:lnTo>
                  <a:lnTo>
                    <a:pt x="0" y="463296"/>
                  </a:lnTo>
                  <a:close/>
                </a:path>
              </a:pathLst>
            </a:custGeom>
            <a:ln w="24384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29200" y="5035295"/>
              <a:ext cx="988060" cy="927100"/>
            </a:xfrm>
            <a:custGeom>
              <a:avLst/>
              <a:gdLst/>
              <a:ahLst/>
              <a:cxnLst/>
              <a:rect l="l" t="t" r="r" b="b"/>
              <a:pathLst>
                <a:path w="988060" h="927100">
                  <a:moveTo>
                    <a:pt x="755904" y="0"/>
                  </a:moveTo>
                  <a:lnTo>
                    <a:pt x="231647" y="0"/>
                  </a:lnTo>
                  <a:lnTo>
                    <a:pt x="0" y="463295"/>
                  </a:lnTo>
                  <a:lnTo>
                    <a:pt x="231647" y="926591"/>
                  </a:lnTo>
                  <a:lnTo>
                    <a:pt x="755904" y="926591"/>
                  </a:lnTo>
                  <a:lnTo>
                    <a:pt x="987552" y="463295"/>
                  </a:lnTo>
                  <a:lnTo>
                    <a:pt x="7559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029200" y="5035295"/>
              <a:ext cx="988060" cy="927100"/>
            </a:xfrm>
            <a:custGeom>
              <a:avLst/>
              <a:gdLst/>
              <a:ahLst/>
              <a:cxnLst/>
              <a:rect l="l" t="t" r="r" b="b"/>
              <a:pathLst>
                <a:path w="988060" h="927100">
                  <a:moveTo>
                    <a:pt x="0" y="463295"/>
                  </a:moveTo>
                  <a:lnTo>
                    <a:pt x="231647" y="0"/>
                  </a:lnTo>
                  <a:lnTo>
                    <a:pt x="755904" y="0"/>
                  </a:lnTo>
                  <a:lnTo>
                    <a:pt x="987552" y="463295"/>
                  </a:lnTo>
                  <a:lnTo>
                    <a:pt x="755904" y="926591"/>
                  </a:lnTo>
                  <a:lnTo>
                    <a:pt x="231647" y="926591"/>
                  </a:lnTo>
                  <a:lnTo>
                    <a:pt x="0" y="463295"/>
                  </a:lnTo>
                  <a:close/>
                </a:path>
              </a:pathLst>
            </a:custGeom>
            <a:ln w="24384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5044440" y="3989832"/>
            <a:ext cx="1009015" cy="951230"/>
            <a:chOff x="5044440" y="3989832"/>
            <a:chExt cx="1009015" cy="951230"/>
          </a:xfrm>
        </p:grpSpPr>
        <p:sp>
          <p:nvSpPr>
            <p:cNvPr id="11" name="object 11"/>
            <p:cNvSpPr/>
            <p:nvPr/>
          </p:nvSpPr>
          <p:spPr>
            <a:xfrm>
              <a:off x="5056632" y="4002024"/>
              <a:ext cx="984885" cy="927100"/>
            </a:xfrm>
            <a:custGeom>
              <a:avLst/>
              <a:gdLst/>
              <a:ahLst/>
              <a:cxnLst/>
              <a:rect l="l" t="t" r="r" b="b"/>
              <a:pathLst>
                <a:path w="984885" h="927100">
                  <a:moveTo>
                    <a:pt x="752856" y="0"/>
                  </a:moveTo>
                  <a:lnTo>
                    <a:pt x="231647" y="0"/>
                  </a:lnTo>
                  <a:lnTo>
                    <a:pt x="0" y="463295"/>
                  </a:lnTo>
                  <a:lnTo>
                    <a:pt x="231647" y="926591"/>
                  </a:lnTo>
                  <a:lnTo>
                    <a:pt x="752856" y="926591"/>
                  </a:lnTo>
                  <a:lnTo>
                    <a:pt x="984504" y="463295"/>
                  </a:lnTo>
                  <a:lnTo>
                    <a:pt x="7528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056632" y="4002024"/>
              <a:ext cx="984885" cy="927100"/>
            </a:xfrm>
            <a:custGeom>
              <a:avLst/>
              <a:gdLst/>
              <a:ahLst/>
              <a:cxnLst/>
              <a:rect l="l" t="t" r="r" b="b"/>
              <a:pathLst>
                <a:path w="984885" h="927100">
                  <a:moveTo>
                    <a:pt x="0" y="463295"/>
                  </a:moveTo>
                  <a:lnTo>
                    <a:pt x="231647" y="0"/>
                  </a:lnTo>
                  <a:lnTo>
                    <a:pt x="752856" y="0"/>
                  </a:lnTo>
                  <a:lnTo>
                    <a:pt x="984504" y="463295"/>
                  </a:lnTo>
                  <a:lnTo>
                    <a:pt x="752856" y="926591"/>
                  </a:lnTo>
                  <a:lnTo>
                    <a:pt x="231647" y="926591"/>
                  </a:lnTo>
                  <a:lnTo>
                    <a:pt x="0" y="463295"/>
                  </a:lnTo>
                  <a:close/>
                </a:path>
              </a:pathLst>
            </a:custGeom>
            <a:ln w="24384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801624" y="2889504"/>
            <a:ext cx="4511040" cy="3020695"/>
            <a:chOff x="801624" y="2889504"/>
            <a:chExt cx="4511040" cy="3020695"/>
          </a:xfrm>
        </p:grpSpPr>
        <p:sp>
          <p:nvSpPr>
            <p:cNvPr id="14" name="object 14"/>
            <p:cNvSpPr/>
            <p:nvPr/>
          </p:nvSpPr>
          <p:spPr>
            <a:xfrm>
              <a:off x="3288791" y="3944112"/>
              <a:ext cx="988060" cy="927100"/>
            </a:xfrm>
            <a:custGeom>
              <a:avLst/>
              <a:gdLst/>
              <a:ahLst/>
              <a:cxnLst/>
              <a:rect l="l" t="t" r="r" b="b"/>
              <a:pathLst>
                <a:path w="988060" h="927100">
                  <a:moveTo>
                    <a:pt x="0" y="463295"/>
                  </a:moveTo>
                  <a:lnTo>
                    <a:pt x="231647" y="0"/>
                  </a:lnTo>
                  <a:lnTo>
                    <a:pt x="755904" y="0"/>
                  </a:lnTo>
                  <a:lnTo>
                    <a:pt x="987552" y="463295"/>
                  </a:lnTo>
                  <a:lnTo>
                    <a:pt x="755904" y="926591"/>
                  </a:lnTo>
                  <a:lnTo>
                    <a:pt x="231647" y="926591"/>
                  </a:lnTo>
                  <a:lnTo>
                    <a:pt x="0" y="463295"/>
                  </a:lnTo>
                  <a:close/>
                </a:path>
              </a:pathLst>
            </a:custGeom>
            <a:ln w="24384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172712" y="3429000"/>
              <a:ext cx="988060" cy="927100"/>
            </a:xfrm>
            <a:custGeom>
              <a:avLst/>
              <a:gdLst/>
              <a:ahLst/>
              <a:cxnLst/>
              <a:rect l="l" t="t" r="r" b="b"/>
              <a:pathLst>
                <a:path w="988060" h="927100">
                  <a:moveTo>
                    <a:pt x="755904" y="0"/>
                  </a:moveTo>
                  <a:lnTo>
                    <a:pt x="231647" y="0"/>
                  </a:lnTo>
                  <a:lnTo>
                    <a:pt x="0" y="463295"/>
                  </a:lnTo>
                  <a:lnTo>
                    <a:pt x="231647" y="926591"/>
                  </a:lnTo>
                  <a:lnTo>
                    <a:pt x="755904" y="926591"/>
                  </a:lnTo>
                  <a:lnTo>
                    <a:pt x="987552" y="463295"/>
                  </a:lnTo>
                  <a:lnTo>
                    <a:pt x="7559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172712" y="3429000"/>
              <a:ext cx="988060" cy="927100"/>
            </a:xfrm>
            <a:custGeom>
              <a:avLst/>
              <a:gdLst/>
              <a:ahLst/>
              <a:cxnLst/>
              <a:rect l="l" t="t" r="r" b="b"/>
              <a:pathLst>
                <a:path w="988060" h="927100">
                  <a:moveTo>
                    <a:pt x="0" y="463295"/>
                  </a:moveTo>
                  <a:lnTo>
                    <a:pt x="231647" y="0"/>
                  </a:lnTo>
                  <a:lnTo>
                    <a:pt x="755904" y="0"/>
                  </a:lnTo>
                  <a:lnTo>
                    <a:pt x="987552" y="463295"/>
                  </a:lnTo>
                  <a:lnTo>
                    <a:pt x="755904" y="926591"/>
                  </a:lnTo>
                  <a:lnTo>
                    <a:pt x="231647" y="926591"/>
                  </a:lnTo>
                  <a:lnTo>
                    <a:pt x="0" y="463295"/>
                  </a:lnTo>
                  <a:close/>
                </a:path>
              </a:pathLst>
            </a:custGeom>
            <a:ln w="24384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1624" y="2901696"/>
              <a:ext cx="2234183" cy="247192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35808" y="4343400"/>
              <a:ext cx="2276855" cy="1566671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288791" y="2901696"/>
              <a:ext cx="988060" cy="927100"/>
            </a:xfrm>
            <a:custGeom>
              <a:avLst/>
              <a:gdLst/>
              <a:ahLst/>
              <a:cxnLst/>
              <a:rect l="l" t="t" r="r" b="b"/>
              <a:pathLst>
                <a:path w="988060" h="927100">
                  <a:moveTo>
                    <a:pt x="755904" y="0"/>
                  </a:moveTo>
                  <a:lnTo>
                    <a:pt x="231647" y="0"/>
                  </a:lnTo>
                  <a:lnTo>
                    <a:pt x="0" y="463296"/>
                  </a:lnTo>
                  <a:lnTo>
                    <a:pt x="231647" y="926592"/>
                  </a:lnTo>
                  <a:lnTo>
                    <a:pt x="755904" y="926592"/>
                  </a:lnTo>
                  <a:lnTo>
                    <a:pt x="987552" y="463296"/>
                  </a:lnTo>
                  <a:lnTo>
                    <a:pt x="7559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288791" y="2901696"/>
              <a:ext cx="988060" cy="927100"/>
            </a:xfrm>
            <a:custGeom>
              <a:avLst/>
              <a:gdLst/>
              <a:ahLst/>
              <a:cxnLst/>
              <a:rect l="l" t="t" r="r" b="b"/>
              <a:pathLst>
                <a:path w="988060" h="927100">
                  <a:moveTo>
                    <a:pt x="0" y="463296"/>
                  </a:moveTo>
                  <a:lnTo>
                    <a:pt x="231647" y="0"/>
                  </a:lnTo>
                  <a:lnTo>
                    <a:pt x="755904" y="0"/>
                  </a:lnTo>
                  <a:lnTo>
                    <a:pt x="987552" y="463296"/>
                  </a:lnTo>
                  <a:lnTo>
                    <a:pt x="755904" y="926592"/>
                  </a:lnTo>
                  <a:lnTo>
                    <a:pt x="231647" y="926592"/>
                  </a:lnTo>
                  <a:lnTo>
                    <a:pt x="0" y="463296"/>
                  </a:lnTo>
                  <a:close/>
                </a:path>
              </a:pathLst>
            </a:custGeom>
            <a:ln w="24384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52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100" dirty="0"/>
              <a:t>Simulación</a:t>
            </a:r>
            <a:r>
              <a:rPr spc="245" dirty="0"/>
              <a:t> </a:t>
            </a:r>
            <a:r>
              <a:rPr spc="-25" dirty="0"/>
              <a:t>3D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687931" y="1384222"/>
            <a:ext cx="10828020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1600" spc="60" dirty="0">
                <a:latin typeface="Arial MT"/>
                <a:cs typeface="Arial MT"/>
              </a:rPr>
              <a:t>Los</a:t>
            </a:r>
            <a:r>
              <a:rPr sz="1600" spc="229" dirty="0">
                <a:latin typeface="Arial MT"/>
                <a:cs typeface="Arial MT"/>
              </a:rPr>
              <a:t> </a:t>
            </a:r>
            <a:r>
              <a:rPr sz="1600" spc="60" dirty="0">
                <a:latin typeface="Arial MT"/>
                <a:cs typeface="Arial MT"/>
              </a:rPr>
              <a:t>gráficos</a:t>
            </a:r>
            <a:r>
              <a:rPr sz="1600" spc="2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3D</a:t>
            </a:r>
            <a:r>
              <a:rPr sz="1600" spc="105" dirty="0">
                <a:latin typeface="Arial MT"/>
                <a:cs typeface="Arial MT"/>
              </a:rPr>
              <a:t> </a:t>
            </a:r>
            <a:r>
              <a:rPr sz="1600" spc="60" dirty="0">
                <a:latin typeface="Arial MT"/>
                <a:cs typeface="Arial MT"/>
              </a:rPr>
              <a:t>por</a:t>
            </a:r>
            <a:r>
              <a:rPr sz="1600" spc="240" dirty="0">
                <a:latin typeface="Arial MT"/>
                <a:cs typeface="Arial MT"/>
              </a:rPr>
              <a:t> </a:t>
            </a:r>
            <a:r>
              <a:rPr sz="1600" spc="60" dirty="0">
                <a:latin typeface="Arial MT"/>
                <a:cs typeface="Arial MT"/>
              </a:rPr>
              <a:t>computadora</a:t>
            </a:r>
            <a:r>
              <a:rPr sz="1600" spc="130" dirty="0">
                <a:latin typeface="Arial MT"/>
                <a:cs typeface="Arial MT"/>
              </a:rPr>
              <a:t> </a:t>
            </a:r>
            <a:r>
              <a:rPr sz="1600" spc="55" dirty="0">
                <a:latin typeface="Arial MT"/>
                <a:cs typeface="Arial MT"/>
              </a:rPr>
              <a:t>utilizan</a:t>
            </a:r>
            <a:r>
              <a:rPr sz="1600" spc="210" dirty="0">
                <a:latin typeface="Arial MT"/>
                <a:cs typeface="Arial MT"/>
              </a:rPr>
              <a:t> </a:t>
            </a:r>
            <a:r>
              <a:rPr sz="1600" spc="55" dirty="0">
                <a:latin typeface="Arial MT"/>
                <a:cs typeface="Arial MT"/>
              </a:rPr>
              <a:t>una</a:t>
            </a:r>
            <a:r>
              <a:rPr sz="1600" spc="140" dirty="0">
                <a:latin typeface="Arial MT"/>
                <a:cs typeface="Arial MT"/>
              </a:rPr>
              <a:t> </a:t>
            </a:r>
            <a:r>
              <a:rPr sz="1600" spc="45" dirty="0">
                <a:latin typeface="Arial MT"/>
                <a:cs typeface="Arial MT"/>
              </a:rPr>
              <a:t>representación</a:t>
            </a:r>
            <a:r>
              <a:rPr sz="1600" spc="235" dirty="0">
                <a:latin typeface="Arial MT"/>
                <a:cs typeface="Arial MT"/>
              </a:rPr>
              <a:t> </a:t>
            </a:r>
            <a:r>
              <a:rPr sz="1600" spc="60" dirty="0">
                <a:latin typeface="Arial MT"/>
                <a:cs typeface="Arial MT"/>
              </a:rPr>
              <a:t>tridimensional</a:t>
            </a:r>
            <a:r>
              <a:rPr sz="1600" spc="2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</a:t>
            </a:r>
            <a:r>
              <a:rPr sz="1600" spc="1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datos</a:t>
            </a:r>
            <a:r>
              <a:rPr sz="1600" spc="210" dirty="0">
                <a:latin typeface="Arial MT"/>
                <a:cs typeface="Arial MT"/>
              </a:rPr>
              <a:t> </a:t>
            </a:r>
            <a:r>
              <a:rPr sz="1600" spc="55" dirty="0">
                <a:latin typeface="Arial MT"/>
                <a:cs typeface="Arial MT"/>
              </a:rPr>
              <a:t>geométricos</a:t>
            </a:r>
            <a:r>
              <a:rPr sz="1600" spc="229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(a</a:t>
            </a:r>
            <a:r>
              <a:rPr sz="1600" spc="140" dirty="0">
                <a:latin typeface="Arial MT"/>
                <a:cs typeface="Arial MT"/>
              </a:rPr>
              <a:t> </a:t>
            </a:r>
            <a:r>
              <a:rPr sz="1600" spc="35" dirty="0">
                <a:latin typeface="Arial MT"/>
                <a:cs typeface="Arial MT"/>
              </a:rPr>
              <a:t>menudo </a:t>
            </a:r>
            <a:r>
              <a:rPr sz="1600" spc="55" dirty="0">
                <a:latin typeface="Arial MT"/>
                <a:cs typeface="Arial MT"/>
              </a:rPr>
              <a:t>cartesianos)</a:t>
            </a:r>
            <a:r>
              <a:rPr sz="1600" spc="235" dirty="0">
                <a:latin typeface="Arial MT"/>
                <a:cs typeface="Arial MT"/>
              </a:rPr>
              <a:t> </a:t>
            </a:r>
            <a:r>
              <a:rPr sz="1600" spc="55" dirty="0">
                <a:latin typeface="Arial MT"/>
                <a:cs typeface="Arial MT"/>
              </a:rPr>
              <a:t>que</a:t>
            </a:r>
            <a:r>
              <a:rPr sz="1600" spc="2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se</a:t>
            </a:r>
            <a:r>
              <a:rPr sz="1600" spc="2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almacenan</a:t>
            </a:r>
            <a:r>
              <a:rPr sz="1600" spc="3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en</a:t>
            </a:r>
            <a:r>
              <a:rPr sz="1600" spc="3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el</a:t>
            </a:r>
            <a:r>
              <a:rPr sz="1600" spc="340" dirty="0">
                <a:latin typeface="Arial MT"/>
                <a:cs typeface="Arial MT"/>
              </a:rPr>
              <a:t> </a:t>
            </a:r>
            <a:r>
              <a:rPr sz="1600" spc="45" dirty="0">
                <a:latin typeface="Arial MT"/>
                <a:cs typeface="Arial MT"/>
              </a:rPr>
              <a:t>ordenador</a:t>
            </a:r>
            <a:r>
              <a:rPr sz="1600" spc="320" dirty="0">
                <a:latin typeface="Arial MT"/>
                <a:cs typeface="Arial MT"/>
              </a:rPr>
              <a:t> </a:t>
            </a:r>
            <a:r>
              <a:rPr sz="1600" spc="45" dirty="0">
                <a:latin typeface="Arial MT"/>
                <a:cs typeface="Arial MT"/>
              </a:rPr>
              <a:t>con</a:t>
            </a:r>
            <a:r>
              <a:rPr sz="1600" spc="3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el</a:t>
            </a:r>
            <a:r>
              <a:rPr sz="1600" spc="340" dirty="0">
                <a:latin typeface="Arial MT"/>
                <a:cs typeface="Arial MT"/>
              </a:rPr>
              <a:t> </a:t>
            </a:r>
            <a:r>
              <a:rPr sz="1600" spc="70" dirty="0">
                <a:latin typeface="Arial MT"/>
                <a:cs typeface="Arial MT"/>
              </a:rPr>
              <a:t>propósito</a:t>
            </a:r>
            <a:r>
              <a:rPr sz="1600" spc="35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</a:t>
            </a:r>
            <a:r>
              <a:rPr sz="1600" spc="2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realizar</a:t>
            </a:r>
            <a:r>
              <a:rPr sz="1600" spc="330" dirty="0">
                <a:latin typeface="Arial MT"/>
                <a:cs typeface="Arial MT"/>
              </a:rPr>
              <a:t> </a:t>
            </a:r>
            <a:r>
              <a:rPr sz="1600" spc="60" dirty="0">
                <a:latin typeface="Arial MT"/>
                <a:cs typeface="Arial MT"/>
              </a:rPr>
              <a:t>cálculos</a:t>
            </a:r>
            <a:r>
              <a:rPr sz="1600" spc="3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y</a:t>
            </a:r>
            <a:r>
              <a:rPr sz="1600" spc="3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representar</a:t>
            </a:r>
            <a:r>
              <a:rPr sz="1600" spc="35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imágenes </a:t>
            </a:r>
            <a:r>
              <a:rPr sz="1600" dirty="0">
                <a:latin typeface="Arial MT"/>
                <a:cs typeface="Arial MT"/>
              </a:rPr>
              <a:t>2D,</a:t>
            </a:r>
            <a:r>
              <a:rPr sz="1600" spc="100" dirty="0">
                <a:latin typeface="Arial MT"/>
                <a:cs typeface="Arial MT"/>
              </a:rPr>
              <a:t> </a:t>
            </a:r>
            <a:r>
              <a:rPr sz="1600" spc="55" dirty="0">
                <a:latin typeface="Arial MT"/>
                <a:cs typeface="Arial MT"/>
              </a:rPr>
              <a:t>que</a:t>
            </a:r>
            <a:r>
              <a:rPr sz="1600" spc="16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se</a:t>
            </a:r>
            <a:r>
              <a:rPr sz="1600" spc="16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pueden</a:t>
            </a:r>
            <a:r>
              <a:rPr sz="1600" spc="27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almacenar</a:t>
            </a:r>
            <a:r>
              <a:rPr sz="1600" spc="27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para</a:t>
            </a:r>
            <a:r>
              <a:rPr sz="1600" spc="16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verlas</a:t>
            </a:r>
            <a:r>
              <a:rPr sz="1600" spc="27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más</a:t>
            </a:r>
            <a:r>
              <a:rPr sz="1600" spc="27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tarde</a:t>
            </a:r>
            <a:r>
              <a:rPr sz="1600" spc="1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</a:t>
            </a:r>
            <a:r>
              <a:rPr sz="1600" spc="275" dirty="0">
                <a:latin typeface="Arial MT"/>
                <a:cs typeface="Arial MT"/>
              </a:rPr>
              <a:t> </a:t>
            </a:r>
            <a:r>
              <a:rPr sz="1600" spc="50" dirty="0">
                <a:latin typeface="Arial MT"/>
                <a:cs typeface="Arial MT"/>
              </a:rPr>
              <a:t>mostrarlas</a:t>
            </a:r>
            <a:r>
              <a:rPr sz="1600" spc="27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en</a:t>
            </a:r>
            <a:r>
              <a:rPr sz="1600" spc="275" dirty="0">
                <a:latin typeface="Arial MT"/>
                <a:cs typeface="Arial MT"/>
              </a:rPr>
              <a:t> </a:t>
            </a:r>
            <a:r>
              <a:rPr sz="1600" spc="55" dirty="0">
                <a:latin typeface="Arial MT"/>
                <a:cs typeface="Arial MT"/>
              </a:rPr>
              <a:t>tiempo</a:t>
            </a:r>
            <a:r>
              <a:rPr sz="1600" spc="27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real.</a:t>
            </a:r>
            <a:r>
              <a:rPr sz="1600" spc="10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Además,</a:t>
            </a:r>
            <a:r>
              <a:rPr sz="1600" spc="10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el</a:t>
            </a:r>
            <a:r>
              <a:rPr sz="1600" spc="285" dirty="0">
                <a:latin typeface="Arial MT"/>
                <a:cs typeface="Arial MT"/>
              </a:rPr>
              <a:t> </a:t>
            </a:r>
            <a:r>
              <a:rPr sz="1600" spc="55" dirty="0">
                <a:latin typeface="Arial MT"/>
                <a:cs typeface="Arial MT"/>
              </a:rPr>
              <a:t>término</a:t>
            </a:r>
            <a:r>
              <a:rPr sz="1600" spc="28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se</a:t>
            </a:r>
            <a:r>
              <a:rPr sz="1600" spc="165" dirty="0">
                <a:latin typeface="Arial MT"/>
                <a:cs typeface="Arial MT"/>
              </a:rPr>
              <a:t> </a:t>
            </a:r>
            <a:r>
              <a:rPr sz="1600" spc="50" dirty="0">
                <a:latin typeface="Arial MT"/>
                <a:cs typeface="Arial MT"/>
              </a:rPr>
              <a:t>puede </a:t>
            </a:r>
            <a:r>
              <a:rPr sz="1600" dirty="0">
                <a:latin typeface="Arial MT"/>
                <a:cs typeface="Arial MT"/>
              </a:rPr>
              <a:t>referir</a:t>
            </a:r>
            <a:r>
              <a:rPr sz="1600" spc="229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al</a:t>
            </a:r>
            <a:r>
              <a:rPr sz="1600" spc="240" dirty="0">
                <a:latin typeface="Arial MT"/>
                <a:cs typeface="Arial MT"/>
              </a:rPr>
              <a:t> </a:t>
            </a:r>
            <a:r>
              <a:rPr sz="1600" spc="50" dirty="0">
                <a:latin typeface="Arial MT"/>
                <a:cs typeface="Arial MT"/>
              </a:rPr>
              <a:t>proceso</a:t>
            </a:r>
            <a:r>
              <a:rPr sz="1600" spc="2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</a:t>
            </a:r>
            <a:r>
              <a:rPr sz="1600" spc="125" dirty="0">
                <a:latin typeface="Arial MT"/>
                <a:cs typeface="Arial MT"/>
              </a:rPr>
              <a:t> </a:t>
            </a:r>
            <a:r>
              <a:rPr sz="1600" spc="45" dirty="0">
                <a:latin typeface="Arial MT"/>
                <a:cs typeface="Arial MT"/>
              </a:rPr>
              <a:t>creación</a:t>
            </a:r>
            <a:r>
              <a:rPr sz="1600" spc="204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</a:t>
            </a:r>
            <a:r>
              <a:rPr sz="1600" spc="125" dirty="0">
                <a:latin typeface="Arial MT"/>
                <a:cs typeface="Arial MT"/>
              </a:rPr>
              <a:t> </a:t>
            </a:r>
            <a:r>
              <a:rPr sz="1600" spc="70" dirty="0">
                <a:latin typeface="Arial MT"/>
                <a:cs typeface="Arial MT"/>
              </a:rPr>
              <a:t>dichos</a:t>
            </a:r>
            <a:r>
              <a:rPr sz="1600" spc="195" dirty="0">
                <a:latin typeface="Arial MT"/>
                <a:cs typeface="Arial MT"/>
              </a:rPr>
              <a:t> </a:t>
            </a:r>
            <a:r>
              <a:rPr sz="1600" spc="60" dirty="0">
                <a:latin typeface="Arial MT"/>
                <a:cs typeface="Arial MT"/>
              </a:rPr>
              <a:t>gráficos,</a:t>
            </a:r>
            <a:r>
              <a:rPr sz="1600" spc="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</a:t>
            </a:r>
            <a:r>
              <a:rPr sz="1600" spc="229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al</a:t>
            </a:r>
            <a:r>
              <a:rPr sz="1600" spc="2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campo</a:t>
            </a:r>
            <a:r>
              <a:rPr sz="1600" spc="2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</a:t>
            </a:r>
            <a:r>
              <a:rPr sz="1600" spc="125" dirty="0">
                <a:latin typeface="Arial MT"/>
                <a:cs typeface="Arial MT"/>
              </a:rPr>
              <a:t> </a:t>
            </a:r>
            <a:r>
              <a:rPr sz="1600" spc="55" dirty="0">
                <a:latin typeface="Arial MT"/>
                <a:cs typeface="Arial MT"/>
              </a:rPr>
              <a:t>estudio</a:t>
            </a:r>
            <a:r>
              <a:rPr sz="1600" spc="20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</a:t>
            </a:r>
            <a:r>
              <a:rPr sz="1600" spc="130" dirty="0">
                <a:latin typeface="Arial MT"/>
                <a:cs typeface="Arial MT"/>
              </a:rPr>
              <a:t> </a:t>
            </a:r>
            <a:r>
              <a:rPr sz="1600" spc="45" dirty="0">
                <a:latin typeface="Arial MT"/>
                <a:cs typeface="Arial MT"/>
              </a:rPr>
              <a:t>técnicas</a:t>
            </a:r>
            <a:r>
              <a:rPr sz="1600" spc="2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y</a:t>
            </a:r>
            <a:r>
              <a:rPr sz="1600" spc="195" dirty="0">
                <a:latin typeface="Arial MT"/>
                <a:cs typeface="Arial MT"/>
              </a:rPr>
              <a:t> </a:t>
            </a:r>
            <a:r>
              <a:rPr sz="1600" spc="50" dirty="0">
                <a:latin typeface="Arial MT"/>
                <a:cs typeface="Arial MT"/>
              </a:rPr>
              <a:t>tecnología</a:t>
            </a:r>
            <a:r>
              <a:rPr sz="1600" spc="13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relacionadas </a:t>
            </a:r>
            <a:r>
              <a:rPr sz="1600" spc="55" dirty="0">
                <a:latin typeface="Arial MT"/>
                <a:cs typeface="Arial MT"/>
              </a:rPr>
              <a:t>con</a:t>
            </a:r>
            <a:r>
              <a:rPr sz="1600" spc="85" dirty="0">
                <a:latin typeface="Arial MT"/>
                <a:cs typeface="Arial MT"/>
              </a:rPr>
              <a:t> </a:t>
            </a:r>
            <a:r>
              <a:rPr sz="1600" spc="60" dirty="0">
                <a:latin typeface="Arial MT"/>
                <a:cs typeface="Arial MT"/>
              </a:rPr>
              <a:t>los</a:t>
            </a:r>
            <a:r>
              <a:rPr sz="1600" spc="85" dirty="0">
                <a:latin typeface="Arial MT"/>
                <a:cs typeface="Arial MT"/>
              </a:rPr>
              <a:t> </a:t>
            </a:r>
            <a:r>
              <a:rPr sz="1600" spc="60" dirty="0">
                <a:latin typeface="Arial MT"/>
                <a:cs typeface="Arial MT"/>
              </a:rPr>
              <a:t>gráficos</a:t>
            </a:r>
            <a:r>
              <a:rPr sz="1600" spc="85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3D.</a:t>
            </a:r>
            <a:endParaRPr sz="1600">
              <a:latin typeface="Arial MT"/>
              <a:cs typeface="Arial MT"/>
            </a:endParaRPr>
          </a:p>
        </p:txBody>
      </p:sp>
      <p:pic>
        <p:nvPicPr>
          <p:cNvPr id="23" name="object 2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72656" y="3063240"/>
            <a:ext cx="3657599" cy="2063495"/>
          </a:xfrm>
          <a:prstGeom prst="rect">
            <a:avLst/>
          </a:prstGeom>
        </p:spPr>
      </p:pic>
      <p:grpSp>
        <p:nvGrpSpPr>
          <p:cNvPr id="24" name="object 24"/>
          <p:cNvGrpSpPr/>
          <p:nvPr/>
        </p:nvGrpSpPr>
        <p:grpSpPr>
          <a:xfrm>
            <a:off x="5943600" y="5577840"/>
            <a:ext cx="1012190" cy="951230"/>
            <a:chOff x="5943600" y="5577840"/>
            <a:chExt cx="1012190" cy="951230"/>
          </a:xfrm>
        </p:grpSpPr>
        <p:sp>
          <p:nvSpPr>
            <p:cNvPr id="25" name="object 25"/>
            <p:cNvSpPr/>
            <p:nvPr/>
          </p:nvSpPr>
          <p:spPr>
            <a:xfrm>
              <a:off x="5955791" y="5590032"/>
              <a:ext cx="988060" cy="927100"/>
            </a:xfrm>
            <a:custGeom>
              <a:avLst/>
              <a:gdLst/>
              <a:ahLst/>
              <a:cxnLst/>
              <a:rect l="l" t="t" r="r" b="b"/>
              <a:pathLst>
                <a:path w="988059" h="927100">
                  <a:moveTo>
                    <a:pt x="755904" y="0"/>
                  </a:moveTo>
                  <a:lnTo>
                    <a:pt x="231647" y="0"/>
                  </a:lnTo>
                  <a:lnTo>
                    <a:pt x="0" y="463296"/>
                  </a:lnTo>
                  <a:lnTo>
                    <a:pt x="231647" y="926592"/>
                  </a:lnTo>
                  <a:lnTo>
                    <a:pt x="755904" y="926592"/>
                  </a:lnTo>
                  <a:lnTo>
                    <a:pt x="987552" y="463296"/>
                  </a:lnTo>
                  <a:lnTo>
                    <a:pt x="7559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955791" y="5590032"/>
              <a:ext cx="988060" cy="927100"/>
            </a:xfrm>
            <a:custGeom>
              <a:avLst/>
              <a:gdLst/>
              <a:ahLst/>
              <a:cxnLst/>
              <a:rect l="l" t="t" r="r" b="b"/>
              <a:pathLst>
                <a:path w="988059" h="927100">
                  <a:moveTo>
                    <a:pt x="0" y="463296"/>
                  </a:moveTo>
                  <a:lnTo>
                    <a:pt x="231647" y="0"/>
                  </a:lnTo>
                  <a:lnTo>
                    <a:pt x="755904" y="0"/>
                  </a:lnTo>
                  <a:lnTo>
                    <a:pt x="987552" y="463296"/>
                  </a:lnTo>
                  <a:lnTo>
                    <a:pt x="755904" y="926592"/>
                  </a:lnTo>
                  <a:lnTo>
                    <a:pt x="231647" y="926592"/>
                  </a:lnTo>
                  <a:lnTo>
                    <a:pt x="0" y="463296"/>
                  </a:lnTo>
                  <a:close/>
                </a:path>
              </a:pathLst>
            </a:custGeom>
            <a:ln w="24384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" name="object 27"/>
          <p:cNvGrpSpPr/>
          <p:nvPr/>
        </p:nvGrpSpPr>
        <p:grpSpPr>
          <a:xfrm>
            <a:off x="7799831" y="5535167"/>
            <a:ext cx="1009015" cy="951230"/>
            <a:chOff x="7799831" y="5535167"/>
            <a:chExt cx="1009015" cy="951230"/>
          </a:xfrm>
        </p:grpSpPr>
        <p:sp>
          <p:nvSpPr>
            <p:cNvPr id="28" name="object 28"/>
            <p:cNvSpPr/>
            <p:nvPr/>
          </p:nvSpPr>
          <p:spPr>
            <a:xfrm>
              <a:off x="7812023" y="5547359"/>
              <a:ext cx="984885" cy="927100"/>
            </a:xfrm>
            <a:custGeom>
              <a:avLst/>
              <a:gdLst/>
              <a:ahLst/>
              <a:cxnLst/>
              <a:rect l="l" t="t" r="r" b="b"/>
              <a:pathLst>
                <a:path w="984884" h="927100">
                  <a:moveTo>
                    <a:pt x="752856" y="0"/>
                  </a:moveTo>
                  <a:lnTo>
                    <a:pt x="231647" y="0"/>
                  </a:lnTo>
                  <a:lnTo>
                    <a:pt x="0" y="463295"/>
                  </a:lnTo>
                  <a:lnTo>
                    <a:pt x="231647" y="926591"/>
                  </a:lnTo>
                  <a:lnTo>
                    <a:pt x="752856" y="926591"/>
                  </a:lnTo>
                  <a:lnTo>
                    <a:pt x="984504" y="463295"/>
                  </a:lnTo>
                  <a:lnTo>
                    <a:pt x="7528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812023" y="5547359"/>
              <a:ext cx="984885" cy="927100"/>
            </a:xfrm>
            <a:custGeom>
              <a:avLst/>
              <a:gdLst/>
              <a:ahLst/>
              <a:cxnLst/>
              <a:rect l="l" t="t" r="r" b="b"/>
              <a:pathLst>
                <a:path w="984884" h="927100">
                  <a:moveTo>
                    <a:pt x="0" y="463295"/>
                  </a:moveTo>
                  <a:lnTo>
                    <a:pt x="231647" y="0"/>
                  </a:lnTo>
                  <a:lnTo>
                    <a:pt x="752856" y="0"/>
                  </a:lnTo>
                  <a:lnTo>
                    <a:pt x="984504" y="463295"/>
                  </a:lnTo>
                  <a:lnTo>
                    <a:pt x="752856" y="926591"/>
                  </a:lnTo>
                  <a:lnTo>
                    <a:pt x="231647" y="926591"/>
                  </a:lnTo>
                  <a:lnTo>
                    <a:pt x="0" y="463295"/>
                  </a:lnTo>
                  <a:close/>
                </a:path>
              </a:pathLst>
            </a:custGeom>
            <a:ln w="24384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Rectángulo 29">
            <a:extLst>
              <a:ext uri="{FF2B5EF4-FFF2-40B4-BE49-F238E27FC236}">
                <a16:creationId xmlns:a16="http://schemas.microsoft.com/office/drawing/2014/main" id="{53A6EBDA-F204-724E-07D1-4F05B9124D63}"/>
              </a:ext>
            </a:extLst>
          </p:cNvPr>
          <p:cNvSpPr/>
          <p:nvPr/>
        </p:nvSpPr>
        <p:spPr>
          <a:xfrm>
            <a:off x="76200" y="6248400"/>
            <a:ext cx="1981200" cy="4577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90016" y="3660647"/>
            <a:ext cx="1911350" cy="1508760"/>
            <a:chOff x="890016" y="3660647"/>
            <a:chExt cx="1911350" cy="1508760"/>
          </a:xfrm>
        </p:grpSpPr>
        <p:sp>
          <p:nvSpPr>
            <p:cNvPr id="3" name="object 3"/>
            <p:cNvSpPr/>
            <p:nvPr/>
          </p:nvSpPr>
          <p:spPr>
            <a:xfrm>
              <a:off x="1804416" y="4230623"/>
              <a:ext cx="984885" cy="927100"/>
            </a:xfrm>
            <a:custGeom>
              <a:avLst/>
              <a:gdLst/>
              <a:ahLst/>
              <a:cxnLst/>
              <a:rect l="l" t="t" r="r" b="b"/>
              <a:pathLst>
                <a:path w="984885" h="927100">
                  <a:moveTo>
                    <a:pt x="0" y="463295"/>
                  </a:moveTo>
                  <a:lnTo>
                    <a:pt x="231647" y="0"/>
                  </a:lnTo>
                  <a:lnTo>
                    <a:pt x="752856" y="0"/>
                  </a:lnTo>
                  <a:lnTo>
                    <a:pt x="984504" y="463295"/>
                  </a:lnTo>
                  <a:lnTo>
                    <a:pt x="752856" y="926591"/>
                  </a:lnTo>
                  <a:lnTo>
                    <a:pt x="231647" y="926591"/>
                  </a:lnTo>
                  <a:lnTo>
                    <a:pt x="0" y="463295"/>
                  </a:lnTo>
                  <a:close/>
                </a:path>
              </a:pathLst>
            </a:custGeom>
            <a:ln w="24384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02208" y="3672839"/>
              <a:ext cx="984885" cy="927100"/>
            </a:xfrm>
            <a:custGeom>
              <a:avLst/>
              <a:gdLst/>
              <a:ahLst/>
              <a:cxnLst/>
              <a:rect l="l" t="t" r="r" b="b"/>
              <a:pathLst>
                <a:path w="984885" h="927100">
                  <a:moveTo>
                    <a:pt x="752856" y="0"/>
                  </a:moveTo>
                  <a:lnTo>
                    <a:pt x="231647" y="0"/>
                  </a:lnTo>
                  <a:lnTo>
                    <a:pt x="0" y="463295"/>
                  </a:lnTo>
                  <a:lnTo>
                    <a:pt x="231647" y="926591"/>
                  </a:lnTo>
                  <a:lnTo>
                    <a:pt x="752856" y="926591"/>
                  </a:lnTo>
                  <a:lnTo>
                    <a:pt x="984504" y="463295"/>
                  </a:lnTo>
                  <a:lnTo>
                    <a:pt x="7528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02208" y="3672839"/>
              <a:ext cx="984885" cy="927100"/>
            </a:xfrm>
            <a:custGeom>
              <a:avLst/>
              <a:gdLst/>
              <a:ahLst/>
              <a:cxnLst/>
              <a:rect l="l" t="t" r="r" b="b"/>
              <a:pathLst>
                <a:path w="984885" h="927100">
                  <a:moveTo>
                    <a:pt x="0" y="463295"/>
                  </a:moveTo>
                  <a:lnTo>
                    <a:pt x="231647" y="0"/>
                  </a:lnTo>
                  <a:lnTo>
                    <a:pt x="752856" y="0"/>
                  </a:lnTo>
                  <a:lnTo>
                    <a:pt x="984504" y="463295"/>
                  </a:lnTo>
                  <a:lnTo>
                    <a:pt x="752856" y="926591"/>
                  </a:lnTo>
                  <a:lnTo>
                    <a:pt x="231647" y="926591"/>
                  </a:lnTo>
                  <a:lnTo>
                    <a:pt x="0" y="463295"/>
                  </a:lnTo>
                  <a:close/>
                </a:path>
              </a:pathLst>
            </a:custGeom>
            <a:ln w="24384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3328415" y="4422647"/>
            <a:ext cx="1149350" cy="1109980"/>
          </a:xfrm>
          <a:custGeom>
            <a:avLst/>
            <a:gdLst/>
            <a:ahLst/>
            <a:cxnLst/>
            <a:rect l="l" t="t" r="r" b="b"/>
            <a:pathLst>
              <a:path w="1149350" h="1109979">
                <a:moveTo>
                  <a:pt x="0" y="554735"/>
                </a:moveTo>
                <a:lnTo>
                  <a:pt x="2108" y="506870"/>
                </a:lnTo>
                <a:lnTo>
                  <a:pt x="8320" y="460136"/>
                </a:lnTo>
                <a:lnTo>
                  <a:pt x="18463" y="414699"/>
                </a:lnTo>
                <a:lnTo>
                  <a:pt x="32363" y="370725"/>
                </a:lnTo>
                <a:lnTo>
                  <a:pt x="49849" y="328382"/>
                </a:lnTo>
                <a:lnTo>
                  <a:pt x="70748" y="287836"/>
                </a:lnTo>
                <a:lnTo>
                  <a:pt x="94888" y="249253"/>
                </a:lnTo>
                <a:lnTo>
                  <a:pt x="122095" y="212799"/>
                </a:lnTo>
                <a:lnTo>
                  <a:pt x="152199" y="178642"/>
                </a:lnTo>
                <a:lnTo>
                  <a:pt x="185025" y="146948"/>
                </a:lnTo>
                <a:lnTo>
                  <a:pt x="220402" y="117883"/>
                </a:lnTo>
                <a:lnTo>
                  <a:pt x="258158" y="91614"/>
                </a:lnTo>
                <a:lnTo>
                  <a:pt x="298119" y="68307"/>
                </a:lnTo>
                <a:lnTo>
                  <a:pt x="340113" y="48129"/>
                </a:lnTo>
                <a:lnTo>
                  <a:pt x="383969" y="31246"/>
                </a:lnTo>
                <a:lnTo>
                  <a:pt x="429512" y="17826"/>
                </a:lnTo>
                <a:lnTo>
                  <a:pt x="476571" y="8033"/>
                </a:lnTo>
                <a:lnTo>
                  <a:pt x="524974" y="2036"/>
                </a:lnTo>
                <a:lnTo>
                  <a:pt x="574548" y="0"/>
                </a:lnTo>
                <a:lnTo>
                  <a:pt x="624121" y="2036"/>
                </a:lnTo>
                <a:lnTo>
                  <a:pt x="672524" y="8033"/>
                </a:lnTo>
                <a:lnTo>
                  <a:pt x="719583" y="17826"/>
                </a:lnTo>
                <a:lnTo>
                  <a:pt x="765126" y="31246"/>
                </a:lnTo>
                <a:lnTo>
                  <a:pt x="808982" y="48129"/>
                </a:lnTo>
                <a:lnTo>
                  <a:pt x="850976" y="68307"/>
                </a:lnTo>
                <a:lnTo>
                  <a:pt x="890937" y="91614"/>
                </a:lnTo>
                <a:lnTo>
                  <a:pt x="928693" y="117883"/>
                </a:lnTo>
                <a:lnTo>
                  <a:pt x="964070" y="146948"/>
                </a:lnTo>
                <a:lnTo>
                  <a:pt x="996896" y="178642"/>
                </a:lnTo>
                <a:lnTo>
                  <a:pt x="1027000" y="212799"/>
                </a:lnTo>
                <a:lnTo>
                  <a:pt x="1054207" y="249253"/>
                </a:lnTo>
                <a:lnTo>
                  <a:pt x="1078347" y="287836"/>
                </a:lnTo>
                <a:lnTo>
                  <a:pt x="1099246" y="328382"/>
                </a:lnTo>
                <a:lnTo>
                  <a:pt x="1116732" y="370725"/>
                </a:lnTo>
                <a:lnTo>
                  <a:pt x="1130632" y="414699"/>
                </a:lnTo>
                <a:lnTo>
                  <a:pt x="1140775" y="460136"/>
                </a:lnTo>
                <a:lnTo>
                  <a:pt x="1146987" y="506870"/>
                </a:lnTo>
                <a:lnTo>
                  <a:pt x="1149096" y="554735"/>
                </a:lnTo>
                <a:lnTo>
                  <a:pt x="1146987" y="602601"/>
                </a:lnTo>
                <a:lnTo>
                  <a:pt x="1140775" y="649335"/>
                </a:lnTo>
                <a:lnTo>
                  <a:pt x="1130632" y="694772"/>
                </a:lnTo>
                <a:lnTo>
                  <a:pt x="1116732" y="738746"/>
                </a:lnTo>
                <a:lnTo>
                  <a:pt x="1099246" y="781089"/>
                </a:lnTo>
                <a:lnTo>
                  <a:pt x="1078347" y="821635"/>
                </a:lnTo>
                <a:lnTo>
                  <a:pt x="1054207" y="860218"/>
                </a:lnTo>
                <a:lnTo>
                  <a:pt x="1027000" y="896672"/>
                </a:lnTo>
                <a:lnTo>
                  <a:pt x="996896" y="930829"/>
                </a:lnTo>
                <a:lnTo>
                  <a:pt x="964070" y="962523"/>
                </a:lnTo>
                <a:lnTo>
                  <a:pt x="928693" y="991588"/>
                </a:lnTo>
                <a:lnTo>
                  <a:pt x="890937" y="1017857"/>
                </a:lnTo>
                <a:lnTo>
                  <a:pt x="850976" y="1041164"/>
                </a:lnTo>
                <a:lnTo>
                  <a:pt x="808982" y="1061342"/>
                </a:lnTo>
                <a:lnTo>
                  <a:pt x="765126" y="1078225"/>
                </a:lnTo>
                <a:lnTo>
                  <a:pt x="719583" y="1091645"/>
                </a:lnTo>
                <a:lnTo>
                  <a:pt x="672524" y="1101438"/>
                </a:lnTo>
                <a:lnTo>
                  <a:pt x="624121" y="1107435"/>
                </a:lnTo>
                <a:lnTo>
                  <a:pt x="574548" y="1109471"/>
                </a:lnTo>
                <a:lnTo>
                  <a:pt x="524974" y="1107435"/>
                </a:lnTo>
                <a:lnTo>
                  <a:pt x="476571" y="1101438"/>
                </a:lnTo>
                <a:lnTo>
                  <a:pt x="429512" y="1091645"/>
                </a:lnTo>
                <a:lnTo>
                  <a:pt x="383969" y="1078225"/>
                </a:lnTo>
                <a:lnTo>
                  <a:pt x="340113" y="1061342"/>
                </a:lnTo>
                <a:lnTo>
                  <a:pt x="298119" y="1041164"/>
                </a:lnTo>
                <a:lnTo>
                  <a:pt x="258158" y="1017857"/>
                </a:lnTo>
                <a:lnTo>
                  <a:pt x="220402" y="991588"/>
                </a:lnTo>
                <a:lnTo>
                  <a:pt x="185025" y="962523"/>
                </a:lnTo>
                <a:lnTo>
                  <a:pt x="152199" y="930829"/>
                </a:lnTo>
                <a:lnTo>
                  <a:pt x="122095" y="896672"/>
                </a:lnTo>
                <a:lnTo>
                  <a:pt x="94888" y="860218"/>
                </a:lnTo>
                <a:lnTo>
                  <a:pt x="70748" y="821635"/>
                </a:lnTo>
                <a:lnTo>
                  <a:pt x="49849" y="781089"/>
                </a:lnTo>
                <a:lnTo>
                  <a:pt x="32363" y="738746"/>
                </a:lnTo>
                <a:lnTo>
                  <a:pt x="18463" y="694772"/>
                </a:lnTo>
                <a:lnTo>
                  <a:pt x="8320" y="649335"/>
                </a:lnTo>
                <a:lnTo>
                  <a:pt x="2108" y="602601"/>
                </a:lnTo>
                <a:lnTo>
                  <a:pt x="0" y="554735"/>
                </a:lnTo>
                <a:close/>
              </a:path>
            </a:pathLst>
          </a:custGeom>
          <a:ln w="24384">
            <a:solidFill>
              <a:srgbClr val="4BACC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52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95" dirty="0"/>
              <a:t>Fabricación</a:t>
            </a:r>
            <a:r>
              <a:rPr spc="215" dirty="0"/>
              <a:t> </a:t>
            </a:r>
            <a:r>
              <a:rPr spc="95" dirty="0"/>
              <a:t>aditiva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87785" y="1384222"/>
            <a:ext cx="10826115" cy="1593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7145" algn="just">
              <a:lnSpc>
                <a:spcPct val="100400"/>
              </a:lnSpc>
              <a:spcBef>
                <a:spcPts val="100"/>
              </a:spcBef>
            </a:pPr>
            <a:r>
              <a:rPr sz="1600" dirty="0">
                <a:latin typeface="Arial MT"/>
                <a:cs typeface="Arial MT"/>
              </a:rPr>
              <a:t>E</a:t>
            </a:r>
            <a:r>
              <a:rPr sz="1400" dirty="0">
                <a:latin typeface="Arial MT"/>
                <a:cs typeface="Arial MT"/>
              </a:rPr>
              <a:t>s</a:t>
            </a:r>
            <a:r>
              <a:rPr sz="1400" spc="37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un</a:t>
            </a:r>
            <a:r>
              <a:rPr sz="1400" spc="37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nuevo</a:t>
            </a:r>
            <a:r>
              <a:rPr sz="1400" spc="370" dirty="0">
                <a:latin typeface="Arial MT"/>
                <a:cs typeface="Arial MT"/>
              </a:rPr>
              <a:t> </a:t>
            </a:r>
            <a:r>
              <a:rPr sz="1400" spc="50" dirty="0">
                <a:latin typeface="Arial MT"/>
                <a:cs typeface="Arial MT"/>
              </a:rPr>
              <a:t>concepto</a:t>
            </a:r>
            <a:r>
              <a:rPr sz="1400" spc="36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</a:t>
            </a:r>
            <a:r>
              <a:rPr sz="1400" spc="290" dirty="0">
                <a:latin typeface="Arial MT"/>
                <a:cs typeface="Arial MT"/>
              </a:rPr>
              <a:t> </a:t>
            </a:r>
            <a:r>
              <a:rPr sz="1400" spc="60" dirty="0">
                <a:latin typeface="Arial MT"/>
                <a:cs typeface="Arial MT"/>
              </a:rPr>
              <a:t>producción</a:t>
            </a:r>
            <a:r>
              <a:rPr sz="1400" spc="36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</a:t>
            </a:r>
            <a:r>
              <a:rPr sz="1400" spc="29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través</a:t>
            </a:r>
            <a:r>
              <a:rPr sz="1400" spc="37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del</a:t>
            </a:r>
            <a:r>
              <a:rPr sz="1400" spc="38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cual</a:t>
            </a:r>
            <a:r>
              <a:rPr sz="1400" spc="38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el</a:t>
            </a:r>
            <a:r>
              <a:rPr sz="1400" spc="38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material</a:t>
            </a:r>
            <a:r>
              <a:rPr sz="1400" spc="38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(plástico</a:t>
            </a:r>
            <a:r>
              <a:rPr sz="1400" spc="39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</a:t>
            </a:r>
            <a:r>
              <a:rPr sz="1400" spc="37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metal)</a:t>
            </a:r>
            <a:r>
              <a:rPr sz="1400" spc="28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es</a:t>
            </a:r>
            <a:r>
              <a:rPr sz="1400" spc="37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depositado</a:t>
            </a:r>
            <a:r>
              <a:rPr sz="1400" spc="37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capa</a:t>
            </a:r>
            <a:r>
              <a:rPr sz="1400" spc="3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</a:t>
            </a:r>
            <a:r>
              <a:rPr sz="1400" spc="28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capa</a:t>
            </a:r>
            <a:r>
              <a:rPr sz="1400" spc="29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</a:t>
            </a:r>
            <a:r>
              <a:rPr sz="1400" spc="28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manera </a:t>
            </a:r>
            <a:r>
              <a:rPr sz="1400" spc="50" dirty="0">
                <a:latin typeface="Arial MT"/>
                <a:cs typeface="Arial MT"/>
              </a:rPr>
              <a:t>controlada</a:t>
            </a:r>
            <a:r>
              <a:rPr sz="1400" spc="28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allí</a:t>
            </a:r>
            <a:r>
              <a:rPr sz="1400" spc="3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donde</a:t>
            </a:r>
            <a:r>
              <a:rPr sz="1400" spc="29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es</a:t>
            </a:r>
            <a:r>
              <a:rPr sz="1400" spc="37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necesario.</a:t>
            </a:r>
            <a:r>
              <a:rPr sz="1400" spc="2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Con</a:t>
            </a:r>
            <a:r>
              <a:rPr sz="1400" spc="37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esta</a:t>
            </a:r>
            <a:r>
              <a:rPr sz="1400" spc="28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técnica,</a:t>
            </a:r>
            <a:r>
              <a:rPr sz="1400" spc="2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que</a:t>
            </a:r>
            <a:r>
              <a:rPr sz="1400" spc="285" dirty="0">
                <a:latin typeface="Arial MT"/>
                <a:cs typeface="Arial MT"/>
              </a:rPr>
              <a:t> </a:t>
            </a:r>
            <a:r>
              <a:rPr sz="1400" spc="50" dirty="0">
                <a:latin typeface="Arial MT"/>
                <a:cs typeface="Arial MT"/>
              </a:rPr>
              <a:t>comúnmente</a:t>
            </a:r>
            <a:r>
              <a:rPr sz="1400" spc="28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se</a:t>
            </a:r>
            <a:r>
              <a:rPr sz="1400" spc="285" dirty="0">
                <a:latin typeface="Arial MT"/>
                <a:cs typeface="Arial MT"/>
              </a:rPr>
              <a:t> </a:t>
            </a:r>
            <a:r>
              <a:rPr sz="1400" spc="55" dirty="0">
                <a:latin typeface="Arial MT"/>
                <a:cs typeface="Arial MT"/>
              </a:rPr>
              <a:t>conoce</a:t>
            </a:r>
            <a:r>
              <a:rPr sz="1400" spc="285" dirty="0">
                <a:latin typeface="Arial MT"/>
                <a:cs typeface="Arial MT"/>
              </a:rPr>
              <a:t> </a:t>
            </a:r>
            <a:r>
              <a:rPr sz="1400" spc="50" dirty="0">
                <a:latin typeface="Arial MT"/>
                <a:cs typeface="Arial MT"/>
              </a:rPr>
              <a:t>como</a:t>
            </a:r>
            <a:r>
              <a:rPr sz="1400" spc="365" dirty="0">
                <a:latin typeface="Arial MT"/>
                <a:cs typeface="Arial MT"/>
              </a:rPr>
              <a:t> </a:t>
            </a:r>
            <a:r>
              <a:rPr sz="1400" spc="55" dirty="0">
                <a:latin typeface="Arial MT"/>
                <a:cs typeface="Arial MT"/>
              </a:rPr>
              <a:t>impresión</a:t>
            </a:r>
            <a:r>
              <a:rPr sz="1400" spc="36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3D,</a:t>
            </a:r>
            <a:r>
              <a:rPr sz="1400" spc="2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se</a:t>
            </a:r>
            <a:r>
              <a:rPr sz="1400" spc="285" dirty="0">
                <a:latin typeface="Arial MT"/>
                <a:cs typeface="Arial MT"/>
              </a:rPr>
              <a:t> </a:t>
            </a:r>
            <a:r>
              <a:rPr sz="1400" spc="45" dirty="0">
                <a:latin typeface="Arial MT"/>
                <a:cs typeface="Arial MT"/>
              </a:rPr>
              <a:t>producen</a:t>
            </a:r>
            <a:r>
              <a:rPr sz="1400" spc="37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formas </a:t>
            </a:r>
            <a:r>
              <a:rPr sz="1400" dirty="0">
                <a:latin typeface="Arial MT"/>
                <a:cs typeface="Arial MT"/>
              </a:rPr>
              <a:t>geométricas</a:t>
            </a:r>
            <a:r>
              <a:rPr sz="1400" spc="3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personalizadas</a:t>
            </a:r>
            <a:r>
              <a:rPr sz="1400" spc="4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según</a:t>
            </a:r>
            <a:r>
              <a:rPr sz="1400" spc="29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las</a:t>
            </a:r>
            <a:r>
              <a:rPr sz="1400" spc="29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necesidades</a:t>
            </a:r>
            <a:r>
              <a:rPr sz="1400" spc="39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</a:t>
            </a:r>
            <a:r>
              <a:rPr sz="1400" spc="18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cada</a:t>
            </a:r>
            <a:r>
              <a:rPr sz="1400" spc="18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sector.</a:t>
            </a:r>
            <a:endParaRPr sz="1400">
              <a:latin typeface="Arial MT"/>
              <a:cs typeface="Arial MT"/>
            </a:endParaRPr>
          </a:p>
          <a:p>
            <a:pPr marL="12700" marR="5080" algn="just">
              <a:lnSpc>
                <a:spcPct val="100000"/>
              </a:lnSpc>
              <a:spcBef>
                <a:spcPts val="335"/>
              </a:spcBef>
            </a:pPr>
            <a:r>
              <a:rPr sz="1400" dirty="0">
                <a:latin typeface="Arial MT"/>
                <a:cs typeface="Arial MT"/>
              </a:rPr>
              <a:t>Comparada</a:t>
            </a:r>
            <a:r>
              <a:rPr sz="1400" spc="1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con</a:t>
            </a:r>
            <a:r>
              <a:rPr sz="1400" spc="2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las</a:t>
            </a:r>
            <a:r>
              <a:rPr sz="1400" spc="2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técnicas</a:t>
            </a:r>
            <a:r>
              <a:rPr sz="1400" spc="2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</a:t>
            </a:r>
            <a:r>
              <a:rPr sz="1400" spc="150" dirty="0">
                <a:latin typeface="Arial MT"/>
                <a:cs typeface="Arial MT"/>
              </a:rPr>
              <a:t> </a:t>
            </a:r>
            <a:r>
              <a:rPr sz="1400" spc="45" dirty="0">
                <a:latin typeface="Arial MT"/>
                <a:cs typeface="Arial MT"/>
              </a:rPr>
              <a:t>fabricación</a:t>
            </a:r>
            <a:r>
              <a:rPr sz="1400" spc="235" dirty="0">
                <a:latin typeface="Arial MT"/>
                <a:cs typeface="Arial MT"/>
              </a:rPr>
              <a:t> </a:t>
            </a:r>
            <a:r>
              <a:rPr sz="1400" spc="45" dirty="0">
                <a:latin typeface="Arial MT"/>
                <a:cs typeface="Arial MT"/>
              </a:rPr>
              <a:t>tradicionales,</a:t>
            </a:r>
            <a:r>
              <a:rPr sz="1400" spc="10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esta</a:t>
            </a:r>
            <a:r>
              <a:rPr sz="1400" spc="150" dirty="0">
                <a:latin typeface="Arial MT"/>
                <a:cs typeface="Arial MT"/>
              </a:rPr>
              <a:t> </a:t>
            </a:r>
            <a:r>
              <a:rPr sz="1400" spc="45" dirty="0">
                <a:latin typeface="Arial MT"/>
                <a:cs typeface="Arial MT"/>
              </a:rPr>
              <a:t>tecnología</a:t>
            </a:r>
            <a:r>
              <a:rPr sz="1400" spc="1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reduce</a:t>
            </a:r>
            <a:r>
              <a:rPr sz="1400" spc="145" dirty="0">
                <a:latin typeface="Arial MT"/>
                <a:cs typeface="Arial MT"/>
              </a:rPr>
              <a:t> </a:t>
            </a:r>
            <a:r>
              <a:rPr sz="1400" spc="45" dirty="0">
                <a:latin typeface="Arial MT"/>
                <a:cs typeface="Arial MT"/>
              </a:rPr>
              <a:t>procesos</a:t>
            </a:r>
            <a:r>
              <a:rPr sz="1400" spc="245" dirty="0">
                <a:latin typeface="Arial MT"/>
                <a:cs typeface="Arial MT"/>
              </a:rPr>
              <a:t> </a:t>
            </a:r>
            <a:r>
              <a:rPr sz="1400" spc="45" dirty="0">
                <a:latin typeface="Arial MT"/>
                <a:cs typeface="Arial MT"/>
              </a:rPr>
              <a:t>intermedios</a:t>
            </a:r>
            <a:r>
              <a:rPr sz="1400" spc="275" dirty="0">
                <a:latin typeface="Arial MT"/>
                <a:cs typeface="Arial MT"/>
              </a:rPr>
              <a:t> </a:t>
            </a:r>
            <a:r>
              <a:rPr sz="1400" spc="50" dirty="0">
                <a:latin typeface="Arial MT"/>
                <a:cs typeface="Arial MT"/>
              </a:rPr>
              <a:t>como</a:t>
            </a:r>
            <a:r>
              <a:rPr sz="1400" spc="2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la</a:t>
            </a:r>
            <a:r>
              <a:rPr sz="1400" spc="150" dirty="0">
                <a:latin typeface="Arial MT"/>
                <a:cs typeface="Arial MT"/>
              </a:rPr>
              <a:t> </a:t>
            </a:r>
            <a:r>
              <a:rPr sz="1400" spc="60" dirty="0">
                <a:latin typeface="Arial MT"/>
                <a:cs typeface="Arial MT"/>
              </a:rPr>
              <a:t>producción</a:t>
            </a:r>
            <a:r>
              <a:rPr sz="1400" spc="240" dirty="0">
                <a:latin typeface="Arial MT"/>
                <a:cs typeface="Arial MT"/>
              </a:rPr>
              <a:t> </a:t>
            </a:r>
            <a:r>
              <a:rPr sz="1400" spc="55" dirty="0">
                <a:latin typeface="Arial MT"/>
                <a:cs typeface="Arial MT"/>
              </a:rPr>
              <a:t>de </a:t>
            </a:r>
            <a:r>
              <a:rPr sz="1400" spc="45" dirty="0">
                <a:latin typeface="Arial MT"/>
                <a:cs typeface="Arial MT"/>
              </a:rPr>
              <a:t>moldes,</a:t>
            </a:r>
            <a:r>
              <a:rPr sz="1400" spc="37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por</a:t>
            </a:r>
            <a:r>
              <a:rPr sz="1400" spc="80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lo</a:t>
            </a:r>
            <a:r>
              <a:rPr sz="1400" spc="60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que</a:t>
            </a:r>
            <a:r>
              <a:rPr sz="1400" spc="459" dirty="0">
                <a:latin typeface="Arial MT"/>
                <a:cs typeface="Arial MT"/>
              </a:rPr>
              <a:t> </a:t>
            </a:r>
            <a:r>
              <a:rPr sz="1400" spc="45" dirty="0">
                <a:latin typeface="Arial MT"/>
                <a:cs typeface="Arial MT"/>
              </a:rPr>
              <a:t>permite</a:t>
            </a:r>
            <a:r>
              <a:rPr sz="1400" spc="4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obtener</a:t>
            </a:r>
            <a:r>
              <a:rPr sz="1400" spc="70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piezas</a:t>
            </a:r>
            <a:r>
              <a:rPr sz="1400" spc="60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hasta</a:t>
            </a:r>
            <a:r>
              <a:rPr sz="1400" spc="4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un</a:t>
            </a:r>
            <a:r>
              <a:rPr sz="1400" spc="70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90%</a:t>
            </a:r>
            <a:r>
              <a:rPr sz="1400" spc="4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más</a:t>
            </a:r>
            <a:r>
              <a:rPr sz="1400" spc="60" dirty="0">
                <a:latin typeface="Arial MT"/>
                <a:cs typeface="Arial MT"/>
              </a:rPr>
              <a:t>  </a:t>
            </a:r>
            <a:r>
              <a:rPr sz="1400" spc="45" dirty="0">
                <a:latin typeface="Arial MT"/>
                <a:cs typeface="Arial MT"/>
              </a:rPr>
              <a:t>rápido.</a:t>
            </a:r>
            <a:r>
              <a:rPr sz="1400" spc="38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Es</a:t>
            </a:r>
            <a:r>
              <a:rPr sz="1400" spc="60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más,</a:t>
            </a:r>
            <a:r>
              <a:rPr sz="1400" spc="37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al</a:t>
            </a:r>
            <a:r>
              <a:rPr sz="1400" spc="75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utilizar</a:t>
            </a:r>
            <a:r>
              <a:rPr sz="1400" spc="70" dirty="0">
                <a:latin typeface="Arial MT"/>
                <a:cs typeface="Arial MT"/>
              </a:rPr>
              <a:t>  </a:t>
            </a:r>
            <a:r>
              <a:rPr sz="1400" spc="45" dirty="0">
                <a:latin typeface="Arial MT"/>
                <a:cs typeface="Arial MT"/>
              </a:rPr>
              <a:t>únicamente</a:t>
            </a:r>
            <a:r>
              <a:rPr sz="1400" spc="4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el</a:t>
            </a:r>
            <a:r>
              <a:rPr sz="1400" spc="75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material</a:t>
            </a:r>
            <a:r>
              <a:rPr sz="1400" spc="60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para</a:t>
            </a:r>
            <a:r>
              <a:rPr sz="1400" spc="455" dirty="0">
                <a:latin typeface="Arial MT"/>
                <a:cs typeface="Arial MT"/>
              </a:rPr>
              <a:t> </a:t>
            </a:r>
            <a:r>
              <a:rPr sz="1400" spc="60" dirty="0">
                <a:latin typeface="Arial MT"/>
                <a:cs typeface="Arial MT"/>
              </a:rPr>
              <a:t>la </a:t>
            </a:r>
            <a:r>
              <a:rPr sz="1400" spc="45" dirty="0">
                <a:latin typeface="Arial MT"/>
                <a:cs typeface="Arial MT"/>
              </a:rPr>
              <a:t>fabricación</a:t>
            </a:r>
            <a:r>
              <a:rPr sz="1400" spc="60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de</a:t>
            </a:r>
            <a:r>
              <a:rPr sz="1400" spc="409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la</a:t>
            </a:r>
            <a:r>
              <a:rPr sz="1400" spc="409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pieza</a:t>
            </a:r>
            <a:r>
              <a:rPr sz="1400" spc="4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no</a:t>
            </a:r>
            <a:r>
              <a:rPr sz="1400" spc="60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se</a:t>
            </a:r>
            <a:r>
              <a:rPr sz="1400" spc="434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generan</a:t>
            </a:r>
            <a:r>
              <a:rPr sz="1400" spc="60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desechos,</a:t>
            </a:r>
            <a:r>
              <a:rPr sz="1400" spc="39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los</a:t>
            </a:r>
            <a:r>
              <a:rPr sz="1400" spc="65" dirty="0">
                <a:latin typeface="Arial MT"/>
                <a:cs typeface="Arial MT"/>
              </a:rPr>
              <a:t>  </a:t>
            </a:r>
            <a:r>
              <a:rPr sz="1400" spc="45" dirty="0">
                <a:latin typeface="Arial MT"/>
                <a:cs typeface="Arial MT"/>
              </a:rPr>
              <a:t>componentes</a:t>
            </a:r>
            <a:r>
              <a:rPr sz="1400" spc="65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tienen</a:t>
            </a:r>
            <a:r>
              <a:rPr sz="1400" spc="65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un</a:t>
            </a:r>
            <a:r>
              <a:rPr sz="1400" spc="490" dirty="0">
                <a:latin typeface="Arial MT"/>
                <a:cs typeface="Arial MT"/>
              </a:rPr>
              <a:t> </a:t>
            </a:r>
            <a:r>
              <a:rPr sz="1400" spc="50" dirty="0">
                <a:latin typeface="Arial MT"/>
                <a:cs typeface="Arial MT"/>
              </a:rPr>
              <a:t>coste</a:t>
            </a:r>
            <a:r>
              <a:rPr sz="1400" spc="434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menor</a:t>
            </a:r>
            <a:r>
              <a:rPr sz="1400" spc="60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y</a:t>
            </a:r>
            <a:r>
              <a:rPr sz="1400" spc="70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se</a:t>
            </a:r>
            <a:r>
              <a:rPr sz="1400" spc="430" dirty="0">
                <a:latin typeface="Arial MT"/>
                <a:cs typeface="Arial MT"/>
              </a:rPr>
              <a:t> </a:t>
            </a:r>
            <a:r>
              <a:rPr sz="1400" spc="55" dirty="0">
                <a:latin typeface="Arial MT"/>
                <a:cs typeface="Arial MT"/>
              </a:rPr>
              <a:t>produce</a:t>
            </a:r>
            <a:r>
              <a:rPr sz="1400" spc="40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</a:t>
            </a:r>
            <a:r>
              <a:rPr sz="1400" spc="434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manera</a:t>
            </a:r>
            <a:r>
              <a:rPr sz="1400" spc="405" dirty="0">
                <a:latin typeface="Arial MT"/>
                <a:cs typeface="Arial MT"/>
              </a:rPr>
              <a:t> </a:t>
            </a:r>
            <a:r>
              <a:rPr sz="1400" spc="-25" dirty="0">
                <a:latin typeface="Arial MT"/>
                <a:cs typeface="Arial MT"/>
              </a:rPr>
              <a:t>más </a:t>
            </a:r>
            <a:r>
              <a:rPr sz="1400" spc="-10" dirty="0">
                <a:latin typeface="Arial MT"/>
                <a:cs typeface="Arial MT"/>
              </a:rPr>
              <a:t>sostenible.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0844783" y="3755135"/>
            <a:ext cx="737870" cy="762000"/>
          </a:xfrm>
          <a:custGeom>
            <a:avLst/>
            <a:gdLst/>
            <a:ahLst/>
            <a:cxnLst/>
            <a:rect l="l" t="t" r="r" b="b"/>
            <a:pathLst>
              <a:path w="737870" h="762000">
                <a:moveTo>
                  <a:pt x="0" y="381000"/>
                </a:moveTo>
                <a:lnTo>
                  <a:pt x="2873" y="333207"/>
                </a:lnTo>
                <a:lnTo>
                  <a:pt x="11264" y="287185"/>
                </a:lnTo>
                <a:lnTo>
                  <a:pt x="24825" y="243293"/>
                </a:lnTo>
                <a:lnTo>
                  <a:pt x="43212" y="201887"/>
                </a:lnTo>
                <a:lnTo>
                  <a:pt x="66079" y="163323"/>
                </a:lnTo>
                <a:lnTo>
                  <a:pt x="93080" y="127960"/>
                </a:lnTo>
                <a:lnTo>
                  <a:pt x="123869" y="96153"/>
                </a:lnTo>
                <a:lnTo>
                  <a:pt x="158101" y="68260"/>
                </a:lnTo>
                <a:lnTo>
                  <a:pt x="195431" y="44638"/>
                </a:lnTo>
                <a:lnTo>
                  <a:pt x="235512" y="25644"/>
                </a:lnTo>
                <a:lnTo>
                  <a:pt x="277999" y="11635"/>
                </a:lnTo>
                <a:lnTo>
                  <a:pt x="322546" y="2968"/>
                </a:lnTo>
                <a:lnTo>
                  <a:pt x="368808" y="0"/>
                </a:lnTo>
                <a:lnTo>
                  <a:pt x="415069" y="2968"/>
                </a:lnTo>
                <a:lnTo>
                  <a:pt x="459616" y="11635"/>
                </a:lnTo>
                <a:lnTo>
                  <a:pt x="502103" y="25644"/>
                </a:lnTo>
                <a:lnTo>
                  <a:pt x="542184" y="44638"/>
                </a:lnTo>
                <a:lnTo>
                  <a:pt x="579514" y="68260"/>
                </a:lnTo>
                <a:lnTo>
                  <a:pt x="613746" y="96153"/>
                </a:lnTo>
                <a:lnTo>
                  <a:pt x="644535" y="127960"/>
                </a:lnTo>
                <a:lnTo>
                  <a:pt x="671536" y="163323"/>
                </a:lnTo>
                <a:lnTo>
                  <a:pt x="694403" y="201887"/>
                </a:lnTo>
                <a:lnTo>
                  <a:pt x="712790" y="243293"/>
                </a:lnTo>
                <a:lnTo>
                  <a:pt x="726351" y="287185"/>
                </a:lnTo>
                <a:lnTo>
                  <a:pt x="734742" y="333207"/>
                </a:lnTo>
                <a:lnTo>
                  <a:pt x="737616" y="381000"/>
                </a:lnTo>
                <a:lnTo>
                  <a:pt x="734742" y="428792"/>
                </a:lnTo>
                <a:lnTo>
                  <a:pt x="726351" y="474814"/>
                </a:lnTo>
                <a:lnTo>
                  <a:pt x="712790" y="518706"/>
                </a:lnTo>
                <a:lnTo>
                  <a:pt x="694403" y="560112"/>
                </a:lnTo>
                <a:lnTo>
                  <a:pt x="671536" y="598676"/>
                </a:lnTo>
                <a:lnTo>
                  <a:pt x="644535" y="634039"/>
                </a:lnTo>
                <a:lnTo>
                  <a:pt x="613746" y="665846"/>
                </a:lnTo>
                <a:lnTo>
                  <a:pt x="579514" y="693739"/>
                </a:lnTo>
                <a:lnTo>
                  <a:pt x="542184" y="717361"/>
                </a:lnTo>
                <a:lnTo>
                  <a:pt x="502103" y="736355"/>
                </a:lnTo>
                <a:lnTo>
                  <a:pt x="459616" y="750364"/>
                </a:lnTo>
                <a:lnTo>
                  <a:pt x="415069" y="759031"/>
                </a:lnTo>
                <a:lnTo>
                  <a:pt x="368808" y="762000"/>
                </a:lnTo>
                <a:lnTo>
                  <a:pt x="322546" y="759031"/>
                </a:lnTo>
                <a:lnTo>
                  <a:pt x="277999" y="750364"/>
                </a:lnTo>
                <a:lnTo>
                  <a:pt x="235512" y="736355"/>
                </a:lnTo>
                <a:lnTo>
                  <a:pt x="195431" y="717361"/>
                </a:lnTo>
                <a:lnTo>
                  <a:pt x="158101" y="693739"/>
                </a:lnTo>
                <a:lnTo>
                  <a:pt x="123869" y="665846"/>
                </a:lnTo>
                <a:lnTo>
                  <a:pt x="93080" y="634039"/>
                </a:lnTo>
                <a:lnTo>
                  <a:pt x="66079" y="598676"/>
                </a:lnTo>
                <a:lnTo>
                  <a:pt x="43212" y="560112"/>
                </a:lnTo>
                <a:lnTo>
                  <a:pt x="24825" y="518706"/>
                </a:lnTo>
                <a:lnTo>
                  <a:pt x="11264" y="474814"/>
                </a:lnTo>
                <a:lnTo>
                  <a:pt x="2873" y="428792"/>
                </a:lnTo>
                <a:lnTo>
                  <a:pt x="0" y="381000"/>
                </a:lnTo>
                <a:close/>
              </a:path>
            </a:pathLst>
          </a:custGeom>
          <a:ln w="24384">
            <a:solidFill>
              <a:srgbClr val="4BACC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30480" y="2813304"/>
            <a:ext cx="11564620" cy="3560445"/>
            <a:chOff x="30480" y="2813304"/>
            <a:chExt cx="11564620" cy="3560445"/>
          </a:xfrm>
        </p:grpSpPr>
        <p:sp>
          <p:nvSpPr>
            <p:cNvPr id="11" name="object 11"/>
            <p:cNvSpPr/>
            <p:nvPr/>
          </p:nvSpPr>
          <p:spPr>
            <a:xfrm>
              <a:off x="4002024" y="2825496"/>
              <a:ext cx="1374775" cy="1112520"/>
            </a:xfrm>
            <a:custGeom>
              <a:avLst/>
              <a:gdLst/>
              <a:ahLst/>
              <a:cxnLst/>
              <a:rect l="l" t="t" r="r" b="b"/>
              <a:pathLst>
                <a:path w="1374775" h="1112520">
                  <a:moveTo>
                    <a:pt x="0" y="556260"/>
                  </a:moveTo>
                  <a:lnTo>
                    <a:pt x="2067" y="512788"/>
                  </a:lnTo>
                  <a:lnTo>
                    <a:pt x="8169" y="470232"/>
                  </a:lnTo>
                  <a:lnTo>
                    <a:pt x="18152" y="428714"/>
                  </a:lnTo>
                  <a:lnTo>
                    <a:pt x="31863" y="388359"/>
                  </a:lnTo>
                  <a:lnTo>
                    <a:pt x="49150" y="349290"/>
                  </a:lnTo>
                  <a:lnTo>
                    <a:pt x="69859" y="311631"/>
                  </a:lnTo>
                  <a:lnTo>
                    <a:pt x="93838" y="275505"/>
                  </a:lnTo>
                  <a:lnTo>
                    <a:pt x="120935" y="241036"/>
                  </a:lnTo>
                  <a:lnTo>
                    <a:pt x="150995" y="208348"/>
                  </a:lnTo>
                  <a:lnTo>
                    <a:pt x="183868" y="177564"/>
                  </a:lnTo>
                  <a:lnTo>
                    <a:pt x="219399" y="148808"/>
                  </a:lnTo>
                  <a:lnTo>
                    <a:pt x="257436" y="122204"/>
                  </a:lnTo>
                  <a:lnTo>
                    <a:pt x="297826" y="97875"/>
                  </a:lnTo>
                  <a:lnTo>
                    <a:pt x="340416" y="75946"/>
                  </a:lnTo>
                  <a:lnTo>
                    <a:pt x="385054" y="56539"/>
                  </a:lnTo>
                  <a:lnTo>
                    <a:pt x="431587" y="39778"/>
                  </a:lnTo>
                  <a:lnTo>
                    <a:pt x="479861" y="25788"/>
                  </a:lnTo>
                  <a:lnTo>
                    <a:pt x="529725" y="14691"/>
                  </a:lnTo>
                  <a:lnTo>
                    <a:pt x="581025" y="6611"/>
                  </a:lnTo>
                  <a:lnTo>
                    <a:pt x="633609" y="1673"/>
                  </a:lnTo>
                  <a:lnTo>
                    <a:pt x="687324" y="0"/>
                  </a:lnTo>
                  <a:lnTo>
                    <a:pt x="741038" y="1673"/>
                  </a:lnTo>
                  <a:lnTo>
                    <a:pt x="793622" y="6611"/>
                  </a:lnTo>
                  <a:lnTo>
                    <a:pt x="844922" y="14691"/>
                  </a:lnTo>
                  <a:lnTo>
                    <a:pt x="894786" y="25788"/>
                  </a:lnTo>
                  <a:lnTo>
                    <a:pt x="943060" y="39778"/>
                  </a:lnTo>
                  <a:lnTo>
                    <a:pt x="989593" y="56539"/>
                  </a:lnTo>
                  <a:lnTo>
                    <a:pt x="1034231" y="75946"/>
                  </a:lnTo>
                  <a:lnTo>
                    <a:pt x="1076821" y="97875"/>
                  </a:lnTo>
                  <a:lnTo>
                    <a:pt x="1117211" y="122204"/>
                  </a:lnTo>
                  <a:lnTo>
                    <a:pt x="1155248" y="148808"/>
                  </a:lnTo>
                  <a:lnTo>
                    <a:pt x="1190779" y="177564"/>
                  </a:lnTo>
                  <a:lnTo>
                    <a:pt x="1223652" y="208348"/>
                  </a:lnTo>
                  <a:lnTo>
                    <a:pt x="1253712" y="241036"/>
                  </a:lnTo>
                  <a:lnTo>
                    <a:pt x="1280809" y="275505"/>
                  </a:lnTo>
                  <a:lnTo>
                    <a:pt x="1304788" y="311631"/>
                  </a:lnTo>
                  <a:lnTo>
                    <a:pt x="1325497" y="349290"/>
                  </a:lnTo>
                  <a:lnTo>
                    <a:pt x="1342784" y="388359"/>
                  </a:lnTo>
                  <a:lnTo>
                    <a:pt x="1356495" y="428714"/>
                  </a:lnTo>
                  <a:lnTo>
                    <a:pt x="1366478" y="470232"/>
                  </a:lnTo>
                  <a:lnTo>
                    <a:pt x="1372580" y="512788"/>
                  </a:lnTo>
                  <a:lnTo>
                    <a:pt x="1374648" y="556260"/>
                  </a:lnTo>
                  <a:lnTo>
                    <a:pt x="1372580" y="599731"/>
                  </a:lnTo>
                  <a:lnTo>
                    <a:pt x="1366478" y="642287"/>
                  </a:lnTo>
                  <a:lnTo>
                    <a:pt x="1356495" y="683805"/>
                  </a:lnTo>
                  <a:lnTo>
                    <a:pt x="1342784" y="724160"/>
                  </a:lnTo>
                  <a:lnTo>
                    <a:pt x="1325497" y="763229"/>
                  </a:lnTo>
                  <a:lnTo>
                    <a:pt x="1304788" y="800888"/>
                  </a:lnTo>
                  <a:lnTo>
                    <a:pt x="1280809" y="837014"/>
                  </a:lnTo>
                  <a:lnTo>
                    <a:pt x="1253712" y="871483"/>
                  </a:lnTo>
                  <a:lnTo>
                    <a:pt x="1223652" y="904171"/>
                  </a:lnTo>
                  <a:lnTo>
                    <a:pt x="1190779" y="934955"/>
                  </a:lnTo>
                  <a:lnTo>
                    <a:pt x="1155248" y="963711"/>
                  </a:lnTo>
                  <a:lnTo>
                    <a:pt x="1117211" y="990315"/>
                  </a:lnTo>
                  <a:lnTo>
                    <a:pt x="1076821" y="1014644"/>
                  </a:lnTo>
                  <a:lnTo>
                    <a:pt x="1034231" y="1036574"/>
                  </a:lnTo>
                  <a:lnTo>
                    <a:pt x="989593" y="1055980"/>
                  </a:lnTo>
                  <a:lnTo>
                    <a:pt x="943060" y="1072741"/>
                  </a:lnTo>
                  <a:lnTo>
                    <a:pt x="894786" y="1086731"/>
                  </a:lnTo>
                  <a:lnTo>
                    <a:pt x="844922" y="1097828"/>
                  </a:lnTo>
                  <a:lnTo>
                    <a:pt x="793622" y="1105908"/>
                  </a:lnTo>
                  <a:lnTo>
                    <a:pt x="741038" y="1110846"/>
                  </a:lnTo>
                  <a:lnTo>
                    <a:pt x="687324" y="1112520"/>
                  </a:lnTo>
                  <a:lnTo>
                    <a:pt x="633609" y="1110846"/>
                  </a:lnTo>
                  <a:lnTo>
                    <a:pt x="581025" y="1105908"/>
                  </a:lnTo>
                  <a:lnTo>
                    <a:pt x="529725" y="1097828"/>
                  </a:lnTo>
                  <a:lnTo>
                    <a:pt x="479861" y="1086731"/>
                  </a:lnTo>
                  <a:lnTo>
                    <a:pt x="431587" y="1072741"/>
                  </a:lnTo>
                  <a:lnTo>
                    <a:pt x="385054" y="1055980"/>
                  </a:lnTo>
                  <a:lnTo>
                    <a:pt x="340416" y="1036574"/>
                  </a:lnTo>
                  <a:lnTo>
                    <a:pt x="297826" y="1014644"/>
                  </a:lnTo>
                  <a:lnTo>
                    <a:pt x="257436" y="990315"/>
                  </a:lnTo>
                  <a:lnTo>
                    <a:pt x="219399" y="963711"/>
                  </a:lnTo>
                  <a:lnTo>
                    <a:pt x="183868" y="934955"/>
                  </a:lnTo>
                  <a:lnTo>
                    <a:pt x="150995" y="904171"/>
                  </a:lnTo>
                  <a:lnTo>
                    <a:pt x="120935" y="871483"/>
                  </a:lnTo>
                  <a:lnTo>
                    <a:pt x="93838" y="837014"/>
                  </a:lnTo>
                  <a:lnTo>
                    <a:pt x="69859" y="800888"/>
                  </a:lnTo>
                  <a:lnTo>
                    <a:pt x="49150" y="763229"/>
                  </a:lnTo>
                  <a:lnTo>
                    <a:pt x="31863" y="724160"/>
                  </a:lnTo>
                  <a:lnTo>
                    <a:pt x="18152" y="683805"/>
                  </a:lnTo>
                  <a:lnTo>
                    <a:pt x="8169" y="642287"/>
                  </a:lnTo>
                  <a:lnTo>
                    <a:pt x="2067" y="599731"/>
                  </a:lnTo>
                  <a:lnTo>
                    <a:pt x="0" y="556260"/>
                  </a:lnTo>
                  <a:close/>
                </a:path>
              </a:pathLst>
            </a:custGeom>
            <a:ln w="24384">
              <a:solidFill>
                <a:srgbClr val="4BACC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03247" y="3191256"/>
              <a:ext cx="2651759" cy="1475231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9680448" y="4349496"/>
              <a:ext cx="988060" cy="927100"/>
            </a:xfrm>
            <a:custGeom>
              <a:avLst/>
              <a:gdLst/>
              <a:ahLst/>
              <a:cxnLst/>
              <a:rect l="l" t="t" r="r" b="b"/>
              <a:pathLst>
                <a:path w="988059" h="927100">
                  <a:moveTo>
                    <a:pt x="0" y="463295"/>
                  </a:moveTo>
                  <a:lnTo>
                    <a:pt x="231647" y="0"/>
                  </a:lnTo>
                  <a:lnTo>
                    <a:pt x="755904" y="0"/>
                  </a:lnTo>
                  <a:lnTo>
                    <a:pt x="987552" y="463295"/>
                  </a:lnTo>
                  <a:lnTo>
                    <a:pt x="755904" y="926591"/>
                  </a:lnTo>
                  <a:lnTo>
                    <a:pt x="231647" y="926591"/>
                  </a:lnTo>
                  <a:lnTo>
                    <a:pt x="0" y="463295"/>
                  </a:lnTo>
                  <a:close/>
                </a:path>
              </a:pathLst>
            </a:custGeom>
            <a:ln w="24384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281160" y="3023616"/>
              <a:ext cx="1280160" cy="1112520"/>
            </a:xfrm>
            <a:custGeom>
              <a:avLst/>
              <a:gdLst/>
              <a:ahLst/>
              <a:cxnLst/>
              <a:rect l="l" t="t" r="r" b="b"/>
              <a:pathLst>
                <a:path w="1280159" h="1112520">
                  <a:moveTo>
                    <a:pt x="0" y="556260"/>
                  </a:moveTo>
                  <a:lnTo>
                    <a:pt x="2121" y="510638"/>
                  </a:lnTo>
                  <a:lnTo>
                    <a:pt x="8377" y="466031"/>
                  </a:lnTo>
                  <a:lnTo>
                    <a:pt x="18602" y="422584"/>
                  </a:lnTo>
                  <a:lnTo>
                    <a:pt x="32631" y="380439"/>
                  </a:lnTo>
                  <a:lnTo>
                    <a:pt x="50300" y="339738"/>
                  </a:lnTo>
                  <a:lnTo>
                    <a:pt x="71444" y="300626"/>
                  </a:lnTo>
                  <a:lnTo>
                    <a:pt x="95899" y="263246"/>
                  </a:lnTo>
                  <a:lnTo>
                    <a:pt x="123498" y="227740"/>
                  </a:lnTo>
                  <a:lnTo>
                    <a:pt x="154079" y="194252"/>
                  </a:lnTo>
                  <a:lnTo>
                    <a:pt x="187475" y="162925"/>
                  </a:lnTo>
                  <a:lnTo>
                    <a:pt x="223523" y="133902"/>
                  </a:lnTo>
                  <a:lnTo>
                    <a:pt x="262057" y="107326"/>
                  </a:lnTo>
                  <a:lnTo>
                    <a:pt x="302914" y="83340"/>
                  </a:lnTo>
                  <a:lnTo>
                    <a:pt x="345927" y="62088"/>
                  </a:lnTo>
                  <a:lnTo>
                    <a:pt x="390932" y="43713"/>
                  </a:lnTo>
                  <a:lnTo>
                    <a:pt x="437765" y="28358"/>
                  </a:lnTo>
                  <a:lnTo>
                    <a:pt x="486261" y="16166"/>
                  </a:lnTo>
                  <a:lnTo>
                    <a:pt x="536256" y="7280"/>
                  </a:lnTo>
                  <a:lnTo>
                    <a:pt x="587583" y="1843"/>
                  </a:lnTo>
                  <a:lnTo>
                    <a:pt x="640080" y="0"/>
                  </a:lnTo>
                  <a:lnTo>
                    <a:pt x="692576" y="1843"/>
                  </a:lnTo>
                  <a:lnTo>
                    <a:pt x="743903" y="7280"/>
                  </a:lnTo>
                  <a:lnTo>
                    <a:pt x="793898" y="16166"/>
                  </a:lnTo>
                  <a:lnTo>
                    <a:pt x="842394" y="28358"/>
                  </a:lnTo>
                  <a:lnTo>
                    <a:pt x="889227" y="43713"/>
                  </a:lnTo>
                  <a:lnTo>
                    <a:pt x="934232" y="62088"/>
                  </a:lnTo>
                  <a:lnTo>
                    <a:pt x="977245" y="83340"/>
                  </a:lnTo>
                  <a:lnTo>
                    <a:pt x="1018102" y="107326"/>
                  </a:lnTo>
                  <a:lnTo>
                    <a:pt x="1056636" y="133902"/>
                  </a:lnTo>
                  <a:lnTo>
                    <a:pt x="1092684" y="162925"/>
                  </a:lnTo>
                  <a:lnTo>
                    <a:pt x="1126080" y="194252"/>
                  </a:lnTo>
                  <a:lnTo>
                    <a:pt x="1156661" y="227740"/>
                  </a:lnTo>
                  <a:lnTo>
                    <a:pt x="1184260" y="263246"/>
                  </a:lnTo>
                  <a:lnTo>
                    <a:pt x="1208715" y="300626"/>
                  </a:lnTo>
                  <a:lnTo>
                    <a:pt x="1229859" y="339738"/>
                  </a:lnTo>
                  <a:lnTo>
                    <a:pt x="1247528" y="380439"/>
                  </a:lnTo>
                  <a:lnTo>
                    <a:pt x="1261557" y="422584"/>
                  </a:lnTo>
                  <a:lnTo>
                    <a:pt x="1271782" y="466031"/>
                  </a:lnTo>
                  <a:lnTo>
                    <a:pt x="1278038" y="510638"/>
                  </a:lnTo>
                  <a:lnTo>
                    <a:pt x="1280160" y="556260"/>
                  </a:lnTo>
                  <a:lnTo>
                    <a:pt x="1278038" y="601881"/>
                  </a:lnTo>
                  <a:lnTo>
                    <a:pt x="1271782" y="646488"/>
                  </a:lnTo>
                  <a:lnTo>
                    <a:pt x="1261557" y="689935"/>
                  </a:lnTo>
                  <a:lnTo>
                    <a:pt x="1247528" y="732080"/>
                  </a:lnTo>
                  <a:lnTo>
                    <a:pt x="1229859" y="772781"/>
                  </a:lnTo>
                  <a:lnTo>
                    <a:pt x="1208715" y="811893"/>
                  </a:lnTo>
                  <a:lnTo>
                    <a:pt x="1184260" y="849273"/>
                  </a:lnTo>
                  <a:lnTo>
                    <a:pt x="1156661" y="884779"/>
                  </a:lnTo>
                  <a:lnTo>
                    <a:pt x="1126080" y="918267"/>
                  </a:lnTo>
                  <a:lnTo>
                    <a:pt x="1092684" y="949594"/>
                  </a:lnTo>
                  <a:lnTo>
                    <a:pt x="1056636" y="978617"/>
                  </a:lnTo>
                  <a:lnTo>
                    <a:pt x="1018102" y="1005193"/>
                  </a:lnTo>
                  <a:lnTo>
                    <a:pt x="977245" y="1029179"/>
                  </a:lnTo>
                  <a:lnTo>
                    <a:pt x="934232" y="1050431"/>
                  </a:lnTo>
                  <a:lnTo>
                    <a:pt x="889227" y="1068806"/>
                  </a:lnTo>
                  <a:lnTo>
                    <a:pt x="842394" y="1084161"/>
                  </a:lnTo>
                  <a:lnTo>
                    <a:pt x="793898" y="1096353"/>
                  </a:lnTo>
                  <a:lnTo>
                    <a:pt x="743903" y="1105239"/>
                  </a:lnTo>
                  <a:lnTo>
                    <a:pt x="692576" y="1110676"/>
                  </a:lnTo>
                  <a:lnTo>
                    <a:pt x="640080" y="1112520"/>
                  </a:lnTo>
                  <a:lnTo>
                    <a:pt x="587583" y="1110676"/>
                  </a:lnTo>
                  <a:lnTo>
                    <a:pt x="536256" y="1105239"/>
                  </a:lnTo>
                  <a:lnTo>
                    <a:pt x="486261" y="1096353"/>
                  </a:lnTo>
                  <a:lnTo>
                    <a:pt x="437765" y="1084161"/>
                  </a:lnTo>
                  <a:lnTo>
                    <a:pt x="390932" y="1068806"/>
                  </a:lnTo>
                  <a:lnTo>
                    <a:pt x="345927" y="1050431"/>
                  </a:lnTo>
                  <a:lnTo>
                    <a:pt x="302914" y="1029179"/>
                  </a:lnTo>
                  <a:lnTo>
                    <a:pt x="262057" y="1005193"/>
                  </a:lnTo>
                  <a:lnTo>
                    <a:pt x="223523" y="978617"/>
                  </a:lnTo>
                  <a:lnTo>
                    <a:pt x="187475" y="949594"/>
                  </a:lnTo>
                  <a:lnTo>
                    <a:pt x="154079" y="918267"/>
                  </a:lnTo>
                  <a:lnTo>
                    <a:pt x="123498" y="884779"/>
                  </a:lnTo>
                  <a:lnTo>
                    <a:pt x="95899" y="849273"/>
                  </a:lnTo>
                  <a:lnTo>
                    <a:pt x="71444" y="811893"/>
                  </a:lnTo>
                  <a:lnTo>
                    <a:pt x="50300" y="772781"/>
                  </a:lnTo>
                  <a:lnTo>
                    <a:pt x="32631" y="732080"/>
                  </a:lnTo>
                  <a:lnTo>
                    <a:pt x="18602" y="689935"/>
                  </a:lnTo>
                  <a:lnTo>
                    <a:pt x="8377" y="646488"/>
                  </a:lnTo>
                  <a:lnTo>
                    <a:pt x="2121" y="601881"/>
                  </a:lnTo>
                  <a:lnTo>
                    <a:pt x="0" y="556260"/>
                  </a:lnTo>
                  <a:close/>
                </a:path>
              </a:pathLst>
            </a:custGeom>
            <a:ln w="24384">
              <a:solidFill>
                <a:srgbClr val="4BACC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680448" y="5437632"/>
              <a:ext cx="988060" cy="923925"/>
            </a:xfrm>
            <a:custGeom>
              <a:avLst/>
              <a:gdLst/>
              <a:ahLst/>
              <a:cxnLst/>
              <a:rect l="l" t="t" r="r" b="b"/>
              <a:pathLst>
                <a:path w="988059" h="923925">
                  <a:moveTo>
                    <a:pt x="0" y="461772"/>
                  </a:moveTo>
                  <a:lnTo>
                    <a:pt x="230886" y="0"/>
                  </a:lnTo>
                  <a:lnTo>
                    <a:pt x="756666" y="0"/>
                  </a:lnTo>
                  <a:lnTo>
                    <a:pt x="987552" y="461772"/>
                  </a:lnTo>
                  <a:lnTo>
                    <a:pt x="756666" y="923544"/>
                  </a:lnTo>
                  <a:lnTo>
                    <a:pt x="230886" y="923544"/>
                  </a:lnTo>
                  <a:lnTo>
                    <a:pt x="0" y="461772"/>
                  </a:lnTo>
                  <a:close/>
                </a:path>
              </a:pathLst>
            </a:custGeom>
            <a:ln w="24384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79976" y="3508247"/>
              <a:ext cx="5541263" cy="2770631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0594848" y="4895088"/>
              <a:ext cx="988060" cy="923925"/>
            </a:xfrm>
            <a:custGeom>
              <a:avLst/>
              <a:gdLst/>
              <a:ahLst/>
              <a:cxnLst/>
              <a:rect l="l" t="t" r="r" b="b"/>
              <a:pathLst>
                <a:path w="988059" h="923925">
                  <a:moveTo>
                    <a:pt x="756666" y="0"/>
                  </a:moveTo>
                  <a:lnTo>
                    <a:pt x="230886" y="0"/>
                  </a:lnTo>
                  <a:lnTo>
                    <a:pt x="0" y="461772"/>
                  </a:lnTo>
                  <a:lnTo>
                    <a:pt x="230886" y="923544"/>
                  </a:lnTo>
                  <a:lnTo>
                    <a:pt x="756666" y="923544"/>
                  </a:lnTo>
                  <a:lnTo>
                    <a:pt x="987552" y="461772"/>
                  </a:lnTo>
                  <a:lnTo>
                    <a:pt x="7566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0594848" y="4895088"/>
              <a:ext cx="988060" cy="923925"/>
            </a:xfrm>
            <a:custGeom>
              <a:avLst/>
              <a:gdLst/>
              <a:ahLst/>
              <a:cxnLst/>
              <a:rect l="l" t="t" r="r" b="b"/>
              <a:pathLst>
                <a:path w="988059" h="923925">
                  <a:moveTo>
                    <a:pt x="0" y="461772"/>
                  </a:moveTo>
                  <a:lnTo>
                    <a:pt x="230886" y="0"/>
                  </a:lnTo>
                  <a:lnTo>
                    <a:pt x="756666" y="0"/>
                  </a:lnTo>
                  <a:lnTo>
                    <a:pt x="987552" y="461772"/>
                  </a:lnTo>
                  <a:lnTo>
                    <a:pt x="756666" y="923544"/>
                  </a:lnTo>
                  <a:lnTo>
                    <a:pt x="230886" y="923544"/>
                  </a:lnTo>
                  <a:lnTo>
                    <a:pt x="0" y="461772"/>
                  </a:lnTo>
                  <a:close/>
                </a:path>
              </a:pathLst>
            </a:custGeom>
            <a:ln w="24384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23543" y="4785360"/>
              <a:ext cx="984885" cy="927100"/>
            </a:xfrm>
            <a:custGeom>
              <a:avLst/>
              <a:gdLst/>
              <a:ahLst/>
              <a:cxnLst/>
              <a:rect l="l" t="t" r="r" b="b"/>
              <a:pathLst>
                <a:path w="984885" h="927100">
                  <a:moveTo>
                    <a:pt x="752856" y="0"/>
                  </a:moveTo>
                  <a:lnTo>
                    <a:pt x="231647" y="0"/>
                  </a:lnTo>
                  <a:lnTo>
                    <a:pt x="0" y="463295"/>
                  </a:lnTo>
                  <a:lnTo>
                    <a:pt x="231647" y="926591"/>
                  </a:lnTo>
                  <a:lnTo>
                    <a:pt x="752856" y="926591"/>
                  </a:lnTo>
                  <a:lnTo>
                    <a:pt x="984504" y="463295"/>
                  </a:lnTo>
                  <a:lnTo>
                    <a:pt x="7528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23543" y="4785360"/>
              <a:ext cx="984885" cy="927100"/>
            </a:xfrm>
            <a:custGeom>
              <a:avLst/>
              <a:gdLst/>
              <a:ahLst/>
              <a:cxnLst/>
              <a:rect l="l" t="t" r="r" b="b"/>
              <a:pathLst>
                <a:path w="984885" h="927100">
                  <a:moveTo>
                    <a:pt x="0" y="463295"/>
                  </a:moveTo>
                  <a:lnTo>
                    <a:pt x="231647" y="0"/>
                  </a:lnTo>
                  <a:lnTo>
                    <a:pt x="752856" y="0"/>
                  </a:lnTo>
                  <a:lnTo>
                    <a:pt x="984504" y="463295"/>
                  </a:lnTo>
                  <a:lnTo>
                    <a:pt x="752856" y="926591"/>
                  </a:lnTo>
                  <a:lnTo>
                    <a:pt x="231647" y="926591"/>
                  </a:lnTo>
                  <a:lnTo>
                    <a:pt x="0" y="463295"/>
                  </a:lnTo>
                  <a:close/>
                </a:path>
              </a:pathLst>
            </a:custGeom>
            <a:ln w="24384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2672" y="4264152"/>
              <a:ext cx="984885" cy="927100"/>
            </a:xfrm>
            <a:custGeom>
              <a:avLst/>
              <a:gdLst/>
              <a:ahLst/>
              <a:cxnLst/>
              <a:rect l="l" t="t" r="r" b="b"/>
              <a:pathLst>
                <a:path w="984885" h="927100">
                  <a:moveTo>
                    <a:pt x="752856" y="0"/>
                  </a:moveTo>
                  <a:lnTo>
                    <a:pt x="231647" y="0"/>
                  </a:lnTo>
                  <a:lnTo>
                    <a:pt x="0" y="463296"/>
                  </a:lnTo>
                  <a:lnTo>
                    <a:pt x="231647" y="926592"/>
                  </a:lnTo>
                  <a:lnTo>
                    <a:pt x="752856" y="926592"/>
                  </a:lnTo>
                  <a:lnTo>
                    <a:pt x="984504" y="463296"/>
                  </a:lnTo>
                  <a:lnTo>
                    <a:pt x="7528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2672" y="4264152"/>
              <a:ext cx="984885" cy="927100"/>
            </a:xfrm>
            <a:custGeom>
              <a:avLst/>
              <a:gdLst/>
              <a:ahLst/>
              <a:cxnLst/>
              <a:rect l="l" t="t" r="r" b="b"/>
              <a:pathLst>
                <a:path w="984885" h="927100">
                  <a:moveTo>
                    <a:pt x="0" y="463296"/>
                  </a:moveTo>
                  <a:lnTo>
                    <a:pt x="231647" y="0"/>
                  </a:lnTo>
                  <a:lnTo>
                    <a:pt x="752856" y="0"/>
                  </a:lnTo>
                  <a:lnTo>
                    <a:pt x="984504" y="463296"/>
                  </a:lnTo>
                  <a:lnTo>
                    <a:pt x="752856" y="926592"/>
                  </a:lnTo>
                  <a:lnTo>
                    <a:pt x="231647" y="926592"/>
                  </a:lnTo>
                  <a:lnTo>
                    <a:pt x="0" y="463296"/>
                  </a:lnTo>
                  <a:close/>
                </a:path>
              </a:pathLst>
            </a:custGeom>
            <a:ln w="24383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837944" y="5315711"/>
              <a:ext cx="984885" cy="927100"/>
            </a:xfrm>
            <a:custGeom>
              <a:avLst/>
              <a:gdLst/>
              <a:ahLst/>
              <a:cxnLst/>
              <a:rect l="l" t="t" r="r" b="b"/>
              <a:pathLst>
                <a:path w="984885" h="927100">
                  <a:moveTo>
                    <a:pt x="752856" y="0"/>
                  </a:moveTo>
                  <a:lnTo>
                    <a:pt x="231647" y="0"/>
                  </a:lnTo>
                  <a:lnTo>
                    <a:pt x="0" y="463296"/>
                  </a:lnTo>
                  <a:lnTo>
                    <a:pt x="231647" y="926592"/>
                  </a:lnTo>
                  <a:lnTo>
                    <a:pt x="752856" y="926592"/>
                  </a:lnTo>
                  <a:lnTo>
                    <a:pt x="984504" y="463296"/>
                  </a:lnTo>
                  <a:lnTo>
                    <a:pt x="7528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837944" y="5315711"/>
              <a:ext cx="984885" cy="927100"/>
            </a:xfrm>
            <a:custGeom>
              <a:avLst/>
              <a:gdLst/>
              <a:ahLst/>
              <a:cxnLst/>
              <a:rect l="l" t="t" r="r" b="b"/>
              <a:pathLst>
                <a:path w="984885" h="927100">
                  <a:moveTo>
                    <a:pt x="0" y="463296"/>
                  </a:moveTo>
                  <a:lnTo>
                    <a:pt x="231647" y="0"/>
                  </a:lnTo>
                  <a:lnTo>
                    <a:pt x="752856" y="0"/>
                  </a:lnTo>
                  <a:lnTo>
                    <a:pt x="984504" y="463296"/>
                  </a:lnTo>
                  <a:lnTo>
                    <a:pt x="752856" y="926592"/>
                  </a:lnTo>
                  <a:lnTo>
                    <a:pt x="231647" y="926592"/>
                  </a:lnTo>
                  <a:lnTo>
                    <a:pt x="0" y="463296"/>
                  </a:lnTo>
                  <a:close/>
                </a:path>
              </a:pathLst>
            </a:custGeom>
            <a:ln w="24384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Rectángulo 24">
            <a:extLst>
              <a:ext uri="{FF2B5EF4-FFF2-40B4-BE49-F238E27FC236}">
                <a16:creationId xmlns:a16="http://schemas.microsoft.com/office/drawing/2014/main" id="{BABD3864-82A1-FA56-F8CE-192765AA38D1}"/>
              </a:ext>
            </a:extLst>
          </p:cNvPr>
          <p:cNvSpPr/>
          <p:nvPr/>
        </p:nvSpPr>
        <p:spPr>
          <a:xfrm>
            <a:off x="76200" y="6248400"/>
            <a:ext cx="1981200" cy="4577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26335" y="4215384"/>
            <a:ext cx="988060" cy="927100"/>
          </a:xfrm>
          <a:custGeom>
            <a:avLst/>
            <a:gdLst/>
            <a:ahLst/>
            <a:cxnLst/>
            <a:rect l="l" t="t" r="r" b="b"/>
            <a:pathLst>
              <a:path w="988060" h="927100">
                <a:moveTo>
                  <a:pt x="0" y="463295"/>
                </a:moveTo>
                <a:lnTo>
                  <a:pt x="231647" y="0"/>
                </a:lnTo>
                <a:lnTo>
                  <a:pt x="755904" y="0"/>
                </a:lnTo>
                <a:lnTo>
                  <a:pt x="987552" y="463295"/>
                </a:lnTo>
                <a:lnTo>
                  <a:pt x="755904" y="926591"/>
                </a:lnTo>
                <a:lnTo>
                  <a:pt x="231647" y="926591"/>
                </a:lnTo>
                <a:lnTo>
                  <a:pt x="0" y="463295"/>
                </a:lnTo>
                <a:close/>
              </a:path>
            </a:pathLst>
          </a:custGeom>
          <a:ln w="24384">
            <a:solidFill>
              <a:srgbClr val="4F81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153400" y="3459479"/>
            <a:ext cx="988060" cy="927100"/>
          </a:xfrm>
          <a:custGeom>
            <a:avLst/>
            <a:gdLst/>
            <a:ahLst/>
            <a:cxnLst/>
            <a:rect l="l" t="t" r="r" b="b"/>
            <a:pathLst>
              <a:path w="988059" h="927100">
                <a:moveTo>
                  <a:pt x="0" y="463296"/>
                </a:moveTo>
                <a:lnTo>
                  <a:pt x="231647" y="0"/>
                </a:lnTo>
                <a:lnTo>
                  <a:pt x="755904" y="0"/>
                </a:lnTo>
                <a:lnTo>
                  <a:pt x="987552" y="463296"/>
                </a:lnTo>
                <a:lnTo>
                  <a:pt x="755904" y="926592"/>
                </a:lnTo>
                <a:lnTo>
                  <a:pt x="231647" y="926592"/>
                </a:lnTo>
                <a:lnTo>
                  <a:pt x="0" y="463296"/>
                </a:lnTo>
                <a:close/>
              </a:path>
            </a:pathLst>
          </a:custGeom>
          <a:ln w="24384">
            <a:solidFill>
              <a:srgbClr val="4F81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2682239" y="2337816"/>
            <a:ext cx="8391525" cy="3850004"/>
            <a:chOff x="2682239" y="2337816"/>
            <a:chExt cx="8391525" cy="3850004"/>
          </a:xfrm>
        </p:grpSpPr>
        <p:sp>
          <p:nvSpPr>
            <p:cNvPr id="5" name="object 5"/>
            <p:cNvSpPr/>
            <p:nvPr/>
          </p:nvSpPr>
          <p:spPr>
            <a:xfrm>
              <a:off x="8211311" y="2350008"/>
              <a:ext cx="984885" cy="927100"/>
            </a:xfrm>
            <a:custGeom>
              <a:avLst/>
              <a:gdLst/>
              <a:ahLst/>
              <a:cxnLst/>
              <a:rect l="l" t="t" r="r" b="b"/>
              <a:pathLst>
                <a:path w="984884" h="927100">
                  <a:moveTo>
                    <a:pt x="0" y="463296"/>
                  </a:moveTo>
                  <a:lnTo>
                    <a:pt x="231647" y="0"/>
                  </a:lnTo>
                  <a:lnTo>
                    <a:pt x="752856" y="0"/>
                  </a:lnTo>
                  <a:lnTo>
                    <a:pt x="984504" y="463296"/>
                  </a:lnTo>
                  <a:lnTo>
                    <a:pt x="752856" y="926592"/>
                  </a:lnTo>
                  <a:lnTo>
                    <a:pt x="231647" y="926592"/>
                  </a:lnTo>
                  <a:lnTo>
                    <a:pt x="0" y="463296"/>
                  </a:lnTo>
                  <a:close/>
                </a:path>
              </a:pathLst>
            </a:custGeom>
            <a:ln w="24384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82239" y="2350008"/>
              <a:ext cx="5757671" cy="383743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140951" y="2938272"/>
              <a:ext cx="988060" cy="927100"/>
            </a:xfrm>
            <a:custGeom>
              <a:avLst/>
              <a:gdLst/>
              <a:ahLst/>
              <a:cxnLst/>
              <a:rect l="l" t="t" r="r" b="b"/>
              <a:pathLst>
                <a:path w="988059" h="927100">
                  <a:moveTo>
                    <a:pt x="755904" y="0"/>
                  </a:moveTo>
                  <a:lnTo>
                    <a:pt x="231647" y="0"/>
                  </a:lnTo>
                  <a:lnTo>
                    <a:pt x="0" y="463296"/>
                  </a:lnTo>
                  <a:lnTo>
                    <a:pt x="231647" y="926592"/>
                  </a:lnTo>
                  <a:lnTo>
                    <a:pt x="755904" y="926592"/>
                  </a:lnTo>
                  <a:lnTo>
                    <a:pt x="987552" y="463296"/>
                  </a:lnTo>
                  <a:lnTo>
                    <a:pt x="7559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140951" y="2938272"/>
              <a:ext cx="988060" cy="927100"/>
            </a:xfrm>
            <a:custGeom>
              <a:avLst/>
              <a:gdLst/>
              <a:ahLst/>
              <a:cxnLst/>
              <a:rect l="l" t="t" r="r" b="b"/>
              <a:pathLst>
                <a:path w="988059" h="927100">
                  <a:moveTo>
                    <a:pt x="0" y="463296"/>
                  </a:moveTo>
                  <a:lnTo>
                    <a:pt x="231647" y="0"/>
                  </a:lnTo>
                  <a:lnTo>
                    <a:pt x="755904" y="0"/>
                  </a:lnTo>
                  <a:lnTo>
                    <a:pt x="987552" y="463296"/>
                  </a:lnTo>
                  <a:lnTo>
                    <a:pt x="755904" y="926592"/>
                  </a:lnTo>
                  <a:lnTo>
                    <a:pt x="231647" y="926592"/>
                  </a:lnTo>
                  <a:lnTo>
                    <a:pt x="0" y="463296"/>
                  </a:lnTo>
                  <a:close/>
                </a:path>
              </a:pathLst>
            </a:custGeom>
            <a:ln w="24384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140951" y="4038600"/>
              <a:ext cx="988060" cy="927100"/>
            </a:xfrm>
            <a:custGeom>
              <a:avLst/>
              <a:gdLst/>
              <a:ahLst/>
              <a:cxnLst/>
              <a:rect l="l" t="t" r="r" b="b"/>
              <a:pathLst>
                <a:path w="988059" h="927100">
                  <a:moveTo>
                    <a:pt x="755904" y="0"/>
                  </a:moveTo>
                  <a:lnTo>
                    <a:pt x="231647" y="0"/>
                  </a:lnTo>
                  <a:lnTo>
                    <a:pt x="0" y="463295"/>
                  </a:lnTo>
                  <a:lnTo>
                    <a:pt x="231647" y="926591"/>
                  </a:lnTo>
                  <a:lnTo>
                    <a:pt x="755904" y="926591"/>
                  </a:lnTo>
                  <a:lnTo>
                    <a:pt x="987552" y="463295"/>
                  </a:lnTo>
                  <a:lnTo>
                    <a:pt x="7559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140951" y="4038600"/>
              <a:ext cx="988060" cy="927100"/>
            </a:xfrm>
            <a:custGeom>
              <a:avLst/>
              <a:gdLst/>
              <a:ahLst/>
              <a:cxnLst/>
              <a:rect l="l" t="t" r="r" b="b"/>
              <a:pathLst>
                <a:path w="988059" h="927100">
                  <a:moveTo>
                    <a:pt x="0" y="463295"/>
                  </a:moveTo>
                  <a:lnTo>
                    <a:pt x="231647" y="0"/>
                  </a:lnTo>
                  <a:lnTo>
                    <a:pt x="755904" y="0"/>
                  </a:lnTo>
                  <a:lnTo>
                    <a:pt x="987552" y="463295"/>
                  </a:lnTo>
                  <a:lnTo>
                    <a:pt x="755904" y="926591"/>
                  </a:lnTo>
                  <a:lnTo>
                    <a:pt x="231647" y="926591"/>
                  </a:lnTo>
                  <a:lnTo>
                    <a:pt x="0" y="463295"/>
                  </a:lnTo>
                  <a:close/>
                </a:path>
              </a:pathLst>
            </a:custGeom>
            <a:ln w="24384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018775" y="3505200"/>
              <a:ext cx="988060" cy="927100"/>
            </a:xfrm>
            <a:custGeom>
              <a:avLst/>
              <a:gdLst/>
              <a:ahLst/>
              <a:cxnLst/>
              <a:rect l="l" t="t" r="r" b="b"/>
              <a:pathLst>
                <a:path w="988059" h="927100">
                  <a:moveTo>
                    <a:pt x="755904" y="0"/>
                  </a:moveTo>
                  <a:lnTo>
                    <a:pt x="231647" y="0"/>
                  </a:lnTo>
                  <a:lnTo>
                    <a:pt x="0" y="463295"/>
                  </a:lnTo>
                  <a:lnTo>
                    <a:pt x="231647" y="926591"/>
                  </a:lnTo>
                  <a:lnTo>
                    <a:pt x="755904" y="926591"/>
                  </a:lnTo>
                  <a:lnTo>
                    <a:pt x="987552" y="463295"/>
                  </a:lnTo>
                  <a:lnTo>
                    <a:pt x="7559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018775" y="3505200"/>
              <a:ext cx="988060" cy="927100"/>
            </a:xfrm>
            <a:custGeom>
              <a:avLst/>
              <a:gdLst/>
              <a:ahLst/>
              <a:cxnLst/>
              <a:rect l="l" t="t" r="r" b="b"/>
              <a:pathLst>
                <a:path w="988059" h="927100">
                  <a:moveTo>
                    <a:pt x="0" y="463295"/>
                  </a:moveTo>
                  <a:lnTo>
                    <a:pt x="231647" y="0"/>
                  </a:lnTo>
                  <a:lnTo>
                    <a:pt x="755904" y="0"/>
                  </a:lnTo>
                  <a:lnTo>
                    <a:pt x="987552" y="463295"/>
                  </a:lnTo>
                  <a:lnTo>
                    <a:pt x="755904" y="926591"/>
                  </a:lnTo>
                  <a:lnTo>
                    <a:pt x="231647" y="926591"/>
                  </a:lnTo>
                  <a:lnTo>
                    <a:pt x="0" y="463295"/>
                  </a:lnTo>
                  <a:close/>
                </a:path>
              </a:pathLst>
            </a:custGeom>
            <a:ln w="24384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073639" y="4605527"/>
              <a:ext cx="988060" cy="927100"/>
            </a:xfrm>
            <a:custGeom>
              <a:avLst/>
              <a:gdLst/>
              <a:ahLst/>
              <a:cxnLst/>
              <a:rect l="l" t="t" r="r" b="b"/>
              <a:pathLst>
                <a:path w="988059" h="927100">
                  <a:moveTo>
                    <a:pt x="755904" y="0"/>
                  </a:moveTo>
                  <a:lnTo>
                    <a:pt x="231647" y="0"/>
                  </a:lnTo>
                  <a:lnTo>
                    <a:pt x="0" y="463296"/>
                  </a:lnTo>
                  <a:lnTo>
                    <a:pt x="231647" y="926592"/>
                  </a:lnTo>
                  <a:lnTo>
                    <a:pt x="755904" y="926592"/>
                  </a:lnTo>
                  <a:lnTo>
                    <a:pt x="987552" y="463296"/>
                  </a:lnTo>
                  <a:lnTo>
                    <a:pt x="7559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073639" y="4605527"/>
              <a:ext cx="988060" cy="927100"/>
            </a:xfrm>
            <a:custGeom>
              <a:avLst/>
              <a:gdLst/>
              <a:ahLst/>
              <a:cxnLst/>
              <a:rect l="l" t="t" r="r" b="b"/>
              <a:pathLst>
                <a:path w="988059" h="927100">
                  <a:moveTo>
                    <a:pt x="0" y="463296"/>
                  </a:moveTo>
                  <a:lnTo>
                    <a:pt x="231647" y="0"/>
                  </a:lnTo>
                  <a:lnTo>
                    <a:pt x="755904" y="0"/>
                  </a:lnTo>
                  <a:lnTo>
                    <a:pt x="987552" y="463296"/>
                  </a:lnTo>
                  <a:lnTo>
                    <a:pt x="755904" y="926592"/>
                  </a:lnTo>
                  <a:lnTo>
                    <a:pt x="231647" y="926592"/>
                  </a:lnTo>
                  <a:lnTo>
                    <a:pt x="0" y="463296"/>
                  </a:lnTo>
                  <a:close/>
                </a:path>
              </a:pathLst>
            </a:custGeom>
            <a:ln w="24384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52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80" dirty="0"/>
              <a:t>La</a:t>
            </a:r>
            <a:r>
              <a:rPr dirty="0"/>
              <a:t> </a:t>
            </a:r>
            <a:r>
              <a:rPr spc="135" dirty="0"/>
              <a:t>nube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88340" y="1387270"/>
            <a:ext cx="1074864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200" spc="20" dirty="0">
                <a:latin typeface="Arial MT"/>
                <a:cs typeface="Arial MT"/>
              </a:rPr>
              <a:t>La</a:t>
            </a:r>
            <a:r>
              <a:rPr sz="1200" spc="35" dirty="0">
                <a:latin typeface="Arial MT"/>
                <a:cs typeface="Arial MT"/>
              </a:rPr>
              <a:t> </a:t>
            </a:r>
            <a:r>
              <a:rPr sz="1200" spc="55" dirty="0">
                <a:latin typeface="Arial MT"/>
                <a:cs typeface="Arial MT"/>
              </a:rPr>
              <a:t>computación</a:t>
            </a:r>
            <a:r>
              <a:rPr sz="1200" spc="95" dirty="0">
                <a:latin typeface="Arial MT"/>
                <a:cs typeface="Arial MT"/>
              </a:rPr>
              <a:t> </a:t>
            </a:r>
            <a:r>
              <a:rPr sz="1200" spc="20" dirty="0">
                <a:latin typeface="Arial MT"/>
                <a:cs typeface="Arial MT"/>
              </a:rPr>
              <a:t>en</a:t>
            </a:r>
            <a:r>
              <a:rPr sz="1200" spc="125" dirty="0">
                <a:latin typeface="Arial MT"/>
                <a:cs typeface="Arial MT"/>
              </a:rPr>
              <a:t> </a:t>
            </a:r>
            <a:r>
              <a:rPr sz="1200" spc="20" dirty="0">
                <a:latin typeface="Arial MT"/>
                <a:cs typeface="Arial MT"/>
              </a:rPr>
              <a:t>la</a:t>
            </a:r>
            <a:r>
              <a:rPr sz="1200" spc="65" dirty="0">
                <a:latin typeface="Arial MT"/>
                <a:cs typeface="Arial MT"/>
              </a:rPr>
              <a:t> </a:t>
            </a:r>
            <a:r>
              <a:rPr sz="1200" spc="50" dirty="0">
                <a:latin typeface="Arial MT"/>
                <a:cs typeface="Arial MT"/>
              </a:rPr>
              <a:t>nube</a:t>
            </a:r>
            <a:r>
              <a:rPr sz="1200" spc="35" dirty="0">
                <a:latin typeface="Arial MT"/>
                <a:cs typeface="Arial MT"/>
              </a:rPr>
              <a:t> </a:t>
            </a:r>
            <a:r>
              <a:rPr sz="1200" spc="45" dirty="0">
                <a:latin typeface="Arial MT"/>
                <a:cs typeface="Arial MT"/>
              </a:rPr>
              <a:t>son</a:t>
            </a:r>
            <a:r>
              <a:rPr sz="1200" spc="150" dirty="0">
                <a:latin typeface="Arial MT"/>
                <a:cs typeface="Arial MT"/>
              </a:rPr>
              <a:t> </a:t>
            </a:r>
            <a:r>
              <a:rPr sz="1200" spc="20" dirty="0">
                <a:latin typeface="Arial MT"/>
                <a:cs typeface="Arial MT"/>
              </a:rPr>
              <a:t>servidores</a:t>
            </a:r>
            <a:r>
              <a:rPr sz="1200" spc="55" dirty="0">
                <a:latin typeface="Arial MT"/>
                <a:cs typeface="Arial MT"/>
              </a:rPr>
              <a:t> </a:t>
            </a:r>
            <a:r>
              <a:rPr sz="1200" spc="20" dirty="0">
                <a:latin typeface="Arial MT"/>
                <a:cs typeface="Arial MT"/>
              </a:rPr>
              <a:t>desde</a:t>
            </a:r>
            <a:r>
              <a:rPr sz="1200" spc="40" dirty="0">
                <a:latin typeface="Arial MT"/>
                <a:cs typeface="Arial MT"/>
              </a:rPr>
              <a:t> </a:t>
            </a:r>
            <a:r>
              <a:rPr sz="1200" spc="20" dirty="0">
                <a:latin typeface="Arial MT"/>
                <a:cs typeface="Arial MT"/>
              </a:rPr>
              <a:t>Internet</a:t>
            </a:r>
            <a:r>
              <a:rPr sz="1200" spc="90" dirty="0">
                <a:latin typeface="Arial MT"/>
                <a:cs typeface="Arial MT"/>
              </a:rPr>
              <a:t> </a:t>
            </a:r>
            <a:r>
              <a:rPr sz="1200" spc="20" dirty="0">
                <a:latin typeface="Arial MT"/>
                <a:cs typeface="Arial MT"/>
              </a:rPr>
              <a:t>encargados</a:t>
            </a:r>
            <a:r>
              <a:rPr sz="1200" spc="55" dirty="0">
                <a:latin typeface="Arial MT"/>
                <a:cs typeface="Arial MT"/>
              </a:rPr>
              <a:t> </a:t>
            </a:r>
            <a:r>
              <a:rPr sz="1200" spc="20" dirty="0">
                <a:latin typeface="Arial MT"/>
                <a:cs typeface="Arial MT"/>
              </a:rPr>
              <a:t>de</a:t>
            </a:r>
            <a:r>
              <a:rPr sz="1200" spc="70" dirty="0">
                <a:latin typeface="Arial MT"/>
                <a:cs typeface="Arial MT"/>
              </a:rPr>
              <a:t> </a:t>
            </a:r>
            <a:r>
              <a:rPr sz="1200" spc="20" dirty="0">
                <a:latin typeface="Arial MT"/>
                <a:cs typeface="Arial MT"/>
              </a:rPr>
              <a:t>atender</a:t>
            </a:r>
            <a:r>
              <a:rPr sz="1200" spc="70" dirty="0">
                <a:latin typeface="Arial MT"/>
                <a:cs typeface="Arial MT"/>
              </a:rPr>
              <a:t> </a:t>
            </a:r>
            <a:r>
              <a:rPr sz="1200" spc="20" dirty="0">
                <a:latin typeface="Arial MT"/>
                <a:cs typeface="Arial MT"/>
              </a:rPr>
              <a:t>las</a:t>
            </a:r>
            <a:r>
              <a:rPr sz="1200" spc="120" dirty="0">
                <a:latin typeface="Arial MT"/>
                <a:cs typeface="Arial MT"/>
              </a:rPr>
              <a:t> </a:t>
            </a:r>
            <a:r>
              <a:rPr sz="1200" spc="20" dirty="0">
                <a:latin typeface="Arial MT"/>
                <a:cs typeface="Arial MT"/>
              </a:rPr>
              <a:t>peticiones</a:t>
            </a:r>
            <a:r>
              <a:rPr sz="1200" spc="85" dirty="0">
                <a:latin typeface="Arial MT"/>
                <a:cs typeface="Arial MT"/>
              </a:rPr>
              <a:t> </a:t>
            </a:r>
            <a:r>
              <a:rPr sz="1200" spc="20" dirty="0">
                <a:latin typeface="Arial MT"/>
                <a:cs typeface="Arial MT"/>
              </a:rPr>
              <a:t>en</a:t>
            </a:r>
            <a:r>
              <a:rPr sz="1200" spc="125" dirty="0">
                <a:latin typeface="Arial MT"/>
                <a:cs typeface="Arial MT"/>
              </a:rPr>
              <a:t> </a:t>
            </a:r>
            <a:r>
              <a:rPr sz="1200" spc="45" dirty="0">
                <a:latin typeface="Arial MT"/>
                <a:cs typeface="Arial MT"/>
              </a:rPr>
              <a:t>cualquier</a:t>
            </a:r>
            <a:r>
              <a:rPr sz="1200" spc="100" dirty="0">
                <a:latin typeface="Arial MT"/>
                <a:cs typeface="Arial MT"/>
              </a:rPr>
              <a:t> </a:t>
            </a:r>
            <a:r>
              <a:rPr sz="1200" spc="45" dirty="0">
                <a:latin typeface="Arial MT"/>
                <a:cs typeface="Arial MT"/>
              </a:rPr>
              <a:t>momento.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20" dirty="0">
                <a:latin typeface="Arial MT"/>
                <a:cs typeface="Arial MT"/>
              </a:rPr>
              <a:t>Se</a:t>
            </a:r>
            <a:r>
              <a:rPr sz="1200" spc="65" dirty="0">
                <a:latin typeface="Arial MT"/>
                <a:cs typeface="Arial MT"/>
              </a:rPr>
              <a:t> </a:t>
            </a:r>
            <a:r>
              <a:rPr sz="1200" spc="20" dirty="0">
                <a:latin typeface="Arial MT"/>
                <a:cs typeface="Arial MT"/>
              </a:rPr>
              <a:t>puede</a:t>
            </a:r>
            <a:r>
              <a:rPr sz="1200" spc="5" dirty="0">
                <a:latin typeface="Arial MT"/>
                <a:cs typeface="Arial MT"/>
              </a:rPr>
              <a:t> </a:t>
            </a:r>
            <a:r>
              <a:rPr sz="1200" spc="20" dirty="0">
                <a:latin typeface="Arial MT"/>
                <a:cs typeface="Arial MT"/>
              </a:rPr>
              <a:t>tener</a:t>
            </a:r>
            <a:r>
              <a:rPr sz="1200" spc="105" dirty="0">
                <a:latin typeface="Arial MT"/>
                <a:cs typeface="Arial MT"/>
              </a:rPr>
              <a:t> </a:t>
            </a:r>
            <a:r>
              <a:rPr sz="1200" spc="20" dirty="0">
                <a:latin typeface="Arial MT"/>
                <a:cs typeface="Arial MT"/>
              </a:rPr>
              <a:t>acceso</a:t>
            </a:r>
            <a:r>
              <a:rPr sz="1200" spc="95" dirty="0">
                <a:latin typeface="Arial MT"/>
                <a:cs typeface="Arial MT"/>
              </a:rPr>
              <a:t> </a:t>
            </a:r>
            <a:r>
              <a:rPr sz="1200" spc="20" dirty="0">
                <a:latin typeface="Arial MT"/>
                <a:cs typeface="Arial MT"/>
              </a:rPr>
              <a:t>a</a:t>
            </a:r>
            <a:r>
              <a:rPr sz="1200" spc="65" dirty="0">
                <a:latin typeface="Arial MT"/>
                <a:cs typeface="Arial MT"/>
              </a:rPr>
              <a:t> </a:t>
            </a:r>
            <a:r>
              <a:rPr sz="1200" spc="45" dirty="0">
                <a:latin typeface="Arial MT"/>
                <a:cs typeface="Arial MT"/>
              </a:rPr>
              <a:t>su </a:t>
            </a:r>
            <a:r>
              <a:rPr sz="1200" spc="50" dirty="0">
                <a:latin typeface="Arial MT"/>
                <a:cs typeface="Arial MT"/>
              </a:rPr>
              <a:t>información</a:t>
            </a:r>
            <a:r>
              <a:rPr sz="1200" spc="130" dirty="0">
                <a:latin typeface="Arial MT"/>
                <a:cs typeface="Arial MT"/>
              </a:rPr>
              <a:t> </a:t>
            </a:r>
            <a:r>
              <a:rPr sz="1200" spc="10" dirty="0">
                <a:latin typeface="Arial MT"/>
                <a:cs typeface="Arial MT"/>
              </a:rPr>
              <a:t>o</a:t>
            </a:r>
            <a:r>
              <a:rPr sz="1200" spc="130" dirty="0">
                <a:latin typeface="Arial MT"/>
                <a:cs typeface="Arial MT"/>
              </a:rPr>
              <a:t> </a:t>
            </a:r>
            <a:r>
              <a:rPr sz="1200" spc="45" dirty="0">
                <a:latin typeface="Arial MT"/>
                <a:cs typeface="Arial MT"/>
              </a:rPr>
              <a:t>servicio,</a:t>
            </a:r>
            <a:r>
              <a:rPr sz="1200" spc="-50" dirty="0">
                <a:latin typeface="Arial MT"/>
                <a:cs typeface="Arial MT"/>
              </a:rPr>
              <a:t> </a:t>
            </a:r>
            <a:r>
              <a:rPr sz="1200" spc="10" dirty="0">
                <a:latin typeface="Arial MT"/>
                <a:cs typeface="Arial MT"/>
              </a:rPr>
              <a:t>mediante</a:t>
            </a:r>
            <a:r>
              <a:rPr sz="1200" spc="45" dirty="0">
                <a:latin typeface="Arial MT"/>
                <a:cs typeface="Arial MT"/>
              </a:rPr>
              <a:t> </a:t>
            </a:r>
            <a:r>
              <a:rPr sz="1200" spc="50" dirty="0">
                <a:latin typeface="Arial MT"/>
                <a:cs typeface="Arial MT"/>
              </a:rPr>
              <a:t>una</a:t>
            </a:r>
            <a:r>
              <a:rPr sz="1200" spc="40" dirty="0">
                <a:latin typeface="Arial MT"/>
                <a:cs typeface="Arial MT"/>
              </a:rPr>
              <a:t> </a:t>
            </a:r>
            <a:r>
              <a:rPr sz="1200" spc="50" dirty="0">
                <a:latin typeface="Arial MT"/>
                <a:cs typeface="Arial MT"/>
              </a:rPr>
              <a:t>conexión</a:t>
            </a:r>
            <a:r>
              <a:rPr sz="1200" spc="100" dirty="0">
                <a:latin typeface="Arial MT"/>
                <a:cs typeface="Arial MT"/>
              </a:rPr>
              <a:t> </a:t>
            </a:r>
            <a:r>
              <a:rPr sz="1200" spc="10" dirty="0">
                <a:latin typeface="Arial MT"/>
                <a:cs typeface="Arial MT"/>
              </a:rPr>
              <a:t>a</a:t>
            </a:r>
            <a:r>
              <a:rPr sz="1200" spc="75" dirty="0">
                <a:latin typeface="Arial MT"/>
                <a:cs typeface="Arial MT"/>
              </a:rPr>
              <a:t> </a:t>
            </a:r>
            <a:r>
              <a:rPr sz="1200" spc="10" dirty="0">
                <a:latin typeface="Arial MT"/>
                <a:cs typeface="Arial MT"/>
              </a:rPr>
              <a:t>internet</a:t>
            </a:r>
            <a:r>
              <a:rPr sz="1200" spc="95" dirty="0">
                <a:latin typeface="Arial MT"/>
                <a:cs typeface="Arial MT"/>
              </a:rPr>
              <a:t> </a:t>
            </a:r>
            <a:r>
              <a:rPr sz="1200" spc="10" dirty="0">
                <a:latin typeface="Arial MT"/>
                <a:cs typeface="Arial MT"/>
              </a:rPr>
              <a:t>desde </a:t>
            </a:r>
            <a:r>
              <a:rPr sz="1200" spc="45" dirty="0">
                <a:latin typeface="Arial MT"/>
                <a:cs typeface="Arial MT"/>
              </a:rPr>
              <a:t>cualquier</a:t>
            </a:r>
            <a:r>
              <a:rPr sz="1200" spc="105" dirty="0">
                <a:latin typeface="Arial MT"/>
                <a:cs typeface="Arial MT"/>
              </a:rPr>
              <a:t> </a:t>
            </a:r>
            <a:r>
              <a:rPr sz="1200" spc="55" dirty="0">
                <a:latin typeface="Arial MT"/>
                <a:cs typeface="Arial MT"/>
              </a:rPr>
              <a:t>dispositivo</a:t>
            </a:r>
            <a:r>
              <a:rPr sz="1200" spc="105" dirty="0">
                <a:latin typeface="Arial MT"/>
                <a:cs typeface="Arial MT"/>
              </a:rPr>
              <a:t> </a:t>
            </a:r>
            <a:r>
              <a:rPr sz="1200" spc="10" dirty="0">
                <a:latin typeface="Arial MT"/>
                <a:cs typeface="Arial MT"/>
              </a:rPr>
              <a:t>móvil</a:t>
            </a:r>
            <a:r>
              <a:rPr sz="1200" spc="145" dirty="0">
                <a:latin typeface="Arial MT"/>
                <a:cs typeface="Arial MT"/>
              </a:rPr>
              <a:t> </a:t>
            </a:r>
            <a:r>
              <a:rPr sz="1200" spc="10" dirty="0">
                <a:latin typeface="Arial MT"/>
                <a:cs typeface="Arial MT"/>
              </a:rPr>
              <a:t>o</a:t>
            </a:r>
            <a:r>
              <a:rPr sz="1200" spc="160" dirty="0">
                <a:latin typeface="Arial MT"/>
                <a:cs typeface="Arial MT"/>
              </a:rPr>
              <a:t> </a:t>
            </a:r>
            <a:r>
              <a:rPr sz="1200" spc="10" dirty="0">
                <a:latin typeface="Arial MT"/>
                <a:cs typeface="Arial MT"/>
              </a:rPr>
              <a:t>fijo</a:t>
            </a:r>
            <a:r>
              <a:rPr sz="1200" spc="130" dirty="0">
                <a:latin typeface="Arial MT"/>
                <a:cs typeface="Arial MT"/>
              </a:rPr>
              <a:t> </a:t>
            </a:r>
            <a:r>
              <a:rPr sz="1200" spc="50" dirty="0">
                <a:latin typeface="Arial MT"/>
                <a:cs typeface="Arial MT"/>
              </a:rPr>
              <a:t>ubicado</a:t>
            </a:r>
            <a:r>
              <a:rPr sz="1200" spc="100" dirty="0">
                <a:latin typeface="Arial MT"/>
                <a:cs typeface="Arial MT"/>
              </a:rPr>
              <a:t> </a:t>
            </a:r>
            <a:r>
              <a:rPr sz="1200" spc="10" dirty="0">
                <a:latin typeface="Arial MT"/>
                <a:cs typeface="Arial MT"/>
              </a:rPr>
              <a:t>en</a:t>
            </a:r>
            <a:r>
              <a:rPr sz="1200" spc="155" dirty="0">
                <a:latin typeface="Arial MT"/>
                <a:cs typeface="Arial MT"/>
              </a:rPr>
              <a:t> </a:t>
            </a:r>
            <a:r>
              <a:rPr sz="1200" spc="45" dirty="0">
                <a:latin typeface="Arial MT"/>
                <a:cs typeface="Arial MT"/>
              </a:rPr>
              <a:t>cualquier</a:t>
            </a:r>
            <a:r>
              <a:rPr sz="1200" spc="75" dirty="0">
                <a:latin typeface="Arial MT"/>
                <a:cs typeface="Arial MT"/>
              </a:rPr>
              <a:t> </a:t>
            </a:r>
            <a:r>
              <a:rPr sz="1200" spc="10" dirty="0">
                <a:latin typeface="Arial MT"/>
                <a:cs typeface="Arial MT"/>
              </a:rPr>
              <a:t>lugar. Sirven</a:t>
            </a:r>
            <a:r>
              <a:rPr sz="1200" spc="130" dirty="0">
                <a:latin typeface="Arial MT"/>
                <a:cs typeface="Arial MT"/>
              </a:rPr>
              <a:t> </a:t>
            </a:r>
            <a:r>
              <a:rPr sz="1200" spc="10" dirty="0">
                <a:latin typeface="Arial MT"/>
                <a:cs typeface="Arial MT"/>
              </a:rPr>
              <a:t>a</a:t>
            </a:r>
            <a:r>
              <a:rPr sz="1200" spc="70" dirty="0">
                <a:latin typeface="Arial MT"/>
                <a:cs typeface="Arial MT"/>
              </a:rPr>
              <a:t> </a:t>
            </a:r>
            <a:r>
              <a:rPr sz="1200" spc="45" dirty="0">
                <a:latin typeface="Arial MT"/>
                <a:cs typeface="Arial MT"/>
              </a:rPr>
              <a:t>sus</a:t>
            </a:r>
            <a:r>
              <a:rPr sz="1200" spc="125" dirty="0">
                <a:latin typeface="Arial MT"/>
                <a:cs typeface="Arial MT"/>
              </a:rPr>
              <a:t> </a:t>
            </a:r>
            <a:r>
              <a:rPr sz="1200" spc="40" dirty="0">
                <a:latin typeface="Arial MT"/>
                <a:cs typeface="Arial MT"/>
              </a:rPr>
              <a:t>usuarios </a:t>
            </a:r>
            <a:r>
              <a:rPr sz="1200" spc="30" dirty="0">
                <a:latin typeface="Arial MT"/>
                <a:cs typeface="Arial MT"/>
              </a:rPr>
              <a:t>desde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30" dirty="0">
                <a:latin typeface="Arial MT"/>
                <a:cs typeface="Arial MT"/>
              </a:rPr>
              <a:t>varios</a:t>
            </a:r>
            <a:r>
              <a:rPr sz="1200" spc="95" dirty="0">
                <a:latin typeface="Arial MT"/>
                <a:cs typeface="Arial MT"/>
              </a:rPr>
              <a:t> </a:t>
            </a:r>
            <a:r>
              <a:rPr sz="1200" spc="30" dirty="0">
                <a:latin typeface="Arial MT"/>
                <a:cs typeface="Arial MT"/>
              </a:rPr>
              <a:t>proveedores</a:t>
            </a:r>
            <a:r>
              <a:rPr sz="1200" spc="75" dirty="0">
                <a:latin typeface="Arial MT"/>
                <a:cs typeface="Arial MT"/>
              </a:rPr>
              <a:t> </a:t>
            </a:r>
            <a:r>
              <a:rPr sz="1200" spc="30" dirty="0">
                <a:latin typeface="Arial MT"/>
                <a:cs typeface="Arial MT"/>
              </a:rPr>
              <a:t>de</a:t>
            </a:r>
            <a:r>
              <a:rPr sz="1200" spc="15" dirty="0">
                <a:latin typeface="Arial MT"/>
                <a:cs typeface="Arial MT"/>
              </a:rPr>
              <a:t> </a:t>
            </a:r>
            <a:r>
              <a:rPr sz="1200" spc="30" dirty="0">
                <a:latin typeface="Arial MT"/>
                <a:cs typeface="Arial MT"/>
              </a:rPr>
              <a:t>alojamiento</a:t>
            </a:r>
            <a:r>
              <a:rPr sz="1200" spc="80" dirty="0">
                <a:latin typeface="Arial MT"/>
                <a:cs typeface="Arial MT"/>
              </a:rPr>
              <a:t> </a:t>
            </a:r>
            <a:r>
              <a:rPr sz="1200" spc="45" dirty="0">
                <a:latin typeface="Arial MT"/>
                <a:cs typeface="Arial MT"/>
              </a:rPr>
              <a:t>repartidos</a:t>
            </a:r>
            <a:r>
              <a:rPr sz="1200" spc="95" dirty="0">
                <a:latin typeface="Arial MT"/>
                <a:cs typeface="Arial MT"/>
              </a:rPr>
              <a:t> </a:t>
            </a:r>
            <a:r>
              <a:rPr sz="1200" spc="30" dirty="0">
                <a:latin typeface="Arial MT"/>
                <a:cs typeface="Arial MT"/>
              </a:rPr>
              <a:t>frecuentemente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50" dirty="0">
                <a:latin typeface="Arial MT"/>
                <a:cs typeface="Arial MT"/>
              </a:rPr>
              <a:t>por</a:t>
            </a:r>
            <a:r>
              <a:rPr sz="1200" spc="105" dirty="0">
                <a:latin typeface="Arial MT"/>
                <a:cs typeface="Arial MT"/>
              </a:rPr>
              <a:t> </a:t>
            </a:r>
            <a:r>
              <a:rPr sz="1200" spc="50" dirty="0">
                <a:latin typeface="Arial MT"/>
                <a:cs typeface="Arial MT"/>
              </a:rPr>
              <a:t>todo</a:t>
            </a:r>
            <a:r>
              <a:rPr sz="1200" spc="105" dirty="0">
                <a:latin typeface="Arial MT"/>
                <a:cs typeface="Arial MT"/>
              </a:rPr>
              <a:t> </a:t>
            </a:r>
            <a:r>
              <a:rPr sz="1200" spc="30" dirty="0">
                <a:latin typeface="Arial MT"/>
                <a:cs typeface="Arial MT"/>
              </a:rPr>
              <a:t>el</a:t>
            </a:r>
            <a:r>
              <a:rPr sz="1200" spc="120" dirty="0">
                <a:latin typeface="Arial MT"/>
                <a:cs typeface="Arial MT"/>
              </a:rPr>
              <a:t> </a:t>
            </a:r>
            <a:r>
              <a:rPr sz="1200" spc="50" dirty="0">
                <a:latin typeface="Arial MT"/>
                <a:cs typeface="Arial MT"/>
              </a:rPr>
              <a:t>mundo.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spc="30" dirty="0">
                <a:latin typeface="Arial MT"/>
                <a:cs typeface="Arial MT"/>
              </a:rPr>
              <a:t>Esta</a:t>
            </a:r>
            <a:r>
              <a:rPr sz="1200" spc="20" dirty="0">
                <a:latin typeface="Arial MT"/>
                <a:cs typeface="Arial MT"/>
              </a:rPr>
              <a:t> </a:t>
            </a:r>
            <a:r>
              <a:rPr sz="1200" spc="30" dirty="0">
                <a:latin typeface="Arial MT"/>
                <a:cs typeface="Arial MT"/>
              </a:rPr>
              <a:t>medida</a:t>
            </a:r>
            <a:r>
              <a:rPr sz="1200" spc="15" dirty="0">
                <a:latin typeface="Arial MT"/>
                <a:cs typeface="Arial MT"/>
              </a:rPr>
              <a:t> </a:t>
            </a:r>
            <a:r>
              <a:rPr sz="1200" spc="30" dirty="0">
                <a:latin typeface="Arial MT"/>
                <a:cs typeface="Arial MT"/>
              </a:rPr>
              <a:t>reduce</a:t>
            </a:r>
            <a:r>
              <a:rPr sz="1200" spc="20" dirty="0">
                <a:latin typeface="Arial MT"/>
                <a:cs typeface="Arial MT"/>
              </a:rPr>
              <a:t> </a:t>
            </a:r>
            <a:r>
              <a:rPr sz="1200" spc="30" dirty="0">
                <a:latin typeface="Arial MT"/>
                <a:cs typeface="Arial MT"/>
              </a:rPr>
              <a:t>los</a:t>
            </a:r>
            <a:r>
              <a:rPr sz="1200" spc="100" dirty="0">
                <a:latin typeface="Arial MT"/>
                <a:cs typeface="Arial MT"/>
              </a:rPr>
              <a:t> </a:t>
            </a:r>
            <a:r>
              <a:rPr sz="1200" spc="55" dirty="0">
                <a:latin typeface="Arial MT"/>
                <a:cs typeface="Arial MT"/>
              </a:rPr>
              <a:t>costos</a:t>
            </a:r>
            <a:r>
              <a:rPr sz="1200" spc="65" dirty="0">
                <a:latin typeface="Arial MT"/>
                <a:cs typeface="Arial MT"/>
              </a:rPr>
              <a:t> </a:t>
            </a:r>
            <a:r>
              <a:rPr sz="1200" spc="30" dirty="0">
                <a:latin typeface="Arial MT"/>
                <a:cs typeface="Arial MT"/>
              </a:rPr>
              <a:t>y</a:t>
            </a:r>
            <a:r>
              <a:rPr sz="1200" spc="120" dirty="0">
                <a:latin typeface="Arial MT"/>
                <a:cs typeface="Arial MT"/>
              </a:rPr>
              <a:t> </a:t>
            </a:r>
            <a:r>
              <a:rPr sz="1200" spc="30" dirty="0">
                <a:latin typeface="Arial MT"/>
                <a:cs typeface="Arial MT"/>
              </a:rPr>
              <a:t>garantiza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spc="30" dirty="0">
                <a:latin typeface="Arial MT"/>
                <a:cs typeface="Arial MT"/>
              </a:rPr>
              <a:t>un</a:t>
            </a:r>
            <a:r>
              <a:rPr sz="1200" spc="125" dirty="0">
                <a:latin typeface="Arial MT"/>
                <a:cs typeface="Arial MT"/>
              </a:rPr>
              <a:t> </a:t>
            </a:r>
            <a:r>
              <a:rPr sz="1200" spc="30" dirty="0">
                <a:latin typeface="Arial MT"/>
                <a:cs typeface="Arial MT"/>
              </a:rPr>
              <a:t>mejor</a:t>
            </a:r>
            <a:r>
              <a:rPr sz="1200" spc="105" dirty="0">
                <a:latin typeface="Arial MT"/>
                <a:cs typeface="Arial MT"/>
              </a:rPr>
              <a:t> </a:t>
            </a:r>
            <a:r>
              <a:rPr sz="1200" spc="40" dirty="0">
                <a:latin typeface="Arial MT"/>
                <a:cs typeface="Arial MT"/>
              </a:rPr>
              <a:t>tiempo </a:t>
            </a:r>
            <a:r>
              <a:rPr sz="1200" dirty="0">
                <a:latin typeface="Arial MT"/>
                <a:cs typeface="Arial MT"/>
              </a:rPr>
              <a:t>de</a:t>
            </a:r>
            <a:r>
              <a:rPr sz="1200" spc="45" dirty="0">
                <a:latin typeface="Arial MT"/>
                <a:cs typeface="Arial MT"/>
              </a:rPr>
              <a:t> </a:t>
            </a:r>
            <a:r>
              <a:rPr sz="1200" spc="35" dirty="0">
                <a:latin typeface="Arial MT"/>
                <a:cs typeface="Arial MT"/>
              </a:rPr>
              <a:t>actividad.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984503" y="4794503"/>
            <a:ext cx="1009015" cy="948055"/>
            <a:chOff x="984503" y="4794503"/>
            <a:chExt cx="1009015" cy="948055"/>
          </a:xfrm>
        </p:grpSpPr>
        <p:sp>
          <p:nvSpPr>
            <p:cNvPr id="18" name="object 18"/>
            <p:cNvSpPr/>
            <p:nvPr/>
          </p:nvSpPr>
          <p:spPr>
            <a:xfrm>
              <a:off x="996695" y="4806695"/>
              <a:ext cx="984885" cy="923925"/>
            </a:xfrm>
            <a:custGeom>
              <a:avLst/>
              <a:gdLst/>
              <a:ahLst/>
              <a:cxnLst/>
              <a:rect l="l" t="t" r="r" b="b"/>
              <a:pathLst>
                <a:path w="984885" h="923925">
                  <a:moveTo>
                    <a:pt x="753618" y="0"/>
                  </a:moveTo>
                  <a:lnTo>
                    <a:pt x="230886" y="0"/>
                  </a:lnTo>
                  <a:lnTo>
                    <a:pt x="0" y="461771"/>
                  </a:lnTo>
                  <a:lnTo>
                    <a:pt x="230886" y="923543"/>
                  </a:lnTo>
                  <a:lnTo>
                    <a:pt x="753618" y="923543"/>
                  </a:lnTo>
                  <a:lnTo>
                    <a:pt x="984504" y="461771"/>
                  </a:lnTo>
                  <a:lnTo>
                    <a:pt x="7536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96695" y="4806695"/>
              <a:ext cx="984885" cy="923925"/>
            </a:xfrm>
            <a:custGeom>
              <a:avLst/>
              <a:gdLst/>
              <a:ahLst/>
              <a:cxnLst/>
              <a:rect l="l" t="t" r="r" b="b"/>
              <a:pathLst>
                <a:path w="984885" h="923925">
                  <a:moveTo>
                    <a:pt x="0" y="461771"/>
                  </a:moveTo>
                  <a:lnTo>
                    <a:pt x="230886" y="0"/>
                  </a:lnTo>
                  <a:lnTo>
                    <a:pt x="753618" y="0"/>
                  </a:lnTo>
                  <a:lnTo>
                    <a:pt x="984504" y="461771"/>
                  </a:lnTo>
                  <a:lnTo>
                    <a:pt x="753618" y="923543"/>
                  </a:lnTo>
                  <a:lnTo>
                    <a:pt x="230886" y="923543"/>
                  </a:lnTo>
                  <a:lnTo>
                    <a:pt x="0" y="461771"/>
                  </a:lnTo>
                  <a:close/>
                </a:path>
              </a:pathLst>
            </a:custGeom>
            <a:ln w="24384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981455" y="3700271"/>
            <a:ext cx="1012190" cy="951230"/>
            <a:chOff x="981455" y="3700271"/>
            <a:chExt cx="1012190" cy="951230"/>
          </a:xfrm>
        </p:grpSpPr>
        <p:sp>
          <p:nvSpPr>
            <p:cNvPr id="21" name="object 21"/>
            <p:cNvSpPr/>
            <p:nvPr/>
          </p:nvSpPr>
          <p:spPr>
            <a:xfrm>
              <a:off x="993647" y="3712463"/>
              <a:ext cx="988060" cy="927100"/>
            </a:xfrm>
            <a:custGeom>
              <a:avLst/>
              <a:gdLst/>
              <a:ahLst/>
              <a:cxnLst/>
              <a:rect l="l" t="t" r="r" b="b"/>
              <a:pathLst>
                <a:path w="988060" h="927100">
                  <a:moveTo>
                    <a:pt x="755904" y="0"/>
                  </a:moveTo>
                  <a:lnTo>
                    <a:pt x="231647" y="0"/>
                  </a:lnTo>
                  <a:lnTo>
                    <a:pt x="0" y="463295"/>
                  </a:lnTo>
                  <a:lnTo>
                    <a:pt x="231647" y="926591"/>
                  </a:lnTo>
                  <a:lnTo>
                    <a:pt x="755904" y="926591"/>
                  </a:lnTo>
                  <a:lnTo>
                    <a:pt x="987552" y="463295"/>
                  </a:lnTo>
                  <a:lnTo>
                    <a:pt x="7559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93647" y="3712463"/>
              <a:ext cx="988060" cy="927100"/>
            </a:xfrm>
            <a:custGeom>
              <a:avLst/>
              <a:gdLst/>
              <a:ahLst/>
              <a:cxnLst/>
              <a:rect l="l" t="t" r="r" b="b"/>
              <a:pathLst>
                <a:path w="988060" h="927100">
                  <a:moveTo>
                    <a:pt x="0" y="463295"/>
                  </a:moveTo>
                  <a:lnTo>
                    <a:pt x="231647" y="0"/>
                  </a:lnTo>
                  <a:lnTo>
                    <a:pt x="755904" y="0"/>
                  </a:lnTo>
                  <a:lnTo>
                    <a:pt x="987552" y="463295"/>
                  </a:lnTo>
                  <a:lnTo>
                    <a:pt x="755904" y="926591"/>
                  </a:lnTo>
                  <a:lnTo>
                    <a:pt x="231647" y="926591"/>
                  </a:lnTo>
                  <a:lnTo>
                    <a:pt x="0" y="463295"/>
                  </a:lnTo>
                  <a:close/>
                </a:path>
              </a:pathLst>
            </a:custGeom>
            <a:ln w="24384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Rectángulo 22">
            <a:extLst>
              <a:ext uri="{FF2B5EF4-FFF2-40B4-BE49-F238E27FC236}">
                <a16:creationId xmlns:a16="http://schemas.microsoft.com/office/drawing/2014/main" id="{A59E2B2B-C5A7-F7CE-8FFB-72F7CB976F07}"/>
              </a:ext>
            </a:extLst>
          </p:cNvPr>
          <p:cNvSpPr/>
          <p:nvPr/>
        </p:nvSpPr>
        <p:spPr>
          <a:xfrm>
            <a:off x="76200" y="6248400"/>
            <a:ext cx="1981200" cy="4577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56632" y="4514088"/>
            <a:ext cx="988060" cy="923925"/>
          </a:xfrm>
          <a:custGeom>
            <a:avLst/>
            <a:gdLst/>
            <a:ahLst/>
            <a:cxnLst/>
            <a:rect l="l" t="t" r="r" b="b"/>
            <a:pathLst>
              <a:path w="988060" h="923925">
                <a:moveTo>
                  <a:pt x="0" y="461772"/>
                </a:moveTo>
                <a:lnTo>
                  <a:pt x="230886" y="0"/>
                </a:lnTo>
                <a:lnTo>
                  <a:pt x="756666" y="0"/>
                </a:lnTo>
                <a:lnTo>
                  <a:pt x="987552" y="461772"/>
                </a:lnTo>
                <a:lnTo>
                  <a:pt x="756666" y="923544"/>
                </a:lnTo>
                <a:lnTo>
                  <a:pt x="230886" y="923544"/>
                </a:lnTo>
                <a:lnTo>
                  <a:pt x="0" y="461772"/>
                </a:lnTo>
                <a:close/>
              </a:path>
            </a:pathLst>
          </a:custGeom>
          <a:ln w="24384">
            <a:solidFill>
              <a:srgbClr val="4F81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123688" y="3429000"/>
            <a:ext cx="984885" cy="927100"/>
          </a:xfrm>
          <a:custGeom>
            <a:avLst/>
            <a:gdLst/>
            <a:ahLst/>
            <a:cxnLst/>
            <a:rect l="l" t="t" r="r" b="b"/>
            <a:pathLst>
              <a:path w="984885" h="927100">
                <a:moveTo>
                  <a:pt x="0" y="463295"/>
                </a:moveTo>
                <a:lnTo>
                  <a:pt x="231647" y="0"/>
                </a:lnTo>
                <a:lnTo>
                  <a:pt x="752856" y="0"/>
                </a:lnTo>
                <a:lnTo>
                  <a:pt x="984504" y="463295"/>
                </a:lnTo>
                <a:lnTo>
                  <a:pt x="752856" y="926591"/>
                </a:lnTo>
                <a:lnTo>
                  <a:pt x="231647" y="926591"/>
                </a:lnTo>
                <a:lnTo>
                  <a:pt x="0" y="463295"/>
                </a:lnTo>
                <a:close/>
              </a:path>
            </a:pathLst>
          </a:custGeom>
          <a:ln w="24384">
            <a:solidFill>
              <a:srgbClr val="4F81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737616" y="2301240"/>
            <a:ext cx="10025380" cy="3923029"/>
            <a:chOff x="737616" y="2301240"/>
            <a:chExt cx="10025380" cy="3923029"/>
          </a:xfrm>
        </p:grpSpPr>
        <p:sp>
          <p:nvSpPr>
            <p:cNvPr id="5" name="object 5"/>
            <p:cNvSpPr/>
            <p:nvPr/>
          </p:nvSpPr>
          <p:spPr>
            <a:xfrm>
              <a:off x="5108448" y="2368296"/>
              <a:ext cx="988060" cy="927100"/>
            </a:xfrm>
            <a:custGeom>
              <a:avLst/>
              <a:gdLst/>
              <a:ahLst/>
              <a:cxnLst/>
              <a:rect l="l" t="t" r="r" b="b"/>
              <a:pathLst>
                <a:path w="988060" h="927100">
                  <a:moveTo>
                    <a:pt x="0" y="463296"/>
                  </a:moveTo>
                  <a:lnTo>
                    <a:pt x="231647" y="0"/>
                  </a:lnTo>
                  <a:lnTo>
                    <a:pt x="755904" y="0"/>
                  </a:lnTo>
                  <a:lnTo>
                    <a:pt x="987552" y="463296"/>
                  </a:lnTo>
                  <a:lnTo>
                    <a:pt x="755904" y="926592"/>
                  </a:lnTo>
                  <a:lnTo>
                    <a:pt x="231647" y="926592"/>
                  </a:lnTo>
                  <a:lnTo>
                    <a:pt x="0" y="463296"/>
                  </a:lnTo>
                  <a:close/>
                </a:path>
              </a:pathLst>
            </a:custGeom>
            <a:ln w="24384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7616" y="2301240"/>
              <a:ext cx="4648199" cy="24688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028944" y="2898648"/>
              <a:ext cx="984885" cy="927100"/>
            </a:xfrm>
            <a:custGeom>
              <a:avLst/>
              <a:gdLst/>
              <a:ahLst/>
              <a:cxnLst/>
              <a:rect l="l" t="t" r="r" b="b"/>
              <a:pathLst>
                <a:path w="984884" h="927100">
                  <a:moveTo>
                    <a:pt x="752856" y="0"/>
                  </a:moveTo>
                  <a:lnTo>
                    <a:pt x="231647" y="0"/>
                  </a:lnTo>
                  <a:lnTo>
                    <a:pt x="0" y="463296"/>
                  </a:lnTo>
                  <a:lnTo>
                    <a:pt x="231647" y="926592"/>
                  </a:lnTo>
                  <a:lnTo>
                    <a:pt x="752856" y="926592"/>
                  </a:lnTo>
                  <a:lnTo>
                    <a:pt x="984504" y="463296"/>
                  </a:lnTo>
                  <a:lnTo>
                    <a:pt x="7528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028944" y="2898648"/>
              <a:ext cx="984885" cy="927100"/>
            </a:xfrm>
            <a:custGeom>
              <a:avLst/>
              <a:gdLst/>
              <a:ahLst/>
              <a:cxnLst/>
              <a:rect l="l" t="t" r="r" b="b"/>
              <a:pathLst>
                <a:path w="984884" h="927100">
                  <a:moveTo>
                    <a:pt x="0" y="463296"/>
                  </a:moveTo>
                  <a:lnTo>
                    <a:pt x="231647" y="0"/>
                  </a:lnTo>
                  <a:lnTo>
                    <a:pt x="752856" y="0"/>
                  </a:lnTo>
                  <a:lnTo>
                    <a:pt x="984504" y="463296"/>
                  </a:lnTo>
                  <a:lnTo>
                    <a:pt x="752856" y="926592"/>
                  </a:lnTo>
                  <a:lnTo>
                    <a:pt x="231647" y="926592"/>
                  </a:lnTo>
                  <a:lnTo>
                    <a:pt x="0" y="463296"/>
                  </a:lnTo>
                  <a:close/>
                </a:path>
              </a:pathLst>
            </a:custGeom>
            <a:ln w="24384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28944" y="3959351"/>
              <a:ext cx="984885" cy="927100"/>
            </a:xfrm>
            <a:custGeom>
              <a:avLst/>
              <a:gdLst/>
              <a:ahLst/>
              <a:cxnLst/>
              <a:rect l="l" t="t" r="r" b="b"/>
              <a:pathLst>
                <a:path w="984884" h="927100">
                  <a:moveTo>
                    <a:pt x="752856" y="0"/>
                  </a:moveTo>
                  <a:lnTo>
                    <a:pt x="231647" y="0"/>
                  </a:lnTo>
                  <a:lnTo>
                    <a:pt x="0" y="463296"/>
                  </a:lnTo>
                  <a:lnTo>
                    <a:pt x="231647" y="926592"/>
                  </a:lnTo>
                  <a:lnTo>
                    <a:pt x="752856" y="926592"/>
                  </a:lnTo>
                  <a:lnTo>
                    <a:pt x="984504" y="463296"/>
                  </a:lnTo>
                  <a:lnTo>
                    <a:pt x="7528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028944" y="3959351"/>
              <a:ext cx="984885" cy="927100"/>
            </a:xfrm>
            <a:custGeom>
              <a:avLst/>
              <a:gdLst/>
              <a:ahLst/>
              <a:cxnLst/>
              <a:rect l="l" t="t" r="r" b="b"/>
              <a:pathLst>
                <a:path w="984884" h="927100">
                  <a:moveTo>
                    <a:pt x="0" y="463296"/>
                  </a:moveTo>
                  <a:lnTo>
                    <a:pt x="231647" y="0"/>
                  </a:lnTo>
                  <a:lnTo>
                    <a:pt x="752856" y="0"/>
                  </a:lnTo>
                  <a:lnTo>
                    <a:pt x="984504" y="463296"/>
                  </a:lnTo>
                  <a:lnTo>
                    <a:pt x="752856" y="926592"/>
                  </a:lnTo>
                  <a:lnTo>
                    <a:pt x="231647" y="926592"/>
                  </a:lnTo>
                  <a:lnTo>
                    <a:pt x="0" y="463296"/>
                  </a:lnTo>
                  <a:close/>
                </a:path>
              </a:pathLst>
            </a:custGeom>
            <a:ln w="24384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940295" y="3496055"/>
              <a:ext cx="984885" cy="927100"/>
            </a:xfrm>
            <a:custGeom>
              <a:avLst/>
              <a:gdLst/>
              <a:ahLst/>
              <a:cxnLst/>
              <a:rect l="l" t="t" r="r" b="b"/>
              <a:pathLst>
                <a:path w="984884" h="927100">
                  <a:moveTo>
                    <a:pt x="752856" y="0"/>
                  </a:moveTo>
                  <a:lnTo>
                    <a:pt x="231647" y="0"/>
                  </a:lnTo>
                  <a:lnTo>
                    <a:pt x="0" y="463296"/>
                  </a:lnTo>
                  <a:lnTo>
                    <a:pt x="231647" y="926592"/>
                  </a:lnTo>
                  <a:lnTo>
                    <a:pt x="752856" y="926592"/>
                  </a:lnTo>
                  <a:lnTo>
                    <a:pt x="984504" y="463296"/>
                  </a:lnTo>
                  <a:lnTo>
                    <a:pt x="7528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940295" y="3496055"/>
              <a:ext cx="984885" cy="927100"/>
            </a:xfrm>
            <a:custGeom>
              <a:avLst/>
              <a:gdLst/>
              <a:ahLst/>
              <a:cxnLst/>
              <a:rect l="l" t="t" r="r" b="b"/>
              <a:pathLst>
                <a:path w="984884" h="927100">
                  <a:moveTo>
                    <a:pt x="0" y="463296"/>
                  </a:moveTo>
                  <a:lnTo>
                    <a:pt x="231647" y="0"/>
                  </a:lnTo>
                  <a:lnTo>
                    <a:pt x="752856" y="0"/>
                  </a:lnTo>
                  <a:lnTo>
                    <a:pt x="984504" y="463296"/>
                  </a:lnTo>
                  <a:lnTo>
                    <a:pt x="752856" y="926592"/>
                  </a:lnTo>
                  <a:lnTo>
                    <a:pt x="231647" y="926592"/>
                  </a:lnTo>
                  <a:lnTo>
                    <a:pt x="0" y="463296"/>
                  </a:lnTo>
                  <a:close/>
                </a:path>
              </a:pathLst>
            </a:custGeom>
            <a:ln w="24384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931151" y="4556760"/>
              <a:ext cx="988060" cy="927100"/>
            </a:xfrm>
            <a:custGeom>
              <a:avLst/>
              <a:gdLst/>
              <a:ahLst/>
              <a:cxnLst/>
              <a:rect l="l" t="t" r="r" b="b"/>
              <a:pathLst>
                <a:path w="988059" h="927100">
                  <a:moveTo>
                    <a:pt x="755904" y="0"/>
                  </a:moveTo>
                  <a:lnTo>
                    <a:pt x="231647" y="0"/>
                  </a:lnTo>
                  <a:lnTo>
                    <a:pt x="0" y="463295"/>
                  </a:lnTo>
                  <a:lnTo>
                    <a:pt x="231647" y="926591"/>
                  </a:lnTo>
                  <a:lnTo>
                    <a:pt x="755904" y="926591"/>
                  </a:lnTo>
                  <a:lnTo>
                    <a:pt x="987552" y="463295"/>
                  </a:lnTo>
                  <a:lnTo>
                    <a:pt x="7559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931151" y="4556760"/>
              <a:ext cx="988060" cy="927100"/>
            </a:xfrm>
            <a:custGeom>
              <a:avLst/>
              <a:gdLst/>
              <a:ahLst/>
              <a:cxnLst/>
              <a:rect l="l" t="t" r="r" b="b"/>
              <a:pathLst>
                <a:path w="988059" h="927100">
                  <a:moveTo>
                    <a:pt x="0" y="463295"/>
                  </a:moveTo>
                  <a:lnTo>
                    <a:pt x="231647" y="0"/>
                  </a:lnTo>
                  <a:lnTo>
                    <a:pt x="755904" y="0"/>
                  </a:lnTo>
                  <a:lnTo>
                    <a:pt x="987552" y="463295"/>
                  </a:lnTo>
                  <a:lnTo>
                    <a:pt x="755904" y="926591"/>
                  </a:lnTo>
                  <a:lnTo>
                    <a:pt x="231647" y="926591"/>
                  </a:lnTo>
                  <a:lnTo>
                    <a:pt x="0" y="463295"/>
                  </a:lnTo>
                  <a:close/>
                </a:path>
              </a:pathLst>
            </a:custGeom>
            <a:ln w="24384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900416" y="4093464"/>
              <a:ext cx="988060" cy="927100"/>
            </a:xfrm>
            <a:custGeom>
              <a:avLst/>
              <a:gdLst/>
              <a:ahLst/>
              <a:cxnLst/>
              <a:rect l="l" t="t" r="r" b="b"/>
              <a:pathLst>
                <a:path w="988059" h="927100">
                  <a:moveTo>
                    <a:pt x="755904" y="0"/>
                  </a:moveTo>
                  <a:lnTo>
                    <a:pt x="231647" y="0"/>
                  </a:lnTo>
                  <a:lnTo>
                    <a:pt x="0" y="463295"/>
                  </a:lnTo>
                  <a:lnTo>
                    <a:pt x="231647" y="926591"/>
                  </a:lnTo>
                  <a:lnTo>
                    <a:pt x="755904" y="926591"/>
                  </a:lnTo>
                  <a:lnTo>
                    <a:pt x="987552" y="463295"/>
                  </a:lnTo>
                  <a:lnTo>
                    <a:pt x="7559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900416" y="4093464"/>
              <a:ext cx="988060" cy="927100"/>
            </a:xfrm>
            <a:custGeom>
              <a:avLst/>
              <a:gdLst/>
              <a:ahLst/>
              <a:cxnLst/>
              <a:rect l="l" t="t" r="r" b="b"/>
              <a:pathLst>
                <a:path w="988059" h="927100">
                  <a:moveTo>
                    <a:pt x="0" y="463295"/>
                  </a:moveTo>
                  <a:lnTo>
                    <a:pt x="231647" y="0"/>
                  </a:lnTo>
                  <a:lnTo>
                    <a:pt x="755904" y="0"/>
                  </a:lnTo>
                  <a:lnTo>
                    <a:pt x="987552" y="463295"/>
                  </a:lnTo>
                  <a:lnTo>
                    <a:pt x="755904" y="926591"/>
                  </a:lnTo>
                  <a:lnTo>
                    <a:pt x="231647" y="926591"/>
                  </a:lnTo>
                  <a:lnTo>
                    <a:pt x="0" y="463295"/>
                  </a:lnTo>
                  <a:close/>
                </a:path>
              </a:pathLst>
            </a:custGeom>
            <a:ln w="24384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818120" y="5157216"/>
              <a:ext cx="988060" cy="923925"/>
            </a:xfrm>
            <a:custGeom>
              <a:avLst/>
              <a:gdLst/>
              <a:ahLst/>
              <a:cxnLst/>
              <a:rect l="l" t="t" r="r" b="b"/>
              <a:pathLst>
                <a:path w="988059" h="923925">
                  <a:moveTo>
                    <a:pt x="756666" y="0"/>
                  </a:moveTo>
                  <a:lnTo>
                    <a:pt x="230886" y="0"/>
                  </a:lnTo>
                  <a:lnTo>
                    <a:pt x="0" y="461772"/>
                  </a:lnTo>
                  <a:lnTo>
                    <a:pt x="230886" y="923544"/>
                  </a:lnTo>
                  <a:lnTo>
                    <a:pt x="756666" y="923544"/>
                  </a:lnTo>
                  <a:lnTo>
                    <a:pt x="987552" y="461772"/>
                  </a:lnTo>
                  <a:lnTo>
                    <a:pt x="7566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818120" y="5157216"/>
              <a:ext cx="988060" cy="923925"/>
            </a:xfrm>
            <a:custGeom>
              <a:avLst/>
              <a:gdLst/>
              <a:ahLst/>
              <a:cxnLst/>
              <a:rect l="l" t="t" r="r" b="b"/>
              <a:pathLst>
                <a:path w="988059" h="923925">
                  <a:moveTo>
                    <a:pt x="0" y="461772"/>
                  </a:moveTo>
                  <a:lnTo>
                    <a:pt x="230886" y="0"/>
                  </a:lnTo>
                  <a:lnTo>
                    <a:pt x="756666" y="0"/>
                  </a:lnTo>
                  <a:lnTo>
                    <a:pt x="987552" y="461772"/>
                  </a:lnTo>
                  <a:lnTo>
                    <a:pt x="756666" y="923544"/>
                  </a:lnTo>
                  <a:lnTo>
                    <a:pt x="230886" y="923544"/>
                  </a:lnTo>
                  <a:lnTo>
                    <a:pt x="0" y="461772"/>
                  </a:lnTo>
                  <a:close/>
                </a:path>
              </a:pathLst>
            </a:custGeom>
            <a:ln w="24384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814816" y="4733544"/>
              <a:ext cx="988060" cy="927100"/>
            </a:xfrm>
            <a:custGeom>
              <a:avLst/>
              <a:gdLst/>
              <a:ahLst/>
              <a:cxnLst/>
              <a:rect l="l" t="t" r="r" b="b"/>
              <a:pathLst>
                <a:path w="988059" h="927100">
                  <a:moveTo>
                    <a:pt x="755904" y="0"/>
                  </a:moveTo>
                  <a:lnTo>
                    <a:pt x="231647" y="0"/>
                  </a:lnTo>
                  <a:lnTo>
                    <a:pt x="0" y="463295"/>
                  </a:lnTo>
                  <a:lnTo>
                    <a:pt x="231647" y="926591"/>
                  </a:lnTo>
                  <a:lnTo>
                    <a:pt x="755904" y="926591"/>
                  </a:lnTo>
                  <a:lnTo>
                    <a:pt x="987552" y="463295"/>
                  </a:lnTo>
                  <a:lnTo>
                    <a:pt x="7559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814816" y="4733544"/>
              <a:ext cx="988060" cy="927100"/>
            </a:xfrm>
            <a:custGeom>
              <a:avLst/>
              <a:gdLst/>
              <a:ahLst/>
              <a:cxnLst/>
              <a:rect l="l" t="t" r="r" b="b"/>
              <a:pathLst>
                <a:path w="988059" h="927100">
                  <a:moveTo>
                    <a:pt x="0" y="463295"/>
                  </a:moveTo>
                  <a:lnTo>
                    <a:pt x="231647" y="0"/>
                  </a:lnTo>
                  <a:lnTo>
                    <a:pt x="755904" y="0"/>
                  </a:lnTo>
                  <a:lnTo>
                    <a:pt x="987552" y="463295"/>
                  </a:lnTo>
                  <a:lnTo>
                    <a:pt x="755904" y="926591"/>
                  </a:lnTo>
                  <a:lnTo>
                    <a:pt x="231647" y="926591"/>
                  </a:lnTo>
                  <a:lnTo>
                    <a:pt x="0" y="463295"/>
                  </a:lnTo>
                  <a:close/>
                </a:path>
              </a:pathLst>
            </a:custGeom>
            <a:ln w="24384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735311" y="5285232"/>
              <a:ext cx="988060" cy="927100"/>
            </a:xfrm>
            <a:custGeom>
              <a:avLst/>
              <a:gdLst/>
              <a:ahLst/>
              <a:cxnLst/>
              <a:rect l="l" t="t" r="r" b="b"/>
              <a:pathLst>
                <a:path w="988059" h="927100">
                  <a:moveTo>
                    <a:pt x="755904" y="0"/>
                  </a:moveTo>
                  <a:lnTo>
                    <a:pt x="231647" y="0"/>
                  </a:lnTo>
                  <a:lnTo>
                    <a:pt x="0" y="463296"/>
                  </a:lnTo>
                  <a:lnTo>
                    <a:pt x="231647" y="926592"/>
                  </a:lnTo>
                  <a:lnTo>
                    <a:pt x="755904" y="926592"/>
                  </a:lnTo>
                  <a:lnTo>
                    <a:pt x="987552" y="463296"/>
                  </a:lnTo>
                  <a:lnTo>
                    <a:pt x="7559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735311" y="5285232"/>
              <a:ext cx="988060" cy="927100"/>
            </a:xfrm>
            <a:custGeom>
              <a:avLst/>
              <a:gdLst/>
              <a:ahLst/>
              <a:cxnLst/>
              <a:rect l="l" t="t" r="r" b="b"/>
              <a:pathLst>
                <a:path w="988059" h="927100">
                  <a:moveTo>
                    <a:pt x="0" y="463296"/>
                  </a:moveTo>
                  <a:lnTo>
                    <a:pt x="231647" y="0"/>
                  </a:lnTo>
                  <a:lnTo>
                    <a:pt x="755904" y="0"/>
                  </a:lnTo>
                  <a:lnTo>
                    <a:pt x="987552" y="463296"/>
                  </a:lnTo>
                  <a:lnTo>
                    <a:pt x="755904" y="926592"/>
                  </a:lnTo>
                  <a:lnTo>
                    <a:pt x="231647" y="926592"/>
                  </a:lnTo>
                  <a:lnTo>
                    <a:pt x="0" y="463296"/>
                  </a:lnTo>
                  <a:close/>
                </a:path>
              </a:pathLst>
            </a:custGeom>
            <a:ln w="24384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765792" y="4230623"/>
              <a:ext cx="984885" cy="927100"/>
            </a:xfrm>
            <a:custGeom>
              <a:avLst/>
              <a:gdLst/>
              <a:ahLst/>
              <a:cxnLst/>
              <a:rect l="l" t="t" r="r" b="b"/>
              <a:pathLst>
                <a:path w="984884" h="927100">
                  <a:moveTo>
                    <a:pt x="752856" y="0"/>
                  </a:moveTo>
                  <a:lnTo>
                    <a:pt x="231647" y="0"/>
                  </a:lnTo>
                  <a:lnTo>
                    <a:pt x="0" y="463295"/>
                  </a:lnTo>
                  <a:lnTo>
                    <a:pt x="231647" y="926591"/>
                  </a:lnTo>
                  <a:lnTo>
                    <a:pt x="752856" y="926591"/>
                  </a:lnTo>
                  <a:lnTo>
                    <a:pt x="984504" y="463295"/>
                  </a:lnTo>
                  <a:lnTo>
                    <a:pt x="7528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9765792" y="4230623"/>
              <a:ext cx="984885" cy="927100"/>
            </a:xfrm>
            <a:custGeom>
              <a:avLst/>
              <a:gdLst/>
              <a:ahLst/>
              <a:cxnLst/>
              <a:rect l="l" t="t" r="r" b="b"/>
              <a:pathLst>
                <a:path w="984884" h="927100">
                  <a:moveTo>
                    <a:pt x="0" y="463295"/>
                  </a:moveTo>
                  <a:lnTo>
                    <a:pt x="231647" y="0"/>
                  </a:lnTo>
                  <a:lnTo>
                    <a:pt x="752856" y="0"/>
                  </a:lnTo>
                  <a:lnTo>
                    <a:pt x="984504" y="463295"/>
                  </a:lnTo>
                  <a:lnTo>
                    <a:pt x="752856" y="926591"/>
                  </a:lnTo>
                  <a:lnTo>
                    <a:pt x="231647" y="926591"/>
                  </a:lnTo>
                  <a:lnTo>
                    <a:pt x="0" y="463295"/>
                  </a:lnTo>
                  <a:close/>
                </a:path>
              </a:pathLst>
            </a:custGeom>
            <a:ln w="24384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52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90" dirty="0"/>
              <a:t>Ciberseguridad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688340" y="1387270"/>
            <a:ext cx="10735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spc="20" dirty="0">
                <a:latin typeface="Arial MT"/>
                <a:cs typeface="Arial MT"/>
              </a:rPr>
              <a:t>El</a:t>
            </a:r>
            <a:r>
              <a:rPr sz="1200" spc="114" dirty="0">
                <a:latin typeface="Arial MT"/>
                <a:cs typeface="Arial MT"/>
              </a:rPr>
              <a:t> </a:t>
            </a:r>
            <a:r>
              <a:rPr sz="1200" spc="45" dirty="0">
                <a:latin typeface="Arial MT"/>
                <a:cs typeface="Arial MT"/>
              </a:rPr>
              <a:t>objetivo</a:t>
            </a:r>
            <a:r>
              <a:rPr sz="1200" spc="105" dirty="0">
                <a:latin typeface="Arial MT"/>
                <a:cs typeface="Arial MT"/>
              </a:rPr>
              <a:t> </a:t>
            </a:r>
            <a:r>
              <a:rPr sz="1200" spc="20" dirty="0">
                <a:latin typeface="Arial MT"/>
                <a:cs typeface="Arial MT"/>
              </a:rPr>
              <a:t>de</a:t>
            </a:r>
            <a:r>
              <a:rPr sz="1200" spc="55" dirty="0">
                <a:latin typeface="Arial MT"/>
                <a:cs typeface="Arial MT"/>
              </a:rPr>
              <a:t> </a:t>
            </a:r>
            <a:r>
              <a:rPr sz="1200" spc="20" dirty="0">
                <a:latin typeface="Arial MT"/>
                <a:cs typeface="Arial MT"/>
              </a:rPr>
              <a:t>la </a:t>
            </a:r>
            <a:r>
              <a:rPr sz="1200" spc="45" dirty="0">
                <a:latin typeface="Arial MT"/>
                <a:cs typeface="Arial MT"/>
              </a:rPr>
              <a:t>seguridad</a:t>
            </a:r>
            <a:r>
              <a:rPr sz="1200" spc="80" dirty="0">
                <a:latin typeface="Arial MT"/>
                <a:cs typeface="Arial MT"/>
              </a:rPr>
              <a:t> </a:t>
            </a:r>
            <a:r>
              <a:rPr sz="1200" spc="50" dirty="0">
                <a:latin typeface="Arial MT"/>
                <a:cs typeface="Arial MT"/>
              </a:rPr>
              <a:t>informática</a:t>
            </a:r>
            <a:r>
              <a:rPr sz="1200" spc="25" dirty="0">
                <a:latin typeface="Arial MT"/>
                <a:cs typeface="Arial MT"/>
              </a:rPr>
              <a:t> </a:t>
            </a:r>
            <a:r>
              <a:rPr sz="1200" spc="20" dirty="0">
                <a:latin typeface="Arial MT"/>
                <a:cs typeface="Arial MT"/>
              </a:rPr>
              <a:t>es</a:t>
            </a:r>
            <a:r>
              <a:rPr sz="1200" spc="100" dirty="0">
                <a:latin typeface="Arial MT"/>
                <a:cs typeface="Arial MT"/>
              </a:rPr>
              <a:t> </a:t>
            </a:r>
            <a:r>
              <a:rPr sz="1200" spc="20" dirty="0">
                <a:latin typeface="Arial MT"/>
                <a:cs typeface="Arial MT"/>
              </a:rPr>
              <a:t>mantener</a:t>
            </a:r>
            <a:r>
              <a:rPr sz="1200" spc="85" dirty="0">
                <a:latin typeface="Arial MT"/>
                <a:cs typeface="Arial MT"/>
              </a:rPr>
              <a:t> </a:t>
            </a:r>
            <a:r>
              <a:rPr sz="1200" spc="20" dirty="0">
                <a:latin typeface="Arial MT"/>
                <a:cs typeface="Arial MT"/>
              </a:rPr>
              <a:t>la</a:t>
            </a:r>
            <a:r>
              <a:rPr sz="1200" spc="25" dirty="0">
                <a:latin typeface="Arial MT"/>
                <a:cs typeface="Arial MT"/>
              </a:rPr>
              <a:t> </a:t>
            </a:r>
            <a:r>
              <a:rPr sz="1200" spc="20" dirty="0">
                <a:latin typeface="Arial MT"/>
                <a:cs typeface="Arial MT"/>
              </a:rPr>
              <a:t>Integridad,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spc="55" dirty="0">
                <a:latin typeface="Arial MT"/>
                <a:cs typeface="Arial MT"/>
              </a:rPr>
              <a:t>Disponibilidad,</a:t>
            </a:r>
            <a:r>
              <a:rPr sz="1200" spc="-60" dirty="0">
                <a:latin typeface="Arial MT"/>
                <a:cs typeface="Arial MT"/>
              </a:rPr>
              <a:t> </a:t>
            </a:r>
            <a:r>
              <a:rPr sz="1200" spc="20" dirty="0">
                <a:latin typeface="Arial MT"/>
                <a:cs typeface="Arial MT"/>
              </a:rPr>
              <a:t>Privacidad,</a:t>
            </a:r>
            <a:r>
              <a:rPr sz="1200" spc="-65" dirty="0">
                <a:latin typeface="Arial MT"/>
                <a:cs typeface="Arial MT"/>
              </a:rPr>
              <a:t> </a:t>
            </a:r>
            <a:r>
              <a:rPr sz="1200" spc="45" dirty="0">
                <a:latin typeface="Arial MT"/>
                <a:cs typeface="Arial MT"/>
              </a:rPr>
              <a:t>Control</a:t>
            </a:r>
            <a:r>
              <a:rPr sz="1200" spc="125" dirty="0">
                <a:latin typeface="Arial MT"/>
                <a:cs typeface="Arial MT"/>
              </a:rPr>
              <a:t> </a:t>
            </a:r>
            <a:r>
              <a:rPr sz="1200" spc="20" dirty="0">
                <a:latin typeface="Arial MT"/>
                <a:cs typeface="Arial MT"/>
              </a:rPr>
              <a:t>y</a:t>
            </a:r>
            <a:r>
              <a:rPr sz="1200" spc="105" dirty="0">
                <a:latin typeface="Arial MT"/>
                <a:cs typeface="Arial MT"/>
              </a:rPr>
              <a:t> </a:t>
            </a:r>
            <a:r>
              <a:rPr sz="1200" spc="45" dirty="0">
                <a:latin typeface="Arial MT"/>
                <a:cs typeface="Arial MT"/>
              </a:rPr>
              <a:t>Autenticidad</a:t>
            </a:r>
            <a:r>
              <a:rPr sz="1200" spc="80" dirty="0">
                <a:latin typeface="Arial MT"/>
                <a:cs typeface="Arial MT"/>
              </a:rPr>
              <a:t> </a:t>
            </a:r>
            <a:r>
              <a:rPr sz="1200" spc="20" dirty="0">
                <a:latin typeface="Arial MT"/>
                <a:cs typeface="Arial MT"/>
              </a:rPr>
              <a:t>de</a:t>
            </a:r>
            <a:r>
              <a:rPr sz="1200" spc="25" dirty="0">
                <a:latin typeface="Arial MT"/>
                <a:cs typeface="Arial MT"/>
              </a:rPr>
              <a:t> </a:t>
            </a:r>
            <a:r>
              <a:rPr sz="1200" spc="20" dirty="0">
                <a:latin typeface="Arial MT"/>
                <a:cs typeface="Arial MT"/>
              </a:rPr>
              <a:t>la</a:t>
            </a:r>
            <a:r>
              <a:rPr sz="1200" spc="50" dirty="0">
                <a:latin typeface="Arial MT"/>
                <a:cs typeface="Arial MT"/>
              </a:rPr>
              <a:t> información</a:t>
            </a:r>
            <a:r>
              <a:rPr sz="1200" spc="110" dirty="0">
                <a:latin typeface="Arial MT"/>
                <a:cs typeface="Arial MT"/>
              </a:rPr>
              <a:t> </a:t>
            </a:r>
            <a:r>
              <a:rPr sz="1200" spc="20" dirty="0">
                <a:latin typeface="Arial MT"/>
                <a:cs typeface="Arial MT"/>
              </a:rPr>
              <a:t>manejada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spc="50" dirty="0">
                <a:latin typeface="Arial MT"/>
                <a:cs typeface="Arial MT"/>
              </a:rPr>
              <a:t>por computadora.</a:t>
            </a:r>
            <a:r>
              <a:rPr sz="1200" spc="-70" dirty="0">
                <a:latin typeface="Arial MT"/>
                <a:cs typeface="Arial MT"/>
              </a:rPr>
              <a:t> </a:t>
            </a:r>
            <a:r>
              <a:rPr sz="1200" spc="20" dirty="0">
                <a:latin typeface="Arial MT"/>
                <a:cs typeface="Arial MT"/>
              </a:rPr>
              <a:t>Se</a:t>
            </a:r>
            <a:r>
              <a:rPr sz="1200" spc="45" dirty="0">
                <a:latin typeface="Arial MT"/>
                <a:cs typeface="Arial MT"/>
              </a:rPr>
              <a:t> </a:t>
            </a:r>
            <a:r>
              <a:rPr sz="1200" spc="55" dirty="0">
                <a:latin typeface="Arial MT"/>
                <a:cs typeface="Arial MT"/>
              </a:rPr>
              <a:t>ocupa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20" dirty="0">
                <a:latin typeface="Arial MT"/>
                <a:cs typeface="Arial MT"/>
              </a:rPr>
              <a:t>de</a:t>
            </a:r>
            <a:r>
              <a:rPr sz="1200" spc="45" dirty="0">
                <a:latin typeface="Arial MT"/>
                <a:cs typeface="Arial MT"/>
              </a:rPr>
              <a:t> </a:t>
            </a:r>
            <a:r>
              <a:rPr sz="1200" spc="20" dirty="0">
                <a:latin typeface="Arial MT"/>
                <a:cs typeface="Arial MT"/>
              </a:rPr>
              <a:t>proteger</a:t>
            </a:r>
            <a:r>
              <a:rPr sz="1200" spc="50" dirty="0">
                <a:latin typeface="Arial MT"/>
                <a:cs typeface="Arial MT"/>
              </a:rPr>
              <a:t> </a:t>
            </a:r>
            <a:r>
              <a:rPr sz="1200" spc="20" dirty="0">
                <a:latin typeface="Arial MT"/>
                <a:cs typeface="Arial MT"/>
              </a:rPr>
              <a:t>la</a:t>
            </a:r>
            <a:r>
              <a:rPr sz="1200" spc="40" dirty="0">
                <a:latin typeface="Arial MT"/>
                <a:cs typeface="Arial MT"/>
              </a:rPr>
              <a:t> </a:t>
            </a:r>
            <a:r>
              <a:rPr sz="1200" spc="50" dirty="0">
                <a:latin typeface="Arial MT"/>
                <a:cs typeface="Arial MT"/>
              </a:rPr>
              <a:t>información</a:t>
            </a:r>
            <a:r>
              <a:rPr sz="1200" spc="75" dirty="0">
                <a:latin typeface="Arial MT"/>
                <a:cs typeface="Arial MT"/>
              </a:rPr>
              <a:t> </a:t>
            </a:r>
            <a:r>
              <a:rPr sz="1200" spc="20" dirty="0">
                <a:latin typeface="Arial MT"/>
                <a:cs typeface="Arial MT"/>
              </a:rPr>
              <a:t>De</a:t>
            </a:r>
            <a:r>
              <a:rPr sz="1200" spc="45" dirty="0">
                <a:latin typeface="Arial MT"/>
                <a:cs typeface="Arial MT"/>
              </a:rPr>
              <a:t> </a:t>
            </a:r>
            <a:r>
              <a:rPr sz="1200" spc="20" dirty="0">
                <a:latin typeface="Arial MT"/>
                <a:cs typeface="Arial MT"/>
              </a:rPr>
              <a:t>la</a:t>
            </a:r>
            <a:r>
              <a:rPr sz="1200" spc="15" dirty="0">
                <a:latin typeface="Arial MT"/>
                <a:cs typeface="Arial MT"/>
              </a:rPr>
              <a:t> </a:t>
            </a:r>
            <a:r>
              <a:rPr sz="1200" spc="20" dirty="0">
                <a:latin typeface="Arial MT"/>
                <a:cs typeface="Arial MT"/>
              </a:rPr>
              <a:t>organización</a:t>
            </a:r>
            <a:r>
              <a:rPr sz="1200" spc="100" dirty="0">
                <a:latin typeface="Arial MT"/>
                <a:cs typeface="Arial MT"/>
              </a:rPr>
              <a:t> </a:t>
            </a:r>
            <a:r>
              <a:rPr sz="1200" spc="20" dirty="0">
                <a:latin typeface="Arial MT"/>
                <a:cs typeface="Arial MT"/>
              </a:rPr>
              <a:t>en</a:t>
            </a:r>
            <a:r>
              <a:rPr sz="1200" spc="100" dirty="0">
                <a:latin typeface="Arial MT"/>
                <a:cs typeface="Arial MT"/>
              </a:rPr>
              <a:t> </a:t>
            </a:r>
            <a:r>
              <a:rPr sz="1200" spc="45" dirty="0">
                <a:latin typeface="Arial MT"/>
                <a:cs typeface="Arial MT"/>
              </a:rPr>
              <a:t>cualquier</a:t>
            </a:r>
            <a:r>
              <a:rPr sz="1200" spc="50" dirty="0">
                <a:latin typeface="Arial MT"/>
                <a:cs typeface="Arial MT"/>
              </a:rPr>
              <a:t> </a:t>
            </a:r>
            <a:r>
              <a:rPr sz="1200" spc="20" dirty="0">
                <a:latin typeface="Arial MT"/>
                <a:cs typeface="Arial MT"/>
              </a:rPr>
              <a:t>forma</a:t>
            </a:r>
            <a:r>
              <a:rPr sz="1200" spc="45" dirty="0">
                <a:latin typeface="Arial MT"/>
                <a:cs typeface="Arial MT"/>
              </a:rPr>
              <a:t> </a:t>
            </a:r>
            <a:r>
              <a:rPr sz="1200" spc="20" dirty="0">
                <a:latin typeface="Arial MT"/>
                <a:cs typeface="Arial MT"/>
              </a:rPr>
              <a:t>en</a:t>
            </a:r>
            <a:r>
              <a:rPr sz="1200" spc="100" dirty="0">
                <a:latin typeface="Arial MT"/>
                <a:cs typeface="Arial MT"/>
              </a:rPr>
              <a:t> </a:t>
            </a:r>
            <a:r>
              <a:rPr sz="1200" spc="50" dirty="0">
                <a:latin typeface="Arial MT"/>
                <a:cs typeface="Arial MT"/>
              </a:rPr>
              <a:t>que</a:t>
            </a:r>
            <a:r>
              <a:rPr sz="1200" spc="45" dirty="0">
                <a:latin typeface="Arial MT"/>
                <a:cs typeface="Arial MT"/>
              </a:rPr>
              <a:t> </a:t>
            </a:r>
            <a:r>
              <a:rPr sz="1200" spc="20" dirty="0">
                <a:latin typeface="Arial MT"/>
                <a:cs typeface="Arial MT"/>
              </a:rPr>
              <a:t>se</a:t>
            </a:r>
            <a:r>
              <a:rPr sz="1200" spc="1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encuentre.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37361E96-45F2-3362-7BD6-A5262A9BDF10}"/>
              </a:ext>
            </a:extLst>
          </p:cNvPr>
          <p:cNvSpPr/>
          <p:nvPr/>
        </p:nvSpPr>
        <p:spPr>
          <a:xfrm>
            <a:off x="76200" y="6248400"/>
            <a:ext cx="1981200" cy="4577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849177" y="1115567"/>
            <a:ext cx="6087110" cy="4490085"/>
            <a:chOff x="4849177" y="1115567"/>
            <a:chExt cx="6087110" cy="449008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58512" y="1115567"/>
              <a:ext cx="6077712" cy="353138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861560" y="4639055"/>
              <a:ext cx="2383790" cy="954405"/>
            </a:xfrm>
            <a:custGeom>
              <a:avLst/>
              <a:gdLst/>
              <a:ahLst/>
              <a:cxnLst/>
              <a:rect l="l" t="t" r="r" b="b"/>
              <a:pathLst>
                <a:path w="2383790" h="954404">
                  <a:moveTo>
                    <a:pt x="1906524" y="0"/>
                  </a:moveTo>
                  <a:lnTo>
                    <a:pt x="0" y="0"/>
                  </a:lnTo>
                  <a:lnTo>
                    <a:pt x="477012" y="477012"/>
                  </a:lnTo>
                  <a:lnTo>
                    <a:pt x="0" y="954024"/>
                  </a:lnTo>
                  <a:lnTo>
                    <a:pt x="1906524" y="954024"/>
                  </a:lnTo>
                  <a:lnTo>
                    <a:pt x="2383536" y="477012"/>
                  </a:lnTo>
                  <a:lnTo>
                    <a:pt x="1906524" y="0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861560" y="4639055"/>
              <a:ext cx="2383790" cy="954405"/>
            </a:xfrm>
            <a:custGeom>
              <a:avLst/>
              <a:gdLst/>
              <a:ahLst/>
              <a:cxnLst/>
              <a:rect l="l" t="t" r="r" b="b"/>
              <a:pathLst>
                <a:path w="2383790" h="954404">
                  <a:moveTo>
                    <a:pt x="0" y="0"/>
                  </a:moveTo>
                  <a:lnTo>
                    <a:pt x="1906524" y="0"/>
                  </a:lnTo>
                  <a:lnTo>
                    <a:pt x="2383536" y="477012"/>
                  </a:lnTo>
                  <a:lnTo>
                    <a:pt x="1906524" y="954024"/>
                  </a:lnTo>
                  <a:lnTo>
                    <a:pt x="0" y="954024"/>
                  </a:lnTo>
                  <a:lnTo>
                    <a:pt x="477012" y="477012"/>
                  </a:lnTo>
                  <a:lnTo>
                    <a:pt x="0" y="0"/>
                  </a:lnTo>
                  <a:close/>
                </a:path>
              </a:pathLst>
            </a:custGeom>
            <a:ln w="2438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52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El</a:t>
            </a:r>
            <a:r>
              <a:rPr spc="180" dirty="0"/>
              <a:t> </a:t>
            </a:r>
            <a:r>
              <a:rPr spc="100" dirty="0"/>
              <a:t>camino</a:t>
            </a:r>
            <a:r>
              <a:rPr spc="195" dirty="0"/>
              <a:t> </a:t>
            </a:r>
            <a:r>
              <a:rPr dirty="0"/>
              <a:t>a </a:t>
            </a:r>
            <a:r>
              <a:rPr spc="75" dirty="0"/>
              <a:t>la</a:t>
            </a:r>
            <a:r>
              <a:rPr dirty="0"/>
              <a:t> </a:t>
            </a:r>
            <a:r>
              <a:rPr spc="140" dirty="0"/>
              <a:t>industria</a:t>
            </a:r>
            <a:r>
              <a:rPr spc="25" dirty="0"/>
              <a:t> </a:t>
            </a:r>
            <a:r>
              <a:rPr spc="-25" dirty="0"/>
              <a:t>4.0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464118" y="4846795"/>
            <a:ext cx="124714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Siglo</a:t>
            </a:r>
            <a:r>
              <a:rPr sz="2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FFFFFF"/>
                </a:solidFill>
                <a:latin typeface="Calibri"/>
                <a:cs typeface="Calibri"/>
              </a:rPr>
              <a:t>XIX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991921" y="4626673"/>
            <a:ext cx="2408555" cy="979169"/>
            <a:chOff x="6991921" y="4626673"/>
            <a:chExt cx="2408555" cy="979169"/>
          </a:xfrm>
        </p:grpSpPr>
        <p:sp>
          <p:nvSpPr>
            <p:cNvPr id="9" name="object 9"/>
            <p:cNvSpPr/>
            <p:nvPr/>
          </p:nvSpPr>
          <p:spPr>
            <a:xfrm>
              <a:off x="7004303" y="4639055"/>
              <a:ext cx="2383790" cy="954405"/>
            </a:xfrm>
            <a:custGeom>
              <a:avLst/>
              <a:gdLst/>
              <a:ahLst/>
              <a:cxnLst/>
              <a:rect l="l" t="t" r="r" b="b"/>
              <a:pathLst>
                <a:path w="2383790" h="954404">
                  <a:moveTo>
                    <a:pt x="1906524" y="0"/>
                  </a:moveTo>
                  <a:lnTo>
                    <a:pt x="0" y="0"/>
                  </a:lnTo>
                  <a:lnTo>
                    <a:pt x="477012" y="477012"/>
                  </a:lnTo>
                  <a:lnTo>
                    <a:pt x="0" y="954024"/>
                  </a:lnTo>
                  <a:lnTo>
                    <a:pt x="1906524" y="954024"/>
                  </a:lnTo>
                  <a:lnTo>
                    <a:pt x="2383536" y="477012"/>
                  </a:lnTo>
                  <a:lnTo>
                    <a:pt x="1906524" y="0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004303" y="4639055"/>
              <a:ext cx="2383790" cy="954405"/>
            </a:xfrm>
            <a:custGeom>
              <a:avLst/>
              <a:gdLst/>
              <a:ahLst/>
              <a:cxnLst/>
              <a:rect l="l" t="t" r="r" b="b"/>
              <a:pathLst>
                <a:path w="2383790" h="954404">
                  <a:moveTo>
                    <a:pt x="0" y="0"/>
                  </a:moveTo>
                  <a:lnTo>
                    <a:pt x="1906524" y="0"/>
                  </a:lnTo>
                  <a:lnTo>
                    <a:pt x="2383536" y="477012"/>
                  </a:lnTo>
                  <a:lnTo>
                    <a:pt x="1906524" y="954024"/>
                  </a:lnTo>
                  <a:lnTo>
                    <a:pt x="0" y="954024"/>
                  </a:lnTo>
                  <a:lnTo>
                    <a:pt x="477012" y="477012"/>
                  </a:lnTo>
                  <a:lnTo>
                    <a:pt x="0" y="0"/>
                  </a:lnTo>
                  <a:close/>
                </a:path>
              </a:pathLst>
            </a:custGeom>
            <a:ln w="2438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7654377" y="4846795"/>
            <a:ext cx="115887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Siglo</a:t>
            </a:r>
            <a:r>
              <a:rPr sz="2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FFFFFF"/>
                </a:solidFill>
                <a:latin typeface="Calibri"/>
                <a:cs typeface="Calibri"/>
              </a:rPr>
              <a:t>XX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9137713" y="4626673"/>
            <a:ext cx="2408555" cy="979169"/>
            <a:chOff x="9137713" y="4626673"/>
            <a:chExt cx="2408555" cy="979169"/>
          </a:xfrm>
        </p:grpSpPr>
        <p:sp>
          <p:nvSpPr>
            <p:cNvPr id="13" name="object 13"/>
            <p:cNvSpPr/>
            <p:nvPr/>
          </p:nvSpPr>
          <p:spPr>
            <a:xfrm>
              <a:off x="9150096" y="4639055"/>
              <a:ext cx="2383790" cy="954405"/>
            </a:xfrm>
            <a:custGeom>
              <a:avLst/>
              <a:gdLst/>
              <a:ahLst/>
              <a:cxnLst/>
              <a:rect l="l" t="t" r="r" b="b"/>
              <a:pathLst>
                <a:path w="2383790" h="954404">
                  <a:moveTo>
                    <a:pt x="1906524" y="0"/>
                  </a:moveTo>
                  <a:lnTo>
                    <a:pt x="0" y="0"/>
                  </a:lnTo>
                  <a:lnTo>
                    <a:pt x="477012" y="477012"/>
                  </a:lnTo>
                  <a:lnTo>
                    <a:pt x="0" y="954024"/>
                  </a:lnTo>
                  <a:lnTo>
                    <a:pt x="1906524" y="954024"/>
                  </a:lnTo>
                  <a:lnTo>
                    <a:pt x="2383536" y="477012"/>
                  </a:lnTo>
                  <a:lnTo>
                    <a:pt x="1906524" y="0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150096" y="4639055"/>
              <a:ext cx="2383790" cy="954405"/>
            </a:xfrm>
            <a:custGeom>
              <a:avLst/>
              <a:gdLst/>
              <a:ahLst/>
              <a:cxnLst/>
              <a:rect l="l" t="t" r="r" b="b"/>
              <a:pathLst>
                <a:path w="2383790" h="954404">
                  <a:moveTo>
                    <a:pt x="0" y="0"/>
                  </a:moveTo>
                  <a:lnTo>
                    <a:pt x="1906524" y="0"/>
                  </a:lnTo>
                  <a:lnTo>
                    <a:pt x="2383536" y="477012"/>
                  </a:lnTo>
                  <a:lnTo>
                    <a:pt x="1906524" y="954024"/>
                  </a:lnTo>
                  <a:lnTo>
                    <a:pt x="0" y="954024"/>
                  </a:lnTo>
                  <a:lnTo>
                    <a:pt x="477012" y="477012"/>
                  </a:lnTo>
                  <a:lnTo>
                    <a:pt x="0" y="0"/>
                  </a:lnTo>
                  <a:close/>
                </a:path>
              </a:pathLst>
            </a:custGeom>
            <a:ln w="2438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9753134" y="4846795"/>
            <a:ext cx="125095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Siglo</a:t>
            </a:r>
            <a:r>
              <a:rPr sz="2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FFFFFF"/>
                </a:solidFill>
                <a:latin typeface="Calibri"/>
                <a:cs typeface="Calibri"/>
              </a:rPr>
              <a:t>XXI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718303" y="5376671"/>
            <a:ext cx="6733540" cy="1481455"/>
            <a:chOff x="4718303" y="5376671"/>
            <a:chExt cx="6733540" cy="1481455"/>
          </a:xfrm>
        </p:grpSpPr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18303" y="5376671"/>
              <a:ext cx="2340863" cy="148132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95815" y="5440679"/>
              <a:ext cx="2255519" cy="141731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28103" y="5376671"/>
              <a:ext cx="2346959" cy="1481327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137819" y="1371475"/>
            <a:ext cx="4333875" cy="19456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620" algn="just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Somos</a:t>
            </a:r>
            <a:r>
              <a:rPr sz="1800" spc="85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95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cierto</a:t>
            </a:r>
            <a:r>
              <a:rPr sz="1800" spc="95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modo</a:t>
            </a:r>
            <a:r>
              <a:rPr sz="1800" spc="105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habitantes</a:t>
            </a:r>
            <a:r>
              <a:rPr sz="1800" spc="100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95" dirty="0">
                <a:latin typeface="Calibri"/>
                <a:cs typeface="Calibri"/>
              </a:rPr>
              <a:t>  </a:t>
            </a:r>
            <a:r>
              <a:rPr sz="1800" spc="-20" dirty="0">
                <a:latin typeface="Calibri"/>
                <a:cs typeface="Calibri"/>
              </a:rPr>
              <a:t>tres </a:t>
            </a:r>
            <a:r>
              <a:rPr sz="1800" spc="-10" dirty="0">
                <a:latin typeface="Calibri"/>
                <a:cs typeface="Calibri"/>
              </a:rPr>
              <a:t>diferentes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siglos:</a:t>
            </a:r>
            <a:endParaRPr sz="1800">
              <a:latin typeface="Calibri"/>
              <a:cs typeface="Calibri"/>
            </a:endParaRPr>
          </a:p>
          <a:p>
            <a:pPr marL="12700" marR="5080" algn="just">
              <a:lnSpc>
                <a:spcPct val="100000"/>
              </a:lnSpc>
              <a:spcBef>
                <a:spcPts val="2160"/>
              </a:spcBef>
            </a:pPr>
            <a:r>
              <a:rPr sz="1800" b="1" dirty="0">
                <a:latin typeface="Calibri"/>
                <a:cs typeface="Calibri"/>
              </a:rPr>
              <a:t>El</a:t>
            </a:r>
            <a:r>
              <a:rPr sz="1800" b="1" spc="65" dirty="0">
                <a:latin typeface="Calibri"/>
                <a:cs typeface="Calibri"/>
              </a:rPr>
              <a:t>  </a:t>
            </a:r>
            <a:r>
              <a:rPr sz="1800" b="1" dirty="0">
                <a:latin typeface="Calibri"/>
                <a:cs typeface="Calibri"/>
              </a:rPr>
              <a:t>siglo</a:t>
            </a:r>
            <a:r>
              <a:rPr sz="1800" b="1" spc="75" dirty="0">
                <a:latin typeface="Calibri"/>
                <a:cs typeface="Calibri"/>
              </a:rPr>
              <a:t>  </a:t>
            </a:r>
            <a:r>
              <a:rPr sz="1800" b="1" dirty="0">
                <a:latin typeface="Calibri"/>
                <a:cs typeface="Calibri"/>
              </a:rPr>
              <a:t>XIX</a:t>
            </a:r>
            <a:r>
              <a:rPr sz="1800" dirty="0">
                <a:latin typeface="Calibri"/>
                <a:cs typeface="Calibri"/>
              </a:rPr>
              <a:t>,</a:t>
            </a:r>
            <a:r>
              <a:rPr sz="1800" spc="65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propio</a:t>
            </a:r>
            <a:r>
              <a:rPr sz="1800" spc="85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70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una</a:t>
            </a:r>
            <a:r>
              <a:rPr sz="1800" spc="90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economía</a:t>
            </a:r>
            <a:r>
              <a:rPr sz="1800" spc="75" dirty="0">
                <a:latin typeface="Calibri"/>
                <a:cs typeface="Calibri"/>
              </a:rPr>
              <a:t>  </a:t>
            </a:r>
            <a:r>
              <a:rPr sz="1800" spc="-25" dirty="0">
                <a:latin typeface="Calibri"/>
                <a:cs typeface="Calibri"/>
              </a:rPr>
              <a:t>con </a:t>
            </a:r>
            <a:r>
              <a:rPr sz="1800" dirty="0">
                <a:latin typeface="Calibri"/>
                <a:cs typeface="Calibri"/>
              </a:rPr>
              <a:t>escaso valor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agregado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que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sumerge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30%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de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135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población</a:t>
            </a:r>
            <a:r>
              <a:rPr sz="1800" spc="150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135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150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pobreza</a:t>
            </a:r>
            <a:r>
              <a:rPr sz="1800" spc="140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155" dirty="0">
                <a:latin typeface="Calibri"/>
                <a:cs typeface="Calibri"/>
              </a:rPr>
              <a:t>  </a:t>
            </a:r>
            <a:r>
              <a:rPr sz="1800" spc="-10" dirty="0">
                <a:latin typeface="Calibri"/>
                <a:cs typeface="Calibri"/>
              </a:rPr>
              <a:t>desigualdad cultural.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7819" y="3566035"/>
            <a:ext cx="19748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414655" algn="l"/>
                <a:tab pos="1082040" algn="l"/>
                <a:tab pos="1158240" algn="l"/>
                <a:tab pos="1469390" algn="l"/>
                <a:tab pos="1624330" algn="l"/>
              </a:tabLst>
            </a:pPr>
            <a:r>
              <a:rPr sz="1800" b="1" spc="-25" dirty="0">
                <a:latin typeface="Calibri"/>
                <a:cs typeface="Calibri"/>
              </a:rPr>
              <a:t>El</a:t>
            </a:r>
            <a:r>
              <a:rPr sz="1800" b="1" dirty="0">
                <a:latin typeface="Calibri"/>
                <a:cs typeface="Calibri"/>
              </a:rPr>
              <a:t>	</a:t>
            </a:r>
            <a:r>
              <a:rPr sz="1800" b="1" spc="-10" dirty="0">
                <a:latin typeface="Calibri"/>
                <a:cs typeface="Calibri"/>
              </a:rPr>
              <a:t>siglo</a:t>
            </a:r>
            <a:r>
              <a:rPr sz="1800" b="1" dirty="0">
                <a:latin typeface="Calibri"/>
                <a:cs typeface="Calibri"/>
              </a:rPr>
              <a:t>	</a:t>
            </a:r>
            <a:r>
              <a:rPr sz="1800" b="1" spc="-25" dirty="0">
                <a:latin typeface="Calibri"/>
                <a:cs typeface="Calibri"/>
              </a:rPr>
              <a:t>XX</a:t>
            </a:r>
            <a:r>
              <a:rPr sz="1800" spc="-25" dirty="0">
                <a:latin typeface="Calibri"/>
                <a:cs typeface="Calibri"/>
              </a:rPr>
              <a:t>,</a:t>
            </a:r>
            <a:r>
              <a:rPr sz="1800" dirty="0">
                <a:latin typeface="Calibri"/>
                <a:cs typeface="Calibri"/>
              </a:rPr>
              <a:t>		</a:t>
            </a:r>
            <a:r>
              <a:rPr sz="1800" spc="-25" dirty="0">
                <a:latin typeface="Calibri"/>
                <a:cs typeface="Calibri"/>
              </a:rPr>
              <a:t>con </a:t>
            </a:r>
            <a:r>
              <a:rPr sz="1800" spc="-10" dirty="0">
                <a:latin typeface="Calibri"/>
                <a:cs typeface="Calibri"/>
              </a:rPr>
              <a:t>dinámicos</a:t>
            </a:r>
            <a:r>
              <a:rPr sz="1800" dirty="0">
                <a:latin typeface="Calibri"/>
                <a:cs typeface="Calibri"/>
              </a:rPr>
              <a:t>		</a:t>
            </a:r>
            <a:r>
              <a:rPr sz="1800" spc="-50" dirty="0">
                <a:latin typeface="Calibri"/>
                <a:cs typeface="Calibri"/>
              </a:rPr>
              <a:t>y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25" dirty="0">
                <a:latin typeface="Calibri"/>
                <a:cs typeface="Calibri"/>
              </a:rPr>
              <a:t>una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149499" y="3566035"/>
            <a:ext cx="23158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70180">
              <a:lnSpc>
                <a:spcPct val="100000"/>
              </a:lnSpc>
              <a:spcBef>
                <a:spcPts val="100"/>
              </a:spcBef>
              <a:tabLst>
                <a:tab pos="1152525" algn="l"/>
                <a:tab pos="1231265" algn="l"/>
                <a:tab pos="1591310" algn="l"/>
              </a:tabLst>
            </a:pPr>
            <a:r>
              <a:rPr sz="1800" spc="-10" dirty="0">
                <a:latin typeface="Calibri"/>
                <a:cs typeface="Calibri"/>
              </a:rPr>
              <a:t>aspectos</a:t>
            </a:r>
            <a:r>
              <a:rPr sz="1800" dirty="0">
                <a:latin typeface="Calibri"/>
                <a:cs typeface="Calibri"/>
              </a:rPr>
              <a:t>		</a:t>
            </a:r>
            <a:r>
              <a:rPr sz="1800" spc="-10" dirty="0">
                <a:latin typeface="Calibri"/>
                <a:cs typeface="Calibri"/>
              </a:rPr>
              <a:t>industriales capacidad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25" dirty="0">
                <a:latin typeface="Calibri"/>
                <a:cs typeface="Calibri"/>
              </a:rPr>
              <a:t>de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10" dirty="0">
                <a:latin typeface="Calibri"/>
                <a:cs typeface="Calibri"/>
              </a:rPr>
              <a:t>notable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7819" y="4114675"/>
            <a:ext cx="43294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resiliencia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vaivenes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macroeconómicos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de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generación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X.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37133" y="4937635"/>
            <a:ext cx="433070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El</a:t>
            </a:r>
            <a:r>
              <a:rPr sz="1800" b="1" spc="4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siglo</a:t>
            </a:r>
            <a:r>
              <a:rPr sz="1800" b="1" spc="45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XXI</a:t>
            </a:r>
            <a:r>
              <a:rPr sz="1800" dirty="0">
                <a:latin typeface="Calibri"/>
                <a:cs typeface="Calibri"/>
              </a:rPr>
              <a:t>,</a:t>
            </a:r>
            <a:r>
              <a:rPr sz="1800" spc="4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</a:t>
            </a:r>
            <a:r>
              <a:rPr sz="1800" spc="4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innovadores</a:t>
            </a:r>
            <a:r>
              <a:rPr sz="1800" spc="4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pujantes</a:t>
            </a:r>
            <a:r>
              <a:rPr sz="1800" spc="47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que </a:t>
            </a:r>
            <a:r>
              <a:rPr sz="1800" dirty="0">
                <a:latin typeface="Calibri"/>
                <a:cs typeface="Calibri"/>
              </a:rPr>
              <a:t>pueden</a:t>
            </a:r>
            <a:r>
              <a:rPr sz="1800" spc="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insertarse</a:t>
            </a:r>
            <a:r>
              <a:rPr sz="1800" spc="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exitosamente</a:t>
            </a:r>
            <a:r>
              <a:rPr sz="1800" spc="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mundo </a:t>
            </a:r>
            <a:r>
              <a:rPr sz="1800" i="1" spc="-10" dirty="0">
                <a:latin typeface="Calibri"/>
                <a:cs typeface="Calibri"/>
              </a:rPr>
              <a:t>milennial</a:t>
            </a:r>
            <a:r>
              <a:rPr sz="1800" spc="-10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50CBE565-9ABE-70C5-0D52-6B6C0F7165FD}"/>
              </a:ext>
            </a:extLst>
          </p:cNvPr>
          <p:cNvSpPr/>
          <p:nvPr/>
        </p:nvSpPr>
        <p:spPr>
          <a:xfrm>
            <a:off x="76200" y="6248400"/>
            <a:ext cx="1981200" cy="4577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52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70" dirty="0"/>
              <a:t>Escasa</a:t>
            </a:r>
            <a:r>
              <a:rPr spc="5" dirty="0"/>
              <a:t> </a:t>
            </a:r>
            <a:r>
              <a:rPr spc="75" dirty="0"/>
              <a:t>mano</a:t>
            </a:r>
            <a:r>
              <a:rPr spc="210" dirty="0"/>
              <a:t> </a:t>
            </a:r>
            <a:r>
              <a:rPr spc="80" dirty="0"/>
              <a:t>de</a:t>
            </a:r>
            <a:r>
              <a:rPr spc="5" dirty="0"/>
              <a:t> </a:t>
            </a:r>
            <a:r>
              <a:rPr spc="125" dirty="0"/>
              <a:t>obra</a:t>
            </a:r>
            <a:r>
              <a:rPr spc="35" dirty="0"/>
              <a:t> </a:t>
            </a:r>
            <a:r>
              <a:rPr spc="85" dirty="0"/>
              <a:t>para</a:t>
            </a:r>
            <a:r>
              <a:rPr spc="10" dirty="0"/>
              <a:t> </a:t>
            </a:r>
            <a:r>
              <a:rPr spc="145" dirty="0"/>
              <a:t>industria</a:t>
            </a:r>
            <a:r>
              <a:rPr spc="35" dirty="0"/>
              <a:t> </a:t>
            </a:r>
            <a:r>
              <a:rPr spc="-25" dirty="0"/>
              <a:t>4.0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7882" y="1384222"/>
            <a:ext cx="10831830" cy="3921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715" algn="just">
              <a:lnSpc>
                <a:spcPct val="100000"/>
              </a:lnSpc>
              <a:spcBef>
                <a:spcPts val="100"/>
              </a:spcBef>
            </a:pPr>
            <a:r>
              <a:rPr sz="1800" spc="65" dirty="0">
                <a:latin typeface="Arial MT"/>
                <a:cs typeface="Arial MT"/>
              </a:rPr>
              <a:t>Actualmente</a:t>
            </a:r>
            <a:r>
              <a:rPr sz="1800" spc="130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en</a:t>
            </a:r>
            <a:r>
              <a:rPr sz="1800" spc="200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México</a:t>
            </a:r>
            <a:r>
              <a:rPr sz="1800" spc="185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hay</a:t>
            </a:r>
            <a:r>
              <a:rPr sz="1800" spc="200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escasez</a:t>
            </a:r>
            <a:r>
              <a:rPr sz="1800" spc="150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150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mano</a:t>
            </a:r>
            <a:r>
              <a:rPr sz="1800" spc="185" dirty="0">
                <a:latin typeface="Arial MT"/>
                <a:cs typeface="Arial MT"/>
              </a:rPr>
              <a:t>  </a:t>
            </a:r>
            <a:r>
              <a:rPr sz="1800" spc="50" dirty="0">
                <a:latin typeface="Arial MT"/>
                <a:cs typeface="Arial MT"/>
              </a:rPr>
              <a:t>de</a:t>
            </a:r>
            <a:r>
              <a:rPr sz="1800" spc="130" dirty="0">
                <a:latin typeface="Arial MT"/>
                <a:cs typeface="Arial MT"/>
              </a:rPr>
              <a:t>  </a:t>
            </a:r>
            <a:r>
              <a:rPr sz="1800" spc="70" dirty="0">
                <a:latin typeface="Arial MT"/>
                <a:cs typeface="Arial MT"/>
              </a:rPr>
              <a:t>obra</a:t>
            </a:r>
            <a:r>
              <a:rPr sz="1800" spc="150" dirty="0">
                <a:latin typeface="Arial MT"/>
                <a:cs typeface="Arial MT"/>
              </a:rPr>
              <a:t>  </a:t>
            </a:r>
            <a:r>
              <a:rPr sz="1800" spc="50" dirty="0">
                <a:latin typeface="Arial MT"/>
                <a:cs typeface="Arial MT"/>
              </a:rPr>
              <a:t>especializada</a:t>
            </a:r>
            <a:r>
              <a:rPr sz="1800" spc="135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en</a:t>
            </a:r>
            <a:r>
              <a:rPr sz="1800" spc="185" dirty="0">
                <a:latin typeface="Arial MT"/>
                <a:cs typeface="Arial MT"/>
              </a:rPr>
              <a:t>  </a:t>
            </a:r>
            <a:r>
              <a:rPr sz="1800" spc="60" dirty="0">
                <a:latin typeface="Arial MT"/>
                <a:cs typeface="Arial MT"/>
              </a:rPr>
              <a:t>tecnologías</a:t>
            </a:r>
            <a:r>
              <a:rPr sz="1800" spc="200" dirty="0">
                <a:latin typeface="Arial MT"/>
                <a:cs typeface="Arial MT"/>
              </a:rPr>
              <a:t>  </a:t>
            </a:r>
            <a:r>
              <a:rPr sz="1800" spc="50" dirty="0">
                <a:latin typeface="Arial MT"/>
                <a:cs typeface="Arial MT"/>
              </a:rPr>
              <a:t>de</a:t>
            </a:r>
            <a:r>
              <a:rPr sz="1800" spc="135" dirty="0">
                <a:latin typeface="Arial MT"/>
                <a:cs typeface="Arial MT"/>
              </a:rPr>
              <a:t>  </a:t>
            </a:r>
            <a:r>
              <a:rPr sz="1800" spc="75" dirty="0">
                <a:latin typeface="Arial MT"/>
                <a:cs typeface="Arial MT"/>
              </a:rPr>
              <a:t>la información</a:t>
            </a:r>
            <a:r>
              <a:rPr sz="1800" spc="95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(TI).</a:t>
            </a:r>
            <a:r>
              <a:rPr sz="1800" spc="5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Hay</a:t>
            </a:r>
            <a:r>
              <a:rPr sz="1800" spc="100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más</a:t>
            </a:r>
            <a:r>
              <a:rPr sz="1800" spc="95" dirty="0">
                <a:latin typeface="Arial MT"/>
                <a:cs typeface="Arial MT"/>
              </a:rPr>
              <a:t>  </a:t>
            </a:r>
            <a:r>
              <a:rPr sz="1800" spc="50" dirty="0">
                <a:latin typeface="Arial MT"/>
                <a:cs typeface="Arial MT"/>
              </a:rPr>
              <a:t>de  </a:t>
            </a:r>
            <a:r>
              <a:rPr sz="1800" dirty="0">
                <a:latin typeface="Arial MT"/>
                <a:cs typeface="Arial MT"/>
              </a:rPr>
              <a:t>4</a:t>
            </a:r>
            <a:r>
              <a:rPr sz="1800" spc="45" dirty="0">
                <a:latin typeface="Arial MT"/>
                <a:cs typeface="Arial MT"/>
              </a:rPr>
              <a:t>  </a:t>
            </a:r>
            <a:r>
              <a:rPr sz="1800" spc="60" dirty="0">
                <a:latin typeface="Arial MT"/>
                <a:cs typeface="Arial MT"/>
              </a:rPr>
              <a:t>mil</a:t>
            </a:r>
            <a:r>
              <a:rPr sz="1800" spc="95" dirty="0">
                <a:latin typeface="Arial MT"/>
                <a:cs typeface="Arial MT"/>
              </a:rPr>
              <a:t>  </a:t>
            </a:r>
            <a:r>
              <a:rPr sz="1800" spc="65" dirty="0">
                <a:latin typeface="Arial MT"/>
                <a:cs typeface="Arial MT"/>
              </a:rPr>
              <a:t>puestos</a:t>
            </a:r>
            <a:r>
              <a:rPr sz="1800" spc="100" dirty="0">
                <a:latin typeface="Arial MT"/>
                <a:cs typeface="Arial MT"/>
              </a:rPr>
              <a:t>  </a:t>
            </a:r>
            <a:r>
              <a:rPr sz="1800" spc="50" dirty="0">
                <a:latin typeface="Arial MT"/>
                <a:cs typeface="Arial MT"/>
              </a:rPr>
              <a:t>de</a:t>
            </a:r>
            <a:r>
              <a:rPr sz="1800" spc="60" dirty="0">
                <a:latin typeface="Arial MT"/>
                <a:cs typeface="Arial MT"/>
              </a:rPr>
              <a:t>  </a:t>
            </a:r>
            <a:r>
              <a:rPr sz="1800" spc="45" dirty="0">
                <a:latin typeface="Arial MT"/>
                <a:cs typeface="Arial MT"/>
              </a:rPr>
              <a:t>trabajo</a:t>
            </a:r>
            <a:r>
              <a:rPr sz="1800" spc="95" dirty="0">
                <a:latin typeface="Arial MT"/>
                <a:cs typeface="Arial MT"/>
              </a:rPr>
              <a:t>  </a:t>
            </a:r>
            <a:r>
              <a:rPr sz="1800" spc="50" dirty="0">
                <a:latin typeface="Arial MT"/>
                <a:cs typeface="Arial MT"/>
              </a:rPr>
              <a:t>especializados</a:t>
            </a:r>
            <a:r>
              <a:rPr sz="1800" spc="95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en</a:t>
            </a:r>
            <a:r>
              <a:rPr sz="1800" spc="95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TI</a:t>
            </a:r>
            <a:r>
              <a:rPr sz="1800" spc="45" dirty="0">
                <a:latin typeface="Arial MT"/>
                <a:cs typeface="Arial MT"/>
              </a:rPr>
              <a:t>  </a:t>
            </a:r>
            <a:r>
              <a:rPr sz="1800" spc="65" dirty="0">
                <a:latin typeface="Arial MT"/>
                <a:cs typeface="Arial MT"/>
              </a:rPr>
              <a:t>que</a:t>
            </a:r>
            <a:r>
              <a:rPr sz="1800" spc="60" dirty="0">
                <a:latin typeface="Arial MT"/>
                <a:cs typeface="Arial MT"/>
              </a:rPr>
              <a:t>  </a:t>
            </a:r>
            <a:r>
              <a:rPr sz="1800" spc="35" dirty="0">
                <a:latin typeface="Arial MT"/>
                <a:cs typeface="Arial MT"/>
              </a:rPr>
              <a:t>demandan </a:t>
            </a:r>
            <a:r>
              <a:rPr sz="1800" spc="60" dirty="0">
                <a:latin typeface="Arial MT"/>
                <a:cs typeface="Arial MT"/>
              </a:rPr>
              <a:t>actualmente</a:t>
            </a:r>
            <a:r>
              <a:rPr sz="1800" spc="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las</a:t>
            </a:r>
            <a:r>
              <a:rPr sz="1800" spc="185" dirty="0">
                <a:latin typeface="Arial MT"/>
                <a:cs typeface="Arial MT"/>
              </a:rPr>
              <a:t> </a:t>
            </a:r>
            <a:r>
              <a:rPr sz="1800" spc="45" dirty="0">
                <a:latin typeface="Arial MT"/>
                <a:cs typeface="Arial MT"/>
              </a:rPr>
              <a:t>empresas</a:t>
            </a:r>
            <a:r>
              <a:rPr sz="1800" spc="18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</a:t>
            </a:r>
            <a:r>
              <a:rPr sz="1800" spc="185" dirty="0">
                <a:latin typeface="Arial MT"/>
                <a:cs typeface="Arial MT"/>
              </a:rPr>
              <a:t> </a:t>
            </a:r>
            <a:r>
              <a:rPr sz="1800" spc="65" dirty="0">
                <a:latin typeface="Arial MT"/>
                <a:cs typeface="Arial MT"/>
              </a:rPr>
              <a:t>que</a:t>
            </a:r>
            <a:r>
              <a:rPr sz="1800" spc="100" dirty="0">
                <a:latin typeface="Arial MT"/>
                <a:cs typeface="Arial MT"/>
              </a:rPr>
              <a:t> </a:t>
            </a:r>
            <a:r>
              <a:rPr sz="1800" spc="50" dirty="0">
                <a:latin typeface="Arial MT"/>
                <a:cs typeface="Arial MT"/>
              </a:rPr>
              <a:t>no</a:t>
            </a:r>
            <a:r>
              <a:rPr sz="1800" spc="204" dirty="0">
                <a:latin typeface="Arial MT"/>
                <a:cs typeface="Arial MT"/>
              </a:rPr>
              <a:t> </a:t>
            </a:r>
            <a:r>
              <a:rPr sz="1800" spc="60" dirty="0">
                <a:latin typeface="Arial MT"/>
                <a:cs typeface="Arial MT"/>
              </a:rPr>
              <a:t>logran</a:t>
            </a:r>
            <a:r>
              <a:rPr sz="1800" spc="2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ser</a:t>
            </a:r>
            <a:r>
              <a:rPr sz="1800" spc="190" dirty="0">
                <a:latin typeface="Arial MT"/>
                <a:cs typeface="Arial MT"/>
              </a:rPr>
              <a:t> </a:t>
            </a:r>
            <a:r>
              <a:rPr sz="1800" spc="75" dirty="0">
                <a:latin typeface="Arial MT"/>
                <a:cs typeface="Arial MT"/>
              </a:rPr>
              <a:t>cubiertos</a:t>
            </a:r>
            <a:r>
              <a:rPr sz="1800" spc="210" dirty="0">
                <a:latin typeface="Arial MT"/>
                <a:cs typeface="Arial MT"/>
              </a:rPr>
              <a:t> </a:t>
            </a:r>
            <a:r>
              <a:rPr sz="1800" spc="60" dirty="0">
                <a:latin typeface="Arial MT"/>
                <a:cs typeface="Arial MT"/>
              </a:rPr>
              <a:t>debido</a:t>
            </a:r>
            <a:r>
              <a:rPr sz="1800" spc="204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100" dirty="0">
                <a:latin typeface="Arial MT"/>
                <a:cs typeface="Arial MT"/>
              </a:rPr>
              <a:t> </a:t>
            </a:r>
            <a:r>
              <a:rPr sz="1800" spc="50" dirty="0">
                <a:latin typeface="Arial MT"/>
                <a:cs typeface="Arial MT"/>
              </a:rPr>
              <a:t>la</a:t>
            </a:r>
            <a:r>
              <a:rPr sz="1800" spc="75" dirty="0">
                <a:latin typeface="Arial MT"/>
                <a:cs typeface="Arial MT"/>
              </a:rPr>
              <a:t> </a:t>
            </a:r>
            <a:r>
              <a:rPr sz="1800" spc="50" dirty="0">
                <a:latin typeface="Arial MT"/>
                <a:cs typeface="Arial MT"/>
              </a:rPr>
              <a:t>escasa</a:t>
            </a:r>
            <a:r>
              <a:rPr sz="1800" spc="75" dirty="0">
                <a:latin typeface="Arial MT"/>
                <a:cs typeface="Arial MT"/>
              </a:rPr>
              <a:t> </a:t>
            </a:r>
            <a:r>
              <a:rPr sz="1800" spc="65" dirty="0">
                <a:latin typeface="Arial MT"/>
                <a:cs typeface="Arial MT"/>
              </a:rPr>
              <a:t>oferta</a:t>
            </a:r>
            <a:r>
              <a:rPr sz="1800" spc="75" dirty="0">
                <a:latin typeface="Arial MT"/>
                <a:cs typeface="Arial MT"/>
              </a:rPr>
              <a:t> </a:t>
            </a:r>
            <a:r>
              <a:rPr sz="1800" spc="65" dirty="0">
                <a:latin typeface="Arial MT"/>
                <a:cs typeface="Arial MT"/>
              </a:rPr>
              <a:t>que</a:t>
            </a:r>
            <a:r>
              <a:rPr sz="1800" spc="100" dirty="0">
                <a:latin typeface="Arial MT"/>
                <a:cs typeface="Arial MT"/>
              </a:rPr>
              <a:t> </a:t>
            </a:r>
            <a:r>
              <a:rPr sz="1800" spc="50" dirty="0">
                <a:latin typeface="Arial MT"/>
                <a:cs typeface="Arial MT"/>
              </a:rPr>
              <a:t>ofrecen</a:t>
            </a:r>
            <a:r>
              <a:rPr sz="1800" spc="20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las </a:t>
            </a:r>
            <a:r>
              <a:rPr sz="1800" spc="65" dirty="0">
                <a:latin typeface="Arial MT"/>
                <a:cs typeface="Arial MT"/>
              </a:rPr>
              <a:t>universidades</a:t>
            </a:r>
            <a:r>
              <a:rPr sz="1800" spc="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</a:t>
            </a:r>
            <a:r>
              <a:rPr sz="1800" spc="1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spc="50" dirty="0">
                <a:latin typeface="Arial MT"/>
                <a:cs typeface="Arial MT"/>
              </a:rPr>
              <a:t>la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55" dirty="0">
                <a:latin typeface="Arial MT"/>
                <a:cs typeface="Arial MT"/>
              </a:rPr>
              <a:t>falta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50" dirty="0">
                <a:latin typeface="Arial MT"/>
                <a:cs typeface="Arial MT"/>
              </a:rPr>
              <a:t>de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spc="60" dirty="0">
                <a:latin typeface="Arial MT"/>
                <a:cs typeface="Arial MT"/>
              </a:rPr>
              <a:t>habilidades</a:t>
            </a:r>
            <a:r>
              <a:rPr sz="1800" spc="55" dirty="0">
                <a:latin typeface="Arial MT"/>
                <a:cs typeface="Arial MT"/>
              </a:rPr>
              <a:t> </a:t>
            </a:r>
            <a:r>
              <a:rPr sz="1800" spc="50" dirty="0">
                <a:latin typeface="Arial MT"/>
                <a:cs typeface="Arial MT"/>
              </a:rPr>
              <a:t>de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65" dirty="0">
                <a:latin typeface="Arial MT"/>
                <a:cs typeface="Arial MT"/>
              </a:rPr>
              <a:t>los</a:t>
            </a:r>
            <a:r>
              <a:rPr sz="1800" spc="100" dirty="0">
                <a:latin typeface="Arial MT"/>
                <a:cs typeface="Arial MT"/>
              </a:rPr>
              <a:t> </a:t>
            </a:r>
            <a:r>
              <a:rPr sz="1800" spc="80" dirty="0">
                <a:latin typeface="Arial MT"/>
                <a:cs typeface="Arial MT"/>
              </a:rPr>
              <a:t>mismos</a:t>
            </a:r>
            <a:r>
              <a:rPr sz="1800" spc="105" dirty="0">
                <a:latin typeface="Arial MT"/>
                <a:cs typeface="Arial MT"/>
              </a:rPr>
              <a:t> </a:t>
            </a:r>
            <a:r>
              <a:rPr sz="1800" spc="65" dirty="0">
                <a:latin typeface="Arial MT"/>
                <a:cs typeface="Arial MT"/>
              </a:rPr>
              <a:t>profesionistas.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0"/>
              </a:spcBef>
            </a:pPr>
            <a:endParaRPr sz="1800">
              <a:latin typeface="Arial MT"/>
              <a:cs typeface="Arial MT"/>
            </a:endParaRPr>
          </a:p>
          <a:p>
            <a:pPr marL="13335" marR="5080" indent="-635" algn="just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Arial MT"/>
                <a:cs typeface="Arial MT"/>
              </a:rPr>
              <a:t>De</a:t>
            </a:r>
            <a:r>
              <a:rPr sz="1800" spc="160" dirty="0">
                <a:latin typeface="Arial MT"/>
                <a:cs typeface="Arial MT"/>
              </a:rPr>
              <a:t> </a:t>
            </a:r>
            <a:r>
              <a:rPr sz="1800" spc="45" dirty="0">
                <a:latin typeface="Arial MT"/>
                <a:cs typeface="Arial MT"/>
              </a:rPr>
              <a:t>acuerdo</a:t>
            </a:r>
            <a:r>
              <a:rPr sz="1800" spc="260" dirty="0">
                <a:latin typeface="Arial MT"/>
                <a:cs typeface="Arial MT"/>
              </a:rPr>
              <a:t> </a:t>
            </a:r>
            <a:r>
              <a:rPr sz="1800" spc="60" dirty="0">
                <a:latin typeface="Arial MT"/>
                <a:cs typeface="Arial MT"/>
              </a:rPr>
              <a:t>con</a:t>
            </a:r>
            <a:r>
              <a:rPr sz="1800" spc="265" dirty="0">
                <a:latin typeface="Arial MT"/>
                <a:cs typeface="Arial MT"/>
              </a:rPr>
              <a:t> </a:t>
            </a:r>
            <a:r>
              <a:rPr sz="1800" spc="55" dirty="0">
                <a:latin typeface="Arial MT"/>
                <a:cs typeface="Arial MT"/>
              </a:rPr>
              <a:t>datos</a:t>
            </a:r>
            <a:r>
              <a:rPr sz="1800" spc="2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del</a:t>
            </a:r>
            <a:r>
              <a:rPr sz="1800" spc="235" dirty="0">
                <a:latin typeface="Arial MT"/>
                <a:cs typeface="Arial MT"/>
              </a:rPr>
              <a:t> </a:t>
            </a:r>
            <a:r>
              <a:rPr sz="1800" spc="70" dirty="0">
                <a:latin typeface="Arial MT"/>
                <a:cs typeface="Arial MT"/>
              </a:rPr>
              <a:t>Instituto</a:t>
            </a:r>
            <a:r>
              <a:rPr sz="1800" spc="2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Nacional</a:t>
            </a:r>
            <a:r>
              <a:rPr sz="1800" spc="235" dirty="0">
                <a:latin typeface="Arial MT"/>
                <a:cs typeface="Arial MT"/>
              </a:rPr>
              <a:t> </a:t>
            </a:r>
            <a:r>
              <a:rPr sz="1800" spc="50" dirty="0">
                <a:latin typeface="Arial MT"/>
                <a:cs typeface="Arial MT"/>
              </a:rPr>
              <a:t>de</a:t>
            </a:r>
            <a:r>
              <a:rPr sz="1800" spc="165" dirty="0">
                <a:latin typeface="Arial MT"/>
                <a:cs typeface="Arial MT"/>
              </a:rPr>
              <a:t> </a:t>
            </a:r>
            <a:r>
              <a:rPr sz="1800" spc="55" dirty="0">
                <a:latin typeface="Arial MT"/>
                <a:cs typeface="Arial MT"/>
              </a:rPr>
              <a:t>Estadística</a:t>
            </a:r>
            <a:r>
              <a:rPr sz="1800" spc="1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</a:t>
            </a:r>
            <a:r>
              <a:rPr sz="1800" spc="2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Geografía</a:t>
            </a:r>
            <a:r>
              <a:rPr sz="1800" spc="1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(INEGI),</a:t>
            </a:r>
            <a:r>
              <a:rPr sz="1800" spc="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</a:t>
            </a:r>
            <a:r>
              <a:rPr sz="1800" spc="260" dirty="0">
                <a:latin typeface="Arial MT"/>
                <a:cs typeface="Arial MT"/>
              </a:rPr>
              <a:t> </a:t>
            </a:r>
            <a:r>
              <a:rPr sz="1800" spc="65" dirty="0">
                <a:latin typeface="Arial MT"/>
                <a:cs typeface="Arial MT"/>
              </a:rPr>
              <a:t>cuarto</a:t>
            </a:r>
            <a:r>
              <a:rPr sz="1800" spc="265" dirty="0">
                <a:latin typeface="Arial MT"/>
                <a:cs typeface="Arial MT"/>
              </a:rPr>
              <a:t> </a:t>
            </a:r>
            <a:r>
              <a:rPr sz="1800" spc="55" dirty="0">
                <a:latin typeface="Arial MT"/>
                <a:cs typeface="Arial MT"/>
              </a:rPr>
              <a:t>trimestre </a:t>
            </a:r>
            <a:r>
              <a:rPr sz="1800" spc="50" dirty="0">
                <a:latin typeface="Arial MT"/>
                <a:cs typeface="Arial MT"/>
              </a:rPr>
              <a:t>de</a:t>
            </a:r>
            <a:r>
              <a:rPr sz="1800" spc="18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2018</a:t>
            </a:r>
            <a:r>
              <a:rPr sz="1800" spc="200" dirty="0">
                <a:latin typeface="Arial MT"/>
                <a:cs typeface="Arial MT"/>
              </a:rPr>
              <a:t> </a:t>
            </a:r>
            <a:r>
              <a:rPr sz="1800" spc="65" dirty="0">
                <a:latin typeface="Arial MT"/>
                <a:cs typeface="Arial MT"/>
              </a:rPr>
              <a:t>son</a:t>
            </a:r>
            <a:r>
              <a:rPr sz="1800" spc="295" dirty="0">
                <a:latin typeface="Arial MT"/>
                <a:cs typeface="Arial MT"/>
              </a:rPr>
              <a:t> </a:t>
            </a:r>
            <a:r>
              <a:rPr sz="1800" spc="75" dirty="0">
                <a:latin typeface="Arial MT"/>
                <a:cs typeface="Arial MT"/>
              </a:rPr>
              <a:t>poco</a:t>
            </a:r>
            <a:r>
              <a:rPr sz="1800" spc="29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más</a:t>
            </a:r>
            <a:r>
              <a:rPr sz="1800" spc="300" dirty="0">
                <a:latin typeface="Arial MT"/>
                <a:cs typeface="Arial MT"/>
              </a:rPr>
              <a:t> </a:t>
            </a:r>
            <a:r>
              <a:rPr sz="1800" spc="50" dirty="0">
                <a:latin typeface="Arial MT"/>
                <a:cs typeface="Arial MT"/>
              </a:rPr>
              <a:t>de</a:t>
            </a:r>
            <a:r>
              <a:rPr sz="1800" spc="1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752</a:t>
            </a:r>
            <a:r>
              <a:rPr sz="1800" spc="195" dirty="0">
                <a:latin typeface="Arial MT"/>
                <a:cs typeface="Arial MT"/>
              </a:rPr>
              <a:t> </a:t>
            </a:r>
            <a:r>
              <a:rPr sz="1800" spc="60" dirty="0">
                <a:latin typeface="Arial MT"/>
                <a:cs typeface="Arial MT"/>
              </a:rPr>
              <a:t>mil</a:t>
            </a:r>
            <a:r>
              <a:rPr sz="1800" spc="29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las</a:t>
            </a:r>
            <a:r>
              <a:rPr sz="1800" spc="305" dirty="0">
                <a:latin typeface="Arial MT"/>
                <a:cs typeface="Arial MT"/>
              </a:rPr>
              <a:t> </a:t>
            </a:r>
            <a:r>
              <a:rPr sz="1800" spc="55" dirty="0">
                <a:latin typeface="Arial MT"/>
                <a:cs typeface="Arial MT"/>
              </a:rPr>
              <a:t>personas</a:t>
            </a:r>
            <a:r>
              <a:rPr sz="1800" spc="300" dirty="0">
                <a:latin typeface="Arial MT"/>
                <a:cs typeface="Arial MT"/>
              </a:rPr>
              <a:t> </a:t>
            </a:r>
            <a:r>
              <a:rPr sz="1800" spc="55" dirty="0">
                <a:latin typeface="Arial MT"/>
                <a:cs typeface="Arial MT"/>
              </a:rPr>
              <a:t>ocupadas</a:t>
            </a:r>
            <a:r>
              <a:rPr sz="1800" spc="300" dirty="0">
                <a:latin typeface="Arial MT"/>
                <a:cs typeface="Arial MT"/>
              </a:rPr>
              <a:t> </a:t>
            </a:r>
            <a:r>
              <a:rPr sz="1800" spc="55" dirty="0">
                <a:latin typeface="Arial MT"/>
                <a:cs typeface="Arial MT"/>
              </a:rPr>
              <a:t>relacionadas</a:t>
            </a:r>
            <a:r>
              <a:rPr sz="1800" spc="300" dirty="0">
                <a:latin typeface="Arial MT"/>
                <a:cs typeface="Arial MT"/>
              </a:rPr>
              <a:t> </a:t>
            </a:r>
            <a:r>
              <a:rPr sz="1800" spc="65" dirty="0">
                <a:latin typeface="Arial MT"/>
                <a:cs typeface="Arial MT"/>
              </a:rPr>
              <a:t>con</a:t>
            </a:r>
            <a:r>
              <a:rPr sz="1800" spc="3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las</a:t>
            </a:r>
            <a:r>
              <a:rPr sz="1800" spc="3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Tecnologías</a:t>
            </a:r>
            <a:r>
              <a:rPr sz="1800" spc="300" dirty="0">
                <a:latin typeface="Arial MT"/>
                <a:cs typeface="Arial MT"/>
              </a:rPr>
              <a:t> </a:t>
            </a:r>
            <a:r>
              <a:rPr sz="1800" spc="50" dirty="0">
                <a:latin typeface="Arial MT"/>
                <a:cs typeface="Arial MT"/>
              </a:rPr>
              <a:t>de</a:t>
            </a:r>
            <a:r>
              <a:rPr sz="1800" spc="190" dirty="0">
                <a:latin typeface="Arial MT"/>
                <a:cs typeface="Arial MT"/>
              </a:rPr>
              <a:t> </a:t>
            </a:r>
            <a:r>
              <a:rPr sz="1800" spc="75" dirty="0">
                <a:latin typeface="Arial MT"/>
                <a:cs typeface="Arial MT"/>
              </a:rPr>
              <a:t>la </a:t>
            </a:r>
            <a:r>
              <a:rPr sz="1800" spc="65" dirty="0">
                <a:latin typeface="Arial MT"/>
                <a:cs typeface="Arial MT"/>
              </a:rPr>
              <a:t>Información</a:t>
            </a:r>
            <a:r>
              <a:rPr sz="1800" spc="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</a:t>
            </a:r>
            <a:r>
              <a:rPr sz="1800" spc="95" dirty="0">
                <a:latin typeface="Arial MT"/>
                <a:cs typeface="Arial MT"/>
              </a:rPr>
              <a:t> </a:t>
            </a:r>
            <a:r>
              <a:rPr sz="1800" spc="50" dirty="0">
                <a:latin typeface="Arial MT"/>
                <a:cs typeface="Arial MT"/>
              </a:rPr>
              <a:t>de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50" dirty="0">
                <a:latin typeface="Arial MT"/>
                <a:cs typeface="Arial MT"/>
              </a:rPr>
              <a:t>la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70" dirty="0">
                <a:latin typeface="Arial MT"/>
                <a:cs typeface="Arial MT"/>
              </a:rPr>
              <a:t>Comunicación </a:t>
            </a:r>
            <a:r>
              <a:rPr sz="1800" dirty="0">
                <a:latin typeface="Arial MT"/>
                <a:cs typeface="Arial MT"/>
              </a:rPr>
              <a:t>(TIC’s)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</a:t>
            </a:r>
            <a:r>
              <a:rPr sz="1800" spc="114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el</a:t>
            </a:r>
            <a:r>
              <a:rPr sz="1800" spc="9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país.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0"/>
              </a:spcBef>
            </a:pPr>
            <a:endParaRPr sz="1800">
              <a:latin typeface="Arial MT"/>
              <a:cs typeface="Arial MT"/>
            </a:endParaRPr>
          </a:p>
          <a:p>
            <a:pPr marL="13335" algn="just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Su</a:t>
            </a:r>
            <a:r>
              <a:rPr sz="1800" spc="1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edad</a:t>
            </a:r>
            <a:r>
              <a:rPr sz="1800" spc="100" dirty="0">
                <a:latin typeface="Arial MT"/>
                <a:cs typeface="Arial MT"/>
              </a:rPr>
              <a:t> </a:t>
            </a:r>
            <a:r>
              <a:rPr sz="1800" spc="65" dirty="0">
                <a:latin typeface="Arial MT"/>
                <a:cs typeface="Arial MT"/>
              </a:rPr>
              <a:t>promedio</a:t>
            </a:r>
            <a:r>
              <a:rPr sz="1800" spc="1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es</a:t>
            </a:r>
            <a:r>
              <a:rPr sz="1800" spc="105" dirty="0">
                <a:latin typeface="Arial MT"/>
                <a:cs typeface="Arial MT"/>
              </a:rPr>
              <a:t> </a:t>
            </a:r>
            <a:r>
              <a:rPr sz="1800" spc="50" dirty="0">
                <a:latin typeface="Arial MT"/>
                <a:cs typeface="Arial MT"/>
              </a:rPr>
              <a:t>de</a:t>
            </a:r>
            <a:r>
              <a:rPr sz="1800" dirty="0">
                <a:latin typeface="Arial MT"/>
                <a:cs typeface="Arial MT"/>
              </a:rPr>
              <a:t> 36.3 </a:t>
            </a:r>
            <a:r>
              <a:rPr sz="1800" spc="60" dirty="0">
                <a:latin typeface="Arial MT"/>
                <a:cs typeface="Arial MT"/>
              </a:rPr>
              <a:t>años;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83%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65" dirty="0">
                <a:latin typeface="Arial MT"/>
                <a:cs typeface="Arial MT"/>
              </a:rPr>
              <a:t>son</a:t>
            </a:r>
            <a:r>
              <a:rPr sz="1800" spc="125" dirty="0">
                <a:latin typeface="Arial MT"/>
                <a:cs typeface="Arial MT"/>
              </a:rPr>
              <a:t> </a:t>
            </a:r>
            <a:r>
              <a:rPr sz="1800" spc="70" dirty="0">
                <a:latin typeface="Arial MT"/>
                <a:cs typeface="Arial MT"/>
              </a:rPr>
              <a:t>hombres</a:t>
            </a:r>
            <a:r>
              <a:rPr sz="1800" spc="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</a:t>
            </a:r>
            <a:r>
              <a:rPr sz="1800" spc="1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17%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45" dirty="0">
                <a:latin typeface="Arial MT"/>
                <a:cs typeface="Arial MT"/>
              </a:rPr>
              <a:t>mujeres.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5"/>
              </a:spcBef>
            </a:pPr>
            <a:endParaRPr sz="1800">
              <a:latin typeface="Arial MT"/>
              <a:cs typeface="Arial MT"/>
            </a:endParaRPr>
          </a:p>
          <a:p>
            <a:pPr marL="13335" marR="17780" algn="just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De</a:t>
            </a:r>
            <a:r>
              <a:rPr sz="1800" spc="400" dirty="0">
                <a:latin typeface="Arial MT"/>
                <a:cs typeface="Arial MT"/>
              </a:rPr>
              <a:t> </a:t>
            </a:r>
            <a:r>
              <a:rPr sz="1800" spc="45" dirty="0">
                <a:latin typeface="Arial MT"/>
                <a:cs typeface="Arial MT"/>
              </a:rPr>
              <a:t>cada</a:t>
            </a:r>
            <a:r>
              <a:rPr sz="1800" spc="3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100</a:t>
            </a:r>
            <a:r>
              <a:rPr sz="1800" spc="405" dirty="0">
                <a:latin typeface="Arial MT"/>
                <a:cs typeface="Arial MT"/>
              </a:rPr>
              <a:t> </a:t>
            </a:r>
            <a:r>
              <a:rPr sz="1800" spc="50" dirty="0">
                <a:latin typeface="Arial MT"/>
                <a:cs typeface="Arial MT"/>
              </a:rPr>
              <a:t>personas</a:t>
            </a:r>
            <a:r>
              <a:rPr sz="1800" spc="480" dirty="0">
                <a:latin typeface="Arial MT"/>
                <a:cs typeface="Arial MT"/>
              </a:rPr>
              <a:t> </a:t>
            </a:r>
            <a:r>
              <a:rPr sz="1800" spc="60" dirty="0">
                <a:latin typeface="Arial MT"/>
                <a:cs typeface="Arial MT"/>
              </a:rPr>
              <a:t>ocupadas</a:t>
            </a:r>
            <a:r>
              <a:rPr sz="1800" spc="484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</a:t>
            </a:r>
            <a:r>
              <a:rPr sz="1800" spc="4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las</a:t>
            </a:r>
            <a:r>
              <a:rPr sz="1800" spc="4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TIC’s:</a:t>
            </a:r>
            <a:r>
              <a:rPr sz="1800" spc="40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76</a:t>
            </a:r>
            <a:r>
              <a:rPr sz="1800" spc="380" dirty="0">
                <a:latin typeface="Arial MT"/>
                <a:cs typeface="Arial MT"/>
              </a:rPr>
              <a:t> </a:t>
            </a:r>
            <a:r>
              <a:rPr sz="1800" spc="45" dirty="0">
                <a:latin typeface="Arial MT"/>
                <a:cs typeface="Arial MT"/>
              </a:rPr>
              <a:t>trabajan</a:t>
            </a:r>
            <a:r>
              <a:rPr sz="1800" spc="480" dirty="0">
                <a:latin typeface="Arial MT"/>
                <a:cs typeface="Arial MT"/>
              </a:rPr>
              <a:t> </a:t>
            </a:r>
            <a:r>
              <a:rPr sz="1800" spc="65" dirty="0">
                <a:latin typeface="Arial MT"/>
                <a:cs typeface="Arial MT"/>
              </a:rPr>
              <a:t>por</a:t>
            </a:r>
            <a:r>
              <a:rPr sz="1800" spc="470" dirty="0">
                <a:latin typeface="Arial MT"/>
                <a:cs typeface="Arial MT"/>
              </a:rPr>
              <a:t> </a:t>
            </a:r>
            <a:r>
              <a:rPr sz="1800" spc="50" dirty="0">
                <a:latin typeface="Arial MT"/>
                <a:cs typeface="Arial MT"/>
              </a:rPr>
              <a:t>su</a:t>
            </a:r>
            <a:r>
              <a:rPr sz="1800" spc="480" dirty="0">
                <a:latin typeface="Arial MT"/>
                <a:cs typeface="Arial MT"/>
              </a:rPr>
              <a:t> </a:t>
            </a:r>
            <a:r>
              <a:rPr sz="1800" spc="55" dirty="0">
                <a:latin typeface="Arial MT"/>
                <a:cs typeface="Arial MT"/>
              </a:rPr>
              <a:t>cuenta,</a:t>
            </a:r>
            <a:r>
              <a:rPr sz="1800" spc="30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20</a:t>
            </a:r>
            <a:r>
              <a:rPr sz="1800" spc="385" dirty="0">
                <a:latin typeface="Arial MT"/>
                <a:cs typeface="Arial MT"/>
              </a:rPr>
              <a:t> </a:t>
            </a:r>
            <a:r>
              <a:rPr sz="1800" spc="45" dirty="0">
                <a:latin typeface="Arial MT"/>
                <a:cs typeface="Arial MT"/>
              </a:rPr>
              <a:t>laboran</a:t>
            </a:r>
            <a:r>
              <a:rPr sz="1800" spc="49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  </a:t>
            </a:r>
            <a:r>
              <a:rPr sz="1800" spc="55" dirty="0">
                <a:latin typeface="Arial MT"/>
                <a:cs typeface="Arial MT"/>
              </a:rPr>
              <a:t>forma </a:t>
            </a:r>
            <a:r>
              <a:rPr sz="1800" spc="75" dirty="0">
                <a:latin typeface="Arial MT"/>
                <a:cs typeface="Arial MT"/>
              </a:rPr>
              <a:t>subordinada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</a:t>
            </a:r>
            <a:r>
              <a:rPr sz="1800" spc="145" dirty="0">
                <a:latin typeface="Arial MT"/>
                <a:cs typeface="Arial MT"/>
              </a:rPr>
              <a:t> </a:t>
            </a:r>
            <a:r>
              <a:rPr sz="1800" spc="50" dirty="0">
                <a:latin typeface="Arial MT"/>
                <a:cs typeface="Arial MT"/>
              </a:rPr>
              <a:t>remunerada,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tres</a:t>
            </a:r>
            <a:r>
              <a:rPr sz="1800" spc="140" dirty="0">
                <a:latin typeface="Arial MT"/>
                <a:cs typeface="Arial MT"/>
              </a:rPr>
              <a:t> </a:t>
            </a:r>
            <a:r>
              <a:rPr sz="1800" spc="65" dirty="0">
                <a:latin typeface="Arial MT"/>
                <a:cs typeface="Arial MT"/>
              </a:rPr>
              <a:t>son</a:t>
            </a:r>
            <a:r>
              <a:rPr sz="1800" spc="110" dirty="0">
                <a:latin typeface="Arial MT"/>
                <a:cs typeface="Arial MT"/>
              </a:rPr>
              <a:t> </a:t>
            </a:r>
            <a:r>
              <a:rPr sz="1800" spc="55" dirty="0">
                <a:latin typeface="Arial MT"/>
                <a:cs typeface="Arial MT"/>
              </a:rPr>
              <a:t>empleadores</a:t>
            </a:r>
            <a:r>
              <a:rPr sz="1800" spc="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</a:t>
            </a:r>
            <a:r>
              <a:rPr sz="1800" spc="140" dirty="0">
                <a:latin typeface="Arial MT"/>
                <a:cs typeface="Arial MT"/>
              </a:rPr>
              <a:t> </a:t>
            </a:r>
            <a:r>
              <a:rPr sz="1800" spc="65" dirty="0">
                <a:latin typeface="Arial MT"/>
                <a:cs typeface="Arial MT"/>
              </a:rPr>
              <a:t>uno</a:t>
            </a:r>
            <a:r>
              <a:rPr sz="1800" spc="114" dirty="0">
                <a:latin typeface="Arial MT"/>
                <a:cs typeface="Arial MT"/>
              </a:rPr>
              <a:t> </a:t>
            </a:r>
            <a:r>
              <a:rPr sz="1800" spc="55" dirty="0">
                <a:latin typeface="Arial MT"/>
                <a:cs typeface="Arial MT"/>
              </a:rPr>
              <a:t>trabaja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65" dirty="0">
                <a:latin typeface="Arial MT"/>
                <a:cs typeface="Arial MT"/>
              </a:rPr>
              <a:t>sin</a:t>
            </a:r>
            <a:r>
              <a:rPr sz="1800" spc="110" dirty="0">
                <a:latin typeface="Arial MT"/>
                <a:cs typeface="Arial MT"/>
              </a:rPr>
              <a:t> </a:t>
            </a:r>
            <a:r>
              <a:rPr sz="1800" spc="65" dirty="0">
                <a:latin typeface="Arial MT"/>
                <a:cs typeface="Arial MT"/>
              </a:rPr>
              <a:t>recibir</a:t>
            </a:r>
            <a:r>
              <a:rPr sz="1800" spc="105" dirty="0">
                <a:latin typeface="Arial MT"/>
                <a:cs typeface="Arial MT"/>
              </a:rPr>
              <a:t> </a:t>
            </a:r>
            <a:r>
              <a:rPr sz="1800" spc="60" dirty="0">
                <a:latin typeface="Arial MT"/>
                <a:cs typeface="Arial MT"/>
              </a:rPr>
              <a:t>remuneración</a:t>
            </a:r>
            <a:r>
              <a:rPr sz="1800" spc="85" dirty="0">
                <a:latin typeface="Arial MT"/>
                <a:cs typeface="Arial MT"/>
              </a:rPr>
              <a:t> </a:t>
            </a:r>
            <a:r>
              <a:rPr sz="1800" spc="45" dirty="0">
                <a:latin typeface="Arial MT"/>
                <a:cs typeface="Arial MT"/>
              </a:rPr>
              <a:t>alguna.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93D0DCD-B1B4-61B4-DDD8-B1513EC4A2BB}"/>
              </a:ext>
            </a:extLst>
          </p:cNvPr>
          <p:cNvSpPr/>
          <p:nvPr/>
        </p:nvSpPr>
        <p:spPr>
          <a:xfrm>
            <a:off x="76200" y="6248400"/>
            <a:ext cx="1981200" cy="4577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470025" marR="5080" indent="-945515">
              <a:lnSpc>
                <a:spcPct val="100000"/>
              </a:lnSpc>
              <a:spcBef>
                <a:spcPts val="90"/>
              </a:spcBef>
            </a:pPr>
            <a:r>
              <a:rPr dirty="0"/>
              <a:t>¿Qué</a:t>
            </a:r>
            <a:r>
              <a:rPr spc="50" dirty="0"/>
              <a:t> </a:t>
            </a:r>
            <a:r>
              <a:rPr spc="105" dirty="0"/>
              <a:t>porcentaje</a:t>
            </a:r>
            <a:r>
              <a:rPr spc="55" dirty="0"/>
              <a:t> </a:t>
            </a:r>
            <a:r>
              <a:rPr spc="80" dirty="0"/>
              <a:t>de</a:t>
            </a:r>
            <a:r>
              <a:rPr spc="55" dirty="0"/>
              <a:t> </a:t>
            </a:r>
            <a:r>
              <a:rPr spc="95" dirty="0"/>
              <a:t>trabajos</a:t>
            </a:r>
            <a:r>
              <a:rPr spc="215" dirty="0"/>
              <a:t> </a:t>
            </a:r>
            <a:r>
              <a:rPr spc="80" dirty="0"/>
              <a:t>tienen</a:t>
            </a:r>
            <a:r>
              <a:rPr spc="229" dirty="0"/>
              <a:t> </a:t>
            </a:r>
            <a:r>
              <a:rPr spc="95" dirty="0"/>
              <a:t>alto </a:t>
            </a:r>
            <a:r>
              <a:rPr spc="110" dirty="0"/>
              <a:t>riesgo</a:t>
            </a:r>
            <a:r>
              <a:rPr spc="175" dirty="0"/>
              <a:t> </a:t>
            </a:r>
            <a:r>
              <a:rPr spc="80" dirty="0"/>
              <a:t>de</a:t>
            </a:r>
            <a:r>
              <a:rPr spc="35" dirty="0"/>
              <a:t> </a:t>
            </a:r>
            <a:r>
              <a:rPr spc="50" dirty="0"/>
              <a:t>ser</a:t>
            </a:r>
            <a:r>
              <a:rPr spc="195" dirty="0"/>
              <a:t> </a:t>
            </a:r>
            <a:r>
              <a:rPr spc="80" dirty="0"/>
              <a:t>automatizados?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4215" y="1194816"/>
            <a:ext cx="11731751" cy="4346447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1BEAAD6E-16F1-40E1-9769-D1DE4AD1CDB7}"/>
              </a:ext>
            </a:extLst>
          </p:cNvPr>
          <p:cNvSpPr/>
          <p:nvPr/>
        </p:nvSpPr>
        <p:spPr>
          <a:xfrm>
            <a:off x="76200" y="6248400"/>
            <a:ext cx="1981200" cy="4577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52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90" dirty="0"/>
              <a:t>Población</a:t>
            </a:r>
            <a:r>
              <a:rPr spc="185" dirty="0"/>
              <a:t> </a:t>
            </a:r>
            <a:r>
              <a:rPr spc="70" dirty="0"/>
              <a:t>Mundial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237488"/>
            <a:ext cx="12191999" cy="4660391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3F8125AD-F60F-F3D4-FCF9-26359E7A4F38}"/>
              </a:ext>
            </a:extLst>
          </p:cNvPr>
          <p:cNvSpPr/>
          <p:nvPr/>
        </p:nvSpPr>
        <p:spPr>
          <a:xfrm>
            <a:off x="76200" y="6248400"/>
            <a:ext cx="1981200" cy="4577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4294" rIns="0" bIns="0" rtlCol="0">
            <a:spAutoFit/>
          </a:bodyPr>
          <a:lstStyle/>
          <a:p>
            <a:pPr marL="1499870" marR="5080" indent="-1283335">
              <a:lnSpc>
                <a:spcPct val="100000"/>
              </a:lnSpc>
              <a:spcBef>
                <a:spcPts val="105"/>
              </a:spcBef>
            </a:pPr>
            <a:r>
              <a:rPr sz="2800" b="1" dirty="0">
                <a:latin typeface="Arial"/>
                <a:cs typeface="Arial"/>
              </a:rPr>
              <a:t>"Salario</a:t>
            </a:r>
            <a:r>
              <a:rPr sz="2800" b="1" spc="-95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universal",</a:t>
            </a:r>
            <a:r>
              <a:rPr sz="2800" b="1" spc="-18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el</a:t>
            </a:r>
            <a:r>
              <a:rPr sz="2800" b="1" spc="-50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proyecto</a:t>
            </a:r>
            <a:r>
              <a:rPr sz="2800" b="1" spc="-7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donde</a:t>
            </a:r>
            <a:r>
              <a:rPr sz="2800" b="1" spc="-2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los</a:t>
            </a:r>
            <a:r>
              <a:rPr sz="2800" b="1" spc="-65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robots </a:t>
            </a:r>
            <a:r>
              <a:rPr sz="2800" b="1" dirty="0">
                <a:latin typeface="Arial"/>
                <a:cs typeface="Arial"/>
              </a:rPr>
              <a:t>trabajan</a:t>
            </a:r>
            <a:r>
              <a:rPr sz="2800" b="1" spc="-8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y</a:t>
            </a:r>
            <a:r>
              <a:rPr sz="2800" b="1" spc="-7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los</a:t>
            </a:r>
            <a:r>
              <a:rPr sz="2800" b="1" spc="-7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ciudadanos</a:t>
            </a:r>
            <a:r>
              <a:rPr sz="2800" b="1" spc="-25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cobran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7654" y="1326309"/>
            <a:ext cx="10817860" cy="458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sz="1800" spc="55" dirty="0">
                <a:latin typeface="Arial MT"/>
                <a:cs typeface="Arial MT"/>
              </a:rPr>
              <a:t>Muchos</a:t>
            </a:r>
            <a:r>
              <a:rPr sz="1800" spc="1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países</a:t>
            </a:r>
            <a:r>
              <a:rPr sz="1800" spc="1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del</a:t>
            </a:r>
            <a:r>
              <a:rPr sz="1800" spc="150" dirty="0">
                <a:latin typeface="Arial MT"/>
                <a:cs typeface="Arial MT"/>
              </a:rPr>
              <a:t> </a:t>
            </a:r>
            <a:r>
              <a:rPr sz="1800" spc="65" dirty="0">
                <a:latin typeface="Arial MT"/>
                <a:cs typeface="Arial MT"/>
              </a:rPr>
              <a:t>mundo</a:t>
            </a:r>
            <a:r>
              <a:rPr sz="1800" spc="1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ya</a:t>
            </a:r>
            <a:r>
              <a:rPr sz="1800" spc="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están</a:t>
            </a:r>
            <a:r>
              <a:rPr sz="1800" spc="150" dirty="0">
                <a:latin typeface="Arial MT"/>
                <a:cs typeface="Arial MT"/>
              </a:rPr>
              <a:t> </a:t>
            </a:r>
            <a:r>
              <a:rPr sz="1800" spc="60" dirty="0">
                <a:latin typeface="Arial MT"/>
                <a:cs typeface="Arial MT"/>
              </a:rPr>
              <a:t>tratando</a:t>
            </a:r>
            <a:r>
              <a:rPr sz="1800" spc="1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el</a:t>
            </a:r>
            <a:r>
              <a:rPr sz="1800" spc="150" dirty="0">
                <a:latin typeface="Arial MT"/>
                <a:cs typeface="Arial MT"/>
              </a:rPr>
              <a:t> </a:t>
            </a:r>
            <a:r>
              <a:rPr sz="1800" spc="50" dirty="0">
                <a:latin typeface="Arial MT"/>
                <a:cs typeface="Arial MT"/>
              </a:rPr>
              <a:t>tema</a:t>
            </a:r>
            <a:r>
              <a:rPr sz="1800" spc="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del</a:t>
            </a:r>
            <a:r>
              <a:rPr sz="1800" spc="4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salario</a:t>
            </a:r>
            <a:r>
              <a:rPr sz="1800" b="1" spc="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universal</a:t>
            </a:r>
            <a:r>
              <a:rPr sz="1800" spc="-10" dirty="0">
                <a:latin typeface="Arial MT"/>
                <a:cs typeface="Arial MT"/>
              </a:rPr>
              <a:t>.</a:t>
            </a:r>
            <a:endParaRPr sz="1800">
              <a:latin typeface="Arial MT"/>
              <a:cs typeface="Arial MT"/>
            </a:endParaRPr>
          </a:p>
          <a:p>
            <a:pPr marL="13335">
              <a:lnSpc>
                <a:spcPct val="100000"/>
              </a:lnSpc>
              <a:spcBef>
                <a:spcPts val="20"/>
              </a:spcBef>
            </a:pPr>
            <a:r>
              <a:rPr sz="1800" dirty="0">
                <a:latin typeface="Arial MT"/>
                <a:cs typeface="Arial MT"/>
              </a:rPr>
              <a:t>¿Qué</a:t>
            </a:r>
            <a:r>
              <a:rPr sz="1800" spc="35" dirty="0">
                <a:latin typeface="Arial MT"/>
                <a:cs typeface="Arial MT"/>
              </a:rPr>
              <a:t> </a:t>
            </a:r>
            <a:r>
              <a:rPr sz="1800" spc="80" dirty="0">
                <a:latin typeface="Arial MT"/>
                <a:cs typeface="Arial MT"/>
              </a:rPr>
              <a:t>significa?</a:t>
            </a:r>
            <a:r>
              <a:rPr sz="1800" spc="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Pagarle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50" dirty="0">
                <a:latin typeface="Arial MT"/>
                <a:cs typeface="Arial MT"/>
              </a:rPr>
              <a:t>un</a:t>
            </a:r>
            <a:r>
              <a:rPr sz="1800" spc="135" dirty="0">
                <a:latin typeface="Arial MT"/>
                <a:cs typeface="Arial MT"/>
              </a:rPr>
              <a:t> </a:t>
            </a:r>
            <a:r>
              <a:rPr sz="1800" spc="65" dirty="0">
                <a:latin typeface="Arial MT"/>
                <a:cs typeface="Arial MT"/>
              </a:rPr>
              <a:t>sueldo</a:t>
            </a:r>
            <a:r>
              <a:rPr sz="1800" spc="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35" dirty="0">
                <a:latin typeface="Arial MT"/>
                <a:cs typeface="Arial MT"/>
              </a:rPr>
              <a:t> </a:t>
            </a:r>
            <a:r>
              <a:rPr sz="1800" spc="50" dirty="0">
                <a:latin typeface="Arial MT"/>
                <a:cs typeface="Arial MT"/>
              </a:rPr>
              <a:t>la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75" dirty="0">
                <a:latin typeface="Arial MT"/>
                <a:cs typeface="Arial MT"/>
              </a:rPr>
              <a:t>población</a:t>
            </a:r>
            <a:r>
              <a:rPr sz="1800" spc="90" dirty="0">
                <a:latin typeface="Arial MT"/>
                <a:cs typeface="Arial MT"/>
              </a:rPr>
              <a:t> </a:t>
            </a:r>
            <a:r>
              <a:rPr sz="1800" spc="65" dirty="0">
                <a:latin typeface="Arial MT"/>
                <a:cs typeface="Arial MT"/>
              </a:rPr>
              <a:t>sin</a:t>
            </a:r>
            <a:r>
              <a:rPr sz="1800" spc="114" dirty="0">
                <a:latin typeface="Arial MT"/>
                <a:cs typeface="Arial MT"/>
              </a:rPr>
              <a:t> </a:t>
            </a:r>
            <a:r>
              <a:rPr sz="1800" spc="75" dirty="0">
                <a:latin typeface="Arial MT"/>
                <a:cs typeface="Arial MT"/>
              </a:rPr>
              <a:t>importar</a:t>
            </a:r>
            <a:r>
              <a:rPr sz="1800" spc="105" dirty="0">
                <a:latin typeface="Arial MT"/>
                <a:cs typeface="Arial MT"/>
              </a:rPr>
              <a:t> </a:t>
            </a:r>
            <a:r>
              <a:rPr sz="1800" spc="50" dirty="0">
                <a:latin typeface="Arial MT"/>
                <a:cs typeface="Arial MT"/>
              </a:rPr>
              <a:t>si</a:t>
            </a:r>
            <a:r>
              <a:rPr sz="1800" spc="114" dirty="0">
                <a:latin typeface="Arial MT"/>
                <a:cs typeface="Arial MT"/>
              </a:rPr>
              <a:t> </a:t>
            </a:r>
            <a:r>
              <a:rPr sz="1800" spc="45" dirty="0">
                <a:latin typeface="Arial MT"/>
                <a:cs typeface="Arial MT"/>
              </a:rPr>
              <a:t>trabajan</a:t>
            </a:r>
            <a:r>
              <a:rPr sz="1800" spc="1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</a:t>
            </a:r>
            <a:r>
              <a:rPr sz="1800" spc="114" dirty="0">
                <a:latin typeface="Arial MT"/>
                <a:cs typeface="Arial MT"/>
              </a:rPr>
              <a:t> </a:t>
            </a:r>
            <a:r>
              <a:rPr sz="1800" spc="40" dirty="0">
                <a:latin typeface="Arial MT"/>
                <a:cs typeface="Arial MT"/>
              </a:rPr>
              <a:t>no.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1800">
              <a:latin typeface="Arial MT"/>
              <a:cs typeface="Arial MT"/>
            </a:endParaRPr>
          </a:p>
          <a:p>
            <a:pPr marL="13335" marR="6985">
              <a:lnSpc>
                <a:spcPts val="1750"/>
              </a:lnSpc>
            </a:pPr>
            <a:r>
              <a:rPr sz="1800" dirty="0">
                <a:latin typeface="Arial MT"/>
                <a:cs typeface="Arial MT"/>
              </a:rPr>
              <a:t>¿Por</a:t>
            </a:r>
            <a:r>
              <a:rPr sz="1800" spc="75" dirty="0">
                <a:latin typeface="Arial MT"/>
                <a:cs typeface="Arial MT"/>
              </a:rPr>
              <a:t> </a:t>
            </a:r>
            <a:r>
              <a:rPr sz="1800" spc="65" dirty="0">
                <a:latin typeface="Arial MT"/>
                <a:cs typeface="Arial MT"/>
              </a:rPr>
              <a:t>qué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60" dirty="0">
                <a:latin typeface="Arial MT"/>
                <a:cs typeface="Arial MT"/>
              </a:rPr>
              <a:t>sucede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55" dirty="0">
                <a:latin typeface="Arial MT"/>
                <a:cs typeface="Arial MT"/>
              </a:rPr>
              <a:t>esto?</a:t>
            </a:r>
            <a:r>
              <a:rPr sz="1800" spc="8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Los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robots,</a:t>
            </a:r>
            <a:r>
              <a:rPr sz="1800" b="1" spc="-8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sistemas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automatizados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algoritmos,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en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algún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momento,</a:t>
            </a:r>
            <a:r>
              <a:rPr sz="1800" b="1" spc="-8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van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50" dirty="0">
                <a:latin typeface="Arial"/>
                <a:cs typeface="Arial"/>
              </a:rPr>
              <a:t>a </a:t>
            </a:r>
            <a:r>
              <a:rPr sz="1800" b="1" dirty="0">
                <a:latin typeface="Arial"/>
                <a:cs typeface="Arial"/>
              </a:rPr>
              <a:t>hacer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el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trabajo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que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nosotros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hacemos</a:t>
            </a:r>
            <a:r>
              <a:rPr sz="1800" spc="-10" dirty="0">
                <a:latin typeface="Arial MT"/>
                <a:cs typeface="Arial MT"/>
              </a:rPr>
              <a:t>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1800">
              <a:latin typeface="Arial MT"/>
              <a:cs typeface="Arial MT"/>
            </a:endParaRPr>
          </a:p>
          <a:p>
            <a:pPr marL="12700" marR="6985" algn="just">
              <a:lnSpc>
                <a:spcPct val="80000"/>
              </a:lnSpc>
            </a:pPr>
            <a:r>
              <a:rPr sz="1800" dirty="0">
                <a:latin typeface="Arial MT"/>
                <a:cs typeface="Arial MT"/>
              </a:rPr>
              <a:t>Habrá</a:t>
            </a:r>
            <a:r>
              <a:rPr sz="1800" spc="250" dirty="0">
                <a:latin typeface="Arial MT"/>
                <a:cs typeface="Arial MT"/>
              </a:rPr>
              <a:t> </a:t>
            </a:r>
            <a:r>
              <a:rPr sz="1800" spc="50" dirty="0">
                <a:latin typeface="Arial MT"/>
                <a:cs typeface="Arial MT"/>
              </a:rPr>
              <a:t>muy</a:t>
            </a:r>
            <a:r>
              <a:rPr sz="1800" spc="365" dirty="0">
                <a:latin typeface="Arial MT"/>
                <a:cs typeface="Arial MT"/>
              </a:rPr>
              <a:t> </a:t>
            </a:r>
            <a:r>
              <a:rPr sz="1800" spc="55" dirty="0">
                <a:latin typeface="Arial MT"/>
                <a:cs typeface="Arial MT"/>
              </a:rPr>
              <a:t>pocas</a:t>
            </a:r>
            <a:r>
              <a:rPr sz="1800" spc="3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ramas</a:t>
            </a:r>
            <a:r>
              <a:rPr sz="1800" spc="365" dirty="0">
                <a:latin typeface="Arial MT"/>
                <a:cs typeface="Arial MT"/>
              </a:rPr>
              <a:t> </a:t>
            </a:r>
            <a:r>
              <a:rPr sz="1800" spc="50" dirty="0">
                <a:latin typeface="Arial MT"/>
                <a:cs typeface="Arial MT"/>
              </a:rPr>
              <a:t>que</a:t>
            </a:r>
            <a:r>
              <a:rPr sz="1800" spc="250" dirty="0">
                <a:latin typeface="Arial MT"/>
                <a:cs typeface="Arial MT"/>
              </a:rPr>
              <a:t> </a:t>
            </a:r>
            <a:r>
              <a:rPr sz="1800" spc="50" dirty="0">
                <a:latin typeface="Arial MT"/>
                <a:cs typeface="Arial MT"/>
              </a:rPr>
              <a:t>se</a:t>
            </a:r>
            <a:r>
              <a:rPr sz="1800" spc="254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salvarán</a:t>
            </a:r>
            <a:r>
              <a:rPr sz="1800" spc="3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254" dirty="0">
                <a:latin typeface="Arial MT"/>
                <a:cs typeface="Arial MT"/>
              </a:rPr>
              <a:t> </a:t>
            </a:r>
            <a:r>
              <a:rPr sz="1800" spc="55" dirty="0">
                <a:latin typeface="Arial MT"/>
                <a:cs typeface="Arial MT"/>
              </a:rPr>
              <a:t>esto.</a:t>
            </a:r>
            <a:r>
              <a:rPr sz="1800" spc="1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Si</a:t>
            </a:r>
            <a:r>
              <a:rPr sz="1800" spc="3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bien</a:t>
            </a:r>
            <a:r>
              <a:rPr sz="1800" spc="365" dirty="0">
                <a:latin typeface="Arial MT"/>
                <a:cs typeface="Arial MT"/>
              </a:rPr>
              <a:t> </a:t>
            </a:r>
            <a:r>
              <a:rPr sz="1800" spc="55" dirty="0">
                <a:latin typeface="Arial MT"/>
                <a:cs typeface="Arial MT"/>
              </a:rPr>
              <a:t>puede</a:t>
            </a:r>
            <a:r>
              <a:rPr sz="1800" spc="254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parecer</a:t>
            </a:r>
            <a:r>
              <a:rPr sz="1800" spc="355" dirty="0">
                <a:latin typeface="Arial MT"/>
                <a:cs typeface="Arial MT"/>
              </a:rPr>
              <a:t> </a:t>
            </a:r>
            <a:r>
              <a:rPr sz="1800" spc="65" dirty="0">
                <a:latin typeface="Arial MT"/>
                <a:cs typeface="Arial MT"/>
              </a:rPr>
              <a:t>trágico,</a:t>
            </a:r>
            <a:r>
              <a:rPr sz="1800" spc="1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es</a:t>
            </a:r>
            <a:r>
              <a:rPr sz="1800" spc="365" dirty="0">
                <a:latin typeface="Arial MT"/>
                <a:cs typeface="Arial MT"/>
              </a:rPr>
              <a:t> </a:t>
            </a:r>
            <a:r>
              <a:rPr sz="1800" spc="65" dirty="0">
                <a:latin typeface="Arial MT"/>
                <a:cs typeface="Arial MT"/>
              </a:rPr>
              <a:t>una</a:t>
            </a:r>
            <a:r>
              <a:rPr sz="1800" spc="254" dirty="0">
                <a:latin typeface="Arial MT"/>
                <a:cs typeface="Arial MT"/>
              </a:rPr>
              <a:t> </a:t>
            </a:r>
            <a:r>
              <a:rPr sz="1800" spc="40" dirty="0">
                <a:latin typeface="Arial MT"/>
                <a:cs typeface="Arial MT"/>
              </a:rPr>
              <a:t>realidad: </a:t>
            </a:r>
            <a:r>
              <a:rPr sz="1800" dirty="0">
                <a:latin typeface="Arial MT"/>
                <a:cs typeface="Arial MT"/>
              </a:rPr>
              <a:t>hay</a:t>
            </a:r>
            <a:r>
              <a:rPr sz="1800" spc="140" dirty="0">
                <a:latin typeface="Arial MT"/>
                <a:cs typeface="Arial MT"/>
              </a:rPr>
              <a:t> </a:t>
            </a:r>
            <a:r>
              <a:rPr sz="1800" spc="45" dirty="0">
                <a:latin typeface="Arial MT"/>
                <a:cs typeface="Arial MT"/>
              </a:rPr>
              <a:t>decenas</a:t>
            </a:r>
            <a:r>
              <a:rPr sz="1800" spc="65" dirty="0">
                <a:latin typeface="Arial MT"/>
                <a:cs typeface="Arial MT"/>
              </a:rPr>
              <a:t> </a:t>
            </a:r>
            <a:r>
              <a:rPr sz="1800" spc="50" dirty="0">
                <a:latin typeface="Arial MT"/>
                <a:cs typeface="Arial MT"/>
              </a:rPr>
              <a:t>de</a:t>
            </a:r>
            <a:r>
              <a:rPr sz="1800" spc="35" dirty="0">
                <a:latin typeface="Arial MT"/>
                <a:cs typeface="Arial MT"/>
              </a:rPr>
              <a:t> </a:t>
            </a:r>
            <a:r>
              <a:rPr sz="1800" spc="75" dirty="0">
                <a:latin typeface="Arial MT"/>
                <a:cs typeface="Arial MT"/>
              </a:rPr>
              <a:t>estudios</a:t>
            </a:r>
            <a:r>
              <a:rPr sz="1800" spc="95" dirty="0">
                <a:latin typeface="Arial MT"/>
                <a:cs typeface="Arial MT"/>
              </a:rPr>
              <a:t> </a:t>
            </a:r>
            <a:r>
              <a:rPr sz="1800" spc="65" dirty="0">
                <a:latin typeface="Arial MT"/>
                <a:cs typeface="Arial MT"/>
              </a:rPr>
              <a:t>que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50" dirty="0">
                <a:latin typeface="Arial MT"/>
                <a:cs typeface="Arial MT"/>
              </a:rPr>
              <a:t>lo</a:t>
            </a:r>
            <a:r>
              <a:rPr sz="1800" spc="135" dirty="0">
                <a:latin typeface="Arial MT"/>
                <a:cs typeface="Arial MT"/>
              </a:rPr>
              <a:t> </a:t>
            </a:r>
            <a:r>
              <a:rPr sz="1800" spc="55" dirty="0">
                <a:latin typeface="Arial MT"/>
                <a:cs typeface="Arial MT"/>
              </a:rPr>
              <a:t>demuestran</a:t>
            </a:r>
            <a:r>
              <a:rPr sz="1800" spc="8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</a:t>
            </a:r>
            <a:r>
              <a:rPr sz="1800" spc="120" dirty="0">
                <a:latin typeface="Arial MT"/>
                <a:cs typeface="Arial MT"/>
              </a:rPr>
              <a:t> </a:t>
            </a:r>
            <a:r>
              <a:rPr sz="1800" spc="55" dirty="0">
                <a:latin typeface="Arial MT"/>
                <a:cs typeface="Arial MT"/>
              </a:rPr>
              <a:t>tenemos</a:t>
            </a:r>
            <a:r>
              <a:rPr sz="1800" spc="114" dirty="0">
                <a:latin typeface="Arial MT"/>
                <a:cs typeface="Arial MT"/>
              </a:rPr>
              <a:t> </a:t>
            </a:r>
            <a:r>
              <a:rPr sz="1800" spc="65" dirty="0">
                <a:latin typeface="Arial MT"/>
                <a:cs typeface="Arial MT"/>
              </a:rPr>
              <a:t>que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estar</a:t>
            </a:r>
            <a:r>
              <a:rPr sz="1800" spc="105" dirty="0">
                <a:latin typeface="Arial MT"/>
                <a:cs typeface="Arial MT"/>
              </a:rPr>
              <a:t> </a:t>
            </a:r>
            <a:r>
              <a:rPr sz="1800" spc="50" dirty="0">
                <a:latin typeface="Arial MT"/>
                <a:cs typeface="Arial MT"/>
              </a:rPr>
              <a:t>preparados.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Arial MT"/>
              <a:cs typeface="Arial MT"/>
            </a:endParaRPr>
          </a:p>
          <a:p>
            <a:pPr marL="12700" marR="5080" indent="635" algn="just">
              <a:lnSpc>
                <a:spcPct val="80000"/>
              </a:lnSpc>
            </a:pPr>
            <a:r>
              <a:rPr sz="1800" spc="80" dirty="0">
                <a:latin typeface="Arial MT"/>
                <a:cs typeface="Arial MT"/>
              </a:rPr>
              <a:t>Algunos</a:t>
            </a:r>
            <a:r>
              <a:rPr sz="1800" spc="20" dirty="0">
                <a:latin typeface="Arial MT"/>
                <a:cs typeface="Arial MT"/>
              </a:rPr>
              <a:t>  </a:t>
            </a:r>
            <a:r>
              <a:rPr sz="1800" spc="55" dirty="0">
                <a:latin typeface="Arial MT"/>
                <a:cs typeface="Arial MT"/>
              </a:rPr>
              <a:t>trabajos</a:t>
            </a:r>
            <a:r>
              <a:rPr sz="1800" spc="20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serán</a:t>
            </a:r>
            <a:r>
              <a:rPr sz="1800" spc="20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más</a:t>
            </a:r>
            <a:r>
              <a:rPr sz="1800" spc="20" dirty="0">
                <a:latin typeface="Arial MT"/>
                <a:cs typeface="Arial MT"/>
              </a:rPr>
              <a:t>  </a:t>
            </a:r>
            <a:r>
              <a:rPr sz="1800" spc="50" dirty="0">
                <a:latin typeface="Arial MT"/>
                <a:cs typeface="Arial MT"/>
              </a:rPr>
              <a:t>fáciles</a:t>
            </a:r>
            <a:r>
              <a:rPr sz="1800" spc="10" dirty="0">
                <a:latin typeface="Arial MT"/>
                <a:cs typeface="Arial MT"/>
              </a:rPr>
              <a:t>  </a:t>
            </a:r>
            <a:r>
              <a:rPr sz="1800" spc="50" dirty="0">
                <a:latin typeface="Arial MT"/>
                <a:cs typeface="Arial MT"/>
              </a:rPr>
              <a:t>de</a:t>
            </a:r>
            <a:r>
              <a:rPr sz="1800" spc="4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reemplazar  </a:t>
            </a:r>
            <a:r>
              <a:rPr sz="1800" spc="55" dirty="0">
                <a:latin typeface="Arial MT"/>
                <a:cs typeface="Arial MT"/>
              </a:rPr>
              <a:t>que</a:t>
            </a:r>
            <a:r>
              <a:rPr sz="1800" spc="445" dirty="0">
                <a:latin typeface="Arial MT"/>
                <a:cs typeface="Arial MT"/>
              </a:rPr>
              <a:t> </a:t>
            </a:r>
            <a:r>
              <a:rPr sz="1800" spc="70" dirty="0">
                <a:latin typeface="Arial MT"/>
                <a:cs typeface="Arial MT"/>
              </a:rPr>
              <a:t>otros:</a:t>
            </a:r>
            <a:r>
              <a:rPr sz="1800" spc="459" dirty="0">
                <a:latin typeface="Arial MT"/>
                <a:cs typeface="Arial MT"/>
              </a:rPr>
              <a:t> </a:t>
            </a:r>
            <a:r>
              <a:rPr sz="1800" spc="50" dirty="0">
                <a:latin typeface="Arial MT"/>
                <a:cs typeface="Arial MT"/>
              </a:rPr>
              <a:t>no</a:t>
            </a:r>
            <a:r>
              <a:rPr sz="1800" spc="20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es</a:t>
            </a:r>
            <a:r>
              <a:rPr sz="1800" spc="20" dirty="0">
                <a:latin typeface="Arial MT"/>
                <a:cs typeface="Arial MT"/>
              </a:rPr>
              <a:t>  </a:t>
            </a:r>
            <a:r>
              <a:rPr sz="1800" spc="50" dirty="0">
                <a:latin typeface="Arial MT"/>
                <a:cs typeface="Arial MT"/>
              </a:rPr>
              <a:t>lo</a:t>
            </a:r>
            <a:r>
              <a:rPr sz="1800" spc="5" dirty="0">
                <a:latin typeface="Arial MT"/>
                <a:cs typeface="Arial MT"/>
              </a:rPr>
              <a:t>  </a:t>
            </a:r>
            <a:r>
              <a:rPr sz="1800" spc="70" dirty="0">
                <a:latin typeface="Arial MT"/>
                <a:cs typeface="Arial MT"/>
              </a:rPr>
              <a:t>mismo</a:t>
            </a:r>
            <a:r>
              <a:rPr sz="1800" spc="20" dirty="0">
                <a:latin typeface="Arial MT"/>
                <a:cs typeface="Arial MT"/>
              </a:rPr>
              <a:t>  </a:t>
            </a:r>
            <a:r>
              <a:rPr sz="1800" spc="55" dirty="0">
                <a:latin typeface="Arial MT"/>
                <a:cs typeface="Arial MT"/>
              </a:rPr>
              <a:t>trabajos</a:t>
            </a:r>
            <a:r>
              <a:rPr sz="1800" spc="10" dirty="0">
                <a:latin typeface="Arial MT"/>
                <a:cs typeface="Arial MT"/>
              </a:rPr>
              <a:t>  </a:t>
            </a:r>
            <a:r>
              <a:rPr sz="1800" spc="50" dirty="0">
                <a:latin typeface="Arial MT"/>
                <a:cs typeface="Arial MT"/>
              </a:rPr>
              <a:t>de</a:t>
            </a:r>
            <a:r>
              <a:rPr sz="1800" spc="420" dirty="0">
                <a:latin typeface="Arial MT"/>
                <a:cs typeface="Arial MT"/>
              </a:rPr>
              <a:t> </a:t>
            </a:r>
            <a:r>
              <a:rPr sz="1800" spc="30" dirty="0">
                <a:latin typeface="Arial MT"/>
                <a:cs typeface="Arial MT"/>
              </a:rPr>
              <a:t>call </a:t>
            </a:r>
            <a:r>
              <a:rPr sz="1800" spc="50" dirty="0">
                <a:latin typeface="Arial MT"/>
                <a:cs typeface="Arial MT"/>
              </a:rPr>
              <a:t>center</a:t>
            </a:r>
            <a:r>
              <a:rPr sz="1800" spc="3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</a:t>
            </a:r>
            <a:r>
              <a:rPr sz="1800" spc="355" dirty="0">
                <a:latin typeface="Arial MT"/>
                <a:cs typeface="Arial MT"/>
              </a:rPr>
              <a:t> </a:t>
            </a:r>
            <a:r>
              <a:rPr sz="1800" spc="50" dirty="0">
                <a:latin typeface="Arial MT"/>
                <a:cs typeface="Arial MT"/>
              </a:rPr>
              <a:t>de</a:t>
            </a:r>
            <a:r>
              <a:rPr sz="1800" spc="235" dirty="0">
                <a:latin typeface="Arial MT"/>
                <a:cs typeface="Arial MT"/>
              </a:rPr>
              <a:t> </a:t>
            </a:r>
            <a:r>
              <a:rPr sz="1800" spc="85" dirty="0">
                <a:latin typeface="Arial MT"/>
                <a:cs typeface="Arial MT"/>
              </a:rPr>
              <a:t>soporte</a:t>
            </a:r>
            <a:r>
              <a:rPr sz="1800" spc="254" dirty="0">
                <a:latin typeface="Arial MT"/>
                <a:cs typeface="Arial MT"/>
              </a:rPr>
              <a:t> </a:t>
            </a:r>
            <a:r>
              <a:rPr sz="1800" spc="65" dirty="0">
                <a:latin typeface="Arial MT"/>
                <a:cs typeface="Arial MT"/>
              </a:rPr>
              <a:t>técnico</a:t>
            </a:r>
            <a:r>
              <a:rPr sz="1800" spc="3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254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través</a:t>
            </a:r>
            <a:r>
              <a:rPr sz="1800" spc="3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254" dirty="0">
                <a:latin typeface="Arial MT"/>
                <a:cs typeface="Arial MT"/>
              </a:rPr>
              <a:t> </a:t>
            </a:r>
            <a:r>
              <a:rPr sz="1800" spc="60" dirty="0">
                <a:latin typeface="Arial MT"/>
                <a:cs typeface="Arial MT"/>
              </a:rPr>
              <a:t>teléfono,</a:t>
            </a:r>
            <a:r>
              <a:rPr sz="1800" spc="180" dirty="0">
                <a:latin typeface="Arial MT"/>
                <a:cs typeface="Arial MT"/>
              </a:rPr>
              <a:t> </a:t>
            </a:r>
            <a:r>
              <a:rPr sz="1800" spc="55" dirty="0">
                <a:latin typeface="Arial MT"/>
                <a:cs typeface="Arial MT"/>
              </a:rPr>
              <a:t>que</a:t>
            </a:r>
            <a:r>
              <a:rPr sz="1800" spc="260" dirty="0">
                <a:latin typeface="Arial MT"/>
                <a:cs typeface="Arial MT"/>
              </a:rPr>
              <a:t> </a:t>
            </a:r>
            <a:r>
              <a:rPr sz="1800" spc="60" dirty="0">
                <a:latin typeface="Arial MT"/>
                <a:cs typeface="Arial MT"/>
              </a:rPr>
              <a:t>son</a:t>
            </a:r>
            <a:r>
              <a:rPr sz="1800" spc="355" dirty="0">
                <a:latin typeface="Arial MT"/>
                <a:cs typeface="Arial MT"/>
              </a:rPr>
              <a:t> </a:t>
            </a:r>
            <a:r>
              <a:rPr sz="1800" spc="65" dirty="0">
                <a:latin typeface="Arial MT"/>
                <a:cs typeface="Arial MT"/>
              </a:rPr>
              <a:t>mucho</a:t>
            </a:r>
            <a:r>
              <a:rPr sz="1800" spc="3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más</a:t>
            </a:r>
            <a:r>
              <a:rPr sz="1800" spc="335" dirty="0">
                <a:latin typeface="Arial MT"/>
                <a:cs typeface="Arial MT"/>
              </a:rPr>
              <a:t> </a:t>
            </a:r>
            <a:r>
              <a:rPr sz="1800" spc="70" dirty="0">
                <a:latin typeface="Arial MT"/>
                <a:cs typeface="Arial MT"/>
              </a:rPr>
              <a:t>simples</a:t>
            </a:r>
            <a:r>
              <a:rPr sz="1800" spc="365" dirty="0">
                <a:latin typeface="Arial MT"/>
                <a:cs typeface="Arial MT"/>
              </a:rPr>
              <a:t> </a:t>
            </a:r>
            <a:r>
              <a:rPr sz="1800" spc="50" dirty="0">
                <a:latin typeface="Arial MT"/>
                <a:cs typeface="Arial MT"/>
              </a:rPr>
              <a:t>de</a:t>
            </a:r>
            <a:r>
              <a:rPr sz="1800" spc="229" dirty="0">
                <a:latin typeface="Arial MT"/>
                <a:cs typeface="Arial MT"/>
              </a:rPr>
              <a:t> </a:t>
            </a:r>
            <a:r>
              <a:rPr sz="1800" spc="45" dirty="0">
                <a:latin typeface="Arial MT"/>
                <a:cs typeface="Arial MT"/>
              </a:rPr>
              <a:t>automatizar,</a:t>
            </a:r>
            <a:r>
              <a:rPr sz="1800" spc="180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a </a:t>
            </a:r>
            <a:r>
              <a:rPr sz="1800" spc="65" dirty="0">
                <a:latin typeface="Arial MT"/>
                <a:cs typeface="Arial MT"/>
              </a:rPr>
              <a:t>otros</a:t>
            </a:r>
            <a:r>
              <a:rPr sz="1800" spc="1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más</a:t>
            </a:r>
            <a:r>
              <a:rPr sz="1800" spc="135" dirty="0">
                <a:latin typeface="Arial MT"/>
                <a:cs typeface="Arial MT"/>
              </a:rPr>
              <a:t> </a:t>
            </a:r>
            <a:r>
              <a:rPr sz="1800" spc="70" dirty="0">
                <a:latin typeface="Arial MT"/>
                <a:cs typeface="Arial MT"/>
              </a:rPr>
              <a:t>complejos</a:t>
            </a:r>
            <a:r>
              <a:rPr sz="1800" spc="135" dirty="0">
                <a:latin typeface="Arial MT"/>
                <a:cs typeface="Arial MT"/>
              </a:rPr>
              <a:t> </a:t>
            </a:r>
            <a:r>
              <a:rPr sz="1800" spc="75" dirty="0">
                <a:latin typeface="Arial MT"/>
                <a:cs typeface="Arial MT"/>
              </a:rPr>
              <a:t>como</a:t>
            </a:r>
            <a:r>
              <a:rPr sz="1800" spc="130" dirty="0">
                <a:latin typeface="Arial MT"/>
                <a:cs typeface="Arial MT"/>
              </a:rPr>
              <a:t> </a:t>
            </a:r>
            <a:r>
              <a:rPr sz="1800" spc="60" dirty="0">
                <a:latin typeface="Arial MT"/>
                <a:cs typeface="Arial MT"/>
              </a:rPr>
              <a:t>los</a:t>
            </a:r>
            <a:r>
              <a:rPr sz="1800" spc="135" dirty="0">
                <a:latin typeface="Arial MT"/>
                <a:cs typeface="Arial MT"/>
              </a:rPr>
              <a:t> </a:t>
            </a:r>
            <a:r>
              <a:rPr sz="1800" spc="60" dirty="0">
                <a:latin typeface="Arial MT"/>
                <a:cs typeface="Arial MT"/>
              </a:rPr>
              <a:t>relacionados</a:t>
            </a:r>
            <a:r>
              <a:rPr sz="1800" spc="1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</a:t>
            </a:r>
            <a:r>
              <a:rPr sz="1800" spc="130" dirty="0">
                <a:latin typeface="Arial MT"/>
                <a:cs typeface="Arial MT"/>
              </a:rPr>
              <a:t> </a:t>
            </a:r>
            <a:r>
              <a:rPr sz="1800" spc="55" dirty="0">
                <a:latin typeface="Arial MT"/>
                <a:cs typeface="Arial MT"/>
              </a:rPr>
              <a:t>desarrollo</a:t>
            </a:r>
            <a:r>
              <a:rPr sz="1800" spc="135" dirty="0">
                <a:latin typeface="Arial MT"/>
                <a:cs typeface="Arial MT"/>
              </a:rPr>
              <a:t> </a:t>
            </a:r>
            <a:r>
              <a:rPr sz="1800" spc="75" dirty="0">
                <a:latin typeface="Arial MT"/>
                <a:cs typeface="Arial MT"/>
              </a:rPr>
              <a:t>informático</a:t>
            </a:r>
            <a:r>
              <a:rPr sz="1800" spc="1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</a:t>
            </a:r>
            <a:r>
              <a:rPr sz="1800" spc="130" dirty="0">
                <a:latin typeface="Arial MT"/>
                <a:cs typeface="Arial MT"/>
              </a:rPr>
              <a:t> </a:t>
            </a:r>
            <a:r>
              <a:rPr sz="1800" spc="50" dirty="0">
                <a:latin typeface="Arial MT"/>
                <a:cs typeface="Arial MT"/>
              </a:rPr>
              <a:t>la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spc="65" dirty="0">
                <a:latin typeface="Arial MT"/>
                <a:cs typeface="Arial MT"/>
              </a:rPr>
              <a:t>medicina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spc="50" dirty="0">
                <a:latin typeface="Arial MT"/>
                <a:cs typeface="Arial MT"/>
              </a:rPr>
              <a:t>(aunque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ya</a:t>
            </a:r>
            <a:r>
              <a:rPr sz="1800" spc="3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hay </a:t>
            </a:r>
            <a:r>
              <a:rPr sz="1800" spc="60" dirty="0">
                <a:latin typeface="Arial MT"/>
                <a:cs typeface="Arial MT"/>
              </a:rPr>
              <a:t>sistemas</a:t>
            </a:r>
            <a:r>
              <a:rPr sz="1800" spc="110" dirty="0">
                <a:latin typeface="Arial MT"/>
                <a:cs typeface="Arial MT"/>
              </a:rPr>
              <a:t> </a:t>
            </a:r>
            <a:r>
              <a:rPr sz="1800" spc="65" dirty="0">
                <a:latin typeface="Arial MT"/>
                <a:cs typeface="Arial MT"/>
              </a:rPr>
              <a:t>que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spc="50" dirty="0">
                <a:latin typeface="Arial MT"/>
                <a:cs typeface="Arial MT"/>
              </a:rPr>
              <a:t>pueden</a:t>
            </a:r>
            <a:r>
              <a:rPr sz="1800" spc="114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realizar</a:t>
            </a:r>
            <a:r>
              <a:rPr sz="1800" spc="130" dirty="0">
                <a:latin typeface="Arial MT"/>
                <a:cs typeface="Arial MT"/>
              </a:rPr>
              <a:t> </a:t>
            </a:r>
            <a:r>
              <a:rPr sz="1800" spc="80" dirty="0">
                <a:latin typeface="Arial MT"/>
                <a:cs typeface="Arial MT"/>
              </a:rPr>
              <a:t>diagnósticos</a:t>
            </a:r>
            <a:r>
              <a:rPr sz="1800" spc="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tan</a:t>
            </a:r>
            <a:r>
              <a:rPr sz="1800" spc="160" dirty="0">
                <a:latin typeface="Arial MT"/>
                <a:cs typeface="Arial MT"/>
              </a:rPr>
              <a:t> </a:t>
            </a:r>
            <a:r>
              <a:rPr sz="1800" spc="50" dirty="0">
                <a:latin typeface="Arial MT"/>
                <a:cs typeface="Arial MT"/>
              </a:rPr>
              <a:t>bien</a:t>
            </a:r>
            <a:r>
              <a:rPr sz="1800" spc="135" dirty="0">
                <a:latin typeface="Arial MT"/>
                <a:cs typeface="Arial MT"/>
              </a:rPr>
              <a:t> </a:t>
            </a:r>
            <a:r>
              <a:rPr sz="1800" spc="75" dirty="0">
                <a:latin typeface="Arial MT"/>
                <a:cs typeface="Arial MT"/>
              </a:rPr>
              <a:t>como</a:t>
            </a:r>
            <a:r>
              <a:rPr sz="1800" spc="110" dirty="0">
                <a:latin typeface="Arial MT"/>
                <a:cs typeface="Arial MT"/>
              </a:rPr>
              <a:t> </a:t>
            </a:r>
            <a:r>
              <a:rPr sz="1800" spc="50" dirty="0">
                <a:latin typeface="Arial MT"/>
                <a:cs typeface="Arial MT"/>
              </a:rPr>
              <a:t>un</a:t>
            </a:r>
            <a:r>
              <a:rPr sz="1800" spc="160" dirty="0">
                <a:latin typeface="Arial MT"/>
                <a:cs typeface="Arial MT"/>
              </a:rPr>
              <a:t> </a:t>
            </a:r>
            <a:r>
              <a:rPr sz="1800" spc="50" dirty="0">
                <a:latin typeface="Arial MT"/>
                <a:cs typeface="Arial MT"/>
              </a:rPr>
              <a:t>humano).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Arial MT"/>
                <a:cs typeface="Arial MT"/>
              </a:rPr>
              <a:t>¿Habrá</a:t>
            </a:r>
            <a:r>
              <a:rPr sz="1800" spc="35" dirty="0">
                <a:latin typeface="Arial MT"/>
                <a:cs typeface="Arial MT"/>
              </a:rPr>
              <a:t> </a:t>
            </a:r>
            <a:r>
              <a:rPr sz="1800" spc="70" dirty="0">
                <a:latin typeface="Arial MT"/>
                <a:cs typeface="Arial MT"/>
              </a:rPr>
              <a:t>suficientes</a:t>
            </a:r>
            <a:r>
              <a:rPr sz="1800" spc="125" dirty="0">
                <a:latin typeface="Arial MT"/>
                <a:cs typeface="Arial MT"/>
              </a:rPr>
              <a:t> </a:t>
            </a:r>
            <a:r>
              <a:rPr sz="1800" spc="60" dirty="0">
                <a:latin typeface="Arial MT"/>
                <a:cs typeface="Arial MT"/>
              </a:rPr>
              <a:t>trabajos</a:t>
            </a:r>
            <a:r>
              <a:rPr sz="1800" spc="120" dirty="0">
                <a:latin typeface="Arial MT"/>
                <a:cs typeface="Arial MT"/>
              </a:rPr>
              <a:t> </a:t>
            </a:r>
            <a:r>
              <a:rPr sz="1800" spc="50" dirty="0">
                <a:latin typeface="Arial MT"/>
                <a:cs typeface="Arial MT"/>
              </a:rPr>
              <a:t>para</a:t>
            </a:r>
            <a:r>
              <a:rPr sz="1800" spc="40" dirty="0">
                <a:latin typeface="Arial MT"/>
                <a:cs typeface="Arial MT"/>
              </a:rPr>
              <a:t> </a:t>
            </a:r>
            <a:r>
              <a:rPr sz="1800" spc="70" dirty="0">
                <a:latin typeface="Arial MT"/>
                <a:cs typeface="Arial MT"/>
              </a:rPr>
              <a:t>todos?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20"/>
              </a:spcBef>
            </a:pPr>
            <a:endParaRPr sz="1800">
              <a:latin typeface="Arial MT"/>
              <a:cs typeface="Arial MT"/>
            </a:endParaRPr>
          </a:p>
          <a:p>
            <a:pPr marL="13335" marR="19050" indent="-635" algn="just">
              <a:lnSpc>
                <a:spcPct val="80000"/>
              </a:lnSpc>
            </a:pPr>
            <a:r>
              <a:rPr sz="1800" dirty="0">
                <a:latin typeface="Arial MT"/>
                <a:cs typeface="Arial MT"/>
              </a:rPr>
              <a:t>Todavía</a:t>
            </a:r>
            <a:r>
              <a:rPr sz="1800" spc="150" dirty="0">
                <a:latin typeface="Arial MT"/>
                <a:cs typeface="Arial MT"/>
              </a:rPr>
              <a:t> </a:t>
            </a:r>
            <a:r>
              <a:rPr sz="1800" spc="55" dirty="0">
                <a:latin typeface="Arial MT"/>
                <a:cs typeface="Arial MT"/>
              </a:rPr>
              <a:t>nadie</a:t>
            </a:r>
            <a:r>
              <a:rPr sz="1800" spc="155" dirty="0">
                <a:latin typeface="Arial MT"/>
                <a:cs typeface="Arial MT"/>
              </a:rPr>
              <a:t> </a:t>
            </a:r>
            <a:r>
              <a:rPr sz="1800" spc="55" dirty="0">
                <a:latin typeface="Arial MT"/>
                <a:cs typeface="Arial MT"/>
              </a:rPr>
              <a:t>puede</a:t>
            </a:r>
            <a:r>
              <a:rPr sz="1800" spc="155" dirty="0">
                <a:latin typeface="Arial MT"/>
                <a:cs typeface="Arial MT"/>
              </a:rPr>
              <a:t> </a:t>
            </a:r>
            <a:r>
              <a:rPr sz="1800" spc="55" dirty="0">
                <a:latin typeface="Arial MT"/>
                <a:cs typeface="Arial MT"/>
              </a:rPr>
              <a:t>asegurarlo,</a:t>
            </a:r>
            <a:r>
              <a:rPr sz="1800" spc="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</a:t>
            </a:r>
            <a:r>
              <a:rPr sz="1800" spc="265" dirty="0">
                <a:latin typeface="Arial MT"/>
                <a:cs typeface="Arial MT"/>
              </a:rPr>
              <a:t> </a:t>
            </a:r>
            <a:r>
              <a:rPr sz="1800" spc="55" dirty="0">
                <a:latin typeface="Arial MT"/>
                <a:cs typeface="Arial MT"/>
              </a:rPr>
              <a:t>expertos</a:t>
            </a:r>
            <a:r>
              <a:rPr sz="1800" spc="2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</a:t>
            </a:r>
            <a:r>
              <a:rPr sz="1800" spc="1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basan</a:t>
            </a:r>
            <a:r>
              <a:rPr sz="1800" spc="254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</a:t>
            </a:r>
            <a:r>
              <a:rPr sz="1800" spc="229" dirty="0">
                <a:latin typeface="Arial MT"/>
                <a:cs typeface="Arial MT"/>
              </a:rPr>
              <a:t> </a:t>
            </a:r>
            <a:r>
              <a:rPr sz="1800" spc="75" dirty="0">
                <a:latin typeface="Arial MT"/>
                <a:cs typeface="Arial MT"/>
              </a:rPr>
              <a:t>hipótesis</a:t>
            </a:r>
            <a:r>
              <a:rPr sz="1800" spc="265" dirty="0">
                <a:latin typeface="Arial MT"/>
                <a:cs typeface="Arial MT"/>
              </a:rPr>
              <a:t> </a:t>
            </a:r>
            <a:r>
              <a:rPr sz="1800" spc="65" dirty="0">
                <a:latin typeface="Arial MT"/>
                <a:cs typeface="Arial MT"/>
              </a:rPr>
              <a:t>que</a:t>
            </a:r>
            <a:r>
              <a:rPr sz="1800" spc="1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revelan</a:t>
            </a:r>
            <a:r>
              <a:rPr sz="1800" spc="254" dirty="0">
                <a:latin typeface="Arial MT"/>
                <a:cs typeface="Arial MT"/>
              </a:rPr>
              <a:t> </a:t>
            </a:r>
            <a:r>
              <a:rPr sz="1800" spc="65" dirty="0">
                <a:latin typeface="Arial MT"/>
                <a:cs typeface="Arial MT"/>
              </a:rPr>
              <a:t>cómo</a:t>
            </a:r>
            <a:r>
              <a:rPr sz="1800" spc="254" dirty="0">
                <a:latin typeface="Arial MT"/>
                <a:cs typeface="Arial MT"/>
              </a:rPr>
              <a:t> </a:t>
            </a:r>
            <a:r>
              <a:rPr sz="1800" spc="65" dirty="0">
                <a:latin typeface="Arial MT"/>
                <a:cs typeface="Arial MT"/>
              </a:rPr>
              <a:t>podría</a:t>
            </a:r>
            <a:r>
              <a:rPr sz="1800" spc="1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ser</a:t>
            </a:r>
            <a:r>
              <a:rPr sz="1800" spc="25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el </a:t>
            </a:r>
            <a:r>
              <a:rPr sz="1800" spc="65" dirty="0">
                <a:latin typeface="Arial MT"/>
                <a:cs typeface="Arial MT"/>
              </a:rPr>
              <a:t>mundo</a:t>
            </a:r>
            <a:r>
              <a:rPr sz="1800" spc="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</a:t>
            </a:r>
            <a:r>
              <a:rPr sz="1800" spc="114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20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</a:t>
            </a:r>
            <a:r>
              <a:rPr sz="1800" spc="1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30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40" dirty="0">
                <a:latin typeface="Arial MT"/>
                <a:cs typeface="Arial MT"/>
              </a:rPr>
              <a:t>años.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441B7AD-42F1-7B20-7CDA-017CD99C5687}"/>
              </a:ext>
            </a:extLst>
          </p:cNvPr>
          <p:cNvSpPr/>
          <p:nvPr/>
        </p:nvSpPr>
        <p:spPr>
          <a:xfrm>
            <a:off x="76200" y="6248400"/>
            <a:ext cx="1981200" cy="4577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52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110" dirty="0"/>
              <a:t>Bibliografía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105"/>
              </a:spcBef>
              <a:buClr>
                <a:srgbClr val="000000"/>
              </a:buClr>
              <a:buChar char="•"/>
              <a:tabLst>
                <a:tab pos="356870" algn="l"/>
              </a:tabLst>
            </a:pPr>
            <a:r>
              <a:rPr spc="50" dirty="0">
                <a:hlinkClick r:id="rId2"/>
              </a:rPr>
              <a:t>https://ourworldindata.org/uploads/2018/09/Population-</a:t>
            </a:r>
            <a:r>
              <a:rPr spc="45" dirty="0">
                <a:hlinkClick r:id="rId2"/>
              </a:rPr>
              <a:t>cartogram_World-</a:t>
            </a:r>
            <a:r>
              <a:rPr spc="-10" dirty="0">
                <a:hlinkClick r:id="rId2"/>
              </a:rPr>
              <a:t>2.png</a:t>
            </a:r>
          </a:p>
          <a:p>
            <a:pPr>
              <a:lnSpc>
                <a:spcPct val="100000"/>
              </a:lnSpc>
              <a:spcBef>
                <a:spcPts val="465"/>
              </a:spcBef>
              <a:buFont typeface="Arial MT"/>
              <a:buChar char="•"/>
            </a:pPr>
            <a:endParaRPr spc="-10" dirty="0">
              <a:hlinkClick r:id="rId2"/>
            </a:endParaRPr>
          </a:p>
          <a:p>
            <a:pPr marL="356870" indent="-344170">
              <a:lnSpc>
                <a:spcPct val="100000"/>
              </a:lnSpc>
              <a:buClr>
                <a:srgbClr val="000000"/>
              </a:buClr>
              <a:buChar char="•"/>
              <a:tabLst>
                <a:tab pos="356870" algn="l"/>
              </a:tabLst>
            </a:pPr>
            <a:r>
              <a:rPr spc="55" dirty="0">
                <a:hlinkClick r:id="rId3"/>
              </a:rPr>
              <a:t>https://www.iadb.org/en/improvinglives/future-work-</a:t>
            </a:r>
            <a:r>
              <a:rPr spc="60" dirty="0">
                <a:hlinkClick r:id="rId3"/>
              </a:rPr>
              <a:t>robots-</a:t>
            </a:r>
            <a:r>
              <a:rPr spc="50" dirty="0">
                <a:hlinkClick r:id="rId3"/>
              </a:rPr>
              <a:t>versus-</a:t>
            </a:r>
            <a:r>
              <a:rPr spc="60" dirty="0">
                <a:hlinkClick r:id="rId3"/>
              </a:rPr>
              <a:t>humans</a:t>
            </a:r>
          </a:p>
          <a:p>
            <a:pPr>
              <a:lnSpc>
                <a:spcPct val="100000"/>
              </a:lnSpc>
              <a:spcBef>
                <a:spcPts val="465"/>
              </a:spcBef>
              <a:buFont typeface="Arial MT"/>
              <a:buChar char="•"/>
            </a:pPr>
            <a:endParaRPr spc="60" dirty="0">
              <a:hlinkClick r:id="rId3"/>
            </a:endParaRPr>
          </a:p>
          <a:p>
            <a:pPr marL="356870" indent="-344170">
              <a:lnSpc>
                <a:spcPct val="100000"/>
              </a:lnSpc>
              <a:buClr>
                <a:srgbClr val="000000"/>
              </a:buClr>
              <a:buChar char="•"/>
              <a:tabLst>
                <a:tab pos="356870" algn="l"/>
              </a:tabLst>
            </a:pPr>
            <a:r>
              <a:rPr spc="50" dirty="0">
                <a:hlinkClick r:id="rId4"/>
              </a:rPr>
              <a:t>https://www.helpsystems.com/es/blog/siete-</a:t>
            </a:r>
            <a:r>
              <a:rPr spc="60" dirty="0">
                <a:hlinkClick r:id="rId4"/>
              </a:rPr>
              <a:t>robots-</a:t>
            </a:r>
            <a:r>
              <a:rPr dirty="0">
                <a:hlinkClick r:id="rId4"/>
              </a:rPr>
              <a:t>de-</a:t>
            </a:r>
            <a:r>
              <a:rPr spc="45" dirty="0">
                <a:hlinkClick r:id="rId4"/>
              </a:rPr>
              <a:t>software-</a:t>
            </a:r>
            <a:r>
              <a:rPr dirty="0">
                <a:hlinkClick r:id="rId4"/>
              </a:rPr>
              <a:t>que-</a:t>
            </a:r>
            <a:r>
              <a:rPr spc="50" dirty="0">
                <a:hlinkClick r:id="rId4"/>
              </a:rPr>
              <a:t>su-</a:t>
            </a:r>
            <a:r>
              <a:rPr dirty="0">
                <a:hlinkClick r:id="rId4"/>
              </a:rPr>
              <a:t>empresa-</a:t>
            </a:r>
            <a:r>
              <a:rPr spc="40" dirty="0">
                <a:hlinkClick r:id="rId4"/>
              </a:rPr>
              <a:t>necesita</a:t>
            </a:r>
          </a:p>
          <a:p>
            <a:pPr>
              <a:lnSpc>
                <a:spcPct val="100000"/>
              </a:lnSpc>
              <a:spcBef>
                <a:spcPts val="465"/>
              </a:spcBef>
              <a:buFont typeface="Arial MT"/>
              <a:buChar char="•"/>
            </a:pPr>
            <a:endParaRPr spc="40" dirty="0">
              <a:hlinkClick r:id="rId4"/>
            </a:endParaRPr>
          </a:p>
          <a:p>
            <a:pPr marL="356870" indent="-344170">
              <a:lnSpc>
                <a:spcPct val="100000"/>
              </a:lnSpc>
              <a:buChar char="•"/>
              <a:tabLst>
                <a:tab pos="356870" algn="l"/>
              </a:tabLst>
            </a:pPr>
            <a:r>
              <a:rPr u="none" spc="55" dirty="0">
                <a:solidFill>
                  <a:srgbClr val="000000"/>
                </a:solidFill>
              </a:rPr>
              <a:t>Documento</a:t>
            </a:r>
            <a:r>
              <a:rPr u="none" spc="135" dirty="0">
                <a:solidFill>
                  <a:srgbClr val="000000"/>
                </a:solidFill>
              </a:rPr>
              <a:t> </a:t>
            </a:r>
            <a:r>
              <a:rPr u="none" spc="75" dirty="0">
                <a:solidFill>
                  <a:srgbClr val="000000"/>
                </a:solidFill>
              </a:rPr>
              <a:t>incluido</a:t>
            </a:r>
            <a:r>
              <a:rPr u="none" spc="105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en</a:t>
            </a:r>
            <a:r>
              <a:rPr u="none" spc="165" dirty="0">
                <a:solidFill>
                  <a:srgbClr val="000000"/>
                </a:solidFill>
              </a:rPr>
              <a:t> </a:t>
            </a:r>
            <a:r>
              <a:rPr u="none" spc="50" dirty="0">
                <a:solidFill>
                  <a:srgbClr val="000000"/>
                </a:solidFill>
              </a:rPr>
              <a:t>la</a:t>
            </a:r>
            <a:r>
              <a:rPr u="none" spc="80" dirty="0">
                <a:solidFill>
                  <a:srgbClr val="000000"/>
                </a:solidFill>
              </a:rPr>
              <a:t> </a:t>
            </a:r>
            <a:r>
              <a:rPr u="none" spc="50" dirty="0">
                <a:solidFill>
                  <a:srgbClr val="000000"/>
                </a:solidFill>
              </a:rPr>
              <a:t>página</a:t>
            </a:r>
            <a:r>
              <a:rPr u="none" spc="55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del</a:t>
            </a:r>
            <a:r>
              <a:rPr u="none" spc="175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evento:</a:t>
            </a:r>
            <a:r>
              <a:rPr u="none" spc="90" dirty="0">
                <a:solidFill>
                  <a:srgbClr val="000000"/>
                </a:solidFill>
              </a:rPr>
              <a:t> </a:t>
            </a:r>
            <a:r>
              <a:rPr u="none" spc="55" dirty="0">
                <a:solidFill>
                  <a:srgbClr val="000000"/>
                </a:solidFill>
              </a:rPr>
              <a:t>Industria-</a:t>
            </a:r>
            <a:r>
              <a:rPr u="none" spc="-20" dirty="0">
                <a:solidFill>
                  <a:srgbClr val="000000"/>
                </a:solidFill>
              </a:rPr>
              <a:t>40-</a:t>
            </a:r>
            <a:r>
              <a:rPr u="none" spc="50" dirty="0">
                <a:solidFill>
                  <a:srgbClr val="000000"/>
                </a:solidFill>
              </a:rPr>
              <a:t>Fabricando-</a:t>
            </a:r>
            <a:r>
              <a:rPr u="none" dirty="0">
                <a:solidFill>
                  <a:srgbClr val="000000"/>
                </a:solidFill>
              </a:rPr>
              <a:t>el-</a:t>
            </a:r>
            <a:r>
              <a:rPr u="none" spc="50" dirty="0">
                <a:solidFill>
                  <a:srgbClr val="000000"/>
                </a:solidFill>
              </a:rPr>
              <a:t>Futuro.pdf</a:t>
            </a:r>
          </a:p>
          <a:p>
            <a:pPr>
              <a:lnSpc>
                <a:spcPct val="100000"/>
              </a:lnSpc>
              <a:spcBef>
                <a:spcPts val="459"/>
              </a:spcBef>
              <a:buFont typeface="Arial MT"/>
              <a:buChar char="•"/>
            </a:pPr>
            <a:endParaRPr u="none" spc="50" dirty="0">
              <a:solidFill>
                <a:srgbClr val="000000"/>
              </a:solidFill>
            </a:endParaRPr>
          </a:p>
          <a:p>
            <a:pPr marL="356870" indent="-344170">
              <a:lnSpc>
                <a:spcPct val="100000"/>
              </a:lnSpc>
              <a:spcBef>
                <a:spcPts val="5"/>
              </a:spcBef>
              <a:buChar char="•"/>
              <a:tabLst>
                <a:tab pos="356870" algn="l"/>
              </a:tabLst>
            </a:pPr>
            <a:r>
              <a:rPr u="none" spc="45" dirty="0">
                <a:solidFill>
                  <a:srgbClr val="000000"/>
                </a:solidFill>
              </a:rPr>
              <a:t>Presentación</a:t>
            </a:r>
            <a:r>
              <a:rPr u="none" spc="105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Foro</a:t>
            </a:r>
            <a:r>
              <a:rPr u="none" spc="110" dirty="0">
                <a:solidFill>
                  <a:srgbClr val="000000"/>
                </a:solidFill>
              </a:rPr>
              <a:t> </a:t>
            </a:r>
            <a:r>
              <a:rPr u="none" spc="55" dirty="0">
                <a:solidFill>
                  <a:srgbClr val="000000"/>
                </a:solidFill>
              </a:rPr>
              <a:t>fintech</a:t>
            </a:r>
            <a:r>
              <a:rPr u="none" spc="160" dirty="0">
                <a:solidFill>
                  <a:srgbClr val="000000"/>
                </a:solidFill>
              </a:rPr>
              <a:t> </a:t>
            </a:r>
            <a:r>
              <a:rPr u="none" spc="-20" dirty="0">
                <a:solidFill>
                  <a:srgbClr val="000000"/>
                </a:solidFill>
              </a:rPr>
              <a:t>2019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2A0F2D1-F4D0-F194-42DF-8FC1C0836B31}"/>
              </a:ext>
            </a:extLst>
          </p:cNvPr>
          <p:cNvSpPr/>
          <p:nvPr/>
        </p:nvSpPr>
        <p:spPr>
          <a:xfrm>
            <a:off x="76200" y="6248400"/>
            <a:ext cx="1981200" cy="4577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302747"/>
            <a:ext cx="678180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200" spc="-25" dirty="0">
                <a:solidFill>
                  <a:srgbClr val="FFFFFF"/>
                </a:solidFill>
                <a:latin typeface="Arial MT"/>
                <a:cs typeface="Arial MT"/>
              </a:rPr>
              <a:t>FIN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003985" y="2905550"/>
            <a:ext cx="164909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spc="60" dirty="0">
                <a:solidFill>
                  <a:srgbClr val="000000"/>
                </a:solidFill>
              </a:rPr>
              <a:t>Gracias</a:t>
            </a:r>
            <a:r>
              <a:rPr sz="2800" spc="120" dirty="0">
                <a:solidFill>
                  <a:srgbClr val="000000"/>
                </a:solidFill>
              </a:rPr>
              <a:t> </a:t>
            </a:r>
            <a:r>
              <a:rPr sz="2800" spc="50" dirty="0">
                <a:solidFill>
                  <a:srgbClr val="000000"/>
                </a:solidFill>
              </a:rPr>
              <a:t>!!</a:t>
            </a:r>
            <a:endParaRPr sz="2800"/>
          </a:p>
        </p:txBody>
      </p:sp>
      <p:sp>
        <p:nvSpPr>
          <p:cNvPr id="4" name="object 4"/>
          <p:cNvSpPr txBox="1"/>
          <p:nvPr/>
        </p:nvSpPr>
        <p:spPr>
          <a:xfrm>
            <a:off x="1319072" y="4441852"/>
            <a:ext cx="8983980" cy="14776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spc="-10" dirty="0">
                <a:latin typeface="Arial MT"/>
                <a:cs typeface="Arial MT"/>
              </a:rPr>
              <a:t>“</a:t>
            </a:r>
            <a:r>
              <a:rPr sz="2800" spc="-315" dirty="0">
                <a:latin typeface="Arial MT"/>
                <a:cs typeface="Arial MT"/>
              </a:rPr>
              <a:t> </a:t>
            </a:r>
            <a:r>
              <a:rPr sz="2800" spc="50" dirty="0">
                <a:latin typeface="Arial MT"/>
                <a:cs typeface="Arial MT"/>
              </a:rPr>
              <a:t>La</a:t>
            </a:r>
            <a:r>
              <a:rPr sz="2800" spc="30" dirty="0">
                <a:latin typeface="Arial MT"/>
                <a:cs typeface="Arial MT"/>
              </a:rPr>
              <a:t> </a:t>
            </a:r>
            <a:r>
              <a:rPr sz="2800" spc="90" dirty="0">
                <a:latin typeface="Arial MT"/>
                <a:cs typeface="Arial MT"/>
              </a:rPr>
              <a:t>inversión</a:t>
            </a:r>
            <a:r>
              <a:rPr sz="2800" spc="1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en</a:t>
            </a:r>
            <a:r>
              <a:rPr sz="2800" spc="185" dirty="0">
                <a:latin typeface="Arial MT"/>
                <a:cs typeface="Arial MT"/>
              </a:rPr>
              <a:t> </a:t>
            </a:r>
            <a:r>
              <a:rPr sz="2800" spc="120" dirty="0">
                <a:latin typeface="Arial MT"/>
                <a:cs typeface="Arial MT"/>
              </a:rPr>
              <a:t>conocimiento</a:t>
            </a:r>
            <a:r>
              <a:rPr sz="2800" spc="1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paga</a:t>
            </a:r>
            <a:r>
              <a:rPr sz="2800" spc="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el</a:t>
            </a:r>
            <a:r>
              <a:rPr sz="2800" spc="155" dirty="0">
                <a:latin typeface="Arial MT"/>
                <a:cs typeface="Arial MT"/>
              </a:rPr>
              <a:t> </a:t>
            </a:r>
            <a:r>
              <a:rPr sz="2800" spc="80" dirty="0">
                <a:latin typeface="Arial MT"/>
                <a:cs typeface="Arial MT"/>
              </a:rPr>
              <a:t>mejor</a:t>
            </a:r>
            <a:r>
              <a:rPr sz="2800" spc="155" dirty="0">
                <a:latin typeface="Arial MT"/>
                <a:cs typeface="Arial MT"/>
              </a:rPr>
              <a:t> </a:t>
            </a:r>
            <a:r>
              <a:rPr sz="2800" spc="75" dirty="0">
                <a:latin typeface="Arial MT"/>
                <a:cs typeface="Arial MT"/>
              </a:rPr>
              <a:t>interés”</a:t>
            </a:r>
            <a:endParaRPr sz="2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85"/>
              </a:spcBef>
            </a:pPr>
            <a:endParaRPr sz="2800" dirty="0">
              <a:latin typeface="Arial MT"/>
              <a:cs typeface="Arial MT"/>
            </a:endParaRPr>
          </a:p>
          <a:p>
            <a:pPr marL="134620" algn="ctr">
              <a:lnSpc>
                <a:spcPct val="100000"/>
              </a:lnSpc>
            </a:pPr>
            <a:r>
              <a:rPr sz="2800" spc="65" dirty="0">
                <a:latin typeface="Arial MT"/>
                <a:cs typeface="Arial MT"/>
              </a:rPr>
              <a:t>Benjamín</a:t>
            </a:r>
            <a:r>
              <a:rPr sz="2800" spc="140" dirty="0">
                <a:latin typeface="Arial MT"/>
                <a:cs typeface="Arial MT"/>
              </a:rPr>
              <a:t> </a:t>
            </a:r>
            <a:r>
              <a:rPr sz="2800" spc="75" dirty="0">
                <a:latin typeface="Arial MT"/>
                <a:cs typeface="Arial MT"/>
              </a:rPr>
              <a:t>Franklin</a:t>
            </a:r>
            <a:endParaRPr sz="2800" dirty="0">
              <a:latin typeface="Arial MT"/>
              <a:cs typeface="Arial MT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21E75AA-2DBA-B084-5820-6A1C916D5428}"/>
              </a:ext>
            </a:extLst>
          </p:cNvPr>
          <p:cNvSpPr/>
          <p:nvPr/>
        </p:nvSpPr>
        <p:spPr>
          <a:xfrm>
            <a:off x="76200" y="6248400"/>
            <a:ext cx="1981200" cy="4577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1787</Words>
  <Application>Microsoft Office PowerPoint</Application>
  <PresentationFormat>Panorámica</PresentationFormat>
  <Paragraphs>84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4" baseType="lpstr">
      <vt:lpstr>Arial</vt:lpstr>
      <vt:lpstr>Arial MT</vt:lpstr>
      <vt:lpstr>Calibri</vt:lpstr>
      <vt:lpstr>Office Theme</vt:lpstr>
      <vt:lpstr>Presentación de PowerPoint</vt:lpstr>
      <vt:lpstr>Introducción</vt:lpstr>
      <vt:lpstr>¿Qué es la industria 4.0?</vt:lpstr>
      <vt:lpstr>Componentes de la industria 4.0</vt:lpstr>
      <vt:lpstr>Robots autónomos</vt:lpstr>
      <vt:lpstr>Sistemas integrados</vt:lpstr>
      <vt:lpstr>Internet de las cosas</vt:lpstr>
      <vt:lpstr>Big data y analítica</vt:lpstr>
      <vt:lpstr>Realidad Aumentada (RA)</vt:lpstr>
      <vt:lpstr>Simulación 3D</vt:lpstr>
      <vt:lpstr>Fabricación aditiva</vt:lpstr>
      <vt:lpstr>La nube</vt:lpstr>
      <vt:lpstr>Ciberseguridad</vt:lpstr>
      <vt:lpstr>El camino a la industria 4.0</vt:lpstr>
      <vt:lpstr>Escasa mano de obra para industria 4.0</vt:lpstr>
      <vt:lpstr>¿Qué porcentaje de trabajos tienen alto riesgo de ser automatizados?</vt:lpstr>
      <vt:lpstr>Población Mundial</vt:lpstr>
      <vt:lpstr>"Salario universal", el proyecto donde los robots trabajan y los ciudadanos cobran</vt:lpstr>
      <vt:lpstr>Bibliografía</vt:lpstr>
      <vt:lpstr>Gracias 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ARNULFO PAZOS MONTAÑO</dc:creator>
  <cp:lastModifiedBy>JAIME ANTONIO HUAYTALLA PARIONA</cp:lastModifiedBy>
  <cp:revision>1</cp:revision>
  <dcterms:created xsi:type="dcterms:W3CDTF">2025-06-30T18:05:58Z</dcterms:created>
  <dcterms:modified xsi:type="dcterms:W3CDTF">2025-06-30T18:08:53Z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2019-11-11T00:00:00Z</vt:filetime>
  </property>
  <property fmtid="{D5CDD505-2E9C-101B-9397-08002B2CF9AE}" pid="3" name="Creator">
    <vt:lpwstr>Acrobat PDFMaker 15 for PowerPoint</vt:lpwstr>
  </property>
  <property fmtid="{D5CDD505-2E9C-101B-9397-08002B2CF9AE}" pid="4" name="LastSaved">
    <vt:filetime>2025-06-30T00:00:00Z</vt:filetime>
  </property>
  <property fmtid="{D5CDD505-2E9C-101B-9397-08002B2CF9AE}" pid="5" name="Producer">
    <vt:lpwstr>Adobe PDF Library 15.0</vt:lpwstr>
  </property>
</Properties>
</file>