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544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s-PE"/>
          </a:p>
        </p:txBody>
      </p:sp>
      <p:sp>
        <p:nvSpPr>
          <p:cNvPr id="3" name="Shape 1"/>
          <p:cNvSpPr/>
          <p:nvPr/>
        </p:nvSpPr>
        <p:spPr>
          <a:xfrm>
            <a:off x="0" y="0"/>
            <a:ext cx="14630400" cy="8229600"/>
          </a:xfrm>
          <a:prstGeom prst="rect">
            <a:avLst/>
          </a:prstGeom>
          <a:solidFill>
            <a:srgbClr val="FEF5E7"/>
          </a:solidFill>
          <a:ln/>
        </p:spPr>
        <p:txBody>
          <a:bodyPr/>
          <a:lstStyle/>
          <a:p>
            <a:pPr algn="just"/>
            <a:endParaRPr lang="es-PE" dirty="0"/>
          </a:p>
        </p:txBody>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1609368"/>
            <a:ext cx="7477601" cy="2705695"/>
          </a:xfrm>
          <a:prstGeom prst="rect">
            <a:avLst/>
          </a:prstGeom>
          <a:noFill/>
          <a:ln/>
        </p:spPr>
        <p:txBody>
          <a:bodyPr wrap="square" rtlCol="0" anchor="t"/>
          <a:lstStyle/>
          <a:p>
            <a:pPr marL="0" indent="0" algn="ctr">
              <a:lnSpc>
                <a:spcPts val="7101"/>
              </a:lnSpc>
              <a:buNone/>
            </a:pPr>
            <a:r>
              <a:rPr lang="en-US" sz="5681" dirty="0">
                <a:solidFill>
                  <a:srgbClr val="38512F"/>
                </a:solidFill>
                <a:latin typeface="Lora" pitchFamily="34" charset="0"/>
                <a:ea typeface="Lora" pitchFamily="34" charset="-122"/>
                <a:cs typeface="Lora" pitchFamily="34" charset="-120"/>
              </a:rPr>
              <a:t>Introducción a la realidad virtual y realidad aumentada</a:t>
            </a:r>
            <a:endParaRPr lang="en-US" sz="5681" dirty="0"/>
          </a:p>
        </p:txBody>
      </p:sp>
      <p:sp>
        <p:nvSpPr>
          <p:cNvPr id="6" name="Text 3"/>
          <p:cNvSpPr/>
          <p:nvPr/>
        </p:nvSpPr>
        <p:spPr>
          <a:xfrm>
            <a:off x="833199" y="4648319"/>
            <a:ext cx="7477601" cy="1333024"/>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Exploramos los conceptos clave de la realidad virtual (RV) y la realidad aumentada (RA), dos tecnologías revolucionarias que están transformando la forma en que interactuamos con el mundo digital. Descubriremos sus diferencias, similitudes y el impacto que están teniendo en diversos campos.</a:t>
            </a:r>
            <a:endParaRPr lang="en-US" sz="1750" dirty="0"/>
          </a:p>
        </p:txBody>
      </p:sp>
      <p:sp>
        <p:nvSpPr>
          <p:cNvPr id="7" name="Shape 4"/>
          <p:cNvSpPr/>
          <p:nvPr/>
        </p:nvSpPr>
        <p:spPr>
          <a:xfrm>
            <a:off x="833199" y="6247924"/>
            <a:ext cx="355402" cy="355402"/>
          </a:xfrm>
          <a:prstGeom prst="roundRect">
            <a:avLst>
              <a:gd name="adj" fmla="val 25726039"/>
            </a:avLst>
          </a:prstGeom>
          <a:noFill/>
          <a:ln w="7620">
            <a:solidFill>
              <a:srgbClr val="FFFFFF"/>
            </a:solidFill>
            <a:prstDash val="solid"/>
          </a:ln>
        </p:spPr>
        <p:txBody>
          <a:bodyPr/>
          <a:lstStyle/>
          <a:p>
            <a:endParaRPr lang="es-PE"/>
          </a:p>
        </p:txBody>
      </p:sp>
      <p:sp>
        <p:nvSpPr>
          <p:cNvPr id="9" name="Text 5"/>
          <p:cNvSpPr/>
          <p:nvPr/>
        </p:nvSpPr>
        <p:spPr>
          <a:xfrm>
            <a:off x="5610225" y="6923068"/>
            <a:ext cx="2878395" cy="388858"/>
          </a:xfrm>
          <a:prstGeom prst="rect">
            <a:avLst/>
          </a:prstGeom>
          <a:noFill/>
          <a:ln/>
        </p:spPr>
        <p:txBody>
          <a:bodyPr wrap="none" rtlCol="0" anchor="t"/>
          <a:lstStyle/>
          <a:p>
            <a:pPr marL="0" indent="0" algn="l">
              <a:lnSpc>
                <a:spcPts val="3062"/>
              </a:lnSpc>
              <a:buNone/>
            </a:pPr>
            <a:r>
              <a:rPr lang="en-US" sz="2187" b="1" dirty="0">
                <a:solidFill>
                  <a:srgbClr val="3A3630"/>
                </a:solidFill>
                <a:latin typeface="Source Sans Pro" pitchFamily="34" charset="0"/>
                <a:ea typeface="Source Sans Pro" pitchFamily="34" charset="-122"/>
                <a:cs typeface="Source Sans Pro" pitchFamily="34" charset="-120"/>
              </a:rPr>
              <a:t>Ing. Jaime Huaytalla</a:t>
            </a:r>
            <a:endParaRPr lang="en-US" sz="218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s-PE"/>
          </a:p>
        </p:txBody>
      </p:sp>
      <p:sp>
        <p:nvSpPr>
          <p:cNvPr id="3" name="Shape 1"/>
          <p:cNvSpPr/>
          <p:nvPr/>
        </p:nvSpPr>
        <p:spPr>
          <a:xfrm>
            <a:off x="0" y="0"/>
            <a:ext cx="14630400" cy="8229600"/>
          </a:xfrm>
          <a:prstGeom prst="rect">
            <a:avLst/>
          </a:prstGeom>
          <a:solidFill>
            <a:srgbClr val="FEF5E7"/>
          </a:solidFill>
          <a:ln/>
        </p:spPr>
        <p:txBody>
          <a:bodyPr/>
          <a:lstStyle/>
          <a:p>
            <a:endParaRPr lang="es-PE"/>
          </a:p>
        </p:txBody>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2954893"/>
            <a:ext cx="6505813" cy="653415"/>
          </a:xfrm>
          <a:prstGeom prst="rect">
            <a:avLst/>
          </a:prstGeom>
          <a:noFill/>
          <a:ln/>
        </p:spPr>
        <p:txBody>
          <a:bodyPr wrap="none" rtlCol="0" anchor="t"/>
          <a:lstStyle/>
          <a:p>
            <a:pPr marL="0" indent="0">
              <a:lnSpc>
                <a:spcPts val="5146"/>
              </a:lnSpc>
              <a:buNone/>
            </a:pPr>
            <a:r>
              <a:rPr lang="en-US" sz="4117" dirty="0">
                <a:solidFill>
                  <a:srgbClr val="38512F"/>
                </a:solidFill>
                <a:latin typeface="Lora" pitchFamily="34" charset="0"/>
                <a:ea typeface="Lora" pitchFamily="34" charset="-122"/>
                <a:cs typeface="Lora" pitchFamily="34" charset="-120"/>
              </a:rPr>
              <a:t>¿Qué es la realidad virtual?</a:t>
            </a:r>
            <a:endParaRPr lang="en-US" sz="4117" dirty="0"/>
          </a:p>
        </p:txBody>
      </p:sp>
      <p:sp>
        <p:nvSpPr>
          <p:cNvPr id="6" name="Text 3"/>
          <p:cNvSpPr/>
          <p:nvPr/>
        </p:nvSpPr>
        <p:spPr>
          <a:xfrm>
            <a:off x="833199" y="3941563"/>
            <a:ext cx="7477601" cy="2983111"/>
          </a:xfrm>
          <a:prstGeom prst="rect">
            <a:avLst/>
          </a:prstGeom>
          <a:noFill/>
          <a:ln/>
        </p:spPr>
        <p:txBody>
          <a:bodyPr wrap="square" rtlCol="0" anchor="t"/>
          <a:lstStyle/>
          <a:p>
            <a:pPr marL="0" indent="0" algn="just">
              <a:lnSpc>
                <a:spcPts val="2624"/>
              </a:lnSpc>
              <a:buNone/>
            </a:pPr>
            <a:r>
              <a:rPr lang="en-US" sz="2400" dirty="0">
                <a:solidFill>
                  <a:srgbClr val="3A3630"/>
                </a:solidFill>
                <a:latin typeface="Source Sans Pro" pitchFamily="34" charset="0"/>
                <a:ea typeface="Source Sans Pro" pitchFamily="34" charset="-122"/>
                <a:cs typeface="Source Sans Pro" pitchFamily="34" charset="-120"/>
              </a:rPr>
              <a:t>La realidad virtual (RV) es una tecnología que permite sumergirnos en entornos digitales tridimensionales generados por ordenador. Mediante dispositivos especiales como gafas y mandos, podemos interactuar e incluso manipular estos mundos virtuales de una manera inmersiva y realista.</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s-PE"/>
          </a:p>
        </p:txBody>
      </p:sp>
      <p:sp>
        <p:nvSpPr>
          <p:cNvPr id="3" name="Shape 1"/>
          <p:cNvSpPr/>
          <p:nvPr/>
        </p:nvSpPr>
        <p:spPr>
          <a:xfrm>
            <a:off x="0" y="0"/>
            <a:ext cx="14630400" cy="8229600"/>
          </a:xfrm>
          <a:prstGeom prst="rect">
            <a:avLst/>
          </a:prstGeom>
          <a:solidFill>
            <a:srgbClr val="FEF5E7"/>
          </a:solidFill>
          <a:ln/>
        </p:spPr>
        <p:txBody>
          <a:bodyPr/>
          <a:lstStyle/>
          <a:p>
            <a:endParaRPr lang="es-PE"/>
          </a:p>
        </p:txBody>
      </p:sp>
      <p:sp>
        <p:nvSpPr>
          <p:cNvPr id="4" name="Text 2"/>
          <p:cNvSpPr/>
          <p:nvPr/>
        </p:nvSpPr>
        <p:spPr>
          <a:xfrm>
            <a:off x="2348389" y="912733"/>
            <a:ext cx="7626191" cy="653415"/>
          </a:xfrm>
          <a:prstGeom prst="rect">
            <a:avLst/>
          </a:prstGeom>
          <a:noFill/>
          <a:ln/>
        </p:spPr>
        <p:txBody>
          <a:bodyPr wrap="none" rtlCol="0" anchor="t"/>
          <a:lstStyle/>
          <a:p>
            <a:pPr marL="0" indent="0">
              <a:lnSpc>
                <a:spcPts val="5146"/>
              </a:lnSpc>
              <a:buNone/>
            </a:pPr>
            <a:r>
              <a:rPr lang="en-US" sz="4117" dirty="0">
                <a:solidFill>
                  <a:srgbClr val="38512F"/>
                </a:solidFill>
                <a:latin typeface="Lora" pitchFamily="34" charset="0"/>
                <a:ea typeface="Lora" pitchFamily="34" charset="-122"/>
                <a:cs typeface="Lora" pitchFamily="34" charset="-120"/>
              </a:rPr>
              <a:t>¿Qué es la realidad aumentada?</a:t>
            </a:r>
            <a:endParaRPr lang="en-US" sz="4117" dirty="0"/>
          </a:p>
        </p:txBody>
      </p:sp>
      <p:pic>
        <p:nvPicPr>
          <p:cNvPr id="5" name="Image 0" descr="preencoded.png"/>
          <p:cNvPicPr>
            <a:picLocks noChangeAspect="1"/>
          </p:cNvPicPr>
          <p:nvPr/>
        </p:nvPicPr>
        <p:blipFill>
          <a:blip r:embed="rId3"/>
          <a:stretch>
            <a:fillRect/>
          </a:stretch>
        </p:blipFill>
        <p:spPr>
          <a:xfrm>
            <a:off x="2348389" y="2010489"/>
            <a:ext cx="3088958" cy="1909048"/>
          </a:xfrm>
          <a:prstGeom prst="rect">
            <a:avLst/>
          </a:prstGeom>
        </p:spPr>
      </p:pic>
      <p:sp>
        <p:nvSpPr>
          <p:cNvPr id="6" name="Text 3"/>
          <p:cNvSpPr/>
          <p:nvPr/>
        </p:nvSpPr>
        <p:spPr>
          <a:xfrm>
            <a:off x="2348389" y="4197191"/>
            <a:ext cx="3088958" cy="653653"/>
          </a:xfrm>
          <a:prstGeom prst="rect">
            <a:avLst/>
          </a:prstGeom>
          <a:noFill/>
          <a:ln/>
        </p:spPr>
        <p:txBody>
          <a:bodyPr wrap="square" rtlCol="0" anchor="t"/>
          <a:lstStyle/>
          <a:p>
            <a:pPr marL="0" indent="0" algn="l">
              <a:lnSpc>
                <a:spcPts val="2573"/>
              </a:lnSpc>
              <a:buNone/>
            </a:pPr>
            <a:r>
              <a:rPr lang="en-US" sz="2058" dirty="0">
                <a:solidFill>
                  <a:srgbClr val="38512F"/>
                </a:solidFill>
                <a:latin typeface="Lora" pitchFamily="34" charset="0"/>
                <a:ea typeface="Lora" pitchFamily="34" charset="-122"/>
                <a:cs typeface="Lora" pitchFamily="34" charset="-120"/>
              </a:rPr>
              <a:t>Integración digital con el mundo real</a:t>
            </a:r>
            <a:endParaRPr lang="en-US" sz="2058" dirty="0"/>
          </a:p>
        </p:txBody>
      </p:sp>
      <p:sp>
        <p:nvSpPr>
          <p:cNvPr id="7" name="Text 4"/>
          <p:cNvSpPr/>
          <p:nvPr/>
        </p:nvSpPr>
        <p:spPr>
          <a:xfrm>
            <a:off x="2348389" y="4984075"/>
            <a:ext cx="3088958" cy="2332792"/>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La realidad aumentada (RA) superpone elementos digitales, como información, gráficos o animaciones, sobre el mundo físico que nos rodea, creando una experiencia mixta entre lo real y lo virtual.</a:t>
            </a:r>
            <a:endParaRPr lang="en-US" sz="1750" dirty="0"/>
          </a:p>
        </p:txBody>
      </p:sp>
      <p:pic>
        <p:nvPicPr>
          <p:cNvPr id="8" name="Image 1" descr="preencoded.png"/>
          <p:cNvPicPr>
            <a:picLocks noChangeAspect="1"/>
          </p:cNvPicPr>
          <p:nvPr/>
        </p:nvPicPr>
        <p:blipFill>
          <a:blip r:embed="rId4"/>
          <a:stretch>
            <a:fillRect/>
          </a:stretch>
        </p:blipFill>
        <p:spPr>
          <a:xfrm>
            <a:off x="5770602" y="2010489"/>
            <a:ext cx="3088958" cy="1909048"/>
          </a:xfrm>
          <a:prstGeom prst="rect">
            <a:avLst/>
          </a:prstGeom>
        </p:spPr>
      </p:pic>
      <p:sp>
        <p:nvSpPr>
          <p:cNvPr id="9" name="Text 5"/>
          <p:cNvSpPr/>
          <p:nvPr/>
        </p:nvSpPr>
        <p:spPr>
          <a:xfrm>
            <a:off x="5770602" y="4197191"/>
            <a:ext cx="2898577" cy="326827"/>
          </a:xfrm>
          <a:prstGeom prst="rect">
            <a:avLst/>
          </a:prstGeom>
          <a:noFill/>
          <a:ln/>
        </p:spPr>
        <p:txBody>
          <a:bodyPr wrap="none" rtlCol="0" anchor="t"/>
          <a:lstStyle/>
          <a:p>
            <a:pPr marL="0" indent="0" algn="l">
              <a:lnSpc>
                <a:spcPts val="2573"/>
              </a:lnSpc>
              <a:buNone/>
            </a:pPr>
            <a:r>
              <a:rPr lang="en-US" sz="2058" dirty="0">
                <a:solidFill>
                  <a:srgbClr val="38512F"/>
                </a:solidFill>
                <a:latin typeface="Lora" pitchFamily="34" charset="0"/>
                <a:ea typeface="Lora" pitchFamily="34" charset="-122"/>
                <a:cs typeface="Lora" pitchFamily="34" charset="-120"/>
              </a:rPr>
              <a:t>Interacción enriquecida</a:t>
            </a:r>
            <a:endParaRPr lang="en-US" sz="2058" dirty="0"/>
          </a:p>
        </p:txBody>
      </p:sp>
      <p:sp>
        <p:nvSpPr>
          <p:cNvPr id="10" name="Text 6"/>
          <p:cNvSpPr/>
          <p:nvPr/>
        </p:nvSpPr>
        <p:spPr>
          <a:xfrm>
            <a:off x="5770602" y="4657249"/>
            <a:ext cx="3088958" cy="2332792"/>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A través de dispositivos como smartphones o gafas especiales, la RA permite a los usuarios interactuar y manipular estos elementos digitales en tiempo real, mejorando la experiencia del usuario.</a:t>
            </a:r>
            <a:endParaRPr lang="en-US" sz="1750" dirty="0"/>
          </a:p>
        </p:txBody>
      </p:sp>
      <p:pic>
        <p:nvPicPr>
          <p:cNvPr id="11" name="Image 2" descr="preencoded.png"/>
          <p:cNvPicPr>
            <a:picLocks noChangeAspect="1"/>
          </p:cNvPicPr>
          <p:nvPr/>
        </p:nvPicPr>
        <p:blipFill>
          <a:blip r:embed="rId5"/>
          <a:stretch>
            <a:fillRect/>
          </a:stretch>
        </p:blipFill>
        <p:spPr>
          <a:xfrm>
            <a:off x="9192816" y="2010489"/>
            <a:ext cx="3089077" cy="1909167"/>
          </a:xfrm>
          <a:prstGeom prst="rect">
            <a:avLst/>
          </a:prstGeom>
        </p:spPr>
      </p:pic>
      <p:sp>
        <p:nvSpPr>
          <p:cNvPr id="12" name="Text 7"/>
          <p:cNvSpPr/>
          <p:nvPr/>
        </p:nvSpPr>
        <p:spPr>
          <a:xfrm>
            <a:off x="9192816" y="4197310"/>
            <a:ext cx="2995851" cy="326827"/>
          </a:xfrm>
          <a:prstGeom prst="rect">
            <a:avLst/>
          </a:prstGeom>
          <a:noFill/>
          <a:ln/>
        </p:spPr>
        <p:txBody>
          <a:bodyPr wrap="none" rtlCol="0" anchor="t"/>
          <a:lstStyle/>
          <a:p>
            <a:pPr marL="0" indent="0" algn="l">
              <a:lnSpc>
                <a:spcPts val="2573"/>
              </a:lnSpc>
              <a:buNone/>
            </a:pPr>
            <a:r>
              <a:rPr lang="en-US" sz="2058" dirty="0">
                <a:solidFill>
                  <a:srgbClr val="38512F"/>
                </a:solidFill>
                <a:latin typeface="Lora" pitchFamily="34" charset="0"/>
                <a:ea typeface="Lora" pitchFamily="34" charset="-122"/>
                <a:cs typeface="Lora" pitchFamily="34" charset="-120"/>
              </a:rPr>
              <a:t>Información enriquecida</a:t>
            </a:r>
            <a:endParaRPr lang="en-US" sz="2058" dirty="0"/>
          </a:p>
        </p:txBody>
      </p:sp>
      <p:sp>
        <p:nvSpPr>
          <p:cNvPr id="13" name="Text 8"/>
          <p:cNvSpPr/>
          <p:nvPr/>
        </p:nvSpPr>
        <p:spPr>
          <a:xfrm>
            <a:off x="9192816" y="4657368"/>
            <a:ext cx="3089077" cy="2332792"/>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La RA también puede superponerse con información contextual, como datos, instrucciones o asistentes virtuales, que enriquecen y potencian la percepción del mundo físico.</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s-PE"/>
          </a:p>
        </p:txBody>
      </p:sp>
      <p:sp>
        <p:nvSpPr>
          <p:cNvPr id="3" name="Shape 1"/>
          <p:cNvSpPr/>
          <p:nvPr/>
        </p:nvSpPr>
        <p:spPr>
          <a:xfrm>
            <a:off x="0" y="0"/>
            <a:ext cx="14630400" cy="8229600"/>
          </a:xfrm>
          <a:prstGeom prst="rect">
            <a:avLst/>
          </a:prstGeom>
          <a:solidFill>
            <a:srgbClr val="FEF5E7"/>
          </a:solidFill>
          <a:ln/>
        </p:spPr>
        <p:txBody>
          <a:bodyPr/>
          <a:lstStyle/>
          <a:p>
            <a:endParaRPr lang="es-PE"/>
          </a:p>
        </p:txBody>
      </p:sp>
      <p:sp>
        <p:nvSpPr>
          <p:cNvPr id="4" name="Text 2"/>
          <p:cNvSpPr/>
          <p:nvPr/>
        </p:nvSpPr>
        <p:spPr>
          <a:xfrm>
            <a:off x="2348389" y="803077"/>
            <a:ext cx="9437251" cy="653415"/>
          </a:xfrm>
          <a:prstGeom prst="rect">
            <a:avLst/>
          </a:prstGeom>
          <a:noFill/>
          <a:ln/>
        </p:spPr>
        <p:txBody>
          <a:bodyPr wrap="none" rtlCol="0" anchor="t"/>
          <a:lstStyle/>
          <a:p>
            <a:pPr marL="0" indent="0">
              <a:lnSpc>
                <a:spcPts val="5146"/>
              </a:lnSpc>
              <a:buNone/>
            </a:pPr>
            <a:r>
              <a:rPr lang="en-US" sz="4117" dirty="0">
                <a:solidFill>
                  <a:srgbClr val="38512F"/>
                </a:solidFill>
                <a:latin typeface="Lora" pitchFamily="34" charset="0"/>
                <a:ea typeface="Lora" pitchFamily="34" charset="-122"/>
                <a:cs typeface="Lora" pitchFamily="34" charset="-120"/>
              </a:rPr>
              <a:t>Diferencias y similitudes entre RV y RA</a:t>
            </a:r>
            <a:endParaRPr lang="en-US" sz="4117" dirty="0"/>
          </a:p>
        </p:txBody>
      </p:sp>
      <p:sp>
        <p:nvSpPr>
          <p:cNvPr id="5" name="Text 3"/>
          <p:cNvSpPr/>
          <p:nvPr/>
        </p:nvSpPr>
        <p:spPr>
          <a:xfrm>
            <a:off x="1309985" y="2011918"/>
            <a:ext cx="2076807"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Diferencias</a:t>
            </a:r>
            <a:endParaRPr lang="en-US" sz="2058" dirty="0"/>
          </a:p>
        </p:txBody>
      </p:sp>
      <p:sp>
        <p:nvSpPr>
          <p:cNvPr id="6" name="Text 4"/>
          <p:cNvSpPr/>
          <p:nvPr/>
        </p:nvSpPr>
        <p:spPr>
          <a:xfrm>
            <a:off x="831116" y="2560915"/>
            <a:ext cx="3034546" cy="4665583"/>
          </a:xfrm>
          <a:prstGeom prst="rect">
            <a:avLst/>
          </a:prstGeom>
          <a:noFill/>
          <a:ln/>
        </p:spPr>
        <p:txBody>
          <a:bodyPr wrap="square" rtlCol="0" anchor="t"/>
          <a:lstStyle/>
          <a:p>
            <a:pPr marL="0" indent="0" algn="just">
              <a:lnSpc>
                <a:spcPts val="2624"/>
              </a:lnSpc>
              <a:buNone/>
            </a:pPr>
            <a:r>
              <a:rPr lang="en-US" dirty="0">
                <a:solidFill>
                  <a:srgbClr val="3A3630"/>
                </a:solidFill>
                <a:latin typeface="Source Sans Pro" pitchFamily="34" charset="0"/>
                <a:ea typeface="Source Sans Pro" pitchFamily="34" charset="-122"/>
                <a:cs typeface="Source Sans Pro" pitchFamily="34" charset="-120"/>
              </a:rPr>
              <a:t>La realidad virtual (RV) crea un mundo digital completamente inmersivo, aislando al usuario del mundo real. La realidad aumentada (RA), en cambio, superpone elementos digitales sobre el entorno físico, enriqueciendo la experiencia sin reemplazarlo.</a:t>
            </a:r>
            <a:endParaRPr lang="en-US" dirty="0"/>
          </a:p>
        </p:txBody>
      </p:sp>
      <p:sp>
        <p:nvSpPr>
          <p:cNvPr id="7" name="Text 5"/>
          <p:cNvSpPr/>
          <p:nvPr/>
        </p:nvSpPr>
        <p:spPr>
          <a:xfrm>
            <a:off x="4622363" y="2011917"/>
            <a:ext cx="2076807"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Dispositivos</a:t>
            </a:r>
            <a:endParaRPr lang="en-US" sz="2058" dirty="0"/>
          </a:p>
        </p:txBody>
      </p:sp>
      <p:sp>
        <p:nvSpPr>
          <p:cNvPr id="8" name="Text 6"/>
          <p:cNvSpPr/>
          <p:nvPr/>
        </p:nvSpPr>
        <p:spPr>
          <a:xfrm>
            <a:off x="4257676" y="2560915"/>
            <a:ext cx="2546270" cy="2999303"/>
          </a:xfrm>
          <a:prstGeom prst="rect">
            <a:avLst/>
          </a:prstGeom>
          <a:noFill/>
          <a:ln/>
        </p:spPr>
        <p:txBody>
          <a:bodyPr wrap="square" rtlCol="0" anchor="t"/>
          <a:lstStyle/>
          <a:p>
            <a:pPr marL="0" indent="0" algn="just">
              <a:lnSpc>
                <a:spcPts val="2624"/>
              </a:lnSpc>
              <a:buNone/>
            </a:pPr>
            <a:r>
              <a:rPr lang="en-US" dirty="0">
                <a:solidFill>
                  <a:srgbClr val="3A3630"/>
                </a:solidFill>
                <a:latin typeface="Source Sans Pro" pitchFamily="34" charset="0"/>
                <a:ea typeface="Source Sans Pro" pitchFamily="34" charset="-122"/>
                <a:cs typeface="Source Sans Pro" pitchFamily="34" charset="-120"/>
              </a:rPr>
              <a:t>La RV requiere gafas o cascos especiales que bloquean la visión del mundo real, mientras que la RA puede implementarse en dispositivos móviles como smartphones y tabletas.</a:t>
            </a:r>
            <a:endParaRPr lang="en-US" dirty="0"/>
          </a:p>
        </p:txBody>
      </p:sp>
      <p:sp>
        <p:nvSpPr>
          <p:cNvPr id="9" name="Text 7"/>
          <p:cNvSpPr/>
          <p:nvPr/>
        </p:nvSpPr>
        <p:spPr>
          <a:xfrm>
            <a:off x="7424975" y="2017037"/>
            <a:ext cx="2076807"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Interacción</a:t>
            </a:r>
            <a:endParaRPr lang="en-US" sz="2058" dirty="0"/>
          </a:p>
        </p:txBody>
      </p:sp>
      <p:sp>
        <p:nvSpPr>
          <p:cNvPr id="10" name="Text 8"/>
          <p:cNvSpPr/>
          <p:nvPr/>
        </p:nvSpPr>
        <p:spPr>
          <a:xfrm>
            <a:off x="7131726" y="2560915"/>
            <a:ext cx="2802849" cy="4332327"/>
          </a:xfrm>
          <a:prstGeom prst="rect">
            <a:avLst/>
          </a:prstGeom>
          <a:noFill/>
          <a:ln/>
        </p:spPr>
        <p:txBody>
          <a:bodyPr wrap="square" rtlCol="0" anchor="t"/>
          <a:lstStyle/>
          <a:p>
            <a:pPr marL="0" indent="0">
              <a:lnSpc>
                <a:spcPts val="2624"/>
              </a:lnSpc>
              <a:buNone/>
            </a:pPr>
            <a:r>
              <a:rPr lang="en-US" dirty="0">
                <a:solidFill>
                  <a:srgbClr val="3A3630"/>
                </a:solidFill>
                <a:latin typeface="Source Sans Pro" pitchFamily="34" charset="0"/>
                <a:ea typeface="Source Sans Pro" pitchFamily="34" charset="-122"/>
                <a:cs typeface="Source Sans Pro" pitchFamily="34" charset="-120"/>
              </a:rPr>
              <a:t>En la RV, el usuario interactúa con un mundo virtual a través de controles y gestos. En la RA, la interacción se da entre los elementos digitales y el entorno real, utilizando tecnologías como reconocimiento de gestos y seguimiento de movimiento.</a:t>
            </a:r>
            <a:endParaRPr lang="en-US" dirty="0"/>
          </a:p>
        </p:txBody>
      </p:sp>
      <p:sp>
        <p:nvSpPr>
          <p:cNvPr id="11" name="Text 9"/>
          <p:cNvSpPr/>
          <p:nvPr/>
        </p:nvSpPr>
        <p:spPr>
          <a:xfrm>
            <a:off x="10590608" y="2009654"/>
            <a:ext cx="2076807"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Similitudes</a:t>
            </a:r>
            <a:endParaRPr lang="en-US" sz="2058" dirty="0"/>
          </a:p>
        </p:txBody>
      </p:sp>
      <p:sp>
        <p:nvSpPr>
          <p:cNvPr id="12" name="Text 10"/>
          <p:cNvSpPr/>
          <p:nvPr/>
        </p:nvSpPr>
        <p:spPr>
          <a:xfrm>
            <a:off x="10227588" y="2560915"/>
            <a:ext cx="2802849" cy="4332327"/>
          </a:xfrm>
          <a:prstGeom prst="rect">
            <a:avLst/>
          </a:prstGeom>
          <a:noFill/>
          <a:ln/>
        </p:spPr>
        <p:txBody>
          <a:bodyPr wrap="square" rtlCol="0" anchor="t"/>
          <a:lstStyle/>
          <a:p>
            <a:pPr marL="0" indent="0" algn="just">
              <a:lnSpc>
                <a:spcPts val="2624"/>
              </a:lnSpc>
              <a:buNone/>
            </a:pPr>
            <a:r>
              <a:rPr lang="en-US" dirty="0">
                <a:solidFill>
                  <a:srgbClr val="3A3630"/>
                </a:solidFill>
                <a:latin typeface="Source Sans Pro" pitchFamily="34" charset="0"/>
                <a:ea typeface="Source Sans Pro" pitchFamily="34" charset="-122"/>
                <a:cs typeface="Source Sans Pro" pitchFamily="34" charset="-120"/>
              </a:rPr>
              <a:t>Ambas tecnologías buscan mejorar la experiencia del usuario al combinar lo digital con lo físico. Tanto la RV como la RA tienen el potencial de transformar la forma en que percibimos y interactuamos con el mundo que nos rodea.</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s-PE"/>
          </a:p>
        </p:txBody>
      </p:sp>
      <p:sp>
        <p:nvSpPr>
          <p:cNvPr id="3" name="Shape 1"/>
          <p:cNvSpPr/>
          <p:nvPr/>
        </p:nvSpPr>
        <p:spPr>
          <a:xfrm>
            <a:off x="0" y="0"/>
            <a:ext cx="14630400" cy="8229600"/>
          </a:xfrm>
          <a:prstGeom prst="rect">
            <a:avLst/>
          </a:prstGeom>
          <a:solidFill>
            <a:srgbClr val="FEF5E7"/>
          </a:solidFill>
          <a:ln/>
        </p:spPr>
        <p:txBody>
          <a:bodyPr/>
          <a:lstStyle/>
          <a:p>
            <a:endParaRPr lang="es-PE"/>
          </a:p>
        </p:txBody>
      </p:sp>
      <p:sp>
        <p:nvSpPr>
          <p:cNvPr id="4" name="Text 2"/>
          <p:cNvSpPr/>
          <p:nvPr/>
        </p:nvSpPr>
        <p:spPr>
          <a:xfrm>
            <a:off x="2348389" y="1322070"/>
            <a:ext cx="8133278" cy="653415"/>
          </a:xfrm>
          <a:prstGeom prst="rect">
            <a:avLst/>
          </a:prstGeom>
          <a:noFill/>
          <a:ln/>
        </p:spPr>
        <p:txBody>
          <a:bodyPr wrap="none" rtlCol="0" anchor="t"/>
          <a:lstStyle/>
          <a:p>
            <a:pPr marL="0" indent="0">
              <a:lnSpc>
                <a:spcPts val="5146"/>
              </a:lnSpc>
              <a:buNone/>
            </a:pPr>
            <a:r>
              <a:rPr lang="en-US" sz="4117" dirty="0">
                <a:solidFill>
                  <a:srgbClr val="38512F"/>
                </a:solidFill>
                <a:latin typeface="Lora" pitchFamily="34" charset="0"/>
                <a:ea typeface="Lora" pitchFamily="34" charset="-122"/>
                <a:cs typeface="Lora" pitchFamily="34" charset="-120"/>
              </a:rPr>
              <a:t>Aplicaciones de la realidad virtual</a:t>
            </a:r>
            <a:endParaRPr lang="en-US" sz="4117" dirty="0"/>
          </a:p>
        </p:txBody>
      </p:sp>
      <p:sp>
        <p:nvSpPr>
          <p:cNvPr id="5" name="Text 3"/>
          <p:cNvSpPr/>
          <p:nvPr/>
        </p:nvSpPr>
        <p:spPr>
          <a:xfrm>
            <a:off x="1157763" y="2367259"/>
            <a:ext cx="5728811" cy="1999536"/>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La realidad virtual encuentra numerosas aplicaciones en diversos sectores, transformando la forma en que experimentamos el mundo digital. Desde el entretenimiento y los videojuegos hasta la formación médica y la arquitectura, la RV ofrece un nivel de inmersión y realismo sin precedentes.</a:t>
            </a:r>
            <a:endParaRPr lang="en-US" sz="1750" dirty="0"/>
          </a:p>
        </p:txBody>
      </p:sp>
      <p:sp>
        <p:nvSpPr>
          <p:cNvPr id="6" name="Text 4"/>
          <p:cNvSpPr/>
          <p:nvPr/>
        </p:nvSpPr>
        <p:spPr>
          <a:xfrm>
            <a:off x="1157763" y="4720351"/>
            <a:ext cx="5728810" cy="1999536"/>
          </a:xfrm>
          <a:prstGeom prst="rect">
            <a:avLst/>
          </a:prstGeom>
          <a:noFill/>
          <a:ln/>
        </p:spPr>
        <p:txBody>
          <a:bodyPr wrap="square" rtlCol="0" anchor="t"/>
          <a:lstStyle/>
          <a:p>
            <a:pPr marL="0" indent="0" algn="just">
              <a:lnSpc>
                <a:spcPts val="2624"/>
              </a:lnSpc>
              <a:buNone/>
            </a:pPr>
            <a:r>
              <a:rPr lang="en-US" dirty="0">
                <a:solidFill>
                  <a:srgbClr val="3A3630"/>
                </a:solidFill>
                <a:latin typeface="Source Sans Pro" pitchFamily="34" charset="0"/>
                <a:ea typeface="Source Sans Pro" pitchFamily="34" charset="-122"/>
                <a:cs typeface="Source Sans Pro" pitchFamily="34" charset="-120"/>
              </a:rPr>
              <a:t>Algunas de las principales aplicaciones incluyen la recreación de escenarios de entrenamiento para profesionales, la visualización de diseños de productos y espacios arquitectónicos, y la creación de experiencias cinematográficas y de gaming verdaderamente inmersivas.</a:t>
            </a:r>
            <a:endParaRPr lang="en-US" dirty="0"/>
          </a:p>
        </p:txBody>
      </p:sp>
      <p:pic>
        <p:nvPicPr>
          <p:cNvPr id="7" name="Image 0" descr="preencoded.png"/>
          <p:cNvPicPr>
            <a:picLocks noChangeAspect="1"/>
          </p:cNvPicPr>
          <p:nvPr/>
        </p:nvPicPr>
        <p:blipFill>
          <a:blip r:embed="rId3"/>
          <a:stretch>
            <a:fillRect/>
          </a:stretch>
        </p:blipFill>
        <p:spPr>
          <a:xfrm>
            <a:off x="7593687" y="2558653"/>
            <a:ext cx="5541288" cy="37913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s-PE"/>
          </a:p>
        </p:txBody>
      </p:sp>
      <p:sp>
        <p:nvSpPr>
          <p:cNvPr id="3" name="Shape 1"/>
          <p:cNvSpPr/>
          <p:nvPr/>
        </p:nvSpPr>
        <p:spPr>
          <a:xfrm>
            <a:off x="0" y="0"/>
            <a:ext cx="14630400" cy="8229600"/>
          </a:xfrm>
          <a:prstGeom prst="rect">
            <a:avLst/>
          </a:prstGeom>
          <a:solidFill>
            <a:srgbClr val="FEF5E7"/>
          </a:solidFill>
          <a:ln/>
        </p:spPr>
        <p:txBody>
          <a:bodyPr/>
          <a:lstStyle/>
          <a:p>
            <a:pPr algn="just"/>
            <a:endParaRPr lang="es-PE" dirty="0"/>
          </a:p>
        </p:txBody>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2461617"/>
            <a:ext cx="7477601" cy="1306830"/>
          </a:xfrm>
          <a:prstGeom prst="rect">
            <a:avLst/>
          </a:prstGeom>
          <a:noFill/>
          <a:ln/>
        </p:spPr>
        <p:txBody>
          <a:bodyPr wrap="square" rtlCol="0" anchor="t"/>
          <a:lstStyle/>
          <a:p>
            <a:pPr marL="0" indent="0">
              <a:lnSpc>
                <a:spcPts val="5146"/>
              </a:lnSpc>
              <a:buNone/>
            </a:pPr>
            <a:r>
              <a:rPr lang="en-US" sz="4117" dirty="0">
                <a:solidFill>
                  <a:srgbClr val="38512F"/>
                </a:solidFill>
                <a:latin typeface="Lora" pitchFamily="34" charset="0"/>
                <a:ea typeface="Lora" pitchFamily="34" charset="-122"/>
                <a:cs typeface="Lora" pitchFamily="34" charset="-120"/>
              </a:rPr>
              <a:t>Aplicaciones de la realidad aumentada</a:t>
            </a:r>
            <a:endParaRPr lang="en-US" sz="4117" dirty="0"/>
          </a:p>
        </p:txBody>
      </p:sp>
      <p:sp>
        <p:nvSpPr>
          <p:cNvPr id="6" name="Text 3"/>
          <p:cNvSpPr/>
          <p:nvPr/>
        </p:nvSpPr>
        <p:spPr>
          <a:xfrm>
            <a:off x="833199" y="4101703"/>
            <a:ext cx="7477601" cy="2937272"/>
          </a:xfrm>
          <a:prstGeom prst="rect">
            <a:avLst/>
          </a:prstGeom>
          <a:noFill/>
          <a:ln/>
        </p:spPr>
        <p:txBody>
          <a:bodyPr wrap="square" rtlCol="0" anchor="t"/>
          <a:lstStyle/>
          <a:p>
            <a:pPr marL="0" indent="0" algn="just">
              <a:lnSpc>
                <a:spcPct val="150000"/>
              </a:lnSpc>
              <a:buNone/>
            </a:pPr>
            <a:r>
              <a:rPr lang="en-US" sz="2200" dirty="0">
                <a:solidFill>
                  <a:srgbClr val="3A3630"/>
                </a:solidFill>
                <a:latin typeface="Source Sans Pro" pitchFamily="34" charset="0"/>
                <a:ea typeface="Source Sans Pro" pitchFamily="34" charset="-122"/>
                <a:cs typeface="Source Sans Pro" pitchFamily="34" charset="-120"/>
              </a:rPr>
              <a:t>La realidad aumentada (RA) encuentra una amplia gama de aplicaciones innovadoras en diversos sectores, desde la educación y el comercio minorista hasta la industria y la medicina. Permite a los usuarios enriquecer su experiencia del mundo físico con información digital, mejorando la toma de decisiones y la interacción con el entorno.</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s-PE"/>
          </a:p>
        </p:txBody>
      </p:sp>
      <p:sp>
        <p:nvSpPr>
          <p:cNvPr id="3" name="Shape 1"/>
          <p:cNvSpPr/>
          <p:nvPr/>
        </p:nvSpPr>
        <p:spPr>
          <a:xfrm>
            <a:off x="0" y="0"/>
            <a:ext cx="14630400" cy="8229600"/>
          </a:xfrm>
          <a:prstGeom prst="rect">
            <a:avLst/>
          </a:prstGeom>
          <a:solidFill>
            <a:srgbClr val="FEF5E7"/>
          </a:solidFill>
          <a:ln/>
        </p:spPr>
        <p:txBody>
          <a:bodyPr/>
          <a:lstStyle/>
          <a:p>
            <a:endParaRPr lang="es-PE"/>
          </a:p>
        </p:txBody>
      </p:sp>
      <p:sp>
        <p:nvSpPr>
          <p:cNvPr id="4" name="Text 2"/>
          <p:cNvSpPr/>
          <p:nvPr/>
        </p:nvSpPr>
        <p:spPr>
          <a:xfrm>
            <a:off x="3428167" y="479227"/>
            <a:ext cx="6257211" cy="511493"/>
          </a:xfrm>
          <a:prstGeom prst="rect">
            <a:avLst/>
          </a:prstGeom>
          <a:noFill/>
          <a:ln/>
        </p:spPr>
        <p:txBody>
          <a:bodyPr wrap="none" rtlCol="0" anchor="t"/>
          <a:lstStyle/>
          <a:p>
            <a:pPr marL="0" indent="0">
              <a:lnSpc>
                <a:spcPts val="4027"/>
              </a:lnSpc>
              <a:buNone/>
            </a:pPr>
            <a:r>
              <a:rPr lang="en-US" sz="3222" dirty="0">
                <a:solidFill>
                  <a:srgbClr val="38512F"/>
                </a:solidFill>
                <a:latin typeface="Lora" pitchFamily="34" charset="0"/>
                <a:ea typeface="Lora" pitchFamily="34" charset="-122"/>
                <a:cs typeface="Lora" pitchFamily="34" charset="-120"/>
              </a:rPr>
              <a:t>Tendencias y avances en RV y RA</a:t>
            </a:r>
            <a:endParaRPr lang="en-US" sz="3222" dirty="0"/>
          </a:p>
        </p:txBody>
      </p:sp>
      <p:sp>
        <p:nvSpPr>
          <p:cNvPr id="5" name="Shape 3"/>
          <p:cNvSpPr/>
          <p:nvPr/>
        </p:nvSpPr>
        <p:spPr>
          <a:xfrm>
            <a:off x="3428167" y="1338501"/>
            <a:ext cx="971669" cy="1229320"/>
          </a:xfrm>
          <a:prstGeom prst="roundRect">
            <a:avLst>
              <a:gd name="adj" fmla="val 5369"/>
            </a:avLst>
          </a:prstGeom>
          <a:solidFill>
            <a:srgbClr val="F6E9D5"/>
          </a:solidFill>
          <a:ln/>
        </p:spPr>
        <p:txBody>
          <a:bodyPr/>
          <a:lstStyle/>
          <a:p>
            <a:endParaRPr lang="es-PE"/>
          </a:p>
        </p:txBody>
      </p:sp>
      <p:sp>
        <p:nvSpPr>
          <p:cNvPr id="6" name="Text 4"/>
          <p:cNvSpPr/>
          <p:nvPr/>
        </p:nvSpPr>
        <p:spPr>
          <a:xfrm>
            <a:off x="3601998" y="1790105"/>
            <a:ext cx="79177" cy="326112"/>
          </a:xfrm>
          <a:prstGeom prst="rect">
            <a:avLst/>
          </a:prstGeom>
          <a:noFill/>
          <a:ln/>
        </p:spPr>
        <p:txBody>
          <a:bodyPr wrap="none" rtlCol="0" anchor="t"/>
          <a:lstStyle/>
          <a:p>
            <a:pPr marL="0" indent="0" algn="ctr">
              <a:lnSpc>
                <a:spcPts val="2567"/>
              </a:lnSpc>
              <a:buNone/>
            </a:pPr>
            <a:r>
              <a:rPr lang="en-US" sz="1712" dirty="0">
                <a:solidFill>
                  <a:srgbClr val="38512F"/>
                </a:solidFill>
                <a:latin typeface="Lora" pitchFamily="34" charset="0"/>
                <a:ea typeface="Lora" pitchFamily="34" charset="-122"/>
                <a:cs typeface="Lora" pitchFamily="34" charset="-120"/>
              </a:rPr>
              <a:t>1</a:t>
            </a:r>
            <a:endParaRPr lang="en-US" sz="1712" dirty="0"/>
          </a:p>
        </p:txBody>
      </p:sp>
      <p:sp>
        <p:nvSpPr>
          <p:cNvPr id="7" name="Text 5"/>
          <p:cNvSpPr/>
          <p:nvPr/>
        </p:nvSpPr>
        <p:spPr>
          <a:xfrm>
            <a:off x="4573667" y="1512332"/>
            <a:ext cx="3265408" cy="255627"/>
          </a:xfrm>
          <a:prstGeom prst="rect">
            <a:avLst/>
          </a:prstGeom>
          <a:noFill/>
          <a:ln/>
        </p:spPr>
        <p:txBody>
          <a:bodyPr wrap="none" rtlCol="0" anchor="t"/>
          <a:lstStyle/>
          <a:p>
            <a:pPr marL="0" indent="0" algn="l">
              <a:lnSpc>
                <a:spcPts val="2014"/>
              </a:lnSpc>
              <a:buNone/>
            </a:pPr>
            <a:r>
              <a:rPr lang="en-US" sz="1611" dirty="0">
                <a:solidFill>
                  <a:srgbClr val="38512F"/>
                </a:solidFill>
                <a:latin typeface="Lora" pitchFamily="34" charset="0"/>
                <a:ea typeface="Lora" pitchFamily="34" charset="-122"/>
                <a:cs typeface="Lora" pitchFamily="34" charset="-120"/>
              </a:rPr>
              <a:t>Tecnología cada vez más accesible</a:t>
            </a:r>
            <a:endParaRPr lang="en-US" sz="1611" dirty="0"/>
          </a:p>
        </p:txBody>
      </p:sp>
      <p:sp>
        <p:nvSpPr>
          <p:cNvPr id="8" name="Text 6"/>
          <p:cNvSpPr/>
          <p:nvPr/>
        </p:nvSpPr>
        <p:spPr>
          <a:xfrm>
            <a:off x="4573667" y="1872258"/>
            <a:ext cx="6454735" cy="521732"/>
          </a:xfrm>
          <a:prstGeom prst="rect">
            <a:avLst/>
          </a:prstGeom>
          <a:noFill/>
          <a:ln/>
        </p:spPr>
        <p:txBody>
          <a:bodyPr wrap="square" rtlCol="0" anchor="t"/>
          <a:lstStyle/>
          <a:p>
            <a:pPr marL="0" indent="0" algn="just">
              <a:lnSpc>
                <a:spcPts val="2054"/>
              </a:lnSpc>
              <a:buNone/>
            </a:pPr>
            <a:r>
              <a:rPr lang="en-US" sz="1600" dirty="0">
                <a:solidFill>
                  <a:srgbClr val="3A3630"/>
                </a:solidFill>
                <a:latin typeface="Source Sans Pro" pitchFamily="34" charset="0"/>
                <a:ea typeface="Source Sans Pro" pitchFamily="34" charset="-122"/>
                <a:cs typeface="Source Sans Pro" pitchFamily="34" charset="-120"/>
              </a:rPr>
              <a:t>Los dispositivos de realidad virtual y aumentada se vuelven más asequibles y fáciles de usar.</a:t>
            </a:r>
            <a:endParaRPr lang="en-US" sz="1600" dirty="0"/>
          </a:p>
        </p:txBody>
      </p:sp>
      <p:sp>
        <p:nvSpPr>
          <p:cNvPr id="9" name="Shape 7"/>
          <p:cNvSpPr/>
          <p:nvPr/>
        </p:nvSpPr>
        <p:spPr>
          <a:xfrm>
            <a:off x="4486751" y="2559189"/>
            <a:ext cx="6628567" cy="10835"/>
          </a:xfrm>
          <a:prstGeom prst="rect">
            <a:avLst/>
          </a:prstGeom>
          <a:solidFill>
            <a:srgbClr val="38512F"/>
          </a:solidFill>
          <a:ln/>
        </p:spPr>
        <p:txBody>
          <a:bodyPr/>
          <a:lstStyle/>
          <a:p>
            <a:endParaRPr lang="es-PE"/>
          </a:p>
        </p:txBody>
      </p:sp>
      <p:sp>
        <p:nvSpPr>
          <p:cNvPr id="10" name="Shape 8"/>
          <p:cNvSpPr/>
          <p:nvPr/>
        </p:nvSpPr>
        <p:spPr>
          <a:xfrm>
            <a:off x="3428167" y="2654737"/>
            <a:ext cx="1943457" cy="1229320"/>
          </a:xfrm>
          <a:prstGeom prst="roundRect">
            <a:avLst>
              <a:gd name="adj" fmla="val 4244"/>
            </a:avLst>
          </a:prstGeom>
          <a:solidFill>
            <a:srgbClr val="F6E9D5"/>
          </a:solidFill>
          <a:ln/>
        </p:spPr>
        <p:txBody>
          <a:bodyPr/>
          <a:lstStyle/>
          <a:p>
            <a:endParaRPr lang="es-PE"/>
          </a:p>
        </p:txBody>
      </p:sp>
      <p:sp>
        <p:nvSpPr>
          <p:cNvPr id="11" name="Text 9"/>
          <p:cNvSpPr/>
          <p:nvPr/>
        </p:nvSpPr>
        <p:spPr>
          <a:xfrm>
            <a:off x="3601998" y="3106341"/>
            <a:ext cx="116800" cy="326112"/>
          </a:xfrm>
          <a:prstGeom prst="rect">
            <a:avLst/>
          </a:prstGeom>
          <a:noFill/>
          <a:ln/>
        </p:spPr>
        <p:txBody>
          <a:bodyPr wrap="none" rtlCol="0" anchor="t"/>
          <a:lstStyle/>
          <a:p>
            <a:pPr marL="0" indent="0" algn="ctr">
              <a:lnSpc>
                <a:spcPts val="2567"/>
              </a:lnSpc>
              <a:buNone/>
            </a:pPr>
            <a:r>
              <a:rPr lang="en-US" sz="1712" dirty="0">
                <a:solidFill>
                  <a:srgbClr val="38512F"/>
                </a:solidFill>
                <a:latin typeface="Lora" pitchFamily="34" charset="0"/>
                <a:ea typeface="Lora" pitchFamily="34" charset="-122"/>
                <a:cs typeface="Lora" pitchFamily="34" charset="-120"/>
              </a:rPr>
              <a:t>2</a:t>
            </a:r>
            <a:endParaRPr lang="en-US" sz="1712" dirty="0"/>
          </a:p>
        </p:txBody>
      </p:sp>
      <p:sp>
        <p:nvSpPr>
          <p:cNvPr id="12" name="Text 10"/>
          <p:cNvSpPr/>
          <p:nvPr/>
        </p:nvSpPr>
        <p:spPr>
          <a:xfrm>
            <a:off x="5545455" y="2828568"/>
            <a:ext cx="2232422" cy="255627"/>
          </a:xfrm>
          <a:prstGeom prst="rect">
            <a:avLst/>
          </a:prstGeom>
          <a:noFill/>
          <a:ln/>
        </p:spPr>
        <p:txBody>
          <a:bodyPr wrap="none" rtlCol="0" anchor="t"/>
          <a:lstStyle/>
          <a:p>
            <a:pPr marL="0" indent="0" algn="l">
              <a:lnSpc>
                <a:spcPts val="2014"/>
              </a:lnSpc>
              <a:buNone/>
            </a:pPr>
            <a:r>
              <a:rPr lang="en-US" sz="1611" dirty="0">
                <a:solidFill>
                  <a:srgbClr val="38512F"/>
                </a:solidFill>
                <a:latin typeface="Lora" pitchFamily="34" charset="0"/>
                <a:ea typeface="Lora" pitchFamily="34" charset="-122"/>
                <a:cs typeface="Lora" pitchFamily="34" charset="-120"/>
              </a:rPr>
              <a:t>Integración con IA y 5G</a:t>
            </a:r>
            <a:endParaRPr lang="en-US" sz="1611" dirty="0"/>
          </a:p>
        </p:txBody>
      </p:sp>
      <p:sp>
        <p:nvSpPr>
          <p:cNvPr id="13" name="Text 11"/>
          <p:cNvSpPr/>
          <p:nvPr/>
        </p:nvSpPr>
        <p:spPr>
          <a:xfrm>
            <a:off x="5545455" y="3188494"/>
            <a:ext cx="5482947" cy="521732"/>
          </a:xfrm>
          <a:prstGeom prst="rect">
            <a:avLst/>
          </a:prstGeom>
          <a:noFill/>
          <a:ln/>
        </p:spPr>
        <p:txBody>
          <a:bodyPr wrap="square" rtlCol="0" anchor="t"/>
          <a:lstStyle/>
          <a:p>
            <a:pPr marL="0" indent="0" algn="just">
              <a:lnSpc>
                <a:spcPts val="2054"/>
              </a:lnSpc>
              <a:buNone/>
            </a:pPr>
            <a:r>
              <a:rPr lang="en-US" sz="1600" dirty="0">
                <a:solidFill>
                  <a:srgbClr val="3A3630"/>
                </a:solidFill>
                <a:latin typeface="Source Sans Pro" pitchFamily="34" charset="0"/>
                <a:ea typeface="Source Sans Pro" pitchFamily="34" charset="-122"/>
                <a:cs typeface="Source Sans Pro" pitchFamily="34" charset="-120"/>
              </a:rPr>
              <a:t>La combinación de IA y 5G impulsa experiencias RV/RA más inteligentes y fluidas.</a:t>
            </a:r>
            <a:endParaRPr lang="en-US" sz="1600" dirty="0"/>
          </a:p>
        </p:txBody>
      </p:sp>
      <p:sp>
        <p:nvSpPr>
          <p:cNvPr id="14" name="Shape 12"/>
          <p:cNvSpPr/>
          <p:nvPr/>
        </p:nvSpPr>
        <p:spPr>
          <a:xfrm>
            <a:off x="5458539" y="3875425"/>
            <a:ext cx="5656778" cy="10835"/>
          </a:xfrm>
          <a:prstGeom prst="rect">
            <a:avLst/>
          </a:prstGeom>
          <a:solidFill>
            <a:srgbClr val="38512F"/>
          </a:solidFill>
          <a:ln/>
        </p:spPr>
        <p:txBody>
          <a:bodyPr/>
          <a:lstStyle/>
          <a:p>
            <a:endParaRPr lang="es-PE"/>
          </a:p>
        </p:txBody>
      </p:sp>
      <p:sp>
        <p:nvSpPr>
          <p:cNvPr id="15" name="Shape 13"/>
          <p:cNvSpPr/>
          <p:nvPr/>
        </p:nvSpPr>
        <p:spPr>
          <a:xfrm>
            <a:off x="3428167" y="3970973"/>
            <a:ext cx="2915245" cy="1229320"/>
          </a:xfrm>
          <a:prstGeom prst="roundRect">
            <a:avLst>
              <a:gd name="adj" fmla="val 4244"/>
            </a:avLst>
          </a:prstGeom>
          <a:solidFill>
            <a:srgbClr val="F6E9D5"/>
          </a:solidFill>
          <a:ln/>
        </p:spPr>
        <p:txBody>
          <a:bodyPr/>
          <a:lstStyle/>
          <a:p>
            <a:endParaRPr lang="es-PE"/>
          </a:p>
        </p:txBody>
      </p:sp>
      <p:sp>
        <p:nvSpPr>
          <p:cNvPr id="16" name="Text 14"/>
          <p:cNvSpPr/>
          <p:nvPr/>
        </p:nvSpPr>
        <p:spPr>
          <a:xfrm>
            <a:off x="3601998" y="4422577"/>
            <a:ext cx="121087" cy="326112"/>
          </a:xfrm>
          <a:prstGeom prst="rect">
            <a:avLst/>
          </a:prstGeom>
          <a:noFill/>
          <a:ln/>
        </p:spPr>
        <p:txBody>
          <a:bodyPr wrap="none" rtlCol="0" anchor="t"/>
          <a:lstStyle/>
          <a:p>
            <a:pPr marL="0" indent="0" algn="ctr">
              <a:lnSpc>
                <a:spcPts val="2567"/>
              </a:lnSpc>
              <a:buNone/>
            </a:pPr>
            <a:r>
              <a:rPr lang="en-US" sz="1712" dirty="0">
                <a:solidFill>
                  <a:srgbClr val="38512F"/>
                </a:solidFill>
                <a:latin typeface="Lora" pitchFamily="34" charset="0"/>
                <a:ea typeface="Lora" pitchFamily="34" charset="-122"/>
                <a:cs typeface="Lora" pitchFamily="34" charset="-120"/>
              </a:rPr>
              <a:t>3</a:t>
            </a:r>
            <a:endParaRPr lang="en-US" sz="1712" dirty="0"/>
          </a:p>
        </p:txBody>
      </p:sp>
      <p:sp>
        <p:nvSpPr>
          <p:cNvPr id="17" name="Text 15"/>
          <p:cNvSpPr/>
          <p:nvPr/>
        </p:nvSpPr>
        <p:spPr>
          <a:xfrm>
            <a:off x="6517243" y="4144804"/>
            <a:ext cx="3596997" cy="255627"/>
          </a:xfrm>
          <a:prstGeom prst="rect">
            <a:avLst/>
          </a:prstGeom>
          <a:noFill/>
          <a:ln/>
        </p:spPr>
        <p:txBody>
          <a:bodyPr wrap="none" rtlCol="0" anchor="t"/>
          <a:lstStyle/>
          <a:p>
            <a:pPr marL="0" indent="0" algn="l">
              <a:lnSpc>
                <a:spcPts val="2014"/>
              </a:lnSpc>
              <a:buNone/>
            </a:pPr>
            <a:r>
              <a:rPr lang="en-US" sz="1611" dirty="0">
                <a:solidFill>
                  <a:srgbClr val="38512F"/>
                </a:solidFill>
                <a:latin typeface="Lora" pitchFamily="34" charset="0"/>
                <a:ea typeface="Lora" pitchFamily="34" charset="-122"/>
                <a:cs typeface="Lora" pitchFamily="34" charset="-120"/>
              </a:rPr>
              <a:t>Contenido y aplicaciones innovadoras</a:t>
            </a:r>
            <a:endParaRPr lang="en-US" sz="1611" dirty="0"/>
          </a:p>
        </p:txBody>
      </p:sp>
      <p:sp>
        <p:nvSpPr>
          <p:cNvPr id="18" name="Text 16"/>
          <p:cNvSpPr/>
          <p:nvPr/>
        </p:nvSpPr>
        <p:spPr>
          <a:xfrm>
            <a:off x="6517243" y="4504730"/>
            <a:ext cx="4511159" cy="521732"/>
          </a:xfrm>
          <a:prstGeom prst="rect">
            <a:avLst/>
          </a:prstGeom>
          <a:noFill/>
          <a:ln/>
        </p:spPr>
        <p:txBody>
          <a:bodyPr wrap="square" rtlCol="0" anchor="t"/>
          <a:lstStyle/>
          <a:p>
            <a:pPr marL="0" indent="0" algn="just">
              <a:lnSpc>
                <a:spcPts val="2054"/>
              </a:lnSpc>
              <a:buNone/>
            </a:pPr>
            <a:r>
              <a:rPr lang="en-US" sz="1600" dirty="0">
                <a:solidFill>
                  <a:srgbClr val="3A3630"/>
                </a:solidFill>
                <a:latin typeface="Source Sans Pro" pitchFamily="34" charset="0"/>
                <a:ea typeface="Source Sans Pro" pitchFamily="34" charset="-122"/>
                <a:cs typeface="Source Sans Pro" pitchFamily="34" charset="-120"/>
              </a:rPr>
              <a:t>Surgen nuevas formas de interactuar y generar contenido en estos entornos virtuales.</a:t>
            </a:r>
            <a:endParaRPr lang="en-US" sz="1600" dirty="0"/>
          </a:p>
        </p:txBody>
      </p:sp>
      <p:sp>
        <p:nvSpPr>
          <p:cNvPr id="19" name="Shape 17"/>
          <p:cNvSpPr/>
          <p:nvPr/>
        </p:nvSpPr>
        <p:spPr>
          <a:xfrm>
            <a:off x="6430328" y="5191661"/>
            <a:ext cx="4684990" cy="10835"/>
          </a:xfrm>
          <a:prstGeom prst="rect">
            <a:avLst/>
          </a:prstGeom>
          <a:solidFill>
            <a:srgbClr val="38512F"/>
          </a:solidFill>
          <a:ln/>
        </p:spPr>
        <p:txBody>
          <a:bodyPr/>
          <a:lstStyle/>
          <a:p>
            <a:endParaRPr lang="es-PE"/>
          </a:p>
        </p:txBody>
      </p:sp>
      <p:sp>
        <p:nvSpPr>
          <p:cNvPr id="20" name="Shape 18"/>
          <p:cNvSpPr/>
          <p:nvPr/>
        </p:nvSpPr>
        <p:spPr>
          <a:xfrm>
            <a:off x="3428167" y="5287208"/>
            <a:ext cx="3887033" cy="1484948"/>
          </a:xfrm>
          <a:prstGeom prst="roundRect">
            <a:avLst>
              <a:gd name="adj" fmla="val 3513"/>
            </a:avLst>
          </a:prstGeom>
          <a:solidFill>
            <a:srgbClr val="F6E9D5"/>
          </a:solidFill>
          <a:ln/>
        </p:spPr>
        <p:txBody>
          <a:bodyPr/>
          <a:lstStyle/>
          <a:p>
            <a:endParaRPr lang="es-PE"/>
          </a:p>
        </p:txBody>
      </p:sp>
      <p:sp>
        <p:nvSpPr>
          <p:cNvPr id="21" name="Text 19"/>
          <p:cNvSpPr/>
          <p:nvPr/>
        </p:nvSpPr>
        <p:spPr>
          <a:xfrm>
            <a:off x="3601998" y="5866567"/>
            <a:ext cx="117872" cy="326112"/>
          </a:xfrm>
          <a:prstGeom prst="rect">
            <a:avLst/>
          </a:prstGeom>
          <a:noFill/>
          <a:ln/>
        </p:spPr>
        <p:txBody>
          <a:bodyPr wrap="none" rtlCol="0" anchor="t"/>
          <a:lstStyle/>
          <a:p>
            <a:pPr marL="0" indent="0" algn="ctr">
              <a:lnSpc>
                <a:spcPts val="2567"/>
              </a:lnSpc>
              <a:buNone/>
            </a:pPr>
            <a:r>
              <a:rPr lang="en-US" sz="1712" dirty="0">
                <a:solidFill>
                  <a:srgbClr val="38512F"/>
                </a:solidFill>
                <a:latin typeface="Lora" pitchFamily="34" charset="0"/>
                <a:ea typeface="Lora" pitchFamily="34" charset="-122"/>
                <a:cs typeface="Lora" pitchFamily="34" charset="-120"/>
              </a:rPr>
              <a:t>4</a:t>
            </a:r>
            <a:endParaRPr lang="en-US" sz="1712" dirty="0"/>
          </a:p>
        </p:txBody>
      </p:sp>
      <p:sp>
        <p:nvSpPr>
          <p:cNvPr id="22" name="Text 20"/>
          <p:cNvSpPr/>
          <p:nvPr/>
        </p:nvSpPr>
        <p:spPr>
          <a:xfrm>
            <a:off x="7489031" y="5461040"/>
            <a:ext cx="3539371" cy="511254"/>
          </a:xfrm>
          <a:prstGeom prst="rect">
            <a:avLst/>
          </a:prstGeom>
          <a:noFill/>
          <a:ln/>
        </p:spPr>
        <p:txBody>
          <a:bodyPr wrap="square" rtlCol="0" anchor="t"/>
          <a:lstStyle/>
          <a:p>
            <a:pPr marL="0" indent="0" algn="l">
              <a:lnSpc>
                <a:spcPts val="2014"/>
              </a:lnSpc>
              <a:buNone/>
            </a:pPr>
            <a:r>
              <a:rPr lang="en-US" sz="1611" dirty="0">
                <a:solidFill>
                  <a:srgbClr val="38512F"/>
                </a:solidFill>
                <a:latin typeface="Lora" pitchFamily="34" charset="0"/>
                <a:ea typeface="Lora" pitchFamily="34" charset="-122"/>
                <a:cs typeface="Lora" pitchFamily="34" charset="-120"/>
              </a:rPr>
              <a:t>Aplicaciones empresariales y profesionales</a:t>
            </a:r>
            <a:endParaRPr lang="en-US" sz="1611" dirty="0"/>
          </a:p>
        </p:txBody>
      </p:sp>
      <p:sp>
        <p:nvSpPr>
          <p:cNvPr id="23" name="Text 21"/>
          <p:cNvSpPr/>
          <p:nvPr/>
        </p:nvSpPr>
        <p:spPr>
          <a:xfrm>
            <a:off x="7489031" y="6076593"/>
            <a:ext cx="3539371" cy="521732"/>
          </a:xfrm>
          <a:prstGeom prst="rect">
            <a:avLst/>
          </a:prstGeom>
          <a:noFill/>
          <a:ln/>
        </p:spPr>
        <p:txBody>
          <a:bodyPr wrap="square" rtlCol="0" anchor="t"/>
          <a:lstStyle/>
          <a:p>
            <a:pPr marL="0" indent="0" algn="just">
              <a:lnSpc>
                <a:spcPts val="2054"/>
              </a:lnSpc>
              <a:buNone/>
            </a:pPr>
            <a:r>
              <a:rPr lang="en-US" sz="1600" dirty="0">
                <a:solidFill>
                  <a:srgbClr val="3A3630"/>
                </a:solidFill>
                <a:latin typeface="Source Sans Pro" pitchFamily="34" charset="0"/>
                <a:ea typeface="Source Sans Pro" pitchFamily="34" charset="-122"/>
                <a:cs typeface="Source Sans Pro" pitchFamily="34" charset="-120"/>
              </a:rPr>
              <a:t>La RV y RA se adoptan cada vez más en la industria, la formación y la medicina.</a:t>
            </a:r>
            <a:endParaRPr lang="en-US" sz="1600" dirty="0"/>
          </a:p>
        </p:txBody>
      </p:sp>
      <p:sp>
        <p:nvSpPr>
          <p:cNvPr id="24" name="Text 22"/>
          <p:cNvSpPr/>
          <p:nvPr/>
        </p:nvSpPr>
        <p:spPr>
          <a:xfrm>
            <a:off x="2257425" y="6967776"/>
            <a:ext cx="9858375" cy="782598"/>
          </a:xfrm>
          <a:prstGeom prst="rect">
            <a:avLst/>
          </a:prstGeom>
          <a:noFill/>
          <a:ln/>
        </p:spPr>
        <p:txBody>
          <a:bodyPr wrap="square" rtlCol="0" anchor="t"/>
          <a:lstStyle/>
          <a:p>
            <a:pPr marL="0" indent="0" algn="just">
              <a:lnSpc>
                <a:spcPts val="2054"/>
              </a:lnSpc>
              <a:buNone/>
            </a:pPr>
            <a:r>
              <a:rPr lang="en-US" sz="1600" dirty="0">
                <a:solidFill>
                  <a:srgbClr val="3A3630"/>
                </a:solidFill>
                <a:latin typeface="Source Sans Pro" pitchFamily="34" charset="0"/>
                <a:ea typeface="Source Sans Pro" pitchFamily="34" charset="-122"/>
                <a:cs typeface="Source Sans Pro" pitchFamily="34" charset="-120"/>
              </a:rPr>
              <a:t>La realidad virtual y la realidad aumentada evolucionan a pasos agigantados, con avances tecnológicos que las hacen más accesibles y versátiles. La integración con inteligencia artificial y redes 5G permite experiencias más inteligentes y fluidas, abriendo nuevas posibilidades creativas y profesionales.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s-PE"/>
          </a:p>
        </p:txBody>
      </p:sp>
      <p:sp>
        <p:nvSpPr>
          <p:cNvPr id="3" name="Shape 1"/>
          <p:cNvSpPr/>
          <p:nvPr/>
        </p:nvSpPr>
        <p:spPr>
          <a:xfrm>
            <a:off x="0" y="0"/>
            <a:ext cx="14630400" cy="8229600"/>
          </a:xfrm>
          <a:prstGeom prst="rect">
            <a:avLst/>
          </a:prstGeom>
          <a:solidFill>
            <a:srgbClr val="FEF5E7"/>
          </a:solidFill>
          <a:ln/>
        </p:spPr>
        <p:txBody>
          <a:bodyPr/>
          <a:lstStyle/>
          <a:p>
            <a:endParaRPr lang="es-PE"/>
          </a:p>
        </p:txBody>
      </p:sp>
      <p:sp>
        <p:nvSpPr>
          <p:cNvPr id="4" name="Text 2"/>
          <p:cNvSpPr/>
          <p:nvPr/>
        </p:nvSpPr>
        <p:spPr>
          <a:xfrm>
            <a:off x="2348389" y="1245156"/>
            <a:ext cx="8724067" cy="653415"/>
          </a:xfrm>
          <a:prstGeom prst="rect">
            <a:avLst/>
          </a:prstGeom>
          <a:noFill/>
          <a:ln/>
        </p:spPr>
        <p:txBody>
          <a:bodyPr wrap="none" rtlCol="0" anchor="t"/>
          <a:lstStyle/>
          <a:p>
            <a:pPr marL="0" indent="0">
              <a:lnSpc>
                <a:spcPts val="5146"/>
              </a:lnSpc>
              <a:buNone/>
            </a:pPr>
            <a:r>
              <a:rPr lang="en-US" sz="4117" dirty="0">
                <a:solidFill>
                  <a:srgbClr val="38512F"/>
                </a:solidFill>
                <a:latin typeface="Lora" pitchFamily="34" charset="0"/>
                <a:ea typeface="Lora" pitchFamily="34" charset="-122"/>
                <a:cs typeface="Lora" pitchFamily="34" charset="-120"/>
              </a:rPr>
              <a:t>Ventajas y desventajas de la RV y RA</a:t>
            </a:r>
            <a:endParaRPr lang="en-US" sz="4117" dirty="0"/>
          </a:p>
        </p:txBody>
      </p:sp>
      <p:sp>
        <p:nvSpPr>
          <p:cNvPr id="5" name="Shape 3"/>
          <p:cNvSpPr/>
          <p:nvPr/>
        </p:nvSpPr>
        <p:spPr>
          <a:xfrm>
            <a:off x="2348389" y="2592824"/>
            <a:ext cx="388739" cy="388739"/>
          </a:xfrm>
          <a:prstGeom prst="roundRect">
            <a:avLst>
              <a:gd name="adj" fmla="val 17148"/>
            </a:avLst>
          </a:prstGeom>
          <a:solidFill>
            <a:srgbClr val="F6E9D5"/>
          </a:solidFill>
          <a:ln/>
        </p:spPr>
        <p:txBody>
          <a:bodyPr/>
          <a:lstStyle/>
          <a:p>
            <a:endParaRPr lang="es-PE"/>
          </a:p>
        </p:txBody>
      </p:sp>
      <p:sp>
        <p:nvSpPr>
          <p:cNvPr id="6" name="Text 4"/>
          <p:cNvSpPr/>
          <p:nvPr/>
        </p:nvSpPr>
        <p:spPr>
          <a:xfrm>
            <a:off x="2959298" y="2592824"/>
            <a:ext cx="2691646"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Inmersión y presencia</a:t>
            </a:r>
            <a:endParaRPr lang="en-US" sz="2058" dirty="0"/>
          </a:p>
        </p:txBody>
      </p:sp>
      <p:sp>
        <p:nvSpPr>
          <p:cNvPr id="7" name="Text 5"/>
          <p:cNvSpPr/>
          <p:nvPr/>
        </p:nvSpPr>
        <p:spPr>
          <a:xfrm>
            <a:off x="2959298" y="3052882"/>
            <a:ext cx="4244816" cy="1666280"/>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La realidad virtual brinda una experiencia profundamente inmersiva que aísla al usuario del mundo físico, mientras que la realidad aumentada enriquece la percepción del entorno real.</a:t>
            </a:r>
            <a:endParaRPr lang="en-US" sz="1750" dirty="0"/>
          </a:p>
        </p:txBody>
      </p:sp>
      <p:sp>
        <p:nvSpPr>
          <p:cNvPr id="8" name="Shape 6"/>
          <p:cNvSpPr/>
          <p:nvPr/>
        </p:nvSpPr>
        <p:spPr>
          <a:xfrm>
            <a:off x="7426285" y="2592824"/>
            <a:ext cx="388739" cy="388739"/>
          </a:xfrm>
          <a:prstGeom prst="roundRect">
            <a:avLst>
              <a:gd name="adj" fmla="val 17148"/>
            </a:avLst>
          </a:prstGeom>
          <a:solidFill>
            <a:srgbClr val="F6E9D5"/>
          </a:solidFill>
          <a:ln/>
        </p:spPr>
        <p:txBody>
          <a:bodyPr/>
          <a:lstStyle/>
          <a:p>
            <a:endParaRPr lang="es-PE"/>
          </a:p>
        </p:txBody>
      </p:sp>
      <p:sp>
        <p:nvSpPr>
          <p:cNvPr id="9" name="Text 7"/>
          <p:cNvSpPr/>
          <p:nvPr/>
        </p:nvSpPr>
        <p:spPr>
          <a:xfrm>
            <a:off x="8037195" y="2592824"/>
            <a:ext cx="3149203"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Interacción e información</a:t>
            </a:r>
            <a:endParaRPr lang="en-US" sz="2058" dirty="0"/>
          </a:p>
        </p:txBody>
      </p:sp>
      <p:sp>
        <p:nvSpPr>
          <p:cNvPr id="10" name="Text 8"/>
          <p:cNvSpPr/>
          <p:nvPr/>
        </p:nvSpPr>
        <p:spPr>
          <a:xfrm>
            <a:off x="8037195" y="3052882"/>
            <a:ext cx="4244816" cy="1666280"/>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La RA permite una interacción más natural y fluida con elementos digitales integrados en el mundo real, ofreciendo información contextual y potenciando la toma de decisiones.</a:t>
            </a:r>
            <a:endParaRPr lang="en-US" sz="1750" dirty="0"/>
          </a:p>
        </p:txBody>
      </p:sp>
      <p:sp>
        <p:nvSpPr>
          <p:cNvPr id="11" name="Shape 9"/>
          <p:cNvSpPr/>
          <p:nvPr/>
        </p:nvSpPr>
        <p:spPr>
          <a:xfrm>
            <a:off x="2348389" y="5191244"/>
            <a:ext cx="388739" cy="388739"/>
          </a:xfrm>
          <a:prstGeom prst="roundRect">
            <a:avLst>
              <a:gd name="adj" fmla="val 17148"/>
            </a:avLst>
          </a:prstGeom>
          <a:solidFill>
            <a:srgbClr val="F6E9D5"/>
          </a:solidFill>
          <a:ln/>
        </p:spPr>
        <p:txBody>
          <a:bodyPr/>
          <a:lstStyle/>
          <a:p>
            <a:endParaRPr lang="es-PE"/>
          </a:p>
        </p:txBody>
      </p:sp>
      <p:sp>
        <p:nvSpPr>
          <p:cNvPr id="12" name="Text 10"/>
          <p:cNvSpPr/>
          <p:nvPr/>
        </p:nvSpPr>
        <p:spPr>
          <a:xfrm>
            <a:off x="2959298" y="5191244"/>
            <a:ext cx="3210163"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Accesibilidad y adaptación</a:t>
            </a:r>
            <a:endParaRPr lang="en-US" sz="2058" dirty="0"/>
          </a:p>
        </p:txBody>
      </p:sp>
      <p:sp>
        <p:nvSpPr>
          <p:cNvPr id="13" name="Text 11"/>
          <p:cNvSpPr/>
          <p:nvPr/>
        </p:nvSpPr>
        <p:spPr>
          <a:xfrm>
            <a:off x="2959298" y="5651302"/>
            <a:ext cx="4244816" cy="1333024"/>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Los dispositivos de RV pueden resultar costosos y requerir un aprendizaje, mientras que la RA a menudo es más accesible a través de smartphones y tabletas.</a:t>
            </a:r>
            <a:endParaRPr lang="en-US" sz="1750" dirty="0"/>
          </a:p>
        </p:txBody>
      </p:sp>
      <p:sp>
        <p:nvSpPr>
          <p:cNvPr id="14" name="Shape 12"/>
          <p:cNvSpPr/>
          <p:nvPr/>
        </p:nvSpPr>
        <p:spPr>
          <a:xfrm>
            <a:off x="7426285" y="5191244"/>
            <a:ext cx="388739" cy="388739"/>
          </a:xfrm>
          <a:prstGeom prst="roundRect">
            <a:avLst>
              <a:gd name="adj" fmla="val 17148"/>
            </a:avLst>
          </a:prstGeom>
          <a:solidFill>
            <a:srgbClr val="F6E9D5"/>
          </a:solidFill>
          <a:ln/>
        </p:spPr>
        <p:txBody>
          <a:bodyPr/>
          <a:lstStyle/>
          <a:p>
            <a:endParaRPr lang="es-PE"/>
          </a:p>
        </p:txBody>
      </p:sp>
      <p:sp>
        <p:nvSpPr>
          <p:cNvPr id="15" name="Text 13"/>
          <p:cNvSpPr/>
          <p:nvPr/>
        </p:nvSpPr>
        <p:spPr>
          <a:xfrm>
            <a:off x="8037195" y="5191244"/>
            <a:ext cx="3094077"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Consideraciones de salud</a:t>
            </a:r>
            <a:endParaRPr lang="en-US" sz="2058" dirty="0"/>
          </a:p>
        </p:txBody>
      </p:sp>
      <p:sp>
        <p:nvSpPr>
          <p:cNvPr id="16" name="Text 14"/>
          <p:cNvSpPr/>
          <p:nvPr/>
        </p:nvSpPr>
        <p:spPr>
          <a:xfrm>
            <a:off x="8037195" y="5651302"/>
            <a:ext cx="4244816" cy="1333024"/>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El uso prolongado de RV puede causar mareos, desorientación y fatiga visual, mientras que la RA generalmente presenta un menor impacto en la salud del usuario.</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s-PE"/>
          </a:p>
        </p:txBody>
      </p:sp>
      <p:sp>
        <p:nvSpPr>
          <p:cNvPr id="3" name="Shape 1"/>
          <p:cNvSpPr/>
          <p:nvPr/>
        </p:nvSpPr>
        <p:spPr>
          <a:xfrm>
            <a:off x="0" y="0"/>
            <a:ext cx="14630400" cy="8229600"/>
          </a:xfrm>
          <a:prstGeom prst="rect">
            <a:avLst/>
          </a:prstGeom>
          <a:solidFill>
            <a:srgbClr val="FEF5E7"/>
          </a:solidFill>
          <a:ln/>
        </p:spPr>
        <p:txBody>
          <a:bodyPr/>
          <a:lstStyle/>
          <a:p>
            <a:endParaRPr lang="es-PE"/>
          </a:p>
        </p:txBody>
      </p:sp>
      <p:sp>
        <p:nvSpPr>
          <p:cNvPr id="4" name="Text 2"/>
          <p:cNvSpPr/>
          <p:nvPr/>
        </p:nvSpPr>
        <p:spPr>
          <a:xfrm>
            <a:off x="2348389" y="1217414"/>
            <a:ext cx="9413677" cy="653415"/>
          </a:xfrm>
          <a:prstGeom prst="rect">
            <a:avLst/>
          </a:prstGeom>
          <a:noFill/>
          <a:ln/>
        </p:spPr>
        <p:txBody>
          <a:bodyPr wrap="none" rtlCol="0" anchor="t"/>
          <a:lstStyle/>
          <a:p>
            <a:pPr marL="0" indent="0">
              <a:lnSpc>
                <a:spcPts val="5146"/>
              </a:lnSpc>
              <a:buNone/>
            </a:pPr>
            <a:r>
              <a:rPr lang="en-US" sz="4117" dirty="0">
                <a:solidFill>
                  <a:srgbClr val="38512F"/>
                </a:solidFill>
                <a:latin typeface="Lora" pitchFamily="34" charset="0"/>
                <a:ea typeface="Lora" pitchFamily="34" charset="-122"/>
                <a:cs typeface="Lora" pitchFamily="34" charset="-120"/>
              </a:rPr>
              <a:t>Consideraciones éticas y de privacidad</a:t>
            </a:r>
            <a:endParaRPr lang="en-US" sz="4117" dirty="0"/>
          </a:p>
        </p:txBody>
      </p:sp>
      <p:sp>
        <p:nvSpPr>
          <p:cNvPr id="5" name="Shape 3"/>
          <p:cNvSpPr/>
          <p:nvPr/>
        </p:nvSpPr>
        <p:spPr>
          <a:xfrm>
            <a:off x="2348389" y="2315170"/>
            <a:ext cx="4855726" cy="2237423"/>
          </a:xfrm>
          <a:prstGeom prst="roundRect">
            <a:avLst>
              <a:gd name="adj" fmla="val 2979"/>
            </a:avLst>
          </a:prstGeom>
          <a:solidFill>
            <a:srgbClr val="F6E9D5"/>
          </a:solidFill>
          <a:ln/>
        </p:spPr>
        <p:txBody>
          <a:bodyPr/>
          <a:lstStyle/>
          <a:p>
            <a:endParaRPr lang="es-PE"/>
          </a:p>
        </p:txBody>
      </p:sp>
      <p:sp>
        <p:nvSpPr>
          <p:cNvPr id="6" name="Text 4"/>
          <p:cNvSpPr/>
          <p:nvPr/>
        </p:nvSpPr>
        <p:spPr>
          <a:xfrm>
            <a:off x="2570559" y="2537341"/>
            <a:ext cx="2614017"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Protección de datos</a:t>
            </a:r>
            <a:endParaRPr lang="en-US" sz="2058" dirty="0"/>
          </a:p>
        </p:txBody>
      </p:sp>
      <p:sp>
        <p:nvSpPr>
          <p:cNvPr id="7" name="Text 5"/>
          <p:cNvSpPr/>
          <p:nvPr/>
        </p:nvSpPr>
        <p:spPr>
          <a:xfrm>
            <a:off x="2570559" y="2997398"/>
            <a:ext cx="4411385" cy="1333024"/>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Es crucial garantizar la privacidad de los usuarios y el manejo responsable de los datos recopilados en entornos de realidad virtual y aumentada.</a:t>
            </a:r>
            <a:endParaRPr lang="en-US" sz="1750" dirty="0"/>
          </a:p>
        </p:txBody>
      </p:sp>
      <p:sp>
        <p:nvSpPr>
          <p:cNvPr id="8" name="Shape 6"/>
          <p:cNvSpPr/>
          <p:nvPr/>
        </p:nvSpPr>
        <p:spPr>
          <a:xfrm>
            <a:off x="7426285" y="2315170"/>
            <a:ext cx="4855726" cy="2237423"/>
          </a:xfrm>
          <a:prstGeom prst="roundRect">
            <a:avLst>
              <a:gd name="adj" fmla="val 2979"/>
            </a:avLst>
          </a:prstGeom>
          <a:solidFill>
            <a:srgbClr val="F6E9D5"/>
          </a:solidFill>
          <a:ln/>
        </p:spPr>
        <p:txBody>
          <a:bodyPr/>
          <a:lstStyle/>
          <a:p>
            <a:endParaRPr lang="es-PE"/>
          </a:p>
        </p:txBody>
      </p:sp>
      <p:sp>
        <p:nvSpPr>
          <p:cNvPr id="9" name="Text 7"/>
          <p:cNvSpPr/>
          <p:nvPr/>
        </p:nvSpPr>
        <p:spPr>
          <a:xfrm>
            <a:off x="7648456" y="2537341"/>
            <a:ext cx="3278386"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Consentimiento informado</a:t>
            </a:r>
            <a:endParaRPr lang="en-US" sz="2058" dirty="0"/>
          </a:p>
        </p:txBody>
      </p:sp>
      <p:sp>
        <p:nvSpPr>
          <p:cNvPr id="10" name="Text 8"/>
          <p:cNvSpPr/>
          <p:nvPr/>
        </p:nvSpPr>
        <p:spPr>
          <a:xfrm>
            <a:off x="7648456" y="2997398"/>
            <a:ext cx="4411385" cy="1333024"/>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Los usuarios deben tener pleno conocimiento y control sobre cómo se utilizan sus datos personales y la forma en que interactúan con estas tecnologías.</a:t>
            </a:r>
            <a:endParaRPr lang="en-US" sz="1750" dirty="0"/>
          </a:p>
        </p:txBody>
      </p:sp>
      <p:sp>
        <p:nvSpPr>
          <p:cNvPr id="11" name="Shape 9"/>
          <p:cNvSpPr/>
          <p:nvPr/>
        </p:nvSpPr>
        <p:spPr>
          <a:xfrm>
            <a:off x="2348389" y="4774763"/>
            <a:ext cx="4855726" cy="2237423"/>
          </a:xfrm>
          <a:prstGeom prst="roundRect">
            <a:avLst>
              <a:gd name="adj" fmla="val 2979"/>
            </a:avLst>
          </a:prstGeom>
          <a:solidFill>
            <a:srgbClr val="F6E9D5"/>
          </a:solidFill>
          <a:ln/>
        </p:spPr>
        <p:txBody>
          <a:bodyPr/>
          <a:lstStyle/>
          <a:p>
            <a:endParaRPr lang="es-PE"/>
          </a:p>
        </p:txBody>
      </p:sp>
      <p:sp>
        <p:nvSpPr>
          <p:cNvPr id="12" name="Text 10"/>
          <p:cNvSpPr/>
          <p:nvPr/>
        </p:nvSpPr>
        <p:spPr>
          <a:xfrm>
            <a:off x="2570559" y="4996934"/>
            <a:ext cx="3176707"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Seguridad y transparencia</a:t>
            </a:r>
            <a:endParaRPr lang="en-US" sz="2058" dirty="0"/>
          </a:p>
        </p:txBody>
      </p:sp>
      <p:sp>
        <p:nvSpPr>
          <p:cNvPr id="13" name="Text 11"/>
          <p:cNvSpPr/>
          <p:nvPr/>
        </p:nvSpPr>
        <p:spPr>
          <a:xfrm>
            <a:off x="2570559" y="5456992"/>
            <a:ext cx="4411385" cy="1333024"/>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Las empresas deben implementar medidas de seguridad robustas y ser transparentes sobre los riesgos y posibles usos indebidos de estas tecnologías.</a:t>
            </a:r>
            <a:endParaRPr lang="en-US" sz="1750" dirty="0"/>
          </a:p>
        </p:txBody>
      </p:sp>
      <p:sp>
        <p:nvSpPr>
          <p:cNvPr id="14" name="Shape 12"/>
          <p:cNvSpPr/>
          <p:nvPr/>
        </p:nvSpPr>
        <p:spPr>
          <a:xfrm>
            <a:off x="7426285" y="4774763"/>
            <a:ext cx="4855726" cy="2237423"/>
          </a:xfrm>
          <a:prstGeom prst="roundRect">
            <a:avLst>
              <a:gd name="adj" fmla="val 2979"/>
            </a:avLst>
          </a:prstGeom>
          <a:solidFill>
            <a:srgbClr val="F6E9D5"/>
          </a:solidFill>
          <a:ln/>
        </p:spPr>
        <p:txBody>
          <a:bodyPr/>
          <a:lstStyle/>
          <a:p>
            <a:endParaRPr lang="es-PE"/>
          </a:p>
        </p:txBody>
      </p:sp>
      <p:sp>
        <p:nvSpPr>
          <p:cNvPr id="15" name="Text 13"/>
          <p:cNvSpPr/>
          <p:nvPr/>
        </p:nvSpPr>
        <p:spPr>
          <a:xfrm>
            <a:off x="7648456" y="4996934"/>
            <a:ext cx="3418165" cy="326827"/>
          </a:xfrm>
          <a:prstGeom prst="rect">
            <a:avLst/>
          </a:prstGeom>
          <a:noFill/>
          <a:ln/>
        </p:spPr>
        <p:txBody>
          <a:bodyPr wrap="none" rtlCol="0" anchor="t"/>
          <a:lstStyle/>
          <a:p>
            <a:pPr marL="0" indent="0">
              <a:lnSpc>
                <a:spcPts val="2573"/>
              </a:lnSpc>
              <a:buNone/>
            </a:pPr>
            <a:r>
              <a:rPr lang="en-US" sz="2058" dirty="0">
                <a:solidFill>
                  <a:srgbClr val="38512F"/>
                </a:solidFill>
                <a:latin typeface="Lora" pitchFamily="34" charset="0"/>
                <a:ea typeface="Lora" pitchFamily="34" charset="-122"/>
                <a:cs typeface="Lora" pitchFamily="34" charset="-120"/>
              </a:rPr>
              <a:t>Impacto social y psicológico</a:t>
            </a:r>
            <a:endParaRPr lang="en-US" sz="2058" dirty="0"/>
          </a:p>
        </p:txBody>
      </p:sp>
      <p:sp>
        <p:nvSpPr>
          <p:cNvPr id="16" name="Text 14"/>
          <p:cNvSpPr/>
          <p:nvPr/>
        </p:nvSpPr>
        <p:spPr>
          <a:xfrm>
            <a:off x="7648456" y="5456992"/>
            <a:ext cx="4411385" cy="1333024"/>
          </a:xfrm>
          <a:prstGeom prst="rect">
            <a:avLst/>
          </a:prstGeom>
          <a:noFill/>
          <a:ln/>
        </p:spPr>
        <p:txBody>
          <a:bodyPr wrap="square" rtlCol="0" anchor="t"/>
          <a:lstStyle/>
          <a:p>
            <a:pPr marL="0" indent="0" algn="just">
              <a:lnSpc>
                <a:spcPts val="2624"/>
              </a:lnSpc>
              <a:buNone/>
            </a:pPr>
            <a:r>
              <a:rPr lang="en-US" sz="1750" dirty="0">
                <a:solidFill>
                  <a:srgbClr val="3A3630"/>
                </a:solidFill>
                <a:latin typeface="Source Sans Pro" pitchFamily="34" charset="0"/>
                <a:ea typeface="Source Sans Pro" pitchFamily="34" charset="-122"/>
                <a:cs typeface="Source Sans Pro" pitchFamily="34" charset="-120"/>
              </a:rPr>
              <a:t>Es importante considerar el impacto que la RV y RA pueden tener en la salud mental, la interacción social y el bienestar general de los usuarios.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s-PE"/>
          </a:p>
        </p:txBody>
      </p:sp>
      <p:sp>
        <p:nvSpPr>
          <p:cNvPr id="3" name="Shape 1"/>
          <p:cNvSpPr/>
          <p:nvPr/>
        </p:nvSpPr>
        <p:spPr>
          <a:xfrm>
            <a:off x="0" y="0"/>
            <a:ext cx="14630400" cy="8229600"/>
          </a:xfrm>
          <a:prstGeom prst="rect">
            <a:avLst/>
          </a:prstGeom>
          <a:solidFill>
            <a:srgbClr val="FEF5E7"/>
          </a:solidFill>
          <a:ln/>
        </p:spPr>
        <p:txBody>
          <a:bodyPr/>
          <a:lstStyle/>
          <a:p>
            <a:endParaRPr lang="es-PE"/>
          </a:p>
        </p:txBody>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1928813"/>
            <a:ext cx="7477601" cy="2705695"/>
          </a:xfrm>
          <a:prstGeom prst="rect">
            <a:avLst/>
          </a:prstGeom>
          <a:noFill/>
          <a:ln/>
        </p:spPr>
        <p:txBody>
          <a:bodyPr wrap="square" rtlCol="0" anchor="t"/>
          <a:lstStyle/>
          <a:p>
            <a:pPr marL="0" indent="0">
              <a:lnSpc>
                <a:spcPts val="7101"/>
              </a:lnSpc>
              <a:buNone/>
            </a:pPr>
            <a:r>
              <a:rPr lang="en-US" sz="5681" dirty="0">
                <a:solidFill>
                  <a:srgbClr val="38512F"/>
                </a:solidFill>
                <a:latin typeface="Lora" pitchFamily="34" charset="0"/>
                <a:ea typeface="Lora" pitchFamily="34" charset="-122"/>
                <a:cs typeface="Lora" pitchFamily="34" charset="-120"/>
              </a:rPr>
              <a:t>Futuro de la realidad virtual y realidad aumentada</a:t>
            </a:r>
            <a:endParaRPr lang="en-US" sz="5681" dirty="0"/>
          </a:p>
        </p:txBody>
      </p:sp>
      <p:sp>
        <p:nvSpPr>
          <p:cNvPr id="6" name="Text 3"/>
          <p:cNvSpPr/>
          <p:nvPr/>
        </p:nvSpPr>
        <p:spPr>
          <a:xfrm>
            <a:off x="833199" y="4967764"/>
            <a:ext cx="7477601" cy="1333024"/>
          </a:xfrm>
          <a:prstGeom prst="rect">
            <a:avLst/>
          </a:prstGeom>
          <a:noFill/>
          <a:ln/>
        </p:spPr>
        <p:txBody>
          <a:bodyPr wrap="square" rtlCol="0" anchor="t"/>
          <a:lstStyle/>
          <a:p>
            <a:pPr marL="0" indent="0" algn="just">
              <a:lnSpc>
                <a:spcPts val="2624"/>
              </a:lnSpc>
              <a:buNone/>
            </a:pPr>
            <a:r>
              <a:rPr lang="en-US" dirty="0">
                <a:solidFill>
                  <a:srgbClr val="3A3630"/>
                </a:solidFill>
                <a:latin typeface="Source Sans Pro" pitchFamily="34" charset="0"/>
                <a:ea typeface="Source Sans Pro" pitchFamily="34" charset="-122"/>
                <a:cs typeface="Source Sans Pro" pitchFamily="34" charset="-120"/>
              </a:rPr>
              <a:t>A medida que la tecnología sigue avanzando, el futuro de la realidad virtual (RV) y realidad aumentada (RA) se vislumbra como cada vez más emocionante e impactante. Estas innovadoras formas de interactuar con el mundo digital se integrarán aún más en nuestras vidas cotidianas.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999</Words>
  <Application>Microsoft Office PowerPoint</Application>
  <PresentationFormat>Personalizado</PresentationFormat>
  <Paragraphs>70</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Lora</vt:lpstr>
      <vt:lpstr>Source Sans Pro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JAIME ANTONIO HUAYTALLA PARIONA</cp:lastModifiedBy>
  <cp:revision>3</cp:revision>
  <dcterms:created xsi:type="dcterms:W3CDTF">2024-06-14T17:43:20Z</dcterms:created>
  <dcterms:modified xsi:type="dcterms:W3CDTF">2024-10-22T16:02:29Z</dcterms:modified>
</cp:coreProperties>
</file>