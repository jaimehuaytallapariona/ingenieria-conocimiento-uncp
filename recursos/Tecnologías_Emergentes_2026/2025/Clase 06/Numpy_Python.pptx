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7" r:id="rId5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62" y="762"/>
            <a:ext cx="6154420" cy="593090"/>
          </a:xfrm>
          <a:custGeom>
            <a:avLst/>
            <a:gdLst/>
            <a:ahLst/>
            <a:cxnLst/>
            <a:rect l="l" t="t" r="r" b="b"/>
            <a:pathLst>
              <a:path w="6154420" h="593090">
                <a:moveTo>
                  <a:pt x="6153912" y="0"/>
                </a:moveTo>
                <a:lnTo>
                  <a:pt x="0" y="0"/>
                </a:lnTo>
                <a:lnTo>
                  <a:pt x="0" y="592835"/>
                </a:lnTo>
                <a:lnTo>
                  <a:pt x="6153912" y="592835"/>
                </a:lnTo>
                <a:lnTo>
                  <a:pt x="6153912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62" y="762"/>
            <a:ext cx="6154420" cy="593090"/>
          </a:xfrm>
          <a:custGeom>
            <a:avLst/>
            <a:gdLst/>
            <a:ahLst/>
            <a:cxnLst/>
            <a:rect l="l" t="t" r="r" b="b"/>
            <a:pathLst>
              <a:path w="6154420" h="593090">
                <a:moveTo>
                  <a:pt x="0" y="592835"/>
                </a:moveTo>
                <a:lnTo>
                  <a:pt x="6153912" y="592835"/>
                </a:lnTo>
                <a:lnTo>
                  <a:pt x="6153912" y="0"/>
                </a:lnTo>
                <a:lnTo>
                  <a:pt x="0" y="0"/>
                </a:lnTo>
                <a:lnTo>
                  <a:pt x="0" y="592835"/>
                </a:lnTo>
                <a:close/>
              </a:path>
            </a:pathLst>
          </a:custGeom>
          <a:ln w="25400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951982" y="762"/>
            <a:ext cx="429895" cy="593090"/>
          </a:xfrm>
          <a:custGeom>
            <a:avLst/>
            <a:gdLst/>
            <a:ahLst/>
            <a:cxnLst/>
            <a:rect l="l" t="t" r="r" b="b"/>
            <a:pathLst>
              <a:path w="429895" h="593090">
                <a:moveTo>
                  <a:pt x="429767" y="0"/>
                </a:moveTo>
                <a:lnTo>
                  <a:pt x="0" y="0"/>
                </a:lnTo>
                <a:lnTo>
                  <a:pt x="214883" y="592836"/>
                </a:lnTo>
                <a:lnTo>
                  <a:pt x="429767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951982" y="762"/>
            <a:ext cx="429895" cy="593090"/>
          </a:xfrm>
          <a:custGeom>
            <a:avLst/>
            <a:gdLst/>
            <a:ahLst/>
            <a:cxnLst/>
            <a:rect l="l" t="t" r="r" b="b"/>
            <a:pathLst>
              <a:path w="429895" h="593090">
                <a:moveTo>
                  <a:pt x="429767" y="0"/>
                </a:moveTo>
                <a:lnTo>
                  <a:pt x="214883" y="592836"/>
                </a:lnTo>
                <a:lnTo>
                  <a:pt x="0" y="0"/>
                </a:lnTo>
                <a:lnTo>
                  <a:pt x="429767" y="0"/>
                </a:lnTo>
                <a:close/>
              </a:path>
            </a:pathLst>
          </a:custGeom>
          <a:ln w="25400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812541" y="6453377"/>
            <a:ext cx="431800" cy="405765"/>
          </a:xfrm>
          <a:custGeom>
            <a:avLst/>
            <a:gdLst/>
            <a:ahLst/>
            <a:cxnLst/>
            <a:rect l="l" t="t" r="r" b="b"/>
            <a:pathLst>
              <a:path w="431800" h="405765">
                <a:moveTo>
                  <a:pt x="215645" y="0"/>
                </a:moveTo>
                <a:lnTo>
                  <a:pt x="0" y="405383"/>
                </a:lnTo>
                <a:lnTo>
                  <a:pt x="431291" y="405383"/>
                </a:lnTo>
                <a:lnTo>
                  <a:pt x="215645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2812541" y="6453377"/>
            <a:ext cx="431800" cy="405765"/>
          </a:xfrm>
          <a:custGeom>
            <a:avLst/>
            <a:gdLst/>
            <a:ahLst/>
            <a:cxnLst/>
            <a:rect l="l" t="t" r="r" b="b"/>
            <a:pathLst>
              <a:path w="431800" h="405765">
                <a:moveTo>
                  <a:pt x="0" y="405383"/>
                </a:moveTo>
                <a:lnTo>
                  <a:pt x="215645" y="0"/>
                </a:lnTo>
                <a:lnTo>
                  <a:pt x="431291" y="405383"/>
                </a:lnTo>
                <a:lnTo>
                  <a:pt x="0" y="405383"/>
                </a:lnTo>
                <a:close/>
              </a:path>
            </a:pathLst>
          </a:custGeom>
          <a:ln w="25400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027426" y="6453377"/>
            <a:ext cx="6117590" cy="405765"/>
          </a:xfrm>
          <a:custGeom>
            <a:avLst/>
            <a:gdLst/>
            <a:ahLst/>
            <a:cxnLst/>
            <a:rect l="l" t="t" r="r" b="b"/>
            <a:pathLst>
              <a:path w="6117590" h="405765">
                <a:moveTo>
                  <a:pt x="6117335" y="0"/>
                </a:moveTo>
                <a:lnTo>
                  <a:pt x="0" y="0"/>
                </a:lnTo>
                <a:lnTo>
                  <a:pt x="0" y="405384"/>
                </a:lnTo>
                <a:lnTo>
                  <a:pt x="6117335" y="405384"/>
                </a:lnTo>
                <a:lnTo>
                  <a:pt x="6117335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027426" y="6453377"/>
            <a:ext cx="6117590" cy="405765"/>
          </a:xfrm>
          <a:custGeom>
            <a:avLst/>
            <a:gdLst/>
            <a:ahLst/>
            <a:cxnLst/>
            <a:rect l="l" t="t" r="r" b="b"/>
            <a:pathLst>
              <a:path w="6117590" h="405765">
                <a:moveTo>
                  <a:pt x="0" y="405384"/>
                </a:moveTo>
                <a:lnTo>
                  <a:pt x="6117335" y="405384"/>
                </a:lnTo>
                <a:lnTo>
                  <a:pt x="6117335" y="0"/>
                </a:lnTo>
                <a:lnTo>
                  <a:pt x="0" y="0"/>
                </a:lnTo>
                <a:lnTo>
                  <a:pt x="0" y="405384"/>
                </a:lnTo>
                <a:close/>
              </a:path>
            </a:pathLst>
          </a:custGeom>
          <a:ln w="25400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762" y="6692645"/>
            <a:ext cx="2757170" cy="166370"/>
          </a:xfrm>
          <a:custGeom>
            <a:avLst/>
            <a:gdLst/>
            <a:ahLst/>
            <a:cxnLst/>
            <a:rect l="l" t="t" r="r" b="b"/>
            <a:pathLst>
              <a:path w="2757170" h="166370">
                <a:moveTo>
                  <a:pt x="2756916" y="0"/>
                </a:moveTo>
                <a:lnTo>
                  <a:pt x="0" y="0"/>
                </a:lnTo>
                <a:lnTo>
                  <a:pt x="0" y="166115"/>
                </a:lnTo>
                <a:lnTo>
                  <a:pt x="2756916" y="166115"/>
                </a:lnTo>
                <a:lnTo>
                  <a:pt x="2756916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762" y="6692645"/>
            <a:ext cx="2757170" cy="166370"/>
          </a:xfrm>
          <a:custGeom>
            <a:avLst/>
            <a:gdLst/>
            <a:ahLst/>
            <a:cxnLst/>
            <a:rect l="l" t="t" r="r" b="b"/>
            <a:pathLst>
              <a:path w="2757170" h="166370">
                <a:moveTo>
                  <a:pt x="0" y="166115"/>
                </a:moveTo>
                <a:lnTo>
                  <a:pt x="2756916" y="166115"/>
                </a:lnTo>
                <a:lnTo>
                  <a:pt x="2756916" y="0"/>
                </a:lnTo>
                <a:lnTo>
                  <a:pt x="0" y="0"/>
                </a:lnTo>
                <a:lnTo>
                  <a:pt x="0" y="166115"/>
                </a:lnTo>
                <a:close/>
              </a:path>
            </a:pathLst>
          </a:custGeom>
          <a:ln w="254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8589" y="6679945"/>
            <a:ext cx="193040" cy="191515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3610" y="433197"/>
            <a:ext cx="621273" cy="79683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72000" y="0"/>
            <a:ext cx="4572000" cy="6858000"/>
          </a:xfrm>
          <a:custGeom>
            <a:avLst/>
            <a:gdLst/>
            <a:ahLst/>
            <a:cxnLst/>
            <a:rect l="l" t="t" r="r" b="b"/>
            <a:pathLst>
              <a:path w="4572000" h="6858000">
                <a:moveTo>
                  <a:pt x="4572000" y="0"/>
                </a:moveTo>
                <a:lnTo>
                  <a:pt x="0" y="0"/>
                </a:lnTo>
                <a:lnTo>
                  <a:pt x="0" y="6858000"/>
                </a:lnTo>
                <a:lnTo>
                  <a:pt x="4572000" y="6858000"/>
                </a:lnTo>
                <a:lnTo>
                  <a:pt x="4572000" y="0"/>
                </a:lnTo>
                <a:close/>
              </a:path>
            </a:pathLst>
          </a:custGeom>
          <a:solidFill>
            <a:srgbClr val="9437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029962" y="5994653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>
                <a:moveTo>
                  <a:pt x="0" y="0"/>
                </a:moveTo>
                <a:lnTo>
                  <a:pt x="468249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5984" y="78689"/>
            <a:ext cx="4171315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3039" y="1648180"/>
            <a:ext cx="3744595" cy="2830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openxmlformats.org/officeDocument/2006/relationships/image" Target="../media/image24.jpg"/><Relationship Id="rId7" Type="http://schemas.openxmlformats.org/officeDocument/2006/relationships/image" Target="../media/image28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4588" y="1737360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19" y="0"/>
                </a:lnTo>
              </a:path>
            </a:pathLst>
          </a:custGeom>
          <a:ln w="648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6333744"/>
            <a:ext cx="9144000" cy="524510"/>
            <a:chOff x="0" y="6333744"/>
            <a:chExt cx="9144000" cy="524510"/>
          </a:xfrm>
        </p:grpSpPr>
        <p:sp>
          <p:nvSpPr>
            <p:cNvPr id="4" name="object 4"/>
            <p:cNvSpPr/>
            <p:nvPr/>
          </p:nvSpPr>
          <p:spPr>
            <a:xfrm>
              <a:off x="3047" y="6400799"/>
              <a:ext cx="9141460" cy="457200"/>
            </a:xfrm>
            <a:custGeom>
              <a:avLst/>
              <a:gdLst/>
              <a:ahLst/>
              <a:cxnLst/>
              <a:rect l="l" t="t" r="r" b="b"/>
              <a:pathLst>
                <a:path w="9141460" h="457200">
                  <a:moveTo>
                    <a:pt x="9140952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9140952" y="457199"/>
                  </a:lnTo>
                  <a:lnTo>
                    <a:pt x="9140952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333744"/>
              <a:ext cx="9141460" cy="64135"/>
            </a:xfrm>
            <a:custGeom>
              <a:avLst/>
              <a:gdLst/>
              <a:ahLst/>
              <a:cxnLst/>
              <a:rect l="l" t="t" r="r" b="b"/>
              <a:pathLst>
                <a:path w="9141460" h="64135">
                  <a:moveTo>
                    <a:pt x="9140952" y="0"/>
                  </a:moveTo>
                  <a:lnTo>
                    <a:pt x="0" y="0"/>
                  </a:lnTo>
                  <a:lnTo>
                    <a:pt x="0" y="64007"/>
                  </a:lnTo>
                  <a:lnTo>
                    <a:pt x="9140952" y="64007"/>
                  </a:lnTo>
                  <a:lnTo>
                    <a:pt x="9140952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905255" y="4343400"/>
            <a:ext cx="7406640" cy="0"/>
          </a:xfrm>
          <a:custGeom>
            <a:avLst/>
            <a:gdLst/>
            <a:ahLst/>
            <a:cxnLst/>
            <a:rect l="l" t="t" r="r" b="b"/>
            <a:pathLst>
              <a:path w="7406640">
                <a:moveTo>
                  <a:pt x="0" y="0"/>
                </a:moveTo>
                <a:lnTo>
                  <a:pt x="7406640" y="0"/>
                </a:lnTo>
              </a:path>
            </a:pathLst>
          </a:custGeom>
          <a:ln w="648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95090" y="2872232"/>
            <a:ext cx="14046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E99D92"/>
                </a:solidFill>
                <a:latin typeface="Arial"/>
                <a:cs typeface="Arial"/>
              </a:rPr>
              <a:t>Numpy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970" y="4792178"/>
            <a:ext cx="5345430" cy="36548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lang="es-PE" b="1" spc="95" dirty="0">
                <a:solidFill>
                  <a:srgbClr val="696363"/>
                </a:solidFill>
                <a:latin typeface="Times New Roman"/>
                <a:cs typeface="Times New Roman"/>
              </a:rPr>
              <a:t>JAIME HUAYTALLA PARIONA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52192" y="1023365"/>
            <a:ext cx="553021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es-PE" sz="1800" b="1" spc="-10" dirty="0">
                <a:solidFill>
                  <a:srgbClr val="9B2C1F"/>
                </a:solidFill>
                <a:latin typeface="Cambria"/>
                <a:cs typeface="Cambria"/>
              </a:rPr>
              <a:t>TECNOLOGÍAS EMERGENTES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42478" y="5763259"/>
            <a:ext cx="401955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spc="-10" dirty="0">
                <a:solidFill>
                  <a:srgbClr val="E9E4DC"/>
                </a:solidFill>
                <a:latin typeface="Calibri"/>
                <a:cs typeface="Calibri"/>
              </a:rPr>
              <a:t>8/06/2024</a:t>
            </a:r>
            <a:endParaRPr sz="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4"/>
            <a:ext cx="9144000" cy="524510"/>
            <a:chOff x="0" y="6333744"/>
            <a:chExt cx="9144000" cy="524510"/>
          </a:xfrm>
        </p:grpSpPr>
        <p:sp>
          <p:nvSpPr>
            <p:cNvPr id="3" name="object 3"/>
            <p:cNvSpPr/>
            <p:nvPr/>
          </p:nvSpPr>
          <p:spPr>
            <a:xfrm>
              <a:off x="0" y="6400799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9144000" y="45719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4"/>
              <a:ext cx="9144000" cy="67310"/>
            </a:xfrm>
            <a:custGeom>
              <a:avLst/>
              <a:gdLst/>
              <a:ahLst/>
              <a:cxnLst/>
              <a:rect l="l" t="t" r="r" b="b"/>
              <a:pathLst>
                <a:path w="9144000" h="67310">
                  <a:moveTo>
                    <a:pt x="9144000" y="0"/>
                  </a:moveTo>
                  <a:lnTo>
                    <a:pt x="0" y="0"/>
                  </a:lnTo>
                  <a:lnTo>
                    <a:pt x="0" y="67055"/>
                  </a:lnTo>
                  <a:lnTo>
                    <a:pt x="9144000" y="6705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 idx="4294967295"/>
          </p:nvPr>
        </p:nvSpPr>
        <p:spPr>
          <a:xfrm>
            <a:off x="990600" y="982535"/>
            <a:ext cx="1592263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35" dirty="0">
                <a:solidFill>
                  <a:srgbClr val="404040"/>
                </a:solidFill>
                <a:latin typeface="Calibri Light"/>
                <a:cs typeface="Calibri Light"/>
              </a:rPr>
              <a:t>AGENDA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0259" y="1726818"/>
            <a:ext cx="1600200" cy="1408430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25"/>
              </a:spcBef>
              <a:buClr>
                <a:srgbClr val="D24717"/>
              </a:buClr>
              <a:buAutoNum type="arabicPeriod"/>
              <a:tabLst>
                <a:tab pos="355600" algn="l"/>
              </a:tabLst>
            </a:pPr>
            <a:r>
              <a:rPr sz="1500" spc="-10" dirty="0">
                <a:latin typeface="Calibri"/>
                <a:cs typeface="Calibri"/>
              </a:rPr>
              <a:t>INTRODUCCIÓN</a:t>
            </a:r>
            <a:endParaRPr sz="15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919"/>
              </a:spcBef>
              <a:buClr>
                <a:srgbClr val="D24717"/>
              </a:buClr>
              <a:buAutoNum type="arabicPeriod"/>
              <a:tabLst>
                <a:tab pos="355600" algn="l"/>
              </a:tabLst>
            </a:pPr>
            <a:r>
              <a:rPr sz="1500" spc="-10" dirty="0">
                <a:solidFill>
                  <a:srgbClr val="404040"/>
                </a:solidFill>
                <a:latin typeface="Calibri"/>
                <a:cs typeface="Calibri"/>
              </a:rPr>
              <a:t>NUMPY</a:t>
            </a:r>
            <a:endParaRPr sz="15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915"/>
              </a:spcBef>
              <a:buClr>
                <a:srgbClr val="D24717"/>
              </a:buClr>
              <a:buAutoNum type="arabicPeriod"/>
              <a:tabLst>
                <a:tab pos="355600" algn="l"/>
              </a:tabLst>
            </a:pPr>
            <a:r>
              <a:rPr sz="1500" spc="-10" dirty="0">
                <a:solidFill>
                  <a:srgbClr val="404040"/>
                </a:solidFill>
                <a:latin typeface="Calibri"/>
                <a:cs typeface="Calibri"/>
              </a:rPr>
              <a:t>PANDAS</a:t>
            </a:r>
            <a:endParaRPr sz="15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925"/>
              </a:spcBef>
              <a:buClr>
                <a:srgbClr val="D24717"/>
              </a:buClr>
              <a:buAutoNum type="arabicPeriod"/>
              <a:tabLst>
                <a:tab pos="355600" algn="l"/>
              </a:tabLst>
            </a:pPr>
            <a:r>
              <a:rPr sz="1500" spc="-10" dirty="0">
                <a:solidFill>
                  <a:srgbClr val="404040"/>
                </a:solidFill>
                <a:latin typeface="Calibri"/>
                <a:cs typeface="Calibri"/>
              </a:rPr>
              <a:t>MATPLOTLIB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9120" y="3600468"/>
            <a:ext cx="2536031" cy="15860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4"/>
            <a:ext cx="9144000" cy="524510"/>
            <a:chOff x="0" y="6333744"/>
            <a:chExt cx="9144000" cy="524510"/>
          </a:xfrm>
        </p:grpSpPr>
        <p:sp>
          <p:nvSpPr>
            <p:cNvPr id="3" name="object 3"/>
            <p:cNvSpPr/>
            <p:nvPr/>
          </p:nvSpPr>
          <p:spPr>
            <a:xfrm>
              <a:off x="0" y="6400799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9144000" y="45719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4"/>
              <a:ext cx="9144000" cy="67310"/>
            </a:xfrm>
            <a:custGeom>
              <a:avLst/>
              <a:gdLst/>
              <a:ahLst/>
              <a:cxnLst/>
              <a:rect l="l" t="t" r="r" b="b"/>
              <a:pathLst>
                <a:path w="9144000" h="67310">
                  <a:moveTo>
                    <a:pt x="9144000" y="0"/>
                  </a:moveTo>
                  <a:lnTo>
                    <a:pt x="0" y="0"/>
                  </a:lnTo>
                  <a:lnTo>
                    <a:pt x="0" y="67055"/>
                  </a:lnTo>
                  <a:lnTo>
                    <a:pt x="9144000" y="6705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 idx="4294967295"/>
          </p:nvPr>
        </p:nvSpPr>
        <p:spPr>
          <a:xfrm>
            <a:off x="752855" y="1090484"/>
            <a:ext cx="1592263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35" dirty="0">
                <a:solidFill>
                  <a:srgbClr val="404040"/>
                </a:solidFill>
                <a:latin typeface="Calibri Light"/>
                <a:cs typeface="Calibri Light"/>
              </a:rPr>
              <a:t>AGENDA</a:t>
            </a:r>
            <a:endParaRPr sz="3600" dirty="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0259" y="1726818"/>
            <a:ext cx="1624965" cy="1408430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25"/>
              </a:spcBef>
              <a:buClr>
                <a:srgbClr val="D24717"/>
              </a:buClr>
              <a:buAutoNum type="arabicPeriod"/>
              <a:tabLst>
                <a:tab pos="355600" algn="l"/>
              </a:tabLst>
            </a:pPr>
            <a:r>
              <a:rPr sz="1500" b="1" spc="-10" dirty="0">
                <a:solidFill>
                  <a:srgbClr val="FF0000"/>
                </a:solidFill>
                <a:latin typeface="Calibri"/>
                <a:cs typeface="Calibri"/>
              </a:rPr>
              <a:t>INTRODUCCIÓN</a:t>
            </a:r>
            <a:endParaRPr sz="15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919"/>
              </a:spcBef>
              <a:buClr>
                <a:srgbClr val="D24717"/>
              </a:buClr>
              <a:buAutoNum type="arabicPeriod"/>
              <a:tabLst>
                <a:tab pos="355600" algn="l"/>
              </a:tabLst>
            </a:pPr>
            <a:r>
              <a:rPr sz="1500" spc="-10" dirty="0">
                <a:solidFill>
                  <a:srgbClr val="404040"/>
                </a:solidFill>
                <a:latin typeface="Calibri"/>
                <a:cs typeface="Calibri"/>
              </a:rPr>
              <a:t>NUMPY</a:t>
            </a:r>
            <a:endParaRPr sz="15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915"/>
              </a:spcBef>
              <a:buClr>
                <a:srgbClr val="D24717"/>
              </a:buClr>
              <a:buAutoNum type="arabicPeriod"/>
              <a:tabLst>
                <a:tab pos="355600" algn="l"/>
              </a:tabLst>
            </a:pPr>
            <a:r>
              <a:rPr sz="1500" spc="-10" dirty="0">
                <a:solidFill>
                  <a:srgbClr val="404040"/>
                </a:solidFill>
                <a:latin typeface="Calibri"/>
                <a:cs typeface="Calibri"/>
              </a:rPr>
              <a:t>PANDAS</a:t>
            </a:r>
            <a:endParaRPr sz="15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925"/>
              </a:spcBef>
              <a:buClr>
                <a:srgbClr val="D24717"/>
              </a:buClr>
              <a:buAutoNum type="arabicPeriod"/>
              <a:tabLst>
                <a:tab pos="355600" algn="l"/>
              </a:tabLst>
            </a:pPr>
            <a:r>
              <a:rPr sz="1500" spc="-10" dirty="0">
                <a:solidFill>
                  <a:srgbClr val="404040"/>
                </a:solidFill>
                <a:latin typeface="Calibri"/>
                <a:cs typeface="Calibri"/>
              </a:rPr>
              <a:t>MATPLOTLIB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9120" y="3600468"/>
            <a:ext cx="2536031" cy="1586081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752855" y="1850135"/>
            <a:ext cx="5073650" cy="320040"/>
          </a:xfrm>
          <a:custGeom>
            <a:avLst/>
            <a:gdLst/>
            <a:ahLst/>
            <a:cxnLst/>
            <a:rect l="l" t="t" r="r" b="b"/>
            <a:pathLst>
              <a:path w="5073650" h="320039">
                <a:moveTo>
                  <a:pt x="5020056" y="0"/>
                </a:moveTo>
                <a:lnTo>
                  <a:pt x="53339" y="0"/>
                </a:lnTo>
                <a:lnTo>
                  <a:pt x="32575" y="4191"/>
                </a:lnTo>
                <a:lnTo>
                  <a:pt x="15620" y="15621"/>
                </a:lnTo>
                <a:lnTo>
                  <a:pt x="4190" y="32575"/>
                </a:lnTo>
                <a:lnTo>
                  <a:pt x="0" y="53339"/>
                </a:lnTo>
                <a:lnTo>
                  <a:pt x="0" y="266700"/>
                </a:lnTo>
                <a:lnTo>
                  <a:pt x="4190" y="287464"/>
                </a:lnTo>
                <a:lnTo>
                  <a:pt x="15620" y="304419"/>
                </a:lnTo>
                <a:lnTo>
                  <a:pt x="32575" y="315849"/>
                </a:lnTo>
                <a:lnTo>
                  <a:pt x="53339" y="320039"/>
                </a:lnTo>
                <a:lnTo>
                  <a:pt x="5020056" y="320039"/>
                </a:lnTo>
                <a:lnTo>
                  <a:pt x="5040820" y="315848"/>
                </a:lnTo>
                <a:lnTo>
                  <a:pt x="5057775" y="304418"/>
                </a:lnTo>
                <a:lnTo>
                  <a:pt x="5069205" y="287464"/>
                </a:lnTo>
                <a:lnTo>
                  <a:pt x="5073396" y="266700"/>
                </a:lnTo>
                <a:lnTo>
                  <a:pt x="5073396" y="53339"/>
                </a:lnTo>
                <a:lnTo>
                  <a:pt x="5069205" y="32575"/>
                </a:lnTo>
                <a:lnTo>
                  <a:pt x="5057775" y="15620"/>
                </a:lnTo>
                <a:lnTo>
                  <a:pt x="5040820" y="4190"/>
                </a:lnTo>
                <a:lnTo>
                  <a:pt x="5020056" y="0"/>
                </a:lnTo>
                <a:close/>
              </a:path>
            </a:pathLst>
          </a:custGeom>
          <a:solidFill>
            <a:srgbClr val="FFC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69873" y="2297429"/>
            <a:ext cx="75907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0859C"/>
                </a:solidFill>
                <a:latin typeface="Courier New"/>
                <a:cs typeface="Courier New"/>
              </a:rPr>
              <a:t>In</a:t>
            </a:r>
            <a:r>
              <a:rPr sz="1200" spc="5" dirty="0">
                <a:solidFill>
                  <a:srgbClr val="30859C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30859C"/>
                </a:solidFill>
                <a:latin typeface="Courier New"/>
                <a:cs typeface="Courier New"/>
              </a:rPr>
              <a:t>[</a:t>
            </a:r>
            <a:r>
              <a:rPr sz="1200" spc="-5" dirty="0">
                <a:solidFill>
                  <a:srgbClr val="30859C"/>
                </a:solidFill>
                <a:latin typeface="Courier New"/>
                <a:cs typeface="Courier New"/>
              </a:rPr>
              <a:t> </a:t>
            </a:r>
            <a:r>
              <a:rPr sz="1200" spc="-25" dirty="0">
                <a:solidFill>
                  <a:srgbClr val="30859C"/>
                </a:solidFill>
                <a:latin typeface="Courier New"/>
                <a:cs typeface="Courier New"/>
              </a:rPr>
              <a:t>]: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 idx="4294967295"/>
          </p:nvPr>
        </p:nvSpPr>
        <p:spPr>
          <a:xfrm>
            <a:off x="0" y="-114300"/>
            <a:ext cx="3665538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dirty="0"/>
              <a:t>Cargando</a:t>
            </a:r>
            <a:r>
              <a:rPr spc="-45" dirty="0"/>
              <a:t> </a:t>
            </a:r>
            <a:r>
              <a:rPr dirty="0"/>
              <a:t>las</a:t>
            </a:r>
            <a:r>
              <a:rPr spc="-45" dirty="0"/>
              <a:t> </a:t>
            </a:r>
            <a:r>
              <a:rPr dirty="0"/>
              <a:t>librerías</a:t>
            </a:r>
            <a:r>
              <a:rPr spc="-65" dirty="0"/>
              <a:t> </a:t>
            </a:r>
            <a:r>
              <a:rPr spc="-25" dirty="0"/>
              <a:t>de </a:t>
            </a:r>
            <a:r>
              <a:rPr spc="-10" dirty="0"/>
              <a:t>Python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18132" y="2257044"/>
            <a:ext cx="6367780" cy="1338580"/>
          </a:xfrm>
          <a:prstGeom prst="rect">
            <a:avLst/>
          </a:prstGeom>
          <a:ln w="9525">
            <a:solidFill>
              <a:srgbClr val="DDD9C3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90805" marR="3790315">
              <a:lnSpc>
                <a:spcPct val="100000"/>
              </a:lnSpc>
              <a:spcBef>
                <a:spcPts val="195"/>
              </a:spcBef>
            </a:pPr>
            <a:r>
              <a:rPr sz="1350" i="1" dirty="0">
                <a:solidFill>
                  <a:srgbClr val="375F92"/>
                </a:solidFill>
                <a:latin typeface="Courier New"/>
                <a:cs typeface="Courier New"/>
              </a:rPr>
              <a:t>#Import</a:t>
            </a:r>
            <a:r>
              <a:rPr sz="1350" i="1" spc="-30" dirty="0">
                <a:solidFill>
                  <a:srgbClr val="375F92"/>
                </a:solidFill>
                <a:latin typeface="Courier New"/>
                <a:cs typeface="Courier New"/>
              </a:rPr>
              <a:t> </a:t>
            </a:r>
            <a:r>
              <a:rPr sz="1350" i="1" dirty="0">
                <a:solidFill>
                  <a:srgbClr val="375F92"/>
                </a:solidFill>
                <a:latin typeface="Courier New"/>
                <a:cs typeface="Courier New"/>
              </a:rPr>
              <a:t>Python</a:t>
            </a:r>
            <a:r>
              <a:rPr sz="1350" i="1" spc="-25" dirty="0">
                <a:solidFill>
                  <a:srgbClr val="375F92"/>
                </a:solidFill>
                <a:latin typeface="Courier New"/>
                <a:cs typeface="Courier New"/>
              </a:rPr>
              <a:t> </a:t>
            </a:r>
            <a:r>
              <a:rPr sz="1350" i="1" spc="-10" dirty="0">
                <a:solidFill>
                  <a:srgbClr val="375F92"/>
                </a:solidFill>
                <a:latin typeface="Courier New"/>
                <a:cs typeface="Courier New"/>
              </a:rPr>
              <a:t>Libraries </a:t>
            </a:r>
            <a:r>
              <a:rPr sz="1350" b="1" dirty="0">
                <a:solidFill>
                  <a:srgbClr val="E36C09"/>
                </a:solidFill>
                <a:latin typeface="Courier New"/>
                <a:cs typeface="Courier New"/>
              </a:rPr>
              <a:t>import</a:t>
            </a:r>
            <a:r>
              <a:rPr sz="1350" b="1" spc="-20" dirty="0">
                <a:solidFill>
                  <a:srgbClr val="E36C09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49452A"/>
                </a:solidFill>
                <a:latin typeface="Courier New"/>
                <a:cs typeface="Courier New"/>
              </a:rPr>
              <a:t>numpy</a:t>
            </a:r>
            <a:r>
              <a:rPr sz="1350" spc="-15" dirty="0">
                <a:solidFill>
                  <a:srgbClr val="49452A"/>
                </a:solidFill>
                <a:latin typeface="Courier New"/>
                <a:cs typeface="Courier New"/>
              </a:rPr>
              <a:t> </a:t>
            </a:r>
            <a:r>
              <a:rPr sz="1350" b="1" dirty="0">
                <a:solidFill>
                  <a:srgbClr val="E36C09"/>
                </a:solidFill>
                <a:latin typeface="Courier New"/>
                <a:cs typeface="Courier New"/>
              </a:rPr>
              <a:t>as</a:t>
            </a:r>
            <a:r>
              <a:rPr sz="1350" b="1" spc="-25" dirty="0">
                <a:solidFill>
                  <a:srgbClr val="E36C09"/>
                </a:solidFill>
                <a:latin typeface="Courier New"/>
                <a:cs typeface="Courier New"/>
              </a:rPr>
              <a:t> </a:t>
            </a:r>
            <a:r>
              <a:rPr sz="1350" spc="-25" dirty="0">
                <a:solidFill>
                  <a:srgbClr val="49452A"/>
                </a:solidFill>
                <a:latin typeface="Courier New"/>
                <a:cs typeface="Courier New"/>
              </a:rPr>
              <a:t>np </a:t>
            </a:r>
            <a:r>
              <a:rPr sz="1350" b="1" dirty="0">
                <a:solidFill>
                  <a:srgbClr val="E36C09"/>
                </a:solidFill>
                <a:latin typeface="Courier New"/>
                <a:cs typeface="Courier New"/>
              </a:rPr>
              <a:t>import</a:t>
            </a:r>
            <a:r>
              <a:rPr sz="1350" b="1" spc="-15" dirty="0">
                <a:solidFill>
                  <a:srgbClr val="E36C09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49452A"/>
                </a:solidFill>
                <a:latin typeface="Courier New"/>
                <a:cs typeface="Courier New"/>
              </a:rPr>
              <a:t>scipy</a:t>
            </a:r>
            <a:r>
              <a:rPr sz="1350" spc="-10" dirty="0">
                <a:solidFill>
                  <a:srgbClr val="49452A"/>
                </a:solidFill>
                <a:latin typeface="Courier New"/>
                <a:cs typeface="Courier New"/>
              </a:rPr>
              <a:t> </a:t>
            </a:r>
            <a:r>
              <a:rPr sz="1350" b="1" dirty="0">
                <a:solidFill>
                  <a:srgbClr val="E36C09"/>
                </a:solidFill>
                <a:latin typeface="Courier New"/>
                <a:cs typeface="Courier New"/>
              </a:rPr>
              <a:t>as</a:t>
            </a:r>
            <a:r>
              <a:rPr sz="1350" b="1" spc="-15" dirty="0">
                <a:solidFill>
                  <a:srgbClr val="E36C09"/>
                </a:solidFill>
                <a:latin typeface="Courier New"/>
                <a:cs typeface="Courier New"/>
              </a:rPr>
              <a:t> </a:t>
            </a:r>
            <a:r>
              <a:rPr sz="1350" spc="-25" dirty="0">
                <a:solidFill>
                  <a:srgbClr val="49452A"/>
                </a:solidFill>
                <a:latin typeface="Courier New"/>
                <a:cs typeface="Courier New"/>
              </a:rPr>
              <a:t>sp </a:t>
            </a:r>
            <a:r>
              <a:rPr sz="1350" b="1" dirty="0">
                <a:solidFill>
                  <a:srgbClr val="E36C09"/>
                </a:solidFill>
                <a:latin typeface="Courier New"/>
                <a:cs typeface="Courier New"/>
              </a:rPr>
              <a:t>import</a:t>
            </a:r>
            <a:r>
              <a:rPr sz="1350" b="1" spc="-15" dirty="0">
                <a:solidFill>
                  <a:srgbClr val="E36C09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49452A"/>
                </a:solidFill>
                <a:latin typeface="Courier New"/>
                <a:cs typeface="Courier New"/>
              </a:rPr>
              <a:t>pandas</a:t>
            </a:r>
            <a:r>
              <a:rPr sz="1350" spc="-10" dirty="0">
                <a:solidFill>
                  <a:srgbClr val="49452A"/>
                </a:solidFill>
                <a:latin typeface="Courier New"/>
                <a:cs typeface="Courier New"/>
              </a:rPr>
              <a:t> </a:t>
            </a:r>
            <a:r>
              <a:rPr sz="1350" b="1" dirty="0">
                <a:solidFill>
                  <a:srgbClr val="E36C09"/>
                </a:solidFill>
                <a:latin typeface="Courier New"/>
                <a:cs typeface="Courier New"/>
              </a:rPr>
              <a:t>as</a:t>
            </a:r>
            <a:r>
              <a:rPr sz="1350" b="1" spc="-10" dirty="0">
                <a:solidFill>
                  <a:srgbClr val="E36C09"/>
                </a:solidFill>
                <a:latin typeface="Courier New"/>
                <a:cs typeface="Courier New"/>
              </a:rPr>
              <a:t> </a:t>
            </a:r>
            <a:r>
              <a:rPr sz="1350" spc="-25" dirty="0">
                <a:solidFill>
                  <a:srgbClr val="49452A"/>
                </a:solidFill>
                <a:latin typeface="Courier New"/>
                <a:cs typeface="Courier New"/>
              </a:rPr>
              <a:t>pd </a:t>
            </a:r>
            <a:r>
              <a:rPr sz="1350" b="1" dirty="0">
                <a:solidFill>
                  <a:srgbClr val="E36C09"/>
                </a:solidFill>
                <a:latin typeface="Courier New"/>
                <a:cs typeface="Courier New"/>
              </a:rPr>
              <a:t>import</a:t>
            </a:r>
            <a:r>
              <a:rPr sz="1350" b="1" spc="-20" dirty="0">
                <a:solidFill>
                  <a:srgbClr val="E36C09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49452A"/>
                </a:solidFill>
                <a:latin typeface="Courier New"/>
                <a:cs typeface="Courier New"/>
              </a:rPr>
              <a:t>matplotlib</a:t>
            </a:r>
            <a:r>
              <a:rPr sz="1350" spc="-15" dirty="0">
                <a:solidFill>
                  <a:srgbClr val="49452A"/>
                </a:solidFill>
                <a:latin typeface="Courier New"/>
                <a:cs typeface="Courier New"/>
              </a:rPr>
              <a:t> </a:t>
            </a:r>
            <a:r>
              <a:rPr sz="1350" b="1" dirty="0">
                <a:solidFill>
                  <a:srgbClr val="E36C09"/>
                </a:solidFill>
                <a:latin typeface="Courier New"/>
                <a:cs typeface="Courier New"/>
              </a:rPr>
              <a:t>as</a:t>
            </a:r>
            <a:r>
              <a:rPr sz="1350" b="1" spc="-25" dirty="0">
                <a:solidFill>
                  <a:srgbClr val="E36C09"/>
                </a:solidFill>
                <a:latin typeface="Courier New"/>
                <a:cs typeface="Courier New"/>
              </a:rPr>
              <a:t> </a:t>
            </a:r>
            <a:r>
              <a:rPr sz="1350" spc="-25" dirty="0">
                <a:solidFill>
                  <a:srgbClr val="49452A"/>
                </a:solidFill>
                <a:latin typeface="Courier New"/>
                <a:cs typeface="Courier New"/>
              </a:rPr>
              <a:t>mpl </a:t>
            </a:r>
            <a:r>
              <a:rPr sz="1350" b="1" dirty="0">
                <a:solidFill>
                  <a:srgbClr val="E36C09"/>
                </a:solidFill>
                <a:latin typeface="Courier New"/>
                <a:cs typeface="Courier New"/>
              </a:rPr>
              <a:t>import</a:t>
            </a:r>
            <a:r>
              <a:rPr sz="1350" b="1" spc="-15" dirty="0">
                <a:solidFill>
                  <a:srgbClr val="E36C09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49452A"/>
                </a:solidFill>
                <a:latin typeface="Courier New"/>
                <a:cs typeface="Courier New"/>
              </a:rPr>
              <a:t>seaborn</a:t>
            </a:r>
            <a:r>
              <a:rPr sz="1350" spc="-20" dirty="0">
                <a:solidFill>
                  <a:srgbClr val="49452A"/>
                </a:solidFill>
                <a:latin typeface="Courier New"/>
                <a:cs typeface="Courier New"/>
              </a:rPr>
              <a:t> </a:t>
            </a:r>
            <a:r>
              <a:rPr sz="1350" b="1" dirty="0">
                <a:solidFill>
                  <a:srgbClr val="E36C09"/>
                </a:solidFill>
                <a:latin typeface="Courier New"/>
                <a:cs typeface="Courier New"/>
              </a:rPr>
              <a:t>as</a:t>
            </a:r>
            <a:r>
              <a:rPr sz="1350" b="1" spc="-5" dirty="0">
                <a:solidFill>
                  <a:srgbClr val="E36C09"/>
                </a:solidFill>
                <a:latin typeface="Courier New"/>
                <a:cs typeface="Courier New"/>
              </a:rPr>
              <a:t> </a:t>
            </a:r>
            <a:r>
              <a:rPr sz="1350" spc="-25" dirty="0">
                <a:solidFill>
                  <a:srgbClr val="49452A"/>
                </a:solidFill>
                <a:latin typeface="Courier New"/>
                <a:cs typeface="Courier New"/>
              </a:rPr>
              <a:t>sns</a:t>
            </a:r>
            <a:endParaRPr sz="1350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19073" y="2182177"/>
            <a:ext cx="7651115" cy="1449705"/>
            <a:chOff x="719073" y="2182177"/>
            <a:chExt cx="7651115" cy="1449705"/>
          </a:xfrm>
        </p:grpSpPr>
        <p:sp>
          <p:nvSpPr>
            <p:cNvPr id="7" name="object 7"/>
            <p:cNvSpPr/>
            <p:nvPr/>
          </p:nvSpPr>
          <p:spPr>
            <a:xfrm>
              <a:off x="743711" y="2186939"/>
              <a:ext cx="7621905" cy="1440180"/>
            </a:xfrm>
            <a:custGeom>
              <a:avLst/>
              <a:gdLst/>
              <a:ahLst/>
              <a:cxnLst/>
              <a:rect l="l" t="t" r="r" b="b"/>
              <a:pathLst>
                <a:path w="7621905" h="1440179">
                  <a:moveTo>
                    <a:pt x="0" y="1440180"/>
                  </a:moveTo>
                  <a:lnTo>
                    <a:pt x="7621524" y="1440180"/>
                  </a:lnTo>
                  <a:lnTo>
                    <a:pt x="7621524" y="0"/>
                  </a:lnTo>
                  <a:lnTo>
                    <a:pt x="0" y="0"/>
                  </a:lnTo>
                  <a:lnTo>
                    <a:pt x="0" y="1440180"/>
                  </a:lnTo>
                  <a:close/>
                </a:path>
              </a:pathLst>
            </a:custGeom>
            <a:ln w="9525">
              <a:solidFill>
                <a:srgbClr val="E36C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4473" y="2187701"/>
              <a:ext cx="0" cy="1439545"/>
            </a:xfrm>
            <a:custGeom>
              <a:avLst/>
              <a:gdLst/>
              <a:ahLst/>
              <a:cxnLst/>
              <a:rect l="l" t="t" r="r" b="b"/>
              <a:pathLst>
                <a:path h="1439545">
                  <a:moveTo>
                    <a:pt x="0" y="0"/>
                  </a:moveTo>
                  <a:lnTo>
                    <a:pt x="0" y="1439037"/>
                  </a:lnTo>
                </a:path>
              </a:pathLst>
            </a:custGeom>
            <a:ln w="50800">
              <a:solidFill>
                <a:srgbClr val="E36C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23366" y="4585208"/>
            <a:ext cx="447865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latin typeface="Arial MT"/>
                <a:cs typeface="Arial MT"/>
              </a:rPr>
              <a:t>Presionar</a:t>
            </a:r>
            <a:r>
              <a:rPr sz="1350" spc="-65" dirty="0">
                <a:latin typeface="Arial MT"/>
                <a:cs typeface="Arial MT"/>
              </a:rPr>
              <a:t> </a:t>
            </a:r>
            <a:r>
              <a:rPr sz="1350" dirty="0">
                <a:latin typeface="Courier New"/>
                <a:cs typeface="Courier New"/>
              </a:rPr>
              <a:t>Shift+Enter</a:t>
            </a:r>
            <a:r>
              <a:rPr sz="1350" spc="-459" dirty="0">
                <a:latin typeface="Courier New"/>
                <a:cs typeface="Courier New"/>
              </a:rPr>
              <a:t> </a:t>
            </a:r>
            <a:r>
              <a:rPr sz="1350" dirty="0">
                <a:latin typeface="Arial MT"/>
                <a:cs typeface="Arial MT"/>
              </a:rPr>
              <a:t>para</a:t>
            </a:r>
            <a:r>
              <a:rPr sz="1350" spc="-30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ejecutar</a:t>
            </a:r>
            <a:r>
              <a:rPr sz="1350" spc="-45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la</a:t>
            </a:r>
            <a:r>
              <a:rPr sz="1350" spc="-10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celda</a:t>
            </a:r>
            <a:r>
              <a:rPr sz="1350" spc="-30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de</a:t>
            </a:r>
            <a:r>
              <a:rPr sz="1350" spc="350" dirty="0">
                <a:latin typeface="Arial MT"/>
                <a:cs typeface="Arial MT"/>
              </a:rPr>
              <a:t> </a:t>
            </a:r>
            <a:r>
              <a:rPr sz="1350" i="1" spc="-10" dirty="0">
                <a:latin typeface="Arial"/>
                <a:cs typeface="Arial"/>
              </a:rPr>
              <a:t>jupyter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4"/>
            <a:ext cx="9144000" cy="524510"/>
            <a:chOff x="0" y="6333744"/>
            <a:chExt cx="9144000" cy="524510"/>
          </a:xfrm>
        </p:grpSpPr>
        <p:sp>
          <p:nvSpPr>
            <p:cNvPr id="3" name="object 3"/>
            <p:cNvSpPr/>
            <p:nvPr/>
          </p:nvSpPr>
          <p:spPr>
            <a:xfrm>
              <a:off x="0" y="6400799"/>
              <a:ext cx="9144000" cy="457200"/>
            </a:xfrm>
            <a:custGeom>
              <a:avLst/>
              <a:gdLst/>
              <a:ahLst/>
              <a:cxnLst/>
              <a:rect l="l" t="t" r="r" b="b"/>
              <a:pathLst>
                <a:path w="9144000" h="457200">
                  <a:moveTo>
                    <a:pt x="9144000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9144000" y="45719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4"/>
              <a:ext cx="9144000" cy="67310"/>
            </a:xfrm>
            <a:custGeom>
              <a:avLst/>
              <a:gdLst/>
              <a:ahLst/>
              <a:cxnLst/>
              <a:rect l="l" t="t" r="r" b="b"/>
              <a:pathLst>
                <a:path w="9144000" h="67310">
                  <a:moveTo>
                    <a:pt x="9144000" y="0"/>
                  </a:moveTo>
                  <a:lnTo>
                    <a:pt x="0" y="0"/>
                  </a:lnTo>
                  <a:lnTo>
                    <a:pt x="0" y="67055"/>
                  </a:lnTo>
                  <a:lnTo>
                    <a:pt x="9144000" y="6705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 idx="4294967295"/>
          </p:nvPr>
        </p:nvSpPr>
        <p:spPr>
          <a:xfrm>
            <a:off x="914400" y="894335"/>
            <a:ext cx="1592263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35" dirty="0">
                <a:solidFill>
                  <a:srgbClr val="404040"/>
                </a:solidFill>
                <a:latin typeface="Calibri Light"/>
                <a:cs typeface="Calibri Light"/>
              </a:rPr>
              <a:t>AGENDA</a:t>
            </a:r>
            <a:endParaRPr sz="3600" dirty="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0259" y="1726818"/>
            <a:ext cx="1600200" cy="1408430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25"/>
              </a:spcBef>
              <a:buClr>
                <a:srgbClr val="D24717"/>
              </a:buClr>
              <a:buAutoNum type="arabicPeriod"/>
              <a:tabLst>
                <a:tab pos="355600" algn="l"/>
              </a:tabLst>
            </a:pPr>
            <a:r>
              <a:rPr sz="1500" spc="-10" dirty="0">
                <a:latin typeface="Calibri"/>
                <a:cs typeface="Calibri"/>
              </a:rPr>
              <a:t>INTRODUCCIÓN</a:t>
            </a:r>
            <a:endParaRPr sz="15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919"/>
              </a:spcBef>
              <a:buClr>
                <a:srgbClr val="D24717"/>
              </a:buClr>
              <a:buAutoNum type="arabicPeriod"/>
              <a:tabLst>
                <a:tab pos="355600" algn="l"/>
              </a:tabLst>
            </a:pPr>
            <a:r>
              <a:rPr sz="1500" b="1" spc="-10" dirty="0">
                <a:solidFill>
                  <a:srgbClr val="FF0000"/>
                </a:solidFill>
                <a:latin typeface="Calibri"/>
                <a:cs typeface="Calibri"/>
              </a:rPr>
              <a:t>NUMPY</a:t>
            </a:r>
            <a:endParaRPr sz="15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915"/>
              </a:spcBef>
              <a:buClr>
                <a:srgbClr val="D24717"/>
              </a:buClr>
              <a:buAutoNum type="arabicPeriod"/>
              <a:tabLst>
                <a:tab pos="355600" algn="l"/>
              </a:tabLst>
            </a:pPr>
            <a:r>
              <a:rPr sz="1500" spc="-10" dirty="0">
                <a:solidFill>
                  <a:srgbClr val="404040"/>
                </a:solidFill>
                <a:latin typeface="Calibri"/>
                <a:cs typeface="Calibri"/>
              </a:rPr>
              <a:t>PANDAS</a:t>
            </a:r>
            <a:endParaRPr sz="15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925"/>
              </a:spcBef>
              <a:buClr>
                <a:srgbClr val="D24717"/>
              </a:buClr>
              <a:buAutoNum type="arabicPeriod"/>
              <a:tabLst>
                <a:tab pos="355600" algn="l"/>
              </a:tabLst>
            </a:pPr>
            <a:r>
              <a:rPr sz="1500" spc="-10" dirty="0">
                <a:solidFill>
                  <a:srgbClr val="404040"/>
                </a:solidFill>
                <a:latin typeface="Calibri"/>
                <a:cs typeface="Calibri"/>
              </a:rPr>
              <a:t>MATPLOTLIB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9120" y="3600468"/>
            <a:ext cx="2536031" cy="1586081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752855" y="2142744"/>
            <a:ext cx="5073650" cy="318770"/>
          </a:xfrm>
          <a:custGeom>
            <a:avLst/>
            <a:gdLst/>
            <a:ahLst/>
            <a:cxnLst/>
            <a:rect l="l" t="t" r="r" b="b"/>
            <a:pathLst>
              <a:path w="5073650" h="318769">
                <a:moveTo>
                  <a:pt x="5020309" y="0"/>
                </a:moveTo>
                <a:lnTo>
                  <a:pt x="53086" y="0"/>
                </a:lnTo>
                <a:lnTo>
                  <a:pt x="32420" y="4169"/>
                </a:lnTo>
                <a:lnTo>
                  <a:pt x="15546" y="15541"/>
                </a:lnTo>
                <a:lnTo>
                  <a:pt x="4170" y="32414"/>
                </a:lnTo>
                <a:lnTo>
                  <a:pt x="0" y="53085"/>
                </a:lnTo>
                <a:lnTo>
                  <a:pt x="0" y="265429"/>
                </a:lnTo>
                <a:lnTo>
                  <a:pt x="4170" y="286101"/>
                </a:lnTo>
                <a:lnTo>
                  <a:pt x="15546" y="302974"/>
                </a:lnTo>
                <a:lnTo>
                  <a:pt x="32420" y="314346"/>
                </a:lnTo>
                <a:lnTo>
                  <a:pt x="53086" y="318515"/>
                </a:lnTo>
                <a:lnTo>
                  <a:pt x="5020309" y="318515"/>
                </a:lnTo>
                <a:lnTo>
                  <a:pt x="5040981" y="314346"/>
                </a:lnTo>
                <a:lnTo>
                  <a:pt x="5057854" y="302974"/>
                </a:lnTo>
                <a:lnTo>
                  <a:pt x="5069226" y="286101"/>
                </a:lnTo>
                <a:lnTo>
                  <a:pt x="5073396" y="265429"/>
                </a:lnTo>
                <a:lnTo>
                  <a:pt x="5073396" y="53085"/>
                </a:lnTo>
                <a:lnTo>
                  <a:pt x="5069226" y="32414"/>
                </a:lnTo>
                <a:lnTo>
                  <a:pt x="5057854" y="15541"/>
                </a:lnTo>
                <a:lnTo>
                  <a:pt x="5040981" y="4169"/>
                </a:lnTo>
                <a:lnTo>
                  <a:pt x="5020309" y="0"/>
                </a:lnTo>
                <a:close/>
              </a:path>
            </a:pathLst>
          </a:custGeom>
          <a:solidFill>
            <a:srgbClr val="FFC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0" y="79375"/>
            <a:ext cx="417195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NumPy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9992" y="778395"/>
            <a:ext cx="8410575" cy="4192904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50"/>
              </a:spcBef>
              <a:buClr>
                <a:srgbClr val="C00000"/>
              </a:buClr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Siglas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Numerical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Python</a:t>
            </a:r>
            <a:endParaRPr sz="2000" dirty="0">
              <a:latin typeface="Calibri"/>
              <a:cs typeface="Calibri"/>
            </a:endParaRPr>
          </a:p>
          <a:p>
            <a:pPr marL="240665" indent="-227965">
              <a:lnSpc>
                <a:spcPts val="2280"/>
              </a:lnSpc>
              <a:spcBef>
                <a:spcPts val="755"/>
              </a:spcBef>
              <a:buClr>
                <a:srgbClr val="C00000"/>
              </a:buClr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Es el paquete fundamental necesario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para la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computación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alto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rendimiento</a:t>
            </a:r>
            <a:endParaRPr sz="2000" dirty="0">
              <a:latin typeface="Calibri"/>
              <a:cs typeface="Calibri"/>
            </a:endParaRPr>
          </a:p>
          <a:p>
            <a:pPr marL="241300">
              <a:lnSpc>
                <a:spcPts val="2280"/>
              </a:lnSpc>
            </a:pPr>
            <a:r>
              <a:rPr sz="2000" dirty="0">
                <a:latin typeface="Calibri"/>
                <a:cs typeface="Calibri"/>
              </a:rPr>
              <a:t>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análisis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datos</a:t>
            </a:r>
            <a:endParaRPr sz="20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160"/>
              </a:lnSpc>
              <a:spcBef>
                <a:spcPts val="1040"/>
              </a:spcBef>
              <a:buClr>
                <a:srgbClr val="C00000"/>
              </a:buClr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NumPy</a:t>
            </a:r>
            <a:r>
              <a:rPr sz="2000" spc="2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</a:t>
            </a:r>
            <a:r>
              <a:rPr sz="2000" spc="2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tan</a:t>
            </a:r>
            <a:r>
              <a:rPr sz="2000" spc="2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importante</a:t>
            </a:r>
            <a:r>
              <a:rPr sz="2000" spc="2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para</a:t>
            </a:r>
            <a:r>
              <a:rPr sz="2000" spc="25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los</a:t>
            </a:r>
            <a:r>
              <a:rPr sz="2000" spc="2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cálculos</a:t>
            </a:r>
            <a:r>
              <a:rPr sz="2000" spc="25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numéricos</a:t>
            </a:r>
            <a:r>
              <a:rPr sz="2000" spc="2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2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Python</a:t>
            </a:r>
            <a:r>
              <a:rPr sz="2000" spc="2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</a:t>
            </a:r>
            <a:r>
              <a:rPr sz="2000" spc="2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porque </a:t>
            </a:r>
            <a:r>
              <a:rPr sz="2000" dirty="0">
                <a:latin typeface="Calibri"/>
                <a:cs typeface="Calibri"/>
              </a:rPr>
              <a:t>está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diseñado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eficiencia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grandes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matrices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datos.</a:t>
            </a:r>
            <a:endParaRPr sz="20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25"/>
              </a:spcBef>
              <a:buClr>
                <a:srgbClr val="C00000"/>
              </a:buClr>
              <a:buFont typeface="Arial MT"/>
              <a:buChar char="•"/>
              <a:tabLst>
                <a:tab pos="240665" algn="l"/>
              </a:tabLst>
            </a:pPr>
            <a:r>
              <a:rPr sz="2000" spc="-10" dirty="0">
                <a:latin typeface="Calibri"/>
                <a:cs typeface="Calibri"/>
              </a:rPr>
              <a:t>Proporciona</a:t>
            </a:r>
            <a:endParaRPr sz="2000" dirty="0">
              <a:latin typeface="Calibri"/>
              <a:cs typeface="Calibri"/>
            </a:endParaRPr>
          </a:p>
          <a:p>
            <a:pPr marL="697865" lvl="1" indent="-227965" algn="just">
              <a:lnSpc>
                <a:spcPct val="100000"/>
              </a:lnSpc>
              <a:spcBef>
                <a:spcPts val="340"/>
              </a:spcBef>
              <a:buClr>
                <a:srgbClr val="C00000"/>
              </a:buClr>
              <a:buFont typeface="Wingdings"/>
              <a:buChar char=""/>
              <a:tabLst>
                <a:tab pos="697865" algn="l"/>
              </a:tabLst>
            </a:pPr>
            <a:r>
              <a:rPr sz="1600" spc="-10" dirty="0">
                <a:latin typeface="Calibri"/>
                <a:cs typeface="Calibri"/>
              </a:rPr>
              <a:t>ndarray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crear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matrices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multidimensionales</a:t>
            </a:r>
            <a:endParaRPr sz="1600" dirty="0">
              <a:latin typeface="Calibri"/>
              <a:cs typeface="Calibri"/>
            </a:endParaRPr>
          </a:p>
          <a:p>
            <a:pPr marL="697865" marR="6985" lvl="1" indent="-228600" algn="just">
              <a:lnSpc>
                <a:spcPts val="1730"/>
              </a:lnSpc>
              <a:spcBef>
                <a:spcPts val="520"/>
              </a:spcBef>
              <a:buClr>
                <a:srgbClr val="C00000"/>
              </a:buClr>
              <a:buFont typeface="Wingdings"/>
              <a:buChar char=""/>
              <a:tabLst>
                <a:tab pos="697865" algn="l"/>
              </a:tabLst>
            </a:pPr>
            <a:r>
              <a:rPr sz="1600" dirty="0">
                <a:latin typeface="Calibri"/>
                <a:cs typeface="Calibri"/>
              </a:rPr>
              <a:t>Almacena</a:t>
            </a:r>
            <a:r>
              <a:rPr sz="1600" spc="2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internamente</a:t>
            </a:r>
            <a:r>
              <a:rPr sz="1600" spc="2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los</a:t>
            </a:r>
            <a:r>
              <a:rPr sz="1600" spc="25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datos</a:t>
            </a:r>
            <a:r>
              <a:rPr sz="1600" spc="2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</a:t>
            </a:r>
            <a:r>
              <a:rPr sz="1600" spc="25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</a:t>
            </a:r>
            <a:r>
              <a:rPr sz="1600" spc="25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bloque</a:t>
            </a:r>
            <a:r>
              <a:rPr sz="1600" spc="25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contiguo</a:t>
            </a:r>
            <a:r>
              <a:rPr sz="1600" spc="25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2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memoria,</a:t>
            </a:r>
            <a:r>
              <a:rPr sz="1600" spc="25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independiente</a:t>
            </a:r>
            <a:r>
              <a:rPr sz="1600" spc="26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de </a:t>
            </a:r>
            <a:r>
              <a:rPr sz="1600" dirty="0">
                <a:latin typeface="Calibri"/>
                <a:cs typeface="Calibri"/>
              </a:rPr>
              <a:t>otros</a:t>
            </a:r>
            <a:r>
              <a:rPr sz="1600" spc="2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objetos</a:t>
            </a:r>
            <a:r>
              <a:rPr sz="1600" spc="2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incorporados</a:t>
            </a:r>
            <a:r>
              <a:rPr sz="1600" spc="2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2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Python,</a:t>
            </a:r>
            <a:r>
              <a:rPr sz="1600" spc="2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utiliza</a:t>
            </a:r>
            <a:r>
              <a:rPr sz="1600" spc="2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mucha</a:t>
            </a:r>
            <a:r>
              <a:rPr sz="1600" spc="2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menos</a:t>
            </a:r>
            <a:r>
              <a:rPr sz="1600" spc="2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memoria</a:t>
            </a:r>
            <a:r>
              <a:rPr sz="1600" spc="2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que</a:t>
            </a:r>
            <a:r>
              <a:rPr sz="1600" spc="25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las</a:t>
            </a:r>
            <a:r>
              <a:rPr sz="1600" spc="2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secuencias incorporadas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Python.</a:t>
            </a:r>
            <a:endParaRPr sz="1600" dirty="0">
              <a:latin typeface="Calibri"/>
              <a:cs typeface="Calibri"/>
            </a:endParaRPr>
          </a:p>
          <a:p>
            <a:pPr marL="697865" marR="8255" lvl="1" indent="-228600" algn="just">
              <a:lnSpc>
                <a:spcPts val="1730"/>
              </a:lnSpc>
              <a:spcBef>
                <a:spcPts val="495"/>
              </a:spcBef>
              <a:buClr>
                <a:srgbClr val="C00000"/>
              </a:buClr>
              <a:buFont typeface="Wingdings"/>
              <a:buChar char=""/>
              <a:tabLst>
                <a:tab pos="697865" algn="l"/>
              </a:tabLst>
            </a:pPr>
            <a:r>
              <a:rPr sz="1600" dirty="0">
                <a:latin typeface="Calibri"/>
                <a:cs typeface="Calibri"/>
              </a:rPr>
              <a:t>Funciones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matemáticas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estándar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para</a:t>
            </a:r>
            <a:r>
              <a:rPr sz="1600" spc="20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operaciones</a:t>
            </a:r>
            <a:r>
              <a:rPr sz="1600" spc="2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rápidas</a:t>
            </a:r>
            <a:r>
              <a:rPr sz="1600" spc="1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arrays</a:t>
            </a:r>
            <a:r>
              <a:rPr sz="1600" spc="2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enteros</a:t>
            </a:r>
            <a:r>
              <a:rPr sz="1600" spc="2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datos</a:t>
            </a:r>
            <a:r>
              <a:rPr sz="1600" spc="18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sin </a:t>
            </a:r>
            <a:r>
              <a:rPr sz="1600" dirty="0">
                <a:latin typeface="Calibri"/>
                <a:cs typeface="Calibri"/>
              </a:rPr>
              <a:t>tener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escribir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bucles</a:t>
            </a:r>
            <a:endParaRPr sz="1600" dirty="0">
              <a:latin typeface="Calibri"/>
              <a:cs typeface="Calibri"/>
            </a:endParaRPr>
          </a:p>
          <a:p>
            <a:pPr marL="697865" lvl="1" indent="-227965" algn="just">
              <a:lnSpc>
                <a:spcPts val="1825"/>
              </a:lnSpc>
              <a:spcBef>
                <a:spcPts val="285"/>
              </a:spcBef>
              <a:buClr>
                <a:srgbClr val="C00000"/>
              </a:buClr>
              <a:buFont typeface="Wingdings"/>
              <a:buChar char=""/>
              <a:tabLst>
                <a:tab pos="697865" algn="l"/>
              </a:tabLst>
            </a:pPr>
            <a:r>
              <a:rPr sz="1600" dirty="0">
                <a:latin typeface="Calibri"/>
                <a:cs typeface="Calibri"/>
              </a:rPr>
              <a:t>Los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Arrays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NumPy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importantes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porque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permiten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expresar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operaciones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lotes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sobre</a:t>
            </a:r>
            <a:endParaRPr sz="1600" dirty="0">
              <a:latin typeface="Calibri"/>
              <a:cs typeface="Calibri"/>
            </a:endParaRPr>
          </a:p>
          <a:p>
            <a:pPr marL="697865" algn="just">
              <a:lnSpc>
                <a:spcPts val="1825"/>
              </a:lnSpc>
            </a:pPr>
            <a:r>
              <a:rPr sz="1600" dirty="0">
                <a:latin typeface="Calibri"/>
                <a:cs typeface="Calibri"/>
              </a:rPr>
              <a:t>datos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tener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escribir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ningún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bucle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45" dirty="0">
                <a:latin typeface="Calibri"/>
                <a:cs typeface="Calibri"/>
              </a:rPr>
              <a:t>for.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esto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llamamos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4F81BC"/>
                </a:solidFill>
                <a:latin typeface="Calibri"/>
                <a:cs typeface="Calibri"/>
              </a:rPr>
              <a:t>vectorización</a:t>
            </a:r>
            <a:r>
              <a:rPr sz="1600" spc="-10" dirty="0">
                <a:latin typeface="Calibri"/>
                <a:cs typeface="Calibri"/>
              </a:rPr>
              <a:t>.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0" y="115888"/>
            <a:ext cx="5035550" cy="3921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66340" algn="l"/>
              </a:tabLst>
            </a:pPr>
            <a:r>
              <a:rPr dirty="0"/>
              <a:t>¿Qué</a:t>
            </a:r>
            <a:r>
              <a:rPr spc="-130" dirty="0"/>
              <a:t> </a:t>
            </a:r>
            <a:r>
              <a:rPr dirty="0"/>
              <a:t>es</a:t>
            </a:r>
            <a:r>
              <a:rPr spc="-110" dirty="0"/>
              <a:t> </a:t>
            </a:r>
            <a:r>
              <a:rPr spc="-20" dirty="0"/>
              <a:t>Numpy</a:t>
            </a:r>
            <a:r>
              <a:rPr dirty="0"/>
              <a:t>	y</a:t>
            </a:r>
            <a:r>
              <a:rPr spc="-30" dirty="0"/>
              <a:t> </a:t>
            </a:r>
            <a:r>
              <a:rPr dirty="0"/>
              <a:t>por</a:t>
            </a:r>
            <a:r>
              <a:rPr spc="-10" dirty="0"/>
              <a:t> </a:t>
            </a:r>
            <a:r>
              <a:rPr dirty="0"/>
              <a:t>qué</a:t>
            </a:r>
            <a:r>
              <a:rPr spc="-20" dirty="0"/>
              <a:t> </a:t>
            </a:r>
            <a:r>
              <a:rPr spc="-10" dirty="0"/>
              <a:t>usarlo?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5394" y="1241645"/>
            <a:ext cx="8218805" cy="1207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ct val="116900"/>
              </a:lnSpc>
              <a:spcBef>
                <a:spcPts val="150"/>
              </a:spcBef>
              <a:tabLst>
                <a:tab pos="1347470" algn="l"/>
              </a:tabLst>
            </a:pPr>
            <a:r>
              <a:rPr sz="2200" b="1" dirty="0">
                <a:solidFill>
                  <a:srgbClr val="575757"/>
                </a:solidFill>
                <a:latin typeface="Trebuchet MS"/>
                <a:cs typeface="Trebuchet MS"/>
              </a:rPr>
              <a:t>Numpy</a:t>
            </a:r>
            <a:r>
              <a:rPr sz="2200" b="1" spc="13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2200" spc="-50" dirty="0">
                <a:solidFill>
                  <a:srgbClr val="575757"/>
                </a:solidFill>
                <a:latin typeface="Trebuchet MS"/>
                <a:cs typeface="Trebuchet MS"/>
              </a:rPr>
              <a:t>–</a:t>
            </a:r>
            <a:r>
              <a:rPr sz="2200" dirty="0">
                <a:solidFill>
                  <a:srgbClr val="575757"/>
                </a:solidFill>
                <a:latin typeface="Trebuchet MS"/>
                <a:cs typeface="Trebuchet MS"/>
              </a:rPr>
              <a:t>	paquete</a:t>
            </a:r>
            <a:r>
              <a:rPr sz="2200" spc="14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575757"/>
                </a:solidFill>
                <a:latin typeface="Trebuchet MS"/>
                <a:cs typeface="Trebuchet MS"/>
              </a:rPr>
              <a:t>para</a:t>
            </a:r>
            <a:r>
              <a:rPr sz="2200" spc="16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575757"/>
                </a:solidFill>
                <a:latin typeface="Trebuchet MS"/>
                <a:cs typeface="Trebuchet MS"/>
              </a:rPr>
              <a:t>la</a:t>
            </a:r>
            <a:r>
              <a:rPr sz="2200" spc="16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575757"/>
                </a:solidFill>
                <a:latin typeface="Trebuchet MS"/>
                <a:cs typeface="Trebuchet MS"/>
              </a:rPr>
              <a:t>manipulación</a:t>
            </a:r>
            <a:r>
              <a:rPr sz="2200" spc="13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575757"/>
                </a:solidFill>
                <a:latin typeface="Trebuchet MS"/>
                <a:cs typeface="Trebuchet MS"/>
              </a:rPr>
              <a:t>de</a:t>
            </a:r>
            <a:r>
              <a:rPr sz="2200" spc="17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575757"/>
                </a:solidFill>
                <a:latin typeface="Trebuchet MS"/>
                <a:cs typeface="Trebuchet MS"/>
              </a:rPr>
              <a:t>vectores</a:t>
            </a:r>
            <a:r>
              <a:rPr sz="2200" spc="13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575757"/>
                </a:solidFill>
                <a:latin typeface="Trebuchet MS"/>
                <a:cs typeface="Trebuchet MS"/>
              </a:rPr>
              <a:t>y</a:t>
            </a:r>
            <a:r>
              <a:rPr sz="2200" spc="16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575757"/>
                </a:solidFill>
                <a:latin typeface="Trebuchet MS"/>
                <a:cs typeface="Trebuchet MS"/>
              </a:rPr>
              <a:t>matrices </a:t>
            </a:r>
            <a:r>
              <a:rPr sz="2200" b="1" spc="-10" dirty="0">
                <a:solidFill>
                  <a:srgbClr val="575757"/>
                </a:solidFill>
                <a:latin typeface="Trebuchet MS"/>
                <a:cs typeface="Trebuchet MS"/>
              </a:rPr>
              <a:t>Broadcasting</a:t>
            </a:r>
            <a:r>
              <a:rPr sz="2200" b="1" spc="-3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2200" b="1" dirty="0">
                <a:solidFill>
                  <a:srgbClr val="575757"/>
                </a:solidFill>
                <a:latin typeface="Trebuchet MS"/>
                <a:cs typeface="Trebuchet MS"/>
              </a:rPr>
              <a:t>y</a:t>
            </a:r>
            <a:r>
              <a:rPr sz="2200" b="1" spc="1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2200" b="1" spc="-65" dirty="0">
                <a:solidFill>
                  <a:srgbClr val="575757"/>
                </a:solidFill>
                <a:latin typeface="Trebuchet MS"/>
                <a:cs typeface="Trebuchet MS"/>
              </a:rPr>
              <a:t>vectorización:</a:t>
            </a:r>
            <a:r>
              <a:rPr sz="2200" b="1" spc="2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575757"/>
                </a:solidFill>
                <a:latin typeface="Trebuchet MS"/>
                <a:cs typeface="Trebuchet MS"/>
              </a:rPr>
              <a:t>ahorra</a:t>
            </a:r>
            <a:r>
              <a:rPr sz="2200" spc="28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575757"/>
                </a:solidFill>
                <a:latin typeface="Trebuchet MS"/>
                <a:cs typeface="Trebuchet MS"/>
              </a:rPr>
              <a:t>tiempo</a:t>
            </a:r>
            <a:r>
              <a:rPr sz="2200" spc="29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575757"/>
                </a:solidFill>
                <a:latin typeface="Trebuchet MS"/>
                <a:cs typeface="Trebuchet MS"/>
              </a:rPr>
              <a:t>y</a:t>
            </a:r>
            <a:r>
              <a:rPr sz="2200" spc="27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575757"/>
                </a:solidFill>
                <a:latin typeface="Trebuchet MS"/>
                <a:cs typeface="Trebuchet MS"/>
              </a:rPr>
              <a:t>cantidad</a:t>
            </a:r>
            <a:r>
              <a:rPr sz="2200" spc="31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2200" spc="-25" dirty="0">
                <a:solidFill>
                  <a:srgbClr val="575757"/>
                </a:solidFill>
                <a:latin typeface="Trebuchet MS"/>
                <a:cs typeface="Trebuchet MS"/>
              </a:rPr>
              <a:t>de </a:t>
            </a:r>
            <a:r>
              <a:rPr sz="2200" spc="-10" dirty="0">
                <a:solidFill>
                  <a:srgbClr val="575757"/>
                </a:solidFill>
                <a:latin typeface="Trebuchet MS"/>
                <a:cs typeface="Trebuchet MS"/>
              </a:rPr>
              <a:t>código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5394" y="2971241"/>
            <a:ext cx="8154670" cy="16440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70" dirty="0">
                <a:solidFill>
                  <a:srgbClr val="575757"/>
                </a:solidFill>
                <a:latin typeface="Trebuchet MS"/>
                <a:cs typeface="Trebuchet MS"/>
              </a:rPr>
              <a:t>Para</a:t>
            </a:r>
            <a:r>
              <a:rPr sz="1800" spc="-8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575757"/>
                </a:solidFill>
                <a:latin typeface="Trebuchet MS"/>
                <a:cs typeface="Trebuchet MS"/>
              </a:rPr>
              <a:t>tu</a:t>
            </a:r>
            <a:r>
              <a:rPr sz="1800" spc="-8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575757"/>
                </a:solidFill>
                <a:latin typeface="Trebuchet MS"/>
                <a:cs typeface="Trebuchet MS"/>
              </a:rPr>
              <a:t>información,</a:t>
            </a:r>
            <a:r>
              <a:rPr sz="1800" spc="-3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575757"/>
                </a:solidFill>
                <a:latin typeface="Trebuchet MS"/>
                <a:cs typeface="Trebuchet MS"/>
              </a:rPr>
              <a:t>si</a:t>
            </a:r>
            <a:r>
              <a:rPr sz="1800" spc="-10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575757"/>
                </a:solidFill>
                <a:latin typeface="Trebuchet MS"/>
                <a:cs typeface="Trebuchet MS"/>
              </a:rPr>
              <a:t>estás</a:t>
            </a:r>
            <a:r>
              <a:rPr sz="1800" spc="-8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575757"/>
                </a:solidFill>
                <a:latin typeface="Trebuchet MS"/>
                <a:cs typeface="Trebuchet MS"/>
              </a:rPr>
              <a:t>interesado</a:t>
            </a:r>
            <a:r>
              <a:rPr sz="1800" spc="-6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575757"/>
                </a:solidFill>
                <a:latin typeface="Trebuchet MS"/>
                <a:cs typeface="Trebuchet MS"/>
              </a:rPr>
              <a:t>en</a:t>
            </a:r>
            <a:r>
              <a:rPr sz="1800" spc="-8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575757"/>
                </a:solidFill>
                <a:latin typeface="Trebuchet MS"/>
                <a:cs typeface="Trebuchet MS"/>
              </a:rPr>
              <a:t>cómo/por</a:t>
            </a:r>
            <a:r>
              <a:rPr sz="1800" spc="-6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575757"/>
                </a:solidFill>
                <a:latin typeface="Trebuchet MS"/>
                <a:cs typeface="Trebuchet MS"/>
              </a:rPr>
              <a:t>qué</a:t>
            </a:r>
            <a:r>
              <a:rPr sz="1800" spc="-9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575757"/>
                </a:solidFill>
                <a:latin typeface="Trebuchet MS"/>
                <a:cs typeface="Trebuchet MS"/>
              </a:rPr>
              <a:t>la</a:t>
            </a:r>
            <a:r>
              <a:rPr sz="1800" spc="-8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575757"/>
                </a:solidFill>
                <a:latin typeface="Trebuchet MS"/>
                <a:cs typeface="Trebuchet MS"/>
              </a:rPr>
              <a:t>vectorización</a:t>
            </a:r>
            <a:r>
              <a:rPr sz="1800" spc="-4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575757"/>
                </a:solidFill>
                <a:latin typeface="Trebuchet MS"/>
                <a:cs typeface="Trebuchet MS"/>
              </a:rPr>
              <a:t>es</a:t>
            </a:r>
            <a:r>
              <a:rPr sz="1800" spc="-9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575757"/>
                </a:solidFill>
                <a:latin typeface="Trebuchet MS"/>
                <a:cs typeface="Trebuchet MS"/>
              </a:rPr>
              <a:t>más </a:t>
            </a:r>
            <a:r>
              <a:rPr sz="1800" spc="-50" dirty="0">
                <a:solidFill>
                  <a:srgbClr val="575757"/>
                </a:solidFill>
                <a:latin typeface="Trebuchet MS"/>
                <a:cs typeface="Trebuchet MS"/>
              </a:rPr>
              <a:t>rápida,</a:t>
            </a:r>
            <a:r>
              <a:rPr sz="1800" spc="-7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575757"/>
                </a:solidFill>
                <a:latin typeface="Trebuchet MS"/>
                <a:cs typeface="Trebuchet MS"/>
              </a:rPr>
              <a:t>consulta </a:t>
            </a:r>
            <a:r>
              <a:rPr sz="1800" spc="-40" dirty="0">
                <a:solidFill>
                  <a:srgbClr val="575757"/>
                </a:solidFill>
                <a:latin typeface="Trebuchet MS"/>
                <a:cs typeface="Trebuchet MS"/>
              </a:rPr>
              <a:t>los</a:t>
            </a:r>
            <a:r>
              <a:rPr sz="1800" spc="-8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575757"/>
                </a:solidFill>
                <a:latin typeface="Trebuchet MS"/>
                <a:cs typeface="Trebuchet MS"/>
              </a:rPr>
              <a:t>siguientes</a:t>
            </a:r>
            <a:r>
              <a:rPr sz="1800" spc="-6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575757"/>
                </a:solidFill>
                <a:latin typeface="Trebuchet MS"/>
                <a:cs typeface="Trebuchet MS"/>
              </a:rPr>
              <a:t>temas</a:t>
            </a:r>
            <a:r>
              <a:rPr sz="1800" spc="-6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575757"/>
                </a:solidFill>
                <a:latin typeface="Trebuchet MS"/>
                <a:cs typeface="Trebuchet MS"/>
              </a:rPr>
              <a:t>(completamente</a:t>
            </a:r>
            <a:r>
              <a:rPr sz="1800" spc="-2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575757"/>
                </a:solidFill>
                <a:latin typeface="Trebuchet MS"/>
                <a:cs typeface="Trebuchet MS"/>
              </a:rPr>
              <a:t>opcional,</a:t>
            </a:r>
            <a:r>
              <a:rPr sz="1800" spc="-6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575757"/>
                </a:solidFill>
                <a:latin typeface="Trebuchet MS"/>
                <a:cs typeface="Trebuchet MS"/>
              </a:rPr>
              <a:t>definitivamente</a:t>
            </a:r>
            <a:r>
              <a:rPr sz="1800" spc="-2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575757"/>
                </a:solidFill>
                <a:latin typeface="Trebuchet MS"/>
                <a:cs typeface="Trebuchet MS"/>
              </a:rPr>
              <a:t>no </a:t>
            </a:r>
            <a:r>
              <a:rPr sz="1800" spc="-55" dirty="0">
                <a:solidFill>
                  <a:srgbClr val="575757"/>
                </a:solidFill>
                <a:latin typeface="Trebuchet MS"/>
                <a:cs typeface="Trebuchet MS"/>
              </a:rPr>
              <a:t>dentro </a:t>
            </a:r>
            <a:r>
              <a:rPr sz="1800" spc="-35" dirty="0">
                <a:solidFill>
                  <a:srgbClr val="575757"/>
                </a:solidFill>
                <a:latin typeface="Trebuchet MS"/>
                <a:cs typeface="Trebuchet MS"/>
              </a:rPr>
              <a:t>del</a:t>
            </a:r>
            <a:r>
              <a:rPr sz="1800" spc="-6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575757"/>
                </a:solidFill>
                <a:latin typeface="Trebuchet MS"/>
                <a:cs typeface="Trebuchet MS"/>
              </a:rPr>
              <a:t>alcance)</a:t>
            </a:r>
            <a:endParaRPr sz="1800">
              <a:latin typeface="Trebuchet MS"/>
              <a:cs typeface="Trebuchet MS"/>
            </a:endParaRPr>
          </a:p>
          <a:p>
            <a:pPr marL="927100" marR="1330960" indent="-12700">
              <a:lnSpc>
                <a:spcPct val="111800"/>
              </a:lnSpc>
              <a:spcBef>
                <a:spcPts val="260"/>
              </a:spcBef>
            </a:pPr>
            <a:r>
              <a:rPr sz="1100" dirty="0">
                <a:solidFill>
                  <a:srgbClr val="575757"/>
                </a:solidFill>
                <a:latin typeface="Trebuchet MS"/>
                <a:cs typeface="Trebuchet MS"/>
              </a:rPr>
              <a:t>AVX</a:t>
            </a:r>
            <a:r>
              <a:rPr sz="1100" spc="8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100" spc="-35" dirty="0">
                <a:solidFill>
                  <a:srgbClr val="575757"/>
                </a:solidFill>
                <a:latin typeface="Trebuchet MS"/>
                <a:cs typeface="Trebuchet MS"/>
              </a:rPr>
              <a:t>instruction</a:t>
            </a:r>
            <a:r>
              <a:rPr sz="1100" spc="-8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575757"/>
                </a:solidFill>
                <a:latin typeface="Trebuchet MS"/>
                <a:cs typeface="Trebuchet MS"/>
              </a:rPr>
              <a:t>set</a:t>
            </a:r>
            <a:r>
              <a:rPr sz="1100" spc="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575757"/>
                </a:solidFill>
                <a:latin typeface="Trebuchet MS"/>
                <a:cs typeface="Trebuchet MS"/>
              </a:rPr>
              <a:t>(SIMD)</a:t>
            </a:r>
            <a:r>
              <a:rPr sz="1100" spc="-3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575757"/>
                </a:solidFill>
                <a:latin typeface="Trebuchet MS"/>
                <a:cs typeface="Trebuchet MS"/>
              </a:rPr>
              <a:t>and</a:t>
            </a:r>
            <a:r>
              <a:rPr sz="1100" spc="2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100" spc="-40" dirty="0">
                <a:solidFill>
                  <a:srgbClr val="575757"/>
                </a:solidFill>
                <a:latin typeface="Trebuchet MS"/>
                <a:cs typeface="Trebuchet MS"/>
              </a:rPr>
              <a:t>structure</a:t>
            </a:r>
            <a:r>
              <a:rPr sz="1100" spc="-1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100" spc="-25" dirty="0">
                <a:solidFill>
                  <a:srgbClr val="575757"/>
                </a:solidFill>
                <a:latin typeface="Trebuchet MS"/>
                <a:cs typeface="Trebuchet MS"/>
              </a:rPr>
              <a:t>of</a:t>
            </a:r>
            <a:r>
              <a:rPr sz="1100" spc="-3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575757"/>
                </a:solidFill>
                <a:latin typeface="Trebuchet MS"/>
                <a:cs typeface="Trebuchet MS"/>
              </a:rPr>
              <a:t>x86</a:t>
            </a:r>
            <a:r>
              <a:rPr sz="1100" spc="3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575757"/>
                </a:solidFill>
                <a:latin typeface="Trebuchet MS"/>
                <a:cs typeface="Trebuchet MS"/>
              </a:rPr>
              <a:t>and</a:t>
            </a:r>
            <a:r>
              <a:rPr sz="1100" spc="-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575757"/>
                </a:solidFill>
                <a:latin typeface="Trebuchet MS"/>
                <a:cs typeface="Trebuchet MS"/>
              </a:rPr>
              <a:t>RISC</a:t>
            </a:r>
            <a:r>
              <a:rPr sz="1100" spc="15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575757"/>
                </a:solidFill>
                <a:latin typeface="Trebuchet MS"/>
                <a:cs typeface="Trebuchet MS"/>
              </a:rPr>
              <a:t>OpenMP</a:t>
            </a:r>
            <a:r>
              <a:rPr sz="1100" spc="-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575757"/>
                </a:solidFill>
                <a:latin typeface="Trebuchet MS"/>
                <a:cs typeface="Trebuchet MS"/>
              </a:rPr>
              <a:t>and</a:t>
            </a:r>
            <a:r>
              <a:rPr sz="1100" spc="2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100" spc="50" dirty="0">
                <a:solidFill>
                  <a:srgbClr val="575757"/>
                </a:solidFill>
                <a:latin typeface="Trebuchet MS"/>
                <a:cs typeface="Trebuchet MS"/>
              </a:rPr>
              <a:t>CUDA</a:t>
            </a:r>
            <a:r>
              <a:rPr sz="1100" spc="8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100" spc="-35" dirty="0">
                <a:solidFill>
                  <a:srgbClr val="575757"/>
                </a:solidFill>
                <a:latin typeface="Trebuchet MS"/>
                <a:cs typeface="Trebuchet MS"/>
              </a:rPr>
              <a:t>for</a:t>
            </a:r>
            <a:r>
              <a:rPr sz="1100" spc="-8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575757"/>
                </a:solidFill>
                <a:latin typeface="Trebuchet MS"/>
                <a:cs typeface="Trebuchet MS"/>
              </a:rPr>
              <a:t>multiprocessing Assembly-level</a:t>
            </a:r>
            <a:r>
              <a:rPr sz="1100" spc="-7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100" spc="-45" dirty="0">
                <a:solidFill>
                  <a:srgbClr val="575757"/>
                </a:solidFill>
                <a:latin typeface="Trebuchet MS"/>
                <a:cs typeface="Trebuchet MS"/>
              </a:rPr>
              <a:t>optimization,</a:t>
            </a:r>
            <a:r>
              <a:rPr sz="1100" spc="-12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575757"/>
                </a:solidFill>
                <a:latin typeface="Trebuchet MS"/>
                <a:cs typeface="Trebuchet MS"/>
              </a:rPr>
              <a:t>memory</a:t>
            </a:r>
            <a:r>
              <a:rPr sz="1100" spc="1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100" spc="-40" dirty="0">
                <a:solidFill>
                  <a:srgbClr val="575757"/>
                </a:solidFill>
                <a:latin typeface="Trebuchet MS"/>
                <a:cs typeface="Trebuchet MS"/>
              </a:rPr>
              <a:t>stride,</a:t>
            </a:r>
            <a:r>
              <a:rPr sz="1100" spc="-6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575757"/>
                </a:solidFill>
                <a:latin typeface="Trebuchet MS"/>
                <a:cs typeface="Trebuchet MS"/>
              </a:rPr>
              <a:t>caching,</a:t>
            </a:r>
            <a:r>
              <a:rPr sz="1100" spc="-4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575757"/>
                </a:solidFill>
                <a:latin typeface="Trebuchet MS"/>
                <a:cs typeface="Trebuchet MS"/>
              </a:rPr>
              <a:t>etc.</a:t>
            </a:r>
            <a:endParaRPr sz="1100">
              <a:latin typeface="Trebuchet MS"/>
              <a:cs typeface="Trebuchet MS"/>
            </a:endParaRPr>
          </a:p>
          <a:p>
            <a:pPr marL="927100" marR="4138295">
              <a:lnSpc>
                <a:spcPts val="1550"/>
              </a:lnSpc>
              <a:spcBef>
                <a:spcPts val="40"/>
              </a:spcBef>
              <a:tabLst>
                <a:tab pos="2261870" algn="l"/>
              </a:tabLst>
            </a:pPr>
            <a:r>
              <a:rPr sz="1100" dirty="0">
                <a:solidFill>
                  <a:srgbClr val="575757"/>
                </a:solidFill>
                <a:latin typeface="Trebuchet MS"/>
                <a:cs typeface="Trebuchet MS"/>
              </a:rPr>
              <a:t>Or</a:t>
            </a:r>
            <a:r>
              <a:rPr sz="1100" spc="-2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575757"/>
                </a:solidFill>
                <a:latin typeface="Trebuchet MS"/>
                <a:cs typeface="Trebuchet MS"/>
              </a:rPr>
              <a:t>even</a:t>
            </a:r>
            <a:r>
              <a:rPr sz="1100" spc="-2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575757"/>
                </a:solidFill>
                <a:latin typeface="Trebuchet MS"/>
                <a:cs typeface="Trebuchet MS"/>
              </a:rPr>
              <a:t>about</a:t>
            </a:r>
            <a:r>
              <a:rPr sz="1100" spc="-5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575757"/>
                </a:solidFill>
                <a:latin typeface="Trebuchet MS"/>
                <a:cs typeface="Trebuchet MS"/>
              </a:rPr>
              <a:t>memory</a:t>
            </a:r>
            <a:r>
              <a:rPr sz="1100" spc="-5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100" spc="-30" dirty="0">
                <a:solidFill>
                  <a:srgbClr val="575757"/>
                </a:solidFill>
                <a:latin typeface="Trebuchet MS"/>
                <a:cs typeface="Trebuchet MS"/>
              </a:rPr>
              <a:t>management,</a:t>
            </a:r>
            <a:r>
              <a:rPr sz="1100" spc="-2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100" spc="-35" dirty="0">
                <a:solidFill>
                  <a:srgbClr val="575757"/>
                </a:solidFill>
                <a:latin typeface="Trebuchet MS"/>
                <a:cs typeface="Trebuchet MS"/>
              </a:rPr>
              <a:t>virtualization </a:t>
            </a:r>
            <a:r>
              <a:rPr sz="1100" dirty="0">
                <a:solidFill>
                  <a:srgbClr val="575757"/>
                </a:solidFill>
                <a:latin typeface="Trebuchet MS"/>
                <a:cs typeface="Trebuchet MS"/>
              </a:rPr>
              <a:t>More</a:t>
            </a:r>
            <a:r>
              <a:rPr sz="1100" spc="-4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575757"/>
                </a:solidFill>
                <a:latin typeface="Trebuchet MS"/>
                <a:cs typeface="Trebuchet MS"/>
              </a:rPr>
              <a:t>bare</a:t>
            </a:r>
            <a:r>
              <a:rPr sz="1100" spc="-1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575757"/>
                </a:solidFill>
                <a:latin typeface="Trebuchet MS"/>
                <a:cs typeface="Trebuchet MS"/>
              </a:rPr>
              <a:t>metal</a:t>
            </a:r>
            <a:r>
              <a:rPr sz="1100" dirty="0">
                <a:solidFill>
                  <a:srgbClr val="575757"/>
                </a:solidFill>
                <a:latin typeface="Trebuchet MS"/>
                <a:cs typeface="Trebuchet MS"/>
              </a:rPr>
              <a:t>	</a:t>
            </a:r>
            <a:r>
              <a:rPr sz="1100" spc="10" dirty="0">
                <a:solidFill>
                  <a:srgbClr val="575757"/>
                </a:solidFill>
                <a:latin typeface="Trebuchet MS"/>
                <a:cs typeface="Trebuchet MS"/>
              </a:rPr>
              <a:t>FPGA,</a:t>
            </a:r>
            <a:r>
              <a:rPr sz="1100" spc="-12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100" spc="-25" dirty="0">
                <a:solidFill>
                  <a:srgbClr val="575757"/>
                </a:solidFill>
                <a:latin typeface="Trebuchet MS"/>
                <a:cs typeface="Trebuchet MS"/>
              </a:rPr>
              <a:t>TPU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7044" y="4546091"/>
            <a:ext cx="261747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0" y="79375"/>
            <a:ext cx="417195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100"/>
              </a:spcBef>
            </a:pPr>
            <a:r>
              <a:rPr dirty="0"/>
              <a:t>Qué</a:t>
            </a:r>
            <a:r>
              <a:rPr spc="-35" dirty="0"/>
              <a:t> </a:t>
            </a:r>
            <a:r>
              <a:rPr dirty="0"/>
              <a:t>es</a:t>
            </a:r>
            <a:r>
              <a:rPr spc="-20" dirty="0"/>
              <a:t> </a:t>
            </a:r>
            <a:r>
              <a:rPr spc="-10" dirty="0"/>
              <a:t>Numpy?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970" y="1309243"/>
            <a:ext cx="8159115" cy="185864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0665" marR="5080" indent="-228600">
              <a:lnSpc>
                <a:spcPts val="2160"/>
              </a:lnSpc>
              <a:spcBef>
                <a:spcPts val="37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spc="-20" dirty="0">
                <a:latin typeface="Calibri"/>
                <a:cs typeface="Calibri"/>
              </a:rPr>
              <a:t>Numpy,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Scipy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Matplotlib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proporcionan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funcionalidades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similares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MATLAB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10" dirty="0">
                <a:latin typeface="Calibri"/>
                <a:cs typeface="Calibri"/>
              </a:rPr>
              <a:t> python.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spc="-10" dirty="0">
                <a:latin typeface="Calibri"/>
                <a:cs typeface="Calibri"/>
              </a:rPr>
              <a:t>Características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Numpy: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697865" algn="l"/>
              </a:tabLst>
            </a:pPr>
            <a:r>
              <a:rPr sz="1600" dirty="0">
                <a:latin typeface="Calibri"/>
                <a:cs typeface="Calibri"/>
              </a:rPr>
              <a:t>Matrices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multidimensionales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tipadas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(matrices)</a:t>
            </a:r>
            <a:endParaRPr sz="16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697865" algn="l"/>
              </a:tabLst>
            </a:pPr>
            <a:r>
              <a:rPr sz="1600" dirty="0">
                <a:latin typeface="Calibri"/>
                <a:cs typeface="Calibri"/>
              </a:rPr>
              <a:t>Cálculos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numéricos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rápidos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(matemáticas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matriciales)</a:t>
            </a:r>
            <a:endParaRPr sz="16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697865" algn="l"/>
              </a:tabLst>
            </a:pPr>
            <a:r>
              <a:rPr sz="1600" dirty="0">
                <a:latin typeface="Calibri"/>
                <a:cs typeface="Calibri"/>
              </a:rPr>
              <a:t>Funciones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matemáticas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nivel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-12700" y="-29464"/>
            <a:ext cx="61594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50" dirty="0">
                <a:latin typeface="Arial MT"/>
                <a:cs typeface="Arial MT"/>
              </a:rPr>
              <a:t>8</a:t>
            </a:r>
            <a:endParaRPr sz="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0" y="36513"/>
            <a:ext cx="3230563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NumPy</a:t>
            </a:r>
            <a:r>
              <a:rPr spc="-75" dirty="0"/>
              <a:t> </a:t>
            </a:r>
            <a:r>
              <a:rPr dirty="0"/>
              <a:t>ndarray</a:t>
            </a:r>
            <a:r>
              <a:rPr spc="-85" dirty="0"/>
              <a:t> </a:t>
            </a:r>
            <a:r>
              <a:rPr dirty="0"/>
              <a:t>vs</a:t>
            </a:r>
            <a:r>
              <a:rPr spc="-80" dirty="0"/>
              <a:t> </a:t>
            </a:r>
            <a:r>
              <a:rPr spc="-20" dirty="0"/>
              <a:t>list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2696" y="832180"/>
            <a:ext cx="7575550" cy="392112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41300" marR="384810" indent="-228600">
              <a:lnSpc>
                <a:spcPct val="90100"/>
              </a:lnSpc>
              <a:spcBef>
                <a:spcPts val="34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Una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características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clave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NumPy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objeto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array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N- </a:t>
            </a:r>
            <a:r>
              <a:rPr sz="2000" dirty="0">
                <a:latin typeface="Calibri"/>
                <a:cs typeface="Calibri"/>
              </a:rPr>
              <a:t>dimensional,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ndarray,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contenedor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rápido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flexible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para </a:t>
            </a:r>
            <a:r>
              <a:rPr sz="2000" dirty="0">
                <a:latin typeface="Calibri"/>
                <a:cs typeface="Calibri"/>
              </a:rPr>
              <a:t>grandes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conjuntos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datos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Python.</a:t>
            </a:r>
            <a:endParaRPr sz="2000">
              <a:latin typeface="Calibri"/>
              <a:cs typeface="Calibri"/>
            </a:endParaRPr>
          </a:p>
          <a:p>
            <a:pPr marL="241300" marR="5080" indent="-228600">
              <a:lnSpc>
                <a:spcPts val="216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Siempre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veas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«array»,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«NumPy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array»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«ndarray»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texto,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con </a:t>
            </a:r>
            <a:r>
              <a:rPr sz="2000" dirty="0">
                <a:latin typeface="Calibri"/>
                <a:cs typeface="Calibri"/>
              </a:rPr>
              <a:t>pocas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excepciones,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todos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refieren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mismo: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objeto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ndarray.</a:t>
            </a:r>
            <a:endParaRPr sz="2000">
              <a:latin typeface="Calibri"/>
              <a:cs typeface="Calibri"/>
            </a:endParaRPr>
          </a:p>
          <a:p>
            <a:pPr marL="241300" marR="38735" indent="-228600">
              <a:lnSpc>
                <a:spcPts val="216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Los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algoritmos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basados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NumPy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suelen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entre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100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veces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más </a:t>
            </a:r>
            <a:r>
              <a:rPr sz="2000" dirty="0">
                <a:latin typeface="Calibri"/>
                <a:cs typeface="Calibri"/>
              </a:rPr>
              <a:t>rápidos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más)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equivalentes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Python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puro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utilizan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mucha </a:t>
            </a:r>
            <a:r>
              <a:rPr sz="2000" dirty="0">
                <a:latin typeface="Calibri"/>
                <a:cs typeface="Calibri"/>
              </a:rPr>
              <a:t>menos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memoria.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solidFill>
                  <a:srgbClr val="001F5F"/>
                </a:solidFill>
                <a:latin typeface="Calibri"/>
                <a:cs typeface="Calibri"/>
              </a:rPr>
              <a:t>import</a:t>
            </a:r>
            <a:r>
              <a:rPr sz="20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1F5F"/>
                </a:solidFill>
                <a:latin typeface="Calibri"/>
                <a:cs typeface="Calibri"/>
              </a:rPr>
              <a:t>numpy</a:t>
            </a:r>
            <a:r>
              <a:rPr sz="20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sz="20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001F5F"/>
                </a:solidFill>
                <a:latin typeface="Calibri"/>
                <a:cs typeface="Calibri"/>
              </a:rPr>
              <a:t>np</a:t>
            </a:r>
            <a:endParaRPr sz="2000">
              <a:latin typeface="Calibri"/>
              <a:cs typeface="Calibri"/>
            </a:endParaRPr>
          </a:p>
          <a:p>
            <a:pPr marL="355600" marR="4131945">
              <a:lnSpc>
                <a:spcPts val="2660"/>
              </a:lnSpc>
              <a:spcBef>
                <a:spcPts val="100"/>
              </a:spcBef>
            </a:pPr>
            <a:r>
              <a:rPr sz="2000" dirty="0">
                <a:solidFill>
                  <a:srgbClr val="001F5F"/>
                </a:solidFill>
                <a:latin typeface="Calibri"/>
                <a:cs typeface="Calibri"/>
              </a:rPr>
              <a:t>my_arr</a:t>
            </a:r>
            <a:r>
              <a:rPr sz="2000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20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1F5F"/>
                </a:solidFill>
                <a:latin typeface="Calibri"/>
                <a:cs typeface="Calibri"/>
              </a:rPr>
              <a:t>np.arange(1000000) my_list</a:t>
            </a:r>
            <a:r>
              <a:rPr sz="20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20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1F5F"/>
                </a:solidFill>
                <a:latin typeface="Calibri"/>
                <a:cs typeface="Calibri"/>
              </a:rPr>
              <a:t>list(range(1000000))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0" y="79375"/>
            <a:ext cx="417195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00"/>
              </a:spcBef>
            </a:pPr>
            <a:r>
              <a:rPr dirty="0"/>
              <a:t>NumPy</a:t>
            </a:r>
            <a:r>
              <a:rPr spc="-100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4500" y="1443654"/>
            <a:ext cx="3750310" cy="231013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825"/>
              </a:spcBef>
              <a:buClr>
                <a:srgbClr val="C00000"/>
              </a:buClr>
              <a:buAutoNum type="arabicPeriod"/>
              <a:tabLst>
                <a:tab pos="527685" algn="l"/>
              </a:tabLst>
            </a:pPr>
            <a:r>
              <a:rPr sz="2400" spc="-10" dirty="0">
                <a:latin typeface="Calibri"/>
                <a:cs typeface="Calibri"/>
              </a:rPr>
              <a:t>Arrays</a:t>
            </a:r>
            <a:endParaRPr sz="24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720"/>
              </a:spcBef>
              <a:buClr>
                <a:srgbClr val="C00000"/>
              </a:buClr>
              <a:buAutoNum type="arabicPeriod"/>
              <a:tabLst>
                <a:tab pos="527685" algn="l"/>
              </a:tabLst>
            </a:pPr>
            <a:r>
              <a:rPr sz="2400" dirty="0">
                <a:latin typeface="Calibri"/>
                <a:cs typeface="Calibri"/>
              </a:rPr>
              <a:t>“Shaping”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transposición</a:t>
            </a:r>
            <a:endParaRPr sz="24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710"/>
              </a:spcBef>
              <a:buClr>
                <a:srgbClr val="C00000"/>
              </a:buClr>
              <a:buAutoNum type="arabicPeriod"/>
              <a:tabLst>
                <a:tab pos="527685" algn="l"/>
              </a:tabLst>
            </a:pPr>
            <a:r>
              <a:rPr sz="2400" spc="-10" dirty="0">
                <a:latin typeface="Calibri"/>
                <a:cs typeface="Calibri"/>
              </a:rPr>
              <a:t>Operaciones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matemáticas</a:t>
            </a:r>
            <a:endParaRPr sz="24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705"/>
              </a:spcBef>
              <a:buClr>
                <a:srgbClr val="C00000"/>
              </a:buClr>
              <a:buAutoNum type="arabicPeriod"/>
              <a:tabLst>
                <a:tab pos="527685" algn="l"/>
              </a:tabLst>
            </a:pPr>
            <a:r>
              <a:rPr sz="2400" dirty="0">
                <a:latin typeface="Calibri"/>
                <a:cs typeface="Calibri"/>
              </a:rPr>
              <a:t>Indexing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slicing</a:t>
            </a:r>
            <a:endParaRPr sz="24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725"/>
              </a:spcBef>
              <a:buClr>
                <a:srgbClr val="C00000"/>
              </a:buClr>
              <a:buAutoNum type="arabicPeriod"/>
              <a:tabLst>
                <a:tab pos="527685" algn="l"/>
              </a:tabLst>
            </a:pPr>
            <a:r>
              <a:rPr sz="2400" spc="-10" dirty="0">
                <a:latin typeface="Calibri"/>
                <a:cs typeface="Calibri"/>
              </a:rPr>
              <a:t>Broadcasting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-12700" y="-29464"/>
            <a:ext cx="9588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25" dirty="0">
                <a:latin typeface="Arial MT"/>
                <a:cs typeface="Arial MT"/>
              </a:rPr>
              <a:t>10</a:t>
            </a:r>
            <a:endParaRPr sz="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0" y="79375"/>
            <a:ext cx="417195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Arrays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9402" y="970283"/>
            <a:ext cx="3779520" cy="2580005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400" dirty="0">
                <a:latin typeface="Calibri"/>
                <a:cs typeface="Calibri"/>
              </a:rPr>
              <a:t>Lista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estructurada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números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Clr>
                <a:srgbClr val="C00000"/>
              </a:buClr>
              <a:buFont typeface="Wingdings"/>
              <a:buChar char=""/>
              <a:tabLst>
                <a:tab pos="240665" algn="l"/>
              </a:tabLst>
            </a:pPr>
            <a:r>
              <a:rPr sz="2100" spc="-10" dirty="0">
                <a:latin typeface="Calibri"/>
                <a:cs typeface="Calibri"/>
              </a:rPr>
              <a:t>Vectores</a:t>
            </a:r>
            <a:endParaRPr sz="2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Clr>
                <a:srgbClr val="C00000"/>
              </a:buClr>
              <a:buFont typeface="Wingdings"/>
              <a:buChar char=""/>
              <a:tabLst>
                <a:tab pos="240665" algn="l"/>
              </a:tabLst>
            </a:pPr>
            <a:r>
              <a:rPr sz="2100" spc="-10" dirty="0">
                <a:latin typeface="Calibri"/>
                <a:cs typeface="Calibri"/>
              </a:rPr>
              <a:t>Matrices</a:t>
            </a:r>
            <a:endParaRPr sz="2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Clr>
                <a:srgbClr val="C00000"/>
              </a:buClr>
              <a:buFont typeface="Wingdings"/>
              <a:buChar char=""/>
              <a:tabLst>
                <a:tab pos="240665" algn="l"/>
              </a:tabLst>
            </a:pPr>
            <a:r>
              <a:rPr sz="2100" spc="-10" dirty="0">
                <a:latin typeface="Calibri"/>
                <a:cs typeface="Calibri"/>
              </a:rPr>
              <a:t>Imágenes</a:t>
            </a:r>
            <a:endParaRPr sz="2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Clr>
                <a:srgbClr val="C00000"/>
              </a:buClr>
              <a:buFont typeface="Wingdings"/>
              <a:buChar char=""/>
              <a:tabLst>
                <a:tab pos="240665" algn="l"/>
              </a:tabLst>
            </a:pPr>
            <a:r>
              <a:rPr sz="2100" spc="-10" dirty="0">
                <a:latin typeface="Calibri"/>
                <a:cs typeface="Calibri"/>
              </a:rPr>
              <a:t>Tensores</a:t>
            </a:r>
            <a:endParaRPr sz="2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Clr>
                <a:srgbClr val="C00000"/>
              </a:buClr>
              <a:buFont typeface="Wingdings"/>
              <a:buChar char=""/>
              <a:tabLst>
                <a:tab pos="240665" algn="l"/>
              </a:tabLst>
            </a:pPr>
            <a:r>
              <a:rPr sz="2100" spc="-10" dirty="0">
                <a:latin typeface="Calibri"/>
                <a:cs typeface="Calibri"/>
              </a:rPr>
              <a:t>ConvNets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-12700" y="-29464"/>
            <a:ext cx="9588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25" dirty="0">
                <a:latin typeface="Arial MT"/>
                <a:cs typeface="Arial MT"/>
              </a:rPr>
              <a:t>11</a:t>
            </a:r>
            <a:endParaRPr sz="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345174" y="1422399"/>
            <a:ext cx="81280" cy="902969"/>
          </a:xfrm>
          <a:custGeom>
            <a:avLst/>
            <a:gdLst/>
            <a:ahLst/>
            <a:cxnLst/>
            <a:rect l="l" t="t" r="r" b="b"/>
            <a:pathLst>
              <a:path w="81279" h="902969">
                <a:moveTo>
                  <a:pt x="81026" y="0"/>
                </a:moveTo>
                <a:lnTo>
                  <a:pt x="0" y="0"/>
                </a:lnTo>
                <a:lnTo>
                  <a:pt x="0" y="13970"/>
                </a:lnTo>
                <a:lnTo>
                  <a:pt x="50419" y="13970"/>
                </a:lnTo>
                <a:lnTo>
                  <a:pt x="50419" y="889000"/>
                </a:lnTo>
                <a:lnTo>
                  <a:pt x="0" y="889000"/>
                </a:lnTo>
                <a:lnTo>
                  <a:pt x="0" y="902970"/>
                </a:lnTo>
                <a:lnTo>
                  <a:pt x="81026" y="902970"/>
                </a:lnTo>
                <a:lnTo>
                  <a:pt x="81026" y="889000"/>
                </a:lnTo>
                <a:lnTo>
                  <a:pt x="81026" y="13970"/>
                </a:lnTo>
                <a:lnTo>
                  <a:pt x="810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33567" y="1422399"/>
            <a:ext cx="81280" cy="902969"/>
          </a:xfrm>
          <a:custGeom>
            <a:avLst/>
            <a:gdLst/>
            <a:ahLst/>
            <a:cxnLst/>
            <a:rect l="l" t="t" r="r" b="b"/>
            <a:pathLst>
              <a:path w="81279" h="902969">
                <a:moveTo>
                  <a:pt x="80899" y="0"/>
                </a:moveTo>
                <a:lnTo>
                  <a:pt x="0" y="0"/>
                </a:lnTo>
                <a:lnTo>
                  <a:pt x="0" y="13970"/>
                </a:lnTo>
                <a:lnTo>
                  <a:pt x="0" y="889000"/>
                </a:lnTo>
                <a:lnTo>
                  <a:pt x="0" y="902970"/>
                </a:lnTo>
                <a:lnTo>
                  <a:pt x="80899" y="902970"/>
                </a:lnTo>
                <a:lnTo>
                  <a:pt x="80899" y="889000"/>
                </a:lnTo>
                <a:lnTo>
                  <a:pt x="30607" y="889000"/>
                </a:lnTo>
                <a:lnTo>
                  <a:pt x="30607" y="13970"/>
                </a:lnTo>
                <a:lnTo>
                  <a:pt x="80899" y="13970"/>
                </a:lnTo>
                <a:lnTo>
                  <a:pt x="808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984494" y="1238250"/>
            <a:ext cx="375920" cy="2433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>
              <a:lnSpc>
                <a:spcPts val="2845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𝑝</a:t>
            </a:r>
            <a:r>
              <a:rPr sz="2625" spc="-37" baseline="-15873" dirty="0">
                <a:latin typeface="Cambria Math"/>
                <a:cs typeface="Cambria Math"/>
              </a:rPr>
              <a:t>𝑥</a:t>
            </a:r>
            <a:endParaRPr sz="2625" baseline="-15873">
              <a:latin typeface="Cambria Math"/>
              <a:cs typeface="Cambria Math"/>
            </a:endParaRPr>
          </a:p>
          <a:p>
            <a:pPr marL="38100">
              <a:lnSpc>
                <a:spcPts val="2815"/>
              </a:lnSpc>
            </a:pPr>
            <a:r>
              <a:rPr sz="2400" spc="-25" dirty="0">
                <a:latin typeface="Cambria Math"/>
                <a:cs typeface="Cambria Math"/>
              </a:rPr>
              <a:t>𝑝</a:t>
            </a:r>
            <a:r>
              <a:rPr sz="2625" spc="-37" baseline="-15873" dirty="0">
                <a:latin typeface="Cambria Math"/>
                <a:cs typeface="Cambria Math"/>
              </a:rPr>
              <a:t>𝑦</a:t>
            </a:r>
            <a:endParaRPr sz="2625" baseline="-15873">
              <a:latin typeface="Cambria Math"/>
              <a:cs typeface="Cambria Math"/>
            </a:endParaRPr>
          </a:p>
          <a:p>
            <a:pPr marL="50165">
              <a:lnSpc>
                <a:spcPts val="2850"/>
              </a:lnSpc>
            </a:pPr>
            <a:r>
              <a:rPr sz="2400" spc="-25" dirty="0">
                <a:latin typeface="Cambria Math"/>
                <a:cs typeface="Cambria Math"/>
              </a:rPr>
              <a:t>𝑝</a:t>
            </a:r>
            <a:r>
              <a:rPr sz="2625" spc="-37" baseline="-15873" dirty="0">
                <a:latin typeface="Cambria Math"/>
                <a:cs typeface="Cambria Math"/>
              </a:rPr>
              <a:t>𝑧</a:t>
            </a:r>
            <a:endParaRPr sz="2625" baseline="-15873">
              <a:latin typeface="Cambria Math"/>
              <a:cs typeface="Cambria Math"/>
            </a:endParaRPr>
          </a:p>
          <a:p>
            <a:pPr marL="55880">
              <a:lnSpc>
                <a:spcPts val="2845"/>
              </a:lnSpc>
              <a:spcBef>
                <a:spcPts val="1945"/>
              </a:spcBef>
            </a:pPr>
            <a:r>
              <a:rPr sz="2400" spc="-50" dirty="0">
                <a:latin typeface="Cambria Math"/>
                <a:cs typeface="Cambria Math"/>
              </a:rPr>
              <a:t>⋯</a:t>
            </a:r>
            <a:endParaRPr sz="2400">
              <a:latin typeface="Cambria Math"/>
              <a:cs typeface="Cambria Math"/>
            </a:endParaRPr>
          </a:p>
          <a:p>
            <a:pPr marL="92710">
              <a:lnSpc>
                <a:spcPts val="2815"/>
              </a:lnSpc>
            </a:pPr>
            <a:r>
              <a:rPr sz="2400" spc="-50" dirty="0">
                <a:latin typeface="Cambria Math"/>
                <a:cs typeface="Cambria Math"/>
              </a:rPr>
              <a:t>⋱</a:t>
            </a:r>
            <a:endParaRPr sz="2400">
              <a:latin typeface="Cambria Math"/>
              <a:cs typeface="Cambria Math"/>
            </a:endParaRPr>
          </a:p>
          <a:p>
            <a:pPr marL="55880">
              <a:lnSpc>
                <a:spcPts val="2850"/>
              </a:lnSpc>
            </a:pPr>
            <a:r>
              <a:rPr sz="2400" spc="-50" dirty="0">
                <a:latin typeface="Cambria Math"/>
                <a:cs typeface="Cambria Math"/>
              </a:rPr>
              <a:t>⋯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151370" y="2749549"/>
            <a:ext cx="81280" cy="904240"/>
          </a:xfrm>
          <a:custGeom>
            <a:avLst/>
            <a:gdLst/>
            <a:ahLst/>
            <a:cxnLst/>
            <a:rect l="l" t="t" r="r" b="b"/>
            <a:pathLst>
              <a:path w="81279" h="904239">
                <a:moveTo>
                  <a:pt x="81026" y="0"/>
                </a:moveTo>
                <a:lnTo>
                  <a:pt x="0" y="0"/>
                </a:lnTo>
                <a:lnTo>
                  <a:pt x="0" y="13970"/>
                </a:lnTo>
                <a:lnTo>
                  <a:pt x="50419" y="13970"/>
                </a:lnTo>
                <a:lnTo>
                  <a:pt x="50419" y="889000"/>
                </a:lnTo>
                <a:lnTo>
                  <a:pt x="0" y="889000"/>
                </a:lnTo>
                <a:lnTo>
                  <a:pt x="0" y="904240"/>
                </a:lnTo>
                <a:lnTo>
                  <a:pt x="81026" y="904240"/>
                </a:lnTo>
                <a:lnTo>
                  <a:pt x="81026" y="889000"/>
                </a:lnTo>
                <a:lnTo>
                  <a:pt x="81026" y="13970"/>
                </a:lnTo>
                <a:lnTo>
                  <a:pt x="810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128895" y="2749549"/>
            <a:ext cx="81280" cy="904240"/>
          </a:xfrm>
          <a:custGeom>
            <a:avLst/>
            <a:gdLst/>
            <a:ahLst/>
            <a:cxnLst/>
            <a:rect l="l" t="t" r="r" b="b"/>
            <a:pathLst>
              <a:path w="81279" h="904239">
                <a:moveTo>
                  <a:pt x="80899" y="0"/>
                </a:moveTo>
                <a:lnTo>
                  <a:pt x="0" y="0"/>
                </a:lnTo>
                <a:lnTo>
                  <a:pt x="0" y="13970"/>
                </a:lnTo>
                <a:lnTo>
                  <a:pt x="0" y="889000"/>
                </a:lnTo>
                <a:lnTo>
                  <a:pt x="0" y="904240"/>
                </a:lnTo>
                <a:lnTo>
                  <a:pt x="80899" y="904240"/>
                </a:lnTo>
                <a:lnTo>
                  <a:pt x="80899" y="889000"/>
                </a:lnTo>
                <a:lnTo>
                  <a:pt x="30607" y="889000"/>
                </a:lnTo>
                <a:lnTo>
                  <a:pt x="30607" y="13970"/>
                </a:lnTo>
                <a:lnTo>
                  <a:pt x="80899" y="13970"/>
                </a:lnTo>
                <a:lnTo>
                  <a:pt x="808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179440" y="2628391"/>
            <a:ext cx="584200" cy="1106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600"/>
              </a:lnSpc>
              <a:spcBef>
                <a:spcPts val="100"/>
              </a:spcBef>
            </a:pPr>
            <a:r>
              <a:rPr sz="3600" spc="-37" baseline="11574" dirty="0">
                <a:latin typeface="Cambria Math"/>
                <a:cs typeface="Cambria Math"/>
              </a:rPr>
              <a:t>𝑎</a:t>
            </a:r>
            <a:r>
              <a:rPr sz="1750" spc="-25" dirty="0">
                <a:latin typeface="Cambria Math"/>
                <a:cs typeface="Cambria Math"/>
              </a:rPr>
              <a:t>11</a:t>
            </a:r>
            <a:endParaRPr sz="1750">
              <a:latin typeface="Cambria Math"/>
              <a:cs typeface="Cambria Math"/>
            </a:endParaRPr>
          </a:p>
          <a:p>
            <a:pPr marL="10160" algn="ctr">
              <a:lnSpc>
                <a:spcPts val="2600"/>
              </a:lnSpc>
            </a:pPr>
            <a:r>
              <a:rPr sz="2400" spc="-50" dirty="0">
                <a:latin typeface="Cambria Math"/>
                <a:cs typeface="Cambria Math"/>
              </a:rPr>
              <a:t>⋮</a:t>
            </a:r>
            <a:endParaRPr sz="24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430"/>
              </a:spcBef>
            </a:pPr>
            <a:r>
              <a:rPr sz="3600" spc="52" baseline="11574" dirty="0">
                <a:latin typeface="Cambria Math"/>
                <a:cs typeface="Cambria Math"/>
              </a:rPr>
              <a:t>𝑎</a:t>
            </a:r>
            <a:r>
              <a:rPr sz="1750" spc="35" dirty="0">
                <a:latin typeface="Cambria Math"/>
                <a:cs typeface="Cambria Math"/>
              </a:rPr>
              <a:t>𝑚1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68185" y="2628391"/>
            <a:ext cx="599440" cy="1106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600"/>
              </a:lnSpc>
              <a:spcBef>
                <a:spcPts val="100"/>
              </a:spcBef>
            </a:pPr>
            <a:r>
              <a:rPr sz="3600" spc="-37" baseline="11574" dirty="0">
                <a:latin typeface="Cambria Math"/>
                <a:cs typeface="Cambria Math"/>
              </a:rPr>
              <a:t>𝑎</a:t>
            </a:r>
            <a:r>
              <a:rPr sz="1750" spc="-25" dirty="0">
                <a:latin typeface="Cambria Math"/>
                <a:cs typeface="Cambria Math"/>
              </a:rPr>
              <a:t>1𝑛</a:t>
            </a:r>
            <a:endParaRPr sz="1750">
              <a:latin typeface="Cambria Math"/>
              <a:cs typeface="Cambria Math"/>
            </a:endParaRPr>
          </a:p>
          <a:p>
            <a:pPr marL="16510" algn="ctr">
              <a:lnSpc>
                <a:spcPts val="2600"/>
              </a:lnSpc>
            </a:pPr>
            <a:r>
              <a:rPr sz="2400" spc="-50" dirty="0">
                <a:latin typeface="Cambria Math"/>
                <a:cs typeface="Cambria Math"/>
              </a:rPr>
              <a:t>⋮</a:t>
            </a:r>
            <a:endParaRPr sz="24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430"/>
              </a:spcBef>
            </a:pPr>
            <a:r>
              <a:rPr sz="3600" spc="97" baseline="11574" dirty="0">
                <a:latin typeface="Cambria Math"/>
                <a:cs typeface="Cambria Math"/>
              </a:rPr>
              <a:t>𝑎</a:t>
            </a:r>
            <a:r>
              <a:rPr sz="1750" spc="65" dirty="0">
                <a:latin typeface="Cambria Math"/>
                <a:cs typeface="Cambria Math"/>
              </a:rPr>
              <a:t>𝑚𝑛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-12700" y="-29464"/>
            <a:ext cx="9588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25" dirty="0">
                <a:latin typeface="Arial MT"/>
                <a:cs typeface="Arial MT"/>
              </a:rPr>
              <a:t>12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 idx="4294967295"/>
          </p:nvPr>
        </p:nvSpPr>
        <p:spPr>
          <a:xfrm>
            <a:off x="0" y="79375"/>
            <a:ext cx="417195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Arrays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49402" y="970283"/>
            <a:ext cx="3779520" cy="2580005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400" dirty="0">
                <a:latin typeface="Calibri"/>
                <a:cs typeface="Calibri"/>
              </a:rPr>
              <a:t>Lista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estructurada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números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Clr>
                <a:srgbClr val="C00000"/>
              </a:buClr>
              <a:buFont typeface="Wingdings"/>
              <a:buChar char=""/>
              <a:tabLst>
                <a:tab pos="240665" algn="l"/>
              </a:tabLst>
            </a:pPr>
            <a:r>
              <a:rPr sz="2100" b="1" spc="-10" dirty="0">
                <a:latin typeface="Calibri"/>
                <a:cs typeface="Calibri"/>
              </a:rPr>
              <a:t>Vectores</a:t>
            </a:r>
            <a:endParaRPr sz="2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Clr>
                <a:srgbClr val="C00000"/>
              </a:buClr>
              <a:buFont typeface="Wingdings"/>
              <a:buChar char=""/>
              <a:tabLst>
                <a:tab pos="240665" algn="l"/>
              </a:tabLst>
            </a:pPr>
            <a:r>
              <a:rPr sz="2100" b="1" spc="-10" dirty="0">
                <a:latin typeface="Calibri"/>
                <a:cs typeface="Calibri"/>
              </a:rPr>
              <a:t>Matrices</a:t>
            </a:r>
            <a:endParaRPr sz="2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Clr>
                <a:srgbClr val="C00000"/>
              </a:buClr>
              <a:buFont typeface="Wingdings"/>
              <a:buChar char=""/>
              <a:tabLst>
                <a:tab pos="240665" algn="l"/>
              </a:tabLst>
            </a:pPr>
            <a:r>
              <a:rPr sz="2100" spc="-10" dirty="0">
                <a:latin typeface="Calibri"/>
                <a:cs typeface="Calibri"/>
              </a:rPr>
              <a:t>Imágenes</a:t>
            </a:r>
            <a:endParaRPr sz="2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Clr>
                <a:srgbClr val="C00000"/>
              </a:buClr>
              <a:buFont typeface="Wingdings"/>
              <a:buChar char=""/>
              <a:tabLst>
                <a:tab pos="240665" algn="l"/>
              </a:tabLst>
            </a:pPr>
            <a:r>
              <a:rPr sz="2100" spc="-10" dirty="0">
                <a:latin typeface="Calibri"/>
                <a:cs typeface="Calibri"/>
              </a:rPr>
              <a:t>Tensores</a:t>
            </a:r>
            <a:endParaRPr sz="2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Clr>
                <a:srgbClr val="C00000"/>
              </a:buClr>
              <a:buFont typeface="Wingdings"/>
              <a:buChar char=""/>
              <a:tabLst>
                <a:tab pos="240665" algn="l"/>
              </a:tabLst>
            </a:pPr>
            <a:r>
              <a:rPr sz="2100" spc="-10" dirty="0">
                <a:latin typeface="Calibri"/>
                <a:cs typeface="Calibri"/>
              </a:rPr>
              <a:t>ConvNets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0" y="79375"/>
            <a:ext cx="417195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Arrays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-12700" y="-29464"/>
            <a:ext cx="9588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25" dirty="0">
                <a:latin typeface="Arial MT"/>
                <a:cs typeface="Arial MT"/>
              </a:rPr>
              <a:t>13</a:t>
            </a:r>
            <a:endParaRPr sz="5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7459" y="2004402"/>
            <a:ext cx="5807064" cy="175462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07949" y="960758"/>
            <a:ext cx="3779520" cy="2580005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400" dirty="0">
                <a:latin typeface="Calibri"/>
                <a:cs typeface="Calibri"/>
              </a:rPr>
              <a:t>Lista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estructurada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números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Clr>
                <a:srgbClr val="C00000"/>
              </a:buClr>
              <a:buFont typeface="Wingdings"/>
              <a:buChar char=""/>
              <a:tabLst>
                <a:tab pos="240665" algn="l"/>
              </a:tabLst>
            </a:pPr>
            <a:r>
              <a:rPr sz="2100" spc="-10" dirty="0">
                <a:latin typeface="Calibri"/>
                <a:cs typeface="Calibri"/>
              </a:rPr>
              <a:t>Vectores</a:t>
            </a:r>
            <a:endParaRPr sz="2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Clr>
                <a:srgbClr val="C00000"/>
              </a:buClr>
              <a:buFont typeface="Wingdings"/>
              <a:buChar char=""/>
              <a:tabLst>
                <a:tab pos="240665" algn="l"/>
              </a:tabLst>
            </a:pPr>
            <a:r>
              <a:rPr sz="2100" spc="-10" dirty="0">
                <a:latin typeface="Calibri"/>
                <a:cs typeface="Calibri"/>
              </a:rPr>
              <a:t>Matrices</a:t>
            </a:r>
            <a:endParaRPr sz="2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60"/>
              </a:spcBef>
              <a:buClr>
                <a:srgbClr val="C00000"/>
              </a:buClr>
              <a:buFont typeface="Wingdings"/>
              <a:buChar char=""/>
              <a:tabLst>
                <a:tab pos="240665" algn="l"/>
              </a:tabLst>
            </a:pPr>
            <a:r>
              <a:rPr sz="2100" b="1" spc="-10" dirty="0">
                <a:latin typeface="Calibri"/>
                <a:cs typeface="Calibri"/>
              </a:rPr>
              <a:t>Imágenes</a:t>
            </a:r>
            <a:endParaRPr sz="2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40"/>
              </a:spcBef>
              <a:buClr>
                <a:srgbClr val="C00000"/>
              </a:buClr>
              <a:buFont typeface="Wingdings"/>
              <a:buChar char=""/>
              <a:tabLst>
                <a:tab pos="240665" algn="l"/>
              </a:tabLst>
            </a:pPr>
            <a:r>
              <a:rPr sz="2100" spc="-10" dirty="0">
                <a:latin typeface="Calibri"/>
                <a:cs typeface="Calibri"/>
              </a:rPr>
              <a:t>Tensores</a:t>
            </a:r>
            <a:endParaRPr sz="2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0"/>
              </a:spcBef>
              <a:buClr>
                <a:srgbClr val="C00000"/>
              </a:buClr>
              <a:buFont typeface="Wingdings"/>
              <a:buChar char=""/>
              <a:tabLst>
                <a:tab pos="240665" algn="l"/>
              </a:tabLst>
            </a:pPr>
            <a:r>
              <a:rPr sz="2100" spc="-10" dirty="0">
                <a:latin typeface="Calibri"/>
                <a:cs typeface="Calibri"/>
              </a:rPr>
              <a:t>ConvNets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0" y="79375"/>
            <a:ext cx="417195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Arrays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2658" y="1714855"/>
            <a:ext cx="1999894" cy="17996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37276" y="3805835"/>
            <a:ext cx="2011578" cy="117260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-12700" y="-29464"/>
            <a:ext cx="9588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25" dirty="0">
                <a:latin typeface="Arial MT"/>
                <a:cs typeface="Arial MT"/>
              </a:rPr>
              <a:t>14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9402" y="970283"/>
            <a:ext cx="3779520" cy="2580005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400" dirty="0">
                <a:latin typeface="Calibri"/>
                <a:cs typeface="Calibri"/>
              </a:rPr>
              <a:t>Lista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estructurada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números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Clr>
                <a:srgbClr val="C00000"/>
              </a:buClr>
              <a:buFont typeface="Wingdings"/>
              <a:buChar char=""/>
              <a:tabLst>
                <a:tab pos="240665" algn="l"/>
              </a:tabLst>
            </a:pPr>
            <a:r>
              <a:rPr sz="2100" spc="-10" dirty="0">
                <a:latin typeface="Calibri"/>
                <a:cs typeface="Calibri"/>
              </a:rPr>
              <a:t>Vectores</a:t>
            </a:r>
            <a:endParaRPr sz="2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Clr>
                <a:srgbClr val="C00000"/>
              </a:buClr>
              <a:buFont typeface="Wingdings"/>
              <a:buChar char=""/>
              <a:tabLst>
                <a:tab pos="240665" algn="l"/>
              </a:tabLst>
            </a:pPr>
            <a:r>
              <a:rPr sz="2100" spc="-10" dirty="0">
                <a:latin typeface="Calibri"/>
                <a:cs typeface="Calibri"/>
              </a:rPr>
              <a:t>Matrices</a:t>
            </a:r>
            <a:endParaRPr sz="2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Clr>
                <a:srgbClr val="C00000"/>
              </a:buClr>
              <a:buFont typeface="Wingdings"/>
              <a:buChar char=""/>
              <a:tabLst>
                <a:tab pos="240665" algn="l"/>
              </a:tabLst>
            </a:pPr>
            <a:r>
              <a:rPr sz="2100" spc="-10" dirty="0">
                <a:latin typeface="Calibri"/>
                <a:cs typeface="Calibri"/>
              </a:rPr>
              <a:t>Imágenes</a:t>
            </a:r>
            <a:endParaRPr sz="2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Clr>
                <a:srgbClr val="C00000"/>
              </a:buClr>
              <a:buFont typeface="Wingdings"/>
              <a:buChar char=""/>
              <a:tabLst>
                <a:tab pos="240665" algn="l"/>
              </a:tabLst>
            </a:pPr>
            <a:r>
              <a:rPr sz="2100" b="1" spc="-10" dirty="0">
                <a:latin typeface="Calibri"/>
                <a:cs typeface="Calibri"/>
              </a:rPr>
              <a:t>Tensores</a:t>
            </a:r>
            <a:endParaRPr sz="2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Clr>
                <a:srgbClr val="C00000"/>
              </a:buClr>
              <a:buFont typeface="Wingdings"/>
              <a:buChar char=""/>
              <a:tabLst>
                <a:tab pos="240665" algn="l"/>
              </a:tabLst>
            </a:pPr>
            <a:r>
              <a:rPr sz="2100" b="1" spc="-10" dirty="0">
                <a:latin typeface="Calibri"/>
                <a:cs typeface="Calibri"/>
              </a:rPr>
              <a:t>ConvNets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0" y="0"/>
            <a:ext cx="4572000" cy="6858000"/>
            <a:chOff x="4572000" y="0"/>
            <a:chExt cx="4572000" cy="6858000"/>
          </a:xfrm>
        </p:grpSpPr>
        <p:sp>
          <p:nvSpPr>
            <p:cNvPr id="3" name="object 3"/>
            <p:cNvSpPr/>
            <p:nvPr/>
          </p:nvSpPr>
          <p:spPr>
            <a:xfrm>
              <a:off x="4572000" y="0"/>
              <a:ext cx="4572000" cy="6858000"/>
            </a:xfrm>
            <a:custGeom>
              <a:avLst/>
              <a:gdLst/>
              <a:ahLst/>
              <a:cxnLst/>
              <a:rect l="l" t="t" r="r" b="b"/>
              <a:pathLst>
                <a:path w="4572000" h="6858000">
                  <a:moveTo>
                    <a:pt x="4572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2000" y="68580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29962" y="5994653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>
                  <a:moveTo>
                    <a:pt x="0" y="0"/>
                  </a:moveTo>
                  <a:lnTo>
                    <a:pt x="468249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1776983"/>
              <a:ext cx="4572000" cy="288340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0" y="688975"/>
            <a:ext cx="413385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>
                <a:solidFill>
                  <a:srgbClr val="FA8B00"/>
                </a:solidFill>
                <a:latin typeface="Trebuchet MS"/>
                <a:cs typeface="Trebuchet MS"/>
              </a:rPr>
              <a:t>Arrays</a:t>
            </a:r>
            <a:r>
              <a:rPr spc="-30" dirty="0">
                <a:solidFill>
                  <a:srgbClr val="C00000"/>
                </a:solidFill>
                <a:latin typeface="Trebuchet MS"/>
                <a:cs typeface="Trebuchet MS"/>
              </a:rPr>
              <a:t>,</a:t>
            </a:r>
            <a:r>
              <a:rPr spc="-12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C00000"/>
                </a:solidFill>
                <a:latin typeface="Trebuchet MS"/>
                <a:cs typeface="Trebuchet MS"/>
              </a:rPr>
              <a:t>Propiedades</a:t>
            </a:r>
            <a:r>
              <a:rPr spc="-11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pc="85" dirty="0">
                <a:solidFill>
                  <a:srgbClr val="C00000"/>
                </a:solidFill>
                <a:latin typeface="Trebuchet MS"/>
                <a:cs typeface="Trebuchet MS"/>
              </a:rPr>
              <a:t>Básicas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8739" y="1707976"/>
            <a:ext cx="4225290" cy="16052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98145" indent="-385445">
              <a:lnSpc>
                <a:spcPct val="100000"/>
              </a:lnSpc>
              <a:spcBef>
                <a:spcPts val="80"/>
              </a:spcBef>
              <a:buClr>
                <a:srgbClr val="C00000"/>
              </a:buClr>
              <a:buSzPct val="120000"/>
              <a:buAutoNum type="arabicPeriod"/>
              <a:tabLst>
                <a:tab pos="398145" algn="l"/>
              </a:tabLst>
            </a:pPr>
            <a:r>
              <a:rPr sz="1500" spc="-10" dirty="0">
                <a:latin typeface="Tahoma"/>
                <a:cs typeface="Tahoma"/>
              </a:rPr>
              <a:t>Las</a:t>
            </a:r>
            <a:r>
              <a:rPr sz="1500" spc="-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matrices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pueden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tener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cualquier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número</a:t>
            </a:r>
            <a:endParaRPr sz="1500">
              <a:latin typeface="Tahoma"/>
              <a:cs typeface="Tahoma"/>
            </a:endParaRPr>
          </a:p>
          <a:p>
            <a:pPr marL="398145">
              <a:lnSpc>
                <a:spcPts val="1780"/>
              </a:lnSpc>
              <a:spcBef>
                <a:spcPts val="215"/>
              </a:spcBef>
            </a:pPr>
            <a:r>
              <a:rPr sz="1500" dirty="0">
                <a:latin typeface="Tahoma"/>
                <a:cs typeface="Tahoma"/>
              </a:rPr>
              <a:t>de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spc="-20" dirty="0">
                <a:latin typeface="Tahoma"/>
                <a:cs typeface="Tahoma"/>
              </a:rPr>
              <a:t>dimensiones,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incluido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cero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spc="-60" dirty="0">
                <a:latin typeface="Tahoma"/>
                <a:cs typeface="Tahoma"/>
              </a:rPr>
              <a:t>(un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escalar).</a:t>
            </a:r>
            <a:endParaRPr sz="1500">
              <a:latin typeface="Tahoma"/>
              <a:cs typeface="Tahoma"/>
            </a:endParaRPr>
          </a:p>
          <a:p>
            <a:pPr marL="398145" marR="5080" indent="-386080">
              <a:lnSpc>
                <a:spcPts val="2080"/>
              </a:lnSpc>
              <a:spcBef>
                <a:spcPts val="120"/>
              </a:spcBef>
              <a:buClr>
                <a:srgbClr val="C00000"/>
              </a:buClr>
              <a:buSzPct val="120000"/>
              <a:buAutoNum type="arabicPeriod" startAt="2"/>
              <a:tabLst>
                <a:tab pos="398145" algn="l"/>
              </a:tabLst>
            </a:pPr>
            <a:r>
              <a:rPr sz="1500" spc="-10" dirty="0">
                <a:latin typeface="Tahoma"/>
                <a:cs typeface="Tahoma"/>
              </a:rPr>
              <a:t>Las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matrices</a:t>
            </a:r>
            <a:r>
              <a:rPr sz="1500" spc="-10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están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spc="-30" dirty="0">
                <a:latin typeface="Tahoma"/>
                <a:cs typeface="Tahoma"/>
              </a:rPr>
              <a:t>tipadas: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np.uint8,</a:t>
            </a:r>
            <a:r>
              <a:rPr sz="1500" spc="-11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np.int64, np.float32,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np.float64</a:t>
            </a:r>
            <a:endParaRPr sz="1500">
              <a:latin typeface="Tahoma"/>
              <a:cs typeface="Tahoma"/>
            </a:endParaRPr>
          </a:p>
          <a:p>
            <a:pPr marL="398145" indent="-385445">
              <a:lnSpc>
                <a:spcPts val="2005"/>
              </a:lnSpc>
              <a:buClr>
                <a:srgbClr val="C00000"/>
              </a:buClr>
              <a:buSzPct val="120000"/>
              <a:buAutoNum type="arabicPeriod" startAt="2"/>
              <a:tabLst>
                <a:tab pos="398145" algn="l"/>
              </a:tabLst>
            </a:pPr>
            <a:r>
              <a:rPr sz="1500" spc="-10" dirty="0">
                <a:latin typeface="Tahoma"/>
                <a:cs typeface="Tahoma"/>
              </a:rPr>
              <a:t>Las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matrices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son</a:t>
            </a:r>
            <a:r>
              <a:rPr sz="1500" spc="-60" dirty="0">
                <a:latin typeface="Tahoma"/>
                <a:cs typeface="Tahoma"/>
              </a:rPr>
              <a:t> </a:t>
            </a:r>
            <a:r>
              <a:rPr sz="1500" spc="-35" dirty="0">
                <a:latin typeface="Tahoma"/>
                <a:cs typeface="Tahoma"/>
              </a:rPr>
              <a:t>densas.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Cada</a:t>
            </a:r>
            <a:r>
              <a:rPr sz="1500" spc="-7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elemento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de</a:t>
            </a:r>
            <a:r>
              <a:rPr sz="1500" spc="-70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la</a:t>
            </a:r>
            <a:endParaRPr sz="1500">
              <a:latin typeface="Tahoma"/>
              <a:cs typeface="Tahoma"/>
            </a:endParaRPr>
          </a:p>
          <a:p>
            <a:pPr marL="398145">
              <a:lnSpc>
                <a:spcPct val="100000"/>
              </a:lnSpc>
              <a:spcBef>
                <a:spcPts val="215"/>
              </a:spcBef>
            </a:pPr>
            <a:r>
              <a:rPr sz="1500" dirty="0">
                <a:latin typeface="Tahoma"/>
                <a:cs typeface="Tahoma"/>
              </a:rPr>
              <a:t>matriz</a:t>
            </a:r>
            <a:r>
              <a:rPr sz="1500" spc="-6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existe</a:t>
            </a:r>
            <a:r>
              <a:rPr sz="1500" spc="-6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y</a:t>
            </a:r>
            <a:r>
              <a:rPr sz="1500" spc="-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tiene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el</a:t>
            </a:r>
            <a:r>
              <a:rPr sz="1500" spc="-6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mismo</a:t>
            </a:r>
            <a:r>
              <a:rPr sz="1500" spc="-6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tipo.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400050" y="762000"/>
            <a:ext cx="417195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79546"/>
                </a:solidFill>
              </a:rPr>
              <a:t>Arrays</a:t>
            </a:r>
            <a:r>
              <a:rPr dirty="0"/>
              <a:t>:</a:t>
            </a:r>
            <a:r>
              <a:rPr spc="-95" dirty="0"/>
              <a:t> </a:t>
            </a:r>
            <a:r>
              <a:rPr spc="-10" dirty="0"/>
              <a:t>Creación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3703" y="1680336"/>
            <a:ext cx="2504440" cy="280670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60"/>
              </a:spcBef>
              <a:buClr>
                <a:srgbClr val="C00000"/>
              </a:buClr>
              <a:buFont typeface="Wingdings"/>
              <a:buChar char=""/>
              <a:tabLst>
                <a:tab pos="241300" algn="l"/>
              </a:tabLst>
            </a:pPr>
            <a:r>
              <a:rPr sz="2100" dirty="0">
                <a:latin typeface="Arial MT"/>
                <a:cs typeface="Arial MT"/>
              </a:rPr>
              <a:t>np.ones,</a:t>
            </a:r>
            <a:r>
              <a:rPr sz="2100" spc="-5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np.zeros</a:t>
            </a:r>
            <a:endParaRPr sz="21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lr>
                <a:srgbClr val="C00000"/>
              </a:buClr>
              <a:buFont typeface="Wingdings"/>
              <a:buChar char=""/>
              <a:tabLst>
                <a:tab pos="241300" algn="l"/>
              </a:tabLst>
            </a:pPr>
            <a:r>
              <a:rPr sz="2100" spc="-10" dirty="0">
                <a:latin typeface="Arial MT"/>
                <a:cs typeface="Arial MT"/>
              </a:rPr>
              <a:t>np.arange</a:t>
            </a:r>
            <a:endParaRPr sz="21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Clr>
                <a:srgbClr val="C00000"/>
              </a:buClr>
              <a:buFont typeface="Wingdings"/>
              <a:buChar char=""/>
              <a:tabLst>
                <a:tab pos="241300" algn="l"/>
              </a:tabLst>
            </a:pPr>
            <a:r>
              <a:rPr sz="2100" spc="-10" dirty="0">
                <a:latin typeface="Arial MT"/>
                <a:cs typeface="Arial MT"/>
              </a:rPr>
              <a:t>np.concatenate</a:t>
            </a:r>
            <a:endParaRPr sz="21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Clr>
                <a:srgbClr val="C00000"/>
              </a:buClr>
              <a:buFont typeface="Wingdings"/>
              <a:buChar char=""/>
              <a:tabLst>
                <a:tab pos="241300" algn="l"/>
              </a:tabLst>
            </a:pPr>
            <a:r>
              <a:rPr sz="2100" spc="-10" dirty="0">
                <a:latin typeface="Arial MT"/>
                <a:cs typeface="Arial MT"/>
              </a:rPr>
              <a:t>np.astype</a:t>
            </a:r>
            <a:endParaRPr sz="2100">
              <a:latin typeface="Arial MT"/>
              <a:cs typeface="Arial MT"/>
            </a:endParaRPr>
          </a:p>
          <a:p>
            <a:pPr marL="241300" indent="-228600">
              <a:lnSpc>
                <a:spcPts val="2395"/>
              </a:lnSpc>
              <a:spcBef>
                <a:spcPts val="755"/>
              </a:spcBef>
              <a:buClr>
                <a:srgbClr val="C00000"/>
              </a:buClr>
              <a:buFont typeface="Wingdings"/>
              <a:buChar char=""/>
              <a:tabLst>
                <a:tab pos="241300" algn="l"/>
              </a:tabLst>
            </a:pPr>
            <a:r>
              <a:rPr sz="2100" spc="-10" dirty="0">
                <a:latin typeface="Arial MT"/>
                <a:cs typeface="Arial MT"/>
              </a:rPr>
              <a:t>np.zeros_like,</a:t>
            </a:r>
            <a:endParaRPr sz="2100">
              <a:latin typeface="Arial MT"/>
              <a:cs typeface="Arial MT"/>
            </a:endParaRPr>
          </a:p>
          <a:p>
            <a:pPr marL="241300">
              <a:lnSpc>
                <a:spcPts val="2395"/>
              </a:lnSpc>
            </a:pPr>
            <a:r>
              <a:rPr sz="2100" spc="-10" dirty="0">
                <a:latin typeface="Arial MT"/>
                <a:cs typeface="Arial MT"/>
              </a:rPr>
              <a:t>np.ones_like</a:t>
            </a:r>
            <a:endParaRPr sz="21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Clr>
                <a:srgbClr val="C00000"/>
              </a:buClr>
              <a:buFont typeface="Wingdings"/>
              <a:buChar char=""/>
              <a:tabLst>
                <a:tab pos="241300" algn="l"/>
              </a:tabLst>
            </a:pPr>
            <a:r>
              <a:rPr sz="2100" spc="-10" dirty="0">
                <a:latin typeface="Arial MT"/>
                <a:cs typeface="Arial MT"/>
              </a:rPr>
              <a:t>np.random.random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0" y="0"/>
            <a:ext cx="4572000" cy="6858000"/>
            <a:chOff x="4572000" y="0"/>
            <a:chExt cx="4572000" cy="6858000"/>
          </a:xfrm>
        </p:grpSpPr>
        <p:sp>
          <p:nvSpPr>
            <p:cNvPr id="3" name="object 3"/>
            <p:cNvSpPr/>
            <p:nvPr/>
          </p:nvSpPr>
          <p:spPr>
            <a:xfrm>
              <a:off x="4572000" y="0"/>
              <a:ext cx="4572000" cy="6858000"/>
            </a:xfrm>
            <a:custGeom>
              <a:avLst/>
              <a:gdLst/>
              <a:ahLst/>
              <a:cxnLst/>
              <a:rect l="l" t="t" r="r" b="b"/>
              <a:pathLst>
                <a:path w="4572000" h="6858000">
                  <a:moveTo>
                    <a:pt x="4572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2000" y="68580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29962" y="5994653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>
                  <a:moveTo>
                    <a:pt x="0" y="0"/>
                  </a:moveTo>
                  <a:lnTo>
                    <a:pt x="468249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1304544"/>
              <a:ext cx="4564380" cy="435254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93039" y="1873885"/>
            <a:ext cx="3011805" cy="19196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b="1" spc="-130" dirty="0">
                <a:latin typeface="Tahoma"/>
                <a:cs typeface="Tahoma"/>
              </a:rPr>
              <a:t>np.ones,</a:t>
            </a:r>
            <a:r>
              <a:rPr sz="1800" b="1" spc="-7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np.zeros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spc="-10" dirty="0">
                <a:latin typeface="Tahoma"/>
                <a:cs typeface="Tahoma"/>
              </a:rPr>
              <a:t>np.arange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spc="-10" dirty="0">
                <a:latin typeface="Tahoma"/>
                <a:cs typeface="Tahoma"/>
              </a:rPr>
              <a:t>np.concatenate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spc="-10" dirty="0">
                <a:latin typeface="Tahoma"/>
                <a:cs typeface="Tahoma"/>
              </a:rPr>
              <a:t>np.astype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spc="-30" dirty="0">
                <a:latin typeface="Tahoma"/>
                <a:cs typeface="Tahoma"/>
              </a:rPr>
              <a:t>np.zeros_like,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np.ones_like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spc="-10" dirty="0">
                <a:latin typeface="Tahoma"/>
                <a:cs typeface="Tahoma"/>
              </a:rPr>
              <a:t>np.random.random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 idx="4294967295"/>
          </p:nvPr>
        </p:nvSpPr>
        <p:spPr>
          <a:xfrm>
            <a:off x="0" y="1084263"/>
            <a:ext cx="248285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A8B00"/>
                </a:solidFill>
              </a:rPr>
              <a:t>Arrays</a:t>
            </a:r>
            <a:r>
              <a:rPr dirty="0">
                <a:solidFill>
                  <a:srgbClr val="C00000"/>
                </a:solidFill>
              </a:rPr>
              <a:t>:</a:t>
            </a:r>
            <a:r>
              <a:rPr spc="-95" dirty="0">
                <a:solidFill>
                  <a:srgbClr val="C00000"/>
                </a:solidFill>
              </a:rPr>
              <a:t> </a:t>
            </a:r>
            <a:r>
              <a:rPr spc="-10" dirty="0">
                <a:solidFill>
                  <a:srgbClr val="C00000"/>
                </a:solidFill>
              </a:rPr>
              <a:t>Creación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0" y="0"/>
            <a:ext cx="4572000" cy="6858000"/>
            <a:chOff x="4572000" y="0"/>
            <a:chExt cx="4572000" cy="6858000"/>
          </a:xfrm>
        </p:grpSpPr>
        <p:sp>
          <p:nvSpPr>
            <p:cNvPr id="3" name="object 3"/>
            <p:cNvSpPr/>
            <p:nvPr/>
          </p:nvSpPr>
          <p:spPr>
            <a:xfrm>
              <a:off x="4572000" y="0"/>
              <a:ext cx="4572000" cy="6858000"/>
            </a:xfrm>
            <a:custGeom>
              <a:avLst/>
              <a:gdLst/>
              <a:ahLst/>
              <a:cxnLst/>
              <a:rect l="l" t="t" r="r" b="b"/>
              <a:pathLst>
                <a:path w="4572000" h="6858000">
                  <a:moveTo>
                    <a:pt x="4572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2000" y="68580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29962" y="5994653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>
                  <a:moveTo>
                    <a:pt x="0" y="0"/>
                  </a:moveTo>
                  <a:lnTo>
                    <a:pt x="468249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64608" y="2324100"/>
              <a:ext cx="3770376" cy="135331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93039" y="1873885"/>
            <a:ext cx="3011805" cy="19196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spc="-35" dirty="0">
                <a:latin typeface="Tahoma"/>
                <a:cs typeface="Tahoma"/>
              </a:rPr>
              <a:t>np.ones,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np.zeros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b="1" spc="-40" dirty="0">
                <a:latin typeface="Tahoma"/>
                <a:cs typeface="Tahoma"/>
              </a:rPr>
              <a:t>np.arange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spc="-10" dirty="0">
                <a:latin typeface="Tahoma"/>
                <a:cs typeface="Tahoma"/>
              </a:rPr>
              <a:t>np.concatenate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spc="-10" dirty="0">
                <a:latin typeface="Tahoma"/>
                <a:cs typeface="Tahoma"/>
              </a:rPr>
              <a:t>np.astype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spc="-30" dirty="0">
                <a:latin typeface="Tahoma"/>
                <a:cs typeface="Tahoma"/>
              </a:rPr>
              <a:t>np.zeros_like,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np.ones_like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spc="-10" dirty="0">
                <a:latin typeface="Tahoma"/>
                <a:cs typeface="Tahoma"/>
              </a:rPr>
              <a:t>np.random.random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 idx="4294967295"/>
          </p:nvPr>
        </p:nvSpPr>
        <p:spPr>
          <a:xfrm>
            <a:off x="0" y="1084263"/>
            <a:ext cx="248285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A8B00"/>
                </a:solidFill>
              </a:rPr>
              <a:t>Arrays</a:t>
            </a:r>
            <a:r>
              <a:rPr dirty="0">
                <a:solidFill>
                  <a:srgbClr val="C00000"/>
                </a:solidFill>
              </a:rPr>
              <a:t>:</a:t>
            </a:r>
            <a:r>
              <a:rPr spc="-95" dirty="0">
                <a:solidFill>
                  <a:srgbClr val="C00000"/>
                </a:solidFill>
              </a:rPr>
              <a:t> </a:t>
            </a:r>
            <a:r>
              <a:rPr spc="-10" dirty="0">
                <a:solidFill>
                  <a:srgbClr val="C00000"/>
                </a:solidFill>
              </a:rPr>
              <a:t>Creación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0" y="0"/>
            <a:ext cx="4572000" cy="6858000"/>
            <a:chOff x="4572000" y="0"/>
            <a:chExt cx="4572000" cy="6858000"/>
          </a:xfrm>
        </p:grpSpPr>
        <p:sp>
          <p:nvSpPr>
            <p:cNvPr id="3" name="object 3"/>
            <p:cNvSpPr/>
            <p:nvPr/>
          </p:nvSpPr>
          <p:spPr>
            <a:xfrm>
              <a:off x="4572000" y="0"/>
              <a:ext cx="4572000" cy="6858000"/>
            </a:xfrm>
            <a:custGeom>
              <a:avLst/>
              <a:gdLst/>
              <a:ahLst/>
              <a:cxnLst/>
              <a:rect l="l" t="t" r="r" b="b"/>
              <a:pathLst>
                <a:path w="4572000" h="6858000">
                  <a:moveTo>
                    <a:pt x="4572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2000" y="68580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29962" y="5994653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>
                  <a:moveTo>
                    <a:pt x="0" y="0"/>
                  </a:moveTo>
                  <a:lnTo>
                    <a:pt x="468249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68240" y="0"/>
              <a:ext cx="3819144" cy="685799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93039" y="1873885"/>
            <a:ext cx="3011805" cy="19196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spc="-35" dirty="0">
                <a:latin typeface="Tahoma"/>
                <a:cs typeface="Tahoma"/>
              </a:rPr>
              <a:t>np.ones,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np.zeros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spc="-10" dirty="0">
                <a:latin typeface="Tahoma"/>
                <a:cs typeface="Tahoma"/>
              </a:rPr>
              <a:t>np.arange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b="1" spc="-55" dirty="0">
                <a:latin typeface="Tahoma"/>
                <a:cs typeface="Tahoma"/>
              </a:rPr>
              <a:t>np.concatenate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spc="-10" dirty="0">
                <a:latin typeface="Tahoma"/>
                <a:cs typeface="Tahoma"/>
              </a:rPr>
              <a:t>np.astype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spc="-30" dirty="0">
                <a:latin typeface="Tahoma"/>
                <a:cs typeface="Tahoma"/>
              </a:rPr>
              <a:t>np.zeros_like,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np.ones_like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spc="-10" dirty="0">
                <a:latin typeface="Tahoma"/>
                <a:cs typeface="Tahoma"/>
              </a:rPr>
              <a:t>np.random.random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 idx="4294967295"/>
          </p:nvPr>
        </p:nvSpPr>
        <p:spPr>
          <a:xfrm>
            <a:off x="0" y="1084263"/>
            <a:ext cx="248285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A8B00"/>
                </a:solidFill>
              </a:rPr>
              <a:t>Arrays</a:t>
            </a:r>
            <a:r>
              <a:rPr dirty="0">
                <a:solidFill>
                  <a:srgbClr val="C00000"/>
                </a:solidFill>
              </a:rPr>
              <a:t>:</a:t>
            </a:r>
            <a:r>
              <a:rPr spc="-95" dirty="0">
                <a:solidFill>
                  <a:srgbClr val="C00000"/>
                </a:solidFill>
              </a:rPr>
              <a:t> </a:t>
            </a:r>
            <a:r>
              <a:rPr spc="-10" dirty="0">
                <a:solidFill>
                  <a:srgbClr val="C00000"/>
                </a:solidFill>
              </a:rPr>
              <a:t>Creación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0" y="0"/>
            <a:ext cx="4572000" cy="6858000"/>
            <a:chOff x="4572000" y="0"/>
            <a:chExt cx="4572000" cy="6858000"/>
          </a:xfrm>
        </p:grpSpPr>
        <p:sp>
          <p:nvSpPr>
            <p:cNvPr id="3" name="object 3"/>
            <p:cNvSpPr/>
            <p:nvPr/>
          </p:nvSpPr>
          <p:spPr>
            <a:xfrm>
              <a:off x="4572000" y="0"/>
              <a:ext cx="4572000" cy="6858000"/>
            </a:xfrm>
            <a:custGeom>
              <a:avLst/>
              <a:gdLst/>
              <a:ahLst/>
              <a:cxnLst/>
              <a:rect l="l" t="t" r="r" b="b"/>
              <a:pathLst>
                <a:path w="4572000" h="6858000">
                  <a:moveTo>
                    <a:pt x="4572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2000" y="68580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29962" y="5994653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>
                  <a:moveTo>
                    <a:pt x="0" y="0"/>
                  </a:moveTo>
                  <a:lnTo>
                    <a:pt x="468249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804672"/>
              <a:ext cx="4558284" cy="455828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93039" y="1873885"/>
            <a:ext cx="3011805" cy="19196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spc="-35" dirty="0">
                <a:latin typeface="Tahoma"/>
                <a:cs typeface="Tahoma"/>
              </a:rPr>
              <a:t>np.ones,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np.zeros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spc="-10" dirty="0">
                <a:latin typeface="Tahoma"/>
                <a:cs typeface="Tahoma"/>
              </a:rPr>
              <a:t>np.arange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spc="-10" dirty="0">
                <a:latin typeface="Tahoma"/>
                <a:cs typeface="Tahoma"/>
              </a:rPr>
              <a:t>np.concatenate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b="1" spc="-20" dirty="0">
                <a:latin typeface="Tahoma"/>
                <a:cs typeface="Tahoma"/>
              </a:rPr>
              <a:t>np.astype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spc="-30" dirty="0">
                <a:latin typeface="Tahoma"/>
                <a:cs typeface="Tahoma"/>
              </a:rPr>
              <a:t>np.zeros_like,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np.ones_like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spc="-10" dirty="0">
                <a:latin typeface="Tahoma"/>
                <a:cs typeface="Tahoma"/>
              </a:rPr>
              <a:t>np.random.random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 idx="4294967295"/>
          </p:nvPr>
        </p:nvSpPr>
        <p:spPr>
          <a:xfrm>
            <a:off x="0" y="1084263"/>
            <a:ext cx="248285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A8B00"/>
                </a:solidFill>
              </a:rPr>
              <a:t>Arrays</a:t>
            </a:r>
            <a:r>
              <a:rPr dirty="0">
                <a:solidFill>
                  <a:srgbClr val="C00000"/>
                </a:solidFill>
              </a:rPr>
              <a:t>:</a:t>
            </a:r>
            <a:r>
              <a:rPr spc="-95" dirty="0">
                <a:solidFill>
                  <a:srgbClr val="C00000"/>
                </a:solidFill>
              </a:rPr>
              <a:t> </a:t>
            </a:r>
            <a:r>
              <a:rPr spc="-10" dirty="0">
                <a:solidFill>
                  <a:srgbClr val="C00000"/>
                </a:solidFill>
              </a:rPr>
              <a:t>Creación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0" y="0"/>
            <a:ext cx="4572000" cy="6858000"/>
            <a:chOff x="4572000" y="0"/>
            <a:chExt cx="4572000" cy="6858000"/>
          </a:xfrm>
        </p:grpSpPr>
        <p:sp>
          <p:nvSpPr>
            <p:cNvPr id="3" name="object 3"/>
            <p:cNvSpPr/>
            <p:nvPr/>
          </p:nvSpPr>
          <p:spPr>
            <a:xfrm>
              <a:off x="4572000" y="0"/>
              <a:ext cx="4572000" cy="6858000"/>
            </a:xfrm>
            <a:custGeom>
              <a:avLst/>
              <a:gdLst/>
              <a:ahLst/>
              <a:cxnLst/>
              <a:rect l="l" t="t" r="r" b="b"/>
              <a:pathLst>
                <a:path w="4572000" h="6858000">
                  <a:moveTo>
                    <a:pt x="4572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2000" y="68580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29962" y="5994653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>
                  <a:moveTo>
                    <a:pt x="0" y="0"/>
                  </a:moveTo>
                  <a:lnTo>
                    <a:pt x="468249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1852" y="0"/>
              <a:ext cx="3715511" cy="685799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93039" y="1873885"/>
            <a:ext cx="3065145" cy="19196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spc="-35" dirty="0">
                <a:latin typeface="Tahoma"/>
                <a:cs typeface="Tahoma"/>
              </a:rPr>
              <a:t>np.ones,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np.zeros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spc="-10" dirty="0">
                <a:latin typeface="Tahoma"/>
                <a:cs typeface="Tahoma"/>
              </a:rPr>
              <a:t>np.arange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spc="-10" dirty="0">
                <a:latin typeface="Tahoma"/>
                <a:cs typeface="Tahoma"/>
              </a:rPr>
              <a:t>np.concatenate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spc="-10" dirty="0">
                <a:latin typeface="Tahoma"/>
                <a:cs typeface="Tahoma"/>
              </a:rPr>
              <a:t>np.astype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b="1" spc="-135" dirty="0">
                <a:latin typeface="Tahoma"/>
                <a:cs typeface="Tahoma"/>
              </a:rPr>
              <a:t>np.zeros_like,</a:t>
            </a:r>
            <a:r>
              <a:rPr sz="1800" b="1" spc="-50" dirty="0">
                <a:latin typeface="Tahoma"/>
                <a:cs typeface="Tahoma"/>
              </a:rPr>
              <a:t> </a:t>
            </a:r>
            <a:r>
              <a:rPr sz="1800" b="1" spc="-125" dirty="0">
                <a:latin typeface="Tahoma"/>
                <a:cs typeface="Tahoma"/>
              </a:rPr>
              <a:t>np.ones_like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spc="-10" dirty="0">
                <a:latin typeface="Tahoma"/>
                <a:cs typeface="Tahoma"/>
              </a:rPr>
              <a:t>np.random.random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 idx="4294967295"/>
          </p:nvPr>
        </p:nvSpPr>
        <p:spPr>
          <a:xfrm>
            <a:off x="0" y="1084263"/>
            <a:ext cx="248285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A8B00"/>
                </a:solidFill>
              </a:rPr>
              <a:t>Arrays</a:t>
            </a:r>
            <a:r>
              <a:rPr dirty="0">
                <a:solidFill>
                  <a:srgbClr val="C00000"/>
                </a:solidFill>
              </a:rPr>
              <a:t>:</a:t>
            </a:r>
            <a:r>
              <a:rPr spc="-95" dirty="0">
                <a:solidFill>
                  <a:srgbClr val="C00000"/>
                </a:solidFill>
              </a:rPr>
              <a:t> </a:t>
            </a:r>
            <a:r>
              <a:rPr spc="-10" dirty="0">
                <a:solidFill>
                  <a:srgbClr val="C00000"/>
                </a:solidFill>
              </a:rPr>
              <a:t>Creación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0" y="0"/>
            <a:ext cx="4572000" cy="6858000"/>
            <a:chOff x="4572000" y="0"/>
            <a:chExt cx="4572000" cy="6858000"/>
          </a:xfrm>
        </p:grpSpPr>
        <p:sp>
          <p:nvSpPr>
            <p:cNvPr id="3" name="object 3"/>
            <p:cNvSpPr/>
            <p:nvPr/>
          </p:nvSpPr>
          <p:spPr>
            <a:xfrm>
              <a:off x="4572000" y="0"/>
              <a:ext cx="4572000" cy="6858000"/>
            </a:xfrm>
            <a:custGeom>
              <a:avLst/>
              <a:gdLst/>
              <a:ahLst/>
              <a:cxnLst/>
              <a:rect l="l" t="t" r="r" b="b"/>
              <a:pathLst>
                <a:path w="4572000" h="6858000">
                  <a:moveTo>
                    <a:pt x="4572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2000" y="68580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29962" y="5994653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>
                  <a:moveTo>
                    <a:pt x="0" y="0"/>
                  </a:moveTo>
                  <a:lnTo>
                    <a:pt x="468249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1175003"/>
              <a:ext cx="4572000" cy="367893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93039" y="1873885"/>
            <a:ext cx="3011805" cy="19196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spc="-35" dirty="0">
                <a:latin typeface="Tahoma"/>
                <a:cs typeface="Tahoma"/>
              </a:rPr>
              <a:t>np.ones,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np.zeros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spc="-10" dirty="0">
                <a:latin typeface="Tahoma"/>
                <a:cs typeface="Tahoma"/>
              </a:rPr>
              <a:t>np.arange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spc="-10" dirty="0">
                <a:latin typeface="Tahoma"/>
                <a:cs typeface="Tahoma"/>
              </a:rPr>
              <a:t>np.concatenate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spc="-10" dirty="0">
                <a:latin typeface="Tahoma"/>
                <a:cs typeface="Tahoma"/>
              </a:rPr>
              <a:t>np.astype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spc="-30" dirty="0">
                <a:latin typeface="Tahoma"/>
                <a:cs typeface="Tahoma"/>
              </a:rPr>
              <a:t>np.zeros_like,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np.ones_like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b="1" spc="-80" dirty="0">
                <a:latin typeface="Tahoma"/>
                <a:cs typeface="Tahoma"/>
              </a:rPr>
              <a:t>np.random.random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 idx="4294967295"/>
          </p:nvPr>
        </p:nvSpPr>
        <p:spPr>
          <a:xfrm>
            <a:off x="0" y="1084263"/>
            <a:ext cx="248285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A8B00"/>
                </a:solidFill>
              </a:rPr>
              <a:t>Arrays</a:t>
            </a:r>
            <a:r>
              <a:rPr dirty="0">
                <a:solidFill>
                  <a:srgbClr val="C00000"/>
                </a:solidFill>
              </a:rPr>
              <a:t>:</a:t>
            </a:r>
            <a:r>
              <a:rPr spc="-95" dirty="0">
                <a:solidFill>
                  <a:srgbClr val="C00000"/>
                </a:solidFill>
              </a:rPr>
              <a:t> </a:t>
            </a:r>
            <a:r>
              <a:rPr spc="-10" dirty="0">
                <a:solidFill>
                  <a:srgbClr val="C00000"/>
                </a:solidFill>
              </a:rPr>
              <a:t>Creación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0" y="0"/>
            <a:ext cx="4572000" cy="6858000"/>
            <a:chOff x="4572000" y="0"/>
            <a:chExt cx="4572000" cy="6858000"/>
          </a:xfrm>
        </p:grpSpPr>
        <p:sp>
          <p:nvSpPr>
            <p:cNvPr id="3" name="object 3"/>
            <p:cNvSpPr/>
            <p:nvPr/>
          </p:nvSpPr>
          <p:spPr>
            <a:xfrm>
              <a:off x="4572000" y="0"/>
              <a:ext cx="4572000" cy="6858000"/>
            </a:xfrm>
            <a:custGeom>
              <a:avLst/>
              <a:gdLst/>
              <a:ahLst/>
              <a:cxnLst/>
              <a:rect l="l" t="t" r="r" b="b"/>
              <a:pathLst>
                <a:path w="4572000" h="6858000">
                  <a:moveTo>
                    <a:pt x="4572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2000" y="68580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29962" y="5994653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>
                  <a:moveTo>
                    <a:pt x="0" y="0"/>
                  </a:moveTo>
                  <a:lnTo>
                    <a:pt x="468249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797543" y="6424980"/>
            <a:ext cx="1720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FFFFFF"/>
                </a:solidFill>
                <a:latin typeface="Tahoma"/>
                <a:cs typeface="Tahoma"/>
              </a:rPr>
              <a:t>23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0" y="1471613"/>
            <a:ext cx="340995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solidFill>
                  <a:srgbClr val="FA8B00"/>
                </a:solidFill>
                <a:latin typeface="Trebuchet MS"/>
                <a:cs typeface="Trebuchet MS"/>
              </a:rPr>
              <a:t>Arrays:</a:t>
            </a:r>
            <a:r>
              <a:rPr spc="-150" dirty="0">
                <a:solidFill>
                  <a:srgbClr val="FA8B00"/>
                </a:solidFill>
                <a:latin typeface="Trebuchet MS"/>
                <a:cs typeface="Trebuchet MS"/>
              </a:rPr>
              <a:t> </a:t>
            </a:r>
            <a:r>
              <a:rPr spc="90" dirty="0">
                <a:solidFill>
                  <a:srgbClr val="C00000"/>
                </a:solidFill>
                <a:latin typeface="Trebuchet MS"/>
                <a:cs typeface="Trebuchet MS"/>
              </a:rPr>
              <a:t>Zona</a:t>
            </a:r>
            <a:r>
              <a:rPr spc="-14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pc="110" dirty="0">
                <a:solidFill>
                  <a:srgbClr val="C00000"/>
                </a:solidFill>
                <a:latin typeface="Trebuchet MS"/>
                <a:cs typeface="Trebuchet MS"/>
              </a:rPr>
              <a:t>de</a:t>
            </a:r>
            <a:r>
              <a:rPr spc="-15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pc="45" dirty="0">
                <a:solidFill>
                  <a:srgbClr val="C00000"/>
                </a:solidFill>
                <a:latin typeface="Trebuchet MS"/>
                <a:cs typeface="Trebuchet MS"/>
              </a:rPr>
              <a:t>peligro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93039" y="2541270"/>
            <a:ext cx="3665854" cy="12877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20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dirty="0">
                <a:latin typeface="Tahoma"/>
                <a:cs typeface="Tahoma"/>
              </a:rPr>
              <a:t>Debe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ser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denso,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sin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agujeros.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dirty="0">
                <a:latin typeface="Tahoma"/>
                <a:cs typeface="Tahoma"/>
              </a:rPr>
              <a:t>Debe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ser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de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un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solo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tipo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spc="105" dirty="0">
                <a:latin typeface="Tahoma"/>
                <a:cs typeface="Tahoma"/>
              </a:rPr>
              <a:t>No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se</a:t>
            </a:r>
            <a:r>
              <a:rPr sz="1800" spc="-114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pueden</a:t>
            </a:r>
            <a:r>
              <a:rPr sz="1800" spc="-10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combinar</a:t>
            </a:r>
            <a:r>
              <a:rPr sz="1800" spc="-11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matrices</a:t>
            </a:r>
            <a:endParaRPr sz="18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latin typeface="Tahoma"/>
                <a:cs typeface="Tahoma"/>
              </a:rPr>
              <a:t>de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diferente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forma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0" y="2494788"/>
            <a:ext cx="4572000" cy="148742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0" y="0"/>
            <a:ext cx="4572000" cy="6858000"/>
            <a:chOff x="4572000" y="0"/>
            <a:chExt cx="4572000" cy="6858000"/>
          </a:xfrm>
        </p:grpSpPr>
        <p:sp>
          <p:nvSpPr>
            <p:cNvPr id="3" name="object 3"/>
            <p:cNvSpPr/>
            <p:nvPr/>
          </p:nvSpPr>
          <p:spPr>
            <a:xfrm>
              <a:off x="4572000" y="0"/>
              <a:ext cx="4572000" cy="6858000"/>
            </a:xfrm>
            <a:custGeom>
              <a:avLst/>
              <a:gdLst/>
              <a:ahLst/>
              <a:cxnLst/>
              <a:rect l="l" t="t" r="r" b="b"/>
              <a:pathLst>
                <a:path w="4572000" h="6858000">
                  <a:moveTo>
                    <a:pt x="4572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2000" y="68580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29962" y="5994653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>
                  <a:moveTo>
                    <a:pt x="0" y="0"/>
                  </a:moveTo>
                  <a:lnTo>
                    <a:pt x="468249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245363"/>
              <a:ext cx="4572000" cy="636727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0" y="1027113"/>
            <a:ext cx="1222375" cy="3921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>
                <a:solidFill>
                  <a:srgbClr val="C00000"/>
                </a:solidFill>
                <a:latin typeface="Trebuchet MS"/>
                <a:cs typeface="Trebuchet MS"/>
              </a:rPr>
              <a:t>Shaping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8739" y="1938228"/>
            <a:ext cx="4090035" cy="160401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98145" indent="-385445">
              <a:lnSpc>
                <a:spcPct val="100000"/>
              </a:lnSpc>
              <a:spcBef>
                <a:spcPts val="430"/>
              </a:spcBef>
              <a:buClr>
                <a:srgbClr val="C00000"/>
              </a:buClr>
              <a:buAutoNum type="arabicPeriod"/>
              <a:tabLst>
                <a:tab pos="398145" algn="l"/>
              </a:tabLst>
            </a:pPr>
            <a:r>
              <a:rPr sz="1800" dirty="0">
                <a:latin typeface="Tahoma"/>
                <a:cs typeface="Tahoma"/>
              </a:rPr>
              <a:t>El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número</a:t>
            </a:r>
            <a:r>
              <a:rPr sz="1800" spc="-10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total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de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elementos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no</a:t>
            </a:r>
            <a:endParaRPr sz="1800">
              <a:latin typeface="Tahoma"/>
              <a:cs typeface="Tahoma"/>
            </a:endParaRPr>
          </a:p>
          <a:p>
            <a:pPr marL="398145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latin typeface="Tahoma"/>
                <a:cs typeface="Tahoma"/>
              </a:rPr>
              <a:t>puede</a:t>
            </a:r>
            <a:r>
              <a:rPr sz="1800" spc="-10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cambiar.</a:t>
            </a:r>
            <a:endParaRPr sz="1800">
              <a:latin typeface="Tahoma"/>
              <a:cs typeface="Tahoma"/>
            </a:endParaRPr>
          </a:p>
          <a:p>
            <a:pPr marL="398145" indent="-38544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AutoNum type="arabicPeriod" startAt="2"/>
              <a:tabLst>
                <a:tab pos="398145" algn="l"/>
              </a:tabLst>
            </a:pPr>
            <a:r>
              <a:rPr sz="1800" dirty="0">
                <a:latin typeface="Tahoma"/>
                <a:cs typeface="Tahoma"/>
              </a:rPr>
              <a:t>Utilice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-1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para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inferir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la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forma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del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eje</a:t>
            </a:r>
            <a:endParaRPr sz="1800">
              <a:latin typeface="Tahoma"/>
              <a:cs typeface="Tahoma"/>
            </a:endParaRPr>
          </a:p>
          <a:p>
            <a:pPr marL="398145" marR="67945" indent="-386080">
              <a:lnSpc>
                <a:spcPct val="114999"/>
              </a:lnSpc>
              <a:buClr>
                <a:srgbClr val="C00000"/>
              </a:buClr>
              <a:buAutoNum type="arabicPeriod" startAt="2"/>
              <a:tabLst>
                <a:tab pos="398145" algn="l"/>
              </a:tabLst>
            </a:pPr>
            <a:r>
              <a:rPr sz="1800" dirty="0">
                <a:latin typeface="Tahoma"/>
                <a:cs typeface="Tahoma"/>
              </a:rPr>
              <a:t>Fila-</a:t>
            </a:r>
            <a:r>
              <a:rPr sz="1800" spc="-10" dirty="0">
                <a:latin typeface="Tahoma"/>
                <a:cs typeface="Tahoma"/>
              </a:rPr>
              <a:t>mayor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por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defecto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(MATLAB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es </a:t>
            </a:r>
            <a:r>
              <a:rPr sz="1800" dirty="0">
                <a:latin typeface="Tahoma"/>
                <a:cs typeface="Tahoma"/>
              </a:rPr>
              <a:t>columna-</a:t>
            </a:r>
            <a:r>
              <a:rPr sz="1800" spc="-10" dirty="0">
                <a:latin typeface="Tahoma"/>
                <a:cs typeface="Tahoma"/>
              </a:rPr>
              <a:t>mayor)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0" y="0"/>
            <a:ext cx="4572000" cy="6858000"/>
            <a:chOff x="4572000" y="0"/>
            <a:chExt cx="4572000" cy="6858000"/>
          </a:xfrm>
        </p:grpSpPr>
        <p:sp>
          <p:nvSpPr>
            <p:cNvPr id="3" name="object 3"/>
            <p:cNvSpPr/>
            <p:nvPr/>
          </p:nvSpPr>
          <p:spPr>
            <a:xfrm>
              <a:off x="4572000" y="0"/>
              <a:ext cx="4572000" cy="6858000"/>
            </a:xfrm>
            <a:custGeom>
              <a:avLst/>
              <a:gdLst/>
              <a:ahLst/>
              <a:cxnLst/>
              <a:rect l="l" t="t" r="r" b="b"/>
              <a:pathLst>
                <a:path w="4572000" h="6858000">
                  <a:moveTo>
                    <a:pt x="4572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2000" y="68580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29962" y="5994653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>
                  <a:moveTo>
                    <a:pt x="0" y="0"/>
                  </a:moveTo>
                  <a:lnTo>
                    <a:pt x="468249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608076"/>
              <a:ext cx="4550663" cy="556564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0" y="1027113"/>
            <a:ext cx="1222375" cy="3921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>
                <a:solidFill>
                  <a:srgbClr val="C00000"/>
                </a:solidFill>
                <a:latin typeface="Trebuchet MS"/>
                <a:cs typeface="Trebuchet MS"/>
              </a:rPr>
              <a:t>Shaping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8739" y="1938228"/>
            <a:ext cx="3599179" cy="65786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  <a:tabLst>
                <a:tab pos="398145" algn="l"/>
              </a:tabLst>
            </a:pPr>
            <a:r>
              <a:rPr sz="1800" spc="-25" dirty="0">
                <a:solidFill>
                  <a:srgbClr val="C00000"/>
                </a:solidFill>
                <a:latin typeface="Tahoma"/>
                <a:cs typeface="Tahoma"/>
              </a:rPr>
              <a:t>1.</a:t>
            </a:r>
            <a:r>
              <a:rPr sz="18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1800" spc="-10" dirty="0">
                <a:latin typeface="Tahoma"/>
                <a:cs typeface="Tahoma"/>
              </a:rPr>
              <a:t>Las</a:t>
            </a:r>
            <a:r>
              <a:rPr sz="1800" spc="-10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matrices</a:t>
            </a:r>
            <a:r>
              <a:rPr sz="1800" spc="-10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se</a:t>
            </a:r>
            <a:r>
              <a:rPr sz="1800" spc="-1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pueden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dividir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y</a:t>
            </a:r>
            <a:endParaRPr sz="1800">
              <a:latin typeface="Tahoma"/>
              <a:cs typeface="Tahoma"/>
            </a:endParaRPr>
          </a:p>
          <a:p>
            <a:pPr marL="398145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Tahoma"/>
                <a:cs typeface="Tahoma"/>
              </a:rPr>
              <a:t>apilar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0" y="0"/>
            <a:ext cx="4572000" cy="6858000"/>
            <a:chOff x="4572000" y="0"/>
            <a:chExt cx="4572000" cy="6858000"/>
          </a:xfrm>
        </p:grpSpPr>
        <p:sp>
          <p:nvSpPr>
            <p:cNvPr id="3" name="object 3"/>
            <p:cNvSpPr/>
            <p:nvPr/>
          </p:nvSpPr>
          <p:spPr>
            <a:xfrm>
              <a:off x="4572000" y="0"/>
              <a:ext cx="4572000" cy="6858000"/>
            </a:xfrm>
            <a:custGeom>
              <a:avLst/>
              <a:gdLst/>
              <a:ahLst/>
              <a:cxnLst/>
              <a:rect l="l" t="t" r="r" b="b"/>
              <a:pathLst>
                <a:path w="4572000" h="6858000">
                  <a:moveTo>
                    <a:pt x="4572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2000" y="68580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29962" y="5994653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>
                  <a:moveTo>
                    <a:pt x="0" y="0"/>
                  </a:moveTo>
                  <a:lnTo>
                    <a:pt x="468249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0" y="239268"/>
              <a:ext cx="4572000" cy="630174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0" y="1066800"/>
            <a:ext cx="2066925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C00000"/>
                </a:solidFill>
                <a:latin typeface="Trebuchet MS"/>
                <a:cs typeface="Trebuchet MS"/>
              </a:rPr>
              <a:t>Transposición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8739" y="1966086"/>
            <a:ext cx="3893185" cy="6565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425"/>
              </a:spcBef>
              <a:buClr>
                <a:srgbClr val="C00000"/>
              </a:buClr>
              <a:buFont typeface="Wingdings"/>
              <a:buChar char=""/>
              <a:tabLst>
                <a:tab pos="299085" algn="l"/>
              </a:tabLst>
            </a:pPr>
            <a:r>
              <a:rPr sz="1800" spc="-20" dirty="0">
                <a:latin typeface="Tahoma"/>
                <a:cs typeface="Tahoma"/>
              </a:rPr>
              <a:t>np.transpose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permuta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los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ejes.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spcBef>
                <a:spcPts val="320"/>
              </a:spcBef>
              <a:buClr>
                <a:srgbClr val="C00000"/>
              </a:buClr>
              <a:buFont typeface="Wingdings"/>
              <a:buChar char=""/>
              <a:tabLst>
                <a:tab pos="299085" algn="l"/>
              </a:tabLst>
            </a:pPr>
            <a:r>
              <a:rPr sz="1800" spc="-65" dirty="0">
                <a:latin typeface="Tahoma"/>
                <a:cs typeface="Tahoma"/>
              </a:rPr>
              <a:t>a.T</a:t>
            </a:r>
            <a:r>
              <a:rPr sz="1800" spc="-9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transpone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los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dos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primeros</a:t>
            </a:r>
            <a:r>
              <a:rPr sz="1800" spc="-9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ejes.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0" y="0"/>
            <a:ext cx="4572000" cy="6858000"/>
            <a:chOff x="4572000" y="0"/>
            <a:chExt cx="4572000" cy="6858000"/>
          </a:xfrm>
        </p:grpSpPr>
        <p:sp>
          <p:nvSpPr>
            <p:cNvPr id="3" name="object 3"/>
            <p:cNvSpPr/>
            <p:nvPr/>
          </p:nvSpPr>
          <p:spPr>
            <a:xfrm>
              <a:off x="4572000" y="0"/>
              <a:ext cx="4572000" cy="6858000"/>
            </a:xfrm>
            <a:custGeom>
              <a:avLst/>
              <a:gdLst/>
              <a:ahLst/>
              <a:cxnLst/>
              <a:rect l="l" t="t" r="r" b="b"/>
              <a:pathLst>
                <a:path w="4572000" h="6858000">
                  <a:moveTo>
                    <a:pt x="4572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2000" y="68580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29962" y="5994653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>
                  <a:moveTo>
                    <a:pt x="0" y="0"/>
                  </a:moveTo>
                  <a:lnTo>
                    <a:pt x="468249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797543" y="6424980"/>
            <a:ext cx="1720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FFFFFF"/>
                </a:solidFill>
                <a:latin typeface="Tahoma"/>
                <a:cs typeface="Tahoma"/>
              </a:rPr>
              <a:t>27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0" y="1427163"/>
            <a:ext cx="3408363" cy="3921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>
                <a:solidFill>
                  <a:srgbClr val="C00000"/>
                </a:solidFill>
                <a:latin typeface="Trebuchet MS"/>
                <a:cs typeface="Trebuchet MS"/>
              </a:rPr>
              <a:t>Saving</a:t>
            </a:r>
            <a:r>
              <a:rPr spc="-13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C00000"/>
                </a:solidFill>
                <a:latin typeface="Trebuchet MS"/>
                <a:cs typeface="Trebuchet MS"/>
              </a:rPr>
              <a:t>y</a:t>
            </a:r>
            <a:r>
              <a:rPr spc="-13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pc="90" dirty="0">
                <a:solidFill>
                  <a:srgbClr val="C00000"/>
                </a:solidFill>
                <a:latin typeface="Trebuchet MS"/>
                <a:cs typeface="Trebuchet MS"/>
              </a:rPr>
              <a:t>loading</a:t>
            </a:r>
            <a:r>
              <a:rPr spc="-13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pc="-10" dirty="0">
                <a:solidFill>
                  <a:srgbClr val="C00000"/>
                </a:solidFill>
                <a:latin typeface="Trebuchet MS"/>
                <a:cs typeface="Trebuchet MS"/>
              </a:rPr>
              <a:t>arrays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2696" y="2459736"/>
            <a:ext cx="3928745" cy="972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8145" marR="5080" indent="-386080">
              <a:lnSpc>
                <a:spcPct val="115100"/>
              </a:lnSpc>
              <a:spcBef>
                <a:spcPts val="100"/>
              </a:spcBef>
              <a:buClr>
                <a:srgbClr val="C00000"/>
              </a:buClr>
              <a:buAutoNum type="arabicPeriod"/>
              <a:tabLst>
                <a:tab pos="398145" algn="l"/>
              </a:tabLst>
            </a:pPr>
            <a:r>
              <a:rPr sz="1800" dirty="0">
                <a:latin typeface="Tahoma"/>
                <a:cs typeface="Tahoma"/>
              </a:rPr>
              <a:t>Los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archivos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spc="105" dirty="0">
                <a:latin typeface="Tahoma"/>
                <a:cs typeface="Tahoma"/>
              </a:rPr>
              <a:t>NPZ</a:t>
            </a:r>
            <a:r>
              <a:rPr sz="1800" spc="-9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pueden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contener </a:t>
            </a:r>
            <a:r>
              <a:rPr sz="1800" spc="-20" dirty="0">
                <a:latin typeface="Tahoma"/>
                <a:cs typeface="Tahoma"/>
              </a:rPr>
              <a:t>varias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matrices</a:t>
            </a:r>
            <a:endParaRPr sz="1800">
              <a:latin typeface="Tahoma"/>
              <a:cs typeface="Tahoma"/>
            </a:endParaRPr>
          </a:p>
          <a:p>
            <a:pPr marL="398145" indent="-385445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AutoNum type="arabicPeriod"/>
              <a:tabLst>
                <a:tab pos="398145" algn="l"/>
              </a:tabLst>
            </a:pPr>
            <a:r>
              <a:rPr sz="1800" spc="-25" dirty="0">
                <a:latin typeface="Tahoma"/>
                <a:cs typeface="Tahoma"/>
              </a:rPr>
              <a:t>np.savez_compressed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similar.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0" y="2104644"/>
            <a:ext cx="4572000" cy="162610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0" y="79375"/>
            <a:ext cx="417195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/>
              <a:t>Arrays</a:t>
            </a:r>
            <a:r>
              <a:rPr spc="-20" dirty="0"/>
              <a:t> </a:t>
            </a:r>
            <a:r>
              <a:rPr dirty="0"/>
              <a:t>de</a:t>
            </a:r>
            <a:r>
              <a:rPr spc="-80" dirty="0"/>
              <a:t> </a:t>
            </a:r>
            <a:r>
              <a:rPr spc="-10" dirty="0"/>
              <a:t>Imágenes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0167" y="1179199"/>
            <a:ext cx="6119495" cy="301688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85"/>
              </a:spcBef>
              <a:buClr>
                <a:srgbClr val="C00000"/>
              </a:buClr>
              <a:buFont typeface="Wingdings"/>
              <a:buChar char=""/>
              <a:tabLst>
                <a:tab pos="240665" algn="l"/>
              </a:tabLst>
            </a:pPr>
            <a:r>
              <a:rPr sz="1800" dirty="0">
                <a:latin typeface="Arial MT"/>
                <a:cs typeface="Arial MT"/>
              </a:rPr>
              <a:t>Las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imágenes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arrays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width,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height,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channels</a:t>
            </a:r>
            <a:endParaRPr sz="1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Clr>
                <a:srgbClr val="C00000"/>
              </a:buClr>
              <a:buFont typeface="Wingdings"/>
              <a:buChar char=""/>
              <a:tabLst>
                <a:tab pos="240665" algn="l"/>
              </a:tabLst>
            </a:pPr>
            <a:r>
              <a:rPr sz="1800" dirty="0">
                <a:latin typeface="Arial MT"/>
                <a:cs typeface="Arial MT"/>
              </a:rPr>
              <a:t>Formatos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imágenes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comunes</a:t>
            </a:r>
            <a:endParaRPr sz="1800">
              <a:latin typeface="Arial MT"/>
              <a:cs typeface="Arial MT"/>
            </a:endParaRPr>
          </a:p>
          <a:p>
            <a:pPr marL="266700" marR="1798320">
              <a:lnSpc>
                <a:spcPct val="136100"/>
              </a:lnSpc>
              <a:spcBef>
                <a:spcPts val="15"/>
              </a:spcBef>
            </a:pPr>
            <a:r>
              <a:rPr sz="1800" dirty="0">
                <a:latin typeface="Arial MT"/>
                <a:cs typeface="Arial MT"/>
              </a:rPr>
              <a:t>height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width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RGB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(band-interleaved) </a:t>
            </a:r>
            <a:r>
              <a:rPr sz="1800" dirty="0">
                <a:latin typeface="Arial MT"/>
                <a:cs typeface="Arial MT"/>
              </a:rPr>
              <a:t>height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width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(band-sequential)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64"/>
              </a:spcBef>
            </a:pPr>
            <a:endParaRPr sz="1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buClr>
                <a:srgbClr val="C00000"/>
              </a:buClr>
              <a:buFont typeface="Wingdings"/>
              <a:buChar char=""/>
              <a:tabLst>
                <a:tab pos="240665" algn="l"/>
              </a:tabLst>
            </a:pPr>
            <a:r>
              <a:rPr sz="1800" spc="-10" dirty="0">
                <a:latin typeface="Arial MT"/>
                <a:cs typeface="Arial MT"/>
              </a:rPr>
              <a:t>Excepciones:</a:t>
            </a:r>
            <a:endParaRPr sz="1800">
              <a:latin typeface="Arial MT"/>
              <a:cs typeface="Arial MT"/>
            </a:endParaRPr>
          </a:p>
          <a:p>
            <a:pPr marL="266700" marR="91440">
              <a:lnSpc>
                <a:spcPct val="136100"/>
              </a:lnSpc>
            </a:pP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canales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también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pueden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BGR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(OpenCV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hace) </a:t>
            </a:r>
            <a:r>
              <a:rPr sz="1800" dirty="0">
                <a:latin typeface="Arial MT"/>
                <a:cs typeface="Arial MT"/>
              </a:rPr>
              <a:t>Puede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[width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height],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[height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width]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3492" y="1656588"/>
            <a:ext cx="2167128" cy="250174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-12700" y="-29464"/>
            <a:ext cx="9588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25" dirty="0">
                <a:latin typeface="Arial MT"/>
                <a:cs typeface="Arial MT"/>
              </a:rPr>
              <a:t>28</a:t>
            </a:r>
            <a:endParaRPr sz="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127627" y="3278092"/>
            <a:ext cx="121920" cy="7747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500" spc="-30" dirty="0">
                <a:solidFill>
                  <a:srgbClr val="7E7E7E"/>
                </a:solidFill>
                <a:latin typeface="Tahoma"/>
                <a:cs typeface="Tahoma"/>
              </a:rPr>
              <a:t>5-</a:t>
            </a:r>
            <a:r>
              <a:rPr sz="500" spc="-40" dirty="0">
                <a:solidFill>
                  <a:srgbClr val="7E7E7E"/>
                </a:solidFill>
                <a:latin typeface="Tahoma"/>
                <a:cs typeface="Tahoma"/>
              </a:rPr>
              <a:t>29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 idx="4294967295"/>
          </p:nvPr>
        </p:nvSpPr>
        <p:spPr>
          <a:xfrm>
            <a:off x="0" y="158750"/>
            <a:ext cx="3436938" cy="3921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Los</a:t>
            </a:r>
            <a:r>
              <a:rPr spc="-335" dirty="0"/>
              <a:t> </a:t>
            </a:r>
            <a:r>
              <a:rPr spc="-100" dirty="0"/>
              <a:t>Arrays</a:t>
            </a:r>
            <a:r>
              <a:rPr spc="-70" dirty="0"/>
              <a:t> </a:t>
            </a:r>
            <a:r>
              <a:rPr spc="-20" dirty="0"/>
              <a:t>son</a:t>
            </a:r>
            <a:r>
              <a:rPr spc="-80" dirty="0"/>
              <a:t> </a:t>
            </a:r>
            <a:r>
              <a:rPr spc="-50" dirty="0"/>
              <a:t>mutables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2112023" y="1755406"/>
            <a:ext cx="2804795" cy="2541270"/>
            <a:chOff x="2112023" y="1755406"/>
            <a:chExt cx="2804795" cy="2541270"/>
          </a:xfrm>
        </p:grpSpPr>
        <p:sp>
          <p:nvSpPr>
            <p:cNvPr id="6" name="object 6"/>
            <p:cNvSpPr/>
            <p:nvPr/>
          </p:nvSpPr>
          <p:spPr>
            <a:xfrm>
              <a:off x="2114550" y="1757933"/>
              <a:ext cx="2799715" cy="2536190"/>
            </a:xfrm>
            <a:custGeom>
              <a:avLst/>
              <a:gdLst/>
              <a:ahLst/>
              <a:cxnLst/>
              <a:rect l="l" t="t" r="r" b="b"/>
              <a:pathLst>
                <a:path w="2799715" h="2536190">
                  <a:moveTo>
                    <a:pt x="2799588" y="0"/>
                  </a:moveTo>
                  <a:lnTo>
                    <a:pt x="0" y="0"/>
                  </a:lnTo>
                  <a:lnTo>
                    <a:pt x="0" y="2535936"/>
                  </a:lnTo>
                  <a:lnTo>
                    <a:pt x="2799588" y="2535936"/>
                  </a:lnTo>
                  <a:lnTo>
                    <a:pt x="2799588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14550" y="1757933"/>
              <a:ext cx="2799715" cy="2536190"/>
            </a:xfrm>
            <a:custGeom>
              <a:avLst/>
              <a:gdLst/>
              <a:ahLst/>
              <a:cxnLst/>
              <a:rect l="l" t="t" r="r" b="b"/>
              <a:pathLst>
                <a:path w="2799715" h="2536190">
                  <a:moveTo>
                    <a:pt x="0" y="2535936"/>
                  </a:moveTo>
                  <a:lnTo>
                    <a:pt x="2799588" y="2535936"/>
                  </a:lnTo>
                  <a:lnTo>
                    <a:pt x="2799588" y="0"/>
                  </a:lnTo>
                  <a:lnTo>
                    <a:pt x="0" y="0"/>
                  </a:lnTo>
                  <a:lnTo>
                    <a:pt x="0" y="2535936"/>
                  </a:lnTo>
                  <a:close/>
                </a:path>
              </a:pathLst>
            </a:custGeom>
            <a:ln w="50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269235" y="1933447"/>
            <a:ext cx="2349500" cy="5530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ts val="2025"/>
              </a:lnSpc>
              <a:spcBef>
                <a:spcPts val="135"/>
              </a:spcBef>
            </a:pPr>
            <a:r>
              <a:rPr sz="1750" dirty="0">
                <a:latin typeface="SimSun"/>
                <a:cs typeface="SimSun"/>
              </a:rPr>
              <a:t>A</a:t>
            </a:r>
            <a:r>
              <a:rPr sz="1750" spc="225" dirty="0">
                <a:latin typeface="SimSun"/>
                <a:cs typeface="SimSun"/>
              </a:rPr>
              <a:t> </a:t>
            </a:r>
            <a:r>
              <a:rPr sz="1750" dirty="0">
                <a:latin typeface="SimSun"/>
                <a:cs typeface="SimSun"/>
              </a:rPr>
              <a:t>=</a:t>
            </a:r>
            <a:r>
              <a:rPr sz="1750" spc="204" dirty="0">
                <a:latin typeface="SimSun"/>
                <a:cs typeface="SimSun"/>
              </a:rPr>
              <a:t> </a:t>
            </a:r>
            <a:r>
              <a:rPr sz="1750" dirty="0">
                <a:latin typeface="SimSun"/>
                <a:cs typeface="SimSun"/>
              </a:rPr>
              <a:t>np.zeros((2,</a:t>
            </a:r>
            <a:r>
              <a:rPr sz="1750" spc="210" dirty="0">
                <a:latin typeface="SimSun"/>
                <a:cs typeface="SimSun"/>
              </a:rPr>
              <a:t> </a:t>
            </a:r>
            <a:r>
              <a:rPr sz="1750" spc="30" dirty="0">
                <a:latin typeface="SimSun"/>
                <a:cs typeface="SimSun"/>
              </a:rPr>
              <a:t>2))</a:t>
            </a:r>
            <a:endParaRPr sz="1750">
              <a:latin typeface="SimSun"/>
              <a:cs typeface="SimSun"/>
            </a:endParaRPr>
          </a:p>
          <a:p>
            <a:pPr>
              <a:lnSpc>
                <a:spcPts val="2085"/>
              </a:lnSpc>
            </a:pPr>
            <a:r>
              <a:rPr sz="1800" dirty="0">
                <a:solidFill>
                  <a:srgbClr val="0000CC"/>
                </a:solidFill>
                <a:latin typeface="SimSun"/>
                <a:cs typeface="SimSun"/>
              </a:rPr>
              <a:t>#</a:t>
            </a:r>
            <a:r>
              <a:rPr sz="1800" spc="70" dirty="0">
                <a:solidFill>
                  <a:srgbClr val="0000CC"/>
                </a:solidFill>
                <a:latin typeface="SimSun"/>
                <a:cs typeface="SimSun"/>
              </a:rPr>
              <a:t> </a:t>
            </a:r>
            <a:r>
              <a:rPr sz="1800" dirty="0">
                <a:solidFill>
                  <a:srgbClr val="0000CC"/>
                </a:solidFill>
                <a:latin typeface="SimSun"/>
                <a:cs typeface="SimSun"/>
              </a:rPr>
              <a:t>array([[</a:t>
            </a:r>
            <a:r>
              <a:rPr sz="1800" spc="75" dirty="0">
                <a:solidFill>
                  <a:srgbClr val="0000CC"/>
                </a:solidFill>
                <a:latin typeface="SimSun"/>
                <a:cs typeface="SimSun"/>
              </a:rPr>
              <a:t> </a:t>
            </a:r>
            <a:r>
              <a:rPr sz="1800" spc="-25" dirty="0">
                <a:solidFill>
                  <a:srgbClr val="0000CC"/>
                </a:solidFill>
                <a:latin typeface="SimSun"/>
                <a:cs typeface="SimSun"/>
              </a:rPr>
              <a:t>0.,</a:t>
            </a:r>
            <a:endParaRPr sz="1800">
              <a:latin typeface="SimSun"/>
              <a:cs typeface="SimSu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31817" y="2187651"/>
            <a:ext cx="605155" cy="565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ts val="2155"/>
              </a:lnSpc>
              <a:spcBef>
                <a:spcPts val="90"/>
              </a:spcBef>
            </a:pPr>
            <a:r>
              <a:rPr sz="1800" spc="-20" dirty="0">
                <a:solidFill>
                  <a:srgbClr val="0000CC"/>
                </a:solidFill>
                <a:latin typeface="SimSun"/>
                <a:cs typeface="SimSun"/>
              </a:rPr>
              <a:t>0.],</a:t>
            </a:r>
            <a:endParaRPr sz="1800">
              <a:latin typeface="SimSun"/>
              <a:cs typeface="SimSun"/>
            </a:endParaRPr>
          </a:p>
          <a:p>
            <a:pPr marL="4445">
              <a:lnSpc>
                <a:spcPts val="2095"/>
              </a:lnSpc>
            </a:pPr>
            <a:r>
              <a:rPr sz="1750" spc="-10" dirty="0">
                <a:solidFill>
                  <a:srgbClr val="0000CC"/>
                </a:solidFill>
                <a:latin typeface="SimSun"/>
                <a:cs typeface="SimSun"/>
              </a:rPr>
              <a:t>0.]])</a:t>
            </a:r>
            <a:endParaRPr sz="1750">
              <a:latin typeface="SimSun"/>
              <a:cs typeface="SimSu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69235" y="2454909"/>
            <a:ext cx="1662430" cy="5511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ts val="2045"/>
              </a:lnSpc>
              <a:spcBef>
                <a:spcPts val="135"/>
              </a:spcBef>
              <a:tabLst>
                <a:tab pos="1064895" algn="l"/>
              </a:tabLst>
            </a:pPr>
            <a:r>
              <a:rPr sz="1750" spc="-50" dirty="0">
                <a:solidFill>
                  <a:srgbClr val="0000CC"/>
                </a:solidFill>
                <a:latin typeface="SimSun"/>
                <a:cs typeface="SimSun"/>
              </a:rPr>
              <a:t>#</a:t>
            </a:r>
            <a:r>
              <a:rPr sz="1750" dirty="0">
                <a:solidFill>
                  <a:srgbClr val="0000CC"/>
                </a:solidFill>
                <a:latin typeface="SimSun"/>
                <a:cs typeface="SimSun"/>
              </a:rPr>
              <a:t>	[</a:t>
            </a:r>
            <a:r>
              <a:rPr sz="1750" spc="30" dirty="0">
                <a:solidFill>
                  <a:srgbClr val="0000CC"/>
                </a:solidFill>
                <a:latin typeface="SimSun"/>
                <a:cs typeface="SimSun"/>
              </a:rPr>
              <a:t> 0.,</a:t>
            </a:r>
            <a:endParaRPr sz="1750">
              <a:latin typeface="SimSun"/>
              <a:cs typeface="SimSun"/>
            </a:endParaRPr>
          </a:p>
          <a:p>
            <a:pPr>
              <a:lnSpc>
                <a:spcPts val="2045"/>
              </a:lnSpc>
            </a:pPr>
            <a:r>
              <a:rPr sz="1750" dirty="0">
                <a:latin typeface="SimSun"/>
                <a:cs typeface="SimSun"/>
              </a:rPr>
              <a:t>C</a:t>
            </a:r>
            <a:r>
              <a:rPr sz="1750" spc="80" dirty="0">
                <a:latin typeface="SimSun"/>
                <a:cs typeface="SimSun"/>
              </a:rPr>
              <a:t> </a:t>
            </a:r>
            <a:r>
              <a:rPr sz="1750" dirty="0">
                <a:latin typeface="SimSun"/>
                <a:cs typeface="SimSun"/>
              </a:rPr>
              <a:t>=</a:t>
            </a:r>
            <a:r>
              <a:rPr sz="1750" spc="95" dirty="0">
                <a:latin typeface="SimSun"/>
                <a:cs typeface="SimSun"/>
              </a:rPr>
              <a:t> </a:t>
            </a:r>
            <a:r>
              <a:rPr sz="1750" spc="-50" dirty="0">
                <a:latin typeface="SimSun"/>
                <a:cs typeface="SimSun"/>
              </a:rPr>
              <a:t>A</a:t>
            </a:r>
            <a:endParaRPr sz="1750">
              <a:latin typeface="SimSun"/>
              <a:cs typeface="SimSu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69235" y="2962402"/>
            <a:ext cx="1285240" cy="2984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750" dirty="0">
                <a:latin typeface="SimSun"/>
                <a:cs typeface="SimSun"/>
              </a:rPr>
              <a:t>C[0,</a:t>
            </a:r>
            <a:r>
              <a:rPr sz="1750" spc="85" dirty="0">
                <a:latin typeface="SimSun"/>
                <a:cs typeface="SimSun"/>
              </a:rPr>
              <a:t> </a:t>
            </a:r>
            <a:r>
              <a:rPr sz="1750" dirty="0">
                <a:latin typeface="SimSun"/>
                <a:cs typeface="SimSun"/>
              </a:rPr>
              <a:t>0]</a:t>
            </a:r>
            <a:r>
              <a:rPr sz="1750" spc="125" dirty="0">
                <a:latin typeface="SimSun"/>
                <a:cs typeface="SimSun"/>
              </a:rPr>
              <a:t> </a:t>
            </a:r>
            <a:r>
              <a:rPr sz="1750" dirty="0">
                <a:latin typeface="SimSun"/>
                <a:cs typeface="SimSun"/>
              </a:rPr>
              <a:t>=</a:t>
            </a:r>
            <a:r>
              <a:rPr sz="1750" spc="135" dirty="0">
                <a:latin typeface="SimSun"/>
                <a:cs typeface="SimSun"/>
              </a:rPr>
              <a:t> </a:t>
            </a:r>
            <a:r>
              <a:rPr sz="1750" spc="-50" dirty="0">
                <a:latin typeface="SimSun"/>
                <a:cs typeface="SimSun"/>
              </a:rPr>
              <a:t>1</a:t>
            </a:r>
            <a:endParaRPr sz="1750">
              <a:latin typeface="SimSun"/>
              <a:cs typeface="SimSu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69235" y="3991483"/>
            <a:ext cx="826769" cy="2984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344170" algn="l"/>
              </a:tabLst>
            </a:pPr>
            <a:r>
              <a:rPr sz="1750" spc="-50" dirty="0">
                <a:solidFill>
                  <a:srgbClr val="0000CC"/>
                </a:solidFill>
                <a:latin typeface="SimSun"/>
                <a:cs typeface="SimSun"/>
              </a:rPr>
              <a:t>#</a:t>
            </a:r>
            <a:r>
              <a:rPr sz="1750" dirty="0">
                <a:solidFill>
                  <a:srgbClr val="0000CC"/>
                </a:solidFill>
                <a:latin typeface="SimSun"/>
                <a:cs typeface="SimSun"/>
              </a:rPr>
              <a:t>	[</a:t>
            </a:r>
            <a:r>
              <a:rPr sz="1750" spc="70" dirty="0">
                <a:solidFill>
                  <a:srgbClr val="0000CC"/>
                </a:solidFill>
                <a:latin typeface="SimSun"/>
                <a:cs typeface="SimSun"/>
              </a:rPr>
              <a:t> </a:t>
            </a:r>
            <a:r>
              <a:rPr sz="1750" spc="30" dirty="0">
                <a:solidFill>
                  <a:srgbClr val="0000CC"/>
                </a:solidFill>
                <a:latin typeface="SimSun"/>
                <a:cs typeface="SimSun"/>
              </a:rPr>
              <a:t>0.</a:t>
            </a:r>
            <a:endParaRPr sz="1750">
              <a:latin typeface="SimSun"/>
              <a:cs typeface="SimSu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69235" y="3457702"/>
            <a:ext cx="1527810" cy="8318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ts val="2075"/>
              </a:lnSpc>
              <a:spcBef>
                <a:spcPts val="135"/>
              </a:spcBef>
            </a:pPr>
            <a:r>
              <a:rPr sz="1750" b="1" spc="130" dirty="0">
                <a:solidFill>
                  <a:srgbClr val="007E7E"/>
                </a:solidFill>
                <a:latin typeface="Times New Roman"/>
                <a:cs typeface="Times New Roman"/>
              </a:rPr>
              <a:t>print</a:t>
            </a:r>
            <a:r>
              <a:rPr sz="1750" b="1" spc="50" dirty="0">
                <a:solidFill>
                  <a:srgbClr val="007E7E"/>
                </a:solidFill>
                <a:latin typeface="Times New Roman"/>
                <a:cs typeface="Times New Roman"/>
              </a:rPr>
              <a:t>  </a:t>
            </a:r>
            <a:r>
              <a:rPr sz="1750" spc="-50" dirty="0">
                <a:latin typeface="SimSun"/>
                <a:cs typeface="SimSun"/>
              </a:rPr>
              <a:t>A</a:t>
            </a:r>
            <a:endParaRPr sz="1750">
              <a:latin typeface="SimSun"/>
              <a:cs typeface="SimSun"/>
            </a:endParaRPr>
          </a:p>
          <a:p>
            <a:pPr>
              <a:lnSpc>
                <a:spcPts val="2130"/>
              </a:lnSpc>
              <a:tabLst>
                <a:tab pos="1039494" algn="l"/>
              </a:tabLst>
            </a:pPr>
            <a:r>
              <a:rPr sz="1800" dirty="0">
                <a:solidFill>
                  <a:srgbClr val="0000CC"/>
                </a:solidFill>
                <a:latin typeface="SimSun"/>
                <a:cs typeface="SimSun"/>
              </a:rPr>
              <a:t>#</a:t>
            </a:r>
            <a:r>
              <a:rPr sz="1800" spc="5" dirty="0">
                <a:solidFill>
                  <a:srgbClr val="0000CC"/>
                </a:solidFill>
                <a:latin typeface="SimSun"/>
                <a:cs typeface="SimSun"/>
              </a:rPr>
              <a:t> </a:t>
            </a:r>
            <a:r>
              <a:rPr sz="1800" dirty="0">
                <a:solidFill>
                  <a:srgbClr val="0000CC"/>
                </a:solidFill>
                <a:latin typeface="SimSun"/>
                <a:cs typeface="SimSun"/>
              </a:rPr>
              <a:t>[[</a:t>
            </a:r>
            <a:r>
              <a:rPr sz="1800" spc="20" dirty="0">
                <a:solidFill>
                  <a:srgbClr val="0000CC"/>
                </a:solidFill>
                <a:latin typeface="SimSun"/>
                <a:cs typeface="SimSun"/>
              </a:rPr>
              <a:t> </a:t>
            </a:r>
            <a:r>
              <a:rPr sz="1800" spc="-25" dirty="0">
                <a:solidFill>
                  <a:srgbClr val="0000CC"/>
                </a:solidFill>
                <a:latin typeface="SimSun"/>
                <a:cs typeface="SimSun"/>
              </a:rPr>
              <a:t>1.</a:t>
            </a:r>
            <a:r>
              <a:rPr sz="1800" dirty="0">
                <a:solidFill>
                  <a:srgbClr val="0000CC"/>
                </a:solidFill>
                <a:latin typeface="SimSun"/>
                <a:cs typeface="SimSun"/>
              </a:rPr>
              <a:t>	</a:t>
            </a:r>
            <a:r>
              <a:rPr sz="1800" spc="-25" dirty="0">
                <a:solidFill>
                  <a:srgbClr val="0000CC"/>
                </a:solidFill>
                <a:latin typeface="SimSun"/>
                <a:cs typeface="SimSun"/>
              </a:rPr>
              <a:t>0.]</a:t>
            </a:r>
            <a:endParaRPr sz="1800">
              <a:latin typeface="SimSun"/>
              <a:cs typeface="SimSun"/>
            </a:endParaRPr>
          </a:p>
          <a:p>
            <a:pPr marL="1039494">
              <a:lnSpc>
                <a:spcPts val="2095"/>
              </a:lnSpc>
            </a:pPr>
            <a:r>
              <a:rPr sz="1750" spc="35" dirty="0">
                <a:solidFill>
                  <a:srgbClr val="0000CC"/>
                </a:solidFill>
                <a:latin typeface="SimSun"/>
                <a:cs typeface="SimSun"/>
              </a:rPr>
              <a:t>0.]]</a:t>
            </a:r>
            <a:endParaRPr sz="17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766316" y="1667255"/>
            <a:ext cx="5611495" cy="4125595"/>
            <a:chOff x="1766316" y="1667255"/>
            <a:chExt cx="5611495" cy="41255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6316" y="1667255"/>
              <a:ext cx="5611367" cy="412546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3064" y="2103119"/>
              <a:ext cx="1091184" cy="109118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024122" y="2103881"/>
              <a:ext cx="1772920" cy="1714500"/>
            </a:xfrm>
            <a:custGeom>
              <a:avLst/>
              <a:gdLst/>
              <a:ahLst/>
              <a:cxnLst/>
              <a:rect l="l" t="t" r="r" b="b"/>
              <a:pathLst>
                <a:path w="1772920" h="1714500">
                  <a:moveTo>
                    <a:pt x="0" y="1583435"/>
                  </a:moveTo>
                  <a:lnTo>
                    <a:pt x="685800" y="0"/>
                  </a:lnTo>
                </a:path>
                <a:path w="1772920" h="1714500">
                  <a:moveTo>
                    <a:pt x="114300" y="1714499"/>
                  </a:moveTo>
                  <a:lnTo>
                    <a:pt x="1772412" y="1091183"/>
                  </a:lnTo>
                </a:path>
              </a:pathLst>
            </a:custGeom>
            <a:ln w="25400">
              <a:solidFill>
                <a:srgbClr val="C1C4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563739" y="3066364"/>
            <a:ext cx="1396365" cy="128841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indent="-2540" algn="ctr">
              <a:lnSpc>
                <a:spcPct val="90000"/>
              </a:lnSpc>
              <a:spcBef>
                <a:spcPts val="315"/>
              </a:spcBef>
            </a:pPr>
            <a:r>
              <a:rPr sz="1800" dirty="0">
                <a:latin typeface="Arial MT"/>
                <a:cs typeface="Arial MT"/>
              </a:rPr>
              <a:t>Una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(color) </a:t>
            </a:r>
            <a:r>
              <a:rPr sz="1800" dirty="0">
                <a:latin typeface="Arial MT"/>
                <a:cs typeface="Arial MT"/>
              </a:rPr>
              <a:t>imagen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un </a:t>
            </a:r>
            <a:r>
              <a:rPr sz="1800" dirty="0">
                <a:latin typeface="Arial MT"/>
                <a:cs typeface="Arial MT"/>
              </a:rPr>
              <a:t>tersor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de </a:t>
            </a:r>
            <a:r>
              <a:rPr sz="1800" dirty="0">
                <a:latin typeface="Arial MT"/>
                <a:cs typeface="Arial MT"/>
              </a:rPr>
              <a:t>números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en 3D.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 idx="4294967295"/>
          </p:nvPr>
        </p:nvSpPr>
        <p:spPr>
          <a:xfrm>
            <a:off x="0" y="-6350"/>
            <a:ext cx="3175000" cy="4524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¿Qué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imagen?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62621" y="6232042"/>
            <a:ext cx="1616710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Calibri"/>
                <a:cs typeface="Calibri"/>
              </a:rPr>
              <a:t>Fuente:</a:t>
            </a:r>
            <a:r>
              <a:rPr sz="800" spc="-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16-385</a:t>
            </a:r>
            <a:r>
              <a:rPr sz="800" spc="-5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Computer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Vision,</a:t>
            </a:r>
            <a:r>
              <a:rPr sz="800" spc="10" dirty="0">
                <a:latin typeface="Calibri"/>
                <a:cs typeface="Calibri"/>
              </a:rPr>
              <a:t> </a:t>
            </a:r>
            <a:r>
              <a:rPr sz="800" spc="-25" dirty="0">
                <a:latin typeface="Calibri"/>
                <a:cs typeface="Calibri"/>
              </a:rPr>
              <a:t>CMU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8064" y="3820667"/>
            <a:ext cx="1339596" cy="13395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19015" y="3820667"/>
            <a:ext cx="1339596" cy="13395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38444" y="3820667"/>
            <a:ext cx="1339596" cy="133959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291585" y="1676780"/>
            <a:ext cx="354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red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85157" y="1676780"/>
            <a:ext cx="608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green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81673" y="1676780"/>
            <a:ext cx="455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 MT"/>
                <a:cs typeface="Arial MT"/>
              </a:rPr>
              <a:t>blue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38444" y="1999488"/>
            <a:ext cx="1339596" cy="133959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19015" y="1999488"/>
            <a:ext cx="1339596" cy="133959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98064" y="1999488"/>
            <a:ext cx="1339596" cy="133959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250819" y="3410457"/>
            <a:ext cx="34753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Colorizado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sólo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visualización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59048" y="5093334"/>
            <a:ext cx="3860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0" marR="5080" indent="-136588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valores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reales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intensidad </a:t>
            </a:r>
            <a:r>
              <a:rPr sz="1800" spc="-25" dirty="0">
                <a:latin typeface="Arial MT"/>
                <a:cs typeface="Arial MT"/>
              </a:rPr>
              <a:t>de </a:t>
            </a:r>
            <a:r>
              <a:rPr sz="1800" dirty="0">
                <a:latin typeface="Arial MT"/>
                <a:cs typeface="Arial MT"/>
              </a:rPr>
              <a:t>cada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canal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1791" y="2699004"/>
            <a:ext cx="1339595" cy="133959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91769" y="3973829"/>
            <a:ext cx="1801495" cy="150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“patch“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de</a:t>
            </a:r>
            <a:endParaRPr sz="1800">
              <a:latin typeface="Arial MT"/>
              <a:cs typeface="Arial MT"/>
            </a:endParaRPr>
          </a:p>
          <a:p>
            <a:pPr marL="7493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imagen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color</a:t>
            </a:r>
            <a:endParaRPr sz="1800">
              <a:latin typeface="Arial MT"/>
              <a:cs typeface="Arial MT"/>
            </a:endParaRPr>
          </a:p>
          <a:p>
            <a:pPr marL="12065" marR="5080" indent="-1270" algn="ctr">
              <a:lnSpc>
                <a:spcPct val="100000"/>
              </a:lnSpc>
              <a:spcBef>
                <a:spcPts val="815"/>
              </a:spcBef>
            </a:pPr>
            <a:r>
              <a:rPr sz="1800" dirty="0">
                <a:latin typeface="Arial MT"/>
                <a:cs typeface="Arial MT"/>
              </a:rPr>
              <a:t>¿Cuántos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bits </a:t>
            </a:r>
            <a:r>
              <a:rPr sz="1800" dirty="0">
                <a:latin typeface="Arial MT"/>
                <a:cs typeface="Arial MT"/>
              </a:rPr>
              <a:t>tienen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valores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intensidad?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46034" y="3189808"/>
            <a:ext cx="1229995" cy="104140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indent="1905" algn="ctr">
              <a:lnSpc>
                <a:spcPct val="90000"/>
              </a:lnSpc>
              <a:spcBef>
                <a:spcPts val="315"/>
              </a:spcBef>
            </a:pPr>
            <a:r>
              <a:rPr sz="1800" dirty="0">
                <a:latin typeface="Arial MT"/>
                <a:cs typeface="Arial MT"/>
              </a:rPr>
              <a:t>Cada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canal </a:t>
            </a:r>
            <a:r>
              <a:rPr sz="1800" dirty="0">
                <a:latin typeface="Arial MT"/>
                <a:cs typeface="Arial MT"/>
              </a:rPr>
              <a:t>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array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0" dirty="0">
                <a:latin typeface="Arial MT"/>
                <a:cs typeface="Arial MT"/>
              </a:rPr>
              <a:t> números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25" dirty="0">
                <a:latin typeface="Arial MT"/>
                <a:cs typeface="Arial MT"/>
              </a:rPr>
              <a:t> 2D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 idx="4294967295"/>
          </p:nvPr>
        </p:nvSpPr>
        <p:spPr>
          <a:xfrm>
            <a:off x="0" y="-6350"/>
            <a:ext cx="3175000" cy="4524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¿Qué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imagen?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62621" y="6232042"/>
            <a:ext cx="1616710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Calibri"/>
                <a:cs typeface="Calibri"/>
              </a:rPr>
              <a:t>Fuente:</a:t>
            </a:r>
            <a:r>
              <a:rPr sz="800" spc="-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16-385</a:t>
            </a:r>
            <a:r>
              <a:rPr sz="800" spc="-5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Computer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Vision,</a:t>
            </a:r>
            <a:r>
              <a:rPr sz="800" spc="10" dirty="0">
                <a:latin typeface="Calibri"/>
                <a:cs typeface="Calibri"/>
              </a:rPr>
              <a:t> </a:t>
            </a:r>
            <a:r>
              <a:rPr sz="800" spc="-25" dirty="0">
                <a:latin typeface="Calibri"/>
                <a:cs typeface="Calibri"/>
              </a:rPr>
              <a:t>CMU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1937" y="-11937"/>
            <a:ext cx="6406515" cy="618490"/>
            <a:chOff x="-11937" y="-11937"/>
            <a:chExt cx="6406515" cy="618490"/>
          </a:xfrm>
        </p:grpSpPr>
        <p:sp>
          <p:nvSpPr>
            <p:cNvPr id="3" name="object 3"/>
            <p:cNvSpPr/>
            <p:nvPr/>
          </p:nvSpPr>
          <p:spPr>
            <a:xfrm>
              <a:off x="762" y="762"/>
              <a:ext cx="6154420" cy="593090"/>
            </a:xfrm>
            <a:custGeom>
              <a:avLst/>
              <a:gdLst/>
              <a:ahLst/>
              <a:cxnLst/>
              <a:rect l="l" t="t" r="r" b="b"/>
              <a:pathLst>
                <a:path w="6154420" h="593090">
                  <a:moveTo>
                    <a:pt x="6153912" y="0"/>
                  </a:moveTo>
                  <a:lnTo>
                    <a:pt x="0" y="0"/>
                  </a:lnTo>
                  <a:lnTo>
                    <a:pt x="0" y="592835"/>
                  </a:lnTo>
                  <a:lnTo>
                    <a:pt x="6153912" y="592835"/>
                  </a:lnTo>
                  <a:lnTo>
                    <a:pt x="6153912" y="0"/>
                  </a:lnTo>
                  <a:close/>
                </a:path>
              </a:pathLst>
            </a:custGeom>
            <a:solidFill>
              <a:srgbClr val="8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2" y="762"/>
              <a:ext cx="6154420" cy="593090"/>
            </a:xfrm>
            <a:custGeom>
              <a:avLst/>
              <a:gdLst/>
              <a:ahLst/>
              <a:cxnLst/>
              <a:rect l="l" t="t" r="r" b="b"/>
              <a:pathLst>
                <a:path w="6154420" h="593090">
                  <a:moveTo>
                    <a:pt x="0" y="592835"/>
                  </a:moveTo>
                  <a:lnTo>
                    <a:pt x="6153912" y="592835"/>
                  </a:lnTo>
                  <a:lnTo>
                    <a:pt x="6153912" y="0"/>
                  </a:lnTo>
                  <a:lnTo>
                    <a:pt x="0" y="0"/>
                  </a:lnTo>
                  <a:lnTo>
                    <a:pt x="0" y="592835"/>
                  </a:lnTo>
                  <a:close/>
                </a:path>
              </a:pathLst>
            </a:custGeom>
            <a:ln w="25400">
              <a:solidFill>
                <a:srgbClr val="8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51982" y="762"/>
              <a:ext cx="429895" cy="593090"/>
            </a:xfrm>
            <a:custGeom>
              <a:avLst/>
              <a:gdLst/>
              <a:ahLst/>
              <a:cxnLst/>
              <a:rect l="l" t="t" r="r" b="b"/>
              <a:pathLst>
                <a:path w="429895" h="593090">
                  <a:moveTo>
                    <a:pt x="429767" y="0"/>
                  </a:moveTo>
                  <a:lnTo>
                    <a:pt x="0" y="0"/>
                  </a:lnTo>
                  <a:lnTo>
                    <a:pt x="214883" y="592836"/>
                  </a:lnTo>
                  <a:lnTo>
                    <a:pt x="429767" y="0"/>
                  </a:lnTo>
                  <a:close/>
                </a:path>
              </a:pathLst>
            </a:custGeom>
            <a:solidFill>
              <a:srgbClr val="8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51982" y="762"/>
              <a:ext cx="429895" cy="593090"/>
            </a:xfrm>
            <a:custGeom>
              <a:avLst/>
              <a:gdLst/>
              <a:ahLst/>
              <a:cxnLst/>
              <a:rect l="l" t="t" r="r" b="b"/>
              <a:pathLst>
                <a:path w="429895" h="593090">
                  <a:moveTo>
                    <a:pt x="429767" y="0"/>
                  </a:moveTo>
                  <a:lnTo>
                    <a:pt x="214883" y="592836"/>
                  </a:lnTo>
                  <a:lnTo>
                    <a:pt x="0" y="0"/>
                  </a:lnTo>
                  <a:lnTo>
                    <a:pt x="429767" y="0"/>
                  </a:lnTo>
                  <a:close/>
                </a:path>
              </a:pathLst>
            </a:custGeom>
            <a:ln w="25400">
              <a:solidFill>
                <a:srgbClr val="8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-11937" y="6440677"/>
            <a:ext cx="9169400" cy="431165"/>
            <a:chOff x="-11937" y="6440677"/>
            <a:chExt cx="9169400" cy="431165"/>
          </a:xfrm>
        </p:grpSpPr>
        <p:sp>
          <p:nvSpPr>
            <p:cNvPr id="8" name="object 8"/>
            <p:cNvSpPr/>
            <p:nvPr/>
          </p:nvSpPr>
          <p:spPr>
            <a:xfrm>
              <a:off x="2812541" y="6453377"/>
              <a:ext cx="431800" cy="405765"/>
            </a:xfrm>
            <a:custGeom>
              <a:avLst/>
              <a:gdLst/>
              <a:ahLst/>
              <a:cxnLst/>
              <a:rect l="l" t="t" r="r" b="b"/>
              <a:pathLst>
                <a:path w="431800" h="405765">
                  <a:moveTo>
                    <a:pt x="215645" y="0"/>
                  </a:moveTo>
                  <a:lnTo>
                    <a:pt x="0" y="405383"/>
                  </a:lnTo>
                  <a:lnTo>
                    <a:pt x="431291" y="405383"/>
                  </a:lnTo>
                  <a:lnTo>
                    <a:pt x="215645" y="0"/>
                  </a:lnTo>
                  <a:close/>
                </a:path>
              </a:pathLst>
            </a:custGeom>
            <a:solidFill>
              <a:srgbClr val="8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12541" y="6453377"/>
              <a:ext cx="431800" cy="405765"/>
            </a:xfrm>
            <a:custGeom>
              <a:avLst/>
              <a:gdLst/>
              <a:ahLst/>
              <a:cxnLst/>
              <a:rect l="l" t="t" r="r" b="b"/>
              <a:pathLst>
                <a:path w="431800" h="405765">
                  <a:moveTo>
                    <a:pt x="0" y="405383"/>
                  </a:moveTo>
                  <a:lnTo>
                    <a:pt x="215645" y="0"/>
                  </a:lnTo>
                  <a:lnTo>
                    <a:pt x="431291" y="405383"/>
                  </a:lnTo>
                  <a:lnTo>
                    <a:pt x="0" y="405383"/>
                  </a:lnTo>
                  <a:close/>
                </a:path>
              </a:pathLst>
            </a:custGeom>
            <a:ln w="25400">
              <a:solidFill>
                <a:srgbClr val="8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27426" y="6453377"/>
              <a:ext cx="6117590" cy="405765"/>
            </a:xfrm>
            <a:custGeom>
              <a:avLst/>
              <a:gdLst/>
              <a:ahLst/>
              <a:cxnLst/>
              <a:rect l="l" t="t" r="r" b="b"/>
              <a:pathLst>
                <a:path w="6117590" h="405765">
                  <a:moveTo>
                    <a:pt x="6117335" y="0"/>
                  </a:moveTo>
                  <a:lnTo>
                    <a:pt x="0" y="0"/>
                  </a:lnTo>
                  <a:lnTo>
                    <a:pt x="0" y="405384"/>
                  </a:lnTo>
                  <a:lnTo>
                    <a:pt x="6117335" y="405384"/>
                  </a:lnTo>
                  <a:lnTo>
                    <a:pt x="6117335" y="0"/>
                  </a:lnTo>
                  <a:close/>
                </a:path>
              </a:pathLst>
            </a:custGeom>
            <a:solidFill>
              <a:srgbClr val="8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27426" y="6453377"/>
              <a:ext cx="6117590" cy="405765"/>
            </a:xfrm>
            <a:custGeom>
              <a:avLst/>
              <a:gdLst/>
              <a:ahLst/>
              <a:cxnLst/>
              <a:rect l="l" t="t" r="r" b="b"/>
              <a:pathLst>
                <a:path w="6117590" h="405765">
                  <a:moveTo>
                    <a:pt x="0" y="405384"/>
                  </a:moveTo>
                  <a:lnTo>
                    <a:pt x="6117335" y="405384"/>
                  </a:lnTo>
                  <a:lnTo>
                    <a:pt x="6117335" y="0"/>
                  </a:lnTo>
                  <a:lnTo>
                    <a:pt x="0" y="0"/>
                  </a:lnTo>
                  <a:lnTo>
                    <a:pt x="0" y="405384"/>
                  </a:lnTo>
                  <a:close/>
                </a:path>
              </a:pathLst>
            </a:custGeom>
            <a:ln w="25400">
              <a:solidFill>
                <a:srgbClr val="8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62" y="6692645"/>
              <a:ext cx="2757170" cy="166370"/>
            </a:xfrm>
            <a:custGeom>
              <a:avLst/>
              <a:gdLst/>
              <a:ahLst/>
              <a:cxnLst/>
              <a:rect l="l" t="t" r="r" b="b"/>
              <a:pathLst>
                <a:path w="2757170" h="166370">
                  <a:moveTo>
                    <a:pt x="2756916" y="0"/>
                  </a:moveTo>
                  <a:lnTo>
                    <a:pt x="0" y="0"/>
                  </a:lnTo>
                  <a:lnTo>
                    <a:pt x="0" y="166115"/>
                  </a:lnTo>
                  <a:lnTo>
                    <a:pt x="2756916" y="166115"/>
                  </a:lnTo>
                  <a:lnTo>
                    <a:pt x="2756916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62" y="6692645"/>
              <a:ext cx="2757170" cy="166370"/>
            </a:xfrm>
            <a:custGeom>
              <a:avLst/>
              <a:gdLst/>
              <a:ahLst/>
              <a:cxnLst/>
              <a:rect l="l" t="t" r="r" b="b"/>
              <a:pathLst>
                <a:path w="2757170" h="166370">
                  <a:moveTo>
                    <a:pt x="0" y="166115"/>
                  </a:moveTo>
                  <a:lnTo>
                    <a:pt x="2756916" y="166115"/>
                  </a:lnTo>
                  <a:lnTo>
                    <a:pt x="2756916" y="0"/>
                  </a:lnTo>
                  <a:lnTo>
                    <a:pt x="0" y="0"/>
                  </a:lnTo>
                  <a:lnTo>
                    <a:pt x="0" y="166115"/>
                  </a:lnTo>
                  <a:close/>
                </a:path>
              </a:pathLst>
            </a:custGeom>
            <a:ln w="254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88589" y="6679945"/>
              <a:ext cx="193040" cy="19151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95808" y="70561"/>
            <a:ext cx="48514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Guardando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cargando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imágenes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4500" y="1524711"/>
            <a:ext cx="103314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C00000"/>
                </a:solidFill>
                <a:latin typeface="Arial MT"/>
                <a:cs typeface="Arial MT"/>
              </a:rPr>
              <a:t>SciPy</a:t>
            </a:r>
            <a:r>
              <a:rPr sz="2800" spc="-10" dirty="0">
                <a:latin typeface="Arial MT"/>
                <a:cs typeface="Arial MT"/>
              </a:rPr>
              <a:t>: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63954" y="1651203"/>
            <a:ext cx="48088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skimage.io.imread,skimage.io.imsave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4500" y="1965096"/>
            <a:ext cx="5523230" cy="258318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latin typeface="Arial MT"/>
                <a:cs typeface="Arial MT"/>
              </a:rPr>
              <a:t>height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x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width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x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RGB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solidFill>
                  <a:srgbClr val="C00000"/>
                </a:solidFill>
                <a:latin typeface="Arial MT"/>
                <a:cs typeface="Arial MT"/>
              </a:rPr>
              <a:t>PIL</a:t>
            </a:r>
            <a:r>
              <a:rPr sz="2800" spc="-15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C00000"/>
                </a:solidFill>
                <a:latin typeface="Arial MT"/>
                <a:cs typeface="Arial MT"/>
              </a:rPr>
              <a:t>/</a:t>
            </a:r>
            <a:r>
              <a:rPr sz="2800" spc="-5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C00000"/>
                </a:solidFill>
                <a:latin typeface="Arial MT"/>
                <a:cs typeface="Arial MT"/>
              </a:rPr>
              <a:t>Pillow</a:t>
            </a:r>
            <a:r>
              <a:rPr sz="2800" dirty="0">
                <a:latin typeface="Arial MT"/>
                <a:cs typeface="Arial MT"/>
              </a:rPr>
              <a:t>: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Courier New"/>
                <a:cs typeface="Courier New"/>
              </a:rPr>
              <a:t>PIL.Image.open,</a:t>
            </a:r>
            <a:r>
              <a:rPr sz="1800" spc="-1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Image.save</a:t>
            </a:r>
            <a:endParaRPr sz="1800">
              <a:latin typeface="Courier New"/>
              <a:cs typeface="Courier New"/>
            </a:endParaRPr>
          </a:p>
          <a:p>
            <a:pPr marL="12700" marR="808355" indent="914400">
              <a:lnSpc>
                <a:spcPts val="4020"/>
              </a:lnSpc>
              <a:spcBef>
                <a:spcPts val="240"/>
              </a:spcBef>
            </a:pPr>
            <a:r>
              <a:rPr sz="2800" dirty="0">
                <a:latin typeface="Arial MT"/>
                <a:cs typeface="Arial MT"/>
              </a:rPr>
              <a:t>width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x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height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x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RGB </a:t>
            </a:r>
            <a:r>
              <a:rPr sz="2800" spc="-10" dirty="0">
                <a:solidFill>
                  <a:srgbClr val="C00000"/>
                </a:solidFill>
                <a:latin typeface="Arial MT"/>
                <a:cs typeface="Arial MT"/>
              </a:rPr>
              <a:t>OpenCV</a:t>
            </a:r>
            <a:r>
              <a:rPr sz="2800" spc="-10" dirty="0">
                <a:latin typeface="Arial MT"/>
                <a:cs typeface="Arial MT"/>
              </a:rPr>
              <a:t>: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Courier New"/>
                <a:cs typeface="Courier New"/>
              </a:rPr>
              <a:t>cv2.imread,</a:t>
            </a:r>
            <a:r>
              <a:rPr sz="1800" spc="-1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cv2.imwrite</a:t>
            </a:r>
            <a:endParaRPr sz="18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434"/>
              </a:spcBef>
            </a:pPr>
            <a:r>
              <a:rPr sz="2800" dirty="0">
                <a:latin typeface="Arial MT"/>
                <a:cs typeface="Arial MT"/>
              </a:rPr>
              <a:t>height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x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width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x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BGR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-12700" y="-29464"/>
            <a:ext cx="9588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25" dirty="0">
                <a:latin typeface="Arial MT"/>
                <a:cs typeface="Arial MT"/>
              </a:rPr>
              <a:t>32</a:t>
            </a:r>
            <a:endParaRPr sz="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0" y="0"/>
            <a:ext cx="4572000" cy="6858000"/>
            <a:chOff x="4572000" y="0"/>
            <a:chExt cx="4572000" cy="6858000"/>
          </a:xfrm>
        </p:grpSpPr>
        <p:sp>
          <p:nvSpPr>
            <p:cNvPr id="3" name="object 3"/>
            <p:cNvSpPr/>
            <p:nvPr/>
          </p:nvSpPr>
          <p:spPr>
            <a:xfrm>
              <a:off x="4572000" y="0"/>
              <a:ext cx="4572000" cy="6858000"/>
            </a:xfrm>
            <a:custGeom>
              <a:avLst/>
              <a:gdLst/>
              <a:ahLst/>
              <a:cxnLst/>
              <a:rect l="l" t="t" r="r" b="b"/>
              <a:pathLst>
                <a:path w="4572000" h="6858000">
                  <a:moveTo>
                    <a:pt x="4572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2000" y="68580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29962" y="5994653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>
                  <a:moveTo>
                    <a:pt x="0" y="0"/>
                  </a:moveTo>
                  <a:lnTo>
                    <a:pt x="468249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797543" y="6424980"/>
            <a:ext cx="1720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FFFFFF"/>
                </a:solidFill>
                <a:latin typeface="Tahoma"/>
                <a:cs typeface="Tahoma"/>
              </a:rPr>
              <a:t>33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0" y="622300"/>
            <a:ext cx="1925638" cy="7572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50" dirty="0">
                <a:solidFill>
                  <a:srgbClr val="C00000"/>
                </a:solidFill>
                <a:latin typeface="Trebuchet MS"/>
                <a:cs typeface="Trebuchet MS"/>
              </a:rPr>
              <a:t>Operadores </a:t>
            </a:r>
            <a:r>
              <a:rPr spc="60" dirty="0">
                <a:solidFill>
                  <a:srgbClr val="FA8B00"/>
                </a:solidFill>
                <a:latin typeface="Trebuchet MS"/>
                <a:cs typeface="Trebuchet MS"/>
              </a:rPr>
              <a:t>Matemáticos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93039" y="1648180"/>
            <a:ext cx="3490595" cy="2830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14999"/>
              </a:lnSpc>
              <a:spcBef>
                <a:spcPts val="100"/>
              </a:spcBef>
              <a:buClr>
                <a:srgbClr val="C00000"/>
              </a:buClr>
              <a:buSzPct val="90000"/>
              <a:buFont typeface="Wingdings"/>
              <a:buChar char=""/>
              <a:tabLst>
                <a:tab pos="355600" algn="l"/>
              </a:tabLst>
            </a:pPr>
            <a:r>
              <a:rPr sz="2000" b="1" spc="-155" dirty="0">
                <a:latin typeface="Tahoma"/>
                <a:cs typeface="Tahoma"/>
              </a:rPr>
              <a:t>Las</a:t>
            </a:r>
            <a:r>
              <a:rPr sz="2000" b="1" spc="-90" dirty="0">
                <a:latin typeface="Tahoma"/>
                <a:cs typeface="Tahoma"/>
              </a:rPr>
              <a:t> </a:t>
            </a:r>
            <a:r>
              <a:rPr sz="2000" b="1" spc="-125" dirty="0">
                <a:latin typeface="Tahoma"/>
                <a:cs typeface="Tahoma"/>
              </a:rPr>
              <a:t>operaciones</a:t>
            </a:r>
            <a:r>
              <a:rPr sz="2000" b="1" spc="-95" dirty="0">
                <a:latin typeface="Tahoma"/>
                <a:cs typeface="Tahoma"/>
              </a:rPr>
              <a:t> </a:t>
            </a:r>
            <a:r>
              <a:rPr sz="2000" b="1" spc="-135" dirty="0">
                <a:latin typeface="Tahoma"/>
                <a:cs typeface="Tahoma"/>
              </a:rPr>
              <a:t>aritméticas </a:t>
            </a:r>
            <a:r>
              <a:rPr sz="2000" b="1" spc="-140" dirty="0">
                <a:latin typeface="Tahoma"/>
                <a:cs typeface="Tahoma"/>
              </a:rPr>
              <a:t>se</a:t>
            </a:r>
            <a:r>
              <a:rPr sz="2000" b="1" spc="-90" dirty="0">
                <a:latin typeface="Tahoma"/>
                <a:cs typeface="Tahoma"/>
              </a:rPr>
              <a:t> </a:t>
            </a:r>
            <a:r>
              <a:rPr sz="2000" b="1" spc="-145" dirty="0">
                <a:latin typeface="Tahoma"/>
                <a:cs typeface="Tahoma"/>
              </a:rPr>
              <a:t>realizan</a:t>
            </a:r>
            <a:r>
              <a:rPr sz="2000" b="1" spc="-85" dirty="0">
                <a:latin typeface="Tahoma"/>
                <a:cs typeface="Tahoma"/>
              </a:rPr>
              <a:t> </a:t>
            </a:r>
            <a:r>
              <a:rPr sz="2000" b="1" spc="-120" dirty="0">
                <a:latin typeface="Tahoma"/>
                <a:cs typeface="Tahoma"/>
              </a:rPr>
              <a:t>por</a:t>
            </a:r>
            <a:r>
              <a:rPr sz="2000" b="1" spc="-80" dirty="0">
                <a:latin typeface="Tahoma"/>
                <a:cs typeface="Tahoma"/>
              </a:rPr>
              <a:t> </a:t>
            </a:r>
            <a:r>
              <a:rPr sz="2000" b="1" spc="-20" dirty="0">
                <a:latin typeface="Tahoma"/>
                <a:cs typeface="Tahoma"/>
              </a:rPr>
              <a:t>elementos </a:t>
            </a:r>
            <a:r>
              <a:rPr sz="2000" b="1" spc="-170" dirty="0">
                <a:latin typeface="Tahoma"/>
                <a:cs typeface="Tahoma"/>
              </a:rPr>
              <a:t>(element-</a:t>
            </a:r>
            <a:r>
              <a:rPr sz="2000" b="1" spc="-10" dirty="0">
                <a:latin typeface="Tahoma"/>
                <a:cs typeface="Tahoma"/>
              </a:rPr>
              <a:t>wise)</a:t>
            </a:r>
            <a:endParaRPr sz="2000">
              <a:latin typeface="Tahoma"/>
              <a:cs typeface="Tahoma"/>
            </a:endParaRPr>
          </a:p>
          <a:p>
            <a:pPr marL="355600" marR="577850" indent="-342900">
              <a:lnSpc>
                <a:spcPct val="114999"/>
              </a:lnSpc>
              <a:buClr>
                <a:srgbClr val="C00000"/>
              </a:buClr>
              <a:buSzPct val="90000"/>
              <a:buFont typeface="Wingdings"/>
              <a:buChar char=""/>
              <a:tabLst>
                <a:tab pos="355600" algn="l"/>
              </a:tabLst>
            </a:pPr>
            <a:r>
              <a:rPr sz="2000" dirty="0">
                <a:latin typeface="Tahoma"/>
                <a:cs typeface="Tahoma"/>
              </a:rPr>
              <a:t>Los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operadores</a:t>
            </a:r>
            <a:r>
              <a:rPr sz="2000" spc="-12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lógicos </a:t>
            </a:r>
            <a:r>
              <a:rPr sz="2000" dirty="0">
                <a:latin typeface="Tahoma"/>
                <a:cs typeface="Tahoma"/>
              </a:rPr>
              <a:t>devuelven</a:t>
            </a:r>
            <a:r>
              <a:rPr sz="2000" spc="-95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una</a:t>
            </a:r>
            <a:r>
              <a:rPr sz="2000" spc="-9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matriz booleana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60"/>
              </a:spcBef>
              <a:buClr>
                <a:srgbClr val="C00000"/>
              </a:buClr>
              <a:buSzPct val="90000"/>
              <a:buFont typeface="Wingdings"/>
              <a:buChar char=""/>
              <a:tabLst>
                <a:tab pos="354965" algn="l"/>
              </a:tabLst>
            </a:pPr>
            <a:r>
              <a:rPr sz="2000" spc="-20" dirty="0">
                <a:latin typeface="Tahoma"/>
                <a:cs typeface="Tahoma"/>
              </a:rPr>
              <a:t>Las</a:t>
            </a:r>
            <a:r>
              <a:rPr sz="2000" spc="-9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operaciones</a:t>
            </a:r>
            <a:r>
              <a:rPr sz="2000" spc="-1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in</a:t>
            </a:r>
            <a:r>
              <a:rPr sz="2000" spc="-9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place</a:t>
            </a:r>
            <a:endParaRPr sz="20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360"/>
              </a:spcBef>
            </a:pPr>
            <a:r>
              <a:rPr sz="2000" dirty="0">
                <a:latin typeface="Tahoma"/>
                <a:cs typeface="Tahoma"/>
              </a:rPr>
              <a:t>modifican</a:t>
            </a:r>
            <a:r>
              <a:rPr sz="2000" spc="-1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la</a:t>
            </a:r>
            <a:r>
              <a:rPr sz="2000" spc="-10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matriz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08576" y="626363"/>
            <a:ext cx="4535424" cy="535990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0" y="0"/>
            <a:ext cx="4572000" cy="6858000"/>
            <a:chOff x="4572000" y="0"/>
            <a:chExt cx="4572000" cy="6858000"/>
          </a:xfrm>
        </p:grpSpPr>
        <p:sp>
          <p:nvSpPr>
            <p:cNvPr id="3" name="object 3"/>
            <p:cNvSpPr/>
            <p:nvPr/>
          </p:nvSpPr>
          <p:spPr>
            <a:xfrm>
              <a:off x="4572000" y="0"/>
              <a:ext cx="4572000" cy="6858000"/>
            </a:xfrm>
            <a:custGeom>
              <a:avLst/>
              <a:gdLst/>
              <a:ahLst/>
              <a:cxnLst/>
              <a:rect l="l" t="t" r="r" b="b"/>
              <a:pathLst>
                <a:path w="4572000" h="6858000">
                  <a:moveTo>
                    <a:pt x="4572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2000" y="68580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29962" y="5994653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>
                  <a:moveTo>
                    <a:pt x="0" y="0"/>
                  </a:moveTo>
                  <a:lnTo>
                    <a:pt x="468249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797543" y="6424980"/>
            <a:ext cx="1720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FFFFFF"/>
                </a:solidFill>
                <a:latin typeface="Tahoma"/>
                <a:cs typeface="Tahoma"/>
              </a:rPr>
              <a:t>34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0" y="622300"/>
            <a:ext cx="1925638" cy="7572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50" dirty="0">
                <a:solidFill>
                  <a:srgbClr val="C00000"/>
                </a:solidFill>
                <a:latin typeface="Trebuchet MS"/>
                <a:cs typeface="Trebuchet MS"/>
              </a:rPr>
              <a:t>Operadores </a:t>
            </a:r>
            <a:r>
              <a:rPr spc="60" dirty="0">
                <a:solidFill>
                  <a:srgbClr val="FA8B00"/>
                </a:solidFill>
                <a:latin typeface="Trebuchet MS"/>
                <a:cs typeface="Trebuchet MS"/>
              </a:rPr>
              <a:t>Matemáticos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body" idx="4294967295"/>
          </p:nvPr>
        </p:nvSpPr>
        <p:spPr>
          <a:xfrm>
            <a:off x="0" y="1647825"/>
            <a:ext cx="3743325" cy="28305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14999"/>
              </a:lnSpc>
              <a:spcBef>
                <a:spcPts val="100"/>
              </a:spcBef>
              <a:buClr>
                <a:srgbClr val="C00000"/>
              </a:buClr>
              <a:buSzPct val="90000"/>
              <a:buFont typeface="Wingdings"/>
              <a:buChar char=""/>
              <a:tabLst>
                <a:tab pos="355600" algn="l"/>
              </a:tabLst>
            </a:pPr>
            <a:r>
              <a:rPr spc="-20" dirty="0"/>
              <a:t>Las</a:t>
            </a:r>
            <a:r>
              <a:rPr spc="-100" dirty="0"/>
              <a:t> </a:t>
            </a:r>
            <a:r>
              <a:rPr dirty="0"/>
              <a:t>operaciones</a:t>
            </a:r>
            <a:r>
              <a:rPr spc="-145" dirty="0"/>
              <a:t> </a:t>
            </a:r>
            <a:r>
              <a:rPr dirty="0"/>
              <a:t>aritméticas</a:t>
            </a:r>
            <a:r>
              <a:rPr spc="-130" dirty="0"/>
              <a:t> </a:t>
            </a:r>
            <a:r>
              <a:rPr spc="-35" dirty="0"/>
              <a:t>se </a:t>
            </a:r>
            <a:r>
              <a:rPr spc="-10" dirty="0"/>
              <a:t>realizan</a:t>
            </a:r>
            <a:r>
              <a:rPr spc="-90" dirty="0"/>
              <a:t> </a:t>
            </a:r>
            <a:r>
              <a:rPr dirty="0"/>
              <a:t>por</a:t>
            </a:r>
            <a:r>
              <a:rPr spc="-85" dirty="0"/>
              <a:t> </a:t>
            </a:r>
            <a:r>
              <a:rPr spc="-10" dirty="0"/>
              <a:t>elementos </a:t>
            </a:r>
            <a:r>
              <a:rPr spc="-30" dirty="0"/>
              <a:t>(element-</a:t>
            </a:r>
            <a:r>
              <a:rPr spc="-10" dirty="0"/>
              <a:t>wise)</a:t>
            </a:r>
          </a:p>
          <a:p>
            <a:pPr marL="355600" marR="796925" indent="-342900">
              <a:lnSpc>
                <a:spcPct val="114999"/>
              </a:lnSpc>
              <a:buClr>
                <a:srgbClr val="C00000"/>
              </a:buClr>
              <a:buSzPct val="90000"/>
              <a:buFont typeface="Wingdings"/>
              <a:buChar char=""/>
              <a:tabLst>
                <a:tab pos="355600" algn="l"/>
              </a:tabLst>
            </a:pPr>
            <a:r>
              <a:rPr b="1" spc="-120" dirty="0">
                <a:latin typeface="Tahoma"/>
                <a:cs typeface="Tahoma"/>
              </a:rPr>
              <a:t>Los</a:t>
            </a:r>
            <a:r>
              <a:rPr b="1" spc="-75" dirty="0">
                <a:latin typeface="Tahoma"/>
                <a:cs typeface="Tahoma"/>
              </a:rPr>
              <a:t> </a:t>
            </a:r>
            <a:r>
              <a:rPr b="1" spc="-135" dirty="0">
                <a:latin typeface="Tahoma"/>
                <a:cs typeface="Tahoma"/>
              </a:rPr>
              <a:t>operadores</a:t>
            </a:r>
            <a:r>
              <a:rPr b="1" spc="-90" dirty="0">
                <a:latin typeface="Tahoma"/>
                <a:cs typeface="Tahoma"/>
              </a:rPr>
              <a:t> </a:t>
            </a:r>
            <a:r>
              <a:rPr b="1" spc="-114" dirty="0">
                <a:latin typeface="Tahoma"/>
                <a:cs typeface="Tahoma"/>
              </a:rPr>
              <a:t>lógicos </a:t>
            </a:r>
            <a:r>
              <a:rPr b="1" spc="-140" dirty="0">
                <a:latin typeface="Tahoma"/>
                <a:cs typeface="Tahoma"/>
              </a:rPr>
              <a:t>devuelven</a:t>
            </a:r>
            <a:r>
              <a:rPr b="1" spc="-100" dirty="0">
                <a:latin typeface="Tahoma"/>
                <a:cs typeface="Tahoma"/>
              </a:rPr>
              <a:t> </a:t>
            </a:r>
            <a:r>
              <a:rPr b="1" spc="-170" dirty="0">
                <a:latin typeface="Tahoma"/>
                <a:cs typeface="Tahoma"/>
              </a:rPr>
              <a:t>una</a:t>
            </a:r>
            <a:r>
              <a:rPr b="1" spc="-60" dirty="0">
                <a:latin typeface="Tahoma"/>
                <a:cs typeface="Tahoma"/>
              </a:rPr>
              <a:t> </a:t>
            </a:r>
            <a:r>
              <a:rPr b="1" spc="-10" dirty="0">
                <a:latin typeface="Tahoma"/>
                <a:cs typeface="Tahoma"/>
              </a:rPr>
              <a:t>matriz booleana</a:t>
            </a:r>
          </a:p>
          <a:p>
            <a:pPr marL="354965" indent="-342265">
              <a:lnSpc>
                <a:spcPct val="100000"/>
              </a:lnSpc>
              <a:spcBef>
                <a:spcPts val="360"/>
              </a:spcBef>
              <a:buClr>
                <a:srgbClr val="C00000"/>
              </a:buClr>
              <a:buSzPct val="90000"/>
              <a:buFont typeface="Wingdings"/>
              <a:buChar char=""/>
              <a:tabLst>
                <a:tab pos="354965" algn="l"/>
              </a:tabLst>
            </a:pPr>
            <a:r>
              <a:rPr spc="-20" dirty="0"/>
              <a:t>Las</a:t>
            </a:r>
            <a:r>
              <a:rPr spc="-95" dirty="0"/>
              <a:t> </a:t>
            </a:r>
            <a:r>
              <a:rPr dirty="0"/>
              <a:t>operaciones</a:t>
            </a:r>
            <a:r>
              <a:rPr spc="-140" dirty="0"/>
              <a:t> </a:t>
            </a:r>
            <a:r>
              <a:rPr dirty="0"/>
              <a:t>in</a:t>
            </a:r>
            <a:r>
              <a:rPr spc="-95" dirty="0"/>
              <a:t> </a:t>
            </a:r>
            <a:r>
              <a:rPr spc="-10" dirty="0"/>
              <a:t>place</a:t>
            </a:r>
          </a:p>
          <a:p>
            <a:pPr marL="355600">
              <a:lnSpc>
                <a:spcPct val="100000"/>
              </a:lnSpc>
              <a:spcBef>
                <a:spcPts val="360"/>
              </a:spcBef>
            </a:pPr>
            <a:r>
              <a:rPr dirty="0"/>
              <a:t>modifican</a:t>
            </a:r>
            <a:r>
              <a:rPr spc="-140" dirty="0"/>
              <a:t> </a:t>
            </a:r>
            <a:r>
              <a:rPr dirty="0"/>
              <a:t>la</a:t>
            </a:r>
            <a:r>
              <a:rPr spc="-100" dirty="0"/>
              <a:t> </a:t>
            </a:r>
            <a:r>
              <a:rPr spc="-10" dirty="0"/>
              <a:t>matriz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0" y="1269491"/>
            <a:ext cx="4572000" cy="301751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0" y="0"/>
            <a:ext cx="4572000" cy="6858000"/>
            <a:chOff x="4572000" y="0"/>
            <a:chExt cx="4572000" cy="6858000"/>
          </a:xfrm>
        </p:grpSpPr>
        <p:sp>
          <p:nvSpPr>
            <p:cNvPr id="3" name="object 3"/>
            <p:cNvSpPr/>
            <p:nvPr/>
          </p:nvSpPr>
          <p:spPr>
            <a:xfrm>
              <a:off x="4572000" y="0"/>
              <a:ext cx="4572000" cy="6858000"/>
            </a:xfrm>
            <a:custGeom>
              <a:avLst/>
              <a:gdLst/>
              <a:ahLst/>
              <a:cxnLst/>
              <a:rect l="l" t="t" r="r" b="b"/>
              <a:pathLst>
                <a:path w="4572000" h="6858000">
                  <a:moveTo>
                    <a:pt x="4572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2000" y="68580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29962" y="5994653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>
                  <a:moveTo>
                    <a:pt x="0" y="0"/>
                  </a:moveTo>
                  <a:lnTo>
                    <a:pt x="468249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797543" y="6424980"/>
            <a:ext cx="1720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FFFFFF"/>
                </a:solidFill>
                <a:latin typeface="Tahoma"/>
                <a:cs typeface="Tahoma"/>
              </a:rPr>
              <a:t>35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0" y="622300"/>
            <a:ext cx="1925638" cy="7572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50" dirty="0">
                <a:solidFill>
                  <a:srgbClr val="C00000"/>
                </a:solidFill>
                <a:latin typeface="Trebuchet MS"/>
                <a:cs typeface="Trebuchet MS"/>
              </a:rPr>
              <a:t>Operadores </a:t>
            </a:r>
            <a:r>
              <a:rPr spc="60" dirty="0">
                <a:solidFill>
                  <a:srgbClr val="FA8B00"/>
                </a:solidFill>
                <a:latin typeface="Trebuchet MS"/>
                <a:cs typeface="Trebuchet MS"/>
              </a:rPr>
              <a:t>Matemáticos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body" idx="4294967295"/>
          </p:nvPr>
        </p:nvSpPr>
        <p:spPr>
          <a:xfrm>
            <a:off x="0" y="1647825"/>
            <a:ext cx="3743325" cy="28305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14999"/>
              </a:lnSpc>
              <a:spcBef>
                <a:spcPts val="100"/>
              </a:spcBef>
              <a:buClr>
                <a:srgbClr val="C00000"/>
              </a:buClr>
              <a:buSzPct val="90000"/>
              <a:buFont typeface="Wingdings"/>
              <a:buChar char=""/>
              <a:tabLst>
                <a:tab pos="355600" algn="l"/>
              </a:tabLst>
            </a:pPr>
            <a:r>
              <a:rPr spc="-20" dirty="0"/>
              <a:t>Las</a:t>
            </a:r>
            <a:r>
              <a:rPr spc="-100" dirty="0"/>
              <a:t> </a:t>
            </a:r>
            <a:r>
              <a:rPr dirty="0"/>
              <a:t>operaciones</a:t>
            </a:r>
            <a:r>
              <a:rPr spc="-145" dirty="0"/>
              <a:t> </a:t>
            </a:r>
            <a:r>
              <a:rPr dirty="0"/>
              <a:t>aritméticas</a:t>
            </a:r>
            <a:r>
              <a:rPr spc="-130" dirty="0"/>
              <a:t> </a:t>
            </a:r>
            <a:r>
              <a:rPr spc="-35" dirty="0"/>
              <a:t>se </a:t>
            </a:r>
            <a:r>
              <a:rPr spc="-10" dirty="0"/>
              <a:t>realizan</a:t>
            </a:r>
            <a:r>
              <a:rPr spc="-90" dirty="0"/>
              <a:t> </a:t>
            </a:r>
            <a:r>
              <a:rPr dirty="0"/>
              <a:t>por</a:t>
            </a:r>
            <a:r>
              <a:rPr spc="-85" dirty="0"/>
              <a:t> </a:t>
            </a:r>
            <a:r>
              <a:rPr spc="-10" dirty="0"/>
              <a:t>elementos </a:t>
            </a:r>
            <a:r>
              <a:rPr spc="-30" dirty="0"/>
              <a:t>(element-</a:t>
            </a:r>
            <a:r>
              <a:rPr spc="-10" dirty="0"/>
              <a:t>wise)</a:t>
            </a:r>
          </a:p>
          <a:p>
            <a:pPr marL="355600" marR="830580" indent="-342900">
              <a:lnSpc>
                <a:spcPct val="114999"/>
              </a:lnSpc>
              <a:buClr>
                <a:srgbClr val="C00000"/>
              </a:buClr>
              <a:buSzPct val="90000"/>
              <a:buFont typeface="Wingdings"/>
              <a:buChar char=""/>
              <a:tabLst>
                <a:tab pos="355600" algn="l"/>
              </a:tabLst>
            </a:pPr>
            <a:r>
              <a:rPr dirty="0"/>
              <a:t>Los</a:t>
            </a:r>
            <a:r>
              <a:rPr spc="-80" dirty="0"/>
              <a:t> </a:t>
            </a:r>
            <a:r>
              <a:rPr dirty="0"/>
              <a:t>operadores</a:t>
            </a:r>
            <a:r>
              <a:rPr spc="-120" dirty="0"/>
              <a:t> </a:t>
            </a:r>
            <a:r>
              <a:rPr spc="-10" dirty="0"/>
              <a:t>lógicos </a:t>
            </a:r>
            <a:r>
              <a:rPr dirty="0"/>
              <a:t>devuelven</a:t>
            </a:r>
            <a:r>
              <a:rPr spc="-95" dirty="0"/>
              <a:t> </a:t>
            </a:r>
            <a:r>
              <a:rPr spc="-20" dirty="0"/>
              <a:t>una</a:t>
            </a:r>
            <a:r>
              <a:rPr spc="-95" dirty="0"/>
              <a:t> </a:t>
            </a:r>
            <a:r>
              <a:rPr spc="-10" dirty="0"/>
              <a:t>matriz booleana</a:t>
            </a:r>
          </a:p>
          <a:p>
            <a:pPr marL="354965" indent="-342265">
              <a:lnSpc>
                <a:spcPct val="100000"/>
              </a:lnSpc>
              <a:spcBef>
                <a:spcPts val="360"/>
              </a:spcBef>
              <a:buClr>
                <a:srgbClr val="C00000"/>
              </a:buClr>
              <a:buSzPct val="90000"/>
              <a:buFont typeface="Wingdings"/>
              <a:buChar char=""/>
              <a:tabLst>
                <a:tab pos="354965" algn="l"/>
              </a:tabLst>
            </a:pPr>
            <a:r>
              <a:rPr b="1" spc="-155" dirty="0">
                <a:latin typeface="Tahoma"/>
                <a:cs typeface="Tahoma"/>
              </a:rPr>
              <a:t>Las</a:t>
            </a:r>
            <a:r>
              <a:rPr b="1" spc="-95" dirty="0">
                <a:latin typeface="Tahoma"/>
                <a:cs typeface="Tahoma"/>
              </a:rPr>
              <a:t> </a:t>
            </a:r>
            <a:r>
              <a:rPr b="1" spc="-125" dirty="0">
                <a:latin typeface="Tahoma"/>
                <a:cs typeface="Tahoma"/>
              </a:rPr>
              <a:t>operaciones</a:t>
            </a:r>
            <a:r>
              <a:rPr b="1" spc="-100" dirty="0">
                <a:latin typeface="Tahoma"/>
                <a:cs typeface="Tahoma"/>
              </a:rPr>
              <a:t> </a:t>
            </a:r>
            <a:r>
              <a:rPr b="1" spc="-130" dirty="0">
                <a:latin typeface="Tahoma"/>
                <a:cs typeface="Tahoma"/>
              </a:rPr>
              <a:t>in</a:t>
            </a:r>
            <a:r>
              <a:rPr b="1" spc="-85" dirty="0">
                <a:latin typeface="Tahoma"/>
                <a:cs typeface="Tahoma"/>
              </a:rPr>
              <a:t> </a:t>
            </a:r>
            <a:r>
              <a:rPr b="1" spc="-20" dirty="0">
                <a:latin typeface="Tahoma"/>
                <a:cs typeface="Tahoma"/>
              </a:rPr>
              <a:t>place</a:t>
            </a:r>
          </a:p>
          <a:p>
            <a:pPr marL="355600">
              <a:lnSpc>
                <a:spcPct val="100000"/>
              </a:lnSpc>
              <a:spcBef>
                <a:spcPts val="360"/>
              </a:spcBef>
            </a:pPr>
            <a:r>
              <a:rPr b="1" spc="-135" dirty="0">
                <a:latin typeface="Tahoma"/>
                <a:cs typeface="Tahoma"/>
              </a:rPr>
              <a:t>modifican</a:t>
            </a:r>
            <a:r>
              <a:rPr b="1" spc="-90" dirty="0">
                <a:latin typeface="Tahoma"/>
                <a:cs typeface="Tahoma"/>
              </a:rPr>
              <a:t> </a:t>
            </a:r>
            <a:r>
              <a:rPr b="1" spc="-150" dirty="0">
                <a:latin typeface="Tahoma"/>
                <a:cs typeface="Tahoma"/>
              </a:rPr>
              <a:t>la</a:t>
            </a:r>
            <a:r>
              <a:rPr b="1" spc="-60" dirty="0">
                <a:latin typeface="Tahoma"/>
                <a:cs typeface="Tahoma"/>
              </a:rPr>
              <a:t> </a:t>
            </a:r>
            <a:r>
              <a:rPr b="1" spc="-10" dirty="0">
                <a:latin typeface="Tahoma"/>
                <a:cs typeface="Tahoma"/>
              </a:rPr>
              <a:t>matriz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0" y="1344167"/>
            <a:ext cx="4533900" cy="386943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0" y="79375"/>
            <a:ext cx="417195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/>
              <a:t>Math,</a:t>
            </a:r>
            <a:r>
              <a:rPr spc="-60" dirty="0"/>
              <a:t> </a:t>
            </a:r>
            <a:r>
              <a:rPr spc="-10" dirty="0">
                <a:solidFill>
                  <a:srgbClr val="F79546"/>
                </a:solidFill>
              </a:rPr>
              <a:t>upcasting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8338" y="1252550"/>
            <a:ext cx="8255634" cy="1633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965" indent="-227965" algn="ctr">
              <a:lnSpc>
                <a:spcPts val="2735"/>
              </a:lnSpc>
              <a:spcBef>
                <a:spcPts val="100"/>
              </a:spcBef>
              <a:buClr>
                <a:srgbClr val="C00000"/>
              </a:buClr>
              <a:buFont typeface="Wingdings"/>
              <a:buChar char=""/>
              <a:tabLst>
                <a:tab pos="227965" algn="l"/>
                <a:tab pos="619760" algn="l"/>
                <a:tab pos="1355090" algn="l"/>
                <a:tab pos="1972310" algn="l"/>
                <a:tab pos="2429510" algn="l"/>
                <a:tab pos="3455035" algn="l"/>
                <a:tab pos="3738879" algn="l"/>
                <a:tab pos="4478020" algn="l"/>
                <a:tab pos="4845050" algn="l"/>
                <a:tab pos="6158865" algn="l"/>
                <a:tab pos="6616065" algn="l"/>
                <a:tab pos="7080884" algn="l"/>
              </a:tabLst>
            </a:pPr>
            <a:r>
              <a:rPr sz="2400" spc="-25" dirty="0">
                <a:latin typeface="Calibri"/>
                <a:cs typeface="Calibri"/>
              </a:rPr>
              <a:t>Al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igual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que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en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Python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y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Java,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el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resultado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de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un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operador</a:t>
            </a:r>
            <a:endParaRPr sz="2400">
              <a:latin typeface="Calibri"/>
              <a:cs typeface="Calibri"/>
            </a:endParaRPr>
          </a:p>
          <a:p>
            <a:pPr marR="27305" algn="ctr">
              <a:lnSpc>
                <a:spcPts val="2735"/>
              </a:lnSpc>
            </a:pPr>
            <a:r>
              <a:rPr sz="2400" spc="-10" dirty="0">
                <a:latin typeface="Calibri"/>
                <a:cs typeface="Calibri"/>
              </a:rPr>
              <a:t>matemático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convierte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tipo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más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general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preciso.</a:t>
            </a:r>
            <a:endParaRPr sz="2400">
              <a:latin typeface="Calibri"/>
              <a:cs typeface="Calibri"/>
            </a:endParaRPr>
          </a:p>
          <a:p>
            <a:pPr marL="927100" marR="4198620" algn="ctr">
              <a:lnSpc>
                <a:spcPct val="124600"/>
              </a:lnSpc>
              <a:spcBef>
                <a:spcPts val="10"/>
              </a:spcBef>
            </a:pPr>
            <a:r>
              <a:rPr sz="2400" dirty="0">
                <a:latin typeface="Calibri"/>
                <a:cs typeface="Calibri"/>
              </a:rPr>
              <a:t>uint64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uint16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=&gt;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uint64 </a:t>
            </a:r>
            <a:r>
              <a:rPr sz="2400" dirty="0">
                <a:latin typeface="Calibri"/>
                <a:cs typeface="Calibri"/>
              </a:rPr>
              <a:t>float32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/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int32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=&gt;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float32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8338" y="3408426"/>
            <a:ext cx="82562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Wingdings"/>
              <a:buChar char=""/>
              <a:tabLst>
                <a:tab pos="240665" algn="l"/>
                <a:tab pos="1652270" algn="l"/>
                <a:tab pos="2076450" algn="l"/>
                <a:tab pos="3463290" algn="l"/>
                <a:tab pos="3987800" algn="l"/>
                <a:tab pos="4795520" algn="l"/>
                <a:tab pos="5222240" algn="l"/>
                <a:tab pos="7973695" algn="l"/>
              </a:tabLst>
            </a:pPr>
            <a:r>
              <a:rPr sz="2400" b="1" spc="-10" dirty="0">
                <a:latin typeface="Calibri"/>
                <a:cs typeface="Calibri"/>
              </a:rPr>
              <a:t>Atención: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spc="-35" dirty="0">
                <a:latin typeface="Calibri"/>
                <a:cs typeface="Calibri"/>
              </a:rPr>
              <a:t>El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upcasting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no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evita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el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overflow/underflow.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8338" y="3647694"/>
            <a:ext cx="8255634" cy="93726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805"/>
              </a:spcBef>
            </a:pPr>
            <a:r>
              <a:rPr sz="2400" dirty="0">
                <a:latin typeface="Calibri"/>
                <a:cs typeface="Calibri"/>
              </a:rPr>
              <a:t>necesario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realizar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primero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conversión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manualmente.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10"/>
              </a:spcBef>
              <a:buClr>
                <a:srgbClr val="C00000"/>
              </a:buClr>
              <a:buFont typeface="Wingdings"/>
              <a:buChar char=""/>
              <a:tabLst>
                <a:tab pos="240665" algn="l"/>
              </a:tabLst>
            </a:pPr>
            <a:r>
              <a:rPr sz="2400" b="1" dirty="0">
                <a:latin typeface="Calibri"/>
                <a:cs typeface="Calibri"/>
              </a:rPr>
              <a:t>Caso</a:t>
            </a:r>
            <a:r>
              <a:rPr sz="2400" b="1" spc="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</a:t>
            </a:r>
            <a:r>
              <a:rPr sz="2400" b="1" spc="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uso:</a:t>
            </a:r>
            <a:r>
              <a:rPr sz="2400" b="1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las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imágenes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menudo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almacenan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uint8.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6938" y="4522165"/>
            <a:ext cx="8027670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  <a:tabLst>
                <a:tab pos="1364615" algn="l"/>
                <a:tab pos="2734310" algn="l"/>
                <a:tab pos="3136900" algn="l"/>
                <a:tab pos="4271010" algn="l"/>
                <a:tab pos="4686935" algn="l"/>
                <a:tab pos="5821045" algn="l"/>
                <a:tab pos="6750684" algn="l"/>
                <a:tab pos="7320915" algn="l"/>
              </a:tabLst>
            </a:pPr>
            <a:r>
              <a:rPr sz="2400" spc="-10" dirty="0">
                <a:latin typeface="Calibri"/>
                <a:cs typeface="Calibri"/>
              </a:rPr>
              <a:t>Deberías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convertir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float32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float64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antes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de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hacer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735"/>
              </a:lnSpc>
            </a:pPr>
            <a:r>
              <a:rPr sz="2400" spc="-10" dirty="0">
                <a:latin typeface="Calibri"/>
                <a:cs typeface="Calibri"/>
              </a:rPr>
              <a:t>operaciones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matemáticas.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-12700" y="-29464"/>
            <a:ext cx="9588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25" dirty="0">
                <a:latin typeface="Arial MT"/>
                <a:cs typeface="Arial MT"/>
              </a:rPr>
              <a:t>36</a:t>
            </a:r>
            <a:endParaRPr sz="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0" y="0"/>
            <a:ext cx="4572000" cy="6858000"/>
            <a:chOff x="4572000" y="0"/>
            <a:chExt cx="4572000" cy="6858000"/>
          </a:xfrm>
        </p:grpSpPr>
        <p:sp>
          <p:nvSpPr>
            <p:cNvPr id="3" name="object 3"/>
            <p:cNvSpPr/>
            <p:nvPr/>
          </p:nvSpPr>
          <p:spPr>
            <a:xfrm>
              <a:off x="4572000" y="0"/>
              <a:ext cx="4572000" cy="6858000"/>
            </a:xfrm>
            <a:custGeom>
              <a:avLst/>
              <a:gdLst/>
              <a:ahLst/>
              <a:cxnLst/>
              <a:rect l="l" t="t" r="r" b="b"/>
              <a:pathLst>
                <a:path w="4572000" h="6858000">
                  <a:moveTo>
                    <a:pt x="4572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2000" y="68580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29962" y="5994653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>
                  <a:moveTo>
                    <a:pt x="0" y="0"/>
                  </a:moveTo>
                  <a:lnTo>
                    <a:pt x="468249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797543" y="6424980"/>
            <a:ext cx="1720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FFFFFF"/>
                </a:solidFill>
                <a:latin typeface="Tahoma"/>
                <a:cs typeface="Tahoma"/>
              </a:rPr>
              <a:t>37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3039" y="1648180"/>
            <a:ext cx="3074035" cy="384556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59"/>
              </a:spcBef>
              <a:buClr>
                <a:srgbClr val="C00000"/>
              </a:buClr>
              <a:buSzPct val="90000"/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También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llamadas: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ufuncs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59"/>
              </a:spcBef>
              <a:buClr>
                <a:srgbClr val="C00000"/>
              </a:buClr>
              <a:buSzPct val="90000"/>
              <a:buFont typeface="Wingdings"/>
              <a:buChar char=""/>
              <a:tabLst>
                <a:tab pos="354965" algn="l"/>
              </a:tabLst>
            </a:pPr>
            <a:r>
              <a:rPr sz="2000" spc="-10" dirty="0">
                <a:latin typeface="Calibri"/>
                <a:cs typeface="Calibri"/>
              </a:rPr>
              <a:t>Element-</a:t>
            </a:r>
            <a:r>
              <a:rPr sz="2000" spc="-20" dirty="0">
                <a:latin typeface="Calibri"/>
                <a:cs typeface="Calibri"/>
              </a:rPr>
              <a:t>wise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59"/>
              </a:spcBef>
              <a:buClr>
                <a:srgbClr val="C00000"/>
              </a:buClr>
              <a:buSzPct val="90000"/>
              <a:buFont typeface="Wingdings"/>
              <a:buChar char=""/>
              <a:tabLst>
                <a:tab pos="354965" algn="l"/>
              </a:tabLst>
            </a:pPr>
            <a:r>
              <a:rPr sz="2000" spc="-10" dirty="0">
                <a:latin typeface="Calibri"/>
                <a:cs typeface="Calibri"/>
              </a:rPr>
              <a:t>Ejemplos:</a:t>
            </a:r>
            <a:endParaRPr sz="2000">
              <a:latin typeface="Calibri"/>
              <a:cs typeface="Calibri"/>
            </a:endParaRPr>
          </a:p>
          <a:p>
            <a:pPr marL="812165" lvl="1" indent="-316865">
              <a:lnSpc>
                <a:spcPct val="100000"/>
              </a:lnSpc>
              <a:spcBef>
                <a:spcPts val="1955"/>
              </a:spcBef>
              <a:buClr>
                <a:srgbClr val="C00000"/>
              </a:buClr>
              <a:buSzPct val="70000"/>
              <a:buFont typeface="Arial MT"/>
              <a:buChar char="•"/>
              <a:tabLst>
                <a:tab pos="812165" algn="l"/>
              </a:tabLst>
            </a:pPr>
            <a:r>
              <a:rPr sz="2000" spc="-10" dirty="0">
                <a:latin typeface="Calibri"/>
                <a:cs typeface="Calibri"/>
              </a:rPr>
              <a:t>np.exp</a:t>
            </a:r>
            <a:endParaRPr sz="2000">
              <a:latin typeface="Calibri"/>
              <a:cs typeface="Calibri"/>
            </a:endParaRPr>
          </a:p>
          <a:p>
            <a:pPr marL="812165" lvl="1" indent="-316865">
              <a:lnSpc>
                <a:spcPct val="100000"/>
              </a:lnSpc>
              <a:spcBef>
                <a:spcPts val="1955"/>
              </a:spcBef>
              <a:buClr>
                <a:srgbClr val="C00000"/>
              </a:buClr>
              <a:buSzPct val="70000"/>
              <a:buFont typeface="Arial MT"/>
              <a:buChar char="•"/>
              <a:tabLst>
                <a:tab pos="812165" algn="l"/>
              </a:tabLst>
            </a:pPr>
            <a:r>
              <a:rPr sz="2000" spc="-10" dirty="0">
                <a:latin typeface="Calibri"/>
                <a:cs typeface="Calibri"/>
              </a:rPr>
              <a:t>np.sqrt</a:t>
            </a:r>
            <a:endParaRPr sz="2000">
              <a:latin typeface="Calibri"/>
              <a:cs typeface="Calibri"/>
            </a:endParaRPr>
          </a:p>
          <a:p>
            <a:pPr marL="812165" lvl="1" indent="-316865">
              <a:lnSpc>
                <a:spcPct val="100000"/>
              </a:lnSpc>
              <a:spcBef>
                <a:spcPts val="1970"/>
              </a:spcBef>
              <a:buClr>
                <a:srgbClr val="C00000"/>
              </a:buClr>
              <a:buSzPct val="70000"/>
              <a:buFont typeface="Arial MT"/>
              <a:buChar char="•"/>
              <a:tabLst>
                <a:tab pos="812165" algn="l"/>
              </a:tabLst>
            </a:pPr>
            <a:r>
              <a:rPr sz="2000" spc="-10" dirty="0">
                <a:latin typeface="Calibri"/>
                <a:cs typeface="Calibri"/>
              </a:rPr>
              <a:t>np.sin</a:t>
            </a:r>
            <a:endParaRPr sz="2000">
              <a:latin typeface="Calibri"/>
              <a:cs typeface="Calibri"/>
            </a:endParaRPr>
          </a:p>
          <a:p>
            <a:pPr marL="812165" lvl="1" indent="-316865">
              <a:lnSpc>
                <a:spcPct val="100000"/>
              </a:lnSpc>
              <a:spcBef>
                <a:spcPts val="1960"/>
              </a:spcBef>
              <a:buClr>
                <a:srgbClr val="C00000"/>
              </a:buClr>
              <a:buSzPct val="70000"/>
              <a:buFont typeface="Arial MT"/>
              <a:buChar char="•"/>
              <a:tabLst>
                <a:tab pos="812165" algn="l"/>
              </a:tabLst>
            </a:pPr>
            <a:r>
              <a:rPr sz="2000" spc="-10" dirty="0">
                <a:latin typeface="Calibri"/>
                <a:cs typeface="Calibri"/>
              </a:rPr>
              <a:t>np.cos</a:t>
            </a:r>
            <a:endParaRPr sz="2000">
              <a:latin typeface="Calibri"/>
              <a:cs typeface="Calibri"/>
            </a:endParaRPr>
          </a:p>
          <a:p>
            <a:pPr marL="812165" lvl="1" indent="-316865">
              <a:lnSpc>
                <a:spcPct val="100000"/>
              </a:lnSpc>
              <a:spcBef>
                <a:spcPts val="1955"/>
              </a:spcBef>
              <a:buClr>
                <a:srgbClr val="C00000"/>
              </a:buClr>
              <a:buSzPct val="70000"/>
              <a:buFont typeface="Arial MT"/>
              <a:buChar char="•"/>
              <a:tabLst>
                <a:tab pos="812165" algn="l"/>
              </a:tabLst>
            </a:pPr>
            <a:r>
              <a:rPr sz="2000" spc="-10" dirty="0">
                <a:latin typeface="Calibri"/>
                <a:cs typeface="Calibri"/>
              </a:rPr>
              <a:t>np.isnan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 idx="4294967295"/>
          </p:nvPr>
        </p:nvSpPr>
        <p:spPr>
          <a:xfrm>
            <a:off x="0" y="519113"/>
            <a:ext cx="420687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00"/>
              </a:lnSpc>
              <a:spcBef>
                <a:spcPts val="100"/>
              </a:spcBef>
              <a:tabLst>
                <a:tab pos="892175" algn="l"/>
              </a:tabLst>
            </a:pPr>
            <a:r>
              <a:rPr spc="-20" dirty="0">
                <a:solidFill>
                  <a:srgbClr val="FA8B00"/>
                </a:solidFill>
              </a:rPr>
              <a:t>Math</a:t>
            </a:r>
            <a:r>
              <a:rPr dirty="0">
                <a:solidFill>
                  <a:srgbClr val="FA8B00"/>
                </a:solidFill>
              </a:rPr>
              <a:t>	</a:t>
            </a:r>
            <a:r>
              <a:rPr dirty="0">
                <a:solidFill>
                  <a:srgbClr val="C00000"/>
                </a:solidFill>
              </a:rPr>
              <a:t>funciones</a:t>
            </a:r>
            <a:r>
              <a:rPr spc="-50" dirty="0">
                <a:solidFill>
                  <a:srgbClr val="C00000"/>
                </a:solidFill>
              </a:rPr>
              <a:t> </a:t>
            </a:r>
            <a:r>
              <a:rPr spc="-10" dirty="0">
                <a:solidFill>
                  <a:srgbClr val="C00000"/>
                </a:solidFill>
              </a:rPr>
              <a:t>universales:</a:t>
            </a:r>
          </a:p>
          <a:p>
            <a:pPr marL="96520">
              <a:lnSpc>
                <a:spcPts val="2700"/>
              </a:lnSpc>
            </a:pPr>
            <a:r>
              <a:rPr spc="-10" dirty="0">
                <a:solidFill>
                  <a:srgbClr val="FA8B00"/>
                </a:solidFill>
                <a:latin typeface="Calibri"/>
                <a:cs typeface="Calibri"/>
              </a:rPr>
              <a:t>ufuncs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0" y="1972055"/>
            <a:ext cx="4572000" cy="210159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64379" y="0"/>
            <a:ext cx="4579620" cy="6858000"/>
            <a:chOff x="4564379" y="0"/>
            <a:chExt cx="4579620" cy="6858000"/>
          </a:xfrm>
        </p:grpSpPr>
        <p:sp>
          <p:nvSpPr>
            <p:cNvPr id="3" name="object 3"/>
            <p:cNvSpPr/>
            <p:nvPr/>
          </p:nvSpPr>
          <p:spPr>
            <a:xfrm>
              <a:off x="4571999" y="0"/>
              <a:ext cx="4572000" cy="6858000"/>
            </a:xfrm>
            <a:custGeom>
              <a:avLst/>
              <a:gdLst/>
              <a:ahLst/>
              <a:cxnLst/>
              <a:rect l="l" t="t" r="r" b="b"/>
              <a:pathLst>
                <a:path w="4572000" h="6858000">
                  <a:moveTo>
                    <a:pt x="4572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2000" y="68580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29961" y="5994653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>
                  <a:moveTo>
                    <a:pt x="0" y="0"/>
                  </a:moveTo>
                  <a:lnTo>
                    <a:pt x="468249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64379" y="661416"/>
              <a:ext cx="4579620" cy="522884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0" y="860425"/>
            <a:ext cx="1292225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>
                <a:solidFill>
                  <a:srgbClr val="C00000"/>
                </a:solidFill>
                <a:latin typeface="Trebuchet MS"/>
                <a:cs typeface="Trebuchet MS"/>
              </a:rPr>
              <a:t>Indexing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8739" y="1691766"/>
            <a:ext cx="3949065" cy="1695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ahoma"/>
                <a:cs typeface="Tahoma"/>
              </a:rPr>
              <a:t>Notas:</a:t>
            </a:r>
            <a:endParaRPr sz="1800">
              <a:latin typeface="Tahoma"/>
              <a:cs typeface="Tahoma"/>
            </a:endParaRPr>
          </a:p>
          <a:p>
            <a:pPr marL="926465" indent="-316865">
              <a:lnSpc>
                <a:spcPct val="100000"/>
              </a:lnSpc>
              <a:spcBef>
                <a:spcPts val="1910"/>
              </a:spcBef>
              <a:buChar char="○"/>
              <a:tabLst>
                <a:tab pos="926465" algn="l"/>
              </a:tabLst>
            </a:pPr>
            <a:r>
              <a:rPr sz="1400" dirty="0">
                <a:latin typeface="Tahoma"/>
                <a:cs typeface="Tahoma"/>
              </a:rPr>
              <a:t>Zero-</a:t>
            </a:r>
            <a:r>
              <a:rPr sz="1400" spc="-10" dirty="0">
                <a:latin typeface="Tahoma"/>
                <a:cs typeface="Tahoma"/>
              </a:rPr>
              <a:t>indexing</a:t>
            </a:r>
            <a:endParaRPr sz="1400">
              <a:latin typeface="Tahoma"/>
              <a:cs typeface="Tahoma"/>
            </a:endParaRPr>
          </a:p>
          <a:p>
            <a:pPr marL="927100" marR="5080" indent="-317500">
              <a:lnSpc>
                <a:spcPct val="115100"/>
              </a:lnSpc>
              <a:spcBef>
                <a:spcPts val="1595"/>
              </a:spcBef>
              <a:buChar char="○"/>
              <a:tabLst>
                <a:tab pos="927100" algn="l"/>
              </a:tabLst>
            </a:pPr>
            <a:r>
              <a:rPr sz="1400" dirty="0">
                <a:latin typeface="Tahoma"/>
                <a:cs typeface="Tahoma"/>
              </a:rPr>
              <a:t>Los</a:t>
            </a:r>
            <a:r>
              <a:rPr sz="1400" spc="5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índices</a:t>
            </a:r>
            <a:r>
              <a:rPr sz="1400" spc="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Multi-</a:t>
            </a:r>
            <a:r>
              <a:rPr sz="1400" spc="-10" dirty="0">
                <a:latin typeface="Tahoma"/>
                <a:cs typeface="Tahoma"/>
              </a:rPr>
              <a:t>dimensionales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son </a:t>
            </a:r>
            <a:r>
              <a:rPr sz="1400" spc="-10" dirty="0">
                <a:latin typeface="Tahoma"/>
                <a:cs typeface="Tahoma"/>
              </a:rPr>
              <a:t>separados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por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coma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-30" dirty="0">
                <a:latin typeface="Tahoma"/>
                <a:cs typeface="Tahoma"/>
              </a:rPr>
              <a:t>(por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ejemplo.,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una </a:t>
            </a:r>
            <a:r>
              <a:rPr sz="1400" spc="-10" dirty="0">
                <a:latin typeface="Tahoma"/>
                <a:cs typeface="Tahoma"/>
              </a:rPr>
              <a:t>tupla)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0" y="0"/>
            <a:ext cx="4572000" cy="6858000"/>
            <a:chOff x="4572000" y="0"/>
            <a:chExt cx="4572000" cy="6858000"/>
          </a:xfrm>
        </p:grpSpPr>
        <p:sp>
          <p:nvSpPr>
            <p:cNvPr id="3" name="object 3"/>
            <p:cNvSpPr/>
            <p:nvPr/>
          </p:nvSpPr>
          <p:spPr>
            <a:xfrm>
              <a:off x="4572000" y="0"/>
              <a:ext cx="4572000" cy="6858000"/>
            </a:xfrm>
            <a:custGeom>
              <a:avLst/>
              <a:gdLst/>
              <a:ahLst/>
              <a:cxnLst/>
              <a:rect l="l" t="t" r="r" b="b"/>
              <a:pathLst>
                <a:path w="4572000" h="6858000">
                  <a:moveTo>
                    <a:pt x="4572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2000" y="68580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29962" y="5994653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>
                  <a:moveTo>
                    <a:pt x="0" y="0"/>
                  </a:moveTo>
                  <a:lnTo>
                    <a:pt x="468249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797543" y="6424980"/>
            <a:ext cx="1720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FFFFFF"/>
                </a:solidFill>
                <a:latin typeface="Tahoma"/>
                <a:cs typeface="Tahoma"/>
              </a:rPr>
              <a:t>39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0" y="990600"/>
            <a:ext cx="348615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C00000"/>
                </a:solidFill>
                <a:latin typeface="Trebuchet MS"/>
                <a:cs typeface="Trebuchet MS"/>
              </a:rPr>
              <a:t>Indexing,</a:t>
            </a:r>
            <a:r>
              <a:rPr spc="-9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pc="70" dirty="0">
                <a:solidFill>
                  <a:srgbClr val="C00000"/>
                </a:solidFill>
                <a:latin typeface="Trebuchet MS"/>
                <a:cs typeface="Trebuchet MS"/>
              </a:rPr>
              <a:t>slices</a:t>
            </a:r>
            <a:r>
              <a:rPr spc="-10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C00000"/>
                </a:solidFill>
                <a:latin typeface="Trebuchet MS"/>
                <a:cs typeface="Trebuchet MS"/>
              </a:rPr>
              <a:t>y</a:t>
            </a:r>
            <a:r>
              <a:rPr spc="-10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pc="-10" dirty="0">
                <a:solidFill>
                  <a:srgbClr val="C00000"/>
                </a:solidFill>
                <a:latin typeface="Trebuchet MS"/>
                <a:cs typeface="Trebuchet MS"/>
              </a:rPr>
              <a:t>arrays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01853" y="1813940"/>
            <a:ext cx="3693160" cy="2193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Wingdings"/>
              <a:buChar char="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Los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Slices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son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vistas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(</a:t>
            </a:r>
            <a:r>
              <a:rPr sz="1800" b="1" spc="-35" dirty="0">
                <a:latin typeface="Tahoma"/>
                <a:cs typeface="Tahoma"/>
              </a:rPr>
              <a:t>views)</a:t>
            </a:r>
            <a:r>
              <a:rPr sz="1800" spc="-35" dirty="0">
                <a:latin typeface="Tahoma"/>
                <a:cs typeface="Tahoma"/>
              </a:rPr>
              <a:t>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10"/>
              </a:spcBef>
              <a:buClr>
                <a:srgbClr val="C00000"/>
              </a:buClr>
              <a:buFont typeface="Wingdings"/>
              <a:buChar char=""/>
            </a:pP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5"/>
              </a:spcBef>
            </a:pPr>
            <a:r>
              <a:rPr sz="1800" spc="75" dirty="0">
                <a:latin typeface="Tahoma"/>
                <a:cs typeface="Tahoma"/>
              </a:rPr>
              <a:t>Al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escribir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en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un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slice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se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sobrescribe la</a:t>
            </a:r>
            <a:r>
              <a:rPr sz="1800" spc="-114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matriz</a:t>
            </a:r>
            <a:r>
              <a:rPr sz="1800" spc="-1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original.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lr>
                <a:srgbClr val="C00000"/>
              </a:buClr>
              <a:buFont typeface="Wingdings"/>
              <a:buChar char=""/>
              <a:tabLst>
                <a:tab pos="299085" algn="l"/>
                <a:tab pos="889000" algn="l"/>
                <a:tab pos="1481455" algn="l"/>
                <a:tab pos="2225675" algn="l"/>
                <a:tab pos="2667635" algn="l"/>
                <a:tab pos="2978785" algn="l"/>
                <a:tab pos="3464560" algn="l"/>
              </a:tabLst>
            </a:pPr>
            <a:r>
              <a:rPr sz="1800" spc="-25" dirty="0">
                <a:latin typeface="Tahoma"/>
                <a:cs typeface="Tahoma"/>
              </a:rPr>
              <a:t>Can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20" dirty="0">
                <a:latin typeface="Tahoma"/>
                <a:cs typeface="Tahoma"/>
              </a:rPr>
              <a:t>also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10" dirty="0">
                <a:latin typeface="Tahoma"/>
                <a:cs typeface="Tahoma"/>
              </a:rPr>
              <a:t>index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25" dirty="0">
                <a:latin typeface="Tahoma"/>
                <a:cs typeface="Tahoma"/>
              </a:rPr>
              <a:t>by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50" dirty="0">
                <a:latin typeface="Tahoma"/>
                <a:cs typeface="Tahoma"/>
              </a:rPr>
              <a:t>a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20" dirty="0">
                <a:latin typeface="Tahoma"/>
                <a:cs typeface="Tahoma"/>
              </a:rPr>
              <a:t>list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25" dirty="0">
                <a:latin typeface="Tahoma"/>
                <a:cs typeface="Tahoma"/>
              </a:rPr>
              <a:t>or</a:t>
            </a:r>
            <a:endParaRPr sz="1800">
              <a:latin typeface="Tahoma"/>
              <a:cs typeface="Tahoma"/>
            </a:endParaRPr>
          </a:p>
          <a:p>
            <a:pPr marL="299085">
              <a:lnSpc>
                <a:spcPct val="100000"/>
              </a:lnSpc>
              <a:spcBef>
                <a:spcPts val="320"/>
              </a:spcBef>
            </a:pPr>
            <a:r>
              <a:rPr sz="1800" dirty="0">
                <a:latin typeface="Tahoma"/>
                <a:cs typeface="Tahoma"/>
              </a:rPr>
              <a:t>boolean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array.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1332" y="1941576"/>
            <a:ext cx="4582668" cy="131063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0" y="0"/>
            <a:ext cx="4572000" cy="6858000"/>
            <a:chOff x="4572000" y="0"/>
            <a:chExt cx="4572000" cy="6858000"/>
          </a:xfrm>
        </p:grpSpPr>
        <p:sp>
          <p:nvSpPr>
            <p:cNvPr id="3" name="object 3"/>
            <p:cNvSpPr/>
            <p:nvPr/>
          </p:nvSpPr>
          <p:spPr>
            <a:xfrm>
              <a:off x="4572000" y="0"/>
              <a:ext cx="4572000" cy="6858000"/>
            </a:xfrm>
            <a:custGeom>
              <a:avLst/>
              <a:gdLst/>
              <a:ahLst/>
              <a:cxnLst/>
              <a:rect l="l" t="t" r="r" b="b"/>
              <a:pathLst>
                <a:path w="4572000" h="6858000">
                  <a:moveTo>
                    <a:pt x="4572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2000" y="68580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29962" y="5994653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>
                  <a:moveTo>
                    <a:pt x="0" y="0"/>
                  </a:moveTo>
                  <a:lnTo>
                    <a:pt x="468249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3623" y="0"/>
              <a:ext cx="3003804" cy="685799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0" y="612775"/>
            <a:ext cx="1581150" cy="3921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C00000"/>
                </a:solidFill>
                <a:latin typeface="Trebuchet MS"/>
                <a:cs typeface="Trebuchet MS"/>
              </a:rPr>
              <a:t>Ejes</a:t>
            </a:r>
            <a:r>
              <a:rPr spc="-11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pc="-10" dirty="0">
                <a:solidFill>
                  <a:srgbClr val="C00000"/>
                </a:solidFill>
                <a:latin typeface="Trebuchet MS"/>
                <a:cs typeface="Trebuchet MS"/>
              </a:rPr>
              <a:t>(Axes)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9064" y="1272749"/>
            <a:ext cx="4151629" cy="160401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97510" indent="-384810" algn="just">
              <a:lnSpc>
                <a:spcPct val="100000"/>
              </a:lnSpc>
              <a:spcBef>
                <a:spcPts val="425"/>
              </a:spcBef>
              <a:buClr>
                <a:srgbClr val="C00000"/>
              </a:buClr>
              <a:buFont typeface="Wingdings"/>
              <a:buChar char=""/>
              <a:tabLst>
                <a:tab pos="397510" algn="l"/>
              </a:tabLst>
            </a:pPr>
            <a:r>
              <a:rPr sz="1800" dirty="0">
                <a:latin typeface="Tahoma"/>
                <a:cs typeface="Tahoma"/>
              </a:rPr>
              <a:t>Usa</a:t>
            </a:r>
            <a:r>
              <a:rPr sz="1800" spc="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el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parámetro</a:t>
            </a:r>
            <a:r>
              <a:rPr sz="1800" spc="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axis</a:t>
            </a:r>
            <a:r>
              <a:rPr sz="1800" spc="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para</a:t>
            </a:r>
            <a:r>
              <a:rPr sz="1800" spc="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controlar</a:t>
            </a:r>
            <a:endParaRPr sz="1800">
              <a:latin typeface="Tahoma"/>
              <a:cs typeface="Tahoma"/>
            </a:endParaRPr>
          </a:p>
          <a:p>
            <a:pPr marL="398145" algn="just">
              <a:lnSpc>
                <a:spcPct val="100000"/>
              </a:lnSpc>
              <a:spcBef>
                <a:spcPts val="330"/>
              </a:spcBef>
            </a:pPr>
            <a:r>
              <a:rPr sz="1800" dirty="0">
                <a:latin typeface="Tahoma"/>
                <a:cs typeface="Tahoma"/>
              </a:rPr>
              <a:t>sobre</a:t>
            </a:r>
            <a:r>
              <a:rPr sz="1800" spc="-10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qué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eje</a:t>
            </a:r>
            <a:r>
              <a:rPr sz="1800" spc="-9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opera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NumPy</a:t>
            </a:r>
            <a:endParaRPr sz="1800">
              <a:latin typeface="Tahoma"/>
              <a:cs typeface="Tahoma"/>
            </a:endParaRPr>
          </a:p>
          <a:p>
            <a:pPr marL="396875" marR="6985" indent="-384810" algn="just">
              <a:lnSpc>
                <a:spcPct val="114999"/>
              </a:lnSpc>
              <a:buClr>
                <a:srgbClr val="C00000"/>
              </a:buClr>
              <a:buFont typeface="Wingdings"/>
              <a:buChar char=""/>
              <a:tabLst>
                <a:tab pos="398145" algn="l"/>
              </a:tabLst>
            </a:pPr>
            <a:r>
              <a:rPr sz="1800" dirty="0">
                <a:latin typeface="Tahoma"/>
                <a:cs typeface="Tahoma"/>
              </a:rPr>
              <a:t>Típicamente,</a:t>
            </a:r>
            <a:r>
              <a:rPr sz="1800" spc="360" dirty="0">
                <a:latin typeface="Tahoma"/>
                <a:cs typeface="Tahoma"/>
              </a:rPr>
              <a:t>  </a:t>
            </a:r>
            <a:r>
              <a:rPr sz="1800" dirty="0">
                <a:latin typeface="Tahoma"/>
                <a:cs typeface="Tahoma"/>
              </a:rPr>
              <a:t>el</a:t>
            </a:r>
            <a:r>
              <a:rPr sz="1800" spc="350" dirty="0">
                <a:latin typeface="Tahoma"/>
                <a:cs typeface="Tahoma"/>
              </a:rPr>
              <a:t>  </a:t>
            </a:r>
            <a:r>
              <a:rPr sz="1800" dirty="0">
                <a:latin typeface="Tahoma"/>
                <a:cs typeface="Tahoma"/>
              </a:rPr>
              <a:t>eje</a:t>
            </a:r>
            <a:r>
              <a:rPr sz="1800" spc="350" dirty="0">
                <a:latin typeface="Tahoma"/>
                <a:cs typeface="Tahoma"/>
              </a:rPr>
              <a:t>  </a:t>
            </a:r>
            <a:r>
              <a:rPr sz="1800" spc="-10" dirty="0">
                <a:latin typeface="Tahoma"/>
                <a:cs typeface="Tahoma"/>
              </a:rPr>
              <a:t>especificado 	</a:t>
            </a:r>
            <a:r>
              <a:rPr sz="1800" dirty="0">
                <a:latin typeface="Tahoma"/>
                <a:cs typeface="Tahoma"/>
              </a:rPr>
              <a:t>desaparecerá,</a:t>
            </a:r>
            <a:r>
              <a:rPr sz="1800" spc="240" dirty="0">
                <a:latin typeface="Tahoma"/>
                <a:cs typeface="Tahoma"/>
              </a:rPr>
              <a:t>  </a:t>
            </a:r>
            <a:r>
              <a:rPr sz="1800" dirty="0">
                <a:latin typeface="Tahoma"/>
                <a:cs typeface="Tahoma"/>
              </a:rPr>
              <a:t>keepdims</a:t>
            </a:r>
            <a:r>
              <a:rPr sz="1800" spc="250" dirty="0">
                <a:latin typeface="Tahoma"/>
                <a:cs typeface="Tahoma"/>
              </a:rPr>
              <a:t>  </a:t>
            </a:r>
            <a:r>
              <a:rPr sz="1800" spc="-10" dirty="0">
                <a:latin typeface="Tahoma"/>
                <a:cs typeface="Tahoma"/>
              </a:rPr>
              <a:t>mantiene 	</a:t>
            </a:r>
            <a:r>
              <a:rPr sz="1800" dirty="0">
                <a:latin typeface="Tahoma"/>
                <a:cs typeface="Tahoma"/>
              </a:rPr>
              <a:t>todas</a:t>
            </a:r>
            <a:r>
              <a:rPr sz="1800" spc="-10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las</a:t>
            </a:r>
            <a:r>
              <a:rPr sz="1800" spc="-10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dimensiones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9543" y="3391067"/>
            <a:ext cx="2512224" cy="161517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0" y="79375"/>
            <a:ext cx="417195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Broadcasting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1419" y="1685670"/>
            <a:ext cx="8169909" cy="1229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0000FF"/>
                </a:solidFill>
                <a:latin typeface="Courier New"/>
                <a:cs typeface="Courier New"/>
              </a:rPr>
              <a:t>a</a:t>
            </a:r>
            <a:r>
              <a:rPr sz="2200" spc="-3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000FF"/>
                </a:solidFill>
                <a:latin typeface="Courier New"/>
                <a:cs typeface="Courier New"/>
              </a:rPr>
              <a:t>=</a:t>
            </a:r>
            <a:r>
              <a:rPr sz="2200" spc="-1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000FF"/>
                </a:solidFill>
                <a:latin typeface="Courier New"/>
                <a:cs typeface="Courier New"/>
              </a:rPr>
              <a:t>a</a:t>
            </a:r>
            <a:r>
              <a:rPr sz="2200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000FF"/>
                </a:solidFill>
                <a:latin typeface="Courier New"/>
                <a:cs typeface="Courier New"/>
              </a:rPr>
              <a:t>+</a:t>
            </a:r>
            <a:r>
              <a:rPr sz="2200" spc="-1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000FF"/>
                </a:solidFill>
                <a:latin typeface="Courier New"/>
                <a:cs typeface="Courier New"/>
              </a:rPr>
              <a:t>1</a:t>
            </a:r>
            <a:r>
              <a:rPr sz="2200" spc="-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#</a:t>
            </a:r>
            <a:r>
              <a:rPr sz="2200" spc="-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add</a:t>
            </a:r>
            <a:r>
              <a:rPr sz="2200" spc="-1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uno</a:t>
            </a:r>
            <a:r>
              <a:rPr sz="2200" spc="-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cada element</a:t>
            </a:r>
            <a:r>
              <a:rPr sz="2200" spc="-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del</a:t>
            </a:r>
            <a:r>
              <a:rPr sz="2200" spc="-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array</a:t>
            </a:r>
            <a:endParaRPr sz="2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705"/>
              </a:spcBef>
            </a:pP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Calibri"/>
                <a:cs typeface="Calibri"/>
              </a:rPr>
              <a:t>Cuando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opera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sobre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múltiples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matrices,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utilizan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reglas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difusión.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1419" y="3345560"/>
            <a:ext cx="82550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  <a:tab pos="1247140" algn="l"/>
                <a:tab pos="2646045" algn="l"/>
                <a:tab pos="3432810" algn="l"/>
                <a:tab pos="4653280" algn="l"/>
                <a:tab pos="5152390" algn="l"/>
                <a:tab pos="6281420" algn="l"/>
                <a:tab pos="6630670" algn="l"/>
                <a:tab pos="7881620" algn="l"/>
              </a:tabLst>
            </a:pPr>
            <a:r>
              <a:rPr sz="2200" spc="-25" dirty="0">
                <a:solidFill>
                  <a:srgbClr val="C00000"/>
                </a:solidFill>
                <a:latin typeface="Calibri"/>
                <a:cs typeface="Calibri"/>
              </a:rPr>
              <a:t>1.</a:t>
            </a:r>
            <a:r>
              <a:rPr sz="2200" dirty="0">
                <a:solidFill>
                  <a:srgbClr val="C00000"/>
                </a:solidFill>
                <a:latin typeface="Calibri"/>
                <a:cs typeface="Calibri"/>
              </a:rPr>
              <a:t>	</a:t>
            </a:r>
            <a:r>
              <a:rPr sz="2200" spc="-20" dirty="0">
                <a:latin typeface="Calibri"/>
                <a:cs typeface="Calibri"/>
              </a:rPr>
              <a:t>Cada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10" dirty="0">
                <a:latin typeface="Calibri"/>
                <a:cs typeface="Calibri"/>
              </a:rPr>
              <a:t>dimensión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20" dirty="0">
                <a:latin typeface="Calibri"/>
                <a:cs typeface="Calibri"/>
              </a:rPr>
              <a:t>debe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10" dirty="0">
                <a:latin typeface="Calibri"/>
                <a:cs typeface="Calibri"/>
              </a:rPr>
              <a:t>coincidir,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25" dirty="0">
                <a:latin typeface="Calibri"/>
                <a:cs typeface="Calibri"/>
              </a:rPr>
              <a:t>de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10" dirty="0">
                <a:latin typeface="Calibri"/>
                <a:cs typeface="Calibri"/>
              </a:rPr>
              <a:t>derecha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50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10" dirty="0">
                <a:latin typeface="Calibri"/>
                <a:cs typeface="Calibri"/>
              </a:rPr>
              <a:t>izquierda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25" dirty="0">
                <a:latin typeface="Calibri"/>
                <a:cs typeface="Calibri"/>
              </a:rPr>
              <a:t>Las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1419" y="3553739"/>
            <a:ext cx="8255000" cy="147828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565"/>
              </a:spcBef>
            </a:pPr>
            <a:r>
              <a:rPr sz="2200" spc="-10" dirty="0">
                <a:latin typeface="Calibri"/>
                <a:cs typeface="Calibri"/>
              </a:rPr>
              <a:t>dimensiones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tamaño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emitirán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(como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el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valor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repitiera).</a:t>
            </a:r>
            <a:endParaRPr sz="22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470"/>
              </a:spcBef>
              <a:buClr>
                <a:srgbClr val="C00000"/>
              </a:buClr>
              <a:buAutoNum type="arabicPeriod" startAt="2"/>
              <a:tabLst>
                <a:tab pos="469265" algn="l"/>
              </a:tabLst>
            </a:pPr>
            <a:r>
              <a:rPr sz="2200" dirty="0">
                <a:latin typeface="Calibri"/>
                <a:cs typeface="Calibri"/>
              </a:rPr>
              <a:t>En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caso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contrario,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dimensión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debe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tener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misma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forma.</a:t>
            </a:r>
            <a:endParaRPr sz="2200">
              <a:latin typeface="Calibri"/>
              <a:cs typeface="Calibri"/>
            </a:endParaRPr>
          </a:p>
          <a:p>
            <a:pPr marL="469265" indent="-456565">
              <a:lnSpc>
                <a:spcPts val="2380"/>
              </a:lnSpc>
              <a:spcBef>
                <a:spcPts val="470"/>
              </a:spcBef>
              <a:buClr>
                <a:srgbClr val="C00000"/>
              </a:buClr>
              <a:buAutoNum type="arabicPeriod" startAt="2"/>
              <a:tabLst>
                <a:tab pos="469265" algn="l"/>
              </a:tabLst>
            </a:pPr>
            <a:r>
              <a:rPr sz="2200" dirty="0">
                <a:latin typeface="Calibri"/>
                <a:cs typeface="Calibri"/>
              </a:rPr>
              <a:t>Las</a:t>
            </a:r>
            <a:r>
              <a:rPr sz="2200" spc="2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dimensiones</a:t>
            </a:r>
            <a:r>
              <a:rPr sz="2200" spc="2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adicionales</a:t>
            </a:r>
            <a:r>
              <a:rPr sz="2200" spc="2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2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tamaño</a:t>
            </a:r>
            <a:r>
              <a:rPr sz="2200" spc="2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</a:t>
            </a:r>
            <a:r>
              <a:rPr sz="2200" spc="2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20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añaden</a:t>
            </a:r>
            <a:r>
              <a:rPr sz="2200" spc="2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2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</a:t>
            </a:r>
            <a:r>
              <a:rPr sz="2200" spc="2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izquierda</a:t>
            </a:r>
            <a:endParaRPr sz="2200">
              <a:latin typeface="Calibri"/>
              <a:cs typeface="Calibri"/>
            </a:endParaRPr>
          </a:p>
          <a:p>
            <a:pPr marL="469900">
              <a:lnSpc>
                <a:spcPts val="2380"/>
              </a:lnSpc>
            </a:pPr>
            <a:r>
              <a:rPr sz="2200" dirty="0">
                <a:latin typeface="Calibri"/>
                <a:cs typeface="Calibri"/>
              </a:rPr>
              <a:t>según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necesario.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-12700" y="-29464"/>
            <a:ext cx="9588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25" dirty="0">
                <a:latin typeface="Arial MT"/>
                <a:cs typeface="Arial MT"/>
              </a:rPr>
              <a:t>41</a:t>
            </a:r>
            <a:endParaRPr sz="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0" y="79375"/>
            <a:ext cx="4171950" cy="390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25"/>
              </a:spcBef>
            </a:pPr>
            <a:r>
              <a:rPr sz="2350" spc="-20" dirty="0"/>
              <a:t>Array</a:t>
            </a:r>
            <a:r>
              <a:rPr sz="2350" spc="-135" dirty="0"/>
              <a:t> </a:t>
            </a:r>
            <a:r>
              <a:rPr sz="2350" spc="-100" dirty="0"/>
              <a:t>broadcasting</a:t>
            </a:r>
            <a:endParaRPr sz="2350"/>
          </a:p>
        </p:txBody>
      </p:sp>
      <p:sp>
        <p:nvSpPr>
          <p:cNvPr id="4" name="object 4"/>
          <p:cNvSpPr txBox="1"/>
          <p:nvPr/>
        </p:nvSpPr>
        <p:spPr>
          <a:xfrm>
            <a:off x="639572" y="1375258"/>
            <a:ext cx="5934075" cy="1875789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1950" spc="-60" dirty="0">
                <a:latin typeface="Tahoma"/>
                <a:cs typeface="Tahoma"/>
              </a:rPr>
              <a:t>Cuando</a:t>
            </a:r>
            <a:r>
              <a:rPr sz="1950" spc="-90" dirty="0">
                <a:latin typeface="Tahoma"/>
                <a:cs typeface="Tahoma"/>
              </a:rPr>
              <a:t> </a:t>
            </a:r>
            <a:r>
              <a:rPr sz="1950" spc="-35" dirty="0">
                <a:latin typeface="Tahoma"/>
                <a:cs typeface="Tahoma"/>
              </a:rPr>
              <a:t>se</a:t>
            </a:r>
            <a:r>
              <a:rPr sz="1950" spc="-105" dirty="0">
                <a:latin typeface="Tahoma"/>
                <a:cs typeface="Tahoma"/>
              </a:rPr>
              <a:t> </a:t>
            </a:r>
            <a:r>
              <a:rPr sz="1950" spc="-65" dirty="0">
                <a:latin typeface="Tahoma"/>
                <a:cs typeface="Tahoma"/>
              </a:rPr>
              <a:t>opera</a:t>
            </a:r>
            <a:r>
              <a:rPr sz="1950" spc="-85" dirty="0">
                <a:latin typeface="Tahoma"/>
                <a:cs typeface="Tahoma"/>
              </a:rPr>
              <a:t> </a:t>
            </a:r>
            <a:r>
              <a:rPr sz="1950" spc="-60" dirty="0">
                <a:latin typeface="Tahoma"/>
                <a:cs typeface="Tahoma"/>
              </a:rPr>
              <a:t>sobre</a:t>
            </a:r>
            <a:r>
              <a:rPr sz="1950" spc="-80" dirty="0">
                <a:latin typeface="Tahoma"/>
                <a:cs typeface="Tahoma"/>
              </a:rPr>
              <a:t> </a:t>
            </a:r>
            <a:r>
              <a:rPr sz="1950" spc="-45" dirty="0">
                <a:latin typeface="Tahoma"/>
                <a:cs typeface="Tahoma"/>
              </a:rPr>
              <a:t>dos</a:t>
            </a:r>
            <a:r>
              <a:rPr sz="1950" spc="-75" dirty="0">
                <a:latin typeface="Tahoma"/>
                <a:cs typeface="Tahoma"/>
              </a:rPr>
              <a:t> </a:t>
            </a:r>
            <a:r>
              <a:rPr sz="1950" spc="-60" dirty="0">
                <a:latin typeface="Tahoma"/>
                <a:cs typeface="Tahoma"/>
              </a:rPr>
              <a:t>matrices,</a:t>
            </a:r>
            <a:r>
              <a:rPr sz="1950" spc="-90" dirty="0">
                <a:latin typeface="Tahoma"/>
                <a:cs typeface="Tahoma"/>
              </a:rPr>
              <a:t> </a:t>
            </a:r>
            <a:r>
              <a:rPr sz="1950" spc="-50" dirty="0">
                <a:latin typeface="Tahoma"/>
                <a:cs typeface="Tahoma"/>
              </a:rPr>
              <a:t>numpy</a:t>
            </a:r>
            <a:r>
              <a:rPr sz="1950" spc="-90" dirty="0">
                <a:latin typeface="Tahoma"/>
                <a:cs typeface="Tahoma"/>
              </a:rPr>
              <a:t> </a:t>
            </a:r>
            <a:r>
              <a:rPr sz="1950" spc="-60" dirty="0">
                <a:latin typeface="Tahoma"/>
                <a:cs typeface="Tahoma"/>
              </a:rPr>
              <a:t>compara</a:t>
            </a:r>
            <a:r>
              <a:rPr sz="1950" spc="-90" dirty="0">
                <a:latin typeface="Tahoma"/>
                <a:cs typeface="Tahoma"/>
              </a:rPr>
              <a:t> </a:t>
            </a:r>
            <a:r>
              <a:rPr sz="1950" spc="-25" dirty="0">
                <a:latin typeface="Tahoma"/>
                <a:cs typeface="Tahoma"/>
              </a:rPr>
              <a:t>las</a:t>
            </a:r>
            <a:endParaRPr sz="1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950" spc="-60" dirty="0">
                <a:latin typeface="Tahoma"/>
                <a:cs typeface="Tahoma"/>
              </a:rPr>
              <a:t>formas.</a:t>
            </a:r>
            <a:r>
              <a:rPr sz="1950" spc="-114" dirty="0">
                <a:latin typeface="Tahoma"/>
                <a:cs typeface="Tahoma"/>
              </a:rPr>
              <a:t> </a:t>
            </a:r>
            <a:r>
              <a:rPr sz="1950" spc="-40" dirty="0">
                <a:latin typeface="Tahoma"/>
                <a:cs typeface="Tahoma"/>
              </a:rPr>
              <a:t>Dos</a:t>
            </a:r>
            <a:r>
              <a:rPr sz="1950" spc="-80" dirty="0">
                <a:latin typeface="Tahoma"/>
                <a:cs typeface="Tahoma"/>
              </a:rPr>
              <a:t> </a:t>
            </a:r>
            <a:r>
              <a:rPr sz="1950" spc="-60" dirty="0">
                <a:latin typeface="Tahoma"/>
                <a:cs typeface="Tahoma"/>
              </a:rPr>
              <a:t>dimensiones</a:t>
            </a:r>
            <a:r>
              <a:rPr sz="1950" spc="-105" dirty="0">
                <a:latin typeface="Tahoma"/>
                <a:cs typeface="Tahoma"/>
              </a:rPr>
              <a:t> </a:t>
            </a:r>
            <a:r>
              <a:rPr sz="1950" spc="-40" dirty="0">
                <a:latin typeface="Tahoma"/>
                <a:cs typeface="Tahoma"/>
              </a:rPr>
              <a:t>son</a:t>
            </a:r>
            <a:r>
              <a:rPr sz="1950" spc="-110" dirty="0">
                <a:latin typeface="Tahoma"/>
                <a:cs typeface="Tahoma"/>
              </a:rPr>
              <a:t> </a:t>
            </a:r>
            <a:r>
              <a:rPr sz="1950" spc="-60" dirty="0">
                <a:latin typeface="Tahoma"/>
                <a:cs typeface="Tahoma"/>
              </a:rPr>
              <a:t>compatibles</a:t>
            </a:r>
            <a:r>
              <a:rPr sz="1950" spc="-80" dirty="0">
                <a:latin typeface="Tahoma"/>
                <a:cs typeface="Tahoma"/>
              </a:rPr>
              <a:t> </a:t>
            </a:r>
            <a:r>
              <a:rPr sz="1950" spc="-10" dirty="0">
                <a:latin typeface="Tahoma"/>
                <a:cs typeface="Tahoma"/>
              </a:rPr>
              <a:t>cuando</a:t>
            </a:r>
            <a:endParaRPr sz="1950">
              <a:latin typeface="Tahoma"/>
              <a:cs typeface="Tahoma"/>
            </a:endParaRPr>
          </a:p>
          <a:p>
            <a:pPr marL="469265" indent="-456565">
              <a:lnSpc>
                <a:spcPct val="100000"/>
              </a:lnSpc>
              <a:spcBef>
                <a:spcPts val="1405"/>
              </a:spcBef>
              <a:buClr>
                <a:srgbClr val="C00000"/>
              </a:buClr>
              <a:buAutoNum type="arabicPeriod"/>
              <a:tabLst>
                <a:tab pos="469265" algn="l"/>
              </a:tabLst>
            </a:pPr>
            <a:r>
              <a:rPr sz="1950" spc="-55" dirty="0">
                <a:latin typeface="Tahoma"/>
                <a:cs typeface="Tahoma"/>
              </a:rPr>
              <a:t>Tienen</a:t>
            </a:r>
            <a:r>
              <a:rPr sz="1950" spc="-120" dirty="0">
                <a:latin typeface="Tahoma"/>
                <a:cs typeface="Tahoma"/>
              </a:rPr>
              <a:t> </a:t>
            </a:r>
            <a:r>
              <a:rPr sz="1950" spc="-35" dirty="0">
                <a:latin typeface="Tahoma"/>
                <a:cs typeface="Tahoma"/>
              </a:rPr>
              <a:t>el</a:t>
            </a:r>
            <a:r>
              <a:rPr sz="1950" spc="-114" dirty="0">
                <a:latin typeface="Tahoma"/>
                <a:cs typeface="Tahoma"/>
              </a:rPr>
              <a:t> </a:t>
            </a:r>
            <a:r>
              <a:rPr sz="1950" spc="-50" dirty="0">
                <a:latin typeface="Tahoma"/>
                <a:cs typeface="Tahoma"/>
              </a:rPr>
              <a:t>mismo</a:t>
            </a:r>
            <a:r>
              <a:rPr sz="1950" spc="-110" dirty="0">
                <a:latin typeface="Tahoma"/>
                <a:cs typeface="Tahoma"/>
              </a:rPr>
              <a:t> </a:t>
            </a:r>
            <a:r>
              <a:rPr sz="1950" spc="-10" dirty="0">
                <a:latin typeface="Tahoma"/>
                <a:cs typeface="Tahoma"/>
              </a:rPr>
              <a:t>tamaño</a:t>
            </a:r>
            <a:endParaRPr sz="1950">
              <a:latin typeface="Tahoma"/>
              <a:cs typeface="Tahoma"/>
            </a:endParaRPr>
          </a:p>
          <a:p>
            <a:pPr marL="469265" indent="-456565">
              <a:lnSpc>
                <a:spcPct val="100000"/>
              </a:lnSpc>
              <a:spcBef>
                <a:spcPts val="1405"/>
              </a:spcBef>
              <a:buClr>
                <a:srgbClr val="C00000"/>
              </a:buClr>
              <a:buAutoNum type="arabicPeriod"/>
              <a:tabLst>
                <a:tab pos="469265" algn="l"/>
              </a:tabLst>
            </a:pPr>
            <a:r>
              <a:rPr sz="1950" spc="-45" dirty="0">
                <a:latin typeface="Tahoma"/>
                <a:cs typeface="Tahoma"/>
              </a:rPr>
              <a:t>Una</a:t>
            </a:r>
            <a:r>
              <a:rPr sz="1950" spc="-105" dirty="0">
                <a:latin typeface="Tahoma"/>
                <a:cs typeface="Tahoma"/>
              </a:rPr>
              <a:t> </a:t>
            </a:r>
            <a:r>
              <a:rPr sz="1950" spc="-35" dirty="0">
                <a:latin typeface="Tahoma"/>
                <a:cs typeface="Tahoma"/>
              </a:rPr>
              <a:t>de</a:t>
            </a:r>
            <a:r>
              <a:rPr sz="1950" spc="-114" dirty="0">
                <a:latin typeface="Tahoma"/>
                <a:cs typeface="Tahoma"/>
              </a:rPr>
              <a:t> </a:t>
            </a:r>
            <a:r>
              <a:rPr sz="1950" spc="-55" dirty="0">
                <a:latin typeface="Tahoma"/>
                <a:cs typeface="Tahoma"/>
              </a:rPr>
              <a:t>ellas</a:t>
            </a:r>
            <a:r>
              <a:rPr sz="1950" spc="-114" dirty="0">
                <a:latin typeface="Tahoma"/>
                <a:cs typeface="Tahoma"/>
              </a:rPr>
              <a:t> </a:t>
            </a:r>
            <a:r>
              <a:rPr sz="1950" spc="-30" dirty="0">
                <a:latin typeface="Tahoma"/>
                <a:cs typeface="Tahoma"/>
              </a:rPr>
              <a:t>es</a:t>
            </a:r>
            <a:r>
              <a:rPr sz="1950" spc="-100" dirty="0">
                <a:latin typeface="Tahoma"/>
                <a:cs typeface="Tahoma"/>
              </a:rPr>
              <a:t> </a:t>
            </a:r>
            <a:r>
              <a:rPr sz="1950" spc="-60" dirty="0">
                <a:latin typeface="Tahoma"/>
                <a:cs typeface="Tahoma"/>
              </a:rPr>
              <a:t>1</a:t>
            </a:r>
            <a:endParaRPr sz="1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4"/>
            <a:ext cx="9144000" cy="524510"/>
            <a:chOff x="0" y="6333744"/>
            <a:chExt cx="9144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799"/>
              <a:ext cx="9141460" cy="457200"/>
            </a:xfrm>
            <a:custGeom>
              <a:avLst/>
              <a:gdLst/>
              <a:ahLst/>
              <a:cxnLst/>
              <a:rect l="l" t="t" r="r" b="b"/>
              <a:pathLst>
                <a:path w="9141460" h="457200">
                  <a:moveTo>
                    <a:pt x="9140952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9140952" y="457199"/>
                  </a:lnTo>
                  <a:lnTo>
                    <a:pt x="9140952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4"/>
              <a:ext cx="9141460" cy="64135"/>
            </a:xfrm>
            <a:custGeom>
              <a:avLst/>
              <a:gdLst/>
              <a:ahLst/>
              <a:cxnLst/>
              <a:rect l="l" t="t" r="r" b="b"/>
              <a:pathLst>
                <a:path w="9141460" h="64135">
                  <a:moveTo>
                    <a:pt x="9140952" y="0"/>
                  </a:moveTo>
                  <a:lnTo>
                    <a:pt x="0" y="0"/>
                  </a:lnTo>
                  <a:lnTo>
                    <a:pt x="0" y="64007"/>
                  </a:lnTo>
                  <a:lnTo>
                    <a:pt x="9140952" y="64007"/>
                  </a:lnTo>
                  <a:lnTo>
                    <a:pt x="9140952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 idx="4294967295"/>
          </p:nvPr>
        </p:nvSpPr>
        <p:spPr>
          <a:xfrm>
            <a:off x="0" y="204788"/>
            <a:ext cx="2593975" cy="387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spc="-20" dirty="0">
                <a:solidFill>
                  <a:srgbClr val="000000"/>
                </a:solidFill>
              </a:rPr>
              <a:t>Array</a:t>
            </a:r>
            <a:r>
              <a:rPr sz="2350" spc="-135" dirty="0">
                <a:solidFill>
                  <a:srgbClr val="000000"/>
                </a:solidFill>
              </a:rPr>
              <a:t> </a:t>
            </a:r>
            <a:r>
              <a:rPr sz="2350" spc="-100" dirty="0">
                <a:solidFill>
                  <a:srgbClr val="000000"/>
                </a:solidFill>
              </a:rPr>
              <a:t>broadcasting</a:t>
            </a:r>
            <a:endParaRPr sz="235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7591" y="1479803"/>
            <a:ext cx="6874764" cy="420319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7343" y="0"/>
            <a:ext cx="4486656" cy="6857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0" y="612775"/>
            <a:ext cx="1978025" cy="3921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5" dirty="0">
                <a:solidFill>
                  <a:srgbClr val="C00000"/>
                </a:solidFill>
                <a:latin typeface="Trebuchet MS"/>
                <a:cs typeface="Trebuchet MS"/>
              </a:rPr>
              <a:t>Broadcasting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4114" y="2408124"/>
            <a:ext cx="3811014" cy="137881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0" y="601980"/>
            <a:ext cx="4572000" cy="570890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0" y="612775"/>
            <a:ext cx="1978025" cy="3921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5" dirty="0">
                <a:solidFill>
                  <a:srgbClr val="C00000"/>
                </a:solidFill>
                <a:latin typeface="Trebuchet MS"/>
                <a:cs typeface="Trebuchet MS"/>
              </a:rPr>
              <a:t>Broadcasting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6043" y="2521747"/>
            <a:ext cx="3731689" cy="1575237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127627" y="3278092"/>
            <a:ext cx="121920" cy="7747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500" spc="-30" dirty="0">
                <a:solidFill>
                  <a:srgbClr val="7E7E7E"/>
                </a:solidFill>
                <a:latin typeface="Tahoma"/>
                <a:cs typeface="Tahoma"/>
              </a:rPr>
              <a:t>5-</a:t>
            </a:r>
            <a:r>
              <a:rPr sz="500" spc="-40" dirty="0">
                <a:solidFill>
                  <a:srgbClr val="7E7E7E"/>
                </a:solidFill>
                <a:latin typeface="Tahoma"/>
                <a:cs typeface="Tahoma"/>
              </a:rPr>
              <a:t>46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 idx="4294967295"/>
          </p:nvPr>
        </p:nvSpPr>
        <p:spPr>
          <a:xfrm>
            <a:off x="0" y="92075"/>
            <a:ext cx="4930775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Array</a:t>
            </a:r>
            <a:r>
              <a:rPr spc="15" dirty="0"/>
              <a:t> </a:t>
            </a:r>
            <a:r>
              <a:rPr spc="-114" dirty="0"/>
              <a:t>broadcasting</a:t>
            </a:r>
            <a:r>
              <a:rPr spc="-40" dirty="0"/>
              <a:t> </a:t>
            </a:r>
            <a:r>
              <a:rPr dirty="0"/>
              <a:t>con</a:t>
            </a:r>
            <a:r>
              <a:rPr spc="-155" dirty="0"/>
              <a:t> </a:t>
            </a:r>
            <a:r>
              <a:rPr spc="150" dirty="0"/>
              <a:t>escalares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6608" y="1278720"/>
            <a:ext cx="6896734" cy="92583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1950" dirty="0">
                <a:latin typeface="Tahoma"/>
                <a:cs typeface="Tahoma"/>
              </a:rPr>
              <a:t>Esto</a:t>
            </a:r>
            <a:r>
              <a:rPr sz="1950" spc="-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también</a:t>
            </a:r>
            <a:r>
              <a:rPr sz="1950" spc="-1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nos</a:t>
            </a:r>
            <a:r>
              <a:rPr sz="1950" spc="-1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permite añadir</a:t>
            </a:r>
            <a:r>
              <a:rPr sz="1950" spc="-1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una</a:t>
            </a:r>
            <a:r>
              <a:rPr sz="1950" spc="-2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constante</a:t>
            </a:r>
            <a:r>
              <a:rPr sz="1950" spc="-1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a</a:t>
            </a:r>
            <a:r>
              <a:rPr sz="1950" spc="-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una</a:t>
            </a:r>
            <a:r>
              <a:rPr sz="1950" spc="-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matriz</a:t>
            </a:r>
            <a:r>
              <a:rPr sz="1950" spc="-15" dirty="0">
                <a:latin typeface="Tahoma"/>
                <a:cs typeface="Tahoma"/>
              </a:rPr>
              <a:t> </a:t>
            </a:r>
            <a:r>
              <a:rPr sz="1950" spc="-50" dirty="0">
                <a:latin typeface="Tahoma"/>
                <a:cs typeface="Tahoma"/>
              </a:rPr>
              <a:t>o</a:t>
            </a:r>
            <a:endParaRPr sz="1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950" dirty="0">
                <a:latin typeface="Tahoma"/>
                <a:cs typeface="Tahoma"/>
              </a:rPr>
              <a:t>multiplicar</a:t>
            </a:r>
            <a:r>
              <a:rPr sz="1950" spc="-2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una</a:t>
            </a:r>
            <a:r>
              <a:rPr sz="1950" spc="-30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matriz</a:t>
            </a:r>
            <a:r>
              <a:rPr sz="1950" spc="-2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por</a:t>
            </a:r>
            <a:r>
              <a:rPr sz="1950" spc="-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una</a:t>
            </a:r>
            <a:r>
              <a:rPr sz="1950" spc="-30" dirty="0">
                <a:latin typeface="Tahoma"/>
                <a:cs typeface="Tahoma"/>
              </a:rPr>
              <a:t> </a:t>
            </a:r>
            <a:r>
              <a:rPr sz="1950" spc="-10" dirty="0">
                <a:latin typeface="Tahoma"/>
                <a:cs typeface="Tahoma"/>
              </a:rPr>
              <a:t>constante</a:t>
            </a:r>
            <a:endParaRPr sz="1950">
              <a:latin typeface="Tahoma"/>
              <a:cs typeface="Tahom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979179" y="2769870"/>
          <a:ext cx="2443477" cy="1757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6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4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40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6630">
                <a:tc gridSpan="5"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750" dirty="0">
                          <a:latin typeface="SimSun"/>
                          <a:cs typeface="SimSun"/>
                        </a:rPr>
                        <a:t>A</a:t>
                      </a:r>
                      <a:r>
                        <a:rPr sz="1750" spc="20" dirty="0">
                          <a:latin typeface="SimSun"/>
                          <a:cs typeface="SimSun"/>
                        </a:rPr>
                        <a:t> </a:t>
                      </a:r>
                      <a:r>
                        <a:rPr sz="1750" dirty="0">
                          <a:latin typeface="SimSun"/>
                          <a:cs typeface="SimSun"/>
                        </a:rPr>
                        <a:t>=</a:t>
                      </a:r>
                      <a:r>
                        <a:rPr sz="1750" spc="25" dirty="0">
                          <a:latin typeface="SimSun"/>
                          <a:cs typeface="SimSun"/>
                        </a:rPr>
                        <a:t> </a:t>
                      </a:r>
                      <a:r>
                        <a:rPr sz="1750" spc="35" dirty="0">
                          <a:latin typeface="SimSun"/>
                          <a:cs typeface="SimSun"/>
                        </a:rPr>
                        <a:t>np.ones((3,3))</a:t>
                      </a:r>
                      <a:endParaRPr sz="1750">
                        <a:latin typeface="SimSun"/>
                        <a:cs typeface="SimSun"/>
                      </a:endParaRPr>
                    </a:p>
                    <a:p>
                      <a:pPr marL="154305">
                        <a:lnSpc>
                          <a:spcPct val="100000"/>
                        </a:lnSpc>
                        <a:spcBef>
                          <a:spcPts val="1810"/>
                        </a:spcBef>
                        <a:tabLst>
                          <a:tab pos="859790" algn="l"/>
                        </a:tabLst>
                      </a:pPr>
                      <a:r>
                        <a:rPr sz="1750" b="1" spc="120" dirty="0">
                          <a:solidFill>
                            <a:srgbClr val="007E7E"/>
                          </a:solidFill>
                          <a:latin typeface="Times New Roman"/>
                          <a:cs typeface="Times New Roman"/>
                        </a:rPr>
                        <a:t>print</a:t>
                      </a:r>
                      <a:r>
                        <a:rPr sz="1750" b="1" dirty="0">
                          <a:solidFill>
                            <a:srgbClr val="007E7E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750" dirty="0">
                          <a:latin typeface="SimSun"/>
                          <a:cs typeface="SimSun"/>
                        </a:rPr>
                        <a:t>3</a:t>
                      </a:r>
                      <a:r>
                        <a:rPr sz="1750" spc="70" dirty="0">
                          <a:latin typeface="SimSun"/>
                          <a:cs typeface="SimSun"/>
                        </a:rPr>
                        <a:t> </a:t>
                      </a:r>
                      <a:r>
                        <a:rPr sz="1750" dirty="0">
                          <a:latin typeface="SimSun"/>
                          <a:cs typeface="SimSun"/>
                        </a:rPr>
                        <a:t>*</a:t>
                      </a:r>
                      <a:r>
                        <a:rPr sz="1750" spc="75" dirty="0">
                          <a:latin typeface="SimSun"/>
                          <a:cs typeface="SimSun"/>
                        </a:rPr>
                        <a:t> </a:t>
                      </a:r>
                      <a:r>
                        <a:rPr sz="1750" dirty="0">
                          <a:latin typeface="SimSun"/>
                          <a:cs typeface="SimSun"/>
                        </a:rPr>
                        <a:t>A</a:t>
                      </a:r>
                      <a:r>
                        <a:rPr sz="1750" spc="55" dirty="0">
                          <a:latin typeface="SimSun"/>
                          <a:cs typeface="SimSun"/>
                        </a:rPr>
                        <a:t> </a:t>
                      </a:r>
                      <a:r>
                        <a:rPr sz="1750" dirty="0">
                          <a:latin typeface="SimSun"/>
                          <a:cs typeface="SimSun"/>
                        </a:rPr>
                        <a:t>-</a:t>
                      </a:r>
                      <a:r>
                        <a:rPr sz="1750" spc="75" dirty="0">
                          <a:latin typeface="SimSun"/>
                          <a:cs typeface="SimSun"/>
                        </a:rPr>
                        <a:t> </a:t>
                      </a:r>
                      <a:r>
                        <a:rPr sz="1750" spc="-50" dirty="0">
                          <a:latin typeface="SimSun"/>
                          <a:cs typeface="SimSun"/>
                        </a:rPr>
                        <a:t>1</a:t>
                      </a:r>
                      <a:endParaRPr sz="1750">
                        <a:latin typeface="SimSun"/>
                        <a:cs typeface="SimSun"/>
                      </a:endParaRPr>
                    </a:p>
                  </a:txBody>
                  <a:tcPr marL="0" marR="0" marT="1981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F8F8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R="50165" algn="r">
                        <a:lnSpc>
                          <a:spcPts val="1880"/>
                        </a:lnSpc>
                      </a:pPr>
                      <a:r>
                        <a:rPr sz="1750" spc="-50" dirty="0">
                          <a:solidFill>
                            <a:srgbClr val="0000CC"/>
                          </a:solidFill>
                          <a:latin typeface="SimSun"/>
                          <a:cs typeface="SimSun"/>
                        </a:rPr>
                        <a:t>#</a:t>
                      </a:r>
                      <a:endParaRPr sz="1750">
                        <a:latin typeface="SimSun"/>
                        <a:cs typeface="SimSu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R="47625" algn="r">
                        <a:lnSpc>
                          <a:spcPts val="1880"/>
                        </a:lnSpc>
                      </a:pPr>
                      <a:r>
                        <a:rPr sz="1750" spc="30" dirty="0">
                          <a:solidFill>
                            <a:srgbClr val="0000CC"/>
                          </a:solidFill>
                          <a:latin typeface="SimSun"/>
                          <a:cs typeface="SimSun"/>
                        </a:rPr>
                        <a:t>[[</a:t>
                      </a:r>
                      <a:endParaRPr sz="1750">
                        <a:latin typeface="SimSun"/>
                        <a:cs typeface="SimSun"/>
                      </a:endParaRPr>
                    </a:p>
                  </a:txBody>
                  <a:tcPr marL="0" marR="0" marT="0" marB="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R="46990" algn="ctr">
                        <a:lnSpc>
                          <a:spcPts val="1880"/>
                        </a:lnSpc>
                      </a:pPr>
                      <a:r>
                        <a:rPr sz="1750" spc="30" dirty="0">
                          <a:solidFill>
                            <a:srgbClr val="0000CC"/>
                          </a:solidFill>
                          <a:latin typeface="SimSun"/>
                          <a:cs typeface="SimSun"/>
                        </a:rPr>
                        <a:t>2.</a:t>
                      </a:r>
                      <a:endParaRPr sz="1750">
                        <a:latin typeface="SimSun"/>
                        <a:cs typeface="SimSun"/>
                      </a:endParaRPr>
                    </a:p>
                  </a:txBody>
                  <a:tcPr marL="0" marR="0" marT="0" marB="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880"/>
                        </a:lnSpc>
                      </a:pPr>
                      <a:r>
                        <a:rPr sz="1750" spc="30" dirty="0">
                          <a:solidFill>
                            <a:srgbClr val="0000CC"/>
                          </a:solidFill>
                          <a:latin typeface="SimSun"/>
                          <a:cs typeface="SimSun"/>
                        </a:rPr>
                        <a:t>2.</a:t>
                      </a:r>
                      <a:endParaRPr sz="1750">
                        <a:latin typeface="SimSun"/>
                        <a:cs typeface="SimSun"/>
                      </a:endParaRPr>
                    </a:p>
                  </a:txBody>
                  <a:tcPr marL="0" marR="0" marT="0" marB="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ts val="1880"/>
                        </a:lnSpc>
                      </a:pPr>
                      <a:r>
                        <a:rPr sz="1750" spc="30" dirty="0">
                          <a:solidFill>
                            <a:srgbClr val="0000CC"/>
                          </a:solidFill>
                          <a:latin typeface="SimSun"/>
                          <a:cs typeface="SimSun"/>
                        </a:rPr>
                        <a:t>2.]</a:t>
                      </a:r>
                      <a:endParaRPr sz="1750">
                        <a:latin typeface="SimSun"/>
                        <a:cs typeface="SimSu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R="50165" algn="r">
                        <a:lnSpc>
                          <a:spcPts val="1950"/>
                        </a:lnSpc>
                      </a:pPr>
                      <a:r>
                        <a:rPr sz="1750" spc="-50" dirty="0">
                          <a:solidFill>
                            <a:srgbClr val="0000CC"/>
                          </a:solidFill>
                          <a:latin typeface="SimSun"/>
                          <a:cs typeface="SimSun"/>
                        </a:rPr>
                        <a:t>#</a:t>
                      </a:r>
                      <a:endParaRPr sz="1750">
                        <a:latin typeface="SimSun"/>
                        <a:cs typeface="SimSu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ts val="1950"/>
                        </a:lnSpc>
                      </a:pPr>
                      <a:r>
                        <a:rPr sz="1750" spc="-50" dirty="0">
                          <a:solidFill>
                            <a:srgbClr val="0000CC"/>
                          </a:solidFill>
                          <a:latin typeface="SimSun"/>
                          <a:cs typeface="SimSun"/>
                        </a:rPr>
                        <a:t>[</a:t>
                      </a:r>
                      <a:endParaRPr sz="1750">
                        <a:latin typeface="SimSun"/>
                        <a:cs typeface="SimSun"/>
                      </a:endParaRPr>
                    </a:p>
                  </a:txBody>
                  <a:tcPr marL="0" marR="0" marT="0" marB="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R="50165" algn="ctr">
                        <a:lnSpc>
                          <a:spcPts val="1950"/>
                        </a:lnSpc>
                      </a:pPr>
                      <a:r>
                        <a:rPr sz="1750" spc="30" dirty="0">
                          <a:solidFill>
                            <a:srgbClr val="0000CC"/>
                          </a:solidFill>
                          <a:latin typeface="SimSun"/>
                          <a:cs typeface="SimSun"/>
                        </a:rPr>
                        <a:t>2.</a:t>
                      </a:r>
                      <a:endParaRPr sz="1750">
                        <a:latin typeface="SimSun"/>
                        <a:cs typeface="SimSun"/>
                      </a:endParaRPr>
                    </a:p>
                  </a:txBody>
                  <a:tcPr marL="0" marR="0" marT="0" marB="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0"/>
                        </a:lnSpc>
                      </a:pPr>
                      <a:r>
                        <a:rPr sz="1750" spc="30" dirty="0">
                          <a:solidFill>
                            <a:srgbClr val="0000CC"/>
                          </a:solidFill>
                          <a:latin typeface="SimSun"/>
                          <a:cs typeface="SimSun"/>
                        </a:rPr>
                        <a:t>2.</a:t>
                      </a:r>
                      <a:endParaRPr sz="1750">
                        <a:latin typeface="SimSun"/>
                        <a:cs typeface="SimSun"/>
                      </a:endParaRPr>
                    </a:p>
                  </a:txBody>
                  <a:tcPr marL="0" marR="0" marT="0" marB="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1950"/>
                        </a:lnSpc>
                      </a:pPr>
                      <a:r>
                        <a:rPr sz="1750" spc="30" dirty="0">
                          <a:solidFill>
                            <a:srgbClr val="0000CC"/>
                          </a:solidFill>
                          <a:latin typeface="SimSun"/>
                          <a:cs typeface="SimSun"/>
                        </a:rPr>
                        <a:t>2.]</a:t>
                      </a:r>
                      <a:endParaRPr sz="1750">
                        <a:latin typeface="SimSun"/>
                        <a:cs typeface="SimSu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R="50165" algn="r">
                        <a:lnSpc>
                          <a:spcPts val="2025"/>
                        </a:lnSpc>
                      </a:pPr>
                      <a:r>
                        <a:rPr sz="1750" spc="-50" dirty="0">
                          <a:solidFill>
                            <a:srgbClr val="0000CC"/>
                          </a:solidFill>
                          <a:latin typeface="SimSun"/>
                          <a:cs typeface="SimSun"/>
                        </a:rPr>
                        <a:t>#</a:t>
                      </a:r>
                      <a:endParaRPr sz="1750">
                        <a:latin typeface="SimSun"/>
                        <a:cs typeface="SimSu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2025"/>
                        </a:lnSpc>
                      </a:pPr>
                      <a:r>
                        <a:rPr sz="1750" spc="-50" dirty="0">
                          <a:solidFill>
                            <a:srgbClr val="0000CC"/>
                          </a:solidFill>
                          <a:latin typeface="SimSun"/>
                          <a:cs typeface="SimSun"/>
                        </a:rPr>
                        <a:t>[</a:t>
                      </a:r>
                      <a:endParaRPr sz="1750">
                        <a:latin typeface="SimSun"/>
                        <a:cs typeface="SimSu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R="50165" algn="ctr">
                        <a:lnSpc>
                          <a:spcPts val="2025"/>
                        </a:lnSpc>
                      </a:pPr>
                      <a:r>
                        <a:rPr sz="1750" spc="30" dirty="0">
                          <a:solidFill>
                            <a:srgbClr val="0000CC"/>
                          </a:solidFill>
                          <a:latin typeface="SimSun"/>
                          <a:cs typeface="SimSun"/>
                        </a:rPr>
                        <a:t>2.</a:t>
                      </a:r>
                      <a:endParaRPr sz="1750">
                        <a:latin typeface="SimSun"/>
                        <a:cs typeface="SimSu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025"/>
                        </a:lnSpc>
                      </a:pPr>
                      <a:r>
                        <a:rPr sz="1750" spc="30" dirty="0">
                          <a:solidFill>
                            <a:srgbClr val="0000CC"/>
                          </a:solidFill>
                          <a:latin typeface="SimSun"/>
                          <a:cs typeface="SimSun"/>
                        </a:rPr>
                        <a:t>2.</a:t>
                      </a:r>
                      <a:endParaRPr sz="1750">
                        <a:latin typeface="SimSun"/>
                        <a:cs typeface="SimSu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2025"/>
                        </a:lnSpc>
                      </a:pPr>
                      <a:r>
                        <a:rPr sz="1750" spc="35" dirty="0">
                          <a:solidFill>
                            <a:srgbClr val="0000CC"/>
                          </a:solidFill>
                          <a:latin typeface="SimSun"/>
                          <a:cs typeface="SimSun"/>
                        </a:rPr>
                        <a:t>2.]]</a:t>
                      </a:r>
                      <a:endParaRPr sz="1750">
                        <a:latin typeface="SimSun"/>
                        <a:cs typeface="SimSu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0" y="100013"/>
            <a:ext cx="5916613" cy="3921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Funciones</a:t>
            </a:r>
            <a:r>
              <a:rPr spc="285" dirty="0"/>
              <a:t> </a:t>
            </a:r>
            <a:r>
              <a:rPr spc="90" dirty="0"/>
              <a:t>matemáticas</a:t>
            </a:r>
            <a:r>
              <a:rPr spc="315" dirty="0"/>
              <a:t> </a:t>
            </a:r>
            <a:r>
              <a:rPr spc="60" dirty="0"/>
              <a:t>mas</a:t>
            </a:r>
            <a:r>
              <a:rPr spc="280" dirty="0"/>
              <a:t> </a:t>
            </a:r>
            <a:r>
              <a:rPr spc="85" dirty="0"/>
              <a:t>usadas!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80707" y="1555114"/>
          <a:ext cx="8521065" cy="406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94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Python</a:t>
                      </a:r>
                      <a:r>
                        <a:rPr sz="1400" b="1" spc="-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Command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np.linalg.inv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0C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Inverse</a:t>
                      </a:r>
                      <a:r>
                        <a:rPr sz="14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matrix</a:t>
                      </a:r>
                      <a:r>
                        <a:rPr sz="1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(numpy</a:t>
                      </a:r>
                      <a:r>
                        <a:rPr sz="14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as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equivalent)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365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0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np.linalg.eig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F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Get</a:t>
                      </a:r>
                      <a:r>
                        <a:rPr sz="14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eigen</a:t>
                      </a:r>
                      <a:r>
                        <a:rPr sz="1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value</a:t>
                      </a:r>
                      <a:r>
                        <a:rPr sz="1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(Read</a:t>
                      </a:r>
                      <a:r>
                        <a:rPr sz="1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documentation</a:t>
                      </a:r>
                      <a:r>
                        <a:rPr sz="1400" spc="-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on</a:t>
                      </a:r>
                      <a:r>
                        <a:rPr sz="1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eigh</a:t>
                      </a:r>
                      <a:r>
                        <a:rPr sz="1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numpy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equivalent)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np.matmul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0C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Matrix</a:t>
                      </a:r>
                      <a:r>
                        <a:rPr sz="1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multiply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0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np.zeros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F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Create</a:t>
                      </a:r>
                      <a:r>
                        <a:rPr sz="14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matrix</a:t>
                      </a:r>
                      <a:r>
                        <a:rPr sz="1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filled</a:t>
                      </a:r>
                      <a:r>
                        <a:rPr sz="1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zeros</a:t>
                      </a:r>
                      <a:r>
                        <a:rPr sz="1400" spc="-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(Read</a:t>
                      </a:r>
                      <a:r>
                        <a:rPr sz="1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on</a:t>
                      </a:r>
                      <a:r>
                        <a:rPr sz="1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np.ones)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np.arange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0C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Start,</a:t>
                      </a:r>
                      <a:r>
                        <a:rPr sz="1400" spc="-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stop,</a:t>
                      </a:r>
                      <a:r>
                        <a:rPr sz="14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step</a:t>
                      </a:r>
                      <a:r>
                        <a:rPr sz="14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size</a:t>
                      </a:r>
                      <a:r>
                        <a:rPr sz="14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(Read</a:t>
                      </a:r>
                      <a:r>
                        <a:rPr sz="14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on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np.linspace)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0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np.identity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F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Create</a:t>
                      </a:r>
                      <a:r>
                        <a:rPr sz="14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an</a:t>
                      </a:r>
                      <a:r>
                        <a:rPr sz="1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identity</a:t>
                      </a:r>
                      <a:r>
                        <a:rPr sz="14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matrix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np.vstack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920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0C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Vertically</a:t>
                      </a:r>
                      <a:r>
                        <a:rPr sz="1400" spc="-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stack</a:t>
                      </a:r>
                      <a:r>
                        <a:rPr sz="14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arrays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(Read</a:t>
                      </a:r>
                      <a:r>
                        <a:rPr sz="1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on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np.hstack)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38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0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0" y="79375"/>
            <a:ext cx="417195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Tus </a:t>
            </a:r>
            <a:r>
              <a:rPr spc="-25" dirty="0"/>
              <a:t>amigos</a:t>
            </a:r>
            <a:r>
              <a:rPr spc="-125" dirty="0"/>
              <a:t> </a:t>
            </a:r>
            <a:r>
              <a:rPr spc="-20" dirty="0"/>
              <a:t>para</a:t>
            </a:r>
            <a:r>
              <a:rPr spc="-110" dirty="0"/>
              <a:t> </a:t>
            </a:r>
            <a:r>
              <a:rPr spc="35" dirty="0"/>
              <a:t>debugging!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8996" y="2022982"/>
          <a:ext cx="8521065" cy="304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94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6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Python</a:t>
                      </a:r>
                      <a:r>
                        <a:rPr sz="1400" b="1" spc="-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Command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array.shape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0C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Get</a:t>
                      </a:r>
                      <a:r>
                        <a:rPr sz="1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shape</a:t>
                      </a:r>
                      <a:r>
                        <a:rPr sz="1400" spc="-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numpy</a:t>
                      </a:r>
                      <a:r>
                        <a:rPr sz="1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array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0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array.dtype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F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Check</a:t>
                      </a:r>
                      <a:r>
                        <a:rPr sz="1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1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type</a:t>
                      </a:r>
                      <a:r>
                        <a:rPr sz="1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array</a:t>
                      </a:r>
                      <a:r>
                        <a:rPr sz="1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(for</a:t>
                      </a:r>
                      <a:r>
                        <a:rPr sz="14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precision,</a:t>
                      </a:r>
                      <a:r>
                        <a:rPr sz="1400" spc="-9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1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weird</a:t>
                      </a:r>
                      <a:r>
                        <a:rPr sz="1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behavior)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type(stuff)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0C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Get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type</a:t>
                      </a:r>
                      <a:r>
                        <a:rPr sz="1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variable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0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import</a:t>
                      </a:r>
                      <a:r>
                        <a:rPr sz="18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pdb;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pdb.set_trace()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F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Set</a:t>
                      </a:r>
                      <a:r>
                        <a:rPr sz="1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breakpoint</a:t>
                      </a:r>
                      <a:r>
                        <a:rPr sz="1400" spc="-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(https://docs.python.org/3/library/pdb.html)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print(f’My</a:t>
                      </a:r>
                      <a:r>
                        <a:rPr sz="1800" spc="-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name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sz="18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{name}’)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0C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Easy</a:t>
                      </a:r>
                      <a:r>
                        <a:rPr sz="1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way</a:t>
                      </a:r>
                      <a:r>
                        <a:rPr sz="1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4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construct</a:t>
                      </a:r>
                      <a:r>
                        <a:rPr sz="14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message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0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0" y="128588"/>
            <a:ext cx="5748338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¿Por</a:t>
            </a:r>
            <a:r>
              <a:rPr spc="-50" dirty="0"/>
              <a:t> </a:t>
            </a:r>
            <a:r>
              <a:rPr dirty="0"/>
              <a:t>qué</a:t>
            </a:r>
            <a:r>
              <a:rPr spc="-35" dirty="0"/>
              <a:t> </a:t>
            </a:r>
            <a:r>
              <a:rPr dirty="0"/>
              <a:t>debería</a:t>
            </a:r>
            <a:r>
              <a:rPr spc="-35" dirty="0"/>
              <a:t> </a:t>
            </a:r>
            <a:r>
              <a:rPr dirty="0">
                <a:solidFill>
                  <a:srgbClr val="F79546"/>
                </a:solidFill>
              </a:rPr>
              <a:t>vectorizar</a:t>
            </a:r>
            <a:r>
              <a:rPr spc="-35" dirty="0">
                <a:solidFill>
                  <a:srgbClr val="F79546"/>
                </a:solidFill>
              </a:rPr>
              <a:t> </a:t>
            </a:r>
            <a:r>
              <a:rPr dirty="0"/>
              <a:t>mi</a:t>
            </a:r>
            <a:r>
              <a:rPr spc="-55" dirty="0"/>
              <a:t> </a:t>
            </a:r>
            <a:r>
              <a:rPr spc="-10" dirty="0"/>
              <a:t>código?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58003" y="3444621"/>
            <a:ext cx="34683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79546"/>
                </a:solidFill>
                <a:latin typeface="Consolas"/>
                <a:cs typeface="Consolas"/>
              </a:rPr>
              <a:t>print</a:t>
            </a:r>
            <a:r>
              <a:rPr sz="1400" spc="-10" dirty="0">
                <a:latin typeface="Consolas"/>
                <a:cs typeface="Consolas"/>
              </a:rPr>
              <a:t>(np.array(a).dot(np.array(b)))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4061" y="3422396"/>
            <a:ext cx="228917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onsolas"/>
                <a:cs typeface="Consolas"/>
              </a:rPr>
              <a:t>dot</a:t>
            </a:r>
            <a:r>
              <a:rPr sz="1400" spc="-50" dirty="0"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E7E7E"/>
                </a:solidFill>
                <a:latin typeface="Consolas"/>
                <a:cs typeface="Consolas"/>
              </a:rPr>
              <a:t>=</a:t>
            </a:r>
            <a:r>
              <a:rPr sz="1400" spc="-35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7E7E7E"/>
                </a:solidFill>
                <a:latin typeface="Consolas"/>
                <a:cs typeface="Consolas"/>
              </a:rPr>
              <a:t>0.0</a:t>
            </a:r>
            <a:endParaRPr sz="1400">
              <a:latin typeface="Consolas"/>
              <a:cs typeface="Consolas"/>
            </a:endParaRPr>
          </a:p>
          <a:p>
            <a:pPr marL="405765" marR="5080" indent="-393700">
              <a:lnSpc>
                <a:spcPct val="100000"/>
              </a:lnSpc>
            </a:pPr>
            <a:r>
              <a:rPr sz="1400" dirty="0">
                <a:solidFill>
                  <a:srgbClr val="C585C0"/>
                </a:solidFill>
                <a:latin typeface="Consolas"/>
                <a:cs typeface="Consolas"/>
              </a:rPr>
              <a:t>for</a:t>
            </a:r>
            <a:r>
              <a:rPr sz="1400" spc="-5" dirty="0">
                <a:solidFill>
                  <a:srgbClr val="C585C0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i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in</a:t>
            </a:r>
            <a:r>
              <a:rPr sz="1400" spc="-10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79546"/>
                </a:solidFill>
                <a:latin typeface="Consolas"/>
                <a:cs typeface="Consolas"/>
              </a:rPr>
              <a:t>range</a:t>
            </a:r>
            <a:r>
              <a:rPr sz="1400" spc="-10" dirty="0">
                <a:latin typeface="Consolas"/>
                <a:cs typeface="Consolas"/>
              </a:rPr>
              <a:t>(</a:t>
            </a:r>
            <a:r>
              <a:rPr sz="1400" spc="-10" dirty="0">
                <a:solidFill>
                  <a:srgbClr val="7E7E7E"/>
                </a:solidFill>
                <a:latin typeface="Consolas"/>
                <a:cs typeface="Consolas"/>
              </a:rPr>
              <a:t>len</a:t>
            </a:r>
            <a:r>
              <a:rPr sz="1400" spc="-10" dirty="0">
                <a:latin typeface="Consolas"/>
                <a:cs typeface="Consolas"/>
              </a:rPr>
              <a:t>(a)): </a:t>
            </a:r>
            <a:r>
              <a:rPr sz="1400" dirty="0">
                <a:latin typeface="Consolas"/>
                <a:cs typeface="Consolas"/>
              </a:rPr>
              <a:t>dot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E7E7E"/>
                </a:solidFill>
                <a:latin typeface="Consolas"/>
                <a:cs typeface="Consolas"/>
              </a:rPr>
              <a:t>+=</a:t>
            </a:r>
            <a:r>
              <a:rPr sz="1400" spc="-10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a[i]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E7E7E"/>
                </a:solidFill>
                <a:latin typeface="Consolas"/>
                <a:cs typeface="Consolas"/>
              </a:rPr>
              <a:t>*</a:t>
            </a:r>
            <a:r>
              <a:rPr sz="1400" spc="-10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latin typeface="Consolas"/>
                <a:cs typeface="Consolas"/>
              </a:rPr>
              <a:t>b[i]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4061" y="4276471"/>
            <a:ext cx="1008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79546"/>
                </a:solidFill>
                <a:latin typeface="Consolas"/>
                <a:cs typeface="Consolas"/>
              </a:rPr>
              <a:t>print</a:t>
            </a:r>
            <a:r>
              <a:rPr sz="1400" spc="-10" dirty="0">
                <a:latin typeface="Consolas"/>
                <a:cs typeface="Consolas"/>
              </a:rPr>
              <a:t>(dot)</a:t>
            </a:r>
            <a:endParaRPr sz="1400">
              <a:latin typeface="Consolas"/>
              <a:cs typeface="Consola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510027" y="2906267"/>
            <a:ext cx="966469" cy="623570"/>
            <a:chOff x="2510027" y="2906267"/>
            <a:chExt cx="966469" cy="62357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0027" y="3456431"/>
              <a:ext cx="84709" cy="7315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570733" y="2906267"/>
              <a:ext cx="905510" cy="588010"/>
            </a:xfrm>
            <a:custGeom>
              <a:avLst/>
              <a:gdLst/>
              <a:ahLst/>
              <a:cxnLst/>
              <a:rect l="l" t="t" r="r" b="b"/>
              <a:pathLst>
                <a:path w="905510" h="588010">
                  <a:moveTo>
                    <a:pt x="898652" y="0"/>
                  </a:moveTo>
                  <a:lnTo>
                    <a:pt x="0" y="576834"/>
                  </a:lnTo>
                  <a:lnTo>
                    <a:pt x="6858" y="587502"/>
                  </a:lnTo>
                  <a:lnTo>
                    <a:pt x="905510" y="10668"/>
                  </a:lnTo>
                  <a:lnTo>
                    <a:pt x="898652" y="0"/>
                  </a:lnTo>
                  <a:close/>
                </a:path>
              </a:pathLst>
            </a:custGeom>
            <a:solidFill>
              <a:srgbClr val="FCA8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654296" y="2904744"/>
            <a:ext cx="1419225" cy="563880"/>
            <a:chOff x="4654296" y="2904744"/>
            <a:chExt cx="1419225" cy="56388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88177" y="3397504"/>
              <a:ext cx="84836" cy="7112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654296" y="2904744"/>
              <a:ext cx="1350010" cy="534670"/>
            </a:xfrm>
            <a:custGeom>
              <a:avLst/>
              <a:gdLst/>
              <a:ahLst/>
              <a:cxnLst/>
              <a:rect l="l" t="t" r="r" b="b"/>
              <a:pathLst>
                <a:path w="1350010" h="534670">
                  <a:moveTo>
                    <a:pt x="4571" y="0"/>
                  </a:moveTo>
                  <a:lnTo>
                    <a:pt x="0" y="11937"/>
                  </a:lnTo>
                  <a:lnTo>
                    <a:pt x="1345438" y="534288"/>
                  </a:lnTo>
                  <a:lnTo>
                    <a:pt x="1350009" y="522350"/>
                  </a:lnTo>
                  <a:lnTo>
                    <a:pt x="4571" y="0"/>
                  </a:lnTo>
                  <a:close/>
                </a:path>
              </a:pathLst>
            </a:custGeom>
            <a:solidFill>
              <a:srgbClr val="FCA8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16660" y="941070"/>
            <a:ext cx="6136640" cy="168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85" dirty="0">
                <a:solidFill>
                  <a:srgbClr val="575757"/>
                </a:solidFill>
                <a:latin typeface="Trebuchet MS"/>
                <a:cs typeface="Trebuchet MS"/>
              </a:rPr>
              <a:t>Menos</a:t>
            </a:r>
            <a:r>
              <a:rPr sz="1800" spc="254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800" spc="90" dirty="0">
                <a:solidFill>
                  <a:srgbClr val="575757"/>
                </a:solidFill>
                <a:latin typeface="Trebuchet MS"/>
                <a:cs typeface="Trebuchet MS"/>
              </a:rPr>
              <a:t>líneas</a:t>
            </a:r>
            <a:r>
              <a:rPr sz="1800" spc="254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800" spc="55" dirty="0">
                <a:solidFill>
                  <a:srgbClr val="575757"/>
                </a:solidFill>
                <a:latin typeface="Trebuchet MS"/>
                <a:cs typeface="Trebuchet MS"/>
              </a:rPr>
              <a:t>de</a:t>
            </a:r>
            <a:r>
              <a:rPr sz="1800" spc="24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800" spc="100" dirty="0">
                <a:solidFill>
                  <a:srgbClr val="575757"/>
                </a:solidFill>
                <a:latin typeface="Trebuchet MS"/>
                <a:cs typeface="Trebuchet MS"/>
              </a:rPr>
              <a:t>código,</a:t>
            </a:r>
            <a:r>
              <a:rPr sz="1800" spc="-14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575757"/>
                </a:solidFill>
                <a:latin typeface="Trebuchet MS"/>
                <a:cs typeface="Trebuchet MS"/>
              </a:rPr>
              <a:t>ejecución</a:t>
            </a:r>
            <a:r>
              <a:rPr sz="1800" spc="-10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575757"/>
                </a:solidFill>
                <a:latin typeface="Trebuchet MS"/>
                <a:cs typeface="Trebuchet MS"/>
              </a:rPr>
              <a:t>más</a:t>
            </a:r>
            <a:r>
              <a:rPr sz="1800" spc="-13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575757"/>
                </a:solidFill>
                <a:latin typeface="Trebuchet MS"/>
                <a:cs typeface="Trebuchet MS"/>
              </a:rPr>
              <a:t>rápida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855"/>
              </a:spcBef>
            </a:pPr>
            <a:endParaRPr sz="1800">
              <a:latin typeface="Trebuchet MS"/>
              <a:cs typeface="Trebuchet MS"/>
            </a:endParaRPr>
          </a:p>
          <a:p>
            <a:pPr marL="2059305">
              <a:lnSpc>
                <a:spcPct val="100000"/>
              </a:lnSpc>
            </a:pPr>
            <a:r>
              <a:rPr sz="1400" dirty="0">
                <a:latin typeface="Consolas"/>
                <a:cs typeface="Consolas"/>
              </a:rPr>
              <a:t>a</a:t>
            </a:r>
            <a:r>
              <a:rPr sz="1400" spc="5" dirty="0"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E7E7E"/>
                </a:solidFill>
                <a:latin typeface="Consolas"/>
                <a:cs typeface="Consolas"/>
              </a:rPr>
              <a:t>=</a:t>
            </a:r>
            <a:r>
              <a:rPr sz="1400" spc="5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np.random.random(</a:t>
            </a:r>
            <a:r>
              <a:rPr sz="1400" spc="-10" dirty="0">
                <a:solidFill>
                  <a:srgbClr val="B5CEA8"/>
                </a:solidFill>
                <a:latin typeface="Consolas"/>
                <a:cs typeface="Consolas"/>
              </a:rPr>
              <a:t>500000</a:t>
            </a:r>
            <a:r>
              <a:rPr sz="1400" spc="-10" dirty="0">
                <a:latin typeface="Consolas"/>
                <a:cs typeface="Consolas"/>
              </a:rPr>
              <a:t>)</a:t>
            </a:r>
            <a:endParaRPr sz="1400">
              <a:latin typeface="Consolas"/>
              <a:cs typeface="Consolas"/>
            </a:endParaRPr>
          </a:p>
          <a:p>
            <a:pPr marL="2059305">
              <a:lnSpc>
                <a:spcPct val="100000"/>
              </a:lnSpc>
            </a:pPr>
            <a:r>
              <a:rPr sz="1400" dirty="0">
                <a:latin typeface="Consolas"/>
                <a:cs typeface="Consolas"/>
              </a:rPr>
              <a:t>b</a:t>
            </a:r>
            <a:r>
              <a:rPr sz="1400" spc="5" dirty="0"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E7E7E"/>
                </a:solidFill>
                <a:latin typeface="Consolas"/>
                <a:cs typeface="Consolas"/>
              </a:rPr>
              <a:t>=</a:t>
            </a:r>
            <a:r>
              <a:rPr sz="1400" spc="5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np.random.random(</a:t>
            </a:r>
            <a:r>
              <a:rPr sz="1400" spc="-10" dirty="0">
                <a:solidFill>
                  <a:srgbClr val="B5CEA8"/>
                </a:solidFill>
                <a:latin typeface="Consolas"/>
                <a:cs typeface="Consolas"/>
              </a:rPr>
              <a:t>500000</a:t>
            </a:r>
            <a:r>
              <a:rPr sz="1400" spc="-10" dirty="0">
                <a:latin typeface="Consolas"/>
                <a:cs typeface="Consolas"/>
              </a:rPr>
              <a:t>)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400">
              <a:latin typeface="Consolas"/>
              <a:cs typeface="Consolas"/>
            </a:endParaRPr>
          </a:p>
          <a:p>
            <a:pPr marL="1409700">
              <a:lnSpc>
                <a:spcPct val="100000"/>
              </a:lnSpc>
              <a:tabLst>
                <a:tab pos="4621530" algn="l"/>
              </a:tabLst>
            </a:pPr>
            <a:r>
              <a:rPr sz="2100" spc="-89" baseline="3968" dirty="0">
                <a:solidFill>
                  <a:srgbClr val="575757"/>
                </a:solidFill>
                <a:latin typeface="Trebuchet MS"/>
                <a:cs typeface="Trebuchet MS"/>
              </a:rPr>
              <a:t>With</a:t>
            </a:r>
            <a:r>
              <a:rPr sz="2100" spc="-67" baseline="3968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2100" spc="-30" baseline="3968" dirty="0">
                <a:solidFill>
                  <a:srgbClr val="575757"/>
                </a:solidFill>
                <a:latin typeface="Trebuchet MS"/>
                <a:cs typeface="Trebuchet MS"/>
              </a:rPr>
              <a:t>loop</a:t>
            </a:r>
            <a:r>
              <a:rPr sz="2100" baseline="3968" dirty="0">
                <a:solidFill>
                  <a:srgbClr val="575757"/>
                </a:solidFill>
                <a:latin typeface="Trebuchet MS"/>
                <a:cs typeface="Trebuchet MS"/>
              </a:rPr>
              <a:t>	</a:t>
            </a:r>
            <a:r>
              <a:rPr sz="1400" dirty="0">
                <a:solidFill>
                  <a:srgbClr val="575757"/>
                </a:solidFill>
                <a:latin typeface="Trebuchet MS"/>
                <a:cs typeface="Trebuchet MS"/>
              </a:rPr>
              <a:t>Numpy</a:t>
            </a:r>
            <a:r>
              <a:rPr sz="1400" spc="-3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575757"/>
                </a:solidFill>
                <a:latin typeface="Trebuchet MS"/>
                <a:cs typeface="Trebuchet MS"/>
              </a:rPr>
              <a:t>dot</a:t>
            </a:r>
            <a:r>
              <a:rPr sz="1400" spc="-6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575757"/>
                </a:solidFill>
                <a:latin typeface="Trebuchet MS"/>
                <a:cs typeface="Trebuchet MS"/>
              </a:rPr>
              <a:t>product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60677" y="4888229"/>
            <a:ext cx="13309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40" dirty="0">
                <a:solidFill>
                  <a:srgbClr val="575757"/>
                </a:solidFill>
                <a:latin typeface="Trebuchet MS"/>
                <a:cs typeface="Trebuchet MS"/>
              </a:rPr>
              <a:t>Wall</a:t>
            </a:r>
            <a:r>
              <a:rPr sz="1400" spc="-155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rgbClr val="575757"/>
                </a:solidFill>
                <a:latin typeface="Trebuchet MS"/>
                <a:cs typeface="Trebuchet MS"/>
              </a:rPr>
              <a:t>time:</a:t>
            </a:r>
            <a:r>
              <a:rPr sz="1400" spc="-24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575757"/>
                </a:solidFill>
                <a:latin typeface="Trebuchet MS"/>
                <a:cs typeface="Trebuchet MS"/>
              </a:rPr>
              <a:t>345ms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67527" y="4888229"/>
            <a:ext cx="13119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45" dirty="0">
                <a:solidFill>
                  <a:srgbClr val="575757"/>
                </a:solidFill>
                <a:latin typeface="Trebuchet MS"/>
                <a:cs typeface="Trebuchet MS"/>
              </a:rPr>
              <a:t>Wall</a:t>
            </a:r>
            <a:r>
              <a:rPr sz="1400" spc="-10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400" spc="-85" dirty="0">
                <a:solidFill>
                  <a:srgbClr val="575757"/>
                </a:solidFill>
                <a:latin typeface="Trebuchet MS"/>
                <a:cs typeface="Trebuchet MS"/>
              </a:rPr>
              <a:t>time:</a:t>
            </a:r>
            <a:r>
              <a:rPr sz="1400" spc="-140" dirty="0">
                <a:solidFill>
                  <a:srgbClr val="575757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575757"/>
                </a:solidFill>
                <a:latin typeface="Trebuchet MS"/>
                <a:cs typeface="Trebuchet MS"/>
              </a:rPr>
              <a:t>2.9ms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0" y="-58738"/>
            <a:ext cx="1949450" cy="5143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Calibri"/>
                <a:cs typeface="Calibri"/>
              </a:rPr>
              <a:t>Bibliografía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7651" y="757742"/>
            <a:ext cx="7751445" cy="417004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800" b="1" spc="-10" dirty="0">
                <a:solidFill>
                  <a:srgbClr val="F79546"/>
                </a:solidFill>
                <a:latin typeface="Arial"/>
                <a:cs typeface="Arial"/>
              </a:rPr>
              <a:t>Libros</a:t>
            </a:r>
            <a:endParaRPr sz="1800">
              <a:latin typeface="Arial"/>
              <a:cs typeface="Arial"/>
            </a:endParaRPr>
          </a:p>
          <a:p>
            <a:pPr marL="575945" indent="-342900">
              <a:lnSpc>
                <a:spcPct val="100000"/>
              </a:lnSpc>
              <a:spcBef>
                <a:spcPts val="725"/>
              </a:spcBef>
              <a:buAutoNum type="arabicPeriod"/>
              <a:tabLst>
                <a:tab pos="575945" algn="l"/>
              </a:tabLst>
            </a:pPr>
            <a:r>
              <a:rPr sz="1800" dirty="0">
                <a:latin typeface="Calibri"/>
                <a:cs typeface="Calibri"/>
              </a:rPr>
              <a:t>Ramalho,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L.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(2022).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Fluent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python.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"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O'Reilly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Media,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Inc.".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25"/>
              </a:spcBef>
              <a:buFont typeface="Calibri"/>
              <a:buAutoNum type="arabicPeriod"/>
            </a:pPr>
            <a:endParaRPr sz="1800">
              <a:latin typeface="Calibri"/>
              <a:cs typeface="Calibri"/>
            </a:endParaRPr>
          </a:p>
          <a:p>
            <a:pPr marL="576580" marR="5080" indent="-343535">
              <a:lnSpc>
                <a:spcPct val="106900"/>
              </a:lnSpc>
              <a:buAutoNum type="arabicPeriod"/>
              <a:tabLst>
                <a:tab pos="576580" algn="l"/>
              </a:tabLst>
            </a:pPr>
            <a:r>
              <a:rPr sz="1800" dirty="0">
                <a:latin typeface="Calibri"/>
                <a:cs typeface="Calibri"/>
              </a:rPr>
              <a:t>Guttag,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J.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95" dirty="0">
                <a:latin typeface="Calibri"/>
                <a:cs typeface="Calibri"/>
              </a:rPr>
              <a:t>V.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(2021).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Introduction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computation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programming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using </a:t>
            </a:r>
            <a:r>
              <a:rPr sz="1800" dirty="0">
                <a:latin typeface="Calibri"/>
                <a:cs typeface="Calibri"/>
              </a:rPr>
              <a:t>Python: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application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computational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understanding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data. </a:t>
            </a:r>
            <a:r>
              <a:rPr sz="1800" dirty="0">
                <a:latin typeface="Calibri"/>
                <a:cs typeface="Calibri"/>
              </a:rPr>
              <a:t>Mit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Press.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30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F79546"/>
                </a:solidFill>
                <a:latin typeface="Arial"/>
                <a:cs typeface="Arial"/>
              </a:rPr>
              <a:t>Cursos</a:t>
            </a:r>
            <a:endParaRPr sz="1800">
              <a:latin typeface="Arial"/>
              <a:cs typeface="Arial"/>
            </a:endParaRPr>
          </a:p>
          <a:p>
            <a:pPr marL="576580" marR="236220" indent="-343535">
              <a:lnSpc>
                <a:spcPct val="107100"/>
              </a:lnSpc>
              <a:spcBef>
                <a:spcPts val="575"/>
              </a:spcBef>
              <a:buAutoNum type="arabicPeriod"/>
              <a:tabLst>
                <a:tab pos="576580" algn="l"/>
              </a:tabLst>
            </a:pPr>
            <a:r>
              <a:rPr sz="1800" spc="-10" dirty="0">
                <a:latin typeface="Calibri"/>
                <a:cs typeface="Calibri"/>
              </a:rPr>
              <a:t>“Introduction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Computer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Science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Programming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Python”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5" dirty="0">
                <a:latin typeface="Calibri"/>
                <a:cs typeface="Calibri"/>
              </a:rPr>
              <a:t> MIT </a:t>
            </a:r>
            <a:r>
              <a:rPr sz="1800" spc="-10" dirty="0">
                <a:latin typeface="Calibri"/>
                <a:cs typeface="Calibri"/>
              </a:rPr>
              <a:t>OpenCourseWare</a:t>
            </a:r>
            <a:r>
              <a:rPr sz="1800" spc="22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https://ocw.mit.edu/courses/electrical-</a:t>
            </a:r>
            <a:r>
              <a:rPr sz="1800" spc="-10" dirty="0">
                <a:latin typeface="Calibri"/>
                <a:cs typeface="Calibri"/>
              </a:rPr>
              <a:t>engineering-</a:t>
            </a:r>
            <a:r>
              <a:rPr sz="1800" spc="-20" dirty="0">
                <a:latin typeface="Calibri"/>
                <a:cs typeface="Calibri"/>
              </a:rPr>
              <a:t>and- computer-</a:t>
            </a:r>
            <a:r>
              <a:rPr sz="1800" spc="-10" dirty="0">
                <a:latin typeface="Calibri"/>
                <a:cs typeface="Calibri"/>
              </a:rPr>
              <a:t>science/6-</a:t>
            </a:r>
            <a:r>
              <a:rPr sz="1800" spc="-20" dirty="0">
                <a:latin typeface="Calibri"/>
                <a:cs typeface="Calibri"/>
              </a:rPr>
              <a:t>0001-introduction-</a:t>
            </a:r>
            <a:r>
              <a:rPr sz="1800" spc="-10" dirty="0">
                <a:latin typeface="Calibri"/>
                <a:cs typeface="Calibri"/>
              </a:rPr>
              <a:t>to-</a:t>
            </a:r>
            <a:r>
              <a:rPr sz="1800" spc="-20" dirty="0">
                <a:latin typeface="Calibri"/>
                <a:cs typeface="Calibri"/>
              </a:rPr>
              <a:t>computer-</a:t>
            </a:r>
            <a:r>
              <a:rPr sz="1800" spc="-10" dirty="0">
                <a:latin typeface="Calibri"/>
                <a:cs typeface="Calibri"/>
              </a:rPr>
              <a:t>science-</a:t>
            </a:r>
            <a:r>
              <a:rPr sz="1800" spc="-20" dirty="0">
                <a:latin typeface="Calibri"/>
                <a:cs typeface="Calibri"/>
              </a:rPr>
              <a:t>and- programming-</a:t>
            </a:r>
            <a:r>
              <a:rPr sz="1800" spc="-10" dirty="0">
                <a:latin typeface="Calibri"/>
                <a:cs typeface="Calibri"/>
              </a:rPr>
              <a:t>in-python-</a:t>
            </a:r>
            <a:r>
              <a:rPr sz="1800" spc="-20" dirty="0">
                <a:latin typeface="Calibri"/>
                <a:cs typeface="Calibri"/>
              </a:rPr>
              <a:t>fall-</a:t>
            </a:r>
            <a:r>
              <a:rPr sz="1800" spc="-10" dirty="0">
                <a:latin typeface="Calibri"/>
                <a:cs typeface="Calibri"/>
              </a:rPr>
              <a:t>2016/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2023</Words>
  <Application>Microsoft Office PowerPoint</Application>
  <PresentationFormat>Presentación en pantalla (4:3)</PresentationFormat>
  <Paragraphs>369</Paragraphs>
  <Slides>50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50</vt:i4>
      </vt:variant>
    </vt:vector>
  </HeadingPairs>
  <TitlesOfParts>
    <vt:vector size="64" baseType="lpstr">
      <vt:lpstr>SimSun</vt:lpstr>
      <vt:lpstr>Arial</vt:lpstr>
      <vt:lpstr>Arial MT</vt:lpstr>
      <vt:lpstr>Calibri</vt:lpstr>
      <vt:lpstr>Calibri Light</vt:lpstr>
      <vt:lpstr>Cambria</vt:lpstr>
      <vt:lpstr>Cambria Math</vt:lpstr>
      <vt:lpstr>Consolas</vt:lpstr>
      <vt:lpstr>Courier New</vt:lpstr>
      <vt:lpstr>Tahoma</vt:lpstr>
      <vt:lpstr>Times New Roman</vt:lpstr>
      <vt:lpstr>Trebuchet MS</vt:lpstr>
      <vt:lpstr>Wingdings</vt:lpstr>
      <vt:lpstr>Office Theme</vt:lpstr>
      <vt:lpstr>Presentación de PowerPoint</vt:lpstr>
      <vt:lpstr>AGENDA</vt:lpstr>
      <vt:lpstr>AGENDA</vt:lpstr>
      <vt:lpstr>Cargando las librerías de Python</vt:lpstr>
      <vt:lpstr>AGENDA</vt:lpstr>
      <vt:lpstr>NumPy</vt:lpstr>
      <vt:lpstr>¿Qué es Numpy y por qué usarlo?</vt:lpstr>
      <vt:lpstr>Qué es Numpy?</vt:lpstr>
      <vt:lpstr>NumPy ndarray vs list</vt:lpstr>
      <vt:lpstr>NumPy Overview</vt:lpstr>
      <vt:lpstr>Arrays</vt:lpstr>
      <vt:lpstr>Arrays</vt:lpstr>
      <vt:lpstr>Arrays</vt:lpstr>
      <vt:lpstr>Arrays</vt:lpstr>
      <vt:lpstr>Arrays, Propiedades Básicas</vt:lpstr>
      <vt:lpstr>Arrays: Creación</vt:lpstr>
      <vt:lpstr>Arrays: Creación</vt:lpstr>
      <vt:lpstr>Arrays: Creación</vt:lpstr>
      <vt:lpstr>Arrays: Creación</vt:lpstr>
      <vt:lpstr>Arrays: Creación</vt:lpstr>
      <vt:lpstr>Arrays: Creación</vt:lpstr>
      <vt:lpstr>Arrays: Creación</vt:lpstr>
      <vt:lpstr>Arrays: Zona de peligro</vt:lpstr>
      <vt:lpstr>Shaping</vt:lpstr>
      <vt:lpstr>Shaping</vt:lpstr>
      <vt:lpstr>Transposición</vt:lpstr>
      <vt:lpstr>Saving y loading arrays</vt:lpstr>
      <vt:lpstr>Arrays de Imágenes</vt:lpstr>
      <vt:lpstr>Los Arrays son mutables</vt:lpstr>
      <vt:lpstr>¿Qué es una imagen?</vt:lpstr>
      <vt:lpstr>¿Qué es una imagen?</vt:lpstr>
      <vt:lpstr>Presentación de PowerPoint</vt:lpstr>
      <vt:lpstr>Operadores Matemáticos</vt:lpstr>
      <vt:lpstr>Operadores Matemáticos</vt:lpstr>
      <vt:lpstr>Operadores Matemáticos</vt:lpstr>
      <vt:lpstr>Math, upcasting</vt:lpstr>
      <vt:lpstr>Math funciones universales: ufuncs</vt:lpstr>
      <vt:lpstr>Indexing</vt:lpstr>
      <vt:lpstr>Indexing, slices y arrays</vt:lpstr>
      <vt:lpstr>Ejes (Axes)</vt:lpstr>
      <vt:lpstr>Broadcasting</vt:lpstr>
      <vt:lpstr>Array broadcasting</vt:lpstr>
      <vt:lpstr>Array broadcasting</vt:lpstr>
      <vt:lpstr>Broadcasting</vt:lpstr>
      <vt:lpstr>Broadcasting</vt:lpstr>
      <vt:lpstr>Array broadcasting con escalares</vt:lpstr>
      <vt:lpstr>Funciones matemáticas mas usadas!</vt:lpstr>
      <vt:lpstr>Tus amigos para debugging!</vt:lpstr>
      <vt:lpstr>¿Por qué debería vectorizar mi código?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Rony Hancco</dc:creator>
  <cp:lastModifiedBy>JAIME ANTONIO HUAYTALLA PARIONA</cp:lastModifiedBy>
  <cp:revision>1</cp:revision>
  <dcterms:created xsi:type="dcterms:W3CDTF">2024-08-22T15:00:30Z</dcterms:created>
  <dcterms:modified xsi:type="dcterms:W3CDTF">2024-08-22T15:04:47Z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2024-06-08T00:00:00Z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2024-08-22T00:00:00Z</vt:filetime>
  </property>
  <property fmtid="{D5CDD505-2E9C-101B-9397-08002B2CF9AE}" pid="5" name="Producer">
    <vt:lpwstr>Microsoft® PowerPoint® para Microsoft 365</vt:lpwstr>
  </property>
</Properties>
</file>