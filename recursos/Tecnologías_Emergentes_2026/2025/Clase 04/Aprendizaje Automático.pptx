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91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2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6-04T01:27:51.48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2429 7002 844 0,'0'0'217'16,"0"0"-166"-16,0 0 12 16,0 0 100-16,0 0 22 15,-29 0-41-15,29 0-60 16,0 0 35-16,0-3-48 15,0 0-4-15,2 3-32 16,-2-2 8-16,5 2-24 16,2 0-7-16,6-2-6 0,10 2 1 15,10-2 49-15,13 2-49 16,12 0 13-16,9 0-20 16,9 0 12-16,7 0-11 15,-1 0 11-15,1 0-10 16,-7 4-1-16,-3 2 3 15,-4 2 6-15,-7-2 27 16,-2 2-36-16,-6-2 23 16,-2 3-6-16,-6-1 3 15,-3-3-10-15,-5 2 6 16,-3-2 8-16,-2-1-4 16,-1-1-2-16,-6-2-1 15,-1-1-3-15,2 0-8 0,-2 0 6 16,-2 0-2-16,4 0 5 15,-2 0-14-15,2 0 5 16,-5 0-7-16,0 0 18 16,-4 0-22-16,-2 0 14 15,-5 0-10-15,-2 0 0 16,-3 0 8-16,0 0-7 16,-2 0 9-16,0 0-3 15,-2 0-6-15,3 0 4 16,-3 0 17-16,2 0-22 15,-2 0 1-15,-2 0-2 16,0 0 2-16,0 0-2 0,0 0 0 16,0 0 0-1,0 0-12-15,0 0-75 0,0 0-9 16,0 0-101-16,0-1-62 16,-4-8-129-16,-5-1-225 0</inkml:trace>
  <inkml:trace contextRef="#ctx0" brushRef="#br0" timeOffset="583.1">3956 6874 593 0,'0'0'277'15,"0"0"-173"-15,0 0 9 16,0 0 62-16,0 0-20 16,0 0 30-16,0 0-25 15,-9-2-71-15,7 2 11 16,0 0 7-16,0 0 3 16,0 0-27-16,0 0-25 15,2 0-8-15,-3 0-28 16,3 0 9-16,0 0-13 15,0 0-10-15,0 0 8 16,0 0-16-16,5 0-2 16,1 0-5-16,5 0 1 0,3 10 6 15,3 6-1-15,3 0 13 16,3 2-22-16,-1 0 10 16,-2-1-1-16,3 0-15 15,-6-2 2-15,1 0-3 16,-5-4 8-16,-1 1 9 15,-6-3 0-15,1-1-13 16,-5 0 20-16,0-1-7 16,-2-4 0-16,0 3 9 15,0 4 3-15,-11 5 21 16,-13 4-7-16,-10 8-11 16,-8 5 31-16,-12 2-17 15,-4 4 58-15,-4-2-73 0,4-2 2 16,10-6-15-16,11-5-1 15,13-11-22 1,10-5-48-16,12-5-95 0,2-2-138 16,0 0-187-16,11-6-130 0</inkml:trace>
  <inkml:trace contextRef="#ctx0" brushRef="#br0" timeOffset="1523.24">3833 7050 508 0,'0'0'124'0,"0"0"-115"15,0 0 46-15,0 0 25 16,0 0 14-16,0 0-23 16,0 0 0-16,74 14-28 15,-49-14-5-15,1 0 10 16,7 0-35-16,4 0 26 15,1-2-38-15,-3-3-2 16,1 0 1-16,-5 1 0 16,-2 1-1-16,-7 0 1 15,-1 1 0-15,-4 2 1 0,-5 0-7 16,-4 0-7 0,-3 0 3-16,-1 0-44 0,-4 0-22 15,0 0-73-15,0 0-110 16,0 0-243-16</inkml:trace>
  <inkml:trace contextRef="#ctx0" brushRef="#br0" timeOffset="2935.65">3133 5314 75 0,'0'0'364'16,"0"0"-145"-16,0 0-50 15,0 0 14-15,0 0 27 0,0 0-45 16,0 0-16 0,-37-26-29-16,37 26-7 0,2 0-65 15,12 0 12-15,5 8-41 16,10 13 25-16,11 6-7 16,10 4 4-16,8 3-23 15,4 5 4-15,7-1 5 16,1-2-27-16,-2 2 4 15,3-3 12-15,-4 1-17 16,-1-3 2-16,-4 0-1 16,-2-4 0-16,-5 2 1 15,-3-1 1-15,-3-1-2 16,-7-3 0-16,-4 6 15 16,-5-6-17-16,-4 1 12 15,-4-1-10-15,-5-1 9 0,-3-4 13 16,-1 0-16-16,-3-3 9 15,1-4 16-15,-3 0-30 16,1-2 17-16,-1 0 4 16,-1-3-16-16,2 0 6 15,-3-1 1-15,-3-2-13 16,1-3 7-16,-4 2-6 16,-1-3-1-16,-2-2 0 15,2 1 14-15,-2-1-16 16,0 0 2-16,0 0 0 15,0 0 0-15,2 0 0 16,-2 0 0-16,0 0 0 0,0 0 0 16,0 0 1-16,0 0-7 15,0 0 17 1,0 0-11-16,0 0 0 0,0 0 12 16,0 0-12-16,0 0 10 15,0 0-4-15,0 0-4 16,0 0-2-16,0-5 19 15,0-7-19-15,-2-5 2 16,-7 0-4-16,-2-8 1 16,-2 0-6-16,-1-8 7 15,-1 0 0-15,-3-1 0 16,3-3 0-16,1 5-10 16,1 4 13-16,1 6-4 0,5 5 2 15,1 3-1 1,4 9 1-16,0 1 0 0,2 4-1 15,0 0 1-15,0 0-2 16,0 0-10-16,0 0-10 16,0 0 8-16,0 8 1 15,6 7 12-15,7 8-2 16,3 0 2-16,1 2 0 16,0-1 0-16,-2 1 0 15,3-4-7-15,-2 0 14 16,-3-1-8-16,0-3 2 15,-4-3-2-15,0-2 2 16,-5-1-1-16,1-4 0 16,-5 2 0-16,0-4-1 15,0 2 9-15,-2 0 36 0,-16 4-26 16,-2 1 18-16,-5-3-20 16,-4 2 6-16,-2-5 29 15,-2-2-25-15,-3-2-26 16,5-2-10-16,0 0 10 15,4-11-116-15,4-26-82 16,10 2-192-16,9-2-262 0</inkml:trace>
  <inkml:trace contextRef="#ctx0" brushRef="#br0" timeOffset="3882.61">4032 4475 768 0,'0'0'168'0,"0"0"-110"16,0 0 46-16,0 0 104 15,0 0-38-15,0 0-51 0,0 0-72 16,-6-22-23-16,14 44-22 15,15 10 96-15,6 16-11 16,6 3-56-16,1 7 44 16,4-2-55-16,-3-1 36 15,4-4-30-15,-3-5-8 16,-3-5-18-16,1-4 10 16,-2-2-10-16,-3-3 0 15,-2-3 0-15,-5-6 11 16,-1 0-17-16,-5-4 6 15,-1 1 0-15,-3-4 0 16,-1 0 0-16,-4-4 0 16,0-2 0-16,-7-4-1 15,3-1 2-15,-5-3-12 16,2-2 20-16,-2 0-9 0,0 0 1 16,2 0 12-16,-2 0-12 15,0 0 9-15,0 0-2 16,0 0-1-16,0 0-3 15,0 0 10-15,0 0 27 16,-6 0-25-16,-15-4 0 16,-4-6-15-16,-4-3 17 15,-6 4 2-15,2-3 8 16,1 5-4-16,6 0 4 16,4-2 2-16,6 3-14 0,5 2-13 15,6 0-1 1,3 2-2-16,2 2-8 0,0 0 7 15,0 0-6-15,0 0-15 16,5 0 10-16,10 4 12 16,5 8-19-16,5 2 19 15,1-2-12-15,3-2-29 16,2-3-29-16,8-6-90 16,23-1-111-16,-9 0-222 15,-4-9-455-15</inkml:trace>
  <inkml:trace contextRef="#ctx0" brushRef="#br0" timeOffset="4766.21">5447 4076 942 0,'0'0'165'0,"0"0"-120"16,0 0-2-16,0 0 77 15,0 0 65-15,0 0-68 16,0 0-61-16,-6-3-42 15,15 36 43-15,8 18 22 16,6 9-13-16,2 7-21 16,-2 4 4-16,4 1-12 15,-4-6-14-15,-3-4 2 16,0-9-17-16,-4-7 12 16,-5-8-20-16,0-8 0 0,-4-9-1 15,-3-1 1-15,-2-8-1 16,0 0 0-16,-2-4 1 15,0-3 0-15,0 0-10 16,0-3-15-16,0 0 23 16,-8-2 2-16,-13 0 1 15,-5 0-1-15,-6-2 0 16,-3-13 11-16,-1-2-10 16,5 3 3-16,2-1 14 15,7 1 7-15,9 6-2 16,6 1 17-16,4 4-15 15,3 1 9-15,0 2-16 0,0 0-6 16,0 0-12 0,5 0 1-16,4 0-15 0,6 14 20 15,3 3-6-15,5 4 0 16,2-1 8-16,0-2-7 16,0-1 13-16,0-3-12 15,-3-5 10-15,-2 2-10 16,-2-6 13-16,0 0-8 15,0-5 8-15,0 0-12 16,1-3 3-16,6-16 11 16,-2-8-16-16,-1-7 13 15,-3-6-14-15,-5-4-21 16,-3-2-10-16,-4 2-93 16,-2 2-7-16,4-2-137 15,-3 12-88-15,3 10-284 0</inkml:trace>
  <inkml:trace contextRef="#ctx0" brushRef="#br0" timeOffset="5499.55">6580 4064 909 0,'0'0'201'15,"0"0"-148"-15,0 0 40 16,0 0 123-16,0 0 2 15,0 0-34-15,0 0-138 16,-2-27-20-16,-2 58-11 16,-2 15 10-16,2 13 9 15,0 6 9-15,-1 6 19 16,3 1-21-16,0 0 35 16,2-1-70-16,-2-3 38 15,2-6-34-15,0-6 4 16,-2-8-13-16,0-8-2 0,2-7 1 15,0-9 0-15,0-5 0 16,0-7 8-16,0-2-21 16,0-3 13-16,0-3 0 15,0-4 0-15,0 2-1 16,0-2-7-16,-6 0 6 16,0 0-10-16,-3 0 5 15,-1-6-2-15,-7-11-13 16,2-1 15-16,1 0 8 15,1-1-2-15,2 0 2 16,2 3-2-16,3 7 1 16,3 0 0-16,1 6 0 15,2 3 8-15,0 0-30 0,0 0 8 16,0 0 0-16,0 16-3 16,9 2 17-16,4 4-4 15,3 0 4-15,-3-4 0 16,-1-5 1-16,-2-1-3 15,-1-5 18-15,-5-3-19 16,0-4 12-16,-2 0-7 16,-2 0-2-16,0 0 16 15,0 0-10-15,0-7-6 16,0-9-31-16,-2-12-128 16,-17 3-161-16,-5 1-592 0</inkml:trace>
  <inkml:trace contextRef="#ctx0" brushRef="#br0" timeOffset="6062.62">4578 4955 927 0,'0'0'226'16,"0"0"-142"-16,0 0-83 15,-95 128 87-15,72-92-33 16,3 4-55-16,9-10-125 16,4-10-458-16</inkml:trace>
  <inkml:trace contextRef="#ctx0" brushRef="#br0" timeOffset="7232.59">7723 4180 649 0,'0'0'231'16,"0"0"-130"-16,0 0 51 16,0 0 17-16,0 0-9 15,0 0-73-15,0 0-49 16,-9 104 43-16,3-46-32 15,0 9 62-15,-2-2-56 16,2-3 10-16,1-5-23 16,-1-2-11-16,2-7-17 15,-1-6-3-15,3-5-11 16,-1-2 1-16,3-9-10 16,0-2 10-16,0-7-8 0,0-3 7 15,0-5 0 1,0 0-1-16,3-5 1 0,-1-1-8 15,-2-3 8-15,2 0-6 16,-2 0 12-16,0 0-11 16,0 0 16-16,0-7-8 15,-4-11-2-15,-10-5-1 16,-1 0 1-16,-1-3 16 16,3-1-3-16,-3 5-13 15,5 1 35-15,1 6-35 16,4 5 54-16,2 3-34 15,4 7 1-15,-2 0-15 0,2 0-7 16,0 0-3 0,0 7-10-16,0 11 11 0,8 10 2 15,6 4-8-15,-1 2 19 16,1-2-11-16,-1-5 1 16,-2-6 0-16,0-5-1 15,-2-3 1-15,0-5-1 16,-4-2 0-16,2-4-1 15,-3-2 16-15,4 0 10 16,4 0-25-16,1-12 20 16,5-7-12-16,2-8-8 15,-2-2-21-15,-3-4-81 16,-3 6-150-16,-10 8-336 0</inkml:trace>
  <inkml:trace contextRef="#ctx0" brushRef="#br0" timeOffset="8016.05">7048 4416 466 0,'0'0'306'16,"0"0"-218"-16,0 0-72 15,0 0 56-15,0 0 117 16,0 0-14-16,0 0-70 16,2-30-69-16,-2 33 40 0,2 21-37 15,0 11 47 1,4 10-35-16,-2 12-19 0,2 6 2 15,-1 6 15-15,-1-1-2 16,3 3-19-16,0-8-15 16,-1 0 0-16,3-7 17 15,0-8-30-15,-2-4 0 16,0-10-1-16,-1-6 0 16,1-8-6-16,-3-6 6 15,1-6 0-15,-3-1 1 16,1-4-14-16,-3-1-14 15,0-2 27-15,0 2-12 16,0-2 4-16,0 0-11 16,-14 0 19-16,-6 0-9 15,-7-12 9-15,-2-5-7 0,-2-4 16 16,2 1-1-16,2 2 6 16,7 4 22-16,5 2-23 15,6 5 25-15,4 4-12 16,3-1 0-16,2 4-6 15,0 0-18-15,0 0-2 16,14 7-30-16,10 14 31 16,12 4 0-16,4 3 19 15,5-3-19-15,-1-5 7 16,-2-6-7-16,-6-8 0 16,-5-4-28-16,-11-2-162 15,-11-5-141-15,-9-6-711 0</inkml:trace>
  <inkml:trace contextRef="#ctx0" brushRef="#br0" timeOffset="9700.71">3457 8325 418 0,'0'0'258'0,"0"0"-197"15,0 0-2-15,0 0 58 16,0 0 71-16,0 0-4 16,0 0-55-16,-14-7-67 15,37-10-46-15,8-7 22 16,14-8 23-16,8-5 25 0,12-3-67 15,6-6 4 1,4-3 4-16,2-1 3 0,-4 1-24 16,-3 6-5-16,-12 4-1 15,-10 10 8-15,-10 6-23 16,-11 7 16-16,-7 6-2 16,-7 4 2-16,-5 2-1 15,-4 2 0-15,0-2 0 16,0 2 0-16,3-1 0 15,-1-2 0-15,2 1-10 16,-4 2-2-16,-2 2-35 16,0-1 1-16,-2 1-1 15,3-3 3-15,-3 3-17 16,0 0 0-16,0-4 5 16,2 0-26-16,-2-5 29 0,0-3-30 15,0-1 66 1,0-1-28-16,0-2 22 0,0 1 4 15,-5 1 19-15,-3-1-1 16,-4 3 1-16,-1 2 18 16,1 3-5-16,-1 6 92 15,3 1-19-15,-4 0-14 16,3 0-47-16,0 0 20 16,-1 0 1-16,6 8 15 15,2-3 2-15,4-5-9 16,0 0 23-16,0 0-59 15,8 0 8-15,10 0-25 16,4 0-1-16,9 0 1 16,4-7 8-16,-2 0-9 0,-2-2-2 15,-4 2 2-15,-10 6-3 16,-8 1-16-16,-4 0 8 16,-5 0 11-16,0 4 19 15,-7 11 24-15,-11 6-10 16,-2 3-6-16,0-2-27 15,0-4 0-15,4 0-12 16,3 0-115-16,-3 3-67 16,7 0-183-16,1-5-536 0</inkml:trace>
  <inkml:trace contextRef="#ctx0" brushRef="#br0" timeOffset="10687.22">3682 8777 614 0,'0'0'233'0,"0"0"-180"16,0 0-5-16,0 0 115 16,0 0 15-16,0 0-47 15,0 0-50-15,-47 34 56 16,47-34-18-16,0 0-18 0,5 0-35 15,8 0-32-15,14-6-28 16,13-10 8-16,13-3 11 16,12-8-10-16,7-4-15 15,1 1 20-15,-1 0-20 16,-6 2 1-16,-3 5-2 16,-9 2 2-16,-15 7-1 15,-7 6 0-15,-14 5 0 16,-10 3 8-16,-3 0-6 15,-3 0 22-15,-2 0-8 16,0 0-8-16,0 0-7 16,0 0-1-16,0 0-3 15,0 0-9-15,0 0-29 0,0 0-36 16,0-3-16-16,0-1-51 16,0-1 72-16,0-10-44 15,-2-2 11-15,-9-4 34 16,-1-4 9-16,-1 4 44 15,1 1 18-15,2 3 8 16,-1 5 9-16,1 0 53 16,6 7-20-16,0 1 58 15,1 2-5-15,3 2-4 16,0 0-45-16,0 0-21 16,0 0-17-16,0 2-10 15,5 12 10-15,9 0-6 16,3 4 21-16,6-2-25 0,1 1-4 15,5-5-1-15,0 1 8 16,-2-3-9-16,-5-1 0 16,-4-2 0-16,-5-3 2 15,-6-1-4-15,-7 2 8 16,0 1-6-16,0 4 21 16,-16 4 27-16,-11 6-18 15,-8 4-8-15,-5 3-20 16,-3-2-2-16,3-3-1 15,3 3-69-15,3-6-30 16,3 16-136-16,9-8-43 16,6 0-340-16</inkml:trace>
  <inkml:trace contextRef="#ctx0" brushRef="#br0" timeOffset="11686.32">3923 10569 679 0,'0'0'265'16,"0"0"-146"-16,0 0-16 16,0 0 79-16,0 0 32 15,0 0-29-15,0 0-71 16,22-9-62-16,16-22-24 0,13-13-10 16,16-11 10-16,9-15-15 15,2 1-13-15,-4 0 0 16,-7 11 0-16,-12 11 0 15,-13 14-1-15,-13 11 1 16,-10 8 0-16,-9 9 0 16,-7 2 3-16,-3 3-3 15,0 0 6-15,0 0-12 16,0 0 3-16,0 0 3 16,0 0-31-16,0 0-29 15,2 0-27-15,-2 0-11 16,0 0 30-16,0 0-57 15,0 0 49-15,0 0-17 0,0 0-11 16,0 0-41 0,0 0 14-16,0 0 1 0,0 0 21 15,0 0 34-15,0 0 36 16,0-2 33-16,0 0 12 16,0-2 9-16,-9-2-15 15,1-4-53-15,-2 0 53 16,3-2 45-16,-1 0 53 15,-2 2-98-15,2 0 68 16,-1-1-12-16,0 6 53 16,0 0 12-16,0 3 37 15,0 2-10-15,-2 0 6 16,-2 0-58-16,-1 0-23 16,1 9-11-16,0-1-21 0,3 0 43 15,6-4-59-15,4-2 26 16,0-2-20-16,2 0-31 15,19 0-2 1,12 0 2-16,7-12 1 0,7-2 5 16,1-3-6-16,-2 4 2 15,-13 1-24-15,-8 5 22 16,-12 7-2-16,-7 0-12 16,-1 0 14-16,-5 19 14 15,0 3 26-15,0 4-9 16,-9 0-29-16,-2 2-2 15,0-4-75-15,-1 12-41 16,2-8-178-16,1-1-292 0</inkml:trace>
  <inkml:trace contextRef="#ctx0" brushRef="#br0" timeOffset="12617.09">4340 11229 77 0,'0'0'755'0,"0"0"-602"16,0 0-110-16,0 0 48 16,0 0 89-16,0 0-26 15,0 0-21-15,-23 32-61 16,23-32 66-16,0 0-19 16,4 0-35-16,17 0-56 15,12-8 0-15,21-7-7 16,15-14 1-16,14-7-3 15,4-8-10-15,2-7-2 16,-5 2-6-16,-10 3-2 16,-7 6 1-16,-16 7-1 15,-15 11-18-15,-14 11 3 16,-11 5 1-16,-7 3 9 0,-4 3-7 16,0 0 2-16,0 0 4 15,0 0-34-15,0 0-4 16,0 0-20-16,-2 0 13 15,0 0-24-15,2 0-13 16,-2 0-3-16,2 0-17 16,-2 0 54-16,2 0-64 15,-3 0-14-15,1 0-16 16,0 0-49-16,0-8-48 16,0-1 27-16</inkml:trace>
  <inkml:trace contextRef="#ctx0" brushRef="#br0" timeOffset="12932.67">4984 10768 137 0,'0'0'595'0,"0"0"-479"15,0 0-24-15,0 0 112 16,0 0-48-16,0 0-19 16,0 0-57-16,-36 0 0 15,36 0-25-15,2 0-32 16,12 0-23-16,4 0 0 15,2 0-1-15,5 0 8 16,-2 0-20-16,2 0 13 16,-5 0-1-16,-4 0-12 15,-5 8 12-15,-4 9 1 0,-3 2 0 16,-2 8 28-16,-2 2 7 16,0 2 29-16,0-4-58 15,0 0 13-15,-4-4-19 16,0-2-11-16,4-3-81 15,0 4-95-15,0-4-137 16,2-4-316-16</inkml:trace>
  <inkml:trace contextRef="#ctx0" brushRef="#br0" timeOffset="13400.34">5064 12085 692 0,'0'0'192'0,"0"0"-148"15,0 0-17-15,0 0 93 16,0 0 33-16,0 0-61 15,0 0-56-15,25-7 10 16,-3-37-4-16,4-14 30 16,3-9-65-16,0-8-6 15,-2 2 0-15,-2-4 10 16,-2 6-9-16,-6 4 4 0,-1 11 4 16,-5 12-4-16,-3 14 32 15,-2 12-17-15,-6 10 76 16,0 6 9-16,0 2 0 15,0 0-32-15,0 0-12 16,-6 0-18-16,0 8-16 16,-3 1-28-16,1 4 18 15,2-1-32-15,2-5 14 16,2-2-22-16,2-3-56 16,0-2-61-16,0 0-67 15,4 0-21-15,14-18 5 0,1-4-128 16,-4-1-57-16</inkml:trace>
  <inkml:trace contextRef="#ctx0" brushRef="#br0" timeOffset="13752.18">5345 11305 310 0,'0'0'352'0,"0"0"-187"16,0 0-123-16,0 0 42 15,-116 71 33-15,89-47-12 16,0 3-48-16,6 2-9 15,-2 0 10-15,3-6 0 16,7-5 14-16,4-6-54 16,7-4 24-16,2-8-26 15,0 0-16-15,4 0-6 16,11-6-9-16,8-11 8 0,6-2 7 16,4-3 0-16,1 2 7 15,-1 2-14-15,-6 6 7 16,-7 3 0-16,-5 8-1 15,-3 1 1-15,-6 0 0 16,-1 14 61-16,-5 6 16 16,0 0-7-16,0 1 21 15,0-4-76-15,0-2 1 16,0-6-16-16,0-1-92 16,0-2-101-16,6-3-130 15,6-3-435-15</inkml:trace>
  <inkml:trace contextRef="#ctx0" brushRef="#br0" timeOffset="14617.97">6028 12008 671 0,'0'0'320'0,"0"0"-210"15,0 0-58-15,0 0 107 16,0 0 65-16,0 0-62 16,0 0-59-16,-6 0-65 15,18-32-10-15,3-14-3 16,1-12-25-16,1-5 0 16,0-3 4-16,-5-1-2 15,-2 6-2-15,-3 6 1 16,-3 9 0-16,-4 12-1 0,0 10 15 15,0 12 16 1,0 7-11-16,0 5 49 0,0 0-34 16,0 0-10-16,0 0-25 15,0 0 2-15,0 0-2 16,0 0 1-16,0 0-2 16,0 0 9-16,0 0-21 15,0 0 13-15,0 0 0 16,0 0-23-16,0 0-10 15,0 0-31-15,2 0 26 16,2 0 20-16,1-2 18 16,2-3-25-16,-3 0 36 15,-1 4-11-15,-3 1 1 16,0 0 14-16,0 0-3 16,0 0 18-16,-16 13-5 0,-4 8-16 15,-5 4-9 1,1 1 22-16,-1 3-4 0,6-7-17 15,5-4 8-15,5-6-8 16,7-8-1-16,2-2 0 16,0-2-11-16,0 0-1 15,11 0-28-15,11-12 28 16,7-10-27-16,7-4 27 16,4-2-1-16,0 0-40 15,-4 4 8-15,-5 8 36 16,-8 6 8-16,-8 5 1 15,-5 5-9-15,-4 0 21 16,-4 9 68-16,-2 9-45 16,0 2-7-16,0 0-22 15,0 0-6-15,0-2-31 0,0 0-54 16,0 10-106-16,0-5-116 16,0-3-339-16</inkml:trace>
  <inkml:trace contextRef="#ctx0" brushRef="#br0" timeOffset="15629.06">7266 11979 149 0,'0'0'712'0,"0"0"-525"15,0 0-128-15,0 0 94 16,0 0 11-16,0 0-13 15,0 0-72-15,18-61-49 16,-15 22-19-16,-1-7-11 16,-2-4 0-16,0-3 16 15,0-1-7-15,0 2 0 16,-5 6-6-16,-1 6 11 16,-1 10 10-16,0 10-16 15,5 10 19-15,-2 6 27 0,1 4-4 16,3 0 25-1,-2 0-74-15,2 0 29 0,-2 0-20 16,2 0 5-16,-2 11-14 16,0-2 10-16,2 1-9 15,-2-3-1-15,2 0-1 16,-3-5 9-16,3 0-17 16,-3-2 8-16,3 0-7 15,0 0-19-15,0 0 20 16,0 0-14-16,-2 0 5 15,2 0 3-15,-2 0 12 16,0 0-15-16,-2 0 2 16,-1 0 13-16,1 0 1 15,0 0 15-15,-1 0-5 16,-2 0 12-16,0 0-2 0,-3 8-12 16,-2 5-9-16,-3 4 12 15,-1 1 14-15,1 2-25 16,1 0 14-16,3-3-14 15,4-5 10-15,3-7-10 16,4-3 0-16,0-2-1 16,0 0-15-16,0 0 13 15,6-6-50-15,5-12 46 16,3-8-23-16,3-3 11 16,4-3-16-16,-1 0 12 15,0 9 3-15,-4 3 11 16,-1 6 6-16,-1 6 4 0,-3 4-2 15,-3 4 19-15,4 0 22 16,-1 0 3-16,-1 6-1 16,2 6-21-16,-3-1-10 15,3 0-12-15,-6-1-1 16,1-2-9-16,-3 0-103 16,-2 6-35-16,-2-2-195 15,0 0-336-15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9F788-784E-4E09-92EA-20215E9FF2BA}" type="datetimeFigureOut">
              <a:rPr lang="es-PE" smtClean="0"/>
              <a:t>22/09/2025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3BE8D-B355-451E-99E6-5A6BCE0CFE2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98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3BE8D-B355-451E-99E6-5A6BCE0CFE22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771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3BE8D-B355-451E-99E6-5A6BCE0CFE22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467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67411"/>
            <a:ext cx="108153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71214" y="2489072"/>
            <a:ext cx="544957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39" y="1153490"/>
            <a:ext cx="10815320" cy="2221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customXml" Target="../ink/ink1.xml"/><Relationship Id="rId4" Type="http://schemas.openxmlformats.org/officeDocument/2006/relationships/image" Target="../media/image24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1750" y="2684526"/>
            <a:ext cx="459930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500" spc="-40" dirty="0">
                <a:solidFill>
                  <a:srgbClr val="1F3863"/>
                </a:solidFill>
                <a:latin typeface="Calibri Light"/>
                <a:cs typeface="Calibri Light"/>
              </a:rPr>
              <a:t>Machine </a:t>
            </a:r>
            <a:r>
              <a:rPr lang="es-PE" sz="4500" spc="-40" dirty="0" err="1">
                <a:solidFill>
                  <a:srgbClr val="1F3863"/>
                </a:solidFill>
                <a:latin typeface="Calibri Light"/>
                <a:cs typeface="Calibri Light"/>
              </a:rPr>
              <a:t>Learning</a:t>
            </a:r>
            <a:endParaRPr sz="45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5318" y="4122418"/>
            <a:ext cx="3022865" cy="9323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7959" y="1609344"/>
            <a:ext cx="2847773" cy="241553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272283" y="3531108"/>
            <a:ext cx="5018405" cy="3810"/>
          </a:xfrm>
          <a:custGeom>
            <a:avLst/>
            <a:gdLst/>
            <a:ahLst/>
            <a:cxnLst/>
            <a:rect l="l" t="t" r="r" b="b"/>
            <a:pathLst>
              <a:path w="5018405" h="3810">
                <a:moveTo>
                  <a:pt x="0" y="0"/>
                </a:moveTo>
                <a:lnTo>
                  <a:pt x="5017897" y="3555"/>
                </a:lnTo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72283" y="2656332"/>
            <a:ext cx="5018405" cy="3810"/>
          </a:xfrm>
          <a:custGeom>
            <a:avLst/>
            <a:gdLst/>
            <a:ahLst/>
            <a:cxnLst/>
            <a:rect l="l" t="t" r="r" b="b"/>
            <a:pathLst>
              <a:path w="5018405" h="3810">
                <a:moveTo>
                  <a:pt x="0" y="0"/>
                </a:moveTo>
                <a:lnTo>
                  <a:pt x="5017897" y="3555"/>
                </a:lnTo>
              </a:path>
            </a:pathLst>
          </a:custGeom>
          <a:ln w="571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0013" y="1275969"/>
            <a:ext cx="1012380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989"/>
              </a:spcBef>
              <a:buChar char="•"/>
              <a:tabLst>
                <a:tab pos="241300" algn="l"/>
              </a:tabLst>
            </a:pPr>
            <a:r>
              <a:rPr lang="es-PE" sz="2400" spc="-5" dirty="0">
                <a:latin typeface="Arial MT"/>
                <a:cs typeface="Arial MT"/>
              </a:rPr>
              <a:t>Fundamentos de </a:t>
            </a:r>
            <a:r>
              <a:rPr sz="2400" spc="-5" dirty="0">
                <a:latin typeface="Arial MT"/>
                <a:cs typeface="Arial MT"/>
              </a:rPr>
              <a:t>Machine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Learning</a:t>
            </a:r>
            <a:endParaRPr sz="24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  <a:cs typeface="Arial MT"/>
              </a:rPr>
              <a:t>Aprendizaje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Supervisado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Aprendizaje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Supervisado</a:t>
            </a:r>
            <a:endParaRPr sz="24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  <a:cs typeface="Arial MT"/>
              </a:rPr>
              <a:t>Redes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Neuronales</a:t>
            </a:r>
            <a:endParaRPr sz="24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Python</a:t>
            </a:r>
            <a:r>
              <a:rPr sz="2400" spc="-5" dirty="0">
                <a:latin typeface="Arial MT"/>
                <a:cs typeface="Arial MT"/>
              </a:rPr>
              <a:t> para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Machine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Learning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(Tensor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Flow)</a:t>
            </a:r>
            <a:endParaRPr sz="24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  <a:cs typeface="Arial MT"/>
              </a:rPr>
              <a:t>Laboratorio: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Programación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“Hola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Mundo”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Aprendizaje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supervisado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67410"/>
            <a:ext cx="3992879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3900" spc="-35" dirty="0">
                <a:solidFill>
                  <a:srgbClr val="00639D"/>
                </a:solidFill>
              </a:rPr>
              <a:t>Machine </a:t>
            </a:r>
            <a:r>
              <a:rPr lang="es-PE" sz="3900" spc="-35" dirty="0" err="1">
                <a:solidFill>
                  <a:srgbClr val="00639D"/>
                </a:solidFill>
              </a:rPr>
              <a:t>Learning</a:t>
            </a:r>
            <a:endParaRPr sz="3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67410"/>
            <a:ext cx="47129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40" dirty="0">
                <a:solidFill>
                  <a:srgbClr val="00639D"/>
                </a:solidFill>
                <a:latin typeface="Calibri Light"/>
                <a:cs typeface="Calibri Light"/>
              </a:rPr>
              <a:t>Aprendizaje</a:t>
            </a:r>
            <a:r>
              <a:rPr sz="3900" spc="-125" dirty="0">
                <a:solidFill>
                  <a:srgbClr val="00639D"/>
                </a:solidFill>
                <a:latin typeface="Calibri Light"/>
                <a:cs typeface="Calibri Light"/>
              </a:rPr>
              <a:t> </a:t>
            </a:r>
            <a:r>
              <a:rPr sz="3900" spc="-45" dirty="0">
                <a:solidFill>
                  <a:srgbClr val="00639D"/>
                </a:solidFill>
                <a:latin typeface="Calibri Light"/>
                <a:cs typeface="Calibri Light"/>
              </a:rPr>
              <a:t>Automático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5571" y="1361947"/>
            <a:ext cx="90620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 1959, </a:t>
            </a:r>
            <a:r>
              <a:rPr sz="2400" dirty="0">
                <a:latin typeface="Arial MT"/>
                <a:cs typeface="Arial MT"/>
              </a:rPr>
              <a:t>Arthur </a:t>
            </a:r>
            <a:r>
              <a:rPr sz="2400" spc="-5" dirty="0">
                <a:latin typeface="Arial MT"/>
                <a:cs typeface="Arial MT"/>
              </a:rPr>
              <a:t>Samuel definió el aprendizaje automático como un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"campo de estudio que brinda a las computadoras la capacidad de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aprender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programadas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explícitamente".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39962" y="3052191"/>
            <a:ext cx="2588895" cy="2693670"/>
            <a:chOff x="2239962" y="3052191"/>
            <a:chExt cx="2588895" cy="26936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9424" y="3061716"/>
              <a:ext cx="2569464" cy="2674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44725" y="3056953"/>
              <a:ext cx="2579370" cy="2684145"/>
            </a:xfrm>
            <a:custGeom>
              <a:avLst/>
              <a:gdLst/>
              <a:ahLst/>
              <a:cxnLst/>
              <a:rect l="l" t="t" r="r" b="b"/>
              <a:pathLst>
                <a:path w="2579370" h="2684145">
                  <a:moveTo>
                    <a:pt x="0" y="2684144"/>
                  </a:moveTo>
                  <a:lnTo>
                    <a:pt x="2578989" y="2684144"/>
                  </a:lnTo>
                  <a:lnTo>
                    <a:pt x="2578989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952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211379" y="3052191"/>
            <a:ext cx="2721610" cy="2693670"/>
            <a:chOff x="6211379" y="3052191"/>
            <a:chExt cx="2721610" cy="26936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0967" y="3061716"/>
              <a:ext cx="2702051" cy="26746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16141" y="3056953"/>
              <a:ext cx="2712085" cy="2684145"/>
            </a:xfrm>
            <a:custGeom>
              <a:avLst/>
              <a:gdLst/>
              <a:ahLst/>
              <a:cxnLst/>
              <a:rect l="l" t="t" r="r" b="b"/>
              <a:pathLst>
                <a:path w="2712084" h="2684145">
                  <a:moveTo>
                    <a:pt x="0" y="2684144"/>
                  </a:moveTo>
                  <a:lnTo>
                    <a:pt x="2711577" y="2684144"/>
                  </a:lnTo>
                  <a:lnTo>
                    <a:pt x="2711577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952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67410"/>
            <a:ext cx="47129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40" dirty="0">
                <a:solidFill>
                  <a:srgbClr val="00639D"/>
                </a:solidFill>
              </a:rPr>
              <a:t>Aprendizaje</a:t>
            </a:r>
            <a:r>
              <a:rPr sz="3900" spc="-125" dirty="0">
                <a:solidFill>
                  <a:srgbClr val="00639D"/>
                </a:solidFill>
              </a:rPr>
              <a:t> </a:t>
            </a:r>
            <a:r>
              <a:rPr sz="3900" spc="-45" dirty="0">
                <a:solidFill>
                  <a:srgbClr val="00639D"/>
                </a:solidFill>
              </a:rPr>
              <a:t>Automático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688340" y="1251026"/>
            <a:ext cx="1054100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1F1F1F"/>
                </a:solidFill>
                <a:latin typeface="Arial MT"/>
                <a:cs typeface="Arial MT"/>
              </a:rPr>
              <a:t>Tom</a:t>
            </a:r>
            <a:r>
              <a:rPr sz="2400" spc="-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Mitchell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proporciona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una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definición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más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moderna: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"Se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dice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que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un </a:t>
            </a:r>
            <a:r>
              <a:rPr sz="2400" spc="-6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programa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computadora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aprende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1F1F1F"/>
                </a:solidFill>
                <a:latin typeface="Arial"/>
                <a:cs typeface="Arial"/>
              </a:rPr>
              <a:t>la</a:t>
            </a:r>
            <a:r>
              <a:rPr sz="2400" b="1" spc="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1F1F1F"/>
                </a:solidFill>
                <a:latin typeface="Arial"/>
                <a:cs typeface="Arial"/>
              </a:rPr>
              <a:t>experiencia</a:t>
            </a:r>
            <a:r>
              <a:rPr sz="2400" b="1" dirty="0">
                <a:solidFill>
                  <a:srgbClr val="1F1F1F"/>
                </a:solidFill>
                <a:latin typeface="Arial"/>
                <a:cs typeface="Arial"/>
              </a:rPr>
              <a:t> E</a:t>
            </a:r>
            <a:r>
              <a:rPr sz="2400" b="1" spc="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con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respecto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a </a:t>
            </a:r>
            <a:r>
              <a:rPr sz="2400" spc="-6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alguna</a:t>
            </a:r>
            <a:r>
              <a:rPr sz="2400" spc="2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clase</a:t>
            </a:r>
            <a:r>
              <a:rPr sz="2400" spc="2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spc="2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1F1F1F"/>
                </a:solidFill>
                <a:latin typeface="Arial"/>
                <a:cs typeface="Arial"/>
              </a:rPr>
              <a:t>tareas</a:t>
            </a:r>
            <a:r>
              <a:rPr sz="2400" b="1" spc="26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1F1F"/>
                </a:solidFill>
                <a:latin typeface="Arial"/>
                <a:cs typeface="Arial"/>
              </a:rPr>
              <a:t>T</a:t>
            </a:r>
            <a:r>
              <a:rPr sz="2400" b="1" spc="26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y</a:t>
            </a:r>
            <a:r>
              <a:rPr sz="2400" spc="2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medida</a:t>
            </a:r>
            <a:r>
              <a:rPr sz="2400" spc="2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spc="25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1F1F1F"/>
                </a:solidFill>
                <a:latin typeface="Arial"/>
                <a:cs typeface="Arial"/>
              </a:rPr>
              <a:t>desempeño</a:t>
            </a:r>
            <a:r>
              <a:rPr sz="2400" b="1" spc="254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1F1F1F"/>
                </a:solidFill>
                <a:latin typeface="Arial"/>
                <a:cs typeface="Arial"/>
              </a:rPr>
              <a:t>P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,</a:t>
            </a:r>
            <a:r>
              <a:rPr sz="2400" spc="2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si</a:t>
            </a:r>
            <a:r>
              <a:rPr sz="2400" spc="25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su</a:t>
            </a:r>
            <a:r>
              <a:rPr sz="2400" spc="2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desempeño</a:t>
            </a:r>
            <a:r>
              <a:rPr sz="2400" spc="2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F1F1F"/>
                </a:solidFill>
                <a:latin typeface="Arial MT"/>
                <a:cs typeface="Arial MT"/>
              </a:rPr>
              <a:t>en </a:t>
            </a:r>
            <a:r>
              <a:rPr sz="2400" spc="-6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las tareas de </a:t>
            </a:r>
            <a:r>
              <a:rPr sz="2400" spc="-135" dirty="0">
                <a:solidFill>
                  <a:srgbClr val="1F1F1F"/>
                </a:solidFill>
                <a:latin typeface="Arial MT"/>
                <a:cs typeface="Arial MT"/>
              </a:rPr>
              <a:t>T,</a:t>
            </a:r>
            <a:r>
              <a:rPr sz="2400" spc="3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medido por </a:t>
            </a:r>
            <a:r>
              <a:rPr sz="2400" spc="-160" dirty="0">
                <a:solidFill>
                  <a:srgbClr val="1F1F1F"/>
                </a:solidFill>
                <a:latin typeface="Arial MT"/>
                <a:cs typeface="Arial MT"/>
              </a:rPr>
              <a:t>P,</a:t>
            </a:r>
            <a:r>
              <a:rPr sz="2400" spc="3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mejora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con la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experiencia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E.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" </a:t>
            </a:r>
            <a:r>
              <a:rPr sz="2400" b="1" spc="-5" dirty="0">
                <a:solidFill>
                  <a:srgbClr val="1F1F1F"/>
                </a:solidFill>
                <a:latin typeface="Arial"/>
                <a:cs typeface="Arial"/>
              </a:rPr>
              <a:t>Ejemplo: jugar </a:t>
            </a:r>
            <a:r>
              <a:rPr sz="2400" b="1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1F1F1F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1F1F1F"/>
                </a:solidFill>
                <a:latin typeface="Arial"/>
                <a:cs typeface="Arial"/>
              </a:rPr>
              <a:t>las</a:t>
            </a:r>
            <a:r>
              <a:rPr sz="2400" b="1" spc="-5" dirty="0">
                <a:solidFill>
                  <a:srgbClr val="1F1F1F"/>
                </a:solidFill>
                <a:latin typeface="Arial"/>
                <a:cs typeface="Arial"/>
              </a:rPr>
              <a:t> damas.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E =</a:t>
            </a:r>
            <a:r>
              <a:rPr sz="24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la</a:t>
            </a:r>
            <a:r>
              <a:rPr sz="24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experiencia</a:t>
            </a:r>
            <a:r>
              <a:rPr sz="24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jugar</a:t>
            </a:r>
            <a:r>
              <a:rPr sz="24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muchos</a:t>
            </a:r>
            <a:r>
              <a:rPr sz="24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juegos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damas</a:t>
            </a:r>
            <a:endParaRPr sz="24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T</a:t>
            </a:r>
            <a:r>
              <a:rPr sz="2400" spc="-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=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 la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tarea</a:t>
            </a:r>
            <a:r>
              <a:rPr sz="24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 jugar</a:t>
            </a:r>
            <a:r>
              <a:rPr sz="24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a las</a:t>
            </a:r>
            <a:r>
              <a:rPr sz="24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damas.</a:t>
            </a:r>
            <a:endParaRPr sz="24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P</a:t>
            </a:r>
            <a:r>
              <a:rPr sz="24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=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la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probabilidad</a:t>
            </a:r>
            <a:r>
              <a:rPr sz="24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que</a:t>
            </a:r>
            <a:r>
              <a:rPr sz="24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el</a:t>
            </a:r>
            <a:r>
              <a:rPr sz="24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programa</a:t>
            </a:r>
            <a:r>
              <a:rPr sz="2400" spc="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gane</a:t>
            </a:r>
            <a:r>
              <a:rPr sz="24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el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próximo</a:t>
            </a:r>
            <a:r>
              <a:rPr sz="2400" spc="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juego.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 marR="762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En</a:t>
            </a:r>
            <a:r>
              <a:rPr sz="2400" spc="1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general,</a:t>
            </a:r>
            <a:r>
              <a:rPr sz="2400" spc="1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cualquier</a:t>
            </a:r>
            <a:r>
              <a:rPr sz="2400" spc="1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problema</a:t>
            </a:r>
            <a:r>
              <a:rPr sz="2400" spc="1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400" spc="1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aprendizaje</a:t>
            </a:r>
            <a:r>
              <a:rPr sz="2400" spc="1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automático</a:t>
            </a:r>
            <a:r>
              <a:rPr sz="2400" spc="1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se</a:t>
            </a:r>
            <a:r>
              <a:rPr sz="2400" spc="1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puede</a:t>
            </a:r>
            <a:r>
              <a:rPr sz="2400" spc="1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asignar </a:t>
            </a:r>
            <a:r>
              <a:rPr sz="2400" spc="-6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a una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de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las dos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clasificaciones: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Aprendizaje supervisado </a:t>
            </a:r>
            <a:r>
              <a:rPr sz="2400" dirty="0">
                <a:solidFill>
                  <a:srgbClr val="1F1F1F"/>
                </a:solidFill>
                <a:latin typeface="Arial MT"/>
                <a:cs typeface="Arial MT"/>
              </a:rPr>
              <a:t>y aprendizaje </a:t>
            </a:r>
            <a:r>
              <a:rPr sz="2400" spc="-10" dirty="0">
                <a:solidFill>
                  <a:srgbClr val="1F1F1F"/>
                </a:solidFill>
                <a:latin typeface="Arial MT"/>
                <a:cs typeface="Arial MT"/>
              </a:rPr>
              <a:t>no </a:t>
            </a:r>
            <a:r>
              <a:rPr sz="2400" spc="-5" dirty="0">
                <a:solidFill>
                  <a:srgbClr val="1F1F1F"/>
                </a:solidFill>
                <a:latin typeface="Arial MT"/>
                <a:cs typeface="Arial MT"/>
              </a:rPr>
              <a:t> supervisado.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10195"/>
            <a:ext cx="5886450" cy="17824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Aprender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datos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programación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explícita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Descubrimiento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patrones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ocultos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70" dirty="0">
                <a:latin typeface="Arial MT"/>
                <a:cs typeface="Arial MT"/>
              </a:rPr>
              <a:t>Toma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 </a:t>
            </a:r>
            <a:r>
              <a:rPr sz="2400" spc="-5" dirty="0">
                <a:latin typeface="Arial MT"/>
                <a:cs typeface="Arial MT"/>
              </a:rPr>
              <a:t>decisiones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basada en los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datos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439877"/>
            <a:ext cx="4712335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40" dirty="0">
                <a:solidFill>
                  <a:srgbClr val="00639D"/>
                </a:solidFill>
              </a:rPr>
              <a:t>Aprendizaje</a:t>
            </a:r>
            <a:r>
              <a:rPr sz="3900" spc="-130" dirty="0">
                <a:solidFill>
                  <a:srgbClr val="00639D"/>
                </a:solidFill>
              </a:rPr>
              <a:t> </a:t>
            </a:r>
            <a:r>
              <a:rPr sz="3900" spc="-45" dirty="0">
                <a:solidFill>
                  <a:srgbClr val="00639D"/>
                </a:solidFill>
              </a:rPr>
              <a:t>Automático</a:t>
            </a:r>
            <a:endParaRPr sz="3900"/>
          </a:p>
        </p:txBody>
      </p:sp>
      <p:grpSp>
        <p:nvGrpSpPr>
          <p:cNvPr id="5" name="object 5"/>
          <p:cNvGrpSpPr/>
          <p:nvPr/>
        </p:nvGrpSpPr>
        <p:grpSpPr>
          <a:xfrm>
            <a:off x="8303831" y="1485455"/>
            <a:ext cx="2289810" cy="2864485"/>
            <a:chOff x="8303831" y="1485455"/>
            <a:chExt cx="2289810" cy="28644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3419" y="1495043"/>
              <a:ext cx="2270760" cy="28453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08593" y="1490217"/>
              <a:ext cx="2280285" cy="2854960"/>
            </a:xfrm>
            <a:custGeom>
              <a:avLst/>
              <a:gdLst/>
              <a:ahLst/>
              <a:cxnLst/>
              <a:rect l="l" t="t" r="r" b="b"/>
              <a:pathLst>
                <a:path w="2280284" h="2854960">
                  <a:moveTo>
                    <a:pt x="0" y="2854832"/>
                  </a:moveTo>
                  <a:lnTo>
                    <a:pt x="2280284" y="2854832"/>
                  </a:lnTo>
                  <a:lnTo>
                    <a:pt x="2280284" y="0"/>
                  </a:lnTo>
                  <a:lnTo>
                    <a:pt x="0" y="0"/>
                  </a:lnTo>
                  <a:lnTo>
                    <a:pt x="0" y="285483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67410"/>
            <a:ext cx="102139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45" dirty="0">
                <a:solidFill>
                  <a:srgbClr val="00639D"/>
                </a:solidFill>
              </a:rPr>
              <a:t>Programación</a:t>
            </a:r>
            <a:r>
              <a:rPr sz="3900" spc="-95" dirty="0">
                <a:solidFill>
                  <a:srgbClr val="00639D"/>
                </a:solidFill>
              </a:rPr>
              <a:t> </a:t>
            </a:r>
            <a:r>
              <a:rPr sz="3900" spc="-35" dirty="0">
                <a:solidFill>
                  <a:srgbClr val="00639D"/>
                </a:solidFill>
              </a:rPr>
              <a:t>tradicional</a:t>
            </a:r>
            <a:r>
              <a:rPr sz="3900" spc="-70" dirty="0">
                <a:solidFill>
                  <a:srgbClr val="00639D"/>
                </a:solidFill>
              </a:rPr>
              <a:t> </a:t>
            </a:r>
            <a:r>
              <a:rPr sz="3900" spc="-25" dirty="0">
                <a:solidFill>
                  <a:srgbClr val="00639D"/>
                </a:solidFill>
              </a:rPr>
              <a:t>vs</a:t>
            </a:r>
            <a:r>
              <a:rPr sz="3900" spc="-40" dirty="0">
                <a:solidFill>
                  <a:srgbClr val="00639D"/>
                </a:solidFill>
              </a:rPr>
              <a:t> Aprendizaje</a:t>
            </a:r>
            <a:r>
              <a:rPr sz="3900" spc="-90" dirty="0">
                <a:solidFill>
                  <a:srgbClr val="00639D"/>
                </a:solidFill>
              </a:rPr>
              <a:t> </a:t>
            </a:r>
            <a:r>
              <a:rPr sz="3900" spc="-40" dirty="0">
                <a:solidFill>
                  <a:srgbClr val="00639D"/>
                </a:solidFill>
              </a:rPr>
              <a:t>Automático</a:t>
            </a:r>
            <a:endParaRPr sz="3900"/>
          </a:p>
        </p:txBody>
      </p:sp>
      <p:sp>
        <p:nvSpPr>
          <p:cNvPr id="4" name="object 4"/>
          <p:cNvSpPr/>
          <p:nvPr/>
        </p:nvSpPr>
        <p:spPr>
          <a:xfrm>
            <a:off x="1584197" y="2285238"/>
            <a:ext cx="5473065" cy="1329055"/>
          </a:xfrm>
          <a:custGeom>
            <a:avLst/>
            <a:gdLst/>
            <a:ahLst/>
            <a:cxnLst/>
            <a:rect l="l" t="t" r="r" b="b"/>
            <a:pathLst>
              <a:path w="5473065" h="1329054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89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7" y="62737"/>
                </a:lnTo>
                <a:lnTo>
                  <a:pt x="1824227" y="313689"/>
                </a:lnTo>
                <a:lnTo>
                  <a:pt x="1819300" y="338119"/>
                </a:lnTo>
                <a:lnTo>
                  <a:pt x="1805860" y="358060"/>
                </a:lnTo>
                <a:lnTo>
                  <a:pt x="1785919" y="371500"/>
                </a:lnTo>
                <a:lnTo>
                  <a:pt x="1761489" y="376427"/>
                </a:lnTo>
                <a:lnTo>
                  <a:pt x="62738" y="376427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  <a:path w="5473065" h="1329054">
                <a:moveTo>
                  <a:pt x="3072384" y="554482"/>
                </a:moveTo>
                <a:lnTo>
                  <a:pt x="3080142" y="516004"/>
                </a:lnTo>
                <a:lnTo>
                  <a:pt x="3101308" y="484600"/>
                </a:lnTo>
                <a:lnTo>
                  <a:pt x="3132712" y="463434"/>
                </a:lnTo>
                <a:lnTo>
                  <a:pt x="3171190" y="455675"/>
                </a:lnTo>
                <a:lnTo>
                  <a:pt x="5373878" y="455675"/>
                </a:lnTo>
                <a:lnTo>
                  <a:pt x="5412355" y="463434"/>
                </a:lnTo>
                <a:lnTo>
                  <a:pt x="5443759" y="484600"/>
                </a:lnTo>
                <a:lnTo>
                  <a:pt x="5464925" y="516004"/>
                </a:lnTo>
                <a:lnTo>
                  <a:pt x="5472683" y="554482"/>
                </a:lnTo>
                <a:lnTo>
                  <a:pt x="5472683" y="949706"/>
                </a:lnTo>
                <a:lnTo>
                  <a:pt x="5464925" y="988183"/>
                </a:lnTo>
                <a:lnTo>
                  <a:pt x="5443759" y="1019587"/>
                </a:lnTo>
                <a:lnTo>
                  <a:pt x="5412355" y="1040753"/>
                </a:lnTo>
                <a:lnTo>
                  <a:pt x="5373878" y="1048512"/>
                </a:lnTo>
                <a:lnTo>
                  <a:pt x="3171190" y="1048512"/>
                </a:lnTo>
                <a:lnTo>
                  <a:pt x="3132712" y="1040753"/>
                </a:lnTo>
                <a:lnTo>
                  <a:pt x="3101308" y="1019587"/>
                </a:lnTo>
                <a:lnTo>
                  <a:pt x="3080142" y="988183"/>
                </a:lnTo>
                <a:lnTo>
                  <a:pt x="3072384" y="949706"/>
                </a:lnTo>
                <a:lnTo>
                  <a:pt x="3072384" y="554482"/>
                </a:lnTo>
                <a:close/>
              </a:path>
              <a:path w="5473065" h="1329054">
                <a:moveTo>
                  <a:pt x="0" y="1015238"/>
                </a:moveTo>
                <a:lnTo>
                  <a:pt x="4927" y="990808"/>
                </a:lnTo>
                <a:lnTo>
                  <a:pt x="18367" y="970867"/>
                </a:lnTo>
                <a:lnTo>
                  <a:pt x="38308" y="957427"/>
                </a:lnTo>
                <a:lnTo>
                  <a:pt x="62738" y="952500"/>
                </a:lnTo>
                <a:lnTo>
                  <a:pt x="1761489" y="952500"/>
                </a:lnTo>
                <a:lnTo>
                  <a:pt x="1785919" y="957427"/>
                </a:lnTo>
                <a:lnTo>
                  <a:pt x="1805860" y="970867"/>
                </a:lnTo>
                <a:lnTo>
                  <a:pt x="1819300" y="990808"/>
                </a:lnTo>
                <a:lnTo>
                  <a:pt x="1824227" y="1015238"/>
                </a:lnTo>
                <a:lnTo>
                  <a:pt x="1824227" y="1266189"/>
                </a:lnTo>
                <a:lnTo>
                  <a:pt x="1819300" y="1290619"/>
                </a:lnTo>
                <a:lnTo>
                  <a:pt x="1805860" y="1310560"/>
                </a:lnTo>
                <a:lnTo>
                  <a:pt x="1785919" y="1324000"/>
                </a:lnTo>
                <a:lnTo>
                  <a:pt x="1761489" y="1328928"/>
                </a:lnTo>
                <a:lnTo>
                  <a:pt x="62738" y="1328928"/>
                </a:lnTo>
                <a:lnTo>
                  <a:pt x="38308" y="1324000"/>
                </a:lnTo>
                <a:lnTo>
                  <a:pt x="18367" y="1310560"/>
                </a:lnTo>
                <a:lnTo>
                  <a:pt x="4927" y="1290619"/>
                </a:lnTo>
                <a:lnTo>
                  <a:pt x="0" y="1266189"/>
                </a:lnTo>
                <a:lnTo>
                  <a:pt x="0" y="1015238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84197" y="4978146"/>
            <a:ext cx="1824355" cy="1228725"/>
          </a:xfrm>
          <a:custGeom>
            <a:avLst/>
            <a:gdLst/>
            <a:ahLst/>
            <a:cxnLst/>
            <a:rect l="l" t="t" r="r" b="b"/>
            <a:pathLst>
              <a:path w="1824354" h="1228725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89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7" y="62737"/>
                </a:lnTo>
                <a:lnTo>
                  <a:pt x="1824227" y="313689"/>
                </a:lnTo>
                <a:lnTo>
                  <a:pt x="1819300" y="338119"/>
                </a:lnTo>
                <a:lnTo>
                  <a:pt x="1805860" y="358060"/>
                </a:lnTo>
                <a:lnTo>
                  <a:pt x="1785919" y="371500"/>
                </a:lnTo>
                <a:lnTo>
                  <a:pt x="1761489" y="376427"/>
                </a:lnTo>
                <a:lnTo>
                  <a:pt x="62738" y="376427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  <a:path w="1824354" h="1228725">
                <a:moveTo>
                  <a:pt x="0" y="914653"/>
                </a:moveTo>
                <a:lnTo>
                  <a:pt x="4927" y="890235"/>
                </a:lnTo>
                <a:lnTo>
                  <a:pt x="18367" y="870292"/>
                </a:lnTo>
                <a:lnTo>
                  <a:pt x="38308" y="856846"/>
                </a:lnTo>
                <a:lnTo>
                  <a:pt x="62738" y="851915"/>
                </a:lnTo>
                <a:lnTo>
                  <a:pt x="1761489" y="851915"/>
                </a:lnTo>
                <a:lnTo>
                  <a:pt x="1785919" y="856846"/>
                </a:lnTo>
                <a:lnTo>
                  <a:pt x="1805860" y="870292"/>
                </a:lnTo>
                <a:lnTo>
                  <a:pt x="1819300" y="890235"/>
                </a:lnTo>
                <a:lnTo>
                  <a:pt x="1824227" y="914653"/>
                </a:lnTo>
                <a:lnTo>
                  <a:pt x="1824227" y="1165605"/>
                </a:lnTo>
                <a:lnTo>
                  <a:pt x="1819300" y="1190024"/>
                </a:lnTo>
                <a:lnTo>
                  <a:pt x="1805860" y="1209967"/>
                </a:lnTo>
                <a:lnTo>
                  <a:pt x="1785919" y="1223413"/>
                </a:lnTo>
                <a:lnTo>
                  <a:pt x="1761489" y="1228343"/>
                </a:lnTo>
                <a:lnTo>
                  <a:pt x="62738" y="1228343"/>
                </a:lnTo>
                <a:lnTo>
                  <a:pt x="38308" y="1223413"/>
                </a:lnTo>
                <a:lnTo>
                  <a:pt x="18367" y="1209967"/>
                </a:lnTo>
                <a:lnTo>
                  <a:pt x="4927" y="1190024"/>
                </a:lnTo>
                <a:lnTo>
                  <a:pt x="0" y="1165605"/>
                </a:lnTo>
                <a:lnTo>
                  <a:pt x="0" y="914653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68804" y="5803493"/>
            <a:ext cx="1255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Resultado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4528" y="2822194"/>
            <a:ext cx="1724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Compu</a:t>
            </a:r>
            <a:r>
              <a:rPr sz="2400" spc="-2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ado</a:t>
            </a:r>
            <a:r>
              <a:rPr sz="2400" spc="-5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6582" y="5362194"/>
            <a:ext cx="2400300" cy="593090"/>
          </a:xfrm>
          <a:custGeom>
            <a:avLst/>
            <a:gdLst/>
            <a:ahLst/>
            <a:cxnLst/>
            <a:rect l="l" t="t" r="r" b="b"/>
            <a:pathLst>
              <a:path w="2400300" h="593089">
                <a:moveTo>
                  <a:pt x="0" y="98805"/>
                </a:moveTo>
                <a:lnTo>
                  <a:pt x="7758" y="60328"/>
                </a:lnTo>
                <a:lnTo>
                  <a:pt x="28924" y="28924"/>
                </a:lnTo>
                <a:lnTo>
                  <a:pt x="60328" y="7758"/>
                </a:lnTo>
                <a:lnTo>
                  <a:pt x="98805" y="0"/>
                </a:lnTo>
                <a:lnTo>
                  <a:pt x="2301493" y="0"/>
                </a:lnTo>
                <a:lnTo>
                  <a:pt x="2339971" y="7758"/>
                </a:lnTo>
                <a:lnTo>
                  <a:pt x="2371375" y="28924"/>
                </a:lnTo>
                <a:lnTo>
                  <a:pt x="2392541" y="60328"/>
                </a:lnTo>
                <a:lnTo>
                  <a:pt x="2400299" y="98805"/>
                </a:lnTo>
                <a:lnTo>
                  <a:pt x="2400299" y="494029"/>
                </a:lnTo>
                <a:lnTo>
                  <a:pt x="2392541" y="532490"/>
                </a:lnTo>
                <a:lnTo>
                  <a:pt x="2371375" y="563897"/>
                </a:lnTo>
                <a:lnTo>
                  <a:pt x="2339971" y="585071"/>
                </a:lnTo>
                <a:lnTo>
                  <a:pt x="2301493" y="592835"/>
                </a:lnTo>
                <a:lnTo>
                  <a:pt x="98805" y="592835"/>
                </a:lnTo>
                <a:lnTo>
                  <a:pt x="60328" y="585071"/>
                </a:lnTo>
                <a:lnTo>
                  <a:pt x="28924" y="563897"/>
                </a:lnTo>
                <a:lnTo>
                  <a:pt x="7758" y="532490"/>
                </a:lnTo>
                <a:lnTo>
                  <a:pt x="0" y="494029"/>
                </a:lnTo>
                <a:lnTo>
                  <a:pt x="0" y="98805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94528" y="5443524"/>
            <a:ext cx="1724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Compu</a:t>
            </a:r>
            <a:r>
              <a:rPr sz="2400" spc="-2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ado</a:t>
            </a:r>
            <a:r>
              <a:rPr sz="2400" spc="-5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97061" y="2853689"/>
            <a:ext cx="1824355" cy="376555"/>
          </a:xfrm>
          <a:custGeom>
            <a:avLst/>
            <a:gdLst/>
            <a:ahLst/>
            <a:cxnLst/>
            <a:rect l="l" t="t" r="r" b="b"/>
            <a:pathLst>
              <a:path w="1824354" h="376555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90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8" y="62737"/>
                </a:lnTo>
                <a:lnTo>
                  <a:pt x="1824228" y="313689"/>
                </a:lnTo>
                <a:lnTo>
                  <a:pt x="1819300" y="338119"/>
                </a:lnTo>
                <a:lnTo>
                  <a:pt x="1805860" y="358060"/>
                </a:lnTo>
                <a:lnTo>
                  <a:pt x="1785919" y="371500"/>
                </a:lnTo>
                <a:lnTo>
                  <a:pt x="1761490" y="376427"/>
                </a:lnTo>
                <a:lnTo>
                  <a:pt x="62738" y="376427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82557" y="2826511"/>
            <a:ext cx="1255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Resultado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97061" y="5474970"/>
            <a:ext cx="1824355" cy="376555"/>
          </a:xfrm>
          <a:custGeom>
            <a:avLst/>
            <a:gdLst/>
            <a:ahLst/>
            <a:cxnLst/>
            <a:rect l="l" t="t" r="r" b="b"/>
            <a:pathLst>
              <a:path w="1824354" h="376554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90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8" y="62737"/>
                </a:lnTo>
                <a:lnTo>
                  <a:pt x="1824228" y="313689"/>
                </a:lnTo>
                <a:lnTo>
                  <a:pt x="1819300" y="338108"/>
                </a:lnTo>
                <a:lnTo>
                  <a:pt x="1805860" y="358051"/>
                </a:lnTo>
                <a:lnTo>
                  <a:pt x="1785919" y="371497"/>
                </a:lnTo>
                <a:lnTo>
                  <a:pt x="1761490" y="376427"/>
                </a:lnTo>
                <a:lnTo>
                  <a:pt x="62738" y="376427"/>
                </a:lnTo>
                <a:lnTo>
                  <a:pt x="38308" y="371497"/>
                </a:lnTo>
                <a:lnTo>
                  <a:pt x="18367" y="358051"/>
                </a:lnTo>
                <a:lnTo>
                  <a:pt x="4927" y="338108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</a:pathLst>
          </a:custGeom>
          <a:ln w="28574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000490" y="5447487"/>
            <a:ext cx="818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eglas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04489" y="2464053"/>
            <a:ext cx="5092700" cy="972185"/>
          </a:xfrm>
          <a:custGeom>
            <a:avLst/>
            <a:gdLst/>
            <a:ahLst/>
            <a:cxnLst/>
            <a:rect l="l" t="t" r="r" b="b"/>
            <a:pathLst>
              <a:path w="5092700" h="972185">
                <a:moveTo>
                  <a:pt x="1252093" y="573024"/>
                </a:moveTo>
                <a:lnTo>
                  <a:pt x="1236853" y="551586"/>
                </a:lnTo>
                <a:lnTo>
                  <a:pt x="1236853" y="588772"/>
                </a:lnTo>
                <a:lnTo>
                  <a:pt x="1232611" y="575043"/>
                </a:lnTo>
                <a:lnTo>
                  <a:pt x="1236853" y="588772"/>
                </a:lnTo>
                <a:lnTo>
                  <a:pt x="1236853" y="551586"/>
                </a:lnTo>
                <a:lnTo>
                  <a:pt x="1191514" y="487807"/>
                </a:lnTo>
                <a:lnTo>
                  <a:pt x="1188466" y="483616"/>
                </a:lnTo>
                <a:lnTo>
                  <a:pt x="1182497" y="482600"/>
                </a:lnTo>
                <a:lnTo>
                  <a:pt x="1178306" y="485648"/>
                </a:lnTo>
                <a:lnTo>
                  <a:pt x="1173988" y="488696"/>
                </a:lnTo>
                <a:lnTo>
                  <a:pt x="1172972" y="494538"/>
                </a:lnTo>
                <a:lnTo>
                  <a:pt x="1206728" y="542112"/>
                </a:lnTo>
                <a:lnTo>
                  <a:pt x="7874" y="0"/>
                </a:lnTo>
                <a:lnTo>
                  <a:pt x="0" y="17272"/>
                </a:lnTo>
                <a:lnTo>
                  <a:pt x="1198905" y="559409"/>
                </a:lnTo>
                <a:lnTo>
                  <a:pt x="1191780" y="560146"/>
                </a:lnTo>
                <a:lnTo>
                  <a:pt x="1145159" y="549402"/>
                </a:lnTo>
                <a:lnTo>
                  <a:pt x="1139952" y="552577"/>
                </a:lnTo>
                <a:lnTo>
                  <a:pt x="1138809" y="557657"/>
                </a:lnTo>
                <a:lnTo>
                  <a:pt x="1137666" y="562864"/>
                </a:lnTo>
                <a:lnTo>
                  <a:pt x="1139990" y="566610"/>
                </a:lnTo>
                <a:lnTo>
                  <a:pt x="1137158" y="570103"/>
                </a:lnTo>
                <a:lnTo>
                  <a:pt x="1138174" y="580644"/>
                </a:lnTo>
                <a:lnTo>
                  <a:pt x="1142873" y="584327"/>
                </a:lnTo>
                <a:lnTo>
                  <a:pt x="1190586" y="579399"/>
                </a:lnTo>
                <a:lnTo>
                  <a:pt x="1197762" y="581037"/>
                </a:lnTo>
                <a:lnTo>
                  <a:pt x="1143" y="953516"/>
                </a:lnTo>
                <a:lnTo>
                  <a:pt x="6731" y="971677"/>
                </a:lnTo>
                <a:lnTo>
                  <a:pt x="1203312" y="599211"/>
                </a:lnTo>
                <a:lnTo>
                  <a:pt x="1167511" y="638302"/>
                </a:lnTo>
                <a:lnTo>
                  <a:pt x="1163955" y="642239"/>
                </a:lnTo>
                <a:lnTo>
                  <a:pt x="1164209" y="648208"/>
                </a:lnTo>
                <a:lnTo>
                  <a:pt x="1168146" y="651764"/>
                </a:lnTo>
                <a:lnTo>
                  <a:pt x="1171956" y="655320"/>
                </a:lnTo>
                <a:lnTo>
                  <a:pt x="1178052" y="655066"/>
                </a:lnTo>
                <a:lnTo>
                  <a:pt x="1181608" y="651129"/>
                </a:lnTo>
                <a:lnTo>
                  <a:pt x="1252093" y="574040"/>
                </a:lnTo>
                <a:lnTo>
                  <a:pt x="1249045" y="573341"/>
                </a:lnTo>
                <a:lnTo>
                  <a:pt x="1252093" y="573024"/>
                </a:lnTo>
                <a:close/>
              </a:path>
              <a:path w="5092700" h="972185">
                <a:moveTo>
                  <a:pt x="5092573" y="578485"/>
                </a:moveTo>
                <a:lnTo>
                  <a:pt x="5002403" y="525526"/>
                </a:lnTo>
                <a:lnTo>
                  <a:pt x="4997958" y="522859"/>
                </a:lnTo>
                <a:lnTo>
                  <a:pt x="4992116" y="524383"/>
                </a:lnTo>
                <a:lnTo>
                  <a:pt x="4986782" y="533527"/>
                </a:lnTo>
                <a:lnTo>
                  <a:pt x="4988306" y="539369"/>
                </a:lnTo>
                <a:lnTo>
                  <a:pt x="4992751" y="542036"/>
                </a:lnTo>
                <a:lnTo>
                  <a:pt x="5038509" y="568858"/>
                </a:lnTo>
                <a:lnTo>
                  <a:pt x="3652393" y="564515"/>
                </a:lnTo>
                <a:lnTo>
                  <a:pt x="3652393" y="583565"/>
                </a:lnTo>
                <a:lnTo>
                  <a:pt x="5038433" y="587908"/>
                </a:lnTo>
                <a:lnTo>
                  <a:pt x="4988052" y="617093"/>
                </a:lnTo>
                <a:lnTo>
                  <a:pt x="4986528" y="622935"/>
                </a:lnTo>
                <a:lnTo>
                  <a:pt x="4989068" y="627507"/>
                </a:lnTo>
                <a:lnTo>
                  <a:pt x="4991735" y="631952"/>
                </a:lnTo>
                <a:lnTo>
                  <a:pt x="4997577" y="633603"/>
                </a:lnTo>
                <a:lnTo>
                  <a:pt x="5076152" y="588010"/>
                </a:lnTo>
                <a:lnTo>
                  <a:pt x="5092573" y="57848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04997" y="5158232"/>
            <a:ext cx="5092065" cy="897255"/>
          </a:xfrm>
          <a:custGeom>
            <a:avLst/>
            <a:gdLst/>
            <a:ahLst/>
            <a:cxnLst/>
            <a:rect l="l" t="t" r="r" b="b"/>
            <a:pathLst>
              <a:path w="5092065" h="897254">
                <a:moveTo>
                  <a:pt x="1251585" y="499605"/>
                </a:moveTo>
                <a:lnTo>
                  <a:pt x="1250607" y="499389"/>
                </a:lnTo>
                <a:lnTo>
                  <a:pt x="1237488" y="482714"/>
                </a:lnTo>
                <a:lnTo>
                  <a:pt x="1237488" y="484835"/>
                </a:lnTo>
                <a:lnTo>
                  <a:pt x="1233322" y="495401"/>
                </a:lnTo>
                <a:lnTo>
                  <a:pt x="1237488" y="484835"/>
                </a:lnTo>
                <a:lnTo>
                  <a:pt x="1237488" y="482714"/>
                </a:lnTo>
                <a:lnTo>
                  <a:pt x="1186942" y="418465"/>
                </a:lnTo>
                <a:lnTo>
                  <a:pt x="1183640" y="414401"/>
                </a:lnTo>
                <a:lnTo>
                  <a:pt x="1177671" y="413639"/>
                </a:lnTo>
                <a:lnTo>
                  <a:pt x="1169416" y="420116"/>
                </a:lnTo>
                <a:lnTo>
                  <a:pt x="1168654" y="426212"/>
                </a:lnTo>
                <a:lnTo>
                  <a:pt x="1171956" y="430301"/>
                </a:lnTo>
                <a:lnTo>
                  <a:pt x="1204772" y="471957"/>
                </a:lnTo>
                <a:lnTo>
                  <a:pt x="6858" y="0"/>
                </a:lnTo>
                <a:lnTo>
                  <a:pt x="0" y="17780"/>
                </a:lnTo>
                <a:lnTo>
                  <a:pt x="1182725" y="483743"/>
                </a:lnTo>
                <a:lnTo>
                  <a:pt x="1144651" y="474967"/>
                </a:lnTo>
                <a:lnTo>
                  <a:pt x="1139444" y="478167"/>
                </a:lnTo>
                <a:lnTo>
                  <a:pt x="1137158" y="488416"/>
                </a:lnTo>
                <a:lnTo>
                  <a:pt x="1140333" y="493534"/>
                </a:lnTo>
                <a:lnTo>
                  <a:pt x="1153198" y="496506"/>
                </a:lnTo>
                <a:lnTo>
                  <a:pt x="1140206" y="498500"/>
                </a:lnTo>
                <a:lnTo>
                  <a:pt x="1136650" y="503364"/>
                </a:lnTo>
                <a:lnTo>
                  <a:pt x="1138174" y="513765"/>
                </a:lnTo>
                <a:lnTo>
                  <a:pt x="1143127" y="517334"/>
                </a:lnTo>
                <a:lnTo>
                  <a:pt x="1181798" y="511378"/>
                </a:lnTo>
                <a:lnTo>
                  <a:pt x="635" y="879055"/>
                </a:lnTo>
                <a:lnTo>
                  <a:pt x="6223" y="897242"/>
                </a:lnTo>
                <a:lnTo>
                  <a:pt x="1202804" y="524751"/>
                </a:lnTo>
                <a:lnTo>
                  <a:pt x="1163447" y="567766"/>
                </a:lnTo>
                <a:lnTo>
                  <a:pt x="1163701" y="573786"/>
                </a:lnTo>
                <a:lnTo>
                  <a:pt x="1167638" y="577342"/>
                </a:lnTo>
                <a:lnTo>
                  <a:pt x="1171448" y="580885"/>
                </a:lnTo>
                <a:lnTo>
                  <a:pt x="1177544" y="580618"/>
                </a:lnTo>
                <a:lnTo>
                  <a:pt x="1250492" y="500799"/>
                </a:lnTo>
                <a:lnTo>
                  <a:pt x="1251585" y="500621"/>
                </a:lnTo>
                <a:lnTo>
                  <a:pt x="1251153" y="500087"/>
                </a:lnTo>
                <a:lnTo>
                  <a:pt x="1251585" y="499605"/>
                </a:lnTo>
                <a:close/>
              </a:path>
              <a:path w="5092065" h="897254">
                <a:moveTo>
                  <a:pt x="5092065" y="504101"/>
                </a:moveTo>
                <a:lnTo>
                  <a:pt x="5001895" y="451142"/>
                </a:lnTo>
                <a:lnTo>
                  <a:pt x="4997450" y="448475"/>
                </a:lnTo>
                <a:lnTo>
                  <a:pt x="4991608" y="449986"/>
                </a:lnTo>
                <a:lnTo>
                  <a:pt x="4986274" y="459066"/>
                </a:lnTo>
                <a:lnTo>
                  <a:pt x="4987798" y="464896"/>
                </a:lnTo>
                <a:lnTo>
                  <a:pt x="4992243" y="467563"/>
                </a:lnTo>
                <a:lnTo>
                  <a:pt x="5037925" y="494411"/>
                </a:lnTo>
                <a:lnTo>
                  <a:pt x="3651885" y="490093"/>
                </a:lnTo>
                <a:lnTo>
                  <a:pt x="3651885" y="509143"/>
                </a:lnTo>
                <a:lnTo>
                  <a:pt x="5037950" y="513461"/>
                </a:lnTo>
                <a:lnTo>
                  <a:pt x="4987544" y="542645"/>
                </a:lnTo>
                <a:lnTo>
                  <a:pt x="4986020" y="548474"/>
                </a:lnTo>
                <a:lnTo>
                  <a:pt x="4988560" y="553021"/>
                </a:lnTo>
                <a:lnTo>
                  <a:pt x="4991227" y="557580"/>
                </a:lnTo>
                <a:lnTo>
                  <a:pt x="4997069" y="559130"/>
                </a:lnTo>
                <a:lnTo>
                  <a:pt x="5075720" y="513562"/>
                </a:lnTo>
                <a:lnTo>
                  <a:pt x="5092065" y="504101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78382" y="3210814"/>
            <a:ext cx="3081020" cy="213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05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Reglas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Aprendizaje</a:t>
            </a:r>
            <a:r>
              <a:rPr sz="24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Automático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Calibri"/>
              <a:cs typeface="Calibri"/>
            </a:endParaRPr>
          </a:p>
          <a:p>
            <a:pPr marL="861694">
              <a:lnSpc>
                <a:spcPct val="100000"/>
              </a:lnSpc>
            </a:pP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5338" y="1410080"/>
            <a:ext cx="3199765" cy="1238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Programación</a:t>
            </a:r>
            <a:r>
              <a:rPr sz="2400" b="1" u="heavy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tradicional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Calibri"/>
              <a:cs typeface="Calibri"/>
            </a:endParaRPr>
          </a:p>
          <a:p>
            <a:pPr marL="824865">
              <a:lnSpc>
                <a:spcPct val="100000"/>
              </a:lnSpc>
            </a:pP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67410"/>
            <a:ext cx="660082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25" dirty="0">
                <a:solidFill>
                  <a:srgbClr val="00639D"/>
                </a:solidFill>
              </a:rPr>
              <a:t>Ejemplos</a:t>
            </a:r>
            <a:r>
              <a:rPr sz="3900" spc="-120" dirty="0">
                <a:solidFill>
                  <a:srgbClr val="00639D"/>
                </a:solidFill>
              </a:rPr>
              <a:t> </a:t>
            </a:r>
            <a:r>
              <a:rPr sz="3900" spc="-40" dirty="0">
                <a:solidFill>
                  <a:srgbClr val="00639D"/>
                </a:solidFill>
              </a:rPr>
              <a:t>Aprendizaje</a:t>
            </a:r>
            <a:r>
              <a:rPr sz="3900" spc="-130" dirty="0">
                <a:solidFill>
                  <a:srgbClr val="00639D"/>
                </a:solidFill>
              </a:rPr>
              <a:t> </a:t>
            </a:r>
            <a:r>
              <a:rPr sz="3900" spc="-40" dirty="0">
                <a:solidFill>
                  <a:srgbClr val="00639D"/>
                </a:solidFill>
              </a:rPr>
              <a:t>Automático</a:t>
            </a:r>
            <a:endParaRPr sz="3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5307" y="2086355"/>
            <a:ext cx="6501384" cy="3404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67410"/>
            <a:ext cx="47129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40" dirty="0">
                <a:solidFill>
                  <a:srgbClr val="00639D"/>
                </a:solidFill>
              </a:rPr>
              <a:t>Aprendizaje</a:t>
            </a:r>
            <a:r>
              <a:rPr sz="3900" spc="-125" dirty="0">
                <a:solidFill>
                  <a:srgbClr val="00639D"/>
                </a:solidFill>
              </a:rPr>
              <a:t> </a:t>
            </a:r>
            <a:r>
              <a:rPr sz="3900" spc="-45" dirty="0">
                <a:solidFill>
                  <a:srgbClr val="00639D"/>
                </a:solidFill>
              </a:rPr>
              <a:t>Automático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688340" y="1153490"/>
            <a:ext cx="10414000" cy="325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Suponga </a:t>
            </a:r>
            <a:r>
              <a:rPr sz="2400" dirty="0">
                <a:latin typeface="Arial MT"/>
                <a:cs typeface="Arial MT"/>
              </a:rPr>
              <a:t>que </a:t>
            </a:r>
            <a:r>
              <a:rPr sz="2400" spc="-5" dirty="0">
                <a:latin typeface="Arial MT"/>
                <a:cs typeface="Arial MT"/>
              </a:rPr>
              <a:t>su </a:t>
            </a:r>
            <a:r>
              <a:rPr sz="2400" dirty="0">
                <a:latin typeface="Arial MT"/>
                <a:cs typeface="Arial MT"/>
              </a:rPr>
              <a:t>programa </a:t>
            </a:r>
            <a:r>
              <a:rPr sz="2400" spc="-5" dirty="0">
                <a:latin typeface="Arial MT"/>
                <a:cs typeface="Arial MT"/>
              </a:rPr>
              <a:t>de </a:t>
            </a:r>
            <a:r>
              <a:rPr sz="2400" dirty="0">
                <a:latin typeface="Arial MT"/>
                <a:cs typeface="Arial MT"/>
              </a:rPr>
              <a:t>correo electrónico observa </a:t>
            </a:r>
            <a:r>
              <a:rPr sz="2400" spc="-5" dirty="0">
                <a:latin typeface="Arial MT"/>
                <a:cs typeface="Arial MT"/>
              </a:rPr>
              <a:t>qué mensajes de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correo electrónico marca o no como </a:t>
            </a:r>
            <a:r>
              <a:rPr sz="2400" dirty="0">
                <a:latin typeface="Arial MT"/>
                <a:cs typeface="Arial MT"/>
              </a:rPr>
              <a:t>spam, y </a:t>
            </a:r>
            <a:r>
              <a:rPr sz="2400" spc="-5" dirty="0">
                <a:latin typeface="Arial MT"/>
                <a:cs typeface="Arial MT"/>
              </a:rPr>
              <a:t>en base a eso </a:t>
            </a:r>
            <a:r>
              <a:rPr sz="2400" dirty="0">
                <a:latin typeface="Arial MT"/>
                <a:cs typeface="Arial MT"/>
              </a:rPr>
              <a:t>aprende </a:t>
            </a:r>
            <a:r>
              <a:rPr sz="2400" spc="-5" dirty="0">
                <a:latin typeface="Arial MT"/>
                <a:cs typeface="Arial MT"/>
              </a:rPr>
              <a:t>cómo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filtrar</a:t>
            </a:r>
            <a:r>
              <a:rPr sz="2400" dirty="0">
                <a:latin typeface="Arial MT"/>
                <a:cs typeface="Arial MT"/>
              </a:rPr>
              <a:t> mejor</a:t>
            </a:r>
            <a:r>
              <a:rPr sz="2400" spc="-5" dirty="0">
                <a:latin typeface="Arial MT"/>
                <a:cs typeface="Arial MT"/>
              </a:rPr>
              <a:t> el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spam.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¿Cuál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tarea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dirty="0">
                <a:latin typeface="Arial MT"/>
                <a:cs typeface="Arial MT"/>
              </a:rPr>
              <a:t> este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entorno?</a:t>
            </a:r>
            <a:endParaRPr sz="2400">
              <a:latin typeface="Arial MT"/>
              <a:cs typeface="Arial MT"/>
            </a:endParaRPr>
          </a:p>
          <a:p>
            <a:pPr marL="355600" indent="-342900" algn="just">
              <a:lnSpc>
                <a:spcPct val="100000"/>
              </a:lnSpc>
              <a:spcBef>
                <a:spcPts val="795"/>
              </a:spcBef>
              <a:buAutoNum type="alphaLcPeriod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Clasificar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correos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electrónicos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spam.</a:t>
            </a:r>
            <a:endParaRPr sz="2400">
              <a:latin typeface="Arial MT"/>
              <a:cs typeface="Arial MT"/>
            </a:endParaRPr>
          </a:p>
          <a:p>
            <a:pPr marL="355600" indent="-342900" algn="just">
              <a:lnSpc>
                <a:spcPct val="100000"/>
              </a:lnSpc>
              <a:spcBef>
                <a:spcPts val="805"/>
              </a:spcBef>
              <a:buAutoNum type="alphaLcPeriod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Observar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etiquetar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correos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electrónicos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 </a:t>
            </a:r>
            <a:r>
              <a:rPr sz="2400" spc="-5" dirty="0">
                <a:latin typeface="Arial MT"/>
                <a:cs typeface="Arial MT"/>
              </a:rPr>
              <a:t>spam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spam.</a:t>
            </a:r>
            <a:endParaRPr sz="24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805"/>
              </a:spcBef>
              <a:buAutoNum type="alphaLcPeriod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El número (o fracción) de correos </a:t>
            </a:r>
            <a:r>
              <a:rPr sz="2400" dirty="0">
                <a:latin typeface="Arial MT"/>
                <a:cs typeface="Arial MT"/>
              </a:rPr>
              <a:t>electrónicos </a:t>
            </a:r>
            <a:r>
              <a:rPr sz="2400" spc="-5" dirty="0">
                <a:latin typeface="Arial MT"/>
                <a:cs typeface="Arial MT"/>
              </a:rPr>
              <a:t>clasificados </a:t>
            </a:r>
            <a:r>
              <a:rPr sz="2400" dirty="0">
                <a:latin typeface="Arial MT"/>
                <a:cs typeface="Arial MT"/>
              </a:rPr>
              <a:t>correctamente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 </a:t>
            </a:r>
            <a:r>
              <a:rPr sz="2400" spc="-5" dirty="0">
                <a:latin typeface="Arial MT"/>
                <a:cs typeface="Arial MT"/>
              </a:rPr>
              <a:t>spam </a:t>
            </a:r>
            <a:r>
              <a:rPr sz="2400" dirty="0">
                <a:latin typeface="Arial MT"/>
                <a:cs typeface="Arial MT"/>
              </a:rPr>
              <a:t>/ </a:t>
            </a:r>
            <a:r>
              <a:rPr sz="2400" spc="-5" dirty="0">
                <a:latin typeface="Arial MT"/>
                <a:cs typeface="Arial MT"/>
              </a:rPr>
              <a:t>no spam. Ninguno de los anteriores, </a:t>
            </a:r>
            <a:r>
              <a:rPr sz="2400" dirty="0">
                <a:latin typeface="Arial MT"/>
                <a:cs typeface="Arial MT"/>
              </a:rPr>
              <a:t>este </a:t>
            </a:r>
            <a:r>
              <a:rPr sz="2400" spc="-5" dirty="0">
                <a:latin typeface="Arial MT"/>
                <a:cs typeface="Arial MT"/>
              </a:rPr>
              <a:t>no es un algoritmo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aprendizaje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automático.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67410"/>
            <a:ext cx="655764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25" dirty="0">
                <a:solidFill>
                  <a:srgbClr val="00639D"/>
                </a:solidFill>
              </a:rPr>
              <a:t>Ejemplos</a:t>
            </a:r>
            <a:r>
              <a:rPr sz="3900" spc="-105" dirty="0">
                <a:solidFill>
                  <a:srgbClr val="00639D"/>
                </a:solidFill>
              </a:rPr>
              <a:t> </a:t>
            </a:r>
            <a:r>
              <a:rPr sz="3900" spc="-40" dirty="0">
                <a:solidFill>
                  <a:srgbClr val="00639D"/>
                </a:solidFill>
              </a:rPr>
              <a:t>Aprendizaje</a:t>
            </a:r>
            <a:r>
              <a:rPr sz="3900" spc="-120" dirty="0">
                <a:solidFill>
                  <a:srgbClr val="00639D"/>
                </a:solidFill>
              </a:rPr>
              <a:t> </a:t>
            </a:r>
            <a:r>
              <a:rPr sz="3900" spc="-40" dirty="0">
                <a:solidFill>
                  <a:srgbClr val="00639D"/>
                </a:solidFill>
              </a:rPr>
              <a:t>automático</a:t>
            </a:r>
            <a:endParaRPr sz="3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455" y="1544253"/>
            <a:ext cx="8623221" cy="46934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78775"/>
            <a:ext cx="8545830" cy="22212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Anuncios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orientados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 </a:t>
            </a:r>
            <a:r>
              <a:rPr sz="2400" spc="-5" dirty="0">
                <a:latin typeface="Arial MT"/>
                <a:cs typeface="Arial MT"/>
              </a:rPr>
              <a:t>aplicaciones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móviles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Análisis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 sentimiento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redes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sociales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Monitorización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climática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detectar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patrones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estacionales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Detección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patrones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lucha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crimen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Aplicación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 sanidad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58007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solidFill>
                  <a:srgbClr val="00639D"/>
                </a:solidFill>
              </a:rPr>
              <a:t>Otros</a:t>
            </a:r>
            <a:r>
              <a:rPr sz="4000" spc="-95" dirty="0">
                <a:solidFill>
                  <a:srgbClr val="00639D"/>
                </a:solidFill>
              </a:rPr>
              <a:t> </a:t>
            </a:r>
            <a:r>
              <a:rPr sz="4000" spc="-35" dirty="0">
                <a:solidFill>
                  <a:srgbClr val="00639D"/>
                </a:solidFill>
              </a:rPr>
              <a:t>ejemplos</a:t>
            </a:r>
            <a:r>
              <a:rPr sz="4000" spc="-75" dirty="0">
                <a:solidFill>
                  <a:srgbClr val="00639D"/>
                </a:solidFill>
              </a:rPr>
              <a:t> </a:t>
            </a:r>
            <a:r>
              <a:rPr sz="4000" spc="-15" dirty="0">
                <a:solidFill>
                  <a:srgbClr val="00639D"/>
                </a:solidFill>
              </a:rPr>
              <a:t>de</a:t>
            </a:r>
            <a:r>
              <a:rPr sz="4000" spc="-90" dirty="0">
                <a:solidFill>
                  <a:srgbClr val="00639D"/>
                </a:solidFill>
              </a:rPr>
              <a:t> </a:t>
            </a:r>
            <a:r>
              <a:rPr sz="4000" spc="-30" dirty="0">
                <a:solidFill>
                  <a:srgbClr val="00639D"/>
                </a:solidFill>
              </a:rPr>
              <a:t>aplicación</a:t>
            </a:r>
            <a:endParaRPr sz="4000"/>
          </a:p>
        </p:txBody>
      </p:sp>
      <p:pic>
        <p:nvPicPr>
          <p:cNvPr id="1028" name="Picture 4" descr="Aplicaciones de la inteligencia artificial en la medicina — CII.IA">
            <a:extLst>
              <a:ext uri="{FF2B5EF4-FFF2-40B4-BE49-F238E27FC236}">
                <a16:creationId xmlns:a16="http://schemas.microsoft.com/office/drawing/2014/main" id="{52E7B293-4173-4273-8BBF-DAEDFB8AB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702" y="3733800"/>
            <a:ext cx="42291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pps IA">
            <a:extLst>
              <a:ext uri="{FF2B5EF4-FFF2-40B4-BE49-F238E27FC236}">
                <a16:creationId xmlns:a16="http://schemas.microsoft.com/office/drawing/2014/main" id="{585B5D98-6D0A-46A2-87B7-FA92C2ED9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/>
        </p:blipFill>
        <p:spPr bwMode="auto">
          <a:xfrm>
            <a:off x="0" y="0"/>
            <a:ext cx="12192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1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8339" y="1153490"/>
            <a:ext cx="1081532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En</a:t>
            </a:r>
            <a:r>
              <a:rPr spc="-10" dirty="0"/>
              <a:t> </a:t>
            </a:r>
            <a:r>
              <a:rPr dirty="0"/>
              <a:t>el</a:t>
            </a:r>
            <a:r>
              <a:rPr spc="5" dirty="0"/>
              <a:t> </a:t>
            </a:r>
            <a:r>
              <a:rPr spc="-5" dirty="0"/>
              <a:t>aprendizaje</a:t>
            </a:r>
            <a:r>
              <a:rPr spc="45" dirty="0"/>
              <a:t> </a:t>
            </a:r>
            <a:r>
              <a:rPr spc="-5" dirty="0"/>
              <a:t>supervisado,</a:t>
            </a:r>
            <a:r>
              <a:rPr spc="30" dirty="0"/>
              <a:t> </a:t>
            </a:r>
            <a:r>
              <a:rPr dirty="0"/>
              <a:t>se</a:t>
            </a:r>
            <a:r>
              <a:rPr spc="-15" dirty="0"/>
              <a:t> </a:t>
            </a:r>
            <a:r>
              <a:rPr spc="-5" dirty="0"/>
              <a:t>nos</a:t>
            </a:r>
            <a:r>
              <a:rPr spc="20" dirty="0"/>
              <a:t> </a:t>
            </a:r>
            <a:r>
              <a:rPr dirty="0"/>
              <a:t>da</a:t>
            </a:r>
            <a:r>
              <a:rPr spc="-10" dirty="0"/>
              <a:t> </a:t>
            </a:r>
            <a:r>
              <a:rPr dirty="0"/>
              <a:t>un</a:t>
            </a:r>
            <a:r>
              <a:rPr spc="5" dirty="0"/>
              <a:t> </a:t>
            </a:r>
            <a:r>
              <a:rPr spc="-5" dirty="0"/>
              <a:t>conjunto</a:t>
            </a:r>
            <a:r>
              <a:rPr spc="5" dirty="0"/>
              <a:t> </a:t>
            </a:r>
            <a:r>
              <a:rPr dirty="0"/>
              <a:t>de</a:t>
            </a:r>
            <a:r>
              <a:rPr spc="5" dirty="0"/>
              <a:t> </a:t>
            </a:r>
            <a:r>
              <a:rPr dirty="0"/>
              <a:t>datos</a:t>
            </a:r>
            <a:r>
              <a:rPr spc="-5" dirty="0"/>
              <a:t> </a:t>
            </a:r>
            <a:r>
              <a:rPr dirty="0"/>
              <a:t>y</a:t>
            </a:r>
            <a:r>
              <a:rPr spc="5" dirty="0"/>
              <a:t> </a:t>
            </a:r>
            <a:r>
              <a:rPr dirty="0"/>
              <a:t>ya</a:t>
            </a:r>
            <a:r>
              <a:rPr spc="-5" dirty="0"/>
              <a:t> sabemos </a:t>
            </a:r>
            <a:r>
              <a:rPr dirty="0"/>
              <a:t> </a:t>
            </a:r>
            <a:r>
              <a:rPr spc="-5" dirty="0"/>
              <a:t>cómo</a:t>
            </a:r>
            <a:r>
              <a:rPr spc="5" dirty="0"/>
              <a:t> </a:t>
            </a:r>
            <a:r>
              <a:rPr spc="-5" dirty="0"/>
              <a:t>debería</a:t>
            </a:r>
            <a:r>
              <a:rPr spc="10" dirty="0"/>
              <a:t> </a:t>
            </a:r>
            <a:r>
              <a:rPr spc="-5" dirty="0"/>
              <a:t>ser</a:t>
            </a:r>
            <a:r>
              <a:rPr spc="15" dirty="0"/>
              <a:t> </a:t>
            </a:r>
            <a:r>
              <a:rPr spc="-5" dirty="0"/>
              <a:t>nuestra salida</a:t>
            </a:r>
            <a:r>
              <a:rPr spc="35" dirty="0"/>
              <a:t> </a:t>
            </a:r>
            <a:r>
              <a:rPr dirty="0"/>
              <a:t>correcta,</a:t>
            </a:r>
            <a:r>
              <a:rPr spc="-5" dirty="0"/>
              <a:t> teniendo</a:t>
            </a:r>
            <a:r>
              <a:rPr spc="25" dirty="0"/>
              <a:t> </a:t>
            </a:r>
            <a:r>
              <a:rPr spc="-5" dirty="0"/>
              <a:t>la idea</a:t>
            </a:r>
            <a:r>
              <a:rPr spc="25" dirty="0"/>
              <a:t> </a:t>
            </a:r>
            <a:r>
              <a:rPr spc="-5" dirty="0"/>
              <a:t>de</a:t>
            </a:r>
            <a:r>
              <a:rPr spc="5" dirty="0"/>
              <a:t> </a:t>
            </a:r>
            <a:r>
              <a:rPr spc="-5" dirty="0"/>
              <a:t>que</a:t>
            </a:r>
            <a:r>
              <a:rPr spc="10" dirty="0"/>
              <a:t> </a:t>
            </a:r>
            <a:r>
              <a:rPr spc="-5" dirty="0"/>
              <a:t>existe</a:t>
            </a:r>
            <a:r>
              <a:rPr spc="25" dirty="0"/>
              <a:t> </a:t>
            </a:r>
            <a:r>
              <a:rPr spc="-5" dirty="0"/>
              <a:t>una </a:t>
            </a:r>
            <a:r>
              <a:rPr dirty="0"/>
              <a:t> </a:t>
            </a:r>
            <a:r>
              <a:rPr spc="-5" dirty="0"/>
              <a:t>relación</a:t>
            </a:r>
            <a:r>
              <a:rPr spc="30" dirty="0"/>
              <a:t> </a:t>
            </a:r>
            <a:r>
              <a:rPr spc="-5" dirty="0"/>
              <a:t>entre</a:t>
            </a:r>
            <a:r>
              <a:rPr spc="10" dirty="0"/>
              <a:t> </a:t>
            </a:r>
            <a:r>
              <a:rPr spc="-5" dirty="0"/>
              <a:t>la</a:t>
            </a:r>
            <a:r>
              <a:rPr spc="15" dirty="0"/>
              <a:t> </a:t>
            </a:r>
            <a:r>
              <a:rPr dirty="0"/>
              <a:t>entrada</a:t>
            </a:r>
            <a:r>
              <a:rPr spc="15" dirty="0"/>
              <a:t> </a:t>
            </a:r>
            <a:r>
              <a:rPr dirty="0"/>
              <a:t>y </a:t>
            </a:r>
            <a:r>
              <a:rPr spc="-5" dirty="0"/>
              <a:t>la</a:t>
            </a:r>
            <a:r>
              <a:rPr spc="5" dirty="0"/>
              <a:t> </a:t>
            </a:r>
            <a:r>
              <a:rPr spc="-5" dirty="0"/>
              <a:t>salida.</a:t>
            </a:r>
            <a:r>
              <a:rPr spc="35" dirty="0"/>
              <a:t> </a:t>
            </a:r>
            <a:r>
              <a:rPr spc="-5" dirty="0"/>
              <a:t>Los</a:t>
            </a:r>
            <a:r>
              <a:rPr spc="15" dirty="0"/>
              <a:t> </a:t>
            </a:r>
            <a:r>
              <a:rPr spc="-5" dirty="0"/>
              <a:t>problemas</a:t>
            </a:r>
            <a:r>
              <a:rPr spc="25" dirty="0"/>
              <a:t> </a:t>
            </a:r>
            <a:r>
              <a:rPr spc="-5" dirty="0"/>
              <a:t>de</a:t>
            </a:r>
            <a:r>
              <a:rPr spc="25" dirty="0"/>
              <a:t> </a:t>
            </a:r>
            <a:r>
              <a:rPr spc="-5" dirty="0"/>
              <a:t>aprendizaje</a:t>
            </a:r>
            <a:r>
              <a:rPr spc="35" dirty="0"/>
              <a:t> </a:t>
            </a:r>
            <a:r>
              <a:rPr spc="-5" dirty="0"/>
              <a:t>supervisado </a:t>
            </a:r>
            <a:r>
              <a:rPr spc="-650" dirty="0"/>
              <a:t> </a:t>
            </a:r>
            <a:r>
              <a:rPr spc="-5" dirty="0"/>
              <a:t>se</a:t>
            </a:r>
            <a:r>
              <a:rPr dirty="0"/>
              <a:t> </a:t>
            </a:r>
            <a:r>
              <a:rPr spc="-5" dirty="0"/>
              <a:t>clasifican</a:t>
            </a:r>
            <a:r>
              <a:rPr spc="20" dirty="0"/>
              <a:t> </a:t>
            </a:r>
            <a:r>
              <a:rPr spc="-5" dirty="0"/>
              <a:t>en</a:t>
            </a:r>
            <a:r>
              <a:rPr spc="5" dirty="0"/>
              <a:t> </a:t>
            </a:r>
            <a:r>
              <a:rPr spc="-5" dirty="0"/>
              <a:t>problemas</a:t>
            </a:r>
            <a:r>
              <a:rPr spc="25" dirty="0"/>
              <a:t> </a:t>
            </a:r>
            <a:r>
              <a:rPr spc="-5" dirty="0"/>
              <a:t>de</a:t>
            </a:r>
            <a:r>
              <a:rPr spc="5" dirty="0"/>
              <a:t> </a:t>
            </a:r>
            <a:r>
              <a:rPr spc="-5" dirty="0"/>
              <a:t>"regresión"</a:t>
            </a:r>
            <a:r>
              <a:rPr spc="10" dirty="0"/>
              <a:t> </a:t>
            </a:r>
            <a:r>
              <a:rPr dirty="0"/>
              <a:t>y</a:t>
            </a:r>
            <a:r>
              <a:rPr spc="-5" dirty="0"/>
              <a:t> "clasificación".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4915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39D"/>
                </a:solidFill>
              </a:rPr>
              <a:t>Aprendizaje</a:t>
            </a:r>
            <a:r>
              <a:rPr sz="4000" spc="-100" dirty="0">
                <a:solidFill>
                  <a:srgbClr val="00639D"/>
                </a:solidFill>
              </a:rPr>
              <a:t> </a:t>
            </a:r>
            <a:r>
              <a:rPr sz="4000" spc="-30" dirty="0">
                <a:solidFill>
                  <a:srgbClr val="00639D"/>
                </a:solidFill>
              </a:rPr>
              <a:t>supervisado</a:t>
            </a:r>
            <a:endParaRPr sz="4000"/>
          </a:p>
        </p:txBody>
      </p:sp>
      <p:pic>
        <p:nvPicPr>
          <p:cNvPr id="3076" name="Picture 4" descr="Aprendizaje supervisado: Qué es, tipos y ejemplo">
            <a:extLst>
              <a:ext uri="{FF2B5EF4-FFF2-40B4-BE49-F238E27FC236}">
                <a16:creationId xmlns:a16="http://schemas.microsoft.com/office/drawing/2014/main" id="{72F03B5A-854E-4324-9D7E-2D6F470CA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49" y="2692910"/>
            <a:ext cx="59055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153490"/>
            <a:ext cx="10535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En un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problema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regresión,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 </a:t>
            </a:r>
            <a:r>
              <a:rPr sz="2400" spc="-5" dirty="0">
                <a:latin typeface="Arial MT"/>
                <a:cs typeface="Arial MT"/>
              </a:rPr>
              <a:t>tratando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resultados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dentro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salida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continua,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 que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significa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que estamos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tratando</a:t>
            </a:r>
            <a:r>
              <a:rPr sz="2400" spc="-5" dirty="0">
                <a:latin typeface="Arial MT"/>
                <a:cs typeface="Arial MT"/>
              </a:rPr>
              <a:t> de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asignar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entrada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alguna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función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continua.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367411"/>
            <a:ext cx="7127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39D"/>
                </a:solidFill>
                <a:latin typeface="Calibri Light"/>
                <a:cs typeface="Calibri Light"/>
              </a:rPr>
              <a:t>Aprendizaje</a:t>
            </a:r>
            <a:r>
              <a:rPr sz="4000" spc="-100" dirty="0">
                <a:solidFill>
                  <a:srgbClr val="00639D"/>
                </a:solidFill>
                <a:latin typeface="Calibri Light"/>
                <a:cs typeface="Calibri Light"/>
              </a:rPr>
              <a:t> </a:t>
            </a:r>
            <a:r>
              <a:rPr sz="4000" spc="-30" dirty="0">
                <a:solidFill>
                  <a:srgbClr val="00639D"/>
                </a:solidFill>
                <a:latin typeface="Calibri Light"/>
                <a:cs typeface="Calibri Light"/>
              </a:rPr>
              <a:t>supervisado:</a:t>
            </a:r>
            <a:r>
              <a:rPr sz="4000" spc="-60" dirty="0">
                <a:solidFill>
                  <a:srgbClr val="00639D"/>
                </a:solidFill>
                <a:latin typeface="Calibri Light"/>
                <a:cs typeface="Calibri Light"/>
              </a:rPr>
              <a:t> </a:t>
            </a:r>
            <a:r>
              <a:rPr sz="4000" spc="-45" dirty="0">
                <a:solidFill>
                  <a:srgbClr val="00639D"/>
                </a:solidFill>
                <a:latin typeface="Calibri Light"/>
                <a:cs typeface="Calibri Light"/>
              </a:rPr>
              <a:t>Regresión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59518" y="2642235"/>
            <a:ext cx="5458460" cy="3282315"/>
            <a:chOff x="3259518" y="2642235"/>
            <a:chExt cx="5458460" cy="3282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9797" y="2923667"/>
              <a:ext cx="4441977" cy="26964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64280" y="2646997"/>
              <a:ext cx="5448935" cy="3272790"/>
            </a:xfrm>
            <a:custGeom>
              <a:avLst/>
              <a:gdLst/>
              <a:ahLst/>
              <a:cxnLst/>
              <a:rect l="l" t="t" r="r" b="b"/>
              <a:pathLst>
                <a:path w="5448934" h="3272790">
                  <a:moveTo>
                    <a:pt x="0" y="3272409"/>
                  </a:moveTo>
                  <a:lnTo>
                    <a:pt x="5448681" y="3272409"/>
                  </a:lnTo>
                  <a:lnTo>
                    <a:pt x="5448681" y="0"/>
                  </a:lnTo>
                  <a:lnTo>
                    <a:pt x="0" y="0"/>
                  </a:lnTo>
                  <a:lnTo>
                    <a:pt x="0" y="327240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367411"/>
            <a:ext cx="2001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00639D"/>
                </a:solidFill>
                <a:latin typeface="Calibri Light"/>
                <a:cs typeface="Calibri Light"/>
              </a:rPr>
              <a:t>R</a:t>
            </a:r>
            <a:r>
              <a:rPr sz="4000" spc="-30" dirty="0">
                <a:solidFill>
                  <a:srgbClr val="00639D"/>
                </a:solidFill>
                <a:latin typeface="Calibri Light"/>
                <a:cs typeface="Calibri Light"/>
              </a:rPr>
              <a:t>e</a:t>
            </a:r>
            <a:r>
              <a:rPr sz="4000" spc="-45" dirty="0">
                <a:solidFill>
                  <a:srgbClr val="00639D"/>
                </a:solidFill>
                <a:latin typeface="Calibri Light"/>
                <a:cs typeface="Calibri Light"/>
              </a:rPr>
              <a:t>g</a:t>
            </a:r>
            <a:r>
              <a:rPr sz="4000" spc="-90" dirty="0">
                <a:solidFill>
                  <a:srgbClr val="00639D"/>
                </a:solidFill>
                <a:latin typeface="Calibri Light"/>
                <a:cs typeface="Calibri Light"/>
              </a:rPr>
              <a:t>r</a:t>
            </a:r>
            <a:r>
              <a:rPr sz="4000" spc="-50" dirty="0">
                <a:solidFill>
                  <a:srgbClr val="00639D"/>
                </a:solidFill>
                <a:latin typeface="Calibri Light"/>
                <a:cs typeface="Calibri Light"/>
              </a:rPr>
              <a:t>e</a:t>
            </a:r>
            <a:r>
              <a:rPr sz="4000" spc="-30" dirty="0">
                <a:solidFill>
                  <a:srgbClr val="00639D"/>
                </a:solidFill>
                <a:latin typeface="Calibri Light"/>
                <a:cs typeface="Calibri Light"/>
              </a:rPr>
              <a:t>s</a:t>
            </a:r>
            <a:r>
              <a:rPr sz="4000" spc="-25" dirty="0">
                <a:solidFill>
                  <a:srgbClr val="00639D"/>
                </a:solidFill>
                <a:latin typeface="Calibri Light"/>
                <a:cs typeface="Calibri Light"/>
              </a:rPr>
              <a:t>i</a:t>
            </a:r>
            <a:r>
              <a:rPr sz="4000" spc="-35" dirty="0">
                <a:solidFill>
                  <a:srgbClr val="00639D"/>
                </a:solidFill>
                <a:latin typeface="Calibri Light"/>
                <a:cs typeface="Calibri Light"/>
              </a:rPr>
              <a:t>ó</a:t>
            </a:r>
            <a:r>
              <a:rPr sz="4000" spc="-5" dirty="0">
                <a:solidFill>
                  <a:srgbClr val="00639D"/>
                </a:solidFill>
                <a:latin typeface="Calibri Light"/>
                <a:cs typeface="Calibri Light"/>
              </a:rPr>
              <a:t>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372" y="1246378"/>
            <a:ext cx="4957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Objetivo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valor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numérico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43667" y="2066163"/>
            <a:ext cx="5002530" cy="3756025"/>
            <a:chOff x="3943667" y="2066163"/>
            <a:chExt cx="5002530" cy="37560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3255" y="2075688"/>
              <a:ext cx="4983479" cy="373684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948429" y="2070925"/>
              <a:ext cx="4993005" cy="3746500"/>
            </a:xfrm>
            <a:custGeom>
              <a:avLst/>
              <a:gdLst/>
              <a:ahLst/>
              <a:cxnLst/>
              <a:rect l="l" t="t" r="r" b="b"/>
              <a:pathLst>
                <a:path w="4993005" h="3746500">
                  <a:moveTo>
                    <a:pt x="0" y="3746373"/>
                  </a:moveTo>
                  <a:lnTo>
                    <a:pt x="4993005" y="3746373"/>
                  </a:lnTo>
                  <a:lnTo>
                    <a:pt x="4993005" y="0"/>
                  </a:lnTo>
                  <a:lnTo>
                    <a:pt x="0" y="0"/>
                  </a:lnTo>
                  <a:lnTo>
                    <a:pt x="0" y="37463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07994"/>
            <a:ext cx="3948429" cy="134239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Pronóstico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ventas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40" dirty="0">
                <a:latin typeface="Arial MT"/>
                <a:cs typeface="Arial MT"/>
              </a:rPr>
              <a:t>Valor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cliente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futuro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cantidad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lluvia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5680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solidFill>
                  <a:srgbClr val="00639D"/>
                </a:solidFill>
              </a:rPr>
              <a:t>Otros</a:t>
            </a:r>
            <a:r>
              <a:rPr sz="4000" spc="-100" dirty="0">
                <a:solidFill>
                  <a:srgbClr val="00639D"/>
                </a:solidFill>
              </a:rPr>
              <a:t> </a:t>
            </a:r>
            <a:r>
              <a:rPr sz="4000" spc="-35" dirty="0">
                <a:solidFill>
                  <a:srgbClr val="00639D"/>
                </a:solidFill>
              </a:rPr>
              <a:t>ejemplos</a:t>
            </a:r>
            <a:r>
              <a:rPr sz="4000" spc="-80" dirty="0">
                <a:solidFill>
                  <a:srgbClr val="00639D"/>
                </a:solidFill>
              </a:rPr>
              <a:t> </a:t>
            </a:r>
            <a:r>
              <a:rPr sz="4000" spc="-15" dirty="0">
                <a:solidFill>
                  <a:srgbClr val="00639D"/>
                </a:solidFill>
              </a:rPr>
              <a:t>de</a:t>
            </a:r>
            <a:r>
              <a:rPr sz="4000" spc="-90" dirty="0">
                <a:solidFill>
                  <a:srgbClr val="00639D"/>
                </a:solidFill>
              </a:rPr>
              <a:t> </a:t>
            </a:r>
            <a:r>
              <a:rPr sz="4000" spc="-40" dirty="0">
                <a:solidFill>
                  <a:srgbClr val="00639D"/>
                </a:solidFill>
              </a:rPr>
              <a:t>regresión</a:t>
            </a:r>
            <a:endParaRPr sz="4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153490"/>
            <a:ext cx="102254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problema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clasificación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5" dirty="0">
                <a:latin typeface="Arial MT"/>
                <a:cs typeface="Arial MT"/>
              </a:rPr>
              <a:t> cambio,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tratando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predecir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resultados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salida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discreta.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otras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palabras,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tratando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mapear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entrada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dirty="0">
                <a:latin typeface="Arial MT"/>
                <a:cs typeface="Arial MT"/>
              </a:rPr>
              <a:t> categorías discretas.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367411"/>
            <a:ext cx="7616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39D"/>
                </a:solidFill>
                <a:latin typeface="Calibri Light"/>
                <a:cs typeface="Calibri Light"/>
              </a:rPr>
              <a:t>Aprendizaje</a:t>
            </a:r>
            <a:r>
              <a:rPr sz="4000" spc="-95" dirty="0">
                <a:solidFill>
                  <a:srgbClr val="00639D"/>
                </a:solidFill>
                <a:latin typeface="Calibri Light"/>
                <a:cs typeface="Calibri Light"/>
              </a:rPr>
              <a:t> </a:t>
            </a:r>
            <a:r>
              <a:rPr sz="4000" spc="-30" dirty="0">
                <a:solidFill>
                  <a:srgbClr val="00639D"/>
                </a:solidFill>
                <a:latin typeface="Calibri Light"/>
                <a:cs typeface="Calibri Light"/>
              </a:rPr>
              <a:t>supervisado:</a:t>
            </a:r>
            <a:r>
              <a:rPr sz="4000" spc="-50" dirty="0">
                <a:solidFill>
                  <a:srgbClr val="00639D"/>
                </a:solidFill>
                <a:latin typeface="Calibri Light"/>
                <a:cs typeface="Calibri Light"/>
              </a:rPr>
              <a:t> </a:t>
            </a:r>
            <a:r>
              <a:rPr sz="4000" spc="-30" dirty="0">
                <a:solidFill>
                  <a:srgbClr val="00639D"/>
                </a:solidFill>
                <a:latin typeface="Calibri Light"/>
                <a:cs typeface="Calibri Light"/>
              </a:rPr>
              <a:t>Clasificación</a:t>
            </a:r>
            <a:endParaRPr sz="40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8247" y="2953511"/>
            <a:ext cx="5102352" cy="30571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2360" y="348742"/>
            <a:ext cx="2492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00639D"/>
                </a:solidFill>
              </a:rPr>
              <a:t>Clasificación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513076" y="1694433"/>
            <a:ext cx="7313930" cy="3475354"/>
            <a:chOff x="2513076" y="1694433"/>
            <a:chExt cx="7313930" cy="34753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3076" y="2048255"/>
              <a:ext cx="3211068" cy="31211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59623" y="1700783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1080516" y="0"/>
                  </a:moveTo>
                  <a:lnTo>
                    <a:pt x="1012180" y="767"/>
                  </a:lnTo>
                  <a:lnTo>
                    <a:pt x="944974" y="3038"/>
                  </a:lnTo>
                  <a:lnTo>
                    <a:pt x="879024" y="6769"/>
                  </a:lnTo>
                  <a:lnTo>
                    <a:pt x="814457" y="11912"/>
                  </a:lnTo>
                  <a:lnTo>
                    <a:pt x="751400" y="18422"/>
                  </a:lnTo>
                  <a:lnTo>
                    <a:pt x="689979" y="26255"/>
                  </a:lnTo>
                  <a:lnTo>
                    <a:pt x="630320" y="35363"/>
                  </a:lnTo>
                  <a:lnTo>
                    <a:pt x="572550" y="45701"/>
                  </a:lnTo>
                  <a:lnTo>
                    <a:pt x="516796" y="57225"/>
                  </a:lnTo>
                  <a:lnTo>
                    <a:pt x="463185" y="69887"/>
                  </a:lnTo>
                  <a:lnTo>
                    <a:pt x="411841" y="83643"/>
                  </a:lnTo>
                  <a:lnTo>
                    <a:pt x="362894" y="98446"/>
                  </a:lnTo>
                  <a:lnTo>
                    <a:pt x="316468" y="114252"/>
                  </a:lnTo>
                  <a:lnTo>
                    <a:pt x="272690" y="131014"/>
                  </a:lnTo>
                  <a:lnTo>
                    <a:pt x="231687" y="148687"/>
                  </a:lnTo>
                  <a:lnTo>
                    <a:pt x="193586" y="167225"/>
                  </a:lnTo>
                  <a:lnTo>
                    <a:pt x="158513" y="186582"/>
                  </a:lnTo>
                  <a:lnTo>
                    <a:pt x="97958" y="227573"/>
                  </a:lnTo>
                  <a:lnTo>
                    <a:pt x="51033" y="271294"/>
                  </a:lnTo>
                  <a:lnTo>
                    <a:pt x="18751" y="317380"/>
                  </a:lnTo>
                  <a:lnTo>
                    <a:pt x="2125" y="365465"/>
                  </a:lnTo>
                  <a:lnTo>
                    <a:pt x="0" y="390143"/>
                  </a:lnTo>
                  <a:lnTo>
                    <a:pt x="2125" y="414822"/>
                  </a:lnTo>
                  <a:lnTo>
                    <a:pt x="18751" y="462907"/>
                  </a:lnTo>
                  <a:lnTo>
                    <a:pt x="51033" y="508993"/>
                  </a:lnTo>
                  <a:lnTo>
                    <a:pt x="97958" y="552714"/>
                  </a:lnTo>
                  <a:lnTo>
                    <a:pt x="158513" y="593705"/>
                  </a:lnTo>
                  <a:lnTo>
                    <a:pt x="193586" y="613062"/>
                  </a:lnTo>
                  <a:lnTo>
                    <a:pt x="231687" y="631600"/>
                  </a:lnTo>
                  <a:lnTo>
                    <a:pt x="272690" y="649273"/>
                  </a:lnTo>
                  <a:lnTo>
                    <a:pt x="316468" y="666035"/>
                  </a:lnTo>
                  <a:lnTo>
                    <a:pt x="362894" y="681841"/>
                  </a:lnTo>
                  <a:lnTo>
                    <a:pt x="411841" y="696644"/>
                  </a:lnTo>
                  <a:lnTo>
                    <a:pt x="463185" y="710400"/>
                  </a:lnTo>
                  <a:lnTo>
                    <a:pt x="516796" y="723062"/>
                  </a:lnTo>
                  <a:lnTo>
                    <a:pt x="572550" y="734586"/>
                  </a:lnTo>
                  <a:lnTo>
                    <a:pt x="630320" y="744924"/>
                  </a:lnTo>
                  <a:lnTo>
                    <a:pt x="689979" y="754032"/>
                  </a:lnTo>
                  <a:lnTo>
                    <a:pt x="751400" y="761865"/>
                  </a:lnTo>
                  <a:lnTo>
                    <a:pt x="814457" y="768375"/>
                  </a:lnTo>
                  <a:lnTo>
                    <a:pt x="879024" y="773518"/>
                  </a:lnTo>
                  <a:lnTo>
                    <a:pt x="944974" y="777249"/>
                  </a:lnTo>
                  <a:lnTo>
                    <a:pt x="1012180" y="779520"/>
                  </a:lnTo>
                  <a:lnTo>
                    <a:pt x="1080516" y="780288"/>
                  </a:lnTo>
                  <a:lnTo>
                    <a:pt x="1148851" y="779520"/>
                  </a:lnTo>
                  <a:lnTo>
                    <a:pt x="1216057" y="777249"/>
                  </a:lnTo>
                  <a:lnTo>
                    <a:pt x="1282007" y="773518"/>
                  </a:lnTo>
                  <a:lnTo>
                    <a:pt x="1346574" y="768375"/>
                  </a:lnTo>
                  <a:lnTo>
                    <a:pt x="1409631" y="761865"/>
                  </a:lnTo>
                  <a:lnTo>
                    <a:pt x="1471052" y="754032"/>
                  </a:lnTo>
                  <a:lnTo>
                    <a:pt x="1530711" y="744924"/>
                  </a:lnTo>
                  <a:lnTo>
                    <a:pt x="1588481" y="734586"/>
                  </a:lnTo>
                  <a:lnTo>
                    <a:pt x="1644235" y="723062"/>
                  </a:lnTo>
                  <a:lnTo>
                    <a:pt x="1697846" y="710400"/>
                  </a:lnTo>
                  <a:lnTo>
                    <a:pt x="1749190" y="696644"/>
                  </a:lnTo>
                  <a:lnTo>
                    <a:pt x="1798137" y="681841"/>
                  </a:lnTo>
                  <a:lnTo>
                    <a:pt x="1844563" y="666035"/>
                  </a:lnTo>
                  <a:lnTo>
                    <a:pt x="1888341" y="649273"/>
                  </a:lnTo>
                  <a:lnTo>
                    <a:pt x="1929344" y="631600"/>
                  </a:lnTo>
                  <a:lnTo>
                    <a:pt x="1967445" y="613062"/>
                  </a:lnTo>
                  <a:lnTo>
                    <a:pt x="2002518" y="593705"/>
                  </a:lnTo>
                  <a:lnTo>
                    <a:pt x="2063073" y="552714"/>
                  </a:lnTo>
                  <a:lnTo>
                    <a:pt x="2109998" y="508993"/>
                  </a:lnTo>
                  <a:lnTo>
                    <a:pt x="2142280" y="462907"/>
                  </a:lnTo>
                  <a:lnTo>
                    <a:pt x="2158906" y="414822"/>
                  </a:lnTo>
                  <a:lnTo>
                    <a:pt x="2161031" y="390143"/>
                  </a:lnTo>
                  <a:lnTo>
                    <a:pt x="2158906" y="365465"/>
                  </a:lnTo>
                  <a:lnTo>
                    <a:pt x="2142280" y="317380"/>
                  </a:lnTo>
                  <a:lnTo>
                    <a:pt x="2109998" y="271294"/>
                  </a:lnTo>
                  <a:lnTo>
                    <a:pt x="2063073" y="227573"/>
                  </a:lnTo>
                  <a:lnTo>
                    <a:pt x="2002518" y="186582"/>
                  </a:lnTo>
                  <a:lnTo>
                    <a:pt x="1967445" y="167225"/>
                  </a:lnTo>
                  <a:lnTo>
                    <a:pt x="1929344" y="148687"/>
                  </a:lnTo>
                  <a:lnTo>
                    <a:pt x="1888341" y="131014"/>
                  </a:lnTo>
                  <a:lnTo>
                    <a:pt x="1844563" y="114252"/>
                  </a:lnTo>
                  <a:lnTo>
                    <a:pt x="1798137" y="98446"/>
                  </a:lnTo>
                  <a:lnTo>
                    <a:pt x="1749190" y="83643"/>
                  </a:lnTo>
                  <a:lnTo>
                    <a:pt x="1697846" y="69887"/>
                  </a:lnTo>
                  <a:lnTo>
                    <a:pt x="1644235" y="57225"/>
                  </a:lnTo>
                  <a:lnTo>
                    <a:pt x="1588481" y="45701"/>
                  </a:lnTo>
                  <a:lnTo>
                    <a:pt x="1530711" y="35363"/>
                  </a:lnTo>
                  <a:lnTo>
                    <a:pt x="1471052" y="26255"/>
                  </a:lnTo>
                  <a:lnTo>
                    <a:pt x="1409631" y="18422"/>
                  </a:lnTo>
                  <a:lnTo>
                    <a:pt x="1346574" y="11912"/>
                  </a:lnTo>
                  <a:lnTo>
                    <a:pt x="1282007" y="6769"/>
                  </a:lnTo>
                  <a:lnTo>
                    <a:pt x="1216057" y="3038"/>
                  </a:lnTo>
                  <a:lnTo>
                    <a:pt x="1148851" y="767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59623" y="1700783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0" y="390143"/>
                  </a:moveTo>
                  <a:lnTo>
                    <a:pt x="8418" y="341195"/>
                  </a:lnTo>
                  <a:lnTo>
                    <a:pt x="32998" y="294064"/>
                  </a:lnTo>
                  <a:lnTo>
                    <a:pt x="72728" y="249115"/>
                  </a:lnTo>
                  <a:lnTo>
                    <a:pt x="126595" y="206713"/>
                  </a:lnTo>
                  <a:lnTo>
                    <a:pt x="193586" y="167225"/>
                  </a:lnTo>
                  <a:lnTo>
                    <a:pt x="231687" y="148687"/>
                  </a:lnTo>
                  <a:lnTo>
                    <a:pt x="272690" y="131014"/>
                  </a:lnTo>
                  <a:lnTo>
                    <a:pt x="316468" y="114252"/>
                  </a:lnTo>
                  <a:lnTo>
                    <a:pt x="362894" y="98446"/>
                  </a:lnTo>
                  <a:lnTo>
                    <a:pt x="411841" y="83643"/>
                  </a:lnTo>
                  <a:lnTo>
                    <a:pt x="463185" y="69887"/>
                  </a:lnTo>
                  <a:lnTo>
                    <a:pt x="516796" y="57225"/>
                  </a:lnTo>
                  <a:lnTo>
                    <a:pt x="572550" y="45701"/>
                  </a:lnTo>
                  <a:lnTo>
                    <a:pt x="630320" y="35363"/>
                  </a:lnTo>
                  <a:lnTo>
                    <a:pt x="689979" y="26255"/>
                  </a:lnTo>
                  <a:lnTo>
                    <a:pt x="751400" y="18422"/>
                  </a:lnTo>
                  <a:lnTo>
                    <a:pt x="814457" y="11912"/>
                  </a:lnTo>
                  <a:lnTo>
                    <a:pt x="879024" y="6769"/>
                  </a:lnTo>
                  <a:lnTo>
                    <a:pt x="944974" y="3038"/>
                  </a:lnTo>
                  <a:lnTo>
                    <a:pt x="1012180" y="767"/>
                  </a:lnTo>
                  <a:lnTo>
                    <a:pt x="1080516" y="0"/>
                  </a:lnTo>
                  <a:lnTo>
                    <a:pt x="1148851" y="767"/>
                  </a:lnTo>
                  <a:lnTo>
                    <a:pt x="1216057" y="3038"/>
                  </a:lnTo>
                  <a:lnTo>
                    <a:pt x="1282007" y="6769"/>
                  </a:lnTo>
                  <a:lnTo>
                    <a:pt x="1346574" y="11912"/>
                  </a:lnTo>
                  <a:lnTo>
                    <a:pt x="1409631" y="18422"/>
                  </a:lnTo>
                  <a:lnTo>
                    <a:pt x="1471052" y="26255"/>
                  </a:lnTo>
                  <a:lnTo>
                    <a:pt x="1530711" y="35363"/>
                  </a:lnTo>
                  <a:lnTo>
                    <a:pt x="1588481" y="45701"/>
                  </a:lnTo>
                  <a:lnTo>
                    <a:pt x="1644235" y="57225"/>
                  </a:lnTo>
                  <a:lnTo>
                    <a:pt x="1697846" y="69887"/>
                  </a:lnTo>
                  <a:lnTo>
                    <a:pt x="1749190" y="83643"/>
                  </a:lnTo>
                  <a:lnTo>
                    <a:pt x="1798137" y="98446"/>
                  </a:lnTo>
                  <a:lnTo>
                    <a:pt x="1844563" y="114252"/>
                  </a:lnTo>
                  <a:lnTo>
                    <a:pt x="1888341" y="131014"/>
                  </a:lnTo>
                  <a:lnTo>
                    <a:pt x="1929344" y="148687"/>
                  </a:lnTo>
                  <a:lnTo>
                    <a:pt x="1967445" y="167225"/>
                  </a:lnTo>
                  <a:lnTo>
                    <a:pt x="2002518" y="186582"/>
                  </a:lnTo>
                  <a:lnTo>
                    <a:pt x="2063073" y="227573"/>
                  </a:lnTo>
                  <a:lnTo>
                    <a:pt x="2109998" y="271294"/>
                  </a:lnTo>
                  <a:lnTo>
                    <a:pt x="2142280" y="317380"/>
                  </a:lnTo>
                  <a:lnTo>
                    <a:pt x="2158906" y="365465"/>
                  </a:lnTo>
                  <a:lnTo>
                    <a:pt x="2161031" y="390143"/>
                  </a:lnTo>
                  <a:lnTo>
                    <a:pt x="2158906" y="414822"/>
                  </a:lnTo>
                  <a:lnTo>
                    <a:pt x="2142280" y="462907"/>
                  </a:lnTo>
                  <a:lnTo>
                    <a:pt x="2109998" y="508993"/>
                  </a:lnTo>
                  <a:lnTo>
                    <a:pt x="2063073" y="552714"/>
                  </a:lnTo>
                  <a:lnTo>
                    <a:pt x="2002518" y="593705"/>
                  </a:lnTo>
                  <a:lnTo>
                    <a:pt x="1967445" y="613062"/>
                  </a:lnTo>
                  <a:lnTo>
                    <a:pt x="1929344" y="631600"/>
                  </a:lnTo>
                  <a:lnTo>
                    <a:pt x="1888341" y="649273"/>
                  </a:lnTo>
                  <a:lnTo>
                    <a:pt x="1844563" y="666035"/>
                  </a:lnTo>
                  <a:lnTo>
                    <a:pt x="1798137" y="681841"/>
                  </a:lnTo>
                  <a:lnTo>
                    <a:pt x="1749190" y="696644"/>
                  </a:lnTo>
                  <a:lnTo>
                    <a:pt x="1697846" y="710400"/>
                  </a:lnTo>
                  <a:lnTo>
                    <a:pt x="1644235" y="723062"/>
                  </a:lnTo>
                  <a:lnTo>
                    <a:pt x="1588481" y="734586"/>
                  </a:lnTo>
                  <a:lnTo>
                    <a:pt x="1530711" y="744924"/>
                  </a:lnTo>
                  <a:lnTo>
                    <a:pt x="1471052" y="754032"/>
                  </a:lnTo>
                  <a:lnTo>
                    <a:pt x="1409631" y="761865"/>
                  </a:lnTo>
                  <a:lnTo>
                    <a:pt x="1346574" y="768375"/>
                  </a:lnTo>
                  <a:lnTo>
                    <a:pt x="1282007" y="773518"/>
                  </a:lnTo>
                  <a:lnTo>
                    <a:pt x="1216057" y="777249"/>
                  </a:lnTo>
                  <a:lnTo>
                    <a:pt x="1148851" y="779520"/>
                  </a:lnTo>
                  <a:lnTo>
                    <a:pt x="1080516" y="780288"/>
                  </a:lnTo>
                  <a:lnTo>
                    <a:pt x="1012180" y="779520"/>
                  </a:lnTo>
                  <a:lnTo>
                    <a:pt x="944974" y="777249"/>
                  </a:lnTo>
                  <a:lnTo>
                    <a:pt x="879024" y="773518"/>
                  </a:lnTo>
                  <a:lnTo>
                    <a:pt x="814457" y="768375"/>
                  </a:lnTo>
                  <a:lnTo>
                    <a:pt x="751400" y="761865"/>
                  </a:lnTo>
                  <a:lnTo>
                    <a:pt x="689979" y="754032"/>
                  </a:lnTo>
                  <a:lnTo>
                    <a:pt x="630320" y="744924"/>
                  </a:lnTo>
                  <a:lnTo>
                    <a:pt x="572550" y="734586"/>
                  </a:lnTo>
                  <a:lnTo>
                    <a:pt x="516796" y="723062"/>
                  </a:lnTo>
                  <a:lnTo>
                    <a:pt x="463185" y="710400"/>
                  </a:lnTo>
                  <a:lnTo>
                    <a:pt x="411841" y="696644"/>
                  </a:lnTo>
                  <a:lnTo>
                    <a:pt x="362894" y="681841"/>
                  </a:lnTo>
                  <a:lnTo>
                    <a:pt x="316468" y="666035"/>
                  </a:lnTo>
                  <a:lnTo>
                    <a:pt x="272690" y="649273"/>
                  </a:lnTo>
                  <a:lnTo>
                    <a:pt x="231687" y="631600"/>
                  </a:lnTo>
                  <a:lnTo>
                    <a:pt x="193586" y="613062"/>
                  </a:lnTo>
                  <a:lnTo>
                    <a:pt x="158513" y="593705"/>
                  </a:lnTo>
                  <a:lnTo>
                    <a:pt x="97958" y="552714"/>
                  </a:lnTo>
                  <a:lnTo>
                    <a:pt x="51033" y="508993"/>
                  </a:lnTo>
                  <a:lnTo>
                    <a:pt x="18751" y="462907"/>
                  </a:lnTo>
                  <a:lnTo>
                    <a:pt x="2125" y="414822"/>
                  </a:lnTo>
                  <a:lnTo>
                    <a:pt x="0" y="39014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33918" y="1875790"/>
            <a:ext cx="1014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Soleado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98666" y="3087370"/>
            <a:ext cx="3420745" cy="3241040"/>
            <a:chOff x="6598666" y="3087370"/>
            <a:chExt cx="3420745" cy="3241040"/>
          </a:xfrm>
        </p:grpSpPr>
        <p:sp>
          <p:nvSpPr>
            <p:cNvPr id="9" name="object 9"/>
            <p:cNvSpPr/>
            <p:nvPr/>
          </p:nvSpPr>
          <p:spPr>
            <a:xfrm>
              <a:off x="7851648" y="3093720"/>
              <a:ext cx="2161540" cy="779145"/>
            </a:xfrm>
            <a:custGeom>
              <a:avLst/>
              <a:gdLst/>
              <a:ahLst/>
              <a:cxnLst/>
              <a:rect l="l" t="t" r="r" b="b"/>
              <a:pathLst>
                <a:path w="2161540" h="779145">
                  <a:moveTo>
                    <a:pt x="1080516" y="0"/>
                  </a:moveTo>
                  <a:lnTo>
                    <a:pt x="1012180" y="766"/>
                  </a:lnTo>
                  <a:lnTo>
                    <a:pt x="944974" y="3034"/>
                  </a:lnTo>
                  <a:lnTo>
                    <a:pt x="879024" y="6759"/>
                  </a:lnTo>
                  <a:lnTo>
                    <a:pt x="814457" y="11894"/>
                  </a:lnTo>
                  <a:lnTo>
                    <a:pt x="751400" y="18394"/>
                  </a:lnTo>
                  <a:lnTo>
                    <a:pt x="689979" y="26214"/>
                  </a:lnTo>
                  <a:lnTo>
                    <a:pt x="630320" y="35308"/>
                  </a:lnTo>
                  <a:lnTo>
                    <a:pt x="572550" y="45629"/>
                  </a:lnTo>
                  <a:lnTo>
                    <a:pt x="516796" y="57133"/>
                  </a:lnTo>
                  <a:lnTo>
                    <a:pt x="463185" y="69774"/>
                  </a:lnTo>
                  <a:lnTo>
                    <a:pt x="411841" y="83506"/>
                  </a:lnTo>
                  <a:lnTo>
                    <a:pt x="362894" y="98284"/>
                  </a:lnTo>
                  <a:lnTo>
                    <a:pt x="316468" y="114061"/>
                  </a:lnTo>
                  <a:lnTo>
                    <a:pt x="272690" y="130793"/>
                  </a:lnTo>
                  <a:lnTo>
                    <a:pt x="231687" y="148433"/>
                  </a:lnTo>
                  <a:lnTo>
                    <a:pt x="193586" y="166936"/>
                  </a:lnTo>
                  <a:lnTo>
                    <a:pt x="158513" y="186256"/>
                  </a:lnTo>
                  <a:lnTo>
                    <a:pt x="97958" y="227166"/>
                  </a:lnTo>
                  <a:lnTo>
                    <a:pt x="51033" y="270797"/>
                  </a:lnTo>
                  <a:lnTo>
                    <a:pt x="18751" y="316783"/>
                  </a:lnTo>
                  <a:lnTo>
                    <a:pt x="2125" y="364761"/>
                  </a:lnTo>
                  <a:lnTo>
                    <a:pt x="0" y="389381"/>
                  </a:lnTo>
                  <a:lnTo>
                    <a:pt x="2125" y="414002"/>
                  </a:lnTo>
                  <a:lnTo>
                    <a:pt x="18751" y="461980"/>
                  </a:lnTo>
                  <a:lnTo>
                    <a:pt x="51033" y="507966"/>
                  </a:lnTo>
                  <a:lnTo>
                    <a:pt x="97958" y="551597"/>
                  </a:lnTo>
                  <a:lnTo>
                    <a:pt x="158513" y="592507"/>
                  </a:lnTo>
                  <a:lnTo>
                    <a:pt x="193586" y="611827"/>
                  </a:lnTo>
                  <a:lnTo>
                    <a:pt x="231687" y="630330"/>
                  </a:lnTo>
                  <a:lnTo>
                    <a:pt x="272690" y="647970"/>
                  </a:lnTo>
                  <a:lnTo>
                    <a:pt x="316468" y="664702"/>
                  </a:lnTo>
                  <a:lnTo>
                    <a:pt x="362894" y="680479"/>
                  </a:lnTo>
                  <a:lnTo>
                    <a:pt x="411841" y="695257"/>
                  </a:lnTo>
                  <a:lnTo>
                    <a:pt x="463185" y="708989"/>
                  </a:lnTo>
                  <a:lnTo>
                    <a:pt x="516796" y="721630"/>
                  </a:lnTo>
                  <a:lnTo>
                    <a:pt x="572550" y="733134"/>
                  </a:lnTo>
                  <a:lnTo>
                    <a:pt x="630320" y="743455"/>
                  </a:lnTo>
                  <a:lnTo>
                    <a:pt x="689979" y="752549"/>
                  </a:lnTo>
                  <a:lnTo>
                    <a:pt x="751400" y="760369"/>
                  </a:lnTo>
                  <a:lnTo>
                    <a:pt x="814457" y="766869"/>
                  </a:lnTo>
                  <a:lnTo>
                    <a:pt x="879024" y="772004"/>
                  </a:lnTo>
                  <a:lnTo>
                    <a:pt x="944974" y="775729"/>
                  </a:lnTo>
                  <a:lnTo>
                    <a:pt x="1012180" y="777997"/>
                  </a:lnTo>
                  <a:lnTo>
                    <a:pt x="1080516" y="778763"/>
                  </a:lnTo>
                  <a:lnTo>
                    <a:pt x="1148851" y="777997"/>
                  </a:lnTo>
                  <a:lnTo>
                    <a:pt x="1216057" y="775729"/>
                  </a:lnTo>
                  <a:lnTo>
                    <a:pt x="1282007" y="772004"/>
                  </a:lnTo>
                  <a:lnTo>
                    <a:pt x="1346574" y="766869"/>
                  </a:lnTo>
                  <a:lnTo>
                    <a:pt x="1409631" y="760369"/>
                  </a:lnTo>
                  <a:lnTo>
                    <a:pt x="1471052" y="752549"/>
                  </a:lnTo>
                  <a:lnTo>
                    <a:pt x="1530711" y="743455"/>
                  </a:lnTo>
                  <a:lnTo>
                    <a:pt x="1588481" y="733134"/>
                  </a:lnTo>
                  <a:lnTo>
                    <a:pt x="1644235" y="721630"/>
                  </a:lnTo>
                  <a:lnTo>
                    <a:pt x="1697846" y="708989"/>
                  </a:lnTo>
                  <a:lnTo>
                    <a:pt x="1749190" y="695257"/>
                  </a:lnTo>
                  <a:lnTo>
                    <a:pt x="1798137" y="680479"/>
                  </a:lnTo>
                  <a:lnTo>
                    <a:pt x="1844563" y="664702"/>
                  </a:lnTo>
                  <a:lnTo>
                    <a:pt x="1888341" y="647970"/>
                  </a:lnTo>
                  <a:lnTo>
                    <a:pt x="1929344" y="630330"/>
                  </a:lnTo>
                  <a:lnTo>
                    <a:pt x="1967445" y="611827"/>
                  </a:lnTo>
                  <a:lnTo>
                    <a:pt x="2002518" y="592507"/>
                  </a:lnTo>
                  <a:lnTo>
                    <a:pt x="2063073" y="551597"/>
                  </a:lnTo>
                  <a:lnTo>
                    <a:pt x="2109998" y="507966"/>
                  </a:lnTo>
                  <a:lnTo>
                    <a:pt x="2142280" y="461980"/>
                  </a:lnTo>
                  <a:lnTo>
                    <a:pt x="2158906" y="414002"/>
                  </a:lnTo>
                  <a:lnTo>
                    <a:pt x="2161031" y="389381"/>
                  </a:lnTo>
                  <a:lnTo>
                    <a:pt x="2158906" y="364761"/>
                  </a:lnTo>
                  <a:lnTo>
                    <a:pt x="2142280" y="316783"/>
                  </a:lnTo>
                  <a:lnTo>
                    <a:pt x="2109998" y="270797"/>
                  </a:lnTo>
                  <a:lnTo>
                    <a:pt x="2063073" y="227166"/>
                  </a:lnTo>
                  <a:lnTo>
                    <a:pt x="2002518" y="186256"/>
                  </a:lnTo>
                  <a:lnTo>
                    <a:pt x="1967445" y="166936"/>
                  </a:lnTo>
                  <a:lnTo>
                    <a:pt x="1929344" y="148433"/>
                  </a:lnTo>
                  <a:lnTo>
                    <a:pt x="1888341" y="130793"/>
                  </a:lnTo>
                  <a:lnTo>
                    <a:pt x="1844563" y="114061"/>
                  </a:lnTo>
                  <a:lnTo>
                    <a:pt x="1798137" y="98284"/>
                  </a:lnTo>
                  <a:lnTo>
                    <a:pt x="1749190" y="83506"/>
                  </a:lnTo>
                  <a:lnTo>
                    <a:pt x="1697846" y="69774"/>
                  </a:lnTo>
                  <a:lnTo>
                    <a:pt x="1644235" y="57133"/>
                  </a:lnTo>
                  <a:lnTo>
                    <a:pt x="1588481" y="45629"/>
                  </a:lnTo>
                  <a:lnTo>
                    <a:pt x="1530711" y="35308"/>
                  </a:lnTo>
                  <a:lnTo>
                    <a:pt x="1471052" y="26214"/>
                  </a:lnTo>
                  <a:lnTo>
                    <a:pt x="1409631" y="18394"/>
                  </a:lnTo>
                  <a:lnTo>
                    <a:pt x="1346574" y="11894"/>
                  </a:lnTo>
                  <a:lnTo>
                    <a:pt x="1282007" y="6759"/>
                  </a:lnTo>
                  <a:lnTo>
                    <a:pt x="1216057" y="3034"/>
                  </a:lnTo>
                  <a:lnTo>
                    <a:pt x="1148851" y="76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51648" y="3093720"/>
              <a:ext cx="2161540" cy="779145"/>
            </a:xfrm>
            <a:custGeom>
              <a:avLst/>
              <a:gdLst/>
              <a:ahLst/>
              <a:cxnLst/>
              <a:rect l="l" t="t" r="r" b="b"/>
              <a:pathLst>
                <a:path w="2161540" h="779145">
                  <a:moveTo>
                    <a:pt x="0" y="389381"/>
                  </a:moveTo>
                  <a:lnTo>
                    <a:pt x="8418" y="340546"/>
                  </a:lnTo>
                  <a:lnTo>
                    <a:pt x="32998" y="293518"/>
                  </a:lnTo>
                  <a:lnTo>
                    <a:pt x="72728" y="248664"/>
                  </a:lnTo>
                  <a:lnTo>
                    <a:pt x="126595" y="206348"/>
                  </a:lnTo>
                  <a:lnTo>
                    <a:pt x="193586" y="166936"/>
                  </a:lnTo>
                  <a:lnTo>
                    <a:pt x="231687" y="148433"/>
                  </a:lnTo>
                  <a:lnTo>
                    <a:pt x="272690" y="130793"/>
                  </a:lnTo>
                  <a:lnTo>
                    <a:pt x="316468" y="114061"/>
                  </a:lnTo>
                  <a:lnTo>
                    <a:pt x="362894" y="98284"/>
                  </a:lnTo>
                  <a:lnTo>
                    <a:pt x="411841" y="83506"/>
                  </a:lnTo>
                  <a:lnTo>
                    <a:pt x="463185" y="69774"/>
                  </a:lnTo>
                  <a:lnTo>
                    <a:pt x="516796" y="57133"/>
                  </a:lnTo>
                  <a:lnTo>
                    <a:pt x="572550" y="45629"/>
                  </a:lnTo>
                  <a:lnTo>
                    <a:pt x="630320" y="35308"/>
                  </a:lnTo>
                  <a:lnTo>
                    <a:pt x="689979" y="26214"/>
                  </a:lnTo>
                  <a:lnTo>
                    <a:pt x="751400" y="18394"/>
                  </a:lnTo>
                  <a:lnTo>
                    <a:pt x="814457" y="11894"/>
                  </a:lnTo>
                  <a:lnTo>
                    <a:pt x="879024" y="6759"/>
                  </a:lnTo>
                  <a:lnTo>
                    <a:pt x="944974" y="3034"/>
                  </a:lnTo>
                  <a:lnTo>
                    <a:pt x="1012180" y="766"/>
                  </a:lnTo>
                  <a:lnTo>
                    <a:pt x="1080516" y="0"/>
                  </a:lnTo>
                  <a:lnTo>
                    <a:pt x="1148851" y="766"/>
                  </a:lnTo>
                  <a:lnTo>
                    <a:pt x="1216057" y="3034"/>
                  </a:lnTo>
                  <a:lnTo>
                    <a:pt x="1282007" y="6759"/>
                  </a:lnTo>
                  <a:lnTo>
                    <a:pt x="1346574" y="11894"/>
                  </a:lnTo>
                  <a:lnTo>
                    <a:pt x="1409631" y="18394"/>
                  </a:lnTo>
                  <a:lnTo>
                    <a:pt x="1471052" y="26214"/>
                  </a:lnTo>
                  <a:lnTo>
                    <a:pt x="1530711" y="35308"/>
                  </a:lnTo>
                  <a:lnTo>
                    <a:pt x="1588481" y="45629"/>
                  </a:lnTo>
                  <a:lnTo>
                    <a:pt x="1644235" y="57133"/>
                  </a:lnTo>
                  <a:lnTo>
                    <a:pt x="1697846" y="69774"/>
                  </a:lnTo>
                  <a:lnTo>
                    <a:pt x="1749190" y="83506"/>
                  </a:lnTo>
                  <a:lnTo>
                    <a:pt x="1798137" y="98284"/>
                  </a:lnTo>
                  <a:lnTo>
                    <a:pt x="1844563" y="114061"/>
                  </a:lnTo>
                  <a:lnTo>
                    <a:pt x="1888341" y="130793"/>
                  </a:lnTo>
                  <a:lnTo>
                    <a:pt x="1929344" y="148433"/>
                  </a:lnTo>
                  <a:lnTo>
                    <a:pt x="1967445" y="166936"/>
                  </a:lnTo>
                  <a:lnTo>
                    <a:pt x="2002518" y="186256"/>
                  </a:lnTo>
                  <a:lnTo>
                    <a:pt x="2063073" y="227166"/>
                  </a:lnTo>
                  <a:lnTo>
                    <a:pt x="2109998" y="270797"/>
                  </a:lnTo>
                  <a:lnTo>
                    <a:pt x="2142280" y="316783"/>
                  </a:lnTo>
                  <a:lnTo>
                    <a:pt x="2158906" y="364761"/>
                  </a:lnTo>
                  <a:lnTo>
                    <a:pt x="2161031" y="389381"/>
                  </a:lnTo>
                  <a:lnTo>
                    <a:pt x="2158906" y="414002"/>
                  </a:lnTo>
                  <a:lnTo>
                    <a:pt x="2142280" y="461980"/>
                  </a:lnTo>
                  <a:lnTo>
                    <a:pt x="2109998" y="507966"/>
                  </a:lnTo>
                  <a:lnTo>
                    <a:pt x="2063073" y="551597"/>
                  </a:lnTo>
                  <a:lnTo>
                    <a:pt x="2002518" y="592507"/>
                  </a:lnTo>
                  <a:lnTo>
                    <a:pt x="1967445" y="611827"/>
                  </a:lnTo>
                  <a:lnTo>
                    <a:pt x="1929344" y="630330"/>
                  </a:lnTo>
                  <a:lnTo>
                    <a:pt x="1888341" y="647970"/>
                  </a:lnTo>
                  <a:lnTo>
                    <a:pt x="1844563" y="664702"/>
                  </a:lnTo>
                  <a:lnTo>
                    <a:pt x="1798137" y="680479"/>
                  </a:lnTo>
                  <a:lnTo>
                    <a:pt x="1749190" y="695257"/>
                  </a:lnTo>
                  <a:lnTo>
                    <a:pt x="1697846" y="708989"/>
                  </a:lnTo>
                  <a:lnTo>
                    <a:pt x="1644235" y="721630"/>
                  </a:lnTo>
                  <a:lnTo>
                    <a:pt x="1588481" y="733134"/>
                  </a:lnTo>
                  <a:lnTo>
                    <a:pt x="1530711" y="743455"/>
                  </a:lnTo>
                  <a:lnTo>
                    <a:pt x="1471052" y="752549"/>
                  </a:lnTo>
                  <a:lnTo>
                    <a:pt x="1409631" y="760369"/>
                  </a:lnTo>
                  <a:lnTo>
                    <a:pt x="1346574" y="766869"/>
                  </a:lnTo>
                  <a:lnTo>
                    <a:pt x="1282007" y="772004"/>
                  </a:lnTo>
                  <a:lnTo>
                    <a:pt x="1216057" y="775729"/>
                  </a:lnTo>
                  <a:lnTo>
                    <a:pt x="1148851" y="777997"/>
                  </a:lnTo>
                  <a:lnTo>
                    <a:pt x="1080516" y="778763"/>
                  </a:lnTo>
                  <a:lnTo>
                    <a:pt x="1012180" y="777997"/>
                  </a:lnTo>
                  <a:lnTo>
                    <a:pt x="944974" y="775729"/>
                  </a:lnTo>
                  <a:lnTo>
                    <a:pt x="879024" y="772004"/>
                  </a:lnTo>
                  <a:lnTo>
                    <a:pt x="814457" y="766869"/>
                  </a:lnTo>
                  <a:lnTo>
                    <a:pt x="751400" y="760369"/>
                  </a:lnTo>
                  <a:lnTo>
                    <a:pt x="689979" y="752549"/>
                  </a:lnTo>
                  <a:lnTo>
                    <a:pt x="630320" y="743455"/>
                  </a:lnTo>
                  <a:lnTo>
                    <a:pt x="572550" y="733134"/>
                  </a:lnTo>
                  <a:lnTo>
                    <a:pt x="516796" y="721630"/>
                  </a:lnTo>
                  <a:lnTo>
                    <a:pt x="463185" y="708989"/>
                  </a:lnTo>
                  <a:lnTo>
                    <a:pt x="411841" y="695257"/>
                  </a:lnTo>
                  <a:lnTo>
                    <a:pt x="362894" y="680479"/>
                  </a:lnTo>
                  <a:lnTo>
                    <a:pt x="316468" y="664702"/>
                  </a:lnTo>
                  <a:lnTo>
                    <a:pt x="272690" y="647970"/>
                  </a:lnTo>
                  <a:lnTo>
                    <a:pt x="231687" y="630330"/>
                  </a:lnTo>
                  <a:lnTo>
                    <a:pt x="193586" y="611827"/>
                  </a:lnTo>
                  <a:lnTo>
                    <a:pt x="158513" y="592507"/>
                  </a:lnTo>
                  <a:lnTo>
                    <a:pt x="97958" y="551597"/>
                  </a:lnTo>
                  <a:lnTo>
                    <a:pt x="51033" y="507966"/>
                  </a:lnTo>
                  <a:lnTo>
                    <a:pt x="18751" y="461980"/>
                  </a:lnTo>
                  <a:lnTo>
                    <a:pt x="2125" y="414002"/>
                  </a:lnTo>
                  <a:lnTo>
                    <a:pt x="0" y="38938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25740" y="4344924"/>
              <a:ext cx="2159635" cy="780415"/>
            </a:xfrm>
            <a:custGeom>
              <a:avLst/>
              <a:gdLst/>
              <a:ahLst/>
              <a:cxnLst/>
              <a:rect l="l" t="t" r="r" b="b"/>
              <a:pathLst>
                <a:path w="2159634" h="780414">
                  <a:moveTo>
                    <a:pt x="1079753" y="0"/>
                  </a:moveTo>
                  <a:lnTo>
                    <a:pt x="1011462" y="767"/>
                  </a:lnTo>
                  <a:lnTo>
                    <a:pt x="944300" y="3038"/>
                  </a:lnTo>
                  <a:lnTo>
                    <a:pt x="878394" y="6769"/>
                  </a:lnTo>
                  <a:lnTo>
                    <a:pt x="813870" y="11912"/>
                  </a:lnTo>
                  <a:lnTo>
                    <a:pt x="750855" y="18422"/>
                  </a:lnTo>
                  <a:lnTo>
                    <a:pt x="689476" y="26255"/>
                  </a:lnTo>
                  <a:lnTo>
                    <a:pt x="629858" y="35363"/>
                  </a:lnTo>
                  <a:lnTo>
                    <a:pt x="572129" y="45701"/>
                  </a:lnTo>
                  <a:lnTo>
                    <a:pt x="516414" y="57225"/>
                  </a:lnTo>
                  <a:lnTo>
                    <a:pt x="462840" y="69887"/>
                  </a:lnTo>
                  <a:lnTo>
                    <a:pt x="411534" y="83643"/>
                  </a:lnTo>
                  <a:lnTo>
                    <a:pt x="362622" y="98446"/>
                  </a:lnTo>
                  <a:lnTo>
                    <a:pt x="316230" y="114252"/>
                  </a:lnTo>
                  <a:lnTo>
                    <a:pt x="272484" y="131014"/>
                  </a:lnTo>
                  <a:lnTo>
                    <a:pt x="231512" y="148687"/>
                  </a:lnTo>
                  <a:lnTo>
                    <a:pt x="193439" y="167225"/>
                  </a:lnTo>
                  <a:lnTo>
                    <a:pt x="158392" y="186582"/>
                  </a:lnTo>
                  <a:lnTo>
                    <a:pt x="97882" y="227573"/>
                  </a:lnTo>
                  <a:lnTo>
                    <a:pt x="50993" y="271294"/>
                  </a:lnTo>
                  <a:lnTo>
                    <a:pt x="18736" y="317380"/>
                  </a:lnTo>
                  <a:lnTo>
                    <a:pt x="2124" y="365465"/>
                  </a:lnTo>
                  <a:lnTo>
                    <a:pt x="0" y="390144"/>
                  </a:lnTo>
                  <a:lnTo>
                    <a:pt x="2124" y="414822"/>
                  </a:lnTo>
                  <a:lnTo>
                    <a:pt x="18736" y="462907"/>
                  </a:lnTo>
                  <a:lnTo>
                    <a:pt x="50993" y="508993"/>
                  </a:lnTo>
                  <a:lnTo>
                    <a:pt x="97882" y="552714"/>
                  </a:lnTo>
                  <a:lnTo>
                    <a:pt x="158392" y="593705"/>
                  </a:lnTo>
                  <a:lnTo>
                    <a:pt x="193439" y="613062"/>
                  </a:lnTo>
                  <a:lnTo>
                    <a:pt x="231512" y="631600"/>
                  </a:lnTo>
                  <a:lnTo>
                    <a:pt x="272484" y="649273"/>
                  </a:lnTo>
                  <a:lnTo>
                    <a:pt x="316229" y="666035"/>
                  </a:lnTo>
                  <a:lnTo>
                    <a:pt x="362622" y="681841"/>
                  </a:lnTo>
                  <a:lnTo>
                    <a:pt x="411534" y="696644"/>
                  </a:lnTo>
                  <a:lnTo>
                    <a:pt x="462840" y="710400"/>
                  </a:lnTo>
                  <a:lnTo>
                    <a:pt x="516414" y="723062"/>
                  </a:lnTo>
                  <a:lnTo>
                    <a:pt x="572129" y="734586"/>
                  </a:lnTo>
                  <a:lnTo>
                    <a:pt x="629858" y="744924"/>
                  </a:lnTo>
                  <a:lnTo>
                    <a:pt x="689476" y="754032"/>
                  </a:lnTo>
                  <a:lnTo>
                    <a:pt x="750855" y="761865"/>
                  </a:lnTo>
                  <a:lnTo>
                    <a:pt x="813870" y="768375"/>
                  </a:lnTo>
                  <a:lnTo>
                    <a:pt x="878394" y="773518"/>
                  </a:lnTo>
                  <a:lnTo>
                    <a:pt x="944300" y="777249"/>
                  </a:lnTo>
                  <a:lnTo>
                    <a:pt x="1011462" y="779520"/>
                  </a:lnTo>
                  <a:lnTo>
                    <a:pt x="1079753" y="780288"/>
                  </a:lnTo>
                  <a:lnTo>
                    <a:pt x="1148045" y="779520"/>
                  </a:lnTo>
                  <a:lnTo>
                    <a:pt x="1215207" y="777249"/>
                  </a:lnTo>
                  <a:lnTo>
                    <a:pt x="1281113" y="773518"/>
                  </a:lnTo>
                  <a:lnTo>
                    <a:pt x="1345637" y="768375"/>
                  </a:lnTo>
                  <a:lnTo>
                    <a:pt x="1408652" y="761865"/>
                  </a:lnTo>
                  <a:lnTo>
                    <a:pt x="1470031" y="754032"/>
                  </a:lnTo>
                  <a:lnTo>
                    <a:pt x="1529649" y="744924"/>
                  </a:lnTo>
                  <a:lnTo>
                    <a:pt x="1587378" y="734586"/>
                  </a:lnTo>
                  <a:lnTo>
                    <a:pt x="1643093" y="723062"/>
                  </a:lnTo>
                  <a:lnTo>
                    <a:pt x="1696667" y="710400"/>
                  </a:lnTo>
                  <a:lnTo>
                    <a:pt x="1747973" y="696644"/>
                  </a:lnTo>
                  <a:lnTo>
                    <a:pt x="1796885" y="681841"/>
                  </a:lnTo>
                  <a:lnTo>
                    <a:pt x="1843277" y="666035"/>
                  </a:lnTo>
                  <a:lnTo>
                    <a:pt x="1887023" y="649273"/>
                  </a:lnTo>
                  <a:lnTo>
                    <a:pt x="1927995" y="631600"/>
                  </a:lnTo>
                  <a:lnTo>
                    <a:pt x="1966068" y="613062"/>
                  </a:lnTo>
                  <a:lnTo>
                    <a:pt x="2001115" y="593705"/>
                  </a:lnTo>
                  <a:lnTo>
                    <a:pt x="2061625" y="552714"/>
                  </a:lnTo>
                  <a:lnTo>
                    <a:pt x="2108514" y="508993"/>
                  </a:lnTo>
                  <a:lnTo>
                    <a:pt x="2140771" y="462907"/>
                  </a:lnTo>
                  <a:lnTo>
                    <a:pt x="2157383" y="414822"/>
                  </a:lnTo>
                  <a:lnTo>
                    <a:pt x="2159507" y="390144"/>
                  </a:lnTo>
                  <a:lnTo>
                    <a:pt x="2157383" y="365465"/>
                  </a:lnTo>
                  <a:lnTo>
                    <a:pt x="2140771" y="317380"/>
                  </a:lnTo>
                  <a:lnTo>
                    <a:pt x="2108514" y="271294"/>
                  </a:lnTo>
                  <a:lnTo>
                    <a:pt x="2061625" y="227573"/>
                  </a:lnTo>
                  <a:lnTo>
                    <a:pt x="2001115" y="186582"/>
                  </a:lnTo>
                  <a:lnTo>
                    <a:pt x="1966068" y="167225"/>
                  </a:lnTo>
                  <a:lnTo>
                    <a:pt x="1927995" y="148687"/>
                  </a:lnTo>
                  <a:lnTo>
                    <a:pt x="1887023" y="131014"/>
                  </a:lnTo>
                  <a:lnTo>
                    <a:pt x="1843277" y="114252"/>
                  </a:lnTo>
                  <a:lnTo>
                    <a:pt x="1796885" y="98446"/>
                  </a:lnTo>
                  <a:lnTo>
                    <a:pt x="1747973" y="83643"/>
                  </a:lnTo>
                  <a:lnTo>
                    <a:pt x="1696667" y="69887"/>
                  </a:lnTo>
                  <a:lnTo>
                    <a:pt x="1643093" y="57225"/>
                  </a:lnTo>
                  <a:lnTo>
                    <a:pt x="1587378" y="45701"/>
                  </a:lnTo>
                  <a:lnTo>
                    <a:pt x="1529649" y="35363"/>
                  </a:lnTo>
                  <a:lnTo>
                    <a:pt x="1470031" y="26255"/>
                  </a:lnTo>
                  <a:lnTo>
                    <a:pt x="1408652" y="18422"/>
                  </a:lnTo>
                  <a:lnTo>
                    <a:pt x="1345637" y="11912"/>
                  </a:lnTo>
                  <a:lnTo>
                    <a:pt x="1281113" y="6769"/>
                  </a:lnTo>
                  <a:lnTo>
                    <a:pt x="1215207" y="3038"/>
                  </a:lnTo>
                  <a:lnTo>
                    <a:pt x="1148045" y="767"/>
                  </a:lnTo>
                  <a:lnTo>
                    <a:pt x="107975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25740" y="4344924"/>
              <a:ext cx="2159635" cy="780415"/>
            </a:xfrm>
            <a:custGeom>
              <a:avLst/>
              <a:gdLst/>
              <a:ahLst/>
              <a:cxnLst/>
              <a:rect l="l" t="t" r="r" b="b"/>
              <a:pathLst>
                <a:path w="2159634" h="780414">
                  <a:moveTo>
                    <a:pt x="0" y="390144"/>
                  </a:moveTo>
                  <a:lnTo>
                    <a:pt x="8411" y="341195"/>
                  </a:lnTo>
                  <a:lnTo>
                    <a:pt x="32973" y="294064"/>
                  </a:lnTo>
                  <a:lnTo>
                    <a:pt x="72672" y="249115"/>
                  </a:lnTo>
                  <a:lnTo>
                    <a:pt x="126498" y="206713"/>
                  </a:lnTo>
                  <a:lnTo>
                    <a:pt x="193439" y="167225"/>
                  </a:lnTo>
                  <a:lnTo>
                    <a:pt x="231512" y="148687"/>
                  </a:lnTo>
                  <a:lnTo>
                    <a:pt x="272484" y="131014"/>
                  </a:lnTo>
                  <a:lnTo>
                    <a:pt x="316230" y="114252"/>
                  </a:lnTo>
                  <a:lnTo>
                    <a:pt x="362622" y="98446"/>
                  </a:lnTo>
                  <a:lnTo>
                    <a:pt x="411534" y="83643"/>
                  </a:lnTo>
                  <a:lnTo>
                    <a:pt x="462840" y="69887"/>
                  </a:lnTo>
                  <a:lnTo>
                    <a:pt x="516414" y="57225"/>
                  </a:lnTo>
                  <a:lnTo>
                    <a:pt x="572129" y="45701"/>
                  </a:lnTo>
                  <a:lnTo>
                    <a:pt x="629858" y="35363"/>
                  </a:lnTo>
                  <a:lnTo>
                    <a:pt x="689476" y="26255"/>
                  </a:lnTo>
                  <a:lnTo>
                    <a:pt x="750855" y="18422"/>
                  </a:lnTo>
                  <a:lnTo>
                    <a:pt x="813870" y="11912"/>
                  </a:lnTo>
                  <a:lnTo>
                    <a:pt x="878394" y="6769"/>
                  </a:lnTo>
                  <a:lnTo>
                    <a:pt x="944300" y="3038"/>
                  </a:lnTo>
                  <a:lnTo>
                    <a:pt x="1011462" y="767"/>
                  </a:lnTo>
                  <a:lnTo>
                    <a:pt x="1079753" y="0"/>
                  </a:lnTo>
                  <a:lnTo>
                    <a:pt x="1148045" y="767"/>
                  </a:lnTo>
                  <a:lnTo>
                    <a:pt x="1215207" y="3038"/>
                  </a:lnTo>
                  <a:lnTo>
                    <a:pt x="1281113" y="6769"/>
                  </a:lnTo>
                  <a:lnTo>
                    <a:pt x="1345637" y="11912"/>
                  </a:lnTo>
                  <a:lnTo>
                    <a:pt x="1408652" y="18422"/>
                  </a:lnTo>
                  <a:lnTo>
                    <a:pt x="1470031" y="26255"/>
                  </a:lnTo>
                  <a:lnTo>
                    <a:pt x="1529649" y="35363"/>
                  </a:lnTo>
                  <a:lnTo>
                    <a:pt x="1587378" y="45701"/>
                  </a:lnTo>
                  <a:lnTo>
                    <a:pt x="1643093" y="57225"/>
                  </a:lnTo>
                  <a:lnTo>
                    <a:pt x="1696667" y="69887"/>
                  </a:lnTo>
                  <a:lnTo>
                    <a:pt x="1747973" y="83643"/>
                  </a:lnTo>
                  <a:lnTo>
                    <a:pt x="1796885" y="98446"/>
                  </a:lnTo>
                  <a:lnTo>
                    <a:pt x="1843277" y="114252"/>
                  </a:lnTo>
                  <a:lnTo>
                    <a:pt x="1887023" y="131014"/>
                  </a:lnTo>
                  <a:lnTo>
                    <a:pt x="1927995" y="148687"/>
                  </a:lnTo>
                  <a:lnTo>
                    <a:pt x="1966068" y="167225"/>
                  </a:lnTo>
                  <a:lnTo>
                    <a:pt x="2001115" y="186582"/>
                  </a:lnTo>
                  <a:lnTo>
                    <a:pt x="2061625" y="227573"/>
                  </a:lnTo>
                  <a:lnTo>
                    <a:pt x="2108514" y="271294"/>
                  </a:lnTo>
                  <a:lnTo>
                    <a:pt x="2140771" y="317380"/>
                  </a:lnTo>
                  <a:lnTo>
                    <a:pt x="2157383" y="365465"/>
                  </a:lnTo>
                  <a:lnTo>
                    <a:pt x="2159507" y="390144"/>
                  </a:lnTo>
                  <a:lnTo>
                    <a:pt x="2157383" y="414822"/>
                  </a:lnTo>
                  <a:lnTo>
                    <a:pt x="2140771" y="462907"/>
                  </a:lnTo>
                  <a:lnTo>
                    <a:pt x="2108514" y="508993"/>
                  </a:lnTo>
                  <a:lnTo>
                    <a:pt x="2061625" y="552714"/>
                  </a:lnTo>
                  <a:lnTo>
                    <a:pt x="2001115" y="593705"/>
                  </a:lnTo>
                  <a:lnTo>
                    <a:pt x="1966068" y="613062"/>
                  </a:lnTo>
                  <a:lnTo>
                    <a:pt x="1927995" y="631600"/>
                  </a:lnTo>
                  <a:lnTo>
                    <a:pt x="1887023" y="649273"/>
                  </a:lnTo>
                  <a:lnTo>
                    <a:pt x="1843277" y="666035"/>
                  </a:lnTo>
                  <a:lnTo>
                    <a:pt x="1796885" y="681841"/>
                  </a:lnTo>
                  <a:lnTo>
                    <a:pt x="1747973" y="696644"/>
                  </a:lnTo>
                  <a:lnTo>
                    <a:pt x="1696667" y="710400"/>
                  </a:lnTo>
                  <a:lnTo>
                    <a:pt x="1643093" y="723062"/>
                  </a:lnTo>
                  <a:lnTo>
                    <a:pt x="1587378" y="734586"/>
                  </a:lnTo>
                  <a:lnTo>
                    <a:pt x="1529649" y="744924"/>
                  </a:lnTo>
                  <a:lnTo>
                    <a:pt x="1470031" y="754032"/>
                  </a:lnTo>
                  <a:lnTo>
                    <a:pt x="1408652" y="761865"/>
                  </a:lnTo>
                  <a:lnTo>
                    <a:pt x="1345637" y="768375"/>
                  </a:lnTo>
                  <a:lnTo>
                    <a:pt x="1281113" y="773518"/>
                  </a:lnTo>
                  <a:lnTo>
                    <a:pt x="1215207" y="777249"/>
                  </a:lnTo>
                  <a:lnTo>
                    <a:pt x="1148045" y="779520"/>
                  </a:lnTo>
                  <a:lnTo>
                    <a:pt x="1079753" y="780288"/>
                  </a:lnTo>
                  <a:lnTo>
                    <a:pt x="1011462" y="779520"/>
                  </a:lnTo>
                  <a:lnTo>
                    <a:pt x="944300" y="777249"/>
                  </a:lnTo>
                  <a:lnTo>
                    <a:pt x="878394" y="773518"/>
                  </a:lnTo>
                  <a:lnTo>
                    <a:pt x="813870" y="768375"/>
                  </a:lnTo>
                  <a:lnTo>
                    <a:pt x="750855" y="761865"/>
                  </a:lnTo>
                  <a:lnTo>
                    <a:pt x="689476" y="754032"/>
                  </a:lnTo>
                  <a:lnTo>
                    <a:pt x="629858" y="744924"/>
                  </a:lnTo>
                  <a:lnTo>
                    <a:pt x="572129" y="734586"/>
                  </a:lnTo>
                  <a:lnTo>
                    <a:pt x="516414" y="723062"/>
                  </a:lnTo>
                  <a:lnTo>
                    <a:pt x="462840" y="710400"/>
                  </a:lnTo>
                  <a:lnTo>
                    <a:pt x="411534" y="696644"/>
                  </a:lnTo>
                  <a:lnTo>
                    <a:pt x="362622" y="681841"/>
                  </a:lnTo>
                  <a:lnTo>
                    <a:pt x="316229" y="666035"/>
                  </a:lnTo>
                  <a:lnTo>
                    <a:pt x="272484" y="649273"/>
                  </a:lnTo>
                  <a:lnTo>
                    <a:pt x="231512" y="631600"/>
                  </a:lnTo>
                  <a:lnTo>
                    <a:pt x="193439" y="613062"/>
                  </a:lnTo>
                  <a:lnTo>
                    <a:pt x="158392" y="593705"/>
                  </a:lnTo>
                  <a:lnTo>
                    <a:pt x="97882" y="552714"/>
                  </a:lnTo>
                  <a:lnTo>
                    <a:pt x="50993" y="508993"/>
                  </a:lnTo>
                  <a:lnTo>
                    <a:pt x="18736" y="462907"/>
                  </a:lnTo>
                  <a:lnTo>
                    <a:pt x="2124" y="414822"/>
                  </a:lnTo>
                  <a:lnTo>
                    <a:pt x="0" y="39014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05016" y="5541264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1080515" y="0"/>
                  </a:moveTo>
                  <a:lnTo>
                    <a:pt x="1012180" y="767"/>
                  </a:lnTo>
                  <a:lnTo>
                    <a:pt x="944974" y="3039"/>
                  </a:lnTo>
                  <a:lnTo>
                    <a:pt x="879024" y="6771"/>
                  </a:lnTo>
                  <a:lnTo>
                    <a:pt x="814457" y="11915"/>
                  </a:lnTo>
                  <a:lnTo>
                    <a:pt x="751400" y="18427"/>
                  </a:lnTo>
                  <a:lnTo>
                    <a:pt x="689979" y="26261"/>
                  </a:lnTo>
                  <a:lnTo>
                    <a:pt x="630320" y="35371"/>
                  </a:lnTo>
                  <a:lnTo>
                    <a:pt x="572550" y="45711"/>
                  </a:lnTo>
                  <a:lnTo>
                    <a:pt x="516796" y="57237"/>
                  </a:lnTo>
                  <a:lnTo>
                    <a:pt x="463185" y="69901"/>
                  </a:lnTo>
                  <a:lnTo>
                    <a:pt x="411841" y="83659"/>
                  </a:lnTo>
                  <a:lnTo>
                    <a:pt x="362894" y="98464"/>
                  </a:lnTo>
                  <a:lnTo>
                    <a:pt x="316468" y="114271"/>
                  </a:lnTo>
                  <a:lnTo>
                    <a:pt x="272690" y="131034"/>
                  </a:lnTo>
                  <a:lnTo>
                    <a:pt x="231687" y="148708"/>
                  </a:lnTo>
                  <a:lnTo>
                    <a:pt x="193586" y="167247"/>
                  </a:lnTo>
                  <a:lnTo>
                    <a:pt x="158513" y="186605"/>
                  </a:lnTo>
                  <a:lnTo>
                    <a:pt x="97958" y="227595"/>
                  </a:lnTo>
                  <a:lnTo>
                    <a:pt x="51033" y="271313"/>
                  </a:lnTo>
                  <a:lnTo>
                    <a:pt x="18751" y="317393"/>
                  </a:lnTo>
                  <a:lnTo>
                    <a:pt x="2125" y="365470"/>
                  </a:lnTo>
                  <a:lnTo>
                    <a:pt x="0" y="390144"/>
                  </a:lnTo>
                  <a:lnTo>
                    <a:pt x="2125" y="414817"/>
                  </a:lnTo>
                  <a:lnTo>
                    <a:pt x="18751" y="462894"/>
                  </a:lnTo>
                  <a:lnTo>
                    <a:pt x="51033" y="508974"/>
                  </a:lnTo>
                  <a:lnTo>
                    <a:pt x="97958" y="552692"/>
                  </a:lnTo>
                  <a:lnTo>
                    <a:pt x="158513" y="593682"/>
                  </a:lnTo>
                  <a:lnTo>
                    <a:pt x="193586" y="613040"/>
                  </a:lnTo>
                  <a:lnTo>
                    <a:pt x="231687" y="631579"/>
                  </a:lnTo>
                  <a:lnTo>
                    <a:pt x="272690" y="649253"/>
                  </a:lnTo>
                  <a:lnTo>
                    <a:pt x="316468" y="666016"/>
                  </a:lnTo>
                  <a:lnTo>
                    <a:pt x="362894" y="681823"/>
                  </a:lnTo>
                  <a:lnTo>
                    <a:pt x="411841" y="696628"/>
                  </a:lnTo>
                  <a:lnTo>
                    <a:pt x="463185" y="710386"/>
                  </a:lnTo>
                  <a:lnTo>
                    <a:pt x="516796" y="723050"/>
                  </a:lnTo>
                  <a:lnTo>
                    <a:pt x="572550" y="734576"/>
                  </a:lnTo>
                  <a:lnTo>
                    <a:pt x="630320" y="744916"/>
                  </a:lnTo>
                  <a:lnTo>
                    <a:pt x="689979" y="754026"/>
                  </a:lnTo>
                  <a:lnTo>
                    <a:pt x="751400" y="761860"/>
                  </a:lnTo>
                  <a:lnTo>
                    <a:pt x="814457" y="768372"/>
                  </a:lnTo>
                  <a:lnTo>
                    <a:pt x="879024" y="773516"/>
                  </a:lnTo>
                  <a:lnTo>
                    <a:pt x="944974" y="777248"/>
                  </a:lnTo>
                  <a:lnTo>
                    <a:pt x="1012180" y="779520"/>
                  </a:lnTo>
                  <a:lnTo>
                    <a:pt x="1080515" y="780288"/>
                  </a:lnTo>
                  <a:lnTo>
                    <a:pt x="1148851" y="779520"/>
                  </a:lnTo>
                  <a:lnTo>
                    <a:pt x="1216057" y="777248"/>
                  </a:lnTo>
                  <a:lnTo>
                    <a:pt x="1282007" y="773516"/>
                  </a:lnTo>
                  <a:lnTo>
                    <a:pt x="1346574" y="768372"/>
                  </a:lnTo>
                  <a:lnTo>
                    <a:pt x="1409631" y="761860"/>
                  </a:lnTo>
                  <a:lnTo>
                    <a:pt x="1471052" y="754026"/>
                  </a:lnTo>
                  <a:lnTo>
                    <a:pt x="1530711" y="744916"/>
                  </a:lnTo>
                  <a:lnTo>
                    <a:pt x="1588481" y="734576"/>
                  </a:lnTo>
                  <a:lnTo>
                    <a:pt x="1644235" y="723050"/>
                  </a:lnTo>
                  <a:lnTo>
                    <a:pt x="1697846" y="710386"/>
                  </a:lnTo>
                  <a:lnTo>
                    <a:pt x="1749190" y="696628"/>
                  </a:lnTo>
                  <a:lnTo>
                    <a:pt x="1798137" y="681823"/>
                  </a:lnTo>
                  <a:lnTo>
                    <a:pt x="1844563" y="666016"/>
                  </a:lnTo>
                  <a:lnTo>
                    <a:pt x="1888341" y="649253"/>
                  </a:lnTo>
                  <a:lnTo>
                    <a:pt x="1929344" y="631579"/>
                  </a:lnTo>
                  <a:lnTo>
                    <a:pt x="1967445" y="613040"/>
                  </a:lnTo>
                  <a:lnTo>
                    <a:pt x="2002518" y="593682"/>
                  </a:lnTo>
                  <a:lnTo>
                    <a:pt x="2063073" y="552692"/>
                  </a:lnTo>
                  <a:lnTo>
                    <a:pt x="2109998" y="508974"/>
                  </a:lnTo>
                  <a:lnTo>
                    <a:pt x="2142280" y="462894"/>
                  </a:lnTo>
                  <a:lnTo>
                    <a:pt x="2158906" y="414817"/>
                  </a:lnTo>
                  <a:lnTo>
                    <a:pt x="2161031" y="390144"/>
                  </a:lnTo>
                  <a:lnTo>
                    <a:pt x="2158906" y="365470"/>
                  </a:lnTo>
                  <a:lnTo>
                    <a:pt x="2142280" y="317393"/>
                  </a:lnTo>
                  <a:lnTo>
                    <a:pt x="2109998" y="271313"/>
                  </a:lnTo>
                  <a:lnTo>
                    <a:pt x="2063073" y="227595"/>
                  </a:lnTo>
                  <a:lnTo>
                    <a:pt x="2002518" y="186605"/>
                  </a:lnTo>
                  <a:lnTo>
                    <a:pt x="1967445" y="167247"/>
                  </a:lnTo>
                  <a:lnTo>
                    <a:pt x="1929344" y="148708"/>
                  </a:lnTo>
                  <a:lnTo>
                    <a:pt x="1888341" y="131034"/>
                  </a:lnTo>
                  <a:lnTo>
                    <a:pt x="1844563" y="114271"/>
                  </a:lnTo>
                  <a:lnTo>
                    <a:pt x="1798137" y="98464"/>
                  </a:lnTo>
                  <a:lnTo>
                    <a:pt x="1749190" y="83659"/>
                  </a:lnTo>
                  <a:lnTo>
                    <a:pt x="1697846" y="69901"/>
                  </a:lnTo>
                  <a:lnTo>
                    <a:pt x="1644235" y="57237"/>
                  </a:lnTo>
                  <a:lnTo>
                    <a:pt x="1588481" y="45711"/>
                  </a:lnTo>
                  <a:lnTo>
                    <a:pt x="1530711" y="35371"/>
                  </a:lnTo>
                  <a:lnTo>
                    <a:pt x="1471052" y="26261"/>
                  </a:lnTo>
                  <a:lnTo>
                    <a:pt x="1409631" y="18427"/>
                  </a:lnTo>
                  <a:lnTo>
                    <a:pt x="1346574" y="11915"/>
                  </a:lnTo>
                  <a:lnTo>
                    <a:pt x="1282007" y="6771"/>
                  </a:lnTo>
                  <a:lnTo>
                    <a:pt x="1216057" y="3039"/>
                  </a:lnTo>
                  <a:lnTo>
                    <a:pt x="1148851" y="767"/>
                  </a:lnTo>
                  <a:lnTo>
                    <a:pt x="10805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05016" y="5541264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0" y="390144"/>
                  </a:moveTo>
                  <a:lnTo>
                    <a:pt x="8418" y="341205"/>
                  </a:lnTo>
                  <a:lnTo>
                    <a:pt x="32998" y="294081"/>
                  </a:lnTo>
                  <a:lnTo>
                    <a:pt x="72728" y="249136"/>
                  </a:lnTo>
                  <a:lnTo>
                    <a:pt x="126595" y="206736"/>
                  </a:lnTo>
                  <a:lnTo>
                    <a:pt x="193586" y="167247"/>
                  </a:lnTo>
                  <a:lnTo>
                    <a:pt x="231687" y="148708"/>
                  </a:lnTo>
                  <a:lnTo>
                    <a:pt x="272690" y="131034"/>
                  </a:lnTo>
                  <a:lnTo>
                    <a:pt x="316468" y="114271"/>
                  </a:lnTo>
                  <a:lnTo>
                    <a:pt x="362894" y="98464"/>
                  </a:lnTo>
                  <a:lnTo>
                    <a:pt x="411841" y="83659"/>
                  </a:lnTo>
                  <a:lnTo>
                    <a:pt x="463185" y="69901"/>
                  </a:lnTo>
                  <a:lnTo>
                    <a:pt x="516796" y="57237"/>
                  </a:lnTo>
                  <a:lnTo>
                    <a:pt x="572550" y="45711"/>
                  </a:lnTo>
                  <a:lnTo>
                    <a:pt x="630320" y="35371"/>
                  </a:lnTo>
                  <a:lnTo>
                    <a:pt x="689979" y="26261"/>
                  </a:lnTo>
                  <a:lnTo>
                    <a:pt x="751400" y="18427"/>
                  </a:lnTo>
                  <a:lnTo>
                    <a:pt x="814457" y="11915"/>
                  </a:lnTo>
                  <a:lnTo>
                    <a:pt x="879024" y="6771"/>
                  </a:lnTo>
                  <a:lnTo>
                    <a:pt x="944974" y="3039"/>
                  </a:lnTo>
                  <a:lnTo>
                    <a:pt x="1012180" y="767"/>
                  </a:lnTo>
                  <a:lnTo>
                    <a:pt x="1080515" y="0"/>
                  </a:lnTo>
                  <a:lnTo>
                    <a:pt x="1148851" y="767"/>
                  </a:lnTo>
                  <a:lnTo>
                    <a:pt x="1216057" y="3039"/>
                  </a:lnTo>
                  <a:lnTo>
                    <a:pt x="1282007" y="6771"/>
                  </a:lnTo>
                  <a:lnTo>
                    <a:pt x="1346574" y="11915"/>
                  </a:lnTo>
                  <a:lnTo>
                    <a:pt x="1409631" y="18427"/>
                  </a:lnTo>
                  <a:lnTo>
                    <a:pt x="1471052" y="26261"/>
                  </a:lnTo>
                  <a:lnTo>
                    <a:pt x="1530711" y="35371"/>
                  </a:lnTo>
                  <a:lnTo>
                    <a:pt x="1588481" y="45711"/>
                  </a:lnTo>
                  <a:lnTo>
                    <a:pt x="1644235" y="57237"/>
                  </a:lnTo>
                  <a:lnTo>
                    <a:pt x="1697846" y="69901"/>
                  </a:lnTo>
                  <a:lnTo>
                    <a:pt x="1749190" y="83659"/>
                  </a:lnTo>
                  <a:lnTo>
                    <a:pt x="1798137" y="98464"/>
                  </a:lnTo>
                  <a:lnTo>
                    <a:pt x="1844563" y="114271"/>
                  </a:lnTo>
                  <a:lnTo>
                    <a:pt x="1888341" y="131034"/>
                  </a:lnTo>
                  <a:lnTo>
                    <a:pt x="1929344" y="148708"/>
                  </a:lnTo>
                  <a:lnTo>
                    <a:pt x="1967445" y="167247"/>
                  </a:lnTo>
                  <a:lnTo>
                    <a:pt x="2002518" y="186605"/>
                  </a:lnTo>
                  <a:lnTo>
                    <a:pt x="2063073" y="227595"/>
                  </a:lnTo>
                  <a:lnTo>
                    <a:pt x="2109998" y="271313"/>
                  </a:lnTo>
                  <a:lnTo>
                    <a:pt x="2142280" y="317393"/>
                  </a:lnTo>
                  <a:lnTo>
                    <a:pt x="2158906" y="365470"/>
                  </a:lnTo>
                  <a:lnTo>
                    <a:pt x="2161031" y="390144"/>
                  </a:lnTo>
                  <a:lnTo>
                    <a:pt x="2158906" y="414817"/>
                  </a:lnTo>
                  <a:lnTo>
                    <a:pt x="2142280" y="462894"/>
                  </a:lnTo>
                  <a:lnTo>
                    <a:pt x="2109998" y="508974"/>
                  </a:lnTo>
                  <a:lnTo>
                    <a:pt x="2063073" y="552692"/>
                  </a:lnTo>
                  <a:lnTo>
                    <a:pt x="2002518" y="593682"/>
                  </a:lnTo>
                  <a:lnTo>
                    <a:pt x="1967445" y="613040"/>
                  </a:lnTo>
                  <a:lnTo>
                    <a:pt x="1929344" y="631579"/>
                  </a:lnTo>
                  <a:lnTo>
                    <a:pt x="1888341" y="649253"/>
                  </a:lnTo>
                  <a:lnTo>
                    <a:pt x="1844563" y="666016"/>
                  </a:lnTo>
                  <a:lnTo>
                    <a:pt x="1798137" y="681823"/>
                  </a:lnTo>
                  <a:lnTo>
                    <a:pt x="1749190" y="696628"/>
                  </a:lnTo>
                  <a:lnTo>
                    <a:pt x="1697846" y="710386"/>
                  </a:lnTo>
                  <a:lnTo>
                    <a:pt x="1644235" y="723050"/>
                  </a:lnTo>
                  <a:lnTo>
                    <a:pt x="1588481" y="734576"/>
                  </a:lnTo>
                  <a:lnTo>
                    <a:pt x="1530711" y="744916"/>
                  </a:lnTo>
                  <a:lnTo>
                    <a:pt x="1471052" y="754026"/>
                  </a:lnTo>
                  <a:lnTo>
                    <a:pt x="1409631" y="761860"/>
                  </a:lnTo>
                  <a:lnTo>
                    <a:pt x="1346574" y="768372"/>
                  </a:lnTo>
                  <a:lnTo>
                    <a:pt x="1282007" y="773516"/>
                  </a:lnTo>
                  <a:lnTo>
                    <a:pt x="1216057" y="777248"/>
                  </a:lnTo>
                  <a:lnTo>
                    <a:pt x="1148851" y="779520"/>
                  </a:lnTo>
                  <a:lnTo>
                    <a:pt x="1080515" y="780288"/>
                  </a:lnTo>
                  <a:lnTo>
                    <a:pt x="1012180" y="779520"/>
                  </a:lnTo>
                  <a:lnTo>
                    <a:pt x="944974" y="777248"/>
                  </a:lnTo>
                  <a:lnTo>
                    <a:pt x="879024" y="773516"/>
                  </a:lnTo>
                  <a:lnTo>
                    <a:pt x="814457" y="768372"/>
                  </a:lnTo>
                  <a:lnTo>
                    <a:pt x="751400" y="761860"/>
                  </a:lnTo>
                  <a:lnTo>
                    <a:pt x="689979" y="754026"/>
                  </a:lnTo>
                  <a:lnTo>
                    <a:pt x="630320" y="744916"/>
                  </a:lnTo>
                  <a:lnTo>
                    <a:pt x="572550" y="734576"/>
                  </a:lnTo>
                  <a:lnTo>
                    <a:pt x="516796" y="723050"/>
                  </a:lnTo>
                  <a:lnTo>
                    <a:pt x="463185" y="710386"/>
                  </a:lnTo>
                  <a:lnTo>
                    <a:pt x="411841" y="696628"/>
                  </a:lnTo>
                  <a:lnTo>
                    <a:pt x="362894" y="681823"/>
                  </a:lnTo>
                  <a:lnTo>
                    <a:pt x="316468" y="666016"/>
                  </a:lnTo>
                  <a:lnTo>
                    <a:pt x="272690" y="649253"/>
                  </a:lnTo>
                  <a:lnTo>
                    <a:pt x="231687" y="631579"/>
                  </a:lnTo>
                  <a:lnTo>
                    <a:pt x="193586" y="613040"/>
                  </a:lnTo>
                  <a:lnTo>
                    <a:pt x="158513" y="593682"/>
                  </a:lnTo>
                  <a:lnTo>
                    <a:pt x="97958" y="552692"/>
                  </a:lnTo>
                  <a:lnTo>
                    <a:pt x="51033" y="508974"/>
                  </a:lnTo>
                  <a:lnTo>
                    <a:pt x="18751" y="462894"/>
                  </a:lnTo>
                  <a:lnTo>
                    <a:pt x="2125" y="414817"/>
                  </a:lnTo>
                  <a:lnTo>
                    <a:pt x="0" y="39014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47052" y="3268471"/>
            <a:ext cx="2302510" cy="283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3970">
              <a:lnSpc>
                <a:spcPct val="100000"/>
              </a:lnSpc>
              <a:spcBef>
                <a:spcPts val="100"/>
              </a:spcBef>
            </a:pPr>
            <a:r>
              <a:rPr sz="2400" spc="-1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300">
              <a:latin typeface="Calibri"/>
              <a:cs typeface="Calibri"/>
            </a:endParaRPr>
          </a:p>
          <a:p>
            <a:pPr marL="1256665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Lluvioso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Nublado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95214" y="2091689"/>
            <a:ext cx="2458085" cy="3564890"/>
          </a:xfrm>
          <a:custGeom>
            <a:avLst/>
            <a:gdLst/>
            <a:ahLst/>
            <a:cxnLst/>
            <a:rect l="l" t="t" r="r" b="b"/>
            <a:pathLst>
              <a:path w="2458084" h="3564890">
                <a:moveTo>
                  <a:pt x="1528191" y="3564852"/>
                </a:moveTo>
                <a:lnTo>
                  <a:pt x="1525511" y="3556203"/>
                </a:lnTo>
                <a:lnTo>
                  <a:pt x="1491615" y="3446653"/>
                </a:lnTo>
                <a:lnTo>
                  <a:pt x="1489329" y="3439033"/>
                </a:lnTo>
                <a:lnTo>
                  <a:pt x="1481328" y="3434842"/>
                </a:lnTo>
                <a:lnTo>
                  <a:pt x="1473708" y="3437255"/>
                </a:lnTo>
                <a:lnTo>
                  <a:pt x="1466215" y="3439541"/>
                </a:lnTo>
                <a:lnTo>
                  <a:pt x="1462024" y="3447542"/>
                </a:lnTo>
                <a:lnTo>
                  <a:pt x="1464310" y="3455035"/>
                </a:lnTo>
                <a:lnTo>
                  <a:pt x="1478000" y="3499345"/>
                </a:lnTo>
                <a:lnTo>
                  <a:pt x="19304" y="2159635"/>
                </a:lnTo>
                <a:lnTo>
                  <a:pt x="0" y="2180717"/>
                </a:lnTo>
                <a:lnTo>
                  <a:pt x="1458620" y="3520427"/>
                </a:lnTo>
                <a:lnTo>
                  <a:pt x="1405636" y="3508870"/>
                </a:lnTo>
                <a:lnTo>
                  <a:pt x="1398016" y="3513759"/>
                </a:lnTo>
                <a:lnTo>
                  <a:pt x="1394714" y="3529177"/>
                </a:lnTo>
                <a:lnTo>
                  <a:pt x="1399540" y="3536785"/>
                </a:lnTo>
                <a:lnTo>
                  <a:pt x="1528191" y="3564852"/>
                </a:lnTo>
                <a:close/>
              </a:path>
              <a:path w="2458084" h="3564890">
                <a:moveTo>
                  <a:pt x="2266061" y="0"/>
                </a:moveTo>
                <a:lnTo>
                  <a:pt x="2134616" y="6096"/>
                </a:lnTo>
                <a:lnTo>
                  <a:pt x="2128520" y="12827"/>
                </a:lnTo>
                <a:lnTo>
                  <a:pt x="2128901" y="20701"/>
                </a:lnTo>
                <a:lnTo>
                  <a:pt x="2129155" y="28575"/>
                </a:lnTo>
                <a:lnTo>
                  <a:pt x="2135886" y="34671"/>
                </a:lnTo>
                <a:lnTo>
                  <a:pt x="2190178" y="32105"/>
                </a:lnTo>
                <a:lnTo>
                  <a:pt x="321945" y="1242187"/>
                </a:lnTo>
                <a:lnTo>
                  <a:pt x="337439" y="1266190"/>
                </a:lnTo>
                <a:lnTo>
                  <a:pt x="2205710" y="56032"/>
                </a:lnTo>
                <a:lnTo>
                  <a:pt x="2184781" y="97536"/>
                </a:lnTo>
                <a:lnTo>
                  <a:pt x="2181225" y="104521"/>
                </a:lnTo>
                <a:lnTo>
                  <a:pt x="2184019" y="113157"/>
                </a:lnTo>
                <a:lnTo>
                  <a:pt x="2198116" y="120269"/>
                </a:lnTo>
                <a:lnTo>
                  <a:pt x="2206625" y="117475"/>
                </a:lnTo>
                <a:lnTo>
                  <a:pt x="2210181" y="110363"/>
                </a:lnTo>
                <a:lnTo>
                  <a:pt x="2264321" y="3429"/>
                </a:lnTo>
                <a:lnTo>
                  <a:pt x="2266061" y="0"/>
                </a:lnTo>
                <a:close/>
              </a:path>
              <a:path w="2458084" h="3564890">
                <a:moveTo>
                  <a:pt x="2431542" y="2643378"/>
                </a:moveTo>
                <a:lnTo>
                  <a:pt x="2356231" y="2545207"/>
                </a:lnTo>
                <a:lnTo>
                  <a:pt x="2351405" y="2538984"/>
                </a:lnTo>
                <a:lnTo>
                  <a:pt x="2342515" y="2537714"/>
                </a:lnTo>
                <a:lnTo>
                  <a:pt x="2336165" y="2542540"/>
                </a:lnTo>
                <a:lnTo>
                  <a:pt x="2329942" y="2547366"/>
                </a:lnTo>
                <a:lnTo>
                  <a:pt x="2328799" y="2556256"/>
                </a:lnTo>
                <a:lnTo>
                  <a:pt x="2333625" y="2562606"/>
                </a:lnTo>
                <a:lnTo>
                  <a:pt x="2361857" y="2599474"/>
                </a:lnTo>
                <a:lnTo>
                  <a:pt x="335153" y="1768348"/>
                </a:lnTo>
                <a:lnTo>
                  <a:pt x="324231" y="1794764"/>
                </a:lnTo>
                <a:lnTo>
                  <a:pt x="2350744" y="2625814"/>
                </a:lnTo>
                <a:lnTo>
                  <a:pt x="2297176" y="2633345"/>
                </a:lnTo>
                <a:lnTo>
                  <a:pt x="2291715" y="2640584"/>
                </a:lnTo>
                <a:lnTo>
                  <a:pt x="2292858" y="2648331"/>
                </a:lnTo>
                <a:lnTo>
                  <a:pt x="2293874" y="2656205"/>
                </a:lnTo>
                <a:lnTo>
                  <a:pt x="2301113" y="2661666"/>
                </a:lnTo>
                <a:lnTo>
                  <a:pt x="2413381" y="2645918"/>
                </a:lnTo>
                <a:lnTo>
                  <a:pt x="2431542" y="2643378"/>
                </a:lnTo>
                <a:close/>
              </a:path>
              <a:path w="2458084" h="3564890">
                <a:moveTo>
                  <a:pt x="2458085" y="1391412"/>
                </a:moveTo>
                <a:lnTo>
                  <a:pt x="2433243" y="1378839"/>
                </a:lnTo>
                <a:lnTo>
                  <a:pt x="2340610" y="1331976"/>
                </a:lnTo>
                <a:lnTo>
                  <a:pt x="2332101" y="1334770"/>
                </a:lnTo>
                <a:lnTo>
                  <a:pt x="2328545" y="1341755"/>
                </a:lnTo>
                <a:lnTo>
                  <a:pt x="2324989" y="1348867"/>
                </a:lnTo>
                <a:lnTo>
                  <a:pt x="2327783" y="1357376"/>
                </a:lnTo>
                <a:lnTo>
                  <a:pt x="2376170" y="1381963"/>
                </a:lnTo>
                <a:lnTo>
                  <a:pt x="328803" y="1503172"/>
                </a:lnTo>
                <a:lnTo>
                  <a:pt x="330581" y="1531747"/>
                </a:lnTo>
                <a:lnTo>
                  <a:pt x="2377948" y="1410411"/>
                </a:lnTo>
                <a:lnTo>
                  <a:pt x="2332609" y="1440561"/>
                </a:lnTo>
                <a:lnTo>
                  <a:pt x="2330831" y="1449451"/>
                </a:lnTo>
                <a:lnTo>
                  <a:pt x="2335276" y="1455928"/>
                </a:lnTo>
                <a:lnTo>
                  <a:pt x="2339594" y="1462532"/>
                </a:lnTo>
                <a:lnTo>
                  <a:pt x="2348484" y="1464310"/>
                </a:lnTo>
                <a:lnTo>
                  <a:pt x="2355088" y="1460004"/>
                </a:lnTo>
                <a:lnTo>
                  <a:pt x="2458085" y="139141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98372" y="1145540"/>
            <a:ext cx="4397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Objetivo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categoría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64869"/>
            <a:ext cx="10551795" cy="17818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Propensión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compra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Clasificación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tumor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benignos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malignos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(Binaria)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Determinación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riesgo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(alto,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medio,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bajo)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solicitud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préstamo.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Sentimiento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sociales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 </a:t>
            </a:r>
            <a:r>
              <a:rPr sz="2400" spc="-5" dirty="0">
                <a:latin typeface="Arial MT"/>
                <a:cs typeface="Arial MT"/>
              </a:rPr>
              <a:t>positivo,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negativo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neutro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6207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solidFill>
                  <a:srgbClr val="00639D"/>
                </a:solidFill>
              </a:rPr>
              <a:t>Otros</a:t>
            </a:r>
            <a:r>
              <a:rPr sz="4000" spc="-85" dirty="0">
                <a:solidFill>
                  <a:srgbClr val="00639D"/>
                </a:solidFill>
              </a:rPr>
              <a:t> </a:t>
            </a:r>
            <a:r>
              <a:rPr sz="4000" spc="-35" dirty="0">
                <a:solidFill>
                  <a:srgbClr val="00639D"/>
                </a:solidFill>
              </a:rPr>
              <a:t>ejemplos</a:t>
            </a:r>
            <a:r>
              <a:rPr sz="4000" spc="-65" dirty="0">
                <a:solidFill>
                  <a:srgbClr val="00639D"/>
                </a:solidFill>
              </a:rPr>
              <a:t> </a:t>
            </a:r>
            <a:r>
              <a:rPr sz="4000" spc="-15" dirty="0">
                <a:solidFill>
                  <a:srgbClr val="00639D"/>
                </a:solidFill>
              </a:rPr>
              <a:t>de</a:t>
            </a:r>
            <a:r>
              <a:rPr sz="4000" spc="-75" dirty="0">
                <a:solidFill>
                  <a:srgbClr val="00639D"/>
                </a:solidFill>
              </a:rPr>
              <a:t> </a:t>
            </a:r>
            <a:r>
              <a:rPr sz="4000" spc="-30" dirty="0">
                <a:solidFill>
                  <a:srgbClr val="00639D"/>
                </a:solidFill>
              </a:rPr>
              <a:t>clasificación</a:t>
            </a:r>
            <a:endParaRPr sz="4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 </a:t>
            </a:r>
            <a:r>
              <a:rPr spc="-5" dirty="0"/>
              <a:t>1: </a:t>
            </a:r>
            <a:r>
              <a:rPr spc="-35" dirty="0"/>
              <a:t>Teniendo </a:t>
            </a:r>
            <a:r>
              <a:rPr spc="-5" dirty="0"/>
              <a:t>en </a:t>
            </a:r>
            <a:r>
              <a:rPr dirty="0"/>
              <a:t>cuenta </a:t>
            </a:r>
            <a:r>
              <a:rPr spc="-5" dirty="0"/>
              <a:t>los </a:t>
            </a:r>
            <a:r>
              <a:rPr dirty="0"/>
              <a:t>datos </a:t>
            </a:r>
            <a:r>
              <a:rPr spc="-5" dirty="0"/>
              <a:t>sobre </a:t>
            </a:r>
            <a:r>
              <a:rPr dirty="0"/>
              <a:t>el tamaño </a:t>
            </a:r>
            <a:r>
              <a:rPr spc="-5" dirty="0"/>
              <a:t>de </a:t>
            </a:r>
            <a:r>
              <a:rPr dirty="0"/>
              <a:t>las </a:t>
            </a:r>
            <a:r>
              <a:rPr spc="-5" dirty="0"/>
              <a:t>casas </a:t>
            </a:r>
            <a:r>
              <a:rPr dirty="0"/>
              <a:t>en </a:t>
            </a:r>
            <a:r>
              <a:rPr spc="-5" dirty="0"/>
              <a:t>el </a:t>
            </a:r>
            <a:r>
              <a:rPr dirty="0"/>
              <a:t> </a:t>
            </a:r>
            <a:r>
              <a:rPr spc="-5" dirty="0"/>
              <a:t>mercado</a:t>
            </a:r>
            <a:r>
              <a:rPr dirty="0"/>
              <a:t> inmobiliario,</a:t>
            </a:r>
            <a:r>
              <a:rPr spc="5" dirty="0"/>
              <a:t> </a:t>
            </a:r>
            <a:r>
              <a:rPr spc="-5" dirty="0"/>
              <a:t>intente</a:t>
            </a:r>
            <a:r>
              <a:rPr dirty="0"/>
              <a:t> </a:t>
            </a:r>
            <a:r>
              <a:rPr spc="-5" dirty="0"/>
              <a:t>predecir</a:t>
            </a:r>
            <a:r>
              <a:rPr dirty="0"/>
              <a:t> </a:t>
            </a:r>
            <a:r>
              <a:rPr spc="-5" dirty="0"/>
              <a:t>su</a:t>
            </a:r>
            <a:r>
              <a:rPr dirty="0"/>
              <a:t> </a:t>
            </a:r>
            <a:r>
              <a:rPr spc="-5" dirty="0"/>
              <a:t>precio.</a:t>
            </a:r>
            <a:r>
              <a:rPr dirty="0"/>
              <a:t> </a:t>
            </a:r>
            <a:r>
              <a:rPr spc="-5" dirty="0"/>
              <a:t>El</a:t>
            </a:r>
            <a:r>
              <a:rPr dirty="0"/>
              <a:t> </a:t>
            </a:r>
            <a:r>
              <a:rPr spc="-5" dirty="0"/>
              <a:t>precio</a:t>
            </a:r>
            <a:r>
              <a:rPr dirty="0"/>
              <a:t> </a:t>
            </a:r>
            <a:r>
              <a:rPr spc="-5" dirty="0"/>
              <a:t>en</a:t>
            </a:r>
            <a:r>
              <a:rPr dirty="0"/>
              <a:t> </a:t>
            </a:r>
            <a:r>
              <a:rPr spc="-5" dirty="0"/>
              <a:t>función</a:t>
            </a:r>
            <a:r>
              <a:rPr spc="655" dirty="0"/>
              <a:t> </a:t>
            </a:r>
            <a:r>
              <a:rPr spc="-5" dirty="0"/>
              <a:t>del </a:t>
            </a:r>
            <a:r>
              <a:rPr dirty="0"/>
              <a:t> </a:t>
            </a:r>
            <a:r>
              <a:rPr spc="-5" dirty="0"/>
              <a:t>tamaño es una salida continua, por lo que </a:t>
            </a:r>
            <a:r>
              <a:rPr dirty="0"/>
              <a:t>este </a:t>
            </a:r>
            <a:r>
              <a:rPr spc="-5" dirty="0"/>
              <a:t>es un problema de </a:t>
            </a:r>
            <a:r>
              <a:rPr dirty="0"/>
              <a:t>regresión. </a:t>
            </a:r>
            <a:r>
              <a:rPr spc="5" dirty="0"/>
              <a:t> </a:t>
            </a:r>
            <a:r>
              <a:rPr spc="-5" dirty="0"/>
              <a:t>Podríamos convertir </a:t>
            </a:r>
            <a:r>
              <a:rPr dirty="0"/>
              <a:t>este </a:t>
            </a:r>
            <a:r>
              <a:rPr spc="-5" dirty="0"/>
              <a:t>ejemplo en un problema de clasificación </a:t>
            </a:r>
            <a:r>
              <a:rPr dirty="0"/>
              <a:t>al </a:t>
            </a:r>
            <a:r>
              <a:rPr spc="-5" dirty="0"/>
              <a:t>hacer </a:t>
            </a:r>
            <a:r>
              <a:rPr dirty="0"/>
              <a:t> </a:t>
            </a:r>
            <a:r>
              <a:rPr spc="-5" dirty="0"/>
              <a:t>nuestra </a:t>
            </a:r>
            <a:r>
              <a:rPr dirty="0"/>
              <a:t>salida </a:t>
            </a:r>
            <a:r>
              <a:rPr spc="-5" dirty="0"/>
              <a:t>sobre si </a:t>
            </a:r>
            <a:r>
              <a:rPr dirty="0"/>
              <a:t>la </a:t>
            </a:r>
            <a:r>
              <a:rPr spc="-5" dirty="0"/>
              <a:t>casa </a:t>
            </a:r>
            <a:r>
              <a:rPr dirty="0"/>
              <a:t>"se </a:t>
            </a:r>
            <a:r>
              <a:rPr spc="-5" dirty="0"/>
              <a:t>vende por </a:t>
            </a:r>
            <a:r>
              <a:rPr dirty="0"/>
              <a:t>más </a:t>
            </a:r>
            <a:r>
              <a:rPr spc="-5" dirty="0"/>
              <a:t>o menos </a:t>
            </a:r>
            <a:r>
              <a:rPr dirty="0"/>
              <a:t>que </a:t>
            </a:r>
            <a:r>
              <a:rPr spc="-5" dirty="0"/>
              <a:t>el </a:t>
            </a:r>
            <a:r>
              <a:rPr dirty="0"/>
              <a:t>precio </a:t>
            </a:r>
            <a:r>
              <a:rPr spc="-10" dirty="0"/>
              <a:t>de </a:t>
            </a:r>
            <a:r>
              <a:rPr spc="-5" dirty="0"/>
              <a:t> venta".</a:t>
            </a:r>
            <a:r>
              <a:rPr spc="-130" dirty="0"/>
              <a:t> </a:t>
            </a:r>
            <a:r>
              <a:rPr spc="-5" dirty="0"/>
              <a:t>Aquí</a:t>
            </a:r>
            <a:r>
              <a:rPr spc="10" dirty="0"/>
              <a:t> </a:t>
            </a:r>
            <a:r>
              <a:rPr spc="-5" dirty="0"/>
              <a:t>clasificamos</a:t>
            </a:r>
            <a:r>
              <a:rPr spc="35" dirty="0"/>
              <a:t> </a:t>
            </a:r>
            <a:r>
              <a:rPr spc="-5" dirty="0"/>
              <a:t>las</a:t>
            </a:r>
            <a:r>
              <a:rPr spc="25" dirty="0"/>
              <a:t> </a:t>
            </a:r>
            <a:r>
              <a:rPr spc="-5" dirty="0"/>
              <a:t>casas</a:t>
            </a:r>
            <a:r>
              <a:rPr spc="15" dirty="0"/>
              <a:t> </a:t>
            </a:r>
            <a:r>
              <a:rPr spc="-5" dirty="0"/>
              <a:t>según</a:t>
            </a:r>
            <a:r>
              <a:rPr spc="15" dirty="0"/>
              <a:t> </a:t>
            </a:r>
            <a:r>
              <a:rPr spc="-5" dirty="0"/>
              <a:t>el</a:t>
            </a:r>
            <a:r>
              <a:rPr spc="10" dirty="0"/>
              <a:t> </a:t>
            </a:r>
            <a:r>
              <a:rPr spc="-5" dirty="0"/>
              <a:t>precio</a:t>
            </a:r>
            <a:r>
              <a:rPr spc="25" dirty="0"/>
              <a:t> </a:t>
            </a:r>
            <a:r>
              <a:rPr spc="-5" dirty="0"/>
              <a:t>en</a:t>
            </a:r>
            <a:r>
              <a:rPr spc="20" dirty="0"/>
              <a:t> </a:t>
            </a:r>
            <a:r>
              <a:rPr spc="-5" dirty="0"/>
              <a:t>dos</a:t>
            </a:r>
            <a:r>
              <a:rPr spc="10" dirty="0"/>
              <a:t> </a:t>
            </a:r>
            <a:r>
              <a:rPr dirty="0"/>
              <a:t>categorías</a:t>
            </a:r>
            <a:r>
              <a:rPr spc="10" dirty="0"/>
              <a:t> </a:t>
            </a:r>
            <a:r>
              <a:rPr spc="-5" dirty="0"/>
              <a:t>discretas</a:t>
            </a:r>
            <a:r>
              <a:rPr sz="2200" spc="-5" dirty="0"/>
              <a:t>.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4915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39D"/>
                </a:solidFill>
              </a:rPr>
              <a:t>Aprendizaje</a:t>
            </a:r>
            <a:r>
              <a:rPr sz="4000" spc="-100" dirty="0">
                <a:solidFill>
                  <a:srgbClr val="00639D"/>
                </a:solidFill>
              </a:rPr>
              <a:t> </a:t>
            </a:r>
            <a:r>
              <a:rPr sz="4000" spc="-30" dirty="0">
                <a:solidFill>
                  <a:srgbClr val="00639D"/>
                </a:solidFill>
              </a:rPr>
              <a:t>supervisado</a:t>
            </a:r>
            <a:endParaRPr sz="4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080072"/>
            <a:ext cx="10814685" cy="20745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latin typeface="Arial MT"/>
                <a:cs typeface="Arial MT"/>
              </a:rPr>
              <a:t>Ejemplo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2:</a:t>
            </a:r>
            <a:endParaRPr sz="2400">
              <a:latin typeface="Arial MT"/>
              <a:cs typeface="Arial MT"/>
            </a:endParaRPr>
          </a:p>
          <a:p>
            <a:pPr marL="469900" marR="5080" indent="-457834">
              <a:lnSpc>
                <a:spcPct val="100000"/>
              </a:lnSpc>
              <a:spcBef>
                <a:spcPts val="575"/>
              </a:spcBef>
              <a:buAutoNum type="alphaLcParenBoth"/>
              <a:tabLst>
                <a:tab pos="470534" algn="l"/>
                <a:tab pos="2100580" algn="l"/>
                <a:tab pos="2931160" algn="l"/>
                <a:tab pos="3594100" algn="l"/>
                <a:tab pos="4746625" algn="l"/>
                <a:tab pos="5238750" algn="l"/>
                <a:tab pos="5900420" algn="l"/>
                <a:tab pos="7240270" algn="l"/>
                <a:tab pos="8562975" algn="l"/>
                <a:tab pos="9223375" algn="l"/>
                <a:tab pos="10479405" algn="l"/>
              </a:tabLst>
            </a:pPr>
            <a:r>
              <a:rPr sz="2400" spc="-5" dirty="0">
                <a:latin typeface="Arial MT"/>
                <a:cs typeface="Arial MT"/>
              </a:rPr>
              <a:t>Regre</a:t>
            </a:r>
            <a:r>
              <a:rPr sz="2400" dirty="0">
                <a:latin typeface="Arial MT"/>
                <a:cs typeface="Arial MT"/>
              </a:rPr>
              <a:t>s</a:t>
            </a:r>
            <a:r>
              <a:rPr sz="2400" spc="-5" dirty="0">
                <a:latin typeface="Arial MT"/>
                <a:cs typeface="Arial MT"/>
              </a:rPr>
              <a:t>ió</a:t>
            </a:r>
            <a:r>
              <a:rPr sz="2400" dirty="0">
                <a:latin typeface="Arial MT"/>
                <a:cs typeface="Arial MT"/>
              </a:rPr>
              <a:t>n:	</a:t>
            </a:r>
            <a:r>
              <a:rPr sz="2400" spc="-10" dirty="0">
                <a:latin typeface="Arial MT"/>
                <a:cs typeface="Arial MT"/>
              </a:rPr>
              <a:t>dad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un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imagen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un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persona,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tenemos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qu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su  edad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sobre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dada</a:t>
            </a:r>
            <a:endParaRPr sz="2400">
              <a:latin typeface="Arial MT"/>
              <a:cs typeface="Arial MT"/>
            </a:endParaRPr>
          </a:p>
          <a:p>
            <a:pPr marL="469900" marR="5080" indent="-457834">
              <a:lnSpc>
                <a:spcPct val="100000"/>
              </a:lnSpc>
              <a:spcBef>
                <a:spcPts val="580"/>
              </a:spcBef>
              <a:buAutoNum type="alphaLcParenBoth"/>
              <a:tabLst>
                <a:tab pos="470534" algn="l"/>
                <a:tab pos="2400935" algn="l"/>
                <a:tab pos="3210560" algn="l"/>
                <a:tab pos="3683000" algn="l"/>
                <a:tab pos="4965700" algn="l"/>
                <a:tab pos="5589270" algn="l"/>
                <a:tab pos="6060440" algn="l"/>
                <a:tab pos="7037070" algn="l"/>
                <a:tab pos="8339455" algn="l"/>
                <a:tab pos="8979535" algn="l"/>
                <a:tab pos="10213975" algn="l"/>
                <a:tab pos="10564495" algn="l"/>
              </a:tabLst>
            </a:pPr>
            <a:r>
              <a:rPr sz="2400" spc="-5" dirty="0">
                <a:latin typeface="Arial MT"/>
                <a:cs typeface="Arial MT"/>
              </a:rPr>
              <a:t>Cla</a:t>
            </a:r>
            <a:r>
              <a:rPr sz="2400" dirty="0">
                <a:latin typeface="Arial MT"/>
                <a:cs typeface="Arial MT"/>
              </a:rPr>
              <a:t>s</a:t>
            </a:r>
            <a:r>
              <a:rPr sz="2400" spc="-5" dirty="0">
                <a:latin typeface="Arial MT"/>
                <a:cs typeface="Arial MT"/>
              </a:rPr>
              <a:t>ificac</a:t>
            </a:r>
            <a:r>
              <a:rPr sz="2400" dirty="0">
                <a:latin typeface="Arial MT"/>
                <a:cs typeface="Arial MT"/>
              </a:rPr>
              <a:t>ió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:	</a:t>
            </a:r>
            <a:r>
              <a:rPr sz="2400" spc="-10" dirty="0">
                <a:latin typeface="Arial MT"/>
                <a:cs typeface="Arial MT"/>
              </a:rPr>
              <a:t>dad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pac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ente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con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	t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spc="-5" dirty="0">
                <a:latin typeface="Arial MT"/>
                <a:cs typeface="Arial MT"/>
              </a:rPr>
              <a:t>mo</a:t>
            </a:r>
            <a:r>
              <a:rPr sz="2400" spc="-130" dirty="0">
                <a:latin typeface="Arial MT"/>
                <a:cs typeface="Arial MT"/>
              </a:rPr>
              <a:t>r</a:t>
            </a:r>
            <a:r>
              <a:rPr sz="2400" dirty="0">
                <a:latin typeface="Arial MT"/>
                <a:cs typeface="Arial MT"/>
              </a:rPr>
              <a:t>,	</a:t>
            </a:r>
            <a:r>
              <a:rPr sz="2400" spc="-5" dirty="0">
                <a:latin typeface="Arial MT"/>
                <a:cs typeface="Arial MT"/>
              </a:rPr>
              <a:t>tenemos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qu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si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el  </a:t>
            </a:r>
            <a:r>
              <a:rPr sz="2400" dirty="0">
                <a:latin typeface="Arial MT"/>
                <a:cs typeface="Arial MT"/>
              </a:rPr>
              <a:t>tumor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maligno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benigno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4915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39D"/>
                </a:solidFill>
              </a:rPr>
              <a:t>Aprendizaje</a:t>
            </a:r>
            <a:r>
              <a:rPr sz="4000" spc="-100" dirty="0">
                <a:solidFill>
                  <a:srgbClr val="00639D"/>
                </a:solidFill>
              </a:rPr>
              <a:t> </a:t>
            </a:r>
            <a:r>
              <a:rPr sz="4000" spc="-30" dirty="0">
                <a:solidFill>
                  <a:srgbClr val="00639D"/>
                </a:solidFill>
              </a:rPr>
              <a:t>supervisado</a:t>
            </a:r>
            <a:endParaRPr sz="4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153490"/>
            <a:ext cx="1081595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El </a:t>
            </a:r>
            <a:r>
              <a:rPr sz="2000" dirty="0">
                <a:latin typeface="Arial MT"/>
                <a:cs typeface="Arial MT"/>
              </a:rPr>
              <a:t>aprendizaje </a:t>
            </a:r>
            <a:r>
              <a:rPr sz="2000" spc="-5" dirty="0">
                <a:latin typeface="Arial MT"/>
                <a:cs typeface="Arial MT"/>
              </a:rPr>
              <a:t>no </a:t>
            </a:r>
            <a:r>
              <a:rPr sz="2000" dirty="0">
                <a:latin typeface="Arial MT"/>
                <a:cs typeface="Arial MT"/>
              </a:rPr>
              <a:t>supervisado nos </a:t>
            </a:r>
            <a:r>
              <a:rPr sz="2000" spc="-5" dirty="0">
                <a:latin typeface="Arial MT"/>
                <a:cs typeface="Arial MT"/>
              </a:rPr>
              <a:t>permite abordar </a:t>
            </a:r>
            <a:r>
              <a:rPr sz="2000" dirty="0">
                <a:latin typeface="Arial MT"/>
                <a:cs typeface="Arial MT"/>
              </a:rPr>
              <a:t>los problemas con poca o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ninguna </a:t>
            </a:r>
            <a:r>
              <a:rPr sz="2000" spc="-5" dirty="0">
                <a:latin typeface="Arial MT"/>
                <a:cs typeface="Arial MT"/>
              </a:rPr>
              <a:t>idea de </a:t>
            </a:r>
            <a:r>
              <a:rPr sz="2000" dirty="0">
                <a:latin typeface="Arial MT"/>
                <a:cs typeface="Arial MT"/>
              </a:rPr>
              <a:t>cómo </a:t>
            </a:r>
            <a:r>
              <a:rPr sz="2000" spc="-5" dirty="0">
                <a:latin typeface="Arial MT"/>
                <a:cs typeface="Arial MT"/>
              </a:rPr>
              <a:t>deberían ser nuestros resultados. Podemos derivar </a:t>
            </a:r>
            <a:r>
              <a:rPr sz="2000" dirty="0">
                <a:latin typeface="Arial MT"/>
                <a:cs typeface="Arial MT"/>
              </a:rPr>
              <a:t>la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estructura</a:t>
            </a:r>
            <a:r>
              <a:rPr sz="2000" spc="6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</a:t>
            </a:r>
            <a:r>
              <a:rPr sz="2000" spc="6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datos</a:t>
            </a:r>
            <a:r>
              <a:rPr sz="2000" spc="6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donde</a:t>
            </a:r>
            <a:r>
              <a:rPr sz="2000" spc="6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</a:t>
            </a:r>
            <a:r>
              <a:rPr sz="2000" spc="6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necesariamente</a:t>
            </a:r>
            <a:r>
              <a:rPr sz="2000" spc="6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conocemos</a:t>
            </a:r>
            <a:r>
              <a:rPr sz="2000" spc="6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el</a:t>
            </a:r>
            <a:r>
              <a:rPr sz="2000" spc="6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efecto</a:t>
            </a:r>
            <a:r>
              <a:rPr sz="2000" spc="6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</a:t>
            </a:r>
            <a:r>
              <a:rPr sz="2000" spc="6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las </a:t>
            </a:r>
            <a:r>
              <a:rPr sz="2000" spc="-65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variables. Podemos derivar esta estructura </a:t>
            </a:r>
            <a:r>
              <a:rPr sz="2000" dirty="0">
                <a:latin typeface="Arial MT"/>
                <a:cs typeface="Arial MT"/>
              </a:rPr>
              <a:t>agrupando </a:t>
            </a:r>
            <a:r>
              <a:rPr sz="2000" spc="-5" dirty="0">
                <a:latin typeface="Arial MT"/>
                <a:cs typeface="Arial MT"/>
              </a:rPr>
              <a:t>los </a:t>
            </a:r>
            <a:r>
              <a:rPr sz="2000" dirty="0">
                <a:latin typeface="Arial MT"/>
                <a:cs typeface="Arial MT"/>
              </a:rPr>
              <a:t>datos </a:t>
            </a:r>
            <a:r>
              <a:rPr sz="2000" spc="-5" dirty="0">
                <a:latin typeface="Arial MT"/>
                <a:cs typeface="Arial MT"/>
              </a:rPr>
              <a:t>en función </a:t>
            </a:r>
            <a:r>
              <a:rPr sz="2000" spc="-10" dirty="0">
                <a:latin typeface="Arial MT"/>
                <a:cs typeface="Arial MT"/>
              </a:rPr>
              <a:t>de </a:t>
            </a:r>
            <a:r>
              <a:rPr sz="2000" spc="-5" dirty="0">
                <a:latin typeface="Arial MT"/>
                <a:cs typeface="Arial MT"/>
              </a:rPr>
              <a:t> las</a:t>
            </a:r>
            <a:r>
              <a:rPr sz="2000" dirty="0">
                <a:latin typeface="Arial MT"/>
                <a:cs typeface="Arial MT"/>
              </a:rPr>
              <a:t> relaciones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entre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variables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los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datos.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Con</a:t>
            </a:r>
            <a:r>
              <a:rPr sz="2000" dirty="0">
                <a:latin typeface="Arial MT"/>
                <a:cs typeface="Arial MT"/>
              </a:rPr>
              <a:t> el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aprendizaje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 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supervisado,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hay</a:t>
            </a:r>
            <a:r>
              <a:rPr sz="2000" spc="-5" dirty="0">
                <a:latin typeface="Arial MT"/>
                <a:cs typeface="Arial MT"/>
              </a:rPr>
              <a:t> retroalimentación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basada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los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resultados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</a:t>
            </a:r>
            <a:r>
              <a:rPr sz="2000" dirty="0">
                <a:latin typeface="Arial MT"/>
                <a:cs typeface="Arial MT"/>
              </a:rPr>
              <a:t> la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predicción.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55479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39D"/>
                </a:solidFill>
              </a:rPr>
              <a:t>Aprendizaje</a:t>
            </a:r>
            <a:r>
              <a:rPr sz="4000" spc="-125" dirty="0">
                <a:solidFill>
                  <a:srgbClr val="00639D"/>
                </a:solidFill>
              </a:rPr>
              <a:t> </a:t>
            </a:r>
            <a:r>
              <a:rPr sz="4000" spc="-15" dirty="0">
                <a:solidFill>
                  <a:srgbClr val="00639D"/>
                </a:solidFill>
              </a:rPr>
              <a:t>no</a:t>
            </a:r>
            <a:r>
              <a:rPr sz="4000" spc="-80" dirty="0">
                <a:solidFill>
                  <a:srgbClr val="00639D"/>
                </a:solidFill>
              </a:rPr>
              <a:t> </a:t>
            </a:r>
            <a:r>
              <a:rPr sz="4000" spc="-25" dirty="0">
                <a:solidFill>
                  <a:srgbClr val="00639D"/>
                </a:solidFill>
              </a:rPr>
              <a:t>supervisado</a:t>
            </a:r>
            <a:endParaRPr sz="4000"/>
          </a:p>
        </p:txBody>
      </p:sp>
      <p:pic>
        <p:nvPicPr>
          <p:cNvPr id="5122" name="Picture 2" descr="Machine Learning (II) – Aprendizaje No Supervisado – Innovation through  Artificial Intelligence">
            <a:extLst>
              <a:ext uri="{FF2B5EF4-FFF2-40B4-BE49-F238E27FC236}">
                <a16:creationId xmlns:a16="http://schemas.microsoft.com/office/drawing/2014/main" id="{D71440CC-6931-4B5A-AC46-23E847524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164052"/>
            <a:ext cx="5943600" cy="298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67411"/>
            <a:ext cx="8622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39D"/>
                </a:solidFill>
              </a:rPr>
              <a:t>Aprendizaje</a:t>
            </a:r>
            <a:r>
              <a:rPr sz="4000" spc="-85" dirty="0">
                <a:solidFill>
                  <a:srgbClr val="00639D"/>
                </a:solidFill>
              </a:rPr>
              <a:t> </a:t>
            </a:r>
            <a:r>
              <a:rPr sz="4000" spc="-15" dirty="0">
                <a:solidFill>
                  <a:srgbClr val="00639D"/>
                </a:solidFill>
              </a:rPr>
              <a:t>no</a:t>
            </a:r>
            <a:r>
              <a:rPr sz="4000" spc="-45" dirty="0">
                <a:solidFill>
                  <a:srgbClr val="00639D"/>
                </a:solidFill>
              </a:rPr>
              <a:t> </a:t>
            </a:r>
            <a:r>
              <a:rPr sz="4000" spc="-30" dirty="0">
                <a:solidFill>
                  <a:srgbClr val="00639D"/>
                </a:solidFill>
              </a:rPr>
              <a:t>supervisado:</a:t>
            </a:r>
            <a:r>
              <a:rPr sz="4000" spc="-55" dirty="0">
                <a:solidFill>
                  <a:srgbClr val="00639D"/>
                </a:solidFill>
              </a:rPr>
              <a:t> </a:t>
            </a:r>
            <a:r>
              <a:rPr sz="4000" spc="-45" dirty="0">
                <a:solidFill>
                  <a:srgbClr val="00639D"/>
                </a:solidFill>
              </a:rPr>
              <a:t>Segmentación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550670"/>
            <a:ext cx="5938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AF50"/>
                </a:solidFill>
                <a:latin typeface="Arial MT"/>
                <a:cs typeface="Arial MT"/>
              </a:rPr>
              <a:t>Objetivo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Organizar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grupos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homogéneos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7696" y="2380731"/>
            <a:ext cx="6831330" cy="4477385"/>
            <a:chOff x="1377696" y="2380731"/>
            <a:chExt cx="6831330" cy="44773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7696" y="2380731"/>
              <a:ext cx="6067044" cy="44772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63362" y="2627629"/>
              <a:ext cx="2645410" cy="2598420"/>
            </a:xfrm>
            <a:custGeom>
              <a:avLst/>
              <a:gdLst/>
              <a:ahLst/>
              <a:cxnLst/>
              <a:rect l="l" t="t" r="r" b="b"/>
              <a:pathLst>
                <a:path w="2645409" h="2598420">
                  <a:moveTo>
                    <a:pt x="2535682" y="55372"/>
                  </a:moveTo>
                  <a:lnTo>
                    <a:pt x="2519362" y="45847"/>
                  </a:lnTo>
                  <a:lnTo>
                    <a:pt x="2445385" y="2667"/>
                  </a:lnTo>
                  <a:lnTo>
                    <a:pt x="2440940" y="0"/>
                  </a:lnTo>
                  <a:lnTo>
                    <a:pt x="2435098" y="1524"/>
                  </a:lnTo>
                  <a:lnTo>
                    <a:pt x="2429764" y="10668"/>
                  </a:lnTo>
                  <a:lnTo>
                    <a:pt x="2431288" y="16510"/>
                  </a:lnTo>
                  <a:lnTo>
                    <a:pt x="2481567" y="45847"/>
                  </a:lnTo>
                  <a:lnTo>
                    <a:pt x="0" y="45847"/>
                  </a:lnTo>
                  <a:lnTo>
                    <a:pt x="0" y="64897"/>
                  </a:lnTo>
                  <a:lnTo>
                    <a:pt x="2481567" y="64897"/>
                  </a:lnTo>
                  <a:lnTo>
                    <a:pt x="2431288" y="94234"/>
                  </a:lnTo>
                  <a:lnTo>
                    <a:pt x="2429764" y="100076"/>
                  </a:lnTo>
                  <a:lnTo>
                    <a:pt x="2435098" y="109220"/>
                  </a:lnTo>
                  <a:lnTo>
                    <a:pt x="2440940" y="110744"/>
                  </a:lnTo>
                  <a:lnTo>
                    <a:pt x="2445385" y="108077"/>
                  </a:lnTo>
                  <a:lnTo>
                    <a:pt x="2519362" y="64897"/>
                  </a:lnTo>
                  <a:lnTo>
                    <a:pt x="2535682" y="55372"/>
                  </a:lnTo>
                  <a:close/>
                </a:path>
                <a:path w="2645409" h="2598420">
                  <a:moveTo>
                    <a:pt x="2536317" y="1268476"/>
                  </a:moveTo>
                  <a:lnTo>
                    <a:pt x="2519972" y="1258951"/>
                  </a:lnTo>
                  <a:lnTo>
                    <a:pt x="2445893" y="1215771"/>
                  </a:lnTo>
                  <a:lnTo>
                    <a:pt x="2441448" y="1213104"/>
                  </a:lnTo>
                  <a:lnTo>
                    <a:pt x="2435606" y="1214628"/>
                  </a:lnTo>
                  <a:lnTo>
                    <a:pt x="2430272" y="1223772"/>
                  </a:lnTo>
                  <a:lnTo>
                    <a:pt x="2431796" y="1229614"/>
                  </a:lnTo>
                  <a:lnTo>
                    <a:pt x="2482075" y="1258951"/>
                  </a:lnTo>
                  <a:lnTo>
                    <a:pt x="1557528" y="1258951"/>
                  </a:lnTo>
                  <a:lnTo>
                    <a:pt x="1557528" y="1278001"/>
                  </a:lnTo>
                  <a:lnTo>
                    <a:pt x="2482075" y="1278001"/>
                  </a:lnTo>
                  <a:lnTo>
                    <a:pt x="2431796" y="1307338"/>
                  </a:lnTo>
                  <a:lnTo>
                    <a:pt x="2430272" y="1313180"/>
                  </a:lnTo>
                  <a:lnTo>
                    <a:pt x="2435606" y="1322324"/>
                  </a:lnTo>
                  <a:lnTo>
                    <a:pt x="2441448" y="1323848"/>
                  </a:lnTo>
                  <a:lnTo>
                    <a:pt x="2445893" y="1321181"/>
                  </a:lnTo>
                  <a:lnTo>
                    <a:pt x="2519972" y="1278001"/>
                  </a:lnTo>
                  <a:lnTo>
                    <a:pt x="2536317" y="1268476"/>
                  </a:lnTo>
                  <a:close/>
                </a:path>
                <a:path w="2645409" h="2598420">
                  <a:moveTo>
                    <a:pt x="2645410" y="2542540"/>
                  </a:moveTo>
                  <a:lnTo>
                    <a:pt x="2629090" y="2533015"/>
                  </a:lnTo>
                  <a:lnTo>
                    <a:pt x="2550541" y="2487168"/>
                  </a:lnTo>
                  <a:lnTo>
                    <a:pt x="2544699" y="2488692"/>
                  </a:lnTo>
                  <a:lnTo>
                    <a:pt x="2539365" y="2497836"/>
                  </a:lnTo>
                  <a:lnTo>
                    <a:pt x="2541016" y="2503678"/>
                  </a:lnTo>
                  <a:lnTo>
                    <a:pt x="2545461" y="2506345"/>
                  </a:lnTo>
                  <a:lnTo>
                    <a:pt x="2591168" y="2533015"/>
                  </a:lnTo>
                  <a:lnTo>
                    <a:pt x="1755648" y="2533015"/>
                  </a:lnTo>
                  <a:lnTo>
                    <a:pt x="1755648" y="2552065"/>
                  </a:lnTo>
                  <a:lnTo>
                    <a:pt x="2591168" y="2552065"/>
                  </a:lnTo>
                  <a:lnTo>
                    <a:pt x="2545461" y="2578735"/>
                  </a:lnTo>
                  <a:lnTo>
                    <a:pt x="2541016" y="2581402"/>
                  </a:lnTo>
                  <a:lnTo>
                    <a:pt x="2539365" y="2587244"/>
                  </a:lnTo>
                  <a:lnTo>
                    <a:pt x="2544699" y="2596388"/>
                  </a:lnTo>
                  <a:lnTo>
                    <a:pt x="2550541" y="2597924"/>
                  </a:lnTo>
                  <a:lnTo>
                    <a:pt x="2629090" y="2552065"/>
                  </a:lnTo>
                  <a:lnTo>
                    <a:pt x="2645410" y="254254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480806" y="5210302"/>
            <a:ext cx="2504440" cy="803910"/>
            <a:chOff x="8480806" y="5210302"/>
            <a:chExt cx="2504440" cy="803910"/>
          </a:xfrm>
        </p:grpSpPr>
        <p:sp>
          <p:nvSpPr>
            <p:cNvPr id="8" name="object 8"/>
            <p:cNvSpPr/>
            <p:nvPr/>
          </p:nvSpPr>
          <p:spPr>
            <a:xfrm>
              <a:off x="8487156" y="5216652"/>
              <a:ext cx="2491740" cy="791210"/>
            </a:xfrm>
            <a:custGeom>
              <a:avLst/>
              <a:gdLst/>
              <a:ahLst/>
              <a:cxnLst/>
              <a:rect l="l" t="t" r="r" b="b"/>
              <a:pathLst>
                <a:path w="2491740" h="791210">
                  <a:moveTo>
                    <a:pt x="1245870" y="0"/>
                  </a:moveTo>
                  <a:lnTo>
                    <a:pt x="1175171" y="625"/>
                  </a:lnTo>
                  <a:lnTo>
                    <a:pt x="1105506" y="2481"/>
                  </a:lnTo>
                  <a:lnTo>
                    <a:pt x="1036982" y="5533"/>
                  </a:lnTo>
                  <a:lnTo>
                    <a:pt x="969703" y="9748"/>
                  </a:lnTo>
                  <a:lnTo>
                    <a:pt x="903774" y="15092"/>
                  </a:lnTo>
                  <a:lnTo>
                    <a:pt x="839301" y="21533"/>
                  </a:lnTo>
                  <a:lnTo>
                    <a:pt x="776388" y="29037"/>
                  </a:lnTo>
                  <a:lnTo>
                    <a:pt x="715141" y="37570"/>
                  </a:lnTo>
                  <a:lnTo>
                    <a:pt x="655665" y="47099"/>
                  </a:lnTo>
                  <a:lnTo>
                    <a:pt x="598065" y="57591"/>
                  </a:lnTo>
                  <a:lnTo>
                    <a:pt x="542447" y="69012"/>
                  </a:lnTo>
                  <a:lnTo>
                    <a:pt x="488914" y="81329"/>
                  </a:lnTo>
                  <a:lnTo>
                    <a:pt x="437574" y="94509"/>
                  </a:lnTo>
                  <a:lnTo>
                    <a:pt x="388530" y="108518"/>
                  </a:lnTo>
                  <a:lnTo>
                    <a:pt x="341888" y="123323"/>
                  </a:lnTo>
                  <a:lnTo>
                    <a:pt x="297753" y="138891"/>
                  </a:lnTo>
                  <a:lnTo>
                    <a:pt x="256231" y="155188"/>
                  </a:lnTo>
                  <a:lnTo>
                    <a:pt x="217426" y="172180"/>
                  </a:lnTo>
                  <a:lnTo>
                    <a:pt x="181444" y="189835"/>
                  </a:lnTo>
                  <a:lnTo>
                    <a:pt x="118367" y="226999"/>
                  </a:lnTo>
                  <a:lnTo>
                    <a:pt x="67843" y="266412"/>
                  </a:lnTo>
                  <a:lnTo>
                    <a:pt x="30713" y="307807"/>
                  </a:lnTo>
                  <a:lnTo>
                    <a:pt x="7818" y="350918"/>
                  </a:lnTo>
                  <a:lnTo>
                    <a:pt x="0" y="395478"/>
                  </a:lnTo>
                  <a:lnTo>
                    <a:pt x="1972" y="417919"/>
                  </a:lnTo>
                  <a:lnTo>
                    <a:pt x="17434" y="461784"/>
                  </a:lnTo>
                  <a:lnTo>
                    <a:pt x="47551" y="504067"/>
                  </a:lnTo>
                  <a:lnTo>
                    <a:pt x="91484" y="544503"/>
                  </a:lnTo>
                  <a:lnTo>
                    <a:pt x="148389" y="582824"/>
                  </a:lnTo>
                  <a:lnTo>
                    <a:pt x="217426" y="618764"/>
                  </a:lnTo>
                  <a:lnTo>
                    <a:pt x="256231" y="635756"/>
                  </a:lnTo>
                  <a:lnTo>
                    <a:pt x="297753" y="652054"/>
                  </a:lnTo>
                  <a:lnTo>
                    <a:pt x="341888" y="667622"/>
                  </a:lnTo>
                  <a:lnTo>
                    <a:pt x="388530" y="682427"/>
                  </a:lnTo>
                  <a:lnTo>
                    <a:pt x="437574" y="696437"/>
                  </a:lnTo>
                  <a:lnTo>
                    <a:pt x="488914" y="709618"/>
                  </a:lnTo>
                  <a:lnTo>
                    <a:pt x="542447" y="721936"/>
                  </a:lnTo>
                  <a:lnTo>
                    <a:pt x="598065" y="733358"/>
                  </a:lnTo>
                  <a:lnTo>
                    <a:pt x="655665" y="743851"/>
                  </a:lnTo>
                  <a:lnTo>
                    <a:pt x="715141" y="753381"/>
                  </a:lnTo>
                  <a:lnTo>
                    <a:pt x="776388" y="761915"/>
                  </a:lnTo>
                  <a:lnTo>
                    <a:pt x="839301" y="769419"/>
                  </a:lnTo>
                  <a:lnTo>
                    <a:pt x="903774" y="775861"/>
                  </a:lnTo>
                  <a:lnTo>
                    <a:pt x="969703" y="781206"/>
                  </a:lnTo>
                  <a:lnTo>
                    <a:pt x="1036982" y="785421"/>
                  </a:lnTo>
                  <a:lnTo>
                    <a:pt x="1105506" y="788474"/>
                  </a:lnTo>
                  <a:lnTo>
                    <a:pt x="1175171" y="790329"/>
                  </a:lnTo>
                  <a:lnTo>
                    <a:pt x="1245870" y="790956"/>
                  </a:lnTo>
                  <a:lnTo>
                    <a:pt x="1316568" y="790329"/>
                  </a:lnTo>
                  <a:lnTo>
                    <a:pt x="1386233" y="788474"/>
                  </a:lnTo>
                  <a:lnTo>
                    <a:pt x="1454757" y="785421"/>
                  </a:lnTo>
                  <a:lnTo>
                    <a:pt x="1522036" y="781206"/>
                  </a:lnTo>
                  <a:lnTo>
                    <a:pt x="1587965" y="775861"/>
                  </a:lnTo>
                  <a:lnTo>
                    <a:pt x="1652438" y="769419"/>
                  </a:lnTo>
                  <a:lnTo>
                    <a:pt x="1715351" y="761915"/>
                  </a:lnTo>
                  <a:lnTo>
                    <a:pt x="1776598" y="753381"/>
                  </a:lnTo>
                  <a:lnTo>
                    <a:pt x="1836074" y="743851"/>
                  </a:lnTo>
                  <a:lnTo>
                    <a:pt x="1893674" y="733358"/>
                  </a:lnTo>
                  <a:lnTo>
                    <a:pt x="1949292" y="721936"/>
                  </a:lnTo>
                  <a:lnTo>
                    <a:pt x="2002825" y="709618"/>
                  </a:lnTo>
                  <a:lnTo>
                    <a:pt x="2054165" y="696437"/>
                  </a:lnTo>
                  <a:lnTo>
                    <a:pt x="2103209" y="682427"/>
                  </a:lnTo>
                  <a:lnTo>
                    <a:pt x="2149851" y="667622"/>
                  </a:lnTo>
                  <a:lnTo>
                    <a:pt x="2193986" y="652054"/>
                  </a:lnTo>
                  <a:lnTo>
                    <a:pt x="2235508" y="635756"/>
                  </a:lnTo>
                  <a:lnTo>
                    <a:pt x="2274313" y="618764"/>
                  </a:lnTo>
                  <a:lnTo>
                    <a:pt x="2310295" y="601108"/>
                  </a:lnTo>
                  <a:lnTo>
                    <a:pt x="2373372" y="563945"/>
                  </a:lnTo>
                  <a:lnTo>
                    <a:pt x="2423896" y="524533"/>
                  </a:lnTo>
                  <a:lnTo>
                    <a:pt x="2461026" y="483140"/>
                  </a:lnTo>
                  <a:lnTo>
                    <a:pt x="2483921" y="440032"/>
                  </a:lnTo>
                  <a:lnTo>
                    <a:pt x="2491740" y="395478"/>
                  </a:lnTo>
                  <a:lnTo>
                    <a:pt x="2489767" y="373034"/>
                  </a:lnTo>
                  <a:lnTo>
                    <a:pt x="2474305" y="329165"/>
                  </a:lnTo>
                  <a:lnTo>
                    <a:pt x="2444188" y="286879"/>
                  </a:lnTo>
                  <a:lnTo>
                    <a:pt x="2400255" y="246441"/>
                  </a:lnTo>
                  <a:lnTo>
                    <a:pt x="2343350" y="208119"/>
                  </a:lnTo>
                  <a:lnTo>
                    <a:pt x="2274313" y="172180"/>
                  </a:lnTo>
                  <a:lnTo>
                    <a:pt x="2235508" y="155188"/>
                  </a:lnTo>
                  <a:lnTo>
                    <a:pt x="2193986" y="138891"/>
                  </a:lnTo>
                  <a:lnTo>
                    <a:pt x="2149851" y="123323"/>
                  </a:lnTo>
                  <a:lnTo>
                    <a:pt x="2103209" y="108518"/>
                  </a:lnTo>
                  <a:lnTo>
                    <a:pt x="2054165" y="94509"/>
                  </a:lnTo>
                  <a:lnTo>
                    <a:pt x="2002825" y="81329"/>
                  </a:lnTo>
                  <a:lnTo>
                    <a:pt x="1949292" y="69012"/>
                  </a:lnTo>
                  <a:lnTo>
                    <a:pt x="1893674" y="57591"/>
                  </a:lnTo>
                  <a:lnTo>
                    <a:pt x="1836074" y="47099"/>
                  </a:lnTo>
                  <a:lnTo>
                    <a:pt x="1776598" y="37570"/>
                  </a:lnTo>
                  <a:lnTo>
                    <a:pt x="1715351" y="29037"/>
                  </a:lnTo>
                  <a:lnTo>
                    <a:pt x="1652438" y="21533"/>
                  </a:lnTo>
                  <a:lnTo>
                    <a:pt x="1587965" y="15092"/>
                  </a:lnTo>
                  <a:lnTo>
                    <a:pt x="1522036" y="9748"/>
                  </a:lnTo>
                  <a:lnTo>
                    <a:pt x="1454757" y="5533"/>
                  </a:lnTo>
                  <a:lnTo>
                    <a:pt x="1386233" y="2481"/>
                  </a:lnTo>
                  <a:lnTo>
                    <a:pt x="1316568" y="625"/>
                  </a:lnTo>
                  <a:lnTo>
                    <a:pt x="1245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87156" y="5216652"/>
              <a:ext cx="2491740" cy="791210"/>
            </a:xfrm>
            <a:custGeom>
              <a:avLst/>
              <a:gdLst/>
              <a:ahLst/>
              <a:cxnLst/>
              <a:rect l="l" t="t" r="r" b="b"/>
              <a:pathLst>
                <a:path w="2491740" h="791210">
                  <a:moveTo>
                    <a:pt x="0" y="395478"/>
                  </a:moveTo>
                  <a:lnTo>
                    <a:pt x="7818" y="350918"/>
                  </a:lnTo>
                  <a:lnTo>
                    <a:pt x="30713" y="307807"/>
                  </a:lnTo>
                  <a:lnTo>
                    <a:pt x="67843" y="266412"/>
                  </a:lnTo>
                  <a:lnTo>
                    <a:pt x="118367" y="226999"/>
                  </a:lnTo>
                  <a:lnTo>
                    <a:pt x="181444" y="189835"/>
                  </a:lnTo>
                  <a:lnTo>
                    <a:pt x="217426" y="172180"/>
                  </a:lnTo>
                  <a:lnTo>
                    <a:pt x="256231" y="155188"/>
                  </a:lnTo>
                  <a:lnTo>
                    <a:pt x="297753" y="138891"/>
                  </a:lnTo>
                  <a:lnTo>
                    <a:pt x="341888" y="123323"/>
                  </a:lnTo>
                  <a:lnTo>
                    <a:pt x="388530" y="108518"/>
                  </a:lnTo>
                  <a:lnTo>
                    <a:pt x="437574" y="94509"/>
                  </a:lnTo>
                  <a:lnTo>
                    <a:pt x="488914" y="81329"/>
                  </a:lnTo>
                  <a:lnTo>
                    <a:pt x="542447" y="69012"/>
                  </a:lnTo>
                  <a:lnTo>
                    <a:pt x="598065" y="57591"/>
                  </a:lnTo>
                  <a:lnTo>
                    <a:pt x="655665" y="47099"/>
                  </a:lnTo>
                  <a:lnTo>
                    <a:pt x="715141" y="37570"/>
                  </a:lnTo>
                  <a:lnTo>
                    <a:pt x="776388" y="29037"/>
                  </a:lnTo>
                  <a:lnTo>
                    <a:pt x="839301" y="21533"/>
                  </a:lnTo>
                  <a:lnTo>
                    <a:pt x="903774" y="15092"/>
                  </a:lnTo>
                  <a:lnTo>
                    <a:pt x="969703" y="9748"/>
                  </a:lnTo>
                  <a:lnTo>
                    <a:pt x="1036982" y="5533"/>
                  </a:lnTo>
                  <a:lnTo>
                    <a:pt x="1105506" y="2481"/>
                  </a:lnTo>
                  <a:lnTo>
                    <a:pt x="1175171" y="625"/>
                  </a:lnTo>
                  <a:lnTo>
                    <a:pt x="1245870" y="0"/>
                  </a:lnTo>
                  <a:lnTo>
                    <a:pt x="1316568" y="625"/>
                  </a:lnTo>
                  <a:lnTo>
                    <a:pt x="1386233" y="2481"/>
                  </a:lnTo>
                  <a:lnTo>
                    <a:pt x="1454757" y="5533"/>
                  </a:lnTo>
                  <a:lnTo>
                    <a:pt x="1522036" y="9748"/>
                  </a:lnTo>
                  <a:lnTo>
                    <a:pt x="1587965" y="15092"/>
                  </a:lnTo>
                  <a:lnTo>
                    <a:pt x="1652438" y="21533"/>
                  </a:lnTo>
                  <a:lnTo>
                    <a:pt x="1715351" y="29037"/>
                  </a:lnTo>
                  <a:lnTo>
                    <a:pt x="1776598" y="37570"/>
                  </a:lnTo>
                  <a:lnTo>
                    <a:pt x="1836074" y="47099"/>
                  </a:lnTo>
                  <a:lnTo>
                    <a:pt x="1893674" y="57591"/>
                  </a:lnTo>
                  <a:lnTo>
                    <a:pt x="1949292" y="69012"/>
                  </a:lnTo>
                  <a:lnTo>
                    <a:pt x="2002825" y="81329"/>
                  </a:lnTo>
                  <a:lnTo>
                    <a:pt x="2054165" y="94509"/>
                  </a:lnTo>
                  <a:lnTo>
                    <a:pt x="2103209" y="108518"/>
                  </a:lnTo>
                  <a:lnTo>
                    <a:pt x="2149851" y="123323"/>
                  </a:lnTo>
                  <a:lnTo>
                    <a:pt x="2193986" y="138891"/>
                  </a:lnTo>
                  <a:lnTo>
                    <a:pt x="2235508" y="155188"/>
                  </a:lnTo>
                  <a:lnTo>
                    <a:pt x="2274313" y="172180"/>
                  </a:lnTo>
                  <a:lnTo>
                    <a:pt x="2310295" y="189835"/>
                  </a:lnTo>
                  <a:lnTo>
                    <a:pt x="2373372" y="226999"/>
                  </a:lnTo>
                  <a:lnTo>
                    <a:pt x="2423896" y="266412"/>
                  </a:lnTo>
                  <a:lnTo>
                    <a:pt x="2461026" y="307807"/>
                  </a:lnTo>
                  <a:lnTo>
                    <a:pt x="2483921" y="350918"/>
                  </a:lnTo>
                  <a:lnTo>
                    <a:pt x="2491740" y="395478"/>
                  </a:lnTo>
                  <a:lnTo>
                    <a:pt x="2489767" y="417919"/>
                  </a:lnTo>
                  <a:lnTo>
                    <a:pt x="2474305" y="461784"/>
                  </a:lnTo>
                  <a:lnTo>
                    <a:pt x="2444188" y="504067"/>
                  </a:lnTo>
                  <a:lnTo>
                    <a:pt x="2400255" y="544503"/>
                  </a:lnTo>
                  <a:lnTo>
                    <a:pt x="2343350" y="582824"/>
                  </a:lnTo>
                  <a:lnTo>
                    <a:pt x="2274313" y="618764"/>
                  </a:lnTo>
                  <a:lnTo>
                    <a:pt x="2235508" y="635756"/>
                  </a:lnTo>
                  <a:lnTo>
                    <a:pt x="2193986" y="652054"/>
                  </a:lnTo>
                  <a:lnTo>
                    <a:pt x="2149851" y="667622"/>
                  </a:lnTo>
                  <a:lnTo>
                    <a:pt x="2103209" y="682427"/>
                  </a:lnTo>
                  <a:lnTo>
                    <a:pt x="2054165" y="696437"/>
                  </a:lnTo>
                  <a:lnTo>
                    <a:pt x="2002825" y="709618"/>
                  </a:lnTo>
                  <a:lnTo>
                    <a:pt x="1949292" y="721936"/>
                  </a:lnTo>
                  <a:lnTo>
                    <a:pt x="1893674" y="733358"/>
                  </a:lnTo>
                  <a:lnTo>
                    <a:pt x="1836074" y="743851"/>
                  </a:lnTo>
                  <a:lnTo>
                    <a:pt x="1776598" y="753381"/>
                  </a:lnTo>
                  <a:lnTo>
                    <a:pt x="1715351" y="761915"/>
                  </a:lnTo>
                  <a:lnTo>
                    <a:pt x="1652438" y="769419"/>
                  </a:lnTo>
                  <a:lnTo>
                    <a:pt x="1587965" y="775861"/>
                  </a:lnTo>
                  <a:lnTo>
                    <a:pt x="1522036" y="781206"/>
                  </a:lnTo>
                  <a:lnTo>
                    <a:pt x="1454757" y="785421"/>
                  </a:lnTo>
                  <a:lnTo>
                    <a:pt x="1386233" y="788474"/>
                  </a:lnTo>
                  <a:lnTo>
                    <a:pt x="1316568" y="790329"/>
                  </a:lnTo>
                  <a:lnTo>
                    <a:pt x="1245870" y="790956"/>
                  </a:lnTo>
                  <a:lnTo>
                    <a:pt x="1175171" y="790329"/>
                  </a:lnTo>
                  <a:lnTo>
                    <a:pt x="1105506" y="788474"/>
                  </a:lnTo>
                  <a:lnTo>
                    <a:pt x="1036982" y="785421"/>
                  </a:lnTo>
                  <a:lnTo>
                    <a:pt x="969703" y="781206"/>
                  </a:lnTo>
                  <a:lnTo>
                    <a:pt x="903774" y="775861"/>
                  </a:lnTo>
                  <a:lnTo>
                    <a:pt x="839301" y="769419"/>
                  </a:lnTo>
                  <a:lnTo>
                    <a:pt x="776388" y="761915"/>
                  </a:lnTo>
                  <a:lnTo>
                    <a:pt x="715141" y="753381"/>
                  </a:lnTo>
                  <a:lnTo>
                    <a:pt x="655665" y="743851"/>
                  </a:lnTo>
                  <a:lnTo>
                    <a:pt x="598065" y="733358"/>
                  </a:lnTo>
                  <a:lnTo>
                    <a:pt x="542447" y="721936"/>
                  </a:lnTo>
                  <a:lnTo>
                    <a:pt x="488914" y="709618"/>
                  </a:lnTo>
                  <a:lnTo>
                    <a:pt x="437574" y="696437"/>
                  </a:lnTo>
                  <a:lnTo>
                    <a:pt x="388530" y="682427"/>
                  </a:lnTo>
                  <a:lnTo>
                    <a:pt x="341888" y="667622"/>
                  </a:lnTo>
                  <a:lnTo>
                    <a:pt x="297753" y="652054"/>
                  </a:lnTo>
                  <a:lnTo>
                    <a:pt x="256231" y="635756"/>
                  </a:lnTo>
                  <a:lnTo>
                    <a:pt x="217426" y="618764"/>
                  </a:lnTo>
                  <a:lnTo>
                    <a:pt x="181444" y="601108"/>
                  </a:lnTo>
                  <a:lnTo>
                    <a:pt x="118367" y="563945"/>
                  </a:lnTo>
                  <a:lnTo>
                    <a:pt x="67843" y="524533"/>
                  </a:lnTo>
                  <a:lnTo>
                    <a:pt x="30713" y="483140"/>
                  </a:lnTo>
                  <a:lnTo>
                    <a:pt x="7818" y="440032"/>
                  </a:lnTo>
                  <a:lnTo>
                    <a:pt x="0" y="395478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487156" y="3680459"/>
            <a:ext cx="2491740" cy="791210"/>
          </a:xfrm>
          <a:custGeom>
            <a:avLst/>
            <a:gdLst/>
            <a:ahLst/>
            <a:cxnLst/>
            <a:rect l="l" t="t" r="r" b="b"/>
            <a:pathLst>
              <a:path w="2491740" h="791210">
                <a:moveTo>
                  <a:pt x="0" y="395477"/>
                </a:moveTo>
                <a:lnTo>
                  <a:pt x="7818" y="350918"/>
                </a:lnTo>
                <a:lnTo>
                  <a:pt x="30713" y="307807"/>
                </a:lnTo>
                <a:lnTo>
                  <a:pt x="67843" y="266412"/>
                </a:lnTo>
                <a:lnTo>
                  <a:pt x="118367" y="226999"/>
                </a:lnTo>
                <a:lnTo>
                  <a:pt x="181444" y="189835"/>
                </a:lnTo>
                <a:lnTo>
                  <a:pt x="217426" y="172180"/>
                </a:lnTo>
                <a:lnTo>
                  <a:pt x="256231" y="155188"/>
                </a:lnTo>
                <a:lnTo>
                  <a:pt x="297753" y="138891"/>
                </a:lnTo>
                <a:lnTo>
                  <a:pt x="341888" y="123323"/>
                </a:lnTo>
                <a:lnTo>
                  <a:pt x="388530" y="108518"/>
                </a:lnTo>
                <a:lnTo>
                  <a:pt x="437574" y="94509"/>
                </a:lnTo>
                <a:lnTo>
                  <a:pt x="488914" y="81329"/>
                </a:lnTo>
                <a:lnTo>
                  <a:pt x="542447" y="69012"/>
                </a:lnTo>
                <a:lnTo>
                  <a:pt x="598065" y="57591"/>
                </a:lnTo>
                <a:lnTo>
                  <a:pt x="655665" y="47099"/>
                </a:lnTo>
                <a:lnTo>
                  <a:pt x="715141" y="37570"/>
                </a:lnTo>
                <a:lnTo>
                  <a:pt x="776388" y="29037"/>
                </a:lnTo>
                <a:lnTo>
                  <a:pt x="839301" y="21533"/>
                </a:lnTo>
                <a:lnTo>
                  <a:pt x="903774" y="15092"/>
                </a:lnTo>
                <a:lnTo>
                  <a:pt x="969703" y="9748"/>
                </a:lnTo>
                <a:lnTo>
                  <a:pt x="1036982" y="5533"/>
                </a:lnTo>
                <a:lnTo>
                  <a:pt x="1105506" y="2481"/>
                </a:lnTo>
                <a:lnTo>
                  <a:pt x="1175171" y="625"/>
                </a:lnTo>
                <a:lnTo>
                  <a:pt x="1245870" y="0"/>
                </a:lnTo>
                <a:lnTo>
                  <a:pt x="1316568" y="625"/>
                </a:lnTo>
                <a:lnTo>
                  <a:pt x="1386233" y="2481"/>
                </a:lnTo>
                <a:lnTo>
                  <a:pt x="1454757" y="5533"/>
                </a:lnTo>
                <a:lnTo>
                  <a:pt x="1522036" y="9748"/>
                </a:lnTo>
                <a:lnTo>
                  <a:pt x="1587965" y="15092"/>
                </a:lnTo>
                <a:lnTo>
                  <a:pt x="1652438" y="21533"/>
                </a:lnTo>
                <a:lnTo>
                  <a:pt x="1715351" y="29037"/>
                </a:lnTo>
                <a:lnTo>
                  <a:pt x="1776598" y="37570"/>
                </a:lnTo>
                <a:lnTo>
                  <a:pt x="1836074" y="47099"/>
                </a:lnTo>
                <a:lnTo>
                  <a:pt x="1893674" y="57591"/>
                </a:lnTo>
                <a:lnTo>
                  <a:pt x="1949292" y="69012"/>
                </a:lnTo>
                <a:lnTo>
                  <a:pt x="2002825" y="81329"/>
                </a:lnTo>
                <a:lnTo>
                  <a:pt x="2054165" y="94509"/>
                </a:lnTo>
                <a:lnTo>
                  <a:pt x="2103209" y="108518"/>
                </a:lnTo>
                <a:lnTo>
                  <a:pt x="2149851" y="123323"/>
                </a:lnTo>
                <a:lnTo>
                  <a:pt x="2193986" y="138891"/>
                </a:lnTo>
                <a:lnTo>
                  <a:pt x="2235508" y="155188"/>
                </a:lnTo>
                <a:lnTo>
                  <a:pt x="2274313" y="172180"/>
                </a:lnTo>
                <a:lnTo>
                  <a:pt x="2310295" y="189835"/>
                </a:lnTo>
                <a:lnTo>
                  <a:pt x="2373372" y="226999"/>
                </a:lnTo>
                <a:lnTo>
                  <a:pt x="2423896" y="266412"/>
                </a:lnTo>
                <a:lnTo>
                  <a:pt x="2461026" y="307807"/>
                </a:lnTo>
                <a:lnTo>
                  <a:pt x="2483921" y="350918"/>
                </a:lnTo>
                <a:lnTo>
                  <a:pt x="2491740" y="395477"/>
                </a:lnTo>
                <a:lnTo>
                  <a:pt x="2489767" y="417921"/>
                </a:lnTo>
                <a:lnTo>
                  <a:pt x="2474305" y="461790"/>
                </a:lnTo>
                <a:lnTo>
                  <a:pt x="2444188" y="504076"/>
                </a:lnTo>
                <a:lnTo>
                  <a:pt x="2400255" y="544514"/>
                </a:lnTo>
                <a:lnTo>
                  <a:pt x="2343350" y="582836"/>
                </a:lnTo>
                <a:lnTo>
                  <a:pt x="2274313" y="618775"/>
                </a:lnTo>
                <a:lnTo>
                  <a:pt x="2235508" y="635767"/>
                </a:lnTo>
                <a:lnTo>
                  <a:pt x="2193986" y="652064"/>
                </a:lnTo>
                <a:lnTo>
                  <a:pt x="2149851" y="667632"/>
                </a:lnTo>
                <a:lnTo>
                  <a:pt x="2103209" y="682437"/>
                </a:lnTo>
                <a:lnTo>
                  <a:pt x="2054165" y="696446"/>
                </a:lnTo>
                <a:lnTo>
                  <a:pt x="2002825" y="709626"/>
                </a:lnTo>
                <a:lnTo>
                  <a:pt x="1949292" y="721943"/>
                </a:lnTo>
                <a:lnTo>
                  <a:pt x="1893674" y="733364"/>
                </a:lnTo>
                <a:lnTo>
                  <a:pt x="1836074" y="743856"/>
                </a:lnTo>
                <a:lnTo>
                  <a:pt x="1776598" y="753385"/>
                </a:lnTo>
                <a:lnTo>
                  <a:pt x="1715351" y="761918"/>
                </a:lnTo>
                <a:lnTo>
                  <a:pt x="1652438" y="769422"/>
                </a:lnTo>
                <a:lnTo>
                  <a:pt x="1587965" y="775863"/>
                </a:lnTo>
                <a:lnTo>
                  <a:pt x="1522036" y="781207"/>
                </a:lnTo>
                <a:lnTo>
                  <a:pt x="1454757" y="785422"/>
                </a:lnTo>
                <a:lnTo>
                  <a:pt x="1386233" y="788474"/>
                </a:lnTo>
                <a:lnTo>
                  <a:pt x="1316568" y="790330"/>
                </a:lnTo>
                <a:lnTo>
                  <a:pt x="1245870" y="790956"/>
                </a:lnTo>
                <a:lnTo>
                  <a:pt x="1175171" y="790330"/>
                </a:lnTo>
                <a:lnTo>
                  <a:pt x="1105506" y="788474"/>
                </a:lnTo>
                <a:lnTo>
                  <a:pt x="1036982" y="785422"/>
                </a:lnTo>
                <a:lnTo>
                  <a:pt x="969703" y="781207"/>
                </a:lnTo>
                <a:lnTo>
                  <a:pt x="903774" y="775863"/>
                </a:lnTo>
                <a:lnTo>
                  <a:pt x="839301" y="769422"/>
                </a:lnTo>
                <a:lnTo>
                  <a:pt x="776388" y="761918"/>
                </a:lnTo>
                <a:lnTo>
                  <a:pt x="715141" y="753385"/>
                </a:lnTo>
                <a:lnTo>
                  <a:pt x="655665" y="743856"/>
                </a:lnTo>
                <a:lnTo>
                  <a:pt x="598065" y="733364"/>
                </a:lnTo>
                <a:lnTo>
                  <a:pt x="542447" y="721943"/>
                </a:lnTo>
                <a:lnTo>
                  <a:pt x="488914" y="709626"/>
                </a:lnTo>
                <a:lnTo>
                  <a:pt x="437574" y="696446"/>
                </a:lnTo>
                <a:lnTo>
                  <a:pt x="388530" y="682437"/>
                </a:lnTo>
                <a:lnTo>
                  <a:pt x="341888" y="667632"/>
                </a:lnTo>
                <a:lnTo>
                  <a:pt x="297753" y="652064"/>
                </a:lnTo>
                <a:lnTo>
                  <a:pt x="256231" y="635767"/>
                </a:lnTo>
                <a:lnTo>
                  <a:pt x="217426" y="618775"/>
                </a:lnTo>
                <a:lnTo>
                  <a:pt x="181444" y="601120"/>
                </a:lnTo>
                <a:lnTo>
                  <a:pt x="118367" y="563956"/>
                </a:lnTo>
                <a:lnTo>
                  <a:pt x="67843" y="524543"/>
                </a:lnTo>
                <a:lnTo>
                  <a:pt x="30713" y="483148"/>
                </a:lnTo>
                <a:lnTo>
                  <a:pt x="7818" y="440037"/>
                </a:lnTo>
                <a:lnTo>
                  <a:pt x="0" y="395477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66072" y="3861054"/>
            <a:ext cx="1536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alibri"/>
                <a:cs typeface="Calibri"/>
              </a:rPr>
              <a:t>Valor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Medio</a:t>
            </a:r>
          </a:p>
        </p:txBody>
      </p:sp>
      <p:sp>
        <p:nvSpPr>
          <p:cNvPr id="13" name="object 13"/>
          <p:cNvSpPr/>
          <p:nvPr/>
        </p:nvSpPr>
        <p:spPr>
          <a:xfrm>
            <a:off x="8487156" y="2202179"/>
            <a:ext cx="2491740" cy="791210"/>
          </a:xfrm>
          <a:custGeom>
            <a:avLst/>
            <a:gdLst/>
            <a:ahLst/>
            <a:cxnLst/>
            <a:rect l="l" t="t" r="r" b="b"/>
            <a:pathLst>
              <a:path w="2491740" h="791210">
                <a:moveTo>
                  <a:pt x="0" y="395478"/>
                </a:moveTo>
                <a:lnTo>
                  <a:pt x="7818" y="350918"/>
                </a:lnTo>
                <a:lnTo>
                  <a:pt x="30713" y="307807"/>
                </a:lnTo>
                <a:lnTo>
                  <a:pt x="67843" y="266412"/>
                </a:lnTo>
                <a:lnTo>
                  <a:pt x="118367" y="226999"/>
                </a:lnTo>
                <a:lnTo>
                  <a:pt x="181444" y="189835"/>
                </a:lnTo>
                <a:lnTo>
                  <a:pt x="217426" y="172180"/>
                </a:lnTo>
                <a:lnTo>
                  <a:pt x="256231" y="155188"/>
                </a:lnTo>
                <a:lnTo>
                  <a:pt x="297753" y="138891"/>
                </a:lnTo>
                <a:lnTo>
                  <a:pt x="341888" y="123323"/>
                </a:lnTo>
                <a:lnTo>
                  <a:pt x="388530" y="108518"/>
                </a:lnTo>
                <a:lnTo>
                  <a:pt x="437574" y="94509"/>
                </a:lnTo>
                <a:lnTo>
                  <a:pt x="488914" y="81329"/>
                </a:lnTo>
                <a:lnTo>
                  <a:pt x="542447" y="69012"/>
                </a:lnTo>
                <a:lnTo>
                  <a:pt x="598065" y="57591"/>
                </a:lnTo>
                <a:lnTo>
                  <a:pt x="655665" y="47099"/>
                </a:lnTo>
                <a:lnTo>
                  <a:pt x="715141" y="37570"/>
                </a:lnTo>
                <a:lnTo>
                  <a:pt x="776388" y="29037"/>
                </a:lnTo>
                <a:lnTo>
                  <a:pt x="839301" y="21533"/>
                </a:lnTo>
                <a:lnTo>
                  <a:pt x="903774" y="15092"/>
                </a:lnTo>
                <a:lnTo>
                  <a:pt x="969703" y="9748"/>
                </a:lnTo>
                <a:lnTo>
                  <a:pt x="1036982" y="5533"/>
                </a:lnTo>
                <a:lnTo>
                  <a:pt x="1105506" y="2481"/>
                </a:lnTo>
                <a:lnTo>
                  <a:pt x="1175171" y="625"/>
                </a:lnTo>
                <a:lnTo>
                  <a:pt x="1245870" y="0"/>
                </a:lnTo>
                <a:lnTo>
                  <a:pt x="1316568" y="625"/>
                </a:lnTo>
                <a:lnTo>
                  <a:pt x="1386233" y="2481"/>
                </a:lnTo>
                <a:lnTo>
                  <a:pt x="1454757" y="5533"/>
                </a:lnTo>
                <a:lnTo>
                  <a:pt x="1522036" y="9748"/>
                </a:lnTo>
                <a:lnTo>
                  <a:pt x="1587965" y="15092"/>
                </a:lnTo>
                <a:lnTo>
                  <a:pt x="1652438" y="21533"/>
                </a:lnTo>
                <a:lnTo>
                  <a:pt x="1715351" y="29037"/>
                </a:lnTo>
                <a:lnTo>
                  <a:pt x="1776598" y="37570"/>
                </a:lnTo>
                <a:lnTo>
                  <a:pt x="1836074" y="47099"/>
                </a:lnTo>
                <a:lnTo>
                  <a:pt x="1893674" y="57591"/>
                </a:lnTo>
                <a:lnTo>
                  <a:pt x="1949292" y="69012"/>
                </a:lnTo>
                <a:lnTo>
                  <a:pt x="2002825" y="81329"/>
                </a:lnTo>
                <a:lnTo>
                  <a:pt x="2054165" y="94509"/>
                </a:lnTo>
                <a:lnTo>
                  <a:pt x="2103209" y="108518"/>
                </a:lnTo>
                <a:lnTo>
                  <a:pt x="2149851" y="123323"/>
                </a:lnTo>
                <a:lnTo>
                  <a:pt x="2193986" y="138891"/>
                </a:lnTo>
                <a:lnTo>
                  <a:pt x="2235508" y="155188"/>
                </a:lnTo>
                <a:lnTo>
                  <a:pt x="2274313" y="172180"/>
                </a:lnTo>
                <a:lnTo>
                  <a:pt x="2310295" y="189835"/>
                </a:lnTo>
                <a:lnTo>
                  <a:pt x="2373372" y="226999"/>
                </a:lnTo>
                <a:lnTo>
                  <a:pt x="2423896" y="266412"/>
                </a:lnTo>
                <a:lnTo>
                  <a:pt x="2461026" y="307807"/>
                </a:lnTo>
                <a:lnTo>
                  <a:pt x="2483921" y="350918"/>
                </a:lnTo>
                <a:lnTo>
                  <a:pt x="2491740" y="395478"/>
                </a:lnTo>
                <a:lnTo>
                  <a:pt x="2489767" y="417921"/>
                </a:lnTo>
                <a:lnTo>
                  <a:pt x="2474305" y="461790"/>
                </a:lnTo>
                <a:lnTo>
                  <a:pt x="2444188" y="504076"/>
                </a:lnTo>
                <a:lnTo>
                  <a:pt x="2400255" y="544514"/>
                </a:lnTo>
                <a:lnTo>
                  <a:pt x="2343350" y="582836"/>
                </a:lnTo>
                <a:lnTo>
                  <a:pt x="2274313" y="618775"/>
                </a:lnTo>
                <a:lnTo>
                  <a:pt x="2235508" y="635767"/>
                </a:lnTo>
                <a:lnTo>
                  <a:pt x="2193986" y="652064"/>
                </a:lnTo>
                <a:lnTo>
                  <a:pt x="2149851" y="667632"/>
                </a:lnTo>
                <a:lnTo>
                  <a:pt x="2103209" y="682437"/>
                </a:lnTo>
                <a:lnTo>
                  <a:pt x="2054165" y="696446"/>
                </a:lnTo>
                <a:lnTo>
                  <a:pt x="2002825" y="709626"/>
                </a:lnTo>
                <a:lnTo>
                  <a:pt x="1949292" y="721943"/>
                </a:lnTo>
                <a:lnTo>
                  <a:pt x="1893674" y="733364"/>
                </a:lnTo>
                <a:lnTo>
                  <a:pt x="1836074" y="743856"/>
                </a:lnTo>
                <a:lnTo>
                  <a:pt x="1776598" y="753385"/>
                </a:lnTo>
                <a:lnTo>
                  <a:pt x="1715351" y="761918"/>
                </a:lnTo>
                <a:lnTo>
                  <a:pt x="1652438" y="769422"/>
                </a:lnTo>
                <a:lnTo>
                  <a:pt x="1587965" y="775863"/>
                </a:lnTo>
                <a:lnTo>
                  <a:pt x="1522036" y="781207"/>
                </a:lnTo>
                <a:lnTo>
                  <a:pt x="1454757" y="785422"/>
                </a:lnTo>
                <a:lnTo>
                  <a:pt x="1386233" y="788474"/>
                </a:lnTo>
                <a:lnTo>
                  <a:pt x="1316568" y="790330"/>
                </a:lnTo>
                <a:lnTo>
                  <a:pt x="1245870" y="790956"/>
                </a:lnTo>
                <a:lnTo>
                  <a:pt x="1175171" y="790330"/>
                </a:lnTo>
                <a:lnTo>
                  <a:pt x="1105506" y="788474"/>
                </a:lnTo>
                <a:lnTo>
                  <a:pt x="1036982" y="785422"/>
                </a:lnTo>
                <a:lnTo>
                  <a:pt x="969703" y="781207"/>
                </a:lnTo>
                <a:lnTo>
                  <a:pt x="903774" y="775863"/>
                </a:lnTo>
                <a:lnTo>
                  <a:pt x="839301" y="769422"/>
                </a:lnTo>
                <a:lnTo>
                  <a:pt x="776388" y="761918"/>
                </a:lnTo>
                <a:lnTo>
                  <a:pt x="715141" y="753385"/>
                </a:lnTo>
                <a:lnTo>
                  <a:pt x="655665" y="743856"/>
                </a:lnTo>
                <a:lnTo>
                  <a:pt x="598065" y="733364"/>
                </a:lnTo>
                <a:lnTo>
                  <a:pt x="542447" y="721943"/>
                </a:lnTo>
                <a:lnTo>
                  <a:pt x="488914" y="709626"/>
                </a:lnTo>
                <a:lnTo>
                  <a:pt x="437574" y="696446"/>
                </a:lnTo>
                <a:lnTo>
                  <a:pt x="388530" y="682437"/>
                </a:lnTo>
                <a:lnTo>
                  <a:pt x="341888" y="667632"/>
                </a:lnTo>
                <a:lnTo>
                  <a:pt x="297753" y="652064"/>
                </a:lnTo>
                <a:lnTo>
                  <a:pt x="256231" y="635767"/>
                </a:lnTo>
                <a:lnTo>
                  <a:pt x="217426" y="618775"/>
                </a:lnTo>
                <a:lnTo>
                  <a:pt x="181444" y="601120"/>
                </a:lnTo>
                <a:lnTo>
                  <a:pt x="118367" y="563956"/>
                </a:lnTo>
                <a:lnTo>
                  <a:pt x="67843" y="524543"/>
                </a:lnTo>
                <a:lnTo>
                  <a:pt x="30713" y="483148"/>
                </a:lnTo>
                <a:lnTo>
                  <a:pt x="7818" y="440037"/>
                </a:lnTo>
                <a:lnTo>
                  <a:pt x="0" y="395478"/>
                </a:lnTo>
                <a:close/>
              </a:path>
            </a:pathLst>
          </a:custGeom>
          <a:ln w="126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80372" y="2382392"/>
            <a:ext cx="1306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Poco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085B95DC-3CA3-DFC9-0D66-1B377C1E99A7}"/>
              </a:ext>
            </a:extLst>
          </p:cNvPr>
          <p:cNvSpPr txBox="1"/>
          <p:nvPr/>
        </p:nvSpPr>
        <p:spPr>
          <a:xfrm>
            <a:off x="8966072" y="5416677"/>
            <a:ext cx="1536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alibri"/>
                <a:cs typeface="Calibri"/>
              </a:rPr>
              <a:t>Valor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lang="es-PE" sz="2400" spc="-80" dirty="0">
                <a:latin typeface="Calibri"/>
                <a:cs typeface="Calibri"/>
              </a:rPr>
              <a:t>Alto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ferencia entre aprendizaje supervisado y no supervisado - Aprende IA">
            <a:extLst>
              <a:ext uri="{FF2B5EF4-FFF2-40B4-BE49-F238E27FC236}">
                <a16:creationId xmlns:a16="http://schemas.microsoft.com/office/drawing/2014/main" id="{0412725C-FCDE-4EF2-965A-DA6F2D6B8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04788"/>
            <a:ext cx="9753600" cy="644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720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8203" y="1236980"/>
            <a:ext cx="1072070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Es</a:t>
            </a:r>
            <a:r>
              <a:rPr sz="2000" spc="3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un</a:t>
            </a:r>
            <a:r>
              <a:rPr sz="2000" spc="3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subcampo</a:t>
            </a:r>
            <a:r>
              <a:rPr sz="2000" spc="3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3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aprendizaje</a:t>
            </a:r>
            <a:r>
              <a:rPr sz="2000" spc="3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automático</a:t>
            </a:r>
            <a:r>
              <a:rPr sz="2000" spc="3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3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representaciones</a:t>
            </a:r>
            <a:r>
              <a:rPr sz="2000" spc="3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3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datos</a:t>
            </a:r>
            <a:r>
              <a:rPr sz="2000" spc="3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3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aprendizaje. </a:t>
            </a:r>
            <a:r>
              <a:rPr sz="2000" spc="-5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Excepcional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eficacia</a:t>
            </a:r>
            <a:r>
              <a:rPr sz="20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en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los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patrones</a:t>
            </a:r>
            <a:r>
              <a:rPr sz="20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aprendizaje.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tabLst>
                <a:tab pos="684530" algn="l"/>
                <a:tab pos="2115820" algn="l"/>
                <a:tab pos="2660015" algn="l"/>
                <a:tab pos="4234180" algn="l"/>
                <a:tab pos="5497830" algn="l"/>
                <a:tab pos="6661150" algn="l"/>
                <a:tab pos="7938134" algn="l"/>
                <a:tab pos="9286875" algn="l"/>
                <a:tab pos="10339070" algn="l"/>
              </a:tabLst>
            </a:pP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Los	al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g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ori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mos	de	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pr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e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ndi</a:t>
            </a:r>
            <a:r>
              <a:rPr sz="2000" spc="5" dirty="0">
                <a:solidFill>
                  <a:srgbClr val="212121"/>
                </a:solidFill>
                <a:latin typeface="Arial MT"/>
                <a:cs typeface="Arial MT"/>
              </a:rPr>
              <a:t>z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aje	pr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o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fun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d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o	in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entan	a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p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re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n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der	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(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múlt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i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ples	niveles	de)  representación</a:t>
            </a:r>
            <a:r>
              <a:rPr sz="20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mediante</a:t>
            </a:r>
            <a:r>
              <a:rPr sz="20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el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uso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una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jerarquía</a:t>
            </a:r>
            <a:r>
              <a:rPr sz="20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múltiples capas.</a:t>
            </a:r>
            <a:endParaRPr sz="2000">
              <a:latin typeface="Arial MT"/>
              <a:cs typeface="Arial MT"/>
            </a:endParaRPr>
          </a:p>
          <a:p>
            <a:pPr marL="12700" marR="7620">
              <a:lnSpc>
                <a:spcPct val="100000"/>
              </a:lnSpc>
              <a:tabLst>
                <a:tab pos="408940" algn="l"/>
                <a:tab pos="775970" algn="l"/>
                <a:tab pos="2289175" algn="l"/>
                <a:tab pos="2656840" algn="l"/>
                <a:tab pos="3702685" algn="l"/>
                <a:tab pos="4973320" algn="l"/>
                <a:tab pos="5426710" algn="l"/>
                <a:tab pos="6978015" algn="l"/>
                <a:tab pos="8235315" algn="l"/>
                <a:tab pos="8546465" algn="l"/>
                <a:tab pos="10267315" algn="l"/>
                <a:tab pos="10563225" algn="l"/>
              </a:tabLst>
            </a:pP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S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i	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l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e	prop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ciona	al	si</a:t>
            </a:r>
            <a:r>
              <a:rPr sz="2000" spc="10" dirty="0">
                <a:solidFill>
                  <a:srgbClr val="212121"/>
                </a:solidFill>
                <a:latin typeface="Arial MT"/>
                <a:cs typeface="Arial MT"/>
              </a:rPr>
              <a:t>s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ema	t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o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neladas	de	inf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o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r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maci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ó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n,	co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m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ien</a:t>
            </a:r>
            <a:r>
              <a:rPr sz="2000" spc="5" dirty="0">
                <a:solidFill>
                  <a:srgbClr val="212121"/>
                </a:solidFill>
                <a:latin typeface="Arial MT"/>
                <a:cs typeface="Arial MT"/>
              </a:rPr>
              <a:t>z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	a	c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o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p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ren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rla	y	a  responder</a:t>
            </a:r>
            <a:r>
              <a:rPr sz="200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manera</a:t>
            </a:r>
            <a:r>
              <a:rPr sz="20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útil.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2257" y="193624"/>
            <a:ext cx="70478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252525"/>
                </a:solidFill>
              </a:rPr>
              <a:t>¿Qué</a:t>
            </a:r>
            <a:r>
              <a:rPr sz="4800" dirty="0">
                <a:solidFill>
                  <a:srgbClr val="252525"/>
                </a:solidFill>
              </a:rPr>
              <a:t> </a:t>
            </a:r>
            <a:r>
              <a:rPr sz="4800" spc="-5" dirty="0">
                <a:solidFill>
                  <a:srgbClr val="252525"/>
                </a:solidFill>
              </a:rPr>
              <a:t>es</a:t>
            </a:r>
            <a:r>
              <a:rPr sz="4800" spc="-15" dirty="0">
                <a:solidFill>
                  <a:srgbClr val="252525"/>
                </a:solidFill>
              </a:rPr>
              <a:t> </a:t>
            </a:r>
            <a:r>
              <a:rPr sz="4800" dirty="0">
                <a:solidFill>
                  <a:srgbClr val="252525"/>
                </a:solidFill>
              </a:rPr>
              <a:t>Deep</a:t>
            </a:r>
            <a:r>
              <a:rPr sz="4800" spc="-15" dirty="0">
                <a:solidFill>
                  <a:srgbClr val="252525"/>
                </a:solidFill>
              </a:rPr>
              <a:t> </a:t>
            </a:r>
            <a:r>
              <a:rPr sz="4800" dirty="0">
                <a:solidFill>
                  <a:srgbClr val="252525"/>
                </a:solidFill>
              </a:rPr>
              <a:t>Learning</a:t>
            </a:r>
            <a:r>
              <a:rPr sz="4800" spc="10" dirty="0">
                <a:solidFill>
                  <a:srgbClr val="252525"/>
                </a:solidFill>
              </a:rPr>
              <a:t> </a:t>
            </a:r>
            <a:r>
              <a:rPr sz="4000" spc="-5" dirty="0">
                <a:solidFill>
                  <a:srgbClr val="252525"/>
                </a:solidFill>
              </a:rPr>
              <a:t>(DL)</a:t>
            </a:r>
            <a:r>
              <a:rPr sz="4000" spc="-10" dirty="0">
                <a:solidFill>
                  <a:srgbClr val="252525"/>
                </a:solidFill>
              </a:rPr>
              <a:t> </a:t>
            </a:r>
            <a:r>
              <a:rPr sz="4800" dirty="0">
                <a:solidFill>
                  <a:srgbClr val="252525"/>
                </a:solidFill>
              </a:rPr>
              <a:t>?</a:t>
            </a:r>
            <a:endParaRPr sz="4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0235" y="3189876"/>
            <a:ext cx="6891527" cy="33206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07" y="481583"/>
            <a:ext cx="5071745" cy="1229360"/>
            <a:chOff x="976607" y="481583"/>
            <a:chExt cx="5071745" cy="1229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607" y="792287"/>
              <a:ext cx="2485421" cy="5300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9356" y="481583"/>
              <a:ext cx="2818638" cy="122910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6939" y="1724913"/>
            <a:ext cx="9220835" cy="185038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05"/>
              </a:spcBef>
              <a:buChar char="•"/>
              <a:tabLst>
                <a:tab pos="241935" algn="l"/>
              </a:tabLst>
            </a:pPr>
            <a:r>
              <a:rPr sz="2400" spc="-5" dirty="0">
                <a:solidFill>
                  <a:srgbClr val="001F5F"/>
                </a:solidFill>
                <a:latin typeface="Arial MT"/>
                <a:cs typeface="Arial MT"/>
              </a:rPr>
              <a:t>Neural</a:t>
            </a:r>
            <a:r>
              <a:rPr sz="24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Arial MT"/>
                <a:cs typeface="Arial MT"/>
              </a:rPr>
              <a:t>Networks</a:t>
            </a:r>
            <a:r>
              <a:rPr sz="24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Arial MT"/>
                <a:cs typeface="Arial MT"/>
              </a:rPr>
              <a:t>(Redes</a:t>
            </a:r>
            <a:r>
              <a:rPr sz="24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Arial MT"/>
                <a:cs typeface="Arial MT"/>
              </a:rPr>
              <a:t>Neuronales)</a:t>
            </a:r>
            <a:endParaRPr sz="24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10"/>
              </a:spcBef>
              <a:buChar char="•"/>
              <a:tabLst>
                <a:tab pos="241935" algn="l"/>
              </a:tabLst>
            </a:pPr>
            <a:r>
              <a:rPr sz="2400" dirty="0">
                <a:latin typeface="Arial MT"/>
                <a:cs typeface="Arial MT"/>
              </a:rPr>
              <a:t>Genetic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Algorithms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(Algoritmos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Genéticos)</a:t>
            </a:r>
            <a:endParaRPr sz="24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10"/>
              </a:spcBef>
              <a:buChar char="•"/>
              <a:tabLst>
                <a:tab pos="241935" algn="l"/>
              </a:tabLst>
            </a:pPr>
            <a:r>
              <a:rPr sz="2400" dirty="0">
                <a:latin typeface="Arial MT"/>
                <a:cs typeface="Arial MT"/>
              </a:rPr>
              <a:t>Genetic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Programming(Programación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Genética)</a:t>
            </a:r>
            <a:endParaRPr sz="24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20"/>
              </a:spcBef>
              <a:buChar char="•"/>
              <a:tabLst>
                <a:tab pos="241935" algn="l"/>
              </a:tabLst>
            </a:pPr>
            <a:r>
              <a:rPr sz="2400" spc="-5" dirty="0">
                <a:latin typeface="Arial MT"/>
                <a:cs typeface="Arial MT"/>
              </a:rPr>
              <a:t>Behavior-Based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(Sistemas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basados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Comportamiento)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410589"/>
            <a:ext cx="54495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Redes</a:t>
            </a:r>
            <a:r>
              <a:rPr spc="-150" dirty="0"/>
              <a:t> </a:t>
            </a:r>
            <a:r>
              <a:rPr spc="-60" dirty="0"/>
              <a:t>Neuronales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752600"/>
            <a:ext cx="8763000" cy="43657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22668" y="2002027"/>
            <a:ext cx="3531235" cy="1842770"/>
            <a:chOff x="7122668" y="2002027"/>
            <a:chExt cx="3531235" cy="1842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7852" y="2077211"/>
              <a:ext cx="3455670" cy="17670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5368" y="2014727"/>
              <a:ext cx="3430524" cy="17419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29018" y="2008377"/>
              <a:ext cx="3443604" cy="1755139"/>
            </a:xfrm>
            <a:custGeom>
              <a:avLst/>
              <a:gdLst/>
              <a:ahLst/>
              <a:cxnLst/>
              <a:rect l="l" t="t" r="r" b="b"/>
              <a:pathLst>
                <a:path w="3443604" h="1755139">
                  <a:moveTo>
                    <a:pt x="0" y="1754632"/>
                  </a:moveTo>
                  <a:lnTo>
                    <a:pt x="3443224" y="1754632"/>
                  </a:lnTo>
                  <a:lnTo>
                    <a:pt x="3443224" y="0"/>
                  </a:lnTo>
                  <a:lnTo>
                    <a:pt x="0" y="0"/>
                  </a:lnTo>
                  <a:lnTo>
                    <a:pt x="0" y="175463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7594" y="1690116"/>
            <a:ext cx="3647721" cy="23911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14743" y="4419346"/>
            <a:ext cx="3497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>
                <a:solidFill>
                  <a:srgbClr val="001F5F"/>
                </a:solidFill>
                <a:latin typeface="Calibri Light"/>
                <a:cs typeface="Calibri Light"/>
              </a:rPr>
              <a:t>Una</a:t>
            </a:r>
            <a:r>
              <a:rPr sz="3200" spc="-105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3200" spc="-30" dirty="0">
                <a:solidFill>
                  <a:srgbClr val="001F5F"/>
                </a:solidFill>
                <a:latin typeface="Calibri Light"/>
                <a:cs typeface="Calibri Light"/>
              </a:rPr>
              <a:t>neurona</a:t>
            </a:r>
            <a:r>
              <a:rPr sz="3200" spc="-110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3200" spc="-15" dirty="0">
                <a:solidFill>
                  <a:srgbClr val="001F5F"/>
                </a:solidFill>
                <a:latin typeface="Calibri Light"/>
                <a:cs typeface="Calibri Light"/>
              </a:rPr>
              <a:t>artificial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2227" y="4419346"/>
            <a:ext cx="36417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>
                <a:solidFill>
                  <a:srgbClr val="001F5F"/>
                </a:solidFill>
                <a:latin typeface="Calibri Light"/>
                <a:cs typeface="Calibri Light"/>
              </a:rPr>
              <a:t>Una</a:t>
            </a:r>
            <a:r>
              <a:rPr sz="3200" spc="-110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3200" spc="-30" dirty="0">
                <a:solidFill>
                  <a:srgbClr val="001F5F"/>
                </a:solidFill>
                <a:latin typeface="Calibri Light"/>
                <a:cs typeface="Calibri Light"/>
              </a:rPr>
              <a:t>neurona</a:t>
            </a:r>
            <a:r>
              <a:rPr sz="3200" spc="-114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3200" spc="-20" dirty="0">
                <a:solidFill>
                  <a:srgbClr val="001F5F"/>
                </a:solidFill>
                <a:latin typeface="Calibri Light"/>
                <a:cs typeface="Calibri Light"/>
              </a:rPr>
              <a:t>biológica</a:t>
            </a:r>
            <a:endParaRPr sz="3200">
              <a:latin typeface="Calibri Light"/>
              <a:cs typeface="Calibri Ligh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E7379A1E-AF42-3DCB-B91A-43D71F95FF25}"/>
                  </a:ext>
                </a:extLst>
              </p14:cNvPr>
              <p14:cNvContentPartPr/>
              <p14:nvPr/>
            </p14:nvContentPartPr>
            <p14:xfrm>
              <a:off x="864000" y="1453320"/>
              <a:ext cx="1942560" cy="289764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E7379A1E-AF42-3DCB-B91A-43D71F95FF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4640" y="1443960"/>
                <a:ext cx="1961280" cy="2916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40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Morfología</a:t>
            </a:r>
            <a:r>
              <a:rPr sz="4400" spc="-100" dirty="0"/>
              <a:t> </a:t>
            </a:r>
            <a:r>
              <a:rPr sz="4400" spc="-15" dirty="0"/>
              <a:t>de</a:t>
            </a:r>
            <a:r>
              <a:rPr sz="4400" spc="-85" dirty="0"/>
              <a:t> </a:t>
            </a:r>
            <a:r>
              <a:rPr sz="4400" spc="-25" dirty="0"/>
              <a:t>una</a:t>
            </a:r>
            <a:r>
              <a:rPr sz="4400" spc="-100" dirty="0"/>
              <a:t> </a:t>
            </a:r>
            <a:r>
              <a:rPr sz="4400" spc="-50" dirty="0"/>
              <a:t>neurona</a:t>
            </a:r>
            <a:r>
              <a:rPr sz="4400" spc="-100" dirty="0"/>
              <a:t> </a:t>
            </a:r>
            <a:r>
              <a:rPr sz="4400" spc="-25" dirty="0"/>
              <a:t>artificial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410458" y="5136007"/>
            <a:ext cx="4957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Modelo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-10" dirty="0">
                <a:latin typeface="Calibri"/>
                <a:cs typeface="Calibri"/>
              </a:rPr>
              <a:t> McCulloch-Pitts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(1949)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1611" y="1871472"/>
            <a:ext cx="6210299" cy="31150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835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/>
              <a:t>Neurona</a:t>
            </a:r>
            <a:r>
              <a:rPr sz="4400" spc="-150" dirty="0"/>
              <a:t> </a:t>
            </a:r>
            <a:r>
              <a:rPr sz="4400" spc="-25" dirty="0"/>
              <a:t>artificial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9672" y="2016251"/>
            <a:ext cx="6772656" cy="37825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78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Funciones</a:t>
            </a:r>
            <a:r>
              <a:rPr sz="4400" spc="-125" dirty="0"/>
              <a:t> </a:t>
            </a:r>
            <a:r>
              <a:rPr sz="4400" spc="-15" dirty="0"/>
              <a:t>de</a:t>
            </a:r>
            <a:r>
              <a:rPr sz="4400" spc="-114" dirty="0"/>
              <a:t> </a:t>
            </a:r>
            <a:r>
              <a:rPr sz="4400" spc="-35" dirty="0"/>
              <a:t>activación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123" y="4296155"/>
            <a:ext cx="8138159" cy="19415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5123" y="1892807"/>
            <a:ext cx="8138159" cy="22570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6354</TotalTime>
  <Words>975</Words>
  <Application>Microsoft Office PowerPoint</Application>
  <PresentationFormat>Panorámica</PresentationFormat>
  <Paragraphs>121</Paragraphs>
  <Slides>30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Arial MT</vt:lpstr>
      <vt:lpstr>Calibri</vt:lpstr>
      <vt:lpstr>Calibri Light</vt:lpstr>
      <vt:lpstr>Office Theme</vt:lpstr>
      <vt:lpstr>Presentación de PowerPoint</vt:lpstr>
      <vt:lpstr>Machine Learning</vt:lpstr>
      <vt:lpstr>Presentación de PowerPoint</vt:lpstr>
      <vt:lpstr>Aprendizaje Automático</vt:lpstr>
      <vt:lpstr>Aprendizaje Automático</vt:lpstr>
      <vt:lpstr>Programación tradicional vs Aprendizaje Automático</vt:lpstr>
      <vt:lpstr>Ejemplos Aprendizaje Automático</vt:lpstr>
      <vt:lpstr>Aprendizaje Automático</vt:lpstr>
      <vt:lpstr>Ejemplos Aprendizaje automático</vt:lpstr>
      <vt:lpstr>Otros ejemplos de aplicación</vt:lpstr>
      <vt:lpstr>Presentación de PowerPoint</vt:lpstr>
      <vt:lpstr>Aprendizaje supervisado</vt:lpstr>
      <vt:lpstr>Presentación de PowerPoint</vt:lpstr>
      <vt:lpstr>Presentación de PowerPoint</vt:lpstr>
      <vt:lpstr>Otros ejemplos de regresión</vt:lpstr>
      <vt:lpstr>Presentación de PowerPoint</vt:lpstr>
      <vt:lpstr>Clasificación</vt:lpstr>
      <vt:lpstr>Otros ejemplos de clasificación</vt:lpstr>
      <vt:lpstr>Aprendizaje supervisado</vt:lpstr>
      <vt:lpstr>Aprendizaje supervisado</vt:lpstr>
      <vt:lpstr>Aprendizaje no supervisado</vt:lpstr>
      <vt:lpstr>Aprendizaje no supervisado: Segmentación</vt:lpstr>
      <vt:lpstr>Presentación de PowerPoint</vt:lpstr>
      <vt:lpstr>¿Qué es Deep Learning (DL) ?</vt:lpstr>
      <vt:lpstr>Presentación de PowerPoint</vt:lpstr>
      <vt:lpstr>Redes Neuronales</vt:lpstr>
      <vt:lpstr>Presentación de PowerPoint</vt:lpstr>
      <vt:lpstr>Morfología de una neurona artificial</vt:lpstr>
      <vt:lpstr>Neurona artificial</vt:lpstr>
      <vt:lpstr>Funciones de activación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</dc:title>
  <dc:creator>Boris Maynard Ramos Vilcas</dc:creator>
  <cp:lastModifiedBy>JAIME ANTONIO HUAYTALLA PARIONA</cp:lastModifiedBy>
  <cp:revision>7</cp:revision>
  <dcterms:created xsi:type="dcterms:W3CDTF">2022-04-07T22:44:34Z</dcterms:created>
  <dcterms:modified xsi:type="dcterms:W3CDTF">2025-09-24T13:45:39Z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2022-04-07T00:00:00Z</vt:filetime>
  </property>
</Properties>
</file>