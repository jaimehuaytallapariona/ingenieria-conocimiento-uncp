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E3E3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3E3E3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786"/>
            <a:ext cx="2851515" cy="685878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7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82879" y="0"/>
                </a:lnTo>
                <a:lnTo>
                  <a:pt x="182879" y="6857999"/>
                </a:lnTo>
                <a:close/>
              </a:path>
            </a:pathLst>
          </a:custGeom>
          <a:solidFill>
            <a:srgbClr val="766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4374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345749" y="507296"/>
                </a:moveTo>
                <a:lnTo>
                  <a:pt x="1245436" y="507296"/>
                </a:lnTo>
                <a:lnTo>
                  <a:pt x="0" y="503757"/>
                </a:lnTo>
                <a:lnTo>
                  <a:pt x="0" y="0"/>
                </a:lnTo>
                <a:lnTo>
                  <a:pt x="1245436" y="1724"/>
                </a:lnTo>
                <a:lnTo>
                  <a:pt x="1340940" y="1724"/>
                </a:lnTo>
                <a:lnTo>
                  <a:pt x="1345749" y="6493"/>
                </a:lnTo>
                <a:lnTo>
                  <a:pt x="1350387" y="6493"/>
                </a:lnTo>
                <a:lnTo>
                  <a:pt x="1350387" y="11261"/>
                </a:lnTo>
                <a:lnTo>
                  <a:pt x="1355368" y="11261"/>
                </a:lnTo>
                <a:lnTo>
                  <a:pt x="1584337" y="240205"/>
                </a:lnTo>
                <a:lnTo>
                  <a:pt x="1589652" y="247358"/>
                </a:lnTo>
                <a:lnTo>
                  <a:pt x="1591423" y="254510"/>
                </a:lnTo>
                <a:lnTo>
                  <a:pt x="1589652" y="261663"/>
                </a:lnTo>
                <a:lnTo>
                  <a:pt x="1584337" y="268816"/>
                </a:lnTo>
                <a:lnTo>
                  <a:pt x="1355368" y="497759"/>
                </a:lnTo>
                <a:lnTo>
                  <a:pt x="1353822" y="499383"/>
                </a:lnTo>
                <a:lnTo>
                  <a:pt x="1351933" y="500905"/>
                </a:lnTo>
                <a:lnTo>
                  <a:pt x="1350387" y="502528"/>
                </a:lnTo>
                <a:lnTo>
                  <a:pt x="1345749" y="507296"/>
                </a:lnTo>
                <a:close/>
              </a:path>
            </a:pathLst>
          </a:custGeom>
          <a:solidFill>
            <a:srgbClr val="A53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8575" y="888497"/>
            <a:ext cx="7279600" cy="260462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8575" y="3707450"/>
            <a:ext cx="7279600" cy="30710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" y="-786"/>
            <a:ext cx="2851515" cy="685878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7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82879" y="0"/>
                </a:lnTo>
                <a:lnTo>
                  <a:pt x="182879" y="6857999"/>
                </a:lnTo>
                <a:close/>
              </a:path>
            </a:pathLst>
          </a:custGeom>
          <a:solidFill>
            <a:srgbClr val="766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4374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345749" y="507296"/>
                </a:moveTo>
                <a:lnTo>
                  <a:pt x="1245436" y="507296"/>
                </a:lnTo>
                <a:lnTo>
                  <a:pt x="0" y="503757"/>
                </a:lnTo>
                <a:lnTo>
                  <a:pt x="0" y="0"/>
                </a:lnTo>
                <a:lnTo>
                  <a:pt x="1245436" y="1724"/>
                </a:lnTo>
                <a:lnTo>
                  <a:pt x="1340940" y="1724"/>
                </a:lnTo>
                <a:lnTo>
                  <a:pt x="1345749" y="6493"/>
                </a:lnTo>
                <a:lnTo>
                  <a:pt x="1350387" y="6493"/>
                </a:lnTo>
                <a:lnTo>
                  <a:pt x="1350387" y="11261"/>
                </a:lnTo>
                <a:lnTo>
                  <a:pt x="1355368" y="11261"/>
                </a:lnTo>
                <a:lnTo>
                  <a:pt x="1584337" y="240205"/>
                </a:lnTo>
                <a:lnTo>
                  <a:pt x="1589652" y="247358"/>
                </a:lnTo>
                <a:lnTo>
                  <a:pt x="1591423" y="254510"/>
                </a:lnTo>
                <a:lnTo>
                  <a:pt x="1589652" y="261663"/>
                </a:lnTo>
                <a:lnTo>
                  <a:pt x="1584337" y="268816"/>
                </a:lnTo>
                <a:lnTo>
                  <a:pt x="1355368" y="497759"/>
                </a:lnTo>
                <a:lnTo>
                  <a:pt x="1353822" y="499383"/>
                </a:lnTo>
                <a:lnTo>
                  <a:pt x="1351933" y="500905"/>
                </a:lnTo>
                <a:lnTo>
                  <a:pt x="1350387" y="502528"/>
                </a:lnTo>
                <a:lnTo>
                  <a:pt x="1345749" y="507296"/>
                </a:lnTo>
                <a:close/>
              </a:path>
            </a:pathLst>
          </a:custGeom>
          <a:solidFill>
            <a:srgbClr val="A53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21649" y="74809"/>
            <a:ext cx="8110890" cy="865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33954" y="2169444"/>
            <a:ext cx="9415780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E3E3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xhbVxbx2rQ&amp;t=110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www.thingiverse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cults3d.com/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ultimaker.com/es/software/ultimaker-cura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https://www.tinkercad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classrooms-resources" TargetMode="External"/><Relationship Id="rId2" Type="http://schemas.openxmlformats.org/officeDocument/2006/relationships/hyperlink" Target="https://www.youtube.com/watch?v=sqGJmOG0EOY&amp;list=PLHogLkQ_uFsgPR-9LcXEu-NjGi3i0cba6&amp;index=1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0"/>
            <a:ext cx="12192000" cy="6858000"/>
            <a:chOff x="-1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1" y="0"/>
              <a:ext cx="4639945" cy="6858000"/>
            </a:xfrm>
            <a:custGeom>
              <a:avLst/>
              <a:gdLst/>
              <a:ahLst/>
              <a:cxnLst/>
              <a:rect l="l" t="t" r="r" b="b"/>
              <a:pathLst>
                <a:path w="4639945" h="6858000">
                  <a:moveTo>
                    <a:pt x="4639733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4639733" y="0"/>
                  </a:lnTo>
                  <a:lnTo>
                    <a:pt x="4639733" y="6857999"/>
                  </a:lnTo>
                  <a:close/>
                </a:path>
              </a:pathLst>
            </a:custGeom>
            <a:solidFill>
              <a:srgbClr val="3B372A">
                <a:alpha val="8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3304" y="2401147"/>
            <a:ext cx="388249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DFFFF"/>
                </a:solidFill>
              </a:rPr>
              <a:t>TALLER IMPRESIÓN 3D</a:t>
            </a:r>
            <a:endParaRPr sz="4000" dirty="0"/>
          </a:p>
        </p:txBody>
      </p:sp>
      <p:sp>
        <p:nvSpPr>
          <p:cNvPr id="6" name="object 6"/>
          <p:cNvSpPr/>
          <p:nvPr/>
        </p:nvSpPr>
        <p:spPr>
          <a:xfrm>
            <a:off x="0" y="5033007"/>
            <a:ext cx="5400675" cy="857250"/>
          </a:xfrm>
          <a:custGeom>
            <a:avLst/>
            <a:gdLst/>
            <a:ahLst/>
            <a:cxnLst/>
            <a:rect l="l" t="t" r="r" b="b"/>
            <a:pathLst>
              <a:path w="5400675" h="857250">
                <a:moveTo>
                  <a:pt x="5002469" y="857046"/>
                </a:moveTo>
                <a:lnTo>
                  <a:pt x="0" y="857046"/>
                </a:lnTo>
                <a:lnTo>
                  <a:pt x="0" y="0"/>
                </a:lnTo>
                <a:lnTo>
                  <a:pt x="5002469" y="0"/>
                </a:lnTo>
                <a:lnTo>
                  <a:pt x="5009651" y="903"/>
                </a:lnTo>
                <a:lnTo>
                  <a:pt x="5016379" y="3286"/>
                </a:lnTo>
                <a:lnTo>
                  <a:pt x="5022199" y="6654"/>
                </a:lnTo>
                <a:lnTo>
                  <a:pt x="5026659" y="10515"/>
                </a:lnTo>
                <a:lnTo>
                  <a:pt x="5031497" y="10515"/>
                </a:lnTo>
                <a:lnTo>
                  <a:pt x="5031497" y="15773"/>
                </a:lnTo>
                <a:lnTo>
                  <a:pt x="5389508" y="404862"/>
                </a:lnTo>
                <a:lnTo>
                  <a:pt x="5397672" y="414474"/>
                </a:lnTo>
                <a:lnTo>
                  <a:pt x="5400393" y="426551"/>
                </a:lnTo>
                <a:lnTo>
                  <a:pt x="5397672" y="439614"/>
                </a:lnTo>
                <a:lnTo>
                  <a:pt x="5389508" y="452184"/>
                </a:lnTo>
                <a:lnTo>
                  <a:pt x="5031497" y="841272"/>
                </a:lnTo>
                <a:lnTo>
                  <a:pt x="5026659" y="841272"/>
                </a:lnTo>
                <a:lnTo>
                  <a:pt x="5026659" y="846530"/>
                </a:lnTo>
                <a:lnTo>
                  <a:pt x="5022199" y="850392"/>
                </a:lnTo>
                <a:lnTo>
                  <a:pt x="5016379" y="853760"/>
                </a:lnTo>
                <a:lnTo>
                  <a:pt x="5009651" y="856143"/>
                </a:lnTo>
                <a:lnTo>
                  <a:pt x="5002469" y="857046"/>
                </a:lnTo>
                <a:close/>
              </a:path>
            </a:pathLst>
          </a:custGeom>
          <a:solidFill>
            <a:srgbClr val="A53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ANYCUBIC Chiron 3D Printer, Semi-auto Leveling FDM 3D Printer with Patented  Ultrabase Heatbed, Huge Build Volume 15.75 x 15.75 x 17.72 inch:  Amazon.com: Industrial &amp; Scientific">
            <a:extLst>
              <a:ext uri="{FF2B5EF4-FFF2-40B4-BE49-F238E27FC236}">
                <a16:creationId xmlns:a16="http://schemas.microsoft.com/office/drawing/2014/main" id="{A5ED171C-80B5-1C31-B468-BAA5DE45B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04800"/>
            <a:ext cx="60198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7800" y="1981200"/>
            <a:ext cx="9558020" cy="332334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84250" lvl="1" indent="-391160">
              <a:lnSpc>
                <a:spcPct val="100000"/>
              </a:lnSpc>
              <a:spcBef>
                <a:spcPts val="1750"/>
              </a:spcBef>
              <a:buFont typeface="Arial MT"/>
              <a:buChar char="□"/>
              <a:tabLst>
                <a:tab pos="984250" algn="l"/>
              </a:tabLst>
            </a:pPr>
            <a:r>
              <a:rPr sz="1700" b="1" dirty="0" err="1">
                <a:solidFill>
                  <a:srgbClr val="202124"/>
                </a:solidFill>
                <a:latin typeface="Arial"/>
                <a:cs typeface="Arial"/>
              </a:rPr>
              <a:t>Impresora</a:t>
            </a:r>
            <a:r>
              <a:rPr sz="17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202124"/>
                </a:solidFill>
                <a:latin typeface="Arial"/>
                <a:cs typeface="Arial"/>
              </a:rPr>
              <a:t>3D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,</a:t>
            </a:r>
            <a:r>
              <a:rPr sz="1700" spc="-2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Manejo</a:t>
            </a:r>
            <a:r>
              <a:rPr sz="1700" spc="-2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y</a:t>
            </a:r>
            <a:r>
              <a:rPr sz="1700" spc="-2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calibración</a:t>
            </a:r>
            <a:endParaRPr sz="17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202124"/>
              </a:buClr>
              <a:buFont typeface="Arial MT"/>
              <a:buChar char="□"/>
            </a:pPr>
            <a:endParaRPr sz="1700" dirty="0">
              <a:latin typeface="Arial MT"/>
              <a:cs typeface="Arial MT"/>
            </a:endParaRPr>
          </a:p>
          <a:p>
            <a:pPr marL="984250" marR="5715" lvl="1" indent="-391160">
              <a:lnSpc>
                <a:spcPts val="1950"/>
              </a:lnSpc>
              <a:spcBef>
                <a:spcPts val="5"/>
              </a:spcBef>
              <a:buFont typeface="Arial MT"/>
              <a:buChar char="□"/>
              <a:tabLst>
                <a:tab pos="984250" algn="l"/>
              </a:tabLst>
            </a:pPr>
            <a:r>
              <a:rPr sz="1700" b="1" dirty="0">
                <a:solidFill>
                  <a:srgbClr val="202124"/>
                </a:solidFill>
                <a:latin typeface="Arial"/>
                <a:cs typeface="Arial"/>
              </a:rPr>
              <a:t>Ultimaker</a:t>
            </a:r>
            <a:r>
              <a:rPr sz="1700" b="1" spc="10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202124"/>
                </a:solidFill>
                <a:latin typeface="Arial"/>
                <a:cs typeface="Arial"/>
              </a:rPr>
              <a:t>Cura.</a:t>
            </a:r>
            <a:r>
              <a:rPr sz="1700" b="1" spc="11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Es</a:t>
            </a:r>
            <a:r>
              <a:rPr sz="1700" spc="10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una</a:t>
            </a:r>
            <a:r>
              <a:rPr sz="1700" spc="10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aplicación</a:t>
            </a:r>
            <a:r>
              <a:rPr sz="1700" spc="10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diseñada</a:t>
            </a:r>
            <a:r>
              <a:rPr sz="1700" spc="10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para</a:t>
            </a:r>
            <a:r>
              <a:rPr sz="1700" spc="10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impresoras</a:t>
            </a:r>
            <a:r>
              <a:rPr sz="1700" spc="10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3D,</a:t>
            </a:r>
            <a:r>
              <a:rPr sz="1700" spc="10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en</a:t>
            </a:r>
            <a:r>
              <a:rPr sz="1700" spc="10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la</a:t>
            </a:r>
            <a:r>
              <a:rPr sz="1700" spc="10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que</a:t>
            </a:r>
            <a:r>
              <a:rPr sz="1700" spc="10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se</a:t>
            </a:r>
            <a:r>
              <a:rPr sz="1700" spc="10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pueden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modificar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los</a:t>
            </a:r>
            <a:r>
              <a:rPr sz="1700" spc="-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parámetros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de</a:t>
            </a:r>
            <a:r>
              <a:rPr sz="1700" spc="-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impresión</a:t>
            </a:r>
            <a:r>
              <a:rPr sz="1700" spc="-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y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transformar</a:t>
            </a:r>
            <a:r>
              <a:rPr sz="1700" spc="-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los</a:t>
            </a:r>
            <a:r>
              <a:rPr sz="1700" spc="-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archivos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STL</a:t>
            </a:r>
            <a:r>
              <a:rPr sz="1700" spc="-7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a</a:t>
            </a:r>
            <a:r>
              <a:rPr sz="1700" spc="-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G-code.</a:t>
            </a:r>
            <a:endParaRPr sz="1700" dirty="0">
              <a:latin typeface="Arial MT"/>
              <a:cs typeface="Arial MT"/>
            </a:endParaRPr>
          </a:p>
          <a:p>
            <a:pPr marL="984250" marR="20955" lvl="1" indent="-391160">
              <a:lnSpc>
                <a:spcPts val="1950"/>
              </a:lnSpc>
              <a:spcBef>
                <a:spcPts val="1935"/>
              </a:spcBef>
              <a:buFont typeface="Arial MT"/>
              <a:buChar char="□"/>
              <a:tabLst>
                <a:tab pos="984250" algn="l"/>
              </a:tabLst>
            </a:pPr>
            <a:r>
              <a:rPr sz="1700" b="1" dirty="0">
                <a:solidFill>
                  <a:srgbClr val="202124"/>
                </a:solidFill>
                <a:latin typeface="Arial"/>
                <a:cs typeface="Arial"/>
              </a:rPr>
              <a:t>Tinkercad.</a:t>
            </a:r>
            <a:r>
              <a:rPr sz="1700" b="1" spc="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Tinkercad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es</a:t>
            </a:r>
            <a:r>
              <a:rPr sz="1700" spc="5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un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programa</a:t>
            </a:r>
            <a:r>
              <a:rPr sz="1700" spc="5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de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modelado</a:t>
            </a:r>
            <a:r>
              <a:rPr sz="1700" spc="5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3D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en</a:t>
            </a:r>
            <a:r>
              <a:rPr sz="1700" spc="5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línea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gratuito</a:t>
            </a:r>
            <a:r>
              <a:rPr sz="1700" spc="5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que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se</a:t>
            </a:r>
            <a:r>
              <a:rPr sz="1700" spc="5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ejecuta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en</a:t>
            </a:r>
            <a:r>
              <a:rPr sz="1700" spc="-2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un</a:t>
            </a:r>
            <a:r>
              <a:rPr sz="1700" spc="-1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navegador</a:t>
            </a:r>
            <a:r>
              <a:rPr sz="1700" spc="-1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202124"/>
                </a:solidFill>
                <a:latin typeface="Arial MT"/>
                <a:cs typeface="Arial MT"/>
              </a:rPr>
              <a:t>web.</a:t>
            </a:r>
            <a:endParaRPr sz="1700" dirty="0">
              <a:latin typeface="Arial MT"/>
              <a:cs typeface="Arial MT"/>
            </a:endParaRPr>
          </a:p>
          <a:p>
            <a:pPr marL="984250" marR="5080" lvl="1" indent="-391160">
              <a:lnSpc>
                <a:spcPts val="1950"/>
              </a:lnSpc>
              <a:spcBef>
                <a:spcPts val="1939"/>
              </a:spcBef>
              <a:buFont typeface="Arial MT"/>
              <a:buChar char="□"/>
              <a:tabLst>
                <a:tab pos="984250" algn="l"/>
              </a:tabLst>
            </a:pPr>
            <a:r>
              <a:rPr sz="1700" b="1" dirty="0">
                <a:solidFill>
                  <a:srgbClr val="202124"/>
                </a:solidFill>
                <a:latin typeface="Arial"/>
                <a:cs typeface="Arial"/>
              </a:rPr>
              <a:t>Thingiverse.</a:t>
            </a:r>
            <a:r>
              <a:rPr sz="1700" b="1" spc="1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Thingiverse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es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un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sitio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web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dedicado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al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intercambio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de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archivos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de</a:t>
            </a:r>
            <a:r>
              <a:rPr sz="1700" spc="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diseño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digital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creados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por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el</a:t>
            </a:r>
            <a:r>
              <a:rPr sz="1700" spc="-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usuario</a:t>
            </a:r>
            <a:endParaRPr sz="1700" dirty="0">
              <a:latin typeface="Arial MT"/>
              <a:cs typeface="Arial MT"/>
            </a:endParaRPr>
          </a:p>
          <a:p>
            <a:pPr marL="984250" marR="5715" lvl="1" indent="-391160">
              <a:lnSpc>
                <a:spcPts val="1950"/>
              </a:lnSpc>
              <a:spcBef>
                <a:spcPts val="1939"/>
              </a:spcBef>
              <a:buFont typeface="Arial MT"/>
              <a:buChar char="□"/>
              <a:tabLst>
                <a:tab pos="984250" algn="l"/>
              </a:tabLst>
            </a:pPr>
            <a:r>
              <a:rPr sz="1700" b="1" dirty="0">
                <a:solidFill>
                  <a:srgbClr val="202124"/>
                </a:solidFill>
                <a:latin typeface="Arial"/>
                <a:cs typeface="Arial"/>
              </a:rPr>
              <a:t>Cults3d.</a:t>
            </a:r>
            <a:r>
              <a:rPr sz="1700" b="1" spc="6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Cults</a:t>
            </a:r>
            <a:r>
              <a:rPr sz="1700" spc="6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es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un</a:t>
            </a:r>
            <a:r>
              <a:rPr sz="1700" spc="6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mercado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de</a:t>
            </a:r>
            <a:r>
              <a:rPr sz="1700" spc="6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impresión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3D</a:t>
            </a:r>
            <a:r>
              <a:rPr sz="1700" spc="6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que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permite</a:t>
            </a:r>
            <a:r>
              <a:rPr sz="1700" spc="6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a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diseñadores,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creadores</a:t>
            </a:r>
            <a:r>
              <a:rPr sz="1700" spc="6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02124"/>
                </a:solidFill>
                <a:latin typeface="Arial MT"/>
                <a:cs typeface="Arial MT"/>
              </a:rPr>
              <a:t>y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otros</a:t>
            </a:r>
            <a:r>
              <a:rPr sz="1700" spc="-1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usuarios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compartir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modelos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gratuitos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y</a:t>
            </a:r>
            <a:r>
              <a:rPr sz="1700" spc="-1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de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pago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destinados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a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la</a:t>
            </a:r>
            <a:r>
              <a:rPr sz="1700" spc="-1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02124"/>
                </a:solidFill>
                <a:latin typeface="Arial MT"/>
                <a:cs typeface="Arial MT"/>
              </a:rPr>
              <a:t>impresión</a:t>
            </a:r>
            <a:r>
              <a:rPr sz="1700" spc="-1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02124"/>
                </a:solidFill>
                <a:latin typeface="Arial MT"/>
                <a:cs typeface="Arial MT"/>
              </a:rPr>
              <a:t>3D</a:t>
            </a:r>
            <a:endParaRPr sz="17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702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Calibración</a:t>
            </a:r>
            <a:r>
              <a:rPr dirty="0"/>
              <a:t> </a:t>
            </a:r>
            <a:r>
              <a:rPr spc="395" dirty="0"/>
              <a:t>de</a:t>
            </a:r>
            <a:r>
              <a:rPr dirty="0"/>
              <a:t> </a:t>
            </a:r>
            <a:r>
              <a:rPr spc="175" dirty="0"/>
              <a:t>la</a:t>
            </a:r>
            <a:r>
              <a:rPr spc="5" dirty="0"/>
              <a:t> </a:t>
            </a:r>
            <a:r>
              <a:rPr spc="120" dirty="0"/>
              <a:t>impresora</a:t>
            </a:r>
            <a:r>
              <a:rPr dirty="0"/>
              <a:t> </a:t>
            </a:r>
            <a:r>
              <a:rPr spc="-25" dirty="0"/>
              <a:t>3D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0800" y="1219200"/>
            <a:ext cx="8763000" cy="5179367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indent="-386715" algn="just">
              <a:lnSpc>
                <a:spcPct val="150000"/>
              </a:lnSpc>
              <a:spcBef>
                <a:spcPts val="1115"/>
              </a:spcBef>
              <a:buClr>
                <a:srgbClr val="A53010"/>
              </a:buClr>
              <a:buFont typeface="Times New Roman"/>
              <a:buAutoNum type="arabicPeriod"/>
              <a:tabLst>
                <a:tab pos="399415" algn="l"/>
              </a:tabLst>
            </a:pP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Enciende la máquina.</a:t>
            </a:r>
            <a:endParaRPr sz="1650" dirty="0">
              <a:latin typeface="Arial MT"/>
              <a:cs typeface="Arial MT"/>
            </a:endParaRPr>
          </a:p>
          <a:p>
            <a:pPr indent="-386715" algn="just">
              <a:lnSpc>
                <a:spcPct val="150000"/>
              </a:lnSpc>
              <a:spcBef>
                <a:spcPts val="1015"/>
              </a:spcBef>
              <a:buClr>
                <a:srgbClr val="A53010"/>
              </a:buClr>
              <a:buFont typeface="Times New Roman"/>
              <a:buAutoNum type="arabicPeriod"/>
              <a:tabLst>
                <a:tab pos="399415" algn="l"/>
              </a:tabLst>
            </a:pP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Pulsa el mando de control y desplázate hasta el menú PREPARE (PREPARAR).</a:t>
            </a:r>
            <a:endParaRPr sz="1650" dirty="0">
              <a:latin typeface="Arial MT"/>
              <a:cs typeface="Arial MT"/>
            </a:endParaRPr>
          </a:p>
          <a:p>
            <a:pPr marR="5080" indent="-387350" algn="just">
              <a:lnSpc>
                <a:spcPct val="150000"/>
              </a:lnSpc>
              <a:buClr>
                <a:srgbClr val="A53010"/>
              </a:buClr>
              <a:buFont typeface="Times New Roman"/>
              <a:buAutoNum type="arabicPeriod"/>
              <a:tabLst>
                <a:tab pos="399415" algn="l"/>
              </a:tabLst>
            </a:pP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Desplázate hacia abajo, hasta AUTO HOME (INICIO AUTOMÁTICO), y pulsa el mando. </a:t>
            </a:r>
            <a:r>
              <a:rPr lang="es-PE" sz="1650" dirty="0">
                <a:solidFill>
                  <a:srgbClr val="3E3E3E"/>
                </a:solidFill>
                <a:latin typeface="Arial MT"/>
                <a:cs typeface="Arial MT"/>
              </a:rPr>
              <a:t>	</a:t>
            </a: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El hotend se moverá a la parte frontal izquierda de la cama y se detendrá.</a:t>
            </a:r>
            <a:endParaRPr sz="1650" dirty="0">
              <a:latin typeface="Arial MT"/>
              <a:cs typeface="Arial MT"/>
            </a:endParaRPr>
          </a:p>
          <a:p>
            <a:pPr indent="-386715" algn="just">
              <a:lnSpc>
                <a:spcPct val="150000"/>
              </a:lnSpc>
              <a:spcBef>
                <a:spcPts val="1015"/>
              </a:spcBef>
              <a:buClr>
                <a:srgbClr val="A53010"/>
              </a:buClr>
              <a:buFont typeface="Times New Roman"/>
              <a:buAutoNum type="arabicPeriod"/>
              <a:tabLst>
                <a:tab pos="399415" algn="l"/>
              </a:tabLst>
            </a:pP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De nuevo, ve a PREPARE (PREPARAR).</a:t>
            </a:r>
            <a:endParaRPr sz="1650" dirty="0">
              <a:latin typeface="Arial MT"/>
              <a:cs typeface="Arial MT"/>
            </a:endParaRPr>
          </a:p>
          <a:p>
            <a:pPr indent="-386715" algn="just">
              <a:lnSpc>
                <a:spcPct val="150000"/>
              </a:lnSpc>
              <a:spcBef>
                <a:spcPts val="1020"/>
              </a:spcBef>
              <a:buClr>
                <a:srgbClr val="A53010"/>
              </a:buClr>
              <a:buFont typeface="Times New Roman"/>
              <a:buAutoNum type="arabicPeriod"/>
              <a:tabLst>
                <a:tab pos="399415" algn="l"/>
              </a:tabLst>
            </a:pP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Desplázate a DISABLE STEPPERS (DESACTIVAR MOTORES PASO A PASO) y </a:t>
            </a:r>
            <a:r>
              <a:rPr sz="1650" dirty="0" err="1">
                <a:solidFill>
                  <a:srgbClr val="3E3E3E"/>
                </a:solidFill>
                <a:latin typeface="Arial MT"/>
                <a:cs typeface="Arial MT"/>
              </a:rPr>
              <a:t>pulsa</a:t>
            </a: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lang="es-PE" sz="1650" dirty="0">
                <a:solidFill>
                  <a:srgbClr val="3E3E3E"/>
                </a:solidFill>
                <a:latin typeface="Arial MT"/>
                <a:cs typeface="Arial MT"/>
              </a:rPr>
              <a:t>	</a:t>
            </a:r>
            <a:r>
              <a:rPr sz="1650" dirty="0" err="1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lang="es-PE" sz="16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control. Así podrás mover fácilmente la cama hacia delante y hacia atrás.</a:t>
            </a:r>
            <a:endParaRPr sz="1650" dirty="0">
              <a:latin typeface="Arial MT"/>
              <a:cs typeface="Arial MT"/>
            </a:endParaRPr>
          </a:p>
          <a:p>
            <a:pPr marR="510540" indent="-387350" algn="just">
              <a:lnSpc>
                <a:spcPct val="150000"/>
              </a:lnSpc>
              <a:buClr>
                <a:srgbClr val="A53010"/>
              </a:buClr>
              <a:buFont typeface="Times New Roman"/>
              <a:buAutoNum type="arabicPeriod" startAt="6"/>
              <a:tabLst>
                <a:tab pos="399415" algn="l"/>
              </a:tabLst>
            </a:pPr>
            <a:r>
              <a:rPr sz="1650" dirty="0">
                <a:solidFill>
                  <a:srgbClr val="3E3E3E"/>
                </a:solidFill>
                <a:latin typeface="Arial MT"/>
              </a:rPr>
              <a:t>A continuación, gira cada una de las cuatro ruedas de nivelación </a:t>
            </a:r>
            <a:r>
              <a:rPr sz="1650" dirty="0" err="1">
                <a:solidFill>
                  <a:srgbClr val="3E3E3E"/>
                </a:solidFill>
                <a:latin typeface="Arial MT"/>
              </a:rPr>
              <a:t>en</a:t>
            </a:r>
            <a:r>
              <a:rPr sz="1650" dirty="0">
                <a:solidFill>
                  <a:srgbClr val="3E3E3E"/>
                </a:solidFill>
                <a:latin typeface="Arial MT"/>
              </a:rPr>
              <a:t> </a:t>
            </a:r>
            <a:r>
              <a:rPr sz="1650" dirty="0" err="1">
                <a:solidFill>
                  <a:srgbClr val="3E3E3E"/>
                </a:solidFill>
                <a:latin typeface="Arial MT"/>
              </a:rPr>
              <a:t>sentido</a:t>
            </a:r>
            <a:r>
              <a:rPr lang="es-PE" sz="1650" dirty="0">
                <a:solidFill>
                  <a:srgbClr val="3E3E3E"/>
                </a:solidFill>
                <a:latin typeface="Arial MT"/>
              </a:rPr>
              <a:t> 	</a:t>
            </a:r>
            <a:r>
              <a:rPr sz="1650" dirty="0" err="1">
                <a:solidFill>
                  <a:srgbClr val="3E3E3E"/>
                </a:solidFill>
                <a:latin typeface="Arial MT"/>
              </a:rPr>
              <a:t>antihorario</a:t>
            </a:r>
            <a:r>
              <a:rPr sz="1650" dirty="0">
                <a:solidFill>
                  <a:srgbClr val="3E3E3E"/>
                </a:solidFill>
                <a:latin typeface="Arial MT"/>
              </a:rPr>
              <a:t> para bajar la cama. Con una o dos vueltas debería ser suficiente. El </a:t>
            </a:r>
            <a:r>
              <a:rPr lang="es-PE" sz="1650" dirty="0">
                <a:solidFill>
                  <a:srgbClr val="3E3E3E"/>
                </a:solidFill>
                <a:latin typeface="Arial MT"/>
              </a:rPr>
              <a:t>	</a:t>
            </a:r>
            <a:r>
              <a:rPr sz="1650" dirty="0" err="1">
                <a:solidFill>
                  <a:srgbClr val="3E3E3E"/>
                </a:solidFill>
                <a:latin typeface="Arial MT"/>
              </a:rPr>
              <a:t>objetivo</a:t>
            </a:r>
            <a:r>
              <a:rPr sz="1650" dirty="0">
                <a:solidFill>
                  <a:srgbClr val="3E3E3E"/>
                </a:solidFill>
                <a:latin typeface="Arial MT"/>
              </a:rPr>
              <a:t> es asegurarse de que la cama esté más baja que la punta del cabezal.</a:t>
            </a:r>
          </a:p>
          <a:p>
            <a:pPr marR="2827655" algn="l">
              <a:lnSpc>
                <a:spcPct val="150000"/>
              </a:lnSpc>
              <a:spcBef>
                <a:spcPts val="1000"/>
              </a:spcBef>
            </a:pP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Video</a:t>
            </a:r>
            <a:r>
              <a:rPr lang="es-PE" sz="16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3E3E3E"/>
                </a:solidFill>
                <a:latin typeface="Arial MT"/>
                <a:cs typeface="Arial MT"/>
              </a:rPr>
              <a:t>tutorial: </a:t>
            </a:r>
            <a:r>
              <a:rPr sz="1650" u="heavy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https://www.youtube.com/watch?v=txhbVxbx2rQ&amp;t=110s</a:t>
            </a:r>
            <a:endParaRPr sz="16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5949" y="127759"/>
            <a:ext cx="5112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Nivelación</a:t>
            </a:r>
            <a:r>
              <a:rPr spc="5" dirty="0"/>
              <a:t> </a:t>
            </a:r>
            <a:r>
              <a:rPr spc="395" dirty="0"/>
              <a:t>de</a:t>
            </a:r>
            <a:r>
              <a:rPr spc="5" dirty="0"/>
              <a:t> </a:t>
            </a:r>
            <a:r>
              <a:rPr spc="175" dirty="0"/>
              <a:t>la</a:t>
            </a:r>
            <a:r>
              <a:rPr spc="5" dirty="0"/>
              <a:t> </a:t>
            </a:r>
            <a:r>
              <a:rPr spc="415" dirty="0"/>
              <a:t>cama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1349" y="914400"/>
            <a:ext cx="8941851" cy="5561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87350" algn="just">
              <a:lnSpc>
                <a:spcPct val="107100"/>
              </a:lnSpc>
            </a:pP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única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90" dirty="0">
                <a:solidFill>
                  <a:srgbClr val="3E3E3E"/>
                </a:solidFill>
                <a:latin typeface="Arial MT"/>
                <a:cs typeface="Arial MT"/>
              </a:rPr>
              <a:t>herramienta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necesitas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nivelar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95" dirty="0">
                <a:solidFill>
                  <a:srgbClr val="3E3E3E"/>
                </a:solidFill>
                <a:latin typeface="Arial MT"/>
                <a:cs typeface="Arial MT"/>
              </a:rPr>
              <a:t>cama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un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trozo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0" dirty="0">
                <a:solidFill>
                  <a:srgbClr val="3E3E3E"/>
                </a:solidFill>
                <a:latin typeface="Arial MT"/>
                <a:cs typeface="Arial MT"/>
              </a:rPr>
              <a:t>papel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impresora.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Cuando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lo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0" dirty="0">
                <a:solidFill>
                  <a:srgbClr val="3E3E3E"/>
                </a:solidFill>
                <a:latin typeface="Arial MT"/>
                <a:cs typeface="Arial MT"/>
              </a:rPr>
              <a:t>tengas,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0" dirty="0">
                <a:solidFill>
                  <a:srgbClr val="3E3E3E"/>
                </a:solidFill>
                <a:latin typeface="Arial MT"/>
                <a:cs typeface="Arial MT"/>
              </a:rPr>
              <a:t>ya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podrás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5" dirty="0">
                <a:solidFill>
                  <a:srgbClr val="3E3E3E"/>
                </a:solidFill>
                <a:latin typeface="Arial MT"/>
                <a:cs typeface="Arial MT"/>
              </a:rPr>
              <a:t>empezar:</a:t>
            </a:r>
            <a:endParaRPr sz="1400" dirty="0">
              <a:latin typeface="Arial MT"/>
              <a:cs typeface="Arial MT"/>
            </a:endParaRPr>
          </a:p>
          <a:p>
            <a:pPr marL="469265" indent="-374015" algn="just">
              <a:lnSpc>
                <a:spcPct val="100000"/>
              </a:lnSpc>
              <a:spcBef>
                <a:spcPts val="1130"/>
              </a:spcBef>
              <a:buClr>
                <a:srgbClr val="A53010"/>
              </a:buClr>
              <a:buFont typeface="Times New Roman"/>
              <a:buAutoNum type="arabicPeriod"/>
              <a:tabLst>
                <a:tab pos="469265" algn="l"/>
              </a:tabLst>
            </a:pP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Mueve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cabezal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5" dirty="0">
                <a:solidFill>
                  <a:srgbClr val="3E3E3E"/>
                </a:solidFill>
                <a:latin typeface="Arial MT"/>
                <a:cs typeface="Arial MT"/>
              </a:rPr>
              <a:t>colocarlo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sobre el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tornillo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 ajuste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inferior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izquierdo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cama.</a:t>
            </a:r>
            <a:endParaRPr sz="1400" dirty="0">
              <a:latin typeface="Arial MT"/>
              <a:cs typeface="Arial MT"/>
            </a:endParaRPr>
          </a:p>
          <a:p>
            <a:pPr marL="469900" marR="142240" indent="-374650" algn="just">
              <a:lnSpc>
                <a:spcPct val="142800"/>
              </a:lnSpc>
              <a:buClr>
                <a:srgbClr val="A53010"/>
              </a:buClr>
              <a:buFont typeface="Times New Roman"/>
              <a:buAutoNum type="arabicPeriod"/>
              <a:tabLst>
                <a:tab pos="469900" algn="l"/>
              </a:tabLst>
            </a:pP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Desliza</a:t>
            </a:r>
            <a:r>
              <a:rPr sz="14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0" dirty="0">
                <a:solidFill>
                  <a:srgbClr val="3E3E3E"/>
                </a:solidFill>
                <a:latin typeface="Arial MT"/>
                <a:cs typeface="Arial MT"/>
              </a:rPr>
              <a:t>papel</a:t>
            </a:r>
            <a:r>
              <a:rPr sz="14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entre</a:t>
            </a:r>
            <a:r>
              <a:rPr sz="14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cabezal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4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55" dirty="0">
                <a:solidFill>
                  <a:srgbClr val="3E3E3E"/>
                </a:solidFill>
                <a:latin typeface="Arial MT"/>
                <a:cs typeface="Arial MT"/>
              </a:rPr>
              <a:t>cama.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-150" dirty="0">
                <a:solidFill>
                  <a:srgbClr val="3E3E3E"/>
                </a:solidFill>
                <a:latin typeface="Arial MT"/>
                <a:cs typeface="Arial MT"/>
              </a:rPr>
              <a:t>Si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has</a:t>
            </a:r>
            <a:r>
              <a:rPr sz="14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podido</a:t>
            </a:r>
            <a:r>
              <a:rPr sz="14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5" dirty="0">
                <a:solidFill>
                  <a:srgbClr val="3E3E3E"/>
                </a:solidFill>
                <a:latin typeface="Arial MT"/>
                <a:cs typeface="Arial MT"/>
              </a:rPr>
              <a:t>colocar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5" dirty="0">
                <a:solidFill>
                  <a:srgbClr val="3E3E3E"/>
                </a:solidFill>
                <a:latin typeface="Arial MT"/>
                <a:cs typeface="Arial MT"/>
              </a:rPr>
              <a:t>cabezal,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5" dirty="0">
                <a:solidFill>
                  <a:srgbClr val="3E3E3E"/>
                </a:solidFill>
                <a:latin typeface="Arial MT"/>
                <a:cs typeface="Arial MT"/>
              </a:rPr>
              <a:t>debería</a:t>
            </a:r>
            <a:r>
              <a:rPr sz="14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5" dirty="0">
                <a:solidFill>
                  <a:srgbClr val="3E3E3E"/>
                </a:solidFill>
                <a:latin typeface="Arial MT"/>
                <a:cs typeface="Arial MT"/>
              </a:rPr>
              <a:t>haber </a:t>
            </a:r>
            <a:r>
              <a:rPr sz="1400" spc="90" dirty="0">
                <a:solidFill>
                  <a:srgbClr val="3E3E3E"/>
                </a:solidFill>
                <a:latin typeface="Arial MT"/>
                <a:cs typeface="Arial MT"/>
              </a:rPr>
              <a:t>cierto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5" dirty="0">
                <a:solidFill>
                  <a:srgbClr val="3E3E3E"/>
                </a:solidFill>
                <a:latin typeface="Arial MT"/>
                <a:cs typeface="Arial MT"/>
              </a:rPr>
              <a:t>espacio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entre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dos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95" dirty="0">
                <a:solidFill>
                  <a:srgbClr val="3E3E3E"/>
                </a:solidFill>
                <a:latin typeface="Arial MT"/>
                <a:cs typeface="Arial MT"/>
              </a:rPr>
              <a:t>(en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5" dirty="0">
                <a:solidFill>
                  <a:srgbClr val="3E3E3E"/>
                </a:solidFill>
                <a:latin typeface="Arial MT"/>
                <a:cs typeface="Arial MT"/>
              </a:rPr>
              <a:t>caso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0" dirty="0">
                <a:solidFill>
                  <a:srgbClr val="3E3E3E"/>
                </a:solidFill>
                <a:latin typeface="Arial MT"/>
                <a:cs typeface="Arial MT"/>
              </a:rPr>
              <a:t>contrario,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55" dirty="0">
                <a:solidFill>
                  <a:srgbClr val="3E3E3E"/>
                </a:solidFill>
                <a:latin typeface="Arial MT"/>
                <a:cs typeface="Arial MT"/>
              </a:rPr>
              <a:t>puede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5" dirty="0">
                <a:solidFill>
                  <a:srgbClr val="3E3E3E"/>
                </a:solidFill>
                <a:latin typeface="Arial MT"/>
                <a:cs typeface="Arial MT"/>
              </a:rPr>
              <a:t>hayas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95" dirty="0">
                <a:solidFill>
                  <a:srgbClr val="3E3E3E"/>
                </a:solidFill>
                <a:latin typeface="Arial MT"/>
                <a:cs typeface="Arial MT"/>
              </a:rPr>
              <a:t>rozado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95" dirty="0">
                <a:solidFill>
                  <a:srgbClr val="3E3E3E"/>
                </a:solidFill>
                <a:latin typeface="Arial MT"/>
                <a:cs typeface="Arial MT"/>
              </a:rPr>
              <a:t>cama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55" dirty="0">
                <a:solidFill>
                  <a:srgbClr val="3E3E3E"/>
                </a:solidFill>
                <a:latin typeface="Arial MT"/>
                <a:cs typeface="Arial MT"/>
              </a:rPr>
              <a:t>con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el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cabezal).</a:t>
            </a:r>
            <a:endParaRPr sz="1400" dirty="0">
              <a:latin typeface="Arial MT"/>
              <a:cs typeface="Arial MT"/>
            </a:endParaRPr>
          </a:p>
          <a:p>
            <a:pPr marL="469900" marR="447040" indent="-374650" algn="just">
              <a:lnSpc>
                <a:spcPct val="142800"/>
              </a:lnSpc>
              <a:buClr>
                <a:srgbClr val="A53010"/>
              </a:buClr>
              <a:buFont typeface="Times New Roman"/>
              <a:buAutoNum type="arabicPeriod"/>
              <a:tabLst>
                <a:tab pos="469900" algn="l"/>
              </a:tabLst>
            </a:pP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Eleva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muy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lentamente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esquina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55" dirty="0">
                <a:solidFill>
                  <a:srgbClr val="3E3E3E"/>
                </a:solidFill>
                <a:latin typeface="Arial MT"/>
                <a:cs typeface="Arial MT"/>
              </a:rPr>
              <a:t>con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ajustador.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Recuerda: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-95" dirty="0">
                <a:solidFill>
                  <a:srgbClr val="3E3E3E"/>
                </a:solidFill>
                <a:latin typeface="Arial MT"/>
                <a:cs typeface="Arial MT"/>
              </a:rPr>
              <a:t>si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lo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giras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sentido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horario </a:t>
            </a:r>
            <a:r>
              <a:rPr sz="1400" spc="95" dirty="0">
                <a:solidFill>
                  <a:srgbClr val="3E3E3E"/>
                </a:solidFill>
                <a:latin typeface="Arial MT"/>
                <a:cs typeface="Arial MT"/>
              </a:rPr>
              <a:t>(mirando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desde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arriba),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95" dirty="0">
                <a:solidFill>
                  <a:srgbClr val="3E3E3E"/>
                </a:solidFill>
                <a:latin typeface="Arial MT"/>
                <a:cs typeface="Arial MT"/>
              </a:rPr>
              <a:t>cama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se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eleva.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0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95" dirty="0">
                <a:solidFill>
                  <a:srgbClr val="3E3E3E"/>
                </a:solidFill>
                <a:latin typeface="Arial MT"/>
                <a:cs typeface="Arial MT"/>
              </a:rPr>
              <a:t>hacerlo,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desliza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0" dirty="0">
                <a:solidFill>
                  <a:srgbClr val="3E3E3E"/>
                </a:solidFill>
                <a:latin typeface="Arial MT"/>
                <a:cs typeface="Arial MT"/>
              </a:rPr>
              <a:t>suavemente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0" dirty="0">
                <a:solidFill>
                  <a:srgbClr val="3E3E3E"/>
                </a:solidFill>
                <a:latin typeface="Arial MT"/>
                <a:cs typeface="Arial MT"/>
              </a:rPr>
              <a:t>papel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hacia delante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0" dirty="0">
                <a:solidFill>
                  <a:srgbClr val="3E3E3E"/>
                </a:solidFill>
                <a:latin typeface="Arial MT"/>
                <a:cs typeface="Arial MT"/>
              </a:rPr>
              <a:t>hacia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atrás.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momento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notes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más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5" dirty="0">
                <a:solidFill>
                  <a:srgbClr val="3E3E3E"/>
                </a:solidFill>
                <a:latin typeface="Arial MT"/>
                <a:cs typeface="Arial MT"/>
              </a:rPr>
              <a:t>mínima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resistencia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al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0" dirty="0">
                <a:solidFill>
                  <a:srgbClr val="3E3E3E"/>
                </a:solidFill>
                <a:latin typeface="Arial MT"/>
                <a:cs typeface="Arial MT"/>
              </a:rPr>
              <a:t>mover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el </a:t>
            </a:r>
            <a:r>
              <a:rPr sz="1400" spc="114" dirty="0">
                <a:solidFill>
                  <a:srgbClr val="3E3E3E"/>
                </a:solidFill>
                <a:latin typeface="Arial MT"/>
                <a:cs typeface="Arial MT"/>
              </a:rPr>
              <a:t>papel,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0" dirty="0">
                <a:solidFill>
                  <a:srgbClr val="3E3E3E"/>
                </a:solidFill>
                <a:latin typeface="Arial MT"/>
                <a:cs typeface="Arial MT"/>
              </a:rPr>
              <a:t>deja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girar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mando.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Esta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esquina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0" dirty="0">
                <a:solidFill>
                  <a:srgbClr val="3E3E3E"/>
                </a:solidFill>
                <a:latin typeface="Arial MT"/>
                <a:cs typeface="Arial MT"/>
              </a:rPr>
              <a:t>ya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está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(casi)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Arial MT"/>
                <a:cs typeface="Arial MT"/>
              </a:rPr>
              <a:t>lista.</a:t>
            </a:r>
            <a:endParaRPr sz="1400" dirty="0">
              <a:latin typeface="Arial MT"/>
              <a:cs typeface="Arial MT"/>
            </a:endParaRPr>
          </a:p>
          <a:p>
            <a:pPr marL="469900" marR="5080" indent="-374650" algn="just">
              <a:lnSpc>
                <a:spcPct val="142800"/>
              </a:lnSpc>
              <a:buClr>
                <a:srgbClr val="A53010"/>
              </a:buClr>
              <a:buFont typeface="Times New Roman"/>
              <a:buAutoNum type="arabicPeriod"/>
              <a:tabLst>
                <a:tab pos="469900" algn="l"/>
              </a:tabLst>
            </a:pP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Haz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lo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mismo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las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tres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esquinas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restantes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60" dirty="0">
                <a:solidFill>
                  <a:srgbClr val="3E3E3E"/>
                </a:solidFill>
                <a:latin typeface="Arial MT"/>
                <a:cs typeface="Arial MT"/>
              </a:rPr>
              <a:t>placa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0" dirty="0">
                <a:solidFill>
                  <a:srgbClr val="3E3E3E"/>
                </a:solidFill>
                <a:latin typeface="Arial MT"/>
                <a:cs typeface="Arial MT"/>
              </a:rPr>
              <a:t>construcción,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0" dirty="0">
                <a:solidFill>
                  <a:srgbClr val="3E3E3E"/>
                </a:solidFill>
                <a:latin typeface="Arial MT"/>
                <a:cs typeface="Arial MT"/>
              </a:rPr>
              <a:t>situando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cabezal </a:t>
            </a:r>
            <a:r>
              <a:rPr sz="1400" spc="130" dirty="0">
                <a:solidFill>
                  <a:srgbClr val="3E3E3E"/>
                </a:solidFill>
                <a:latin typeface="Arial MT"/>
                <a:cs typeface="Arial MT"/>
              </a:rPr>
              <a:t>encima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tornillos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ajuste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correspondientes.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Siempre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debes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desplazar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lentamente</a:t>
            </a:r>
            <a:r>
              <a:rPr sz="14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el </a:t>
            </a:r>
            <a:r>
              <a:rPr sz="1400" spc="130" dirty="0">
                <a:solidFill>
                  <a:srgbClr val="3E3E3E"/>
                </a:solidFill>
                <a:latin typeface="Arial MT"/>
                <a:cs typeface="Arial MT"/>
              </a:rPr>
              <a:t>hotend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0" dirty="0">
                <a:solidFill>
                  <a:srgbClr val="3E3E3E"/>
                </a:solidFill>
                <a:latin typeface="Arial MT"/>
                <a:cs typeface="Arial MT"/>
              </a:rPr>
              <a:t>hasta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4" dirty="0">
                <a:solidFill>
                  <a:srgbClr val="3E3E3E"/>
                </a:solidFill>
                <a:latin typeface="Arial MT"/>
                <a:cs typeface="Arial MT"/>
              </a:rPr>
              <a:t>nueva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esquina.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3E3E3E"/>
                </a:solidFill>
                <a:latin typeface="Arial MT"/>
                <a:cs typeface="Arial MT"/>
              </a:rPr>
              <a:t>Así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evitarás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5" dirty="0">
                <a:solidFill>
                  <a:srgbClr val="3E3E3E"/>
                </a:solidFill>
                <a:latin typeface="Arial MT"/>
                <a:cs typeface="Arial MT"/>
              </a:rPr>
              <a:t>dañar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60" dirty="0">
                <a:solidFill>
                  <a:srgbClr val="3E3E3E"/>
                </a:solidFill>
                <a:latin typeface="Arial MT"/>
                <a:cs typeface="Arial MT"/>
              </a:rPr>
              <a:t>placa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90" dirty="0">
                <a:solidFill>
                  <a:srgbClr val="3E3E3E"/>
                </a:solidFill>
                <a:latin typeface="Arial MT"/>
                <a:cs typeface="Arial MT"/>
              </a:rPr>
              <a:t>construcción</a:t>
            </a:r>
            <a:r>
              <a:rPr sz="14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-95" dirty="0">
                <a:solidFill>
                  <a:srgbClr val="3E3E3E"/>
                </a:solidFill>
                <a:latin typeface="Arial MT"/>
                <a:cs typeface="Arial MT"/>
              </a:rPr>
              <a:t>si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cabezal </a:t>
            </a:r>
            <a:r>
              <a:rPr sz="1400" spc="100" dirty="0">
                <a:solidFill>
                  <a:srgbClr val="3E3E3E"/>
                </a:solidFill>
                <a:latin typeface="Arial MT"/>
                <a:cs typeface="Arial MT"/>
              </a:rPr>
              <a:t>empieza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200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arrastrar.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-150" dirty="0">
                <a:solidFill>
                  <a:srgbClr val="3E3E3E"/>
                </a:solidFill>
                <a:latin typeface="Arial MT"/>
                <a:cs typeface="Arial MT"/>
              </a:rPr>
              <a:t>Si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esto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5" dirty="0">
                <a:solidFill>
                  <a:srgbClr val="3E3E3E"/>
                </a:solidFill>
                <a:latin typeface="Arial MT"/>
                <a:cs typeface="Arial MT"/>
              </a:rPr>
              <a:t>ocurre,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solo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10" dirty="0">
                <a:solidFill>
                  <a:srgbClr val="3E3E3E"/>
                </a:solidFill>
                <a:latin typeface="Arial MT"/>
                <a:cs typeface="Arial MT"/>
              </a:rPr>
              <a:t>debes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00" dirty="0">
                <a:solidFill>
                  <a:srgbClr val="3E3E3E"/>
                </a:solidFill>
                <a:latin typeface="Arial MT"/>
                <a:cs typeface="Arial MT"/>
              </a:rPr>
              <a:t>bajar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siguiente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esquina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(antes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iniciar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25" dirty="0">
                <a:solidFill>
                  <a:srgbClr val="3E3E3E"/>
                </a:solidFill>
                <a:latin typeface="Arial MT"/>
                <a:cs typeface="Arial MT"/>
              </a:rPr>
              <a:t>el </a:t>
            </a:r>
            <a:r>
              <a:rPr sz="1400" spc="95" dirty="0">
                <a:solidFill>
                  <a:srgbClr val="3E3E3E"/>
                </a:solidFill>
                <a:latin typeface="Arial MT"/>
                <a:cs typeface="Arial MT"/>
              </a:rPr>
              <a:t>proceso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nivelación)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5" dirty="0">
                <a:solidFill>
                  <a:srgbClr val="3E3E3E"/>
                </a:solidFill>
                <a:latin typeface="Arial MT"/>
                <a:cs typeface="Arial MT"/>
              </a:rPr>
              <a:t>ganar</a:t>
            </a:r>
            <a:r>
              <a:rPr sz="14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un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80" dirty="0">
                <a:solidFill>
                  <a:srgbClr val="3E3E3E"/>
                </a:solidFill>
                <a:latin typeface="Arial MT"/>
                <a:cs typeface="Arial MT"/>
              </a:rPr>
              <a:t>poco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0" dirty="0">
                <a:solidFill>
                  <a:srgbClr val="3E3E3E"/>
                </a:solidFill>
                <a:latin typeface="Arial MT"/>
                <a:cs typeface="Arial MT"/>
              </a:rPr>
              <a:t>espacio.</a:t>
            </a:r>
            <a:endParaRPr sz="1400" dirty="0">
              <a:latin typeface="Arial MT"/>
              <a:cs typeface="Arial MT"/>
            </a:endParaRPr>
          </a:p>
          <a:p>
            <a:pPr marL="469900" marR="316865" indent="-374650" algn="just">
              <a:lnSpc>
                <a:spcPct val="142800"/>
              </a:lnSpc>
              <a:buClr>
                <a:srgbClr val="A53010"/>
              </a:buClr>
              <a:buFont typeface="Times New Roman"/>
              <a:buAutoNum type="arabicPeriod"/>
              <a:tabLst>
                <a:tab pos="469900" algn="l"/>
              </a:tabLst>
            </a:pP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Después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7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ajustar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204" dirty="0">
                <a:solidFill>
                  <a:srgbClr val="3E3E3E"/>
                </a:solidFill>
                <a:latin typeface="Arial MT"/>
                <a:cs typeface="Arial MT"/>
              </a:rPr>
              <a:t>cada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esquina</a:t>
            </a:r>
            <a:r>
              <a:rPr sz="14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vez,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90" dirty="0">
                <a:solidFill>
                  <a:srgbClr val="3E3E3E"/>
                </a:solidFill>
                <a:latin typeface="Arial MT"/>
                <a:cs typeface="Arial MT"/>
              </a:rPr>
              <a:t>vuelve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200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comprobar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las</a:t>
            </a:r>
            <a:r>
              <a:rPr sz="14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cuatro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esquinas.</a:t>
            </a:r>
            <a:r>
              <a:rPr sz="14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Puede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90" dirty="0">
                <a:solidFill>
                  <a:srgbClr val="3E3E3E"/>
                </a:solidFill>
                <a:latin typeface="Arial MT"/>
                <a:cs typeface="Arial MT"/>
              </a:rPr>
              <a:t>tengas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reajustarlas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las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cuatro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3E3E3E"/>
                </a:solidFill>
                <a:latin typeface="Arial MT"/>
                <a:cs typeface="Arial MT"/>
              </a:rPr>
              <a:t>estén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3E3E3E"/>
                </a:solidFill>
                <a:latin typeface="Arial MT"/>
                <a:cs typeface="Arial MT"/>
              </a:rPr>
              <a:t>posición</a:t>
            </a:r>
            <a:r>
              <a:rPr sz="14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95" dirty="0">
                <a:solidFill>
                  <a:srgbClr val="3E3E3E"/>
                </a:solidFill>
                <a:latin typeface="Arial MT"/>
                <a:cs typeface="Arial MT"/>
              </a:rPr>
              <a:t>correcta.</a:t>
            </a:r>
            <a:endParaRPr sz="14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eso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todo.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Ya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estás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listo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35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E3E3E"/>
                </a:solidFill>
                <a:latin typeface="Arial MT"/>
                <a:cs typeface="Arial MT"/>
              </a:rPr>
              <a:t>imprimir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4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20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14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195" dirty="0">
                <a:solidFill>
                  <a:srgbClr val="3E3E3E"/>
                </a:solidFill>
                <a:latin typeface="Arial MT"/>
                <a:cs typeface="Arial MT"/>
              </a:rPr>
              <a:t>cama</a:t>
            </a:r>
            <a:r>
              <a:rPr sz="14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3E3E3E"/>
                </a:solidFill>
                <a:latin typeface="Arial MT"/>
                <a:cs typeface="Arial MT"/>
              </a:rPr>
              <a:t>nivelada.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627" rIns="0" bIns="0" rtlCol="0">
            <a:spAutoFit/>
          </a:bodyPr>
          <a:lstStyle/>
          <a:p>
            <a:pPr marL="512445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Nivelación</a:t>
            </a:r>
            <a:r>
              <a:rPr spc="5" dirty="0"/>
              <a:t> </a:t>
            </a:r>
            <a:r>
              <a:rPr spc="395" dirty="0"/>
              <a:t>de</a:t>
            </a:r>
            <a:r>
              <a:rPr spc="5" dirty="0"/>
              <a:t> </a:t>
            </a:r>
            <a:r>
              <a:rPr spc="175" dirty="0"/>
              <a:t>la</a:t>
            </a:r>
            <a:r>
              <a:rPr spc="5" dirty="0"/>
              <a:t> </a:t>
            </a:r>
            <a:r>
              <a:rPr spc="415" dirty="0"/>
              <a:t>cama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121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40"/>
              </a:spcBef>
            </a:pPr>
            <a:r>
              <a:rPr sz="3200" dirty="0"/>
              <a:t>Pasos</a:t>
            </a:r>
            <a:r>
              <a:rPr sz="3200" spc="-35" dirty="0"/>
              <a:t> </a:t>
            </a:r>
            <a:r>
              <a:rPr sz="3200" spc="425" dirty="0"/>
              <a:t>a</a:t>
            </a:r>
            <a:r>
              <a:rPr sz="3200" spc="-35" dirty="0"/>
              <a:t> </a:t>
            </a:r>
            <a:r>
              <a:rPr sz="3200" spc="65" dirty="0"/>
              <a:t>seguir</a:t>
            </a:r>
            <a:r>
              <a:rPr sz="3200" spc="-35" dirty="0"/>
              <a:t> </a:t>
            </a:r>
            <a:r>
              <a:rPr sz="3200" spc="340" dirty="0"/>
              <a:t>con</a:t>
            </a:r>
            <a:r>
              <a:rPr sz="3200" spc="-30" dirty="0"/>
              <a:t> </a:t>
            </a:r>
            <a:r>
              <a:rPr sz="3200" dirty="0"/>
              <a:t>los</a:t>
            </a:r>
            <a:r>
              <a:rPr sz="3200" spc="-35" dirty="0"/>
              <a:t> </a:t>
            </a:r>
            <a:r>
              <a:rPr sz="3200" spc="70" dirty="0"/>
              <a:t>diseños</a:t>
            </a:r>
            <a:r>
              <a:rPr sz="3200" spc="-35" dirty="0"/>
              <a:t> </a:t>
            </a:r>
            <a:r>
              <a:rPr sz="3200" spc="125" dirty="0"/>
              <a:t>y</a:t>
            </a:r>
            <a:r>
              <a:rPr sz="3200" spc="-30" dirty="0"/>
              <a:t> </a:t>
            </a:r>
            <a:r>
              <a:rPr sz="3200" spc="114" dirty="0"/>
              <a:t>archivos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5900" y="3471412"/>
            <a:ext cx="9753599" cy="2581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570" y="1358706"/>
            <a:ext cx="56908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1165" algn="l"/>
              </a:tabLst>
            </a:pPr>
            <a:r>
              <a:rPr sz="1800" spc="85" dirty="0">
                <a:solidFill>
                  <a:srgbClr val="3E3E3E"/>
                </a:solidFill>
                <a:latin typeface="Arial MT"/>
                <a:cs typeface="Arial MT"/>
              </a:rPr>
              <a:t>Creamos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70" dirty="0">
                <a:solidFill>
                  <a:srgbClr val="3E3E3E"/>
                </a:solidFill>
                <a:latin typeface="Arial MT"/>
                <a:cs typeface="Arial MT"/>
              </a:rPr>
              <a:t>o</a:t>
            </a:r>
            <a:r>
              <a:rPr sz="18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3E3E3E"/>
                </a:solidFill>
                <a:latin typeface="Arial MT"/>
                <a:cs typeface="Arial MT"/>
              </a:rPr>
              <a:t>descargamos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40" dirty="0">
                <a:solidFill>
                  <a:srgbClr val="3E3E3E"/>
                </a:solidFill>
                <a:latin typeface="Arial MT"/>
                <a:cs typeface="Arial MT"/>
              </a:rPr>
              <a:t>diseño.</a:t>
            </a:r>
            <a:endParaRPr sz="1800">
              <a:latin typeface="Arial MT"/>
              <a:cs typeface="Arial MT"/>
            </a:endParaRPr>
          </a:p>
          <a:p>
            <a:pPr marL="431165" indent="-418465">
              <a:lnSpc>
                <a:spcPct val="100000"/>
              </a:lnSpc>
              <a:buAutoNum type="arabicPeriod"/>
              <a:tabLst>
                <a:tab pos="431165" algn="l"/>
              </a:tabLst>
            </a:pPr>
            <a:r>
              <a:rPr sz="1800" spc="50" dirty="0">
                <a:solidFill>
                  <a:srgbClr val="3E3E3E"/>
                </a:solidFill>
                <a:latin typeface="Arial MT"/>
                <a:cs typeface="Arial MT"/>
              </a:rPr>
              <a:t>Exportamos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3E3E3E"/>
                </a:solidFill>
                <a:latin typeface="Arial MT"/>
                <a:cs typeface="Arial MT"/>
              </a:rPr>
              <a:t>archivo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25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STL.</a:t>
            </a:r>
            <a:endParaRPr sz="1800">
              <a:latin typeface="Arial MT"/>
              <a:cs typeface="Arial MT"/>
            </a:endParaRPr>
          </a:p>
          <a:p>
            <a:pPr marL="431165" indent="-418465">
              <a:lnSpc>
                <a:spcPct val="100000"/>
              </a:lnSpc>
              <a:buAutoNum type="arabicPeriod"/>
              <a:tabLst>
                <a:tab pos="431165" algn="l"/>
              </a:tabLst>
            </a:pPr>
            <a:r>
              <a:rPr sz="1800" spc="50" dirty="0">
                <a:solidFill>
                  <a:srgbClr val="3E3E3E"/>
                </a:solidFill>
                <a:latin typeface="Arial MT"/>
                <a:cs typeface="Arial MT"/>
              </a:rPr>
              <a:t>Abrimos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3E3E3E"/>
                </a:solidFill>
                <a:latin typeface="Arial MT"/>
                <a:cs typeface="Arial MT"/>
              </a:rPr>
              <a:t>archivo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70" dirty="0">
                <a:solidFill>
                  <a:srgbClr val="3E3E3E"/>
                </a:solidFill>
                <a:latin typeface="Arial MT"/>
                <a:cs typeface="Arial MT"/>
              </a:rPr>
              <a:t>con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E3E3E"/>
                </a:solidFill>
                <a:latin typeface="Arial MT"/>
                <a:cs typeface="Arial MT"/>
              </a:rPr>
              <a:t>laminador</a:t>
            </a:r>
            <a:endParaRPr sz="1800">
              <a:latin typeface="Arial MT"/>
              <a:cs typeface="Arial MT"/>
            </a:endParaRPr>
          </a:p>
          <a:p>
            <a:pPr marL="431165" indent="-418465">
              <a:lnSpc>
                <a:spcPct val="100000"/>
              </a:lnSpc>
              <a:buAutoNum type="arabicPeriod"/>
              <a:tabLst>
                <a:tab pos="431165" algn="l"/>
              </a:tabLst>
            </a:pPr>
            <a:r>
              <a:rPr sz="1800" spc="50" dirty="0">
                <a:solidFill>
                  <a:srgbClr val="3E3E3E"/>
                </a:solidFill>
                <a:latin typeface="Arial MT"/>
                <a:cs typeface="Arial MT"/>
              </a:rPr>
              <a:t>Exportamos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3E3E3E"/>
                </a:solidFill>
                <a:latin typeface="Arial MT"/>
                <a:cs typeface="Arial MT"/>
              </a:rPr>
              <a:t>archivo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70" dirty="0">
                <a:solidFill>
                  <a:srgbClr val="3E3E3E"/>
                </a:solidFill>
                <a:latin typeface="Arial MT"/>
                <a:cs typeface="Arial MT"/>
              </a:rPr>
              <a:t>con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3E3E3E"/>
                </a:solidFill>
                <a:latin typeface="Arial MT"/>
                <a:cs typeface="Arial MT"/>
              </a:rPr>
              <a:t>extensión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45" dirty="0">
                <a:solidFill>
                  <a:srgbClr val="3E3E3E"/>
                </a:solidFill>
                <a:latin typeface="Arial MT"/>
                <a:cs typeface="Arial MT"/>
              </a:rPr>
              <a:t>Gcode.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5949" y="127759"/>
            <a:ext cx="4826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Descarga</a:t>
            </a:r>
            <a:r>
              <a:rPr dirty="0"/>
              <a:t> </a:t>
            </a:r>
            <a:r>
              <a:rPr spc="395" dirty="0"/>
              <a:t>de</a:t>
            </a:r>
            <a:r>
              <a:rPr dirty="0"/>
              <a:t> </a:t>
            </a:r>
            <a:r>
              <a:rPr spc="-10" dirty="0"/>
              <a:t>diseños.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4084" y="886314"/>
            <a:ext cx="3700145" cy="77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Clr>
                <a:srgbClr val="A53010"/>
              </a:buClr>
              <a:buChar char="□"/>
              <a:tabLst>
                <a:tab pos="393065" algn="l"/>
              </a:tabLst>
            </a:pPr>
            <a:r>
              <a:rPr sz="2000" spc="-114" dirty="0">
                <a:solidFill>
                  <a:srgbClr val="3E3E3E"/>
                </a:solidFill>
                <a:latin typeface="Arial Black"/>
                <a:cs typeface="Arial Black"/>
              </a:rPr>
              <a:t>Thingiverse.</a:t>
            </a:r>
            <a:endParaRPr sz="2000">
              <a:latin typeface="Arial Black"/>
              <a:cs typeface="Arial Black"/>
            </a:endParaRPr>
          </a:p>
          <a:p>
            <a:pPr marL="393065">
              <a:lnSpc>
                <a:spcPct val="100000"/>
              </a:lnSpc>
              <a:spcBef>
                <a:spcPts val="1365"/>
              </a:spcBef>
            </a:pPr>
            <a:r>
              <a:rPr sz="1800" u="heavy" spc="90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https://www.thingiverse.com/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926" y="2076799"/>
            <a:ext cx="7930199" cy="46311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5949" y="127759"/>
            <a:ext cx="4826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Descarga</a:t>
            </a:r>
            <a:r>
              <a:rPr dirty="0"/>
              <a:t> </a:t>
            </a:r>
            <a:r>
              <a:rPr spc="395" dirty="0"/>
              <a:t>de</a:t>
            </a:r>
            <a:r>
              <a:rPr dirty="0"/>
              <a:t> </a:t>
            </a:r>
            <a:r>
              <a:rPr spc="-10" dirty="0"/>
              <a:t>diseños.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4084" y="886314"/>
            <a:ext cx="2951480" cy="77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Clr>
                <a:srgbClr val="A53010"/>
              </a:buClr>
              <a:buChar char="□"/>
              <a:tabLst>
                <a:tab pos="393065" algn="l"/>
              </a:tabLst>
            </a:pPr>
            <a:r>
              <a:rPr sz="2000" spc="-55" dirty="0">
                <a:solidFill>
                  <a:srgbClr val="3E3E3E"/>
                </a:solidFill>
                <a:latin typeface="Arial Black"/>
                <a:cs typeface="Arial Black"/>
              </a:rPr>
              <a:t>Cults3d.</a:t>
            </a:r>
            <a:endParaRPr sz="2000">
              <a:latin typeface="Arial Black"/>
              <a:cs typeface="Arial Black"/>
            </a:endParaRPr>
          </a:p>
          <a:p>
            <a:pPr marL="442595">
              <a:lnSpc>
                <a:spcPct val="100000"/>
              </a:lnSpc>
              <a:spcBef>
                <a:spcPts val="1365"/>
              </a:spcBef>
            </a:pPr>
            <a:r>
              <a:rPr sz="1800" u="heavy" spc="75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https://cults3d.com/es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925" y="1875475"/>
            <a:ext cx="8459847" cy="48412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5949" y="633050"/>
            <a:ext cx="358267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/>
              <a:t>Slicer</a:t>
            </a:r>
            <a:r>
              <a:rPr sz="3200" spc="25" dirty="0"/>
              <a:t> </a:t>
            </a:r>
            <a:r>
              <a:rPr sz="3200" spc="335" dirty="0"/>
              <a:t>o</a:t>
            </a:r>
            <a:r>
              <a:rPr sz="3200" spc="30" dirty="0"/>
              <a:t> </a:t>
            </a:r>
            <a:r>
              <a:rPr sz="3200" spc="250" dirty="0"/>
              <a:t>cortadora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665949" y="1262056"/>
            <a:ext cx="828675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sz="1600" spc="-195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6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25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16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30" dirty="0">
                <a:solidFill>
                  <a:srgbClr val="3E3E3E"/>
                </a:solidFill>
                <a:latin typeface="Arial MT"/>
                <a:cs typeface="Arial MT"/>
              </a:rPr>
              <a:t>aplicación</a:t>
            </a:r>
            <a:r>
              <a:rPr sz="16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05" dirty="0">
                <a:solidFill>
                  <a:srgbClr val="3E3E3E"/>
                </a:solidFill>
                <a:latin typeface="Arial MT"/>
                <a:cs typeface="Arial MT"/>
              </a:rPr>
              <a:t>diseñada</a:t>
            </a:r>
            <a:r>
              <a:rPr sz="16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40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6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E3E3E"/>
                </a:solidFill>
                <a:latin typeface="Arial MT"/>
                <a:cs typeface="Arial MT"/>
              </a:rPr>
              <a:t>impresoras</a:t>
            </a:r>
            <a:r>
              <a:rPr sz="16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E3E3E"/>
                </a:solidFill>
                <a:latin typeface="Arial MT"/>
                <a:cs typeface="Arial MT"/>
              </a:rPr>
              <a:t>3D,</a:t>
            </a:r>
            <a:r>
              <a:rPr sz="16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2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6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90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6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5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6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E3E3E"/>
                </a:solidFill>
                <a:latin typeface="Arial MT"/>
                <a:cs typeface="Arial MT"/>
              </a:rPr>
              <a:t>se</a:t>
            </a:r>
            <a:r>
              <a:rPr sz="16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55" dirty="0">
                <a:solidFill>
                  <a:srgbClr val="3E3E3E"/>
                </a:solidFill>
                <a:latin typeface="Arial MT"/>
                <a:cs typeface="Arial MT"/>
              </a:rPr>
              <a:t>pueden</a:t>
            </a:r>
            <a:r>
              <a:rPr sz="16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00" dirty="0">
                <a:solidFill>
                  <a:srgbClr val="3E3E3E"/>
                </a:solidFill>
                <a:latin typeface="Arial MT"/>
                <a:cs typeface="Arial MT"/>
              </a:rPr>
              <a:t>modificar</a:t>
            </a:r>
            <a:r>
              <a:rPr sz="16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3E3E3E"/>
                </a:solidFill>
                <a:latin typeface="Arial MT"/>
                <a:cs typeface="Arial MT"/>
              </a:rPr>
              <a:t>los </a:t>
            </a:r>
            <a:r>
              <a:rPr sz="1600" spc="90" dirty="0">
                <a:solidFill>
                  <a:srgbClr val="3E3E3E"/>
                </a:solidFill>
                <a:latin typeface="Arial MT"/>
                <a:cs typeface="Arial MT"/>
              </a:rPr>
              <a:t>parámetros</a:t>
            </a:r>
            <a:r>
              <a:rPr sz="16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8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6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3E3E3E"/>
                </a:solidFill>
                <a:latin typeface="Arial MT"/>
                <a:cs typeface="Arial MT"/>
              </a:rPr>
              <a:t>impresión</a:t>
            </a:r>
            <a:r>
              <a:rPr sz="1600" spc="60" dirty="0">
                <a:solidFill>
                  <a:srgbClr val="3E3E3E"/>
                </a:solidFill>
                <a:latin typeface="Arial MT"/>
                <a:cs typeface="Arial MT"/>
              </a:rPr>
              <a:t> y</a:t>
            </a:r>
            <a:r>
              <a:rPr sz="16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3E3E3E"/>
                </a:solidFill>
                <a:latin typeface="Arial MT"/>
                <a:cs typeface="Arial MT"/>
              </a:rPr>
              <a:t>después</a:t>
            </a:r>
            <a:r>
              <a:rPr sz="16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3E3E3E"/>
                </a:solidFill>
                <a:latin typeface="Arial MT"/>
                <a:cs typeface="Arial MT"/>
              </a:rPr>
              <a:t>transformarlos</a:t>
            </a:r>
            <a:r>
              <a:rPr sz="16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210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6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160" dirty="0">
                <a:solidFill>
                  <a:srgbClr val="3E3E3E"/>
                </a:solidFill>
                <a:latin typeface="Arial MT"/>
                <a:cs typeface="Arial MT"/>
              </a:rPr>
              <a:t>código</a:t>
            </a:r>
            <a:r>
              <a:rPr sz="16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3E3E3E"/>
                </a:solidFill>
                <a:latin typeface="Arial MT"/>
                <a:cs typeface="Arial MT"/>
              </a:rPr>
              <a:t>G.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237" y="2097482"/>
            <a:ext cx="4131945" cy="10420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23240" indent="-419100">
              <a:lnSpc>
                <a:spcPct val="100000"/>
              </a:lnSpc>
              <a:spcBef>
                <a:spcPts val="775"/>
              </a:spcBef>
              <a:buChar char="□"/>
              <a:tabLst>
                <a:tab pos="523240" algn="l"/>
              </a:tabLst>
            </a:pPr>
            <a:r>
              <a:rPr sz="2000" b="1" dirty="0">
                <a:solidFill>
                  <a:srgbClr val="202124"/>
                </a:solidFill>
                <a:latin typeface="Arial"/>
                <a:cs typeface="Arial"/>
              </a:rPr>
              <a:t>Ultimaker</a:t>
            </a:r>
            <a:r>
              <a:rPr sz="2000" b="1" spc="-4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2124"/>
                </a:solidFill>
                <a:latin typeface="Arial"/>
                <a:cs typeface="Arial"/>
              </a:rPr>
              <a:t>Cura.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800" spc="-229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más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3E3E3E"/>
                </a:solidFill>
                <a:latin typeface="Arial MT"/>
                <a:cs typeface="Arial MT"/>
              </a:rPr>
              <a:t>utilizado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8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55" dirty="0">
                <a:solidFill>
                  <a:srgbClr val="3E3E3E"/>
                </a:solidFill>
                <a:latin typeface="Arial MT"/>
                <a:cs typeface="Arial MT"/>
              </a:rPr>
              <a:t>recomendado </a:t>
            </a:r>
            <a:r>
              <a:rPr sz="1800" spc="125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8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3E3E3E"/>
                </a:solidFill>
                <a:latin typeface="Arial MT"/>
                <a:cs typeface="Arial MT"/>
              </a:rPr>
              <a:t>mayoria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9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8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18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MT"/>
                <a:cs typeface="Arial MT"/>
              </a:rPr>
              <a:t>casos.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9982" y="2094260"/>
            <a:ext cx="3602990" cy="13163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18795" indent="-419100">
              <a:lnSpc>
                <a:spcPct val="100000"/>
              </a:lnSpc>
              <a:spcBef>
                <a:spcPts val="775"/>
              </a:spcBef>
              <a:buChar char="□"/>
              <a:tabLst>
                <a:tab pos="518795" algn="l"/>
              </a:tabLst>
            </a:pPr>
            <a:r>
              <a:rPr sz="2000" b="1" dirty="0">
                <a:solidFill>
                  <a:srgbClr val="202124"/>
                </a:solidFill>
                <a:latin typeface="Arial"/>
                <a:cs typeface="Arial"/>
              </a:rPr>
              <a:t>Creality</a:t>
            </a:r>
            <a:r>
              <a:rPr sz="2000" b="1" spc="-4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2124"/>
                </a:solidFill>
                <a:latin typeface="Arial"/>
                <a:cs typeface="Arial"/>
              </a:rPr>
              <a:t>Print.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800" spc="140" dirty="0">
                <a:solidFill>
                  <a:srgbClr val="3E3E3E"/>
                </a:solidFill>
                <a:latin typeface="Arial MT"/>
                <a:cs typeface="Arial MT"/>
              </a:rPr>
              <a:t>Recomendado</a:t>
            </a:r>
            <a:r>
              <a:rPr sz="18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-130" dirty="0">
                <a:solidFill>
                  <a:srgbClr val="3E3E3E"/>
                </a:solidFill>
                <a:latin typeface="Arial MT"/>
                <a:cs typeface="Arial MT"/>
              </a:rPr>
              <a:t>si</a:t>
            </a:r>
            <a:r>
              <a:rPr sz="18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3E3E3E"/>
                </a:solidFill>
                <a:latin typeface="Arial MT"/>
                <a:cs typeface="Arial MT"/>
              </a:rPr>
              <a:t>tenemos</a:t>
            </a:r>
            <a:r>
              <a:rPr sz="18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3E3E3E"/>
                </a:solidFill>
                <a:latin typeface="Arial MT"/>
                <a:cs typeface="Arial MT"/>
              </a:rPr>
              <a:t>una </a:t>
            </a:r>
            <a:r>
              <a:rPr sz="1800" spc="55" dirty="0">
                <a:solidFill>
                  <a:srgbClr val="3E3E3E"/>
                </a:solidFill>
                <a:latin typeface="Arial MT"/>
                <a:cs typeface="Arial MT"/>
              </a:rPr>
              <a:t>impresora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Creality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8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25" dirty="0">
                <a:solidFill>
                  <a:srgbClr val="3E3E3E"/>
                </a:solidFill>
                <a:latin typeface="Arial MT"/>
                <a:cs typeface="Arial MT"/>
              </a:rPr>
              <a:t>no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3E3E3E"/>
                </a:solidFill>
                <a:latin typeface="Arial MT"/>
                <a:cs typeface="Arial MT"/>
              </a:rPr>
              <a:t>tenemos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perfil</a:t>
            </a:r>
            <a:r>
              <a:rPr sz="1800" spc="1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25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800" spc="1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85" dirty="0">
                <a:solidFill>
                  <a:srgbClr val="3E3E3E"/>
                </a:solidFill>
                <a:latin typeface="Arial MT"/>
                <a:cs typeface="Arial MT"/>
              </a:rPr>
              <a:t>cura.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9200" y="3815412"/>
            <a:ext cx="3681898" cy="20843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6950" y="3815400"/>
            <a:ext cx="3332408" cy="2084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5949" y="127759"/>
            <a:ext cx="5260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Descarga</a:t>
            </a:r>
            <a:r>
              <a:rPr spc="-5" dirty="0"/>
              <a:t> </a:t>
            </a:r>
            <a:r>
              <a:rPr spc="320" dirty="0"/>
              <a:t>e</a:t>
            </a:r>
            <a:r>
              <a:rPr dirty="0"/>
              <a:t> </a:t>
            </a:r>
            <a:r>
              <a:rPr spc="120" dirty="0"/>
              <a:t>instalación.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6024" y="744074"/>
            <a:ext cx="6004560" cy="87503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1220"/>
              </a:spcBef>
              <a:buChar char="□"/>
              <a:tabLst>
                <a:tab pos="431165" algn="l"/>
              </a:tabLst>
            </a:pPr>
            <a:r>
              <a:rPr sz="2000" b="1" dirty="0">
                <a:solidFill>
                  <a:srgbClr val="202124"/>
                </a:solidFill>
                <a:latin typeface="Arial"/>
                <a:cs typeface="Arial"/>
              </a:rPr>
              <a:t>Ultimaker</a:t>
            </a:r>
            <a:r>
              <a:rPr sz="2000" b="1" spc="-4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202124"/>
                </a:solidFill>
                <a:latin typeface="Arial"/>
                <a:cs typeface="Arial"/>
              </a:rPr>
              <a:t>Cura</a:t>
            </a:r>
            <a:endParaRPr sz="2000">
              <a:latin typeface="Arial"/>
              <a:cs typeface="Arial"/>
            </a:endParaRPr>
          </a:p>
          <a:p>
            <a:pPr marL="417195">
              <a:lnSpc>
                <a:spcPct val="100000"/>
              </a:lnSpc>
              <a:spcBef>
                <a:spcPts val="1005"/>
              </a:spcBef>
            </a:pPr>
            <a:r>
              <a:rPr sz="1800" u="heavy" spc="100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https://ultimaker.com/es/software/ultimaker-</a:t>
            </a:r>
            <a:r>
              <a:rPr sz="1800" u="heavy" spc="90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cura/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925" y="1974250"/>
            <a:ext cx="7880601" cy="46983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100"/>
              </a:spcBef>
            </a:pPr>
            <a:r>
              <a:rPr spc="305" dirty="0"/>
              <a:t>Cambio</a:t>
            </a:r>
            <a:r>
              <a:rPr spc="-5" dirty="0"/>
              <a:t> </a:t>
            </a:r>
            <a:r>
              <a:rPr spc="395" dirty="0"/>
              <a:t>de</a:t>
            </a:r>
            <a:r>
              <a:rPr spc="-5" dirty="0"/>
              <a:t> </a:t>
            </a:r>
            <a:r>
              <a:rPr spc="180" dirty="0"/>
              <a:t>idioma.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0549" y="3084577"/>
            <a:ext cx="293370" cy="3270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r>
              <a:rPr sz="1800" spc="120" dirty="0">
                <a:solidFill>
                  <a:srgbClr val="3E3E3E"/>
                </a:solidFill>
                <a:latin typeface="Arial MT"/>
                <a:cs typeface="Arial MT"/>
              </a:rPr>
              <a:t>gh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62349" y="782750"/>
            <a:ext cx="8729345" cy="5430520"/>
            <a:chOff x="2062349" y="782750"/>
            <a:chExt cx="8729345" cy="5430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2349" y="782750"/>
              <a:ext cx="8728852" cy="54299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75225" y="1631409"/>
              <a:ext cx="411480" cy="537845"/>
            </a:xfrm>
            <a:custGeom>
              <a:avLst/>
              <a:gdLst/>
              <a:ahLst/>
              <a:cxnLst/>
              <a:rect l="l" t="t" r="r" b="b"/>
              <a:pathLst>
                <a:path w="411479" h="537844">
                  <a:moveTo>
                    <a:pt x="0" y="537440"/>
                  </a:moveTo>
                  <a:lnTo>
                    <a:pt x="411046" y="0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6298" y="1356733"/>
              <a:ext cx="310515" cy="351155"/>
            </a:xfrm>
            <a:custGeom>
              <a:avLst/>
              <a:gdLst/>
              <a:ahLst/>
              <a:cxnLst/>
              <a:rect l="l" t="t" r="r" b="b"/>
              <a:pathLst>
                <a:path w="310514" h="351155">
                  <a:moveTo>
                    <a:pt x="199947" y="351137"/>
                  </a:moveTo>
                  <a:lnTo>
                    <a:pt x="0" y="198213"/>
                  </a:lnTo>
                  <a:lnTo>
                    <a:pt x="310052" y="0"/>
                  </a:lnTo>
                  <a:lnTo>
                    <a:pt x="199947" y="351137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86298" y="1356733"/>
              <a:ext cx="310515" cy="351155"/>
            </a:xfrm>
            <a:custGeom>
              <a:avLst/>
              <a:gdLst/>
              <a:ahLst/>
              <a:cxnLst/>
              <a:rect l="l" t="t" r="r" b="b"/>
              <a:pathLst>
                <a:path w="310514" h="351155">
                  <a:moveTo>
                    <a:pt x="199947" y="351137"/>
                  </a:moveTo>
                  <a:lnTo>
                    <a:pt x="310052" y="0"/>
                  </a:lnTo>
                  <a:lnTo>
                    <a:pt x="0" y="198213"/>
                  </a:lnTo>
                  <a:lnTo>
                    <a:pt x="199947" y="351137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29622" y="2440862"/>
              <a:ext cx="440055" cy="240665"/>
            </a:xfrm>
            <a:custGeom>
              <a:avLst/>
              <a:gdLst/>
              <a:ahLst/>
              <a:cxnLst/>
              <a:rect l="l" t="t" r="r" b="b"/>
              <a:pathLst>
                <a:path w="440054" h="240664">
                  <a:moveTo>
                    <a:pt x="439652" y="240137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6138" y="2275098"/>
              <a:ext cx="363855" cy="276225"/>
            </a:xfrm>
            <a:custGeom>
              <a:avLst/>
              <a:gdLst/>
              <a:ahLst/>
              <a:cxnLst/>
              <a:rect l="l" t="t" r="r" b="b"/>
              <a:pathLst>
                <a:path w="363854" h="276225">
                  <a:moveTo>
                    <a:pt x="243150" y="276222"/>
                  </a:moveTo>
                  <a:lnTo>
                    <a:pt x="0" y="0"/>
                  </a:lnTo>
                  <a:lnTo>
                    <a:pt x="363816" y="55303"/>
                  </a:lnTo>
                  <a:lnTo>
                    <a:pt x="243150" y="276222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26138" y="2275098"/>
              <a:ext cx="363855" cy="276225"/>
            </a:xfrm>
            <a:custGeom>
              <a:avLst/>
              <a:gdLst/>
              <a:ahLst/>
              <a:cxnLst/>
              <a:rect l="l" t="t" r="r" b="b"/>
              <a:pathLst>
                <a:path w="363854" h="276225">
                  <a:moveTo>
                    <a:pt x="363816" y="55303"/>
                  </a:moveTo>
                  <a:lnTo>
                    <a:pt x="0" y="0"/>
                  </a:lnTo>
                  <a:lnTo>
                    <a:pt x="243150" y="276222"/>
                  </a:lnTo>
                  <a:lnTo>
                    <a:pt x="363816" y="55303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56900" y="1823880"/>
            <a:ext cx="235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solidFill>
                  <a:srgbClr val="3E3E3E"/>
                </a:solidFill>
                <a:latin typeface="Arial Black"/>
                <a:cs typeface="Arial Black"/>
              </a:rPr>
              <a:t>1º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2300" y="2444731"/>
            <a:ext cx="235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solidFill>
                  <a:srgbClr val="3E3E3E"/>
                </a:solidFill>
                <a:latin typeface="Arial Black"/>
                <a:cs typeface="Arial Black"/>
              </a:rPr>
              <a:t>2º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5400" y="6364906"/>
            <a:ext cx="8339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vez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80" dirty="0">
                <a:solidFill>
                  <a:srgbClr val="3E3E3E"/>
                </a:solidFill>
                <a:latin typeface="Arial MT"/>
                <a:cs typeface="Arial MT"/>
              </a:rPr>
              <a:t>cambiado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14" dirty="0">
                <a:solidFill>
                  <a:srgbClr val="3E3E3E"/>
                </a:solidFill>
                <a:latin typeface="Arial MT"/>
                <a:cs typeface="Arial MT"/>
              </a:rPr>
              <a:t>idioma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20" dirty="0">
                <a:solidFill>
                  <a:srgbClr val="3E3E3E"/>
                </a:solidFill>
                <a:latin typeface="Arial MT"/>
                <a:cs typeface="Arial MT"/>
              </a:rPr>
              <a:t>hay</a:t>
            </a:r>
            <a:r>
              <a:rPr sz="18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5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3E3E3E"/>
                </a:solidFill>
                <a:latin typeface="Arial MT"/>
                <a:cs typeface="Arial MT"/>
              </a:rPr>
              <a:t>cerrar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130" dirty="0">
                <a:solidFill>
                  <a:srgbClr val="3E3E3E"/>
                </a:solidFill>
                <a:latin typeface="Arial MT"/>
                <a:cs typeface="Arial MT"/>
              </a:rPr>
              <a:t>programa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3E3E3E"/>
                </a:solidFill>
                <a:latin typeface="Arial MT"/>
                <a:cs typeface="Arial MT"/>
              </a:rPr>
              <a:t>volver</a:t>
            </a:r>
            <a:r>
              <a:rPr sz="18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220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8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MT"/>
                <a:cs typeface="Arial MT"/>
              </a:rPr>
              <a:t>abrirlo.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3675" y="729925"/>
            <a:ext cx="9415145" cy="5880100"/>
            <a:chOff x="2173675" y="729925"/>
            <a:chExt cx="9415145" cy="5880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3675" y="729925"/>
              <a:ext cx="9414824" cy="587960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271074" y="2158700"/>
              <a:ext cx="1794510" cy="5715"/>
            </a:xfrm>
            <a:custGeom>
              <a:avLst/>
              <a:gdLst/>
              <a:ahLst/>
              <a:cxnLst/>
              <a:rect l="l" t="t" r="r" b="b"/>
              <a:pathLst>
                <a:path w="1794509" h="5714">
                  <a:moveTo>
                    <a:pt x="0" y="0"/>
                  </a:moveTo>
                  <a:lnTo>
                    <a:pt x="1794302" y="5259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65007" y="2038098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4">
                  <a:moveTo>
                    <a:pt x="0" y="251722"/>
                  </a:moveTo>
                  <a:lnTo>
                    <a:pt x="738" y="0"/>
                  </a:lnTo>
                  <a:lnTo>
                    <a:pt x="346171" y="126875"/>
                  </a:lnTo>
                  <a:lnTo>
                    <a:pt x="0" y="251722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65007" y="2038098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4">
                  <a:moveTo>
                    <a:pt x="0" y="251722"/>
                  </a:moveTo>
                  <a:lnTo>
                    <a:pt x="346171" y="126875"/>
                  </a:lnTo>
                  <a:lnTo>
                    <a:pt x="738" y="0"/>
                  </a:lnTo>
                  <a:lnTo>
                    <a:pt x="0" y="251722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97175" y="3082625"/>
              <a:ext cx="2439035" cy="11430"/>
            </a:xfrm>
            <a:custGeom>
              <a:avLst/>
              <a:gdLst/>
              <a:ahLst/>
              <a:cxnLst/>
              <a:rect l="l" t="t" r="r" b="b"/>
              <a:pathLst>
                <a:path w="2439034" h="11430">
                  <a:moveTo>
                    <a:pt x="0" y="0"/>
                  </a:moveTo>
                  <a:lnTo>
                    <a:pt x="2438704" y="11115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35306" y="2967880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4">
                  <a:moveTo>
                    <a:pt x="0" y="251721"/>
                  </a:moveTo>
                  <a:lnTo>
                    <a:pt x="1146" y="0"/>
                  </a:lnTo>
                  <a:lnTo>
                    <a:pt x="346372" y="127436"/>
                  </a:lnTo>
                  <a:lnTo>
                    <a:pt x="0" y="251721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35306" y="2967880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4">
                  <a:moveTo>
                    <a:pt x="0" y="251721"/>
                  </a:moveTo>
                  <a:lnTo>
                    <a:pt x="346372" y="127436"/>
                  </a:lnTo>
                  <a:lnTo>
                    <a:pt x="1146" y="0"/>
                  </a:lnTo>
                  <a:lnTo>
                    <a:pt x="0" y="251721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1774" y="3783453"/>
              <a:ext cx="2492375" cy="42545"/>
            </a:xfrm>
            <a:custGeom>
              <a:avLst/>
              <a:gdLst/>
              <a:ahLst/>
              <a:cxnLst/>
              <a:rect l="l" t="t" r="r" b="b"/>
              <a:pathLst>
                <a:path w="2492375" h="42545">
                  <a:moveTo>
                    <a:pt x="0" y="42333"/>
                  </a:moveTo>
                  <a:lnTo>
                    <a:pt x="2491865" y="0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51502" y="3657609"/>
              <a:ext cx="347980" cy="252095"/>
            </a:xfrm>
            <a:custGeom>
              <a:avLst/>
              <a:gdLst/>
              <a:ahLst/>
              <a:cxnLst/>
              <a:rect l="l" t="t" r="r" b="b"/>
              <a:pathLst>
                <a:path w="347979" h="252095">
                  <a:moveTo>
                    <a:pt x="4275" y="251687"/>
                  </a:moveTo>
                  <a:lnTo>
                    <a:pt x="0" y="0"/>
                  </a:lnTo>
                  <a:lnTo>
                    <a:pt x="347890" y="119969"/>
                  </a:lnTo>
                  <a:lnTo>
                    <a:pt x="4275" y="251687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1502" y="3657609"/>
              <a:ext cx="347980" cy="252095"/>
            </a:xfrm>
            <a:custGeom>
              <a:avLst/>
              <a:gdLst/>
              <a:ahLst/>
              <a:cxnLst/>
              <a:rect l="l" t="t" r="r" b="b"/>
              <a:pathLst>
                <a:path w="347979" h="252095">
                  <a:moveTo>
                    <a:pt x="4275" y="251687"/>
                  </a:moveTo>
                  <a:lnTo>
                    <a:pt x="347890" y="119969"/>
                  </a:lnTo>
                  <a:lnTo>
                    <a:pt x="0" y="0"/>
                  </a:lnTo>
                  <a:lnTo>
                    <a:pt x="4275" y="251687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3574" y="4217707"/>
              <a:ext cx="1536065" cy="646430"/>
            </a:xfrm>
            <a:custGeom>
              <a:avLst/>
              <a:gdLst/>
              <a:ahLst/>
              <a:cxnLst/>
              <a:rect l="l" t="t" r="r" b="b"/>
              <a:pathLst>
                <a:path w="1536065" h="646429">
                  <a:moveTo>
                    <a:pt x="0" y="645942"/>
                  </a:moveTo>
                  <a:lnTo>
                    <a:pt x="1535759" y="0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40538" y="4083638"/>
              <a:ext cx="367665" cy="250190"/>
            </a:xfrm>
            <a:custGeom>
              <a:avLst/>
              <a:gdLst/>
              <a:ahLst/>
              <a:cxnLst/>
              <a:rect l="l" t="t" r="r" b="b"/>
              <a:pathLst>
                <a:path w="367665" h="250189">
                  <a:moveTo>
                    <a:pt x="97593" y="250086"/>
                  </a:moveTo>
                  <a:lnTo>
                    <a:pt x="0" y="18051"/>
                  </a:lnTo>
                  <a:lnTo>
                    <a:pt x="367553" y="0"/>
                  </a:lnTo>
                  <a:lnTo>
                    <a:pt x="97593" y="250086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40538" y="4083638"/>
              <a:ext cx="367665" cy="250190"/>
            </a:xfrm>
            <a:custGeom>
              <a:avLst/>
              <a:gdLst/>
              <a:ahLst/>
              <a:cxnLst/>
              <a:rect l="l" t="t" r="r" b="b"/>
              <a:pathLst>
                <a:path w="367665" h="250189">
                  <a:moveTo>
                    <a:pt x="97593" y="250086"/>
                  </a:moveTo>
                  <a:lnTo>
                    <a:pt x="367553" y="0"/>
                  </a:lnTo>
                  <a:lnTo>
                    <a:pt x="0" y="18051"/>
                  </a:lnTo>
                  <a:lnTo>
                    <a:pt x="97593" y="250086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125" dirty="0"/>
              <a:t>Parámetros</a:t>
            </a:r>
            <a:r>
              <a:rPr sz="3200" spc="10" dirty="0"/>
              <a:t> </a:t>
            </a:r>
            <a:r>
              <a:rPr sz="3200" spc="315" dirty="0"/>
              <a:t>que</a:t>
            </a:r>
            <a:r>
              <a:rPr sz="3200" spc="15" dirty="0"/>
              <a:t> </a:t>
            </a:r>
            <a:r>
              <a:rPr sz="3200" spc="185" dirty="0"/>
              <a:t>tenemos</a:t>
            </a:r>
            <a:r>
              <a:rPr sz="3200" spc="15" dirty="0"/>
              <a:t> </a:t>
            </a:r>
            <a:r>
              <a:rPr sz="3200" spc="315" dirty="0"/>
              <a:t>que</a:t>
            </a:r>
            <a:r>
              <a:rPr sz="3200" spc="15" dirty="0"/>
              <a:t> </a:t>
            </a:r>
            <a:r>
              <a:rPr sz="3200" spc="229" dirty="0"/>
              <a:t>cambiar.</a:t>
            </a:r>
            <a:endParaRPr sz="3200"/>
          </a:p>
        </p:txBody>
      </p:sp>
      <p:sp>
        <p:nvSpPr>
          <p:cNvPr id="17" name="object 17"/>
          <p:cNvSpPr txBox="1"/>
          <p:nvPr/>
        </p:nvSpPr>
        <p:spPr>
          <a:xfrm>
            <a:off x="2839200" y="1991731"/>
            <a:ext cx="3729354" cy="325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3E3E3E"/>
                </a:solidFill>
                <a:latin typeface="Arial Black"/>
                <a:cs typeface="Arial Black"/>
              </a:rPr>
              <a:t>1º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60" dirty="0">
                <a:solidFill>
                  <a:srgbClr val="3E3E3E"/>
                </a:solidFill>
                <a:latin typeface="Arial Black"/>
                <a:cs typeface="Arial Black"/>
              </a:rPr>
              <a:t>Resolución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10" dirty="0">
                <a:solidFill>
                  <a:srgbClr val="3E3E3E"/>
                </a:solidFill>
                <a:latin typeface="Arial Black"/>
                <a:cs typeface="Arial Black"/>
              </a:rPr>
              <a:t>la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 Black"/>
                <a:cs typeface="Arial Black"/>
              </a:rPr>
              <a:t>impresión</a:t>
            </a: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tabLst>
                <a:tab pos="349885" algn="l"/>
              </a:tabLst>
            </a:pPr>
            <a:r>
              <a:rPr sz="1800" spc="-25" dirty="0">
                <a:solidFill>
                  <a:srgbClr val="3E3E3E"/>
                </a:solidFill>
                <a:latin typeface="Arial Black"/>
                <a:cs typeface="Arial Black"/>
              </a:rPr>
              <a:t>2º</a:t>
            </a:r>
            <a:r>
              <a:rPr sz="1800" dirty="0">
                <a:solidFill>
                  <a:srgbClr val="3E3E3E"/>
                </a:solidFill>
                <a:latin typeface="Arial Black"/>
                <a:cs typeface="Arial Black"/>
              </a:rPr>
              <a:t>	</a:t>
            </a:r>
            <a:r>
              <a:rPr sz="1800" spc="-110" dirty="0">
                <a:solidFill>
                  <a:srgbClr val="3E3E3E"/>
                </a:solidFill>
                <a:latin typeface="Arial Black"/>
                <a:cs typeface="Arial Black"/>
              </a:rPr>
              <a:t>Densidad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del</a:t>
            </a:r>
            <a:r>
              <a:rPr sz="1800" spc="-7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Black"/>
                <a:cs typeface="Arial Black"/>
              </a:rPr>
              <a:t>relleno</a:t>
            </a: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Arial Black"/>
              <a:cs typeface="Arial Black"/>
            </a:endParaRPr>
          </a:p>
          <a:p>
            <a:pPr marL="12700" marR="1028065">
              <a:lnSpc>
                <a:spcPct val="100000"/>
              </a:lnSpc>
            </a:pPr>
            <a:r>
              <a:rPr sz="1800" spc="-145" dirty="0">
                <a:solidFill>
                  <a:srgbClr val="3E3E3E"/>
                </a:solidFill>
                <a:latin typeface="Arial Black"/>
                <a:cs typeface="Arial Black"/>
              </a:rPr>
              <a:t>3º</a:t>
            </a:r>
            <a:r>
              <a:rPr sz="1800" spc="-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3E3E3E"/>
                </a:solidFill>
                <a:latin typeface="Arial Black"/>
                <a:cs typeface="Arial Black"/>
              </a:rPr>
              <a:t>habilita</a:t>
            </a:r>
            <a:r>
              <a:rPr sz="1800" spc="-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75" dirty="0">
                <a:solidFill>
                  <a:srgbClr val="3E3E3E"/>
                </a:solidFill>
                <a:latin typeface="Arial Black"/>
                <a:cs typeface="Arial Black"/>
              </a:rPr>
              <a:t>soportes</a:t>
            </a:r>
            <a:r>
              <a:rPr sz="1800" spc="-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45" dirty="0">
                <a:solidFill>
                  <a:srgbClr val="3E3E3E"/>
                </a:solidFill>
                <a:latin typeface="Arial Black"/>
                <a:cs typeface="Arial Black"/>
              </a:rPr>
              <a:t>para </a:t>
            </a:r>
            <a:r>
              <a:rPr sz="1800" spc="-160" dirty="0">
                <a:solidFill>
                  <a:srgbClr val="3E3E3E"/>
                </a:solidFill>
                <a:latin typeface="Arial Black"/>
                <a:cs typeface="Arial Black"/>
              </a:rPr>
              <a:t>imprimir</a:t>
            </a:r>
            <a:r>
              <a:rPr sz="18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95" dirty="0">
                <a:solidFill>
                  <a:srgbClr val="3E3E3E"/>
                </a:solidFill>
                <a:latin typeface="Arial Black"/>
                <a:cs typeface="Arial Black"/>
              </a:rPr>
              <a:t>los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Black"/>
                <a:cs typeface="Arial Black"/>
              </a:rPr>
              <a:t>voladizos</a:t>
            </a: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Arial Black"/>
              <a:cs typeface="Arial Black"/>
            </a:endParaRPr>
          </a:p>
          <a:p>
            <a:pPr marL="29845" marR="5080" algn="just">
              <a:lnSpc>
                <a:spcPct val="100000"/>
              </a:lnSpc>
            </a:pPr>
            <a:r>
              <a:rPr sz="1800" spc="-225" dirty="0">
                <a:solidFill>
                  <a:srgbClr val="3E3E3E"/>
                </a:solidFill>
                <a:latin typeface="Arial Black"/>
                <a:cs typeface="Arial Black"/>
              </a:rPr>
              <a:t>4º</a:t>
            </a:r>
            <a:r>
              <a:rPr sz="1800" spc="7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30" dirty="0">
                <a:solidFill>
                  <a:srgbClr val="3E3E3E"/>
                </a:solidFill>
                <a:latin typeface="Arial Black"/>
                <a:cs typeface="Arial Black"/>
              </a:rPr>
              <a:t>Creamos</a:t>
            </a:r>
            <a:r>
              <a:rPr sz="1800" spc="-2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10" dirty="0">
                <a:solidFill>
                  <a:srgbClr val="3E3E3E"/>
                </a:solidFill>
                <a:latin typeface="Arial Black"/>
                <a:cs typeface="Arial Black"/>
              </a:rPr>
              <a:t>una</a:t>
            </a:r>
            <a:r>
              <a:rPr sz="1800" spc="-4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05" dirty="0">
                <a:solidFill>
                  <a:srgbClr val="3E3E3E"/>
                </a:solidFill>
                <a:latin typeface="Arial Black"/>
                <a:cs typeface="Arial Black"/>
              </a:rPr>
              <a:t>falda</a:t>
            </a:r>
            <a:r>
              <a:rPr sz="1800" spc="-4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200" dirty="0">
                <a:solidFill>
                  <a:srgbClr val="3E3E3E"/>
                </a:solidFill>
                <a:latin typeface="Arial Black"/>
                <a:cs typeface="Arial Black"/>
              </a:rPr>
              <a:t>un</a:t>
            </a:r>
            <a:r>
              <a:rPr sz="1800" spc="5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95" dirty="0">
                <a:solidFill>
                  <a:srgbClr val="3E3E3E"/>
                </a:solidFill>
                <a:latin typeface="Arial Black"/>
                <a:cs typeface="Arial Black"/>
              </a:rPr>
              <a:t>borde</a:t>
            </a:r>
            <a:r>
              <a:rPr sz="180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50" dirty="0">
                <a:solidFill>
                  <a:srgbClr val="3E3E3E"/>
                </a:solidFill>
                <a:latin typeface="Arial Black"/>
                <a:cs typeface="Arial Black"/>
              </a:rPr>
              <a:t>o </a:t>
            </a:r>
            <a:r>
              <a:rPr sz="1800" spc="-110" dirty="0">
                <a:solidFill>
                  <a:srgbClr val="3E3E3E"/>
                </a:solidFill>
                <a:latin typeface="Arial Black"/>
                <a:cs typeface="Arial Black"/>
              </a:rPr>
              <a:t>una</a:t>
            </a:r>
            <a:r>
              <a:rPr sz="1800" spc="-3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30" dirty="0">
                <a:solidFill>
                  <a:srgbClr val="3E3E3E"/>
                </a:solidFill>
                <a:latin typeface="Arial Black"/>
                <a:cs typeface="Arial Black"/>
              </a:rPr>
              <a:t>balsa</a:t>
            </a:r>
            <a:r>
              <a:rPr sz="1800" spc="-1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para</a:t>
            </a:r>
            <a:r>
              <a:rPr sz="1800" spc="-1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50" dirty="0">
                <a:solidFill>
                  <a:srgbClr val="3E3E3E"/>
                </a:solidFill>
                <a:latin typeface="Arial Black"/>
                <a:cs typeface="Arial Black"/>
              </a:rPr>
              <a:t>conseguir</a:t>
            </a:r>
            <a:r>
              <a:rPr sz="180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Black"/>
                <a:cs typeface="Arial Black"/>
              </a:rPr>
              <a:t>mayor </a:t>
            </a:r>
            <a:r>
              <a:rPr sz="1800" spc="-95" dirty="0">
                <a:solidFill>
                  <a:srgbClr val="3E3E3E"/>
                </a:solidFill>
                <a:latin typeface="Arial Black"/>
                <a:cs typeface="Arial Black"/>
              </a:rPr>
              <a:t>adherencia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3E3E3E"/>
                </a:solidFill>
                <a:latin typeface="Arial Black"/>
                <a:cs typeface="Arial Black"/>
              </a:rPr>
              <a:t>a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10" dirty="0">
                <a:solidFill>
                  <a:srgbClr val="3E3E3E"/>
                </a:solidFill>
                <a:latin typeface="Arial Black"/>
                <a:cs typeface="Arial Black"/>
              </a:rPr>
              <a:t>la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Black"/>
                <a:cs typeface="Arial Black"/>
              </a:rPr>
              <a:t>placa.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92225" y="818750"/>
            <a:ext cx="9779000" cy="5895340"/>
            <a:chOff x="1892225" y="818750"/>
            <a:chExt cx="9779000" cy="58953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2225" y="818750"/>
              <a:ext cx="9778523" cy="5895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79749" y="2265949"/>
              <a:ext cx="2423795" cy="635"/>
            </a:xfrm>
            <a:custGeom>
              <a:avLst/>
              <a:gdLst/>
              <a:ahLst/>
              <a:cxnLst/>
              <a:rect l="l" t="t" r="r" b="b"/>
              <a:pathLst>
                <a:path w="2423795" h="635">
                  <a:moveTo>
                    <a:pt x="0" y="0"/>
                  </a:moveTo>
                  <a:lnTo>
                    <a:pt x="2423699" y="252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03436" y="214034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26" y="0"/>
                  </a:lnTo>
                  <a:lnTo>
                    <a:pt x="345816" y="125897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03436" y="214034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345816" y="125897"/>
                  </a:lnTo>
                  <a:lnTo>
                    <a:pt x="26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125" dirty="0"/>
              <a:t>Parámetros</a:t>
            </a:r>
            <a:r>
              <a:rPr sz="3200" spc="10" dirty="0"/>
              <a:t> </a:t>
            </a:r>
            <a:r>
              <a:rPr sz="3200" spc="315" dirty="0"/>
              <a:t>que</a:t>
            </a:r>
            <a:r>
              <a:rPr sz="3200" spc="15" dirty="0"/>
              <a:t> </a:t>
            </a:r>
            <a:r>
              <a:rPr sz="3200" spc="185" dirty="0"/>
              <a:t>tenemos</a:t>
            </a:r>
            <a:r>
              <a:rPr sz="3200" spc="15" dirty="0"/>
              <a:t> </a:t>
            </a:r>
            <a:r>
              <a:rPr sz="3200" spc="315" dirty="0"/>
              <a:t>que</a:t>
            </a:r>
            <a:r>
              <a:rPr sz="3200" spc="15" dirty="0"/>
              <a:t> </a:t>
            </a:r>
            <a:r>
              <a:rPr sz="3200" spc="229" dirty="0"/>
              <a:t>cambiar.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2321649" y="2092755"/>
            <a:ext cx="3383915" cy="1261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3E3E3E"/>
                </a:solidFill>
                <a:latin typeface="Arial Black"/>
                <a:cs typeface="Arial Black"/>
              </a:rPr>
              <a:t>1º</a:t>
            </a:r>
            <a:r>
              <a:rPr sz="1800" spc="-6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85" dirty="0">
                <a:solidFill>
                  <a:srgbClr val="3E3E3E"/>
                </a:solidFill>
                <a:latin typeface="Arial Black"/>
                <a:cs typeface="Arial Black"/>
              </a:rPr>
              <a:t>Elegir</a:t>
            </a:r>
            <a:r>
              <a:rPr sz="1800" spc="-6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45" dirty="0">
                <a:solidFill>
                  <a:srgbClr val="3E3E3E"/>
                </a:solidFill>
                <a:latin typeface="Arial Black"/>
                <a:cs typeface="Arial Black"/>
              </a:rPr>
              <a:t>parámetros</a:t>
            </a:r>
            <a:r>
              <a:rPr sz="1800" spc="-6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Black"/>
                <a:cs typeface="Arial Black"/>
              </a:rPr>
              <a:t>básicos</a:t>
            </a: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sz="1800" spc="-145" dirty="0">
                <a:solidFill>
                  <a:srgbClr val="3E3E3E"/>
                </a:solidFill>
                <a:latin typeface="Arial Black"/>
                <a:cs typeface="Arial Black"/>
              </a:rPr>
              <a:t>2º</a:t>
            </a:r>
            <a:r>
              <a:rPr sz="1800" spc="-7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60" dirty="0">
                <a:solidFill>
                  <a:srgbClr val="3E3E3E"/>
                </a:solidFill>
                <a:latin typeface="Arial Black"/>
                <a:cs typeface="Arial Black"/>
              </a:rPr>
              <a:t>Temperatura</a:t>
            </a:r>
            <a:r>
              <a:rPr sz="1800" spc="-7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indicada</a:t>
            </a:r>
            <a:r>
              <a:rPr sz="1800" spc="-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95" dirty="0">
                <a:solidFill>
                  <a:srgbClr val="3E3E3E"/>
                </a:solidFill>
                <a:latin typeface="Arial Black"/>
                <a:cs typeface="Arial Black"/>
              </a:rPr>
              <a:t>en</a:t>
            </a:r>
            <a:r>
              <a:rPr sz="1800" spc="-7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 Black"/>
                <a:cs typeface="Arial Black"/>
              </a:rPr>
              <a:t>la 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bobina </a:t>
            </a:r>
            <a:r>
              <a:rPr sz="18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Arial Black"/>
                <a:cs typeface="Arial Black"/>
              </a:rPr>
              <a:t>filamento</a:t>
            </a:r>
            <a:endParaRPr sz="18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41624" y="3046700"/>
            <a:ext cx="2978150" cy="1455420"/>
            <a:chOff x="5941624" y="3046700"/>
            <a:chExt cx="2978150" cy="1455420"/>
          </a:xfrm>
        </p:grpSpPr>
        <p:sp>
          <p:nvSpPr>
            <p:cNvPr id="10" name="object 10"/>
            <p:cNvSpPr/>
            <p:nvPr/>
          </p:nvSpPr>
          <p:spPr>
            <a:xfrm>
              <a:off x="5979724" y="3084800"/>
              <a:ext cx="2469515" cy="325120"/>
            </a:xfrm>
            <a:custGeom>
              <a:avLst/>
              <a:gdLst/>
              <a:ahLst/>
              <a:cxnLst/>
              <a:rect l="l" t="t" r="r" b="b"/>
              <a:pathLst>
                <a:path w="2469515" h="325120">
                  <a:moveTo>
                    <a:pt x="0" y="0"/>
                  </a:moveTo>
                  <a:lnTo>
                    <a:pt x="2469008" y="324942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32310" y="3284957"/>
              <a:ext cx="359410" cy="250190"/>
            </a:xfrm>
            <a:custGeom>
              <a:avLst/>
              <a:gdLst/>
              <a:ahLst/>
              <a:cxnLst/>
              <a:rect l="l" t="t" r="r" b="b"/>
              <a:pathLst>
                <a:path w="359409" h="250189">
                  <a:moveTo>
                    <a:pt x="0" y="249571"/>
                  </a:moveTo>
                  <a:lnTo>
                    <a:pt x="32845" y="0"/>
                  </a:lnTo>
                  <a:lnTo>
                    <a:pt x="359269" y="169907"/>
                  </a:lnTo>
                  <a:lnTo>
                    <a:pt x="0" y="249571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32310" y="3284957"/>
              <a:ext cx="359410" cy="250190"/>
            </a:xfrm>
            <a:custGeom>
              <a:avLst/>
              <a:gdLst/>
              <a:ahLst/>
              <a:cxnLst/>
              <a:rect l="l" t="t" r="r" b="b"/>
              <a:pathLst>
                <a:path w="359409" h="250189">
                  <a:moveTo>
                    <a:pt x="0" y="249571"/>
                  </a:moveTo>
                  <a:lnTo>
                    <a:pt x="359269" y="169907"/>
                  </a:lnTo>
                  <a:lnTo>
                    <a:pt x="32845" y="0"/>
                  </a:lnTo>
                  <a:lnTo>
                    <a:pt x="0" y="249571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79724" y="3960890"/>
              <a:ext cx="2562225" cy="503555"/>
            </a:xfrm>
            <a:custGeom>
              <a:avLst/>
              <a:gdLst/>
              <a:ahLst/>
              <a:cxnLst/>
              <a:rect l="l" t="t" r="r" b="b"/>
              <a:pathLst>
                <a:path w="2562225" h="503554">
                  <a:moveTo>
                    <a:pt x="0" y="502934"/>
                  </a:moveTo>
                  <a:lnTo>
                    <a:pt x="2562161" y="0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17642" y="3837384"/>
              <a:ext cx="363855" cy="247015"/>
            </a:xfrm>
            <a:custGeom>
              <a:avLst/>
              <a:gdLst/>
              <a:ahLst/>
              <a:cxnLst/>
              <a:rect l="l" t="t" r="r" b="b"/>
              <a:pathLst>
                <a:path w="363854" h="247014">
                  <a:moveTo>
                    <a:pt x="48486" y="247010"/>
                  </a:moveTo>
                  <a:lnTo>
                    <a:pt x="0" y="0"/>
                  </a:lnTo>
                  <a:lnTo>
                    <a:pt x="363570" y="56897"/>
                  </a:lnTo>
                  <a:lnTo>
                    <a:pt x="48486" y="247010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17642" y="3837384"/>
              <a:ext cx="363855" cy="247015"/>
            </a:xfrm>
            <a:custGeom>
              <a:avLst/>
              <a:gdLst/>
              <a:ahLst/>
              <a:cxnLst/>
              <a:rect l="l" t="t" r="r" b="b"/>
              <a:pathLst>
                <a:path w="363854" h="247014">
                  <a:moveTo>
                    <a:pt x="48486" y="247010"/>
                  </a:moveTo>
                  <a:lnTo>
                    <a:pt x="363570" y="56897"/>
                  </a:lnTo>
                  <a:lnTo>
                    <a:pt x="0" y="0"/>
                  </a:lnTo>
                  <a:lnTo>
                    <a:pt x="48486" y="247010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21649" y="4019806"/>
            <a:ext cx="28543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225" dirty="0">
                <a:solidFill>
                  <a:srgbClr val="3E3E3E"/>
                </a:solidFill>
                <a:latin typeface="Arial Black"/>
                <a:cs typeface="Arial Black"/>
              </a:rPr>
              <a:t>3º</a:t>
            </a:r>
            <a:r>
              <a:rPr sz="1800" spc="7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70" dirty="0">
                <a:solidFill>
                  <a:srgbClr val="3E3E3E"/>
                </a:solidFill>
                <a:latin typeface="Arial Black"/>
                <a:cs typeface="Arial Black"/>
              </a:rPr>
              <a:t>Temperatura</a:t>
            </a:r>
            <a:r>
              <a:rPr sz="1800" spc="2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800" spc="-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 Black"/>
                <a:cs typeface="Arial Black"/>
              </a:rPr>
              <a:t>cama </a:t>
            </a:r>
            <a:r>
              <a:rPr sz="1800" spc="-90" dirty="0">
                <a:solidFill>
                  <a:srgbClr val="3E3E3E"/>
                </a:solidFill>
                <a:latin typeface="Arial Black"/>
                <a:cs typeface="Arial Black"/>
              </a:rPr>
              <a:t>indicada</a:t>
            </a:r>
            <a:r>
              <a:rPr sz="1800" spc="-3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3E3E3E"/>
                </a:solidFill>
                <a:latin typeface="Arial Black"/>
                <a:cs typeface="Arial Black"/>
              </a:rPr>
              <a:t>en</a:t>
            </a:r>
            <a:r>
              <a:rPr sz="1800" spc="-1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60" dirty="0">
                <a:solidFill>
                  <a:srgbClr val="3E3E3E"/>
                </a:solidFill>
                <a:latin typeface="Arial Black"/>
                <a:cs typeface="Arial Black"/>
              </a:rPr>
              <a:t>la</a:t>
            </a:r>
            <a:r>
              <a:rPr sz="1800" spc="1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bobina</a:t>
            </a:r>
            <a:r>
              <a:rPr sz="1800" spc="-1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 Black"/>
                <a:cs typeface="Arial Black"/>
              </a:rPr>
              <a:t>de </a:t>
            </a:r>
            <a:r>
              <a:rPr sz="1800" spc="-30" dirty="0">
                <a:solidFill>
                  <a:srgbClr val="3E3E3E"/>
                </a:solidFill>
                <a:latin typeface="Arial Black"/>
                <a:cs typeface="Arial Black"/>
              </a:rPr>
              <a:t>filamento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7762" y="2246900"/>
            <a:ext cx="4819661" cy="43337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51099" y="1004525"/>
            <a:ext cx="4552315" cy="4934585"/>
            <a:chOff x="2051099" y="1004525"/>
            <a:chExt cx="4552315" cy="49345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1099" y="1004525"/>
              <a:ext cx="4551723" cy="42338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34849" y="5482267"/>
              <a:ext cx="664210" cy="419100"/>
            </a:xfrm>
            <a:custGeom>
              <a:avLst/>
              <a:gdLst/>
              <a:ahLst/>
              <a:cxnLst/>
              <a:rect l="l" t="t" r="r" b="b"/>
              <a:pathLst>
                <a:path w="664210" h="419100">
                  <a:moveTo>
                    <a:pt x="0" y="418557"/>
                  </a:moveTo>
                  <a:lnTo>
                    <a:pt x="663853" y="0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1576" y="5297836"/>
              <a:ext cx="360045" cy="291465"/>
            </a:xfrm>
            <a:custGeom>
              <a:avLst/>
              <a:gdLst/>
              <a:ahLst/>
              <a:cxnLst/>
              <a:rect l="l" t="t" r="r" b="b"/>
              <a:pathLst>
                <a:path w="360045" h="291464">
                  <a:moveTo>
                    <a:pt x="134254" y="290897"/>
                  </a:moveTo>
                  <a:lnTo>
                    <a:pt x="0" y="77963"/>
                  </a:lnTo>
                  <a:lnTo>
                    <a:pt x="359642" y="0"/>
                  </a:lnTo>
                  <a:lnTo>
                    <a:pt x="134254" y="290897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1576" y="5297836"/>
              <a:ext cx="360045" cy="291465"/>
            </a:xfrm>
            <a:custGeom>
              <a:avLst/>
              <a:gdLst/>
              <a:ahLst/>
              <a:cxnLst/>
              <a:rect l="l" t="t" r="r" b="b"/>
              <a:pathLst>
                <a:path w="360045" h="291464">
                  <a:moveTo>
                    <a:pt x="134254" y="290897"/>
                  </a:moveTo>
                  <a:lnTo>
                    <a:pt x="359642" y="0"/>
                  </a:lnTo>
                  <a:lnTo>
                    <a:pt x="0" y="77963"/>
                  </a:lnTo>
                  <a:lnTo>
                    <a:pt x="134254" y="290897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Segmentación</a:t>
            </a:r>
            <a:r>
              <a:rPr spc="5" dirty="0"/>
              <a:t> </a:t>
            </a:r>
            <a:r>
              <a:rPr spc="125" dirty="0"/>
              <a:t>y</a:t>
            </a:r>
            <a:r>
              <a:rPr spc="5" dirty="0"/>
              <a:t> </a:t>
            </a:r>
            <a:r>
              <a:rPr spc="140" dirty="0"/>
              <a:t>resultado</a:t>
            </a:r>
            <a:r>
              <a:rPr spc="5" dirty="0"/>
              <a:t> </a:t>
            </a:r>
            <a:r>
              <a:rPr spc="85" dirty="0"/>
              <a:t>final.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39475" y="5733855"/>
            <a:ext cx="1892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3E3E3E"/>
                </a:solidFill>
                <a:latin typeface="Arial Black"/>
                <a:cs typeface="Arial Black"/>
              </a:rPr>
              <a:t>1º</a:t>
            </a:r>
            <a:r>
              <a:rPr sz="18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35" dirty="0">
                <a:solidFill>
                  <a:srgbClr val="3E3E3E"/>
                </a:solidFill>
                <a:latin typeface="Arial Black"/>
                <a:cs typeface="Arial Black"/>
              </a:rPr>
              <a:t>Segmentamos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97400" y="1523706"/>
            <a:ext cx="2423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3E3E3E"/>
                </a:solidFill>
                <a:latin typeface="Arial Black"/>
                <a:cs typeface="Arial Black"/>
              </a:rPr>
              <a:t>2º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45" dirty="0">
                <a:solidFill>
                  <a:srgbClr val="3E3E3E"/>
                </a:solidFill>
                <a:latin typeface="Arial Black"/>
                <a:cs typeface="Arial Black"/>
              </a:rPr>
              <a:t>Vemos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3E3E3E"/>
                </a:solidFill>
                <a:latin typeface="Arial Black"/>
                <a:cs typeface="Arial Black"/>
              </a:rPr>
              <a:t>el</a:t>
            </a:r>
            <a:r>
              <a:rPr sz="1800" spc="-8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800" spc="-130" dirty="0">
                <a:solidFill>
                  <a:srgbClr val="3E3E3E"/>
                </a:solidFill>
                <a:latin typeface="Arial Black"/>
                <a:cs typeface="Arial Black"/>
              </a:rPr>
              <a:t>resultado</a:t>
            </a:r>
            <a:endParaRPr sz="18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41888" y="1767325"/>
            <a:ext cx="956310" cy="652780"/>
            <a:chOff x="7941888" y="1767325"/>
            <a:chExt cx="956310" cy="652780"/>
          </a:xfrm>
        </p:grpSpPr>
        <p:sp>
          <p:nvSpPr>
            <p:cNvPr id="12" name="object 12"/>
            <p:cNvSpPr/>
            <p:nvPr/>
          </p:nvSpPr>
          <p:spPr>
            <a:xfrm>
              <a:off x="8269269" y="1805425"/>
              <a:ext cx="590550" cy="386715"/>
            </a:xfrm>
            <a:custGeom>
              <a:avLst/>
              <a:gdLst/>
              <a:ahLst/>
              <a:cxnLst/>
              <a:rect l="l" t="t" r="r" b="b"/>
              <a:pathLst>
                <a:path w="590550" h="386714">
                  <a:moveTo>
                    <a:pt x="590430" y="0"/>
                  </a:moveTo>
                  <a:lnTo>
                    <a:pt x="0" y="386702"/>
                  </a:lnTo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79988" y="2086837"/>
              <a:ext cx="358775" cy="295275"/>
            </a:xfrm>
            <a:custGeom>
              <a:avLst/>
              <a:gdLst/>
              <a:ahLst/>
              <a:cxnLst/>
              <a:rect l="l" t="t" r="r" b="b"/>
              <a:pathLst>
                <a:path w="358775" h="295275">
                  <a:moveTo>
                    <a:pt x="0" y="294753"/>
                  </a:moveTo>
                  <a:lnTo>
                    <a:pt x="220320" y="0"/>
                  </a:lnTo>
                  <a:lnTo>
                    <a:pt x="358238" y="210578"/>
                  </a:lnTo>
                  <a:lnTo>
                    <a:pt x="0" y="294753"/>
                  </a:lnTo>
                  <a:close/>
                </a:path>
              </a:pathLst>
            </a:custGeom>
            <a:solidFill>
              <a:srgbClr val="A53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79988" y="2086837"/>
              <a:ext cx="358775" cy="295275"/>
            </a:xfrm>
            <a:custGeom>
              <a:avLst/>
              <a:gdLst/>
              <a:ahLst/>
              <a:cxnLst/>
              <a:rect l="l" t="t" r="r" b="b"/>
              <a:pathLst>
                <a:path w="358775" h="295275">
                  <a:moveTo>
                    <a:pt x="220320" y="0"/>
                  </a:moveTo>
                  <a:lnTo>
                    <a:pt x="0" y="294753"/>
                  </a:lnTo>
                  <a:lnTo>
                    <a:pt x="358238" y="210578"/>
                  </a:lnTo>
                  <a:lnTo>
                    <a:pt x="220320" y="0"/>
                  </a:lnTo>
                  <a:close/>
                </a:path>
              </a:pathLst>
            </a:custGeom>
            <a:ln w="76199">
              <a:solidFill>
                <a:srgbClr val="A53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5949" y="127759"/>
            <a:ext cx="2353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Diseño</a:t>
            </a:r>
            <a:r>
              <a:rPr spc="-10" dirty="0"/>
              <a:t> </a:t>
            </a:r>
            <a:r>
              <a:rPr spc="-25" dirty="0"/>
              <a:t>3D.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4084" y="845896"/>
            <a:ext cx="3431540" cy="75692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730"/>
              </a:spcBef>
              <a:buClr>
                <a:srgbClr val="A53010"/>
              </a:buClr>
              <a:buChar char="□"/>
              <a:tabLst>
                <a:tab pos="393065" algn="l"/>
              </a:tabLst>
            </a:pPr>
            <a:r>
              <a:rPr sz="2000" spc="-75" dirty="0">
                <a:solidFill>
                  <a:srgbClr val="3E3E3E"/>
                </a:solidFill>
                <a:latin typeface="Arial Black"/>
                <a:cs typeface="Arial Black"/>
              </a:rPr>
              <a:t>Tinkercad</a:t>
            </a:r>
            <a:endParaRPr sz="2000">
              <a:latin typeface="Arial Black"/>
              <a:cs typeface="Arial Black"/>
            </a:endParaRPr>
          </a:p>
          <a:p>
            <a:pPr marL="252729">
              <a:lnSpc>
                <a:spcPct val="100000"/>
              </a:lnSpc>
              <a:spcBef>
                <a:spcPts val="565"/>
              </a:spcBef>
            </a:pPr>
            <a:r>
              <a:rPr sz="1800" u="heavy" spc="110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https://www.tinkercad.com/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925" y="2098224"/>
            <a:ext cx="8536627" cy="462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7849" y="666284"/>
            <a:ext cx="2353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Diseño</a:t>
            </a:r>
            <a:r>
              <a:rPr spc="-10" dirty="0"/>
              <a:t> </a:t>
            </a:r>
            <a:r>
              <a:rPr spc="-25" dirty="0"/>
              <a:t>3D.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685" indent="-387985">
              <a:lnSpc>
                <a:spcPct val="100000"/>
              </a:lnSpc>
              <a:spcBef>
                <a:spcPts val="100"/>
              </a:spcBef>
              <a:buClr>
                <a:srgbClr val="A53010"/>
              </a:buClr>
              <a:buChar char="□"/>
              <a:tabLst>
                <a:tab pos="400685" algn="l"/>
              </a:tabLst>
            </a:pPr>
            <a:r>
              <a:rPr spc="-80" dirty="0"/>
              <a:t>Tinkercad</a:t>
            </a:r>
          </a:p>
          <a:p>
            <a:pPr marL="401320">
              <a:lnSpc>
                <a:spcPct val="100000"/>
              </a:lnSpc>
              <a:spcBef>
                <a:spcPts val="2385"/>
              </a:spcBef>
            </a:pPr>
            <a:r>
              <a:rPr sz="1700" spc="-95" dirty="0"/>
              <a:t>Video</a:t>
            </a:r>
            <a:r>
              <a:rPr sz="1700" spc="-65" dirty="0"/>
              <a:t> </a:t>
            </a:r>
            <a:r>
              <a:rPr sz="1700" spc="-45" dirty="0"/>
              <a:t>tutorial:</a:t>
            </a:r>
            <a:endParaRPr sz="1700"/>
          </a:p>
          <a:p>
            <a:pPr marL="401320">
              <a:lnSpc>
                <a:spcPct val="100000"/>
              </a:lnSpc>
              <a:spcBef>
                <a:spcPts val="335"/>
              </a:spcBef>
            </a:pPr>
            <a:r>
              <a:rPr sz="1350" u="heavy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https://www.youtube.com/watch?v=sqGJmOG0EOY&amp;list=PLHogLkQ_uFsgPR-</a:t>
            </a:r>
            <a:r>
              <a:rPr sz="1350" u="heavy" spc="45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9LcXEu-</a:t>
            </a:r>
            <a:r>
              <a:rPr sz="1350" u="heavy" spc="-10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2"/>
              </a:rPr>
              <a:t>NjGi3i0cba6&amp;index=19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350">
              <a:latin typeface="Arial MT"/>
              <a:cs typeface="Arial MT"/>
            </a:endParaRPr>
          </a:p>
          <a:p>
            <a:pPr marL="401320">
              <a:lnSpc>
                <a:spcPct val="100000"/>
              </a:lnSpc>
              <a:spcBef>
                <a:spcPts val="5"/>
              </a:spcBef>
            </a:pPr>
            <a:r>
              <a:rPr sz="1750" spc="-90" dirty="0"/>
              <a:t>Documentación</a:t>
            </a:r>
            <a:r>
              <a:rPr sz="1750" spc="-30" dirty="0"/>
              <a:t> </a:t>
            </a:r>
            <a:r>
              <a:rPr sz="1750" spc="-10" dirty="0"/>
              <a:t>oficial:</a:t>
            </a:r>
            <a:endParaRPr sz="1750"/>
          </a:p>
          <a:p>
            <a:pPr marL="401320">
              <a:lnSpc>
                <a:spcPct val="100000"/>
              </a:lnSpc>
              <a:spcBef>
                <a:spcPts val="340"/>
              </a:spcBef>
            </a:pPr>
            <a:r>
              <a:rPr sz="1350" u="heavy" spc="60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3"/>
              </a:rPr>
              <a:t>https://www.tinkercad.com/classrooms-</a:t>
            </a:r>
            <a:r>
              <a:rPr sz="1350" u="heavy" spc="55" dirty="0">
                <a:solidFill>
                  <a:srgbClr val="FA4A18"/>
                </a:solidFill>
                <a:uFill>
                  <a:solidFill>
                    <a:srgbClr val="FA4A18"/>
                  </a:solidFill>
                </a:uFill>
                <a:latin typeface="Arial MT"/>
                <a:cs typeface="Arial MT"/>
                <a:hlinkClick r:id="rId3"/>
              </a:rPr>
              <a:t>resources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7849" y="639809"/>
            <a:ext cx="3807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Tipos</a:t>
            </a:r>
            <a:r>
              <a:rPr spc="-110" dirty="0"/>
              <a:t> </a:t>
            </a:r>
            <a:r>
              <a:rPr spc="395" dirty="0"/>
              <a:t>de</a:t>
            </a:r>
            <a:r>
              <a:rPr spc="-105" dirty="0"/>
              <a:t> </a:t>
            </a:r>
            <a:r>
              <a:rPr spc="114" dirty="0"/>
              <a:t>archivos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3013" y="2012479"/>
            <a:ext cx="8393430" cy="3326129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835"/>
              </a:spcBef>
              <a:buClr>
                <a:srgbClr val="A53010"/>
              </a:buClr>
              <a:buFont typeface="Lucida Sans Unicode"/>
              <a:buChar char="□"/>
              <a:tabLst>
                <a:tab pos="394335" algn="l"/>
              </a:tabLst>
            </a:pPr>
            <a:r>
              <a:rPr sz="2000" spc="-6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20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75" dirty="0">
                <a:solidFill>
                  <a:srgbClr val="3E3E3E"/>
                </a:solidFill>
                <a:latin typeface="Arial MT"/>
                <a:cs typeface="Arial MT"/>
              </a:rPr>
              <a:t>archivos</a:t>
            </a:r>
            <a:r>
              <a:rPr sz="20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130" dirty="0">
                <a:solidFill>
                  <a:srgbClr val="3E3E3E"/>
                </a:solidFill>
                <a:latin typeface="Arial MT"/>
                <a:cs typeface="Arial MT"/>
              </a:rPr>
              <a:t>descargados</a:t>
            </a:r>
            <a:r>
              <a:rPr sz="20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220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20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-185" dirty="0">
                <a:solidFill>
                  <a:srgbClr val="3E3E3E"/>
                </a:solidFill>
                <a:latin typeface="Arial Black"/>
                <a:cs typeface="Arial Black"/>
              </a:rPr>
              <a:t>Thingiverse,</a:t>
            </a:r>
            <a:r>
              <a:rPr sz="2000" spc="-10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2000" spc="-180" dirty="0">
                <a:solidFill>
                  <a:srgbClr val="3E3E3E"/>
                </a:solidFill>
                <a:latin typeface="Arial Black"/>
                <a:cs typeface="Arial Black"/>
              </a:rPr>
              <a:t>Cults3d</a:t>
            </a:r>
            <a:r>
              <a:rPr sz="2000" spc="-8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2000" spc="200" dirty="0">
                <a:solidFill>
                  <a:srgbClr val="3E3E3E"/>
                </a:solidFill>
                <a:latin typeface="Arial MT"/>
                <a:cs typeface="Arial MT"/>
              </a:rPr>
              <a:t>o</a:t>
            </a:r>
            <a:r>
              <a:rPr sz="20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125" dirty="0">
                <a:solidFill>
                  <a:srgbClr val="3E3E3E"/>
                </a:solidFill>
                <a:latin typeface="Arial MT"/>
                <a:cs typeface="Arial MT"/>
              </a:rPr>
              <a:t>creados</a:t>
            </a:r>
            <a:r>
              <a:rPr sz="20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125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endParaRPr sz="2000">
              <a:latin typeface="Arial MT"/>
              <a:cs typeface="Arial MT"/>
            </a:endParaRPr>
          </a:p>
          <a:p>
            <a:pPr marL="394335">
              <a:lnSpc>
                <a:spcPct val="100000"/>
              </a:lnSpc>
              <a:spcBef>
                <a:spcPts val="745"/>
              </a:spcBef>
            </a:pPr>
            <a:r>
              <a:rPr sz="2000" spc="-185" dirty="0">
                <a:solidFill>
                  <a:srgbClr val="3E3E3E"/>
                </a:solidFill>
                <a:latin typeface="Arial Black"/>
                <a:cs typeface="Arial Black"/>
              </a:rPr>
              <a:t>Tinkercad</a:t>
            </a:r>
            <a:r>
              <a:rPr sz="2000" spc="-4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3E3E3E"/>
                </a:solidFill>
                <a:latin typeface="Arial MT"/>
                <a:cs typeface="Arial MT"/>
              </a:rPr>
              <a:t>son</a:t>
            </a:r>
            <a:r>
              <a:rPr sz="20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75" dirty="0">
                <a:solidFill>
                  <a:srgbClr val="3E3E3E"/>
                </a:solidFill>
                <a:latin typeface="Arial MT"/>
                <a:cs typeface="Arial MT"/>
              </a:rPr>
              <a:t>archivos</a:t>
            </a:r>
            <a:r>
              <a:rPr sz="20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-525" dirty="0">
                <a:solidFill>
                  <a:srgbClr val="3E3E3E"/>
                </a:solidFill>
                <a:latin typeface="Arial Black"/>
                <a:cs typeface="Arial Black"/>
              </a:rPr>
              <a:t>STL</a:t>
            </a:r>
            <a:endParaRPr sz="2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00">
              <a:latin typeface="Arial Black"/>
              <a:cs typeface="Arial Black"/>
            </a:endParaRPr>
          </a:p>
          <a:p>
            <a:pPr marL="394335" indent="-381635">
              <a:lnSpc>
                <a:spcPct val="100000"/>
              </a:lnSpc>
              <a:buClr>
                <a:srgbClr val="A53010"/>
              </a:buClr>
              <a:buFont typeface="Lucida Sans Unicode"/>
              <a:buChar char="□"/>
              <a:tabLst>
                <a:tab pos="394335" algn="l"/>
              </a:tabLst>
            </a:pPr>
            <a:r>
              <a:rPr sz="2000" spc="70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20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E3E3E"/>
                </a:solidFill>
                <a:latin typeface="Arial MT"/>
                <a:cs typeface="Arial MT"/>
              </a:rPr>
              <a:t>vez</a:t>
            </a:r>
            <a:r>
              <a:rPr sz="20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130" dirty="0">
                <a:solidFill>
                  <a:srgbClr val="3E3E3E"/>
                </a:solidFill>
                <a:latin typeface="Arial MT"/>
                <a:cs typeface="Arial MT"/>
              </a:rPr>
              <a:t>modificados</a:t>
            </a:r>
            <a:r>
              <a:rPr sz="20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15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20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-185" dirty="0">
                <a:solidFill>
                  <a:srgbClr val="3E3E3E"/>
                </a:solidFill>
                <a:latin typeface="Arial Black"/>
                <a:cs typeface="Arial Black"/>
              </a:rPr>
              <a:t>Ultimaker</a:t>
            </a:r>
            <a:r>
              <a:rPr sz="20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2000" spc="-114" dirty="0">
                <a:solidFill>
                  <a:srgbClr val="3E3E3E"/>
                </a:solidFill>
                <a:latin typeface="Arial Black"/>
                <a:cs typeface="Arial Black"/>
              </a:rPr>
              <a:t>Cura</a:t>
            </a:r>
            <a:r>
              <a:rPr sz="2000" spc="-6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3E3E3E"/>
                </a:solidFill>
                <a:latin typeface="Arial MT"/>
                <a:cs typeface="Arial MT"/>
              </a:rPr>
              <a:t>se</a:t>
            </a:r>
            <a:r>
              <a:rPr sz="20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120" dirty="0">
                <a:solidFill>
                  <a:srgbClr val="3E3E3E"/>
                </a:solidFill>
                <a:latin typeface="Arial MT"/>
                <a:cs typeface="Arial MT"/>
              </a:rPr>
              <a:t>convierte</a:t>
            </a:r>
            <a:r>
              <a:rPr sz="20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15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20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65" dirty="0">
                <a:solidFill>
                  <a:srgbClr val="3E3E3E"/>
                </a:solidFill>
                <a:latin typeface="Arial MT"/>
                <a:cs typeface="Arial MT"/>
              </a:rPr>
              <a:t>archivos</a:t>
            </a:r>
            <a:endParaRPr sz="2000">
              <a:latin typeface="Arial MT"/>
              <a:cs typeface="Arial MT"/>
            </a:endParaRPr>
          </a:p>
          <a:p>
            <a:pPr marL="394335">
              <a:lnSpc>
                <a:spcPct val="100000"/>
              </a:lnSpc>
              <a:spcBef>
                <a:spcPts val="740"/>
              </a:spcBef>
            </a:pPr>
            <a:r>
              <a:rPr sz="2000" spc="95" dirty="0">
                <a:solidFill>
                  <a:srgbClr val="3E3E3E"/>
                </a:solidFill>
                <a:latin typeface="Arial Black"/>
                <a:cs typeface="Arial Black"/>
              </a:rPr>
              <a:t>G-</a:t>
            </a:r>
            <a:r>
              <a:rPr sz="2000" spc="-10" dirty="0">
                <a:solidFill>
                  <a:srgbClr val="3E3E3E"/>
                </a:solidFill>
                <a:latin typeface="Arial Black"/>
                <a:cs typeface="Arial Black"/>
              </a:rPr>
              <a:t>code.</a:t>
            </a:r>
            <a:endParaRPr sz="2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000">
              <a:latin typeface="Arial Black"/>
              <a:cs typeface="Arial Black"/>
            </a:endParaRPr>
          </a:p>
          <a:p>
            <a:pPr marL="394335" indent="-381635">
              <a:lnSpc>
                <a:spcPct val="100000"/>
              </a:lnSpc>
              <a:buClr>
                <a:srgbClr val="A53010"/>
              </a:buClr>
              <a:buFont typeface="Lucida Sans Unicode"/>
              <a:buChar char="□"/>
              <a:tabLst>
                <a:tab pos="394335" algn="l"/>
              </a:tabLst>
            </a:pPr>
            <a:r>
              <a:rPr sz="2000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20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70" dirty="0">
                <a:solidFill>
                  <a:srgbClr val="3E3E3E"/>
                </a:solidFill>
                <a:latin typeface="Arial MT"/>
                <a:cs typeface="Arial MT"/>
              </a:rPr>
              <a:t>impresora</a:t>
            </a:r>
            <a:r>
              <a:rPr sz="20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85" dirty="0">
                <a:solidFill>
                  <a:srgbClr val="3E3E3E"/>
                </a:solidFill>
                <a:latin typeface="Arial MT"/>
                <a:cs typeface="Arial MT"/>
              </a:rPr>
              <a:t>3d,</a:t>
            </a:r>
            <a:r>
              <a:rPr sz="20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E3E3E"/>
                </a:solidFill>
                <a:latin typeface="Arial MT"/>
                <a:cs typeface="Arial MT"/>
              </a:rPr>
              <a:t>solo</a:t>
            </a:r>
            <a:r>
              <a:rPr sz="20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165" dirty="0">
                <a:solidFill>
                  <a:srgbClr val="3E3E3E"/>
                </a:solidFill>
                <a:latin typeface="Arial MT"/>
                <a:cs typeface="Arial MT"/>
              </a:rPr>
              <a:t>admite</a:t>
            </a:r>
            <a:r>
              <a:rPr sz="20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2000" spc="75" dirty="0">
                <a:solidFill>
                  <a:srgbClr val="3E3E3E"/>
                </a:solidFill>
                <a:latin typeface="Arial MT"/>
                <a:cs typeface="Arial MT"/>
              </a:rPr>
              <a:t>archivos </a:t>
            </a:r>
            <a:r>
              <a:rPr sz="2000" spc="-25" dirty="0">
                <a:solidFill>
                  <a:srgbClr val="3E3E3E"/>
                </a:solidFill>
                <a:latin typeface="Arial Black"/>
                <a:cs typeface="Arial Black"/>
              </a:rPr>
              <a:t>G-</a:t>
            </a:r>
            <a:r>
              <a:rPr sz="2000" spc="-10" dirty="0">
                <a:solidFill>
                  <a:srgbClr val="3E3E3E"/>
                </a:solidFill>
                <a:latin typeface="Arial Black"/>
                <a:cs typeface="Arial Black"/>
              </a:rPr>
              <a:t>code.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Tipos</a:t>
            </a:r>
            <a:r>
              <a:rPr spc="-110" dirty="0"/>
              <a:t> </a:t>
            </a:r>
            <a:r>
              <a:rPr spc="395" dirty="0"/>
              <a:t>de</a:t>
            </a:r>
            <a:r>
              <a:rPr spc="-105" dirty="0"/>
              <a:t> </a:t>
            </a:r>
            <a:r>
              <a:rPr spc="170" dirty="0"/>
              <a:t>filamento.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3013" y="1111745"/>
            <a:ext cx="9358630" cy="48456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91795" marR="5080" indent="-379730" algn="just">
              <a:lnSpc>
                <a:spcPct val="131400"/>
              </a:lnSpc>
              <a:spcBef>
                <a:spcPts val="225"/>
              </a:spcBef>
              <a:buClr>
                <a:srgbClr val="A53010"/>
              </a:buClr>
              <a:buChar char="□"/>
              <a:tabLst>
                <a:tab pos="394335" algn="l"/>
              </a:tabLst>
            </a:pPr>
            <a:r>
              <a:rPr sz="2000" spc="-340" dirty="0">
                <a:solidFill>
                  <a:srgbClr val="3E3E3E"/>
                </a:solidFill>
                <a:latin typeface="Arial Black"/>
                <a:cs typeface="Arial Black"/>
              </a:rPr>
              <a:t>PLA,</a:t>
            </a:r>
            <a:r>
              <a:rPr sz="2000" spc="1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-114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8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las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alternativas</a:t>
            </a:r>
            <a:r>
              <a:rPr sz="1700" spc="8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responsables</a:t>
            </a:r>
            <a:r>
              <a:rPr sz="1700" spc="8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70" dirty="0">
                <a:solidFill>
                  <a:srgbClr val="3E3E3E"/>
                </a:solidFill>
                <a:latin typeface="Arial MT"/>
                <a:cs typeface="Arial MT"/>
              </a:rPr>
              <a:t>con</a:t>
            </a:r>
            <a:r>
              <a:rPr sz="1700" spc="8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8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medioambiente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sector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60" dirty="0">
                <a:solidFill>
                  <a:srgbClr val="3E3E3E"/>
                </a:solidFill>
                <a:latin typeface="Arial MT"/>
                <a:cs typeface="Arial MT"/>
              </a:rPr>
              <a:t>de 	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termoplásticos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utiliza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combatir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215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problemas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ambientales.</a:t>
            </a:r>
            <a:endParaRPr sz="1700">
              <a:latin typeface="Arial MT"/>
              <a:cs typeface="Arial MT"/>
            </a:endParaRPr>
          </a:p>
          <a:p>
            <a:pPr marL="394335" marR="381635" algn="just">
              <a:lnSpc>
                <a:spcPct val="131000"/>
              </a:lnSpc>
              <a:spcBef>
                <a:spcPts val="1000"/>
              </a:spcBef>
            </a:pP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Este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material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se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5" dirty="0">
                <a:solidFill>
                  <a:srgbClr val="3E3E3E"/>
                </a:solidFill>
                <a:latin typeface="Arial MT"/>
                <a:cs typeface="Arial MT"/>
              </a:rPr>
              <a:t>denomina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así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debido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215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su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55" dirty="0">
                <a:solidFill>
                  <a:srgbClr val="3E3E3E"/>
                </a:solidFill>
                <a:latin typeface="Arial MT"/>
                <a:cs typeface="Arial MT"/>
              </a:rPr>
              <a:t>componente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principal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ácido </a:t>
            </a:r>
            <a:r>
              <a:rPr sz="1700" spc="100" dirty="0">
                <a:solidFill>
                  <a:srgbClr val="3E3E3E"/>
                </a:solidFill>
                <a:latin typeface="Arial MT"/>
                <a:cs typeface="Arial MT"/>
              </a:rPr>
              <a:t>poliláctico.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Este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polímero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termoplástico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se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4" dirty="0">
                <a:solidFill>
                  <a:srgbClr val="3E3E3E"/>
                </a:solidFill>
                <a:latin typeface="Arial MT"/>
                <a:cs typeface="Arial MT"/>
              </a:rPr>
              <a:t>obtiene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215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partir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8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0" dirty="0">
                <a:solidFill>
                  <a:srgbClr val="3E3E3E"/>
                </a:solidFill>
                <a:latin typeface="Arial MT"/>
                <a:cs typeface="Arial MT"/>
              </a:rPr>
              <a:t>fermentación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60" dirty="0">
                <a:solidFill>
                  <a:srgbClr val="3E3E3E"/>
                </a:solidFill>
                <a:latin typeface="Arial MT"/>
                <a:cs typeface="Arial MT"/>
              </a:rPr>
              <a:t>de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vegetales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90" dirty="0">
                <a:solidFill>
                  <a:srgbClr val="3E3E3E"/>
                </a:solidFill>
                <a:latin typeface="Arial MT"/>
                <a:cs typeface="Arial MT"/>
              </a:rPr>
              <a:t>como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maíz,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yuca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70" dirty="0">
                <a:solidFill>
                  <a:srgbClr val="3E3E3E"/>
                </a:solidFill>
                <a:latin typeface="Arial MT"/>
                <a:cs typeface="Arial MT"/>
              </a:rPr>
              <a:t>o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90" dirty="0">
                <a:solidFill>
                  <a:srgbClr val="3E3E3E"/>
                </a:solidFill>
                <a:latin typeface="Arial MT"/>
                <a:cs typeface="Arial MT"/>
              </a:rPr>
              <a:t>caña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8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azúcar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entre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otros.</a:t>
            </a:r>
            <a:endParaRPr sz="1700">
              <a:latin typeface="Arial MT"/>
              <a:cs typeface="Arial MT"/>
            </a:endParaRPr>
          </a:p>
          <a:p>
            <a:pPr marL="394335" indent="-300990">
              <a:lnSpc>
                <a:spcPct val="100000"/>
              </a:lnSpc>
              <a:spcBef>
                <a:spcPts val="1635"/>
              </a:spcBef>
              <a:buClr>
                <a:srgbClr val="A53010"/>
              </a:buClr>
              <a:buFont typeface="Times New Roman"/>
              <a:buChar char="-"/>
              <a:tabLst>
                <a:tab pos="394335" algn="l"/>
              </a:tabLst>
            </a:pPr>
            <a:r>
              <a:rPr sz="1700" spc="-254" dirty="0">
                <a:solidFill>
                  <a:srgbClr val="3E3E3E"/>
                </a:solidFill>
                <a:latin typeface="Arial Black"/>
                <a:cs typeface="Arial Black"/>
              </a:rPr>
              <a:t>El</a:t>
            </a:r>
            <a:r>
              <a:rPr sz="1700" spc="-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rango</a:t>
            </a:r>
            <a:r>
              <a:rPr sz="1700" spc="-6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700" spc="-6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25" dirty="0">
                <a:solidFill>
                  <a:srgbClr val="3E3E3E"/>
                </a:solidFill>
                <a:latin typeface="Arial Black"/>
                <a:cs typeface="Arial Black"/>
              </a:rPr>
              <a:t>temperatura</a:t>
            </a:r>
            <a:r>
              <a:rPr sz="1700" spc="-6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700" spc="-6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30" dirty="0">
                <a:solidFill>
                  <a:srgbClr val="3E3E3E"/>
                </a:solidFill>
                <a:latin typeface="Arial Black"/>
                <a:cs typeface="Arial Black"/>
              </a:rPr>
              <a:t>impresión</a:t>
            </a:r>
            <a:r>
              <a:rPr sz="1700" spc="-6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está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entre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(190-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220)ºC.</a:t>
            </a:r>
            <a:endParaRPr sz="1700">
              <a:latin typeface="Arial MT"/>
              <a:cs typeface="Arial MT"/>
            </a:endParaRPr>
          </a:p>
          <a:p>
            <a:pPr marL="394335" marR="358140" indent="-301625">
              <a:lnSpc>
                <a:spcPct val="131000"/>
              </a:lnSpc>
              <a:buClr>
                <a:srgbClr val="A53010"/>
              </a:buClr>
              <a:buFont typeface="Times New Roman"/>
              <a:buChar char="-"/>
              <a:tabLst>
                <a:tab pos="394335" algn="l"/>
              </a:tabLst>
            </a:pPr>
            <a:r>
              <a:rPr sz="1700" spc="-215" dirty="0">
                <a:solidFill>
                  <a:srgbClr val="3E3E3E"/>
                </a:solidFill>
                <a:latin typeface="Arial Black"/>
                <a:cs typeface="Arial Black"/>
              </a:rPr>
              <a:t>La</a:t>
            </a:r>
            <a:r>
              <a:rPr sz="17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25" dirty="0">
                <a:solidFill>
                  <a:srgbClr val="3E3E3E"/>
                </a:solidFill>
                <a:latin typeface="Arial Black"/>
                <a:cs typeface="Arial Black"/>
              </a:rPr>
              <a:t>temperatura</a:t>
            </a:r>
            <a:r>
              <a:rPr sz="17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7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95" dirty="0">
                <a:solidFill>
                  <a:srgbClr val="3E3E3E"/>
                </a:solidFill>
                <a:latin typeface="Arial Black"/>
                <a:cs typeface="Arial Black"/>
              </a:rPr>
              <a:t>la</a:t>
            </a:r>
            <a:r>
              <a:rPr sz="17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45" dirty="0">
                <a:solidFill>
                  <a:srgbClr val="3E3E3E"/>
                </a:solidFill>
                <a:latin typeface="Arial Black"/>
                <a:cs typeface="Arial Black"/>
              </a:rPr>
              <a:t>cama</a:t>
            </a:r>
            <a:r>
              <a:rPr sz="17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10" dirty="0">
                <a:solidFill>
                  <a:srgbClr val="3E3E3E"/>
                </a:solidFill>
                <a:latin typeface="Arial Black"/>
                <a:cs typeface="Arial Black"/>
              </a:rPr>
              <a:t>caliente</a:t>
            </a:r>
            <a:r>
              <a:rPr sz="17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165" dirty="0">
                <a:solidFill>
                  <a:srgbClr val="3E3E3E"/>
                </a:solidFill>
                <a:latin typeface="Arial MT"/>
                <a:cs typeface="Arial MT"/>
              </a:rPr>
              <a:t>recomendada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3E3E3E"/>
                </a:solidFill>
                <a:latin typeface="Arial MT"/>
                <a:cs typeface="Arial MT"/>
              </a:rPr>
              <a:t>PLA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 </a:t>
            </a:r>
            <a:r>
              <a:rPr sz="1700" spc="18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60 </a:t>
            </a:r>
            <a:r>
              <a:rPr sz="1700" spc="50" dirty="0">
                <a:solidFill>
                  <a:srgbClr val="3E3E3E"/>
                </a:solidFill>
                <a:latin typeface="Arial MT"/>
                <a:cs typeface="Arial MT"/>
              </a:rPr>
              <a:t>°C,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pero </a:t>
            </a:r>
            <a:r>
              <a:rPr sz="1700" spc="50" dirty="0">
                <a:solidFill>
                  <a:srgbClr val="3E3E3E"/>
                </a:solidFill>
                <a:latin typeface="Arial MT"/>
                <a:cs typeface="Arial MT"/>
              </a:rPr>
              <a:t>este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ajuste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0" dirty="0">
                <a:solidFill>
                  <a:srgbClr val="3E3E3E"/>
                </a:solidFill>
                <a:latin typeface="Arial MT"/>
                <a:cs typeface="Arial MT"/>
              </a:rPr>
              <a:t>no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siempre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funciona.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Hemos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55" dirty="0">
                <a:solidFill>
                  <a:srgbClr val="3E3E3E"/>
                </a:solidFill>
                <a:latin typeface="Arial MT"/>
                <a:cs typeface="Arial MT"/>
              </a:rPr>
              <a:t>comprobado,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0" dirty="0">
                <a:solidFill>
                  <a:srgbClr val="3E3E3E"/>
                </a:solidFill>
                <a:latin typeface="Arial MT"/>
                <a:cs typeface="Arial MT"/>
              </a:rPr>
              <a:t>por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0" dirty="0">
                <a:solidFill>
                  <a:srgbClr val="3E3E3E"/>
                </a:solidFill>
                <a:latin typeface="Arial MT"/>
                <a:cs typeface="Arial MT"/>
              </a:rPr>
              <a:t>ejemplo,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mejor </a:t>
            </a:r>
            <a:r>
              <a:rPr sz="1700" spc="114" dirty="0">
                <a:solidFill>
                  <a:srgbClr val="3E3E3E"/>
                </a:solidFill>
                <a:latin typeface="Arial MT"/>
                <a:cs typeface="Arial MT"/>
              </a:rPr>
              <a:t>rango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está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entre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55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70 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°C.</a:t>
            </a:r>
            <a:endParaRPr sz="1700">
              <a:latin typeface="Arial MT"/>
              <a:cs typeface="Arial MT"/>
            </a:endParaRPr>
          </a:p>
          <a:p>
            <a:pPr marL="93345">
              <a:lnSpc>
                <a:spcPct val="100000"/>
              </a:lnSpc>
              <a:spcBef>
                <a:spcPts val="635"/>
              </a:spcBef>
            </a:pPr>
            <a:r>
              <a:rPr sz="1700" spc="-50" dirty="0">
                <a:solidFill>
                  <a:srgbClr val="A53010"/>
                </a:solidFill>
                <a:latin typeface="Times New Roman"/>
                <a:cs typeface="Times New Roman"/>
              </a:rPr>
              <a:t>-</a:t>
            </a:r>
            <a:endParaRPr sz="1700">
              <a:latin typeface="Times New Roman"/>
              <a:cs typeface="Times New Roman"/>
            </a:endParaRPr>
          </a:p>
          <a:p>
            <a:pPr marL="394335" indent="-381635">
              <a:lnSpc>
                <a:spcPct val="100000"/>
              </a:lnSpc>
              <a:spcBef>
                <a:spcPts val="620"/>
              </a:spcBef>
              <a:buClr>
                <a:srgbClr val="A53010"/>
              </a:buClr>
              <a:buChar char="□"/>
              <a:tabLst>
                <a:tab pos="394335" algn="l"/>
              </a:tabLst>
            </a:pPr>
            <a:r>
              <a:rPr sz="2000" spc="-295" dirty="0">
                <a:solidFill>
                  <a:srgbClr val="3E3E3E"/>
                </a:solidFill>
                <a:latin typeface="Arial Black"/>
                <a:cs typeface="Arial Black"/>
              </a:rPr>
              <a:t>PLA</a:t>
            </a:r>
            <a:r>
              <a:rPr sz="20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2000" spc="-120" dirty="0">
                <a:solidFill>
                  <a:srgbClr val="3E3E3E"/>
                </a:solidFill>
                <a:latin typeface="Arial Black"/>
                <a:cs typeface="Arial Black"/>
              </a:rPr>
              <a:t>+,</a:t>
            </a:r>
            <a:r>
              <a:rPr sz="2000" spc="-7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00" dirty="0">
                <a:solidFill>
                  <a:srgbClr val="3E3E3E"/>
                </a:solidFill>
                <a:latin typeface="Arial MT"/>
                <a:cs typeface="Arial MT"/>
              </a:rPr>
              <a:t>sus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50" dirty="0">
                <a:solidFill>
                  <a:srgbClr val="3E3E3E"/>
                </a:solidFill>
                <a:latin typeface="Arial MT"/>
                <a:cs typeface="Arial MT"/>
              </a:rPr>
              <a:t>capacidades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son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0" dirty="0">
                <a:solidFill>
                  <a:srgbClr val="3E3E3E"/>
                </a:solidFill>
                <a:latin typeface="Arial MT"/>
                <a:cs typeface="Arial MT"/>
              </a:rPr>
              <a:t>notablemente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superiores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las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0" dirty="0">
                <a:solidFill>
                  <a:srgbClr val="3E3E3E"/>
                </a:solidFill>
                <a:latin typeface="Arial MT"/>
                <a:cs typeface="Arial MT"/>
              </a:rPr>
              <a:t>del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3E3E3E"/>
                </a:solidFill>
                <a:latin typeface="Arial MT"/>
                <a:cs typeface="Arial MT"/>
              </a:rPr>
              <a:t>PLA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común;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0" dirty="0">
                <a:solidFill>
                  <a:srgbClr val="3E3E3E"/>
                </a:solidFill>
                <a:latin typeface="Arial MT"/>
                <a:cs typeface="Arial MT"/>
              </a:rPr>
              <a:t>tiene</a:t>
            </a:r>
            <a:endParaRPr sz="1700">
              <a:latin typeface="Arial MT"/>
              <a:cs typeface="Arial MT"/>
            </a:endParaRPr>
          </a:p>
          <a:p>
            <a:pPr marL="394335" marR="567690">
              <a:lnSpc>
                <a:spcPct val="131000"/>
              </a:lnSpc>
              <a:spcBef>
                <a:spcPts val="120"/>
              </a:spcBef>
            </a:pP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resistencia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4" dirty="0">
                <a:solidFill>
                  <a:srgbClr val="3E3E3E"/>
                </a:solidFill>
                <a:latin typeface="Arial MT"/>
                <a:cs typeface="Arial MT"/>
              </a:rPr>
              <a:t>térmica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0" dirty="0">
                <a:solidFill>
                  <a:srgbClr val="3E3E3E"/>
                </a:solidFill>
                <a:latin typeface="Arial MT"/>
                <a:cs typeface="Arial MT"/>
              </a:rPr>
              <a:t>algo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superior,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5" dirty="0">
                <a:solidFill>
                  <a:srgbClr val="3E3E3E"/>
                </a:solidFill>
                <a:latin typeface="Arial MT"/>
                <a:cs typeface="Arial MT"/>
              </a:rPr>
              <a:t>pudiendo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 llegar </a:t>
            </a:r>
            <a:r>
              <a:rPr sz="1700" spc="215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3E3E3E"/>
                </a:solidFill>
                <a:latin typeface="Arial MT"/>
                <a:cs typeface="Arial MT"/>
              </a:rPr>
              <a:t>resistir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temperaturas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60" dirty="0">
                <a:solidFill>
                  <a:srgbClr val="3E3E3E"/>
                </a:solidFill>
                <a:latin typeface="Arial MT"/>
                <a:cs typeface="Arial MT"/>
              </a:rPr>
              <a:t>de 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hasta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70º.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Tipos</a:t>
            </a:r>
            <a:r>
              <a:rPr spc="-110" dirty="0"/>
              <a:t> </a:t>
            </a:r>
            <a:r>
              <a:rPr spc="395" dirty="0"/>
              <a:t>de</a:t>
            </a:r>
            <a:r>
              <a:rPr spc="-105" dirty="0"/>
              <a:t> </a:t>
            </a:r>
            <a:r>
              <a:rPr spc="170" dirty="0"/>
              <a:t>filamento.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3013" y="1110777"/>
            <a:ext cx="9387840" cy="51701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94335" marR="12065" indent="-382270">
              <a:lnSpc>
                <a:spcPct val="130300"/>
              </a:lnSpc>
              <a:spcBef>
                <a:spcPts val="260"/>
              </a:spcBef>
              <a:buClr>
                <a:srgbClr val="A53010"/>
              </a:buClr>
              <a:buChar char="□"/>
              <a:tabLst>
                <a:tab pos="394335" algn="l"/>
              </a:tabLst>
            </a:pPr>
            <a:r>
              <a:rPr sz="2000" spc="-254" dirty="0">
                <a:solidFill>
                  <a:srgbClr val="3E3E3E"/>
                </a:solidFill>
                <a:latin typeface="Arial Black"/>
                <a:cs typeface="Arial Black"/>
              </a:rPr>
              <a:t>ABS,</a:t>
            </a:r>
            <a:r>
              <a:rPr sz="2000" spc="-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45" dirty="0">
                <a:solidFill>
                  <a:srgbClr val="3E3E3E"/>
                </a:solidFill>
                <a:latin typeface="Arial MT"/>
                <a:cs typeface="Arial MT"/>
              </a:rPr>
              <a:t>acrilonitrilo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0" dirty="0">
                <a:solidFill>
                  <a:srgbClr val="3E3E3E"/>
                </a:solidFill>
                <a:latin typeface="Arial MT"/>
                <a:cs typeface="Arial MT"/>
              </a:rPr>
              <a:t>butadieno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estireno,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lo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un</a:t>
            </a:r>
            <a:r>
              <a:rPr sz="1700" spc="2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polímero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termoplástico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común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usado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0" dirty="0">
                <a:solidFill>
                  <a:srgbClr val="3E3E3E"/>
                </a:solidFill>
                <a:latin typeface="Arial MT"/>
                <a:cs typeface="Arial MT"/>
              </a:rPr>
              <a:t>normalmente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moldeado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impresoras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3D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0" dirty="0">
                <a:solidFill>
                  <a:srgbClr val="3E3E3E"/>
                </a:solidFill>
                <a:latin typeface="Arial MT"/>
                <a:cs typeface="Arial MT"/>
              </a:rPr>
              <a:t>por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inyección.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22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un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plástico </a:t>
            </a:r>
            <a:r>
              <a:rPr sz="1700" spc="204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base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7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0" dirty="0">
                <a:solidFill>
                  <a:srgbClr val="3E3E3E"/>
                </a:solidFill>
                <a:latin typeface="Arial MT"/>
                <a:cs typeface="Arial MT"/>
              </a:rPr>
              <a:t>aceite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fuerte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resistente,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5" dirty="0">
                <a:solidFill>
                  <a:srgbClr val="3E3E3E"/>
                </a:solidFill>
                <a:latin typeface="Arial MT"/>
                <a:cs typeface="Arial MT"/>
              </a:rPr>
              <a:t>pero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0" dirty="0">
                <a:solidFill>
                  <a:srgbClr val="3E3E3E"/>
                </a:solidFill>
                <a:latin typeface="Arial MT"/>
                <a:cs typeface="Arial MT"/>
              </a:rPr>
              <a:t>no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0" dirty="0">
                <a:solidFill>
                  <a:srgbClr val="3E3E3E"/>
                </a:solidFill>
                <a:latin typeface="Arial MT"/>
                <a:cs typeface="Arial MT"/>
              </a:rPr>
              <a:t>tan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0" dirty="0">
                <a:solidFill>
                  <a:srgbClr val="3E3E3E"/>
                </a:solidFill>
                <a:latin typeface="Arial MT"/>
                <a:cs typeface="Arial MT"/>
              </a:rPr>
              <a:t>ecológico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80" dirty="0">
                <a:solidFill>
                  <a:srgbClr val="3E3E3E"/>
                </a:solidFill>
                <a:latin typeface="Arial MT"/>
                <a:cs typeface="Arial MT"/>
              </a:rPr>
              <a:t>como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PLA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debido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204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su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composición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7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plástico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204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base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7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aceite.</a:t>
            </a:r>
            <a:endParaRPr sz="1700">
              <a:latin typeface="Arial MT"/>
              <a:cs typeface="Arial MT"/>
            </a:endParaRPr>
          </a:p>
          <a:p>
            <a:pPr marL="394335" indent="-300990">
              <a:lnSpc>
                <a:spcPct val="100000"/>
              </a:lnSpc>
              <a:spcBef>
                <a:spcPts val="625"/>
              </a:spcBef>
              <a:buClr>
                <a:srgbClr val="A53010"/>
              </a:buClr>
              <a:buFont typeface="Times New Roman"/>
              <a:buChar char="-"/>
              <a:tabLst>
                <a:tab pos="394335" algn="l"/>
              </a:tabLst>
            </a:pPr>
            <a:r>
              <a:rPr sz="1700" spc="-254" dirty="0">
                <a:solidFill>
                  <a:srgbClr val="3E3E3E"/>
                </a:solidFill>
                <a:latin typeface="Arial Black"/>
                <a:cs typeface="Arial Black"/>
              </a:rPr>
              <a:t>El</a:t>
            </a:r>
            <a:r>
              <a:rPr sz="1700" spc="-9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rango </a:t>
            </a:r>
            <a:r>
              <a:rPr sz="17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25" dirty="0">
                <a:solidFill>
                  <a:srgbClr val="3E3E3E"/>
                </a:solidFill>
                <a:latin typeface="Arial Black"/>
                <a:cs typeface="Arial Black"/>
              </a:rPr>
              <a:t>temperatura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30" dirty="0">
                <a:solidFill>
                  <a:srgbClr val="3E3E3E"/>
                </a:solidFill>
                <a:latin typeface="Arial Black"/>
                <a:cs typeface="Arial Black"/>
              </a:rPr>
              <a:t>impresión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está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entre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230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260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ºC.</a:t>
            </a:r>
            <a:endParaRPr sz="1700">
              <a:latin typeface="Arial MT"/>
              <a:cs typeface="Arial MT"/>
            </a:endParaRPr>
          </a:p>
          <a:p>
            <a:pPr marL="394335" marR="5080" indent="-301625">
              <a:lnSpc>
                <a:spcPct val="131000"/>
              </a:lnSpc>
              <a:buClr>
                <a:srgbClr val="A53010"/>
              </a:buClr>
              <a:buFont typeface="Times New Roman"/>
              <a:buChar char="-"/>
              <a:tabLst>
                <a:tab pos="394335" algn="l"/>
              </a:tabLst>
            </a:pPr>
            <a:r>
              <a:rPr sz="1700" spc="-215" dirty="0">
                <a:solidFill>
                  <a:srgbClr val="3E3E3E"/>
                </a:solidFill>
                <a:latin typeface="Arial Black"/>
                <a:cs typeface="Arial Black"/>
              </a:rPr>
              <a:t>La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25" dirty="0">
                <a:solidFill>
                  <a:srgbClr val="3E3E3E"/>
                </a:solidFill>
                <a:latin typeface="Arial Black"/>
                <a:cs typeface="Arial Black"/>
              </a:rPr>
              <a:t>temperatura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30" dirty="0">
                <a:solidFill>
                  <a:srgbClr val="3E3E3E"/>
                </a:solidFill>
                <a:latin typeface="Arial Black"/>
                <a:cs typeface="Arial Black"/>
              </a:rPr>
              <a:t>de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95" dirty="0">
                <a:solidFill>
                  <a:srgbClr val="3E3E3E"/>
                </a:solidFill>
                <a:latin typeface="Arial Black"/>
                <a:cs typeface="Arial Black"/>
              </a:rPr>
              <a:t>la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45" dirty="0">
                <a:solidFill>
                  <a:srgbClr val="3E3E3E"/>
                </a:solidFill>
                <a:latin typeface="Arial Black"/>
                <a:cs typeface="Arial Black"/>
              </a:rPr>
              <a:t>cama</a:t>
            </a:r>
            <a:r>
              <a:rPr sz="1700" spc="-85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10" dirty="0">
                <a:solidFill>
                  <a:srgbClr val="3E3E3E"/>
                </a:solidFill>
                <a:latin typeface="Arial Black"/>
                <a:cs typeface="Arial Black"/>
              </a:rPr>
              <a:t>caliente</a:t>
            </a:r>
            <a:r>
              <a:rPr sz="1700" spc="-8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165" dirty="0">
                <a:solidFill>
                  <a:srgbClr val="3E3E3E"/>
                </a:solidFill>
                <a:latin typeface="Arial MT"/>
                <a:cs typeface="Arial MT"/>
              </a:rPr>
              <a:t>recomendada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120" dirty="0">
                <a:solidFill>
                  <a:srgbClr val="3E3E3E"/>
                </a:solidFill>
                <a:latin typeface="Arial MT"/>
                <a:cs typeface="Arial MT"/>
              </a:rPr>
              <a:t>ABS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8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100º,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4" dirty="0">
                <a:solidFill>
                  <a:srgbClr val="3E3E3E"/>
                </a:solidFill>
                <a:latin typeface="Arial MT"/>
                <a:cs typeface="Arial MT"/>
              </a:rPr>
              <a:t>pero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este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ajuste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65" dirty="0">
                <a:solidFill>
                  <a:srgbClr val="3E3E3E"/>
                </a:solidFill>
                <a:latin typeface="Arial MT"/>
                <a:cs typeface="Arial MT"/>
              </a:rPr>
              <a:t>puede</a:t>
            </a:r>
            <a:r>
              <a:rPr sz="17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variar</a:t>
            </a:r>
            <a:r>
              <a:rPr sz="17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entre</a:t>
            </a:r>
            <a:r>
              <a:rPr sz="17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17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80º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130ºC.</a:t>
            </a:r>
            <a:endParaRPr sz="1700">
              <a:latin typeface="Arial MT"/>
              <a:cs typeface="Arial MT"/>
            </a:endParaRPr>
          </a:p>
          <a:p>
            <a:pPr marL="394335" indent="-300990">
              <a:lnSpc>
                <a:spcPct val="100000"/>
              </a:lnSpc>
              <a:spcBef>
                <a:spcPts val="635"/>
              </a:spcBef>
              <a:buClr>
                <a:srgbClr val="A53010"/>
              </a:buClr>
              <a:buFont typeface="Times New Roman"/>
              <a:buChar char="-"/>
              <a:tabLst>
                <a:tab pos="394335" algn="l"/>
              </a:tabLst>
            </a:pP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Emite</a:t>
            </a:r>
            <a:r>
              <a:rPr sz="17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gases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3E3E3E"/>
                </a:solidFill>
                <a:latin typeface="Arial MT"/>
                <a:cs typeface="Arial MT"/>
              </a:rPr>
              <a:t>tóxicos,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se</a:t>
            </a:r>
            <a:r>
              <a:rPr sz="17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recomienda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ventilar</a:t>
            </a:r>
            <a:r>
              <a:rPr sz="17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3E3E3E"/>
                </a:solidFill>
                <a:latin typeface="Arial MT"/>
                <a:cs typeface="Arial MT"/>
              </a:rPr>
              <a:t>zona.</a:t>
            </a:r>
            <a:endParaRPr sz="1700">
              <a:latin typeface="Arial MT"/>
              <a:cs typeface="Arial MT"/>
            </a:endParaRPr>
          </a:p>
          <a:p>
            <a:pPr marL="394335" indent="-300990">
              <a:lnSpc>
                <a:spcPct val="100000"/>
              </a:lnSpc>
              <a:spcBef>
                <a:spcPts val="630"/>
              </a:spcBef>
              <a:buClr>
                <a:srgbClr val="A53010"/>
              </a:buClr>
              <a:buFont typeface="Times New Roman"/>
              <a:buChar char="-"/>
              <a:tabLst>
                <a:tab pos="394335" algn="l"/>
              </a:tabLst>
            </a:pP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Se</a:t>
            </a:r>
            <a:r>
              <a:rPr sz="1700" spc="-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recomienda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una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impresora</a:t>
            </a:r>
            <a:r>
              <a:rPr sz="17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0" dirty="0">
                <a:solidFill>
                  <a:srgbClr val="3E3E3E"/>
                </a:solidFill>
                <a:latin typeface="Arial MT"/>
                <a:cs typeface="Arial MT"/>
              </a:rPr>
              <a:t>cerrada.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700">
              <a:latin typeface="Arial MT"/>
              <a:cs typeface="Arial MT"/>
            </a:endParaRPr>
          </a:p>
          <a:p>
            <a:pPr marL="394335" marR="139065" indent="-382270">
              <a:lnSpc>
                <a:spcPct val="130300"/>
              </a:lnSpc>
              <a:buClr>
                <a:srgbClr val="A53010"/>
              </a:buClr>
              <a:buFont typeface="Lucida Sans Unicode"/>
              <a:buChar char="□"/>
              <a:tabLst>
                <a:tab pos="394335" algn="l"/>
              </a:tabLst>
            </a:pPr>
            <a:r>
              <a:rPr sz="2000" spc="-150" dirty="0">
                <a:solidFill>
                  <a:srgbClr val="3E3E3E"/>
                </a:solidFill>
                <a:latin typeface="Arial Black"/>
                <a:cs typeface="Arial Black"/>
              </a:rPr>
              <a:t>Diferencias:</a:t>
            </a:r>
            <a:r>
              <a:rPr sz="2000" spc="-70" dirty="0">
                <a:solidFill>
                  <a:srgbClr val="3E3E3E"/>
                </a:solidFill>
                <a:latin typeface="Arial Black"/>
                <a:cs typeface="Arial Black"/>
              </a:rPr>
              <a:t> </a:t>
            </a:r>
            <a:r>
              <a:rPr sz="1700" spc="-14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3E3E3E"/>
                </a:solidFill>
                <a:latin typeface="Arial MT"/>
                <a:cs typeface="Arial MT"/>
              </a:rPr>
              <a:t>PLA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más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fuerte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3E3E3E"/>
                </a:solidFill>
                <a:latin typeface="Arial MT"/>
                <a:cs typeface="Arial MT"/>
              </a:rPr>
              <a:t>rígido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120" dirty="0">
                <a:solidFill>
                  <a:srgbClr val="3E3E3E"/>
                </a:solidFill>
                <a:latin typeface="Arial MT"/>
                <a:cs typeface="Arial MT"/>
              </a:rPr>
              <a:t>ABS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pero,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0" dirty="0">
                <a:solidFill>
                  <a:srgbClr val="3E3E3E"/>
                </a:solidFill>
                <a:latin typeface="Arial MT"/>
                <a:cs typeface="Arial MT"/>
              </a:rPr>
              <a:t>por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su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baja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resistencia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al 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calor,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sobre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50" dirty="0">
                <a:solidFill>
                  <a:srgbClr val="3E3E3E"/>
                </a:solidFill>
                <a:latin typeface="Arial MT"/>
                <a:cs typeface="Arial MT"/>
              </a:rPr>
              <a:t>todo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se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considera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un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material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5" dirty="0">
                <a:solidFill>
                  <a:srgbClr val="3E3E3E"/>
                </a:solidFill>
                <a:latin typeface="Arial MT"/>
                <a:cs typeface="Arial MT"/>
              </a:rPr>
              <a:t>aficionados.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145" dirty="0">
                <a:solidFill>
                  <a:srgbClr val="3E3E3E"/>
                </a:solidFill>
                <a:latin typeface="Arial MT"/>
                <a:cs typeface="Arial MT"/>
              </a:rPr>
              <a:t>El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120" dirty="0">
                <a:solidFill>
                  <a:srgbClr val="3E3E3E"/>
                </a:solidFill>
                <a:latin typeface="Arial MT"/>
                <a:cs typeface="Arial MT"/>
              </a:rPr>
              <a:t>ABS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más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débil</a:t>
            </a:r>
            <a:r>
              <a:rPr sz="1700" spc="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y </a:t>
            </a:r>
            <a:r>
              <a:rPr sz="1700" spc="65" dirty="0">
                <a:solidFill>
                  <a:srgbClr val="3E3E3E"/>
                </a:solidFill>
                <a:latin typeface="Arial MT"/>
                <a:cs typeface="Arial MT"/>
              </a:rPr>
              <a:t>menos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rígido,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5" dirty="0">
                <a:solidFill>
                  <a:srgbClr val="3E3E3E"/>
                </a:solidFill>
                <a:latin typeface="Arial MT"/>
                <a:cs typeface="Arial MT"/>
              </a:rPr>
              <a:t>pero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también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más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resistente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y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45" dirty="0">
                <a:solidFill>
                  <a:srgbClr val="3E3E3E"/>
                </a:solidFill>
                <a:latin typeface="Arial MT"/>
                <a:cs typeface="Arial MT"/>
              </a:rPr>
              <a:t>ligero,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lo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3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lo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convierte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3E3E3E"/>
                </a:solidFill>
                <a:latin typeface="Arial MT"/>
                <a:cs typeface="Arial MT"/>
              </a:rPr>
              <a:t>un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plástico más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80" dirty="0">
                <a:solidFill>
                  <a:srgbClr val="3E3E3E"/>
                </a:solidFill>
                <a:latin typeface="Arial MT"/>
                <a:cs typeface="Arial MT"/>
              </a:rPr>
              <a:t>adecuado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5" dirty="0">
                <a:solidFill>
                  <a:srgbClr val="3E3E3E"/>
                </a:solidFill>
                <a:latin typeface="Arial MT"/>
                <a:cs typeface="Arial MT"/>
              </a:rPr>
              <a:t>aplicaciones</a:t>
            </a:r>
            <a:r>
              <a:rPr sz="1700" spc="1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7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5" dirty="0">
                <a:solidFill>
                  <a:srgbClr val="3E3E3E"/>
                </a:solidFill>
                <a:latin typeface="Arial MT"/>
                <a:cs typeface="Arial MT"/>
              </a:rPr>
              <a:t>prototipado.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878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Fijador</a:t>
            </a:r>
            <a:r>
              <a:rPr spc="10" dirty="0"/>
              <a:t> </a:t>
            </a:r>
            <a:r>
              <a:rPr spc="160" dirty="0"/>
              <a:t>Adhesivo</a:t>
            </a:r>
            <a:r>
              <a:rPr spc="10" dirty="0"/>
              <a:t> </a:t>
            </a:r>
            <a:r>
              <a:rPr spc="120" dirty="0"/>
              <a:t>Impresora</a:t>
            </a:r>
            <a:r>
              <a:rPr spc="10" dirty="0"/>
              <a:t> </a:t>
            </a:r>
            <a:r>
              <a:rPr spc="-25" dirty="0"/>
              <a:t>3D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04149" y="1073169"/>
            <a:ext cx="7153275" cy="10928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-22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la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solución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215" dirty="0">
                <a:solidFill>
                  <a:srgbClr val="3E3E3E"/>
                </a:solidFill>
                <a:latin typeface="Arial MT"/>
                <a:cs typeface="Arial MT"/>
              </a:rPr>
              <a:t>a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los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90" dirty="0">
                <a:solidFill>
                  <a:srgbClr val="3E3E3E"/>
                </a:solidFill>
                <a:latin typeface="Arial MT"/>
                <a:cs typeface="Arial MT"/>
              </a:rPr>
              <a:t>problemas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8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80" dirty="0">
                <a:solidFill>
                  <a:srgbClr val="3E3E3E"/>
                </a:solidFill>
                <a:latin typeface="Arial MT"/>
                <a:cs typeface="Arial MT"/>
              </a:rPr>
              <a:t>adhesión</a:t>
            </a:r>
            <a:r>
              <a:rPr sz="1700" spc="3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tus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impresiones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3E3E3E"/>
                </a:solidFill>
                <a:latin typeface="Arial MT"/>
                <a:cs typeface="Arial MT"/>
              </a:rPr>
              <a:t>3D.</a:t>
            </a:r>
            <a:endParaRPr sz="1700">
              <a:latin typeface="Arial MT"/>
              <a:cs typeface="Arial MT"/>
            </a:endParaRPr>
          </a:p>
          <a:p>
            <a:pPr marL="12700" marR="5080">
              <a:lnSpc>
                <a:spcPct val="131000"/>
              </a:lnSpc>
              <a:spcBef>
                <a:spcPts val="1005"/>
              </a:spcBef>
            </a:pPr>
            <a:r>
              <a:rPr sz="1700" spc="75" dirty="0">
                <a:solidFill>
                  <a:srgbClr val="3E3E3E"/>
                </a:solidFill>
                <a:latin typeface="Arial MT"/>
                <a:cs typeface="Arial MT"/>
              </a:rPr>
              <a:t>Diseñado</a:t>
            </a:r>
            <a:r>
              <a:rPr sz="1700" spc="5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5" dirty="0">
                <a:solidFill>
                  <a:srgbClr val="3E3E3E"/>
                </a:solidFill>
                <a:latin typeface="Arial MT"/>
                <a:cs typeface="Arial MT"/>
              </a:rPr>
              <a:t>especialmente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0" dirty="0">
                <a:solidFill>
                  <a:srgbClr val="3E3E3E"/>
                </a:solidFill>
                <a:latin typeface="Arial MT"/>
                <a:cs typeface="Arial MT"/>
              </a:rPr>
              <a:t>para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impresoras</a:t>
            </a:r>
            <a:r>
              <a:rPr sz="1700" spc="6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45" dirty="0">
                <a:solidFill>
                  <a:srgbClr val="3E3E3E"/>
                </a:solidFill>
                <a:latin typeface="Arial MT"/>
                <a:cs typeface="Arial MT"/>
              </a:rPr>
              <a:t>que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00" dirty="0">
                <a:solidFill>
                  <a:srgbClr val="3E3E3E"/>
                </a:solidFill>
                <a:latin typeface="Arial MT"/>
                <a:cs typeface="Arial MT"/>
              </a:rPr>
              <a:t>dispongan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85" dirty="0">
                <a:solidFill>
                  <a:srgbClr val="3E3E3E"/>
                </a:solidFill>
                <a:latin typeface="Arial MT"/>
                <a:cs typeface="Arial MT"/>
              </a:rPr>
              <a:t>de</a:t>
            </a:r>
            <a:r>
              <a:rPr sz="1700" spc="5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90" dirty="0">
                <a:solidFill>
                  <a:srgbClr val="3E3E3E"/>
                </a:solidFill>
                <a:latin typeface="Arial MT"/>
                <a:cs typeface="Arial MT"/>
              </a:rPr>
              <a:t>cama </a:t>
            </a:r>
            <a:r>
              <a:rPr sz="1700" spc="110" dirty="0">
                <a:solidFill>
                  <a:srgbClr val="3E3E3E"/>
                </a:solidFill>
                <a:latin typeface="Arial MT"/>
                <a:cs typeface="Arial MT"/>
              </a:rPr>
              <a:t>caliente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50" dirty="0">
                <a:solidFill>
                  <a:srgbClr val="3E3E3E"/>
                </a:solidFill>
                <a:latin typeface="Arial MT"/>
                <a:cs typeface="Arial MT"/>
              </a:rPr>
              <a:t>“Heated</a:t>
            </a:r>
            <a:r>
              <a:rPr sz="17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0" dirty="0">
                <a:solidFill>
                  <a:srgbClr val="3E3E3E"/>
                </a:solidFill>
                <a:latin typeface="Arial MT"/>
                <a:cs typeface="Arial MT"/>
              </a:rPr>
              <a:t>Bed”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14" dirty="0">
                <a:solidFill>
                  <a:srgbClr val="3E3E3E"/>
                </a:solidFill>
                <a:latin typeface="Arial MT"/>
                <a:cs typeface="Arial MT"/>
              </a:rPr>
              <a:t>pero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5" dirty="0">
                <a:solidFill>
                  <a:srgbClr val="3E3E3E"/>
                </a:solidFill>
                <a:latin typeface="Arial MT"/>
                <a:cs typeface="Arial MT"/>
              </a:rPr>
              <a:t>también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es</a:t>
            </a:r>
            <a:r>
              <a:rPr sz="17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útil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120" dirty="0">
                <a:solidFill>
                  <a:srgbClr val="3E3E3E"/>
                </a:solidFill>
                <a:latin typeface="Arial MT"/>
                <a:cs typeface="Arial MT"/>
              </a:rPr>
              <a:t>en</a:t>
            </a:r>
            <a:r>
              <a:rPr sz="1700" spc="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E3E3E"/>
                </a:solidFill>
                <a:latin typeface="Arial MT"/>
                <a:cs typeface="Arial MT"/>
              </a:rPr>
              <a:t>impresoras</a:t>
            </a:r>
            <a:r>
              <a:rPr sz="1700" spc="4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3E3E3E"/>
                </a:solidFill>
                <a:latin typeface="Arial MT"/>
                <a:cs typeface="Arial MT"/>
              </a:rPr>
              <a:t>sin</a:t>
            </a:r>
            <a:r>
              <a:rPr sz="1700" spc="3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700" spc="45" dirty="0">
                <a:solidFill>
                  <a:srgbClr val="3E3E3E"/>
                </a:solidFill>
                <a:latin typeface="Arial MT"/>
                <a:cs typeface="Arial MT"/>
              </a:rPr>
              <a:t>ella.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4149" y="2696238"/>
            <a:ext cx="1112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3DLAC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Spray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3525" y="3148800"/>
            <a:ext cx="652075" cy="3256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0300" y="3106775"/>
            <a:ext cx="711094" cy="33406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80100" y="2696238"/>
            <a:ext cx="85534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Laca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Nelly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7949" y="1256217"/>
            <a:ext cx="6068060" cy="518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CREALITY</a:t>
            </a:r>
            <a:r>
              <a:rPr sz="1800" b="1" spc="-7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202124"/>
                </a:solidFill>
                <a:latin typeface="Arial"/>
                <a:cs typeface="Arial"/>
              </a:rPr>
              <a:t>200B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51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Tipo</a:t>
            </a:r>
            <a:r>
              <a:rPr sz="1800" b="1" spc="-4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4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extrusión</a:t>
            </a:r>
            <a:r>
              <a:rPr sz="1800" dirty="0">
                <a:solidFill>
                  <a:srgbClr val="202124"/>
                </a:solidFill>
                <a:latin typeface="Arial MT"/>
                <a:cs typeface="Arial MT"/>
              </a:rPr>
              <a:t>:</a:t>
            </a:r>
            <a:r>
              <a:rPr sz="1800" spc="-4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4"/>
                </a:solidFill>
                <a:latin typeface="Arial MT"/>
                <a:cs typeface="Arial MT"/>
              </a:rPr>
              <a:t>Sistema</a:t>
            </a:r>
            <a:r>
              <a:rPr sz="1800" spc="-4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Bowden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Extrusor:</a:t>
            </a:r>
            <a:r>
              <a:rPr sz="1800" b="1" spc="50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202124"/>
                </a:solidFill>
                <a:latin typeface="Arial MT"/>
                <a:cs typeface="Arial MT"/>
              </a:rPr>
              <a:t>Mk8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  <a:tab pos="3016885" algn="l"/>
              </a:tabLst>
            </a:pPr>
            <a:r>
              <a:rPr sz="1800" b="1" spc="-10" dirty="0">
                <a:solidFill>
                  <a:srgbClr val="202124"/>
                </a:solidFill>
                <a:latin typeface="Arial"/>
                <a:cs typeface="Arial"/>
              </a:rPr>
              <a:t>Volumen</a:t>
            </a:r>
            <a:r>
              <a:rPr sz="1800" b="1" spc="-6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6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202124"/>
                </a:solidFill>
                <a:latin typeface="Arial"/>
                <a:cs typeface="Arial"/>
              </a:rPr>
              <a:t>impresión: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200x200x200mm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202124"/>
                </a:solidFill>
                <a:latin typeface="Arial"/>
                <a:cs typeface="Arial"/>
              </a:rPr>
              <a:t>Volumen</a:t>
            </a:r>
            <a:r>
              <a:rPr sz="1800" b="1" spc="-3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la</a:t>
            </a:r>
            <a:r>
              <a:rPr sz="1800" b="1" spc="-3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impresora:</a:t>
            </a:r>
            <a:r>
              <a:rPr sz="1800" b="1" spc="-1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411x435x503mm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202124"/>
                </a:solidFill>
                <a:latin typeface="Arial"/>
                <a:cs typeface="Arial"/>
              </a:rPr>
              <a:t>Temperatura</a:t>
            </a:r>
            <a:r>
              <a:rPr sz="1800" b="1" spc="-6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máxima</a:t>
            </a:r>
            <a:r>
              <a:rPr sz="1800" b="1" spc="-6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boquilla:</a:t>
            </a:r>
            <a:r>
              <a:rPr sz="1800" b="1" spc="-6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250ºC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202124"/>
                </a:solidFill>
                <a:latin typeface="Arial"/>
                <a:cs typeface="Arial"/>
              </a:rPr>
              <a:t>Temperatura</a:t>
            </a:r>
            <a:r>
              <a:rPr sz="1800" b="1" spc="-4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máxima</a:t>
            </a:r>
            <a:r>
              <a:rPr sz="1800" b="1" spc="-4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cama:</a:t>
            </a:r>
            <a:r>
              <a:rPr sz="1800" b="1" spc="-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100ºC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202124"/>
                </a:solidFill>
                <a:latin typeface="Arial"/>
                <a:cs typeface="Arial"/>
              </a:rPr>
              <a:t>Velocidad</a:t>
            </a:r>
            <a:r>
              <a:rPr sz="1800" b="1" spc="-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impresión</a:t>
            </a:r>
            <a:r>
              <a:rPr sz="1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máxima:</a:t>
            </a:r>
            <a:r>
              <a:rPr sz="1800" b="1" spc="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100mm/s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Precisión</a:t>
            </a:r>
            <a:r>
              <a:rPr sz="1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impresión,</a:t>
            </a:r>
            <a:r>
              <a:rPr sz="1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grosor</a:t>
            </a:r>
            <a:r>
              <a:rPr sz="1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capa:</a:t>
            </a:r>
            <a:r>
              <a:rPr sz="1800" b="1" spc="1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0.1mm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Sensor</a:t>
            </a:r>
            <a:r>
              <a:rPr sz="1800" b="1" spc="-1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1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filamento:</a:t>
            </a:r>
            <a:r>
              <a:rPr sz="1800" b="1" spc="-1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202124"/>
                </a:solidFill>
                <a:latin typeface="Arial MT"/>
                <a:cs typeface="Arial MT"/>
              </a:rPr>
              <a:t>si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Recuperación</a:t>
            </a:r>
            <a:r>
              <a:rPr sz="1800" b="1" spc="-3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la</a:t>
            </a:r>
            <a:r>
              <a:rPr sz="1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impresión:</a:t>
            </a:r>
            <a:r>
              <a:rPr sz="1800" b="1" spc="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202124"/>
                </a:solidFill>
                <a:latin typeface="Arial MT"/>
                <a:cs typeface="Arial MT"/>
              </a:rPr>
              <a:t>si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Diámetro</a:t>
            </a:r>
            <a:r>
              <a:rPr sz="1800" b="1" spc="-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1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filamento: </a:t>
            </a:r>
            <a:r>
              <a:rPr sz="1800" dirty="0">
                <a:solidFill>
                  <a:srgbClr val="202124"/>
                </a:solidFill>
                <a:latin typeface="Arial MT"/>
                <a:cs typeface="Arial MT"/>
              </a:rPr>
              <a:t>1.75</a:t>
            </a:r>
            <a:r>
              <a:rPr sz="1800" spc="-1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02124"/>
                </a:solidFill>
                <a:latin typeface="Arial MT"/>
                <a:cs typeface="Arial MT"/>
              </a:rPr>
              <a:t>mm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Diámetro</a:t>
            </a:r>
            <a:r>
              <a:rPr sz="1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del</a:t>
            </a:r>
            <a:r>
              <a:rPr sz="1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Nozzle: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0.4mm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Filamentos</a:t>
            </a:r>
            <a:r>
              <a:rPr sz="1800" b="1" spc="-3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compatibles:</a:t>
            </a:r>
            <a:r>
              <a:rPr sz="1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02124"/>
                </a:solidFill>
                <a:latin typeface="Arial MT"/>
                <a:cs typeface="Arial MT"/>
              </a:rPr>
              <a:t>PLA,</a:t>
            </a:r>
            <a:r>
              <a:rPr sz="1800" spc="-12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4"/>
                </a:solidFill>
                <a:latin typeface="Arial MT"/>
                <a:cs typeface="Arial MT"/>
              </a:rPr>
              <a:t>ABS,</a:t>
            </a:r>
            <a:r>
              <a:rPr sz="1800" spc="-2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4"/>
                </a:solidFill>
                <a:latin typeface="Arial MT"/>
                <a:cs typeface="Arial MT"/>
              </a:rPr>
              <a:t>PETG,</a:t>
            </a:r>
            <a:r>
              <a:rPr sz="1800" spc="-20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flexibles…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Archivos</a:t>
            </a:r>
            <a:r>
              <a:rPr sz="1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compatibles:</a:t>
            </a:r>
            <a:r>
              <a:rPr sz="1800" b="1" spc="-1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Gcode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202124"/>
                </a:solidFill>
                <a:latin typeface="Arial"/>
                <a:cs typeface="Arial"/>
              </a:rPr>
              <a:t>Nivelación:</a:t>
            </a:r>
            <a:r>
              <a:rPr sz="1800" b="1" spc="-5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02124"/>
                </a:solidFill>
                <a:latin typeface="Arial MT"/>
                <a:cs typeface="Arial MT"/>
              </a:rPr>
              <a:t>Semiautomatica,</a:t>
            </a:r>
            <a:r>
              <a:rPr sz="1800" spc="-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4"/>
                </a:solidFill>
                <a:latin typeface="Arial MT"/>
                <a:cs typeface="Arial MT"/>
              </a:rPr>
              <a:t>manual</a:t>
            </a:r>
            <a:r>
              <a:rPr sz="1800" spc="-35" dirty="0">
                <a:solidFill>
                  <a:srgbClr val="20212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02124"/>
                </a:solidFill>
                <a:latin typeface="Arial MT"/>
                <a:cs typeface="Arial MT"/>
              </a:rPr>
              <a:t>asistida.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6074" y="1686300"/>
            <a:ext cx="3817349" cy="4080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1349</Words>
  <Application>Microsoft Office PowerPoint</Application>
  <PresentationFormat>Panorámica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Arial MT</vt:lpstr>
      <vt:lpstr>Lucida Sans Unicode</vt:lpstr>
      <vt:lpstr>Times New Roman</vt:lpstr>
      <vt:lpstr>Office Theme</vt:lpstr>
      <vt:lpstr>TALLER IMPRESIÓN 3D</vt:lpstr>
      <vt:lpstr>Presentación de PowerPoint</vt:lpstr>
      <vt:lpstr>Calibración de la impresora 3D</vt:lpstr>
      <vt:lpstr>Nivelación de la cama</vt:lpstr>
      <vt:lpstr>Nivelación de la cama</vt:lpstr>
      <vt:lpstr>Pasos a seguir con los diseños y archivos</vt:lpstr>
      <vt:lpstr>Descarga de diseños.</vt:lpstr>
      <vt:lpstr>Descarga de diseños.</vt:lpstr>
      <vt:lpstr>Slicer o cortadora</vt:lpstr>
      <vt:lpstr>Descarga e instalación.</vt:lpstr>
      <vt:lpstr>Cambio de idioma.</vt:lpstr>
      <vt:lpstr>Parámetros que tenemos que cambiar.</vt:lpstr>
      <vt:lpstr>Parámetros que tenemos que cambiar.</vt:lpstr>
      <vt:lpstr>Segmentación y resultado final.</vt:lpstr>
      <vt:lpstr>Diseño 3D.</vt:lpstr>
      <vt:lpstr>Diseño 3D.</vt:lpstr>
      <vt:lpstr>Tipos de archivos</vt:lpstr>
      <vt:lpstr>Tipos de filamento.</vt:lpstr>
      <vt:lpstr>Tipos de filamento.</vt:lpstr>
      <vt:lpstr>Fijador Adhesivo Impresora 3D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IMPRESIÓN 3D.pptx</dc:title>
  <cp:lastModifiedBy>JAIME ANTONIO HUAYTALLA PARIONA</cp:lastModifiedBy>
  <cp:revision>2</cp:revision>
  <dcterms:created xsi:type="dcterms:W3CDTF">2025-06-26T02:10:46Z</dcterms:created>
  <dcterms:modified xsi:type="dcterms:W3CDTF">2025-11-03T17:57:40Z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2025-06-26T00:00:00Z</vt:filetime>
  </property>
</Properties>
</file>