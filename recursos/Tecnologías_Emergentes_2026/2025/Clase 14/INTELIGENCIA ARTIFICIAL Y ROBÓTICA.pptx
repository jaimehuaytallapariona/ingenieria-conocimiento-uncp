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73" r:id="rId3"/>
    <p:sldId id="258" r:id="rId4"/>
    <p:sldId id="272" r:id="rId5"/>
    <p:sldId id="270" r:id="rId6"/>
    <p:sldId id="271" r:id="rId7"/>
    <p:sldId id="259" r:id="rId8"/>
    <p:sldId id="276" r:id="rId9"/>
    <p:sldId id="274" r:id="rId10"/>
    <p:sldId id="277" r:id="rId11"/>
    <p:sldId id="260" r:id="rId12"/>
    <p:sldId id="261" r:id="rId13"/>
    <p:sldId id="278" r:id="rId14"/>
    <p:sldId id="263" r:id="rId15"/>
    <p:sldId id="264" r:id="rId16"/>
    <p:sldId id="279" r:id="rId17"/>
    <p:sldId id="266" r:id="rId18"/>
    <p:sldId id="280" r:id="rId19"/>
    <p:sldId id="269" r:id="rId2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A202A-9D87-4BC9-8DCE-22CBC126D7A8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3D05B-C883-43BE-B9D0-45F817A69F7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227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3D05B-C883-43BE-B9D0-45F817A69F7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7708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3D05B-C883-43BE-B9D0-45F817A69F7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180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98A52-4F74-4D61-B00D-1C950E81A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8C7AFC-8CD8-4B71-BF26-1445619BF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A8F239-8FA8-4FDC-9AF3-299EC0C4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2DD924-8A9B-4F2A-8FD5-D3BEFEC3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580A77-D310-48E8-9195-D33464E6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4765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8B575-B5BD-4718-BC6F-85E33CC35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0AD3B5-3A84-4CA5-B879-D34639C21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E6B5DF-7BCF-45F7-B70C-FA8D94954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A4A489-60E9-4F12-92CB-5CC6381A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12FEEB-4D65-4D6A-A46B-AE91ECF2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846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BB09E-40DB-4BA2-ACFC-FA845A89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141094-418A-447D-9207-BDBA71F4E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2A96A9-F324-492C-BE6D-CD9B0E66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793B6B-3CBE-4FB5-8883-90CF36EE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6726C5-7D8F-4079-9D68-896A4520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049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ADDBD-6120-49EB-96D5-75543F8C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9CF3B-77A1-4599-AB07-B475A1A7F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C98FCE8-41FE-482B-AFED-9874673E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05D8F9-1298-49F0-AD08-02E3A583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EBE966-A374-4F34-83C7-95408A52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A03D7E-22E7-49BE-801D-A81DCDB2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3591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FBB3F-05ED-4C8A-BB56-E67F2569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990FCC-1090-430A-B74C-91497F5C5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5FF669-54CC-4C26-8006-8E4DE56E5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E8B93B-B2C0-4874-B17B-1963F9BF4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375420-732F-4363-87C4-E8FF19852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5426422-7266-4764-BEF7-3679C045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D015BC-D165-4375-B02A-3B488A3E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9373D7-D014-4C4A-918D-7AF28CB3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422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2FBC5-07F7-45A6-9216-69A735BE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ECEA5E-90B9-4F72-AA78-9CD1A5E7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365B48-9FE0-4486-8D50-DD95B61F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B5122A-7976-4DCE-BD1E-D8B5805F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519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A65D96-1C9F-41ED-B5B4-D46A987D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721F23-26E5-4982-9C0C-A1D4F8009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23907B-440B-439E-B0B6-128FFD0D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605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7054E-CF08-4A27-BF74-980BE1DA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7256FC-63AF-4F83-837D-5165623DB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1E1C46-4BCE-475A-84B1-9289E3B7C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959B3F-15D6-4362-A1C8-C56EA1F5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CDA38D-7EC5-4500-8C71-7AB7BD040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972012-5D30-43DB-853A-5CBA46AC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488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F3AE0-F22B-4ADF-BAFA-C466F677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C4E27AD-7359-46F6-A1BF-87CF576B4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419D36-EB3B-4595-B9C6-A76950216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222FD3-C41E-4154-A1A3-1EECE627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80CF07-DEFE-446A-AB1D-D88DCD9B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D6BC75-6AE8-43A7-9753-BADEEC17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429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498FC-0021-49F3-96F7-BDA2D03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F885BC-53D9-40EB-9275-1C19D657C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AA8252-9818-41F7-9D4E-3F3FCE35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E989CE-B6CE-4E64-90AA-05F95219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D7555C-9F95-4339-9F43-E163C5CC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047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235FD1-39E0-4A69-BBBC-9D712ADFC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84444E-8ED6-4088-B75E-835875FAC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3002F2-0375-4767-8A78-A9C54ACE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8B5689-0850-4BF0-B4AD-46CB2EAA3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D9382D-3927-46A3-A0FE-01D691CF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1429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34EBE-7D58-4F73-90DB-06494005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6846D2-D23F-42F3-B65F-342AF30BF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240C28-9190-4BC4-B6A2-16FC26C4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89AC3-9EB3-4596-9C48-2E9E637C9CDB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1C78FF-0C3D-4EF4-94FD-EE3B785BB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255C91-8155-4DFA-8742-0247309E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B0609-C022-4E6B-886D-25A54862158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60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885BD3C-5B58-4F5B-93F4-FC97196BF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F0EF37-75D4-426E-AC93-B5B42B0A7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64C339-2484-4FC2-9846-DCC430D76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DB87F-406D-4C9B-89CA-C88D0CD6CA54}" type="datetimeFigureOut">
              <a:rPr lang="es-PE" smtClean="0"/>
              <a:t>22/08/2024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834A5-4C14-4A21-9FE3-080E131AB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0E4AD6-0528-4BE2-AEA6-0D095CCBF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3CAD4-539B-4DA8-ADF3-AD747F037E9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7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A547A-AB10-4E4B-A5C9-92DB01965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00665"/>
          </a:xfrm>
        </p:spPr>
        <p:txBody>
          <a:bodyPr/>
          <a:lstStyle/>
          <a:p>
            <a:r>
              <a:rPr lang="es-ES" dirty="0"/>
              <a:t>Inteligencia Artificial: Una Visión Integral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D242F2-2C70-4FDE-BB89-5A1DA7C88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34972"/>
            <a:ext cx="9144000" cy="2412610"/>
          </a:xfrm>
        </p:spPr>
        <p:txBody>
          <a:bodyPr>
            <a:normAutofit/>
          </a:bodyPr>
          <a:lstStyle/>
          <a:p>
            <a:r>
              <a:rPr lang="es-ES" dirty="0"/>
              <a:t>Una exploración de los conceptos, aplicaciones y oportunidades en el campo de la IA.</a:t>
            </a:r>
          </a:p>
          <a:p>
            <a:endParaRPr lang="es-ES" dirty="0"/>
          </a:p>
          <a:p>
            <a:endParaRPr lang="es-ES" dirty="0"/>
          </a:p>
          <a:p>
            <a:pPr algn="r"/>
            <a:r>
              <a:rPr lang="es-PE" b="1" i="1" dirty="0"/>
              <a:t>Línea de Investigación de AI y Automatización</a:t>
            </a:r>
          </a:p>
        </p:txBody>
      </p:sp>
    </p:spTree>
    <p:extLst>
      <p:ext uri="{BB962C8B-B14F-4D97-AF65-F5344CB8AC3E}">
        <p14:creationId xmlns:p14="http://schemas.microsoft.com/office/powerpoint/2010/main" val="269664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39B174-EEFC-4675-A23B-49DB83824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754"/>
            <a:ext cx="10515600" cy="1888246"/>
          </a:xfrm>
        </p:spPr>
        <p:txBody>
          <a:bodyPr>
            <a:normAutofit/>
          </a:bodyPr>
          <a:lstStyle/>
          <a:p>
            <a:pPr algn="just"/>
            <a:r>
              <a:rPr lang="es-ES" sz="2400" dirty="0"/>
              <a:t>Es una </a:t>
            </a:r>
            <a:r>
              <a:rPr lang="es-ES" sz="2400" dirty="0">
                <a:solidFill>
                  <a:srgbClr val="FF0000"/>
                </a:solidFill>
              </a:rPr>
              <a:t>ciencia (junto con tecnología)</a:t>
            </a:r>
            <a:r>
              <a:rPr lang="es-ES" sz="2400" dirty="0"/>
              <a:t> que intenta la creación de </a:t>
            </a:r>
            <a:r>
              <a:rPr lang="es-ES" sz="2400" dirty="0">
                <a:solidFill>
                  <a:schemeClr val="accent6">
                    <a:lumMod val="75000"/>
                  </a:schemeClr>
                </a:solidFill>
              </a:rPr>
              <a:t>algoritmos</a:t>
            </a:r>
            <a:r>
              <a:rPr lang="es-ES" sz="2400" dirty="0"/>
              <a:t> [</a:t>
            </a:r>
            <a:r>
              <a:rPr lang="es-ES" sz="2400" u="sng" dirty="0"/>
              <a:t>que se ejecutan en computadores binarios</a:t>
            </a:r>
            <a:r>
              <a:rPr lang="es-ES" sz="2400" dirty="0"/>
              <a:t>] que </a:t>
            </a:r>
            <a:r>
              <a:rPr lang="es-ES" sz="2400" dirty="0">
                <a:solidFill>
                  <a:srgbClr val="FF0000"/>
                </a:solidFill>
              </a:rPr>
              <a:t>imitan</a:t>
            </a:r>
            <a:r>
              <a:rPr lang="es-ES" sz="2400" dirty="0"/>
              <a:t> el </a:t>
            </a:r>
            <a:r>
              <a:rPr lang="es-ES" sz="2400" dirty="0">
                <a:solidFill>
                  <a:schemeClr val="accent1">
                    <a:lumMod val="75000"/>
                  </a:schemeClr>
                </a:solidFill>
              </a:rPr>
              <a:t>comportamiento</a:t>
            </a:r>
            <a:r>
              <a:rPr lang="es-ES" sz="2400" dirty="0"/>
              <a:t> y el </a:t>
            </a:r>
            <a:r>
              <a:rPr lang="es-ES" sz="2400" dirty="0">
                <a:solidFill>
                  <a:schemeClr val="accent1">
                    <a:lumMod val="75000"/>
                  </a:schemeClr>
                </a:solidFill>
              </a:rPr>
              <a:t>pensamiento</a:t>
            </a:r>
            <a:r>
              <a:rPr lang="es-ES" sz="2400" dirty="0"/>
              <a:t> de los seres humanos, que sea capaz de aprender, reconocer y pensar.</a:t>
            </a:r>
            <a:endParaRPr lang="es-PE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88D7FE-F82F-45FD-A993-21825379D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38" t="43689" r="30308" b="14649"/>
          <a:stretch/>
        </p:blipFill>
        <p:spPr>
          <a:xfrm>
            <a:off x="3379827" y="2915187"/>
            <a:ext cx="5432346" cy="329184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F39F6E9-8419-44DF-8586-75521F95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93"/>
          </a:xfrm>
        </p:spPr>
        <p:txBody>
          <a:bodyPr/>
          <a:lstStyle/>
          <a:p>
            <a:pPr algn="ctr"/>
            <a:r>
              <a:rPr lang="es-PE" b="1" dirty="0"/>
              <a:t>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203215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E526D-1BEF-4E70-BC69-C9759653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93"/>
          </a:xfrm>
        </p:spPr>
        <p:txBody>
          <a:bodyPr/>
          <a:lstStyle/>
          <a:p>
            <a:pPr algn="ctr"/>
            <a:r>
              <a:rPr lang="es-PE" b="1" dirty="0"/>
              <a:t>Inteligencia Natural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C07EC7-0C59-4A9A-9FD4-168B187C55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92" t="19472" r="10462" b="12392"/>
          <a:stretch/>
        </p:blipFill>
        <p:spPr>
          <a:xfrm>
            <a:off x="407896" y="1195755"/>
            <a:ext cx="10777091" cy="517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70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E526D-1BEF-4E70-BC69-C9759653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93"/>
          </a:xfrm>
        </p:spPr>
        <p:txBody>
          <a:bodyPr/>
          <a:lstStyle/>
          <a:p>
            <a:pPr algn="ctr"/>
            <a:r>
              <a:rPr lang="es-PE" b="1" dirty="0"/>
              <a:t>Inteligencia Artificial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673B80-34F3-4B99-A7E2-7AA36B0FAA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31" t="19268" r="10231" b="9313"/>
          <a:stretch/>
        </p:blipFill>
        <p:spPr>
          <a:xfrm>
            <a:off x="838200" y="1250141"/>
            <a:ext cx="10515600" cy="524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41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2BB4B-598A-4DD7-89D2-C9F9BE94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¿Estadística y probabilística?</a:t>
            </a:r>
            <a:endParaRPr lang="es-PE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FE49CE-3523-4699-8632-CC0062CAE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48" y="1792419"/>
            <a:ext cx="3340358" cy="44894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4FC96D-9CF0-47B2-9B06-E530A457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88" y="1792419"/>
            <a:ext cx="4495864" cy="448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884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2BB4B-598A-4DD7-89D2-C9F9BE94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¿Estadística y probabilística?</a:t>
            </a:r>
            <a:endParaRPr lang="es-PE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803E04-1790-42AA-B8A5-7FFC5F817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32" y="1906834"/>
            <a:ext cx="9709400" cy="38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00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95B30-CBF8-40DE-86D8-9BCDE780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Aplicaciones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436DB12-AFB9-463A-9220-81806CBD7B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4" t="18241" r="19923" b="37020"/>
          <a:stretch/>
        </p:blipFill>
        <p:spPr>
          <a:xfrm>
            <a:off x="838200" y="1913207"/>
            <a:ext cx="10705125" cy="377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4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95B30-CBF8-40DE-86D8-9BCDE780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Aplicaciones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3D0734-5B0D-49DF-B31E-FE52CEF5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45" y="1592039"/>
            <a:ext cx="3346211" cy="273659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A3903CB-6A19-4350-8622-9C058EA88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445" y="4703705"/>
            <a:ext cx="3211953" cy="13317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0035DFA-E142-45DD-AAF6-EB1FFD3A3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65429"/>
            <a:ext cx="4922975" cy="273659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D293CB8-3514-40DC-93EC-1A6BABC8F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825" y="4703705"/>
            <a:ext cx="5025323" cy="176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62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7F1A810-C4AE-4E94-AA4C-B903272E2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969" y="805654"/>
            <a:ext cx="4335831" cy="288008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DD95B30-CBF8-40DE-86D8-9BCDE780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Aplicaciones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FDAADA-7EEB-4AEE-822E-3C679FBA8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441" y="1443773"/>
            <a:ext cx="2982101" cy="198522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3149850-0B51-4442-A989-3FE6A4BAE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0979" y="4194886"/>
            <a:ext cx="2075089" cy="189214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8BB448C-B1C2-4D38-9EE0-0E87EC318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9037" y="4231263"/>
            <a:ext cx="4311883" cy="182108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C4ABC25-24A1-47D3-AE2F-A2AD55893B3F}"/>
              </a:ext>
            </a:extLst>
          </p:cNvPr>
          <p:cNvSpPr txBox="1"/>
          <p:nvPr/>
        </p:nvSpPr>
        <p:spPr>
          <a:xfrm>
            <a:off x="1854729" y="3410056"/>
            <a:ext cx="30968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400" i="0" u="none" strike="noStrike" baseline="0" dirty="0">
                <a:latin typeface="Arial" panose="020B0604020202020204" pitchFamily="34" charset="0"/>
              </a:rPr>
              <a:t>ROBOTIC VEHICLES</a:t>
            </a:r>
          </a:p>
          <a:p>
            <a:pPr algn="ctr"/>
            <a:r>
              <a:rPr lang="es-PE" sz="1400" dirty="0" err="1"/>
              <a:t>Waymo</a:t>
            </a:r>
            <a:r>
              <a:rPr lang="es-PE" sz="1400" dirty="0"/>
              <a:t> test </a:t>
            </a:r>
            <a:r>
              <a:rPr lang="es-PE" sz="1400" dirty="0" err="1"/>
              <a:t>vehicles</a:t>
            </a:r>
            <a:r>
              <a:rPr lang="es-PE" sz="1400" dirty="0"/>
              <a:t> (2018)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CA16398-C42F-4AE1-A39A-AC61A419C789}"/>
              </a:ext>
            </a:extLst>
          </p:cNvPr>
          <p:cNvSpPr txBox="1"/>
          <p:nvPr/>
        </p:nvSpPr>
        <p:spPr>
          <a:xfrm>
            <a:off x="7389581" y="3671666"/>
            <a:ext cx="3592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400" dirty="0">
                <a:latin typeface="Arial" panose="020B0604020202020204" pitchFamily="34" charset="0"/>
              </a:rPr>
              <a:t>LEGGED LOCOMOTION</a:t>
            </a:r>
          </a:p>
          <a:p>
            <a:pPr algn="ctr"/>
            <a:r>
              <a:rPr lang="es-PE" sz="1400" dirty="0">
                <a:latin typeface="Arial" panose="020B0604020202020204" pitchFamily="34" charset="0"/>
              </a:rPr>
              <a:t>Atlas, a </a:t>
            </a:r>
            <a:r>
              <a:rPr lang="es-PE" sz="1400" dirty="0" err="1">
                <a:latin typeface="Arial" panose="020B0604020202020204" pitchFamily="34" charset="0"/>
              </a:rPr>
              <a:t>humanoidrobot</a:t>
            </a:r>
            <a:r>
              <a:rPr lang="es-PE" sz="1400" dirty="0">
                <a:latin typeface="Arial" panose="020B0604020202020204" pitchFamily="34" charset="0"/>
              </a:rPr>
              <a:t> (2016)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54704A9-DFF4-4EA3-AE66-FE629F1FE181}"/>
              </a:ext>
            </a:extLst>
          </p:cNvPr>
          <p:cNvSpPr txBox="1"/>
          <p:nvPr/>
        </p:nvSpPr>
        <p:spPr>
          <a:xfrm>
            <a:off x="1206404" y="6231265"/>
            <a:ext cx="48895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400" i="0" u="none" strike="noStrike" baseline="0" dirty="0">
                <a:latin typeface="Arial" panose="020B0604020202020204" pitchFamily="34" charset="0"/>
              </a:rPr>
              <a:t>AUTONOMOUS PLANNING AND SCHEDULING</a:t>
            </a:r>
          </a:p>
          <a:p>
            <a:pPr algn="ctr"/>
            <a:r>
              <a:rPr lang="es-PE" sz="1400" dirty="0" err="1"/>
              <a:t>Mapping</a:t>
            </a:r>
            <a:r>
              <a:rPr lang="es-PE" sz="1400" dirty="0"/>
              <a:t> </a:t>
            </a:r>
            <a:r>
              <a:rPr lang="es-PE" sz="1400" dirty="0" err="1"/>
              <a:t>services</a:t>
            </a:r>
            <a:r>
              <a:rPr lang="es-PE" sz="1400" dirty="0"/>
              <a:t> Google </a:t>
            </a:r>
            <a:r>
              <a:rPr lang="es-PE" sz="1400" dirty="0" err="1"/>
              <a:t>Maps</a:t>
            </a:r>
            <a:endParaRPr lang="es-PE" sz="14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B8BBE5C-4190-44DD-BB53-5FCB01792B3E}"/>
              </a:ext>
            </a:extLst>
          </p:cNvPr>
          <p:cNvSpPr txBox="1"/>
          <p:nvPr/>
        </p:nvSpPr>
        <p:spPr>
          <a:xfrm>
            <a:off x="6217600" y="6087027"/>
            <a:ext cx="5936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SPEECH RECOGNITION</a:t>
            </a:r>
          </a:p>
          <a:p>
            <a:pPr algn="ctr"/>
            <a:r>
              <a:rPr lang="en-US" dirty="0"/>
              <a:t>Microsoft Conversational Speech Recognition System (2017)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3498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95B30-CBF8-40DE-86D8-9BCDE780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Aplicaciones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C4ABC25-24A1-47D3-AE2F-A2AD55893B3F}"/>
              </a:ext>
            </a:extLst>
          </p:cNvPr>
          <p:cNvSpPr txBox="1"/>
          <p:nvPr/>
        </p:nvSpPr>
        <p:spPr>
          <a:xfrm>
            <a:off x="1854727" y="2912518"/>
            <a:ext cx="30968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400" i="0" u="none" strike="noStrike" baseline="0" dirty="0">
                <a:latin typeface="Arial" panose="020B0604020202020204" pitchFamily="34" charset="0"/>
              </a:rPr>
              <a:t>IMAGE UNDERSTANDING</a:t>
            </a:r>
            <a:endParaRPr lang="es-PE" sz="1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54FD9E-4EF6-4B8B-A723-CF4EA7D9D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23" y="1576404"/>
            <a:ext cx="5835623" cy="129579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7A6060D-3A89-4A4F-A404-062B3FE20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621" y="1428334"/>
            <a:ext cx="3658179" cy="2059419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76FC6C2-39E8-4038-B575-8C901E825B74}"/>
              </a:ext>
            </a:extLst>
          </p:cNvPr>
          <p:cNvSpPr txBox="1"/>
          <p:nvPr/>
        </p:nvSpPr>
        <p:spPr>
          <a:xfrm>
            <a:off x="8221690" y="3616465"/>
            <a:ext cx="2606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dirty="0"/>
              <a:t>GAME PLAYING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8C475B7-0D4B-4CD9-BC16-39A4D2B30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271" y="3429000"/>
            <a:ext cx="4325180" cy="256341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06D79ECF-4EEC-4678-BDDC-3404E3F1FC30}"/>
              </a:ext>
            </a:extLst>
          </p:cNvPr>
          <p:cNvSpPr txBox="1"/>
          <p:nvPr/>
        </p:nvSpPr>
        <p:spPr>
          <a:xfrm>
            <a:off x="3049172" y="6179880"/>
            <a:ext cx="1447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dirty="0"/>
              <a:t>MEDICINE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64747D2-0E93-4893-9FD5-E618F2E031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561" y="4133363"/>
            <a:ext cx="2906296" cy="2046517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E327C9A-DAE3-475D-A8D3-870FE2093093}"/>
              </a:ext>
            </a:extLst>
          </p:cNvPr>
          <p:cNvSpPr txBox="1"/>
          <p:nvPr/>
        </p:nvSpPr>
        <p:spPr>
          <a:xfrm>
            <a:off x="8418636" y="6307552"/>
            <a:ext cx="2212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dirty="0"/>
              <a:t>CLIMATE SCIENCE</a:t>
            </a:r>
          </a:p>
        </p:txBody>
      </p:sp>
    </p:spTree>
    <p:extLst>
      <p:ext uri="{BB962C8B-B14F-4D97-AF65-F5344CB8AC3E}">
        <p14:creationId xmlns:p14="http://schemas.microsoft.com/office/powerpoint/2010/main" val="3454910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D86BF-FF96-49E8-954C-522CC85E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Ejemplos de Proyectos de IA</a:t>
            </a:r>
            <a:endParaRPr lang="es-PE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682061-2139-49CD-95B9-62DF1BD2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845148" cy="4351338"/>
          </a:xfrm>
        </p:spPr>
        <p:txBody>
          <a:bodyPr>
            <a:normAutofit/>
          </a:bodyPr>
          <a:lstStyle/>
          <a:p>
            <a:r>
              <a:rPr lang="es-ES" dirty="0"/>
              <a:t>Reconocimiento de imágenes</a:t>
            </a:r>
          </a:p>
          <a:p>
            <a:r>
              <a:rPr lang="es-ES" dirty="0"/>
              <a:t>Procesamiento de lenguaje natural</a:t>
            </a:r>
          </a:p>
          <a:p>
            <a:r>
              <a:rPr lang="es-ES" dirty="0"/>
              <a:t>Sistemas de recomendación</a:t>
            </a:r>
          </a:p>
          <a:p>
            <a:r>
              <a:rPr lang="es-ES" dirty="0"/>
              <a:t>Robótica autónoma</a:t>
            </a:r>
          </a:p>
          <a:p>
            <a:r>
              <a:rPr lang="es-ES" dirty="0"/>
              <a:t>Redes neuronales</a:t>
            </a:r>
          </a:p>
          <a:p>
            <a:r>
              <a:rPr lang="es-ES" dirty="0" err="1"/>
              <a:t>Clustering</a:t>
            </a:r>
            <a:endParaRPr lang="es-ES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7D94D00C-6F6F-493B-80AB-F37FDA98FDB6}"/>
              </a:ext>
            </a:extLst>
          </p:cNvPr>
          <p:cNvSpPr txBox="1">
            <a:spLocks/>
          </p:cNvSpPr>
          <p:nvPr/>
        </p:nvSpPr>
        <p:spPr>
          <a:xfrm>
            <a:off x="6508652" y="1825625"/>
            <a:ext cx="48451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Predicción de demandas</a:t>
            </a:r>
          </a:p>
          <a:p>
            <a:r>
              <a:rPr lang="es-ES" dirty="0"/>
              <a:t>Diagnóstico médico asistido por computadora</a:t>
            </a:r>
          </a:p>
          <a:p>
            <a:r>
              <a:rPr lang="es-ES" dirty="0"/>
              <a:t>Optimización de cadenas de suministro</a:t>
            </a:r>
          </a:p>
          <a:p>
            <a:r>
              <a:rPr lang="es-ES" dirty="0"/>
              <a:t>Personalización de contenido</a:t>
            </a:r>
          </a:p>
          <a:p>
            <a:r>
              <a:rPr lang="es-ES" dirty="0"/>
              <a:t>Detección de Fraude financiero</a:t>
            </a:r>
          </a:p>
          <a:p>
            <a:r>
              <a:rPr lang="es-ES" dirty="0"/>
              <a:t>Análisis de sentimientos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26812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2764C-34AC-423C-BA37-234171F0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Perfil Profesional en 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9B2D6-B505-4263-83C0-2BDC854B6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Programación: Es fundamental tener un buen dominio de al menos un lenguaje de programación, como Python, R o Java. </a:t>
            </a:r>
          </a:p>
          <a:p>
            <a:pPr algn="just"/>
            <a:r>
              <a:rPr lang="es-ES" dirty="0"/>
              <a:t>Matemáticas: Esto incluye álgebra lineal, cálculo, estadística y probabilidad, que son utilizados en algoritmos de aprendizaje automático y redes neuronales.</a:t>
            </a:r>
          </a:p>
          <a:p>
            <a:pPr algn="just"/>
            <a:r>
              <a:rPr lang="es-ES" dirty="0"/>
              <a:t>Aprendizaje Automático: Esto incluye comprender los diferentes tipos de aprendizaje (supervisado, no supervisado, reforzado), así como algoritmos específicos como regresión, clasificación, </a:t>
            </a:r>
            <a:r>
              <a:rPr lang="es-ES" dirty="0" err="1"/>
              <a:t>clustering</a:t>
            </a:r>
            <a:r>
              <a:rPr lang="es-ES" dirty="0"/>
              <a:t> y redes neuronales.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73805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2764C-34AC-423C-BA37-234171F0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Perfil Profesional en 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9B2D6-B505-4263-83C0-2BDC854B6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dirty="0"/>
              <a:t>Ciencia de Datos: La ciencia de datos proporciona las herramientas y técnicas para recopilar, limpiar, analizar y visualizar datos. </a:t>
            </a:r>
          </a:p>
          <a:p>
            <a:pPr algn="just"/>
            <a:r>
              <a:rPr lang="es-ES" dirty="0"/>
              <a:t>Pensamiento Crítico y Resolución de Problemas: Esto implica ser capaz de identificar patrones, formular hipótesis y evaluar la efectividad de los enfoques de solución.</a:t>
            </a:r>
          </a:p>
          <a:p>
            <a:pPr algn="just"/>
            <a:r>
              <a:rPr lang="es-ES" dirty="0"/>
              <a:t>Curiosidad y Aprendizaje Continuo:  La curiosidad y la disposición para aprender de forma continua son fundamentales para tener éxito en este campo en constante cambio.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87539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D947C-FCDA-4800-A13C-6DD69EBC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Ciencia de Datos y IA</a:t>
            </a:r>
            <a:endParaRPr lang="es-PE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2737CBC-9D2B-4C69-8719-8BE93936F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522" y="1407788"/>
            <a:ext cx="5826955" cy="545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429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DAA68-27F8-45CF-A325-C03D179B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Laboratorios UNCP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AB4FBE-72F3-42BC-BBAD-AE64BD82A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5" y="1690688"/>
            <a:ext cx="6495749" cy="46679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97712D-A4C1-4616-83BE-ECABC1B6E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048" t="26451" r="5769" b="7260"/>
          <a:stretch/>
        </p:blipFill>
        <p:spPr>
          <a:xfrm>
            <a:off x="7333949" y="1589649"/>
            <a:ext cx="4289481" cy="454386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06C1DBD-F4FD-4BDE-BA8A-5CA5EAF55366}"/>
              </a:ext>
            </a:extLst>
          </p:cNvPr>
          <p:cNvSpPr/>
          <p:nvPr/>
        </p:nvSpPr>
        <p:spPr>
          <a:xfrm>
            <a:off x="9720775" y="5613009"/>
            <a:ext cx="1209822" cy="379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7457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DAA68-27F8-45CF-A325-C03D179B7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PE" b="1" dirty="0"/>
              <a:t>Laboratorios UNCP</a:t>
            </a:r>
          </a:p>
        </p:txBody>
      </p:sp>
      <p:pic>
        <p:nvPicPr>
          <p:cNvPr id="2050" name="Picture 2" descr="Drone DJI Mini 3 Fly More Combo (DJI RC) (GL)">
            <a:extLst>
              <a:ext uri="{FF2B5EF4-FFF2-40B4-BE49-F238E27FC236}">
                <a16:creationId xmlns:a16="http://schemas.microsoft.com/office/drawing/2014/main" id="{1208F6D9-D4CB-4A42-899C-81399ECEB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648" y="1547446"/>
            <a:ext cx="4614204" cy="4614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é impresora 3D comprar, ¿cuál es mejor?">
            <a:extLst>
              <a:ext uri="{FF2B5EF4-FFF2-40B4-BE49-F238E27FC236}">
                <a16:creationId xmlns:a16="http://schemas.microsoft.com/office/drawing/2014/main" id="{9CB39FE4-3880-42AB-9455-5BF7ED9B7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13991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76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46316-D898-447E-A169-B980C193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/>
              <a:t>Casos de Éxito en IA</a:t>
            </a:r>
            <a:endParaRPr lang="es-PE" b="1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502448-9120-44F0-9B73-F7B0991A1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Ejemplos de implementaciones exitosas de IA en UNCP</a:t>
            </a:r>
            <a:endParaRPr lang="es-PE" dirty="0"/>
          </a:p>
        </p:txBody>
      </p:sp>
      <p:pic>
        <p:nvPicPr>
          <p:cNvPr id="3074" name="Picture 2" descr="Salud en Casa">
            <a:extLst>
              <a:ext uri="{FF2B5EF4-FFF2-40B4-BE49-F238E27FC236}">
                <a16:creationId xmlns:a16="http://schemas.microsoft.com/office/drawing/2014/main" id="{2D646BC1-3D19-42F3-8F8A-7198B514D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184" y="2619131"/>
            <a:ext cx="5542573" cy="36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lzhivida | Instagram, Facebook, TikTok | Linktree">
            <a:extLst>
              <a:ext uri="{FF2B5EF4-FFF2-40B4-BE49-F238E27FC236}">
                <a16:creationId xmlns:a16="http://schemas.microsoft.com/office/drawing/2014/main" id="{36F504DE-56A1-4E1F-84AA-375315350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193" y="2619131"/>
            <a:ext cx="3390607" cy="3390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663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46316-D898-447E-A169-B980C1935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9193"/>
            <a:ext cx="10515600" cy="1325563"/>
          </a:xfrm>
        </p:spPr>
        <p:txBody>
          <a:bodyPr/>
          <a:lstStyle/>
          <a:p>
            <a:pPr algn="ctr"/>
            <a:r>
              <a:rPr lang="es-ES" b="1" dirty="0"/>
              <a:t>Casos de Éxito en IA</a:t>
            </a:r>
            <a:endParaRPr lang="es-PE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502448-9120-44F0-9B73-F7B0991A1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7065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4000" dirty="0">
                <a:solidFill>
                  <a:srgbClr val="C00000"/>
                </a:solidFill>
              </a:rPr>
              <a:t>LOS PRÓXIMOS DEBEN SER USTEDES</a:t>
            </a:r>
            <a:endParaRPr lang="es-PE" sz="4000" dirty="0">
              <a:solidFill>
                <a:srgbClr val="C00000"/>
              </a:solidFill>
            </a:endParaRPr>
          </a:p>
        </p:txBody>
      </p:sp>
      <p:pic>
        <p:nvPicPr>
          <p:cNvPr id="4098" name="Picture 2" descr="tu - El Blog de Roxanna">
            <a:extLst>
              <a:ext uri="{FF2B5EF4-FFF2-40B4-BE49-F238E27FC236}">
                <a16:creationId xmlns:a16="http://schemas.microsoft.com/office/drawing/2014/main" id="{BF0C4740-327B-40A8-A4F7-9F5F25AFF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088" y="2691363"/>
            <a:ext cx="8408642" cy="3801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316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3B7C4-9441-4493-B25B-D7378F1E2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>
                <a:solidFill>
                  <a:schemeClr val="accent6">
                    <a:lumMod val="75000"/>
                  </a:schemeClr>
                </a:solidFill>
              </a:rPr>
              <a:t>¡Gracias!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FDB008-4A35-4FFA-BB00-FEFECC05A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ES" sz="4400" dirty="0">
                <a:solidFill>
                  <a:srgbClr val="FF0000"/>
                </a:solidFill>
              </a:rPr>
              <a:t>¿Preguntas?</a:t>
            </a:r>
          </a:p>
          <a:p>
            <a:pPr marL="0" indent="0">
              <a:buNone/>
            </a:pPr>
            <a:endParaRPr lang="es-E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	</a:t>
            </a:r>
            <a:r>
              <a:rPr lang="es-ES" dirty="0">
                <a:solidFill>
                  <a:schemeClr val="accent5">
                    <a:lumMod val="50000"/>
                  </a:schemeClr>
                </a:solidFill>
              </a:rPr>
              <a:t>¡No dudes en contactar!</a:t>
            </a:r>
            <a:endParaRPr lang="es-PE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4CC6A1-EF44-4892-ACBE-A1245E039D93}"/>
              </a:ext>
            </a:extLst>
          </p:cNvPr>
          <p:cNvSpPr txBox="1"/>
          <p:nvPr/>
        </p:nvSpPr>
        <p:spPr>
          <a:xfrm>
            <a:off x="3046828" y="4789635"/>
            <a:ext cx="60983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000" dirty="0"/>
              <a:t>Ing. Jaime Huaytalla Pariona</a:t>
            </a:r>
          </a:p>
          <a:p>
            <a:pPr algn="ctr"/>
            <a:endParaRPr lang="es-PE" sz="2000" dirty="0"/>
          </a:p>
          <a:p>
            <a:pPr algn="ctr"/>
            <a:r>
              <a:rPr lang="es-PE" sz="2400" b="1" dirty="0"/>
              <a:t>Línea de Investigación de AI y Automatización</a:t>
            </a:r>
          </a:p>
        </p:txBody>
      </p:sp>
    </p:spTree>
    <p:extLst>
      <p:ext uri="{BB962C8B-B14F-4D97-AF65-F5344CB8AC3E}">
        <p14:creationId xmlns:p14="http://schemas.microsoft.com/office/powerpoint/2010/main" val="551600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</TotalTime>
  <Words>403</Words>
  <Application>Microsoft Office PowerPoint</Application>
  <PresentationFormat>Panorámica</PresentationFormat>
  <Paragraphs>65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Inteligencia Artificial: Una Visión Integral</vt:lpstr>
      <vt:lpstr>Inteligencia Artificial</vt:lpstr>
      <vt:lpstr>Inteligencia Natural</vt:lpstr>
      <vt:lpstr>Inteligencia Artificial</vt:lpstr>
      <vt:lpstr>¿Estadística y probabilística?</vt:lpstr>
      <vt:lpstr>¿Estadística y probabilística?</vt:lpstr>
      <vt:lpstr>Aplicaciones</vt:lpstr>
      <vt:lpstr>Aplicaciones</vt:lpstr>
      <vt:lpstr>Aplicaciones</vt:lpstr>
      <vt:lpstr>Aplicaciones</vt:lpstr>
      <vt:lpstr>Ejemplos de Proyectos de IA</vt:lpstr>
      <vt:lpstr>Perfil Profesional en IA</vt:lpstr>
      <vt:lpstr>Perfil Profesional en IA</vt:lpstr>
      <vt:lpstr>Ciencia de Datos y IA</vt:lpstr>
      <vt:lpstr>Laboratorios UNCP</vt:lpstr>
      <vt:lpstr>Laboratorios UNCP</vt:lpstr>
      <vt:lpstr>Casos de Éxito en IA</vt:lpstr>
      <vt:lpstr>Casos de Éxito en IA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 Huaytalla Pariona</dc:creator>
  <cp:lastModifiedBy>JAIME ANTONIO HUAYTALLA PARIONA</cp:lastModifiedBy>
  <cp:revision>9</cp:revision>
  <dcterms:created xsi:type="dcterms:W3CDTF">2024-05-10T11:37:24Z</dcterms:created>
  <dcterms:modified xsi:type="dcterms:W3CDTF">2024-08-22T15:44:19Z</dcterms:modified>
</cp:coreProperties>
</file>