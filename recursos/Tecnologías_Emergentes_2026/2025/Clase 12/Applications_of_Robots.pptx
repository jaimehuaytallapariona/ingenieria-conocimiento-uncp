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9144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678A1-06B4-BAC4-76EC-1884EC5D3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34AB53-1335-67D0-A235-D3AA247B6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02BC61-3BF6-4B12-A84D-FE96C007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D0438C-32A9-6478-FCC5-FEC30D67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8E018F-C46D-9461-1172-CECA7327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363158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12E05-1A92-B178-3AF9-074A03F1F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9FBC67-746B-1A33-BF0A-25F056838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8B2D8D-F4C9-2D0A-0E94-4A85CC3B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1B123F-EE1D-4128-2279-40694030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21060-ADA9-30A9-024E-652E3432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140141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DCDF8-51E5-C213-1188-B912AC45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438D62-5078-695B-9FE1-26159C5A4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EA7485-FFA1-D1CE-015A-12BFF830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114486-D255-D3D2-FA5F-E25DCC9E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C48601-6ADA-FDB1-978F-8048D86E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323076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F17F5-452A-BFDA-7836-FD12CD63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8EF473-BE09-68BC-1AB9-C61199DB0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05A85B-46E3-884D-08B4-87C02FE0B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B00C1E-8499-11EA-E9FB-30C23FC0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BCFFA3-3278-2691-32A8-458C01326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5733AB-5940-A627-8C3D-2AF62C3A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100026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EA30D-F8C8-898F-C4C1-44E504B7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608772-60A5-2A65-103E-A91BD7C6E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C6686C-19C3-A760-CBB4-7CDBFFAB4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63C8F9-4DB2-F2ED-5491-13DFE40C6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DC848C-120B-DC1C-447D-AC357C2B2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4A49FD-85A3-6FBF-DAF9-F56274BE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DA09A4-A7B6-9651-04F6-30F687CD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0F98A9-1781-1826-A396-044D18FF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203969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06390-C289-F931-D625-41452ECD8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C60730-685E-0D1C-36B8-B2071599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A0A465-6492-C69B-A975-15F6DF77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9C5452-22B8-F59A-FE93-6947F974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374379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43A6E3B-5E0B-5CD5-F159-014DEBDB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5D3E8A-6AF1-CE4E-B56C-42FFC72F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54B3BD-D253-C5DF-F1D0-0A938D91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369714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342E2-0837-A034-F3BB-76367ED8B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1A725-6949-31F9-5810-349762A1F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5CDB52-4751-12D6-AA02-A631E3589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885FFD-1E5B-7998-8714-ED549E34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B85FF9-E5DA-719F-D0C3-C34EF03B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107D9F-329A-51E4-306C-F66F3B6A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102955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5109D-ABA2-84E4-A4C2-C69C42DD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CE50F0-4524-1BAB-02A7-74F1CEF7A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BF8A34-7EB1-6F0C-87C5-6CBCE30C4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968545-32C7-EC40-9F5F-FF0F8E21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2230B6-DC60-94BA-EC05-6BAC7753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E42800-EEB6-0A05-11EE-EC90C2CB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172195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2E87A-B2A1-3D79-96C6-E7DA2522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976D60-C364-FBEB-4623-0488A823E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7B8557-05A4-FA02-4828-765D81E8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F09649-4EE8-3C95-AC84-37702420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A3A9C9-BACA-445B-DFF0-A077538D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354589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CE159C-EE76-5374-10ED-1E7CDD6A7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4D22E8-BD8B-E762-196E-39D4CB3FA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9E09E0-113C-C797-754D-FCD4DFDD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87640E-620D-F840-0A62-57991A39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955C0-4725-2F61-0318-23FA20BB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1062608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323676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181226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9592" y="308766"/>
            <a:ext cx="2784814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09755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B5040E-E91C-B7A4-341B-9CD8464A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57BD4-0B7A-B193-08FF-3B4D5DBCF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4F9458-D961-15F0-F561-3189E88C8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866952-E984-B20B-59FB-5D0297644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56B0D-9E6A-9B5A-6BAE-131CDF152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lang="es-PE" spc="-5" smtClean="0"/>
              <a:t>‹Nº›</a:t>
            </a:fld>
            <a:endParaRPr lang="es-PE" spc="-5" dirty="0"/>
          </a:p>
        </p:txBody>
      </p:sp>
    </p:spTree>
    <p:extLst>
      <p:ext uri="{BB962C8B-B14F-4D97-AF65-F5344CB8AC3E}">
        <p14:creationId xmlns:p14="http://schemas.microsoft.com/office/powerpoint/2010/main" val="276096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otics.org/joseph-engelberger/about.cfm" TargetMode="External"/><Relationship Id="rId2" Type="http://schemas.openxmlformats.org/officeDocument/2006/relationships/hyperlink" Target="http://spectrum.ieee.org/automaton/robotics/industrial-robots/george-devol-a-life-devoted-to-invention-and-robot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Relationship Id="rId9" Type="http://schemas.openxmlformats.org/officeDocument/2006/relationships/image" Target="../media/image3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jara.jp/e" TargetMode="External"/><Relationship Id="rId4" Type="http://schemas.openxmlformats.org/officeDocument/2006/relationships/hyperlink" Target="http://www.robotics.org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so.org/obp/ui/#iso%3Astd%3Aiso%3A8373%3Aed-2%3Av1%3Ae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7.png"/><Relationship Id="rId7" Type="http://schemas.openxmlformats.org/officeDocument/2006/relationships/image" Target="../media/image41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11" Type="http://schemas.openxmlformats.org/officeDocument/2006/relationships/image" Target="../media/image45.jpg"/><Relationship Id="rId5" Type="http://schemas.openxmlformats.org/officeDocument/2006/relationships/image" Target="../media/image39.png"/><Relationship Id="rId10" Type="http://schemas.openxmlformats.org/officeDocument/2006/relationships/image" Target="../media/image44.jpg"/><Relationship Id="rId4" Type="http://schemas.openxmlformats.org/officeDocument/2006/relationships/image" Target="../media/image38.png"/><Relationship Id="rId9" Type="http://schemas.openxmlformats.org/officeDocument/2006/relationships/image" Target="../media/image4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3" Type="http://schemas.openxmlformats.org/officeDocument/2006/relationships/image" Target="../media/image52.jpg"/><Relationship Id="rId7" Type="http://schemas.openxmlformats.org/officeDocument/2006/relationships/image" Target="../media/image56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7" Type="http://schemas.openxmlformats.org/officeDocument/2006/relationships/image" Target="../media/image65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g"/><Relationship Id="rId3" Type="http://schemas.openxmlformats.org/officeDocument/2006/relationships/image" Target="../media/image69.jpg"/><Relationship Id="rId7" Type="http://schemas.openxmlformats.org/officeDocument/2006/relationships/image" Target="../media/image73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g"/><Relationship Id="rId5" Type="http://schemas.openxmlformats.org/officeDocument/2006/relationships/image" Target="../media/image71.jpg"/><Relationship Id="rId4" Type="http://schemas.openxmlformats.org/officeDocument/2006/relationships/image" Target="../media/image70.jpg"/><Relationship Id="rId9" Type="http://schemas.openxmlformats.org/officeDocument/2006/relationships/image" Target="../media/image7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jpg"/><Relationship Id="rId3" Type="http://schemas.openxmlformats.org/officeDocument/2006/relationships/image" Target="../media/image85.jpg"/><Relationship Id="rId7" Type="http://schemas.openxmlformats.org/officeDocument/2006/relationships/image" Target="../media/image89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jpg"/><Relationship Id="rId5" Type="http://schemas.openxmlformats.org/officeDocument/2006/relationships/image" Target="../media/image87.jpg"/><Relationship Id="rId4" Type="http://schemas.openxmlformats.org/officeDocument/2006/relationships/image" Target="../media/image86.jpg"/><Relationship Id="rId9" Type="http://schemas.openxmlformats.org/officeDocument/2006/relationships/image" Target="../media/image9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g"/><Relationship Id="rId3" Type="http://schemas.openxmlformats.org/officeDocument/2006/relationships/image" Target="../media/image95.jpg"/><Relationship Id="rId7" Type="http://schemas.openxmlformats.org/officeDocument/2006/relationships/image" Target="../media/image99.jpg"/><Relationship Id="rId12" Type="http://schemas.openxmlformats.org/officeDocument/2006/relationships/image" Target="../media/image104.jp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jpg"/><Relationship Id="rId11" Type="http://schemas.openxmlformats.org/officeDocument/2006/relationships/image" Target="../media/image103.jpg"/><Relationship Id="rId5" Type="http://schemas.openxmlformats.org/officeDocument/2006/relationships/image" Target="../media/image97.jpg"/><Relationship Id="rId10" Type="http://schemas.openxmlformats.org/officeDocument/2006/relationships/image" Target="../media/image102.jpg"/><Relationship Id="rId4" Type="http://schemas.openxmlformats.org/officeDocument/2006/relationships/image" Target="../media/image96.jpg"/><Relationship Id="rId9" Type="http://schemas.openxmlformats.org/officeDocument/2006/relationships/image" Target="../media/image10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jpg"/><Relationship Id="rId5" Type="http://schemas.openxmlformats.org/officeDocument/2006/relationships/image" Target="../media/image112.jpg"/><Relationship Id="rId4" Type="http://schemas.openxmlformats.org/officeDocument/2006/relationships/image" Target="../media/image111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7" Type="http://schemas.openxmlformats.org/officeDocument/2006/relationships/image" Target="../media/image119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jpg"/><Relationship Id="rId5" Type="http://schemas.openxmlformats.org/officeDocument/2006/relationships/image" Target="../media/image117.jpg"/><Relationship Id="rId4" Type="http://schemas.openxmlformats.org/officeDocument/2006/relationships/image" Target="../media/image116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jpg"/><Relationship Id="rId3" Type="http://schemas.openxmlformats.org/officeDocument/2006/relationships/image" Target="../media/image121.jpg"/><Relationship Id="rId7" Type="http://schemas.openxmlformats.org/officeDocument/2006/relationships/image" Target="../media/image125.jp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4.jpg"/><Relationship Id="rId5" Type="http://schemas.openxmlformats.org/officeDocument/2006/relationships/image" Target="../media/image123.jpg"/><Relationship Id="rId10" Type="http://schemas.openxmlformats.org/officeDocument/2006/relationships/image" Target="../media/image128.jpg"/><Relationship Id="rId4" Type="http://schemas.openxmlformats.org/officeDocument/2006/relationships/image" Target="../media/image122.jpg"/><Relationship Id="rId9" Type="http://schemas.openxmlformats.org/officeDocument/2006/relationships/image" Target="../media/image127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hyperlink" Target="http://www.iso.org/obp/ui/#iso%3Astd%3Aiso%3A8373%3Aed-2%3Av1%3Ae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g"/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rpa.mil/program/darpa-robotics-challenge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g"/><Relationship Id="rId7" Type="http://schemas.openxmlformats.org/officeDocument/2006/relationships/hyperlink" Target="http://www.darpa.mil/program/darpa-robotics-challenge" TargetMode="External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jpg"/><Relationship Id="rId5" Type="http://schemas.openxmlformats.org/officeDocument/2006/relationships/image" Target="../media/image137.jpg"/><Relationship Id="rId4" Type="http://schemas.openxmlformats.org/officeDocument/2006/relationships/image" Target="../media/image13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g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jpg"/><Relationship Id="rId4" Type="http://schemas.openxmlformats.org/officeDocument/2006/relationships/image" Target="../media/image144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ot-entertainment.com/" TargetMode="External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jpg"/><Relationship Id="rId5" Type="http://schemas.openxmlformats.org/officeDocument/2006/relationships/image" Target="../media/image148.jpg"/><Relationship Id="rId4" Type="http://schemas.openxmlformats.org/officeDocument/2006/relationships/image" Target="../media/image147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jpg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3.jpg"/><Relationship Id="rId4" Type="http://schemas.openxmlformats.org/officeDocument/2006/relationships/image" Target="../media/image152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jp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96644" y="2812796"/>
            <a:ext cx="595185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215"/>
              </a:spcBef>
            </a:pPr>
            <a:r>
              <a:rPr sz="3600" b="1" spc="-5" dirty="0">
                <a:latin typeface="Arial"/>
                <a:cs typeface="Arial"/>
              </a:rPr>
              <a:t>Historical Context, </a:t>
            </a:r>
            <a:r>
              <a:rPr sz="3600" b="1" spc="-50" dirty="0">
                <a:latin typeface="Arial"/>
                <a:cs typeface="Arial"/>
              </a:rPr>
              <a:t>Types, 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and</a:t>
            </a:r>
            <a:r>
              <a:rPr sz="3600" b="1" spc="-155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Applications</a:t>
            </a:r>
            <a:r>
              <a:rPr sz="3600" b="1" spc="-2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of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Robots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740" y="6637979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2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8351" y="562799"/>
            <a:ext cx="237624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B51A00"/>
                </a:solidFill>
              </a:rPr>
              <a:t>O</a:t>
            </a:r>
            <a:r>
              <a:rPr spc="-15" dirty="0">
                <a:solidFill>
                  <a:srgbClr val="B51A00"/>
                </a:solidFill>
              </a:rPr>
              <a:t>u</a:t>
            </a:r>
            <a:r>
              <a:rPr spc="-5" dirty="0">
                <a:solidFill>
                  <a:srgbClr val="B51A00"/>
                </a:solidFill>
              </a:rPr>
              <a:t>t</a:t>
            </a:r>
            <a:r>
              <a:rPr dirty="0">
                <a:solidFill>
                  <a:srgbClr val="B51A00"/>
                </a:solidFill>
              </a:rPr>
              <a:t>l</a:t>
            </a:r>
            <a:r>
              <a:rPr spc="-5" dirty="0">
                <a:solidFill>
                  <a:srgbClr val="B51A00"/>
                </a:solidFill>
              </a:rPr>
              <a:t>ine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775" y="1433813"/>
            <a:ext cx="8464419" cy="6402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3452" y="1511463"/>
            <a:ext cx="5582920" cy="2623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Historical</a:t>
            </a:r>
            <a:r>
              <a:rPr sz="28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Context</a:t>
            </a:r>
            <a:r>
              <a:rPr sz="28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8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Robotics</a:t>
            </a:r>
            <a:endParaRPr sz="28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</a:t>
            </a:r>
            <a:r>
              <a:rPr sz="2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“definition”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35" dirty="0">
                <a:solidFill>
                  <a:srgbClr val="7F7F7F"/>
                </a:solidFill>
                <a:latin typeface="Microsoft Sans Serif"/>
                <a:cs typeface="Microsoft Sans Serif"/>
              </a:rPr>
              <a:t>Types</a:t>
            </a:r>
            <a:r>
              <a:rPr sz="28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robots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Applications</a:t>
            </a:r>
            <a:r>
              <a:rPr sz="28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robotics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740" y="6637979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3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059" y="1311732"/>
            <a:ext cx="7995920" cy="6000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3675" marR="5080" indent="-181610">
              <a:lnSpc>
                <a:spcPts val="2160"/>
              </a:lnSpc>
              <a:spcBef>
                <a:spcPts val="375"/>
              </a:spcBef>
              <a:buFont typeface="Microsoft Sans Serif"/>
              <a:buChar char="•"/>
              <a:tabLst>
                <a:tab pos="209550" algn="l"/>
              </a:tabLst>
            </a:pPr>
            <a:r>
              <a:rPr sz="3000" i="1" baseline="1388" dirty="0">
                <a:solidFill>
                  <a:srgbClr val="00B050"/>
                </a:solidFill>
                <a:latin typeface="Arial"/>
                <a:cs typeface="Arial"/>
              </a:rPr>
              <a:t>Chinese</a:t>
            </a:r>
            <a:r>
              <a:rPr sz="3000" i="1" spc="-44" baseline="1388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000" spc="-7" baseline="1388" dirty="0">
                <a:solidFill>
                  <a:srgbClr val="7F7F7F"/>
                </a:solidFill>
                <a:latin typeface="Microsoft Sans Serif"/>
                <a:cs typeface="Microsoft Sans Serif"/>
              </a:rPr>
              <a:t>legends</a:t>
            </a:r>
            <a:r>
              <a:rPr sz="3000" spc="-97" baseline="1388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0B050"/>
                </a:solidFill>
                <a:latin typeface="Microsoft Sans Serif"/>
                <a:cs typeface="Microsoft Sans Serif"/>
              </a:rPr>
              <a:t>:</a:t>
            </a:r>
            <a:r>
              <a:rPr sz="1800" spc="-2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070C0"/>
                </a:solidFill>
                <a:latin typeface="Microsoft Sans Serif"/>
                <a:cs typeface="Microsoft Sans Serif"/>
              </a:rPr>
              <a:t>Yanshi</a:t>
            </a:r>
            <a:r>
              <a:rPr sz="18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F7F7F"/>
                </a:solidFill>
                <a:latin typeface="Microsoft Sans Serif"/>
                <a:cs typeface="Microsoft Sans Serif"/>
              </a:rPr>
              <a:t>(an</a:t>
            </a:r>
            <a:r>
              <a:rPr sz="1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artisan)</a:t>
            </a:r>
            <a:r>
              <a:rPr sz="18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presented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creature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that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looked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moved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human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3901" y="6193049"/>
            <a:ext cx="13074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Golem</a:t>
            </a:r>
            <a:r>
              <a:rPr sz="1400" spc="-7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“Creation”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9403" y="3910584"/>
            <a:ext cx="1609344" cy="21838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95465" y="2352470"/>
            <a:ext cx="3826510" cy="11169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60985" marR="5080" indent="-260985">
              <a:lnSpc>
                <a:spcPct val="99200"/>
              </a:lnSpc>
              <a:spcBef>
                <a:spcPts val="120"/>
              </a:spcBef>
              <a:buFont typeface="Microsoft Sans Serif"/>
              <a:buChar char="•"/>
              <a:tabLst>
                <a:tab pos="260985" algn="l"/>
                <a:tab pos="261620" algn="l"/>
              </a:tabLst>
            </a:pPr>
            <a:r>
              <a:rPr sz="2000" i="1" dirty="0">
                <a:solidFill>
                  <a:srgbClr val="00B050"/>
                </a:solidFill>
                <a:latin typeface="Arial"/>
                <a:cs typeface="Arial"/>
              </a:rPr>
              <a:t>Greek </a:t>
            </a:r>
            <a:r>
              <a:rPr sz="20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Mythology</a:t>
            </a:r>
            <a:r>
              <a:rPr sz="1800" spc="15" dirty="0">
                <a:solidFill>
                  <a:srgbClr val="00B050"/>
                </a:solidFill>
                <a:latin typeface="Microsoft Sans Serif"/>
                <a:cs typeface="Microsoft Sans Serif"/>
              </a:rPr>
              <a:t>: </a:t>
            </a:r>
            <a:r>
              <a:rPr sz="18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Hephaestus </a:t>
            </a:r>
            <a:r>
              <a:rPr sz="180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(god</a:t>
            </a:r>
            <a:r>
              <a:rPr sz="16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1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fire,</a:t>
            </a:r>
            <a:r>
              <a:rPr sz="1600" spc="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metalworking,</a:t>
            </a:r>
            <a:r>
              <a:rPr sz="1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blacksmiths, </a:t>
            </a:r>
            <a:r>
              <a:rPr sz="1600" spc="-409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sculptors,</a:t>
            </a:r>
            <a:r>
              <a:rPr sz="16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etc)</a:t>
            </a:r>
            <a:r>
              <a:rPr sz="1600" spc="7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built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golden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servants 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who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helped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people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410" y="2352470"/>
            <a:ext cx="3417570" cy="11195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30504" marR="5080" indent="-218440">
              <a:lnSpc>
                <a:spcPct val="99500"/>
              </a:lnSpc>
              <a:spcBef>
                <a:spcPts val="114"/>
              </a:spcBef>
              <a:buClr>
                <a:srgbClr val="00B050"/>
              </a:buClr>
              <a:buFont typeface="Microsoft Sans Serif"/>
              <a:buChar char="•"/>
              <a:tabLst>
                <a:tab pos="260985" algn="l"/>
                <a:tab pos="261620" algn="l"/>
                <a:tab pos="1177925" algn="l"/>
              </a:tabLst>
            </a:pPr>
            <a:r>
              <a:rPr dirty="0"/>
              <a:t>	</a:t>
            </a:r>
            <a:r>
              <a:rPr sz="2000" i="1" dirty="0">
                <a:solidFill>
                  <a:srgbClr val="00B050"/>
                </a:solidFill>
                <a:latin typeface="Arial"/>
                <a:cs typeface="Arial"/>
              </a:rPr>
              <a:t>Jewish	</a:t>
            </a:r>
            <a:r>
              <a:rPr sz="20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legends </a:t>
            </a:r>
            <a:r>
              <a:rPr sz="1800" dirty="0">
                <a:solidFill>
                  <a:srgbClr val="00B050"/>
                </a:solidFill>
                <a:latin typeface="Microsoft Sans Serif"/>
                <a:cs typeface="Microsoft Sans Serif"/>
              </a:rPr>
              <a:t>: </a:t>
            </a:r>
            <a:r>
              <a:rPr sz="18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Golem</a:t>
            </a:r>
            <a:r>
              <a:rPr sz="1800" spc="-5" dirty="0">
                <a:latin typeface="Microsoft Sans Serif"/>
                <a:cs typeface="Microsoft Sans Serif"/>
              </a:rPr>
              <a:t>, an 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artificial </a:t>
            </a:r>
            <a:r>
              <a:rPr sz="1800" spc="-5" dirty="0">
                <a:latin typeface="Microsoft Sans Serif"/>
                <a:cs typeface="Microsoft Sans Serif"/>
              </a:rPr>
              <a:t>anthropomorphic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being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that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was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alive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(Loew,</a:t>
            </a:r>
            <a:r>
              <a:rPr sz="1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</a:t>
            </a:r>
            <a:r>
              <a:rPr sz="16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Rabbi,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 “gave</a:t>
            </a:r>
            <a:r>
              <a:rPr sz="1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life”</a:t>
            </a:r>
            <a:r>
              <a:rPr sz="16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to</a:t>
            </a:r>
            <a:r>
              <a:rPr sz="16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it)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8853" y="6193049"/>
            <a:ext cx="8756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He</a:t>
            </a:r>
            <a:r>
              <a:rPr sz="1400" spc="-10" dirty="0">
                <a:solidFill>
                  <a:srgbClr val="7F7F7F"/>
                </a:solidFill>
                <a:latin typeface="Calibri"/>
                <a:cs typeface="Calibri"/>
              </a:rPr>
              <a:t>p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ha</a:t>
            </a:r>
            <a:r>
              <a:rPr sz="1400" spc="-10" dirty="0">
                <a:solidFill>
                  <a:srgbClr val="7F7F7F"/>
                </a:solidFill>
                <a:latin typeface="Calibri"/>
                <a:cs typeface="Calibri"/>
              </a:rPr>
              <a:t>es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t</a:t>
            </a:r>
            <a:r>
              <a:rPr sz="1400" spc="-10" dirty="0">
                <a:solidFill>
                  <a:srgbClr val="7F7F7F"/>
                </a:solidFill>
                <a:latin typeface="Calibri"/>
                <a:cs typeface="Calibri"/>
              </a:rPr>
              <a:t>u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135900" y="308766"/>
            <a:ext cx="2872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Some</a:t>
            </a:r>
            <a:r>
              <a:rPr spc="-20" dirty="0"/>
              <a:t> </a:t>
            </a:r>
            <a:r>
              <a:rPr spc="-5" dirty="0"/>
              <a:t>Context</a:t>
            </a:r>
            <a:r>
              <a:rPr dirty="0"/>
              <a:t> </a:t>
            </a:r>
            <a:r>
              <a:rPr spc="-5" dirty="0"/>
              <a:t>…</a:t>
            </a: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9739" y="3646932"/>
            <a:ext cx="1475232" cy="25664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82029" y="6577082"/>
            <a:ext cx="14230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A6A6A6"/>
                </a:solidFill>
                <a:latin typeface="Calibri"/>
                <a:cs typeface="Calibri"/>
              </a:rPr>
              <a:t>[Images</a:t>
            </a:r>
            <a:r>
              <a:rPr sz="1100" spc="-6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A6A6A6"/>
                </a:solidFill>
                <a:latin typeface="Calibri"/>
                <a:cs typeface="Calibri"/>
              </a:rPr>
              <a:t>from</a:t>
            </a:r>
            <a:r>
              <a:rPr sz="11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6A6A6"/>
                </a:solidFill>
                <a:latin typeface="Calibri"/>
                <a:cs typeface="Calibri"/>
              </a:rPr>
              <a:t>Wikipedia]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740" y="6637979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059" y="1307205"/>
            <a:ext cx="5813425" cy="2453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5"/>
              </a:spcBef>
              <a:buChar char="•"/>
              <a:tabLst>
                <a:tab pos="2095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322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A.C.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Aristotle</a:t>
            </a:r>
            <a:r>
              <a:rPr sz="2000" spc="-5" dirty="0">
                <a:latin typeface="Microsoft Sans Serif"/>
                <a:cs typeface="Microsoft Sans Serif"/>
              </a:rPr>
              <a:t>: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F7F7F"/>
                </a:solidFill>
                <a:latin typeface="Microsoft Sans Serif"/>
                <a:cs typeface="Microsoft Sans Serif"/>
              </a:rPr>
              <a:t>“If</a:t>
            </a:r>
            <a:r>
              <a:rPr sz="1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every</a:t>
            </a:r>
            <a:r>
              <a:rPr sz="1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tool,</a:t>
            </a:r>
            <a:r>
              <a:rPr sz="1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when</a:t>
            </a:r>
            <a:r>
              <a:rPr sz="1800" spc="7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given</a:t>
            </a:r>
            <a:r>
              <a:rPr sz="1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an</a:t>
            </a:r>
            <a:r>
              <a:rPr sz="1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order, </a:t>
            </a:r>
            <a:r>
              <a:rPr sz="1800" spc="-459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could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do </a:t>
            </a:r>
            <a:r>
              <a:rPr sz="1800" dirty="0">
                <a:solidFill>
                  <a:srgbClr val="7F7F7F"/>
                </a:solidFill>
                <a:latin typeface="Microsoft Sans Serif"/>
                <a:cs typeface="Microsoft Sans Serif"/>
              </a:rPr>
              <a:t>the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indicated </a:t>
            </a:r>
            <a:r>
              <a:rPr sz="18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work </a:t>
            </a:r>
            <a:r>
              <a:rPr sz="1800" spc="780" dirty="0">
                <a:solidFill>
                  <a:srgbClr val="7F7F7F"/>
                </a:solidFill>
                <a:latin typeface="Microsoft Sans Serif"/>
                <a:cs typeface="Microsoft Sans Serif"/>
              </a:rPr>
              <a:t>…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there </a:t>
            </a:r>
            <a:r>
              <a:rPr sz="18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would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be no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need </a:t>
            </a:r>
            <a:r>
              <a:rPr sz="1800" spc="-46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apprentices</a:t>
            </a:r>
            <a:r>
              <a:rPr sz="18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or</a:t>
            </a:r>
            <a:r>
              <a:rPr sz="18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slaves”</a:t>
            </a:r>
            <a:endParaRPr sz="1800">
              <a:latin typeface="Microsoft Sans Serif"/>
              <a:cs typeface="Microsoft Sans Serif"/>
            </a:endParaRPr>
          </a:p>
          <a:p>
            <a:pPr marL="208915" marR="572770" indent="-196850">
              <a:lnSpc>
                <a:spcPct val="100000"/>
              </a:lnSpc>
              <a:spcBef>
                <a:spcPts val="1630"/>
              </a:spcBef>
              <a:buChar char="•"/>
              <a:tabLst>
                <a:tab pos="2095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200 A.C. </a:t>
            </a:r>
            <a:r>
              <a:rPr sz="20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Ctesibus </a:t>
            </a:r>
            <a:r>
              <a:rPr sz="2000" spc="-5" dirty="0">
                <a:latin typeface="Microsoft Sans Serif"/>
                <a:cs typeface="Microsoft Sans Serif"/>
              </a:rPr>
              <a:t>of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Alexandria: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he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designed </a:t>
            </a:r>
            <a:r>
              <a:rPr sz="1800" spc="-46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water</a:t>
            </a:r>
            <a:r>
              <a:rPr sz="1800" spc="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clocks</a:t>
            </a:r>
            <a:r>
              <a:rPr sz="18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with</a:t>
            </a:r>
            <a:r>
              <a:rPr sz="1800" spc="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movable</a:t>
            </a:r>
            <a:r>
              <a:rPr sz="1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parts</a:t>
            </a:r>
            <a:endParaRPr sz="1800">
              <a:latin typeface="Microsoft Sans Serif"/>
              <a:cs typeface="Microsoft Sans Serif"/>
            </a:endParaRPr>
          </a:p>
          <a:p>
            <a:pPr marL="208915" marR="169545" indent="-196850">
              <a:lnSpc>
                <a:spcPct val="100000"/>
              </a:lnSpc>
              <a:spcBef>
                <a:spcPts val="1630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Microsoft Sans Serif"/>
                <a:cs typeface="Microsoft Sans Serif"/>
              </a:rPr>
              <a:t>1738: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70C0"/>
                </a:solidFill>
                <a:latin typeface="Microsoft Sans Serif"/>
                <a:cs typeface="Microsoft Sans Serif"/>
              </a:rPr>
              <a:t>Jacques</a:t>
            </a:r>
            <a:r>
              <a:rPr sz="20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2000" spc="-15" dirty="0">
                <a:solidFill>
                  <a:srgbClr val="0070C0"/>
                </a:solidFill>
                <a:latin typeface="Microsoft Sans Serif"/>
                <a:cs typeface="Microsoft Sans Serif"/>
              </a:rPr>
              <a:t>Vaucanson:</a:t>
            </a:r>
            <a:r>
              <a:rPr sz="2000" spc="-7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he</a:t>
            </a:r>
            <a:r>
              <a:rPr sz="18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built</a:t>
            </a:r>
            <a:r>
              <a:rPr sz="18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F7F7F"/>
                </a:solidFill>
                <a:latin typeface="Microsoft Sans Serif"/>
                <a:cs typeface="Microsoft Sans Serif"/>
              </a:rPr>
              <a:t>a</a:t>
            </a:r>
            <a:r>
              <a:rPr sz="18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mechanic </a:t>
            </a:r>
            <a:r>
              <a:rPr sz="1800" spc="-459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duck</a:t>
            </a:r>
            <a:r>
              <a:rPr sz="18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and</a:t>
            </a:r>
            <a:r>
              <a:rPr sz="1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F7F7F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flute</a:t>
            </a:r>
            <a:r>
              <a:rPr sz="18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player</a:t>
            </a:r>
            <a:r>
              <a:rPr sz="1800" spc="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(“movable</a:t>
            </a:r>
            <a:r>
              <a:rPr sz="1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anatomy”)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8252" y="1375602"/>
            <a:ext cx="2433828" cy="40595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2827" y="4164538"/>
            <a:ext cx="3305555" cy="22896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35900" y="308766"/>
            <a:ext cx="2872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Some</a:t>
            </a:r>
            <a:r>
              <a:rPr spc="-20" dirty="0"/>
              <a:t> </a:t>
            </a:r>
            <a:r>
              <a:rPr spc="-5" dirty="0"/>
              <a:t>Context</a:t>
            </a:r>
            <a:r>
              <a:rPr dirty="0"/>
              <a:t> </a:t>
            </a:r>
            <a:r>
              <a:rPr spc="-5" dirty="0"/>
              <a:t>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740" y="6637979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5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796" y="3254437"/>
            <a:ext cx="3778411" cy="21500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87932" y="5430961"/>
            <a:ext cx="6704965" cy="84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100"/>
              </a:spcBef>
              <a:tabLst>
                <a:tab pos="5473065" algn="l"/>
              </a:tabLst>
            </a:pPr>
            <a:r>
              <a:rPr sz="1400" spc="-20" dirty="0">
                <a:solidFill>
                  <a:srgbClr val="A6A6A6"/>
                </a:solidFill>
                <a:latin typeface="Calibri"/>
                <a:cs typeface="Calibri"/>
              </a:rPr>
              <a:t>Čapek’s</a:t>
            </a:r>
            <a:r>
              <a:rPr sz="1400" spc="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play	</a:t>
            </a:r>
            <a:r>
              <a:rPr sz="1400" spc="-20" dirty="0">
                <a:solidFill>
                  <a:srgbClr val="A6A6A6"/>
                </a:solidFill>
                <a:latin typeface="Calibri"/>
                <a:cs typeface="Calibri"/>
              </a:rPr>
              <a:t>Čapek’s</a:t>
            </a:r>
            <a:r>
              <a:rPr sz="1400" spc="29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“Robot”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800" spc="-5" dirty="0">
                <a:latin typeface="Microsoft Sans Serif"/>
                <a:cs typeface="Microsoft Sans Serif"/>
              </a:rPr>
              <a:t>Summary: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humans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create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robots,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then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robots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destroy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humans.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58996" y="2200655"/>
            <a:ext cx="426720" cy="262255"/>
            <a:chOff x="4158996" y="2200655"/>
            <a:chExt cx="426720" cy="262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5760" y="2205227"/>
              <a:ext cx="393191" cy="2514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8996" y="2200655"/>
              <a:ext cx="426719" cy="2621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58996" y="2200655"/>
              <a:ext cx="426720" cy="262255"/>
            </a:xfrm>
            <a:custGeom>
              <a:avLst/>
              <a:gdLst/>
              <a:ahLst/>
              <a:cxnLst/>
              <a:rect l="l" t="t" r="r" b="b"/>
              <a:pathLst>
                <a:path w="426720" h="262255">
                  <a:moveTo>
                    <a:pt x="19812" y="126492"/>
                  </a:moveTo>
                  <a:lnTo>
                    <a:pt x="0" y="126492"/>
                  </a:lnTo>
                  <a:lnTo>
                    <a:pt x="213359" y="262128"/>
                  </a:lnTo>
                  <a:lnTo>
                    <a:pt x="227743" y="252984"/>
                  </a:lnTo>
                  <a:lnTo>
                    <a:pt x="211836" y="252984"/>
                  </a:lnTo>
                  <a:lnTo>
                    <a:pt x="214121" y="251513"/>
                  </a:lnTo>
                  <a:lnTo>
                    <a:pt x="34023" y="135636"/>
                  </a:lnTo>
                  <a:lnTo>
                    <a:pt x="16763" y="135636"/>
                  </a:lnTo>
                  <a:lnTo>
                    <a:pt x="19812" y="126492"/>
                  </a:lnTo>
                  <a:close/>
                </a:path>
                <a:path w="426720" h="262255">
                  <a:moveTo>
                    <a:pt x="214122" y="251513"/>
                  </a:moveTo>
                  <a:lnTo>
                    <a:pt x="211836" y="252984"/>
                  </a:lnTo>
                  <a:lnTo>
                    <a:pt x="216407" y="252984"/>
                  </a:lnTo>
                  <a:lnTo>
                    <a:pt x="214122" y="251513"/>
                  </a:lnTo>
                  <a:close/>
                </a:path>
                <a:path w="426720" h="262255">
                  <a:moveTo>
                    <a:pt x="408431" y="126492"/>
                  </a:moveTo>
                  <a:lnTo>
                    <a:pt x="214122" y="251513"/>
                  </a:lnTo>
                  <a:lnTo>
                    <a:pt x="216407" y="252984"/>
                  </a:lnTo>
                  <a:lnTo>
                    <a:pt x="227743" y="252984"/>
                  </a:lnTo>
                  <a:lnTo>
                    <a:pt x="412336" y="135636"/>
                  </a:lnTo>
                  <a:lnTo>
                    <a:pt x="409955" y="135636"/>
                  </a:lnTo>
                  <a:lnTo>
                    <a:pt x="408431" y="126492"/>
                  </a:lnTo>
                  <a:close/>
                </a:path>
                <a:path w="426720" h="262255">
                  <a:moveTo>
                    <a:pt x="19812" y="126492"/>
                  </a:moveTo>
                  <a:lnTo>
                    <a:pt x="16763" y="135636"/>
                  </a:lnTo>
                  <a:lnTo>
                    <a:pt x="34023" y="135636"/>
                  </a:lnTo>
                  <a:lnTo>
                    <a:pt x="19812" y="126492"/>
                  </a:lnTo>
                  <a:close/>
                </a:path>
                <a:path w="426720" h="262255">
                  <a:moveTo>
                    <a:pt x="109727" y="126492"/>
                  </a:moveTo>
                  <a:lnTo>
                    <a:pt x="19812" y="126492"/>
                  </a:lnTo>
                  <a:lnTo>
                    <a:pt x="34023" y="135636"/>
                  </a:lnTo>
                  <a:lnTo>
                    <a:pt x="120395" y="135636"/>
                  </a:lnTo>
                  <a:lnTo>
                    <a:pt x="120395" y="131064"/>
                  </a:lnTo>
                  <a:lnTo>
                    <a:pt x="109727" y="131064"/>
                  </a:lnTo>
                  <a:lnTo>
                    <a:pt x="109727" y="126492"/>
                  </a:lnTo>
                  <a:close/>
                </a:path>
                <a:path w="426720" h="262255">
                  <a:moveTo>
                    <a:pt x="307848" y="4572"/>
                  </a:moveTo>
                  <a:lnTo>
                    <a:pt x="307848" y="135636"/>
                  </a:lnTo>
                  <a:lnTo>
                    <a:pt x="394220" y="135636"/>
                  </a:lnTo>
                  <a:lnTo>
                    <a:pt x="401326" y="131064"/>
                  </a:lnTo>
                  <a:lnTo>
                    <a:pt x="316991" y="131064"/>
                  </a:lnTo>
                  <a:lnTo>
                    <a:pt x="312419" y="126492"/>
                  </a:lnTo>
                  <a:lnTo>
                    <a:pt x="316991" y="126492"/>
                  </a:lnTo>
                  <a:lnTo>
                    <a:pt x="316991" y="9144"/>
                  </a:lnTo>
                  <a:lnTo>
                    <a:pt x="312419" y="9144"/>
                  </a:lnTo>
                  <a:lnTo>
                    <a:pt x="307848" y="4572"/>
                  </a:lnTo>
                  <a:close/>
                </a:path>
                <a:path w="426720" h="262255">
                  <a:moveTo>
                    <a:pt x="426719" y="126492"/>
                  </a:moveTo>
                  <a:lnTo>
                    <a:pt x="408431" y="126492"/>
                  </a:lnTo>
                  <a:lnTo>
                    <a:pt x="409955" y="135636"/>
                  </a:lnTo>
                  <a:lnTo>
                    <a:pt x="412336" y="135636"/>
                  </a:lnTo>
                  <a:lnTo>
                    <a:pt x="426719" y="126492"/>
                  </a:lnTo>
                  <a:close/>
                </a:path>
                <a:path w="426720" h="262255">
                  <a:moveTo>
                    <a:pt x="316991" y="0"/>
                  </a:moveTo>
                  <a:lnTo>
                    <a:pt x="109727" y="0"/>
                  </a:lnTo>
                  <a:lnTo>
                    <a:pt x="109727" y="131064"/>
                  </a:lnTo>
                  <a:lnTo>
                    <a:pt x="115824" y="126492"/>
                  </a:lnTo>
                  <a:lnTo>
                    <a:pt x="120395" y="126492"/>
                  </a:lnTo>
                  <a:lnTo>
                    <a:pt x="120395" y="9144"/>
                  </a:lnTo>
                  <a:lnTo>
                    <a:pt x="115824" y="9144"/>
                  </a:lnTo>
                  <a:lnTo>
                    <a:pt x="120395" y="4572"/>
                  </a:lnTo>
                  <a:lnTo>
                    <a:pt x="316991" y="4572"/>
                  </a:lnTo>
                  <a:lnTo>
                    <a:pt x="316991" y="0"/>
                  </a:lnTo>
                  <a:close/>
                </a:path>
                <a:path w="426720" h="262255">
                  <a:moveTo>
                    <a:pt x="120395" y="126492"/>
                  </a:moveTo>
                  <a:lnTo>
                    <a:pt x="115824" y="126492"/>
                  </a:lnTo>
                  <a:lnTo>
                    <a:pt x="109727" y="131064"/>
                  </a:lnTo>
                  <a:lnTo>
                    <a:pt x="120395" y="131064"/>
                  </a:lnTo>
                  <a:lnTo>
                    <a:pt x="120395" y="126492"/>
                  </a:lnTo>
                  <a:close/>
                </a:path>
                <a:path w="426720" h="262255">
                  <a:moveTo>
                    <a:pt x="316991" y="126492"/>
                  </a:moveTo>
                  <a:lnTo>
                    <a:pt x="312419" y="126492"/>
                  </a:lnTo>
                  <a:lnTo>
                    <a:pt x="316991" y="131064"/>
                  </a:lnTo>
                  <a:lnTo>
                    <a:pt x="316991" y="126492"/>
                  </a:lnTo>
                  <a:close/>
                </a:path>
                <a:path w="426720" h="262255">
                  <a:moveTo>
                    <a:pt x="408431" y="126492"/>
                  </a:moveTo>
                  <a:lnTo>
                    <a:pt x="316991" y="126492"/>
                  </a:lnTo>
                  <a:lnTo>
                    <a:pt x="316991" y="131064"/>
                  </a:lnTo>
                  <a:lnTo>
                    <a:pt x="401326" y="131064"/>
                  </a:lnTo>
                  <a:lnTo>
                    <a:pt x="408431" y="126492"/>
                  </a:lnTo>
                  <a:close/>
                </a:path>
                <a:path w="426720" h="262255">
                  <a:moveTo>
                    <a:pt x="120395" y="4572"/>
                  </a:moveTo>
                  <a:lnTo>
                    <a:pt x="115824" y="9144"/>
                  </a:lnTo>
                  <a:lnTo>
                    <a:pt x="120395" y="9144"/>
                  </a:lnTo>
                  <a:lnTo>
                    <a:pt x="120395" y="4572"/>
                  </a:lnTo>
                  <a:close/>
                </a:path>
                <a:path w="426720" h="262255">
                  <a:moveTo>
                    <a:pt x="307848" y="4572"/>
                  </a:moveTo>
                  <a:lnTo>
                    <a:pt x="120395" y="4572"/>
                  </a:lnTo>
                  <a:lnTo>
                    <a:pt x="120395" y="9144"/>
                  </a:lnTo>
                  <a:lnTo>
                    <a:pt x="307848" y="9144"/>
                  </a:lnTo>
                  <a:lnTo>
                    <a:pt x="307848" y="4572"/>
                  </a:lnTo>
                  <a:close/>
                </a:path>
                <a:path w="426720" h="262255">
                  <a:moveTo>
                    <a:pt x="316991" y="4572"/>
                  </a:moveTo>
                  <a:lnTo>
                    <a:pt x="307848" y="4572"/>
                  </a:lnTo>
                  <a:lnTo>
                    <a:pt x="312419" y="9144"/>
                  </a:lnTo>
                  <a:lnTo>
                    <a:pt x="316991" y="9144"/>
                  </a:lnTo>
                  <a:lnTo>
                    <a:pt x="316991" y="457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4937" y="1116150"/>
            <a:ext cx="6085205" cy="176085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780"/>
              </a:spcBef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Karel</a:t>
            </a:r>
            <a:r>
              <a:rPr sz="2000" spc="-1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B050"/>
                </a:solidFill>
                <a:latin typeface="Microsoft Sans Serif"/>
                <a:cs typeface="Microsoft Sans Serif"/>
              </a:rPr>
              <a:t>Čapek</a:t>
            </a:r>
            <a:r>
              <a:rPr sz="20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(1920)</a:t>
            </a:r>
            <a:r>
              <a:rPr sz="2000" spc="-5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605"/>
              </a:spcBef>
            </a:pPr>
            <a:r>
              <a:rPr sz="1800" spc="-5" dirty="0">
                <a:latin typeface="Microsoft Sans Serif"/>
                <a:cs typeface="Microsoft Sans Serif"/>
              </a:rPr>
              <a:t>Science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fiction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play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R.U.R.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“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i="1" spc="-15" dirty="0">
                <a:latin typeface="Arial"/>
                <a:cs typeface="Arial"/>
              </a:rPr>
              <a:t>Rossum’s</a:t>
            </a:r>
            <a:r>
              <a:rPr sz="1800" i="1" spc="5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Universal</a:t>
            </a:r>
            <a:r>
              <a:rPr sz="1800" i="1" dirty="0"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0070C0"/>
                </a:solidFill>
                <a:latin typeface="Arial"/>
                <a:cs typeface="Arial"/>
              </a:rPr>
              <a:t>Robots</a:t>
            </a:r>
            <a:r>
              <a:rPr sz="1800" spc="-5" dirty="0"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10"/>
              </a:spcBef>
            </a:pP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(“</a:t>
            </a:r>
            <a:r>
              <a:rPr sz="1600" i="1" spc="-5" dirty="0">
                <a:solidFill>
                  <a:srgbClr val="7F7F7F"/>
                </a:solidFill>
                <a:latin typeface="Arial"/>
                <a:cs typeface="Arial"/>
              </a:rPr>
              <a:t>Rossumovi</a:t>
            </a:r>
            <a:r>
              <a:rPr sz="1600" i="1" spc="-10" dirty="0">
                <a:solidFill>
                  <a:srgbClr val="7F7F7F"/>
                </a:solidFill>
                <a:latin typeface="Arial"/>
                <a:cs typeface="Arial"/>
              </a:rPr>
              <a:t> Univerzální</a:t>
            </a:r>
            <a:r>
              <a:rPr sz="1600" i="1" spc="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7F7F7F"/>
                </a:solidFill>
                <a:latin typeface="Arial"/>
                <a:cs typeface="Arial"/>
              </a:rPr>
              <a:t>Roboti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”)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 marL="1964689">
              <a:lnSpc>
                <a:spcPct val="100000"/>
              </a:lnSpc>
              <a:spcBef>
                <a:spcPts val="1450"/>
              </a:spcBef>
            </a:pPr>
            <a:r>
              <a:rPr sz="2000" b="1" spc="-10" dirty="0">
                <a:solidFill>
                  <a:srgbClr val="0070C0"/>
                </a:solidFill>
                <a:latin typeface="Calibri"/>
                <a:cs typeface="Calibri"/>
              </a:rPr>
              <a:t>Robota</a:t>
            </a:r>
            <a:r>
              <a:rPr sz="20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Calibri"/>
                <a:cs typeface="Calibri"/>
              </a:rPr>
              <a:t>(in</a:t>
            </a:r>
            <a:r>
              <a:rPr sz="1800" spc="2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Calibri"/>
                <a:cs typeface="Calibri"/>
              </a:rPr>
              <a:t>czech)</a:t>
            </a:r>
            <a:r>
              <a:rPr sz="1800" spc="5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forced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laborer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5025" y="1013049"/>
            <a:ext cx="1194114" cy="157317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48447" y="3236564"/>
            <a:ext cx="1169726" cy="215534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2939" y="6548060"/>
            <a:ext cx="4943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More</a:t>
            </a:r>
            <a:r>
              <a:rPr sz="1400" spc="-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details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about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 the 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plot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: 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https://en.wikipedia.org/wiki/R.U.R.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288651" y="308766"/>
            <a:ext cx="4566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Origin of the</a:t>
            </a:r>
            <a:r>
              <a:rPr spc="15" dirty="0"/>
              <a:t> </a:t>
            </a:r>
            <a:r>
              <a:rPr spc="-10" dirty="0"/>
              <a:t>word</a:t>
            </a:r>
            <a:r>
              <a:rPr spc="5" dirty="0"/>
              <a:t> </a:t>
            </a:r>
            <a:r>
              <a:rPr spc="-10" dirty="0"/>
              <a:t>“Robot”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83" y="3139439"/>
            <a:ext cx="1911095" cy="28102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0547" y="1080516"/>
            <a:ext cx="1663098" cy="15925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2237" y="1139914"/>
            <a:ext cx="8106409" cy="45383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21615" indent="-196850">
              <a:lnSpc>
                <a:spcPct val="100000"/>
              </a:lnSpc>
              <a:spcBef>
                <a:spcPts val="590"/>
              </a:spcBef>
              <a:buChar char="•"/>
              <a:tabLst>
                <a:tab pos="222250" algn="l"/>
              </a:tabLst>
            </a:pPr>
            <a:r>
              <a:rPr sz="2000" dirty="0">
                <a:solidFill>
                  <a:srgbClr val="00B050"/>
                </a:solidFill>
                <a:latin typeface="Microsoft Sans Serif"/>
                <a:cs typeface="Microsoft Sans Serif"/>
              </a:rPr>
              <a:t>Isaac</a:t>
            </a:r>
            <a:r>
              <a:rPr sz="2000" spc="-13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B050"/>
                </a:solidFill>
                <a:latin typeface="Microsoft Sans Serif"/>
                <a:cs typeface="Microsoft Sans Serif"/>
              </a:rPr>
              <a:t>Asimov</a:t>
            </a:r>
            <a:r>
              <a:rPr sz="2000" spc="-3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(1920-1992)</a:t>
            </a:r>
            <a:endParaRPr sz="1800">
              <a:latin typeface="Microsoft Sans Serif"/>
              <a:cs typeface="Microsoft Sans Serif"/>
            </a:endParaRPr>
          </a:p>
          <a:p>
            <a:pPr marL="473075" lvl="1" indent="-197485">
              <a:lnSpc>
                <a:spcPct val="100000"/>
              </a:lnSpc>
              <a:spcBef>
                <a:spcPts val="440"/>
              </a:spcBef>
              <a:buChar char="-"/>
              <a:tabLst>
                <a:tab pos="473709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used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word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“</a:t>
            </a:r>
            <a:r>
              <a:rPr sz="1800" b="1" spc="-5" dirty="0">
                <a:solidFill>
                  <a:srgbClr val="376092"/>
                </a:solidFill>
                <a:latin typeface="Arial"/>
                <a:cs typeface="Arial"/>
              </a:rPr>
              <a:t>robotics</a:t>
            </a:r>
            <a:r>
              <a:rPr sz="1800" spc="-5" dirty="0">
                <a:latin typeface="Microsoft Sans Serif"/>
                <a:cs typeface="Microsoft Sans Serif"/>
              </a:rPr>
              <a:t>”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(in</a:t>
            </a:r>
            <a:r>
              <a:rPr sz="16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science</a:t>
            </a:r>
            <a:r>
              <a:rPr sz="1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fiction</a:t>
            </a:r>
            <a:r>
              <a:rPr sz="1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plays)</a:t>
            </a:r>
            <a:endParaRPr sz="1600">
              <a:latin typeface="Microsoft Sans Serif"/>
              <a:cs typeface="Microsoft Sans Serif"/>
            </a:endParaRPr>
          </a:p>
          <a:p>
            <a:pPr marL="473075" marR="2872105" lvl="1" indent="-196850">
              <a:lnSpc>
                <a:spcPct val="100000"/>
              </a:lnSpc>
              <a:spcBef>
                <a:spcPts val="434"/>
              </a:spcBef>
              <a:buChar char="-"/>
              <a:tabLst>
                <a:tab pos="473709" algn="l"/>
              </a:tabLst>
            </a:pPr>
            <a:r>
              <a:rPr sz="1800" dirty="0">
                <a:latin typeface="Microsoft Sans Serif"/>
                <a:cs typeface="Microsoft Sans Serif"/>
              </a:rPr>
              <a:t>Some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of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his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books: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Robot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(1950)</a:t>
            </a:r>
            <a:r>
              <a:rPr sz="1800" spc="-5" dirty="0">
                <a:latin typeface="Microsoft Sans Serif"/>
                <a:cs typeface="Microsoft Sans Serif"/>
              </a:rPr>
              <a:t>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Robots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Empire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(1985)</a:t>
            </a:r>
            <a:endParaRPr sz="16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Font typeface="Microsoft Sans Serif"/>
              <a:buChar char="-"/>
            </a:pPr>
            <a:endParaRPr sz="20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Microsoft Sans Serif"/>
              <a:buChar char="-"/>
            </a:pPr>
            <a:endParaRPr sz="2550">
              <a:latin typeface="Microsoft Sans Serif"/>
              <a:cs typeface="Microsoft Sans Serif"/>
            </a:endParaRPr>
          </a:p>
          <a:p>
            <a:pPr marL="2747010" marR="38608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He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wrote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so-called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“robotics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laws”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(in</a:t>
            </a:r>
            <a:r>
              <a:rPr sz="18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science </a:t>
            </a:r>
            <a:r>
              <a:rPr sz="1800" spc="-46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fiction)</a:t>
            </a:r>
            <a:r>
              <a:rPr sz="1800" spc="-5" dirty="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3121660" marR="569595" lvl="2" indent="-343535">
              <a:lnSpc>
                <a:spcPct val="100000"/>
              </a:lnSpc>
              <a:buAutoNum type="arabicPeriod"/>
              <a:tabLst>
                <a:tab pos="3121660" algn="l"/>
                <a:tab pos="3122295" algn="l"/>
              </a:tabLst>
            </a:pP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A</a:t>
            </a:r>
            <a:r>
              <a:rPr sz="1600" spc="-6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robot</a:t>
            </a:r>
            <a:r>
              <a:rPr sz="16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may</a:t>
            </a:r>
            <a:r>
              <a:rPr sz="1600" spc="4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not</a:t>
            </a:r>
            <a:r>
              <a:rPr sz="16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injure</a:t>
            </a:r>
            <a:r>
              <a:rPr sz="1600" spc="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a</a:t>
            </a:r>
            <a:r>
              <a:rPr sz="16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human</a:t>
            </a:r>
            <a:r>
              <a:rPr sz="1600" spc="3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being</a:t>
            </a:r>
            <a:r>
              <a:rPr sz="1600" spc="1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or,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through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inaction,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allow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human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being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to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come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to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harm.</a:t>
            </a:r>
            <a:endParaRPr sz="1600">
              <a:latin typeface="Microsoft Sans Serif"/>
              <a:cs typeface="Microsoft Sans Serif"/>
            </a:endParaRPr>
          </a:p>
          <a:p>
            <a:pPr marL="3121660" marR="400050" lvl="2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121660" algn="l"/>
                <a:tab pos="3122295" algn="l"/>
              </a:tabLst>
            </a:pP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A</a:t>
            </a:r>
            <a:r>
              <a:rPr sz="1600" spc="-6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robot</a:t>
            </a:r>
            <a:r>
              <a:rPr sz="16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must</a:t>
            </a:r>
            <a:r>
              <a:rPr sz="16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obey</a:t>
            </a:r>
            <a:r>
              <a:rPr sz="1600" spc="2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orders</a:t>
            </a:r>
            <a:r>
              <a:rPr sz="1600" spc="4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given</a:t>
            </a:r>
            <a:r>
              <a:rPr sz="1600" spc="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by</a:t>
            </a:r>
            <a:r>
              <a:rPr sz="1600" spc="2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humans</a:t>
            </a:r>
            <a:r>
              <a:rPr sz="1600" spc="-5" dirty="0">
                <a:latin typeface="Microsoft Sans Serif"/>
                <a:cs typeface="Microsoft Sans Serif"/>
              </a:rPr>
              <a:t>,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except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where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such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orders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would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conflict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with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the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1</a:t>
            </a:r>
            <a:r>
              <a:rPr sz="1575" baseline="26455" dirty="0">
                <a:latin typeface="Microsoft Sans Serif"/>
                <a:cs typeface="Microsoft Sans Serif"/>
              </a:rPr>
              <a:t>st</a:t>
            </a:r>
            <a:r>
              <a:rPr sz="1575" spc="262" baseline="26455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law.</a:t>
            </a:r>
            <a:endParaRPr sz="1600">
              <a:latin typeface="Microsoft Sans Serif"/>
              <a:cs typeface="Microsoft Sans Serif"/>
            </a:endParaRPr>
          </a:p>
          <a:p>
            <a:pPr marL="3121660" marR="81280" lvl="2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121660" algn="l"/>
                <a:tab pos="3122295" algn="l"/>
              </a:tabLst>
            </a:pP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A</a:t>
            </a:r>
            <a:r>
              <a:rPr sz="1600" spc="-6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robot</a:t>
            </a:r>
            <a:r>
              <a:rPr sz="16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must</a:t>
            </a:r>
            <a:r>
              <a:rPr sz="1600" spc="3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protect</a:t>
            </a:r>
            <a:r>
              <a:rPr sz="1600" spc="4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its</a:t>
            </a:r>
            <a:r>
              <a:rPr sz="1600" spc="3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own</a:t>
            </a:r>
            <a:r>
              <a:rPr sz="16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existence</a:t>
            </a:r>
            <a:r>
              <a:rPr sz="1600" spc="2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as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long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as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such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protection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does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not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conflict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5" dirty="0">
                <a:latin typeface="Microsoft Sans Serif"/>
                <a:cs typeface="Microsoft Sans Serif"/>
              </a:rPr>
              <a:t>with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the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1</a:t>
            </a:r>
            <a:r>
              <a:rPr sz="1575" baseline="26455" dirty="0">
                <a:latin typeface="Microsoft Sans Serif"/>
                <a:cs typeface="Microsoft Sans Serif"/>
              </a:rPr>
              <a:t>st</a:t>
            </a:r>
            <a:r>
              <a:rPr sz="1575" spc="254" baseline="2645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or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2</a:t>
            </a:r>
            <a:r>
              <a:rPr sz="1575" baseline="26455" dirty="0">
                <a:latin typeface="Microsoft Sans Serif"/>
                <a:cs typeface="Microsoft Sans Serif"/>
              </a:rPr>
              <a:t>nd</a:t>
            </a:r>
            <a:r>
              <a:rPr sz="1575" spc="247" baseline="26455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law.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6340" y="6649961"/>
            <a:ext cx="14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6</a:t>
            </a:fld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22060" y="308766"/>
            <a:ext cx="5499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First</a:t>
            </a:r>
            <a:r>
              <a:rPr dirty="0"/>
              <a:t> </a:t>
            </a:r>
            <a:r>
              <a:rPr spc="-5" dirty="0"/>
              <a:t>use</a:t>
            </a:r>
            <a:r>
              <a:rPr spc="1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10" dirty="0"/>
              <a:t>word </a:t>
            </a:r>
            <a:r>
              <a:rPr spc="-5" dirty="0"/>
              <a:t>“Robotics”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9021" y="5322906"/>
            <a:ext cx="4077335" cy="424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Industrial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Robots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History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(South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Australia Documentary)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https://youtu.be/HVLbtrlL5_E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2852" y="1624583"/>
            <a:ext cx="6120384" cy="34472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16340" y="6649961"/>
            <a:ext cx="14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7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059" y="1137313"/>
            <a:ext cx="4236085" cy="36671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780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Microsoft Sans Serif"/>
                <a:cs typeface="Microsoft Sans Serif"/>
              </a:rPr>
              <a:t>First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industrial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robot:</a:t>
            </a:r>
            <a:endParaRPr sz="2000">
              <a:latin typeface="Microsoft Sans Serif"/>
              <a:cs typeface="Microsoft Sans Serif"/>
            </a:endParaRPr>
          </a:p>
          <a:p>
            <a:pPr marL="388620" marR="232410" lvl="1" indent="-160020">
              <a:lnSpc>
                <a:spcPct val="100000"/>
              </a:lnSpc>
              <a:spcBef>
                <a:spcPts val="605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Developed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by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George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C.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Devol</a:t>
            </a:r>
            <a:r>
              <a:rPr sz="1800" spc="2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Joseph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0070C0"/>
                </a:solidFill>
                <a:latin typeface="Microsoft Sans Serif"/>
                <a:cs typeface="Microsoft Sans Serif"/>
              </a:rPr>
              <a:t>Engelberger</a:t>
            </a:r>
            <a:r>
              <a:rPr sz="1800" spc="-15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  <a:p>
            <a:pPr marL="388620" marR="29209" lvl="1" indent="-160020">
              <a:lnSpc>
                <a:spcPct val="100000"/>
              </a:lnSpc>
              <a:spcBef>
                <a:spcPts val="60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They met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1956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cocktail,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talking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about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Asimov’s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“philosophies”.</a:t>
            </a:r>
            <a:endParaRPr sz="1800">
              <a:latin typeface="Microsoft Sans Serif"/>
              <a:cs typeface="Microsoft Sans Serif"/>
            </a:endParaRPr>
          </a:p>
          <a:p>
            <a:pPr marL="388620" lvl="1" indent="-160655">
              <a:lnSpc>
                <a:spcPct val="100000"/>
              </a:lnSpc>
              <a:spcBef>
                <a:spcPts val="60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founded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“</a:t>
            </a:r>
            <a:r>
              <a:rPr sz="18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Unimation</a:t>
            </a:r>
            <a:r>
              <a:rPr sz="1800" spc="-10" dirty="0"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  <a:p>
            <a:pPr marL="388620" marR="410845" lvl="1" indent="-160020">
              <a:lnSpc>
                <a:spcPct val="100000"/>
              </a:lnSpc>
              <a:spcBef>
                <a:spcPts val="59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They </a:t>
            </a:r>
            <a:r>
              <a:rPr sz="1800" spc="-15" dirty="0">
                <a:latin typeface="Microsoft Sans Serif"/>
                <a:cs typeface="Microsoft Sans Serif"/>
              </a:rPr>
              <a:t>built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first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industrial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robot: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“</a:t>
            </a:r>
            <a:r>
              <a:rPr sz="18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Unimate</a:t>
            </a:r>
            <a:r>
              <a:rPr sz="1800" spc="-10" dirty="0"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Microsoft Sans Serif"/>
              <a:buChar char="-"/>
            </a:pPr>
            <a:endParaRPr sz="2700">
              <a:latin typeface="Microsoft Sans Serif"/>
              <a:cs typeface="Microsoft Sans Serif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2000" dirty="0">
                <a:latin typeface="Microsoft Sans Serif"/>
                <a:cs typeface="Microsoft Sans Serif"/>
              </a:rPr>
              <a:t>Joseph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Engelberger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(1925-2015)</a:t>
            </a:r>
            <a:endParaRPr sz="1800">
              <a:latin typeface="Microsoft Sans Serif"/>
              <a:cs typeface="Microsoft Sans Serif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Considered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the: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“</a:t>
            </a:r>
            <a:r>
              <a:rPr sz="18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father</a:t>
            </a:r>
            <a:r>
              <a:rPr sz="1800" spc="2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of</a:t>
            </a:r>
            <a:r>
              <a:rPr sz="1800" spc="3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robotics</a:t>
            </a:r>
            <a:r>
              <a:rPr sz="1800" spc="-10" dirty="0"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6375" y="6206744"/>
            <a:ext cx="7261859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7070" marR="5080" indent="-1945005">
              <a:lnSpc>
                <a:spcPct val="107500"/>
              </a:lnSpc>
              <a:spcBef>
                <a:spcPts val="100"/>
              </a:spcBef>
            </a:pP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  <a:hlinkClick r:id="rId2"/>
              </a:rPr>
              <a:t>http://spectrum.ieee.org/automaton/robotics/industrial-robots/george-devol-a-life-devoted-to-invention-and-robots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  <a:hlinkClick r:id="rId3"/>
              </a:rPr>
              <a:t>http://www.robotics.org/joseph-engelberger/about.cfm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21223" y="1700783"/>
            <a:ext cx="3541776" cy="29672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  <p:sp>
        <p:nvSpPr>
          <p:cNvPr id="6" name="object 6"/>
          <p:cNvSpPr txBox="1"/>
          <p:nvPr/>
        </p:nvSpPr>
        <p:spPr>
          <a:xfrm>
            <a:off x="8816340" y="6649961"/>
            <a:ext cx="14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8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059" y="1223218"/>
            <a:ext cx="42652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Microsoft Sans Serif"/>
                <a:cs typeface="Microsoft Sans Serif"/>
              </a:rPr>
              <a:t>First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industrial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robot: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BACC6"/>
                </a:solidFill>
                <a:latin typeface="Microsoft Sans Serif"/>
                <a:cs typeface="Microsoft Sans Serif"/>
              </a:rPr>
              <a:t>Unimate</a:t>
            </a:r>
            <a:r>
              <a:rPr sz="2000" spc="-15" dirty="0">
                <a:solidFill>
                  <a:srgbClr val="4BACC6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(1962)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94151" y="6406388"/>
            <a:ext cx="3215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[British</a:t>
            </a:r>
            <a:r>
              <a:rPr sz="12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Movietone:</a:t>
            </a:r>
            <a:r>
              <a:rPr sz="1200" spc="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https://youtu.be/hxsWeVtb-JQ]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5376" y="1985772"/>
            <a:ext cx="5757672" cy="42915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059" y="1223218"/>
            <a:ext cx="5793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Microsoft Sans Serif"/>
                <a:cs typeface="Microsoft Sans Serif"/>
              </a:rPr>
              <a:t>First</a:t>
            </a:r>
            <a:r>
              <a:rPr sz="2000" spc="-5" dirty="0">
                <a:latin typeface="Microsoft Sans Serif"/>
                <a:cs typeface="Microsoft Sans Serif"/>
              </a:rPr>
              <a:t> “intelligent”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mobile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robot: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BACC6"/>
                </a:solidFill>
                <a:latin typeface="Microsoft Sans Serif"/>
                <a:cs typeface="Microsoft Sans Serif"/>
              </a:rPr>
              <a:t>Shakey </a:t>
            </a:r>
            <a:r>
              <a:rPr sz="1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(1966-1967)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3208" y="6154928"/>
            <a:ext cx="4237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F7F7F"/>
                </a:solidFill>
                <a:latin typeface="Calibri"/>
                <a:cs typeface="Calibri"/>
              </a:rPr>
              <a:t>AI</a:t>
            </a:r>
            <a:r>
              <a:rPr sz="1200" spc="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Lab</a:t>
            </a:r>
            <a:r>
              <a:rPr sz="1200" spc="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of</a:t>
            </a:r>
            <a:r>
              <a:rPr sz="1200" spc="1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Stanford</a:t>
            </a:r>
            <a:r>
              <a:rPr sz="1200" spc="-3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Research</a:t>
            </a:r>
            <a:r>
              <a:rPr sz="1200" spc="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Institute:</a:t>
            </a:r>
            <a:r>
              <a:rPr sz="1200" spc="-2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https://youtu.be/qXdn6ynwpiI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888" y="2177795"/>
            <a:ext cx="1676400" cy="38496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0567" y="2177795"/>
            <a:ext cx="5841491" cy="38496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740" y="6637979"/>
            <a:ext cx="166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95959"/>
                </a:solidFill>
                <a:latin typeface="Microsoft Sans Serif"/>
                <a:cs typeface="Microsoft Sans Serif"/>
              </a:rPr>
              <a:t>11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9943" y="1156583"/>
            <a:ext cx="7416165" cy="193865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645"/>
              </a:spcBef>
              <a:buChar char="•"/>
              <a:tabLst>
                <a:tab pos="209550" algn="l"/>
              </a:tabLst>
            </a:pPr>
            <a:r>
              <a:rPr sz="2200" spc="-5" dirty="0">
                <a:latin typeface="Microsoft Sans Serif"/>
                <a:cs typeface="Microsoft Sans Serif"/>
              </a:rPr>
              <a:t>End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of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the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70s:</a:t>
            </a:r>
            <a:endParaRPr sz="2200">
              <a:latin typeface="Microsoft Sans Serif"/>
              <a:cs typeface="Microsoft Sans Serif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Microsoft Sans Serif"/>
                <a:cs typeface="Microsoft Sans Serif"/>
              </a:rPr>
              <a:t>2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“popular”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robots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are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developed</a:t>
            </a:r>
            <a:endParaRPr sz="1800">
              <a:latin typeface="Microsoft Sans Serif"/>
              <a:cs typeface="Microsoft Sans Serif"/>
            </a:endParaRPr>
          </a:p>
          <a:p>
            <a:pPr marL="388620" marR="508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1978: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46C0A"/>
                </a:solidFill>
                <a:latin typeface="Microsoft Sans Serif"/>
                <a:cs typeface="Microsoft Sans Serif"/>
              </a:rPr>
              <a:t>Unimation</a:t>
            </a:r>
            <a:r>
              <a:rPr sz="1800" spc="30" dirty="0">
                <a:solidFill>
                  <a:srgbClr val="E46C0A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unveils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070C0"/>
                </a:solidFill>
                <a:latin typeface="Microsoft Sans Serif"/>
                <a:cs typeface="Microsoft Sans Serif"/>
              </a:rPr>
              <a:t>PUMA</a:t>
            </a:r>
            <a:r>
              <a:rPr sz="1800" spc="-8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(Programmable</a:t>
            </a:r>
            <a:r>
              <a:rPr sz="1600" spc="6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Universal</a:t>
            </a:r>
            <a:r>
              <a:rPr sz="16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Machine</a:t>
            </a:r>
            <a:r>
              <a:rPr sz="16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for </a:t>
            </a:r>
            <a:r>
              <a:rPr sz="1600" spc="-409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Assembly)</a:t>
            </a:r>
            <a:r>
              <a:rPr sz="16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robot</a:t>
            </a:r>
            <a:endParaRPr sz="1800">
              <a:latin typeface="Microsoft Sans Serif"/>
              <a:cs typeface="Microsoft Sans Serif"/>
            </a:endParaRPr>
          </a:p>
          <a:p>
            <a:pPr marL="388620" marR="139065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1979: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Sankyo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Seiki,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PENTEL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NEC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developed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SCARA</a:t>
            </a:r>
            <a:r>
              <a:rPr sz="1800" spc="4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(Selective </a:t>
            </a:r>
            <a:r>
              <a:rPr sz="1600" spc="-409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Compliant</a:t>
            </a:r>
            <a:r>
              <a:rPr sz="1600" spc="-8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Articulated</a:t>
            </a:r>
            <a:r>
              <a:rPr sz="16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</a:t>
            </a:r>
            <a:r>
              <a:rPr sz="1600" spc="-6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Assembly)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116" y="3502152"/>
            <a:ext cx="2724911" cy="2724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5251" y="3502152"/>
            <a:ext cx="2087270" cy="28178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88811" y="6324105"/>
            <a:ext cx="1595755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Robot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SCARA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050" dirty="0">
                <a:solidFill>
                  <a:srgbClr val="7F7F7F"/>
                </a:solidFill>
                <a:latin typeface="Calibri"/>
                <a:cs typeface="Calibri"/>
              </a:rPr>
              <a:t>[Image</a:t>
            </a:r>
            <a:r>
              <a:rPr sz="1050" spc="-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F7F7F"/>
                </a:solidFill>
                <a:latin typeface="Calibri"/>
                <a:cs typeface="Calibri"/>
              </a:rPr>
              <a:t>of</a:t>
            </a:r>
            <a:r>
              <a:rPr sz="1050" spc="-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F7F7F"/>
                </a:solidFill>
                <a:latin typeface="Calibri"/>
                <a:cs typeface="Calibri"/>
              </a:rPr>
              <a:t>Adept</a:t>
            </a:r>
            <a:r>
              <a:rPr sz="1050" spc="-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7F7F7F"/>
                </a:solidFill>
                <a:latin typeface="Calibri"/>
                <a:cs typeface="Calibri"/>
              </a:rPr>
              <a:t>Technology]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0591" y="6301282"/>
            <a:ext cx="1574165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Robot</a:t>
            </a:r>
            <a:r>
              <a:rPr sz="1400" spc="-5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PUMA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050" dirty="0">
                <a:solidFill>
                  <a:srgbClr val="7F7F7F"/>
                </a:solidFill>
                <a:latin typeface="Calibri"/>
                <a:cs typeface="Calibri"/>
              </a:rPr>
              <a:t>[Image</a:t>
            </a:r>
            <a:r>
              <a:rPr sz="1050" spc="-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F7F7F"/>
                </a:solidFill>
                <a:latin typeface="Calibri"/>
                <a:cs typeface="Calibri"/>
              </a:rPr>
              <a:t>of</a:t>
            </a:r>
            <a:r>
              <a:rPr sz="1050" spc="-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F7F7F"/>
                </a:solidFill>
                <a:latin typeface="Calibri"/>
                <a:cs typeface="Calibri"/>
              </a:rPr>
              <a:t>Antenen</a:t>
            </a:r>
            <a:r>
              <a:rPr sz="1050" spc="-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7F7F7F"/>
                </a:solidFill>
                <a:latin typeface="Calibri"/>
                <a:cs typeface="Calibri"/>
              </a:rPr>
              <a:t>Robotics]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059" y="1160983"/>
            <a:ext cx="7343140" cy="13817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5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80s:</a:t>
            </a:r>
            <a:endParaRPr sz="2000">
              <a:latin typeface="Microsoft Sans Serif"/>
              <a:cs typeface="Microsoft Sans Serif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dirty="0">
                <a:latin typeface="Microsoft Sans Serif"/>
                <a:cs typeface="Microsoft Sans Serif"/>
              </a:rPr>
              <a:t>Fast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growth</a:t>
            </a:r>
            <a:r>
              <a:rPr sz="1800" spc="6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of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robotics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industry</a:t>
            </a:r>
            <a:endParaRPr sz="1800">
              <a:latin typeface="Microsoft Sans Serif"/>
              <a:cs typeface="Microsoft Sans Serif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performance</a:t>
            </a:r>
            <a:r>
              <a:rPr sz="1800" spc="3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increased: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feedback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control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redesign</a:t>
            </a:r>
            <a:endParaRPr sz="1800">
              <a:latin typeface="Microsoft Sans Serif"/>
              <a:cs typeface="Microsoft Sans Serif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Many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universities</a:t>
            </a:r>
            <a:r>
              <a:rPr sz="1800" spc="5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introduce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robotics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their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curricula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(also</a:t>
            </a:r>
            <a:r>
              <a:rPr sz="16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in</a:t>
            </a:r>
            <a:r>
              <a:rPr sz="16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research)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0208" y="3267455"/>
            <a:ext cx="1863852" cy="30419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904" y="3267455"/>
            <a:ext cx="2903220" cy="30419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8379" y="3267455"/>
            <a:ext cx="2496312" cy="304190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507" y="5921835"/>
            <a:ext cx="3554095" cy="455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Robots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50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year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journey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(IEEE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ICRA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2000)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Edited</a:t>
            </a:r>
            <a:r>
              <a:rPr sz="1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1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Oussama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 Khatib:</a:t>
            </a:r>
            <a:r>
              <a:rPr sz="1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https://youtu.be/p_RfxPaGfl4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555" y="1121663"/>
            <a:ext cx="6198108" cy="4648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0432" y="5921835"/>
            <a:ext cx="5109210" cy="69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Robots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–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journey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continues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(Multimedia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Extension,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Springer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Handbook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Robotics,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2016)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Edited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B.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 Siciliano,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12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Khatib,</a:t>
            </a:r>
            <a:r>
              <a:rPr sz="1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60" dirty="0">
                <a:solidFill>
                  <a:srgbClr val="404040"/>
                </a:solidFill>
                <a:latin typeface="Calibri"/>
                <a:cs typeface="Calibri"/>
              </a:rPr>
              <a:t>T.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Kröger: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https://vimeo.com/173394878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54755" y="308972"/>
            <a:ext cx="4235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(Short)</a:t>
            </a:r>
            <a:r>
              <a:rPr sz="2000" spc="180" dirty="0"/>
              <a:t> </a:t>
            </a:r>
            <a:r>
              <a:rPr spc="-5" dirty="0"/>
              <a:t>History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Robotics</a:t>
            </a:r>
            <a:endParaRPr sz="2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952" y="1711451"/>
            <a:ext cx="6102096" cy="34350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087" y="308766"/>
            <a:ext cx="39782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spc="-15" dirty="0"/>
              <a:t> </a:t>
            </a:r>
            <a:r>
              <a:rPr spc="-5" dirty="0"/>
              <a:t>will</a:t>
            </a:r>
            <a:r>
              <a:rPr spc="-20" dirty="0"/>
              <a:t> </a:t>
            </a:r>
            <a:r>
              <a:rPr spc="-5" dirty="0"/>
              <a:t>happen</a:t>
            </a:r>
            <a:r>
              <a:rPr spc="15" dirty="0"/>
              <a:t> </a:t>
            </a:r>
            <a:r>
              <a:rPr spc="-5" dirty="0"/>
              <a:t>next?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60" y="1197863"/>
            <a:ext cx="5195316" cy="49408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9939" y="6494779"/>
            <a:ext cx="5187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Gates,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Bill.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 "A</a:t>
            </a:r>
            <a:r>
              <a:rPr sz="1200" spc="-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in</a:t>
            </a:r>
            <a:r>
              <a:rPr sz="12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every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 home."</a:t>
            </a:r>
            <a:r>
              <a:rPr sz="12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Scientific</a:t>
            </a:r>
            <a:r>
              <a:rPr sz="1200" i="1" spc="-7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7F7F7F"/>
                </a:solidFill>
                <a:latin typeface="Arial"/>
                <a:cs typeface="Arial"/>
              </a:rPr>
              <a:t>American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296.1</a:t>
            </a:r>
            <a:r>
              <a:rPr sz="12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(2007):</a:t>
            </a:r>
            <a:r>
              <a:rPr sz="12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58-65.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8351" y="596746"/>
            <a:ext cx="1249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B51A00"/>
                </a:solidFill>
              </a:rPr>
              <a:t>O</a:t>
            </a:r>
            <a:r>
              <a:rPr spc="-15" dirty="0">
                <a:solidFill>
                  <a:srgbClr val="B51A00"/>
                </a:solidFill>
              </a:rPr>
              <a:t>u</a:t>
            </a:r>
            <a:r>
              <a:rPr spc="-5" dirty="0">
                <a:solidFill>
                  <a:srgbClr val="B51A00"/>
                </a:solidFill>
              </a:rPr>
              <a:t>t</a:t>
            </a:r>
            <a:r>
              <a:rPr dirty="0">
                <a:solidFill>
                  <a:srgbClr val="B51A00"/>
                </a:solidFill>
              </a:rPr>
              <a:t>l</a:t>
            </a:r>
            <a:r>
              <a:rPr spc="-5" dirty="0">
                <a:solidFill>
                  <a:srgbClr val="B51A00"/>
                </a:solidFill>
              </a:rPr>
              <a:t>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775" y="2152078"/>
            <a:ext cx="8464419" cy="6412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452" y="1511463"/>
            <a:ext cx="4935220" cy="2623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Historical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7F7F7F"/>
                </a:solidFill>
                <a:latin typeface="Microsoft Sans Serif"/>
                <a:cs typeface="Microsoft Sans Serif"/>
              </a:rPr>
              <a:t>context</a:t>
            </a:r>
            <a:r>
              <a:rPr sz="2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robotics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b="1" spc="-10" dirty="0">
                <a:solidFill>
                  <a:srgbClr val="0000FF"/>
                </a:solidFill>
                <a:latin typeface="Arial"/>
                <a:cs typeface="Arial"/>
              </a:rPr>
              <a:t>Robot</a:t>
            </a:r>
            <a:r>
              <a:rPr sz="28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“Definition”</a:t>
            </a:r>
            <a:endParaRPr sz="28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35" dirty="0">
                <a:solidFill>
                  <a:srgbClr val="7F7F7F"/>
                </a:solidFill>
                <a:latin typeface="Microsoft Sans Serif"/>
                <a:cs typeface="Microsoft Sans Serif"/>
              </a:rPr>
              <a:t>Types</a:t>
            </a:r>
            <a:r>
              <a:rPr sz="28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robots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Applications</a:t>
            </a:r>
            <a:r>
              <a:rPr sz="2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5580" y="1458235"/>
            <a:ext cx="2490630" cy="11653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3635" y="2968244"/>
            <a:ext cx="5252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>
                <a:solidFill>
                  <a:srgbClr val="604A7B"/>
                </a:solidFill>
                <a:latin typeface="Calibri"/>
                <a:cs typeface="Calibri"/>
              </a:rPr>
              <a:t>What</a:t>
            </a:r>
            <a:r>
              <a:rPr sz="6000" spc="-15" dirty="0">
                <a:solidFill>
                  <a:srgbClr val="604A7B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604A7B"/>
                </a:solidFill>
                <a:latin typeface="Calibri"/>
                <a:cs typeface="Calibri"/>
              </a:rPr>
              <a:t>is</a:t>
            </a:r>
            <a:r>
              <a:rPr sz="6000" spc="-25" dirty="0">
                <a:solidFill>
                  <a:srgbClr val="604A7B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604A7B"/>
                </a:solidFill>
                <a:latin typeface="Calibri"/>
                <a:cs typeface="Calibri"/>
              </a:rPr>
              <a:t>a</a:t>
            </a:r>
            <a:r>
              <a:rPr sz="6000" spc="-30" dirty="0">
                <a:solidFill>
                  <a:srgbClr val="604A7B"/>
                </a:solidFill>
                <a:latin typeface="Calibri"/>
                <a:cs typeface="Calibri"/>
              </a:rPr>
              <a:t> </a:t>
            </a:r>
            <a:r>
              <a:rPr sz="6000" spc="-15" dirty="0">
                <a:solidFill>
                  <a:srgbClr val="604A7B"/>
                </a:solidFill>
                <a:latin typeface="Calibri"/>
                <a:cs typeface="Calibri"/>
              </a:rPr>
              <a:t>robot?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4748" y="1395983"/>
            <a:ext cx="1600234" cy="12604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5170" y="4617720"/>
            <a:ext cx="1705433" cy="16078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004" y="909827"/>
            <a:ext cx="1207008" cy="20711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048" y="4154715"/>
            <a:ext cx="1797535" cy="22277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0297" y="1399383"/>
            <a:ext cx="2028812" cy="9072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81072" y="4853940"/>
            <a:ext cx="1950720" cy="13152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01483" y="4434840"/>
            <a:ext cx="1481327" cy="18958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740" y="6637979"/>
            <a:ext cx="166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95959"/>
                </a:solidFill>
                <a:latin typeface="Microsoft Sans Serif"/>
                <a:cs typeface="Microsoft Sans Serif"/>
              </a:rPr>
              <a:t>18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96823" y="4284471"/>
            <a:ext cx="8225155" cy="1892300"/>
            <a:chOff x="496823" y="4284471"/>
            <a:chExt cx="8225155" cy="1892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233" y="4292696"/>
              <a:ext cx="8201474" cy="18764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6823" y="4284471"/>
              <a:ext cx="8225155" cy="1892300"/>
            </a:xfrm>
            <a:custGeom>
              <a:avLst/>
              <a:gdLst/>
              <a:ahLst/>
              <a:cxnLst/>
              <a:rect l="l" t="t" r="r" b="b"/>
              <a:pathLst>
                <a:path w="8225155" h="1892300">
                  <a:moveTo>
                    <a:pt x="62484" y="1854200"/>
                  </a:moveTo>
                  <a:lnTo>
                    <a:pt x="24384" y="1854200"/>
                  </a:lnTo>
                  <a:lnTo>
                    <a:pt x="39624" y="1879600"/>
                  </a:lnTo>
                  <a:lnTo>
                    <a:pt x="57912" y="1892300"/>
                  </a:lnTo>
                  <a:lnTo>
                    <a:pt x="155448" y="1892300"/>
                  </a:lnTo>
                  <a:lnTo>
                    <a:pt x="164592" y="1879600"/>
                  </a:lnTo>
                  <a:lnTo>
                    <a:pt x="109728" y="1879600"/>
                  </a:lnTo>
                  <a:lnTo>
                    <a:pt x="100584" y="1866900"/>
                  </a:lnTo>
                  <a:lnTo>
                    <a:pt x="68580" y="1866900"/>
                  </a:lnTo>
                  <a:lnTo>
                    <a:pt x="62484" y="1854200"/>
                  </a:lnTo>
                  <a:close/>
                </a:path>
                <a:path w="8225155" h="1892300">
                  <a:moveTo>
                    <a:pt x="182880" y="1866900"/>
                  </a:moveTo>
                  <a:lnTo>
                    <a:pt x="128016" y="1866900"/>
                  </a:lnTo>
                  <a:lnTo>
                    <a:pt x="118872" y="1879600"/>
                  </a:lnTo>
                  <a:lnTo>
                    <a:pt x="173736" y="1879600"/>
                  </a:lnTo>
                  <a:lnTo>
                    <a:pt x="182880" y="1866900"/>
                  </a:lnTo>
                  <a:close/>
                </a:path>
                <a:path w="8225155" h="1892300">
                  <a:moveTo>
                    <a:pt x="196596" y="1854200"/>
                  </a:moveTo>
                  <a:lnTo>
                    <a:pt x="158496" y="1854200"/>
                  </a:lnTo>
                  <a:lnTo>
                    <a:pt x="150876" y="1866900"/>
                  </a:lnTo>
                  <a:lnTo>
                    <a:pt x="190500" y="1866900"/>
                  </a:lnTo>
                  <a:lnTo>
                    <a:pt x="196596" y="1854200"/>
                  </a:lnTo>
                  <a:close/>
                </a:path>
                <a:path w="8225155" h="1892300">
                  <a:moveTo>
                    <a:pt x="8014716" y="203200"/>
                  </a:moveTo>
                  <a:lnTo>
                    <a:pt x="8002524" y="215900"/>
                  </a:lnTo>
                  <a:lnTo>
                    <a:pt x="47244" y="215900"/>
                  </a:lnTo>
                  <a:lnTo>
                    <a:pt x="39624" y="228600"/>
                  </a:lnTo>
                  <a:lnTo>
                    <a:pt x="7620" y="266700"/>
                  </a:lnTo>
                  <a:lnTo>
                    <a:pt x="0" y="304800"/>
                  </a:lnTo>
                  <a:lnTo>
                    <a:pt x="0" y="1803400"/>
                  </a:lnTo>
                  <a:lnTo>
                    <a:pt x="1524" y="1816100"/>
                  </a:lnTo>
                  <a:lnTo>
                    <a:pt x="13716" y="1841500"/>
                  </a:lnTo>
                  <a:lnTo>
                    <a:pt x="18288" y="1854200"/>
                  </a:lnTo>
                  <a:lnTo>
                    <a:pt x="48768" y="1854200"/>
                  </a:lnTo>
                  <a:lnTo>
                    <a:pt x="39624" y="1828800"/>
                  </a:lnTo>
                  <a:lnTo>
                    <a:pt x="35052" y="1828800"/>
                  </a:lnTo>
                  <a:lnTo>
                    <a:pt x="28956" y="1816100"/>
                  </a:lnTo>
                  <a:lnTo>
                    <a:pt x="25907" y="1803400"/>
                  </a:lnTo>
                  <a:lnTo>
                    <a:pt x="24384" y="1790700"/>
                  </a:lnTo>
                  <a:lnTo>
                    <a:pt x="24384" y="381000"/>
                  </a:lnTo>
                  <a:lnTo>
                    <a:pt x="18288" y="381000"/>
                  </a:lnTo>
                  <a:lnTo>
                    <a:pt x="13716" y="368300"/>
                  </a:lnTo>
                  <a:lnTo>
                    <a:pt x="7620" y="355600"/>
                  </a:lnTo>
                  <a:lnTo>
                    <a:pt x="1524" y="330200"/>
                  </a:lnTo>
                  <a:lnTo>
                    <a:pt x="24384" y="330200"/>
                  </a:lnTo>
                  <a:lnTo>
                    <a:pt x="24384" y="304800"/>
                  </a:lnTo>
                  <a:lnTo>
                    <a:pt x="25907" y="292100"/>
                  </a:lnTo>
                  <a:lnTo>
                    <a:pt x="35052" y="266700"/>
                  </a:lnTo>
                  <a:lnTo>
                    <a:pt x="39624" y="266700"/>
                  </a:lnTo>
                  <a:lnTo>
                    <a:pt x="44196" y="254000"/>
                  </a:lnTo>
                  <a:lnTo>
                    <a:pt x="56388" y="241300"/>
                  </a:lnTo>
                  <a:lnTo>
                    <a:pt x="70104" y="241300"/>
                  </a:lnTo>
                  <a:lnTo>
                    <a:pt x="85344" y="228600"/>
                  </a:lnTo>
                  <a:lnTo>
                    <a:pt x="8014716" y="228600"/>
                  </a:lnTo>
                  <a:lnTo>
                    <a:pt x="8014716" y="203200"/>
                  </a:lnTo>
                  <a:close/>
                </a:path>
                <a:path w="8225155" h="1892300">
                  <a:moveTo>
                    <a:pt x="217932" y="1816100"/>
                  </a:moveTo>
                  <a:lnTo>
                    <a:pt x="190500" y="1816100"/>
                  </a:lnTo>
                  <a:lnTo>
                    <a:pt x="185928" y="1828800"/>
                  </a:lnTo>
                  <a:lnTo>
                    <a:pt x="176784" y="1841500"/>
                  </a:lnTo>
                  <a:lnTo>
                    <a:pt x="164592" y="1854200"/>
                  </a:lnTo>
                  <a:lnTo>
                    <a:pt x="204216" y="1854200"/>
                  </a:lnTo>
                  <a:lnTo>
                    <a:pt x="217932" y="1816100"/>
                  </a:lnTo>
                  <a:close/>
                </a:path>
                <a:path w="8225155" h="1892300">
                  <a:moveTo>
                    <a:pt x="217932" y="292100"/>
                  </a:moveTo>
                  <a:lnTo>
                    <a:pt x="193548" y="292100"/>
                  </a:lnTo>
                  <a:lnTo>
                    <a:pt x="196596" y="304800"/>
                  </a:lnTo>
                  <a:lnTo>
                    <a:pt x="196596" y="1790700"/>
                  </a:lnTo>
                  <a:lnTo>
                    <a:pt x="193548" y="1816100"/>
                  </a:lnTo>
                  <a:lnTo>
                    <a:pt x="220980" y="1816100"/>
                  </a:lnTo>
                  <a:lnTo>
                    <a:pt x="222504" y="1803400"/>
                  </a:lnTo>
                  <a:lnTo>
                    <a:pt x="222504" y="1701800"/>
                  </a:lnTo>
                  <a:lnTo>
                    <a:pt x="210312" y="1701800"/>
                  </a:lnTo>
                  <a:lnTo>
                    <a:pt x="222504" y="1689100"/>
                  </a:lnTo>
                  <a:lnTo>
                    <a:pt x="222504" y="381000"/>
                  </a:lnTo>
                  <a:lnTo>
                    <a:pt x="204216" y="381000"/>
                  </a:lnTo>
                  <a:lnTo>
                    <a:pt x="217932" y="342900"/>
                  </a:lnTo>
                  <a:lnTo>
                    <a:pt x="220980" y="330200"/>
                  </a:lnTo>
                  <a:lnTo>
                    <a:pt x="222504" y="317500"/>
                  </a:lnTo>
                  <a:lnTo>
                    <a:pt x="222504" y="304800"/>
                  </a:lnTo>
                  <a:lnTo>
                    <a:pt x="220980" y="304800"/>
                  </a:lnTo>
                  <a:lnTo>
                    <a:pt x="217932" y="292100"/>
                  </a:lnTo>
                  <a:close/>
                </a:path>
                <a:path w="8225155" h="1892300">
                  <a:moveTo>
                    <a:pt x="222504" y="1689100"/>
                  </a:moveTo>
                  <a:lnTo>
                    <a:pt x="210312" y="1701800"/>
                  </a:lnTo>
                  <a:lnTo>
                    <a:pt x="222504" y="1701800"/>
                  </a:lnTo>
                  <a:lnTo>
                    <a:pt x="222504" y="1689100"/>
                  </a:lnTo>
                  <a:close/>
                </a:path>
                <a:path w="8225155" h="1892300">
                  <a:moveTo>
                    <a:pt x="8225028" y="127000"/>
                  </a:moveTo>
                  <a:lnTo>
                    <a:pt x="8223504" y="139700"/>
                  </a:lnTo>
                  <a:lnTo>
                    <a:pt x="8220456" y="152400"/>
                  </a:lnTo>
                  <a:lnTo>
                    <a:pt x="8215883" y="152400"/>
                  </a:lnTo>
                  <a:lnTo>
                    <a:pt x="8211311" y="165100"/>
                  </a:lnTo>
                  <a:lnTo>
                    <a:pt x="8199120" y="190500"/>
                  </a:lnTo>
                  <a:lnTo>
                    <a:pt x="8199120" y="1600199"/>
                  </a:lnTo>
                  <a:lnTo>
                    <a:pt x="8197596" y="1612899"/>
                  </a:lnTo>
                  <a:lnTo>
                    <a:pt x="8196072" y="1612899"/>
                  </a:lnTo>
                  <a:lnTo>
                    <a:pt x="8193024" y="1625599"/>
                  </a:lnTo>
                  <a:lnTo>
                    <a:pt x="8188452" y="1625599"/>
                  </a:lnTo>
                  <a:lnTo>
                    <a:pt x="8185404" y="1638300"/>
                  </a:lnTo>
                  <a:lnTo>
                    <a:pt x="8179308" y="1651000"/>
                  </a:lnTo>
                  <a:lnTo>
                    <a:pt x="8168640" y="1651000"/>
                  </a:lnTo>
                  <a:lnTo>
                    <a:pt x="8161020" y="1663700"/>
                  </a:lnTo>
                  <a:lnTo>
                    <a:pt x="8147304" y="1663700"/>
                  </a:lnTo>
                  <a:lnTo>
                    <a:pt x="8138159" y="1676400"/>
                  </a:lnTo>
                  <a:lnTo>
                    <a:pt x="222504" y="1676400"/>
                  </a:lnTo>
                  <a:lnTo>
                    <a:pt x="222504" y="1701800"/>
                  </a:lnTo>
                  <a:lnTo>
                    <a:pt x="8136635" y="1701800"/>
                  </a:lnTo>
                  <a:lnTo>
                    <a:pt x="8157972" y="1689100"/>
                  </a:lnTo>
                  <a:lnTo>
                    <a:pt x="8167116" y="1689100"/>
                  </a:lnTo>
                  <a:lnTo>
                    <a:pt x="8185404" y="1676400"/>
                  </a:lnTo>
                  <a:lnTo>
                    <a:pt x="8200644" y="1663700"/>
                  </a:lnTo>
                  <a:lnTo>
                    <a:pt x="8212835" y="1638300"/>
                  </a:lnTo>
                  <a:lnTo>
                    <a:pt x="8215883" y="1638300"/>
                  </a:lnTo>
                  <a:lnTo>
                    <a:pt x="8220456" y="1625599"/>
                  </a:lnTo>
                  <a:lnTo>
                    <a:pt x="8223504" y="1612899"/>
                  </a:lnTo>
                  <a:lnTo>
                    <a:pt x="8225028" y="1600199"/>
                  </a:lnTo>
                  <a:lnTo>
                    <a:pt x="8225028" y="127000"/>
                  </a:lnTo>
                  <a:close/>
                </a:path>
                <a:path w="8225155" h="1892300">
                  <a:moveTo>
                    <a:pt x="97536" y="393700"/>
                  </a:moveTo>
                  <a:lnTo>
                    <a:pt x="39624" y="393700"/>
                  </a:lnTo>
                  <a:lnTo>
                    <a:pt x="57912" y="406400"/>
                  </a:lnTo>
                  <a:lnTo>
                    <a:pt x="68580" y="419100"/>
                  </a:lnTo>
                  <a:lnTo>
                    <a:pt x="155448" y="419100"/>
                  </a:lnTo>
                  <a:lnTo>
                    <a:pt x="173736" y="406400"/>
                  </a:lnTo>
                  <a:lnTo>
                    <a:pt x="97536" y="406400"/>
                  </a:lnTo>
                  <a:lnTo>
                    <a:pt x="97536" y="393700"/>
                  </a:lnTo>
                  <a:close/>
                </a:path>
                <a:path w="8225155" h="1892300">
                  <a:moveTo>
                    <a:pt x="126492" y="292100"/>
                  </a:moveTo>
                  <a:lnTo>
                    <a:pt x="102107" y="292100"/>
                  </a:lnTo>
                  <a:lnTo>
                    <a:pt x="99060" y="304800"/>
                  </a:lnTo>
                  <a:lnTo>
                    <a:pt x="97536" y="317500"/>
                  </a:lnTo>
                  <a:lnTo>
                    <a:pt x="97536" y="406400"/>
                  </a:lnTo>
                  <a:lnTo>
                    <a:pt x="123444" y="406400"/>
                  </a:lnTo>
                  <a:lnTo>
                    <a:pt x="123444" y="317500"/>
                  </a:lnTo>
                  <a:lnTo>
                    <a:pt x="124968" y="304800"/>
                  </a:lnTo>
                  <a:lnTo>
                    <a:pt x="123444" y="304800"/>
                  </a:lnTo>
                  <a:lnTo>
                    <a:pt x="126492" y="292100"/>
                  </a:lnTo>
                  <a:close/>
                </a:path>
                <a:path w="8225155" h="1892300">
                  <a:moveTo>
                    <a:pt x="182880" y="393700"/>
                  </a:moveTo>
                  <a:lnTo>
                    <a:pt x="123444" y="393700"/>
                  </a:lnTo>
                  <a:lnTo>
                    <a:pt x="123444" y="406400"/>
                  </a:lnTo>
                  <a:lnTo>
                    <a:pt x="173736" y="406400"/>
                  </a:lnTo>
                  <a:lnTo>
                    <a:pt x="182880" y="393700"/>
                  </a:lnTo>
                  <a:close/>
                </a:path>
                <a:path w="8225155" h="1892300">
                  <a:moveTo>
                    <a:pt x="62484" y="381000"/>
                  </a:moveTo>
                  <a:lnTo>
                    <a:pt x="25907" y="381000"/>
                  </a:lnTo>
                  <a:lnTo>
                    <a:pt x="32004" y="393700"/>
                  </a:lnTo>
                  <a:lnTo>
                    <a:pt x="68580" y="393700"/>
                  </a:lnTo>
                  <a:lnTo>
                    <a:pt x="62484" y="381000"/>
                  </a:lnTo>
                  <a:close/>
                </a:path>
                <a:path w="8225155" h="1892300">
                  <a:moveTo>
                    <a:pt x="196596" y="317500"/>
                  </a:moveTo>
                  <a:lnTo>
                    <a:pt x="193548" y="342900"/>
                  </a:lnTo>
                  <a:lnTo>
                    <a:pt x="190500" y="342900"/>
                  </a:lnTo>
                  <a:lnTo>
                    <a:pt x="185928" y="355600"/>
                  </a:lnTo>
                  <a:lnTo>
                    <a:pt x="176784" y="368300"/>
                  </a:lnTo>
                  <a:lnTo>
                    <a:pt x="164592" y="381000"/>
                  </a:lnTo>
                  <a:lnTo>
                    <a:pt x="158496" y="381000"/>
                  </a:lnTo>
                  <a:lnTo>
                    <a:pt x="150876" y="393700"/>
                  </a:lnTo>
                  <a:lnTo>
                    <a:pt x="190500" y="393700"/>
                  </a:lnTo>
                  <a:lnTo>
                    <a:pt x="196596" y="381000"/>
                  </a:lnTo>
                  <a:lnTo>
                    <a:pt x="196596" y="317500"/>
                  </a:lnTo>
                  <a:close/>
                </a:path>
                <a:path w="8225155" h="1892300">
                  <a:moveTo>
                    <a:pt x="24384" y="330200"/>
                  </a:moveTo>
                  <a:lnTo>
                    <a:pt x="1524" y="330200"/>
                  </a:lnTo>
                  <a:lnTo>
                    <a:pt x="7620" y="355600"/>
                  </a:lnTo>
                  <a:lnTo>
                    <a:pt x="13716" y="368300"/>
                  </a:lnTo>
                  <a:lnTo>
                    <a:pt x="18288" y="381000"/>
                  </a:lnTo>
                  <a:lnTo>
                    <a:pt x="24384" y="381000"/>
                  </a:lnTo>
                  <a:lnTo>
                    <a:pt x="24384" y="330200"/>
                  </a:lnTo>
                  <a:close/>
                </a:path>
                <a:path w="8225155" h="1892300">
                  <a:moveTo>
                    <a:pt x="24384" y="317500"/>
                  </a:moveTo>
                  <a:lnTo>
                    <a:pt x="24384" y="381000"/>
                  </a:lnTo>
                  <a:lnTo>
                    <a:pt x="54864" y="381000"/>
                  </a:lnTo>
                  <a:lnTo>
                    <a:pt x="48768" y="368300"/>
                  </a:lnTo>
                  <a:lnTo>
                    <a:pt x="44196" y="368300"/>
                  </a:lnTo>
                  <a:lnTo>
                    <a:pt x="39624" y="355600"/>
                  </a:lnTo>
                  <a:lnTo>
                    <a:pt x="35052" y="355600"/>
                  </a:lnTo>
                  <a:lnTo>
                    <a:pt x="28956" y="342900"/>
                  </a:lnTo>
                  <a:lnTo>
                    <a:pt x="25907" y="330200"/>
                  </a:lnTo>
                  <a:lnTo>
                    <a:pt x="24384" y="317500"/>
                  </a:lnTo>
                  <a:close/>
                </a:path>
                <a:path w="8225155" h="1892300">
                  <a:moveTo>
                    <a:pt x="222504" y="317500"/>
                  </a:moveTo>
                  <a:lnTo>
                    <a:pt x="220980" y="330200"/>
                  </a:lnTo>
                  <a:lnTo>
                    <a:pt x="217932" y="342900"/>
                  </a:lnTo>
                  <a:lnTo>
                    <a:pt x="204216" y="381000"/>
                  </a:lnTo>
                  <a:lnTo>
                    <a:pt x="222504" y="381000"/>
                  </a:lnTo>
                  <a:lnTo>
                    <a:pt x="222504" y="317500"/>
                  </a:lnTo>
                  <a:close/>
                </a:path>
                <a:path w="8225155" h="1892300">
                  <a:moveTo>
                    <a:pt x="131064" y="292100"/>
                  </a:moveTo>
                  <a:lnTo>
                    <a:pt x="126492" y="292100"/>
                  </a:lnTo>
                  <a:lnTo>
                    <a:pt x="126492" y="304800"/>
                  </a:lnTo>
                  <a:lnTo>
                    <a:pt x="131064" y="292100"/>
                  </a:lnTo>
                  <a:close/>
                </a:path>
                <a:path w="8225155" h="1892300">
                  <a:moveTo>
                    <a:pt x="135636" y="279400"/>
                  </a:moveTo>
                  <a:lnTo>
                    <a:pt x="108204" y="279400"/>
                  </a:lnTo>
                  <a:lnTo>
                    <a:pt x="103632" y="292100"/>
                  </a:lnTo>
                  <a:lnTo>
                    <a:pt x="129540" y="292100"/>
                  </a:lnTo>
                  <a:lnTo>
                    <a:pt x="135636" y="279400"/>
                  </a:lnTo>
                  <a:close/>
                </a:path>
                <a:path w="8225155" h="1892300">
                  <a:moveTo>
                    <a:pt x="140208" y="279400"/>
                  </a:moveTo>
                  <a:lnTo>
                    <a:pt x="135636" y="279400"/>
                  </a:lnTo>
                  <a:lnTo>
                    <a:pt x="132588" y="292100"/>
                  </a:lnTo>
                  <a:lnTo>
                    <a:pt x="140208" y="279400"/>
                  </a:lnTo>
                  <a:close/>
                </a:path>
                <a:path w="8225155" h="1892300">
                  <a:moveTo>
                    <a:pt x="185928" y="279400"/>
                  </a:moveTo>
                  <a:lnTo>
                    <a:pt x="179832" y="279400"/>
                  </a:lnTo>
                  <a:lnTo>
                    <a:pt x="187452" y="292100"/>
                  </a:lnTo>
                  <a:lnTo>
                    <a:pt x="185928" y="279400"/>
                  </a:lnTo>
                  <a:close/>
                </a:path>
                <a:path w="8225155" h="1892300">
                  <a:moveTo>
                    <a:pt x="211836" y="279400"/>
                  </a:moveTo>
                  <a:lnTo>
                    <a:pt x="185928" y="279400"/>
                  </a:lnTo>
                  <a:lnTo>
                    <a:pt x="192024" y="292100"/>
                  </a:lnTo>
                  <a:lnTo>
                    <a:pt x="216408" y="292100"/>
                  </a:lnTo>
                  <a:lnTo>
                    <a:pt x="211836" y="279400"/>
                  </a:lnTo>
                  <a:close/>
                </a:path>
                <a:path w="8225155" h="1892300">
                  <a:moveTo>
                    <a:pt x="205740" y="266700"/>
                  </a:moveTo>
                  <a:lnTo>
                    <a:pt x="115824" y="266700"/>
                  </a:lnTo>
                  <a:lnTo>
                    <a:pt x="109728" y="279400"/>
                  </a:lnTo>
                  <a:lnTo>
                    <a:pt x="210312" y="279400"/>
                  </a:lnTo>
                  <a:lnTo>
                    <a:pt x="205740" y="266700"/>
                  </a:lnTo>
                  <a:close/>
                </a:path>
                <a:path w="8225155" h="1892300">
                  <a:moveTo>
                    <a:pt x="195072" y="254000"/>
                  </a:moveTo>
                  <a:lnTo>
                    <a:pt x="126492" y="254000"/>
                  </a:lnTo>
                  <a:lnTo>
                    <a:pt x="124968" y="266700"/>
                  </a:lnTo>
                  <a:lnTo>
                    <a:pt x="195072" y="266700"/>
                  </a:lnTo>
                  <a:lnTo>
                    <a:pt x="195072" y="254000"/>
                  </a:lnTo>
                  <a:close/>
                </a:path>
                <a:path w="8225155" h="1892300">
                  <a:moveTo>
                    <a:pt x="8026908" y="203200"/>
                  </a:moveTo>
                  <a:lnTo>
                    <a:pt x="8014716" y="203200"/>
                  </a:lnTo>
                  <a:lnTo>
                    <a:pt x="8014716" y="228600"/>
                  </a:lnTo>
                  <a:lnTo>
                    <a:pt x="8022335" y="228600"/>
                  </a:lnTo>
                  <a:lnTo>
                    <a:pt x="8026908" y="215900"/>
                  </a:lnTo>
                  <a:lnTo>
                    <a:pt x="8026908" y="203200"/>
                  </a:lnTo>
                  <a:close/>
                </a:path>
                <a:path w="8225155" h="1892300">
                  <a:moveTo>
                    <a:pt x="8101583" y="203200"/>
                  </a:moveTo>
                  <a:lnTo>
                    <a:pt x="8026908" y="203200"/>
                  </a:lnTo>
                  <a:lnTo>
                    <a:pt x="8026908" y="215900"/>
                  </a:lnTo>
                  <a:lnTo>
                    <a:pt x="8022335" y="228600"/>
                  </a:lnTo>
                  <a:lnTo>
                    <a:pt x="8135111" y="228600"/>
                  </a:lnTo>
                  <a:lnTo>
                    <a:pt x="8156448" y="215900"/>
                  </a:lnTo>
                  <a:lnTo>
                    <a:pt x="8101583" y="215900"/>
                  </a:lnTo>
                  <a:lnTo>
                    <a:pt x="8101583" y="203200"/>
                  </a:lnTo>
                  <a:close/>
                </a:path>
                <a:path w="8225155" h="1892300">
                  <a:moveTo>
                    <a:pt x="8002524" y="203200"/>
                  </a:moveTo>
                  <a:lnTo>
                    <a:pt x="77724" y="203200"/>
                  </a:lnTo>
                  <a:lnTo>
                    <a:pt x="56388" y="215900"/>
                  </a:lnTo>
                  <a:lnTo>
                    <a:pt x="8002524" y="215900"/>
                  </a:lnTo>
                  <a:lnTo>
                    <a:pt x="8002524" y="203200"/>
                  </a:lnTo>
                  <a:close/>
                </a:path>
                <a:path w="8225155" h="1892300">
                  <a:moveTo>
                    <a:pt x="8165592" y="12700"/>
                  </a:moveTo>
                  <a:lnTo>
                    <a:pt x="8060435" y="12700"/>
                  </a:lnTo>
                  <a:lnTo>
                    <a:pt x="8042148" y="25400"/>
                  </a:lnTo>
                  <a:lnTo>
                    <a:pt x="8026908" y="38100"/>
                  </a:lnTo>
                  <a:lnTo>
                    <a:pt x="8014716" y="63500"/>
                  </a:lnTo>
                  <a:lnTo>
                    <a:pt x="8010144" y="76200"/>
                  </a:lnTo>
                  <a:lnTo>
                    <a:pt x="8004048" y="88900"/>
                  </a:lnTo>
                  <a:lnTo>
                    <a:pt x="8002524" y="101600"/>
                  </a:lnTo>
                  <a:lnTo>
                    <a:pt x="8002524" y="215900"/>
                  </a:lnTo>
                  <a:lnTo>
                    <a:pt x="8014716" y="203200"/>
                  </a:lnTo>
                  <a:lnTo>
                    <a:pt x="8026908" y="203200"/>
                  </a:lnTo>
                  <a:lnTo>
                    <a:pt x="8026908" y="165100"/>
                  </a:lnTo>
                  <a:lnTo>
                    <a:pt x="8020811" y="165100"/>
                  </a:lnTo>
                  <a:lnTo>
                    <a:pt x="8020811" y="152400"/>
                  </a:lnTo>
                  <a:lnTo>
                    <a:pt x="8011668" y="152400"/>
                  </a:lnTo>
                  <a:lnTo>
                    <a:pt x="8007096" y="139700"/>
                  </a:lnTo>
                  <a:lnTo>
                    <a:pt x="8004048" y="127000"/>
                  </a:lnTo>
                  <a:lnTo>
                    <a:pt x="8026908" y="127000"/>
                  </a:lnTo>
                  <a:lnTo>
                    <a:pt x="8026908" y="114300"/>
                  </a:lnTo>
                  <a:lnTo>
                    <a:pt x="8028432" y="101600"/>
                  </a:lnTo>
                  <a:lnTo>
                    <a:pt x="8029956" y="101600"/>
                  </a:lnTo>
                  <a:lnTo>
                    <a:pt x="8031480" y="88900"/>
                  </a:lnTo>
                  <a:lnTo>
                    <a:pt x="8037576" y="76200"/>
                  </a:lnTo>
                  <a:lnTo>
                    <a:pt x="8042148" y="63500"/>
                  </a:lnTo>
                  <a:lnTo>
                    <a:pt x="8048244" y="63500"/>
                  </a:lnTo>
                  <a:lnTo>
                    <a:pt x="8052816" y="50800"/>
                  </a:lnTo>
                  <a:lnTo>
                    <a:pt x="8058911" y="50800"/>
                  </a:lnTo>
                  <a:lnTo>
                    <a:pt x="8066532" y="38100"/>
                  </a:lnTo>
                  <a:lnTo>
                    <a:pt x="8072628" y="38100"/>
                  </a:lnTo>
                  <a:lnTo>
                    <a:pt x="8087868" y="25400"/>
                  </a:lnTo>
                  <a:lnTo>
                    <a:pt x="8176259" y="25400"/>
                  </a:lnTo>
                  <a:lnTo>
                    <a:pt x="8165592" y="12700"/>
                  </a:lnTo>
                  <a:close/>
                </a:path>
                <a:path w="8225155" h="1892300">
                  <a:moveTo>
                    <a:pt x="8125968" y="101600"/>
                  </a:moveTo>
                  <a:lnTo>
                    <a:pt x="8101583" y="101600"/>
                  </a:lnTo>
                  <a:lnTo>
                    <a:pt x="8101583" y="215900"/>
                  </a:lnTo>
                  <a:lnTo>
                    <a:pt x="8125968" y="215900"/>
                  </a:lnTo>
                  <a:lnTo>
                    <a:pt x="8125968" y="165100"/>
                  </a:lnTo>
                  <a:lnTo>
                    <a:pt x="8107680" y="165100"/>
                  </a:lnTo>
                  <a:lnTo>
                    <a:pt x="8107680" y="152400"/>
                  </a:lnTo>
                  <a:lnTo>
                    <a:pt x="8116824" y="152400"/>
                  </a:lnTo>
                  <a:lnTo>
                    <a:pt x="8121396" y="139700"/>
                  </a:lnTo>
                  <a:lnTo>
                    <a:pt x="8124444" y="127000"/>
                  </a:lnTo>
                  <a:lnTo>
                    <a:pt x="8125968" y="127000"/>
                  </a:lnTo>
                  <a:lnTo>
                    <a:pt x="8125968" y="101600"/>
                  </a:lnTo>
                  <a:close/>
                </a:path>
                <a:path w="8225155" h="1892300">
                  <a:moveTo>
                    <a:pt x="8176259" y="203200"/>
                  </a:moveTo>
                  <a:lnTo>
                    <a:pt x="8125968" y="203200"/>
                  </a:lnTo>
                  <a:lnTo>
                    <a:pt x="8125968" y="215900"/>
                  </a:lnTo>
                  <a:lnTo>
                    <a:pt x="8165592" y="215900"/>
                  </a:lnTo>
                  <a:lnTo>
                    <a:pt x="8176259" y="203200"/>
                  </a:lnTo>
                  <a:close/>
                </a:path>
                <a:path w="8225155" h="1892300">
                  <a:moveTo>
                    <a:pt x="8199120" y="127000"/>
                  </a:moveTo>
                  <a:lnTo>
                    <a:pt x="8197596" y="127000"/>
                  </a:lnTo>
                  <a:lnTo>
                    <a:pt x="8196072" y="139700"/>
                  </a:lnTo>
                  <a:lnTo>
                    <a:pt x="8189976" y="152400"/>
                  </a:lnTo>
                  <a:lnTo>
                    <a:pt x="8185404" y="165100"/>
                  </a:lnTo>
                  <a:lnTo>
                    <a:pt x="8180832" y="165100"/>
                  </a:lnTo>
                  <a:lnTo>
                    <a:pt x="8168640" y="177800"/>
                  </a:lnTo>
                  <a:lnTo>
                    <a:pt x="8162544" y="190500"/>
                  </a:lnTo>
                  <a:lnTo>
                    <a:pt x="8154924" y="190500"/>
                  </a:lnTo>
                  <a:lnTo>
                    <a:pt x="8132064" y="203200"/>
                  </a:lnTo>
                  <a:lnTo>
                    <a:pt x="8183880" y="203200"/>
                  </a:lnTo>
                  <a:lnTo>
                    <a:pt x="8199120" y="190500"/>
                  </a:lnTo>
                  <a:lnTo>
                    <a:pt x="8199120" y="127000"/>
                  </a:lnTo>
                  <a:close/>
                </a:path>
                <a:path w="8225155" h="1892300">
                  <a:moveTo>
                    <a:pt x="8199120" y="38100"/>
                  </a:moveTo>
                  <a:lnTo>
                    <a:pt x="8162544" y="38100"/>
                  </a:lnTo>
                  <a:lnTo>
                    <a:pt x="8168640" y="50800"/>
                  </a:lnTo>
                  <a:lnTo>
                    <a:pt x="8180832" y="63500"/>
                  </a:lnTo>
                  <a:lnTo>
                    <a:pt x="8185404" y="63500"/>
                  </a:lnTo>
                  <a:lnTo>
                    <a:pt x="8189976" y="76200"/>
                  </a:lnTo>
                  <a:lnTo>
                    <a:pt x="8196072" y="88900"/>
                  </a:lnTo>
                  <a:lnTo>
                    <a:pt x="8197596" y="101600"/>
                  </a:lnTo>
                  <a:lnTo>
                    <a:pt x="8199120" y="101600"/>
                  </a:lnTo>
                  <a:lnTo>
                    <a:pt x="8199120" y="190500"/>
                  </a:lnTo>
                  <a:lnTo>
                    <a:pt x="8211311" y="165100"/>
                  </a:lnTo>
                  <a:lnTo>
                    <a:pt x="8215883" y="152400"/>
                  </a:lnTo>
                  <a:lnTo>
                    <a:pt x="8220456" y="152400"/>
                  </a:lnTo>
                  <a:lnTo>
                    <a:pt x="8223504" y="139700"/>
                  </a:lnTo>
                  <a:lnTo>
                    <a:pt x="8225028" y="127000"/>
                  </a:lnTo>
                  <a:lnTo>
                    <a:pt x="8225028" y="101600"/>
                  </a:lnTo>
                  <a:lnTo>
                    <a:pt x="8223504" y="88900"/>
                  </a:lnTo>
                  <a:lnTo>
                    <a:pt x="8220456" y="76200"/>
                  </a:lnTo>
                  <a:lnTo>
                    <a:pt x="8215883" y="76200"/>
                  </a:lnTo>
                  <a:lnTo>
                    <a:pt x="8211311" y="63500"/>
                  </a:lnTo>
                  <a:lnTo>
                    <a:pt x="8199120" y="38100"/>
                  </a:lnTo>
                  <a:close/>
                </a:path>
                <a:path w="8225155" h="1892300">
                  <a:moveTo>
                    <a:pt x="8098535" y="165100"/>
                  </a:moveTo>
                  <a:lnTo>
                    <a:pt x="8029956" y="165100"/>
                  </a:lnTo>
                  <a:lnTo>
                    <a:pt x="8039100" y="177800"/>
                  </a:lnTo>
                  <a:lnTo>
                    <a:pt x="8089392" y="177800"/>
                  </a:lnTo>
                  <a:lnTo>
                    <a:pt x="8098535" y="165100"/>
                  </a:lnTo>
                  <a:close/>
                </a:path>
                <a:path w="8225155" h="1892300">
                  <a:moveTo>
                    <a:pt x="8026908" y="127000"/>
                  </a:moveTo>
                  <a:lnTo>
                    <a:pt x="8004048" y="127000"/>
                  </a:lnTo>
                  <a:lnTo>
                    <a:pt x="8007096" y="139700"/>
                  </a:lnTo>
                  <a:lnTo>
                    <a:pt x="8011668" y="152400"/>
                  </a:lnTo>
                  <a:lnTo>
                    <a:pt x="8020811" y="152400"/>
                  </a:lnTo>
                  <a:lnTo>
                    <a:pt x="8020811" y="165100"/>
                  </a:lnTo>
                  <a:lnTo>
                    <a:pt x="8026908" y="165100"/>
                  </a:lnTo>
                  <a:lnTo>
                    <a:pt x="8026908" y="127000"/>
                  </a:lnTo>
                  <a:close/>
                </a:path>
                <a:path w="8225155" h="1892300">
                  <a:moveTo>
                    <a:pt x="8026908" y="114300"/>
                  </a:moveTo>
                  <a:lnTo>
                    <a:pt x="8026908" y="165100"/>
                  </a:lnTo>
                  <a:lnTo>
                    <a:pt x="8101583" y="165100"/>
                  </a:lnTo>
                  <a:lnTo>
                    <a:pt x="8101583" y="152400"/>
                  </a:lnTo>
                  <a:lnTo>
                    <a:pt x="8048244" y="152400"/>
                  </a:lnTo>
                  <a:lnTo>
                    <a:pt x="8045196" y="139700"/>
                  </a:lnTo>
                  <a:lnTo>
                    <a:pt x="8033004" y="139700"/>
                  </a:lnTo>
                  <a:lnTo>
                    <a:pt x="8031480" y="127000"/>
                  </a:lnTo>
                  <a:lnTo>
                    <a:pt x="8028432" y="127000"/>
                  </a:lnTo>
                  <a:lnTo>
                    <a:pt x="8026908" y="114300"/>
                  </a:lnTo>
                  <a:close/>
                </a:path>
                <a:path w="8225155" h="1892300">
                  <a:moveTo>
                    <a:pt x="8125968" y="127000"/>
                  </a:moveTo>
                  <a:lnTo>
                    <a:pt x="8124444" y="127000"/>
                  </a:lnTo>
                  <a:lnTo>
                    <a:pt x="8121396" y="139700"/>
                  </a:lnTo>
                  <a:lnTo>
                    <a:pt x="8116824" y="152400"/>
                  </a:lnTo>
                  <a:lnTo>
                    <a:pt x="8107680" y="152400"/>
                  </a:lnTo>
                  <a:lnTo>
                    <a:pt x="8107680" y="165100"/>
                  </a:lnTo>
                  <a:lnTo>
                    <a:pt x="8125968" y="165100"/>
                  </a:lnTo>
                  <a:lnTo>
                    <a:pt x="8125968" y="127000"/>
                  </a:lnTo>
                  <a:close/>
                </a:path>
                <a:path w="8225155" h="1892300">
                  <a:moveTo>
                    <a:pt x="8101583" y="114300"/>
                  </a:moveTo>
                  <a:lnTo>
                    <a:pt x="8100059" y="127000"/>
                  </a:lnTo>
                  <a:lnTo>
                    <a:pt x="8097011" y="127000"/>
                  </a:lnTo>
                  <a:lnTo>
                    <a:pt x="8095487" y="139700"/>
                  </a:lnTo>
                  <a:lnTo>
                    <a:pt x="8083296" y="139700"/>
                  </a:lnTo>
                  <a:lnTo>
                    <a:pt x="8080248" y="152400"/>
                  </a:lnTo>
                  <a:lnTo>
                    <a:pt x="8101583" y="152400"/>
                  </a:lnTo>
                  <a:lnTo>
                    <a:pt x="8101583" y="127000"/>
                  </a:lnTo>
                  <a:lnTo>
                    <a:pt x="8100059" y="127000"/>
                  </a:lnTo>
                  <a:lnTo>
                    <a:pt x="8100059" y="114300"/>
                  </a:lnTo>
                  <a:lnTo>
                    <a:pt x="8101583" y="114300"/>
                  </a:lnTo>
                  <a:close/>
                </a:path>
                <a:path w="8225155" h="1892300">
                  <a:moveTo>
                    <a:pt x="8028432" y="114300"/>
                  </a:moveTo>
                  <a:lnTo>
                    <a:pt x="8028432" y="127000"/>
                  </a:lnTo>
                  <a:lnTo>
                    <a:pt x="8031480" y="127000"/>
                  </a:lnTo>
                  <a:lnTo>
                    <a:pt x="8028432" y="114300"/>
                  </a:lnTo>
                  <a:close/>
                </a:path>
                <a:path w="8225155" h="1892300">
                  <a:moveTo>
                    <a:pt x="8183880" y="25400"/>
                  </a:moveTo>
                  <a:lnTo>
                    <a:pt x="8139683" y="25400"/>
                  </a:lnTo>
                  <a:lnTo>
                    <a:pt x="8147304" y="38100"/>
                  </a:lnTo>
                  <a:lnTo>
                    <a:pt x="8191500" y="38100"/>
                  </a:lnTo>
                  <a:lnTo>
                    <a:pt x="8183880" y="25400"/>
                  </a:lnTo>
                  <a:close/>
                </a:path>
                <a:path w="8225155" h="1892300">
                  <a:moveTo>
                    <a:pt x="8135111" y="0"/>
                  </a:moveTo>
                  <a:lnTo>
                    <a:pt x="8090916" y="0"/>
                  </a:lnTo>
                  <a:lnTo>
                    <a:pt x="8069580" y="12700"/>
                  </a:lnTo>
                  <a:lnTo>
                    <a:pt x="8145780" y="12700"/>
                  </a:lnTo>
                  <a:lnTo>
                    <a:pt x="8135111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68451" y="1328927"/>
            <a:ext cx="8037830" cy="2545080"/>
            <a:chOff x="568451" y="1328927"/>
            <a:chExt cx="8037830" cy="25450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95" y="1328927"/>
              <a:ext cx="8017764" cy="25374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8451" y="1334007"/>
              <a:ext cx="8037830" cy="2540000"/>
            </a:xfrm>
            <a:custGeom>
              <a:avLst/>
              <a:gdLst/>
              <a:ahLst/>
              <a:cxnLst/>
              <a:rect l="l" t="t" r="r" b="b"/>
              <a:pathLst>
                <a:path w="8037830" h="2540000">
                  <a:moveTo>
                    <a:pt x="153924" y="2527300"/>
                  </a:moveTo>
                  <a:lnTo>
                    <a:pt x="44196" y="2527300"/>
                  </a:lnTo>
                  <a:lnTo>
                    <a:pt x="51816" y="2540000"/>
                  </a:lnTo>
                  <a:lnTo>
                    <a:pt x="146304" y="2540000"/>
                  </a:lnTo>
                  <a:lnTo>
                    <a:pt x="153924" y="2527300"/>
                  </a:lnTo>
                  <a:close/>
                </a:path>
                <a:path w="8037830" h="2540000">
                  <a:moveTo>
                    <a:pt x="56388" y="2501900"/>
                  </a:moveTo>
                  <a:lnTo>
                    <a:pt x="16764" y="2501900"/>
                  </a:lnTo>
                  <a:lnTo>
                    <a:pt x="28956" y="2514600"/>
                  </a:lnTo>
                  <a:lnTo>
                    <a:pt x="36576" y="2527300"/>
                  </a:lnTo>
                  <a:lnTo>
                    <a:pt x="97536" y="2527300"/>
                  </a:lnTo>
                  <a:lnTo>
                    <a:pt x="82296" y="2514600"/>
                  </a:lnTo>
                  <a:lnTo>
                    <a:pt x="62484" y="2514600"/>
                  </a:lnTo>
                  <a:lnTo>
                    <a:pt x="56388" y="2501900"/>
                  </a:lnTo>
                  <a:close/>
                </a:path>
                <a:path w="8037830" h="2540000">
                  <a:moveTo>
                    <a:pt x="195072" y="2463800"/>
                  </a:moveTo>
                  <a:lnTo>
                    <a:pt x="167640" y="2463800"/>
                  </a:lnTo>
                  <a:lnTo>
                    <a:pt x="164592" y="2476500"/>
                  </a:lnTo>
                  <a:lnTo>
                    <a:pt x="158496" y="2489200"/>
                  </a:lnTo>
                  <a:lnTo>
                    <a:pt x="153924" y="2489200"/>
                  </a:lnTo>
                  <a:lnTo>
                    <a:pt x="149352" y="2501900"/>
                  </a:lnTo>
                  <a:lnTo>
                    <a:pt x="144779" y="2501900"/>
                  </a:lnTo>
                  <a:lnTo>
                    <a:pt x="138684" y="2514600"/>
                  </a:lnTo>
                  <a:lnTo>
                    <a:pt x="105156" y="2514600"/>
                  </a:lnTo>
                  <a:lnTo>
                    <a:pt x="97536" y="2527300"/>
                  </a:lnTo>
                  <a:lnTo>
                    <a:pt x="161544" y="2527300"/>
                  </a:lnTo>
                  <a:lnTo>
                    <a:pt x="167640" y="2514600"/>
                  </a:lnTo>
                  <a:lnTo>
                    <a:pt x="179832" y="2501900"/>
                  </a:lnTo>
                  <a:lnTo>
                    <a:pt x="188976" y="2489200"/>
                  </a:lnTo>
                  <a:lnTo>
                    <a:pt x="195072" y="2463800"/>
                  </a:lnTo>
                  <a:close/>
                </a:path>
                <a:path w="8037830" h="2540000">
                  <a:moveTo>
                    <a:pt x="0" y="266700"/>
                  </a:moveTo>
                  <a:lnTo>
                    <a:pt x="0" y="2451100"/>
                  </a:lnTo>
                  <a:lnTo>
                    <a:pt x="1524" y="2463800"/>
                  </a:lnTo>
                  <a:lnTo>
                    <a:pt x="7620" y="2489200"/>
                  </a:lnTo>
                  <a:lnTo>
                    <a:pt x="12192" y="2501900"/>
                  </a:lnTo>
                  <a:lnTo>
                    <a:pt x="45720" y="2501900"/>
                  </a:lnTo>
                  <a:lnTo>
                    <a:pt x="42671" y="2489200"/>
                  </a:lnTo>
                  <a:lnTo>
                    <a:pt x="33528" y="2476500"/>
                  </a:lnTo>
                  <a:lnTo>
                    <a:pt x="30479" y="2476500"/>
                  </a:lnTo>
                  <a:lnTo>
                    <a:pt x="28956" y="2463800"/>
                  </a:lnTo>
                  <a:lnTo>
                    <a:pt x="25907" y="2451100"/>
                  </a:lnTo>
                  <a:lnTo>
                    <a:pt x="25907" y="327025"/>
                  </a:lnTo>
                  <a:lnTo>
                    <a:pt x="16764" y="317500"/>
                  </a:lnTo>
                  <a:lnTo>
                    <a:pt x="12192" y="317500"/>
                  </a:lnTo>
                  <a:lnTo>
                    <a:pt x="7620" y="304800"/>
                  </a:lnTo>
                  <a:lnTo>
                    <a:pt x="1524" y="279400"/>
                  </a:lnTo>
                  <a:lnTo>
                    <a:pt x="0" y="266700"/>
                  </a:lnTo>
                  <a:close/>
                </a:path>
                <a:path w="8037830" h="2540000">
                  <a:moveTo>
                    <a:pt x="196596" y="279400"/>
                  </a:moveTo>
                  <a:lnTo>
                    <a:pt x="195072" y="279400"/>
                  </a:lnTo>
                  <a:lnTo>
                    <a:pt x="188976" y="304800"/>
                  </a:lnTo>
                  <a:lnTo>
                    <a:pt x="184404" y="304800"/>
                  </a:lnTo>
                  <a:lnTo>
                    <a:pt x="179832" y="317500"/>
                  </a:lnTo>
                  <a:lnTo>
                    <a:pt x="173736" y="330200"/>
                  </a:lnTo>
                  <a:lnTo>
                    <a:pt x="170688" y="333375"/>
                  </a:lnTo>
                  <a:lnTo>
                    <a:pt x="170688" y="2451100"/>
                  </a:lnTo>
                  <a:lnTo>
                    <a:pt x="169164" y="2463800"/>
                  </a:lnTo>
                  <a:lnTo>
                    <a:pt x="196596" y="2463800"/>
                  </a:lnTo>
                  <a:lnTo>
                    <a:pt x="196596" y="2374900"/>
                  </a:lnTo>
                  <a:lnTo>
                    <a:pt x="184404" y="2374900"/>
                  </a:lnTo>
                  <a:lnTo>
                    <a:pt x="196596" y="2362200"/>
                  </a:lnTo>
                  <a:lnTo>
                    <a:pt x="196596" y="279400"/>
                  </a:lnTo>
                  <a:close/>
                </a:path>
                <a:path w="8037830" h="2540000">
                  <a:moveTo>
                    <a:pt x="196596" y="2362200"/>
                  </a:moveTo>
                  <a:lnTo>
                    <a:pt x="184404" y="2374900"/>
                  </a:lnTo>
                  <a:lnTo>
                    <a:pt x="196596" y="2374900"/>
                  </a:lnTo>
                  <a:lnTo>
                    <a:pt x="196596" y="2362200"/>
                  </a:lnTo>
                  <a:close/>
                </a:path>
                <a:path w="8037830" h="2540000">
                  <a:moveTo>
                    <a:pt x="8002524" y="2349500"/>
                  </a:moveTo>
                  <a:lnTo>
                    <a:pt x="196596" y="2349500"/>
                  </a:lnTo>
                  <a:lnTo>
                    <a:pt x="196596" y="2374900"/>
                  </a:lnTo>
                  <a:lnTo>
                    <a:pt x="7959852" y="2374900"/>
                  </a:lnTo>
                  <a:lnTo>
                    <a:pt x="7978140" y="2362200"/>
                  </a:lnTo>
                  <a:lnTo>
                    <a:pt x="7994904" y="2362200"/>
                  </a:lnTo>
                  <a:lnTo>
                    <a:pt x="8002524" y="2349500"/>
                  </a:lnTo>
                  <a:close/>
                </a:path>
                <a:path w="8037830" h="2540000">
                  <a:moveTo>
                    <a:pt x="8037576" y="101600"/>
                  </a:moveTo>
                  <a:lnTo>
                    <a:pt x="8036052" y="114300"/>
                  </a:lnTo>
                  <a:lnTo>
                    <a:pt x="8029956" y="127000"/>
                  </a:lnTo>
                  <a:lnTo>
                    <a:pt x="8020812" y="152400"/>
                  </a:lnTo>
                  <a:lnTo>
                    <a:pt x="8011668" y="161925"/>
                  </a:lnTo>
                  <a:lnTo>
                    <a:pt x="8011668" y="2286000"/>
                  </a:lnTo>
                  <a:lnTo>
                    <a:pt x="8010144" y="2298700"/>
                  </a:lnTo>
                  <a:lnTo>
                    <a:pt x="8008620" y="2298700"/>
                  </a:lnTo>
                  <a:lnTo>
                    <a:pt x="8005572" y="2311400"/>
                  </a:lnTo>
                  <a:lnTo>
                    <a:pt x="8002524" y="2311400"/>
                  </a:lnTo>
                  <a:lnTo>
                    <a:pt x="7999476" y="2324100"/>
                  </a:lnTo>
                  <a:lnTo>
                    <a:pt x="7990332" y="2324100"/>
                  </a:lnTo>
                  <a:lnTo>
                    <a:pt x="7985759" y="2336800"/>
                  </a:lnTo>
                  <a:lnTo>
                    <a:pt x="7973568" y="2336800"/>
                  </a:lnTo>
                  <a:lnTo>
                    <a:pt x="7967472" y="2349500"/>
                  </a:lnTo>
                  <a:lnTo>
                    <a:pt x="8008620" y="2349500"/>
                  </a:lnTo>
                  <a:lnTo>
                    <a:pt x="8020812" y="2336800"/>
                  </a:lnTo>
                  <a:lnTo>
                    <a:pt x="8029956" y="2311400"/>
                  </a:lnTo>
                  <a:lnTo>
                    <a:pt x="8036052" y="2298700"/>
                  </a:lnTo>
                  <a:lnTo>
                    <a:pt x="8037576" y="2286000"/>
                  </a:lnTo>
                  <a:lnTo>
                    <a:pt x="8037576" y="101600"/>
                  </a:lnTo>
                  <a:close/>
                </a:path>
                <a:path w="8037830" h="2540000">
                  <a:moveTo>
                    <a:pt x="118872" y="355600"/>
                  </a:moveTo>
                  <a:lnTo>
                    <a:pt x="70104" y="355600"/>
                  </a:lnTo>
                  <a:lnTo>
                    <a:pt x="88392" y="368300"/>
                  </a:lnTo>
                  <a:lnTo>
                    <a:pt x="108204" y="368300"/>
                  </a:lnTo>
                  <a:lnTo>
                    <a:pt x="118872" y="355600"/>
                  </a:lnTo>
                  <a:close/>
                </a:path>
                <a:path w="8037830" h="2540000">
                  <a:moveTo>
                    <a:pt x="25907" y="266700"/>
                  </a:moveTo>
                  <a:lnTo>
                    <a:pt x="25907" y="327025"/>
                  </a:lnTo>
                  <a:lnTo>
                    <a:pt x="28956" y="330200"/>
                  </a:lnTo>
                  <a:lnTo>
                    <a:pt x="44196" y="342900"/>
                  </a:lnTo>
                  <a:lnTo>
                    <a:pt x="51816" y="355600"/>
                  </a:lnTo>
                  <a:lnTo>
                    <a:pt x="85343" y="355600"/>
                  </a:lnTo>
                  <a:lnTo>
                    <a:pt x="85343" y="342900"/>
                  </a:lnTo>
                  <a:lnTo>
                    <a:pt x="82296" y="342900"/>
                  </a:lnTo>
                  <a:lnTo>
                    <a:pt x="76200" y="330200"/>
                  </a:lnTo>
                  <a:lnTo>
                    <a:pt x="56388" y="330200"/>
                  </a:lnTo>
                  <a:lnTo>
                    <a:pt x="51816" y="317500"/>
                  </a:lnTo>
                  <a:lnTo>
                    <a:pt x="41148" y="304800"/>
                  </a:lnTo>
                  <a:lnTo>
                    <a:pt x="33528" y="304800"/>
                  </a:lnTo>
                  <a:lnTo>
                    <a:pt x="30479" y="292100"/>
                  </a:lnTo>
                  <a:lnTo>
                    <a:pt x="28956" y="292100"/>
                  </a:lnTo>
                  <a:lnTo>
                    <a:pt x="25907" y="266700"/>
                  </a:lnTo>
                  <a:close/>
                </a:path>
                <a:path w="8037830" h="2540000">
                  <a:moveTo>
                    <a:pt x="135636" y="228600"/>
                  </a:moveTo>
                  <a:lnTo>
                    <a:pt x="94488" y="228600"/>
                  </a:lnTo>
                  <a:lnTo>
                    <a:pt x="89916" y="241300"/>
                  </a:lnTo>
                  <a:lnTo>
                    <a:pt x="86868" y="254000"/>
                  </a:lnTo>
                  <a:lnTo>
                    <a:pt x="85343" y="266700"/>
                  </a:lnTo>
                  <a:lnTo>
                    <a:pt x="85343" y="355600"/>
                  </a:lnTo>
                  <a:lnTo>
                    <a:pt x="111252" y="355600"/>
                  </a:lnTo>
                  <a:lnTo>
                    <a:pt x="111252" y="266700"/>
                  </a:lnTo>
                  <a:lnTo>
                    <a:pt x="114300" y="254000"/>
                  </a:lnTo>
                  <a:lnTo>
                    <a:pt x="112776" y="254000"/>
                  </a:lnTo>
                  <a:lnTo>
                    <a:pt x="117348" y="241300"/>
                  </a:lnTo>
                  <a:lnTo>
                    <a:pt x="128016" y="241300"/>
                  </a:lnTo>
                  <a:lnTo>
                    <a:pt x="135636" y="228600"/>
                  </a:lnTo>
                  <a:close/>
                </a:path>
                <a:path w="8037830" h="2540000">
                  <a:moveTo>
                    <a:pt x="153924" y="342900"/>
                  </a:moveTo>
                  <a:lnTo>
                    <a:pt x="111252" y="342900"/>
                  </a:lnTo>
                  <a:lnTo>
                    <a:pt x="111252" y="355600"/>
                  </a:lnTo>
                  <a:lnTo>
                    <a:pt x="146304" y="355600"/>
                  </a:lnTo>
                  <a:lnTo>
                    <a:pt x="153924" y="342900"/>
                  </a:lnTo>
                  <a:close/>
                </a:path>
                <a:path w="8037830" h="2540000">
                  <a:moveTo>
                    <a:pt x="170688" y="266700"/>
                  </a:moveTo>
                  <a:lnTo>
                    <a:pt x="167640" y="292100"/>
                  </a:lnTo>
                  <a:lnTo>
                    <a:pt x="158496" y="304800"/>
                  </a:lnTo>
                  <a:lnTo>
                    <a:pt x="153924" y="317500"/>
                  </a:lnTo>
                  <a:lnTo>
                    <a:pt x="144779" y="317500"/>
                  </a:lnTo>
                  <a:lnTo>
                    <a:pt x="138684" y="330200"/>
                  </a:lnTo>
                  <a:lnTo>
                    <a:pt x="118872" y="330200"/>
                  </a:lnTo>
                  <a:lnTo>
                    <a:pt x="112776" y="342900"/>
                  </a:lnTo>
                  <a:lnTo>
                    <a:pt x="161544" y="342900"/>
                  </a:lnTo>
                  <a:lnTo>
                    <a:pt x="170688" y="333375"/>
                  </a:lnTo>
                  <a:lnTo>
                    <a:pt x="170688" y="266700"/>
                  </a:lnTo>
                  <a:close/>
                </a:path>
                <a:path w="8037830" h="2540000">
                  <a:moveTo>
                    <a:pt x="187452" y="228600"/>
                  </a:moveTo>
                  <a:lnTo>
                    <a:pt x="146304" y="228600"/>
                  </a:lnTo>
                  <a:lnTo>
                    <a:pt x="153924" y="241300"/>
                  </a:lnTo>
                  <a:lnTo>
                    <a:pt x="164592" y="241300"/>
                  </a:lnTo>
                  <a:lnTo>
                    <a:pt x="169164" y="254000"/>
                  </a:lnTo>
                  <a:lnTo>
                    <a:pt x="167640" y="254000"/>
                  </a:lnTo>
                  <a:lnTo>
                    <a:pt x="170688" y="266700"/>
                  </a:lnTo>
                  <a:lnTo>
                    <a:pt x="170688" y="333375"/>
                  </a:lnTo>
                  <a:lnTo>
                    <a:pt x="173736" y="330200"/>
                  </a:lnTo>
                  <a:lnTo>
                    <a:pt x="179832" y="317500"/>
                  </a:lnTo>
                  <a:lnTo>
                    <a:pt x="184404" y="304800"/>
                  </a:lnTo>
                  <a:lnTo>
                    <a:pt x="188976" y="304800"/>
                  </a:lnTo>
                  <a:lnTo>
                    <a:pt x="195072" y="279400"/>
                  </a:lnTo>
                  <a:lnTo>
                    <a:pt x="196596" y="279400"/>
                  </a:lnTo>
                  <a:lnTo>
                    <a:pt x="196596" y="266700"/>
                  </a:lnTo>
                  <a:lnTo>
                    <a:pt x="195072" y="254000"/>
                  </a:lnTo>
                  <a:lnTo>
                    <a:pt x="192024" y="241300"/>
                  </a:lnTo>
                  <a:lnTo>
                    <a:pt x="187452" y="228600"/>
                  </a:lnTo>
                  <a:close/>
                </a:path>
                <a:path w="8037830" h="2540000">
                  <a:moveTo>
                    <a:pt x="77724" y="190500"/>
                  </a:moveTo>
                  <a:lnTo>
                    <a:pt x="28956" y="190500"/>
                  </a:lnTo>
                  <a:lnTo>
                    <a:pt x="16764" y="215900"/>
                  </a:lnTo>
                  <a:lnTo>
                    <a:pt x="12192" y="215900"/>
                  </a:lnTo>
                  <a:lnTo>
                    <a:pt x="7620" y="228600"/>
                  </a:lnTo>
                  <a:lnTo>
                    <a:pt x="1524" y="241300"/>
                  </a:lnTo>
                  <a:lnTo>
                    <a:pt x="0" y="254000"/>
                  </a:lnTo>
                  <a:lnTo>
                    <a:pt x="0" y="266700"/>
                  </a:lnTo>
                  <a:lnTo>
                    <a:pt x="1524" y="279400"/>
                  </a:lnTo>
                  <a:lnTo>
                    <a:pt x="7620" y="304800"/>
                  </a:lnTo>
                  <a:lnTo>
                    <a:pt x="12192" y="317500"/>
                  </a:lnTo>
                  <a:lnTo>
                    <a:pt x="16764" y="317500"/>
                  </a:lnTo>
                  <a:lnTo>
                    <a:pt x="25907" y="327025"/>
                  </a:lnTo>
                  <a:lnTo>
                    <a:pt x="25907" y="254000"/>
                  </a:lnTo>
                  <a:lnTo>
                    <a:pt x="28956" y="241300"/>
                  </a:lnTo>
                  <a:lnTo>
                    <a:pt x="38100" y="228600"/>
                  </a:lnTo>
                  <a:lnTo>
                    <a:pt x="42671" y="215900"/>
                  </a:lnTo>
                  <a:lnTo>
                    <a:pt x="51816" y="203200"/>
                  </a:lnTo>
                  <a:lnTo>
                    <a:pt x="70104" y="203200"/>
                  </a:lnTo>
                  <a:lnTo>
                    <a:pt x="77724" y="190500"/>
                  </a:lnTo>
                  <a:close/>
                </a:path>
                <a:path w="8037830" h="2540000">
                  <a:moveTo>
                    <a:pt x="120396" y="241300"/>
                  </a:moveTo>
                  <a:lnTo>
                    <a:pt x="117348" y="241300"/>
                  </a:lnTo>
                  <a:lnTo>
                    <a:pt x="115824" y="254000"/>
                  </a:lnTo>
                  <a:lnTo>
                    <a:pt x="120396" y="241300"/>
                  </a:lnTo>
                  <a:close/>
                </a:path>
                <a:path w="8037830" h="2540000">
                  <a:moveTo>
                    <a:pt x="164592" y="241300"/>
                  </a:moveTo>
                  <a:lnTo>
                    <a:pt x="161544" y="241300"/>
                  </a:lnTo>
                  <a:lnTo>
                    <a:pt x="166116" y="254000"/>
                  </a:lnTo>
                  <a:lnTo>
                    <a:pt x="164592" y="241300"/>
                  </a:lnTo>
                  <a:close/>
                </a:path>
                <a:path w="8037830" h="2540000">
                  <a:moveTo>
                    <a:pt x="140208" y="228600"/>
                  </a:moveTo>
                  <a:lnTo>
                    <a:pt x="135636" y="228600"/>
                  </a:lnTo>
                  <a:lnTo>
                    <a:pt x="134112" y="241300"/>
                  </a:lnTo>
                  <a:lnTo>
                    <a:pt x="140970" y="229870"/>
                  </a:lnTo>
                  <a:lnTo>
                    <a:pt x="140208" y="228600"/>
                  </a:lnTo>
                  <a:close/>
                </a:path>
                <a:path w="8037830" h="2540000">
                  <a:moveTo>
                    <a:pt x="146304" y="228600"/>
                  </a:moveTo>
                  <a:lnTo>
                    <a:pt x="141732" y="228600"/>
                  </a:lnTo>
                  <a:lnTo>
                    <a:pt x="140970" y="229870"/>
                  </a:lnTo>
                  <a:lnTo>
                    <a:pt x="147828" y="241300"/>
                  </a:lnTo>
                  <a:lnTo>
                    <a:pt x="146304" y="228600"/>
                  </a:lnTo>
                  <a:close/>
                </a:path>
                <a:path w="8037830" h="2540000">
                  <a:moveTo>
                    <a:pt x="141732" y="228600"/>
                  </a:moveTo>
                  <a:lnTo>
                    <a:pt x="140208" y="228600"/>
                  </a:lnTo>
                  <a:lnTo>
                    <a:pt x="140970" y="229870"/>
                  </a:lnTo>
                  <a:lnTo>
                    <a:pt x="141732" y="228600"/>
                  </a:lnTo>
                  <a:close/>
                </a:path>
                <a:path w="8037830" h="2540000">
                  <a:moveTo>
                    <a:pt x="173736" y="215900"/>
                  </a:moveTo>
                  <a:lnTo>
                    <a:pt x="109728" y="215900"/>
                  </a:lnTo>
                  <a:lnTo>
                    <a:pt x="102107" y="228600"/>
                  </a:lnTo>
                  <a:lnTo>
                    <a:pt x="179832" y="228600"/>
                  </a:lnTo>
                  <a:lnTo>
                    <a:pt x="173736" y="215900"/>
                  </a:lnTo>
                  <a:close/>
                </a:path>
                <a:path w="8037830" h="2540000">
                  <a:moveTo>
                    <a:pt x="7840980" y="165100"/>
                  </a:moveTo>
                  <a:lnTo>
                    <a:pt x="77724" y="165100"/>
                  </a:lnTo>
                  <a:lnTo>
                    <a:pt x="50292" y="177800"/>
                  </a:lnTo>
                  <a:lnTo>
                    <a:pt x="42671" y="190500"/>
                  </a:lnTo>
                  <a:lnTo>
                    <a:pt x="7853172" y="190500"/>
                  </a:lnTo>
                  <a:lnTo>
                    <a:pt x="7853172" y="177800"/>
                  </a:lnTo>
                  <a:lnTo>
                    <a:pt x="7840980" y="177800"/>
                  </a:lnTo>
                  <a:lnTo>
                    <a:pt x="7840980" y="165100"/>
                  </a:lnTo>
                  <a:close/>
                </a:path>
                <a:path w="8037830" h="2540000">
                  <a:moveTo>
                    <a:pt x="7866888" y="165100"/>
                  </a:moveTo>
                  <a:lnTo>
                    <a:pt x="7853172" y="165100"/>
                  </a:lnTo>
                  <a:lnTo>
                    <a:pt x="7853172" y="190500"/>
                  </a:lnTo>
                  <a:lnTo>
                    <a:pt x="7866888" y="190500"/>
                  </a:lnTo>
                  <a:lnTo>
                    <a:pt x="7866888" y="165100"/>
                  </a:lnTo>
                  <a:close/>
                </a:path>
                <a:path w="8037830" h="2540000">
                  <a:moveTo>
                    <a:pt x="7926324" y="165100"/>
                  </a:moveTo>
                  <a:lnTo>
                    <a:pt x="7866888" y="165100"/>
                  </a:lnTo>
                  <a:lnTo>
                    <a:pt x="7866888" y="190500"/>
                  </a:lnTo>
                  <a:lnTo>
                    <a:pt x="7958328" y="190500"/>
                  </a:lnTo>
                  <a:lnTo>
                    <a:pt x="7985759" y="177800"/>
                  </a:lnTo>
                  <a:lnTo>
                    <a:pt x="7926324" y="177800"/>
                  </a:lnTo>
                  <a:lnTo>
                    <a:pt x="7926324" y="165100"/>
                  </a:lnTo>
                  <a:close/>
                </a:path>
                <a:path w="8037830" h="2540000">
                  <a:moveTo>
                    <a:pt x="7866888" y="88900"/>
                  </a:moveTo>
                  <a:lnTo>
                    <a:pt x="7840980" y="101600"/>
                  </a:lnTo>
                  <a:lnTo>
                    <a:pt x="7840980" y="177800"/>
                  </a:lnTo>
                  <a:lnTo>
                    <a:pt x="7853172" y="165100"/>
                  </a:lnTo>
                  <a:lnTo>
                    <a:pt x="7866888" y="165100"/>
                  </a:lnTo>
                  <a:lnTo>
                    <a:pt x="7866888" y="139700"/>
                  </a:lnTo>
                  <a:lnTo>
                    <a:pt x="7857744" y="139700"/>
                  </a:lnTo>
                  <a:lnTo>
                    <a:pt x="7857744" y="127000"/>
                  </a:lnTo>
                  <a:lnTo>
                    <a:pt x="7850124" y="127000"/>
                  </a:lnTo>
                  <a:lnTo>
                    <a:pt x="7845552" y="114300"/>
                  </a:lnTo>
                  <a:lnTo>
                    <a:pt x="7842504" y="101600"/>
                  </a:lnTo>
                  <a:lnTo>
                    <a:pt x="7866888" y="101600"/>
                  </a:lnTo>
                  <a:lnTo>
                    <a:pt x="7866888" y="88900"/>
                  </a:lnTo>
                  <a:close/>
                </a:path>
                <a:path w="8037830" h="2540000">
                  <a:moveTo>
                    <a:pt x="7853172" y="165100"/>
                  </a:moveTo>
                  <a:lnTo>
                    <a:pt x="7840980" y="177800"/>
                  </a:lnTo>
                  <a:lnTo>
                    <a:pt x="7853172" y="177800"/>
                  </a:lnTo>
                  <a:lnTo>
                    <a:pt x="7853172" y="165100"/>
                  </a:lnTo>
                  <a:close/>
                </a:path>
                <a:path w="8037830" h="2540000">
                  <a:moveTo>
                    <a:pt x="7926324" y="88900"/>
                  </a:moveTo>
                  <a:lnTo>
                    <a:pt x="7926324" y="177800"/>
                  </a:lnTo>
                  <a:lnTo>
                    <a:pt x="7952232" y="177800"/>
                  </a:lnTo>
                  <a:lnTo>
                    <a:pt x="7952232" y="139700"/>
                  </a:lnTo>
                  <a:lnTo>
                    <a:pt x="7935468" y="139700"/>
                  </a:lnTo>
                  <a:lnTo>
                    <a:pt x="7935468" y="127000"/>
                  </a:lnTo>
                  <a:lnTo>
                    <a:pt x="7943088" y="127000"/>
                  </a:lnTo>
                  <a:lnTo>
                    <a:pt x="7947659" y="114300"/>
                  </a:lnTo>
                  <a:lnTo>
                    <a:pt x="7950708" y="101600"/>
                  </a:lnTo>
                  <a:lnTo>
                    <a:pt x="7952232" y="101600"/>
                  </a:lnTo>
                  <a:lnTo>
                    <a:pt x="7926324" y="88900"/>
                  </a:lnTo>
                  <a:close/>
                </a:path>
                <a:path w="8037830" h="2540000">
                  <a:moveTo>
                    <a:pt x="8001000" y="165100"/>
                  </a:moveTo>
                  <a:lnTo>
                    <a:pt x="7952232" y="165100"/>
                  </a:lnTo>
                  <a:lnTo>
                    <a:pt x="7952232" y="177800"/>
                  </a:lnTo>
                  <a:lnTo>
                    <a:pt x="7993380" y="177800"/>
                  </a:lnTo>
                  <a:lnTo>
                    <a:pt x="8001000" y="165100"/>
                  </a:lnTo>
                  <a:close/>
                </a:path>
                <a:path w="8037830" h="2540000">
                  <a:moveTo>
                    <a:pt x="8011668" y="101600"/>
                  </a:moveTo>
                  <a:lnTo>
                    <a:pt x="8008620" y="114300"/>
                  </a:lnTo>
                  <a:lnTo>
                    <a:pt x="8007096" y="127000"/>
                  </a:lnTo>
                  <a:lnTo>
                    <a:pt x="8004048" y="127000"/>
                  </a:lnTo>
                  <a:lnTo>
                    <a:pt x="7999476" y="139700"/>
                  </a:lnTo>
                  <a:lnTo>
                    <a:pt x="7991856" y="139700"/>
                  </a:lnTo>
                  <a:lnTo>
                    <a:pt x="7985759" y="152400"/>
                  </a:lnTo>
                  <a:lnTo>
                    <a:pt x="7975092" y="152400"/>
                  </a:lnTo>
                  <a:lnTo>
                    <a:pt x="7967472" y="165100"/>
                  </a:lnTo>
                  <a:lnTo>
                    <a:pt x="8008620" y="165100"/>
                  </a:lnTo>
                  <a:lnTo>
                    <a:pt x="8011668" y="161925"/>
                  </a:lnTo>
                  <a:lnTo>
                    <a:pt x="8011668" y="101600"/>
                  </a:lnTo>
                  <a:close/>
                </a:path>
                <a:path w="8037830" h="2540000">
                  <a:moveTo>
                    <a:pt x="8029956" y="50800"/>
                  </a:moveTo>
                  <a:lnTo>
                    <a:pt x="7999476" y="50800"/>
                  </a:lnTo>
                  <a:lnTo>
                    <a:pt x="8004048" y="63500"/>
                  </a:lnTo>
                  <a:lnTo>
                    <a:pt x="8007096" y="63500"/>
                  </a:lnTo>
                  <a:lnTo>
                    <a:pt x="8010144" y="76200"/>
                  </a:lnTo>
                  <a:lnTo>
                    <a:pt x="8011668" y="88900"/>
                  </a:lnTo>
                  <a:lnTo>
                    <a:pt x="8011668" y="161925"/>
                  </a:lnTo>
                  <a:lnTo>
                    <a:pt x="8020812" y="152400"/>
                  </a:lnTo>
                  <a:lnTo>
                    <a:pt x="8029956" y="127000"/>
                  </a:lnTo>
                  <a:lnTo>
                    <a:pt x="8036052" y="114300"/>
                  </a:lnTo>
                  <a:lnTo>
                    <a:pt x="8037576" y="101600"/>
                  </a:lnTo>
                  <a:lnTo>
                    <a:pt x="8037576" y="88900"/>
                  </a:lnTo>
                  <a:lnTo>
                    <a:pt x="8036052" y="76200"/>
                  </a:lnTo>
                  <a:lnTo>
                    <a:pt x="8029956" y="50800"/>
                  </a:lnTo>
                  <a:close/>
                </a:path>
                <a:path w="8037830" h="2540000">
                  <a:moveTo>
                    <a:pt x="7917180" y="139700"/>
                  </a:moveTo>
                  <a:lnTo>
                    <a:pt x="7876032" y="139700"/>
                  </a:lnTo>
                  <a:lnTo>
                    <a:pt x="7876032" y="152400"/>
                  </a:lnTo>
                  <a:lnTo>
                    <a:pt x="7917180" y="152400"/>
                  </a:lnTo>
                  <a:lnTo>
                    <a:pt x="7917180" y="139700"/>
                  </a:lnTo>
                  <a:close/>
                </a:path>
                <a:path w="8037830" h="2540000">
                  <a:moveTo>
                    <a:pt x="7866888" y="101600"/>
                  </a:moveTo>
                  <a:lnTo>
                    <a:pt x="7842504" y="101600"/>
                  </a:lnTo>
                  <a:lnTo>
                    <a:pt x="7845552" y="114300"/>
                  </a:lnTo>
                  <a:lnTo>
                    <a:pt x="7850124" y="127000"/>
                  </a:lnTo>
                  <a:lnTo>
                    <a:pt x="7857744" y="127000"/>
                  </a:lnTo>
                  <a:lnTo>
                    <a:pt x="7857744" y="139700"/>
                  </a:lnTo>
                  <a:lnTo>
                    <a:pt x="7866888" y="139700"/>
                  </a:lnTo>
                  <a:lnTo>
                    <a:pt x="7866888" y="101600"/>
                  </a:lnTo>
                  <a:close/>
                </a:path>
                <a:path w="8037830" h="2540000">
                  <a:moveTo>
                    <a:pt x="7868412" y="101600"/>
                  </a:moveTo>
                  <a:lnTo>
                    <a:pt x="7866888" y="101600"/>
                  </a:lnTo>
                  <a:lnTo>
                    <a:pt x="7866888" y="139700"/>
                  </a:lnTo>
                  <a:lnTo>
                    <a:pt x="7926324" y="139700"/>
                  </a:lnTo>
                  <a:lnTo>
                    <a:pt x="7926324" y="127000"/>
                  </a:lnTo>
                  <a:lnTo>
                    <a:pt x="7886700" y="127000"/>
                  </a:lnTo>
                  <a:lnTo>
                    <a:pt x="7879080" y="114300"/>
                  </a:lnTo>
                  <a:lnTo>
                    <a:pt x="7872983" y="114300"/>
                  </a:lnTo>
                  <a:lnTo>
                    <a:pt x="7868412" y="101600"/>
                  </a:lnTo>
                  <a:close/>
                </a:path>
                <a:path w="8037830" h="2540000">
                  <a:moveTo>
                    <a:pt x="7952232" y="101600"/>
                  </a:moveTo>
                  <a:lnTo>
                    <a:pt x="7950708" y="101600"/>
                  </a:lnTo>
                  <a:lnTo>
                    <a:pt x="7947659" y="114300"/>
                  </a:lnTo>
                  <a:lnTo>
                    <a:pt x="7943088" y="127000"/>
                  </a:lnTo>
                  <a:lnTo>
                    <a:pt x="7935468" y="127000"/>
                  </a:lnTo>
                  <a:lnTo>
                    <a:pt x="7935468" y="139700"/>
                  </a:lnTo>
                  <a:lnTo>
                    <a:pt x="7952232" y="139700"/>
                  </a:lnTo>
                  <a:lnTo>
                    <a:pt x="7952232" y="101600"/>
                  </a:lnTo>
                  <a:close/>
                </a:path>
                <a:path w="8037830" h="2540000">
                  <a:moveTo>
                    <a:pt x="7926324" y="101600"/>
                  </a:moveTo>
                  <a:lnTo>
                    <a:pt x="7924800" y="101600"/>
                  </a:lnTo>
                  <a:lnTo>
                    <a:pt x="7920228" y="114300"/>
                  </a:lnTo>
                  <a:lnTo>
                    <a:pt x="7914132" y="114300"/>
                  </a:lnTo>
                  <a:lnTo>
                    <a:pt x="7906512" y="127000"/>
                  </a:lnTo>
                  <a:lnTo>
                    <a:pt x="7926324" y="127000"/>
                  </a:lnTo>
                  <a:lnTo>
                    <a:pt x="7926324" y="101600"/>
                  </a:lnTo>
                  <a:close/>
                </a:path>
                <a:path w="8037830" h="2540000">
                  <a:moveTo>
                    <a:pt x="7879080" y="50800"/>
                  </a:moveTo>
                  <a:lnTo>
                    <a:pt x="7848600" y="50800"/>
                  </a:lnTo>
                  <a:lnTo>
                    <a:pt x="7842504" y="76200"/>
                  </a:lnTo>
                  <a:lnTo>
                    <a:pt x="7840980" y="88900"/>
                  </a:lnTo>
                  <a:lnTo>
                    <a:pt x="7840980" y="101600"/>
                  </a:lnTo>
                  <a:lnTo>
                    <a:pt x="7866888" y="88900"/>
                  </a:lnTo>
                  <a:lnTo>
                    <a:pt x="7868412" y="76200"/>
                  </a:lnTo>
                  <a:lnTo>
                    <a:pt x="7869936" y="76200"/>
                  </a:lnTo>
                  <a:lnTo>
                    <a:pt x="7879080" y="50800"/>
                  </a:lnTo>
                  <a:close/>
                </a:path>
                <a:path w="8037830" h="2540000">
                  <a:moveTo>
                    <a:pt x="7946136" y="76200"/>
                  </a:moveTo>
                  <a:lnTo>
                    <a:pt x="7933944" y="76200"/>
                  </a:lnTo>
                  <a:lnTo>
                    <a:pt x="7927848" y="88900"/>
                  </a:lnTo>
                  <a:lnTo>
                    <a:pt x="7926324" y="88900"/>
                  </a:lnTo>
                  <a:lnTo>
                    <a:pt x="7952232" y="101600"/>
                  </a:lnTo>
                  <a:lnTo>
                    <a:pt x="7952232" y="88900"/>
                  </a:lnTo>
                  <a:lnTo>
                    <a:pt x="7946136" y="76200"/>
                  </a:lnTo>
                  <a:close/>
                </a:path>
                <a:path w="8037830" h="2540000">
                  <a:moveTo>
                    <a:pt x="7993380" y="12700"/>
                  </a:moveTo>
                  <a:lnTo>
                    <a:pt x="7876032" y="12700"/>
                  </a:lnTo>
                  <a:lnTo>
                    <a:pt x="7869936" y="25400"/>
                  </a:lnTo>
                  <a:lnTo>
                    <a:pt x="7857744" y="38100"/>
                  </a:lnTo>
                  <a:lnTo>
                    <a:pt x="7853172" y="50800"/>
                  </a:lnTo>
                  <a:lnTo>
                    <a:pt x="7883652" y="50800"/>
                  </a:lnTo>
                  <a:lnTo>
                    <a:pt x="7892796" y="38100"/>
                  </a:lnTo>
                  <a:lnTo>
                    <a:pt x="7898892" y="38100"/>
                  </a:lnTo>
                  <a:lnTo>
                    <a:pt x="7911083" y="25400"/>
                  </a:lnTo>
                  <a:lnTo>
                    <a:pt x="8008620" y="25400"/>
                  </a:lnTo>
                  <a:lnTo>
                    <a:pt x="7993380" y="12700"/>
                  </a:lnTo>
                  <a:close/>
                </a:path>
                <a:path w="8037830" h="2540000">
                  <a:moveTo>
                    <a:pt x="8014716" y="25400"/>
                  </a:moveTo>
                  <a:lnTo>
                    <a:pt x="7975092" y="25400"/>
                  </a:lnTo>
                  <a:lnTo>
                    <a:pt x="7981188" y="38100"/>
                  </a:lnTo>
                  <a:lnTo>
                    <a:pt x="7991856" y="38100"/>
                  </a:lnTo>
                  <a:lnTo>
                    <a:pt x="7996428" y="50800"/>
                  </a:lnTo>
                  <a:lnTo>
                    <a:pt x="8025383" y="50800"/>
                  </a:lnTo>
                  <a:lnTo>
                    <a:pt x="8020812" y="38100"/>
                  </a:lnTo>
                  <a:lnTo>
                    <a:pt x="8014716" y="25400"/>
                  </a:lnTo>
                  <a:close/>
                </a:path>
                <a:path w="8037830" h="2540000">
                  <a:moveTo>
                    <a:pt x="7976616" y="0"/>
                  </a:moveTo>
                  <a:lnTo>
                    <a:pt x="7900416" y="0"/>
                  </a:lnTo>
                  <a:lnTo>
                    <a:pt x="7891272" y="12700"/>
                  </a:lnTo>
                  <a:lnTo>
                    <a:pt x="7985759" y="12700"/>
                  </a:lnTo>
                  <a:lnTo>
                    <a:pt x="7976616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70616" y="430918"/>
            <a:ext cx="2811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spc="-20" dirty="0"/>
              <a:t> </a:t>
            </a:r>
            <a:r>
              <a:rPr spc="-5" dirty="0"/>
              <a:t>is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robot?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4177" y="1741396"/>
            <a:ext cx="7454265" cy="148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70C0"/>
                </a:solidFill>
                <a:latin typeface="Calibri"/>
                <a:cs typeface="Calibri"/>
              </a:rPr>
              <a:t>Robot</a:t>
            </a:r>
            <a:r>
              <a:rPr sz="2000" b="1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70C0"/>
                </a:solidFill>
                <a:latin typeface="Calibri"/>
                <a:cs typeface="Calibri"/>
              </a:rPr>
              <a:t>Institute</a:t>
            </a:r>
            <a:r>
              <a:rPr sz="2000" b="1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000" b="1" spc="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70C0"/>
                </a:solidFill>
                <a:latin typeface="Calibri"/>
                <a:cs typeface="Calibri"/>
              </a:rPr>
              <a:t>America</a:t>
            </a:r>
            <a:r>
              <a:rPr sz="2000" b="1" spc="-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(RIA), 1979</a:t>
            </a:r>
            <a:r>
              <a:rPr sz="1950" baseline="25641" dirty="0">
                <a:solidFill>
                  <a:srgbClr val="7F7F7F"/>
                </a:solidFill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50">
              <a:latin typeface="Calibri"/>
              <a:cs typeface="Calibri"/>
            </a:endParaRPr>
          </a:p>
          <a:p>
            <a:pPr marL="62865" marR="17780"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robot</a:t>
            </a:r>
            <a:r>
              <a:rPr sz="2000" spc="-5" dirty="0">
                <a:latin typeface="Calibri"/>
                <a:cs typeface="Calibri"/>
              </a:rPr>
              <a:t> 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reprogrammable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0070C0"/>
                </a:solidFill>
                <a:latin typeface="Calibri"/>
                <a:cs typeface="Calibri"/>
              </a:rPr>
              <a:t>multifunctional</a:t>
            </a:r>
            <a:r>
              <a:rPr sz="20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manipulator designed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materials,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parts,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tools,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specialized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devices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through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various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programmed</a:t>
            </a:r>
            <a:r>
              <a:rPr sz="2000" spc="-5" dirty="0">
                <a:latin typeface="Calibri"/>
                <a:cs typeface="Calibri"/>
              </a:rPr>
              <a:t> motions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performance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variety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tasks.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5806" y="4582978"/>
            <a:ext cx="7452995" cy="95504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5"/>
              </a:spcBef>
            </a:pP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Japanese</a:t>
            </a:r>
            <a:r>
              <a:rPr sz="20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Industrial</a:t>
            </a:r>
            <a:r>
              <a:rPr sz="20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70C0"/>
                </a:solidFill>
                <a:latin typeface="Calibri"/>
                <a:cs typeface="Calibri"/>
              </a:rPr>
              <a:t>Robot</a:t>
            </a:r>
            <a:r>
              <a:rPr sz="20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70C0"/>
                </a:solidFill>
                <a:latin typeface="Calibri"/>
                <a:cs typeface="Calibri"/>
              </a:rPr>
              <a:t>Association</a:t>
            </a:r>
            <a:r>
              <a:rPr sz="20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(JIRA)</a:t>
            </a:r>
            <a:r>
              <a:rPr sz="1950" baseline="25641" dirty="0">
                <a:solidFill>
                  <a:srgbClr val="7F7F7F"/>
                </a:solidFill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523875">
              <a:lnSpc>
                <a:spcPct val="100000"/>
              </a:lnSpc>
              <a:spcBef>
                <a:spcPts val="1260"/>
              </a:spcBef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robot</a:t>
            </a:r>
            <a:r>
              <a:rPr sz="2000" spc="-5" dirty="0">
                <a:latin typeface="Calibri"/>
                <a:cs typeface="Calibri"/>
              </a:rPr>
              <a:t> 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device</a:t>
            </a:r>
            <a:r>
              <a:rPr sz="2000" dirty="0">
                <a:latin typeface="Calibri"/>
                <a:cs typeface="Calibri"/>
              </a:rPr>
              <a:t> 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degrees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freedom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dirty="0">
                <a:latin typeface="Calibri"/>
                <a:cs typeface="Calibri"/>
              </a:rPr>
              <a:t> can</a:t>
            </a:r>
            <a:r>
              <a:rPr sz="2000" spc="-5" dirty="0">
                <a:latin typeface="Calibri"/>
                <a:cs typeface="Calibri"/>
              </a:rPr>
              <a:t> be</a:t>
            </a:r>
            <a:r>
              <a:rPr sz="2000" spc="-10" dirty="0">
                <a:latin typeface="Calibri"/>
                <a:cs typeface="Calibri"/>
              </a:rPr>
              <a:t> controlled.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26753" y="6307344"/>
            <a:ext cx="2128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30" baseline="24691" dirty="0">
                <a:solidFill>
                  <a:srgbClr val="7F7F7F"/>
                </a:solidFill>
                <a:latin typeface="Microsoft Sans Serif"/>
                <a:cs typeface="Microsoft Sans Serif"/>
              </a:rPr>
              <a:t>1</a:t>
            </a:r>
            <a:r>
              <a:rPr sz="1350" spc="217" baseline="24691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</a:t>
            </a:r>
            <a:r>
              <a:rPr sz="1400" spc="-10" dirty="0">
                <a:solidFill>
                  <a:srgbClr val="7F7F7F"/>
                </a:solidFill>
                <a:latin typeface="Microsoft Sans Serif"/>
                <a:cs typeface="Microsoft Sans Serif"/>
                <a:hlinkClick r:id="rId4"/>
              </a:rPr>
              <a:t>//w</a:t>
            </a:r>
            <a:r>
              <a:rPr sz="14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ww</a:t>
            </a:r>
            <a:r>
              <a:rPr sz="1400" spc="-10" dirty="0">
                <a:solidFill>
                  <a:srgbClr val="7F7F7F"/>
                </a:solidFill>
                <a:latin typeface="Microsoft Sans Serif"/>
                <a:cs typeface="Microsoft Sans Serif"/>
                <a:hlinkClick r:id="rId4"/>
              </a:rPr>
              <a:t>.robotics.org/</a:t>
            </a:r>
            <a:endParaRPr sz="14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</a:pPr>
            <a:r>
              <a:rPr sz="1350" spc="30" baseline="24691" dirty="0">
                <a:solidFill>
                  <a:srgbClr val="7F7F7F"/>
                </a:solidFill>
                <a:latin typeface="Microsoft Sans Serif"/>
                <a:cs typeface="Microsoft Sans Serif"/>
              </a:rPr>
              <a:t>2</a:t>
            </a:r>
            <a:r>
              <a:rPr sz="1350" spc="202" baseline="24691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Microsoft Sans Serif"/>
                <a:cs typeface="Microsoft Sans Serif"/>
                <a:hlinkClick r:id="rId5"/>
              </a:rPr>
              <a:t>http://www.jara.jp/e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0616" y="430918"/>
            <a:ext cx="2811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spc="-20" dirty="0"/>
              <a:t> </a:t>
            </a:r>
            <a:r>
              <a:rPr spc="-5" dirty="0"/>
              <a:t>is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robot?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idx="1"/>
          </p:nvPr>
        </p:nvSpPr>
        <p:spPr>
          <a:xfrm>
            <a:off x="799099" y="1563591"/>
            <a:ext cx="7886700" cy="43513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International</a:t>
            </a:r>
            <a:r>
              <a:rPr spc="-25" dirty="0"/>
              <a:t> </a:t>
            </a:r>
            <a:r>
              <a:rPr spc="-10" dirty="0"/>
              <a:t>Federation</a:t>
            </a:r>
            <a:r>
              <a:rPr spc="-15" dirty="0"/>
              <a:t> </a:t>
            </a:r>
            <a:r>
              <a:rPr dirty="0"/>
              <a:t>of </a:t>
            </a:r>
            <a:r>
              <a:rPr spc="-5" dirty="0"/>
              <a:t>Robotics</a:t>
            </a:r>
            <a:r>
              <a:rPr spc="-40" dirty="0"/>
              <a:t> </a:t>
            </a:r>
            <a:r>
              <a:rPr dirty="0"/>
              <a:t>(IFR)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ISO 8373:2012</a:t>
            </a:r>
          </a:p>
          <a:p>
            <a:pPr marL="26034">
              <a:lnSpc>
                <a:spcPct val="100000"/>
              </a:lnSpc>
              <a:spcBef>
                <a:spcPts val="25"/>
              </a:spcBef>
            </a:pPr>
            <a:endParaRPr sz="2200" dirty="0">
              <a:latin typeface="Calibri"/>
              <a:cs typeface="Calibri"/>
            </a:endParaRPr>
          </a:p>
          <a:p>
            <a:pPr marL="38735" marR="267970">
              <a:lnSpc>
                <a:spcPct val="100000"/>
              </a:lnSpc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robot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b="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actuated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mechanism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B050"/>
                </a:solidFill>
                <a:latin typeface="Calibri"/>
                <a:cs typeface="Calibri"/>
              </a:rPr>
              <a:t>programmable</a:t>
            </a:r>
            <a:r>
              <a:rPr b="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two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more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axes </a:t>
            </a:r>
            <a:r>
              <a:rPr b="0" spc="-4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degree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00B050"/>
                </a:solidFill>
                <a:latin typeface="Calibri"/>
                <a:cs typeface="Calibri"/>
              </a:rPr>
              <a:t>autonomy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moving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its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B050"/>
                </a:solidFill>
                <a:latin typeface="Calibri"/>
                <a:cs typeface="Calibri"/>
              </a:rPr>
              <a:t>environment</a:t>
            </a:r>
            <a:r>
              <a:rPr b="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perform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 intended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tasks.</a:t>
            </a:r>
          </a:p>
          <a:p>
            <a:pPr marL="381635" marR="273685" indent="-343535">
              <a:lnSpc>
                <a:spcPct val="100000"/>
              </a:lnSpc>
              <a:buFont typeface="Microsoft Sans Serif"/>
              <a:buChar char="•"/>
              <a:tabLst>
                <a:tab pos="382270" algn="l"/>
                <a:tab pos="382905" algn="l"/>
              </a:tabLst>
            </a:pPr>
            <a:r>
              <a:rPr b="0" spc="-10" dirty="0">
                <a:solidFill>
                  <a:srgbClr val="403152"/>
                </a:solidFill>
                <a:latin typeface="Calibri"/>
                <a:cs typeface="Calibri"/>
              </a:rPr>
              <a:t>Remark</a:t>
            </a:r>
            <a:r>
              <a:rPr b="0" dirty="0">
                <a:solidFill>
                  <a:srgbClr val="403152"/>
                </a:solidFill>
                <a:latin typeface="Calibri"/>
                <a:cs typeface="Calibri"/>
              </a:rPr>
              <a:t> 1: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robot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includes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control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b="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interface</a:t>
            </a:r>
            <a:r>
              <a:rPr b="0" spc="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b="0" spc="-4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control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system.</a:t>
            </a:r>
          </a:p>
          <a:p>
            <a:pPr marL="381635" marR="5080" indent="-343535">
              <a:lnSpc>
                <a:spcPct val="100000"/>
              </a:lnSpc>
              <a:buFont typeface="Microsoft Sans Serif"/>
              <a:buChar char="•"/>
              <a:tabLst>
                <a:tab pos="382270" algn="l"/>
                <a:tab pos="382905" algn="l"/>
              </a:tabLst>
            </a:pPr>
            <a:r>
              <a:rPr b="0" spc="-10" dirty="0">
                <a:solidFill>
                  <a:srgbClr val="403152"/>
                </a:solidFill>
                <a:latin typeface="Calibri"/>
                <a:cs typeface="Calibri"/>
              </a:rPr>
              <a:t>Remark</a:t>
            </a:r>
            <a:r>
              <a:rPr b="0" dirty="0">
                <a:solidFill>
                  <a:srgbClr val="403152"/>
                </a:solidFill>
                <a:latin typeface="Calibri"/>
                <a:cs typeface="Calibri"/>
              </a:rPr>
              <a:t> 2: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The classification</a:t>
            </a:r>
            <a:r>
              <a:rPr b="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robot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industrial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robot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service </a:t>
            </a:r>
            <a:r>
              <a:rPr b="0" spc="-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robot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done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according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 its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intended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application.</a:t>
            </a:r>
          </a:p>
          <a:p>
            <a:pPr marL="26034"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Calibri"/>
              <a:cs typeface="Calibri"/>
            </a:endParaRPr>
          </a:p>
          <a:p>
            <a:pPr marL="38735" marR="55880">
              <a:lnSpc>
                <a:spcPct val="100000"/>
              </a:lnSpc>
            </a:pPr>
            <a:r>
              <a:rPr b="0" i="1" spc="-10" dirty="0">
                <a:solidFill>
                  <a:srgbClr val="376092"/>
                </a:solidFill>
                <a:latin typeface="Calibri"/>
                <a:cs typeface="Calibri"/>
              </a:rPr>
              <a:t>Autonomy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Ability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perform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intended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tasks</a:t>
            </a:r>
            <a:r>
              <a:rPr b="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based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current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state</a:t>
            </a:r>
            <a:r>
              <a:rPr b="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b="0" spc="-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sensing,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 without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human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intervention.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4893055" y="6101588"/>
            <a:ext cx="3569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https:/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  <a:hlinkClick r:id="rId2"/>
              </a:rPr>
              <a:t>/ww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w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  <a:hlinkClick r:id="rId2"/>
              </a:rPr>
              <a:t>.iso.org/obp/ui/#iso:std:iso:8373:ed-2:v1:en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72428" y="2758439"/>
            <a:ext cx="2219325" cy="1026160"/>
            <a:chOff x="6472428" y="2758439"/>
            <a:chExt cx="2219325" cy="1026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0" y="2763011"/>
              <a:ext cx="2209800" cy="10165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2428" y="2759201"/>
              <a:ext cx="2218944" cy="10248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2428" y="2758439"/>
              <a:ext cx="2219325" cy="1026160"/>
            </a:xfrm>
            <a:custGeom>
              <a:avLst/>
              <a:gdLst/>
              <a:ahLst/>
              <a:cxnLst/>
              <a:rect l="l" t="t" r="r" b="b"/>
              <a:pathLst>
                <a:path w="2219325" h="1026160">
                  <a:moveTo>
                    <a:pt x="2061972" y="0"/>
                  </a:moveTo>
                  <a:lnTo>
                    <a:pt x="173736" y="0"/>
                  </a:lnTo>
                  <a:lnTo>
                    <a:pt x="138683" y="3048"/>
                  </a:lnTo>
                  <a:lnTo>
                    <a:pt x="89916" y="21336"/>
                  </a:lnTo>
                  <a:lnTo>
                    <a:pt x="50292" y="50292"/>
                  </a:lnTo>
                  <a:lnTo>
                    <a:pt x="39624" y="64008"/>
                  </a:lnTo>
                  <a:lnTo>
                    <a:pt x="28956" y="76200"/>
                  </a:lnTo>
                  <a:lnTo>
                    <a:pt x="13716" y="106680"/>
                  </a:lnTo>
                  <a:lnTo>
                    <a:pt x="7620" y="121920"/>
                  </a:lnTo>
                  <a:lnTo>
                    <a:pt x="3048" y="138684"/>
                  </a:lnTo>
                  <a:lnTo>
                    <a:pt x="0" y="156972"/>
                  </a:lnTo>
                  <a:lnTo>
                    <a:pt x="0" y="870204"/>
                  </a:lnTo>
                  <a:lnTo>
                    <a:pt x="13716" y="918972"/>
                  </a:lnTo>
                  <a:lnTo>
                    <a:pt x="39624" y="961644"/>
                  </a:lnTo>
                  <a:lnTo>
                    <a:pt x="50292" y="975360"/>
                  </a:lnTo>
                  <a:lnTo>
                    <a:pt x="91440" y="1004316"/>
                  </a:lnTo>
                  <a:lnTo>
                    <a:pt x="138683" y="1022604"/>
                  </a:lnTo>
                  <a:lnTo>
                    <a:pt x="173736" y="1025652"/>
                  </a:lnTo>
                  <a:lnTo>
                    <a:pt x="2045207" y="1025652"/>
                  </a:lnTo>
                  <a:lnTo>
                    <a:pt x="2080260" y="1022604"/>
                  </a:lnTo>
                  <a:lnTo>
                    <a:pt x="2097024" y="1018032"/>
                  </a:lnTo>
                  <a:lnTo>
                    <a:pt x="2100833" y="1016508"/>
                  </a:lnTo>
                  <a:lnTo>
                    <a:pt x="173736" y="1016508"/>
                  </a:lnTo>
                  <a:lnTo>
                    <a:pt x="156972" y="1014984"/>
                  </a:lnTo>
                  <a:lnTo>
                    <a:pt x="140207" y="1011936"/>
                  </a:lnTo>
                  <a:lnTo>
                    <a:pt x="124968" y="1008888"/>
                  </a:lnTo>
                  <a:lnTo>
                    <a:pt x="94488" y="996696"/>
                  </a:lnTo>
                  <a:lnTo>
                    <a:pt x="82296" y="987552"/>
                  </a:lnTo>
                  <a:lnTo>
                    <a:pt x="68579" y="978408"/>
                  </a:lnTo>
                  <a:lnTo>
                    <a:pt x="36575" y="943356"/>
                  </a:lnTo>
                  <a:lnTo>
                    <a:pt x="16763" y="900684"/>
                  </a:lnTo>
                  <a:lnTo>
                    <a:pt x="9144" y="851916"/>
                  </a:lnTo>
                  <a:lnTo>
                    <a:pt x="9144" y="173736"/>
                  </a:lnTo>
                  <a:lnTo>
                    <a:pt x="16763" y="124968"/>
                  </a:lnTo>
                  <a:lnTo>
                    <a:pt x="47244" y="68580"/>
                  </a:lnTo>
                  <a:lnTo>
                    <a:pt x="82296" y="38100"/>
                  </a:lnTo>
                  <a:lnTo>
                    <a:pt x="124968" y="16763"/>
                  </a:lnTo>
                  <a:lnTo>
                    <a:pt x="173736" y="9144"/>
                  </a:lnTo>
                  <a:lnTo>
                    <a:pt x="2100834" y="9144"/>
                  </a:lnTo>
                  <a:lnTo>
                    <a:pt x="2097024" y="7620"/>
                  </a:lnTo>
                  <a:lnTo>
                    <a:pt x="2080260" y="3048"/>
                  </a:lnTo>
                  <a:lnTo>
                    <a:pt x="2061972" y="0"/>
                  </a:lnTo>
                  <a:close/>
                </a:path>
                <a:path w="2219325" h="1026160">
                  <a:moveTo>
                    <a:pt x="2100834" y="9144"/>
                  </a:moveTo>
                  <a:lnTo>
                    <a:pt x="2045207" y="9144"/>
                  </a:lnTo>
                  <a:lnTo>
                    <a:pt x="2078736" y="12192"/>
                  </a:lnTo>
                  <a:lnTo>
                    <a:pt x="2093976" y="16763"/>
                  </a:lnTo>
                  <a:lnTo>
                    <a:pt x="2150364" y="47244"/>
                  </a:lnTo>
                  <a:lnTo>
                    <a:pt x="2180844" y="82296"/>
                  </a:lnTo>
                  <a:lnTo>
                    <a:pt x="2202179" y="124968"/>
                  </a:lnTo>
                  <a:lnTo>
                    <a:pt x="2209800" y="173736"/>
                  </a:lnTo>
                  <a:lnTo>
                    <a:pt x="2209800" y="851916"/>
                  </a:lnTo>
                  <a:lnTo>
                    <a:pt x="2202179" y="900684"/>
                  </a:lnTo>
                  <a:lnTo>
                    <a:pt x="2180844" y="943356"/>
                  </a:lnTo>
                  <a:lnTo>
                    <a:pt x="2148840" y="978408"/>
                  </a:lnTo>
                  <a:lnTo>
                    <a:pt x="2109216" y="1002792"/>
                  </a:lnTo>
                  <a:lnTo>
                    <a:pt x="2045207" y="1016508"/>
                  </a:lnTo>
                  <a:lnTo>
                    <a:pt x="2100833" y="1016508"/>
                  </a:lnTo>
                  <a:lnTo>
                    <a:pt x="2142744" y="995172"/>
                  </a:lnTo>
                  <a:lnTo>
                    <a:pt x="2179320" y="961644"/>
                  </a:lnTo>
                  <a:lnTo>
                    <a:pt x="2205228" y="918972"/>
                  </a:lnTo>
                  <a:lnTo>
                    <a:pt x="2217420" y="868680"/>
                  </a:lnTo>
                  <a:lnTo>
                    <a:pt x="2218944" y="851916"/>
                  </a:lnTo>
                  <a:lnTo>
                    <a:pt x="2218944" y="173736"/>
                  </a:lnTo>
                  <a:lnTo>
                    <a:pt x="2217420" y="155448"/>
                  </a:lnTo>
                  <a:lnTo>
                    <a:pt x="2205228" y="106680"/>
                  </a:lnTo>
                  <a:lnTo>
                    <a:pt x="2179320" y="62484"/>
                  </a:lnTo>
                  <a:lnTo>
                    <a:pt x="2142744" y="28956"/>
                  </a:lnTo>
                  <a:lnTo>
                    <a:pt x="2112264" y="13715"/>
                  </a:lnTo>
                  <a:lnTo>
                    <a:pt x="2100834" y="914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8368" y="2758439"/>
            <a:ext cx="2219325" cy="1026160"/>
            <a:chOff x="658368" y="2758439"/>
            <a:chExt cx="2219325" cy="10261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940" y="2763011"/>
              <a:ext cx="2209800" cy="10165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368" y="2759201"/>
              <a:ext cx="2218944" cy="102489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368" y="2758439"/>
              <a:ext cx="2219325" cy="1026160"/>
            </a:xfrm>
            <a:custGeom>
              <a:avLst/>
              <a:gdLst/>
              <a:ahLst/>
              <a:cxnLst/>
              <a:rect l="l" t="t" r="r" b="b"/>
              <a:pathLst>
                <a:path w="2219325" h="1026160">
                  <a:moveTo>
                    <a:pt x="2061971" y="0"/>
                  </a:moveTo>
                  <a:lnTo>
                    <a:pt x="173735" y="0"/>
                  </a:lnTo>
                  <a:lnTo>
                    <a:pt x="138683" y="3048"/>
                  </a:lnTo>
                  <a:lnTo>
                    <a:pt x="89915" y="21336"/>
                  </a:lnTo>
                  <a:lnTo>
                    <a:pt x="50291" y="50292"/>
                  </a:lnTo>
                  <a:lnTo>
                    <a:pt x="39623" y="64008"/>
                  </a:lnTo>
                  <a:lnTo>
                    <a:pt x="28955" y="76200"/>
                  </a:lnTo>
                  <a:lnTo>
                    <a:pt x="13715" y="106680"/>
                  </a:lnTo>
                  <a:lnTo>
                    <a:pt x="7619" y="121920"/>
                  </a:lnTo>
                  <a:lnTo>
                    <a:pt x="3047" y="138684"/>
                  </a:lnTo>
                  <a:lnTo>
                    <a:pt x="0" y="156972"/>
                  </a:lnTo>
                  <a:lnTo>
                    <a:pt x="0" y="870204"/>
                  </a:lnTo>
                  <a:lnTo>
                    <a:pt x="13715" y="918972"/>
                  </a:lnTo>
                  <a:lnTo>
                    <a:pt x="39623" y="961644"/>
                  </a:lnTo>
                  <a:lnTo>
                    <a:pt x="50291" y="975360"/>
                  </a:lnTo>
                  <a:lnTo>
                    <a:pt x="91439" y="1004316"/>
                  </a:lnTo>
                  <a:lnTo>
                    <a:pt x="138683" y="1022604"/>
                  </a:lnTo>
                  <a:lnTo>
                    <a:pt x="173735" y="1025652"/>
                  </a:lnTo>
                  <a:lnTo>
                    <a:pt x="2045208" y="1025652"/>
                  </a:lnTo>
                  <a:lnTo>
                    <a:pt x="2080259" y="1022604"/>
                  </a:lnTo>
                  <a:lnTo>
                    <a:pt x="2097024" y="1018032"/>
                  </a:lnTo>
                  <a:lnTo>
                    <a:pt x="2100834" y="1016508"/>
                  </a:lnTo>
                  <a:lnTo>
                    <a:pt x="173735" y="1016508"/>
                  </a:lnTo>
                  <a:lnTo>
                    <a:pt x="156972" y="1014984"/>
                  </a:lnTo>
                  <a:lnTo>
                    <a:pt x="140208" y="1011936"/>
                  </a:lnTo>
                  <a:lnTo>
                    <a:pt x="124967" y="1008888"/>
                  </a:lnTo>
                  <a:lnTo>
                    <a:pt x="94487" y="996696"/>
                  </a:lnTo>
                  <a:lnTo>
                    <a:pt x="82295" y="987552"/>
                  </a:lnTo>
                  <a:lnTo>
                    <a:pt x="68579" y="978408"/>
                  </a:lnTo>
                  <a:lnTo>
                    <a:pt x="36575" y="943356"/>
                  </a:lnTo>
                  <a:lnTo>
                    <a:pt x="16763" y="900684"/>
                  </a:lnTo>
                  <a:lnTo>
                    <a:pt x="9143" y="851916"/>
                  </a:lnTo>
                  <a:lnTo>
                    <a:pt x="9143" y="173736"/>
                  </a:lnTo>
                  <a:lnTo>
                    <a:pt x="16763" y="124968"/>
                  </a:lnTo>
                  <a:lnTo>
                    <a:pt x="47243" y="68580"/>
                  </a:lnTo>
                  <a:lnTo>
                    <a:pt x="82295" y="38100"/>
                  </a:lnTo>
                  <a:lnTo>
                    <a:pt x="124967" y="16763"/>
                  </a:lnTo>
                  <a:lnTo>
                    <a:pt x="173735" y="9144"/>
                  </a:lnTo>
                  <a:lnTo>
                    <a:pt x="2100834" y="9144"/>
                  </a:lnTo>
                  <a:lnTo>
                    <a:pt x="2097024" y="7620"/>
                  </a:lnTo>
                  <a:lnTo>
                    <a:pt x="2080259" y="3048"/>
                  </a:lnTo>
                  <a:lnTo>
                    <a:pt x="2061971" y="0"/>
                  </a:lnTo>
                  <a:close/>
                </a:path>
                <a:path w="2219325" h="1026160">
                  <a:moveTo>
                    <a:pt x="2100834" y="9144"/>
                  </a:moveTo>
                  <a:lnTo>
                    <a:pt x="2045208" y="9144"/>
                  </a:lnTo>
                  <a:lnTo>
                    <a:pt x="2078736" y="12192"/>
                  </a:lnTo>
                  <a:lnTo>
                    <a:pt x="2093976" y="16763"/>
                  </a:lnTo>
                  <a:lnTo>
                    <a:pt x="2150364" y="47244"/>
                  </a:lnTo>
                  <a:lnTo>
                    <a:pt x="2180844" y="82296"/>
                  </a:lnTo>
                  <a:lnTo>
                    <a:pt x="2202180" y="124968"/>
                  </a:lnTo>
                  <a:lnTo>
                    <a:pt x="2209800" y="173736"/>
                  </a:lnTo>
                  <a:lnTo>
                    <a:pt x="2209800" y="851916"/>
                  </a:lnTo>
                  <a:lnTo>
                    <a:pt x="2202180" y="900684"/>
                  </a:lnTo>
                  <a:lnTo>
                    <a:pt x="2180844" y="943356"/>
                  </a:lnTo>
                  <a:lnTo>
                    <a:pt x="2148840" y="978408"/>
                  </a:lnTo>
                  <a:lnTo>
                    <a:pt x="2109216" y="1002792"/>
                  </a:lnTo>
                  <a:lnTo>
                    <a:pt x="2045208" y="1016508"/>
                  </a:lnTo>
                  <a:lnTo>
                    <a:pt x="2100834" y="1016508"/>
                  </a:lnTo>
                  <a:lnTo>
                    <a:pt x="2142744" y="995172"/>
                  </a:lnTo>
                  <a:lnTo>
                    <a:pt x="2179320" y="961644"/>
                  </a:lnTo>
                  <a:lnTo>
                    <a:pt x="2205228" y="918972"/>
                  </a:lnTo>
                  <a:lnTo>
                    <a:pt x="2217420" y="868680"/>
                  </a:lnTo>
                  <a:lnTo>
                    <a:pt x="2218944" y="851916"/>
                  </a:lnTo>
                  <a:lnTo>
                    <a:pt x="2218944" y="173736"/>
                  </a:lnTo>
                  <a:lnTo>
                    <a:pt x="2217420" y="155448"/>
                  </a:lnTo>
                  <a:lnTo>
                    <a:pt x="2205228" y="106680"/>
                  </a:lnTo>
                  <a:lnTo>
                    <a:pt x="2179320" y="62484"/>
                  </a:lnTo>
                  <a:lnTo>
                    <a:pt x="2142744" y="28956"/>
                  </a:lnTo>
                  <a:lnTo>
                    <a:pt x="2112264" y="13715"/>
                  </a:lnTo>
                  <a:lnTo>
                    <a:pt x="2100834" y="914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70616" y="430918"/>
            <a:ext cx="2811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spc="-20" dirty="0"/>
              <a:t> </a:t>
            </a:r>
            <a:r>
              <a:rPr spc="-5" dirty="0"/>
              <a:t>is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robot?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875868" y="2952927"/>
            <a:ext cx="17868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080" indent="-2971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R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5" dirty="0">
                <a:latin typeface="Microsoft Sans Serif"/>
                <a:cs typeface="Microsoft Sans Serif"/>
              </a:rPr>
              <a:t>pr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spc="-5" dirty="0">
                <a:latin typeface="Microsoft Sans Serif"/>
                <a:cs typeface="Microsoft Sans Serif"/>
              </a:rPr>
              <a:t>gr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mma</a:t>
            </a:r>
            <a:r>
              <a:rPr sz="1800" spc="-10" dirty="0">
                <a:latin typeface="Microsoft Sans Serif"/>
                <a:cs typeface="Microsoft Sans Serif"/>
              </a:rPr>
              <a:t>ble  mechanism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29196" y="3097860"/>
            <a:ext cx="1305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Env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r>
              <a:rPr sz="1800" dirty="0">
                <a:latin typeface="Microsoft Sans Serif"/>
                <a:cs typeface="Microsoft Sans Serif"/>
              </a:rPr>
              <a:t>ro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me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1375" y="2863088"/>
            <a:ext cx="829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interacts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34872" y="3324859"/>
            <a:ext cx="1806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1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independent </a:t>
            </a:r>
            <a:r>
              <a:rPr sz="1600" spc="-10" dirty="0">
                <a:latin typeface="Calibri"/>
                <a:cs typeface="Calibri"/>
              </a:rPr>
              <a:t>(and </a:t>
            </a:r>
            <a:r>
              <a:rPr sz="1600" spc="-5" dirty="0">
                <a:latin typeface="Calibri"/>
                <a:cs typeface="Calibri"/>
              </a:rPr>
              <a:t> “intelligent”)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7868" y="4188967"/>
            <a:ext cx="143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Variety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tasks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72740" y="3212591"/>
            <a:ext cx="3604260" cy="117475"/>
          </a:xfrm>
          <a:custGeom>
            <a:avLst/>
            <a:gdLst/>
            <a:ahLst/>
            <a:cxnLst/>
            <a:rect l="l" t="t" r="r" b="b"/>
            <a:pathLst>
              <a:path w="3604260" h="117475">
                <a:moveTo>
                  <a:pt x="3604260" y="57912"/>
                </a:moveTo>
                <a:lnTo>
                  <a:pt x="3583254" y="45720"/>
                </a:lnTo>
                <a:lnTo>
                  <a:pt x="3509772" y="3048"/>
                </a:lnTo>
                <a:lnTo>
                  <a:pt x="3503676" y="0"/>
                </a:lnTo>
                <a:lnTo>
                  <a:pt x="3496056" y="1524"/>
                </a:lnTo>
                <a:lnTo>
                  <a:pt x="3491484" y="7620"/>
                </a:lnTo>
                <a:lnTo>
                  <a:pt x="3488436" y="13716"/>
                </a:lnTo>
                <a:lnTo>
                  <a:pt x="3489960" y="21336"/>
                </a:lnTo>
                <a:lnTo>
                  <a:pt x="3496056" y="24384"/>
                </a:lnTo>
                <a:lnTo>
                  <a:pt x="3531603" y="45720"/>
                </a:lnTo>
                <a:lnTo>
                  <a:pt x="0" y="45720"/>
                </a:lnTo>
                <a:lnTo>
                  <a:pt x="0" y="71628"/>
                </a:lnTo>
                <a:lnTo>
                  <a:pt x="3530206" y="71628"/>
                </a:lnTo>
                <a:lnTo>
                  <a:pt x="3496056" y="91440"/>
                </a:lnTo>
                <a:lnTo>
                  <a:pt x="3489960" y="96012"/>
                </a:lnTo>
                <a:lnTo>
                  <a:pt x="3488436" y="103632"/>
                </a:lnTo>
                <a:lnTo>
                  <a:pt x="3491484" y="109728"/>
                </a:lnTo>
                <a:lnTo>
                  <a:pt x="3496056" y="115824"/>
                </a:lnTo>
                <a:lnTo>
                  <a:pt x="3503676" y="117348"/>
                </a:lnTo>
                <a:lnTo>
                  <a:pt x="3509772" y="114300"/>
                </a:lnTo>
                <a:lnTo>
                  <a:pt x="3581273" y="71628"/>
                </a:lnTo>
                <a:lnTo>
                  <a:pt x="3604260" y="5791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7324343" y="3890771"/>
            <a:ext cx="515620" cy="341630"/>
            <a:chOff x="7324343" y="3890771"/>
            <a:chExt cx="515620" cy="341630"/>
          </a:xfrm>
        </p:grpSpPr>
        <p:sp>
          <p:nvSpPr>
            <p:cNvPr id="18" name="object 18"/>
            <p:cNvSpPr/>
            <p:nvPr/>
          </p:nvSpPr>
          <p:spPr>
            <a:xfrm>
              <a:off x="7363967" y="3902963"/>
              <a:ext cx="436245" cy="314325"/>
            </a:xfrm>
            <a:custGeom>
              <a:avLst/>
              <a:gdLst/>
              <a:ahLst/>
              <a:cxnLst/>
              <a:rect l="l" t="t" r="r" b="b"/>
              <a:pathLst>
                <a:path w="436245" h="314325">
                  <a:moveTo>
                    <a:pt x="327659" y="0"/>
                  </a:moveTo>
                  <a:lnTo>
                    <a:pt x="108203" y="0"/>
                  </a:lnTo>
                  <a:lnTo>
                    <a:pt x="108203" y="156972"/>
                  </a:lnTo>
                  <a:lnTo>
                    <a:pt x="0" y="156972"/>
                  </a:lnTo>
                  <a:lnTo>
                    <a:pt x="217931" y="313944"/>
                  </a:lnTo>
                  <a:lnTo>
                    <a:pt x="435863" y="156972"/>
                  </a:lnTo>
                  <a:lnTo>
                    <a:pt x="327659" y="156972"/>
                  </a:lnTo>
                  <a:lnTo>
                    <a:pt x="32765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24343" y="3890771"/>
              <a:ext cx="515620" cy="341630"/>
            </a:xfrm>
            <a:custGeom>
              <a:avLst/>
              <a:gdLst/>
              <a:ahLst/>
              <a:cxnLst/>
              <a:rect l="l" t="t" r="r" b="b"/>
              <a:pathLst>
                <a:path w="515620" h="341629">
                  <a:moveTo>
                    <a:pt x="135635" y="155447"/>
                  </a:moveTo>
                  <a:lnTo>
                    <a:pt x="0" y="155447"/>
                  </a:lnTo>
                  <a:lnTo>
                    <a:pt x="257555" y="341375"/>
                  </a:lnTo>
                  <a:lnTo>
                    <a:pt x="293444" y="315467"/>
                  </a:lnTo>
                  <a:lnTo>
                    <a:pt x="249935" y="315467"/>
                  </a:lnTo>
                  <a:lnTo>
                    <a:pt x="257529" y="309998"/>
                  </a:lnTo>
                  <a:lnTo>
                    <a:pt x="77679" y="181355"/>
                  </a:lnTo>
                  <a:lnTo>
                    <a:pt x="39624" y="181355"/>
                  </a:lnTo>
                  <a:lnTo>
                    <a:pt x="45720" y="158495"/>
                  </a:lnTo>
                  <a:lnTo>
                    <a:pt x="135635" y="158495"/>
                  </a:lnTo>
                  <a:lnTo>
                    <a:pt x="135635" y="155447"/>
                  </a:lnTo>
                  <a:close/>
                </a:path>
                <a:path w="515620" h="341629">
                  <a:moveTo>
                    <a:pt x="257529" y="309998"/>
                  </a:moveTo>
                  <a:lnTo>
                    <a:pt x="249935" y="315467"/>
                  </a:lnTo>
                  <a:lnTo>
                    <a:pt x="265175" y="315467"/>
                  </a:lnTo>
                  <a:lnTo>
                    <a:pt x="257529" y="309998"/>
                  </a:lnTo>
                  <a:close/>
                </a:path>
                <a:path w="515620" h="341629">
                  <a:moveTo>
                    <a:pt x="467867" y="158495"/>
                  </a:moveTo>
                  <a:lnTo>
                    <a:pt x="257529" y="309998"/>
                  </a:lnTo>
                  <a:lnTo>
                    <a:pt x="265175" y="315467"/>
                  </a:lnTo>
                  <a:lnTo>
                    <a:pt x="293444" y="315467"/>
                  </a:lnTo>
                  <a:lnTo>
                    <a:pt x="479223" y="181355"/>
                  </a:lnTo>
                  <a:lnTo>
                    <a:pt x="475487" y="181355"/>
                  </a:lnTo>
                  <a:lnTo>
                    <a:pt x="467867" y="158495"/>
                  </a:lnTo>
                  <a:close/>
                </a:path>
                <a:path w="515620" h="341629">
                  <a:moveTo>
                    <a:pt x="45720" y="158495"/>
                  </a:moveTo>
                  <a:lnTo>
                    <a:pt x="39624" y="181355"/>
                  </a:lnTo>
                  <a:lnTo>
                    <a:pt x="77679" y="181355"/>
                  </a:lnTo>
                  <a:lnTo>
                    <a:pt x="45720" y="158495"/>
                  </a:lnTo>
                  <a:close/>
                </a:path>
                <a:path w="515620" h="341629">
                  <a:moveTo>
                    <a:pt x="135635" y="158495"/>
                  </a:moveTo>
                  <a:lnTo>
                    <a:pt x="45720" y="158495"/>
                  </a:lnTo>
                  <a:lnTo>
                    <a:pt x="77679" y="181355"/>
                  </a:lnTo>
                  <a:lnTo>
                    <a:pt x="161544" y="181355"/>
                  </a:lnTo>
                  <a:lnTo>
                    <a:pt x="161544" y="169163"/>
                  </a:lnTo>
                  <a:lnTo>
                    <a:pt x="135635" y="169163"/>
                  </a:lnTo>
                  <a:lnTo>
                    <a:pt x="135635" y="158495"/>
                  </a:lnTo>
                  <a:close/>
                </a:path>
                <a:path w="515620" h="341629">
                  <a:moveTo>
                    <a:pt x="353567" y="12191"/>
                  </a:moveTo>
                  <a:lnTo>
                    <a:pt x="353567" y="181355"/>
                  </a:lnTo>
                  <a:lnTo>
                    <a:pt x="436130" y="181355"/>
                  </a:lnTo>
                  <a:lnTo>
                    <a:pt x="453057" y="169163"/>
                  </a:lnTo>
                  <a:lnTo>
                    <a:pt x="379475" y="169163"/>
                  </a:lnTo>
                  <a:lnTo>
                    <a:pt x="367283" y="155447"/>
                  </a:lnTo>
                  <a:lnTo>
                    <a:pt x="379475" y="155447"/>
                  </a:lnTo>
                  <a:lnTo>
                    <a:pt x="379475" y="24383"/>
                  </a:lnTo>
                  <a:lnTo>
                    <a:pt x="367283" y="24383"/>
                  </a:lnTo>
                  <a:lnTo>
                    <a:pt x="353567" y="12191"/>
                  </a:lnTo>
                  <a:close/>
                </a:path>
                <a:path w="515620" h="341629">
                  <a:moveTo>
                    <a:pt x="510889" y="158495"/>
                  </a:moveTo>
                  <a:lnTo>
                    <a:pt x="467867" y="158495"/>
                  </a:lnTo>
                  <a:lnTo>
                    <a:pt x="475487" y="181355"/>
                  </a:lnTo>
                  <a:lnTo>
                    <a:pt x="479223" y="181355"/>
                  </a:lnTo>
                  <a:lnTo>
                    <a:pt x="510889" y="158495"/>
                  </a:lnTo>
                  <a:close/>
                </a:path>
                <a:path w="515620" h="341629">
                  <a:moveTo>
                    <a:pt x="379475" y="0"/>
                  </a:moveTo>
                  <a:lnTo>
                    <a:pt x="135635" y="0"/>
                  </a:lnTo>
                  <a:lnTo>
                    <a:pt x="135635" y="169163"/>
                  </a:lnTo>
                  <a:lnTo>
                    <a:pt x="147827" y="155447"/>
                  </a:lnTo>
                  <a:lnTo>
                    <a:pt x="161544" y="155447"/>
                  </a:lnTo>
                  <a:lnTo>
                    <a:pt x="161544" y="24383"/>
                  </a:lnTo>
                  <a:lnTo>
                    <a:pt x="147827" y="24383"/>
                  </a:lnTo>
                  <a:lnTo>
                    <a:pt x="161544" y="12191"/>
                  </a:lnTo>
                  <a:lnTo>
                    <a:pt x="379475" y="12191"/>
                  </a:lnTo>
                  <a:lnTo>
                    <a:pt x="379475" y="0"/>
                  </a:lnTo>
                  <a:close/>
                </a:path>
                <a:path w="515620" h="341629">
                  <a:moveTo>
                    <a:pt x="161544" y="155447"/>
                  </a:moveTo>
                  <a:lnTo>
                    <a:pt x="147827" y="155447"/>
                  </a:lnTo>
                  <a:lnTo>
                    <a:pt x="135635" y="169163"/>
                  </a:lnTo>
                  <a:lnTo>
                    <a:pt x="161544" y="169163"/>
                  </a:lnTo>
                  <a:lnTo>
                    <a:pt x="161544" y="155447"/>
                  </a:lnTo>
                  <a:close/>
                </a:path>
                <a:path w="515620" h="341629">
                  <a:moveTo>
                    <a:pt x="379475" y="155447"/>
                  </a:moveTo>
                  <a:lnTo>
                    <a:pt x="367283" y="155447"/>
                  </a:lnTo>
                  <a:lnTo>
                    <a:pt x="379475" y="169163"/>
                  </a:lnTo>
                  <a:lnTo>
                    <a:pt x="379475" y="155447"/>
                  </a:lnTo>
                  <a:close/>
                </a:path>
                <a:path w="515620" h="341629">
                  <a:moveTo>
                    <a:pt x="515111" y="155447"/>
                  </a:moveTo>
                  <a:lnTo>
                    <a:pt x="379475" y="155447"/>
                  </a:lnTo>
                  <a:lnTo>
                    <a:pt x="379475" y="169163"/>
                  </a:lnTo>
                  <a:lnTo>
                    <a:pt x="453057" y="169163"/>
                  </a:lnTo>
                  <a:lnTo>
                    <a:pt x="467867" y="158495"/>
                  </a:lnTo>
                  <a:lnTo>
                    <a:pt x="510889" y="158495"/>
                  </a:lnTo>
                  <a:lnTo>
                    <a:pt x="515111" y="155447"/>
                  </a:lnTo>
                  <a:close/>
                </a:path>
                <a:path w="515620" h="341629">
                  <a:moveTo>
                    <a:pt x="161544" y="12191"/>
                  </a:moveTo>
                  <a:lnTo>
                    <a:pt x="147827" y="24383"/>
                  </a:lnTo>
                  <a:lnTo>
                    <a:pt x="161544" y="24383"/>
                  </a:lnTo>
                  <a:lnTo>
                    <a:pt x="161544" y="12191"/>
                  </a:lnTo>
                  <a:close/>
                </a:path>
                <a:path w="515620" h="341629">
                  <a:moveTo>
                    <a:pt x="353567" y="12191"/>
                  </a:moveTo>
                  <a:lnTo>
                    <a:pt x="161544" y="12191"/>
                  </a:lnTo>
                  <a:lnTo>
                    <a:pt x="161544" y="24383"/>
                  </a:lnTo>
                  <a:lnTo>
                    <a:pt x="353567" y="24383"/>
                  </a:lnTo>
                  <a:lnTo>
                    <a:pt x="353567" y="12191"/>
                  </a:lnTo>
                  <a:close/>
                </a:path>
                <a:path w="515620" h="341629">
                  <a:moveTo>
                    <a:pt x="379475" y="12191"/>
                  </a:moveTo>
                  <a:lnTo>
                    <a:pt x="353567" y="12191"/>
                  </a:lnTo>
                  <a:lnTo>
                    <a:pt x="367283" y="24383"/>
                  </a:lnTo>
                  <a:lnTo>
                    <a:pt x="379475" y="24383"/>
                  </a:lnTo>
                  <a:lnTo>
                    <a:pt x="379475" y="12191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2887" y="829924"/>
            <a:ext cx="1431259" cy="113252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30096" y="4058411"/>
            <a:ext cx="1204286" cy="213356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4508" y="4216908"/>
            <a:ext cx="1213865" cy="193170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37360" y="1663691"/>
            <a:ext cx="1562244" cy="66955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59880" y="4632959"/>
            <a:ext cx="1956816" cy="110032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9268" y="1577339"/>
            <a:ext cx="1429512" cy="86258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795007" y="2035555"/>
            <a:ext cx="143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Variety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tasks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324343" y="2383535"/>
            <a:ext cx="515620" cy="341630"/>
            <a:chOff x="7324343" y="2383535"/>
            <a:chExt cx="515620" cy="341630"/>
          </a:xfrm>
        </p:grpSpPr>
        <p:sp>
          <p:nvSpPr>
            <p:cNvPr id="28" name="object 28"/>
            <p:cNvSpPr/>
            <p:nvPr/>
          </p:nvSpPr>
          <p:spPr>
            <a:xfrm>
              <a:off x="7363967" y="2398775"/>
              <a:ext cx="436245" cy="314325"/>
            </a:xfrm>
            <a:custGeom>
              <a:avLst/>
              <a:gdLst/>
              <a:ahLst/>
              <a:cxnLst/>
              <a:rect l="l" t="t" r="r" b="b"/>
              <a:pathLst>
                <a:path w="436245" h="314325">
                  <a:moveTo>
                    <a:pt x="217931" y="0"/>
                  </a:moveTo>
                  <a:lnTo>
                    <a:pt x="0" y="156972"/>
                  </a:lnTo>
                  <a:lnTo>
                    <a:pt x="108203" y="156972"/>
                  </a:lnTo>
                  <a:lnTo>
                    <a:pt x="108203" y="313944"/>
                  </a:lnTo>
                  <a:lnTo>
                    <a:pt x="327659" y="313944"/>
                  </a:lnTo>
                  <a:lnTo>
                    <a:pt x="327659" y="156972"/>
                  </a:lnTo>
                  <a:lnTo>
                    <a:pt x="435863" y="156972"/>
                  </a:lnTo>
                  <a:lnTo>
                    <a:pt x="21793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24343" y="2383535"/>
              <a:ext cx="515620" cy="341630"/>
            </a:xfrm>
            <a:custGeom>
              <a:avLst/>
              <a:gdLst/>
              <a:ahLst/>
              <a:cxnLst/>
              <a:rect l="l" t="t" r="r" b="b"/>
              <a:pathLst>
                <a:path w="515620" h="341630">
                  <a:moveTo>
                    <a:pt x="135635" y="172212"/>
                  </a:moveTo>
                  <a:lnTo>
                    <a:pt x="135635" y="341375"/>
                  </a:lnTo>
                  <a:lnTo>
                    <a:pt x="379475" y="341375"/>
                  </a:lnTo>
                  <a:lnTo>
                    <a:pt x="379475" y="329184"/>
                  </a:lnTo>
                  <a:lnTo>
                    <a:pt x="161544" y="329184"/>
                  </a:lnTo>
                  <a:lnTo>
                    <a:pt x="147827" y="316991"/>
                  </a:lnTo>
                  <a:lnTo>
                    <a:pt x="161544" y="316991"/>
                  </a:lnTo>
                  <a:lnTo>
                    <a:pt x="161544" y="184403"/>
                  </a:lnTo>
                  <a:lnTo>
                    <a:pt x="147827" y="184403"/>
                  </a:lnTo>
                  <a:lnTo>
                    <a:pt x="135635" y="172212"/>
                  </a:lnTo>
                  <a:close/>
                </a:path>
                <a:path w="515620" h="341630">
                  <a:moveTo>
                    <a:pt x="161544" y="316991"/>
                  </a:moveTo>
                  <a:lnTo>
                    <a:pt x="147827" y="316991"/>
                  </a:lnTo>
                  <a:lnTo>
                    <a:pt x="161544" y="329184"/>
                  </a:lnTo>
                  <a:lnTo>
                    <a:pt x="161544" y="316991"/>
                  </a:lnTo>
                  <a:close/>
                </a:path>
                <a:path w="515620" h="341630">
                  <a:moveTo>
                    <a:pt x="353567" y="316991"/>
                  </a:moveTo>
                  <a:lnTo>
                    <a:pt x="161544" y="316991"/>
                  </a:lnTo>
                  <a:lnTo>
                    <a:pt x="161544" y="329184"/>
                  </a:lnTo>
                  <a:lnTo>
                    <a:pt x="353567" y="329184"/>
                  </a:lnTo>
                  <a:lnTo>
                    <a:pt x="353567" y="316991"/>
                  </a:lnTo>
                  <a:close/>
                </a:path>
                <a:path w="515620" h="341630">
                  <a:moveTo>
                    <a:pt x="436130" y="160019"/>
                  </a:moveTo>
                  <a:lnTo>
                    <a:pt x="353567" y="160019"/>
                  </a:lnTo>
                  <a:lnTo>
                    <a:pt x="353567" y="329184"/>
                  </a:lnTo>
                  <a:lnTo>
                    <a:pt x="367283" y="316991"/>
                  </a:lnTo>
                  <a:lnTo>
                    <a:pt x="379475" y="316991"/>
                  </a:lnTo>
                  <a:lnTo>
                    <a:pt x="379475" y="184403"/>
                  </a:lnTo>
                  <a:lnTo>
                    <a:pt x="367283" y="184403"/>
                  </a:lnTo>
                  <a:lnTo>
                    <a:pt x="379475" y="172212"/>
                  </a:lnTo>
                  <a:lnTo>
                    <a:pt x="453057" y="172212"/>
                  </a:lnTo>
                  <a:lnTo>
                    <a:pt x="436130" y="160019"/>
                  </a:lnTo>
                  <a:close/>
                </a:path>
                <a:path w="515620" h="341630">
                  <a:moveTo>
                    <a:pt x="379475" y="316991"/>
                  </a:moveTo>
                  <a:lnTo>
                    <a:pt x="367283" y="316991"/>
                  </a:lnTo>
                  <a:lnTo>
                    <a:pt x="353567" y="329184"/>
                  </a:lnTo>
                  <a:lnTo>
                    <a:pt x="379475" y="329184"/>
                  </a:lnTo>
                  <a:lnTo>
                    <a:pt x="379475" y="316991"/>
                  </a:lnTo>
                  <a:close/>
                </a:path>
                <a:path w="515620" h="341630">
                  <a:moveTo>
                    <a:pt x="257555" y="0"/>
                  </a:moveTo>
                  <a:lnTo>
                    <a:pt x="0" y="184403"/>
                  </a:lnTo>
                  <a:lnTo>
                    <a:pt x="135635" y="184403"/>
                  </a:lnTo>
                  <a:lnTo>
                    <a:pt x="135635" y="182879"/>
                  </a:lnTo>
                  <a:lnTo>
                    <a:pt x="45720" y="182879"/>
                  </a:lnTo>
                  <a:lnTo>
                    <a:pt x="39624" y="160019"/>
                  </a:lnTo>
                  <a:lnTo>
                    <a:pt x="77679" y="160019"/>
                  </a:lnTo>
                  <a:lnTo>
                    <a:pt x="257529" y="31377"/>
                  </a:lnTo>
                  <a:lnTo>
                    <a:pt x="249935" y="25908"/>
                  </a:lnTo>
                  <a:lnTo>
                    <a:pt x="293741" y="25908"/>
                  </a:lnTo>
                  <a:lnTo>
                    <a:pt x="257555" y="0"/>
                  </a:lnTo>
                  <a:close/>
                </a:path>
                <a:path w="515620" h="341630">
                  <a:moveTo>
                    <a:pt x="161544" y="172212"/>
                  </a:moveTo>
                  <a:lnTo>
                    <a:pt x="135635" y="172212"/>
                  </a:lnTo>
                  <a:lnTo>
                    <a:pt x="147827" y="184403"/>
                  </a:lnTo>
                  <a:lnTo>
                    <a:pt x="161544" y="184403"/>
                  </a:lnTo>
                  <a:lnTo>
                    <a:pt x="161544" y="172212"/>
                  </a:lnTo>
                  <a:close/>
                </a:path>
                <a:path w="515620" h="341630">
                  <a:moveTo>
                    <a:pt x="379475" y="172212"/>
                  </a:moveTo>
                  <a:lnTo>
                    <a:pt x="367283" y="184403"/>
                  </a:lnTo>
                  <a:lnTo>
                    <a:pt x="379475" y="184403"/>
                  </a:lnTo>
                  <a:lnTo>
                    <a:pt x="379475" y="172212"/>
                  </a:lnTo>
                  <a:close/>
                </a:path>
                <a:path w="515620" h="341630">
                  <a:moveTo>
                    <a:pt x="453057" y="172212"/>
                  </a:moveTo>
                  <a:lnTo>
                    <a:pt x="379475" y="172212"/>
                  </a:lnTo>
                  <a:lnTo>
                    <a:pt x="379475" y="184403"/>
                  </a:lnTo>
                  <a:lnTo>
                    <a:pt x="515111" y="184403"/>
                  </a:lnTo>
                  <a:lnTo>
                    <a:pt x="512983" y="182879"/>
                  </a:lnTo>
                  <a:lnTo>
                    <a:pt x="467867" y="182879"/>
                  </a:lnTo>
                  <a:lnTo>
                    <a:pt x="453057" y="172212"/>
                  </a:lnTo>
                  <a:close/>
                </a:path>
                <a:path w="515620" h="341630">
                  <a:moveTo>
                    <a:pt x="77679" y="160019"/>
                  </a:moveTo>
                  <a:lnTo>
                    <a:pt x="39624" y="160019"/>
                  </a:lnTo>
                  <a:lnTo>
                    <a:pt x="45720" y="182879"/>
                  </a:lnTo>
                  <a:lnTo>
                    <a:pt x="77679" y="160019"/>
                  </a:lnTo>
                  <a:close/>
                </a:path>
                <a:path w="515620" h="341630">
                  <a:moveTo>
                    <a:pt x="161544" y="160019"/>
                  </a:moveTo>
                  <a:lnTo>
                    <a:pt x="77679" y="160019"/>
                  </a:lnTo>
                  <a:lnTo>
                    <a:pt x="45720" y="182879"/>
                  </a:lnTo>
                  <a:lnTo>
                    <a:pt x="135635" y="182879"/>
                  </a:lnTo>
                  <a:lnTo>
                    <a:pt x="135635" y="172212"/>
                  </a:lnTo>
                  <a:lnTo>
                    <a:pt x="161544" y="172212"/>
                  </a:lnTo>
                  <a:lnTo>
                    <a:pt x="161544" y="160019"/>
                  </a:lnTo>
                  <a:close/>
                </a:path>
                <a:path w="515620" h="341630">
                  <a:moveTo>
                    <a:pt x="293741" y="25908"/>
                  </a:moveTo>
                  <a:lnTo>
                    <a:pt x="265175" y="25908"/>
                  </a:lnTo>
                  <a:lnTo>
                    <a:pt x="257529" y="31377"/>
                  </a:lnTo>
                  <a:lnTo>
                    <a:pt x="467867" y="182879"/>
                  </a:lnTo>
                  <a:lnTo>
                    <a:pt x="475487" y="160019"/>
                  </a:lnTo>
                  <a:lnTo>
                    <a:pt x="481055" y="160019"/>
                  </a:lnTo>
                  <a:lnTo>
                    <a:pt x="293741" y="25908"/>
                  </a:lnTo>
                  <a:close/>
                </a:path>
                <a:path w="515620" h="341630">
                  <a:moveTo>
                    <a:pt x="481055" y="160019"/>
                  </a:moveTo>
                  <a:lnTo>
                    <a:pt x="475487" y="160019"/>
                  </a:lnTo>
                  <a:lnTo>
                    <a:pt x="467867" y="182879"/>
                  </a:lnTo>
                  <a:lnTo>
                    <a:pt x="512983" y="182879"/>
                  </a:lnTo>
                  <a:lnTo>
                    <a:pt x="481055" y="160019"/>
                  </a:lnTo>
                  <a:close/>
                </a:path>
                <a:path w="515620" h="341630">
                  <a:moveTo>
                    <a:pt x="265175" y="25908"/>
                  </a:moveTo>
                  <a:lnTo>
                    <a:pt x="249935" y="25908"/>
                  </a:lnTo>
                  <a:lnTo>
                    <a:pt x="257529" y="31377"/>
                  </a:lnTo>
                  <a:lnTo>
                    <a:pt x="265175" y="25908"/>
                  </a:lnTo>
                  <a:close/>
                </a:path>
              </a:pathLst>
            </a:custGeom>
            <a:solidFill>
              <a:srgbClr val="8C3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0616" y="430918"/>
            <a:ext cx="2811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spc="-20" dirty="0"/>
              <a:t> </a:t>
            </a:r>
            <a:r>
              <a:rPr spc="-5" dirty="0"/>
              <a:t>is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robot?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308853" y="6273822"/>
            <a:ext cx="1856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AI:</a:t>
            </a:r>
            <a:r>
              <a:rPr sz="1400" spc="-8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Artificial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Intelligence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103" y="1611852"/>
            <a:ext cx="385635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Microsoft Sans Serif"/>
                <a:cs typeface="Microsoft Sans Serif"/>
              </a:rPr>
              <a:t>From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“visionary”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perspective: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67741" y="3117045"/>
            <a:ext cx="7644385" cy="1306195"/>
            <a:chOff x="967739" y="3136392"/>
            <a:chExt cx="7644385" cy="13061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11" y="3140964"/>
              <a:ext cx="2763012" cy="12969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311" y="3140964"/>
              <a:ext cx="2763012" cy="12969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67739" y="3136392"/>
              <a:ext cx="2773680" cy="1306195"/>
            </a:xfrm>
            <a:custGeom>
              <a:avLst/>
              <a:gdLst/>
              <a:ahLst/>
              <a:cxnLst/>
              <a:rect l="l" t="t" r="r" b="b"/>
              <a:pathLst>
                <a:path w="2773679" h="1306195">
                  <a:moveTo>
                    <a:pt x="2552700" y="0"/>
                  </a:moveTo>
                  <a:lnTo>
                    <a:pt x="220979" y="0"/>
                  </a:lnTo>
                  <a:lnTo>
                    <a:pt x="198119" y="1524"/>
                  </a:lnTo>
                  <a:lnTo>
                    <a:pt x="155447" y="10668"/>
                  </a:lnTo>
                  <a:lnTo>
                    <a:pt x="115823" y="27432"/>
                  </a:lnTo>
                  <a:lnTo>
                    <a:pt x="79247" y="51816"/>
                  </a:lnTo>
                  <a:lnTo>
                    <a:pt x="50291" y="80772"/>
                  </a:lnTo>
                  <a:lnTo>
                    <a:pt x="25907" y="115824"/>
                  </a:lnTo>
                  <a:lnTo>
                    <a:pt x="9143" y="155448"/>
                  </a:lnTo>
                  <a:lnTo>
                    <a:pt x="1523" y="199644"/>
                  </a:lnTo>
                  <a:lnTo>
                    <a:pt x="0" y="220980"/>
                  </a:lnTo>
                  <a:lnTo>
                    <a:pt x="0" y="1085088"/>
                  </a:lnTo>
                  <a:lnTo>
                    <a:pt x="4571" y="1130808"/>
                  </a:lnTo>
                  <a:lnTo>
                    <a:pt x="16763" y="1171956"/>
                  </a:lnTo>
                  <a:lnTo>
                    <a:pt x="50291" y="1226820"/>
                  </a:lnTo>
                  <a:lnTo>
                    <a:pt x="80772" y="1255776"/>
                  </a:lnTo>
                  <a:lnTo>
                    <a:pt x="115823" y="1280160"/>
                  </a:lnTo>
                  <a:lnTo>
                    <a:pt x="155447" y="1296924"/>
                  </a:lnTo>
                  <a:lnTo>
                    <a:pt x="198119" y="1304544"/>
                  </a:lnTo>
                  <a:lnTo>
                    <a:pt x="220979" y="1306068"/>
                  </a:lnTo>
                  <a:lnTo>
                    <a:pt x="2552700" y="1306068"/>
                  </a:lnTo>
                  <a:lnTo>
                    <a:pt x="2575560" y="1304544"/>
                  </a:lnTo>
                  <a:lnTo>
                    <a:pt x="2596896" y="1301496"/>
                  </a:lnTo>
                  <a:lnTo>
                    <a:pt x="2618232" y="1296924"/>
                  </a:lnTo>
                  <a:lnTo>
                    <a:pt x="220979" y="1296924"/>
                  </a:lnTo>
                  <a:lnTo>
                    <a:pt x="198119" y="1295400"/>
                  </a:lnTo>
                  <a:lnTo>
                    <a:pt x="156972" y="1287780"/>
                  </a:lnTo>
                  <a:lnTo>
                    <a:pt x="120396" y="1271016"/>
                  </a:lnTo>
                  <a:lnTo>
                    <a:pt x="85343" y="1248156"/>
                  </a:lnTo>
                  <a:lnTo>
                    <a:pt x="57912" y="1219200"/>
                  </a:lnTo>
                  <a:lnTo>
                    <a:pt x="35051" y="1185672"/>
                  </a:lnTo>
                  <a:lnTo>
                    <a:pt x="18287" y="1147572"/>
                  </a:lnTo>
                  <a:lnTo>
                    <a:pt x="10668" y="1106424"/>
                  </a:lnTo>
                  <a:lnTo>
                    <a:pt x="9143" y="1085088"/>
                  </a:lnTo>
                  <a:lnTo>
                    <a:pt x="9143" y="220980"/>
                  </a:lnTo>
                  <a:lnTo>
                    <a:pt x="13715" y="178308"/>
                  </a:lnTo>
                  <a:lnTo>
                    <a:pt x="25907" y="138684"/>
                  </a:lnTo>
                  <a:lnTo>
                    <a:pt x="45719" y="103632"/>
                  </a:lnTo>
                  <a:lnTo>
                    <a:pt x="71628" y="71628"/>
                  </a:lnTo>
                  <a:lnTo>
                    <a:pt x="102107" y="45720"/>
                  </a:lnTo>
                  <a:lnTo>
                    <a:pt x="138684" y="25908"/>
                  </a:lnTo>
                  <a:lnTo>
                    <a:pt x="178307" y="13716"/>
                  </a:lnTo>
                  <a:lnTo>
                    <a:pt x="199644" y="10668"/>
                  </a:lnTo>
                  <a:lnTo>
                    <a:pt x="2618232" y="10668"/>
                  </a:lnTo>
                  <a:lnTo>
                    <a:pt x="2596896" y="4572"/>
                  </a:lnTo>
                  <a:lnTo>
                    <a:pt x="2574036" y="1524"/>
                  </a:lnTo>
                  <a:lnTo>
                    <a:pt x="2552700" y="0"/>
                  </a:lnTo>
                  <a:close/>
                </a:path>
                <a:path w="2773679" h="1306195">
                  <a:moveTo>
                    <a:pt x="2618232" y="10668"/>
                  </a:moveTo>
                  <a:lnTo>
                    <a:pt x="2574036" y="10668"/>
                  </a:lnTo>
                  <a:lnTo>
                    <a:pt x="2595372" y="13716"/>
                  </a:lnTo>
                  <a:lnTo>
                    <a:pt x="2615184" y="19812"/>
                  </a:lnTo>
                  <a:lnTo>
                    <a:pt x="2653284" y="35052"/>
                  </a:lnTo>
                  <a:lnTo>
                    <a:pt x="2686812" y="57912"/>
                  </a:lnTo>
                  <a:lnTo>
                    <a:pt x="2715768" y="86868"/>
                  </a:lnTo>
                  <a:lnTo>
                    <a:pt x="2738628" y="120396"/>
                  </a:lnTo>
                  <a:lnTo>
                    <a:pt x="2759964" y="178308"/>
                  </a:lnTo>
                  <a:lnTo>
                    <a:pt x="2763012" y="199644"/>
                  </a:lnTo>
                  <a:lnTo>
                    <a:pt x="2763012" y="1107948"/>
                  </a:lnTo>
                  <a:lnTo>
                    <a:pt x="2753868" y="1149096"/>
                  </a:lnTo>
                  <a:lnTo>
                    <a:pt x="2738628" y="1185672"/>
                  </a:lnTo>
                  <a:lnTo>
                    <a:pt x="2715768" y="1220724"/>
                  </a:lnTo>
                  <a:lnTo>
                    <a:pt x="2686812" y="1248156"/>
                  </a:lnTo>
                  <a:lnTo>
                    <a:pt x="2653284" y="1271016"/>
                  </a:lnTo>
                  <a:lnTo>
                    <a:pt x="2615184" y="1287780"/>
                  </a:lnTo>
                  <a:lnTo>
                    <a:pt x="2574036" y="1295400"/>
                  </a:lnTo>
                  <a:lnTo>
                    <a:pt x="2552700" y="1296924"/>
                  </a:lnTo>
                  <a:lnTo>
                    <a:pt x="2618232" y="1296924"/>
                  </a:lnTo>
                  <a:lnTo>
                    <a:pt x="2657856" y="1280160"/>
                  </a:lnTo>
                  <a:lnTo>
                    <a:pt x="2692908" y="1255776"/>
                  </a:lnTo>
                  <a:lnTo>
                    <a:pt x="2723388" y="1225296"/>
                  </a:lnTo>
                  <a:lnTo>
                    <a:pt x="2746248" y="1190244"/>
                  </a:lnTo>
                  <a:lnTo>
                    <a:pt x="2763012" y="1150620"/>
                  </a:lnTo>
                  <a:lnTo>
                    <a:pt x="2772156" y="1107948"/>
                  </a:lnTo>
                  <a:lnTo>
                    <a:pt x="2773680" y="1085088"/>
                  </a:lnTo>
                  <a:lnTo>
                    <a:pt x="2773680" y="220980"/>
                  </a:lnTo>
                  <a:lnTo>
                    <a:pt x="2769108" y="176784"/>
                  </a:lnTo>
                  <a:lnTo>
                    <a:pt x="2755392" y="135636"/>
                  </a:lnTo>
                  <a:lnTo>
                    <a:pt x="2735580" y="97536"/>
                  </a:lnTo>
                  <a:lnTo>
                    <a:pt x="2708148" y="65532"/>
                  </a:lnTo>
                  <a:lnTo>
                    <a:pt x="2676144" y="38100"/>
                  </a:lnTo>
                  <a:lnTo>
                    <a:pt x="2638044" y="18287"/>
                  </a:lnTo>
                  <a:lnTo>
                    <a:pt x="2618232" y="1066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5375" y="3140964"/>
              <a:ext cx="2932176" cy="12969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5375" y="3140964"/>
              <a:ext cx="2932176" cy="12969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70804" y="3136392"/>
              <a:ext cx="2941320" cy="1306195"/>
            </a:xfrm>
            <a:custGeom>
              <a:avLst/>
              <a:gdLst/>
              <a:ahLst/>
              <a:cxnLst/>
              <a:rect l="l" t="t" r="r" b="b"/>
              <a:pathLst>
                <a:path w="2941320" h="1306195">
                  <a:moveTo>
                    <a:pt x="2720340" y="0"/>
                  </a:moveTo>
                  <a:lnTo>
                    <a:pt x="219456" y="0"/>
                  </a:lnTo>
                  <a:lnTo>
                    <a:pt x="198120" y="1524"/>
                  </a:lnTo>
                  <a:lnTo>
                    <a:pt x="153924" y="10668"/>
                  </a:lnTo>
                  <a:lnTo>
                    <a:pt x="114300" y="27432"/>
                  </a:lnTo>
                  <a:lnTo>
                    <a:pt x="79248" y="51816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0" y="199644"/>
                  </a:lnTo>
                  <a:lnTo>
                    <a:pt x="0" y="1107948"/>
                  </a:lnTo>
                  <a:lnTo>
                    <a:pt x="9144" y="1150620"/>
                  </a:lnTo>
                  <a:lnTo>
                    <a:pt x="25908" y="1190244"/>
                  </a:lnTo>
                  <a:lnTo>
                    <a:pt x="50292" y="1226820"/>
                  </a:lnTo>
                  <a:lnTo>
                    <a:pt x="79248" y="1255776"/>
                  </a:lnTo>
                  <a:lnTo>
                    <a:pt x="115824" y="1280160"/>
                  </a:lnTo>
                  <a:lnTo>
                    <a:pt x="155448" y="1296924"/>
                  </a:lnTo>
                  <a:lnTo>
                    <a:pt x="198120" y="1304544"/>
                  </a:lnTo>
                  <a:lnTo>
                    <a:pt x="219456" y="1306068"/>
                  </a:lnTo>
                  <a:lnTo>
                    <a:pt x="2720340" y="1306068"/>
                  </a:lnTo>
                  <a:lnTo>
                    <a:pt x="2743200" y="1304544"/>
                  </a:lnTo>
                  <a:lnTo>
                    <a:pt x="2764536" y="1301496"/>
                  </a:lnTo>
                  <a:lnTo>
                    <a:pt x="2785872" y="1296924"/>
                  </a:lnTo>
                  <a:lnTo>
                    <a:pt x="219456" y="1296924"/>
                  </a:lnTo>
                  <a:lnTo>
                    <a:pt x="198120" y="1295400"/>
                  </a:lnTo>
                  <a:lnTo>
                    <a:pt x="156972" y="1287780"/>
                  </a:lnTo>
                  <a:lnTo>
                    <a:pt x="118872" y="1271016"/>
                  </a:lnTo>
                  <a:lnTo>
                    <a:pt x="85344" y="1248156"/>
                  </a:lnTo>
                  <a:lnTo>
                    <a:pt x="56387" y="1219200"/>
                  </a:lnTo>
                  <a:lnTo>
                    <a:pt x="25908" y="1167384"/>
                  </a:lnTo>
                  <a:lnTo>
                    <a:pt x="13716" y="1127760"/>
                  </a:lnTo>
                  <a:lnTo>
                    <a:pt x="9144" y="1085088"/>
                  </a:lnTo>
                  <a:lnTo>
                    <a:pt x="9144" y="220980"/>
                  </a:lnTo>
                  <a:lnTo>
                    <a:pt x="13716" y="178308"/>
                  </a:lnTo>
                  <a:lnTo>
                    <a:pt x="25908" y="138684"/>
                  </a:lnTo>
                  <a:lnTo>
                    <a:pt x="45720" y="103632"/>
                  </a:lnTo>
                  <a:lnTo>
                    <a:pt x="71628" y="71628"/>
                  </a:lnTo>
                  <a:lnTo>
                    <a:pt x="102108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8120" y="10668"/>
                  </a:lnTo>
                  <a:lnTo>
                    <a:pt x="2785872" y="10668"/>
                  </a:lnTo>
                  <a:lnTo>
                    <a:pt x="2764536" y="4572"/>
                  </a:lnTo>
                  <a:lnTo>
                    <a:pt x="2741676" y="1524"/>
                  </a:lnTo>
                  <a:lnTo>
                    <a:pt x="2720340" y="0"/>
                  </a:lnTo>
                  <a:close/>
                </a:path>
                <a:path w="2941320" h="1306195">
                  <a:moveTo>
                    <a:pt x="2785872" y="10668"/>
                  </a:moveTo>
                  <a:lnTo>
                    <a:pt x="2741676" y="10668"/>
                  </a:lnTo>
                  <a:lnTo>
                    <a:pt x="2763012" y="13716"/>
                  </a:lnTo>
                  <a:lnTo>
                    <a:pt x="2782824" y="19812"/>
                  </a:lnTo>
                  <a:lnTo>
                    <a:pt x="2820924" y="35052"/>
                  </a:lnTo>
                  <a:lnTo>
                    <a:pt x="2854452" y="57912"/>
                  </a:lnTo>
                  <a:lnTo>
                    <a:pt x="2883407" y="86868"/>
                  </a:lnTo>
                  <a:lnTo>
                    <a:pt x="2906268" y="120396"/>
                  </a:lnTo>
                  <a:lnTo>
                    <a:pt x="2927604" y="178308"/>
                  </a:lnTo>
                  <a:lnTo>
                    <a:pt x="2930652" y="199644"/>
                  </a:lnTo>
                  <a:lnTo>
                    <a:pt x="2930652" y="1107948"/>
                  </a:lnTo>
                  <a:lnTo>
                    <a:pt x="2921507" y="1149096"/>
                  </a:lnTo>
                  <a:lnTo>
                    <a:pt x="2906268" y="1185672"/>
                  </a:lnTo>
                  <a:lnTo>
                    <a:pt x="2883407" y="1220724"/>
                  </a:lnTo>
                  <a:lnTo>
                    <a:pt x="2854452" y="1248156"/>
                  </a:lnTo>
                  <a:lnTo>
                    <a:pt x="2820924" y="1271016"/>
                  </a:lnTo>
                  <a:lnTo>
                    <a:pt x="2782824" y="1287780"/>
                  </a:lnTo>
                  <a:lnTo>
                    <a:pt x="2741676" y="1295400"/>
                  </a:lnTo>
                  <a:lnTo>
                    <a:pt x="2720340" y="1296924"/>
                  </a:lnTo>
                  <a:lnTo>
                    <a:pt x="2785872" y="1296924"/>
                  </a:lnTo>
                  <a:lnTo>
                    <a:pt x="2825496" y="1280160"/>
                  </a:lnTo>
                  <a:lnTo>
                    <a:pt x="2860548" y="1255776"/>
                  </a:lnTo>
                  <a:lnTo>
                    <a:pt x="2891028" y="1225296"/>
                  </a:lnTo>
                  <a:lnTo>
                    <a:pt x="2913888" y="1190244"/>
                  </a:lnTo>
                  <a:lnTo>
                    <a:pt x="2930652" y="1150620"/>
                  </a:lnTo>
                  <a:lnTo>
                    <a:pt x="2939796" y="1107948"/>
                  </a:lnTo>
                  <a:lnTo>
                    <a:pt x="2941320" y="1085088"/>
                  </a:lnTo>
                  <a:lnTo>
                    <a:pt x="2941320" y="220980"/>
                  </a:lnTo>
                  <a:lnTo>
                    <a:pt x="2936748" y="176784"/>
                  </a:lnTo>
                  <a:lnTo>
                    <a:pt x="2923031" y="135636"/>
                  </a:lnTo>
                  <a:lnTo>
                    <a:pt x="2903220" y="97536"/>
                  </a:lnTo>
                  <a:lnTo>
                    <a:pt x="2875788" y="65532"/>
                  </a:lnTo>
                  <a:lnTo>
                    <a:pt x="2843784" y="38100"/>
                  </a:lnTo>
                  <a:lnTo>
                    <a:pt x="2805684" y="18287"/>
                  </a:lnTo>
                  <a:lnTo>
                    <a:pt x="2785872" y="1066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23340" y="3385896"/>
            <a:ext cx="21697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Intelligent </a:t>
            </a:r>
            <a:r>
              <a:rPr sz="1800" spc="-5" dirty="0">
                <a:latin typeface="Microsoft Sans Serif"/>
                <a:cs typeface="Microsoft Sans Serif"/>
              </a:rPr>
              <a:t>connection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between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action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 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perception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92723" y="3530600"/>
            <a:ext cx="2475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7740" marR="5080" indent="-9556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Where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AI </a:t>
            </a:r>
            <a:r>
              <a:rPr sz="1800" spc="-5" dirty="0">
                <a:latin typeface="Microsoft Sans Serif"/>
                <a:cs typeface="Microsoft Sans Serif"/>
              </a:rPr>
              <a:t>meets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real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world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2671" y="2592323"/>
            <a:ext cx="1758696" cy="23210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8351" y="562799"/>
            <a:ext cx="1640321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B51A00"/>
                </a:solidFill>
              </a:rPr>
              <a:t>O</a:t>
            </a:r>
            <a:r>
              <a:rPr spc="-15" dirty="0">
                <a:solidFill>
                  <a:srgbClr val="B51A00"/>
                </a:solidFill>
              </a:rPr>
              <a:t>u</a:t>
            </a:r>
            <a:r>
              <a:rPr spc="-5" dirty="0">
                <a:solidFill>
                  <a:srgbClr val="B51A00"/>
                </a:solidFill>
              </a:rPr>
              <a:t>t</a:t>
            </a:r>
            <a:r>
              <a:rPr dirty="0">
                <a:solidFill>
                  <a:srgbClr val="B51A00"/>
                </a:solidFill>
              </a:rPr>
              <a:t>l</a:t>
            </a:r>
            <a:r>
              <a:rPr spc="-5" dirty="0">
                <a:solidFill>
                  <a:srgbClr val="B51A00"/>
                </a:solidFill>
              </a:rPr>
              <a:t>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775" y="2871406"/>
            <a:ext cx="8464419" cy="6412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452" y="1511463"/>
            <a:ext cx="4935220" cy="2623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Historical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7F7F7F"/>
                </a:solidFill>
                <a:latin typeface="Microsoft Sans Serif"/>
                <a:cs typeface="Microsoft Sans Serif"/>
              </a:rPr>
              <a:t>context</a:t>
            </a:r>
            <a:r>
              <a:rPr sz="2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robotics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</a:t>
            </a:r>
            <a:r>
              <a:rPr sz="2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“definition”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b="1" spc="-55" dirty="0">
                <a:solidFill>
                  <a:srgbClr val="0000FF"/>
                </a:solidFill>
                <a:latin typeface="Arial"/>
                <a:cs typeface="Arial"/>
              </a:rPr>
              <a:t>Types</a:t>
            </a:r>
            <a:r>
              <a:rPr sz="28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8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Arial"/>
                <a:cs typeface="Arial"/>
              </a:rPr>
              <a:t>Robots</a:t>
            </a:r>
            <a:endParaRPr sz="28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spcBef>
                <a:spcPts val="23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Applications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384" y="936642"/>
            <a:ext cx="4944745" cy="1217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Manipulators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They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be: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a.</a:t>
            </a:r>
            <a:r>
              <a:rPr sz="1800" spc="3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b="1" spc="-5" dirty="0">
                <a:solidFill>
                  <a:srgbClr val="00B050"/>
                </a:solidFill>
                <a:latin typeface="Arial"/>
                <a:cs typeface="Arial"/>
              </a:rPr>
              <a:t>Industrial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B050"/>
                </a:solidFill>
                <a:latin typeface="Arial"/>
                <a:cs typeface="Arial"/>
              </a:rPr>
              <a:t>Robots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584" y="4292524"/>
            <a:ext cx="3835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b.</a:t>
            </a:r>
            <a:r>
              <a:rPr sz="1800" spc="51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Collaborative</a:t>
            </a:r>
            <a:r>
              <a:rPr sz="1800" b="1" spc="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B050"/>
                </a:solidFill>
                <a:latin typeface="Arial"/>
                <a:cs typeface="Arial"/>
              </a:rPr>
              <a:t>Robots</a:t>
            </a:r>
            <a:r>
              <a:rPr sz="1800" b="1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B050"/>
                </a:solidFill>
                <a:latin typeface="Arial"/>
                <a:cs typeface="Arial"/>
              </a:rPr>
              <a:t>(“</a:t>
            </a:r>
            <a:r>
              <a:rPr sz="1800" b="1" i="1" spc="-5" dirty="0">
                <a:solidFill>
                  <a:srgbClr val="00B050"/>
                </a:solidFill>
                <a:latin typeface="Arial"/>
                <a:cs typeface="Arial"/>
              </a:rPr>
              <a:t>cobots”</a:t>
            </a:r>
            <a:r>
              <a:rPr sz="1800" b="1" spc="-5" dirty="0">
                <a:solidFill>
                  <a:srgbClr val="00B05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923" y="2320559"/>
            <a:ext cx="1097107" cy="18137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6017" y="2417146"/>
            <a:ext cx="1124201" cy="16834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5659" y="2393910"/>
            <a:ext cx="1462904" cy="16949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1965" y="2278379"/>
            <a:ext cx="1081752" cy="18928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6959" y="4841747"/>
            <a:ext cx="2176272" cy="17282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27130" y="4984216"/>
            <a:ext cx="1419813" cy="16863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15083" y="4783835"/>
            <a:ext cx="1463039" cy="185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715" y="2343911"/>
            <a:ext cx="4099560" cy="26273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2384" y="936642"/>
            <a:ext cx="5405755" cy="866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8354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Manipulators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Also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known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as: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robotic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arms,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robotic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manipulators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4223" y="5275579"/>
            <a:ext cx="3468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Collaborative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robot </a:t>
            </a:r>
            <a:r>
              <a:rPr sz="1200" spc="-5" dirty="0">
                <a:latin typeface="Calibri"/>
                <a:cs typeface="Calibri"/>
              </a:rPr>
              <a:t>Sawyer: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“Let’s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Rethink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Automation”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836" y="5275579"/>
            <a:ext cx="3193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Industrial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robot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industrial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vehicle</a:t>
            </a:r>
            <a:r>
              <a:rPr sz="1200" dirty="0">
                <a:latin typeface="Calibri"/>
                <a:cs typeface="Calibri"/>
              </a:rPr>
              <a:t> assembly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6223" y="5594096"/>
            <a:ext cx="1940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Rethink Robotics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https://youtu.be/-kiq2onigm4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5936" y="5594096"/>
            <a:ext cx="2358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Merce</a:t>
            </a:r>
            <a:r>
              <a:rPr sz="12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d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e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s</a:t>
            </a:r>
            <a:r>
              <a:rPr sz="1200" spc="-7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A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-</a:t>
            </a:r>
            <a:r>
              <a:rPr sz="12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Clas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s</a:t>
            </a:r>
            <a:r>
              <a:rPr sz="12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Pro</a:t>
            </a:r>
            <a:r>
              <a:rPr sz="12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d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uc</a:t>
            </a:r>
            <a:r>
              <a:rPr sz="1200" spc="5" dirty="0">
                <a:solidFill>
                  <a:srgbClr val="7F7F7F"/>
                </a:solidFill>
                <a:latin typeface="Microsoft Sans Serif"/>
                <a:cs typeface="Microsoft Sans Serif"/>
              </a:rPr>
              <a:t>t</a:t>
            </a:r>
            <a:r>
              <a:rPr sz="12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io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n</a:t>
            </a:r>
            <a:r>
              <a:rPr sz="12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Li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ne 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https://youtu.be/VreG1iC65Lc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4715" y="-266634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3355" y="2343911"/>
            <a:ext cx="4142232" cy="26273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2118360"/>
            <a:ext cx="2491740" cy="16520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6155" y="1988820"/>
            <a:ext cx="3966972" cy="19095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031" y="4475988"/>
            <a:ext cx="1524549" cy="1943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26789" y="4986777"/>
            <a:ext cx="1471197" cy="9193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93764" y="4706111"/>
            <a:ext cx="1969008" cy="15209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94051" y="3754628"/>
            <a:ext cx="762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spc="-5" dirty="0">
                <a:latin typeface="Calibri"/>
                <a:cs typeface="Calibri"/>
              </a:rPr>
              <a:t>oS</a:t>
            </a:r>
            <a:r>
              <a:rPr sz="1200" spc="5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mian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8291" y="3907028"/>
            <a:ext cx="1646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Boston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Dynamics’s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Robots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5663" y="6410959"/>
            <a:ext cx="405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@MIT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2835" y="6365240"/>
            <a:ext cx="310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Ai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81519" y="6298184"/>
            <a:ext cx="854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Calibri"/>
                <a:cs typeface="Calibri"/>
              </a:rPr>
              <a:t>F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75" dirty="0">
                <a:latin typeface="Calibri"/>
                <a:cs typeface="Calibri"/>
              </a:rPr>
              <a:t>’</a:t>
            </a:r>
            <a:r>
              <a:rPr sz="1200" dirty="0">
                <a:latin typeface="Calibri"/>
                <a:cs typeface="Calibri"/>
              </a:rPr>
              <a:t>s </a:t>
            </a:r>
            <a:r>
              <a:rPr sz="1200" spc="-30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spc="-5" dirty="0">
                <a:latin typeface="Calibri"/>
                <a:cs typeface="Calibri"/>
              </a:rPr>
              <a:t>ot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5476" y="4777740"/>
            <a:ext cx="1370076" cy="149108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74903" y="794589"/>
            <a:ext cx="5632450" cy="87503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577465">
              <a:lnSpc>
                <a:spcPct val="100000"/>
              </a:lnSpc>
              <a:spcBef>
                <a:spcPts val="1220"/>
              </a:spcBef>
            </a:pP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Terrestrial</a:t>
            </a:r>
            <a:r>
              <a:rPr sz="2000" b="1" spc="-7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5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  <a:p>
            <a:pPr marL="203200" indent="-191135">
              <a:lnSpc>
                <a:spcPct val="100000"/>
              </a:lnSpc>
              <a:spcBef>
                <a:spcPts val="1005"/>
              </a:spcBef>
              <a:buChar char="•"/>
              <a:tabLst>
                <a:tab pos="203835" algn="l"/>
              </a:tabLst>
            </a:pP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Legged</a:t>
            </a:r>
            <a:r>
              <a:rPr sz="1800" spc="2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Mobile</a:t>
            </a:r>
            <a:r>
              <a:rPr sz="1800" spc="1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Robots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2805" y="-165386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5" y="2318004"/>
            <a:ext cx="4440936" cy="25039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91844" y="5022595"/>
            <a:ext cx="2044064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9530"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Cheetah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Robot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(MIT)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https://youtu.be/_luhn7TLfWU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4596" y="5022595"/>
            <a:ext cx="211137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Spot</a:t>
            </a:r>
            <a:r>
              <a:rPr sz="1200" spc="2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(Boston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Dynamics)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https://youtu.be/kgaO45SyaO4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3120771" y="1526646"/>
            <a:ext cx="30670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Terrestrial</a:t>
            </a:r>
            <a:r>
              <a:rPr sz="2000" b="1" spc="-7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4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4296" y="2339339"/>
            <a:ext cx="4366259" cy="24612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36311" y="4053332"/>
            <a:ext cx="1038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Sojourner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Rover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479" y="2372867"/>
            <a:ext cx="1914144" cy="16474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2590" y="4703064"/>
            <a:ext cx="1601768" cy="16504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34588" y="6345428"/>
            <a:ext cx="443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E-</a:t>
            </a:r>
            <a:r>
              <a:rPr sz="1200" spc="-5" dirty="0">
                <a:latin typeface="Calibri"/>
                <a:cs typeface="Calibri"/>
              </a:rPr>
              <a:t>p</a:t>
            </a:r>
            <a:r>
              <a:rPr sz="1200" spc="10" dirty="0">
                <a:latin typeface="Calibri"/>
                <a:cs typeface="Calibri"/>
              </a:rPr>
              <a:t>u</a:t>
            </a:r>
            <a:r>
              <a:rPr sz="1200" dirty="0">
                <a:latin typeface="Calibri"/>
                <a:cs typeface="Calibri"/>
              </a:rPr>
              <a:t>ck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12178" y="4913376"/>
            <a:ext cx="1825850" cy="136550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08752" y="6284467"/>
            <a:ext cx="542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m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38188" y="4796028"/>
            <a:ext cx="2072640" cy="13279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7532" y="2122932"/>
            <a:ext cx="1574292" cy="21610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34288" y="4316983"/>
            <a:ext cx="1126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Hospi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(Panasonic)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09672" y="2122932"/>
            <a:ext cx="1569720" cy="216103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88055" y="4324604"/>
            <a:ext cx="861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EVA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(@UCLA)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24471" y="2372867"/>
            <a:ext cx="1978152" cy="144170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18691" y="6282944"/>
            <a:ext cx="708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0">
                <a:latin typeface="Calibri"/>
                <a:cs typeface="Calibri"/>
              </a:rPr>
              <a:t>T</a:t>
            </a:r>
            <a:r>
              <a:rPr sz="1200" spc="-5" dirty="0">
                <a:latin typeface="Calibri"/>
                <a:cs typeface="Calibri"/>
              </a:rPr>
              <a:t>u</a:t>
            </a:r>
            <a:r>
              <a:rPr sz="1200" spc="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5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9011" y="6214364"/>
            <a:ext cx="4972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@NREC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49743" y="3894835"/>
            <a:ext cx="944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Robot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Podador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07923" y="-68854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18" name="object 18"/>
          <p:cNvSpPr txBox="1"/>
          <p:nvPr/>
        </p:nvSpPr>
        <p:spPr>
          <a:xfrm>
            <a:off x="474903" y="794589"/>
            <a:ext cx="5632450" cy="87503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577465">
              <a:lnSpc>
                <a:spcPct val="100000"/>
              </a:lnSpc>
              <a:spcBef>
                <a:spcPts val="1220"/>
              </a:spcBef>
            </a:pP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Terrestrial</a:t>
            </a:r>
            <a:r>
              <a:rPr sz="2000" b="1" spc="-7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5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 dirty="0">
              <a:latin typeface="Arial"/>
              <a:cs typeface="Arial"/>
            </a:endParaRPr>
          </a:p>
          <a:p>
            <a:pPr marL="203200" indent="-191135">
              <a:lnSpc>
                <a:spcPct val="100000"/>
              </a:lnSpc>
              <a:spcBef>
                <a:spcPts val="1005"/>
              </a:spcBef>
              <a:buChar char="•"/>
              <a:tabLst>
                <a:tab pos="203835" algn="l"/>
              </a:tabLst>
            </a:pP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Wheeled</a:t>
            </a:r>
            <a:r>
              <a:rPr sz="1800" spc="1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Mobile</a:t>
            </a:r>
            <a:r>
              <a:rPr sz="1800" spc="2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Robots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3919" y="4725923"/>
            <a:ext cx="1358933" cy="15667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396" y="936642"/>
            <a:ext cx="5319395" cy="866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813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Aerial</a:t>
            </a:r>
            <a:r>
              <a:rPr sz="2000" b="1" spc="-6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4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Arial"/>
              <a:cs typeface="Arial"/>
            </a:endParaRPr>
          </a:p>
          <a:p>
            <a:pPr marL="259079" indent="-247015">
              <a:lnSpc>
                <a:spcPct val="100000"/>
              </a:lnSpc>
              <a:buChar char="•"/>
              <a:tabLst>
                <a:tab pos="259079" algn="l"/>
                <a:tab pos="259715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Also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known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as: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“U</a:t>
            </a:r>
            <a:r>
              <a:rPr sz="1800" i="1" spc="-10" dirty="0">
                <a:latin typeface="Arial"/>
                <a:cs typeface="Arial"/>
              </a:rPr>
              <a:t>nmanned</a:t>
            </a:r>
            <a:r>
              <a:rPr sz="1800" i="1" spc="-4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Aerial</a:t>
            </a:r>
            <a:r>
              <a:rPr sz="1800" i="1" dirty="0">
                <a:latin typeface="Arial"/>
                <a:cs typeface="Arial"/>
              </a:rPr>
              <a:t> </a:t>
            </a:r>
            <a:r>
              <a:rPr sz="1800" i="1" spc="-15" dirty="0">
                <a:latin typeface="Arial"/>
                <a:cs typeface="Arial"/>
              </a:rPr>
              <a:t>Vehicle”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(UAV)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-295161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792" y="4818848"/>
            <a:ext cx="2619756" cy="15577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14676" y="6279896"/>
            <a:ext cx="776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Crazyflie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2.0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636" y="2276855"/>
            <a:ext cx="3438144" cy="18044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42464" y="4179823"/>
            <a:ext cx="1070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Parrot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Drone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0025" y="2061972"/>
            <a:ext cx="2614388" cy="20878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98896" y="4179823"/>
            <a:ext cx="1006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Erle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Hexacopter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45023" y="4721352"/>
            <a:ext cx="2644139" cy="162610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876035" y="6279896"/>
            <a:ext cx="1069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DJI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Matrice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6235" y="6048516"/>
            <a:ext cx="2035175" cy="5816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sz="1300" spc="-10" dirty="0">
                <a:latin typeface="Calibri"/>
                <a:cs typeface="Calibri"/>
              </a:rPr>
              <a:t>Vijay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5" dirty="0">
                <a:latin typeface="Calibri"/>
                <a:cs typeface="Calibri"/>
              </a:rPr>
              <a:t>Kumar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Lab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https://youtu.be/4ErEBkj_3PY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1615439"/>
            <a:ext cx="7595616" cy="42702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297430" y="936642"/>
            <a:ext cx="25501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Aerial</a:t>
            </a:r>
            <a:r>
              <a:rPr sz="2000" b="1" spc="-6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4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396" y="936642"/>
            <a:ext cx="6026150" cy="866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522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Underwater</a:t>
            </a:r>
            <a:r>
              <a:rPr sz="2000" b="1" spc="-8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4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Arial"/>
              <a:cs typeface="Arial"/>
            </a:endParaRPr>
          </a:p>
          <a:p>
            <a:pPr marL="259079" indent="-247015">
              <a:lnSpc>
                <a:spcPct val="100000"/>
              </a:lnSpc>
              <a:buChar char="•"/>
              <a:tabLst>
                <a:tab pos="259079" algn="l"/>
                <a:tab pos="259715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Also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known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“</a:t>
            </a:r>
            <a:r>
              <a:rPr sz="1800" i="1" spc="-5" dirty="0">
                <a:latin typeface="Arial"/>
                <a:cs typeface="Arial"/>
              </a:rPr>
              <a:t>Autonomous</a:t>
            </a:r>
            <a:r>
              <a:rPr sz="1800" i="1" spc="2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underwater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vehicles</a:t>
            </a:r>
            <a:r>
              <a:rPr sz="1800" spc="-5" dirty="0">
                <a:latin typeface="Microsoft Sans Serif"/>
                <a:cs typeface="Microsoft Sans Serif"/>
              </a:rPr>
              <a:t>”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F7F7F"/>
                </a:solidFill>
                <a:latin typeface="Microsoft Sans Serif"/>
                <a:cs typeface="Microsoft Sans Serif"/>
              </a:rPr>
              <a:t>(AUV)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712" y="2131747"/>
            <a:ext cx="2444408" cy="43574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9555" y="4437888"/>
            <a:ext cx="3413759" cy="23088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8906" y="2119571"/>
            <a:ext cx="2956732" cy="20541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19291" y="4112767"/>
            <a:ext cx="1266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Mbari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robot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tiburón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6863" y="-173433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6368288" y="6490208"/>
            <a:ext cx="708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Gi</a:t>
            </a:r>
            <a:r>
              <a:rPr sz="1200" spc="-25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5</a:t>
            </a:r>
            <a:r>
              <a:rPr sz="1200" spc="5" dirty="0">
                <a:latin typeface="Calibri"/>
                <a:cs typeface="Calibri"/>
              </a:rPr>
              <a:t>0</a:t>
            </a: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0064" y="6473444"/>
            <a:ext cx="892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@Heriot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Watt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1" y="1700783"/>
            <a:ext cx="1632204" cy="2020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6495" y="1700783"/>
            <a:ext cx="1345692" cy="2020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2039" y="4454805"/>
            <a:ext cx="1620011" cy="17890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5308" y="6063488"/>
            <a:ext cx="520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ac</a:t>
            </a:r>
            <a:r>
              <a:rPr sz="1200" spc="-10" dirty="0">
                <a:latin typeface="Calibri"/>
                <a:cs typeface="Calibri"/>
              </a:rPr>
              <a:t>k</a:t>
            </a:r>
            <a:r>
              <a:rPr sz="1200" spc="-5" dirty="0">
                <a:latin typeface="Calibri"/>
                <a:cs typeface="Calibri"/>
              </a:rPr>
              <a:t>b</a:t>
            </a:r>
            <a:r>
              <a:rPr sz="1200" spc="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0053" y="1733643"/>
            <a:ext cx="821266" cy="19715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55764" y="4192523"/>
            <a:ext cx="1202435" cy="194919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88635" y="1700783"/>
            <a:ext cx="1331976" cy="20208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75308" y="3733292"/>
            <a:ext cx="311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PR-2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7467" y="3733292"/>
            <a:ext cx="378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eem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5432" y="3733292"/>
            <a:ext cx="41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Armar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46695" y="3733292"/>
            <a:ext cx="46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5" dirty="0">
                <a:latin typeface="Calibri"/>
                <a:cs typeface="Calibri"/>
              </a:rPr>
              <a:t>pp</a:t>
            </a:r>
            <a:r>
              <a:rPr sz="1200" dirty="0">
                <a:latin typeface="Calibri"/>
                <a:cs typeface="Calibri"/>
              </a:rPr>
              <a:t>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92059" y="6129020"/>
            <a:ext cx="379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J</a:t>
            </a:r>
            <a:r>
              <a:rPr sz="1200" spc="5" dirty="0">
                <a:latin typeface="Calibri"/>
                <a:cs typeface="Calibri"/>
              </a:rPr>
              <a:t>u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spc="-5" dirty="0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09777" y="-282149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15" name="object 15"/>
          <p:cNvSpPr txBox="1"/>
          <p:nvPr/>
        </p:nvSpPr>
        <p:spPr>
          <a:xfrm>
            <a:off x="3332553" y="936642"/>
            <a:ext cx="2482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9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Manipulators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04815" y="4366259"/>
            <a:ext cx="1687067" cy="181051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530088" y="6202171"/>
            <a:ext cx="61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76600" y="4248911"/>
            <a:ext cx="1176527" cy="220522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716528" y="6189979"/>
            <a:ext cx="563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</a:t>
            </a:r>
            <a:r>
              <a:rPr sz="1200" spc="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ma</a:t>
            </a:r>
            <a:r>
              <a:rPr sz="1200" spc="-2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1" y="2197607"/>
            <a:ext cx="4581144" cy="25831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15318" y="4889803"/>
            <a:ext cx="1889760" cy="51879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635"/>
              </a:spcBef>
            </a:pPr>
            <a:r>
              <a:rPr sz="1300" spc="-5" dirty="0">
                <a:latin typeface="Microsoft Sans Serif"/>
                <a:cs typeface="Microsoft Sans Serif"/>
              </a:rPr>
              <a:t>PR-2</a:t>
            </a:r>
            <a:r>
              <a:rPr sz="1300" spc="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and</a:t>
            </a:r>
            <a:r>
              <a:rPr sz="1300" spc="20" dirty="0">
                <a:latin typeface="Microsoft Sans Serif"/>
                <a:cs typeface="Microsoft Sans Serif"/>
              </a:rPr>
              <a:t> </a:t>
            </a:r>
            <a:r>
              <a:rPr sz="1300" spc="-5" dirty="0">
                <a:latin typeface="Microsoft Sans Serif"/>
                <a:cs typeface="Microsoft Sans Serif"/>
              </a:rPr>
              <a:t>a </a:t>
            </a:r>
            <a:r>
              <a:rPr sz="1300" spc="-10" dirty="0">
                <a:latin typeface="Microsoft Sans Serif"/>
                <a:cs typeface="Microsoft Sans Serif"/>
              </a:rPr>
              <a:t>bottle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1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https://youtu.be/c3Cq0sy4TBs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4458" y="4891614"/>
            <a:ext cx="1863725" cy="5156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300" spc="-5" dirty="0">
                <a:latin typeface="Microsoft Sans Serif"/>
                <a:cs typeface="Microsoft Sans Serif"/>
              </a:rPr>
              <a:t>Spot</a:t>
            </a:r>
            <a:r>
              <a:rPr sz="1300" spc="10" dirty="0">
                <a:latin typeface="Microsoft Sans Serif"/>
                <a:cs typeface="Microsoft Sans Serif"/>
              </a:rPr>
              <a:t> </a:t>
            </a:r>
            <a:r>
              <a:rPr sz="1300" spc="-15" dirty="0">
                <a:latin typeface="Microsoft Sans Serif"/>
                <a:cs typeface="Microsoft Sans Serif"/>
              </a:rPr>
              <a:t>Mini</a:t>
            </a:r>
            <a:r>
              <a:rPr sz="1300" spc="2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opening</a:t>
            </a:r>
            <a:r>
              <a:rPr sz="1300" spc="35" dirty="0">
                <a:latin typeface="Microsoft Sans Serif"/>
                <a:cs typeface="Microsoft Sans Serif"/>
              </a:rPr>
              <a:t> </a:t>
            </a:r>
            <a:r>
              <a:rPr sz="1300" spc="-5" dirty="0">
                <a:latin typeface="Microsoft Sans Serif"/>
                <a:cs typeface="Microsoft Sans Serif"/>
              </a:rPr>
              <a:t>a</a:t>
            </a:r>
            <a:r>
              <a:rPr sz="1300" spc="15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door</a:t>
            </a:r>
            <a:endParaRPr sz="1300">
              <a:latin typeface="Microsoft Sans Serif"/>
              <a:cs typeface="Microsoft Sans Serif"/>
            </a:endParaRPr>
          </a:p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11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https://youtu.be/fUyU3lKzoio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-371988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3332553" y="936642"/>
            <a:ext cx="2482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Mobile</a:t>
            </a:r>
            <a:r>
              <a:rPr sz="2000" b="1" spc="-9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Manipulators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4691" y="2197607"/>
            <a:ext cx="4241292" cy="25831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995" y="1624583"/>
            <a:ext cx="998857" cy="2062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7111" y="1633727"/>
            <a:ext cx="755903" cy="1997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6376" y="1578863"/>
            <a:ext cx="1210055" cy="21808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06424" y="1546860"/>
            <a:ext cx="978178" cy="20985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2859" y="1633727"/>
            <a:ext cx="877824" cy="1997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8932" y="4447032"/>
            <a:ext cx="812291" cy="18196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5872" y="4447032"/>
            <a:ext cx="1176527" cy="1819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1144" y="4495800"/>
            <a:ext cx="1568195" cy="17708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19444" y="1633727"/>
            <a:ext cx="961644" cy="19735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04332" y="4416552"/>
            <a:ext cx="1135380" cy="181965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02283" y="3650995"/>
            <a:ext cx="43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Asimo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6492" y="3650995"/>
            <a:ext cx="364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Hubo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96944" y="3650995"/>
            <a:ext cx="466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Romeo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09464" y="3650995"/>
            <a:ext cx="551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HR</a:t>
            </a:r>
            <a:r>
              <a:rPr sz="1200" spc="5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4C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42023" y="3650995"/>
            <a:ext cx="311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oro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16671" y="3650995"/>
            <a:ext cx="347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Atlas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22908" y="6266179"/>
            <a:ext cx="414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Scha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9788" y="6266179"/>
            <a:ext cx="583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K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nshiro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60823" y="6266179"/>
            <a:ext cx="537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35" dirty="0">
                <a:latin typeface="Times New Roman"/>
                <a:cs typeface="Times New Roman"/>
              </a:rPr>
              <a:t>V</a:t>
            </a:r>
            <a:r>
              <a:rPr sz="1200" dirty="0">
                <a:latin typeface="Times New Roman"/>
                <a:cs typeface="Times New Roman"/>
              </a:rPr>
              <a:t>alk</a:t>
            </a:r>
            <a:r>
              <a:rPr sz="1200" spc="-40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rie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54344" y="6278371"/>
            <a:ext cx="431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Sar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5880" y="6266179"/>
            <a:ext cx="353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alos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17473" y="-258258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24" name="object 24"/>
          <p:cNvSpPr txBox="1"/>
          <p:nvPr/>
        </p:nvSpPr>
        <p:spPr>
          <a:xfrm>
            <a:off x="3465151" y="936642"/>
            <a:ext cx="2214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Humanoid</a:t>
            </a:r>
            <a:r>
              <a:rPr sz="2000" b="1" spc="-6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58463" y="4449812"/>
            <a:ext cx="1128128" cy="179608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143" y="1911095"/>
            <a:ext cx="3081528" cy="35844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5208" y="5633388"/>
            <a:ext cx="2399665" cy="4946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200" spc="-5" dirty="0">
                <a:latin typeface="Calibri"/>
                <a:cs typeface="Calibri"/>
              </a:rPr>
              <a:t>HRP-2</a:t>
            </a:r>
            <a:r>
              <a:rPr sz="1200" spc="-10" dirty="0">
                <a:latin typeface="Calibri"/>
                <a:cs typeface="Calibri"/>
              </a:rPr>
              <a:t> 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LAAS-CNRS,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Toulouse,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France</a:t>
            </a:r>
            <a:endParaRPr sz="12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  <a:spcBef>
                <a:spcPts val="450"/>
              </a:spcBef>
            </a:pPr>
            <a:r>
              <a:rPr sz="11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https://youtu.be/pVSvtknTlE4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8650" y="-180039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465151" y="936642"/>
            <a:ext cx="2214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Humanoid</a:t>
            </a:r>
            <a:r>
              <a:rPr sz="2000" b="1" spc="-6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8100" y="1911095"/>
            <a:ext cx="4917948" cy="36595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09704" y="5625887"/>
            <a:ext cx="1795780" cy="502284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565"/>
              </a:spcBef>
            </a:pPr>
            <a:r>
              <a:rPr sz="1300" spc="-15" dirty="0">
                <a:latin typeface="Calibri"/>
                <a:cs typeface="Calibri"/>
              </a:rPr>
              <a:t>Atlas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(Boston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Dynamics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https://youtu.be/fRj34o4hN4I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0840" y="5161473"/>
            <a:ext cx="1935480" cy="4394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295"/>
              </a:spcBef>
            </a:pPr>
            <a:r>
              <a:rPr sz="1300" spc="-5" dirty="0">
                <a:latin typeface="Microsoft Sans Serif"/>
                <a:cs typeface="Microsoft Sans Serif"/>
              </a:rPr>
              <a:t>Ocean One</a:t>
            </a:r>
            <a:endParaRPr sz="13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1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https://youtu.be/p1HmgP9l4VY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8808" y="5161473"/>
            <a:ext cx="1865630" cy="4394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295"/>
              </a:spcBef>
            </a:pPr>
            <a:r>
              <a:rPr sz="1300" spc="-10" dirty="0">
                <a:latin typeface="Microsoft Sans Serif"/>
                <a:cs typeface="Microsoft Sans Serif"/>
              </a:rPr>
              <a:t>Handle</a:t>
            </a:r>
            <a:endParaRPr sz="13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1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https://youtu.be/-7xvqQeoA8c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4783" y="-190778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430029" y="936642"/>
            <a:ext cx="22860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Hybrid</a:t>
            </a:r>
            <a:r>
              <a:rPr sz="2000" b="1" spc="-4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Humanoids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1" y="2276855"/>
            <a:ext cx="3736848" cy="26654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3859" y="2272283"/>
            <a:ext cx="474726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463" y="5842797"/>
            <a:ext cx="3749040" cy="59753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400" spc="-40" dirty="0">
                <a:latin typeface="Microsoft Sans Serif"/>
                <a:cs typeface="Microsoft Sans Serif"/>
              </a:rPr>
              <a:t>MIT,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TUMunich: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Self-assembling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origami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robots</a:t>
            </a:r>
            <a:endParaRPr sz="1400">
              <a:latin typeface="Microsoft Sans Serif"/>
              <a:cs typeface="Microsoft Sans Serif"/>
            </a:endParaRPr>
          </a:p>
          <a:p>
            <a:pPr marL="944880">
              <a:lnSpc>
                <a:spcPct val="100000"/>
              </a:lnSpc>
              <a:spcBef>
                <a:spcPts val="670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https://youtu.be/f0CluQiwLRg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0337" y="-261649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748419" y="936642"/>
            <a:ext cx="164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Micro</a:t>
            </a:r>
            <a:r>
              <a:rPr sz="2000" b="1" spc="-6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908" y="1741932"/>
            <a:ext cx="2848356" cy="1600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4162" y="3298725"/>
            <a:ext cx="1758314" cy="5346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705"/>
              </a:spcBef>
            </a:pPr>
            <a:r>
              <a:rPr sz="1400" spc="-10" dirty="0">
                <a:latin typeface="Microsoft Sans Serif"/>
                <a:cs typeface="Microsoft Sans Serif"/>
              </a:rPr>
              <a:t>Harvard’s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Robobee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https://youtu.be/hEZ7rHRifVc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995" y="4366259"/>
            <a:ext cx="3810000" cy="15620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4376" y="4218432"/>
            <a:ext cx="3166872" cy="17541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71666" y="5996807"/>
            <a:ext cx="2926080" cy="4876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spc="-5" dirty="0">
                <a:latin typeface="Microsoft Sans Serif"/>
                <a:cs typeface="Microsoft Sans Serif"/>
              </a:rPr>
              <a:t>SRI International: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micro-manufacture</a:t>
            </a:r>
            <a:endParaRPr sz="1400">
              <a:latin typeface="Microsoft Sans Serif"/>
              <a:cs typeface="Microsoft Sans Serif"/>
            </a:endParaRPr>
          </a:p>
          <a:p>
            <a:pPr marL="701040">
              <a:lnSpc>
                <a:spcPct val="100000"/>
              </a:lnSpc>
              <a:spcBef>
                <a:spcPts val="300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https://youtu.be/uL6e3co4Qqc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1404" y="1700783"/>
            <a:ext cx="2228088" cy="173431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11952" y="3509335"/>
            <a:ext cx="13150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Microsoft Sans Serif"/>
                <a:cs typeface="Microsoft Sans Serif"/>
              </a:rPr>
              <a:t>Technion: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ViRob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23944" y="1795272"/>
            <a:ext cx="2104644" cy="15453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239259" y="3298916"/>
            <a:ext cx="2011680" cy="5340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200" dirty="0">
                <a:latin typeface="Microsoft Sans Serif"/>
                <a:cs typeface="Microsoft Sans Serif"/>
              </a:rPr>
              <a:t>Max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spc="-5" dirty="0">
                <a:latin typeface="Microsoft Sans Serif"/>
                <a:cs typeface="Microsoft Sans Serif"/>
              </a:rPr>
              <a:t>Planck’s</a:t>
            </a:r>
            <a:r>
              <a:rPr sz="1200" spc="-3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micro-scallop</a:t>
            </a:r>
            <a:endParaRPr sz="1400">
              <a:latin typeface="Microsoft Sans Serif"/>
              <a:cs typeface="Microsoft Sans Serif"/>
            </a:endParaRPr>
          </a:p>
          <a:p>
            <a:pPr marL="35560">
              <a:lnSpc>
                <a:spcPct val="100000"/>
              </a:lnSpc>
              <a:spcBef>
                <a:spcPts val="455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https://youtu.be/eZ05z6ebKDQ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0351" y="3336383"/>
            <a:ext cx="1835150" cy="4527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Microsoft Sans Serif"/>
                <a:cs typeface="Microsoft Sans Serif"/>
              </a:rPr>
              <a:t>Octopus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Project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(FP7)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https://youtu.be/Xn-bG8_aazM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4556" y="6018364"/>
            <a:ext cx="2286635" cy="5410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1400" spc="5" dirty="0">
                <a:latin typeface="Microsoft Sans Serif"/>
                <a:cs typeface="Microsoft Sans Serif"/>
              </a:rPr>
              <a:t>W</a:t>
            </a:r>
            <a:r>
              <a:rPr sz="1400" spc="-20" dirty="0">
                <a:latin typeface="Microsoft Sans Serif"/>
                <a:cs typeface="Microsoft Sans Serif"/>
              </a:rPr>
              <a:t>y</a:t>
            </a:r>
            <a:r>
              <a:rPr sz="1400" dirty="0">
                <a:latin typeface="Microsoft Sans Serif"/>
                <a:cs typeface="Microsoft Sans Serif"/>
              </a:rPr>
              <a:t>ss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</a:t>
            </a:r>
            <a:r>
              <a:rPr sz="1400" spc="10" dirty="0">
                <a:latin typeface="Microsoft Sans Serif"/>
                <a:cs typeface="Microsoft Sans Serif"/>
              </a:rPr>
              <a:t>s</a:t>
            </a:r>
            <a:r>
              <a:rPr sz="1400" spc="-5" dirty="0">
                <a:latin typeface="Microsoft Sans Serif"/>
                <a:cs typeface="Microsoft Sans Serif"/>
              </a:rPr>
              <a:t>titu</a:t>
            </a:r>
            <a:r>
              <a:rPr sz="1400" spc="-15" dirty="0">
                <a:latin typeface="Microsoft Sans Serif"/>
                <a:cs typeface="Microsoft Sans Serif"/>
              </a:rPr>
              <a:t>t</a:t>
            </a:r>
            <a:r>
              <a:rPr sz="1400" spc="-5" dirty="0">
                <a:latin typeface="Microsoft Sans Serif"/>
                <a:cs typeface="Microsoft Sans Serif"/>
              </a:rPr>
              <a:t>e</a:t>
            </a:r>
            <a:r>
              <a:rPr sz="1400" dirty="0">
                <a:latin typeface="Microsoft Sans Serif"/>
                <a:cs typeface="Microsoft Sans Serif"/>
              </a:rPr>
              <a:t>,</a:t>
            </a:r>
            <a:r>
              <a:rPr sz="1400" spc="-10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Arti</a:t>
            </a:r>
            <a:r>
              <a:rPr sz="1400" spc="5" dirty="0">
                <a:latin typeface="Microsoft Sans Serif"/>
                <a:cs typeface="Microsoft Sans Serif"/>
              </a:rPr>
              <a:t>f</a:t>
            </a:r>
            <a:r>
              <a:rPr sz="1400" dirty="0">
                <a:latin typeface="Microsoft Sans Serif"/>
                <a:cs typeface="Microsoft Sans Serif"/>
              </a:rPr>
              <a:t>.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</a:t>
            </a:r>
            <a:r>
              <a:rPr sz="1400" spc="-10" dirty="0">
                <a:latin typeface="Microsoft Sans Serif"/>
                <a:cs typeface="Microsoft Sans Serif"/>
              </a:rPr>
              <a:t>u</a:t>
            </a:r>
            <a:r>
              <a:rPr sz="1400" dirty="0">
                <a:latin typeface="Microsoft Sans Serif"/>
                <a:cs typeface="Microsoft Sans Serif"/>
              </a:rPr>
              <a:t>s</a:t>
            </a:r>
            <a:r>
              <a:rPr sz="1400" spc="10" dirty="0">
                <a:latin typeface="Microsoft Sans Serif"/>
                <a:cs typeface="Microsoft Sans Serif"/>
              </a:rPr>
              <a:t>c</a:t>
            </a:r>
            <a:r>
              <a:rPr sz="1400" spc="-10" dirty="0">
                <a:latin typeface="Microsoft Sans Serif"/>
                <a:cs typeface="Microsoft Sans Serif"/>
              </a:rPr>
              <a:t>les</a:t>
            </a:r>
            <a:endParaRPr sz="1400">
              <a:latin typeface="Microsoft Sans Serif"/>
              <a:cs typeface="Microsoft Sans Serif"/>
            </a:endParaRPr>
          </a:p>
          <a:p>
            <a:pPr marR="25400" algn="ctr">
              <a:lnSpc>
                <a:spcPct val="100000"/>
              </a:lnSpc>
              <a:spcBef>
                <a:spcPts val="480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https://youtu.be/_tKI8BUHFLo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9979" y="-301299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840041" y="936642"/>
            <a:ext cx="1466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Soft</a:t>
            </a:r>
            <a:r>
              <a:rPr sz="2000" b="1" spc="-7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0412" y="6018364"/>
            <a:ext cx="2243455" cy="5410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400" spc="-10" dirty="0">
                <a:latin typeface="Microsoft Sans Serif"/>
                <a:cs typeface="Microsoft Sans Serif"/>
              </a:rPr>
              <a:t>Harvard’s </a:t>
            </a:r>
            <a:r>
              <a:rPr sz="1400" spc="-5" dirty="0">
                <a:latin typeface="Microsoft Sans Serif"/>
                <a:cs typeface="Microsoft Sans Serif"/>
              </a:rPr>
              <a:t>Whitesides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Group</a:t>
            </a:r>
            <a:endParaRPr sz="1400">
              <a:latin typeface="Microsoft Sans Serif"/>
              <a:cs typeface="Microsoft Sans Serif"/>
            </a:endParaRPr>
          </a:p>
          <a:p>
            <a:pPr marL="217804">
              <a:lnSpc>
                <a:spcPct val="100000"/>
              </a:lnSpc>
              <a:spcBef>
                <a:spcPts val="480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https://youtu.be/2DsbS9cMOAE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1712976"/>
            <a:ext cx="1956816" cy="16139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0920" y="1712976"/>
            <a:ext cx="2173224" cy="15727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11992" y="3336383"/>
            <a:ext cx="1851025" cy="4527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R="52069" algn="ctr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Microsoft Sans Serif"/>
                <a:cs typeface="Microsoft Sans Serif"/>
              </a:rPr>
              <a:t>SoftRobotics,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Inc.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https://youtu.be/o8DoSvv4P3w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267" y="4293108"/>
            <a:ext cx="1435608" cy="18166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5332" y="4293108"/>
            <a:ext cx="2592323" cy="16337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18688" y="4293108"/>
            <a:ext cx="2359152" cy="168554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212000" y="6018364"/>
            <a:ext cx="2353310" cy="5410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1400" spc="-10" dirty="0">
                <a:latin typeface="Microsoft Sans Serif"/>
                <a:cs typeface="Microsoft Sans Serif"/>
              </a:rPr>
              <a:t>Columbia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Univ.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Soft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materials</a:t>
            </a:r>
            <a:endParaRPr sz="1400">
              <a:latin typeface="Microsoft Sans Serif"/>
              <a:cs typeface="Microsoft Sans Serif"/>
            </a:endParaRPr>
          </a:p>
          <a:p>
            <a:pPr marL="20955" algn="ctr">
              <a:lnSpc>
                <a:spcPct val="100000"/>
              </a:lnSpc>
              <a:spcBef>
                <a:spcPts val="480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https://youtu.be/1J47difr3oo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60819" y="1627632"/>
            <a:ext cx="1697735" cy="165811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222017" y="3336383"/>
            <a:ext cx="2354580" cy="4527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Microsoft Sans Serif"/>
                <a:cs typeface="Microsoft Sans Serif"/>
              </a:rPr>
              <a:t>EPFL, Reconfig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Robotics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Lab</a:t>
            </a:r>
            <a:endParaRPr sz="1400">
              <a:latin typeface="Microsoft Sans Serif"/>
              <a:cs typeface="Microsoft Sans Serif"/>
            </a:endParaRPr>
          </a:p>
          <a:p>
            <a:pPr marL="19685" algn="ctr">
              <a:lnSpc>
                <a:spcPct val="100000"/>
              </a:lnSpc>
              <a:spcBef>
                <a:spcPts val="185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https://youtu.be/enMlWpHxPDs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247" y="1645920"/>
            <a:ext cx="2235707" cy="18592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8059" y="1524000"/>
            <a:ext cx="1813560" cy="20741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70064" y="1557527"/>
            <a:ext cx="1229868" cy="209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5208" y="1557527"/>
            <a:ext cx="1345691" cy="21031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119" y="4273296"/>
            <a:ext cx="1539240" cy="2136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56804" y="4492752"/>
            <a:ext cx="863602" cy="15285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66416" y="4482084"/>
            <a:ext cx="1141476" cy="171297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68923" y="4727447"/>
            <a:ext cx="1789176" cy="128930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19520" y="6110732"/>
            <a:ext cx="789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XLR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(UPenn)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01900" y="6232652"/>
            <a:ext cx="1307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004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Geminoid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(Ishiguro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Lab,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Osaka)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5379" y="3637279"/>
            <a:ext cx="1534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Salamander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Robot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EPFL)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0508" y="3606800"/>
            <a:ext cx="1231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Snake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Robot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(CMU)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00164" y="3742435"/>
            <a:ext cx="822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E</a:t>
            </a:r>
            <a:r>
              <a:rPr sz="1200" spc="-40" dirty="0">
                <a:latin typeface="Calibri"/>
                <a:cs typeface="Calibri"/>
              </a:rPr>
              <a:t>x</a:t>
            </a:r>
            <a:r>
              <a:rPr sz="1200" spc="-5" dirty="0">
                <a:latin typeface="Calibri"/>
                <a:cs typeface="Calibri"/>
              </a:rPr>
              <a:t>os</a:t>
            </a:r>
            <a:r>
              <a:rPr sz="1200" spc="-4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ele</a:t>
            </a:r>
            <a:r>
              <a:rPr sz="1200" spc="-15" dirty="0">
                <a:latin typeface="Calibri"/>
                <a:cs typeface="Calibri"/>
              </a:rPr>
              <a:t>t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7524" y="6412484"/>
            <a:ext cx="803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Le</a:t>
            </a:r>
            <a:r>
              <a:rPr sz="1200" spc="10" dirty="0">
                <a:latin typeface="Calibri"/>
                <a:cs typeface="Calibri"/>
              </a:rPr>
              <a:t>g</a:t>
            </a:r>
            <a:r>
              <a:rPr sz="1200" spc="-15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24519" y="6110732"/>
            <a:ext cx="353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Hand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  <p:sp>
        <p:nvSpPr>
          <p:cNvPr id="18" name="object 18"/>
          <p:cNvSpPr txBox="1"/>
          <p:nvPr/>
        </p:nvSpPr>
        <p:spPr>
          <a:xfrm>
            <a:off x="3830879" y="936642"/>
            <a:ext cx="14852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Other</a:t>
            </a:r>
            <a:r>
              <a:rPr sz="2000" b="1" spc="-9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35" dirty="0">
                <a:solidFill>
                  <a:srgbClr val="2193FB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12335" y="4482084"/>
            <a:ext cx="1306067" cy="171297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263644" y="6232652"/>
            <a:ext cx="1152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30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Sophia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(</a:t>
            </a:r>
            <a:r>
              <a:rPr sz="1200" spc="-10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spc="-5" dirty="0">
                <a:latin typeface="Calibri"/>
                <a:cs typeface="Calibri"/>
              </a:rPr>
              <a:t>so</a:t>
            </a:r>
            <a:r>
              <a:rPr sz="1200" dirty="0">
                <a:latin typeface="Calibri"/>
                <a:cs typeface="Calibri"/>
              </a:rPr>
              <a:t>n </a:t>
            </a:r>
            <a:r>
              <a:rPr sz="1200" spc="-30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spc="-5" dirty="0">
                <a:latin typeface="Calibri"/>
                <a:cs typeface="Calibri"/>
              </a:rPr>
              <a:t>ics</a:t>
            </a:r>
            <a:r>
              <a:rPr sz="1200" dirty="0"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740" y="6637979"/>
            <a:ext cx="166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95959"/>
                </a:solidFill>
                <a:latin typeface="Microsoft Sans Serif"/>
                <a:cs typeface="Microsoft Sans Serif"/>
              </a:rPr>
              <a:t>39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968" y="936642"/>
            <a:ext cx="7930515" cy="2578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2545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Classification</a:t>
            </a:r>
            <a:r>
              <a:rPr sz="2000" b="1" spc="-1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According</a:t>
            </a:r>
            <a:r>
              <a:rPr sz="2000" b="1" spc="-2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to</a:t>
            </a: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the</a:t>
            </a:r>
            <a:r>
              <a:rPr sz="2000" b="1" spc="-8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Application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 dirty="0">
              <a:latin typeface="Arial"/>
              <a:cs typeface="Arial"/>
            </a:endParaRPr>
          </a:p>
          <a:p>
            <a:pPr marL="260985" indent="-248920">
              <a:lnSpc>
                <a:spcPct val="100000"/>
              </a:lnSpc>
              <a:spcBef>
                <a:spcPts val="5"/>
              </a:spcBef>
              <a:buChar char="•"/>
              <a:tabLst>
                <a:tab pos="260985" algn="l"/>
                <a:tab pos="261620" algn="l"/>
              </a:tabLst>
            </a:pPr>
            <a:r>
              <a:rPr sz="20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Industrial</a:t>
            </a:r>
            <a:r>
              <a:rPr sz="2000" spc="-20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Robots</a:t>
            </a:r>
            <a:endParaRPr sz="2000" dirty="0">
              <a:latin typeface="Microsoft Sans Serif"/>
              <a:cs typeface="Microsoft Sans Serif"/>
            </a:endParaRPr>
          </a:p>
          <a:p>
            <a:pPr marL="539750" marR="5080" lvl="1" indent="-254635">
              <a:lnSpc>
                <a:spcPct val="100000"/>
              </a:lnSpc>
              <a:spcBef>
                <a:spcPts val="5"/>
              </a:spcBef>
              <a:buChar char="-"/>
              <a:tabLst>
                <a:tab pos="539750" algn="l"/>
                <a:tab pos="540385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Used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industrial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automation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applications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(manufacture,</a:t>
            </a:r>
            <a:r>
              <a:rPr sz="1600" spc="6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inspection,</a:t>
            </a:r>
            <a:r>
              <a:rPr sz="1600" spc="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packing, </a:t>
            </a:r>
            <a:r>
              <a:rPr sz="1600" spc="-409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assembly,</a:t>
            </a:r>
            <a:r>
              <a:rPr sz="1600" spc="3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etc.)</a:t>
            </a:r>
            <a:endParaRPr sz="16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Microsoft Sans Serif"/>
              <a:buChar char="-"/>
            </a:pPr>
            <a:endParaRPr sz="2050" dirty="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buChar char="•"/>
              <a:tabLst>
                <a:tab pos="260985" algn="l"/>
                <a:tab pos="261620" algn="l"/>
              </a:tabLst>
            </a:pPr>
            <a:r>
              <a:rPr sz="2000" dirty="0">
                <a:solidFill>
                  <a:srgbClr val="00B050"/>
                </a:solidFill>
                <a:latin typeface="Microsoft Sans Serif"/>
                <a:cs typeface="Microsoft Sans Serif"/>
              </a:rPr>
              <a:t>Service</a:t>
            </a:r>
            <a:r>
              <a:rPr sz="2000" spc="-2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Robots</a:t>
            </a:r>
            <a:endParaRPr sz="2000" dirty="0">
              <a:latin typeface="Microsoft Sans Serif"/>
              <a:cs typeface="Microsoft Sans Serif"/>
            </a:endParaRPr>
          </a:p>
          <a:p>
            <a:pPr marL="539750" marR="172085" lvl="1" indent="-255270">
              <a:lnSpc>
                <a:spcPct val="100000"/>
              </a:lnSpc>
              <a:spcBef>
                <a:spcPts val="10"/>
              </a:spcBef>
              <a:buChar char="-"/>
              <a:tabLst>
                <a:tab pos="539750" algn="l"/>
                <a:tab pos="54038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perform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tasks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humans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or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other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equipment,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excluding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industrial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automation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applications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376" y="6633464"/>
            <a:ext cx="35693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https://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  <a:hlinkClick r:id="rId2"/>
              </a:rPr>
              <a:t>www.iso.org/obp/ui/#iso:std:iso:8373:ed-2:v1:en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5926" y="3563298"/>
            <a:ext cx="3098800" cy="105600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220"/>
              </a:spcBef>
            </a:pPr>
            <a:r>
              <a:rPr sz="1800" spc="-5" dirty="0">
                <a:solidFill>
                  <a:srgbClr val="00B0F0"/>
                </a:solidFill>
                <a:latin typeface="Microsoft Sans Serif"/>
                <a:cs typeface="Microsoft Sans Serif"/>
              </a:rPr>
              <a:t>Personal</a:t>
            </a:r>
            <a:endParaRPr sz="1800">
              <a:latin typeface="Microsoft Sans Serif"/>
              <a:cs typeface="Microsoft Sans Serif"/>
            </a:endParaRPr>
          </a:p>
          <a:p>
            <a:pPr marL="12700" marR="5080" algn="ctr">
              <a:lnSpc>
                <a:spcPct val="100000"/>
              </a:lnSpc>
              <a:spcBef>
                <a:spcPts val="995"/>
              </a:spcBef>
            </a:pPr>
            <a:r>
              <a:rPr sz="1600" spc="-5" dirty="0">
                <a:latin typeface="Microsoft Sans Serif"/>
                <a:cs typeface="Microsoft Sans Serif"/>
              </a:rPr>
              <a:t>Used for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non-commercial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tasks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by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common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(untrained)</a:t>
            </a:r>
            <a:r>
              <a:rPr sz="1400" spc="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people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1928" y="3563298"/>
            <a:ext cx="2691765" cy="105600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1220"/>
              </a:spcBef>
            </a:pPr>
            <a:r>
              <a:rPr sz="1800" spc="-5" dirty="0">
                <a:solidFill>
                  <a:srgbClr val="00B0F0"/>
                </a:solidFill>
                <a:latin typeface="Microsoft Sans Serif"/>
                <a:cs typeface="Microsoft Sans Serif"/>
              </a:rPr>
              <a:t>Professional</a:t>
            </a:r>
            <a:endParaRPr sz="1800">
              <a:latin typeface="Microsoft Sans Serif"/>
              <a:cs typeface="Microsoft Sans Serif"/>
            </a:endParaRPr>
          </a:p>
          <a:p>
            <a:pPr marL="12700" marR="5080" algn="ctr">
              <a:lnSpc>
                <a:spcPct val="100000"/>
              </a:lnSpc>
              <a:spcBef>
                <a:spcPts val="995"/>
              </a:spcBef>
            </a:pPr>
            <a:r>
              <a:rPr sz="1600" spc="-5" dirty="0">
                <a:latin typeface="Microsoft Sans Serif"/>
                <a:cs typeface="Microsoft Sans Serif"/>
              </a:rPr>
              <a:t>Used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for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commercial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tasks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by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trained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people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5228" y="5168848"/>
            <a:ext cx="214757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100"/>
              </a:spcBef>
              <a:buChar char="-"/>
              <a:tabLst>
                <a:tab pos="180340" algn="l"/>
              </a:tabLst>
            </a:pP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Domestic</a:t>
            </a:r>
            <a:r>
              <a:rPr sz="1400" spc="-40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robots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spcBef>
                <a:spcPts val="5"/>
              </a:spcBef>
              <a:buChar char="-"/>
              <a:tabLst>
                <a:tab pos="180340" algn="l"/>
              </a:tabLst>
            </a:pP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Automated</a:t>
            </a:r>
            <a:r>
              <a:rPr sz="1400" spc="-45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Microsoft Sans Serif"/>
                <a:cs typeface="Microsoft Sans Serif"/>
              </a:rPr>
              <a:t>wheelchairs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Personal</a:t>
            </a:r>
            <a:r>
              <a:rPr sz="1400" spc="-40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assistants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Robots</a:t>
            </a:r>
            <a:r>
              <a:rPr sz="1400" spc="-40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for</a:t>
            </a:r>
            <a:r>
              <a:rPr sz="1400" spc="-25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entertainment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Etc.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78479" y="4721352"/>
            <a:ext cx="289560" cy="285115"/>
            <a:chOff x="3078479" y="4721352"/>
            <a:chExt cx="289560" cy="2851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9147" y="4725924"/>
              <a:ext cx="266700" cy="2743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8479" y="4721352"/>
              <a:ext cx="289559" cy="2849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78479" y="4721352"/>
              <a:ext cx="289560" cy="285115"/>
            </a:xfrm>
            <a:custGeom>
              <a:avLst/>
              <a:gdLst/>
              <a:ahLst/>
              <a:cxnLst/>
              <a:rect l="l" t="t" r="r" b="b"/>
              <a:pathLst>
                <a:path w="289560" h="285114">
                  <a:moveTo>
                    <a:pt x="13715" y="141731"/>
                  </a:moveTo>
                  <a:lnTo>
                    <a:pt x="10668" y="150876"/>
                  </a:lnTo>
                  <a:lnTo>
                    <a:pt x="144780" y="284988"/>
                  </a:lnTo>
                  <a:lnTo>
                    <a:pt x="153924" y="275844"/>
                  </a:lnTo>
                  <a:lnTo>
                    <a:pt x="141731" y="275844"/>
                  </a:lnTo>
                  <a:lnTo>
                    <a:pt x="144762" y="272778"/>
                  </a:lnTo>
                  <a:lnTo>
                    <a:pt x="13715" y="141731"/>
                  </a:lnTo>
                  <a:close/>
                </a:path>
                <a:path w="289560" h="285114">
                  <a:moveTo>
                    <a:pt x="144762" y="272778"/>
                  </a:moveTo>
                  <a:lnTo>
                    <a:pt x="141731" y="275844"/>
                  </a:lnTo>
                  <a:lnTo>
                    <a:pt x="147827" y="275844"/>
                  </a:lnTo>
                  <a:lnTo>
                    <a:pt x="144762" y="272778"/>
                  </a:lnTo>
                  <a:close/>
                </a:path>
                <a:path w="289560" h="285114">
                  <a:moveTo>
                    <a:pt x="274319" y="141731"/>
                  </a:moveTo>
                  <a:lnTo>
                    <a:pt x="144762" y="272778"/>
                  </a:lnTo>
                  <a:lnTo>
                    <a:pt x="147827" y="275844"/>
                  </a:lnTo>
                  <a:lnTo>
                    <a:pt x="153924" y="275844"/>
                  </a:lnTo>
                  <a:lnTo>
                    <a:pt x="278891" y="150876"/>
                  </a:lnTo>
                  <a:lnTo>
                    <a:pt x="277368" y="150876"/>
                  </a:lnTo>
                  <a:lnTo>
                    <a:pt x="274319" y="141731"/>
                  </a:lnTo>
                  <a:close/>
                </a:path>
                <a:path w="289560" h="285114">
                  <a:moveTo>
                    <a:pt x="73151" y="140208"/>
                  </a:moveTo>
                  <a:lnTo>
                    <a:pt x="0" y="140208"/>
                  </a:lnTo>
                  <a:lnTo>
                    <a:pt x="10668" y="150876"/>
                  </a:lnTo>
                  <a:lnTo>
                    <a:pt x="13715" y="141731"/>
                  </a:lnTo>
                  <a:lnTo>
                    <a:pt x="73151" y="141731"/>
                  </a:lnTo>
                  <a:lnTo>
                    <a:pt x="73151" y="140208"/>
                  </a:lnTo>
                  <a:close/>
                </a:path>
                <a:path w="289560" h="285114">
                  <a:moveTo>
                    <a:pt x="73151" y="141731"/>
                  </a:moveTo>
                  <a:lnTo>
                    <a:pt x="13715" y="141731"/>
                  </a:lnTo>
                  <a:lnTo>
                    <a:pt x="22860" y="150876"/>
                  </a:lnTo>
                  <a:lnTo>
                    <a:pt x="82295" y="150876"/>
                  </a:lnTo>
                  <a:lnTo>
                    <a:pt x="82295" y="144780"/>
                  </a:lnTo>
                  <a:lnTo>
                    <a:pt x="73151" y="144780"/>
                  </a:lnTo>
                  <a:lnTo>
                    <a:pt x="73151" y="141731"/>
                  </a:lnTo>
                  <a:close/>
                </a:path>
                <a:path w="289560" h="285114">
                  <a:moveTo>
                    <a:pt x="205740" y="4572"/>
                  </a:moveTo>
                  <a:lnTo>
                    <a:pt x="205740" y="150876"/>
                  </a:lnTo>
                  <a:lnTo>
                    <a:pt x="265279" y="150876"/>
                  </a:lnTo>
                  <a:lnTo>
                    <a:pt x="271306" y="144780"/>
                  </a:lnTo>
                  <a:lnTo>
                    <a:pt x="216407" y="144780"/>
                  </a:lnTo>
                  <a:lnTo>
                    <a:pt x="210311" y="140208"/>
                  </a:lnTo>
                  <a:lnTo>
                    <a:pt x="216407" y="140208"/>
                  </a:lnTo>
                  <a:lnTo>
                    <a:pt x="216407" y="9143"/>
                  </a:lnTo>
                  <a:lnTo>
                    <a:pt x="210311" y="9143"/>
                  </a:lnTo>
                  <a:lnTo>
                    <a:pt x="205740" y="4572"/>
                  </a:lnTo>
                  <a:close/>
                </a:path>
                <a:path w="289560" h="285114">
                  <a:moveTo>
                    <a:pt x="288036" y="141731"/>
                  </a:moveTo>
                  <a:lnTo>
                    <a:pt x="274319" y="141731"/>
                  </a:lnTo>
                  <a:lnTo>
                    <a:pt x="277368" y="150876"/>
                  </a:lnTo>
                  <a:lnTo>
                    <a:pt x="278891" y="150876"/>
                  </a:lnTo>
                  <a:lnTo>
                    <a:pt x="288036" y="141731"/>
                  </a:lnTo>
                  <a:close/>
                </a:path>
                <a:path w="289560" h="285114">
                  <a:moveTo>
                    <a:pt x="216407" y="0"/>
                  </a:moveTo>
                  <a:lnTo>
                    <a:pt x="73151" y="0"/>
                  </a:lnTo>
                  <a:lnTo>
                    <a:pt x="73151" y="144780"/>
                  </a:lnTo>
                  <a:lnTo>
                    <a:pt x="77724" y="140208"/>
                  </a:lnTo>
                  <a:lnTo>
                    <a:pt x="82295" y="140208"/>
                  </a:lnTo>
                  <a:lnTo>
                    <a:pt x="82295" y="9143"/>
                  </a:lnTo>
                  <a:lnTo>
                    <a:pt x="77724" y="9143"/>
                  </a:lnTo>
                  <a:lnTo>
                    <a:pt x="82295" y="4572"/>
                  </a:lnTo>
                  <a:lnTo>
                    <a:pt x="216407" y="4572"/>
                  </a:lnTo>
                  <a:lnTo>
                    <a:pt x="216407" y="0"/>
                  </a:lnTo>
                  <a:close/>
                </a:path>
                <a:path w="289560" h="285114">
                  <a:moveTo>
                    <a:pt x="82295" y="140208"/>
                  </a:moveTo>
                  <a:lnTo>
                    <a:pt x="77724" y="140208"/>
                  </a:lnTo>
                  <a:lnTo>
                    <a:pt x="73151" y="144780"/>
                  </a:lnTo>
                  <a:lnTo>
                    <a:pt x="82295" y="144780"/>
                  </a:lnTo>
                  <a:lnTo>
                    <a:pt x="82295" y="140208"/>
                  </a:lnTo>
                  <a:close/>
                </a:path>
                <a:path w="289560" h="285114">
                  <a:moveTo>
                    <a:pt x="216407" y="140208"/>
                  </a:moveTo>
                  <a:lnTo>
                    <a:pt x="210311" y="140208"/>
                  </a:lnTo>
                  <a:lnTo>
                    <a:pt x="216407" y="144780"/>
                  </a:lnTo>
                  <a:lnTo>
                    <a:pt x="216407" y="140208"/>
                  </a:lnTo>
                  <a:close/>
                </a:path>
                <a:path w="289560" h="285114">
                  <a:moveTo>
                    <a:pt x="289559" y="140208"/>
                  </a:moveTo>
                  <a:lnTo>
                    <a:pt x="216407" y="140208"/>
                  </a:lnTo>
                  <a:lnTo>
                    <a:pt x="216407" y="144780"/>
                  </a:lnTo>
                  <a:lnTo>
                    <a:pt x="271306" y="144780"/>
                  </a:lnTo>
                  <a:lnTo>
                    <a:pt x="274319" y="141731"/>
                  </a:lnTo>
                  <a:lnTo>
                    <a:pt x="288036" y="141731"/>
                  </a:lnTo>
                  <a:lnTo>
                    <a:pt x="289559" y="140208"/>
                  </a:lnTo>
                  <a:close/>
                </a:path>
                <a:path w="289560" h="285114">
                  <a:moveTo>
                    <a:pt x="82295" y="4572"/>
                  </a:moveTo>
                  <a:lnTo>
                    <a:pt x="77724" y="9143"/>
                  </a:lnTo>
                  <a:lnTo>
                    <a:pt x="82295" y="9143"/>
                  </a:lnTo>
                  <a:lnTo>
                    <a:pt x="82295" y="4572"/>
                  </a:lnTo>
                  <a:close/>
                </a:path>
                <a:path w="289560" h="285114">
                  <a:moveTo>
                    <a:pt x="205740" y="4572"/>
                  </a:moveTo>
                  <a:lnTo>
                    <a:pt x="82295" y="4572"/>
                  </a:lnTo>
                  <a:lnTo>
                    <a:pt x="82295" y="9143"/>
                  </a:lnTo>
                  <a:lnTo>
                    <a:pt x="205740" y="9143"/>
                  </a:lnTo>
                  <a:lnTo>
                    <a:pt x="205740" y="4572"/>
                  </a:lnTo>
                  <a:close/>
                </a:path>
                <a:path w="289560" h="285114">
                  <a:moveTo>
                    <a:pt x="216407" y="4572"/>
                  </a:moveTo>
                  <a:lnTo>
                    <a:pt x="205740" y="4572"/>
                  </a:lnTo>
                  <a:lnTo>
                    <a:pt x="210311" y="9143"/>
                  </a:lnTo>
                  <a:lnTo>
                    <a:pt x="216407" y="9143"/>
                  </a:lnTo>
                  <a:lnTo>
                    <a:pt x="216407" y="457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13987" y="5168848"/>
            <a:ext cx="305308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100"/>
              </a:spcBef>
              <a:buChar char="-"/>
              <a:tabLst>
                <a:tab pos="180340" algn="l"/>
              </a:tabLst>
            </a:pP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Robots</a:t>
            </a:r>
            <a:r>
              <a:rPr sz="1400" spc="-15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to </a:t>
            </a: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clean</a:t>
            </a:r>
            <a:r>
              <a:rPr sz="1400" spc="-10" dirty="0">
                <a:solidFill>
                  <a:srgbClr val="595959"/>
                </a:solidFill>
                <a:latin typeface="Microsoft Sans Serif"/>
                <a:cs typeface="Microsoft Sans Serif"/>
              </a:rPr>
              <a:t> public</a:t>
            </a:r>
            <a:r>
              <a:rPr sz="1400" spc="-15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places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spcBef>
                <a:spcPts val="5"/>
              </a:spcBef>
              <a:buChar char="-"/>
              <a:tabLst>
                <a:tab pos="180340" algn="l"/>
              </a:tabLst>
            </a:pPr>
            <a:r>
              <a:rPr sz="1400" spc="-10" dirty="0">
                <a:solidFill>
                  <a:srgbClr val="595959"/>
                </a:solidFill>
                <a:latin typeface="Microsoft Sans Serif"/>
                <a:cs typeface="Microsoft Sans Serif"/>
              </a:rPr>
              <a:t>Delivery</a:t>
            </a:r>
            <a:r>
              <a:rPr sz="1400" spc="-15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robots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Firefighting</a:t>
            </a:r>
            <a:r>
              <a:rPr sz="1400" spc="-45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robots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Robots </a:t>
            </a: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for</a:t>
            </a:r>
            <a:r>
              <a:rPr sz="1400" spc="10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rehabilitation</a:t>
            </a:r>
            <a:r>
              <a:rPr sz="1400" spc="-40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and</a:t>
            </a: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surgery</a:t>
            </a:r>
            <a:endParaRPr sz="1400">
              <a:latin typeface="Microsoft Sans Serif"/>
              <a:cs typeface="Microsoft Sans Serif"/>
            </a:endParaRPr>
          </a:p>
          <a:p>
            <a:pPr marL="179705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400" dirty="0">
                <a:solidFill>
                  <a:srgbClr val="595959"/>
                </a:solidFill>
                <a:latin typeface="Microsoft Sans Serif"/>
                <a:cs typeface="Microsoft Sans Serif"/>
              </a:rPr>
              <a:t>Etc.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41819" y="4721352"/>
            <a:ext cx="289560" cy="285115"/>
            <a:chOff x="6941819" y="4721352"/>
            <a:chExt cx="289560" cy="28511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4011" y="4725924"/>
              <a:ext cx="266700" cy="2743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1819" y="4721352"/>
              <a:ext cx="289559" cy="2849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41819" y="4721352"/>
              <a:ext cx="289560" cy="285115"/>
            </a:xfrm>
            <a:custGeom>
              <a:avLst/>
              <a:gdLst/>
              <a:ahLst/>
              <a:cxnLst/>
              <a:rect l="l" t="t" r="r" b="b"/>
              <a:pathLst>
                <a:path w="289559" h="285114">
                  <a:moveTo>
                    <a:pt x="73151" y="140208"/>
                  </a:moveTo>
                  <a:lnTo>
                    <a:pt x="0" y="140208"/>
                  </a:lnTo>
                  <a:lnTo>
                    <a:pt x="144779" y="284988"/>
                  </a:lnTo>
                  <a:lnTo>
                    <a:pt x="153924" y="275844"/>
                  </a:lnTo>
                  <a:lnTo>
                    <a:pt x="141731" y="275844"/>
                  </a:lnTo>
                  <a:lnTo>
                    <a:pt x="144779" y="272760"/>
                  </a:lnTo>
                  <a:lnTo>
                    <a:pt x="24280" y="150876"/>
                  </a:lnTo>
                  <a:lnTo>
                    <a:pt x="12191" y="150876"/>
                  </a:lnTo>
                  <a:lnTo>
                    <a:pt x="15239" y="141731"/>
                  </a:lnTo>
                  <a:lnTo>
                    <a:pt x="73151" y="141731"/>
                  </a:lnTo>
                  <a:lnTo>
                    <a:pt x="73151" y="140208"/>
                  </a:lnTo>
                  <a:close/>
                </a:path>
                <a:path w="289559" h="285114">
                  <a:moveTo>
                    <a:pt x="144779" y="272760"/>
                  </a:moveTo>
                  <a:lnTo>
                    <a:pt x="141731" y="275844"/>
                  </a:lnTo>
                  <a:lnTo>
                    <a:pt x="147827" y="275844"/>
                  </a:lnTo>
                  <a:lnTo>
                    <a:pt x="144779" y="272760"/>
                  </a:lnTo>
                  <a:close/>
                </a:path>
                <a:path w="289559" h="285114">
                  <a:moveTo>
                    <a:pt x="274320" y="141731"/>
                  </a:moveTo>
                  <a:lnTo>
                    <a:pt x="144779" y="272760"/>
                  </a:lnTo>
                  <a:lnTo>
                    <a:pt x="147827" y="275844"/>
                  </a:lnTo>
                  <a:lnTo>
                    <a:pt x="153924" y="275844"/>
                  </a:lnTo>
                  <a:lnTo>
                    <a:pt x="278891" y="150876"/>
                  </a:lnTo>
                  <a:lnTo>
                    <a:pt x="274320" y="141731"/>
                  </a:lnTo>
                  <a:close/>
                </a:path>
                <a:path w="289559" h="285114">
                  <a:moveTo>
                    <a:pt x="15239" y="141731"/>
                  </a:moveTo>
                  <a:lnTo>
                    <a:pt x="12191" y="150876"/>
                  </a:lnTo>
                  <a:lnTo>
                    <a:pt x="24280" y="150876"/>
                  </a:lnTo>
                  <a:lnTo>
                    <a:pt x="15239" y="141731"/>
                  </a:lnTo>
                  <a:close/>
                </a:path>
                <a:path w="289559" h="285114">
                  <a:moveTo>
                    <a:pt x="73151" y="141731"/>
                  </a:moveTo>
                  <a:lnTo>
                    <a:pt x="15239" y="141731"/>
                  </a:lnTo>
                  <a:lnTo>
                    <a:pt x="24280" y="150876"/>
                  </a:lnTo>
                  <a:lnTo>
                    <a:pt x="82296" y="150876"/>
                  </a:lnTo>
                  <a:lnTo>
                    <a:pt x="82296" y="144780"/>
                  </a:lnTo>
                  <a:lnTo>
                    <a:pt x="73151" y="144780"/>
                  </a:lnTo>
                  <a:lnTo>
                    <a:pt x="73151" y="141731"/>
                  </a:lnTo>
                  <a:close/>
                </a:path>
                <a:path w="289559" h="285114">
                  <a:moveTo>
                    <a:pt x="207263" y="4572"/>
                  </a:moveTo>
                  <a:lnTo>
                    <a:pt x="207263" y="150876"/>
                  </a:lnTo>
                  <a:lnTo>
                    <a:pt x="265279" y="150876"/>
                  </a:lnTo>
                  <a:lnTo>
                    <a:pt x="271306" y="144780"/>
                  </a:lnTo>
                  <a:lnTo>
                    <a:pt x="216407" y="144780"/>
                  </a:lnTo>
                  <a:lnTo>
                    <a:pt x="211835" y="140208"/>
                  </a:lnTo>
                  <a:lnTo>
                    <a:pt x="216407" y="140208"/>
                  </a:lnTo>
                  <a:lnTo>
                    <a:pt x="216407" y="9143"/>
                  </a:lnTo>
                  <a:lnTo>
                    <a:pt x="211835" y="9143"/>
                  </a:lnTo>
                  <a:lnTo>
                    <a:pt x="207263" y="4572"/>
                  </a:lnTo>
                  <a:close/>
                </a:path>
                <a:path w="289559" h="285114">
                  <a:moveTo>
                    <a:pt x="288035" y="141731"/>
                  </a:moveTo>
                  <a:lnTo>
                    <a:pt x="274320" y="141731"/>
                  </a:lnTo>
                  <a:lnTo>
                    <a:pt x="278891" y="150876"/>
                  </a:lnTo>
                  <a:lnTo>
                    <a:pt x="288035" y="141731"/>
                  </a:lnTo>
                  <a:close/>
                </a:path>
                <a:path w="289559" h="285114">
                  <a:moveTo>
                    <a:pt x="216407" y="0"/>
                  </a:moveTo>
                  <a:lnTo>
                    <a:pt x="73151" y="0"/>
                  </a:lnTo>
                  <a:lnTo>
                    <a:pt x="73151" y="144780"/>
                  </a:lnTo>
                  <a:lnTo>
                    <a:pt x="77724" y="140208"/>
                  </a:lnTo>
                  <a:lnTo>
                    <a:pt x="82296" y="140208"/>
                  </a:lnTo>
                  <a:lnTo>
                    <a:pt x="82296" y="9143"/>
                  </a:lnTo>
                  <a:lnTo>
                    <a:pt x="77724" y="9143"/>
                  </a:lnTo>
                  <a:lnTo>
                    <a:pt x="82296" y="4572"/>
                  </a:lnTo>
                  <a:lnTo>
                    <a:pt x="216407" y="4572"/>
                  </a:lnTo>
                  <a:lnTo>
                    <a:pt x="216407" y="0"/>
                  </a:lnTo>
                  <a:close/>
                </a:path>
                <a:path w="289559" h="285114">
                  <a:moveTo>
                    <a:pt x="82296" y="140208"/>
                  </a:moveTo>
                  <a:lnTo>
                    <a:pt x="77724" y="140208"/>
                  </a:lnTo>
                  <a:lnTo>
                    <a:pt x="73151" y="144780"/>
                  </a:lnTo>
                  <a:lnTo>
                    <a:pt x="82296" y="144780"/>
                  </a:lnTo>
                  <a:lnTo>
                    <a:pt x="82296" y="140208"/>
                  </a:lnTo>
                  <a:close/>
                </a:path>
                <a:path w="289559" h="285114">
                  <a:moveTo>
                    <a:pt x="216407" y="140208"/>
                  </a:moveTo>
                  <a:lnTo>
                    <a:pt x="211835" y="140208"/>
                  </a:lnTo>
                  <a:lnTo>
                    <a:pt x="216407" y="144780"/>
                  </a:lnTo>
                  <a:lnTo>
                    <a:pt x="216407" y="140208"/>
                  </a:lnTo>
                  <a:close/>
                </a:path>
                <a:path w="289559" h="285114">
                  <a:moveTo>
                    <a:pt x="289559" y="140208"/>
                  </a:moveTo>
                  <a:lnTo>
                    <a:pt x="216407" y="140208"/>
                  </a:lnTo>
                  <a:lnTo>
                    <a:pt x="216407" y="144780"/>
                  </a:lnTo>
                  <a:lnTo>
                    <a:pt x="271306" y="144780"/>
                  </a:lnTo>
                  <a:lnTo>
                    <a:pt x="274320" y="141731"/>
                  </a:lnTo>
                  <a:lnTo>
                    <a:pt x="288035" y="141731"/>
                  </a:lnTo>
                  <a:lnTo>
                    <a:pt x="289559" y="140208"/>
                  </a:lnTo>
                  <a:close/>
                </a:path>
                <a:path w="289559" h="285114">
                  <a:moveTo>
                    <a:pt x="82296" y="4572"/>
                  </a:moveTo>
                  <a:lnTo>
                    <a:pt x="77724" y="9143"/>
                  </a:lnTo>
                  <a:lnTo>
                    <a:pt x="82296" y="9143"/>
                  </a:lnTo>
                  <a:lnTo>
                    <a:pt x="82296" y="4572"/>
                  </a:lnTo>
                  <a:close/>
                </a:path>
                <a:path w="289559" h="285114">
                  <a:moveTo>
                    <a:pt x="207263" y="4572"/>
                  </a:moveTo>
                  <a:lnTo>
                    <a:pt x="82296" y="4572"/>
                  </a:lnTo>
                  <a:lnTo>
                    <a:pt x="82296" y="9143"/>
                  </a:lnTo>
                  <a:lnTo>
                    <a:pt x="207263" y="9143"/>
                  </a:lnTo>
                  <a:lnTo>
                    <a:pt x="207263" y="4572"/>
                  </a:lnTo>
                  <a:close/>
                </a:path>
                <a:path w="289559" h="285114">
                  <a:moveTo>
                    <a:pt x="216407" y="4572"/>
                  </a:moveTo>
                  <a:lnTo>
                    <a:pt x="207263" y="4572"/>
                  </a:lnTo>
                  <a:lnTo>
                    <a:pt x="211835" y="9143"/>
                  </a:lnTo>
                  <a:lnTo>
                    <a:pt x="216407" y="9143"/>
                  </a:lnTo>
                  <a:lnTo>
                    <a:pt x="216407" y="457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62026" y="-275685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Types</a:t>
            </a:r>
            <a:r>
              <a:rPr spc="25" dirty="0"/>
              <a:t> </a:t>
            </a:r>
            <a:r>
              <a:rPr spc="-5" dirty="0"/>
              <a:t>of</a:t>
            </a:r>
            <a:r>
              <a:rPr spc="-10" dirty="0"/>
              <a:t> Robots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1" y="562799"/>
            <a:ext cx="2073196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B51A00"/>
                </a:solidFill>
              </a:rPr>
              <a:t>O</a:t>
            </a:r>
            <a:r>
              <a:rPr spc="-15" dirty="0">
                <a:solidFill>
                  <a:srgbClr val="B51A00"/>
                </a:solidFill>
              </a:rPr>
              <a:t>u</a:t>
            </a:r>
            <a:r>
              <a:rPr spc="-5" dirty="0">
                <a:solidFill>
                  <a:srgbClr val="B51A00"/>
                </a:solidFill>
              </a:rPr>
              <a:t>t</a:t>
            </a:r>
            <a:r>
              <a:rPr dirty="0">
                <a:solidFill>
                  <a:srgbClr val="B51A00"/>
                </a:solidFill>
              </a:rPr>
              <a:t>l</a:t>
            </a:r>
            <a:r>
              <a:rPr spc="-5" dirty="0">
                <a:solidFill>
                  <a:srgbClr val="B51A00"/>
                </a:solidFill>
              </a:rPr>
              <a:t>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775" y="3636046"/>
            <a:ext cx="8464419" cy="6412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452" y="1511463"/>
            <a:ext cx="4935220" cy="2623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Historical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7F7F7F"/>
                </a:solidFill>
                <a:latin typeface="Microsoft Sans Serif"/>
                <a:cs typeface="Microsoft Sans Serif"/>
              </a:rPr>
              <a:t>context</a:t>
            </a:r>
            <a:r>
              <a:rPr sz="2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robotics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</a:t>
            </a:r>
            <a:r>
              <a:rPr sz="28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“definition”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35" dirty="0">
                <a:solidFill>
                  <a:srgbClr val="7F7F7F"/>
                </a:solidFill>
                <a:latin typeface="Microsoft Sans Serif"/>
                <a:cs typeface="Microsoft Sans Serif"/>
              </a:rPr>
              <a:t>Types</a:t>
            </a:r>
            <a:r>
              <a:rPr sz="2800" spc="2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2800" spc="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robots</a:t>
            </a:r>
            <a:endParaRPr sz="2800">
              <a:latin typeface="Microsoft Sans Serif"/>
              <a:cs typeface="Microsoft Sans Serif"/>
            </a:endParaRPr>
          </a:p>
          <a:p>
            <a:pPr marL="469265" indent="-457200">
              <a:lnSpc>
                <a:spcPct val="100000"/>
              </a:lnSpc>
              <a:spcBef>
                <a:spcPts val="23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Applications</a:t>
            </a:r>
            <a:r>
              <a:rPr sz="28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8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Robotics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869" y="936642"/>
            <a:ext cx="7158990" cy="2000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21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What</a:t>
            </a:r>
            <a:r>
              <a:rPr sz="2000" b="1" spc="-2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should</a:t>
            </a: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r>
              <a:rPr sz="2000" b="1" spc="-3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be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 able</a:t>
            </a:r>
            <a:r>
              <a:rPr sz="2000" b="1" spc="-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to</a:t>
            </a:r>
            <a:r>
              <a:rPr sz="2000" b="1" spc="-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do?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Arial"/>
              <a:cs typeface="Arial"/>
            </a:endParaRPr>
          </a:p>
          <a:p>
            <a:pPr marL="260985" indent="-248920">
              <a:lnSpc>
                <a:spcPct val="100000"/>
              </a:lnSpc>
              <a:spcBef>
                <a:spcPts val="5"/>
              </a:spcBef>
              <a:buChar char="•"/>
              <a:tabLst>
                <a:tab pos="260985" algn="l"/>
                <a:tab pos="261620" algn="l"/>
              </a:tabLst>
            </a:pPr>
            <a:r>
              <a:rPr sz="2000" spc="-30" dirty="0">
                <a:solidFill>
                  <a:srgbClr val="0070C0"/>
                </a:solidFill>
                <a:latin typeface="Microsoft Sans Serif"/>
                <a:cs typeface="Microsoft Sans Serif"/>
              </a:rPr>
              <a:t>DARPA</a:t>
            </a:r>
            <a:r>
              <a:rPr sz="2000" spc="-9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Robotics Challenge</a:t>
            </a:r>
            <a:r>
              <a:rPr sz="2000" spc="1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70C0"/>
                </a:solidFill>
                <a:latin typeface="Microsoft Sans Serif"/>
                <a:cs typeface="Microsoft Sans Serif"/>
              </a:rPr>
              <a:t>(DRC):</a:t>
            </a:r>
            <a:r>
              <a:rPr sz="20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2012-2015</a:t>
            </a:r>
            <a:endParaRPr sz="1800">
              <a:latin typeface="Microsoft Sans Serif"/>
              <a:cs typeface="Microsoft Sans Serif"/>
            </a:endParaRPr>
          </a:p>
          <a:p>
            <a:pPr marL="405765" marR="5080">
              <a:lnSpc>
                <a:spcPct val="100000"/>
              </a:lnSpc>
              <a:spcBef>
                <a:spcPts val="1480"/>
              </a:spcBef>
            </a:pPr>
            <a:r>
              <a:rPr sz="1800" spc="390" dirty="0">
                <a:latin typeface="Microsoft Sans Serif"/>
                <a:cs typeface="Microsoft Sans Serif"/>
              </a:rPr>
              <a:t>“… </a:t>
            </a:r>
            <a:r>
              <a:rPr sz="1800" spc="-10" dirty="0">
                <a:latin typeface="Microsoft Sans Serif"/>
                <a:cs typeface="Microsoft Sans Serif"/>
              </a:rPr>
              <a:t>develop </a:t>
            </a:r>
            <a:r>
              <a:rPr sz="1800" spc="-5" dirty="0">
                <a:latin typeface="Microsoft Sans Serif"/>
                <a:cs typeface="Microsoft Sans Serif"/>
              </a:rPr>
              <a:t>human-supervised </a:t>
            </a:r>
            <a:r>
              <a:rPr sz="1800" spc="-10" dirty="0">
                <a:latin typeface="Microsoft Sans Serif"/>
                <a:cs typeface="Microsoft Sans Serif"/>
              </a:rPr>
              <a:t>ground </a:t>
            </a:r>
            <a:r>
              <a:rPr sz="1800" spc="-5" dirty="0">
                <a:latin typeface="Microsoft Sans Serif"/>
                <a:cs typeface="Microsoft Sans Serif"/>
              </a:rPr>
              <a:t>robots </a:t>
            </a:r>
            <a:r>
              <a:rPr sz="1800" spc="-10" dirty="0">
                <a:latin typeface="Microsoft Sans Serif"/>
                <a:cs typeface="Microsoft Sans Serif"/>
              </a:rPr>
              <a:t>capable </a:t>
            </a:r>
            <a:r>
              <a:rPr sz="1800" spc="-5" dirty="0">
                <a:latin typeface="Microsoft Sans Serif"/>
                <a:cs typeface="Microsoft Sans Serif"/>
              </a:rPr>
              <a:t>of </a:t>
            </a:r>
            <a:r>
              <a:rPr sz="1800" spc="-10" dirty="0">
                <a:latin typeface="Microsoft Sans Serif"/>
                <a:cs typeface="Microsoft Sans Serif"/>
              </a:rPr>
              <a:t>executing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complex</a:t>
            </a:r>
            <a:r>
              <a:rPr sz="1800" spc="3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tasks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dangerous</a:t>
            </a:r>
            <a:r>
              <a:rPr sz="1800" spc="-10" dirty="0">
                <a:latin typeface="Microsoft Sans Serif"/>
                <a:cs typeface="Microsoft Sans Serif"/>
              </a:rPr>
              <a:t>,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degraded,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human-engineered 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environments”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3044951"/>
            <a:ext cx="5516880" cy="32644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1816" y="1263396"/>
            <a:ext cx="1165859" cy="6321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71889" y="3936061"/>
            <a:ext cx="10191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Originated </a:t>
            </a:r>
            <a:r>
              <a:rPr sz="1600" spc="-5" dirty="0">
                <a:latin typeface="Microsoft Sans Serif"/>
                <a:cs typeface="Microsoft Sans Serif"/>
              </a:rPr>
              <a:t> from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the 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Fuku</a:t>
            </a:r>
            <a:r>
              <a:rPr sz="1600" spc="5" dirty="0">
                <a:latin typeface="Microsoft Sans Serif"/>
                <a:cs typeface="Microsoft Sans Serif"/>
              </a:rPr>
              <a:t>s</a:t>
            </a:r>
            <a:r>
              <a:rPr sz="1600" spc="-15" dirty="0">
                <a:latin typeface="Microsoft Sans Serif"/>
                <a:cs typeface="Microsoft Sans Serif"/>
              </a:rPr>
              <a:t>h</a:t>
            </a:r>
            <a:r>
              <a:rPr sz="1600" dirty="0">
                <a:latin typeface="Microsoft Sans Serif"/>
                <a:cs typeface="Microsoft Sans Serif"/>
              </a:rPr>
              <a:t>i</a:t>
            </a:r>
            <a:r>
              <a:rPr sz="1600" spc="-5" dirty="0">
                <a:latin typeface="Microsoft Sans Serif"/>
                <a:cs typeface="Microsoft Sans Serif"/>
              </a:rPr>
              <a:t>ma  </a:t>
            </a:r>
            <a:r>
              <a:rPr sz="1600" spc="-10" dirty="0">
                <a:latin typeface="Microsoft Sans Serif"/>
                <a:cs typeface="Microsoft Sans Serif"/>
              </a:rPr>
              <a:t>nuclear </a:t>
            </a:r>
            <a:r>
              <a:rPr sz="1600" spc="-5" dirty="0">
                <a:latin typeface="Microsoft Sans Serif"/>
                <a:cs typeface="Microsoft Sans Serif"/>
              </a:rPr>
              <a:t> disaster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6323" y="6516116"/>
            <a:ext cx="36360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https:/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  <a:hlinkClick r:id="rId4"/>
              </a:rPr>
              <a:t>/ww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w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  <a:hlinkClick r:id="rId4"/>
              </a:rPr>
              <a:t>.darpa.mil/program/darpa-robotics-challenge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869" y="936642"/>
            <a:ext cx="6228715" cy="989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21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What</a:t>
            </a:r>
            <a:r>
              <a:rPr sz="2000" b="1" spc="-2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should</a:t>
            </a: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r>
              <a:rPr sz="2000" b="1" spc="-3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be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 able</a:t>
            </a:r>
            <a:r>
              <a:rPr sz="2000" b="1" spc="-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to</a:t>
            </a:r>
            <a:r>
              <a:rPr sz="2000" b="1" spc="-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do?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Arial"/>
              <a:cs typeface="Arial"/>
            </a:endParaRPr>
          </a:p>
          <a:p>
            <a:pPr marL="260985" indent="-248920">
              <a:lnSpc>
                <a:spcPct val="100000"/>
              </a:lnSpc>
              <a:spcBef>
                <a:spcPts val="5"/>
              </a:spcBef>
              <a:buChar char="•"/>
              <a:tabLst>
                <a:tab pos="260985" algn="l"/>
                <a:tab pos="261620" algn="l"/>
              </a:tabLst>
            </a:pPr>
            <a:r>
              <a:rPr sz="2000" spc="-30" dirty="0">
                <a:solidFill>
                  <a:srgbClr val="0070C0"/>
                </a:solidFill>
                <a:latin typeface="Microsoft Sans Serif"/>
                <a:cs typeface="Microsoft Sans Serif"/>
              </a:rPr>
              <a:t>DARPA</a:t>
            </a:r>
            <a:r>
              <a:rPr sz="2000" spc="-95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Microsoft Sans Serif"/>
                <a:cs typeface="Microsoft Sans Serif"/>
              </a:rPr>
              <a:t>Robotics Challenge</a:t>
            </a:r>
            <a:r>
              <a:rPr sz="2000" spc="1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70C0"/>
                </a:solidFill>
                <a:latin typeface="Microsoft Sans Serif"/>
                <a:cs typeface="Microsoft Sans Serif"/>
              </a:rPr>
              <a:t>(DRC):</a:t>
            </a:r>
            <a:r>
              <a:rPr sz="2000" spc="-10" dirty="0">
                <a:solidFill>
                  <a:srgbClr val="0070C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2012-2015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1816" y="1263396"/>
            <a:ext cx="1165859" cy="6321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19" y="2191511"/>
            <a:ext cx="3043428" cy="20299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12208" y="2191511"/>
            <a:ext cx="2839212" cy="20299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7091" y="4437888"/>
            <a:ext cx="3200400" cy="18013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12208" y="4437888"/>
            <a:ext cx="2839212" cy="1801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846323" y="6516116"/>
            <a:ext cx="36360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https:/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  <a:hlinkClick r:id="rId7"/>
              </a:rPr>
              <a:t>/ww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w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  <a:hlinkClick r:id="rId7"/>
              </a:rPr>
              <a:t>.darpa.mil/program/darpa-robotics-challenge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795" y="936642"/>
            <a:ext cx="5591175" cy="2657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663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Where</a:t>
            </a:r>
            <a:r>
              <a:rPr sz="2000" b="1" spc="-3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can</a:t>
            </a:r>
            <a:r>
              <a:rPr sz="2000" b="1" spc="-1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r>
              <a:rPr sz="2000" b="1" spc="-3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be</a:t>
            </a:r>
            <a:r>
              <a:rPr sz="2000" b="1" spc="-1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used?</a:t>
            </a:r>
            <a:endParaRPr sz="2000">
              <a:latin typeface="Arial"/>
              <a:cs typeface="Arial"/>
            </a:endParaRPr>
          </a:p>
          <a:p>
            <a:pPr marL="260985" indent="-248920">
              <a:lnSpc>
                <a:spcPct val="100000"/>
              </a:lnSpc>
              <a:spcBef>
                <a:spcPts val="1635"/>
              </a:spcBef>
              <a:buChar char="•"/>
              <a:tabLst>
                <a:tab pos="260985" algn="l"/>
                <a:tab pos="261620" algn="l"/>
              </a:tabLst>
            </a:pPr>
            <a:r>
              <a:rPr sz="19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Dangerous</a:t>
            </a:r>
            <a:r>
              <a:rPr sz="1900" spc="5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tasks</a:t>
            </a:r>
            <a:r>
              <a:rPr sz="1900" spc="1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for</a:t>
            </a:r>
            <a:r>
              <a:rPr sz="1900" spc="2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humans</a:t>
            </a:r>
            <a:endParaRPr sz="19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600"/>
              </a:spcBef>
              <a:buChar char="•"/>
              <a:tabLst>
                <a:tab pos="260985" algn="l"/>
                <a:tab pos="261620" algn="l"/>
              </a:tabLst>
            </a:pPr>
            <a:r>
              <a:rPr sz="19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Repetitive</a:t>
            </a:r>
            <a:r>
              <a:rPr sz="1900" spc="-10" dirty="0">
                <a:latin typeface="Microsoft Sans Serif"/>
                <a:cs typeface="Microsoft Sans Serif"/>
              </a:rPr>
              <a:t>,</a:t>
            </a:r>
            <a:r>
              <a:rPr sz="1900" spc="6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boring,</a:t>
            </a:r>
            <a:r>
              <a:rPr sz="1900" spc="5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stressful</a:t>
            </a:r>
            <a:r>
              <a:rPr sz="1900" spc="3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or</a:t>
            </a:r>
            <a:r>
              <a:rPr sz="1900" spc="4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intense</a:t>
            </a:r>
            <a:r>
              <a:rPr sz="1900" spc="5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tasks</a:t>
            </a:r>
            <a:endParaRPr sz="19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600"/>
              </a:spcBef>
              <a:buChar char="•"/>
              <a:tabLst>
                <a:tab pos="260985" algn="l"/>
                <a:tab pos="261620" algn="l"/>
              </a:tabLst>
            </a:pPr>
            <a:r>
              <a:rPr sz="1900" spc="-5" dirty="0">
                <a:latin typeface="Microsoft Sans Serif"/>
                <a:cs typeface="Microsoft Sans Serif"/>
              </a:rPr>
              <a:t>Motion</a:t>
            </a:r>
            <a:r>
              <a:rPr sz="1900" spc="50" dirty="0">
                <a:latin typeface="Microsoft Sans Serif"/>
                <a:cs typeface="Microsoft Sans Serif"/>
              </a:rPr>
              <a:t> </a:t>
            </a:r>
            <a:r>
              <a:rPr sz="1900" spc="-15" dirty="0">
                <a:latin typeface="Microsoft Sans Serif"/>
                <a:cs typeface="Microsoft Sans Serif"/>
              </a:rPr>
              <a:t>with</a:t>
            </a:r>
            <a:r>
              <a:rPr sz="1900" spc="4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high</a:t>
            </a:r>
            <a:r>
              <a:rPr sz="1900" spc="5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precision</a:t>
            </a:r>
            <a:r>
              <a:rPr sz="1900" spc="65" dirty="0">
                <a:solidFill>
                  <a:srgbClr val="00B05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(example:</a:t>
            </a:r>
            <a:r>
              <a:rPr sz="1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medicine)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600"/>
              </a:spcBef>
              <a:buChar char="•"/>
              <a:tabLst>
                <a:tab pos="260985" algn="l"/>
                <a:tab pos="261620" algn="l"/>
              </a:tabLst>
            </a:pPr>
            <a:r>
              <a:rPr sz="1900" spc="-10" dirty="0">
                <a:latin typeface="Microsoft Sans Serif"/>
                <a:cs typeface="Microsoft Sans Serif"/>
              </a:rPr>
              <a:t>Disgusting</a:t>
            </a:r>
            <a:r>
              <a:rPr sz="1900" spc="6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tasks</a:t>
            </a:r>
            <a:r>
              <a:rPr sz="1900" spc="35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for</a:t>
            </a:r>
            <a:r>
              <a:rPr sz="1900" spc="3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latin typeface="Microsoft Sans Serif"/>
                <a:cs typeface="Microsoft Sans Serif"/>
              </a:rPr>
              <a:t>humans</a:t>
            </a:r>
            <a:r>
              <a:rPr sz="1900" spc="6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(example:</a:t>
            </a:r>
            <a:r>
              <a:rPr sz="1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7F7F7F"/>
                </a:solidFill>
                <a:latin typeface="Microsoft Sans Serif"/>
                <a:cs typeface="Microsoft Sans Serif"/>
              </a:rPr>
              <a:t>¿cleaning?)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600"/>
              </a:spcBef>
              <a:buChar char="•"/>
              <a:tabLst>
                <a:tab pos="260985" algn="l"/>
                <a:tab pos="261620" algn="l"/>
              </a:tabLst>
            </a:pPr>
            <a:r>
              <a:rPr sz="1900" spc="-5" dirty="0">
                <a:latin typeface="Microsoft Sans Serif"/>
                <a:cs typeface="Microsoft Sans Serif"/>
              </a:rPr>
              <a:t>Human</a:t>
            </a:r>
            <a:r>
              <a:rPr sz="1900" dirty="0">
                <a:latin typeface="Microsoft Sans Serif"/>
                <a:cs typeface="Microsoft Sans Serif"/>
              </a:rPr>
              <a:t> </a:t>
            </a:r>
            <a:r>
              <a:rPr sz="1900" spc="-5" dirty="0">
                <a:solidFill>
                  <a:srgbClr val="00B050"/>
                </a:solidFill>
                <a:latin typeface="Microsoft Sans Serif"/>
                <a:cs typeface="Microsoft Sans Serif"/>
              </a:rPr>
              <a:t>entertainment</a:t>
            </a:r>
            <a:endParaRPr sz="19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600"/>
              </a:spcBef>
              <a:buChar char="•"/>
              <a:tabLst>
                <a:tab pos="260985" algn="l"/>
                <a:tab pos="261620" algn="l"/>
              </a:tabLst>
            </a:pPr>
            <a:r>
              <a:rPr sz="1900" spc="200" dirty="0">
                <a:latin typeface="Microsoft Sans Serif"/>
                <a:cs typeface="Microsoft Sans Serif"/>
              </a:rPr>
              <a:t>Etc…</a:t>
            </a:r>
            <a:endParaRPr sz="19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3831335"/>
            <a:ext cx="2398776" cy="23515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980" y="3831335"/>
            <a:ext cx="2817875" cy="23515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5395" y="6232652"/>
            <a:ext cx="2426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F7F7F"/>
                </a:solidFill>
                <a:latin typeface="Calibri"/>
                <a:cs typeface="Calibri"/>
              </a:rPr>
              <a:t>North</a:t>
            </a:r>
            <a:r>
              <a:rPr sz="1200" spc="-4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Rhine-Westphalia</a:t>
            </a:r>
            <a:r>
              <a:rPr sz="1200" spc="-4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State</a:t>
            </a:r>
            <a:r>
              <a:rPr sz="1200" spc="-3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Office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F7F7F"/>
                </a:solidFill>
                <a:latin typeface="Calibri"/>
                <a:cs typeface="Calibri"/>
              </a:rPr>
              <a:t>of </a:t>
            </a:r>
            <a:r>
              <a:rPr sz="1200" spc="-2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Calibri"/>
                <a:cs typeface="Calibri"/>
              </a:rPr>
              <a:t>Criminal</a:t>
            </a:r>
            <a:r>
              <a:rPr sz="1200" spc="-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Calibri"/>
                <a:cs typeface="Calibri"/>
              </a:rPr>
              <a:t>Investigation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4996" y="3851147"/>
            <a:ext cx="2377440" cy="23576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43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487" y="936642"/>
            <a:ext cx="5054600" cy="2884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2115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Industrial</a:t>
            </a:r>
            <a:r>
              <a:rPr sz="2000" b="1" spc="-6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50">
              <a:latin typeface="Arial"/>
              <a:cs typeface="Arial"/>
            </a:endParaRPr>
          </a:p>
          <a:p>
            <a:pPr marL="260985" indent="-248920">
              <a:lnSpc>
                <a:spcPct val="100000"/>
              </a:lnSpc>
              <a:buChar char="•"/>
              <a:tabLst>
                <a:tab pos="260985" algn="l"/>
                <a:tab pos="2616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Assembly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0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Materials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handling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1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Manipulation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(“</a:t>
            </a:r>
            <a:r>
              <a:rPr sz="1600" i="1" spc="-5" dirty="0">
                <a:solidFill>
                  <a:srgbClr val="7F7F7F"/>
                </a:solidFill>
                <a:latin typeface="Arial"/>
                <a:cs typeface="Arial"/>
              </a:rPr>
              <a:t>pick</a:t>
            </a:r>
            <a:r>
              <a:rPr sz="1600" i="1" spc="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sz="1600" i="1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7F7F7F"/>
                </a:solidFill>
                <a:latin typeface="Arial"/>
                <a:cs typeface="Arial"/>
              </a:rPr>
              <a:t>place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”)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Spot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arc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welding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Laser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cut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0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Painting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(spray</a:t>
            </a:r>
            <a:r>
              <a:rPr sz="1600" spc="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layers)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0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Inspection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dirty="0">
                <a:latin typeface="Microsoft Sans Serif"/>
                <a:cs typeface="Microsoft Sans Serif"/>
              </a:rPr>
              <a:t>Etc.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659" y="4056888"/>
            <a:ext cx="2471928" cy="23972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9976" y="4078223"/>
            <a:ext cx="2923032" cy="23759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4996" y="4072097"/>
            <a:ext cx="2232659" cy="242928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1496" y="1559052"/>
            <a:ext cx="3349752" cy="22037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44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055" y="1505203"/>
            <a:ext cx="4882515" cy="2021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10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Customer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support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(example:</a:t>
            </a:r>
            <a:r>
              <a:rPr sz="1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museums)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Cleaning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0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Health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care: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hospitals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0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Entertainment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Logistics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transportation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(example:</a:t>
            </a:r>
            <a:r>
              <a:rPr sz="1600" spc="-4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Amazon)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1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5" dirty="0">
                <a:latin typeface="Microsoft Sans Serif"/>
                <a:cs typeface="Microsoft Sans Serif"/>
              </a:rPr>
              <a:t>Warehouses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780" dirty="0">
                <a:latin typeface="Microsoft Sans Serif"/>
                <a:cs typeface="Microsoft Sans Serif"/>
              </a:rPr>
              <a:t>…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34291" y="936642"/>
            <a:ext cx="2879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Indoors</a:t>
            </a:r>
            <a:r>
              <a:rPr sz="2000" b="1" spc="-4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Service</a:t>
            </a:r>
            <a:r>
              <a:rPr sz="2000" b="1" spc="-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23607" y="3099308"/>
            <a:ext cx="603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Roomba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455" y="3758184"/>
            <a:ext cx="2028444" cy="2292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0664" y="6042188"/>
            <a:ext cx="22110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7F7F7F"/>
                </a:solidFill>
                <a:latin typeface="Calibri"/>
                <a:cs typeface="Calibri"/>
                <a:hlinkClick r:id="rId3"/>
              </a:rPr>
              <a:t>http://www.robot-entertainment.com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0651" y="3758184"/>
            <a:ext cx="2866644" cy="22920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04564" y="6113779"/>
            <a:ext cx="637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Robocup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58128" y="1629155"/>
            <a:ext cx="1886712" cy="14401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4747" y="3758184"/>
            <a:ext cx="2836163" cy="227533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793483" y="6113779"/>
            <a:ext cx="1220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Amazon</a:t>
            </a:r>
            <a:r>
              <a:rPr sz="1200" spc="-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Robotics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45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86279" y="1570723"/>
            <a:ext cx="33845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gle)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816" y="4072128"/>
            <a:ext cx="2987040" cy="20162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6264" y="4072128"/>
            <a:ext cx="2692908" cy="20223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6835" y="1565579"/>
            <a:ext cx="2677591" cy="19131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8055" y="936642"/>
            <a:ext cx="7470775" cy="2741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9364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Outdoors</a:t>
            </a:r>
            <a:r>
              <a:rPr sz="2000" b="1" spc="-3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Service</a:t>
            </a: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Arial"/>
              <a:cs typeface="Arial"/>
            </a:endParaRPr>
          </a:p>
          <a:p>
            <a:pPr marL="260985" indent="-248920">
              <a:lnSpc>
                <a:spcPct val="100000"/>
              </a:lnSpc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Transportation: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autonomous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vehicles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(example</a:t>
            </a:r>
            <a:r>
              <a:rPr sz="1600" spc="4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Goo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5" dirty="0">
                <a:latin typeface="Microsoft Sans Serif"/>
                <a:cs typeface="Microsoft Sans Serif"/>
              </a:rPr>
              <a:t>Military: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demining,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surveillance,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atack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1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Exploration: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space,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forests,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sea,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volcanoes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Mining: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excavation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and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exploration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9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Delivery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(example:</a:t>
            </a:r>
            <a:r>
              <a:rPr sz="1600" spc="-5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Amazon)</a:t>
            </a:r>
            <a:endParaRPr sz="1600">
              <a:latin typeface="Microsoft Sans Serif"/>
              <a:cs typeface="Microsoft Sans Serif"/>
            </a:endParaRPr>
          </a:p>
          <a:p>
            <a:pPr marL="260985" indent="-248920">
              <a:lnSpc>
                <a:spcPct val="100000"/>
              </a:lnSpc>
              <a:spcBef>
                <a:spcPts val="105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Agriculture</a:t>
            </a:r>
            <a:endParaRPr sz="1800">
              <a:latin typeface="Microsoft Sans Serif"/>
              <a:cs typeface="Microsoft Sans Serif"/>
            </a:endParaRPr>
          </a:p>
          <a:p>
            <a:pPr marL="260985" indent="-248920">
              <a:lnSpc>
                <a:spcPts val="2005"/>
              </a:lnSpc>
              <a:spcBef>
                <a:spcPts val="100"/>
              </a:spcBef>
              <a:buChar char="•"/>
              <a:tabLst>
                <a:tab pos="260985" algn="l"/>
                <a:tab pos="2616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Construction,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etc.</a:t>
            </a:r>
            <a:endParaRPr sz="1800">
              <a:latin typeface="Microsoft Sans Serif"/>
              <a:cs typeface="Microsoft Sans Serif"/>
            </a:endParaRPr>
          </a:p>
          <a:p>
            <a:pPr marR="5080" algn="r">
              <a:lnSpc>
                <a:spcPts val="1285"/>
              </a:lnSpc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Amazon</a:t>
            </a:r>
            <a:r>
              <a:rPr sz="1200" spc="-3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Robotics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7855" y="6116828"/>
            <a:ext cx="845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Google</a:t>
            </a:r>
            <a:r>
              <a:rPr sz="1200" spc="-7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cars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7755" y="6097016"/>
            <a:ext cx="1171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NASA’s </a:t>
            </a:r>
            <a:r>
              <a:rPr sz="12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Curiosity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16623" y="4072128"/>
            <a:ext cx="2426207" cy="19949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618223" y="6110732"/>
            <a:ext cx="2327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Autonomous</a:t>
            </a:r>
            <a:r>
              <a:rPr sz="1200" spc="-4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Tractor</a:t>
            </a:r>
            <a:r>
              <a:rPr sz="12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7F7F7F"/>
                </a:solidFill>
                <a:latin typeface="Microsoft Sans Serif"/>
                <a:cs typeface="Microsoft Sans Serif"/>
              </a:rPr>
              <a:t>(John</a:t>
            </a:r>
            <a:r>
              <a:rPr sz="12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Deere)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46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160" y="1911780"/>
            <a:ext cx="6395577" cy="37498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97907" y="5797213"/>
            <a:ext cx="4122420" cy="44830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400" spc="-5" dirty="0">
                <a:latin typeface="Calibri"/>
                <a:cs typeface="Calibri"/>
              </a:rPr>
              <a:t>Da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Vinci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robot</a:t>
            </a:r>
            <a:r>
              <a:rPr sz="1400" spc="-5" dirty="0">
                <a:latin typeface="Calibri"/>
                <a:cs typeface="Calibri"/>
              </a:rPr>
              <a:t> performing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surgery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through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teleoperation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sz="11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https://youtu.be/VJ_3GJNz4fg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47</a:t>
            </a:fld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08797" y="936642"/>
            <a:ext cx="3328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Service</a:t>
            </a: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r>
              <a:rPr sz="2000" b="1" spc="-4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in</a:t>
            </a:r>
            <a:r>
              <a:rPr sz="2000" b="1" spc="-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Medicine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719" y="1573375"/>
            <a:ext cx="3097464" cy="36007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00329" y="5437201"/>
            <a:ext cx="1158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DaVinci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Robot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7764" y="5345729"/>
            <a:ext cx="1659889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100"/>
              </a:spcBef>
            </a:pPr>
            <a:r>
              <a:rPr sz="1400" spc="-5" dirty="0">
                <a:latin typeface="Microsoft Sans Serif"/>
                <a:cs typeface="Microsoft Sans Serif"/>
              </a:rPr>
              <a:t>Robotic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Prosthesis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ts val="1425"/>
              </a:lnSpc>
            </a:pPr>
            <a:r>
              <a:rPr sz="1200" spc="-5" dirty="0">
                <a:latin typeface="Calibri"/>
                <a:cs typeface="Calibri"/>
              </a:rPr>
              <a:t>(Johns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Hopkins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University)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08797" y="936642"/>
            <a:ext cx="3328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2193FB"/>
                </a:solidFill>
                <a:latin typeface="Arial"/>
                <a:cs typeface="Arial"/>
              </a:rPr>
              <a:t>Service</a:t>
            </a:r>
            <a:r>
              <a:rPr sz="2000" b="1" spc="-15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Robots</a:t>
            </a:r>
            <a:r>
              <a:rPr sz="2000" b="1" spc="-4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in</a:t>
            </a:r>
            <a:r>
              <a:rPr sz="2000" b="1" spc="-20" dirty="0">
                <a:solidFill>
                  <a:srgbClr val="2193F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193FB"/>
                </a:solidFill>
                <a:latin typeface="Arial"/>
                <a:cs typeface="Arial"/>
              </a:rPr>
              <a:t>Medicine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2311" y="5869903"/>
            <a:ext cx="18395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https://youtu.be/9NOncx2jU0Q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0215" y="2205227"/>
            <a:ext cx="2612136" cy="28087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6555" y="1624583"/>
            <a:ext cx="2074164" cy="37917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7414" y="5328968"/>
            <a:ext cx="1895475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Microsoft Sans Serif"/>
                <a:cs typeface="Microsoft Sans Serif"/>
              </a:rPr>
              <a:t>Robot </a:t>
            </a:r>
            <a:r>
              <a:rPr sz="1400" dirty="0">
                <a:latin typeface="Microsoft Sans Serif"/>
                <a:cs typeface="Microsoft Sans Serif"/>
              </a:rPr>
              <a:t>for </a:t>
            </a:r>
            <a:r>
              <a:rPr sz="1400" spc="-5" dirty="0">
                <a:latin typeface="Microsoft Sans Serif"/>
                <a:cs typeface="Microsoft Sans Serif"/>
              </a:rPr>
              <a:t>THR (total </a:t>
            </a:r>
            <a:r>
              <a:rPr sz="1400" spc="-10" dirty="0">
                <a:latin typeface="Microsoft Sans Serif"/>
                <a:cs typeface="Microsoft Sans Serif"/>
              </a:rPr>
              <a:t>hip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replacement)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https://youtu.be/fSU_R9mgeSg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48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4188" y="308766"/>
            <a:ext cx="215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2195" y="5730925"/>
            <a:ext cx="2305050" cy="58039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14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World</a:t>
            </a:r>
            <a:r>
              <a:rPr sz="1400" spc="-2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of</a:t>
            </a:r>
            <a:r>
              <a:rPr sz="1400" spc="-1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F7F7F"/>
                </a:solidFill>
                <a:latin typeface="Microsoft Sans Serif"/>
                <a:cs typeface="Microsoft Sans Serif"/>
              </a:rPr>
              <a:t>KUKA</a:t>
            </a:r>
            <a:r>
              <a:rPr sz="1400" spc="-70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Robotics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105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https://youtu.be/jDi3RxboDdg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39" y="1645920"/>
            <a:ext cx="7141464" cy="40203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49</a:t>
            </a:fld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546" y="1799424"/>
            <a:ext cx="7945120" cy="197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B.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Siciliano</a:t>
            </a:r>
            <a:r>
              <a:rPr sz="20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O.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Khatib,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 eds. Springer Handbook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of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Robotics.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 Springer Science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&amp;</a:t>
            </a:r>
            <a:r>
              <a:rPr sz="2000" spc="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Business media,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2016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Microsoft Sans Serif"/>
                <a:cs typeface="Microsoft Sans Serif"/>
              </a:rPr>
              <a:t>(http://handbookofrobotics.org)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404040"/>
              </a:buClr>
              <a:buFont typeface="Microsoft Sans Serif"/>
              <a:buChar char="•"/>
            </a:pPr>
            <a:endParaRPr sz="2950">
              <a:latin typeface="Microsoft Sans Serif"/>
              <a:cs typeface="Microsoft Sans Serif"/>
            </a:endParaRPr>
          </a:p>
          <a:p>
            <a:pPr marL="354965" marR="560070" indent="-342900">
              <a:lnSpc>
                <a:spcPct val="997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B.</a:t>
            </a:r>
            <a:r>
              <a:rPr sz="200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Siciliano,</a:t>
            </a:r>
            <a:r>
              <a:rPr sz="20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L.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Sciavicco,</a:t>
            </a:r>
            <a:r>
              <a:rPr sz="20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L.</a:t>
            </a:r>
            <a:r>
              <a:rPr sz="20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Villani</a:t>
            </a:r>
            <a:r>
              <a:rPr sz="2000" spc="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and</a:t>
            </a:r>
            <a:r>
              <a:rPr sz="200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G.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Oriolo. </a:t>
            </a:r>
            <a:r>
              <a:rPr sz="2000" i="1" spc="-5" dirty="0">
                <a:solidFill>
                  <a:srgbClr val="404040"/>
                </a:solidFill>
                <a:latin typeface="Arial"/>
                <a:cs typeface="Arial"/>
              </a:rPr>
              <a:t>Robotics: </a:t>
            </a:r>
            <a:r>
              <a:rPr sz="2000" i="1" dirty="0">
                <a:solidFill>
                  <a:srgbClr val="404040"/>
                </a:solidFill>
                <a:latin typeface="Arial"/>
                <a:cs typeface="Arial"/>
              </a:rPr>
              <a:t> Modelling,</a:t>
            </a:r>
            <a:r>
              <a:rPr sz="2000" i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404040"/>
                </a:solidFill>
                <a:latin typeface="Arial"/>
                <a:cs typeface="Arial"/>
              </a:rPr>
              <a:t>Planning </a:t>
            </a:r>
            <a:r>
              <a:rPr sz="2000" i="1" spc="-5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2000" i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i="1" spc="-5" dirty="0">
                <a:solidFill>
                  <a:srgbClr val="404040"/>
                </a:solidFill>
                <a:latin typeface="Arial"/>
                <a:cs typeface="Arial"/>
              </a:rPr>
              <a:t>Control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.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Springer</a:t>
            </a:r>
            <a:r>
              <a:rPr sz="20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Science</a:t>
            </a:r>
            <a:r>
              <a:rPr sz="20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&amp;</a:t>
            </a:r>
            <a:r>
              <a:rPr sz="2000" spc="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Business </a:t>
            </a:r>
            <a:r>
              <a:rPr sz="2000" spc="-5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Media, 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2010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Calibri"/>
                <a:cs typeface="Calibri"/>
              </a:rPr>
              <a:t>(</a:t>
            </a:r>
            <a:r>
              <a:rPr sz="1800" i="1" spc="-10" dirty="0">
                <a:solidFill>
                  <a:srgbClr val="7F7F7F"/>
                </a:solidFill>
                <a:latin typeface="Calibri"/>
                <a:cs typeface="Calibri"/>
              </a:rPr>
              <a:t>Capítulo</a:t>
            </a:r>
            <a:r>
              <a:rPr sz="1800" i="1" spc="3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7F7F7F"/>
                </a:solidFill>
                <a:latin typeface="Calibri"/>
                <a:cs typeface="Calibri"/>
              </a:rPr>
              <a:t>1</a:t>
            </a:r>
            <a:r>
              <a:rPr sz="1800" spc="-5" dirty="0">
                <a:solidFill>
                  <a:srgbClr val="7F7F7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16340" y="6639336"/>
            <a:ext cx="221615" cy="1778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sz="1000" spc="-5" dirty="0">
                <a:solidFill>
                  <a:srgbClr val="595959"/>
                </a:solidFill>
                <a:latin typeface="Microsoft Sans Serif"/>
                <a:cs typeface="Microsoft Sans Serif"/>
              </a:rPr>
              <a:t>50</a:t>
            </a:fld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5755" y="833234"/>
            <a:ext cx="18738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/>
              <a:t>References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2094</Words>
  <Application>Microsoft Office PowerPoint</Application>
  <PresentationFormat>Presentación en pantalla (4:3)</PresentationFormat>
  <Paragraphs>410</Paragraphs>
  <Slides>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Microsoft Sans Serif</vt:lpstr>
      <vt:lpstr>Times New Roman</vt:lpstr>
      <vt:lpstr>Tema de Office</vt:lpstr>
      <vt:lpstr>Presentación de PowerPoint</vt:lpstr>
      <vt:lpstr>Outline</vt:lpstr>
      <vt:lpstr>Some Context …</vt:lpstr>
      <vt:lpstr>Some Context …</vt:lpstr>
      <vt:lpstr>Origin of the word “Robot”</vt:lpstr>
      <vt:lpstr>First use of the word “Robotics”</vt:lpstr>
      <vt:lpstr>(Short) History of Robotics</vt:lpstr>
      <vt:lpstr>(Short) History of Robotics</vt:lpstr>
      <vt:lpstr>(Short) History of Robotics</vt:lpstr>
      <vt:lpstr>(Short) History of Robotics</vt:lpstr>
      <vt:lpstr>(Short) History of Robotics</vt:lpstr>
      <vt:lpstr>(Short) History of Robotics</vt:lpstr>
      <vt:lpstr>(Short) History of Robotics</vt:lpstr>
      <vt:lpstr>(Short) History of Robotics</vt:lpstr>
      <vt:lpstr>What will happen next?</vt:lpstr>
      <vt:lpstr>Outline</vt:lpstr>
      <vt:lpstr>What is a robot?</vt:lpstr>
      <vt:lpstr>What is a robot?</vt:lpstr>
      <vt:lpstr>What is a robot?</vt:lpstr>
      <vt:lpstr>What is a robot?</vt:lpstr>
      <vt:lpstr>What is a robot?</vt:lpstr>
      <vt:lpstr>Outline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Types of Robots</vt:lpstr>
      <vt:lpstr>Outline</vt:lpstr>
      <vt:lpstr>Applications</vt:lpstr>
      <vt:lpstr>Applications</vt:lpstr>
      <vt:lpstr>Applications</vt:lpstr>
      <vt:lpstr>Applications</vt:lpstr>
      <vt:lpstr>Applications</vt:lpstr>
      <vt:lpstr>Applications</vt:lpstr>
      <vt:lpstr>Applications</vt:lpstr>
      <vt:lpstr>Applications</vt:lpstr>
      <vt:lpstr>Applications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1</cp:revision>
  <dcterms:created xsi:type="dcterms:W3CDTF">2024-08-22T15:46:18Z</dcterms:created>
  <dcterms:modified xsi:type="dcterms:W3CDTF">2024-08-22T15:49:56Z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2018-03-26T00:00:00Z</vt:filetime>
  </property>
  <property fmtid="{D5CDD505-2E9C-101B-9397-08002B2CF9AE}" pid="3" name="LastSaved">
    <vt:filetime>2024-08-22T00:00:00Z</vt:filetime>
  </property>
</Properties>
</file>