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1" r:id="rId2"/>
    <p:sldId id="272" r:id="rId3"/>
    <p:sldId id="273" r:id="rId4"/>
    <p:sldId id="274" r:id="rId5"/>
    <p:sldId id="257" r:id="rId6"/>
    <p:sldId id="258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lang="es-ES" sz="8000" kern="1200" cap="small" baseline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lang="es-ES" sz="2500" kern="1200" cap="small" baseline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/>
          <p:cNvSpPr txBox="1"/>
          <p:nvPr userDrawn="1"/>
        </p:nvSpPr>
        <p:spPr>
          <a:xfrm>
            <a:off x="10039549" y="6555195"/>
            <a:ext cx="1761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WWW.RAISA.COM.MX</a:t>
            </a:r>
          </a:p>
        </p:txBody>
      </p:sp>
      <p:sp>
        <p:nvSpPr>
          <p:cNvPr id="15" name="CuadroTexto 14"/>
          <p:cNvSpPr txBox="1"/>
          <p:nvPr userDrawn="1"/>
        </p:nvSpPr>
        <p:spPr>
          <a:xfrm>
            <a:off x="3965152" y="6400800"/>
            <a:ext cx="47944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Camino a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Huilango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Manzanos Norte S/N Col. San Mateo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Xoloc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Tepotzotlan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Edo. de México C.P. 54602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" y="1"/>
            <a:ext cx="2471336" cy="114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270127"/>
            <a:ext cx="10058400" cy="1450757"/>
          </a:xfrm>
        </p:spPr>
        <p:txBody>
          <a:bodyPr/>
          <a:lstStyle>
            <a:lvl1pPr algn="ctr">
              <a:defRPr lang="en-US" sz="40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1749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 userDrawn="1"/>
        </p:nvSpPr>
        <p:spPr>
          <a:xfrm>
            <a:off x="10039549" y="6555195"/>
            <a:ext cx="1761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WWW.RAISA.COM.MX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" y="1"/>
            <a:ext cx="2471336" cy="114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6853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76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54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MX" dirty="0"/>
              <a:t>Camino a </a:t>
            </a:r>
            <a:r>
              <a:rPr lang="es-MX" dirty="0" err="1"/>
              <a:t>Huilango</a:t>
            </a:r>
            <a:r>
              <a:rPr lang="es-MX" dirty="0"/>
              <a:t> Manzanos Norte S/N Col. San Mateo </a:t>
            </a:r>
            <a:r>
              <a:rPr lang="es-MX" dirty="0" err="1"/>
              <a:t>Xoloc</a:t>
            </a:r>
            <a:r>
              <a:rPr lang="es-MX" dirty="0"/>
              <a:t>, </a:t>
            </a:r>
            <a:r>
              <a:rPr lang="es-MX" dirty="0" err="1"/>
              <a:t>Tepotzotlan</a:t>
            </a:r>
            <a:r>
              <a:rPr lang="es-MX" dirty="0"/>
              <a:t>, Edo. de México C.P. 54602 www.raisamx.com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" y="1"/>
            <a:ext cx="2471336" cy="114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6880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0788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35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45637" y="6544942"/>
            <a:ext cx="6561685" cy="365125"/>
          </a:xfrm>
          <a:prstGeom prst="rect">
            <a:avLst/>
          </a:prstGeo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139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6346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8765E5-3994-4BBD-9158-4AE8CFD44329}" type="datetimeFigureOut">
              <a:rPr lang="es-MX" smtClean="0"/>
              <a:t>07/07/2025</a:t>
            </a:fld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2C21DA7-C646-4412-B938-48F30506A36D}" type="slidenum">
              <a:rPr lang="es-MX" smtClean="0"/>
              <a:t>‹Nº›</a:t>
            </a:fld>
            <a:endParaRPr lang="es-MX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 userDrawn="1"/>
        </p:nvSpPr>
        <p:spPr>
          <a:xfrm>
            <a:off x="3779801" y="6406346"/>
            <a:ext cx="47944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Camino a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Huilango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Manzanos Norte S/N Col. San Mateo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Xoloc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Tepotzotlan</a:t>
            </a: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Edo. de México C.P. 54602</a:t>
            </a:r>
          </a:p>
        </p:txBody>
      </p:sp>
      <p:sp>
        <p:nvSpPr>
          <p:cNvPr id="12" name="CuadroTexto 11"/>
          <p:cNvSpPr txBox="1"/>
          <p:nvPr userDrawn="1"/>
        </p:nvSpPr>
        <p:spPr>
          <a:xfrm>
            <a:off x="10039549" y="6555195"/>
            <a:ext cx="17614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WWW.RAISA.COM.MX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" y="1"/>
            <a:ext cx="2471336" cy="114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7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robot/ur10e-tech-spec-12.5kg%20UR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../Datasheet/unidad%20de%20movimiento/KV-XH04ML_Datasheet.pdf" TargetMode="External"/><Relationship Id="rId5" Type="http://schemas.openxmlformats.org/officeDocument/2006/relationships/hyperlink" Target="../Datasheet/controlador%20de%20vision/AS_121609_CV-X_IM_16605MX_KMX_MX_2071_3.pdf" TargetMode="External"/><Relationship Id="rId4" Type="http://schemas.openxmlformats.org/officeDocument/2006/relationships/hyperlink" Target="../Datasheet/plc/KV-7500_Datasheet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hmi/VT5-W10_Datasheet%20HMI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../Datasheet/robot/ur10e-tech-spec-12.5kg%20UR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../Datasheet/camara%20de%20vision/AS_101053_CA-035C_CA-035M_CA-200C_IM_96M15042_WW_GB_2072_3a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../Datasheet/dispensador%20de%20pegamento/Dispensador%20de%20pegamento.pdf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Datasheet/servomotor%20(mesa%20idexadora%20)/SV2-M005AK_Datasheet%20servo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3F2E658-2557-0B5D-F8FF-43FD56D9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23" y="2747713"/>
            <a:ext cx="3489985" cy="352426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9EF1CC4-55C2-B04F-D1B9-597B084BB6BF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C3CC146-EC3E-4F18-B622-AAEE57D07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3653"/>
            <a:ext cx="4392613" cy="313238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FEC492F-A87A-1834-1466-E2522AAE0652}"/>
              </a:ext>
            </a:extLst>
          </p:cNvPr>
          <p:cNvSpPr txBox="1"/>
          <p:nvPr/>
        </p:nvSpPr>
        <p:spPr>
          <a:xfrm>
            <a:off x="3107076" y="1917157"/>
            <a:ext cx="6392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accent2">
                    <a:lumMod val="75000"/>
                  </a:schemeClr>
                </a:solidFill>
              </a:rPr>
              <a:t>Listado de zonas y componentes que integran la celda 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631130-3D74-4B33-15B5-D96260C00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44170"/>
            <a:ext cx="12192000" cy="51267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078B461-35F0-5FB1-7F15-7FFDD0775794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913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C08A-5F32-786D-6422-944EC8F9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9E6633F-8A7A-634F-C90B-53880795D799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FADB01-B951-A750-C1DC-3EDF1B0F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4170"/>
            <a:ext cx="12192000" cy="51267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7AB5478-CE81-9131-E65B-C22466207348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contenido 8">
            <a:extLst>
              <a:ext uri="{FF2B5EF4-FFF2-40B4-BE49-F238E27FC236}">
                <a16:creationId xmlns:a16="http://schemas.microsoft.com/office/drawing/2014/main" id="{85C82C19-824B-E6E1-3C08-E709DE478C98}"/>
              </a:ext>
            </a:extLst>
          </p:cNvPr>
          <p:cNvSpPr txBox="1">
            <a:spLocks/>
          </p:cNvSpPr>
          <p:nvPr/>
        </p:nvSpPr>
        <p:spPr>
          <a:xfrm>
            <a:off x="330201" y="2173705"/>
            <a:ext cx="5452533" cy="392705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es-ES" sz="1600" dirty="0"/>
              <a:t>La robótica colaborativa es una rama de la automatización que busca mejorar los estándares de productividad de la industria; el conocimiento y manejo de programación y operación de robots es un requisito indispensable para acceder al mundo laboral actual.</a:t>
            </a:r>
          </a:p>
          <a:p>
            <a:pPr algn="just">
              <a:lnSpc>
                <a:spcPct val="170000"/>
              </a:lnSpc>
            </a:pPr>
            <a:r>
              <a:rPr lang="es-ES" sz="1600" dirty="0"/>
              <a:t>El desarrollo del curso permitirá formar conceptos de programación, estructuras del sistema de robots y unidades prácticas para la puesta en servicio de robots colaborativos.</a:t>
            </a:r>
            <a:endParaRPr lang="es-PE" sz="1600" dirty="0"/>
          </a:p>
        </p:txBody>
      </p:sp>
      <p:pic>
        <p:nvPicPr>
          <p:cNvPr id="7" name="Picture 2" descr="Robot replacing print beds : r/3Dprinting">
            <a:extLst>
              <a:ext uri="{FF2B5EF4-FFF2-40B4-BE49-F238E27FC236}">
                <a16:creationId xmlns:a16="http://schemas.microsoft.com/office/drawing/2014/main" id="{FE3FD158-FBE5-0A3B-930F-20F12009D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797" y="2405285"/>
            <a:ext cx="5762978" cy="324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322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12AB-BDD4-AA2A-46CB-790155E9C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82A0FC-DD37-9956-010B-F4178B0F511A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EC1126-400A-A20D-9E1A-63301DA5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4170"/>
            <a:ext cx="12192000" cy="51267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D7326CB-8B5F-E372-1CA0-1C75918F181D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793F48B-FC3B-4E73-5A00-95519F7D94C8}"/>
              </a:ext>
            </a:extLst>
          </p:cNvPr>
          <p:cNvSpPr txBox="1">
            <a:spLocks/>
          </p:cNvSpPr>
          <p:nvPr/>
        </p:nvSpPr>
        <p:spPr>
          <a:xfrm>
            <a:off x="6096000" y="2220364"/>
            <a:ext cx="5588000" cy="360470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es-ES" dirty="0"/>
              <a:t>Formación en control y programación de Robots Colaborativos de la compañía líder en la industria: UNIVERSAL ROBOTS.</a:t>
            </a:r>
          </a:p>
          <a:p>
            <a:pPr algn="just">
              <a:lnSpc>
                <a:spcPct val="170000"/>
              </a:lnSpc>
            </a:pPr>
            <a:r>
              <a:rPr lang="es-ES" dirty="0"/>
              <a:t>El participante será capaz de programar y operar un robot colaborativo, crear copias de seguridad, verificar el estado del sistema, realizar las calibraciones y ajustes necesarios.</a:t>
            </a:r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0DC972-77CD-ADA5-F017-4E8AF50F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222" y="2220364"/>
            <a:ext cx="3936998" cy="34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456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53D3-11FE-096A-A52C-1825A6DA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30C573-A4C4-A6E0-E04D-B705934B9A93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FCB517-97E9-55CC-B2DC-AD40C507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4170"/>
            <a:ext cx="12192000" cy="51267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D937BDE-3988-D42E-8CBD-394EC426BA80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0526AEE-766A-CCB4-8413-2D4BA1777616}"/>
              </a:ext>
            </a:extLst>
          </p:cNvPr>
          <p:cNvSpPr txBox="1">
            <a:spLocks/>
          </p:cNvSpPr>
          <p:nvPr/>
        </p:nvSpPr>
        <p:spPr>
          <a:xfrm>
            <a:off x="6007768" y="1997242"/>
            <a:ext cx="5676232" cy="382782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es-ES" dirty="0"/>
              <a:t>OBJETIVOS</a:t>
            </a:r>
          </a:p>
          <a:p>
            <a:pPr algn="just">
              <a:lnSpc>
                <a:spcPct val="170000"/>
              </a:lnSpc>
              <a:buClr>
                <a:schemeClr val="tx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dirty="0"/>
              <a:t> Formación en control y programación de Robots Colaborativos de la compañía líder en la industria: UNIVERSAL ROBOTS.</a:t>
            </a:r>
          </a:p>
          <a:p>
            <a:pPr algn="just">
              <a:lnSpc>
                <a:spcPct val="170000"/>
              </a:lnSpc>
              <a:buClr>
                <a:schemeClr val="tx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dirty="0"/>
              <a:t> El participante será capaz de programar y operar un robot colaborativo, crear copias de seguridad, verificar el estado del sistema, realizar las calibraciones y ajustes necesarios.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6BABD0-B10D-56F0-1B0C-8D1DC1F1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38" y="2177027"/>
            <a:ext cx="3945019" cy="350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4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4509D1E-6C7C-2548-3B0F-38673633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973" y="802559"/>
            <a:ext cx="5495925" cy="50482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F32B416-3E80-64B6-A835-6FAB3E7DBE93}"/>
              </a:ext>
            </a:extLst>
          </p:cNvPr>
          <p:cNvSpPr txBox="1"/>
          <p:nvPr/>
        </p:nvSpPr>
        <p:spPr>
          <a:xfrm>
            <a:off x="373237" y="2027044"/>
            <a:ext cx="392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accent2">
                    <a:lumMod val="75000"/>
                  </a:schemeClr>
                </a:solidFill>
              </a:rPr>
              <a:t>Descripción y link de </a:t>
            </a:r>
            <a:r>
              <a:rPr lang="es-MX" sz="2000" b="1" i="1" dirty="0" err="1">
                <a:solidFill>
                  <a:schemeClr val="accent2">
                    <a:lumMod val="75000"/>
                  </a:schemeClr>
                </a:solidFill>
              </a:rPr>
              <a:t>datasheet</a:t>
            </a:r>
            <a:endParaRPr lang="es-MX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3AF5CE7-B1CE-5DDC-23D4-7A7D8D1986B8}"/>
              </a:ext>
            </a:extLst>
          </p:cNvPr>
          <p:cNvCxnSpPr>
            <a:cxnSpLocks/>
          </p:cNvCxnSpPr>
          <p:nvPr/>
        </p:nvCxnSpPr>
        <p:spPr>
          <a:xfrm>
            <a:off x="5624104" y="1974146"/>
            <a:ext cx="2056856" cy="505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702DB82E-A395-166A-8E37-AA047C49EF41}"/>
              </a:ext>
            </a:extLst>
          </p:cNvPr>
          <p:cNvSpPr/>
          <p:nvPr/>
        </p:nvSpPr>
        <p:spPr>
          <a:xfrm>
            <a:off x="5515901" y="1857767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2F18972-ED0F-509A-5F75-5C86232677B0}"/>
              </a:ext>
            </a:extLst>
          </p:cNvPr>
          <p:cNvCxnSpPr>
            <a:cxnSpLocks/>
          </p:cNvCxnSpPr>
          <p:nvPr/>
        </p:nvCxnSpPr>
        <p:spPr>
          <a:xfrm>
            <a:off x="5835177" y="3853268"/>
            <a:ext cx="1070448" cy="2455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B20CA847-BDE2-4744-3809-EB4E81923C1A}"/>
              </a:ext>
            </a:extLst>
          </p:cNvPr>
          <p:cNvSpPr/>
          <p:nvPr/>
        </p:nvSpPr>
        <p:spPr>
          <a:xfrm>
            <a:off x="5515901" y="3661188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423141D-4DC3-1E32-2BC3-5E025D8B8F69}"/>
              </a:ext>
            </a:extLst>
          </p:cNvPr>
          <p:cNvSpPr txBox="1"/>
          <p:nvPr/>
        </p:nvSpPr>
        <p:spPr>
          <a:xfrm>
            <a:off x="152021" y="2821533"/>
            <a:ext cx="53097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sz="1600" dirty="0"/>
              <a:t>Robot UR 10. </a:t>
            </a:r>
            <a:r>
              <a:rPr lang="es-MX" sz="1100" dirty="0">
                <a:solidFill>
                  <a:srgbClr val="0070C0"/>
                </a:solidFill>
              </a:rPr>
              <a:t> </a:t>
            </a:r>
            <a:r>
              <a:rPr lang="sv-SE" sz="16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..\Datasheet\robot\ur10e-tech-spec-12.5kg UR.pdf</a:t>
            </a:r>
            <a:endParaRPr lang="es-MX" sz="1600" dirty="0">
              <a:solidFill>
                <a:srgbClr val="0070C0"/>
              </a:solidFill>
            </a:endParaRPr>
          </a:p>
          <a:p>
            <a:pPr marL="342900" indent="-342900">
              <a:buAutoNum type="alphaLcParenR"/>
            </a:pPr>
            <a:r>
              <a:rPr lang="es-MX" sz="1600" dirty="0"/>
              <a:t>Gabinete de control</a:t>
            </a:r>
          </a:p>
          <a:p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Plc</a:t>
            </a:r>
            <a:r>
              <a:rPr lang="es-MX" sz="1600" dirty="0"/>
              <a:t> </a:t>
            </a:r>
            <a:r>
              <a:rPr lang="es-MX" sz="1600" dirty="0" err="1"/>
              <a:t>Keyence</a:t>
            </a:r>
            <a:r>
              <a:rPr lang="es-MX" sz="1600" dirty="0"/>
              <a:t> (7500). 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</a:t>
            </a:r>
            <a:r>
              <a:rPr lang="es-MX" sz="1600" dirty="0" err="1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Datasheet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</a:t>
            </a:r>
            <a:r>
              <a:rPr lang="es-MX" sz="1600" dirty="0" err="1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plc</a:t>
            </a:r>
            <a:r>
              <a:rPr lang="es-MX" sz="1600" dirty="0">
                <a:solidFill>
                  <a:srgbClr val="0070C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\KV-7500_Datasheet.pdf</a:t>
            </a:r>
            <a:endParaRPr lang="es-MX" sz="11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 Controlador de visión</a:t>
            </a:r>
            <a:r>
              <a:rPr lang="pt-BR" sz="1600" dirty="0">
                <a:hlinkClick r:id="rId5" action="ppaction://hlinkfile"/>
              </a:rPr>
              <a:t>..\Datasheet\controlador de </a:t>
            </a:r>
            <a:r>
              <a:rPr lang="pt-BR" sz="1600" dirty="0" err="1">
                <a:hlinkClick r:id="rId5" action="ppaction://hlinkfile"/>
              </a:rPr>
              <a:t>vision</a:t>
            </a:r>
            <a:r>
              <a:rPr lang="pt-BR" sz="1600" dirty="0">
                <a:hlinkClick r:id="rId5" action="ppaction://hlinkfile"/>
              </a:rPr>
              <a:t>\AS_121609_CV-X_IM_16605MX_KMX_MX_2071_3.pdf</a:t>
            </a:r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Unidad de movimiento.</a:t>
            </a:r>
            <a:r>
              <a:rPr lang="es-MX" sz="1600" dirty="0">
                <a:solidFill>
                  <a:srgbClr val="0070C0"/>
                </a:solidFill>
              </a:rPr>
              <a:t> </a:t>
            </a:r>
            <a:r>
              <a:rPr lang="es-MX" sz="16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..\</a:t>
            </a:r>
            <a:r>
              <a:rPr lang="es-MX" sz="1600" dirty="0" err="1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Datasheet</a:t>
            </a:r>
            <a:r>
              <a:rPr lang="es-MX" sz="16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\unidad de movimiento\KV-XH04ML_Datasheet.pdf</a:t>
            </a:r>
            <a:endParaRPr lang="es-MX" sz="16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0CB73A-2E74-F1AD-EBE7-309DCC97380D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4E4B4D-817C-C05D-1FF4-DD7B7B466C7C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</p:spTree>
    <p:extLst>
      <p:ext uri="{BB962C8B-B14F-4D97-AF65-F5344CB8AC3E}">
        <p14:creationId xmlns:p14="http://schemas.microsoft.com/office/powerpoint/2010/main" val="19500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112E01D-EC66-2E7B-B4AA-9BE211722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63" y="1127917"/>
            <a:ext cx="4933950" cy="5029200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A534B80-59B8-901C-60E6-D3DCC4097653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3089367" y="3642517"/>
            <a:ext cx="2717346" cy="790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32C308A-2560-1DAB-DD56-AFF68416EAAF}"/>
              </a:ext>
            </a:extLst>
          </p:cNvPr>
          <p:cNvCxnSpPr>
            <a:cxnSpLocks/>
          </p:cNvCxnSpPr>
          <p:nvPr/>
        </p:nvCxnSpPr>
        <p:spPr>
          <a:xfrm flipH="1">
            <a:off x="4051664" y="2608311"/>
            <a:ext cx="2505890" cy="801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3CB64AC7-9B07-C2DA-A772-AE10BD044CEA}"/>
              </a:ext>
            </a:extLst>
          </p:cNvPr>
          <p:cNvSpPr/>
          <p:nvPr/>
        </p:nvSpPr>
        <p:spPr>
          <a:xfrm>
            <a:off x="6557554" y="2420707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989C9EA-F44A-C07E-4D61-B1ECFA0AB19A}"/>
              </a:ext>
            </a:extLst>
          </p:cNvPr>
          <p:cNvSpPr/>
          <p:nvPr/>
        </p:nvSpPr>
        <p:spPr>
          <a:xfrm>
            <a:off x="5825543" y="3457851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708AF66-99DB-DCDB-E980-D7611750FFC9}"/>
              </a:ext>
            </a:extLst>
          </p:cNvPr>
          <p:cNvSpPr txBox="1"/>
          <p:nvPr/>
        </p:nvSpPr>
        <p:spPr>
          <a:xfrm>
            <a:off x="8118815" y="1574257"/>
            <a:ext cx="392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accent2">
                    <a:lumMod val="75000"/>
                  </a:schemeClr>
                </a:solidFill>
              </a:rPr>
              <a:t>Descripción y link de </a:t>
            </a:r>
            <a:r>
              <a:rPr lang="es-MX" sz="2000" b="1" i="1" dirty="0" err="1">
                <a:solidFill>
                  <a:schemeClr val="accent2">
                    <a:lumMod val="75000"/>
                  </a:schemeClr>
                </a:solidFill>
              </a:rPr>
              <a:t>datasheet</a:t>
            </a:r>
            <a:endParaRPr lang="es-MX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BA4731-0550-CEA3-166F-B47A621E859E}"/>
              </a:ext>
            </a:extLst>
          </p:cNvPr>
          <p:cNvSpPr txBox="1"/>
          <p:nvPr/>
        </p:nvSpPr>
        <p:spPr>
          <a:xfrm>
            <a:off x="7081566" y="2956325"/>
            <a:ext cx="53097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sz="1600" dirty="0"/>
              <a:t>HMI </a:t>
            </a:r>
            <a:r>
              <a:rPr lang="es-MX" sz="1600" dirty="0">
                <a:hlinkClick r:id="rId3" action="ppaction://hlinkfile"/>
              </a:rPr>
              <a:t>..\</a:t>
            </a:r>
            <a:r>
              <a:rPr lang="es-MX" sz="1600" dirty="0" err="1">
                <a:hlinkClick r:id="rId3" action="ppaction://hlinkfile"/>
              </a:rPr>
              <a:t>Datasheet</a:t>
            </a:r>
            <a:r>
              <a:rPr lang="es-MX" sz="1600" dirty="0">
                <a:hlinkClick r:id="rId3" action="ppaction://hlinkfile"/>
              </a:rPr>
              <a:t>\</a:t>
            </a:r>
            <a:r>
              <a:rPr lang="es-MX" sz="1600" dirty="0" err="1">
                <a:hlinkClick r:id="rId3" action="ppaction://hlinkfile"/>
              </a:rPr>
              <a:t>hmi</a:t>
            </a:r>
            <a:r>
              <a:rPr lang="es-MX" sz="1600" dirty="0">
                <a:hlinkClick r:id="rId3" action="ppaction://hlinkfile"/>
              </a:rPr>
              <a:t>\VT5-W10_Datasheet HMI.pdf</a:t>
            </a:r>
            <a:endParaRPr lang="es-MX" sz="1600" dirty="0"/>
          </a:p>
          <a:p>
            <a:pPr marL="342900" indent="-342900">
              <a:buAutoNum type="alphaLcParenR"/>
            </a:pPr>
            <a:r>
              <a:rPr lang="es-MX" sz="1600" dirty="0"/>
              <a:t>Controlador de robot </a:t>
            </a:r>
            <a:r>
              <a:rPr lang="sv-SE" sz="1600" dirty="0">
                <a:hlinkClick r:id="rId4" action="ppaction://hlinkfile"/>
              </a:rPr>
              <a:t>..\Datasheet\robot\ur10e-tech-spec-12.5kg UR.pdf</a:t>
            </a:r>
            <a:endParaRPr lang="sv-SE" sz="1600" dirty="0"/>
          </a:p>
          <a:p>
            <a:endParaRPr lang="sv-SE" sz="1600" dirty="0"/>
          </a:p>
          <a:p>
            <a:r>
              <a:rPr lang="sv-SE" sz="1600" dirty="0"/>
              <a:t>c) Compresor (por definir) </a:t>
            </a:r>
            <a:endParaRPr lang="es-MX" sz="1600" dirty="0"/>
          </a:p>
          <a:p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064B887-A4BB-1896-7E91-6940C737CD29}"/>
              </a:ext>
            </a:extLst>
          </p:cNvPr>
          <p:cNvCxnSpPr>
            <a:cxnSpLocks/>
          </p:cNvCxnSpPr>
          <p:nvPr/>
        </p:nvCxnSpPr>
        <p:spPr>
          <a:xfrm flipV="1">
            <a:off x="853933" y="5295019"/>
            <a:ext cx="2235434" cy="58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4B572B53-CDAB-5C64-3DE9-EC6549581270}"/>
              </a:ext>
            </a:extLst>
          </p:cNvPr>
          <p:cNvSpPr/>
          <p:nvPr/>
        </p:nvSpPr>
        <p:spPr>
          <a:xfrm>
            <a:off x="525242" y="5693852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7E6ACA-9DE1-07D9-B443-DFC7036620F8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8E170E-6996-B9D1-6A7D-79F25CEDDBDE}"/>
              </a:ext>
            </a:extLst>
          </p:cNvPr>
          <p:cNvSpPr txBox="1"/>
          <p:nvPr/>
        </p:nvSpPr>
        <p:spPr>
          <a:xfrm>
            <a:off x="2483439" y="474838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</p:spTree>
    <p:extLst>
      <p:ext uri="{BB962C8B-B14F-4D97-AF65-F5344CB8AC3E}">
        <p14:creationId xmlns:p14="http://schemas.microsoft.com/office/powerpoint/2010/main" val="118200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44897431-3015-4945-B773-A615AC24B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98"/>
          <a:stretch/>
        </p:blipFill>
        <p:spPr>
          <a:xfrm>
            <a:off x="63678" y="1255825"/>
            <a:ext cx="4997766" cy="333385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75C8B8-26D6-DDF6-7FE5-B890E785B901}"/>
              </a:ext>
            </a:extLst>
          </p:cNvPr>
          <p:cNvSpPr txBox="1"/>
          <p:nvPr/>
        </p:nvSpPr>
        <p:spPr>
          <a:xfrm>
            <a:off x="4823186" y="296920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A534B80-59B8-901C-60E6-D3DCC4097653}"/>
              </a:ext>
            </a:extLst>
          </p:cNvPr>
          <p:cNvCxnSpPr>
            <a:cxnSpLocks/>
          </p:cNvCxnSpPr>
          <p:nvPr/>
        </p:nvCxnSpPr>
        <p:spPr>
          <a:xfrm flipH="1">
            <a:off x="2842090" y="1546251"/>
            <a:ext cx="1550484" cy="587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32C308A-2560-1DAB-DD56-AFF68416EAAF}"/>
              </a:ext>
            </a:extLst>
          </p:cNvPr>
          <p:cNvCxnSpPr>
            <a:cxnSpLocks/>
          </p:cNvCxnSpPr>
          <p:nvPr/>
        </p:nvCxnSpPr>
        <p:spPr>
          <a:xfrm flipH="1">
            <a:off x="3678637" y="2784980"/>
            <a:ext cx="1143545" cy="462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3CB64AC7-9B07-C2DA-A772-AE10BD044CEA}"/>
              </a:ext>
            </a:extLst>
          </p:cNvPr>
          <p:cNvSpPr/>
          <p:nvPr/>
        </p:nvSpPr>
        <p:spPr>
          <a:xfrm>
            <a:off x="4822182" y="251985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989C9EA-F44A-C07E-4D61-B1ECFA0AB19A}"/>
              </a:ext>
            </a:extLst>
          </p:cNvPr>
          <p:cNvSpPr/>
          <p:nvPr/>
        </p:nvSpPr>
        <p:spPr>
          <a:xfrm>
            <a:off x="4392574" y="130395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b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0ECD0A7-C452-3CD1-2D5E-8BF8BF82E86D}"/>
              </a:ext>
            </a:extLst>
          </p:cNvPr>
          <p:cNvSpPr/>
          <p:nvPr/>
        </p:nvSpPr>
        <p:spPr>
          <a:xfrm>
            <a:off x="2941484" y="3210425"/>
            <a:ext cx="1713024" cy="80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9E7209B-366C-FDFC-71AE-221F792E29AC}"/>
              </a:ext>
            </a:extLst>
          </p:cNvPr>
          <p:cNvCxnSpPr>
            <a:cxnSpLocks/>
          </p:cNvCxnSpPr>
          <p:nvPr/>
        </p:nvCxnSpPr>
        <p:spPr>
          <a:xfrm flipH="1">
            <a:off x="2124327" y="1194808"/>
            <a:ext cx="1550484" cy="587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FA30FDA1-93D4-D2C9-CE0C-2EEACE8680BB}"/>
              </a:ext>
            </a:extLst>
          </p:cNvPr>
          <p:cNvSpPr/>
          <p:nvPr/>
        </p:nvSpPr>
        <p:spPr>
          <a:xfrm>
            <a:off x="3638358" y="92330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864885-CCBF-D371-AD13-6FDE5715C556}"/>
              </a:ext>
            </a:extLst>
          </p:cNvPr>
          <p:cNvSpPr txBox="1"/>
          <p:nvPr/>
        </p:nvSpPr>
        <p:spPr>
          <a:xfrm>
            <a:off x="210337" y="5238944"/>
            <a:ext cx="3226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s-MX" dirty="0"/>
              <a:t>Dispensador de pieza 1.</a:t>
            </a:r>
          </a:p>
          <a:p>
            <a:pPr marL="342900" indent="-342900">
              <a:buAutoNum type="alphaLcParenR"/>
            </a:pPr>
            <a:r>
              <a:rPr lang="es-MX" dirty="0"/>
              <a:t>Dispensador de pieza 2</a:t>
            </a:r>
          </a:p>
          <a:p>
            <a:pPr marL="342900" indent="-342900">
              <a:buAutoNum type="alphaLcParenR"/>
            </a:pPr>
            <a:r>
              <a:rPr lang="es-MX" dirty="0"/>
              <a:t>Racks de almacenamiento </a:t>
            </a:r>
          </a:p>
          <a:p>
            <a:pPr marL="342900" indent="-342900">
              <a:buAutoNum type="alphaLcParenR"/>
            </a:pPr>
            <a:endParaRPr lang="es-MX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2A9BEEDA-F364-FB09-E9CE-8697E8BB6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200" y="3247076"/>
            <a:ext cx="1739006" cy="2401737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1DA93657-EF66-EF53-CF5F-1EC4867E276B}"/>
              </a:ext>
            </a:extLst>
          </p:cNvPr>
          <p:cNvSpPr txBox="1"/>
          <p:nvPr/>
        </p:nvSpPr>
        <p:spPr>
          <a:xfrm>
            <a:off x="8114039" y="5654443"/>
            <a:ext cx="4077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de inspección (cámara de visión) 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153FCA54-830F-DE23-0C40-B7362D788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033" y="1133091"/>
            <a:ext cx="1739006" cy="2505141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37C0B314-FBB4-F2E6-C3EB-7E48B65B16EF}"/>
              </a:ext>
            </a:extLst>
          </p:cNvPr>
          <p:cNvSpPr txBox="1"/>
          <p:nvPr/>
        </p:nvSpPr>
        <p:spPr>
          <a:xfrm>
            <a:off x="5954170" y="3688259"/>
            <a:ext cx="2521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Estación de inyección de material.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95E66AC7-1C8C-C68D-2AAA-661275A60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591" y="878135"/>
            <a:ext cx="1739006" cy="1590302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DBDE73DA-3FE8-D069-938F-EF9293DB0EB9}"/>
              </a:ext>
            </a:extLst>
          </p:cNvPr>
          <p:cNvSpPr txBox="1"/>
          <p:nvPr/>
        </p:nvSpPr>
        <p:spPr>
          <a:xfrm>
            <a:off x="8437141" y="2421683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Feita</a:t>
            </a:r>
            <a:r>
              <a:rPr lang="es-MX" dirty="0"/>
              <a:t>  dispensador de pegamento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66BDD1C-32B6-6595-0466-3B289E0C3B62}"/>
              </a:ext>
            </a:extLst>
          </p:cNvPr>
          <p:cNvSpPr txBox="1"/>
          <p:nvPr/>
        </p:nvSpPr>
        <p:spPr>
          <a:xfrm>
            <a:off x="3539828" y="4924528"/>
            <a:ext cx="44712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d) </a:t>
            </a:r>
            <a:r>
              <a:rPr lang="pt-BR" dirty="0">
                <a:hlinkClick r:id="rId6" action="ppaction://hlinkfile"/>
              </a:rPr>
              <a:t>..\Datasheet\dispensador de pegamento\Dispensador de pegamento.pdf</a:t>
            </a:r>
            <a:endParaRPr lang="pt-BR" dirty="0"/>
          </a:p>
          <a:p>
            <a:r>
              <a:rPr lang="pt-BR" dirty="0"/>
              <a:t>f) </a:t>
            </a:r>
            <a:r>
              <a:rPr lang="pt-BR" dirty="0">
                <a:hlinkClick r:id="rId7" action="ppaction://hlinkfile"/>
              </a:rPr>
              <a:t>..\Datasheet\</a:t>
            </a:r>
            <a:r>
              <a:rPr lang="pt-BR" dirty="0" err="1">
                <a:hlinkClick r:id="rId7" action="ppaction://hlinkfile"/>
              </a:rPr>
              <a:t>camara</a:t>
            </a:r>
            <a:r>
              <a:rPr lang="pt-BR" dirty="0">
                <a:hlinkClick r:id="rId7" action="ppaction://hlinkfile"/>
              </a:rPr>
              <a:t> de </a:t>
            </a:r>
            <a:r>
              <a:rPr lang="pt-BR" dirty="0" err="1">
                <a:hlinkClick r:id="rId7" action="ppaction://hlinkfile"/>
              </a:rPr>
              <a:t>vision</a:t>
            </a:r>
            <a:r>
              <a:rPr lang="pt-BR" dirty="0">
                <a:hlinkClick r:id="rId7" action="ppaction://hlinkfile"/>
              </a:rPr>
              <a:t>\AS_101053_CA-035C_CA-035M_CA-200C_IM_96M15042_WW_GB_2072_3a.pdf</a:t>
            </a:r>
            <a:endParaRPr lang="es-MX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FA6C61CD-D0EC-2321-B166-F27F4DE8F001}"/>
              </a:ext>
            </a:extLst>
          </p:cNvPr>
          <p:cNvSpPr/>
          <p:nvPr/>
        </p:nvSpPr>
        <p:spPr>
          <a:xfrm>
            <a:off x="10560659" y="2033152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5374B13-D1B9-B7FE-D2A0-2414ACCB31C8}"/>
              </a:ext>
            </a:extLst>
          </p:cNvPr>
          <p:cNvSpPr/>
          <p:nvPr/>
        </p:nvSpPr>
        <p:spPr>
          <a:xfrm>
            <a:off x="6899113" y="2183740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E7257C7-121C-A327-2EF0-E3D8FD11FECB}"/>
              </a:ext>
            </a:extLst>
          </p:cNvPr>
          <p:cNvSpPr/>
          <p:nvPr/>
        </p:nvSpPr>
        <p:spPr>
          <a:xfrm>
            <a:off x="10893206" y="3900115"/>
            <a:ext cx="315875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DC4AC2C-E01E-9A81-2DBB-EEB3434AAC03}"/>
              </a:ext>
            </a:extLst>
          </p:cNvPr>
          <p:cNvSpPr txBox="1"/>
          <p:nvPr/>
        </p:nvSpPr>
        <p:spPr>
          <a:xfrm>
            <a:off x="1992887" y="4562114"/>
            <a:ext cx="392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accent2">
                    <a:lumMod val="75000"/>
                  </a:schemeClr>
                </a:solidFill>
              </a:rPr>
              <a:t>Descripción y link de </a:t>
            </a:r>
            <a:r>
              <a:rPr lang="es-MX" sz="2000" b="1" i="1" dirty="0" err="1">
                <a:solidFill>
                  <a:schemeClr val="accent2">
                    <a:lumMod val="75000"/>
                  </a:schemeClr>
                </a:solidFill>
              </a:rPr>
              <a:t>datasheet</a:t>
            </a:r>
            <a:endParaRPr lang="es-MX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F5AEF5-7958-CF5E-713F-E98391692A4F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1137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675C8B8-26D6-DDF6-7FE5-B890E785B901}"/>
              </a:ext>
            </a:extLst>
          </p:cNvPr>
          <p:cNvSpPr txBox="1"/>
          <p:nvPr/>
        </p:nvSpPr>
        <p:spPr>
          <a:xfrm>
            <a:off x="4823186" y="296920"/>
            <a:ext cx="722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708AF66-99DB-DCDB-E980-D7611750FFC9}"/>
              </a:ext>
            </a:extLst>
          </p:cNvPr>
          <p:cNvSpPr txBox="1"/>
          <p:nvPr/>
        </p:nvSpPr>
        <p:spPr>
          <a:xfrm>
            <a:off x="7429498" y="1281112"/>
            <a:ext cx="3929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i="1" dirty="0">
                <a:solidFill>
                  <a:schemeClr val="accent2">
                    <a:lumMod val="75000"/>
                  </a:schemeClr>
                </a:solidFill>
              </a:rPr>
              <a:t>Descripción y link de </a:t>
            </a:r>
            <a:r>
              <a:rPr lang="es-MX" sz="2000" b="1" i="1" dirty="0" err="1">
                <a:solidFill>
                  <a:schemeClr val="accent2">
                    <a:lumMod val="75000"/>
                  </a:schemeClr>
                </a:solidFill>
              </a:rPr>
              <a:t>datasheet</a:t>
            </a:r>
            <a:endParaRPr lang="es-MX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5E3E51-6BBE-80CE-8AE0-72100B054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04" y="1281112"/>
            <a:ext cx="5600700" cy="4295775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7DBE0339-E61B-AC50-74C8-277FBB582A9A}"/>
              </a:ext>
            </a:extLst>
          </p:cNvPr>
          <p:cNvSpPr/>
          <p:nvPr/>
        </p:nvSpPr>
        <p:spPr>
          <a:xfrm>
            <a:off x="3509554" y="2602524"/>
            <a:ext cx="1808034" cy="154499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C4F1778-660E-8A5F-D145-731E2F56E3F3}"/>
              </a:ext>
            </a:extLst>
          </p:cNvPr>
          <p:cNvCxnSpPr>
            <a:cxnSpLocks/>
          </p:cNvCxnSpPr>
          <p:nvPr/>
        </p:nvCxnSpPr>
        <p:spPr>
          <a:xfrm flipH="1">
            <a:off x="5241974" y="2841674"/>
            <a:ext cx="1524586" cy="533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8E61817-8441-C38E-80D7-D193C62B21AA}"/>
              </a:ext>
            </a:extLst>
          </p:cNvPr>
          <p:cNvSpPr txBox="1"/>
          <p:nvPr/>
        </p:nvSpPr>
        <p:spPr>
          <a:xfrm>
            <a:off x="7157436" y="1940573"/>
            <a:ext cx="4077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a) Mesa indexadora (7mo eje)</a:t>
            </a:r>
            <a:r>
              <a:rPr lang="es-MX" dirty="0">
                <a:hlinkClick r:id="rId3" action="ppaction://hlinkfile"/>
              </a:rPr>
              <a:t>..\</a:t>
            </a:r>
            <a:r>
              <a:rPr lang="es-MX" dirty="0" err="1">
                <a:hlinkClick r:id="rId3" action="ppaction://hlinkfile"/>
              </a:rPr>
              <a:t>Datasheet</a:t>
            </a:r>
            <a:r>
              <a:rPr lang="es-MX" dirty="0">
                <a:hlinkClick r:id="rId3" action="ppaction://hlinkfile"/>
              </a:rPr>
              <a:t>\servomotor (mesa </a:t>
            </a:r>
            <a:r>
              <a:rPr lang="es-MX" dirty="0" err="1">
                <a:hlinkClick r:id="rId3" action="ppaction://hlinkfile"/>
              </a:rPr>
              <a:t>idexadora</a:t>
            </a:r>
            <a:r>
              <a:rPr lang="es-MX" dirty="0">
                <a:hlinkClick r:id="rId3" action="ppaction://hlinkfile"/>
              </a:rPr>
              <a:t> )\SV2-M005AK_Datasheet servo.pdf</a:t>
            </a:r>
            <a:r>
              <a:rPr lang="es-MX" dirty="0"/>
              <a:t> 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A54AF00-49D6-124B-96B1-F9766FCF3C84}"/>
              </a:ext>
            </a:extLst>
          </p:cNvPr>
          <p:cNvSpPr/>
          <p:nvPr/>
        </p:nvSpPr>
        <p:spPr>
          <a:xfrm>
            <a:off x="6766560" y="2602524"/>
            <a:ext cx="319276" cy="36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F6F10D-E805-2373-61AB-ECD6E5C05E55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166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675C8B8-26D6-DDF6-7FE5-B890E785B901}"/>
              </a:ext>
            </a:extLst>
          </p:cNvPr>
          <p:cNvSpPr txBox="1"/>
          <p:nvPr/>
        </p:nvSpPr>
        <p:spPr>
          <a:xfrm>
            <a:off x="3022600" y="208020"/>
            <a:ext cx="8974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i="1" dirty="0">
                <a:solidFill>
                  <a:schemeClr val="accent2">
                    <a:lumMod val="75000"/>
                  </a:schemeClr>
                </a:solidFill>
              </a:rPr>
              <a:t>ESTACIÓN DE AUTOMATIZACIÓN Y MANUFACTURA  INTEGRADA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DFE2F71-D099-5C6D-CD1D-2336D7106B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567"/>
          <a:stretch/>
        </p:blipFill>
        <p:spPr>
          <a:xfrm>
            <a:off x="1100524" y="1127917"/>
            <a:ext cx="1608137" cy="181362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4699D4A-37F7-5846-BBDB-B9269863AEC3}"/>
              </a:ext>
            </a:extLst>
          </p:cNvPr>
          <p:cNvSpPr txBox="1"/>
          <p:nvPr/>
        </p:nvSpPr>
        <p:spPr>
          <a:xfrm>
            <a:off x="365222" y="2979642"/>
            <a:ext cx="3611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Zona de ensamble y inspección de sistema de visión.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3395641-DD1A-6C11-E55C-8DAB493C0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080" y="1003188"/>
            <a:ext cx="1608137" cy="175594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76A92AE-6C94-E99C-891E-2E4264978DB7}"/>
              </a:ext>
            </a:extLst>
          </p:cNvPr>
          <p:cNvSpPr txBox="1"/>
          <p:nvPr/>
        </p:nvSpPr>
        <p:spPr>
          <a:xfrm>
            <a:off x="4290416" y="2941542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Zona de control y manipulación.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4D4B2EBE-EB08-DD6F-FE94-B63AEEC76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237" y="839844"/>
            <a:ext cx="2981325" cy="3838575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8EF0245-3A23-DB09-7714-8337B96BB38E}"/>
              </a:ext>
            </a:extLst>
          </p:cNvPr>
          <p:cNvSpPr txBox="1"/>
          <p:nvPr/>
        </p:nvSpPr>
        <p:spPr>
          <a:xfrm>
            <a:off x="8834322" y="4841071"/>
            <a:ext cx="2575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Alimentadores de piezas.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9EC0A5C-EA33-3A69-D042-AD9AA2763E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86" r="33089" b="27015"/>
          <a:stretch/>
        </p:blipFill>
        <p:spPr>
          <a:xfrm>
            <a:off x="2708661" y="3736171"/>
            <a:ext cx="2619424" cy="220980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6AA3E7D3-5EB8-CEDA-9BA7-FEA9A00B0481}"/>
              </a:ext>
            </a:extLst>
          </p:cNvPr>
          <p:cNvSpPr txBox="1"/>
          <p:nvPr/>
        </p:nvSpPr>
        <p:spPr>
          <a:xfrm>
            <a:off x="2708661" y="5935930"/>
            <a:ext cx="361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Racks para pieza ok y NG.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D8D595-B880-8020-088E-B12AFCAA529C}"/>
              </a:ext>
            </a:extLst>
          </p:cNvPr>
          <p:cNvSpPr/>
          <p:nvPr/>
        </p:nvSpPr>
        <p:spPr>
          <a:xfrm>
            <a:off x="1227222" y="222143"/>
            <a:ext cx="1291390" cy="668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897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4A18184B-8C3A-40CF-A07A-07712418513B}" vid="{9BB95B66-910B-4F93-9C18-210B29E3CA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OBSERVACIONES DE MARCADO</Template>
  <TotalTime>657</TotalTime>
  <Words>493</Words>
  <Application>Microsoft Office PowerPoint</Application>
  <PresentationFormat>Panorámica</PresentationFormat>
  <Paragraphs>57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Reyes</dc:creator>
  <cp:lastModifiedBy>JAIME ANTONIO HUAYTALLA PARIONA</cp:lastModifiedBy>
  <cp:revision>35</cp:revision>
  <dcterms:created xsi:type="dcterms:W3CDTF">2022-09-02T14:19:17Z</dcterms:created>
  <dcterms:modified xsi:type="dcterms:W3CDTF">2025-07-07T18:07:14Z</dcterms:modified>
</cp:coreProperties>
</file>