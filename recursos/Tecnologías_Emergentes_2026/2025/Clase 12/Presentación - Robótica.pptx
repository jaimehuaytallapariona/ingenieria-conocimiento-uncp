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75" r:id="rId5"/>
    <p:sldId id="262" r:id="rId6"/>
    <p:sldId id="266" r:id="rId7"/>
    <p:sldId id="276" r:id="rId8"/>
    <p:sldId id="277" r:id="rId9"/>
    <p:sldId id="278" r:id="rId10"/>
    <p:sldId id="279" r:id="rId11"/>
    <p:sldId id="280" r:id="rId12"/>
    <p:sldId id="281" r:id="rId13"/>
    <p:sldId id="264" r:id="rId14"/>
    <p:sldId id="273" r:id="rId15"/>
    <p:sldId id="260" r:id="rId16"/>
    <p:sldId id="274" r:id="rId17"/>
    <p:sldId id="268" r:id="rId1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8FA3"/>
    <a:srgbClr val="BEF6FC"/>
    <a:srgbClr val="BDDD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7B3CF-D05E-221A-ADD6-4D01FF0EF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4E2833-92B9-0D47-FF5B-325EDE38F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0B7C05-D1AD-4BAA-C056-DAAC4AD95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75B2-6C70-4CF9-BFA3-DB336D480C76}" type="datetimeFigureOut">
              <a:rPr lang="es-PE" smtClean="0"/>
              <a:t>20/12/2024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30DD5C-5C25-680C-5EA0-AA9AFF16D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9FE155-A186-946F-2FA2-37ECD8E9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6231-1051-40D3-B4DE-FDEC5AD485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854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D3498-2740-2F67-2916-37A61374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12846D-7CE8-76CA-BD61-70BBB074C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E68BB1-0907-E99C-ACAC-E7D5A9230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75B2-6C70-4CF9-BFA3-DB336D480C76}" type="datetimeFigureOut">
              <a:rPr lang="es-PE" smtClean="0"/>
              <a:t>20/12/2024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184CF4-D516-CC53-16A5-B7EEF481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324AAA-3732-6A20-CFA9-51F8723A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6231-1051-40D3-B4DE-FDEC5AD485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5931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B41BE-6BAA-CE94-C797-D54B1A65A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554106-C87E-0F41-0059-4EE474A01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53D33D-27DA-0C97-08CC-F8BA19EF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75B2-6C70-4CF9-BFA3-DB336D480C76}" type="datetimeFigureOut">
              <a:rPr lang="es-PE" smtClean="0"/>
              <a:t>20/12/2024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105FDE-37AF-223C-7F74-DB5016A6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C62E0E-B04E-89EA-B734-E5BA82ED0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6231-1051-40D3-B4DE-FDEC5AD485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0213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96EA8-52ED-611F-DA5C-693E23B5B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2323B2-10D3-BFA7-7B16-30A73D53ED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E96010-5149-FE33-C2D9-27F8FF774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8E869F-7792-0909-6345-733D0C0F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75B2-6C70-4CF9-BFA3-DB336D480C76}" type="datetimeFigureOut">
              <a:rPr lang="es-PE" smtClean="0"/>
              <a:t>20/12/2024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AEFEBD-FAAA-E5E6-04E4-4DBAC1E4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6FE304-7EFA-6CF7-C427-6C3BB9DA8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6231-1051-40D3-B4DE-FDEC5AD485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047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C3458-14B2-D281-546E-2015ED3D0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52FE91-C496-BD26-0236-D48499957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F6297D-8356-6056-19C9-F5F6F2E17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BB32E2-96F1-47E2-0B54-04110F41C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2E2A271-02D2-BFC7-DE19-54B44BB517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4FECC6C-9C23-2237-63F7-D7E2FC5D4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75B2-6C70-4CF9-BFA3-DB336D480C76}" type="datetimeFigureOut">
              <a:rPr lang="es-PE" smtClean="0"/>
              <a:t>20/12/2024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A63FD77-3624-E935-B903-2356A5468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122FE52-BD97-0389-951D-E20569790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6231-1051-40D3-B4DE-FDEC5AD485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705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6651F-7D6E-400E-29F4-86A65F74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99FB89-4852-59EE-6536-8ABA84CBF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75B2-6C70-4CF9-BFA3-DB336D480C76}" type="datetimeFigureOut">
              <a:rPr lang="es-PE" smtClean="0"/>
              <a:t>20/12/2024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C3784A3-EA4A-56CE-445D-FDC8C91D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1268EE-D21D-01FB-82A2-A0830D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6231-1051-40D3-B4DE-FDEC5AD485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77335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4160619-FB1A-ECCB-F92E-20739A35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75B2-6C70-4CF9-BFA3-DB336D480C76}" type="datetimeFigureOut">
              <a:rPr lang="es-PE" smtClean="0"/>
              <a:t>20/12/2024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A98870-5DD6-6060-9CED-495A3F55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4CA21A-6A0D-F2F4-84FC-5721F276C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6231-1051-40D3-B4DE-FDEC5AD485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392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AD6DA-E4B5-1B76-89FC-93B21DE6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D09627-3A72-1BAA-F2BA-3F2297F80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50B7DD-2185-CF80-946E-E255B4B74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154C19-F351-9CFE-192A-B715EEC13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75B2-6C70-4CF9-BFA3-DB336D480C76}" type="datetimeFigureOut">
              <a:rPr lang="es-PE" smtClean="0"/>
              <a:t>20/12/2024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BA5E44-C352-2E6C-E919-7C8942B2F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767440-6DA0-B253-4216-1862594C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6231-1051-40D3-B4DE-FDEC5AD485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483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FC335-E820-5047-4C7D-D1682DB2D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3B49AF0-2300-E1E6-E459-30657C71FA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41EF39-20DB-1C15-76E7-D5CD218F2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14D15A-7CD0-55F8-396E-393E871D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75B2-6C70-4CF9-BFA3-DB336D480C76}" type="datetimeFigureOut">
              <a:rPr lang="es-PE" smtClean="0"/>
              <a:t>20/12/2024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6C22C6-1A03-9313-4D66-627148E3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01682C-FE80-968E-DB90-E42E8E55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6231-1051-40D3-B4DE-FDEC5AD485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2837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77EAF-F6F7-E269-D7A9-BF077AC7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B4212D-F221-1D79-8166-A646D7D6D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0B0B1C-131A-3A34-7C3F-35AB394B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75B2-6C70-4CF9-BFA3-DB336D480C76}" type="datetimeFigureOut">
              <a:rPr lang="es-PE" smtClean="0"/>
              <a:t>20/12/2024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E7207B-C0D2-ADB7-4055-6C772D19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974504-8612-7348-965E-248770BF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6231-1051-40D3-B4DE-FDEC5AD485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28287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95FDB1-881D-CD2C-B69D-D2E9AE60C4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1218AB-2C07-F61A-1F4C-39C414572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2F9534-4E9C-DE88-66A9-00E1D698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75B2-6C70-4CF9-BFA3-DB336D480C76}" type="datetimeFigureOut">
              <a:rPr lang="es-PE" smtClean="0"/>
              <a:t>20/12/2024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851FC6-DCDC-501E-76CC-622226B6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1F26EB-2750-DA38-575F-80BCBA727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6231-1051-40D3-B4DE-FDEC5AD485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074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3ACE0A-370A-4D7E-0141-DAF599EFB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A2A26D-0CF0-E905-470C-8F7D8F151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1F0004-67A9-F51A-133B-3CA4E771FD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975B2-6C70-4CF9-BFA3-DB336D480C76}" type="datetimeFigureOut">
              <a:rPr lang="es-PE" smtClean="0"/>
              <a:t>20/12/2024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42F431-AA99-384C-CDBB-BA8353E09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73553B-5869-9126-24B1-8FD7D972C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16231-1051-40D3-B4DE-FDEC5AD485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258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Datasheet/robot/ur10e-tech-spec-12.5kg%20UR.pd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../Datasheet/unidad%20de%20movimiento/KV-XH04ML_Datasheet.pdf" TargetMode="External"/><Relationship Id="rId5" Type="http://schemas.openxmlformats.org/officeDocument/2006/relationships/hyperlink" Target="../Datasheet/controlador%20de%20vision/AS_121609_CV-X_IM_16605MX_KMX_MX_2071_3.pdf" TargetMode="External"/><Relationship Id="rId4" Type="http://schemas.openxmlformats.org/officeDocument/2006/relationships/hyperlink" Target="../Datasheet/plc/KV-7500_Datasheet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../Datasheet/hmi/VT5-W10_Datasheet%20HMI.pdf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../Datasheet/robot/ur10e-tech-spec-12.5kg%20UR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../Datasheet/camara%20de%20vision/AS_101053_CA-035C_CA-035M_CA-200C_IM_96M15042_WW_GB_2072_3a.pdf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../Datasheet/dispensador%20de%20pegamento/Dispensador%20de%20pegamento.pdf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../Datasheet/servomotor%20(mesa%20idexadora%20)/SV2-M005AK_Datasheet%20servo.pdf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6159-6EF8-2CEC-49BD-22A543582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uede ser una imagen de hierba">
            <a:extLst>
              <a:ext uri="{FF2B5EF4-FFF2-40B4-BE49-F238E27FC236}">
                <a16:creationId xmlns:a16="http://schemas.microsoft.com/office/drawing/2014/main" id="{7FD8C55E-E878-849B-7645-E1F1B2941D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99" b="31562"/>
          <a:stretch/>
        </p:blipFill>
        <p:spPr bwMode="auto">
          <a:xfrm>
            <a:off x="0" y="-8"/>
            <a:ext cx="12192000" cy="454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641421C-D898-5B86-8910-FB0A9894055E}"/>
              </a:ext>
            </a:extLst>
          </p:cNvPr>
          <p:cNvSpPr/>
          <p:nvPr/>
        </p:nvSpPr>
        <p:spPr>
          <a:xfrm>
            <a:off x="0" y="4241800"/>
            <a:ext cx="12192000" cy="26162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276F9D-3D43-7621-0AE8-1F34D7BBE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266" y="4484942"/>
            <a:ext cx="8449733" cy="1183922"/>
          </a:xfrm>
        </p:spPr>
        <p:txBody>
          <a:bodyPr>
            <a:noAutofit/>
          </a:bodyPr>
          <a:lstStyle/>
          <a:p>
            <a:r>
              <a:rPr lang="es-PE" sz="4400" b="1" dirty="0">
                <a:solidFill>
                  <a:schemeClr val="bg1"/>
                </a:solidFill>
              </a:rPr>
              <a:t>PROGRAMACIÓN DE ROBOTS COLABORATIVOS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0E9F83-E973-BFAB-91FF-8F859CA83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7132" y="5855865"/>
            <a:ext cx="9144000" cy="815133"/>
          </a:xfrm>
        </p:spPr>
        <p:txBody>
          <a:bodyPr>
            <a:normAutofit/>
          </a:bodyPr>
          <a:lstStyle/>
          <a:p>
            <a:r>
              <a:rPr lang="es-PE" sz="2000" b="1" dirty="0">
                <a:solidFill>
                  <a:schemeClr val="bg1"/>
                </a:solidFill>
              </a:rPr>
              <a:t>Línea de Investigación de Inteligencia Artificial y Automatización</a:t>
            </a:r>
          </a:p>
          <a:p>
            <a:r>
              <a:rPr lang="es-PE" sz="2000" b="1" dirty="0">
                <a:solidFill>
                  <a:schemeClr val="bg1"/>
                </a:solidFill>
              </a:rPr>
              <a:t>Universidad Nacional del Centro del Perú, Facultad de Ingeniería de Sistemas</a:t>
            </a:r>
          </a:p>
        </p:txBody>
      </p:sp>
      <p:pic>
        <p:nvPicPr>
          <p:cNvPr id="2052" name="Picture 4" descr="home - Sistemas Uncp">
            <a:extLst>
              <a:ext uri="{FF2B5EF4-FFF2-40B4-BE49-F238E27FC236}">
                <a16:creationId xmlns:a16="http://schemas.microsoft.com/office/drawing/2014/main" id="{831952AB-D2B0-C69F-3260-B7EF55F1F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9538" y="4393052"/>
            <a:ext cx="846431" cy="84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Universidad Nacional del Centro del Perú - Wikipedia, la enciclopedia libre">
            <a:extLst>
              <a:ext uri="{FF2B5EF4-FFF2-40B4-BE49-F238E27FC236}">
                <a16:creationId xmlns:a16="http://schemas.microsoft.com/office/drawing/2014/main" id="{AF0E7F79-EA15-5602-F49C-8545BECCB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46" y="4391116"/>
            <a:ext cx="1169311" cy="9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44EB88C-6BAF-4475-DEC7-96D87E8BE41A}"/>
              </a:ext>
            </a:extLst>
          </p:cNvPr>
          <p:cNvCxnSpPr/>
          <p:nvPr/>
        </p:nvCxnSpPr>
        <p:spPr>
          <a:xfrm>
            <a:off x="0" y="4275669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465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C57AC00-3DD3-2081-6C26-3C72E6E0165A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E51885-9017-2AA2-0A7F-AB9DE97D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DESCRIPCIÓN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A14B4DD-3598-B1BF-150C-2EF2F05753F7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4A1F6734-05CB-CFC1-F94F-2676D500657A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8705346-541E-ECC1-4697-5C480B3F2926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F78F7D60-85E4-84E8-362A-819AFC617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1" y="1749425"/>
            <a:ext cx="5452533" cy="4351338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s-ES" sz="1600" dirty="0"/>
              <a:t>La robótica colaborativa es una rama de la automatización que busca mejorar los estándares de productividad de la industria; el conocimiento y manejo de programación y operación de robots es un requisito indispensable para acceder al mundo laboral actual.</a:t>
            </a:r>
          </a:p>
          <a:p>
            <a:pPr algn="just">
              <a:lnSpc>
                <a:spcPct val="170000"/>
              </a:lnSpc>
            </a:pPr>
            <a:r>
              <a:rPr lang="es-ES" sz="1600" dirty="0"/>
              <a:t>El desarrollo del curso permitirá formar conceptos de programación, estructuras del sistema de robots y unidades prácticas para la puesta en servicio de robots colaborativos.</a:t>
            </a:r>
            <a:endParaRPr lang="es-PE" sz="1600" dirty="0"/>
          </a:p>
        </p:txBody>
      </p:sp>
      <p:pic>
        <p:nvPicPr>
          <p:cNvPr id="3074" name="Picture 2" descr="Robot replacing print beds : r/3Dprinting">
            <a:extLst>
              <a:ext uri="{FF2B5EF4-FFF2-40B4-BE49-F238E27FC236}">
                <a16:creationId xmlns:a16="http://schemas.microsoft.com/office/drawing/2014/main" id="{3A862819-6871-48BF-5766-24BBEEAA2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733" y="1875896"/>
            <a:ext cx="5762978" cy="324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896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E3ECA-8915-3F2D-038B-086831C82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A1E67C-C03E-98E6-F05B-2D7C448AB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400" y="1473728"/>
            <a:ext cx="5689600" cy="4351338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s-ES" dirty="0"/>
              <a:t>Formación en control y programación de Robots Colaborativos de la compañía líder en la industria: UNIVERSAL ROBOTS.</a:t>
            </a:r>
          </a:p>
          <a:p>
            <a:pPr algn="just">
              <a:lnSpc>
                <a:spcPct val="170000"/>
              </a:lnSpc>
            </a:pPr>
            <a:r>
              <a:rPr lang="es-ES" dirty="0"/>
              <a:t>Al finalizar el curso el participante será capaz de programar y operar un robot colaborativo, crear copias de seguridad, verificar el estado del sistema, realizar las calibraciones y ajustes necesarios.</a:t>
            </a:r>
            <a:endParaRPr lang="es-PE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80ACC2F-5885-7DC8-2F3C-7044D9452C83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8DB423-4E25-AC43-D2F9-1A1C99C8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EXPECTATIVAS Y OBJETIVOS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8A6CA64-83F5-ECAB-6422-EB80BDD1B7D1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03B3491B-BFAE-6A3D-C060-7EF3F229169C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674ABF4-4657-1ABA-B86F-2C3E41D4618F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A1253E85-E8B0-2087-FC41-665B10E23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22" y="1473728"/>
            <a:ext cx="4777677" cy="424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6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B9568-80C0-E43A-0CE6-29D8ABDD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C505D9-19C5-E4AD-3F16-890870E4A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6" y="1446212"/>
            <a:ext cx="5579534" cy="435133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s-ES" sz="2400" b="1" dirty="0"/>
              <a:t>Objetivos Generales</a:t>
            </a:r>
          </a:p>
          <a:p>
            <a:pPr lvl="1" algn="just">
              <a:lnSpc>
                <a:spcPct val="170000"/>
              </a:lnSpc>
            </a:pPr>
            <a:r>
              <a:rPr lang="es-ES" sz="2000" dirty="0"/>
              <a:t>Operar eficientemente un robot colaborativo.</a:t>
            </a:r>
          </a:p>
          <a:p>
            <a:pPr lvl="1" algn="just">
              <a:lnSpc>
                <a:spcPct val="170000"/>
              </a:lnSpc>
            </a:pPr>
            <a:r>
              <a:rPr lang="es-ES" sz="2000" dirty="0"/>
              <a:t>Análisis y diagnóstico del funcionamiento de brazos robot.</a:t>
            </a:r>
          </a:p>
          <a:p>
            <a:pPr lvl="1" algn="just">
              <a:lnSpc>
                <a:spcPct val="170000"/>
              </a:lnSpc>
            </a:pPr>
            <a:r>
              <a:rPr lang="es-ES" sz="2000" dirty="0"/>
              <a:t>Generar cambios en aplicaciones existentes.</a:t>
            </a:r>
          </a:p>
          <a:p>
            <a:pPr lvl="1" algn="just">
              <a:lnSpc>
                <a:spcPct val="170000"/>
              </a:lnSpc>
            </a:pPr>
            <a:r>
              <a:rPr lang="es-ES" sz="2000" dirty="0"/>
              <a:t>Mayor autonomía en manejo de celdas robotizadas.</a:t>
            </a:r>
          </a:p>
          <a:p>
            <a:pPr lvl="1" algn="just">
              <a:lnSpc>
                <a:spcPct val="170000"/>
              </a:lnSpc>
            </a:pPr>
            <a:r>
              <a:rPr lang="es-PE" sz="2000" dirty="0"/>
              <a:t>Implementar módulos de visión computacional en la robótica colaborativa.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1B5D219-BF12-2199-6CBC-512FCB4868D9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CEA794-B285-80A8-8B21-03A4F5E22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EXPECTATIVAS Y OBJETIVOS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7CC80C7-EC7D-427F-56D1-6C35489802CA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EE3E0716-36A3-54E2-F614-6EDD3B083FBE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51D8E9F-686C-E4EB-194A-F76912EDE58A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Randomization in Simulation – UR10 Palletizing — Omniverse IsaacSim">
            <a:extLst>
              <a:ext uri="{FF2B5EF4-FFF2-40B4-BE49-F238E27FC236}">
                <a16:creationId xmlns:a16="http://schemas.microsoft.com/office/drawing/2014/main" id="{09CDC41F-B707-596B-077F-7001BA518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368" y="2013214"/>
            <a:ext cx="5710766" cy="321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206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F0118-5C99-E7AE-2FED-8F150A4EC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61C708-E303-C70D-1F6D-0AB3D2AFF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4" y="1446212"/>
            <a:ext cx="5418667" cy="4351338"/>
          </a:xfrm>
        </p:spPr>
        <p:txBody>
          <a:bodyPr/>
          <a:lstStyle/>
          <a:p>
            <a:pPr algn="just"/>
            <a:r>
              <a:rPr lang="es-ES" dirty="0"/>
              <a:t>Estudiantes de últimos ciclos, profesionales técnicos, ingenieros cuya formación o desempeño laboral esté relacionado con el campo de los procesos industriales, la mecánica de producción, electrónica, mecatrónica, electricidad industrial, etc. interesados en el manejo de robots colaborativos.</a:t>
            </a:r>
            <a:endParaRPr lang="es-PE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E762BB7-099E-D9AD-130E-926641F10B68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7AFDDB-4BC6-A403-829C-A1E15E57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PÚBLICO OBJETIVO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871275C-D2EC-B324-FF53-1619014B38BC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03EDFDFA-4529-974E-FF05-489550640E0A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657ACC6-481E-D576-E5B5-66A36907655E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B3F26204-54AA-895F-ED21-94FBC8095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14167" t="12346" r="27292"/>
          <a:stretch/>
        </p:blipFill>
        <p:spPr>
          <a:xfrm>
            <a:off x="6434666" y="1446212"/>
            <a:ext cx="5418667" cy="413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62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EE602-4F89-6B0D-AB7E-24AF5EFAA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325A1A-6958-3E37-4101-D64985108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250949"/>
            <a:ext cx="5621866" cy="4743451"/>
          </a:xfrm>
          <a:ln w="38100">
            <a:solidFill>
              <a:srgbClr val="708FA3"/>
            </a:solidFill>
          </a:ln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s-PE" sz="11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Módulo 1: Introducción a la técnica de la robótica colaborativa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1.1: Introducción a la robótica colaborativa.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1.2: Aplicaciones de la robótica colaborativa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1.3: Introducción a la mecánica de los robots colaborativos.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1.4: Introducción a la unidad de control del robot colaborativo UR10e.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s-PE" sz="11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Módulo 2: Manejo del robot con la consola </a:t>
            </a:r>
            <a:r>
              <a:rPr lang="es-PE" sz="1100" b="1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Polyscope</a:t>
            </a:r>
            <a:r>
              <a:rPr lang="es-PE" sz="11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y trabajo con el navegador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2.1: Aspectos básicos de la consola UR </a:t>
            </a:r>
            <a:r>
              <a:rPr lang="es-P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Polyscope</a:t>
            </a:r>
            <a:endParaRPr lang="es-P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2.2: Programación de robots colaborativos y conceptos de seguridad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2.3: Uso del navegador para crear y editar módulos de programa.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2.4: Archivar y restaurar programas de robot.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2.5: Selección e inicio de programas.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2.6: Interpretación de mensajes de la unidad de control.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9339E7A-B51F-F247-5061-AC14D578419F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92B6C5-1F69-B99B-19CB-5788B4C7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PROGRAMA – NIVEL I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3FD8CE1-E2D7-6CBE-992C-CFA4B0A4D164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D6176663-AA3C-EF0D-DF48-8220F812DDF6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7580F6A-0D6D-8507-4477-56B68AB46162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D4BE328-23DC-BC1F-8AEB-D411C5C71283}"/>
              </a:ext>
            </a:extLst>
          </p:cNvPr>
          <p:cNvSpPr txBox="1">
            <a:spLocks/>
          </p:cNvSpPr>
          <p:nvPr/>
        </p:nvSpPr>
        <p:spPr>
          <a:xfrm>
            <a:off x="6587067" y="1254656"/>
            <a:ext cx="5164666" cy="4736038"/>
          </a:xfrm>
          <a:prstGeom prst="rect">
            <a:avLst/>
          </a:prstGeom>
          <a:ln w="38100">
            <a:solidFill>
              <a:srgbClr val="708FA3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s-PE" sz="11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Módulo 3: Ajuste de datos del robot, Sistemas de coordenadas y movimientos</a:t>
            </a:r>
            <a:r>
              <a:rPr lang="es-P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Tema 3.1: Movimiento de ejes del robot de manera individual.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Tema 3.2: Uso de sistemas de coordenadas en relación con los robots.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Tema 3.3: Movimientos del robot en el sistema de coordenadas universales.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Tema 3.4: Principios de ajuste y cargas sobre el robot.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s-PE" sz="11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Módulo 4: Movimientos del robot en los diferentes sistemas de coordenadas.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Tema 4.1: Práctica de movimientos en diferentes sistemas de coordenadas.</a:t>
            </a:r>
          </a:p>
          <a:p>
            <a:pPr marL="899160" algn="just">
              <a:lnSpc>
                <a:spcPct val="150000"/>
              </a:lnSpc>
            </a:pPr>
            <a:r>
              <a:rPr lang="es-P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Tema 4.2: Verificación y ajuste de los datos del robot</a:t>
            </a:r>
          </a:p>
          <a:p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43355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2D473-AB80-E95D-CDBB-676CBF4A3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FC67E8-907F-7984-E0D8-817D87B92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4" y="1250949"/>
            <a:ext cx="5621866" cy="4743451"/>
          </a:xfrm>
          <a:ln w="38100">
            <a:solidFill>
              <a:srgbClr val="708FA3"/>
            </a:solidFill>
          </a:ln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s-PE" sz="13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Módulo 5: Movimiento de punto a punto y trayectorias.</a:t>
            </a:r>
          </a:p>
          <a:p>
            <a:pPr marL="89916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5.1: Creación de nuevas instrucciones de movimiento.</a:t>
            </a:r>
          </a:p>
          <a:p>
            <a:pPr marL="89916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5.2: Optimización de tiempo de ciclo en movimientos.</a:t>
            </a:r>
          </a:p>
          <a:p>
            <a:pPr marL="89916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5.3: Modificación de instrucciones de movimiento.</a:t>
            </a:r>
          </a:p>
          <a:p>
            <a:pPr marL="89916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5.4: Creación de trayectorias de movimiento.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s-PE" sz="13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Módulo 6: Funciones lógicas y programación trigger.</a:t>
            </a:r>
          </a:p>
          <a:p>
            <a:pPr marL="457200" indent="17907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6.1: Introducción a la programación lógica.</a:t>
            </a:r>
          </a:p>
          <a:p>
            <a:pPr marL="457200" indent="17907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6.2: Programación de funciones de espera y conmutación simples.</a:t>
            </a:r>
          </a:p>
          <a:p>
            <a:pPr marL="457200" indent="17907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6.3: Programación de Trigger Spline.</a:t>
            </a:r>
          </a:p>
          <a:p>
            <a:pPr marL="457200" algn="just">
              <a:lnSpc>
                <a:spcPct val="150000"/>
              </a:lnSpc>
            </a:pPr>
            <a:endParaRPr lang="es-PE" sz="13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B83AEDA-54E8-C03D-3066-B510314C1996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C0853B-30CA-30DD-0E0E-2659F8CDB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PROGRAMA – NIVEL II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05CBB55-4749-D5D7-7AA6-CAE758379D3A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C48731D6-55EA-A5FD-C4D8-EB310C589E92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26F766D-9B54-9792-5F37-29D277A3FFEE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A33F1AB-482A-DD81-A164-AEA0A42ABE7E}"/>
              </a:ext>
            </a:extLst>
          </p:cNvPr>
          <p:cNvSpPr txBox="1">
            <a:spLocks/>
          </p:cNvSpPr>
          <p:nvPr/>
        </p:nvSpPr>
        <p:spPr>
          <a:xfrm>
            <a:off x="6451600" y="1254655"/>
            <a:ext cx="5283200" cy="4736038"/>
          </a:xfrm>
          <a:prstGeom prst="rect">
            <a:avLst/>
          </a:prstGeom>
          <a:ln w="38100">
            <a:solidFill>
              <a:srgbClr val="708FA3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s-PE" sz="13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Módulo 7: Crear movimientos, Lógica y funciones de conmutación</a:t>
            </a:r>
          </a:p>
          <a:p>
            <a:pPr marL="457200" indent="17907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7.1: Práctica de creación de movimientos de punto a punto y trayectorias.</a:t>
            </a:r>
          </a:p>
          <a:p>
            <a:pPr marL="457200" indent="17907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7.2: Uso de funciones de conmutación en programación.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s-PE" sz="13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Módulo 8: Trabajar con bloques Spline.</a:t>
            </a:r>
          </a:p>
          <a:p>
            <a:pPr marL="457200" indent="17907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8.1: Introducción al trabajo con bloques SPLINE.</a:t>
            </a:r>
          </a:p>
          <a:p>
            <a:pPr marL="457200" indent="17907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8.2: Configuración de perfil de velocidad para movimientos SPLINE.</a:t>
            </a:r>
          </a:p>
          <a:p>
            <a:pPr marL="457200" indent="17907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8.3: Modificación de bloques SPLINE.</a:t>
            </a:r>
          </a:p>
          <a:p>
            <a:pPr marL="457200" indent="179070" algn="just">
              <a:lnSpc>
                <a:spcPct val="150000"/>
              </a:lnSpc>
            </a:pPr>
            <a:r>
              <a:rPr lang="es-PE" sz="13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Tema 8.4: Práctica de creación y programación de bloques SPLINE.</a:t>
            </a:r>
          </a:p>
        </p:txBody>
      </p:sp>
    </p:spTree>
    <p:extLst>
      <p:ext uri="{BB962C8B-B14F-4D97-AF65-F5344CB8AC3E}">
        <p14:creationId xmlns:p14="http://schemas.microsoft.com/office/powerpoint/2010/main" val="60791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8C31F-FAFE-DF7B-3AC4-F85F9EB6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D96D6E5-36EB-F606-1E26-5B0F28F54507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A1F44E-2395-71D2-8A14-C16CCBACF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MÓDULOS Y RECURSOS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C49D079-FC46-F1F9-1E75-1C6C91209CE7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9ACA9A0E-3B9E-C7E1-9CA1-99EE804ECDB8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BA3A4E2-E30C-AEF9-7A0E-96FD89F97550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8BA7B4EB-74F7-79E6-0616-308A30661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886" y="1109133"/>
            <a:ext cx="5495925" cy="5048250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CCAC2DB0-E098-E406-A056-5B3F29CC067E}"/>
              </a:ext>
            </a:extLst>
          </p:cNvPr>
          <p:cNvCxnSpPr>
            <a:cxnSpLocks/>
          </p:cNvCxnSpPr>
          <p:nvPr/>
        </p:nvCxnSpPr>
        <p:spPr>
          <a:xfrm>
            <a:off x="5997017" y="2280720"/>
            <a:ext cx="2056856" cy="505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85DF07A9-3CB8-4FFF-93D2-FE29017EAAC7}"/>
              </a:ext>
            </a:extLst>
          </p:cNvPr>
          <p:cNvSpPr/>
          <p:nvPr/>
        </p:nvSpPr>
        <p:spPr>
          <a:xfrm>
            <a:off x="5888814" y="2164341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F9F7F75-F625-3CBE-84A4-A20D411C210B}"/>
              </a:ext>
            </a:extLst>
          </p:cNvPr>
          <p:cNvCxnSpPr>
            <a:cxnSpLocks/>
          </p:cNvCxnSpPr>
          <p:nvPr/>
        </p:nvCxnSpPr>
        <p:spPr>
          <a:xfrm>
            <a:off x="6208090" y="4159842"/>
            <a:ext cx="1070448" cy="2455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65908E48-B675-D998-FA46-23AD806301C2}"/>
              </a:ext>
            </a:extLst>
          </p:cNvPr>
          <p:cNvSpPr/>
          <p:nvPr/>
        </p:nvSpPr>
        <p:spPr>
          <a:xfrm>
            <a:off x="5888814" y="3967762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4CE278C-2A07-3342-5A0D-3674620FEF28}"/>
              </a:ext>
            </a:extLst>
          </p:cNvPr>
          <p:cNvSpPr txBox="1"/>
          <p:nvPr/>
        </p:nvSpPr>
        <p:spPr>
          <a:xfrm>
            <a:off x="402060" y="2210040"/>
            <a:ext cx="530977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s-MX" sz="1600" dirty="0"/>
              <a:t>Robot UR 10. </a:t>
            </a:r>
            <a:r>
              <a:rPr lang="es-MX" sz="1100" dirty="0">
                <a:solidFill>
                  <a:srgbClr val="0070C0"/>
                </a:solidFill>
              </a:rPr>
              <a:t> </a:t>
            </a:r>
            <a:r>
              <a:rPr lang="sv-SE" sz="160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..\Datasheet\robot\ur10e-tech-spec-12.5kg UR.pdf</a:t>
            </a:r>
            <a:endParaRPr lang="es-MX" sz="1600" dirty="0">
              <a:solidFill>
                <a:srgbClr val="0070C0"/>
              </a:solidFill>
            </a:endParaRPr>
          </a:p>
          <a:p>
            <a:pPr marL="342900" indent="-342900">
              <a:buAutoNum type="alphaLcParenR"/>
            </a:pPr>
            <a:r>
              <a:rPr lang="es-MX" sz="1600" dirty="0"/>
              <a:t>Gabinete de control</a:t>
            </a:r>
          </a:p>
          <a:p>
            <a:endParaRPr lang="es-MX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/>
              <a:t>Plc</a:t>
            </a:r>
            <a:r>
              <a:rPr lang="es-MX" sz="1600" dirty="0"/>
              <a:t> </a:t>
            </a:r>
            <a:r>
              <a:rPr lang="es-MX" sz="1600" dirty="0" err="1"/>
              <a:t>Keyence</a:t>
            </a:r>
            <a:r>
              <a:rPr lang="es-MX" sz="1600" dirty="0"/>
              <a:t> (7500). </a:t>
            </a:r>
            <a:r>
              <a:rPr lang="es-MX" sz="1600" dirty="0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..\</a:t>
            </a:r>
            <a:r>
              <a:rPr lang="es-MX" sz="1600" dirty="0" err="1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Datasheet</a:t>
            </a:r>
            <a:r>
              <a:rPr lang="es-MX" sz="1600" dirty="0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\</a:t>
            </a:r>
            <a:r>
              <a:rPr lang="es-MX" sz="1600" dirty="0" err="1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plc</a:t>
            </a:r>
            <a:r>
              <a:rPr lang="es-MX" sz="1600" dirty="0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\KV-7500_Datasheet.pdf</a:t>
            </a:r>
            <a:endParaRPr lang="es-MX" sz="11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 Controlador de visión</a:t>
            </a:r>
            <a:r>
              <a:rPr lang="pt-BR" sz="1600" dirty="0">
                <a:hlinkClick r:id="rId5" action="ppaction://hlinkfile"/>
              </a:rPr>
              <a:t>..\Datasheet\controlador de </a:t>
            </a:r>
            <a:r>
              <a:rPr lang="pt-BR" sz="1600" dirty="0" err="1">
                <a:hlinkClick r:id="rId5" action="ppaction://hlinkfile"/>
              </a:rPr>
              <a:t>vision</a:t>
            </a:r>
            <a:r>
              <a:rPr lang="pt-BR" sz="1600" dirty="0">
                <a:hlinkClick r:id="rId5" action="ppaction://hlinkfile"/>
              </a:rPr>
              <a:t>\AS_121609_CV-X_IM_16605MX_KMX_MX_2071_3.pdf</a:t>
            </a:r>
            <a:endParaRPr lang="es-MX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Unidad de movimiento.</a:t>
            </a:r>
            <a:r>
              <a:rPr lang="es-MX" sz="1600" dirty="0">
                <a:solidFill>
                  <a:srgbClr val="0070C0"/>
                </a:solidFill>
              </a:rPr>
              <a:t> </a:t>
            </a:r>
            <a:r>
              <a:rPr lang="es-MX" sz="1600" dirty="0">
                <a:solidFill>
                  <a:srgbClr val="0070C0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..\</a:t>
            </a:r>
            <a:r>
              <a:rPr lang="es-MX" sz="1600" dirty="0" err="1">
                <a:solidFill>
                  <a:srgbClr val="0070C0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Datasheet</a:t>
            </a:r>
            <a:r>
              <a:rPr lang="es-MX" sz="1600" dirty="0">
                <a:solidFill>
                  <a:srgbClr val="0070C0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\unidad de movimiento\KV-XH04ML_Datasheet.pdf</a:t>
            </a:r>
            <a:endParaRPr lang="es-MX" sz="16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2263001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AF928-6535-35AD-715B-FDE2AD447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9B98A99-6DA4-865E-E097-7685A00F167A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C9CAFA-ECAF-6116-BABF-5E44513F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MÓDULOS Y RECURSOS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BDBB372-71D6-92BB-C7BB-2A2E1B5922D1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24142192-D863-A8DC-7239-4794FB3951AC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8DFA5BB-8E63-F2F7-4844-FDAAE7970FB8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3E4A465-639B-B2B3-B6F4-697C38DD0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63" y="1127917"/>
            <a:ext cx="4933950" cy="5029200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2566BED-28B5-93D3-DFEC-E888C9E9D0C9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3089367" y="3642517"/>
            <a:ext cx="2717346" cy="7904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1F9704D-E7CB-8D4B-E704-833C04A534E2}"/>
              </a:ext>
            </a:extLst>
          </p:cNvPr>
          <p:cNvCxnSpPr>
            <a:cxnSpLocks/>
          </p:cNvCxnSpPr>
          <p:nvPr/>
        </p:nvCxnSpPr>
        <p:spPr>
          <a:xfrm flipH="1">
            <a:off x="4051664" y="2608311"/>
            <a:ext cx="2505890" cy="801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7BBC7E33-9AE0-E6A2-1626-1210D89A7320}"/>
              </a:ext>
            </a:extLst>
          </p:cNvPr>
          <p:cNvSpPr/>
          <p:nvPr/>
        </p:nvSpPr>
        <p:spPr>
          <a:xfrm>
            <a:off x="6557554" y="2420707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0E789ED-97AE-08FF-F077-0163438BC91E}"/>
              </a:ext>
            </a:extLst>
          </p:cNvPr>
          <p:cNvSpPr/>
          <p:nvPr/>
        </p:nvSpPr>
        <p:spPr>
          <a:xfrm>
            <a:off x="5825543" y="3457851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b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122FD32-DB5C-E179-2E51-357C205F2A39}"/>
              </a:ext>
            </a:extLst>
          </p:cNvPr>
          <p:cNvSpPr txBox="1"/>
          <p:nvPr/>
        </p:nvSpPr>
        <p:spPr>
          <a:xfrm>
            <a:off x="7081566" y="2956325"/>
            <a:ext cx="53097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s-MX" sz="1600" dirty="0"/>
              <a:t>HMI </a:t>
            </a:r>
            <a:r>
              <a:rPr lang="es-MX" sz="1600" dirty="0">
                <a:hlinkClick r:id="rId3" action="ppaction://hlinkfile"/>
              </a:rPr>
              <a:t>..\</a:t>
            </a:r>
            <a:r>
              <a:rPr lang="es-MX" sz="1600" dirty="0" err="1">
                <a:hlinkClick r:id="rId3" action="ppaction://hlinkfile"/>
              </a:rPr>
              <a:t>Datasheet</a:t>
            </a:r>
            <a:r>
              <a:rPr lang="es-MX" sz="1600" dirty="0">
                <a:hlinkClick r:id="rId3" action="ppaction://hlinkfile"/>
              </a:rPr>
              <a:t>\</a:t>
            </a:r>
            <a:r>
              <a:rPr lang="es-MX" sz="1600" dirty="0" err="1">
                <a:hlinkClick r:id="rId3" action="ppaction://hlinkfile"/>
              </a:rPr>
              <a:t>hmi</a:t>
            </a:r>
            <a:r>
              <a:rPr lang="es-MX" sz="1600" dirty="0">
                <a:hlinkClick r:id="rId3" action="ppaction://hlinkfile"/>
              </a:rPr>
              <a:t>\VT5-W10_Datasheet HMI.pdf</a:t>
            </a:r>
            <a:endParaRPr lang="es-MX" sz="1600" dirty="0"/>
          </a:p>
          <a:p>
            <a:pPr marL="342900" indent="-342900">
              <a:buAutoNum type="alphaLcParenR"/>
            </a:pPr>
            <a:r>
              <a:rPr lang="es-MX" sz="1600" dirty="0"/>
              <a:t>Controlador de robot </a:t>
            </a:r>
            <a:r>
              <a:rPr lang="sv-SE" sz="1600" dirty="0">
                <a:hlinkClick r:id="rId4" action="ppaction://hlinkfile"/>
              </a:rPr>
              <a:t>..\Datasheet\robot\ur10e-tech-spec-12.5kg UR.pdf</a:t>
            </a:r>
            <a:endParaRPr lang="sv-SE" sz="1600" dirty="0"/>
          </a:p>
          <a:p>
            <a:endParaRPr lang="sv-SE" sz="1600" dirty="0"/>
          </a:p>
          <a:p>
            <a:r>
              <a:rPr lang="sv-SE" sz="1600" dirty="0"/>
              <a:t>c) Compresor (por definir) </a:t>
            </a:r>
            <a:endParaRPr lang="es-MX" sz="1600" dirty="0"/>
          </a:p>
          <a:p>
            <a:endParaRPr lang="es-MX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1600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6A492ED-24E6-B6B2-3687-774E33E9B330}"/>
              </a:ext>
            </a:extLst>
          </p:cNvPr>
          <p:cNvCxnSpPr>
            <a:cxnSpLocks/>
          </p:cNvCxnSpPr>
          <p:nvPr/>
        </p:nvCxnSpPr>
        <p:spPr>
          <a:xfrm flipV="1">
            <a:off x="853933" y="5295019"/>
            <a:ext cx="2235434" cy="583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Elipse 19">
            <a:extLst>
              <a:ext uri="{FF2B5EF4-FFF2-40B4-BE49-F238E27FC236}">
                <a16:creationId xmlns:a16="http://schemas.microsoft.com/office/drawing/2014/main" id="{96298126-D9A9-0C56-E3F4-B9BCE6F31395}"/>
              </a:ext>
            </a:extLst>
          </p:cNvPr>
          <p:cNvSpPr/>
          <p:nvPr/>
        </p:nvSpPr>
        <p:spPr>
          <a:xfrm>
            <a:off x="525242" y="5693852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62680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F80B-11AA-77A5-CE78-F9B41E51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098A4AA-E4F5-82AC-F252-900B727317B9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C1BBF7-CA7F-465B-8550-F355F5FF8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MÓDULOS Y RECURSOS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EFC3905-7F62-6975-E21F-B61978CCE288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899B873-F6E8-BBD3-66C5-E2FB4BC3FD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98"/>
          <a:stretch/>
        </p:blipFill>
        <p:spPr>
          <a:xfrm>
            <a:off x="63678" y="1255825"/>
            <a:ext cx="4997766" cy="3333851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AA46E5F-98A6-E869-1665-CA7E3A605FEF}"/>
              </a:ext>
            </a:extLst>
          </p:cNvPr>
          <p:cNvCxnSpPr>
            <a:cxnSpLocks/>
          </p:cNvCxnSpPr>
          <p:nvPr/>
        </p:nvCxnSpPr>
        <p:spPr>
          <a:xfrm flipH="1">
            <a:off x="2842090" y="1546251"/>
            <a:ext cx="1550484" cy="5876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1CF3C5B0-70B2-912B-4999-AA5FB9D13594}"/>
              </a:ext>
            </a:extLst>
          </p:cNvPr>
          <p:cNvCxnSpPr>
            <a:cxnSpLocks/>
          </p:cNvCxnSpPr>
          <p:nvPr/>
        </p:nvCxnSpPr>
        <p:spPr>
          <a:xfrm flipH="1">
            <a:off x="3678637" y="2784980"/>
            <a:ext cx="1143545" cy="4620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7E6E829D-5EF1-5E03-4ADC-A4B689B2A038}"/>
              </a:ext>
            </a:extLst>
          </p:cNvPr>
          <p:cNvSpPr/>
          <p:nvPr/>
        </p:nvSpPr>
        <p:spPr>
          <a:xfrm>
            <a:off x="4822182" y="2519854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478C7CA-CD60-E34A-5B43-A3D024983613}"/>
              </a:ext>
            </a:extLst>
          </p:cNvPr>
          <p:cNvSpPr/>
          <p:nvPr/>
        </p:nvSpPr>
        <p:spPr>
          <a:xfrm>
            <a:off x="4392574" y="1303954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b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29A57E3-D466-E69E-6792-989777490DD8}"/>
              </a:ext>
            </a:extLst>
          </p:cNvPr>
          <p:cNvSpPr/>
          <p:nvPr/>
        </p:nvSpPr>
        <p:spPr>
          <a:xfrm>
            <a:off x="2941484" y="3210425"/>
            <a:ext cx="1713024" cy="801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B606DB34-CB89-9697-30EC-2CAF66C34BEC}"/>
              </a:ext>
            </a:extLst>
          </p:cNvPr>
          <p:cNvCxnSpPr>
            <a:cxnSpLocks/>
          </p:cNvCxnSpPr>
          <p:nvPr/>
        </p:nvCxnSpPr>
        <p:spPr>
          <a:xfrm flipH="1">
            <a:off x="2124327" y="1194808"/>
            <a:ext cx="1550484" cy="5876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Elipse 21">
            <a:extLst>
              <a:ext uri="{FF2B5EF4-FFF2-40B4-BE49-F238E27FC236}">
                <a16:creationId xmlns:a16="http://schemas.microsoft.com/office/drawing/2014/main" id="{B9D2A1D3-C951-5A4B-3651-6D747E4D21DF}"/>
              </a:ext>
            </a:extLst>
          </p:cNvPr>
          <p:cNvSpPr/>
          <p:nvPr/>
        </p:nvSpPr>
        <p:spPr>
          <a:xfrm>
            <a:off x="3638358" y="923304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73B706A-BB81-5EBE-649B-5CBC562E53BF}"/>
              </a:ext>
            </a:extLst>
          </p:cNvPr>
          <p:cNvSpPr txBox="1"/>
          <p:nvPr/>
        </p:nvSpPr>
        <p:spPr>
          <a:xfrm>
            <a:off x="210336" y="4893750"/>
            <a:ext cx="3226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s-MX" dirty="0"/>
              <a:t>Dispensador de pieza 1.</a:t>
            </a:r>
          </a:p>
          <a:p>
            <a:pPr marL="342900" indent="-342900">
              <a:buAutoNum type="alphaLcParenR"/>
            </a:pPr>
            <a:r>
              <a:rPr lang="es-MX" dirty="0"/>
              <a:t>Dispensador de pieza 2</a:t>
            </a:r>
          </a:p>
          <a:p>
            <a:pPr marL="342900" indent="-342900">
              <a:buAutoNum type="alphaLcParenR"/>
            </a:pPr>
            <a:r>
              <a:rPr lang="es-MX" dirty="0"/>
              <a:t>Racks de almacenamiento </a:t>
            </a:r>
          </a:p>
          <a:p>
            <a:pPr marL="342900" indent="-342900">
              <a:buAutoNum type="alphaLcParenR"/>
            </a:pPr>
            <a:endParaRPr lang="es-MX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818AB10-8338-F27E-3ED5-3F2CFACA1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200" y="3247076"/>
            <a:ext cx="1739006" cy="2401737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CFFD146-73EB-4557-258A-A463C147F3FE}"/>
              </a:ext>
            </a:extLst>
          </p:cNvPr>
          <p:cNvSpPr txBox="1"/>
          <p:nvPr/>
        </p:nvSpPr>
        <p:spPr>
          <a:xfrm>
            <a:off x="7977955" y="5750734"/>
            <a:ext cx="447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Sistema de inspección (cámara de visión) 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FE000A04-CA7A-596D-48B2-CDBF453A4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033" y="1133091"/>
            <a:ext cx="1739006" cy="2505141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4AE1AD50-40F0-FA44-1089-631DF85AE257}"/>
              </a:ext>
            </a:extLst>
          </p:cNvPr>
          <p:cNvSpPr txBox="1"/>
          <p:nvPr/>
        </p:nvSpPr>
        <p:spPr>
          <a:xfrm>
            <a:off x="5954170" y="3688259"/>
            <a:ext cx="2521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Estación de inyección de material.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63EE1D21-3FD8-C0F0-A776-69F979EFE8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0445" y="1242671"/>
            <a:ext cx="1739006" cy="1590302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FC6DC073-90A7-BF29-A1B2-B1C5EA734EED}"/>
              </a:ext>
            </a:extLst>
          </p:cNvPr>
          <p:cNvSpPr txBox="1"/>
          <p:nvPr/>
        </p:nvSpPr>
        <p:spPr>
          <a:xfrm>
            <a:off x="8407995" y="2786219"/>
            <a:ext cx="3611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Feita</a:t>
            </a:r>
            <a:r>
              <a:rPr lang="es-MX" dirty="0"/>
              <a:t>  dispensador de pegamento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74F7B6A-4049-BFED-3077-FB7B34F5B5F2}"/>
              </a:ext>
            </a:extLst>
          </p:cNvPr>
          <p:cNvSpPr txBox="1"/>
          <p:nvPr/>
        </p:nvSpPr>
        <p:spPr>
          <a:xfrm>
            <a:off x="3539828" y="4924528"/>
            <a:ext cx="44712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d) </a:t>
            </a:r>
            <a:r>
              <a:rPr lang="pt-BR" sz="1400" dirty="0">
                <a:hlinkClick r:id="rId6" action="ppaction://hlinkfile"/>
              </a:rPr>
              <a:t>..\Datasheet\dispensador de pegamento\Dispensador de pegamento.pdf</a:t>
            </a:r>
            <a:endParaRPr lang="pt-BR" sz="1400" dirty="0"/>
          </a:p>
          <a:p>
            <a:r>
              <a:rPr lang="pt-BR" sz="1400" dirty="0"/>
              <a:t>f) </a:t>
            </a:r>
            <a:r>
              <a:rPr lang="pt-BR" sz="1400" dirty="0">
                <a:hlinkClick r:id="rId7" action="ppaction://hlinkfile"/>
              </a:rPr>
              <a:t>..\Datasheet\</a:t>
            </a:r>
            <a:r>
              <a:rPr lang="pt-BR" sz="1400" dirty="0" err="1">
                <a:hlinkClick r:id="rId7" action="ppaction://hlinkfile"/>
              </a:rPr>
              <a:t>camara</a:t>
            </a:r>
            <a:r>
              <a:rPr lang="pt-BR" sz="1400" dirty="0">
                <a:hlinkClick r:id="rId7" action="ppaction://hlinkfile"/>
              </a:rPr>
              <a:t> de </a:t>
            </a:r>
            <a:r>
              <a:rPr lang="pt-BR" sz="1400" dirty="0" err="1">
                <a:hlinkClick r:id="rId7" action="ppaction://hlinkfile"/>
              </a:rPr>
              <a:t>vision</a:t>
            </a:r>
            <a:r>
              <a:rPr lang="pt-BR" sz="1400" dirty="0">
                <a:hlinkClick r:id="rId7" action="ppaction://hlinkfile"/>
              </a:rPr>
              <a:t>\AS_101053_CA-035C_CA-035M_CA-200C_IM_96M15042_WW_GB_2072_3a.pdf</a:t>
            </a:r>
            <a:endParaRPr lang="es-MX" sz="1400" dirty="0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ACD43C14-7406-A6C7-755F-A2F4B3FF5DCD}"/>
              </a:ext>
            </a:extLst>
          </p:cNvPr>
          <p:cNvSpPr/>
          <p:nvPr/>
        </p:nvSpPr>
        <p:spPr>
          <a:xfrm>
            <a:off x="10531513" y="2397688"/>
            <a:ext cx="315875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d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7D241488-0D21-B753-480C-DCA044B0AE76}"/>
              </a:ext>
            </a:extLst>
          </p:cNvPr>
          <p:cNvSpPr/>
          <p:nvPr/>
        </p:nvSpPr>
        <p:spPr>
          <a:xfrm>
            <a:off x="6899113" y="2183740"/>
            <a:ext cx="315875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2ACEA9AC-A243-6505-C048-F8DD90D1EB10}"/>
              </a:ext>
            </a:extLst>
          </p:cNvPr>
          <p:cNvSpPr/>
          <p:nvPr/>
        </p:nvSpPr>
        <p:spPr>
          <a:xfrm>
            <a:off x="10893206" y="3900115"/>
            <a:ext cx="315875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610443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DE73-992F-052C-B1EE-F1032CE8E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ED4714D-66B3-88AF-57FE-9AB60034E5F4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7F40DD-C841-E6EF-81B3-644733842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MÓDULOS Y RECURSOS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3A8E7E9-9407-0FCC-E5C4-BFD76FA7FDD9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4058F2-CC9F-AA19-E49A-D68B34240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567"/>
          <a:stretch/>
        </p:blipFill>
        <p:spPr>
          <a:xfrm>
            <a:off x="1058190" y="1278674"/>
            <a:ext cx="1608137" cy="181362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031FDB8-A0E2-5E0C-8B55-4B12BBC570F0}"/>
              </a:ext>
            </a:extLst>
          </p:cNvPr>
          <p:cNvSpPr txBox="1"/>
          <p:nvPr/>
        </p:nvSpPr>
        <p:spPr>
          <a:xfrm>
            <a:off x="322888" y="3130399"/>
            <a:ext cx="3611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Zona de ensamble y inspección de sistema de visión.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79654B-74B2-AEBA-A8A3-E40CD3249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746" y="1153945"/>
            <a:ext cx="1608137" cy="175594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7CF985C-33BA-5CD5-7447-5DB22F031080}"/>
              </a:ext>
            </a:extLst>
          </p:cNvPr>
          <p:cNvSpPr txBox="1"/>
          <p:nvPr/>
        </p:nvSpPr>
        <p:spPr>
          <a:xfrm>
            <a:off x="4248082" y="3092299"/>
            <a:ext cx="3611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Zona de control y manipulación.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745BBA6-4FA3-DE65-90FE-304B764F8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904" y="1513562"/>
            <a:ext cx="2575154" cy="331561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AA5CD54-D5AC-07FC-6429-8ADE8B812859}"/>
              </a:ext>
            </a:extLst>
          </p:cNvPr>
          <p:cNvSpPr txBox="1"/>
          <p:nvPr/>
        </p:nvSpPr>
        <p:spPr>
          <a:xfrm>
            <a:off x="8791988" y="4991828"/>
            <a:ext cx="257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Alimentadores de piezas.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DA6E1C3-4A0D-A020-A7A7-12408FB01EF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86" r="33089" b="27015"/>
          <a:stretch/>
        </p:blipFill>
        <p:spPr>
          <a:xfrm>
            <a:off x="3568684" y="3801073"/>
            <a:ext cx="2190049" cy="184757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FB1272E-C773-F25D-031B-6EAA3FE6F2A1}"/>
              </a:ext>
            </a:extLst>
          </p:cNvPr>
          <p:cNvSpPr txBox="1"/>
          <p:nvPr/>
        </p:nvSpPr>
        <p:spPr>
          <a:xfrm>
            <a:off x="3182793" y="5694298"/>
            <a:ext cx="3611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Racks para pieza ok y NG.</a:t>
            </a:r>
          </a:p>
        </p:txBody>
      </p:sp>
    </p:spTree>
    <p:extLst>
      <p:ext uri="{BB962C8B-B14F-4D97-AF65-F5344CB8AC3E}">
        <p14:creationId xmlns:p14="http://schemas.microsoft.com/office/powerpoint/2010/main" val="1187666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DC978-67A4-9A40-C377-324055E2B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59014FF-B58F-5227-849F-39B709ADBC18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A7BE2D-3B8B-A262-6193-2C26FD92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MÓDULOS Y RECURSOS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8887BF-1528-4A60-E8FF-D7D5302DD8A8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290794-8747-889F-3B48-347130D9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04" y="1281112"/>
            <a:ext cx="5600700" cy="4295775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FE99B14F-53C4-5A1A-FB68-D43EB2366A70}"/>
              </a:ext>
            </a:extLst>
          </p:cNvPr>
          <p:cNvSpPr/>
          <p:nvPr/>
        </p:nvSpPr>
        <p:spPr>
          <a:xfrm>
            <a:off x="3509554" y="2602524"/>
            <a:ext cx="1808034" cy="15449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EEF84B0-14C2-D057-1D11-10CCBCC6DBEC}"/>
              </a:ext>
            </a:extLst>
          </p:cNvPr>
          <p:cNvCxnSpPr>
            <a:cxnSpLocks/>
          </p:cNvCxnSpPr>
          <p:nvPr/>
        </p:nvCxnSpPr>
        <p:spPr>
          <a:xfrm flipH="1">
            <a:off x="5241974" y="2841674"/>
            <a:ext cx="1524586" cy="533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2425B554-5D3B-9408-A952-EA2FBF75160D}"/>
              </a:ext>
            </a:extLst>
          </p:cNvPr>
          <p:cNvSpPr txBox="1"/>
          <p:nvPr/>
        </p:nvSpPr>
        <p:spPr>
          <a:xfrm>
            <a:off x="7157436" y="1940573"/>
            <a:ext cx="4077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a) Mesa indexadora (7mo eje)</a:t>
            </a:r>
            <a:r>
              <a:rPr lang="es-MX" dirty="0">
                <a:hlinkClick r:id="rId3" action="ppaction://hlinkfile"/>
              </a:rPr>
              <a:t>..\</a:t>
            </a:r>
            <a:r>
              <a:rPr lang="es-MX" dirty="0" err="1">
                <a:hlinkClick r:id="rId3" action="ppaction://hlinkfile"/>
              </a:rPr>
              <a:t>Datasheet</a:t>
            </a:r>
            <a:r>
              <a:rPr lang="es-MX" dirty="0">
                <a:hlinkClick r:id="rId3" action="ppaction://hlinkfile"/>
              </a:rPr>
              <a:t>\servomotor (mesa </a:t>
            </a:r>
            <a:r>
              <a:rPr lang="es-MX" dirty="0" err="1">
                <a:hlinkClick r:id="rId3" action="ppaction://hlinkfile"/>
              </a:rPr>
              <a:t>idexadora</a:t>
            </a:r>
            <a:r>
              <a:rPr lang="es-MX" dirty="0">
                <a:hlinkClick r:id="rId3" action="ppaction://hlinkfile"/>
              </a:rPr>
              <a:t> )\SV2-M005AK_Datasheet servo.pdf</a:t>
            </a:r>
            <a:r>
              <a:rPr lang="es-MX" dirty="0"/>
              <a:t> 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9EC7352-9C1C-044F-DD2B-9471AC52576A}"/>
              </a:ext>
            </a:extLst>
          </p:cNvPr>
          <p:cNvSpPr/>
          <p:nvPr/>
        </p:nvSpPr>
        <p:spPr>
          <a:xfrm>
            <a:off x="6766560" y="2602524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83834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F5B65-F2A5-61C0-1AD2-B6AFCC2D9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2626AC-2282-AB5C-DA56-092F0D351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87993"/>
            <a:ext cx="11286067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ES" sz="1400" b="1" dirty="0"/>
              <a:t>Duración: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s-ES" sz="1400" dirty="0"/>
              <a:t>El curso completo tendrá una duración de 8 semanas, con una carga horaria total de 64 horas. Esto incluye 24 horas de clases teóricas y 40 horas de talleres prácticos. Las sesiones se distribuirán en 2 días por semana, con 4 horas de actividades por día.</a:t>
            </a:r>
          </a:p>
          <a:p>
            <a:pPr>
              <a:lnSpc>
                <a:spcPct val="150000"/>
              </a:lnSpc>
            </a:pPr>
            <a:r>
              <a:rPr lang="es-ES" sz="1400" b="1" dirty="0"/>
              <a:t>Modalidad: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ES" sz="1400" dirty="0"/>
              <a:t>100% Presencial</a:t>
            </a:r>
          </a:p>
          <a:p>
            <a:pPr>
              <a:lnSpc>
                <a:spcPct val="150000"/>
              </a:lnSpc>
            </a:pPr>
            <a:r>
              <a:rPr lang="es-ES" sz="1400" b="1" dirty="0"/>
              <a:t>Metodología: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ES" sz="1400" dirty="0"/>
              <a:t>La metodología del curso se basará en un enfoque participativo y experiencial, combinando clases teóricas, ejercicios prácticos, trabajos colaborativos y estudios de casos. Se utilizarán diversas herramientas y técnicas didácticas, tales como: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ES" sz="1400" dirty="0"/>
              <a:t>o	Exposiciones dialogadas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ES" sz="1400" dirty="0"/>
              <a:t>o	Demostraciones prácticas con simuladores y robot colaborativo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ES" sz="1400" dirty="0"/>
              <a:t>o	Prácticas personalizadas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ES" sz="1400" dirty="0"/>
              <a:t>o	Participaciones en clase y pruebas prácticas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s-PE" sz="1400" dirty="0"/>
          </a:p>
          <a:p>
            <a:pPr marL="457200" lvl="1" indent="0">
              <a:lnSpc>
                <a:spcPct val="150000"/>
              </a:lnSpc>
              <a:buNone/>
            </a:pPr>
            <a:endParaRPr lang="es-ES" sz="14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1432896-333F-FD1F-608B-12844F588A79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E943CE-5703-653A-9323-DA999FA1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ACREDITACIÓN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C740E07-CA95-ECC3-5610-F773197D1BB7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3823B0DF-80A0-7768-04D4-5B2D215774AC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F2C2FD2-C56F-7A06-B62B-B0B063EC51ED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457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735CD-BAC1-E4DC-18C3-310FCDF5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A60C77-61E0-0D28-C4F7-B2EEC5A77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87486"/>
            <a:ext cx="4876800" cy="4351338"/>
          </a:xfrm>
        </p:spPr>
        <p:txBody>
          <a:bodyPr>
            <a:normAutofit fontScale="92500" lnSpcReduction="10000"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s-PE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Ubicación</a:t>
            </a:r>
            <a:endParaRPr lang="es-PE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s-PE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El curso de Programación de Robots Colaborativos, del programa de formación continua para la Facultad de Ingeniería de Sistemas, se llevarán a cabo de manera presencial, en el laboratorio de Inteligencia Artificial y Robótica en el pabellón de laboratorios del campus Universitario UNCP.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s-PE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Vacantes</a:t>
            </a:r>
            <a:endParaRPr lang="es-PE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s-PE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 ofrecerán un total de 20 vacantes por módulo distribuidas en dos grupos de trabajo de 10 participantes por grupo. </a:t>
            </a:r>
          </a:p>
          <a:p>
            <a:pPr algn="just"/>
            <a:endParaRPr lang="es-PE" sz="16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31155C7-F799-275A-2471-ABA9F8B31E71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06E023-3766-2D6C-DD24-3D3A76E1E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INFORMACIÓN ADICIONAL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C075C37-19CA-4AE3-F694-D8618BFE5666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536D6826-A634-B8B5-9225-7A0259C3A22F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9646AC8-708A-3794-BE8A-2CAAF85A4AFD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La Facultad - Sistemas Uncp">
            <a:extLst>
              <a:ext uri="{FF2B5EF4-FFF2-40B4-BE49-F238E27FC236}">
                <a16:creationId xmlns:a16="http://schemas.microsoft.com/office/drawing/2014/main" id="{50B30048-778E-F2EB-D527-C714A0A550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04" r="29424" b="19778"/>
          <a:stretch/>
        </p:blipFill>
        <p:spPr bwMode="auto">
          <a:xfrm>
            <a:off x="6163460" y="1662376"/>
            <a:ext cx="5410473" cy="353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312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533F9-0A06-2A0B-64BE-B1370D67F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D67382-8BEA-3526-4B1F-55C6568EB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86"/>
            <a:ext cx="5621867" cy="435133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PE" sz="2400" b="1" dirty="0" err="1"/>
              <a:t>Msc</a:t>
            </a:r>
            <a:r>
              <a:rPr lang="es-PE" sz="2400" b="1" dirty="0"/>
              <a:t>. John Lozano Jauregui</a:t>
            </a:r>
          </a:p>
          <a:p>
            <a:pPr lvl="1" algn="just">
              <a:lnSpc>
                <a:spcPct val="150000"/>
              </a:lnSpc>
            </a:pPr>
            <a:r>
              <a:rPr lang="es-PE" sz="2000" dirty="0"/>
              <a:t>Docente de la Facultad de Ingeniería de Sistemas de la UNCP.</a:t>
            </a:r>
          </a:p>
          <a:p>
            <a:pPr lvl="1" algn="just">
              <a:lnSpc>
                <a:spcPct val="150000"/>
              </a:lnSpc>
            </a:pPr>
            <a:r>
              <a:rPr lang="es-PE" sz="2000" dirty="0"/>
              <a:t>Docente de la Facultad de Ingeniería Mecánica de la PUCP.</a:t>
            </a:r>
          </a:p>
          <a:p>
            <a:pPr lvl="1" algn="just">
              <a:lnSpc>
                <a:spcPct val="150000"/>
              </a:lnSpc>
            </a:pPr>
            <a:r>
              <a:rPr lang="es-PE" sz="2000" dirty="0"/>
              <a:t>Ingeniero en Robótica Industrial y Sistemas Robotizados por la Universidad Federal del Norte Ártico (Rusia)</a:t>
            </a:r>
          </a:p>
          <a:p>
            <a:pPr lvl="1" algn="just">
              <a:lnSpc>
                <a:spcPct val="150000"/>
              </a:lnSpc>
            </a:pPr>
            <a:r>
              <a:rPr lang="es-PE" sz="2000" dirty="0"/>
              <a:t>Magister en Ingeniería Mecatrónica de la PUCP.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28F7D12-21A2-7DE3-DB75-E2679BC25E18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CE5A01-C0CC-D8AE-267A-0BCFE6CFB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DOCENTES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0D38A24-318A-98A8-72DB-8C76A4675189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C0EE4973-624C-3325-D7C5-F3B6E0402BD6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B3A4A20-3470-B188-8826-C8CA3601D662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0C219CAD-CF29-CCC2-34EB-CF96E1112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624" y="1807104"/>
            <a:ext cx="2924175" cy="351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04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CC623-9832-A6C7-95AC-3C6A65B3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AB11E8-B4A2-36F4-BCF1-692A90636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86"/>
            <a:ext cx="5317067" cy="435133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PE" b="1" dirty="0" err="1"/>
              <a:t>Msc</a:t>
            </a:r>
            <a:r>
              <a:rPr lang="es-PE" b="1" dirty="0"/>
              <a:t>. Jaime </a:t>
            </a:r>
            <a:r>
              <a:rPr lang="es-PE" b="1" dirty="0" err="1"/>
              <a:t>Huaytalla</a:t>
            </a:r>
            <a:r>
              <a:rPr lang="es-PE" b="1" dirty="0"/>
              <a:t> Pariona</a:t>
            </a:r>
          </a:p>
          <a:p>
            <a:pPr lvl="1" algn="just">
              <a:lnSpc>
                <a:spcPct val="150000"/>
              </a:lnSpc>
            </a:pPr>
            <a:r>
              <a:rPr lang="es-PE" dirty="0"/>
              <a:t>Docente de la Facultad de Ingeniería de Sistemas de la UNCP.</a:t>
            </a:r>
          </a:p>
          <a:p>
            <a:pPr lvl="1" algn="just">
              <a:lnSpc>
                <a:spcPct val="150000"/>
              </a:lnSpc>
            </a:pPr>
            <a:r>
              <a:rPr lang="es-PE" dirty="0"/>
              <a:t>Docente de la Facultad de Ingeniería Mecatrónica de UTEC.</a:t>
            </a:r>
          </a:p>
          <a:p>
            <a:pPr lvl="1" algn="just">
              <a:lnSpc>
                <a:spcPct val="150000"/>
              </a:lnSpc>
            </a:pPr>
            <a:r>
              <a:rPr lang="es-PE" sz="2400" dirty="0"/>
              <a:t>Ingeniero en Robótica Industrial y Sistemas Robotizados por la Universidad Federal del Norte Ártico (Rusia)</a:t>
            </a:r>
          </a:p>
          <a:p>
            <a:pPr lvl="1" algn="just">
              <a:lnSpc>
                <a:spcPct val="150000"/>
              </a:lnSpc>
            </a:pPr>
            <a:r>
              <a:rPr lang="es-PE" dirty="0"/>
              <a:t>Maestrando de Inteligencia Artificial de la Universidad Nacional de Ingeniería.</a:t>
            </a:r>
          </a:p>
          <a:p>
            <a:pPr lvl="1" algn="just">
              <a:lnSpc>
                <a:spcPct val="150000"/>
              </a:lnSpc>
            </a:pPr>
            <a:endParaRPr lang="es-PE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8A6BBC5-B350-90F5-671D-0482A8574ECA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FDC009-76B9-4B3D-C14B-F58339982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DOCENTES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2BE5960-D2A5-3DAD-DED2-CB5C80CEC25A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C9CC7514-BB67-297E-79B0-39E48BBDD95D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DDE4849-E1D0-04C2-E796-634682793939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imagen de perfil">
            <a:extLst>
              <a:ext uri="{FF2B5EF4-FFF2-40B4-BE49-F238E27FC236}">
                <a16:creationId xmlns:a16="http://schemas.microsoft.com/office/drawing/2014/main" id="{584FAE2E-BC67-277E-35E8-ACC06642B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941" y="1527703"/>
            <a:ext cx="4204230" cy="420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078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D3E3-52C1-8E8E-6FE8-73FF9EEFF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5B4B40-60AD-501C-0293-634166EB5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7132"/>
            <a:ext cx="9999133" cy="4221691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PE" dirty="0"/>
              <a:t> Dr. Jesús Ulloa – Jefe de Departamento de la FIS – UNCP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PE" dirty="0"/>
              <a:t> Ing. Nilo Fernández – Director de la Línea de Investigación de Inteligencia Artificial y Robótica.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PE" dirty="0"/>
          </a:p>
          <a:p>
            <a:pPr marL="0" indent="0">
              <a:lnSpc>
                <a:spcPct val="150000"/>
              </a:lnSpc>
              <a:buNone/>
            </a:pPr>
            <a:r>
              <a:rPr lang="es-PE" dirty="0"/>
              <a:t>Informes:	Secretaría FIS - UNCP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PE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s-PE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s-PE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82C5B73-7FF7-86BC-FA3A-54C5D211908B}"/>
              </a:ext>
            </a:extLst>
          </p:cNvPr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78EFDF-990B-FA6F-F512-0AA3A9E1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21193"/>
            <a:ext cx="10515600" cy="769408"/>
          </a:xfrm>
        </p:spPr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CONTACTO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2A816AD-C1CF-142E-B4F2-0DB5199A5044}"/>
              </a:ext>
            </a:extLst>
          </p:cNvPr>
          <p:cNvCxnSpPr/>
          <p:nvPr/>
        </p:nvCxnSpPr>
        <p:spPr>
          <a:xfrm>
            <a:off x="0" y="1032934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E4B5AD90-2038-D148-9B8F-32FA6F913AD2}"/>
              </a:ext>
            </a:extLst>
          </p:cNvPr>
          <p:cNvSpPr/>
          <p:nvPr/>
        </p:nvSpPr>
        <p:spPr>
          <a:xfrm>
            <a:off x="0" y="6176962"/>
            <a:ext cx="12192000" cy="681037"/>
          </a:xfrm>
          <a:prstGeom prst="rect">
            <a:avLst/>
          </a:prstGeom>
          <a:solidFill>
            <a:srgbClr val="708FA3"/>
          </a:solidFill>
          <a:ln>
            <a:solidFill>
              <a:srgbClr val="70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Programación de Robots Colaborativos</a:t>
            </a:r>
            <a:r>
              <a:rPr lang="es-PE" dirty="0"/>
              <a:t>								FIS - UNCP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CC4FFAC-A420-8206-1EF6-106BC834B127}"/>
              </a:ext>
            </a:extLst>
          </p:cNvPr>
          <p:cNvCxnSpPr/>
          <p:nvPr/>
        </p:nvCxnSpPr>
        <p:spPr>
          <a:xfrm>
            <a:off x="0" y="6231466"/>
            <a:ext cx="1219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9446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1502</Words>
  <Application>Microsoft Office PowerPoint</Application>
  <PresentationFormat>Panorámica</PresentationFormat>
  <Paragraphs>148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Wingdings</vt:lpstr>
      <vt:lpstr>Tema de Office</vt:lpstr>
      <vt:lpstr>PROGRAMACIÓN DE ROBOTS COLABORATIVOS</vt:lpstr>
      <vt:lpstr>DESCRIPCIÓN</vt:lpstr>
      <vt:lpstr>EXPECTATIVAS Y OBJETIVOS</vt:lpstr>
      <vt:lpstr>EXPECTATIVAS Y OBJETIVOS</vt:lpstr>
      <vt:lpstr>PÚBLICO OBJETIVO</vt:lpstr>
      <vt:lpstr>PROGRAMA – NIVEL I</vt:lpstr>
      <vt:lpstr>PROGRAMA – NIVEL II</vt:lpstr>
      <vt:lpstr>MÓDULOS Y RECURSOS</vt:lpstr>
      <vt:lpstr>MÓDULOS Y RECURSOS</vt:lpstr>
      <vt:lpstr>MÓDULOS Y RECURSOS</vt:lpstr>
      <vt:lpstr>MÓDULOS Y RECURSOS</vt:lpstr>
      <vt:lpstr>MÓDULOS Y RECURSOS</vt:lpstr>
      <vt:lpstr>ACREDITACIÓN</vt:lpstr>
      <vt:lpstr>INFORMACIÓN ADICIONAL</vt:lpstr>
      <vt:lpstr>DOCENTES</vt:lpstr>
      <vt:lpstr>DOCENTES</vt:lpstr>
      <vt:lpstr>CONTACTO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JAIME ANTONIO HUAYTALLA PARIONA</dc:creator>
  <cp:lastModifiedBy>JAIME ANTONIO HUAYTALLA PARIONA</cp:lastModifiedBy>
  <cp:revision>1</cp:revision>
  <dcterms:created xsi:type="dcterms:W3CDTF">2024-12-20T10:53:37Z</dcterms:created>
  <dcterms:modified xsi:type="dcterms:W3CDTF">2024-12-20T12:55:16Z</dcterms:modified>
</cp:coreProperties>
</file>