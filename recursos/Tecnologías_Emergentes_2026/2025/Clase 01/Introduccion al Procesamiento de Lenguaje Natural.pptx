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256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6983527" y="740932"/>
            <a:ext cx="6853084" cy="4303871"/>
          </a:xfrm>
          <a:prstGeom prst="rect">
            <a:avLst/>
          </a:prstGeom>
          <a:noFill/>
          <a:ln/>
        </p:spPr>
        <p:txBody>
          <a:bodyPr wrap="square" rtlCol="0" anchor="t"/>
          <a:lstStyle/>
          <a:p>
            <a:pPr>
              <a:lnSpc>
                <a:spcPts val="8473"/>
              </a:lnSpc>
            </a:pPr>
            <a:r>
              <a:rPr lang="en-US" sz="6778" b="1" kern="0" spc="-136" dirty="0">
                <a:solidFill>
                  <a:srgbClr val="F95F88"/>
                </a:solidFill>
                <a:latin typeface="Petrona" pitchFamily="34" charset="0"/>
                <a:ea typeface="Petrona" pitchFamily="34" charset="-122"/>
                <a:cs typeface="Petrona" pitchFamily="34" charset="-120"/>
              </a:rPr>
              <a:t>Introducción al Procesamiento de Lenguaje Natural (PLN)</a:t>
            </a:r>
            <a:endParaRPr lang="en-US" sz="6778" dirty="0"/>
          </a:p>
        </p:txBody>
      </p:sp>
      <p:sp>
        <p:nvSpPr>
          <p:cNvPr id="7" name="Text 3"/>
          <p:cNvSpPr/>
          <p:nvPr/>
        </p:nvSpPr>
        <p:spPr>
          <a:xfrm>
            <a:off x="7134227" y="5384961"/>
            <a:ext cx="6702387" cy="1451611"/>
          </a:xfrm>
          <a:prstGeom prst="rect">
            <a:avLst/>
          </a:prstGeom>
          <a:noFill/>
          <a:ln/>
        </p:spPr>
        <p:txBody>
          <a:bodyPr wrap="square" rtlCol="0" anchor="t"/>
          <a:lstStyle/>
          <a:p>
            <a:pPr algn="just">
              <a:lnSpc>
                <a:spcPts val="2859"/>
              </a:lnSpc>
            </a:pPr>
            <a:r>
              <a:rPr lang="en-US" sz="1787" kern="0" spc="-36" dirty="0">
                <a:solidFill>
                  <a:srgbClr val="272525"/>
                </a:solidFill>
                <a:latin typeface="Inter" pitchFamily="34" charset="0"/>
                <a:ea typeface="Inter" pitchFamily="34" charset="-122"/>
                <a:cs typeface="Inter" pitchFamily="34" charset="-120"/>
              </a:rPr>
              <a:t>El PLN es un campo de la inteligencia artificial que se enfoca en permitir que las computadoras comprendan, interpreten y generen lenguaje humano. Es un área multidisciplinaria que abarca la lingüística, la informática y la estadística.</a:t>
            </a:r>
            <a:endParaRPr lang="en-US" sz="1787" dirty="0"/>
          </a:p>
        </p:txBody>
      </p:sp>
      <p:sp>
        <p:nvSpPr>
          <p:cNvPr id="8" name="Shape 4"/>
          <p:cNvSpPr/>
          <p:nvPr/>
        </p:nvSpPr>
        <p:spPr>
          <a:xfrm>
            <a:off x="6280196" y="7108632"/>
            <a:ext cx="362903" cy="362903"/>
          </a:xfrm>
          <a:prstGeom prst="roundRect">
            <a:avLst>
              <a:gd name="adj" fmla="val 25194296"/>
            </a:avLst>
          </a:prstGeom>
          <a:noFill/>
          <a:ln w="7620">
            <a:solidFill>
              <a:srgbClr val="FFFFFF"/>
            </a:solidFill>
            <a:prstDash val="solid"/>
          </a:ln>
        </p:spPr>
        <p:txBody>
          <a:bodyPr/>
          <a:lstStyle/>
          <a:p>
            <a:endParaRPr lang="es-PE"/>
          </a:p>
        </p:txBody>
      </p:sp>
      <p:sp>
        <p:nvSpPr>
          <p:cNvPr id="10" name="Text 5"/>
          <p:cNvSpPr/>
          <p:nvPr/>
        </p:nvSpPr>
        <p:spPr>
          <a:xfrm>
            <a:off x="9090546" y="7334671"/>
            <a:ext cx="4746069" cy="396835"/>
          </a:xfrm>
          <a:prstGeom prst="rect">
            <a:avLst/>
          </a:prstGeom>
          <a:noFill/>
          <a:ln/>
        </p:spPr>
        <p:txBody>
          <a:bodyPr wrap="none" rtlCol="0" anchor="t"/>
          <a:lstStyle/>
          <a:p>
            <a:pPr algn="r">
              <a:lnSpc>
                <a:spcPts val="3127"/>
              </a:lnSpc>
            </a:pPr>
            <a:r>
              <a:rPr lang="en-US" sz="2233" b="1" kern="0" spc="-36" dirty="0">
                <a:solidFill>
                  <a:srgbClr val="272525"/>
                </a:solidFill>
                <a:latin typeface="Inter" pitchFamily="34" charset="0"/>
                <a:ea typeface="Inter" pitchFamily="34" charset="-122"/>
                <a:cs typeface="Inter" pitchFamily="34" charset="-120"/>
              </a:rPr>
              <a:t> Ing. Jaime </a:t>
            </a:r>
            <a:r>
              <a:rPr lang="en-US" sz="2233" b="1" kern="0" spc="-36" dirty="0" err="1">
                <a:solidFill>
                  <a:srgbClr val="272525"/>
                </a:solidFill>
                <a:latin typeface="Inter" pitchFamily="34" charset="0"/>
                <a:ea typeface="Inter" pitchFamily="34" charset="-122"/>
                <a:cs typeface="Inter" pitchFamily="34" charset="-120"/>
              </a:rPr>
              <a:t>Huaytalla</a:t>
            </a:r>
            <a:r>
              <a:rPr lang="en-US" sz="2233" b="1" kern="0" spc="-36" dirty="0">
                <a:solidFill>
                  <a:srgbClr val="272525"/>
                </a:solidFill>
                <a:latin typeface="Inter" pitchFamily="34" charset="0"/>
                <a:ea typeface="Inter" pitchFamily="34" charset="-122"/>
                <a:cs typeface="Inter" pitchFamily="34" charset="-120"/>
              </a:rPr>
              <a:t> </a:t>
            </a:r>
            <a:r>
              <a:rPr lang="en-US" sz="2233" b="1" kern="0" spc="-36" dirty="0" err="1">
                <a:solidFill>
                  <a:srgbClr val="272525"/>
                </a:solidFill>
                <a:latin typeface="Inter" pitchFamily="34" charset="0"/>
                <a:ea typeface="Inter" pitchFamily="34" charset="-122"/>
                <a:cs typeface="Inter" pitchFamily="34" charset="-120"/>
              </a:rPr>
              <a:t>Pariona</a:t>
            </a:r>
            <a:endParaRPr lang="en-US" sz="2233" dirty="0"/>
          </a:p>
        </p:txBody>
      </p:sp>
      <p:pic>
        <p:nvPicPr>
          <p:cNvPr id="1026" name="Picture 2" descr="UNCP alista “I Conversatorio Regional de los Estudios Generales en la  Formación Universitaria” - UNCP">
            <a:extLst>
              <a:ext uri="{FF2B5EF4-FFF2-40B4-BE49-F238E27FC236}">
                <a16:creationId xmlns:a16="http://schemas.microsoft.com/office/drawing/2014/main" id="{62B2AA3C-32D2-60AD-F1DC-0B296FE753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399" r="16565"/>
          <a:stretch/>
        </p:blipFill>
        <p:spPr bwMode="auto">
          <a:xfrm>
            <a:off x="0" y="0"/>
            <a:ext cx="6430297"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4" name="Text 2"/>
          <p:cNvSpPr/>
          <p:nvPr/>
        </p:nvSpPr>
        <p:spPr>
          <a:xfrm>
            <a:off x="793793" y="1186819"/>
            <a:ext cx="13042821" cy="1559243"/>
          </a:xfrm>
          <a:prstGeom prst="rect">
            <a:avLst/>
          </a:prstGeom>
          <a:noFill/>
          <a:ln/>
        </p:spPr>
        <p:txBody>
          <a:bodyPr wrap="square" rtlCol="0" anchor="t"/>
          <a:lstStyle/>
          <a:p>
            <a:pPr>
              <a:lnSpc>
                <a:spcPts val="6140"/>
              </a:lnSpc>
            </a:pPr>
            <a:r>
              <a:rPr lang="en-US" sz="4912" b="1" kern="0" spc="-99" dirty="0">
                <a:solidFill>
                  <a:srgbClr val="F95F88"/>
                </a:solidFill>
                <a:latin typeface="Petrona" pitchFamily="34" charset="0"/>
                <a:ea typeface="Petrona" pitchFamily="34" charset="-122"/>
                <a:cs typeface="Petrona" pitchFamily="34" charset="-120"/>
              </a:rPr>
              <a:t>Fundamentos del PLN: lingüística, semántica y sintaxis</a:t>
            </a:r>
            <a:endParaRPr lang="en-US" sz="4912" dirty="0"/>
          </a:p>
        </p:txBody>
      </p:sp>
      <p:sp>
        <p:nvSpPr>
          <p:cNvPr id="5" name="Text 3"/>
          <p:cNvSpPr/>
          <p:nvPr/>
        </p:nvSpPr>
        <p:spPr>
          <a:xfrm>
            <a:off x="793793" y="3199687"/>
            <a:ext cx="12197119" cy="1088708"/>
          </a:xfrm>
          <a:prstGeom prst="rect">
            <a:avLst/>
          </a:prstGeom>
          <a:noFill/>
          <a:ln/>
        </p:spPr>
        <p:txBody>
          <a:bodyPr wrap="square" rtlCol="0" anchor="t"/>
          <a:lstStyle/>
          <a:p>
            <a:pPr algn="just">
              <a:lnSpc>
                <a:spcPts val="2859"/>
              </a:lnSpc>
            </a:pPr>
            <a:r>
              <a:rPr lang="en-US" sz="1787" kern="0" spc="-36" dirty="0">
                <a:solidFill>
                  <a:srgbClr val="272525"/>
                </a:solidFill>
                <a:latin typeface="Inter" pitchFamily="34" charset="0"/>
                <a:ea typeface="Inter" pitchFamily="34" charset="-122"/>
                <a:cs typeface="Inter" pitchFamily="34" charset="-120"/>
              </a:rPr>
              <a:t>El PLN se basa en principios de la lingüística computacional, incluyendo la semántica, que estudia el significado del lenguaje, y la sintaxis, que analiza la estructura gramatical. Estas disciplinas proporcionan las bases para analizar el lenguaje humano desde una perspectiva computacional.</a:t>
            </a:r>
            <a:endParaRPr lang="en-US" sz="1787" dirty="0"/>
          </a:p>
        </p:txBody>
      </p:sp>
      <p:sp>
        <p:nvSpPr>
          <p:cNvPr id="6" name="Text 4"/>
          <p:cNvSpPr/>
          <p:nvPr/>
        </p:nvSpPr>
        <p:spPr>
          <a:xfrm>
            <a:off x="793790" y="4770358"/>
            <a:ext cx="3677364" cy="389930"/>
          </a:xfrm>
          <a:prstGeom prst="rect">
            <a:avLst/>
          </a:prstGeom>
          <a:noFill/>
          <a:ln/>
        </p:spPr>
        <p:txBody>
          <a:bodyPr wrap="none" rtlCol="0" anchor="t"/>
          <a:lstStyle/>
          <a:p>
            <a:pPr>
              <a:lnSpc>
                <a:spcPts val="3071"/>
              </a:lnSpc>
            </a:pPr>
            <a:r>
              <a:rPr lang="en-US" sz="2456" b="1" kern="0" spc="-49" dirty="0">
                <a:solidFill>
                  <a:srgbClr val="F95F88"/>
                </a:solidFill>
                <a:latin typeface="Petrona" pitchFamily="34" charset="0"/>
                <a:ea typeface="Petrona" pitchFamily="34" charset="-122"/>
                <a:cs typeface="Petrona" pitchFamily="34" charset="-120"/>
              </a:rPr>
              <a:t>Lingüística computacional</a:t>
            </a:r>
            <a:endParaRPr lang="en-US" sz="2456" dirty="0"/>
          </a:p>
        </p:txBody>
      </p:sp>
      <p:sp>
        <p:nvSpPr>
          <p:cNvPr id="7" name="Text 5"/>
          <p:cNvSpPr/>
          <p:nvPr/>
        </p:nvSpPr>
        <p:spPr>
          <a:xfrm>
            <a:off x="793790" y="5387102"/>
            <a:ext cx="3677364" cy="1451610"/>
          </a:xfrm>
          <a:prstGeom prst="rect">
            <a:avLst/>
          </a:prstGeom>
          <a:noFill/>
          <a:ln/>
        </p:spPr>
        <p:txBody>
          <a:bodyPr wrap="square" rtlCol="0" anchor="t"/>
          <a:lstStyle/>
          <a:p>
            <a:pPr algn="just">
              <a:lnSpc>
                <a:spcPts val="2859"/>
              </a:lnSpc>
            </a:pPr>
            <a:r>
              <a:rPr lang="en-US" sz="1787" kern="0" spc="-36" dirty="0">
                <a:solidFill>
                  <a:srgbClr val="272525"/>
                </a:solidFill>
                <a:latin typeface="Inter" pitchFamily="34" charset="0"/>
                <a:ea typeface="Inter" pitchFamily="34" charset="-122"/>
                <a:cs typeface="Inter" pitchFamily="34" charset="-120"/>
              </a:rPr>
              <a:t>Estudia el lenguaje humano desde una perspectiva computacional, analizando la estructura, el significado y la función del lenguaje.</a:t>
            </a:r>
            <a:endParaRPr lang="en-US" sz="1787" dirty="0"/>
          </a:p>
        </p:txBody>
      </p:sp>
      <p:sp>
        <p:nvSpPr>
          <p:cNvPr id="8" name="Text 6"/>
          <p:cNvSpPr/>
          <p:nvPr/>
        </p:nvSpPr>
        <p:spPr>
          <a:xfrm>
            <a:off x="5332930" y="4770359"/>
            <a:ext cx="3118843" cy="389931"/>
          </a:xfrm>
          <a:prstGeom prst="rect">
            <a:avLst/>
          </a:prstGeom>
          <a:noFill/>
          <a:ln/>
        </p:spPr>
        <p:txBody>
          <a:bodyPr wrap="none" rtlCol="0" anchor="t"/>
          <a:lstStyle/>
          <a:p>
            <a:pPr>
              <a:lnSpc>
                <a:spcPts val="3071"/>
              </a:lnSpc>
            </a:pPr>
            <a:r>
              <a:rPr lang="en-US" sz="2456" b="1" kern="0" spc="-49" dirty="0">
                <a:solidFill>
                  <a:srgbClr val="F95F88"/>
                </a:solidFill>
                <a:latin typeface="Petrona" pitchFamily="34" charset="0"/>
                <a:ea typeface="Petrona" pitchFamily="34" charset="-122"/>
                <a:cs typeface="Petrona" pitchFamily="34" charset="-120"/>
              </a:rPr>
              <a:t>Semántica</a:t>
            </a:r>
            <a:endParaRPr lang="en-US" sz="2456" dirty="0"/>
          </a:p>
        </p:txBody>
      </p:sp>
      <p:sp>
        <p:nvSpPr>
          <p:cNvPr id="9" name="Text 7"/>
          <p:cNvSpPr/>
          <p:nvPr/>
        </p:nvSpPr>
        <p:spPr>
          <a:xfrm>
            <a:off x="5332929" y="5387103"/>
            <a:ext cx="3372921" cy="1088708"/>
          </a:xfrm>
          <a:prstGeom prst="rect">
            <a:avLst/>
          </a:prstGeom>
          <a:noFill/>
          <a:ln/>
        </p:spPr>
        <p:txBody>
          <a:bodyPr wrap="square" rtlCol="0" anchor="t"/>
          <a:lstStyle/>
          <a:p>
            <a:pPr algn="just">
              <a:lnSpc>
                <a:spcPts val="2859"/>
              </a:lnSpc>
            </a:pPr>
            <a:r>
              <a:rPr lang="en-US" sz="1787" kern="0" spc="-36" dirty="0">
                <a:solidFill>
                  <a:srgbClr val="272525"/>
                </a:solidFill>
                <a:latin typeface="Inter" pitchFamily="34" charset="0"/>
                <a:ea typeface="Inter" pitchFamily="34" charset="-122"/>
                <a:cs typeface="Inter" pitchFamily="34" charset="-120"/>
              </a:rPr>
              <a:t>Se centra en el significado del lenguaje, cómo se construye y cómo se interpreta.</a:t>
            </a:r>
            <a:endParaRPr lang="en-US" sz="1787" dirty="0"/>
          </a:p>
        </p:txBody>
      </p:sp>
      <p:sp>
        <p:nvSpPr>
          <p:cNvPr id="10" name="Text 8"/>
          <p:cNvSpPr/>
          <p:nvPr/>
        </p:nvSpPr>
        <p:spPr>
          <a:xfrm>
            <a:off x="9872069" y="4770359"/>
            <a:ext cx="3118843" cy="389931"/>
          </a:xfrm>
          <a:prstGeom prst="rect">
            <a:avLst/>
          </a:prstGeom>
          <a:noFill/>
          <a:ln/>
        </p:spPr>
        <p:txBody>
          <a:bodyPr wrap="none" rtlCol="0" anchor="t"/>
          <a:lstStyle/>
          <a:p>
            <a:pPr>
              <a:lnSpc>
                <a:spcPts val="3071"/>
              </a:lnSpc>
            </a:pPr>
            <a:r>
              <a:rPr lang="en-US" sz="2456" b="1" kern="0" spc="-49" dirty="0">
                <a:solidFill>
                  <a:srgbClr val="F95F88"/>
                </a:solidFill>
                <a:latin typeface="Petrona" pitchFamily="34" charset="0"/>
                <a:ea typeface="Petrona" pitchFamily="34" charset="-122"/>
                <a:cs typeface="Petrona" pitchFamily="34" charset="-120"/>
              </a:rPr>
              <a:t>Sintaxis</a:t>
            </a:r>
            <a:endParaRPr lang="en-US" sz="2456" dirty="0"/>
          </a:p>
        </p:txBody>
      </p:sp>
      <p:sp>
        <p:nvSpPr>
          <p:cNvPr id="11" name="Text 9"/>
          <p:cNvSpPr/>
          <p:nvPr/>
        </p:nvSpPr>
        <p:spPr>
          <a:xfrm>
            <a:off x="9872067" y="5387103"/>
            <a:ext cx="3262908" cy="1088708"/>
          </a:xfrm>
          <a:prstGeom prst="rect">
            <a:avLst/>
          </a:prstGeom>
          <a:noFill/>
          <a:ln/>
        </p:spPr>
        <p:txBody>
          <a:bodyPr wrap="square" rtlCol="0" anchor="t"/>
          <a:lstStyle/>
          <a:p>
            <a:pPr algn="just">
              <a:lnSpc>
                <a:spcPts val="2859"/>
              </a:lnSpc>
            </a:pPr>
            <a:r>
              <a:rPr lang="en-US" sz="1787" kern="0" spc="-36" dirty="0">
                <a:solidFill>
                  <a:srgbClr val="272525"/>
                </a:solidFill>
                <a:latin typeface="Inter" pitchFamily="34" charset="0"/>
                <a:ea typeface="Inter" pitchFamily="34" charset="-122"/>
                <a:cs typeface="Inter" pitchFamily="34" charset="-120"/>
              </a:rPr>
              <a:t>Analiza la estructura gramatical del lenguaje, cómo se combinan las palabras para formar frases.</a:t>
            </a:r>
            <a:endParaRPr lang="en-US" sz="178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611029" y="524655"/>
            <a:ext cx="12542997" cy="1200388"/>
          </a:xfrm>
          <a:prstGeom prst="rect">
            <a:avLst/>
          </a:prstGeom>
          <a:noFill/>
          <a:ln/>
        </p:spPr>
        <p:txBody>
          <a:bodyPr wrap="square" rtlCol="0" anchor="t"/>
          <a:lstStyle/>
          <a:p>
            <a:pPr>
              <a:lnSpc>
                <a:spcPts val="4727"/>
              </a:lnSpc>
            </a:pPr>
            <a:r>
              <a:rPr lang="en-US" sz="4800" b="1" kern="0" spc="-76" dirty="0">
                <a:solidFill>
                  <a:srgbClr val="F95F88"/>
                </a:solidFill>
                <a:latin typeface="Petrona" pitchFamily="34" charset="0"/>
                <a:ea typeface="Petrona" pitchFamily="34" charset="-122"/>
                <a:cs typeface="Petrona" pitchFamily="34" charset="-120"/>
              </a:rPr>
              <a:t>Clasificación de tareas en PLN: análisis, generación y comprensión</a:t>
            </a:r>
            <a:endParaRPr lang="en-US" sz="4800" dirty="0"/>
          </a:p>
        </p:txBody>
      </p:sp>
      <p:sp>
        <p:nvSpPr>
          <p:cNvPr id="7" name="Text 3"/>
          <p:cNvSpPr/>
          <p:nvPr/>
        </p:nvSpPr>
        <p:spPr>
          <a:xfrm>
            <a:off x="1430179" y="2081457"/>
            <a:ext cx="11552396" cy="838319"/>
          </a:xfrm>
          <a:prstGeom prst="rect">
            <a:avLst/>
          </a:prstGeom>
          <a:noFill/>
          <a:ln/>
        </p:spPr>
        <p:txBody>
          <a:bodyPr wrap="square" rtlCol="0" anchor="t"/>
          <a:lstStyle/>
          <a:p>
            <a:pPr algn="just">
              <a:lnSpc>
                <a:spcPts val="2200"/>
              </a:lnSpc>
            </a:pPr>
            <a:r>
              <a:rPr lang="en-US" sz="2000" kern="0" spc="-27" dirty="0">
                <a:solidFill>
                  <a:srgbClr val="272525"/>
                </a:solidFill>
                <a:latin typeface="Inter" pitchFamily="34" charset="0"/>
                <a:ea typeface="Inter" pitchFamily="34" charset="-122"/>
                <a:cs typeface="Inter" pitchFamily="34" charset="-120"/>
              </a:rPr>
              <a:t>El PLN abarca una variedad de tareas, que se pueden clasificar en análisis, generación y comprensión del lenguaje. Estas tareas se basan en diferentes técnicas y modelos para procesar el lenguaje.</a:t>
            </a:r>
            <a:endParaRPr lang="en-US" sz="2000" dirty="0"/>
          </a:p>
        </p:txBody>
      </p:sp>
      <p:sp>
        <p:nvSpPr>
          <p:cNvPr id="8" name="Shape 4"/>
          <p:cNvSpPr/>
          <p:nvPr/>
        </p:nvSpPr>
        <p:spPr>
          <a:xfrm>
            <a:off x="1668304" y="3322439"/>
            <a:ext cx="392787" cy="392787"/>
          </a:xfrm>
          <a:prstGeom prst="roundRect">
            <a:avLst>
              <a:gd name="adj" fmla="val 18670"/>
            </a:avLst>
          </a:prstGeom>
          <a:solidFill>
            <a:srgbClr val="E0D7F4"/>
          </a:solidFill>
          <a:ln w="7620">
            <a:solidFill>
              <a:srgbClr val="C6BDDA"/>
            </a:solidFill>
            <a:prstDash val="solid"/>
          </a:ln>
        </p:spPr>
        <p:txBody>
          <a:bodyPr/>
          <a:lstStyle/>
          <a:p>
            <a:endParaRPr lang="es-PE"/>
          </a:p>
        </p:txBody>
      </p:sp>
      <p:sp>
        <p:nvSpPr>
          <p:cNvPr id="9" name="Text 5"/>
          <p:cNvSpPr/>
          <p:nvPr/>
        </p:nvSpPr>
        <p:spPr>
          <a:xfrm>
            <a:off x="1805940" y="3374707"/>
            <a:ext cx="117515" cy="288131"/>
          </a:xfrm>
          <a:prstGeom prst="rect">
            <a:avLst/>
          </a:prstGeom>
          <a:noFill/>
          <a:ln/>
        </p:spPr>
        <p:txBody>
          <a:bodyPr wrap="none" rtlCol="0" anchor="t"/>
          <a:lstStyle/>
          <a:p>
            <a:pPr algn="ctr">
              <a:lnSpc>
                <a:spcPts val="2269"/>
              </a:lnSpc>
            </a:pPr>
            <a:r>
              <a:rPr lang="en-US" sz="2269" b="1" kern="0" spc="-45" dirty="0">
                <a:solidFill>
                  <a:srgbClr val="272525"/>
                </a:solidFill>
                <a:latin typeface="Petrona" pitchFamily="34" charset="0"/>
                <a:ea typeface="Petrona" pitchFamily="34" charset="-122"/>
                <a:cs typeface="Petrona" pitchFamily="34" charset="-120"/>
              </a:rPr>
              <a:t>1</a:t>
            </a:r>
            <a:endParaRPr lang="en-US" sz="2269" dirty="0"/>
          </a:p>
        </p:txBody>
      </p:sp>
      <p:sp>
        <p:nvSpPr>
          <p:cNvPr id="10" name="Text 6"/>
          <p:cNvSpPr/>
          <p:nvPr/>
        </p:nvSpPr>
        <p:spPr>
          <a:xfrm>
            <a:off x="2235637" y="3322439"/>
            <a:ext cx="2400776" cy="300038"/>
          </a:xfrm>
          <a:prstGeom prst="rect">
            <a:avLst/>
          </a:prstGeom>
          <a:noFill/>
          <a:ln/>
        </p:spPr>
        <p:txBody>
          <a:bodyPr wrap="none" rtlCol="0" anchor="t"/>
          <a:lstStyle/>
          <a:p>
            <a:pPr>
              <a:lnSpc>
                <a:spcPts val="2363"/>
              </a:lnSpc>
            </a:pPr>
            <a:r>
              <a:rPr lang="en-US" sz="1891" b="1" kern="0" spc="-37" dirty="0">
                <a:solidFill>
                  <a:srgbClr val="272525"/>
                </a:solidFill>
                <a:latin typeface="Petrona" pitchFamily="34" charset="0"/>
                <a:ea typeface="Petrona" pitchFamily="34" charset="-122"/>
                <a:cs typeface="Petrona" pitchFamily="34" charset="-120"/>
              </a:rPr>
              <a:t>Análisis de lenguaje</a:t>
            </a:r>
            <a:endParaRPr lang="en-US" sz="1891" dirty="0"/>
          </a:p>
        </p:txBody>
      </p:sp>
      <p:sp>
        <p:nvSpPr>
          <p:cNvPr id="11" name="Text 7"/>
          <p:cNvSpPr/>
          <p:nvPr/>
        </p:nvSpPr>
        <p:spPr>
          <a:xfrm>
            <a:off x="2235637" y="3727132"/>
            <a:ext cx="4669988" cy="1397198"/>
          </a:xfrm>
          <a:prstGeom prst="rect">
            <a:avLst/>
          </a:prstGeom>
          <a:noFill/>
          <a:ln/>
        </p:spPr>
        <p:txBody>
          <a:bodyPr wrap="square" rtlCol="0" anchor="t"/>
          <a:lstStyle/>
          <a:p>
            <a:pPr algn="just">
              <a:lnSpc>
                <a:spcPts val="2200"/>
              </a:lnSpc>
            </a:pPr>
            <a:r>
              <a:rPr lang="en-US" kern="0" spc="-27" dirty="0">
                <a:solidFill>
                  <a:srgbClr val="272525"/>
                </a:solidFill>
                <a:latin typeface="Inter" pitchFamily="34" charset="0"/>
                <a:ea typeface="Inter" pitchFamily="34" charset="-122"/>
                <a:cs typeface="Inter" pitchFamily="34" charset="-120"/>
              </a:rPr>
              <a:t>Se centra en desentrañar la estructura y el significado del lenguaje. Incluye tareas como la detección de entidades, la segmentación de oraciones y el análisis de sentimientos.</a:t>
            </a:r>
            <a:endParaRPr lang="en-US" dirty="0"/>
          </a:p>
        </p:txBody>
      </p:sp>
      <p:sp>
        <p:nvSpPr>
          <p:cNvPr id="12" name="Shape 8"/>
          <p:cNvSpPr/>
          <p:nvPr/>
        </p:nvSpPr>
        <p:spPr>
          <a:xfrm>
            <a:off x="7897778" y="3462158"/>
            <a:ext cx="392787" cy="392787"/>
          </a:xfrm>
          <a:prstGeom prst="roundRect">
            <a:avLst>
              <a:gd name="adj" fmla="val 18670"/>
            </a:avLst>
          </a:prstGeom>
          <a:solidFill>
            <a:srgbClr val="E0D7F4"/>
          </a:solidFill>
          <a:ln w="7620">
            <a:solidFill>
              <a:srgbClr val="C6BDDA"/>
            </a:solidFill>
            <a:prstDash val="solid"/>
          </a:ln>
        </p:spPr>
        <p:txBody>
          <a:bodyPr/>
          <a:lstStyle/>
          <a:p>
            <a:endParaRPr lang="es-PE"/>
          </a:p>
        </p:txBody>
      </p:sp>
      <p:sp>
        <p:nvSpPr>
          <p:cNvPr id="13" name="Text 9"/>
          <p:cNvSpPr/>
          <p:nvPr/>
        </p:nvSpPr>
        <p:spPr>
          <a:xfrm>
            <a:off x="8015293" y="3514426"/>
            <a:ext cx="157639" cy="288131"/>
          </a:xfrm>
          <a:prstGeom prst="rect">
            <a:avLst/>
          </a:prstGeom>
          <a:noFill/>
          <a:ln/>
        </p:spPr>
        <p:txBody>
          <a:bodyPr wrap="none" rtlCol="0" anchor="t"/>
          <a:lstStyle/>
          <a:p>
            <a:pPr algn="ctr">
              <a:lnSpc>
                <a:spcPts val="2269"/>
              </a:lnSpc>
            </a:pPr>
            <a:r>
              <a:rPr lang="en-US" sz="2269" b="1" kern="0" spc="-45" dirty="0">
                <a:solidFill>
                  <a:srgbClr val="272525"/>
                </a:solidFill>
                <a:latin typeface="Petrona" pitchFamily="34" charset="0"/>
                <a:ea typeface="Petrona" pitchFamily="34" charset="-122"/>
                <a:cs typeface="Petrona" pitchFamily="34" charset="-120"/>
              </a:rPr>
              <a:t>2</a:t>
            </a:r>
            <a:endParaRPr lang="en-US" sz="2269" dirty="0"/>
          </a:p>
        </p:txBody>
      </p:sp>
      <p:sp>
        <p:nvSpPr>
          <p:cNvPr id="14" name="Text 10"/>
          <p:cNvSpPr/>
          <p:nvPr/>
        </p:nvSpPr>
        <p:spPr>
          <a:xfrm>
            <a:off x="8465112" y="3462156"/>
            <a:ext cx="2473047" cy="300039"/>
          </a:xfrm>
          <a:prstGeom prst="rect">
            <a:avLst/>
          </a:prstGeom>
          <a:noFill/>
          <a:ln/>
        </p:spPr>
        <p:txBody>
          <a:bodyPr wrap="none" rtlCol="0" anchor="t"/>
          <a:lstStyle/>
          <a:p>
            <a:pPr>
              <a:lnSpc>
                <a:spcPts val="2363"/>
              </a:lnSpc>
            </a:pPr>
            <a:r>
              <a:rPr lang="en-US" sz="1891" b="1" kern="0" spc="-37" dirty="0">
                <a:solidFill>
                  <a:srgbClr val="272525"/>
                </a:solidFill>
                <a:latin typeface="Petrona" pitchFamily="34" charset="0"/>
                <a:ea typeface="Petrona" pitchFamily="34" charset="-122"/>
                <a:cs typeface="Petrona" pitchFamily="34" charset="-120"/>
              </a:rPr>
              <a:t>Generación de lenguaje</a:t>
            </a:r>
            <a:endParaRPr lang="en-US" sz="1891" dirty="0"/>
          </a:p>
        </p:txBody>
      </p:sp>
      <p:sp>
        <p:nvSpPr>
          <p:cNvPr id="15" name="Text 11"/>
          <p:cNvSpPr/>
          <p:nvPr/>
        </p:nvSpPr>
        <p:spPr>
          <a:xfrm>
            <a:off x="8465108" y="3866852"/>
            <a:ext cx="4974667" cy="838319"/>
          </a:xfrm>
          <a:prstGeom prst="rect">
            <a:avLst/>
          </a:prstGeom>
          <a:noFill/>
          <a:ln/>
        </p:spPr>
        <p:txBody>
          <a:bodyPr wrap="square" rtlCol="0" anchor="t"/>
          <a:lstStyle/>
          <a:p>
            <a:pPr algn="just">
              <a:lnSpc>
                <a:spcPts val="2200"/>
              </a:lnSpc>
            </a:pPr>
            <a:r>
              <a:rPr lang="en-US" kern="0" spc="-27" dirty="0">
                <a:solidFill>
                  <a:srgbClr val="272525"/>
                </a:solidFill>
                <a:latin typeface="Inter" pitchFamily="34" charset="0"/>
                <a:ea typeface="Inter" pitchFamily="34" charset="-122"/>
                <a:cs typeface="Inter" pitchFamily="34" charset="-120"/>
              </a:rPr>
              <a:t>Se enfoca en crear nuevo lenguaje, como traducción automática, generación de texto y resúmenes.</a:t>
            </a:r>
            <a:endParaRPr lang="en-US" dirty="0"/>
          </a:p>
        </p:txBody>
      </p:sp>
      <p:sp>
        <p:nvSpPr>
          <p:cNvPr id="16" name="Shape 12"/>
          <p:cNvSpPr/>
          <p:nvPr/>
        </p:nvSpPr>
        <p:spPr>
          <a:xfrm>
            <a:off x="1668304" y="5495210"/>
            <a:ext cx="392787" cy="392787"/>
          </a:xfrm>
          <a:prstGeom prst="roundRect">
            <a:avLst>
              <a:gd name="adj" fmla="val 18670"/>
            </a:avLst>
          </a:prstGeom>
          <a:solidFill>
            <a:srgbClr val="E0D7F4"/>
          </a:solidFill>
          <a:ln w="7620">
            <a:solidFill>
              <a:srgbClr val="C6BDDA"/>
            </a:solidFill>
            <a:prstDash val="solid"/>
          </a:ln>
        </p:spPr>
        <p:txBody>
          <a:bodyPr/>
          <a:lstStyle/>
          <a:p>
            <a:endParaRPr lang="es-PE"/>
          </a:p>
        </p:txBody>
      </p:sp>
      <p:sp>
        <p:nvSpPr>
          <p:cNvPr id="17" name="Text 13"/>
          <p:cNvSpPr/>
          <p:nvPr/>
        </p:nvSpPr>
        <p:spPr>
          <a:xfrm>
            <a:off x="1786057" y="5547479"/>
            <a:ext cx="157282" cy="288131"/>
          </a:xfrm>
          <a:prstGeom prst="rect">
            <a:avLst/>
          </a:prstGeom>
          <a:noFill/>
          <a:ln/>
        </p:spPr>
        <p:txBody>
          <a:bodyPr wrap="none" rtlCol="0" anchor="t"/>
          <a:lstStyle/>
          <a:p>
            <a:pPr algn="ctr">
              <a:lnSpc>
                <a:spcPts val="2269"/>
              </a:lnSpc>
            </a:pPr>
            <a:r>
              <a:rPr lang="en-US" sz="2269" b="1" kern="0" spc="-45" dirty="0">
                <a:solidFill>
                  <a:srgbClr val="272525"/>
                </a:solidFill>
                <a:latin typeface="Petrona" pitchFamily="34" charset="0"/>
                <a:ea typeface="Petrona" pitchFamily="34" charset="-122"/>
                <a:cs typeface="Petrona" pitchFamily="34" charset="-120"/>
              </a:rPr>
              <a:t>3</a:t>
            </a:r>
            <a:endParaRPr lang="en-US" sz="2269" dirty="0"/>
          </a:p>
        </p:txBody>
      </p:sp>
      <p:sp>
        <p:nvSpPr>
          <p:cNvPr id="18" name="Text 14"/>
          <p:cNvSpPr/>
          <p:nvPr/>
        </p:nvSpPr>
        <p:spPr>
          <a:xfrm>
            <a:off x="2235637" y="5495210"/>
            <a:ext cx="2773323" cy="300038"/>
          </a:xfrm>
          <a:prstGeom prst="rect">
            <a:avLst/>
          </a:prstGeom>
          <a:noFill/>
          <a:ln/>
        </p:spPr>
        <p:txBody>
          <a:bodyPr wrap="none" rtlCol="0" anchor="t"/>
          <a:lstStyle/>
          <a:p>
            <a:pPr>
              <a:lnSpc>
                <a:spcPts val="2363"/>
              </a:lnSpc>
            </a:pPr>
            <a:r>
              <a:rPr lang="en-US" sz="1891" b="1" kern="0" spc="-37" dirty="0">
                <a:solidFill>
                  <a:srgbClr val="272525"/>
                </a:solidFill>
                <a:latin typeface="Petrona" pitchFamily="34" charset="0"/>
                <a:ea typeface="Petrona" pitchFamily="34" charset="-122"/>
                <a:cs typeface="Petrona" pitchFamily="34" charset="-120"/>
              </a:rPr>
              <a:t>Comprensión del lenguaje</a:t>
            </a:r>
            <a:endParaRPr lang="en-US" sz="1891" dirty="0"/>
          </a:p>
        </p:txBody>
      </p:sp>
      <p:sp>
        <p:nvSpPr>
          <p:cNvPr id="19" name="Text 15"/>
          <p:cNvSpPr/>
          <p:nvPr/>
        </p:nvSpPr>
        <p:spPr>
          <a:xfrm>
            <a:off x="2235637" y="5899904"/>
            <a:ext cx="7354610" cy="558879"/>
          </a:xfrm>
          <a:prstGeom prst="rect">
            <a:avLst/>
          </a:prstGeom>
          <a:noFill/>
          <a:ln/>
        </p:spPr>
        <p:txBody>
          <a:bodyPr wrap="square" rtlCol="0" anchor="t"/>
          <a:lstStyle/>
          <a:p>
            <a:pPr algn="just">
              <a:lnSpc>
                <a:spcPts val="2200"/>
              </a:lnSpc>
            </a:pPr>
            <a:r>
              <a:rPr lang="en-US" kern="0" spc="-27" dirty="0">
                <a:solidFill>
                  <a:srgbClr val="272525"/>
                </a:solidFill>
                <a:latin typeface="Inter" pitchFamily="34" charset="0"/>
                <a:ea typeface="Inter" pitchFamily="34" charset="-122"/>
                <a:cs typeface="Inter" pitchFamily="34" charset="-120"/>
              </a:rPr>
              <a:t>Busca que las computadoras comprendan el significado del lenguaje humano, como la respuesta a preguntas y el razonamiento lógico.</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615196" y="493038"/>
            <a:ext cx="12529304" cy="1091327"/>
          </a:xfrm>
          <a:prstGeom prst="rect">
            <a:avLst/>
          </a:prstGeom>
          <a:noFill/>
          <a:ln/>
        </p:spPr>
        <p:txBody>
          <a:bodyPr wrap="square" rtlCol="0" anchor="t"/>
          <a:lstStyle/>
          <a:p>
            <a:pPr algn="just">
              <a:lnSpc>
                <a:spcPts val="4299"/>
              </a:lnSpc>
            </a:pPr>
            <a:r>
              <a:rPr lang="en-US" sz="4400" b="1" kern="0" spc="-69" dirty="0">
                <a:solidFill>
                  <a:srgbClr val="F95F88"/>
                </a:solidFill>
                <a:latin typeface="Petrona" pitchFamily="34" charset="0"/>
                <a:ea typeface="Petrona" pitchFamily="34" charset="-122"/>
                <a:cs typeface="Petrona" pitchFamily="34" charset="-120"/>
              </a:rPr>
              <a:t>Técnicas de Procesamiento de Lenguaje Natural</a:t>
            </a:r>
            <a:endParaRPr lang="en-US" sz="4400" dirty="0"/>
          </a:p>
        </p:txBody>
      </p:sp>
      <p:sp>
        <p:nvSpPr>
          <p:cNvPr id="7" name="Text 3"/>
          <p:cNvSpPr/>
          <p:nvPr/>
        </p:nvSpPr>
        <p:spPr>
          <a:xfrm>
            <a:off x="1009293" y="1446787"/>
            <a:ext cx="11741110" cy="508159"/>
          </a:xfrm>
          <a:prstGeom prst="rect">
            <a:avLst/>
          </a:prstGeom>
          <a:noFill/>
          <a:ln/>
        </p:spPr>
        <p:txBody>
          <a:bodyPr wrap="square" rtlCol="0" anchor="t"/>
          <a:lstStyle/>
          <a:p>
            <a:pPr>
              <a:lnSpc>
                <a:spcPts val="2000"/>
              </a:lnSpc>
            </a:pPr>
            <a:r>
              <a:rPr lang="en-US" sz="2000" kern="0" spc="-25" dirty="0">
                <a:solidFill>
                  <a:srgbClr val="272525"/>
                </a:solidFill>
                <a:latin typeface="Inter" pitchFamily="34" charset="0"/>
                <a:ea typeface="Inter" pitchFamily="34" charset="-122"/>
                <a:cs typeface="Inter" pitchFamily="34" charset="-120"/>
              </a:rPr>
              <a:t>Las técnicas del PLN se basan en algoritmos y modelos que procesan el lenguaje de diferentes formas. Estas técnicas se han desarrollado a lo largo de los años y han dado lugar a aplicaciones innovadoras.</a:t>
            </a:r>
            <a:endParaRPr lang="en-US" sz="2000" dirty="0"/>
          </a:p>
        </p:txBody>
      </p:sp>
      <p:sp>
        <p:nvSpPr>
          <p:cNvPr id="8" name="Shape 4"/>
          <p:cNvSpPr/>
          <p:nvPr/>
        </p:nvSpPr>
        <p:spPr>
          <a:xfrm>
            <a:off x="2794278" y="2694981"/>
            <a:ext cx="22860" cy="4488775"/>
          </a:xfrm>
          <a:prstGeom prst="roundRect">
            <a:avLst>
              <a:gd name="adj" fmla="val 291721"/>
            </a:avLst>
          </a:prstGeom>
          <a:solidFill>
            <a:srgbClr val="C6BDDA"/>
          </a:solidFill>
          <a:ln/>
        </p:spPr>
        <p:txBody>
          <a:bodyPr/>
          <a:lstStyle/>
          <a:p>
            <a:endParaRPr lang="es-PE" sz="2400"/>
          </a:p>
        </p:txBody>
      </p:sp>
      <p:sp>
        <p:nvSpPr>
          <p:cNvPr id="9" name="Shape 5"/>
          <p:cNvSpPr/>
          <p:nvPr/>
        </p:nvSpPr>
        <p:spPr>
          <a:xfrm>
            <a:off x="2961441" y="3040739"/>
            <a:ext cx="555665" cy="22860"/>
          </a:xfrm>
          <a:prstGeom prst="roundRect">
            <a:avLst>
              <a:gd name="adj" fmla="val 291721"/>
            </a:avLst>
          </a:prstGeom>
          <a:solidFill>
            <a:srgbClr val="C6BDDA"/>
          </a:solidFill>
          <a:ln/>
        </p:spPr>
        <p:txBody>
          <a:bodyPr/>
          <a:lstStyle/>
          <a:p>
            <a:endParaRPr lang="es-PE" sz="2400"/>
          </a:p>
        </p:txBody>
      </p:sp>
      <p:sp>
        <p:nvSpPr>
          <p:cNvPr id="10" name="Shape 6"/>
          <p:cNvSpPr/>
          <p:nvPr/>
        </p:nvSpPr>
        <p:spPr>
          <a:xfrm>
            <a:off x="2627114" y="2873575"/>
            <a:ext cx="357188" cy="357188"/>
          </a:xfrm>
          <a:prstGeom prst="roundRect">
            <a:avLst>
              <a:gd name="adj" fmla="val 18670"/>
            </a:avLst>
          </a:prstGeom>
          <a:solidFill>
            <a:srgbClr val="E0D7F4"/>
          </a:solidFill>
          <a:ln w="7620">
            <a:solidFill>
              <a:srgbClr val="C6BDDA"/>
            </a:solidFill>
            <a:prstDash val="solid"/>
          </a:ln>
        </p:spPr>
        <p:txBody>
          <a:bodyPr/>
          <a:lstStyle/>
          <a:p>
            <a:endParaRPr lang="es-PE" sz="2400"/>
          </a:p>
        </p:txBody>
      </p:sp>
      <p:sp>
        <p:nvSpPr>
          <p:cNvPr id="11" name="Text 7"/>
          <p:cNvSpPr/>
          <p:nvPr/>
        </p:nvSpPr>
        <p:spPr>
          <a:xfrm>
            <a:off x="2752249" y="2921200"/>
            <a:ext cx="106918" cy="261937"/>
          </a:xfrm>
          <a:prstGeom prst="rect">
            <a:avLst/>
          </a:prstGeom>
          <a:noFill/>
          <a:ln/>
        </p:spPr>
        <p:txBody>
          <a:bodyPr wrap="none" rtlCol="0" anchor="t"/>
          <a:lstStyle/>
          <a:p>
            <a:pPr algn="ctr">
              <a:lnSpc>
                <a:spcPts val="2063"/>
              </a:lnSpc>
            </a:pPr>
            <a:r>
              <a:rPr lang="en-US" sz="2800" b="1" kern="0" spc="-41" dirty="0">
                <a:solidFill>
                  <a:srgbClr val="272525"/>
                </a:solidFill>
                <a:latin typeface="Petrona" pitchFamily="34" charset="0"/>
                <a:ea typeface="Petrona" pitchFamily="34" charset="-122"/>
                <a:cs typeface="Petrona" pitchFamily="34" charset="-120"/>
              </a:rPr>
              <a:t>1</a:t>
            </a:r>
            <a:endParaRPr lang="en-US" sz="2800" dirty="0"/>
          </a:p>
        </p:txBody>
      </p:sp>
      <p:sp>
        <p:nvSpPr>
          <p:cNvPr id="12" name="Text 8"/>
          <p:cNvSpPr/>
          <p:nvPr/>
        </p:nvSpPr>
        <p:spPr>
          <a:xfrm>
            <a:off x="3678912" y="2853691"/>
            <a:ext cx="2183130"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Análisis Morfológico</a:t>
            </a:r>
            <a:endParaRPr lang="en-US" sz="2000" dirty="0"/>
          </a:p>
        </p:txBody>
      </p:sp>
      <p:sp>
        <p:nvSpPr>
          <p:cNvPr id="13" name="Text 9"/>
          <p:cNvSpPr/>
          <p:nvPr/>
        </p:nvSpPr>
        <p:spPr>
          <a:xfrm>
            <a:off x="3678912" y="3221833"/>
            <a:ext cx="6921341" cy="254079"/>
          </a:xfrm>
          <a:prstGeom prst="rect">
            <a:avLst/>
          </a:prstGeom>
          <a:noFill/>
          <a:ln/>
        </p:spPr>
        <p:txBody>
          <a:bodyPr wrap="non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Identifica la estructura interna de las palabras y sus diferentes formas.</a:t>
            </a:r>
            <a:endParaRPr lang="en-US" sz="1600" dirty="0"/>
          </a:p>
        </p:txBody>
      </p:sp>
      <p:sp>
        <p:nvSpPr>
          <p:cNvPr id="14" name="Shape 10"/>
          <p:cNvSpPr/>
          <p:nvPr/>
        </p:nvSpPr>
        <p:spPr>
          <a:xfrm>
            <a:off x="2961441" y="4139090"/>
            <a:ext cx="555665" cy="22860"/>
          </a:xfrm>
          <a:prstGeom prst="roundRect">
            <a:avLst>
              <a:gd name="adj" fmla="val 291721"/>
            </a:avLst>
          </a:prstGeom>
          <a:solidFill>
            <a:srgbClr val="C6BDDA"/>
          </a:solidFill>
          <a:ln/>
        </p:spPr>
        <p:txBody>
          <a:bodyPr/>
          <a:lstStyle/>
          <a:p>
            <a:endParaRPr lang="es-PE" sz="2400"/>
          </a:p>
        </p:txBody>
      </p:sp>
      <p:sp>
        <p:nvSpPr>
          <p:cNvPr id="15" name="Shape 11"/>
          <p:cNvSpPr/>
          <p:nvPr/>
        </p:nvSpPr>
        <p:spPr>
          <a:xfrm>
            <a:off x="2627114" y="3971926"/>
            <a:ext cx="357188" cy="357188"/>
          </a:xfrm>
          <a:prstGeom prst="roundRect">
            <a:avLst>
              <a:gd name="adj" fmla="val 18670"/>
            </a:avLst>
          </a:prstGeom>
          <a:solidFill>
            <a:srgbClr val="E0D7F4"/>
          </a:solidFill>
          <a:ln w="7620">
            <a:solidFill>
              <a:srgbClr val="C6BDDA"/>
            </a:solidFill>
            <a:prstDash val="solid"/>
          </a:ln>
        </p:spPr>
        <p:txBody>
          <a:bodyPr/>
          <a:lstStyle/>
          <a:p>
            <a:endParaRPr lang="es-PE" sz="2400"/>
          </a:p>
        </p:txBody>
      </p:sp>
      <p:sp>
        <p:nvSpPr>
          <p:cNvPr id="16" name="Text 12"/>
          <p:cNvSpPr/>
          <p:nvPr/>
        </p:nvSpPr>
        <p:spPr>
          <a:xfrm>
            <a:off x="2734032" y="4019551"/>
            <a:ext cx="143351" cy="261937"/>
          </a:xfrm>
          <a:prstGeom prst="rect">
            <a:avLst/>
          </a:prstGeom>
          <a:noFill/>
          <a:ln/>
        </p:spPr>
        <p:txBody>
          <a:bodyPr wrap="none" rtlCol="0" anchor="t"/>
          <a:lstStyle/>
          <a:p>
            <a:pPr algn="ctr">
              <a:lnSpc>
                <a:spcPts val="2063"/>
              </a:lnSpc>
            </a:pPr>
            <a:r>
              <a:rPr lang="en-US" sz="2800" b="1" kern="0" spc="-41" dirty="0">
                <a:solidFill>
                  <a:srgbClr val="272525"/>
                </a:solidFill>
                <a:latin typeface="Petrona" pitchFamily="34" charset="0"/>
                <a:ea typeface="Petrona" pitchFamily="34" charset="-122"/>
                <a:cs typeface="Petrona" pitchFamily="34" charset="-120"/>
              </a:rPr>
              <a:t>2</a:t>
            </a:r>
            <a:endParaRPr lang="en-US" sz="2800" dirty="0"/>
          </a:p>
        </p:txBody>
      </p:sp>
      <p:sp>
        <p:nvSpPr>
          <p:cNvPr id="17" name="Text 13"/>
          <p:cNvSpPr/>
          <p:nvPr/>
        </p:nvSpPr>
        <p:spPr>
          <a:xfrm>
            <a:off x="3678912" y="3952043"/>
            <a:ext cx="2183130"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Análisis Sintáctico</a:t>
            </a:r>
            <a:endParaRPr lang="en-US" sz="2000" dirty="0"/>
          </a:p>
        </p:txBody>
      </p:sp>
      <p:sp>
        <p:nvSpPr>
          <p:cNvPr id="18" name="Text 14"/>
          <p:cNvSpPr/>
          <p:nvPr/>
        </p:nvSpPr>
        <p:spPr>
          <a:xfrm>
            <a:off x="3678912" y="4320184"/>
            <a:ext cx="6921341" cy="254079"/>
          </a:xfrm>
          <a:prstGeom prst="rect">
            <a:avLst/>
          </a:prstGeom>
          <a:noFill/>
          <a:ln/>
        </p:spPr>
        <p:txBody>
          <a:bodyPr wrap="non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Examina la estructura gramatical de las frases y cómo se relacionan las palabras entre sí.</a:t>
            </a:r>
            <a:endParaRPr lang="en-US" sz="1600" dirty="0"/>
          </a:p>
        </p:txBody>
      </p:sp>
      <p:sp>
        <p:nvSpPr>
          <p:cNvPr id="19" name="Shape 15"/>
          <p:cNvSpPr/>
          <p:nvPr/>
        </p:nvSpPr>
        <p:spPr>
          <a:xfrm>
            <a:off x="2961441" y="5237442"/>
            <a:ext cx="555665" cy="22860"/>
          </a:xfrm>
          <a:prstGeom prst="roundRect">
            <a:avLst>
              <a:gd name="adj" fmla="val 291721"/>
            </a:avLst>
          </a:prstGeom>
          <a:solidFill>
            <a:srgbClr val="C6BDDA"/>
          </a:solidFill>
          <a:ln/>
        </p:spPr>
        <p:txBody>
          <a:bodyPr/>
          <a:lstStyle/>
          <a:p>
            <a:endParaRPr lang="es-PE" sz="2400"/>
          </a:p>
        </p:txBody>
      </p:sp>
      <p:sp>
        <p:nvSpPr>
          <p:cNvPr id="20" name="Shape 16"/>
          <p:cNvSpPr/>
          <p:nvPr/>
        </p:nvSpPr>
        <p:spPr>
          <a:xfrm>
            <a:off x="2627114" y="5070278"/>
            <a:ext cx="357188" cy="357188"/>
          </a:xfrm>
          <a:prstGeom prst="roundRect">
            <a:avLst>
              <a:gd name="adj" fmla="val 18670"/>
            </a:avLst>
          </a:prstGeom>
          <a:solidFill>
            <a:srgbClr val="E0D7F4"/>
          </a:solidFill>
          <a:ln w="7620">
            <a:solidFill>
              <a:srgbClr val="C6BDDA"/>
            </a:solidFill>
            <a:prstDash val="solid"/>
          </a:ln>
        </p:spPr>
        <p:txBody>
          <a:bodyPr/>
          <a:lstStyle/>
          <a:p>
            <a:endParaRPr lang="es-PE" sz="2400"/>
          </a:p>
        </p:txBody>
      </p:sp>
      <p:sp>
        <p:nvSpPr>
          <p:cNvPr id="21" name="Text 17"/>
          <p:cNvSpPr/>
          <p:nvPr/>
        </p:nvSpPr>
        <p:spPr>
          <a:xfrm>
            <a:off x="2734151" y="5117903"/>
            <a:ext cx="143113" cy="261937"/>
          </a:xfrm>
          <a:prstGeom prst="rect">
            <a:avLst/>
          </a:prstGeom>
          <a:noFill/>
          <a:ln/>
        </p:spPr>
        <p:txBody>
          <a:bodyPr wrap="none" rtlCol="0" anchor="t"/>
          <a:lstStyle/>
          <a:p>
            <a:pPr algn="ctr">
              <a:lnSpc>
                <a:spcPts val="2063"/>
              </a:lnSpc>
            </a:pPr>
            <a:r>
              <a:rPr lang="en-US" sz="2800" b="1" kern="0" spc="-41" dirty="0">
                <a:solidFill>
                  <a:srgbClr val="272525"/>
                </a:solidFill>
                <a:latin typeface="Petrona" pitchFamily="34" charset="0"/>
                <a:ea typeface="Petrona" pitchFamily="34" charset="-122"/>
                <a:cs typeface="Petrona" pitchFamily="34" charset="-120"/>
              </a:rPr>
              <a:t>3</a:t>
            </a:r>
            <a:endParaRPr lang="en-US" sz="2800" dirty="0"/>
          </a:p>
        </p:txBody>
      </p:sp>
      <p:sp>
        <p:nvSpPr>
          <p:cNvPr id="22" name="Text 18"/>
          <p:cNvSpPr/>
          <p:nvPr/>
        </p:nvSpPr>
        <p:spPr>
          <a:xfrm>
            <a:off x="3678912" y="5050394"/>
            <a:ext cx="2183130"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Análisis Semántico</a:t>
            </a:r>
            <a:endParaRPr lang="en-US" sz="2000" dirty="0"/>
          </a:p>
        </p:txBody>
      </p:sp>
      <p:sp>
        <p:nvSpPr>
          <p:cNvPr id="23" name="Text 19"/>
          <p:cNvSpPr/>
          <p:nvPr/>
        </p:nvSpPr>
        <p:spPr>
          <a:xfrm>
            <a:off x="3678912" y="5418536"/>
            <a:ext cx="6921341" cy="254079"/>
          </a:xfrm>
          <a:prstGeom prst="rect">
            <a:avLst/>
          </a:prstGeom>
          <a:noFill/>
          <a:ln/>
        </p:spPr>
        <p:txBody>
          <a:bodyPr wrap="non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Busca comprender el significado de las palabras y las frases en contexto.</a:t>
            </a:r>
            <a:endParaRPr lang="en-US" sz="1600" dirty="0"/>
          </a:p>
        </p:txBody>
      </p:sp>
      <p:sp>
        <p:nvSpPr>
          <p:cNvPr id="24" name="Shape 20"/>
          <p:cNvSpPr/>
          <p:nvPr/>
        </p:nvSpPr>
        <p:spPr>
          <a:xfrm>
            <a:off x="2961441" y="6335793"/>
            <a:ext cx="555665" cy="22860"/>
          </a:xfrm>
          <a:prstGeom prst="roundRect">
            <a:avLst>
              <a:gd name="adj" fmla="val 291721"/>
            </a:avLst>
          </a:prstGeom>
          <a:solidFill>
            <a:srgbClr val="C6BDDA"/>
          </a:solidFill>
          <a:ln/>
        </p:spPr>
        <p:txBody>
          <a:bodyPr/>
          <a:lstStyle/>
          <a:p>
            <a:endParaRPr lang="es-PE" sz="2400"/>
          </a:p>
        </p:txBody>
      </p:sp>
      <p:sp>
        <p:nvSpPr>
          <p:cNvPr id="25" name="Shape 21"/>
          <p:cNvSpPr/>
          <p:nvPr/>
        </p:nvSpPr>
        <p:spPr>
          <a:xfrm>
            <a:off x="2627114" y="6168629"/>
            <a:ext cx="357188" cy="357188"/>
          </a:xfrm>
          <a:prstGeom prst="roundRect">
            <a:avLst>
              <a:gd name="adj" fmla="val 18670"/>
            </a:avLst>
          </a:prstGeom>
          <a:solidFill>
            <a:srgbClr val="E0D7F4"/>
          </a:solidFill>
          <a:ln w="7620">
            <a:solidFill>
              <a:srgbClr val="C6BDDA"/>
            </a:solidFill>
            <a:prstDash val="solid"/>
          </a:ln>
        </p:spPr>
        <p:txBody>
          <a:bodyPr/>
          <a:lstStyle/>
          <a:p>
            <a:endParaRPr lang="es-PE" sz="2400"/>
          </a:p>
        </p:txBody>
      </p:sp>
      <p:sp>
        <p:nvSpPr>
          <p:cNvPr id="26" name="Text 22"/>
          <p:cNvSpPr/>
          <p:nvPr/>
        </p:nvSpPr>
        <p:spPr>
          <a:xfrm>
            <a:off x="2737723" y="6216254"/>
            <a:ext cx="135969" cy="261937"/>
          </a:xfrm>
          <a:prstGeom prst="rect">
            <a:avLst/>
          </a:prstGeom>
          <a:noFill/>
          <a:ln/>
        </p:spPr>
        <p:txBody>
          <a:bodyPr wrap="none" rtlCol="0" anchor="t"/>
          <a:lstStyle/>
          <a:p>
            <a:pPr algn="ctr">
              <a:lnSpc>
                <a:spcPts val="2063"/>
              </a:lnSpc>
            </a:pPr>
            <a:r>
              <a:rPr lang="en-US" sz="2800" b="1" kern="0" spc="-41" dirty="0">
                <a:solidFill>
                  <a:srgbClr val="272525"/>
                </a:solidFill>
                <a:latin typeface="Petrona" pitchFamily="34" charset="0"/>
                <a:ea typeface="Petrona" pitchFamily="34" charset="-122"/>
                <a:cs typeface="Petrona" pitchFamily="34" charset="-120"/>
              </a:rPr>
              <a:t>4</a:t>
            </a:r>
            <a:endParaRPr lang="en-US" sz="2800" dirty="0"/>
          </a:p>
        </p:txBody>
      </p:sp>
      <p:sp>
        <p:nvSpPr>
          <p:cNvPr id="27" name="Text 23"/>
          <p:cNvSpPr/>
          <p:nvPr/>
        </p:nvSpPr>
        <p:spPr>
          <a:xfrm>
            <a:off x="3678912" y="6148746"/>
            <a:ext cx="2183130"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Análisis Pragmático</a:t>
            </a:r>
            <a:endParaRPr lang="en-US" sz="2000" dirty="0"/>
          </a:p>
        </p:txBody>
      </p:sp>
      <p:sp>
        <p:nvSpPr>
          <p:cNvPr id="28" name="Text 24"/>
          <p:cNvSpPr/>
          <p:nvPr/>
        </p:nvSpPr>
        <p:spPr>
          <a:xfrm>
            <a:off x="3678912" y="6516887"/>
            <a:ext cx="6921341" cy="508159"/>
          </a:xfrm>
          <a:prstGeom prst="rect">
            <a:avLst/>
          </a:prstGeom>
          <a:noFill/>
          <a:ln/>
        </p:spPr>
        <p:txBody>
          <a:bodyPr wrap="squar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Estudia el lenguaje en su contexto social, considerando la intención del hablante y el conocimiento compartido.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677704" y="685919"/>
            <a:ext cx="13362146" cy="1331357"/>
          </a:xfrm>
          <a:prstGeom prst="rect">
            <a:avLst/>
          </a:prstGeom>
          <a:noFill/>
          <a:ln/>
        </p:spPr>
        <p:txBody>
          <a:bodyPr wrap="square" rtlCol="0" anchor="t"/>
          <a:lstStyle/>
          <a:p>
            <a:pPr>
              <a:lnSpc>
                <a:spcPts val="5243"/>
              </a:lnSpc>
            </a:pPr>
            <a:r>
              <a:rPr lang="en-US" sz="4193" b="1" kern="0" spc="-84" dirty="0">
                <a:solidFill>
                  <a:srgbClr val="F95F88"/>
                </a:solidFill>
                <a:latin typeface="Petrona" pitchFamily="34" charset="0"/>
                <a:ea typeface="Petrona" pitchFamily="34" charset="-122"/>
                <a:cs typeface="Petrona" pitchFamily="34" charset="-120"/>
              </a:rPr>
              <a:t>Modelos de lenguaje y representación de texto</a:t>
            </a:r>
            <a:endParaRPr lang="en-US" sz="4193" dirty="0"/>
          </a:p>
        </p:txBody>
      </p:sp>
      <p:sp>
        <p:nvSpPr>
          <p:cNvPr id="7" name="Text 3"/>
          <p:cNvSpPr/>
          <p:nvPr/>
        </p:nvSpPr>
        <p:spPr>
          <a:xfrm>
            <a:off x="1163479" y="1552396"/>
            <a:ext cx="11885771" cy="929759"/>
          </a:xfrm>
          <a:prstGeom prst="rect">
            <a:avLst/>
          </a:prstGeom>
          <a:noFill/>
          <a:ln/>
        </p:spPr>
        <p:txBody>
          <a:bodyPr wrap="square" rtlCol="0" anchor="t"/>
          <a:lstStyle/>
          <a:p>
            <a:pPr algn="just">
              <a:lnSpc>
                <a:spcPts val="2440"/>
              </a:lnSpc>
            </a:pPr>
            <a:r>
              <a:rPr lang="en-US" kern="0" spc="-31" dirty="0">
                <a:solidFill>
                  <a:srgbClr val="272525"/>
                </a:solidFill>
                <a:latin typeface="Inter" pitchFamily="34" charset="0"/>
                <a:ea typeface="Inter" pitchFamily="34" charset="-122"/>
                <a:cs typeface="Inter" pitchFamily="34" charset="-120"/>
              </a:rPr>
              <a:t>Los modelos de lenguaje son herramientas fundamentales en el PLN. Permiten representar el lenguaje como datos numéricos, lo que facilita el análisis y la generación de texto.</a:t>
            </a:r>
            <a:endParaRPr lang="en-US" dirty="0"/>
          </a:p>
        </p:txBody>
      </p:sp>
      <p:sp>
        <p:nvSpPr>
          <p:cNvPr id="8" name="Shape 4"/>
          <p:cNvSpPr/>
          <p:nvPr/>
        </p:nvSpPr>
        <p:spPr>
          <a:xfrm>
            <a:off x="2916079" y="2846750"/>
            <a:ext cx="3797498" cy="2423755"/>
          </a:xfrm>
          <a:prstGeom prst="roundRect">
            <a:avLst>
              <a:gd name="adj" fmla="val 3356"/>
            </a:avLst>
          </a:prstGeom>
          <a:solidFill>
            <a:srgbClr val="E0D7F4"/>
          </a:solidFill>
          <a:ln w="7620">
            <a:solidFill>
              <a:srgbClr val="C6BDDA"/>
            </a:solidFill>
            <a:prstDash val="solid"/>
          </a:ln>
        </p:spPr>
        <p:txBody>
          <a:bodyPr/>
          <a:lstStyle/>
          <a:p>
            <a:endParaRPr lang="es-PE" sz="2400"/>
          </a:p>
        </p:txBody>
      </p:sp>
      <p:sp>
        <p:nvSpPr>
          <p:cNvPr id="9" name="Text 5"/>
          <p:cNvSpPr/>
          <p:nvPr/>
        </p:nvSpPr>
        <p:spPr>
          <a:xfrm>
            <a:off x="3117294" y="3047965"/>
            <a:ext cx="2662714" cy="332780"/>
          </a:xfrm>
          <a:prstGeom prst="rect">
            <a:avLst/>
          </a:prstGeom>
          <a:noFill/>
          <a:ln/>
        </p:spPr>
        <p:txBody>
          <a:bodyPr wrap="none" rtlCol="0" anchor="t"/>
          <a:lstStyle/>
          <a:p>
            <a:pPr>
              <a:lnSpc>
                <a:spcPts val="2621"/>
              </a:lnSpc>
            </a:pPr>
            <a:r>
              <a:rPr lang="en-US" sz="2800" b="1" kern="0" spc="-43" dirty="0">
                <a:solidFill>
                  <a:srgbClr val="272525"/>
                </a:solidFill>
                <a:latin typeface="Petrona" pitchFamily="34" charset="0"/>
                <a:ea typeface="Petrona" pitchFamily="34" charset="-122"/>
                <a:cs typeface="Petrona" pitchFamily="34" charset="-120"/>
              </a:rPr>
              <a:t>Modelos estadísticos</a:t>
            </a:r>
            <a:endParaRPr lang="en-US" sz="2800" dirty="0"/>
          </a:p>
        </p:txBody>
      </p:sp>
      <p:sp>
        <p:nvSpPr>
          <p:cNvPr id="10" name="Text 6"/>
          <p:cNvSpPr/>
          <p:nvPr/>
        </p:nvSpPr>
        <p:spPr>
          <a:xfrm>
            <a:off x="3117294" y="3496831"/>
            <a:ext cx="3395067" cy="1239679"/>
          </a:xfrm>
          <a:prstGeom prst="rect">
            <a:avLst/>
          </a:prstGeom>
          <a:noFill/>
          <a:ln/>
        </p:spPr>
        <p:txBody>
          <a:bodyPr wrap="square" rtlCol="0" anchor="t"/>
          <a:lstStyle/>
          <a:p>
            <a:pPr>
              <a:lnSpc>
                <a:spcPts val="2440"/>
              </a:lnSpc>
            </a:pPr>
            <a:r>
              <a:rPr lang="en-US" kern="0" spc="-31" dirty="0">
                <a:solidFill>
                  <a:srgbClr val="272525"/>
                </a:solidFill>
                <a:latin typeface="Inter" pitchFamily="34" charset="0"/>
                <a:ea typeface="Inter" pitchFamily="34" charset="-122"/>
                <a:cs typeface="Inter" pitchFamily="34" charset="-120"/>
              </a:rPr>
              <a:t>Se basan en la probabilidad de aparición de palabras y frases, proporcionando una representación estadística del lenguaje.</a:t>
            </a:r>
            <a:endParaRPr lang="en-US" dirty="0"/>
          </a:p>
        </p:txBody>
      </p:sp>
      <p:sp>
        <p:nvSpPr>
          <p:cNvPr id="11" name="Shape 7"/>
          <p:cNvSpPr/>
          <p:nvPr/>
        </p:nvSpPr>
        <p:spPr>
          <a:xfrm>
            <a:off x="6907174" y="2846755"/>
            <a:ext cx="3797499" cy="2423755"/>
          </a:xfrm>
          <a:prstGeom prst="roundRect">
            <a:avLst>
              <a:gd name="adj" fmla="val 3356"/>
            </a:avLst>
          </a:prstGeom>
          <a:solidFill>
            <a:srgbClr val="E0D7F4"/>
          </a:solidFill>
          <a:ln w="7620">
            <a:solidFill>
              <a:srgbClr val="C6BDDA"/>
            </a:solidFill>
            <a:prstDash val="solid"/>
          </a:ln>
        </p:spPr>
        <p:txBody>
          <a:bodyPr/>
          <a:lstStyle/>
          <a:p>
            <a:endParaRPr lang="es-PE" sz="2400"/>
          </a:p>
        </p:txBody>
      </p:sp>
      <p:sp>
        <p:nvSpPr>
          <p:cNvPr id="12" name="Text 8"/>
          <p:cNvSpPr/>
          <p:nvPr/>
        </p:nvSpPr>
        <p:spPr>
          <a:xfrm>
            <a:off x="7108393" y="3047971"/>
            <a:ext cx="3395067" cy="665559"/>
          </a:xfrm>
          <a:prstGeom prst="rect">
            <a:avLst/>
          </a:prstGeom>
          <a:noFill/>
          <a:ln/>
        </p:spPr>
        <p:txBody>
          <a:bodyPr wrap="square" rtlCol="0" anchor="t"/>
          <a:lstStyle/>
          <a:p>
            <a:pPr>
              <a:lnSpc>
                <a:spcPts val="2621"/>
              </a:lnSpc>
            </a:pPr>
            <a:r>
              <a:rPr lang="en-US" sz="2400" b="1" kern="0" spc="-43" dirty="0">
                <a:solidFill>
                  <a:srgbClr val="272525"/>
                </a:solidFill>
                <a:latin typeface="Petrona" pitchFamily="34" charset="0"/>
                <a:ea typeface="Petrona" pitchFamily="34" charset="-122"/>
                <a:cs typeface="Petrona" pitchFamily="34" charset="-120"/>
              </a:rPr>
              <a:t>Modelos basados en redes neuronales</a:t>
            </a:r>
            <a:endParaRPr lang="en-US" sz="2400" dirty="0"/>
          </a:p>
        </p:txBody>
      </p:sp>
      <p:sp>
        <p:nvSpPr>
          <p:cNvPr id="13" name="Text 9"/>
          <p:cNvSpPr/>
          <p:nvPr/>
        </p:nvSpPr>
        <p:spPr>
          <a:xfrm>
            <a:off x="7108393" y="3829616"/>
            <a:ext cx="3395067" cy="1239679"/>
          </a:xfrm>
          <a:prstGeom prst="rect">
            <a:avLst/>
          </a:prstGeom>
          <a:noFill/>
          <a:ln/>
        </p:spPr>
        <p:txBody>
          <a:bodyPr wrap="square" rtlCol="0" anchor="t"/>
          <a:lstStyle/>
          <a:p>
            <a:pPr>
              <a:lnSpc>
                <a:spcPts val="2440"/>
              </a:lnSpc>
            </a:pPr>
            <a:r>
              <a:rPr lang="en-US" kern="0" spc="-31" dirty="0">
                <a:solidFill>
                  <a:srgbClr val="272525"/>
                </a:solidFill>
                <a:latin typeface="Inter" pitchFamily="34" charset="0"/>
                <a:ea typeface="Inter" pitchFamily="34" charset="-122"/>
                <a:cs typeface="Inter" pitchFamily="34" charset="-120"/>
              </a:rPr>
              <a:t>Aprendiendo patrones complejos del lenguaje, brindan una representación más sofisticada de las palabras y sus relaciones.</a:t>
            </a:r>
            <a:endParaRPr lang="en-US" dirty="0"/>
          </a:p>
        </p:txBody>
      </p:sp>
      <p:sp>
        <p:nvSpPr>
          <p:cNvPr id="14" name="Shape 10"/>
          <p:cNvSpPr/>
          <p:nvPr/>
        </p:nvSpPr>
        <p:spPr>
          <a:xfrm>
            <a:off x="2916079" y="5464101"/>
            <a:ext cx="7788593" cy="1471136"/>
          </a:xfrm>
          <a:prstGeom prst="roundRect">
            <a:avLst>
              <a:gd name="adj" fmla="val 5529"/>
            </a:avLst>
          </a:prstGeom>
          <a:solidFill>
            <a:srgbClr val="E0D7F4"/>
          </a:solidFill>
          <a:ln w="7620">
            <a:solidFill>
              <a:srgbClr val="C6BDDA"/>
            </a:solidFill>
            <a:prstDash val="solid"/>
          </a:ln>
        </p:spPr>
        <p:txBody>
          <a:bodyPr/>
          <a:lstStyle/>
          <a:p>
            <a:endParaRPr lang="es-PE" sz="2400"/>
          </a:p>
        </p:txBody>
      </p:sp>
      <p:sp>
        <p:nvSpPr>
          <p:cNvPr id="15" name="Text 11"/>
          <p:cNvSpPr/>
          <p:nvPr/>
        </p:nvSpPr>
        <p:spPr>
          <a:xfrm>
            <a:off x="3117294" y="5665316"/>
            <a:ext cx="2813447" cy="332780"/>
          </a:xfrm>
          <a:prstGeom prst="rect">
            <a:avLst/>
          </a:prstGeom>
          <a:noFill/>
          <a:ln/>
        </p:spPr>
        <p:txBody>
          <a:bodyPr wrap="none" rtlCol="0" anchor="t"/>
          <a:lstStyle/>
          <a:p>
            <a:pPr>
              <a:lnSpc>
                <a:spcPts val="2621"/>
              </a:lnSpc>
            </a:pPr>
            <a:r>
              <a:rPr lang="en-US" sz="2800" b="1" kern="0" spc="-43" dirty="0">
                <a:solidFill>
                  <a:srgbClr val="272525"/>
                </a:solidFill>
                <a:latin typeface="Petrona" pitchFamily="34" charset="0"/>
                <a:ea typeface="Petrona" pitchFamily="34" charset="-122"/>
                <a:cs typeface="Petrona" pitchFamily="34" charset="-120"/>
              </a:rPr>
              <a:t>Representación de texto</a:t>
            </a:r>
            <a:endParaRPr lang="en-US" sz="2800" dirty="0"/>
          </a:p>
        </p:txBody>
      </p:sp>
      <p:sp>
        <p:nvSpPr>
          <p:cNvPr id="16" name="Text 12"/>
          <p:cNvSpPr/>
          <p:nvPr/>
        </p:nvSpPr>
        <p:spPr>
          <a:xfrm>
            <a:off x="3117294" y="6114182"/>
            <a:ext cx="7386161" cy="619839"/>
          </a:xfrm>
          <a:prstGeom prst="rect">
            <a:avLst/>
          </a:prstGeom>
          <a:noFill/>
          <a:ln/>
        </p:spPr>
        <p:txBody>
          <a:bodyPr wrap="square" rtlCol="0" anchor="t"/>
          <a:lstStyle/>
          <a:p>
            <a:pPr>
              <a:lnSpc>
                <a:spcPts val="2440"/>
              </a:lnSpc>
            </a:pPr>
            <a:r>
              <a:rPr lang="en-US" kern="0" spc="-31" dirty="0">
                <a:solidFill>
                  <a:srgbClr val="272525"/>
                </a:solidFill>
                <a:latin typeface="Inter" pitchFamily="34" charset="0"/>
                <a:ea typeface="Inter" pitchFamily="34" charset="-122"/>
                <a:cs typeface="Inter" pitchFamily="34" charset="-120"/>
              </a:rPr>
              <a:t>Convierte el lenguaje en datos numéricos, permitiendo que las computadoras procesen y analicen el texto de manera eficiente.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555665" y="587930"/>
            <a:ext cx="13065085" cy="1636990"/>
          </a:xfrm>
          <a:prstGeom prst="rect">
            <a:avLst/>
          </a:prstGeom>
          <a:noFill/>
          <a:ln/>
        </p:spPr>
        <p:txBody>
          <a:bodyPr wrap="square" rtlCol="0" anchor="t"/>
          <a:lstStyle/>
          <a:p>
            <a:pPr>
              <a:lnSpc>
                <a:spcPts val="4299"/>
              </a:lnSpc>
            </a:pPr>
            <a:r>
              <a:rPr lang="en-US" sz="4000" b="1" kern="0" spc="-69" dirty="0">
                <a:solidFill>
                  <a:srgbClr val="F95F88"/>
                </a:solidFill>
                <a:latin typeface="Petrona" pitchFamily="34" charset="0"/>
                <a:ea typeface="Petrona" pitchFamily="34" charset="-122"/>
                <a:cs typeface="Petrona" pitchFamily="34" charset="-120"/>
              </a:rPr>
              <a:t>Aplicaciones del PLN: traducción automática, chatbots y asistentes virtuales</a:t>
            </a:r>
            <a:endParaRPr lang="en-US" sz="4000" dirty="0"/>
          </a:p>
        </p:txBody>
      </p:sp>
      <p:sp>
        <p:nvSpPr>
          <p:cNvPr id="7" name="Text 3"/>
          <p:cNvSpPr/>
          <p:nvPr/>
        </p:nvSpPr>
        <p:spPr>
          <a:xfrm>
            <a:off x="1127165" y="2224920"/>
            <a:ext cx="12493585" cy="508159"/>
          </a:xfrm>
          <a:prstGeom prst="rect">
            <a:avLst/>
          </a:prstGeom>
          <a:noFill/>
          <a:ln/>
        </p:spPr>
        <p:txBody>
          <a:bodyPr wrap="square" rtlCol="0" anchor="t"/>
          <a:lstStyle/>
          <a:p>
            <a:pPr>
              <a:lnSpc>
                <a:spcPts val="2000"/>
              </a:lnSpc>
            </a:pPr>
            <a:r>
              <a:rPr lang="en-US" kern="0" spc="-25" dirty="0">
                <a:solidFill>
                  <a:srgbClr val="272525"/>
                </a:solidFill>
                <a:latin typeface="Inter" pitchFamily="34" charset="0"/>
                <a:ea typeface="Inter" pitchFamily="34" charset="-122"/>
                <a:cs typeface="Inter" pitchFamily="34" charset="-120"/>
              </a:rPr>
              <a:t>El PLN ha impulsado una revolución en la forma en que interactuamos con las computadoras. Las aplicaciones del PLN se encuentran en diversos campos, impactando nuestra vida cotidiana.</a:t>
            </a:r>
            <a:endParaRPr lang="en-US" dirty="0"/>
          </a:p>
        </p:txBody>
      </p:sp>
      <p:pic>
        <p:nvPicPr>
          <p:cNvPr id="8" name="Image 2" descr="preencoded.png"/>
          <p:cNvPicPr>
            <a:picLocks noChangeAspect="1"/>
          </p:cNvPicPr>
          <p:nvPr/>
        </p:nvPicPr>
        <p:blipFill>
          <a:blip r:embed="rId3"/>
          <a:stretch>
            <a:fillRect/>
          </a:stretch>
        </p:blipFill>
        <p:spPr>
          <a:xfrm>
            <a:off x="1127165" y="2911672"/>
            <a:ext cx="793790" cy="1270159"/>
          </a:xfrm>
          <a:prstGeom prst="rect">
            <a:avLst/>
          </a:prstGeom>
        </p:spPr>
      </p:pic>
      <p:sp>
        <p:nvSpPr>
          <p:cNvPr id="9" name="Text 4"/>
          <p:cNvSpPr/>
          <p:nvPr/>
        </p:nvSpPr>
        <p:spPr>
          <a:xfrm>
            <a:off x="2159078" y="3070383"/>
            <a:ext cx="3483671" cy="272891"/>
          </a:xfrm>
          <a:prstGeom prst="rect">
            <a:avLst/>
          </a:prstGeom>
          <a:noFill/>
          <a:ln/>
        </p:spPr>
        <p:txBody>
          <a:bodyPr wrap="none" rtlCol="0" anchor="t"/>
          <a:lstStyle/>
          <a:p>
            <a:pPr>
              <a:lnSpc>
                <a:spcPts val="2149"/>
              </a:lnSpc>
            </a:pPr>
            <a:r>
              <a:rPr lang="en-US" sz="2400" b="1" kern="0" spc="-35" dirty="0">
                <a:solidFill>
                  <a:srgbClr val="272525"/>
                </a:solidFill>
                <a:latin typeface="Petrona" pitchFamily="34" charset="0"/>
                <a:ea typeface="Petrona" pitchFamily="34" charset="-122"/>
                <a:cs typeface="Petrona" pitchFamily="34" charset="-120"/>
              </a:rPr>
              <a:t>Traducción automática</a:t>
            </a:r>
            <a:endParaRPr lang="en-US" sz="2400" dirty="0"/>
          </a:p>
        </p:txBody>
      </p:sp>
      <p:sp>
        <p:nvSpPr>
          <p:cNvPr id="10" name="Text 5"/>
          <p:cNvSpPr/>
          <p:nvPr/>
        </p:nvSpPr>
        <p:spPr>
          <a:xfrm>
            <a:off x="2159079" y="3438524"/>
            <a:ext cx="10888600" cy="254079"/>
          </a:xfrm>
          <a:prstGeom prst="rect">
            <a:avLst/>
          </a:prstGeom>
          <a:noFill/>
          <a:ln/>
        </p:spPr>
        <p:txBody>
          <a:bodyPr wrap="none" rtlCol="0" anchor="t"/>
          <a:lstStyle/>
          <a:p>
            <a:pPr>
              <a:lnSpc>
                <a:spcPts val="2000"/>
              </a:lnSpc>
            </a:pPr>
            <a:r>
              <a:rPr lang="en-US" kern="0" spc="-25" dirty="0">
                <a:solidFill>
                  <a:srgbClr val="272525"/>
                </a:solidFill>
                <a:latin typeface="Inter" pitchFamily="34" charset="0"/>
                <a:ea typeface="Inter" pitchFamily="34" charset="-122"/>
                <a:cs typeface="Inter" pitchFamily="34" charset="-120"/>
              </a:rPr>
              <a:t>Permite traducir textos de un idioma a otro, facilitando la comunicación intercultural.</a:t>
            </a:r>
            <a:endParaRPr lang="en-US" dirty="0"/>
          </a:p>
        </p:txBody>
      </p:sp>
      <p:pic>
        <p:nvPicPr>
          <p:cNvPr id="11" name="Image 3" descr="preencoded.png"/>
          <p:cNvPicPr>
            <a:picLocks noChangeAspect="1"/>
          </p:cNvPicPr>
          <p:nvPr/>
        </p:nvPicPr>
        <p:blipFill>
          <a:blip r:embed="rId4"/>
          <a:stretch>
            <a:fillRect/>
          </a:stretch>
        </p:blipFill>
        <p:spPr>
          <a:xfrm>
            <a:off x="1127165" y="4181831"/>
            <a:ext cx="793790" cy="1270159"/>
          </a:xfrm>
          <a:prstGeom prst="rect">
            <a:avLst/>
          </a:prstGeom>
        </p:spPr>
      </p:pic>
      <p:sp>
        <p:nvSpPr>
          <p:cNvPr id="12" name="Text 6"/>
          <p:cNvSpPr/>
          <p:nvPr/>
        </p:nvSpPr>
        <p:spPr>
          <a:xfrm>
            <a:off x="2159078" y="4340541"/>
            <a:ext cx="3395523" cy="272891"/>
          </a:xfrm>
          <a:prstGeom prst="rect">
            <a:avLst/>
          </a:prstGeom>
          <a:noFill/>
          <a:ln/>
        </p:spPr>
        <p:txBody>
          <a:bodyPr wrap="none" rtlCol="0" anchor="t"/>
          <a:lstStyle/>
          <a:p>
            <a:pPr>
              <a:lnSpc>
                <a:spcPts val="2149"/>
              </a:lnSpc>
            </a:pPr>
            <a:r>
              <a:rPr lang="en-US" sz="2400" b="1" kern="0" spc="-35" dirty="0">
                <a:solidFill>
                  <a:srgbClr val="272525"/>
                </a:solidFill>
                <a:latin typeface="Petrona" pitchFamily="34" charset="0"/>
                <a:ea typeface="Petrona" pitchFamily="34" charset="-122"/>
                <a:cs typeface="Petrona" pitchFamily="34" charset="-120"/>
              </a:rPr>
              <a:t>Chatbots</a:t>
            </a:r>
            <a:endParaRPr lang="en-US" sz="2400" dirty="0"/>
          </a:p>
        </p:txBody>
      </p:sp>
      <p:sp>
        <p:nvSpPr>
          <p:cNvPr id="13" name="Text 7"/>
          <p:cNvSpPr/>
          <p:nvPr/>
        </p:nvSpPr>
        <p:spPr>
          <a:xfrm>
            <a:off x="2159079" y="4708683"/>
            <a:ext cx="10888600" cy="508159"/>
          </a:xfrm>
          <a:prstGeom prst="rect">
            <a:avLst/>
          </a:prstGeom>
          <a:noFill/>
          <a:ln/>
        </p:spPr>
        <p:txBody>
          <a:bodyPr wrap="square" rtlCol="0" anchor="t"/>
          <a:lstStyle/>
          <a:p>
            <a:pPr>
              <a:lnSpc>
                <a:spcPts val="2000"/>
              </a:lnSpc>
            </a:pPr>
            <a:r>
              <a:rPr lang="en-US" kern="0" spc="-25" dirty="0">
                <a:solidFill>
                  <a:srgbClr val="272525"/>
                </a:solidFill>
                <a:latin typeface="Inter" pitchFamily="34" charset="0"/>
                <a:ea typeface="Inter" pitchFamily="34" charset="-122"/>
                <a:cs typeface="Inter" pitchFamily="34" charset="-120"/>
              </a:rPr>
              <a:t>Programas informáticos que simulan una conversación con un humano, proporcionando información y asistencia personalizada.</a:t>
            </a:r>
            <a:endParaRPr lang="en-US" dirty="0"/>
          </a:p>
        </p:txBody>
      </p:sp>
      <p:pic>
        <p:nvPicPr>
          <p:cNvPr id="14" name="Image 4" descr="preencoded.png"/>
          <p:cNvPicPr>
            <a:picLocks noChangeAspect="1"/>
          </p:cNvPicPr>
          <p:nvPr/>
        </p:nvPicPr>
        <p:blipFill>
          <a:blip r:embed="rId5"/>
          <a:stretch>
            <a:fillRect/>
          </a:stretch>
        </p:blipFill>
        <p:spPr>
          <a:xfrm>
            <a:off x="1127165" y="5451990"/>
            <a:ext cx="793790" cy="1270159"/>
          </a:xfrm>
          <a:prstGeom prst="rect">
            <a:avLst/>
          </a:prstGeom>
        </p:spPr>
      </p:pic>
      <p:sp>
        <p:nvSpPr>
          <p:cNvPr id="15" name="Text 8"/>
          <p:cNvSpPr/>
          <p:nvPr/>
        </p:nvSpPr>
        <p:spPr>
          <a:xfrm>
            <a:off x="2159078" y="5610700"/>
            <a:ext cx="3395523" cy="272891"/>
          </a:xfrm>
          <a:prstGeom prst="rect">
            <a:avLst/>
          </a:prstGeom>
          <a:noFill/>
          <a:ln/>
        </p:spPr>
        <p:txBody>
          <a:bodyPr wrap="none" rtlCol="0" anchor="t"/>
          <a:lstStyle/>
          <a:p>
            <a:pPr>
              <a:lnSpc>
                <a:spcPts val="2149"/>
              </a:lnSpc>
            </a:pPr>
            <a:r>
              <a:rPr lang="en-US" sz="2400" b="1" kern="0" spc="-35" dirty="0">
                <a:solidFill>
                  <a:srgbClr val="272525"/>
                </a:solidFill>
                <a:latin typeface="Petrona" pitchFamily="34" charset="0"/>
                <a:ea typeface="Petrona" pitchFamily="34" charset="-122"/>
                <a:cs typeface="Petrona" pitchFamily="34" charset="-120"/>
              </a:rPr>
              <a:t>Asistentes virtuales</a:t>
            </a:r>
            <a:endParaRPr lang="en-US" sz="2400" dirty="0"/>
          </a:p>
        </p:txBody>
      </p:sp>
      <p:sp>
        <p:nvSpPr>
          <p:cNvPr id="16" name="Text 9"/>
          <p:cNvSpPr/>
          <p:nvPr/>
        </p:nvSpPr>
        <p:spPr>
          <a:xfrm>
            <a:off x="2159079" y="5978841"/>
            <a:ext cx="10888600" cy="508159"/>
          </a:xfrm>
          <a:prstGeom prst="rect">
            <a:avLst/>
          </a:prstGeom>
          <a:noFill/>
          <a:ln/>
        </p:spPr>
        <p:txBody>
          <a:bodyPr wrap="square" rtlCol="0" anchor="t"/>
          <a:lstStyle/>
          <a:p>
            <a:pPr>
              <a:lnSpc>
                <a:spcPts val="2000"/>
              </a:lnSpc>
            </a:pPr>
            <a:r>
              <a:rPr lang="en-US" kern="0" spc="-25" dirty="0">
                <a:solidFill>
                  <a:srgbClr val="272525"/>
                </a:solidFill>
                <a:latin typeface="Inter" pitchFamily="34" charset="0"/>
                <a:ea typeface="Inter" pitchFamily="34" charset="-122"/>
                <a:cs typeface="Inter" pitchFamily="34" charset="-120"/>
              </a:rPr>
              <a:t>Sistemas inteligentes que responden a comandos de voz y realizan tareas como programar citas y buscar información.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1"/>
            <a:ext cx="14630400" cy="8232100"/>
          </a:xfrm>
          <a:prstGeom prst="rect">
            <a:avLst/>
          </a:prstGeom>
          <a:solidFill>
            <a:srgbClr val="FDFAF7"/>
          </a:solidFill>
          <a:ln/>
        </p:spPr>
        <p:txBody>
          <a:bodyPr/>
          <a:lstStyle/>
          <a:p>
            <a:endParaRPr lang="es-PE"/>
          </a:p>
        </p:txBody>
      </p:sp>
      <p:sp>
        <p:nvSpPr>
          <p:cNvPr id="6" name="Text 2"/>
          <p:cNvSpPr/>
          <p:nvPr/>
        </p:nvSpPr>
        <p:spPr>
          <a:xfrm>
            <a:off x="756642" y="594479"/>
            <a:ext cx="12864108" cy="1486376"/>
          </a:xfrm>
          <a:prstGeom prst="rect">
            <a:avLst/>
          </a:prstGeom>
          <a:noFill/>
          <a:ln/>
        </p:spPr>
        <p:txBody>
          <a:bodyPr wrap="square" rtlCol="0" anchor="t"/>
          <a:lstStyle/>
          <a:p>
            <a:pPr>
              <a:lnSpc>
                <a:spcPts val="5852"/>
              </a:lnSpc>
            </a:pPr>
            <a:r>
              <a:rPr lang="en-US" sz="5400" b="1" kern="0" spc="-95" dirty="0">
                <a:solidFill>
                  <a:srgbClr val="F95F88"/>
                </a:solidFill>
                <a:latin typeface="Petrona" pitchFamily="34" charset="0"/>
                <a:ea typeface="Petrona" pitchFamily="34" charset="-122"/>
                <a:cs typeface="Petrona" pitchFamily="34" charset="-120"/>
              </a:rPr>
              <a:t>Análisis de sentimientos y clasificación de textos</a:t>
            </a:r>
            <a:endParaRPr lang="en-US" sz="5400" dirty="0"/>
          </a:p>
        </p:txBody>
      </p:sp>
      <p:sp>
        <p:nvSpPr>
          <p:cNvPr id="7" name="Text 3"/>
          <p:cNvSpPr/>
          <p:nvPr/>
        </p:nvSpPr>
        <p:spPr>
          <a:xfrm>
            <a:off x="1028700" y="2329456"/>
            <a:ext cx="12315825" cy="691753"/>
          </a:xfrm>
          <a:prstGeom prst="rect">
            <a:avLst/>
          </a:prstGeom>
          <a:noFill/>
          <a:ln/>
        </p:spPr>
        <p:txBody>
          <a:bodyPr wrap="square" rtlCol="0" anchor="t"/>
          <a:lstStyle/>
          <a:p>
            <a:pPr>
              <a:lnSpc>
                <a:spcPts val="2724"/>
              </a:lnSpc>
            </a:pPr>
            <a:r>
              <a:rPr lang="en-US" sz="2000" kern="0" spc="-35" dirty="0">
                <a:solidFill>
                  <a:srgbClr val="272525"/>
                </a:solidFill>
                <a:latin typeface="Inter" pitchFamily="34" charset="0"/>
                <a:ea typeface="Inter" pitchFamily="34" charset="-122"/>
                <a:cs typeface="Inter" pitchFamily="34" charset="-120"/>
              </a:rPr>
              <a:t>El PLN se utiliza para analizar y clasificar el sentimiento expresado en textos, identificar opiniones, emociones y tendencias en el lenguaje.</a:t>
            </a:r>
            <a:endParaRPr lang="en-US" sz="2000" dirty="0"/>
          </a:p>
        </p:txBody>
      </p:sp>
      <p:sp>
        <p:nvSpPr>
          <p:cNvPr id="8" name="Shape 4"/>
          <p:cNvSpPr/>
          <p:nvPr/>
        </p:nvSpPr>
        <p:spPr>
          <a:xfrm>
            <a:off x="2916912" y="3393551"/>
            <a:ext cx="7630716" cy="4297680"/>
          </a:xfrm>
          <a:prstGeom prst="roundRect">
            <a:avLst>
              <a:gd name="adj" fmla="val 2113"/>
            </a:avLst>
          </a:prstGeom>
          <a:noFill/>
          <a:ln w="7620">
            <a:solidFill>
              <a:srgbClr val="000000">
                <a:alpha val="8000"/>
              </a:srgbClr>
            </a:solidFill>
            <a:prstDash val="solid"/>
          </a:ln>
        </p:spPr>
        <p:txBody>
          <a:bodyPr/>
          <a:lstStyle/>
          <a:p>
            <a:endParaRPr lang="es-PE" sz="2000"/>
          </a:p>
        </p:txBody>
      </p:sp>
      <p:sp>
        <p:nvSpPr>
          <p:cNvPr id="9" name="Shape 5"/>
          <p:cNvSpPr/>
          <p:nvPr/>
        </p:nvSpPr>
        <p:spPr>
          <a:xfrm>
            <a:off x="2924532" y="3401171"/>
            <a:ext cx="7615476" cy="1312188"/>
          </a:xfrm>
          <a:prstGeom prst="rect">
            <a:avLst/>
          </a:prstGeom>
          <a:solidFill>
            <a:srgbClr val="FFFFFF">
              <a:alpha val="4000"/>
            </a:srgbClr>
          </a:solidFill>
          <a:ln/>
        </p:spPr>
        <p:txBody>
          <a:bodyPr/>
          <a:lstStyle/>
          <a:p>
            <a:endParaRPr lang="es-PE" sz="2000"/>
          </a:p>
        </p:txBody>
      </p:sp>
      <p:sp>
        <p:nvSpPr>
          <p:cNvPr id="10" name="Text 6"/>
          <p:cNvSpPr/>
          <p:nvPr/>
        </p:nvSpPr>
        <p:spPr>
          <a:xfrm>
            <a:off x="3140631" y="3538450"/>
            <a:ext cx="3371731" cy="345877"/>
          </a:xfrm>
          <a:prstGeom prst="rect">
            <a:avLst/>
          </a:prstGeom>
          <a:noFill/>
          <a:ln/>
        </p:spPr>
        <p:txBody>
          <a:bodyPr wrap="none" rtlCol="0" anchor="t"/>
          <a:lstStyle/>
          <a:p>
            <a:pPr>
              <a:lnSpc>
                <a:spcPts val="2724"/>
              </a:lnSpc>
            </a:pPr>
            <a:r>
              <a:rPr lang="en-US" kern="0" spc="-35" dirty="0">
                <a:solidFill>
                  <a:srgbClr val="272525"/>
                </a:solidFill>
                <a:latin typeface="Inter" pitchFamily="34" charset="0"/>
                <a:ea typeface="Inter" pitchFamily="34" charset="-122"/>
                <a:cs typeface="Inter" pitchFamily="34" charset="-120"/>
              </a:rPr>
              <a:t>Análisis de Sentimientos</a:t>
            </a:r>
            <a:endParaRPr lang="en-US" dirty="0"/>
          </a:p>
        </p:txBody>
      </p:sp>
      <p:sp>
        <p:nvSpPr>
          <p:cNvPr id="11" name="Text 7"/>
          <p:cNvSpPr/>
          <p:nvPr/>
        </p:nvSpPr>
        <p:spPr>
          <a:xfrm>
            <a:off x="6952183" y="3538453"/>
            <a:ext cx="3371731" cy="1037631"/>
          </a:xfrm>
          <a:prstGeom prst="rect">
            <a:avLst/>
          </a:prstGeom>
          <a:noFill/>
          <a:ln/>
        </p:spPr>
        <p:txBody>
          <a:bodyPr wrap="square" rtlCol="0" anchor="t"/>
          <a:lstStyle/>
          <a:p>
            <a:pPr>
              <a:lnSpc>
                <a:spcPts val="2724"/>
              </a:lnSpc>
            </a:pPr>
            <a:r>
              <a:rPr lang="en-US" kern="0" spc="-35" dirty="0">
                <a:solidFill>
                  <a:srgbClr val="272525"/>
                </a:solidFill>
                <a:latin typeface="Inter" pitchFamily="34" charset="0"/>
                <a:ea typeface="Inter" pitchFamily="34" charset="-122"/>
                <a:cs typeface="Inter" pitchFamily="34" charset="-120"/>
              </a:rPr>
              <a:t>Identificar la polaridad de un texto, como positivo, negativo o neutral.</a:t>
            </a:r>
            <a:endParaRPr lang="en-US" dirty="0"/>
          </a:p>
        </p:txBody>
      </p:sp>
      <p:sp>
        <p:nvSpPr>
          <p:cNvPr id="12" name="Shape 8"/>
          <p:cNvSpPr/>
          <p:nvPr/>
        </p:nvSpPr>
        <p:spPr>
          <a:xfrm>
            <a:off x="2924532" y="4713359"/>
            <a:ext cx="7615476" cy="1658064"/>
          </a:xfrm>
          <a:prstGeom prst="rect">
            <a:avLst/>
          </a:prstGeom>
          <a:solidFill>
            <a:srgbClr val="000000">
              <a:alpha val="4000"/>
            </a:srgbClr>
          </a:solidFill>
          <a:ln/>
        </p:spPr>
        <p:txBody>
          <a:bodyPr/>
          <a:lstStyle/>
          <a:p>
            <a:endParaRPr lang="es-PE" sz="2000"/>
          </a:p>
        </p:txBody>
      </p:sp>
      <p:sp>
        <p:nvSpPr>
          <p:cNvPr id="13" name="Text 9"/>
          <p:cNvSpPr/>
          <p:nvPr/>
        </p:nvSpPr>
        <p:spPr>
          <a:xfrm>
            <a:off x="3140631" y="4850638"/>
            <a:ext cx="3371731" cy="345877"/>
          </a:xfrm>
          <a:prstGeom prst="rect">
            <a:avLst/>
          </a:prstGeom>
          <a:noFill/>
          <a:ln/>
        </p:spPr>
        <p:txBody>
          <a:bodyPr wrap="none" rtlCol="0" anchor="t"/>
          <a:lstStyle/>
          <a:p>
            <a:pPr>
              <a:lnSpc>
                <a:spcPts val="2724"/>
              </a:lnSpc>
            </a:pPr>
            <a:r>
              <a:rPr lang="en-US" kern="0" spc="-35" dirty="0">
                <a:solidFill>
                  <a:srgbClr val="272525"/>
                </a:solidFill>
                <a:latin typeface="Inter" pitchFamily="34" charset="0"/>
                <a:ea typeface="Inter" pitchFamily="34" charset="-122"/>
                <a:cs typeface="Inter" pitchFamily="34" charset="-120"/>
              </a:rPr>
              <a:t>Clasificación de Textos</a:t>
            </a:r>
            <a:endParaRPr lang="en-US" dirty="0"/>
          </a:p>
        </p:txBody>
      </p:sp>
      <p:sp>
        <p:nvSpPr>
          <p:cNvPr id="14" name="Text 10"/>
          <p:cNvSpPr/>
          <p:nvPr/>
        </p:nvSpPr>
        <p:spPr>
          <a:xfrm>
            <a:off x="6952183" y="4850640"/>
            <a:ext cx="3371731" cy="1383507"/>
          </a:xfrm>
          <a:prstGeom prst="rect">
            <a:avLst/>
          </a:prstGeom>
          <a:noFill/>
          <a:ln/>
        </p:spPr>
        <p:txBody>
          <a:bodyPr wrap="square" rtlCol="0" anchor="t"/>
          <a:lstStyle/>
          <a:p>
            <a:pPr>
              <a:lnSpc>
                <a:spcPts val="2724"/>
              </a:lnSpc>
            </a:pPr>
            <a:r>
              <a:rPr lang="en-US" kern="0" spc="-35" dirty="0">
                <a:solidFill>
                  <a:srgbClr val="272525"/>
                </a:solidFill>
                <a:latin typeface="Inter" pitchFamily="34" charset="0"/>
                <a:ea typeface="Inter" pitchFamily="34" charset="-122"/>
                <a:cs typeface="Inter" pitchFamily="34" charset="-120"/>
              </a:rPr>
              <a:t>Categorizar textos en diferentes categorías, como noticias, reseñas o mensajes de correo electrónico.</a:t>
            </a:r>
            <a:endParaRPr lang="en-US" dirty="0"/>
          </a:p>
        </p:txBody>
      </p:sp>
      <p:sp>
        <p:nvSpPr>
          <p:cNvPr id="15" name="Shape 11"/>
          <p:cNvSpPr/>
          <p:nvPr/>
        </p:nvSpPr>
        <p:spPr>
          <a:xfrm>
            <a:off x="2924532" y="6371423"/>
            <a:ext cx="7615476" cy="1312188"/>
          </a:xfrm>
          <a:prstGeom prst="rect">
            <a:avLst/>
          </a:prstGeom>
          <a:solidFill>
            <a:srgbClr val="FFFFFF">
              <a:alpha val="4000"/>
            </a:srgbClr>
          </a:solidFill>
          <a:ln/>
        </p:spPr>
        <p:txBody>
          <a:bodyPr/>
          <a:lstStyle/>
          <a:p>
            <a:endParaRPr lang="es-PE" sz="2000"/>
          </a:p>
        </p:txBody>
      </p:sp>
      <p:sp>
        <p:nvSpPr>
          <p:cNvPr id="16" name="Text 12"/>
          <p:cNvSpPr/>
          <p:nvPr/>
        </p:nvSpPr>
        <p:spPr>
          <a:xfrm>
            <a:off x="3140631" y="6508703"/>
            <a:ext cx="3371731" cy="345877"/>
          </a:xfrm>
          <a:prstGeom prst="rect">
            <a:avLst/>
          </a:prstGeom>
          <a:noFill/>
          <a:ln/>
        </p:spPr>
        <p:txBody>
          <a:bodyPr wrap="none" rtlCol="0" anchor="t"/>
          <a:lstStyle/>
          <a:p>
            <a:pPr>
              <a:lnSpc>
                <a:spcPts val="2724"/>
              </a:lnSpc>
            </a:pPr>
            <a:r>
              <a:rPr lang="en-US" kern="0" spc="-35" dirty="0">
                <a:solidFill>
                  <a:srgbClr val="272525"/>
                </a:solidFill>
                <a:latin typeface="Inter" pitchFamily="34" charset="0"/>
                <a:ea typeface="Inter" pitchFamily="34" charset="-122"/>
                <a:cs typeface="Inter" pitchFamily="34" charset="-120"/>
              </a:rPr>
              <a:t>Análisis de Temas</a:t>
            </a:r>
            <a:endParaRPr lang="en-US" dirty="0"/>
          </a:p>
        </p:txBody>
      </p:sp>
      <p:sp>
        <p:nvSpPr>
          <p:cNvPr id="17" name="Text 13"/>
          <p:cNvSpPr/>
          <p:nvPr/>
        </p:nvSpPr>
        <p:spPr>
          <a:xfrm>
            <a:off x="6952183" y="6508706"/>
            <a:ext cx="3371731" cy="1037631"/>
          </a:xfrm>
          <a:prstGeom prst="rect">
            <a:avLst/>
          </a:prstGeom>
          <a:noFill/>
          <a:ln/>
        </p:spPr>
        <p:txBody>
          <a:bodyPr wrap="square" rtlCol="0" anchor="t"/>
          <a:lstStyle/>
          <a:p>
            <a:pPr>
              <a:lnSpc>
                <a:spcPts val="2724"/>
              </a:lnSpc>
            </a:pPr>
            <a:r>
              <a:rPr lang="en-US" kern="0" spc="-35" dirty="0">
                <a:solidFill>
                  <a:srgbClr val="272525"/>
                </a:solidFill>
                <a:latin typeface="Inter" pitchFamily="34" charset="0"/>
                <a:ea typeface="Inter" pitchFamily="34" charset="-122"/>
                <a:cs typeface="Inter" pitchFamily="34" charset="-120"/>
              </a:rPr>
              <a:t>Identificar los temas principales discutidos en un conjunto de textos.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669965" y="524707"/>
            <a:ext cx="13684210" cy="1091327"/>
          </a:xfrm>
          <a:prstGeom prst="rect">
            <a:avLst/>
          </a:prstGeom>
          <a:noFill/>
          <a:ln/>
        </p:spPr>
        <p:txBody>
          <a:bodyPr wrap="square" rtlCol="0" anchor="t"/>
          <a:lstStyle/>
          <a:p>
            <a:pPr>
              <a:lnSpc>
                <a:spcPts val="4299"/>
              </a:lnSpc>
            </a:pPr>
            <a:r>
              <a:rPr lang="en-US" sz="4000" b="1" kern="0" spc="-69" dirty="0">
                <a:solidFill>
                  <a:srgbClr val="F95F88"/>
                </a:solidFill>
                <a:latin typeface="Petrona" pitchFamily="34" charset="0"/>
                <a:ea typeface="Petrona" pitchFamily="34" charset="-122"/>
                <a:cs typeface="Petrona" pitchFamily="34" charset="-120"/>
              </a:rPr>
              <a:t>Generación de texto: resumen, paráfrasis y creación de contenido</a:t>
            </a:r>
            <a:endParaRPr lang="en-US" sz="4000" dirty="0"/>
          </a:p>
        </p:txBody>
      </p:sp>
      <p:sp>
        <p:nvSpPr>
          <p:cNvPr id="7" name="Text 3"/>
          <p:cNvSpPr/>
          <p:nvPr/>
        </p:nvSpPr>
        <p:spPr>
          <a:xfrm>
            <a:off x="1060490" y="1600080"/>
            <a:ext cx="12207835" cy="508159"/>
          </a:xfrm>
          <a:prstGeom prst="rect">
            <a:avLst/>
          </a:prstGeom>
          <a:noFill/>
          <a:ln/>
        </p:spPr>
        <p:txBody>
          <a:bodyPr wrap="square" rtlCol="0" anchor="t"/>
          <a:lstStyle/>
          <a:p>
            <a:pPr>
              <a:lnSpc>
                <a:spcPts val="2000"/>
              </a:lnSpc>
            </a:pPr>
            <a:r>
              <a:rPr lang="en-US" kern="0" spc="-25" dirty="0">
                <a:solidFill>
                  <a:srgbClr val="272525"/>
                </a:solidFill>
                <a:latin typeface="Inter" pitchFamily="34" charset="0"/>
                <a:ea typeface="Inter" pitchFamily="34" charset="-122"/>
                <a:cs typeface="Inter" pitchFamily="34" charset="-120"/>
              </a:rPr>
              <a:t>El PLN permite generar nuevo texto de manera automatizada, creando contenido, resúmenes y paráfrasis de forma eficiente.</a:t>
            </a:r>
            <a:endParaRPr lang="en-US" dirty="0"/>
          </a:p>
        </p:txBody>
      </p:sp>
      <p:pic>
        <p:nvPicPr>
          <p:cNvPr id="8" name="Image 2" descr="preencoded.png"/>
          <p:cNvPicPr>
            <a:picLocks noChangeAspect="1"/>
          </p:cNvPicPr>
          <p:nvPr/>
        </p:nvPicPr>
        <p:blipFill>
          <a:blip r:embed="rId3"/>
          <a:stretch>
            <a:fillRect/>
          </a:stretch>
        </p:blipFill>
        <p:spPr>
          <a:xfrm>
            <a:off x="1468812" y="2559843"/>
            <a:ext cx="769979" cy="769979"/>
          </a:xfrm>
          <a:prstGeom prst="rect">
            <a:avLst/>
          </a:prstGeom>
        </p:spPr>
      </p:pic>
      <p:sp>
        <p:nvSpPr>
          <p:cNvPr id="9" name="Text 4"/>
          <p:cNvSpPr/>
          <p:nvPr/>
        </p:nvSpPr>
        <p:spPr>
          <a:xfrm>
            <a:off x="2651165" y="2559843"/>
            <a:ext cx="2531388"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Generación de Resúmenes</a:t>
            </a:r>
            <a:endParaRPr lang="en-US" sz="2000" dirty="0"/>
          </a:p>
        </p:txBody>
      </p:sp>
      <p:sp>
        <p:nvSpPr>
          <p:cNvPr id="10" name="Text 5"/>
          <p:cNvSpPr/>
          <p:nvPr/>
        </p:nvSpPr>
        <p:spPr>
          <a:xfrm>
            <a:off x="2651165" y="2927985"/>
            <a:ext cx="8032671" cy="254079"/>
          </a:xfrm>
          <a:prstGeom prst="rect">
            <a:avLst/>
          </a:prstGeom>
          <a:noFill/>
          <a:ln/>
        </p:spPr>
        <p:txBody>
          <a:bodyPr wrap="non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Crea resúmenes concisos de textos largos, destacando la información más importante.</a:t>
            </a:r>
            <a:endParaRPr lang="en-US" sz="1600" dirty="0"/>
          </a:p>
        </p:txBody>
      </p:sp>
      <p:pic>
        <p:nvPicPr>
          <p:cNvPr id="11" name="Image 3" descr="preencoded.png"/>
          <p:cNvPicPr>
            <a:picLocks noChangeAspect="1"/>
          </p:cNvPicPr>
          <p:nvPr/>
        </p:nvPicPr>
        <p:blipFill>
          <a:blip r:embed="rId4"/>
          <a:stretch>
            <a:fillRect/>
          </a:stretch>
        </p:blipFill>
        <p:spPr>
          <a:xfrm>
            <a:off x="1468812" y="4117955"/>
            <a:ext cx="781824" cy="781824"/>
          </a:xfrm>
          <a:prstGeom prst="rect">
            <a:avLst/>
          </a:prstGeom>
        </p:spPr>
      </p:pic>
      <p:sp>
        <p:nvSpPr>
          <p:cNvPr id="12" name="Text 6"/>
          <p:cNvSpPr/>
          <p:nvPr/>
        </p:nvSpPr>
        <p:spPr>
          <a:xfrm>
            <a:off x="2651165" y="4109025"/>
            <a:ext cx="2183130"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Paráfrasis</a:t>
            </a:r>
            <a:endParaRPr lang="en-US" sz="2000" dirty="0"/>
          </a:p>
        </p:txBody>
      </p:sp>
      <p:sp>
        <p:nvSpPr>
          <p:cNvPr id="13" name="Text 7"/>
          <p:cNvSpPr/>
          <p:nvPr/>
        </p:nvSpPr>
        <p:spPr>
          <a:xfrm>
            <a:off x="2651165" y="4477166"/>
            <a:ext cx="8032671" cy="254079"/>
          </a:xfrm>
          <a:prstGeom prst="rect">
            <a:avLst/>
          </a:prstGeom>
          <a:noFill/>
          <a:ln/>
        </p:spPr>
        <p:txBody>
          <a:bodyPr wrap="non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Reformula textos manteniendo su significado, expresando ideas de manera diferente.</a:t>
            </a:r>
            <a:endParaRPr lang="en-US" sz="1600" dirty="0"/>
          </a:p>
        </p:txBody>
      </p:sp>
      <p:pic>
        <p:nvPicPr>
          <p:cNvPr id="14" name="Image 4" descr="preencoded.png"/>
          <p:cNvPicPr>
            <a:picLocks noChangeAspect="1"/>
          </p:cNvPicPr>
          <p:nvPr/>
        </p:nvPicPr>
        <p:blipFill>
          <a:blip r:embed="rId5"/>
          <a:stretch>
            <a:fillRect/>
          </a:stretch>
        </p:blipFill>
        <p:spPr>
          <a:xfrm>
            <a:off x="1586266" y="5814832"/>
            <a:ext cx="635082" cy="635082"/>
          </a:xfrm>
          <a:prstGeom prst="rect">
            <a:avLst/>
          </a:prstGeom>
        </p:spPr>
      </p:pic>
      <p:sp>
        <p:nvSpPr>
          <p:cNvPr id="15" name="Text 8"/>
          <p:cNvSpPr/>
          <p:nvPr/>
        </p:nvSpPr>
        <p:spPr>
          <a:xfrm>
            <a:off x="2634853" y="5805309"/>
            <a:ext cx="2199442" cy="272891"/>
          </a:xfrm>
          <a:prstGeom prst="rect">
            <a:avLst/>
          </a:prstGeom>
          <a:noFill/>
          <a:ln/>
        </p:spPr>
        <p:txBody>
          <a:bodyPr wrap="none" rtlCol="0" anchor="t"/>
          <a:lstStyle/>
          <a:p>
            <a:pPr>
              <a:lnSpc>
                <a:spcPts val="2149"/>
              </a:lnSpc>
            </a:pPr>
            <a:r>
              <a:rPr lang="en-US" sz="2000" b="1" kern="0" spc="-35" dirty="0">
                <a:solidFill>
                  <a:srgbClr val="272525"/>
                </a:solidFill>
                <a:latin typeface="Petrona" pitchFamily="34" charset="0"/>
                <a:ea typeface="Petrona" pitchFamily="34" charset="-122"/>
                <a:cs typeface="Petrona" pitchFamily="34" charset="-120"/>
              </a:rPr>
              <a:t>Creación de Contenido</a:t>
            </a:r>
            <a:endParaRPr lang="en-US" sz="2000" dirty="0"/>
          </a:p>
        </p:txBody>
      </p:sp>
      <p:sp>
        <p:nvSpPr>
          <p:cNvPr id="16" name="Text 9"/>
          <p:cNvSpPr/>
          <p:nvPr/>
        </p:nvSpPr>
        <p:spPr>
          <a:xfrm>
            <a:off x="2634853" y="6173450"/>
            <a:ext cx="8032671" cy="254079"/>
          </a:xfrm>
          <a:prstGeom prst="rect">
            <a:avLst/>
          </a:prstGeom>
          <a:noFill/>
          <a:ln/>
        </p:spPr>
        <p:txBody>
          <a:bodyPr wrap="none" rtlCol="0" anchor="t"/>
          <a:lstStyle/>
          <a:p>
            <a:pPr>
              <a:lnSpc>
                <a:spcPts val="2000"/>
              </a:lnSpc>
            </a:pPr>
            <a:r>
              <a:rPr lang="en-US" sz="1600" kern="0" spc="-25" dirty="0">
                <a:solidFill>
                  <a:srgbClr val="272525"/>
                </a:solidFill>
                <a:latin typeface="Inter" pitchFamily="34" charset="0"/>
                <a:ea typeface="Inter" pitchFamily="34" charset="-122"/>
                <a:cs typeface="Inter" pitchFamily="34" charset="-120"/>
              </a:rPr>
              <a:t>Genera nuevo contenido, como artículos, historias y poemas, utilizando patrones lingüísticos.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1350599" y="595067"/>
            <a:ext cx="9326285" cy="608767"/>
          </a:xfrm>
          <a:prstGeom prst="rect">
            <a:avLst/>
          </a:prstGeom>
          <a:noFill/>
          <a:ln/>
        </p:spPr>
        <p:txBody>
          <a:bodyPr wrap="none" rtlCol="0" anchor="t"/>
          <a:lstStyle/>
          <a:p>
            <a:pPr>
              <a:lnSpc>
                <a:spcPts val="4795"/>
              </a:lnSpc>
            </a:pPr>
            <a:r>
              <a:rPr lang="en-US" sz="4400" b="1" kern="0" spc="-77" dirty="0">
                <a:solidFill>
                  <a:srgbClr val="F95F88"/>
                </a:solidFill>
                <a:latin typeface="Petrona" pitchFamily="34" charset="0"/>
                <a:ea typeface="Petrona" pitchFamily="34" charset="-122"/>
                <a:cs typeface="Petrona" pitchFamily="34" charset="-120"/>
              </a:rPr>
              <a:t>Desafíos y tendencias emergentes en el PLN</a:t>
            </a:r>
            <a:endParaRPr lang="en-US" sz="4400" dirty="0"/>
          </a:p>
        </p:txBody>
      </p:sp>
      <p:sp>
        <p:nvSpPr>
          <p:cNvPr id="7" name="Text 3"/>
          <p:cNvSpPr/>
          <p:nvPr/>
        </p:nvSpPr>
        <p:spPr>
          <a:xfrm>
            <a:off x="1350599" y="1469461"/>
            <a:ext cx="11712773" cy="283369"/>
          </a:xfrm>
          <a:prstGeom prst="rect">
            <a:avLst/>
          </a:prstGeom>
          <a:noFill/>
          <a:ln/>
        </p:spPr>
        <p:txBody>
          <a:bodyPr wrap="none" rtlCol="0" anchor="t"/>
          <a:lstStyle/>
          <a:p>
            <a:pPr>
              <a:lnSpc>
                <a:spcPts val="2232"/>
              </a:lnSpc>
            </a:pPr>
            <a:r>
              <a:rPr lang="en-US" kern="0" spc="-28" dirty="0">
                <a:solidFill>
                  <a:srgbClr val="272525"/>
                </a:solidFill>
                <a:latin typeface="Inter" pitchFamily="34" charset="0"/>
                <a:ea typeface="Inter" pitchFamily="34" charset="-122"/>
                <a:cs typeface="Inter" pitchFamily="34" charset="-120"/>
              </a:rPr>
              <a:t>El PLN sigue avanzando, enfrentando nuevos desafíos y explorando tendencias emergentes que transformarán el campo en el futuro.</a:t>
            </a:r>
            <a:endParaRPr lang="en-US" dirty="0"/>
          </a:p>
        </p:txBody>
      </p:sp>
      <p:sp>
        <p:nvSpPr>
          <p:cNvPr id="8" name="Shape 4"/>
          <p:cNvSpPr/>
          <p:nvPr/>
        </p:nvSpPr>
        <p:spPr>
          <a:xfrm>
            <a:off x="1350603" y="2519820"/>
            <a:ext cx="398502" cy="398502"/>
          </a:xfrm>
          <a:prstGeom prst="roundRect">
            <a:avLst>
              <a:gd name="adj" fmla="val 18669"/>
            </a:avLst>
          </a:prstGeom>
          <a:solidFill>
            <a:srgbClr val="E0D7F4"/>
          </a:solidFill>
          <a:ln w="7620">
            <a:solidFill>
              <a:srgbClr val="C6BDDA"/>
            </a:solidFill>
            <a:prstDash val="solid"/>
          </a:ln>
        </p:spPr>
        <p:txBody>
          <a:bodyPr/>
          <a:lstStyle/>
          <a:p>
            <a:endParaRPr lang="es-PE"/>
          </a:p>
        </p:txBody>
      </p:sp>
      <p:sp>
        <p:nvSpPr>
          <p:cNvPr id="9" name="Text 5"/>
          <p:cNvSpPr/>
          <p:nvPr/>
        </p:nvSpPr>
        <p:spPr>
          <a:xfrm>
            <a:off x="1490144" y="2572922"/>
            <a:ext cx="119301" cy="292298"/>
          </a:xfrm>
          <a:prstGeom prst="rect">
            <a:avLst/>
          </a:prstGeom>
          <a:noFill/>
          <a:ln/>
        </p:spPr>
        <p:txBody>
          <a:bodyPr wrap="none" rtlCol="0" anchor="t"/>
          <a:lstStyle/>
          <a:p>
            <a:pPr algn="ctr">
              <a:lnSpc>
                <a:spcPts val="2301"/>
              </a:lnSpc>
            </a:pPr>
            <a:r>
              <a:rPr lang="en-US" sz="2301" b="1" kern="0" spc="-47" dirty="0">
                <a:solidFill>
                  <a:srgbClr val="272525"/>
                </a:solidFill>
                <a:latin typeface="Petrona" pitchFamily="34" charset="0"/>
                <a:ea typeface="Petrona" pitchFamily="34" charset="-122"/>
                <a:cs typeface="Petrona" pitchFamily="34" charset="-120"/>
              </a:rPr>
              <a:t>1</a:t>
            </a:r>
            <a:endParaRPr lang="en-US" sz="2301" dirty="0"/>
          </a:p>
        </p:txBody>
      </p:sp>
      <p:sp>
        <p:nvSpPr>
          <p:cNvPr id="10" name="Text 6"/>
          <p:cNvSpPr/>
          <p:nvPr/>
        </p:nvSpPr>
        <p:spPr>
          <a:xfrm>
            <a:off x="1926152" y="2519825"/>
            <a:ext cx="2716292" cy="304443"/>
          </a:xfrm>
          <a:prstGeom prst="rect">
            <a:avLst/>
          </a:prstGeom>
          <a:noFill/>
          <a:ln/>
        </p:spPr>
        <p:txBody>
          <a:bodyPr wrap="none" rtlCol="0" anchor="t"/>
          <a:lstStyle/>
          <a:p>
            <a:pPr>
              <a:lnSpc>
                <a:spcPts val="2397"/>
              </a:lnSpc>
            </a:pPr>
            <a:r>
              <a:rPr lang="en-US" sz="1919" b="1" kern="0" spc="-37" dirty="0">
                <a:solidFill>
                  <a:srgbClr val="272525"/>
                </a:solidFill>
                <a:latin typeface="Petrona" pitchFamily="34" charset="0"/>
                <a:ea typeface="Petrona" pitchFamily="34" charset="-122"/>
                <a:cs typeface="Petrona" pitchFamily="34" charset="-120"/>
              </a:rPr>
              <a:t>Ambigüedad del lenguaje</a:t>
            </a:r>
            <a:endParaRPr lang="en-US" sz="1919" dirty="0"/>
          </a:p>
        </p:txBody>
      </p:sp>
      <p:sp>
        <p:nvSpPr>
          <p:cNvPr id="11" name="Text 7"/>
          <p:cNvSpPr/>
          <p:nvPr/>
        </p:nvSpPr>
        <p:spPr>
          <a:xfrm>
            <a:off x="1926152" y="2930469"/>
            <a:ext cx="5192316" cy="566739"/>
          </a:xfrm>
          <a:prstGeom prst="rect">
            <a:avLst/>
          </a:prstGeom>
          <a:noFill/>
          <a:ln/>
        </p:spPr>
        <p:txBody>
          <a:bodyPr wrap="square" rtlCol="0" anchor="t"/>
          <a:lstStyle/>
          <a:p>
            <a:pPr algn="just">
              <a:lnSpc>
                <a:spcPts val="2232"/>
              </a:lnSpc>
            </a:pPr>
            <a:r>
              <a:rPr lang="en-US" kern="0" spc="-28" dirty="0">
                <a:solidFill>
                  <a:srgbClr val="272525"/>
                </a:solidFill>
                <a:latin typeface="Inter" pitchFamily="34" charset="0"/>
                <a:ea typeface="Inter" pitchFamily="34" charset="-122"/>
                <a:cs typeface="Inter" pitchFamily="34" charset="-120"/>
              </a:rPr>
              <a:t>Las computadoras aún tienen dificultades para comprender el significado del lenguaje en contextos complejos y ambiguos.</a:t>
            </a:r>
            <a:endParaRPr lang="en-US" dirty="0"/>
          </a:p>
        </p:txBody>
      </p:sp>
      <p:sp>
        <p:nvSpPr>
          <p:cNvPr id="12" name="Shape 8"/>
          <p:cNvSpPr/>
          <p:nvPr/>
        </p:nvSpPr>
        <p:spPr>
          <a:xfrm>
            <a:off x="7295514" y="2519823"/>
            <a:ext cx="398503" cy="398503"/>
          </a:xfrm>
          <a:prstGeom prst="roundRect">
            <a:avLst>
              <a:gd name="adj" fmla="val 18669"/>
            </a:avLst>
          </a:prstGeom>
          <a:solidFill>
            <a:srgbClr val="E0D7F4"/>
          </a:solidFill>
          <a:ln w="7620">
            <a:solidFill>
              <a:srgbClr val="C6BDDA"/>
            </a:solidFill>
            <a:prstDash val="solid"/>
          </a:ln>
        </p:spPr>
        <p:txBody>
          <a:bodyPr/>
          <a:lstStyle/>
          <a:p>
            <a:endParaRPr lang="es-PE"/>
          </a:p>
        </p:txBody>
      </p:sp>
      <p:sp>
        <p:nvSpPr>
          <p:cNvPr id="13" name="Text 9"/>
          <p:cNvSpPr/>
          <p:nvPr/>
        </p:nvSpPr>
        <p:spPr>
          <a:xfrm>
            <a:off x="7414818" y="2572924"/>
            <a:ext cx="159901" cy="292299"/>
          </a:xfrm>
          <a:prstGeom prst="rect">
            <a:avLst/>
          </a:prstGeom>
          <a:noFill/>
          <a:ln/>
        </p:spPr>
        <p:txBody>
          <a:bodyPr wrap="none" rtlCol="0" anchor="t"/>
          <a:lstStyle/>
          <a:p>
            <a:pPr algn="ctr">
              <a:lnSpc>
                <a:spcPts val="2301"/>
              </a:lnSpc>
            </a:pPr>
            <a:r>
              <a:rPr lang="en-US" sz="2301" b="1" kern="0" spc="-47" dirty="0">
                <a:solidFill>
                  <a:srgbClr val="272525"/>
                </a:solidFill>
                <a:latin typeface="Petrona" pitchFamily="34" charset="0"/>
                <a:ea typeface="Petrona" pitchFamily="34" charset="-122"/>
                <a:cs typeface="Petrona" pitchFamily="34" charset="-120"/>
              </a:rPr>
              <a:t>2</a:t>
            </a:r>
            <a:endParaRPr lang="en-US" sz="2301" dirty="0"/>
          </a:p>
        </p:txBody>
      </p:sp>
      <p:sp>
        <p:nvSpPr>
          <p:cNvPr id="14" name="Text 10"/>
          <p:cNvSpPr/>
          <p:nvPr/>
        </p:nvSpPr>
        <p:spPr>
          <a:xfrm>
            <a:off x="7871066" y="2519825"/>
            <a:ext cx="2861667" cy="304443"/>
          </a:xfrm>
          <a:prstGeom prst="rect">
            <a:avLst/>
          </a:prstGeom>
          <a:noFill/>
          <a:ln/>
        </p:spPr>
        <p:txBody>
          <a:bodyPr wrap="none" rtlCol="0" anchor="t"/>
          <a:lstStyle/>
          <a:p>
            <a:pPr>
              <a:lnSpc>
                <a:spcPts val="2397"/>
              </a:lnSpc>
            </a:pPr>
            <a:r>
              <a:rPr lang="en-US" sz="1919" b="1" kern="0" spc="-37" dirty="0">
                <a:solidFill>
                  <a:srgbClr val="272525"/>
                </a:solidFill>
                <a:latin typeface="Petrona" pitchFamily="34" charset="0"/>
                <a:ea typeface="Petrona" pitchFamily="34" charset="-122"/>
                <a:cs typeface="Petrona" pitchFamily="34" charset="-120"/>
              </a:rPr>
              <a:t>Lenguaje natural complejo</a:t>
            </a:r>
            <a:endParaRPr lang="en-US" sz="1919" dirty="0"/>
          </a:p>
        </p:txBody>
      </p:sp>
      <p:sp>
        <p:nvSpPr>
          <p:cNvPr id="15" name="Text 11"/>
          <p:cNvSpPr/>
          <p:nvPr/>
        </p:nvSpPr>
        <p:spPr>
          <a:xfrm>
            <a:off x="7871062" y="2930469"/>
            <a:ext cx="5192316" cy="566739"/>
          </a:xfrm>
          <a:prstGeom prst="rect">
            <a:avLst/>
          </a:prstGeom>
          <a:noFill/>
          <a:ln/>
        </p:spPr>
        <p:txBody>
          <a:bodyPr wrap="square" rtlCol="0" anchor="t"/>
          <a:lstStyle/>
          <a:p>
            <a:pPr algn="just">
              <a:lnSpc>
                <a:spcPts val="2232"/>
              </a:lnSpc>
            </a:pPr>
            <a:r>
              <a:rPr lang="en-US" kern="0" spc="-28" dirty="0">
                <a:solidFill>
                  <a:srgbClr val="272525"/>
                </a:solidFill>
                <a:latin typeface="Inter" pitchFamily="34" charset="0"/>
                <a:ea typeface="Inter" pitchFamily="34" charset="-122"/>
                <a:cs typeface="Inter" pitchFamily="34" charset="-120"/>
              </a:rPr>
              <a:t>El lenguaje humano es diverso y complejo, con diferentes dialectos, jergas y expresiones que complican el análisis.</a:t>
            </a:r>
            <a:endParaRPr lang="en-US" dirty="0"/>
          </a:p>
        </p:txBody>
      </p:sp>
      <p:sp>
        <p:nvSpPr>
          <p:cNvPr id="16" name="Shape 12"/>
          <p:cNvSpPr/>
          <p:nvPr/>
        </p:nvSpPr>
        <p:spPr>
          <a:xfrm>
            <a:off x="1350599" y="4213021"/>
            <a:ext cx="398502" cy="398502"/>
          </a:xfrm>
          <a:prstGeom prst="roundRect">
            <a:avLst>
              <a:gd name="adj" fmla="val 18669"/>
            </a:avLst>
          </a:prstGeom>
          <a:solidFill>
            <a:srgbClr val="E0D7F4"/>
          </a:solidFill>
          <a:ln w="7620">
            <a:solidFill>
              <a:srgbClr val="C6BDDA"/>
            </a:solidFill>
            <a:prstDash val="solid"/>
          </a:ln>
        </p:spPr>
        <p:txBody>
          <a:bodyPr/>
          <a:lstStyle/>
          <a:p>
            <a:endParaRPr lang="es-PE"/>
          </a:p>
        </p:txBody>
      </p:sp>
      <p:sp>
        <p:nvSpPr>
          <p:cNvPr id="17" name="Text 13"/>
          <p:cNvSpPr/>
          <p:nvPr/>
        </p:nvSpPr>
        <p:spPr>
          <a:xfrm>
            <a:off x="1470018" y="4266123"/>
            <a:ext cx="159544" cy="292298"/>
          </a:xfrm>
          <a:prstGeom prst="rect">
            <a:avLst/>
          </a:prstGeom>
          <a:noFill/>
          <a:ln/>
        </p:spPr>
        <p:txBody>
          <a:bodyPr wrap="none" rtlCol="0" anchor="t"/>
          <a:lstStyle/>
          <a:p>
            <a:pPr algn="ctr">
              <a:lnSpc>
                <a:spcPts val="2301"/>
              </a:lnSpc>
            </a:pPr>
            <a:r>
              <a:rPr lang="en-US" sz="2301" b="1" kern="0" spc="-47" dirty="0">
                <a:solidFill>
                  <a:srgbClr val="272525"/>
                </a:solidFill>
                <a:latin typeface="Petrona" pitchFamily="34" charset="0"/>
                <a:ea typeface="Petrona" pitchFamily="34" charset="-122"/>
                <a:cs typeface="Petrona" pitchFamily="34" charset="-120"/>
              </a:rPr>
              <a:t>3</a:t>
            </a:r>
            <a:endParaRPr lang="en-US" sz="2301" dirty="0"/>
          </a:p>
        </p:txBody>
      </p:sp>
      <p:sp>
        <p:nvSpPr>
          <p:cNvPr id="18" name="Text 14"/>
          <p:cNvSpPr/>
          <p:nvPr/>
        </p:nvSpPr>
        <p:spPr>
          <a:xfrm>
            <a:off x="1926153" y="4213025"/>
            <a:ext cx="5107543" cy="304443"/>
          </a:xfrm>
          <a:prstGeom prst="rect">
            <a:avLst/>
          </a:prstGeom>
          <a:noFill/>
          <a:ln/>
        </p:spPr>
        <p:txBody>
          <a:bodyPr wrap="none" rtlCol="0" anchor="t"/>
          <a:lstStyle/>
          <a:p>
            <a:pPr>
              <a:lnSpc>
                <a:spcPts val="2397"/>
              </a:lnSpc>
            </a:pPr>
            <a:r>
              <a:rPr lang="en-US" sz="1919" b="1" kern="0" spc="-37" dirty="0">
                <a:solidFill>
                  <a:srgbClr val="272525"/>
                </a:solidFill>
                <a:latin typeface="Petrona" pitchFamily="34" charset="0"/>
                <a:ea typeface="Petrona" pitchFamily="34" charset="-122"/>
                <a:cs typeface="Petrona" pitchFamily="34" charset="-120"/>
              </a:rPr>
              <a:t>Aprendizaje profundo y aprendizaje automático</a:t>
            </a:r>
            <a:endParaRPr lang="en-US" sz="1919" dirty="0"/>
          </a:p>
        </p:txBody>
      </p:sp>
      <p:sp>
        <p:nvSpPr>
          <p:cNvPr id="19" name="Text 15"/>
          <p:cNvSpPr/>
          <p:nvPr/>
        </p:nvSpPr>
        <p:spPr>
          <a:xfrm>
            <a:off x="1926148" y="4623669"/>
            <a:ext cx="5192316" cy="850107"/>
          </a:xfrm>
          <a:prstGeom prst="rect">
            <a:avLst/>
          </a:prstGeom>
          <a:noFill/>
          <a:ln/>
        </p:spPr>
        <p:txBody>
          <a:bodyPr wrap="square" rtlCol="0" anchor="t"/>
          <a:lstStyle/>
          <a:p>
            <a:pPr algn="just">
              <a:lnSpc>
                <a:spcPts val="2232"/>
              </a:lnSpc>
            </a:pPr>
            <a:r>
              <a:rPr lang="en-US" kern="0" spc="-28" dirty="0">
                <a:solidFill>
                  <a:srgbClr val="272525"/>
                </a:solidFill>
                <a:latin typeface="Inter" pitchFamily="34" charset="0"/>
                <a:ea typeface="Inter" pitchFamily="34" charset="-122"/>
                <a:cs typeface="Inter" pitchFamily="34" charset="-120"/>
              </a:rPr>
              <a:t>Las técnicas de aprendizaje profundo han revolucionado el PLN, permitiendo a los modelos aprender patrones complejos del lenguaje.</a:t>
            </a:r>
            <a:endParaRPr lang="en-US" dirty="0"/>
          </a:p>
        </p:txBody>
      </p:sp>
      <p:sp>
        <p:nvSpPr>
          <p:cNvPr id="20" name="Shape 16"/>
          <p:cNvSpPr/>
          <p:nvPr/>
        </p:nvSpPr>
        <p:spPr>
          <a:xfrm>
            <a:off x="7295510" y="4213023"/>
            <a:ext cx="398503" cy="398503"/>
          </a:xfrm>
          <a:prstGeom prst="roundRect">
            <a:avLst>
              <a:gd name="adj" fmla="val 18669"/>
            </a:avLst>
          </a:prstGeom>
          <a:solidFill>
            <a:srgbClr val="E0D7F4"/>
          </a:solidFill>
          <a:ln w="7620">
            <a:solidFill>
              <a:srgbClr val="C6BDDA"/>
            </a:solidFill>
            <a:prstDash val="solid"/>
          </a:ln>
        </p:spPr>
        <p:txBody>
          <a:bodyPr/>
          <a:lstStyle/>
          <a:p>
            <a:endParaRPr lang="es-PE"/>
          </a:p>
        </p:txBody>
      </p:sp>
      <p:sp>
        <p:nvSpPr>
          <p:cNvPr id="21" name="Text 17"/>
          <p:cNvSpPr/>
          <p:nvPr/>
        </p:nvSpPr>
        <p:spPr>
          <a:xfrm>
            <a:off x="7418860" y="4266125"/>
            <a:ext cx="151687" cy="292299"/>
          </a:xfrm>
          <a:prstGeom prst="rect">
            <a:avLst/>
          </a:prstGeom>
          <a:noFill/>
          <a:ln/>
        </p:spPr>
        <p:txBody>
          <a:bodyPr wrap="none" rtlCol="0" anchor="t"/>
          <a:lstStyle/>
          <a:p>
            <a:pPr algn="ctr">
              <a:lnSpc>
                <a:spcPts val="2301"/>
              </a:lnSpc>
            </a:pPr>
            <a:r>
              <a:rPr lang="en-US" sz="2301" b="1" kern="0" spc="-47" dirty="0">
                <a:solidFill>
                  <a:srgbClr val="272525"/>
                </a:solidFill>
                <a:latin typeface="Petrona" pitchFamily="34" charset="0"/>
                <a:ea typeface="Petrona" pitchFamily="34" charset="-122"/>
                <a:cs typeface="Petrona" pitchFamily="34" charset="-120"/>
              </a:rPr>
              <a:t>4</a:t>
            </a:r>
            <a:endParaRPr lang="en-US" sz="2301" dirty="0"/>
          </a:p>
        </p:txBody>
      </p:sp>
      <p:sp>
        <p:nvSpPr>
          <p:cNvPr id="22" name="Text 18"/>
          <p:cNvSpPr/>
          <p:nvPr/>
        </p:nvSpPr>
        <p:spPr>
          <a:xfrm>
            <a:off x="7871062" y="4213025"/>
            <a:ext cx="4276963" cy="304443"/>
          </a:xfrm>
          <a:prstGeom prst="rect">
            <a:avLst/>
          </a:prstGeom>
          <a:noFill/>
          <a:ln/>
        </p:spPr>
        <p:txBody>
          <a:bodyPr wrap="none" rtlCol="0" anchor="t"/>
          <a:lstStyle/>
          <a:p>
            <a:pPr>
              <a:lnSpc>
                <a:spcPts val="2397"/>
              </a:lnSpc>
            </a:pPr>
            <a:r>
              <a:rPr lang="en-US" sz="1919" b="1" kern="0" spc="-37" dirty="0">
                <a:solidFill>
                  <a:srgbClr val="272525"/>
                </a:solidFill>
                <a:latin typeface="Petrona" pitchFamily="34" charset="0"/>
                <a:ea typeface="Petrona" pitchFamily="34" charset="-122"/>
                <a:cs typeface="Petrona" pitchFamily="34" charset="-120"/>
              </a:rPr>
              <a:t>Procesamiento del lenguaje multimodal</a:t>
            </a:r>
            <a:endParaRPr lang="en-US" sz="1919" dirty="0"/>
          </a:p>
        </p:txBody>
      </p:sp>
      <p:sp>
        <p:nvSpPr>
          <p:cNvPr id="23" name="Text 19"/>
          <p:cNvSpPr/>
          <p:nvPr/>
        </p:nvSpPr>
        <p:spPr>
          <a:xfrm>
            <a:off x="7871058" y="4623669"/>
            <a:ext cx="5192316" cy="850107"/>
          </a:xfrm>
          <a:prstGeom prst="rect">
            <a:avLst/>
          </a:prstGeom>
          <a:noFill/>
          <a:ln/>
        </p:spPr>
        <p:txBody>
          <a:bodyPr wrap="square" rtlCol="0" anchor="t"/>
          <a:lstStyle/>
          <a:p>
            <a:pPr algn="just">
              <a:lnSpc>
                <a:spcPts val="2232"/>
              </a:lnSpc>
            </a:pPr>
            <a:r>
              <a:rPr lang="en-US" kern="0" spc="-28" dirty="0">
                <a:solidFill>
                  <a:srgbClr val="272525"/>
                </a:solidFill>
                <a:latin typeface="Inter" pitchFamily="34" charset="0"/>
                <a:ea typeface="Inter" pitchFamily="34" charset="-122"/>
                <a:cs typeface="Inter" pitchFamily="34" charset="-120"/>
              </a:rPr>
              <a:t>Combina el análisis de texto con otros tipos de datos, como imágenes y audio, para una comprensión más completa del lenguaje.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es-PE"/>
          </a:p>
        </p:txBody>
      </p:sp>
      <p:sp>
        <p:nvSpPr>
          <p:cNvPr id="3" name="Shape 1"/>
          <p:cNvSpPr/>
          <p:nvPr/>
        </p:nvSpPr>
        <p:spPr>
          <a:xfrm>
            <a:off x="0" y="0"/>
            <a:ext cx="14630400" cy="8229600"/>
          </a:xfrm>
          <a:prstGeom prst="rect">
            <a:avLst/>
          </a:prstGeom>
          <a:solidFill>
            <a:srgbClr val="FDFAF7"/>
          </a:solidFill>
          <a:ln/>
        </p:spPr>
        <p:txBody>
          <a:bodyPr/>
          <a:lstStyle/>
          <a:p>
            <a:endParaRPr lang="es-PE"/>
          </a:p>
        </p:txBody>
      </p:sp>
      <p:sp>
        <p:nvSpPr>
          <p:cNvPr id="6" name="Text 2"/>
          <p:cNvSpPr/>
          <p:nvPr/>
        </p:nvSpPr>
        <p:spPr>
          <a:xfrm>
            <a:off x="914043" y="627048"/>
            <a:ext cx="10709910" cy="776049"/>
          </a:xfrm>
          <a:prstGeom prst="rect">
            <a:avLst/>
          </a:prstGeom>
          <a:noFill/>
          <a:ln/>
        </p:spPr>
        <p:txBody>
          <a:bodyPr wrap="none" rtlCol="0" anchor="t"/>
          <a:lstStyle/>
          <a:p>
            <a:pPr>
              <a:lnSpc>
                <a:spcPts val="6111"/>
              </a:lnSpc>
            </a:pPr>
            <a:r>
              <a:rPr lang="en-US" sz="4889" b="1" kern="0" spc="-99" dirty="0">
                <a:solidFill>
                  <a:srgbClr val="F95F88"/>
                </a:solidFill>
                <a:latin typeface="Petrona" pitchFamily="34" charset="0"/>
                <a:ea typeface="Petrona" pitchFamily="34" charset="-122"/>
                <a:cs typeface="Petrona" pitchFamily="34" charset="-120"/>
              </a:rPr>
              <a:t>Conclusiones y consideraciones finales</a:t>
            </a:r>
            <a:endParaRPr lang="en-US" sz="4889" dirty="0"/>
          </a:p>
        </p:txBody>
      </p:sp>
      <p:sp>
        <p:nvSpPr>
          <p:cNvPr id="7" name="Text 3"/>
          <p:cNvSpPr/>
          <p:nvPr/>
        </p:nvSpPr>
        <p:spPr>
          <a:xfrm>
            <a:off x="790223" y="1798623"/>
            <a:ext cx="13049964" cy="722233"/>
          </a:xfrm>
          <a:prstGeom prst="rect">
            <a:avLst/>
          </a:prstGeom>
          <a:noFill/>
          <a:ln/>
        </p:spPr>
        <p:txBody>
          <a:bodyPr wrap="square" rtlCol="0" anchor="t"/>
          <a:lstStyle/>
          <a:p>
            <a:pPr algn="just">
              <a:lnSpc>
                <a:spcPts val="2845"/>
              </a:lnSpc>
            </a:pPr>
            <a:r>
              <a:rPr lang="en-US" sz="1779" kern="0" spc="-36" dirty="0">
                <a:solidFill>
                  <a:srgbClr val="272525"/>
                </a:solidFill>
                <a:latin typeface="Inter" pitchFamily="34" charset="0"/>
                <a:ea typeface="Inter" pitchFamily="34" charset="-122"/>
                <a:cs typeface="Inter" pitchFamily="34" charset="-120"/>
              </a:rPr>
              <a:t>El PLN es un campo en constante evolución que está transformando la forma en que interactuamos con las computadoras. Sus aplicaciones están impactando diversos sectores, desde la atención médica hasta el comercio electrónico.</a:t>
            </a:r>
            <a:endParaRPr lang="en-US" sz="1779" dirty="0"/>
          </a:p>
        </p:txBody>
      </p:sp>
      <p:sp>
        <p:nvSpPr>
          <p:cNvPr id="8" name="Shape 4"/>
          <p:cNvSpPr/>
          <p:nvPr/>
        </p:nvSpPr>
        <p:spPr>
          <a:xfrm>
            <a:off x="790218" y="3078120"/>
            <a:ext cx="6412111" cy="2073354"/>
          </a:xfrm>
          <a:prstGeom prst="roundRect">
            <a:avLst>
              <a:gd name="adj" fmla="val 4574"/>
            </a:avLst>
          </a:prstGeom>
          <a:solidFill>
            <a:srgbClr val="E0D7F4"/>
          </a:solidFill>
          <a:ln w="7620">
            <a:solidFill>
              <a:srgbClr val="C6BDDA"/>
            </a:solidFill>
            <a:prstDash val="solid"/>
          </a:ln>
        </p:spPr>
        <p:txBody>
          <a:bodyPr/>
          <a:lstStyle/>
          <a:p>
            <a:endParaRPr lang="es-PE" sz="2000"/>
          </a:p>
        </p:txBody>
      </p:sp>
      <p:sp>
        <p:nvSpPr>
          <p:cNvPr id="9" name="Text 5"/>
          <p:cNvSpPr/>
          <p:nvPr/>
        </p:nvSpPr>
        <p:spPr>
          <a:xfrm>
            <a:off x="1023580" y="3311483"/>
            <a:ext cx="3104436" cy="387906"/>
          </a:xfrm>
          <a:prstGeom prst="rect">
            <a:avLst/>
          </a:prstGeom>
          <a:noFill/>
          <a:ln/>
        </p:spPr>
        <p:txBody>
          <a:bodyPr wrap="none" rtlCol="0" anchor="t"/>
          <a:lstStyle/>
          <a:p>
            <a:pPr>
              <a:lnSpc>
                <a:spcPts val="3056"/>
              </a:lnSpc>
            </a:pPr>
            <a:r>
              <a:rPr lang="en-US" sz="2800" b="1" kern="0" spc="-49" dirty="0">
                <a:solidFill>
                  <a:srgbClr val="272525"/>
                </a:solidFill>
                <a:latin typeface="Petrona" pitchFamily="34" charset="0"/>
                <a:ea typeface="Petrona" pitchFamily="34" charset="-122"/>
                <a:cs typeface="Petrona" pitchFamily="34" charset="-120"/>
              </a:rPr>
              <a:t>Ética en el PLN</a:t>
            </a:r>
            <a:endParaRPr lang="en-US" sz="2800" dirty="0"/>
          </a:p>
        </p:txBody>
      </p:sp>
      <p:sp>
        <p:nvSpPr>
          <p:cNvPr id="10" name="Text 6"/>
          <p:cNvSpPr/>
          <p:nvPr/>
        </p:nvSpPr>
        <p:spPr>
          <a:xfrm>
            <a:off x="1023580" y="3834763"/>
            <a:ext cx="5945386" cy="1083350"/>
          </a:xfrm>
          <a:prstGeom prst="rect">
            <a:avLst/>
          </a:prstGeom>
          <a:noFill/>
          <a:ln/>
        </p:spPr>
        <p:txBody>
          <a:bodyPr wrap="square" rtlCol="0" anchor="t"/>
          <a:lstStyle/>
          <a:p>
            <a:pPr>
              <a:lnSpc>
                <a:spcPts val="2845"/>
              </a:lnSpc>
            </a:pPr>
            <a:r>
              <a:rPr lang="en-US" sz="2000" kern="0" spc="-36" dirty="0">
                <a:solidFill>
                  <a:srgbClr val="272525"/>
                </a:solidFill>
                <a:latin typeface="Inter" pitchFamily="34" charset="0"/>
                <a:ea typeface="Inter" pitchFamily="34" charset="-122"/>
                <a:cs typeface="Inter" pitchFamily="34" charset="-120"/>
              </a:rPr>
              <a:t>Es importante considerar las implicaciones éticas del PLN, como el sesgo algorítmico y la privacidad de los datos.</a:t>
            </a:r>
            <a:endParaRPr lang="en-US" sz="2000" dirty="0"/>
          </a:p>
        </p:txBody>
      </p:sp>
      <p:sp>
        <p:nvSpPr>
          <p:cNvPr id="11" name="Shape 7"/>
          <p:cNvSpPr/>
          <p:nvPr/>
        </p:nvSpPr>
        <p:spPr>
          <a:xfrm>
            <a:off x="7428076" y="3078122"/>
            <a:ext cx="6412111" cy="2073355"/>
          </a:xfrm>
          <a:prstGeom prst="roundRect">
            <a:avLst>
              <a:gd name="adj" fmla="val 4574"/>
            </a:avLst>
          </a:prstGeom>
          <a:solidFill>
            <a:srgbClr val="E0D7F4"/>
          </a:solidFill>
          <a:ln w="7620">
            <a:solidFill>
              <a:srgbClr val="C6BDDA"/>
            </a:solidFill>
            <a:prstDash val="solid"/>
          </a:ln>
        </p:spPr>
        <p:txBody>
          <a:bodyPr/>
          <a:lstStyle/>
          <a:p>
            <a:endParaRPr lang="es-PE" sz="2000"/>
          </a:p>
        </p:txBody>
      </p:sp>
      <p:sp>
        <p:nvSpPr>
          <p:cNvPr id="12" name="Text 8"/>
          <p:cNvSpPr/>
          <p:nvPr/>
        </p:nvSpPr>
        <p:spPr>
          <a:xfrm>
            <a:off x="7661435" y="3311485"/>
            <a:ext cx="3104436" cy="387907"/>
          </a:xfrm>
          <a:prstGeom prst="rect">
            <a:avLst/>
          </a:prstGeom>
          <a:noFill/>
          <a:ln/>
        </p:spPr>
        <p:txBody>
          <a:bodyPr wrap="none" rtlCol="0" anchor="t"/>
          <a:lstStyle/>
          <a:p>
            <a:pPr>
              <a:lnSpc>
                <a:spcPts val="3056"/>
              </a:lnSpc>
            </a:pPr>
            <a:r>
              <a:rPr lang="en-US" sz="2800" b="1" kern="0" spc="-49" dirty="0">
                <a:solidFill>
                  <a:srgbClr val="272525"/>
                </a:solidFill>
                <a:latin typeface="Petrona" pitchFamily="34" charset="0"/>
                <a:ea typeface="Petrona" pitchFamily="34" charset="-122"/>
                <a:cs typeface="Petrona" pitchFamily="34" charset="-120"/>
              </a:rPr>
              <a:t>Futuro del PLN</a:t>
            </a:r>
            <a:endParaRPr lang="en-US" sz="2800" dirty="0"/>
          </a:p>
        </p:txBody>
      </p:sp>
      <p:sp>
        <p:nvSpPr>
          <p:cNvPr id="13" name="Text 9"/>
          <p:cNvSpPr/>
          <p:nvPr/>
        </p:nvSpPr>
        <p:spPr>
          <a:xfrm>
            <a:off x="7661435" y="3834765"/>
            <a:ext cx="5945387" cy="1083351"/>
          </a:xfrm>
          <a:prstGeom prst="rect">
            <a:avLst/>
          </a:prstGeom>
          <a:noFill/>
          <a:ln/>
        </p:spPr>
        <p:txBody>
          <a:bodyPr wrap="square" rtlCol="0" anchor="t"/>
          <a:lstStyle/>
          <a:p>
            <a:pPr>
              <a:lnSpc>
                <a:spcPts val="2845"/>
              </a:lnSpc>
            </a:pPr>
            <a:r>
              <a:rPr lang="en-US" sz="2000" kern="0" spc="-36" dirty="0">
                <a:solidFill>
                  <a:srgbClr val="272525"/>
                </a:solidFill>
                <a:latin typeface="Inter" pitchFamily="34" charset="0"/>
                <a:ea typeface="Inter" pitchFamily="34" charset="-122"/>
                <a:cs typeface="Inter" pitchFamily="34" charset="-120"/>
              </a:rPr>
              <a:t>Se espera que el PLN continúe evolucionando, desarrollando aplicaciones aún más sofisticadas e innovadoras.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497</TotalTime>
  <Words>986</Words>
  <Application>Microsoft Office PowerPoint</Application>
  <PresentationFormat>Personalizado</PresentationFormat>
  <Paragraphs>98</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Inter</vt:lpstr>
      <vt:lpstr>Petrona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JAIME ANTONIO HUAYTALLA PARIONA</cp:lastModifiedBy>
  <cp:revision>4</cp:revision>
  <dcterms:created xsi:type="dcterms:W3CDTF">2024-08-27T13:29:06Z</dcterms:created>
  <dcterms:modified xsi:type="dcterms:W3CDTF">2025-04-11T23:13:39Z</dcterms:modified>
</cp:coreProperties>
</file>