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AF5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AF5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130" y="6513986"/>
            <a:ext cx="1201869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2484" y="3026664"/>
            <a:ext cx="368808" cy="3627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4196" y="3608832"/>
            <a:ext cx="374903" cy="3627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4196" y="4212335"/>
            <a:ext cx="374903" cy="3688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9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1208" y="307593"/>
            <a:ext cx="6561582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59828"/>
            <a:ext cx="7971790" cy="2559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AF5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49742"/>
            <a:ext cx="229234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List_of_datasets_for_machine-learning_research" TargetMode="External"/><Relationship Id="rId13" Type="http://schemas.openxmlformats.org/officeDocument/2006/relationships/hyperlink" Target="https://storage.googleapis.com/openimages/web/index.html" TargetMode="External"/><Relationship Id="rId3" Type="http://schemas.openxmlformats.org/officeDocument/2006/relationships/hyperlink" Target="http://kdd.ics.uci.edu/" TargetMode="External"/><Relationship Id="rId7" Type="http://schemas.openxmlformats.org/officeDocument/2006/relationships/hyperlink" Target="https://toolbox.google.com/datasetsearch" TargetMode="External"/><Relationship Id="rId12" Type="http://schemas.openxmlformats.org/officeDocument/2006/relationships/hyperlink" Target="http://cocodataset.org/#home" TargetMode="External"/><Relationship Id="rId2" Type="http://schemas.openxmlformats.org/officeDocument/2006/relationships/hyperlink" Target="https://archive.ics.uci.edu/ml/index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gistry.opendata.aws/" TargetMode="External"/><Relationship Id="rId11" Type="http://schemas.openxmlformats.org/officeDocument/2006/relationships/hyperlink" Target="http://www.image-net.org/" TargetMode="External"/><Relationship Id="rId5" Type="http://schemas.openxmlformats.org/officeDocument/2006/relationships/hyperlink" Target="https://guides.library.cmu.edu/machine-learning/datasets" TargetMode="External"/><Relationship Id="rId10" Type="http://schemas.openxmlformats.org/officeDocument/2006/relationships/hyperlink" Target="https://www.visualdata.io/" TargetMode="External"/><Relationship Id="rId4" Type="http://schemas.openxmlformats.org/officeDocument/2006/relationships/hyperlink" Target="http://www.cs.utoronto.ca/~delve/" TargetMode="External"/><Relationship Id="rId9" Type="http://schemas.openxmlformats.org/officeDocument/2006/relationships/hyperlink" Target="https://www.kaggle.com/datasets" TargetMode="External"/><Relationship Id="rId14" Type="http://schemas.openxmlformats.org/officeDocument/2006/relationships/hyperlink" Target="https://research.google.com/youtube8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2400553" y="2438400"/>
            <a:ext cx="43421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0830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Introducción</a:t>
            </a:r>
            <a:r>
              <a:rPr sz="40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40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 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Machine</a:t>
            </a:r>
            <a:r>
              <a:rPr sz="40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40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Learning</a:t>
            </a:r>
            <a:endParaRPr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0754" y="4724400"/>
            <a:ext cx="3141727" cy="517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s-PE" sz="1600" b="1" i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Ing. Jaime </a:t>
            </a:r>
            <a:r>
              <a:rPr lang="es-PE" sz="1600" b="1" i="1" dirty="0" err="1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Huaytalla</a:t>
            </a:r>
            <a:r>
              <a:rPr lang="es-PE" sz="1600" b="1" i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 Pariona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s-PE" sz="1600" b="1" i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  <a:hlinkClick r:id="rId2"/>
              </a:rPr>
              <a:t>jhuaytalla@uncp.edu.pe</a:t>
            </a:r>
            <a:r>
              <a:rPr lang="es-PE" sz="1600" b="1" i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endParaRPr sz="1600" b="1" dirty="0">
              <a:solidFill>
                <a:schemeClr val="accent3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8882" y="595629"/>
            <a:ext cx="1125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1427813"/>
            <a:ext cx="8459764" cy="6344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1291" y="1514855"/>
            <a:ext cx="8300084" cy="47434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5905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465"/>
              </a:spcBef>
              <a:tabLst>
                <a:tab pos="690245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1.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Introducción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652068" y="2285491"/>
            <a:ext cx="414909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Tipos</a:t>
            </a:r>
            <a:r>
              <a:rPr sz="24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24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Machine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Learning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7E7E7E"/>
              </a:buClr>
              <a:buFont typeface="Arial MT"/>
              <a:buAutoNum type="arabicPeriod" startAt="2"/>
            </a:pP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Conceptos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Básicos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59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3009"/>
            <a:ext cx="55048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tiene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bastantes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aplicaciones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82896" y="3197232"/>
            <a:ext cx="3823970" cy="3660775"/>
            <a:chOff x="4882896" y="3197232"/>
            <a:chExt cx="3823970" cy="36607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9196" y="3197232"/>
              <a:ext cx="3738923" cy="22967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7968" y="3355847"/>
              <a:ext cx="3241547" cy="1799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2896" y="5208996"/>
              <a:ext cx="3823715" cy="16490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7968" y="5404103"/>
              <a:ext cx="3253740" cy="114604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8680" y="4148328"/>
            <a:ext cx="3602736" cy="22189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17102" y="1740330"/>
            <a:ext cx="4192904" cy="2153920"/>
            <a:chOff x="617102" y="1740330"/>
            <a:chExt cx="4192904" cy="215392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102" y="1740330"/>
              <a:ext cx="4192758" cy="21534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5716" y="1898904"/>
              <a:ext cx="3695700" cy="165658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77967" y="1810511"/>
            <a:ext cx="3096767" cy="129844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59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7937500" cy="26860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(ML)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Arial MT"/>
                <a:cs typeface="Arial MT"/>
              </a:rPr>
              <a:t>Aprendizaje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máquina,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aprendizaje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automatizado,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AF50"/>
                </a:solidFill>
                <a:latin typeface="Arial"/>
                <a:cs typeface="Arial"/>
              </a:rPr>
              <a:t>aprendizaje</a:t>
            </a:r>
            <a:r>
              <a:rPr sz="1800" i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00AF50"/>
                </a:solidFill>
                <a:latin typeface="Arial"/>
                <a:cs typeface="Arial"/>
              </a:rPr>
              <a:t>automático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800">
              <a:latin typeface="Arial"/>
              <a:cs typeface="Arial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9900CC"/>
                </a:solidFill>
                <a:latin typeface="Arial MT"/>
                <a:cs typeface="Arial MT"/>
              </a:rPr>
              <a:t>¿Cuándo</a:t>
            </a:r>
            <a:r>
              <a:rPr sz="2000" spc="-6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900CC"/>
                </a:solidFill>
                <a:latin typeface="Arial MT"/>
                <a:cs typeface="Arial MT"/>
              </a:rPr>
              <a:t>es</a:t>
            </a:r>
            <a:r>
              <a:rPr sz="2000" spc="-5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900CC"/>
                </a:solidFill>
                <a:latin typeface="Arial MT"/>
                <a:cs typeface="Arial MT"/>
              </a:rPr>
              <a:t>importante</a:t>
            </a:r>
            <a:r>
              <a:rPr sz="2000" spc="-7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9900CC"/>
                </a:solidFill>
                <a:latin typeface="Arial MT"/>
                <a:cs typeface="Arial MT"/>
              </a:rPr>
              <a:t>“aprender”?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experiencia humana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(ejempo: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navegar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Marte)</a:t>
            </a:r>
            <a:endParaRPr sz="1600">
              <a:latin typeface="Arial MT"/>
              <a:cs typeface="Arial MT"/>
            </a:endParaRPr>
          </a:p>
          <a:p>
            <a:pPr marL="388620" marR="861694" lvl="1" indent="-160020">
              <a:lnSpc>
                <a:spcPct val="100000"/>
              </a:lnSpc>
              <a:spcBef>
                <a:spcPts val="434"/>
              </a:spcBef>
              <a:buChar char="-"/>
              <a:tabLst>
                <a:tab pos="388620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humanos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incapaces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explicar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conocimiento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(ejemplo: reconocimiento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 voz,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reconocimiento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objetos)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modelos 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cantidad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6003442"/>
            <a:ext cx="6037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“Aprender”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siempre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útil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(ejemplo: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cosas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repetitivas)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4224528"/>
            <a:ext cx="2243328" cy="12877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215" y="4277173"/>
            <a:ext cx="1655064" cy="12397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0215" y="4143755"/>
            <a:ext cx="2179319" cy="14493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59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503999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Ejemplo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cuándo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learning: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¿“Qué”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“2”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“3”?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5864758"/>
            <a:ext cx="6203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Clasificación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dígitos: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tarea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“clásica”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4261" y="2182367"/>
            <a:ext cx="4829478" cy="33345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685">
              <a:lnSpc>
                <a:spcPct val="100000"/>
              </a:lnSpc>
              <a:spcBef>
                <a:spcPts val="95"/>
              </a:spcBef>
            </a:pPr>
            <a:r>
              <a:rPr dirty="0"/>
              <a:t>¿Qué</a:t>
            </a:r>
            <a:r>
              <a:rPr spc="-60" dirty="0"/>
              <a:t> 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094455"/>
            <a:ext cx="5800090" cy="466788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45745" indent="-194945">
              <a:lnSpc>
                <a:spcPct val="100000"/>
              </a:lnSpc>
              <a:spcBef>
                <a:spcPts val="1115"/>
              </a:spcBef>
              <a:buChar char="•"/>
              <a:tabLst>
                <a:tab pos="245745" algn="l"/>
              </a:tabLst>
            </a:pPr>
            <a:r>
              <a:rPr sz="2000" dirty="0">
                <a:latin typeface="Arial MT"/>
                <a:cs typeface="Arial MT"/>
              </a:rPr>
              <a:t>Arthur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Samuel</a:t>
            </a:r>
            <a:r>
              <a:rPr sz="2000" spc="-10" dirty="0">
                <a:latin typeface="Arial MT"/>
                <a:cs typeface="Arial MT"/>
              </a:rPr>
              <a:t> (1959)</a:t>
            </a:r>
            <a:endParaRPr sz="2000">
              <a:latin typeface="Arial MT"/>
              <a:cs typeface="Arial MT"/>
            </a:endParaRPr>
          </a:p>
          <a:p>
            <a:pPr marL="426720" marR="43180" lvl="1" indent="-160020">
              <a:lnSpc>
                <a:spcPct val="100000"/>
              </a:lnSpc>
              <a:spcBef>
                <a:spcPts val="910"/>
              </a:spcBef>
              <a:buChar char="-"/>
              <a:tabLst>
                <a:tab pos="426720" algn="l"/>
              </a:tabLst>
            </a:pPr>
            <a:r>
              <a:rPr sz="1800" dirty="0">
                <a:latin typeface="Arial MT"/>
                <a:cs typeface="Arial MT"/>
              </a:rPr>
              <a:t>“Programming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experience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eventually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eliminate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this </a:t>
            </a:r>
            <a:r>
              <a:rPr sz="1800" dirty="0">
                <a:latin typeface="Arial MT"/>
                <a:cs typeface="Arial MT"/>
              </a:rPr>
              <a:t>detailed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effort”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37" baseline="25462" dirty="0">
                <a:latin typeface="Arial MT"/>
                <a:cs typeface="Arial MT"/>
              </a:rPr>
              <a:t>(1)</a:t>
            </a:r>
            <a:endParaRPr sz="1800" baseline="25462">
              <a:latin typeface="Arial MT"/>
              <a:cs typeface="Arial MT"/>
            </a:endParaRPr>
          </a:p>
          <a:p>
            <a:pPr marL="426720" marR="664845" lvl="1" indent="-160020">
              <a:lnSpc>
                <a:spcPct val="100000"/>
              </a:lnSpc>
              <a:spcBef>
                <a:spcPts val="900"/>
              </a:spcBef>
              <a:buChar char="-"/>
              <a:tabLst>
                <a:tab pos="426720" algn="l"/>
              </a:tabLst>
            </a:pPr>
            <a:r>
              <a:rPr sz="1800" dirty="0">
                <a:latin typeface="Arial MT"/>
                <a:cs typeface="Arial MT"/>
              </a:rPr>
              <a:t>ML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campo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estudio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brinda 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dirty="0">
                <a:latin typeface="Arial MT"/>
                <a:cs typeface="Arial MT"/>
              </a:rPr>
              <a:t>computadoras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habilidad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50"/>
                </a:solidFill>
                <a:latin typeface="Arial MT"/>
                <a:cs typeface="Arial MT"/>
              </a:rPr>
              <a:t>aprender</a:t>
            </a:r>
            <a:r>
              <a:rPr sz="18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ser </a:t>
            </a:r>
            <a:r>
              <a:rPr sz="1800" dirty="0">
                <a:latin typeface="Arial MT"/>
                <a:cs typeface="Arial MT"/>
              </a:rPr>
              <a:t>explícitamente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programadas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45745" indent="-194945">
              <a:lnSpc>
                <a:spcPct val="100000"/>
              </a:lnSpc>
              <a:buChar char="•"/>
              <a:tabLst>
                <a:tab pos="245745" algn="l"/>
              </a:tabLst>
            </a:pPr>
            <a:r>
              <a:rPr sz="2000" spc="-10" dirty="0">
                <a:latin typeface="Arial MT"/>
                <a:cs typeface="Arial MT"/>
              </a:rPr>
              <a:t>Herbert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A.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Simon:</a:t>
            </a:r>
            <a:endParaRPr sz="2000">
              <a:latin typeface="Arial MT"/>
              <a:cs typeface="Arial MT"/>
            </a:endParaRPr>
          </a:p>
          <a:p>
            <a:pPr marL="426720" marR="20320" lvl="1" indent="-160020">
              <a:lnSpc>
                <a:spcPct val="100000"/>
              </a:lnSpc>
              <a:spcBef>
                <a:spcPts val="910"/>
              </a:spcBef>
              <a:buChar char="-"/>
              <a:tabLst>
                <a:tab pos="426720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aprendizaje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cualquier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mediante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cual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mejora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rendimiento con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experiencia</a:t>
            </a:r>
            <a:endParaRPr sz="1800">
              <a:latin typeface="Arial MT"/>
              <a:cs typeface="Arial MT"/>
            </a:endParaRPr>
          </a:p>
          <a:p>
            <a:pPr marL="426720" marR="489584" lvl="1" indent="-160020">
              <a:lnSpc>
                <a:spcPct val="100000"/>
              </a:lnSpc>
              <a:spcBef>
                <a:spcPts val="900"/>
              </a:spcBef>
              <a:buChar char="-"/>
              <a:tabLst>
                <a:tab pos="426720" algn="l"/>
              </a:tabLst>
            </a:pPr>
            <a:r>
              <a:rPr sz="1800" dirty="0">
                <a:latin typeface="Arial MT"/>
                <a:cs typeface="Arial MT"/>
              </a:rPr>
              <a:t>ML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relacionada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que </a:t>
            </a:r>
            <a:r>
              <a:rPr sz="1800" dirty="0">
                <a:latin typeface="Arial MT"/>
                <a:cs typeface="Arial MT"/>
              </a:rPr>
              <a:t>automáticamente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mejoran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rendimiento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 </a:t>
            </a:r>
            <a:r>
              <a:rPr sz="1800" spc="-10" dirty="0">
                <a:latin typeface="Arial MT"/>
                <a:cs typeface="Arial MT"/>
              </a:rPr>
              <a:t>experiencia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006" y="6305194"/>
            <a:ext cx="717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marR="30480" indent="-140335">
              <a:lnSpc>
                <a:spcPct val="100000"/>
              </a:lnSpc>
              <a:spcBef>
                <a:spcPts val="100"/>
              </a:spcBef>
            </a:pPr>
            <a:r>
              <a:rPr sz="1200" baseline="24305" dirty="0">
                <a:solidFill>
                  <a:srgbClr val="A6A6A6"/>
                </a:solidFill>
                <a:latin typeface="Calibri"/>
                <a:cs typeface="Calibri"/>
              </a:rPr>
              <a:t>(1)</a:t>
            </a:r>
            <a:r>
              <a:rPr sz="1200" spc="82" baseline="2430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Arthur</a:t>
            </a:r>
            <a:r>
              <a:rPr sz="1200" spc="-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L</a:t>
            </a:r>
            <a:r>
              <a:rPr sz="12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Samuel.</a:t>
            </a:r>
            <a:r>
              <a:rPr sz="12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“Some</a:t>
            </a:r>
            <a:r>
              <a:rPr sz="12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studies</a:t>
            </a:r>
            <a:r>
              <a:rPr sz="1200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in</a:t>
            </a:r>
            <a:r>
              <a:rPr sz="12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machine</a:t>
            </a:r>
            <a:r>
              <a:rPr sz="12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learning</a:t>
            </a:r>
            <a:r>
              <a:rPr sz="1200" spc="-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using</a:t>
            </a:r>
            <a:r>
              <a:rPr sz="1200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game</a:t>
            </a:r>
            <a:r>
              <a:rPr sz="12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A6A6A6"/>
                </a:solidFill>
                <a:latin typeface="Calibri"/>
                <a:cs typeface="Calibri"/>
              </a:rPr>
              <a:t> checkers”.</a:t>
            </a:r>
            <a:r>
              <a:rPr sz="1200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In:</a:t>
            </a:r>
            <a:r>
              <a:rPr sz="12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IBM</a:t>
            </a:r>
            <a:r>
              <a:rPr sz="12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Journal</a:t>
            </a:r>
            <a:r>
              <a:rPr sz="1200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research</a:t>
            </a:r>
            <a:r>
              <a:rPr sz="12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A6A6A6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A6A6A6"/>
                </a:solidFill>
                <a:latin typeface="Calibri"/>
                <a:cs typeface="Calibri"/>
              </a:rPr>
              <a:t>development</a:t>
            </a:r>
            <a:r>
              <a:rPr sz="12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3.3</a:t>
            </a:r>
            <a:r>
              <a:rPr sz="12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(1959),</a:t>
            </a:r>
            <a:r>
              <a:rPr sz="1200" spc="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6A6A6"/>
                </a:solidFill>
                <a:latin typeface="Calibri"/>
                <a:cs typeface="Calibri"/>
              </a:rPr>
              <a:t>pp.</a:t>
            </a:r>
            <a:r>
              <a:rPr sz="12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A6A6A6"/>
                </a:solidFill>
                <a:latin typeface="Calibri"/>
                <a:cs typeface="Calibri"/>
              </a:rPr>
              <a:t>210–229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91" y="1560565"/>
            <a:ext cx="1200167" cy="16695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3089" y="3791703"/>
            <a:ext cx="1306835" cy="195302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685">
              <a:lnSpc>
                <a:spcPct val="100000"/>
              </a:lnSpc>
              <a:spcBef>
                <a:spcPts val="95"/>
              </a:spcBef>
            </a:pPr>
            <a:r>
              <a:rPr dirty="0"/>
              <a:t>¿Qué</a:t>
            </a:r>
            <a:r>
              <a:rPr spc="-60" dirty="0"/>
              <a:t> 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7052945" cy="49041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Definición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Tom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Mitchell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(1998):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9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ML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estudio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algoritmos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que</a:t>
            </a:r>
            <a:endParaRPr sz="1800">
              <a:latin typeface="Arial MT"/>
              <a:cs typeface="Arial MT"/>
            </a:endParaRPr>
          </a:p>
          <a:p>
            <a:pPr marL="725805" lvl="2" indent="-224154">
              <a:lnSpc>
                <a:spcPct val="100000"/>
              </a:lnSpc>
              <a:spcBef>
                <a:spcPts val="380"/>
              </a:spcBef>
              <a:buChar char="•"/>
              <a:tabLst>
                <a:tab pos="725805" algn="l"/>
              </a:tabLst>
            </a:pPr>
            <a:r>
              <a:rPr sz="1600" dirty="0">
                <a:latin typeface="Arial MT"/>
                <a:cs typeface="Arial MT"/>
              </a:rPr>
              <a:t>mejoran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rendimiento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</a:t>
            </a:r>
            <a:r>
              <a:rPr sz="1400" dirty="0">
                <a:solidFill>
                  <a:srgbClr val="00AF50"/>
                </a:solidFill>
                <a:latin typeface="Arial MT"/>
                <a:cs typeface="Arial MT"/>
              </a:rPr>
              <a:t>performance</a:t>
            </a:r>
            <a:r>
              <a:rPr sz="1400" dirty="0">
                <a:latin typeface="Arial MT"/>
                <a:cs typeface="Arial MT"/>
              </a:rPr>
              <a:t>)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600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725805" lvl="2" indent="-224154">
              <a:lnSpc>
                <a:spcPct val="100000"/>
              </a:lnSpc>
              <a:spcBef>
                <a:spcPts val="385"/>
              </a:spcBef>
              <a:buChar char="•"/>
              <a:tabLst>
                <a:tab pos="725805" algn="l"/>
              </a:tabLst>
            </a:pPr>
            <a:r>
              <a:rPr sz="1600" dirty="0">
                <a:latin typeface="Arial MT"/>
                <a:cs typeface="Arial MT"/>
              </a:rPr>
              <a:t>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AF50"/>
                </a:solidFill>
                <a:latin typeface="Arial MT"/>
                <a:cs typeface="Arial MT"/>
              </a:rPr>
              <a:t>tarea</a:t>
            </a:r>
            <a:r>
              <a:rPr sz="16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  <a:p>
            <a:pPr marL="725805" lvl="2" indent="-224154">
              <a:lnSpc>
                <a:spcPct val="100000"/>
              </a:lnSpc>
              <a:spcBef>
                <a:spcPts val="384"/>
              </a:spcBef>
              <a:buChar char="•"/>
              <a:tabLst>
                <a:tab pos="725805" algn="l"/>
              </a:tabLst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través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AF50"/>
                </a:solidFill>
                <a:latin typeface="Arial MT"/>
                <a:cs typeface="Arial MT"/>
              </a:rPr>
              <a:t>experiencia</a:t>
            </a:r>
            <a:r>
              <a:rPr sz="16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  <a:p>
            <a:pPr marL="387985" lvl="1" indent="-159385">
              <a:lnSpc>
                <a:spcPct val="100000"/>
              </a:lnSpc>
              <a:spcBef>
                <a:spcPts val="42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tarea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definida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E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50"/>
              </a:spcBef>
              <a:buFont typeface="Arial MT"/>
              <a:buChar char="-"/>
            </a:pPr>
            <a:endParaRPr sz="1800">
              <a:latin typeface="Times New Roman"/>
              <a:cs typeface="Times New Roman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Ejemplos:</a:t>
            </a:r>
            <a:endParaRPr sz="2000">
              <a:latin typeface="Comic Sans MS"/>
              <a:cs typeface="Comic Sans MS"/>
            </a:endParaRPr>
          </a:p>
          <a:p>
            <a:pPr marL="571500" indent="-342900">
              <a:lnSpc>
                <a:spcPct val="100000"/>
              </a:lnSpc>
              <a:spcBef>
                <a:spcPts val="1960"/>
              </a:spcBef>
              <a:buAutoNum type="arabicPeriod"/>
              <a:tabLst>
                <a:tab pos="571500" algn="l"/>
              </a:tabLst>
            </a:pPr>
            <a:r>
              <a:rPr sz="1600" i="1" dirty="0">
                <a:latin typeface="Arial"/>
                <a:cs typeface="Arial"/>
              </a:rPr>
              <a:t>T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Jugar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ajedrez</a:t>
            </a:r>
            <a:endParaRPr sz="16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385"/>
              </a:spcBef>
            </a:pPr>
            <a:r>
              <a:rPr sz="1600" i="1" dirty="0">
                <a:latin typeface="Arial"/>
                <a:cs typeface="Arial"/>
              </a:rPr>
              <a:t>P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Porcentaje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juegos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ganados</a:t>
            </a:r>
            <a:endParaRPr sz="16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385"/>
              </a:spcBef>
            </a:pPr>
            <a:r>
              <a:rPr sz="1600" i="1" dirty="0">
                <a:latin typeface="Arial"/>
                <a:cs typeface="Arial"/>
              </a:rPr>
              <a:t>E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Juegos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sí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mismo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600">
              <a:latin typeface="Arial MT"/>
              <a:cs typeface="Arial MT"/>
            </a:endParaRPr>
          </a:p>
          <a:p>
            <a:pPr marL="571500" indent="-342900">
              <a:lnSpc>
                <a:spcPct val="100000"/>
              </a:lnSpc>
              <a:buAutoNum type="arabicPeriod" startAt="2"/>
              <a:tabLst>
                <a:tab pos="571500" algn="l"/>
              </a:tabLst>
            </a:pPr>
            <a:r>
              <a:rPr sz="1600" i="1" dirty="0">
                <a:latin typeface="Arial"/>
                <a:cs typeface="Arial"/>
              </a:rPr>
              <a:t>T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Manejar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pista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usando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cámaras</a:t>
            </a:r>
            <a:endParaRPr sz="16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385"/>
              </a:spcBef>
            </a:pPr>
            <a:r>
              <a:rPr sz="1600" i="1" dirty="0">
                <a:latin typeface="Arial"/>
                <a:cs typeface="Arial"/>
              </a:rPr>
              <a:t>P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Distancia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recorrida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antes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humano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determine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error</a:t>
            </a:r>
            <a:endParaRPr sz="16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385"/>
              </a:spcBef>
            </a:pPr>
            <a:r>
              <a:rPr sz="1600" i="1" dirty="0">
                <a:latin typeface="Arial"/>
                <a:cs typeface="Arial"/>
              </a:rPr>
              <a:t>E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secuencia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imágenes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comandos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giro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grabados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humano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685">
              <a:lnSpc>
                <a:spcPct val="100000"/>
              </a:lnSpc>
              <a:spcBef>
                <a:spcPts val="95"/>
              </a:spcBef>
            </a:pPr>
            <a:r>
              <a:rPr dirty="0"/>
              <a:t>¿Qué</a:t>
            </a:r>
            <a:r>
              <a:rPr spc="-60" dirty="0"/>
              <a:t> 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2628"/>
            <a:ext cx="3032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Programación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tradicional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89709"/>
            <a:ext cx="6988809" cy="31013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94945" marR="3240405" indent="-194945" algn="ctr">
              <a:lnSpc>
                <a:spcPct val="100000"/>
              </a:lnSpc>
              <a:spcBef>
                <a:spcPts val="590"/>
              </a:spcBef>
              <a:buChar char="•"/>
              <a:tabLst>
                <a:tab pos="194945" algn="l"/>
              </a:tabLst>
            </a:pPr>
            <a:r>
              <a:rPr sz="2000" dirty="0">
                <a:latin typeface="Arial MT"/>
                <a:cs typeface="Arial MT"/>
              </a:rPr>
              <a:t>Analogía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Learning:</a:t>
            </a:r>
            <a:endParaRPr sz="2000">
              <a:latin typeface="Arial MT"/>
              <a:cs typeface="Arial MT"/>
            </a:endParaRPr>
          </a:p>
          <a:p>
            <a:pPr marR="3858260" algn="ctr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jardinería,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donde</a:t>
            </a:r>
            <a:endParaRPr sz="1800">
              <a:latin typeface="Arial MT"/>
              <a:cs typeface="Arial MT"/>
            </a:endParaRPr>
          </a:p>
          <a:p>
            <a:pPr marL="157480" marR="3855720" lvl="1" indent="-157480" algn="ctr">
              <a:lnSpc>
                <a:spcPct val="100000"/>
              </a:lnSpc>
              <a:spcBef>
                <a:spcPts val="434"/>
              </a:spcBef>
              <a:buChar char="-"/>
              <a:tabLst>
                <a:tab pos="157480" algn="l"/>
              </a:tabLst>
            </a:pPr>
            <a:r>
              <a:rPr sz="1800" dirty="0">
                <a:latin typeface="Arial MT"/>
                <a:cs typeface="Arial MT"/>
              </a:rPr>
              <a:t>Semillas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algoritmos</a:t>
            </a:r>
            <a:endParaRPr sz="1800">
              <a:latin typeface="Arial MT"/>
              <a:cs typeface="Arial MT"/>
            </a:endParaRPr>
          </a:p>
          <a:p>
            <a:pPr marL="551180" lvl="1" indent="-157480">
              <a:lnSpc>
                <a:spcPct val="100000"/>
              </a:lnSpc>
              <a:spcBef>
                <a:spcPts val="430"/>
              </a:spcBef>
              <a:buChar char="-"/>
              <a:tabLst>
                <a:tab pos="551180" algn="l"/>
              </a:tabLst>
            </a:pPr>
            <a:r>
              <a:rPr sz="1800" dirty="0">
                <a:latin typeface="Arial MT"/>
                <a:cs typeface="Arial MT"/>
              </a:rPr>
              <a:t>Nutrientes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datos</a:t>
            </a:r>
            <a:endParaRPr sz="1800">
              <a:latin typeface="Arial MT"/>
              <a:cs typeface="Arial MT"/>
            </a:endParaRPr>
          </a:p>
          <a:p>
            <a:pPr marL="551180" lvl="1" indent="-157480">
              <a:lnSpc>
                <a:spcPct val="100000"/>
              </a:lnSpc>
              <a:spcBef>
                <a:spcPts val="434"/>
              </a:spcBef>
              <a:buChar char="-"/>
              <a:tabLst>
                <a:tab pos="551180" algn="l"/>
              </a:tabLst>
            </a:pPr>
            <a:r>
              <a:rPr sz="1800" dirty="0">
                <a:latin typeface="Arial MT"/>
                <a:cs typeface="Arial MT"/>
              </a:rPr>
              <a:t>Jardinero 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humano</a:t>
            </a:r>
            <a:endParaRPr sz="1800">
              <a:latin typeface="Arial MT"/>
              <a:cs typeface="Arial MT"/>
            </a:endParaRPr>
          </a:p>
          <a:p>
            <a:pPr marL="551180" lvl="1" indent="-157480">
              <a:lnSpc>
                <a:spcPct val="100000"/>
              </a:lnSpc>
              <a:spcBef>
                <a:spcPts val="430"/>
              </a:spcBef>
              <a:buChar char="-"/>
              <a:tabLst>
                <a:tab pos="551180" algn="l"/>
              </a:tabLst>
            </a:pPr>
            <a:r>
              <a:rPr sz="1800" dirty="0">
                <a:latin typeface="Arial MT"/>
                <a:cs typeface="Arial MT"/>
              </a:rPr>
              <a:t>Plantas =</a:t>
            </a:r>
            <a:r>
              <a:rPr sz="1800" spc="-10" dirty="0">
                <a:latin typeface="Arial MT"/>
                <a:cs typeface="Arial MT"/>
              </a:rPr>
              <a:t> programas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Importante: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capacidad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generalización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Realizar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tarea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situación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encontrada</a:t>
            </a:r>
            <a:r>
              <a:rPr sz="1800" spc="-10" dirty="0">
                <a:latin typeface="Arial MT"/>
                <a:cs typeface="Arial MT"/>
              </a:rPr>
              <a:t> anteriormente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91461" y="1798320"/>
            <a:ext cx="1864360" cy="780415"/>
            <a:chOff x="1791461" y="1798320"/>
            <a:chExt cx="1864360" cy="780415"/>
          </a:xfrm>
        </p:grpSpPr>
        <p:sp>
          <p:nvSpPr>
            <p:cNvPr id="6" name="object 6"/>
            <p:cNvSpPr/>
            <p:nvPr/>
          </p:nvSpPr>
          <p:spPr>
            <a:xfrm>
              <a:off x="1791462" y="1920239"/>
              <a:ext cx="1864360" cy="459105"/>
            </a:xfrm>
            <a:custGeom>
              <a:avLst/>
              <a:gdLst/>
              <a:ahLst/>
              <a:cxnLst/>
              <a:rect l="l" t="t" r="r" b="b"/>
              <a:pathLst>
                <a:path w="1864360" h="459105">
                  <a:moveTo>
                    <a:pt x="388620" y="393954"/>
                  </a:moveTo>
                  <a:lnTo>
                    <a:pt x="362699" y="381000"/>
                  </a:lnTo>
                  <a:lnTo>
                    <a:pt x="259080" y="329184"/>
                  </a:lnTo>
                  <a:lnTo>
                    <a:pt x="259080" y="381000"/>
                  </a:lnTo>
                  <a:lnTo>
                    <a:pt x="0" y="381000"/>
                  </a:lnTo>
                  <a:lnTo>
                    <a:pt x="0" y="406908"/>
                  </a:lnTo>
                  <a:lnTo>
                    <a:pt x="259080" y="406908"/>
                  </a:lnTo>
                  <a:lnTo>
                    <a:pt x="259080" y="458724"/>
                  </a:lnTo>
                  <a:lnTo>
                    <a:pt x="362712" y="406908"/>
                  </a:lnTo>
                  <a:lnTo>
                    <a:pt x="388620" y="393954"/>
                  </a:lnTo>
                  <a:close/>
                </a:path>
                <a:path w="1864360" h="459105">
                  <a:moveTo>
                    <a:pt x="388620" y="64770"/>
                  </a:moveTo>
                  <a:lnTo>
                    <a:pt x="362699" y="51816"/>
                  </a:lnTo>
                  <a:lnTo>
                    <a:pt x="259080" y="0"/>
                  </a:lnTo>
                  <a:lnTo>
                    <a:pt x="259080" y="51816"/>
                  </a:lnTo>
                  <a:lnTo>
                    <a:pt x="0" y="51816"/>
                  </a:lnTo>
                  <a:lnTo>
                    <a:pt x="0" y="77724"/>
                  </a:lnTo>
                  <a:lnTo>
                    <a:pt x="259080" y="77724"/>
                  </a:lnTo>
                  <a:lnTo>
                    <a:pt x="259080" y="129540"/>
                  </a:lnTo>
                  <a:lnTo>
                    <a:pt x="362712" y="77724"/>
                  </a:lnTo>
                  <a:lnTo>
                    <a:pt x="388620" y="64770"/>
                  </a:lnTo>
                  <a:close/>
                </a:path>
                <a:path w="1864360" h="459105">
                  <a:moveTo>
                    <a:pt x="1863852" y="304038"/>
                  </a:moveTo>
                  <a:lnTo>
                    <a:pt x="1837944" y="291084"/>
                  </a:lnTo>
                  <a:lnTo>
                    <a:pt x="1734312" y="239268"/>
                  </a:lnTo>
                  <a:lnTo>
                    <a:pt x="1734312" y="291084"/>
                  </a:lnTo>
                  <a:lnTo>
                    <a:pt x="1540764" y="291084"/>
                  </a:lnTo>
                  <a:lnTo>
                    <a:pt x="1540764" y="316992"/>
                  </a:lnTo>
                  <a:lnTo>
                    <a:pt x="1734312" y="316992"/>
                  </a:lnTo>
                  <a:lnTo>
                    <a:pt x="1734312" y="368808"/>
                  </a:lnTo>
                  <a:lnTo>
                    <a:pt x="1837931" y="316992"/>
                  </a:lnTo>
                  <a:lnTo>
                    <a:pt x="1863852" y="304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0081" y="1811274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0" y="125729"/>
                  </a:moveTo>
                  <a:lnTo>
                    <a:pt x="9876" y="76777"/>
                  </a:lnTo>
                  <a:lnTo>
                    <a:pt x="36814" y="36814"/>
                  </a:lnTo>
                  <a:lnTo>
                    <a:pt x="76777" y="9876"/>
                  </a:lnTo>
                  <a:lnTo>
                    <a:pt x="125730" y="0"/>
                  </a:lnTo>
                  <a:lnTo>
                    <a:pt x="1026413" y="0"/>
                  </a:lnTo>
                  <a:lnTo>
                    <a:pt x="1075366" y="9876"/>
                  </a:lnTo>
                  <a:lnTo>
                    <a:pt x="1115329" y="36814"/>
                  </a:lnTo>
                  <a:lnTo>
                    <a:pt x="1142267" y="76777"/>
                  </a:lnTo>
                  <a:lnTo>
                    <a:pt x="1152144" y="125729"/>
                  </a:lnTo>
                  <a:lnTo>
                    <a:pt x="1152144" y="628650"/>
                  </a:lnTo>
                  <a:lnTo>
                    <a:pt x="1142267" y="677602"/>
                  </a:lnTo>
                  <a:lnTo>
                    <a:pt x="1115329" y="717565"/>
                  </a:lnTo>
                  <a:lnTo>
                    <a:pt x="1075366" y="744503"/>
                  </a:lnTo>
                  <a:lnTo>
                    <a:pt x="1026413" y="754379"/>
                  </a:lnTo>
                  <a:lnTo>
                    <a:pt x="125730" y="754379"/>
                  </a:lnTo>
                  <a:lnTo>
                    <a:pt x="76777" y="744503"/>
                  </a:lnTo>
                  <a:lnTo>
                    <a:pt x="36814" y="717565"/>
                  </a:lnTo>
                  <a:lnTo>
                    <a:pt x="9876" y="677602"/>
                  </a:lnTo>
                  <a:lnTo>
                    <a:pt x="0" y="628650"/>
                  </a:lnTo>
                  <a:lnTo>
                    <a:pt x="0" y="125729"/>
                  </a:lnTo>
                  <a:close/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8865" y="1757451"/>
            <a:ext cx="915669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37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Datos Programa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1734" y="2083435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Salida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5085" y="2032253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PC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65697" y="1804416"/>
            <a:ext cx="1833880" cy="780415"/>
            <a:chOff x="5965697" y="1804416"/>
            <a:chExt cx="1833880" cy="780415"/>
          </a:xfrm>
        </p:grpSpPr>
        <p:sp>
          <p:nvSpPr>
            <p:cNvPr id="12" name="object 12"/>
            <p:cNvSpPr/>
            <p:nvPr/>
          </p:nvSpPr>
          <p:spPr>
            <a:xfrm>
              <a:off x="5965698" y="1938527"/>
              <a:ext cx="1833880" cy="597535"/>
            </a:xfrm>
            <a:custGeom>
              <a:avLst/>
              <a:gdLst/>
              <a:ahLst/>
              <a:cxnLst/>
              <a:rect l="l" t="t" r="r" b="b"/>
              <a:pathLst>
                <a:path w="1833879" h="597535">
                  <a:moveTo>
                    <a:pt x="388620" y="532638"/>
                  </a:moveTo>
                  <a:lnTo>
                    <a:pt x="362712" y="519684"/>
                  </a:lnTo>
                  <a:lnTo>
                    <a:pt x="259080" y="467868"/>
                  </a:lnTo>
                  <a:lnTo>
                    <a:pt x="259080" y="519684"/>
                  </a:lnTo>
                  <a:lnTo>
                    <a:pt x="0" y="519684"/>
                  </a:lnTo>
                  <a:lnTo>
                    <a:pt x="0" y="545592"/>
                  </a:lnTo>
                  <a:lnTo>
                    <a:pt x="259080" y="545592"/>
                  </a:lnTo>
                  <a:lnTo>
                    <a:pt x="259080" y="597408"/>
                  </a:lnTo>
                  <a:lnTo>
                    <a:pt x="362699" y="545592"/>
                  </a:lnTo>
                  <a:lnTo>
                    <a:pt x="388620" y="532638"/>
                  </a:lnTo>
                  <a:close/>
                </a:path>
                <a:path w="1833879" h="597535">
                  <a:moveTo>
                    <a:pt x="388620" y="64770"/>
                  </a:moveTo>
                  <a:lnTo>
                    <a:pt x="362712" y="51816"/>
                  </a:lnTo>
                  <a:lnTo>
                    <a:pt x="259080" y="0"/>
                  </a:lnTo>
                  <a:lnTo>
                    <a:pt x="259080" y="51816"/>
                  </a:lnTo>
                  <a:lnTo>
                    <a:pt x="0" y="51816"/>
                  </a:lnTo>
                  <a:lnTo>
                    <a:pt x="0" y="77724"/>
                  </a:lnTo>
                  <a:lnTo>
                    <a:pt x="259080" y="77724"/>
                  </a:lnTo>
                  <a:lnTo>
                    <a:pt x="259080" y="129540"/>
                  </a:lnTo>
                  <a:lnTo>
                    <a:pt x="362712" y="77724"/>
                  </a:lnTo>
                  <a:lnTo>
                    <a:pt x="388620" y="64770"/>
                  </a:lnTo>
                  <a:close/>
                </a:path>
                <a:path w="1833879" h="597535">
                  <a:moveTo>
                    <a:pt x="1833372" y="268986"/>
                  </a:moveTo>
                  <a:lnTo>
                    <a:pt x="1807464" y="256032"/>
                  </a:lnTo>
                  <a:lnTo>
                    <a:pt x="1703832" y="204216"/>
                  </a:lnTo>
                  <a:lnTo>
                    <a:pt x="1703832" y="256032"/>
                  </a:lnTo>
                  <a:lnTo>
                    <a:pt x="1510284" y="256032"/>
                  </a:lnTo>
                  <a:lnTo>
                    <a:pt x="1510284" y="281940"/>
                  </a:lnTo>
                  <a:lnTo>
                    <a:pt x="1703832" y="281940"/>
                  </a:lnTo>
                  <a:lnTo>
                    <a:pt x="1703832" y="333756"/>
                  </a:lnTo>
                  <a:lnTo>
                    <a:pt x="1807464" y="281940"/>
                  </a:lnTo>
                  <a:lnTo>
                    <a:pt x="1833372" y="268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66509" y="1817370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026413" y="0"/>
                  </a:moveTo>
                  <a:lnTo>
                    <a:pt x="125729" y="0"/>
                  </a:lnTo>
                  <a:lnTo>
                    <a:pt x="76777" y="9876"/>
                  </a:lnTo>
                  <a:lnTo>
                    <a:pt x="36814" y="36814"/>
                  </a:lnTo>
                  <a:lnTo>
                    <a:pt x="9876" y="76777"/>
                  </a:lnTo>
                  <a:lnTo>
                    <a:pt x="0" y="125729"/>
                  </a:lnTo>
                  <a:lnTo>
                    <a:pt x="0" y="628650"/>
                  </a:lnTo>
                  <a:lnTo>
                    <a:pt x="9876" y="677602"/>
                  </a:lnTo>
                  <a:lnTo>
                    <a:pt x="36814" y="717565"/>
                  </a:lnTo>
                  <a:lnTo>
                    <a:pt x="76777" y="744503"/>
                  </a:lnTo>
                  <a:lnTo>
                    <a:pt x="125729" y="754379"/>
                  </a:lnTo>
                  <a:lnTo>
                    <a:pt x="1026413" y="754379"/>
                  </a:lnTo>
                  <a:lnTo>
                    <a:pt x="1075366" y="744503"/>
                  </a:lnTo>
                  <a:lnTo>
                    <a:pt x="1115329" y="717565"/>
                  </a:lnTo>
                  <a:lnTo>
                    <a:pt x="1142267" y="677602"/>
                  </a:lnTo>
                  <a:lnTo>
                    <a:pt x="1152143" y="628650"/>
                  </a:lnTo>
                  <a:lnTo>
                    <a:pt x="1152143" y="125729"/>
                  </a:lnTo>
                  <a:lnTo>
                    <a:pt x="1142267" y="76777"/>
                  </a:lnTo>
                  <a:lnTo>
                    <a:pt x="1115329" y="36814"/>
                  </a:lnTo>
                  <a:lnTo>
                    <a:pt x="1075366" y="9876"/>
                  </a:lnTo>
                  <a:lnTo>
                    <a:pt x="1026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66509" y="1817370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0" y="125729"/>
                  </a:moveTo>
                  <a:lnTo>
                    <a:pt x="9876" y="76777"/>
                  </a:lnTo>
                  <a:lnTo>
                    <a:pt x="36814" y="36814"/>
                  </a:lnTo>
                  <a:lnTo>
                    <a:pt x="76777" y="9876"/>
                  </a:lnTo>
                  <a:lnTo>
                    <a:pt x="125729" y="0"/>
                  </a:lnTo>
                  <a:lnTo>
                    <a:pt x="1026413" y="0"/>
                  </a:lnTo>
                  <a:lnTo>
                    <a:pt x="1075366" y="9876"/>
                  </a:lnTo>
                  <a:lnTo>
                    <a:pt x="1115329" y="36814"/>
                  </a:lnTo>
                  <a:lnTo>
                    <a:pt x="1142267" y="76777"/>
                  </a:lnTo>
                  <a:lnTo>
                    <a:pt x="1152143" y="125729"/>
                  </a:lnTo>
                  <a:lnTo>
                    <a:pt x="1152143" y="628650"/>
                  </a:lnTo>
                  <a:lnTo>
                    <a:pt x="1142267" y="677602"/>
                  </a:lnTo>
                  <a:lnTo>
                    <a:pt x="1115329" y="717565"/>
                  </a:lnTo>
                  <a:lnTo>
                    <a:pt x="1075366" y="744503"/>
                  </a:lnTo>
                  <a:lnTo>
                    <a:pt x="1026413" y="754379"/>
                  </a:lnTo>
                  <a:lnTo>
                    <a:pt x="125729" y="754379"/>
                  </a:lnTo>
                  <a:lnTo>
                    <a:pt x="76777" y="744503"/>
                  </a:lnTo>
                  <a:lnTo>
                    <a:pt x="36814" y="717565"/>
                  </a:lnTo>
                  <a:lnTo>
                    <a:pt x="9876" y="677602"/>
                  </a:lnTo>
                  <a:lnTo>
                    <a:pt x="0" y="628650"/>
                  </a:lnTo>
                  <a:lnTo>
                    <a:pt x="0" y="125729"/>
                  </a:lnTo>
                  <a:close/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09361" y="1848104"/>
            <a:ext cx="55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Datos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4790" y="2327529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Salida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10576" y="205358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Programa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2147" y="2038350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PC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8300" y="3575301"/>
            <a:ext cx="1119384" cy="151714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956428" y="1212291"/>
            <a:ext cx="2244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5"/>
              </a:spcBef>
              <a:buChar char="•"/>
              <a:tabLst>
                <a:tab pos="207010" algn="l"/>
              </a:tabLst>
            </a:pP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Relación</a:t>
            </a:r>
            <a:r>
              <a:rPr spc="-50" dirty="0"/>
              <a:t> </a:t>
            </a:r>
            <a:r>
              <a:rPr dirty="0"/>
              <a:t>con</a:t>
            </a:r>
            <a:r>
              <a:rPr spc="-55" dirty="0"/>
              <a:t> </a:t>
            </a:r>
            <a:r>
              <a:rPr dirty="0"/>
              <a:t>la</a:t>
            </a:r>
            <a:r>
              <a:rPr spc="-70" dirty="0"/>
              <a:t> </a:t>
            </a:r>
            <a:r>
              <a:rPr spc="-10" dirty="0"/>
              <a:t>“Inteligencia</a:t>
            </a:r>
            <a:r>
              <a:rPr spc="-145" dirty="0"/>
              <a:t> </a:t>
            </a:r>
            <a:r>
              <a:rPr spc="-10" dirty="0"/>
              <a:t>Artificial”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7756525" cy="5149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6F2F9F"/>
                </a:solidFill>
                <a:latin typeface="Arial MT"/>
                <a:cs typeface="Arial MT"/>
              </a:rPr>
              <a:t>(ML)</a:t>
            </a:r>
            <a:r>
              <a:rPr sz="2000" spc="-4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“área”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inteligencia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artificial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6F2F9F"/>
                </a:solidFill>
                <a:latin typeface="Arial MT"/>
                <a:cs typeface="Arial MT"/>
              </a:rPr>
              <a:t>(IA)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9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área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popular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actualmente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0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general: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enfoca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replicar la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inteligencia humana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(¿razonamiento,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lógica?)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ML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enfoca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principalmente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computadora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Áreas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(temas)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inteligencia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artificial: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387985" algn="l"/>
              </a:tabLst>
            </a:pPr>
            <a:r>
              <a:rPr sz="1800" spc="-10" dirty="0">
                <a:latin typeface="Arial MT"/>
                <a:cs typeface="Arial MT"/>
              </a:rPr>
              <a:t>Planeamiento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Sistemas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multi-</a:t>
            </a:r>
            <a:r>
              <a:rPr sz="1800" dirty="0">
                <a:latin typeface="Arial MT"/>
                <a:cs typeface="Arial MT"/>
              </a:rPr>
              <a:t>agente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basados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agentes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Algoritmos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búsqueda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(A*)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Representación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conocimiento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Razonamiento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lógica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Procesamiento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lenguaje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natural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Relación</a:t>
            </a:r>
            <a:r>
              <a:rPr spc="-50" dirty="0"/>
              <a:t> </a:t>
            </a:r>
            <a:r>
              <a:rPr dirty="0"/>
              <a:t>con</a:t>
            </a:r>
            <a:r>
              <a:rPr spc="-55" dirty="0"/>
              <a:t> </a:t>
            </a:r>
            <a:r>
              <a:rPr dirty="0"/>
              <a:t>la</a:t>
            </a:r>
            <a:r>
              <a:rPr spc="-70" dirty="0"/>
              <a:t> </a:t>
            </a:r>
            <a:r>
              <a:rPr spc="-10" dirty="0"/>
              <a:t>“Inteligencia</a:t>
            </a:r>
            <a:r>
              <a:rPr spc="-145" dirty="0"/>
              <a:t> </a:t>
            </a:r>
            <a:r>
              <a:rPr spc="-10" dirty="0"/>
              <a:t>Artificial”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1412747"/>
            <a:ext cx="8083296" cy="4652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71113" y="6625329"/>
            <a:ext cx="150749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7E7E7E"/>
                </a:solidFill>
                <a:latin typeface="Arial MT"/>
                <a:cs typeface="Arial MT"/>
              </a:rPr>
              <a:t>[Stefano</a:t>
            </a:r>
            <a:r>
              <a:rPr sz="1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7E7E7E"/>
                </a:solidFill>
                <a:latin typeface="Arial MT"/>
                <a:cs typeface="Arial MT"/>
              </a:rPr>
              <a:t>Carrazza,</a:t>
            </a:r>
            <a:r>
              <a:rPr sz="10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7E7E7E"/>
                </a:solidFill>
                <a:latin typeface="Arial MT"/>
                <a:cs typeface="Arial MT"/>
              </a:rPr>
              <a:t>CERN]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8882" y="595629"/>
            <a:ext cx="1125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2189813"/>
            <a:ext cx="8459764" cy="6344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61338"/>
            <a:ext cx="214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1.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Introducción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31291" y="2276855"/>
            <a:ext cx="8300084" cy="47434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65"/>
              </a:spcBef>
              <a:tabLst>
                <a:tab pos="690245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2.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Tipos</a:t>
            </a:r>
            <a:r>
              <a:rPr sz="24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de</a:t>
            </a:r>
            <a:r>
              <a:rPr sz="24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Aprendizaje</a:t>
            </a:r>
            <a:r>
              <a:rPr sz="24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Automático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009087"/>
            <a:ext cx="3091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3.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	Conceptos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Básicos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1124711"/>
            <a:ext cx="7415783" cy="54559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94455"/>
            <a:ext cx="7599680" cy="503364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115"/>
              </a:spcBef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Aprendizaje</a:t>
            </a:r>
            <a:r>
              <a:rPr sz="2000" spc="-8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supervisado</a:t>
            </a:r>
            <a:r>
              <a:rPr sz="2000" spc="-8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Arial MT"/>
                <a:cs typeface="Arial MT"/>
              </a:rPr>
              <a:t>(inductivo)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1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entrenamiento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incluyen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(“respuestas”)</a:t>
            </a:r>
            <a:r>
              <a:rPr sz="1600" spc="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correctas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0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Objetivo:</a:t>
            </a:r>
            <a:r>
              <a:rPr sz="1800" spc="-3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encontrar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predicción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entrada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0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Tipos:</a:t>
            </a:r>
            <a:r>
              <a:rPr sz="1800" spc="-8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regresión,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clasificación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Aprendizaje</a:t>
            </a:r>
            <a:r>
              <a:rPr sz="2000" spc="-7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no</a:t>
            </a:r>
            <a:r>
              <a:rPr sz="2000" spc="-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supervisado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5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entrenamiento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incluyen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(“respuestas”) </a:t>
            </a:r>
            <a:r>
              <a:rPr sz="1800" spc="-10" dirty="0">
                <a:latin typeface="Arial MT"/>
                <a:cs typeface="Arial MT"/>
              </a:rPr>
              <a:t>correctas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0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Objetivo:</a:t>
            </a:r>
            <a:r>
              <a:rPr sz="1800" spc="-5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descubrir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patrones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similares,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estructuras,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sub-espacios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5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Tipos:</a:t>
            </a:r>
            <a:r>
              <a:rPr sz="1800" spc="-6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“clustering”,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reducción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dimensionalidad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0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Reinforcement</a:t>
            </a:r>
            <a:r>
              <a:rPr sz="2000" spc="-8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learning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AF50"/>
                </a:solidFill>
                <a:latin typeface="Arial MT"/>
                <a:cs typeface="Arial MT"/>
              </a:rPr>
              <a:t>(Aprendizaje</a:t>
            </a:r>
            <a:r>
              <a:rPr sz="16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AF50"/>
                </a:solidFill>
                <a:latin typeface="Arial MT"/>
                <a:cs typeface="Arial MT"/>
              </a:rPr>
              <a:t>por</a:t>
            </a:r>
            <a:r>
              <a:rPr sz="16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Arial MT"/>
                <a:cs typeface="Arial MT"/>
              </a:rPr>
              <a:t>refuerzo)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1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Recompensa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serie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acciones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00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Objetivo:</a:t>
            </a:r>
            <a:r>
              <a:rPr sz="1800" spc="-3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tratar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aprender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usando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feedback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retrasado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(recompensa)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994" y="934974"/>
            <a:ext cx="640969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Aprendizaje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Supervisado</a:t>
            </a:r>
            <a:endParaRPr sz="2000">
              <a:latin typeface="Arial"/>
              <a:cs typeface="Arial"/>
            </a:endParaRPr>
          </a:p>
          <a:p>
            <a:pPr marL="2584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584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Regresión</a:t>
            </a:r>
            <a:r>
              <a:rPr sz="2000" spc="-9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(predicción)</a:t>
            </a:r>
            <a:endParaRPr sz="160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y</a:t>
            </a:r>
            <a:r>
              <a:rPr sz="1800" i="1" spc="-37" baseline="-20833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387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38784" algn="l"/>
              </a:tabLst>
            </a:pPr>
            <a:r>
              <a:rPr sz="1800" dirty="0">
                <a:latin typeface="Arial MT"/>
                <a:cs typeface="Arial MT"/>
              </a:rPr>
              <a:t>Objetivo: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“Aprender”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prediga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dado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438784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438784" algn="l"/>
              </a:tabLst>
            </a:pPr>
            <a:r>
              <a:rPr sz="1800" dirty="0">
                <a:latin typeface="Arial MT"/>
                <a:cs typeface="Arial MT"/>
              </a:rPr>
              <a:t>Salida: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número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real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438784" lvl="1" indent="-159385">
              <a:lnSpc>
                <a:spcPct val="100000"/>
              </a:lnSpc>
              <a:buChar char="-"/>
              <a:tabLst>
                <a:tab pos="438784" algn="l"/>
              </a:tabLst>
            </a:pPr>
            <a:r>
              <a:rPr sz="18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Ejemplo:</a:t>
            </a:r>
            <a:endParaRPr sz="1800">
              <a:latin typeface="Comic Sans MS"/>
              <a:cs typeface="Comic Sans MS"/>
            </a:endParaRPr>
          </a:p>
          <a:p>
            <a:pPr marL="662305" lvl="2" indent="-225425">
              <a:lnSpc>
                <a:spcPct val="100000"/>
              </a:lnSpc>
              <a:spcBef>
                <a:spcPts val="440"/>
              </a:spcBef>
              <a:buChar char="•"/>
              <a:tabLst>
                <a:tab pos="662305" algn="l"/>
              </a:tabLst>
            </a:pPr>
            <a:r>
              <a:rPr sz="1600" dirty="0">
                <a:latin typeface="Arial MT"/>
                <a:cs typeface="Arial MT"/>
              </a:rPr>
              <a:t>Precio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carro </a:t>
            </a:r>
            <a:r>
              <a:rPr sz="1600" spc="-10" dirty="0">
                <a:latin typeface="Arial MT"/>
                <a:cs typeface="Arial MT"/>
              </a:rPr>
              <a:t>usado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232" y="4161293"/>
            <a:ext cx="2198830" cy="21006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6444" y="4184510"/>
            <a:ext cx="3316170" cy="19652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5848" y="4221479"/>
            <a:ext cx="2529567" cy="20501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91810" y="6193942"/>
            <a:ext cx="658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Tamaño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74294" y="934974"/>
            <a:ext cx="7915275" cy="37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03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Aprendizaje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Supervisado</a:t>
            </a:r>
            <a:endParaRPr sz="2000">
              <a:latin typeface="Arial"/>
              <a:cs typeface="Arial"/>
            </a:endParaRPr>
          </a:p>
          <a:p>
            <a:pPr marL="2711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71145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Clasificación</a:t>
            </a:r>
            <a:endParaRPr sz="2000">
              <a:latin typeface="Arial MT"/>
              <a:cs typeface="Arial MT"/>
            </a:endParaRPr>
          </a:p>
          <a:p>
            <a:pPr marL="2921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y</a:t>
            </a:r>
            <a:r>
              <a:rPr sz="1800" i="1" spc="-37" baseline="-20833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514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51484" algn="l"/>
              </a:tabLst>
            </a:pPr>
            <a:r>
              <a:rPr sz="1800" dirty="0">
                <a:latin typeface="Arial MT"/>
                <a:cs typeface="Arial MT"/>
              </a:rPr>
              <a:t>Objetivo: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“Aprender”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prediga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dado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451484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451484" algn="l"/>
              </a:tabLst>
            </a:pPr>
            <a:r>
              <a:rPr sz="1800" dirty="0">
                <a:latin typeface="Arial MT"/>
                <a:cs typeface="Arial MT"/>
              </a:rPr>
              <a:t>Salida: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categórico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(ejemplo: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0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o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451484" lvl="1" indent="-159385">
              <a:lnSpc>
                <a:spcPct val="100000"/>
              </a:lnSpc>
              <a:buChar char="-"/>
              <a:tabLst>
                <a:tab pos="451484" algn="l"/>
              </a:tabLst>
            </a:pPr>
            <a:r>
              <a:rPr sz="18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Ejemplo:</a:t>
            </a:r>
            <a:endParaRPr sz="1800">
              <a:latin typeface="Comic Sans MS"/>
              <a:cs typeface="Comic Sans MS"/>
            </a:endParaRPr>
          </a:p>
          <a:p>
            <a:pPr marL="449580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Arial MT"/>
                <a:cs typeface="Arial MT"/>
              </a:rPr>
              <a:t>Determinar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tumor 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benigno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(0)</a:t>
            </a:r>
            <a:r>
              <a:rPr sz="1400" spc="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maligno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(1)</a:t>
            </a:r>
            <a:r>
              <a:rPr sz="1400" spc="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tamaño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la</a:t>
            </a:r>
            <a:endParaRPr sz="1600">
              <a:latin typeface="Arial MT"/>
              <a:cs typeface="Arial MT"/>
            </a:endParaRPr>
          </a:p>
          <a:p>
            <a:pPr marL="44958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edad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-10" dirty="0">
                <a:latin typeface="Arial MT"/>
                <a:cs typeface="Arial MT"/>
              </a:rPr>
              <a:t> paciente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600">
              <a:latin typeface="Arial MT"/>
              <a:cs typeface="Arial MT"/>
            </a:endParaRPr>
          </a:p>
          <a:p>
            <a:pPr marL="2678430">
              <a:lnSpc>
                <a:spcPct val="100000"/>
              </a:lnSpc>
            </a:pPr>
            <a:r>
              <a:rPr sz="1400" spc="-20" dirty="0">
                <a:latin typeface="Arial MT"/>
                <a:cs typeface="Arial MT"/>
              </a:rPr>
              <a:t>Edad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174" y="2147465"/>
            <a:ext cx="3152775" cy="2073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480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Regresión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logística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Redes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neuronales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Support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Machines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(SVM)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Naive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Bayes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Redes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Bayesianas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4"/>
              </a:spcBef>
              <a:buChar char="•"/>
              <a:tabLst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Árboles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decisión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238125" algn="l"/>
              </a:tabLst>
            </a:pPr>
            <a:r>
              <a:rPr sz="1600" spc="-10" dirty="0">
                <a:latin typeface="Arial MT"/>
                <a:cs typeface="Arial MT"/>
              </a:rPr>
              <a:t>K-</a:t>
            </a:r>
            <a:r>
              <a:rPr sz="1600" dirty="0">
                <a:latin typeface="Arial MT"/>
                <a:cs typeface="Arial MT"/>
              </a:rPr>
              <a:t>nearest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neighbor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934974"/>
            <a:ext cx="5664200" cy="1236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168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Aprendizaje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Supervisado</a:t>
            </a:r>
            <a:endParaRPr sz="2000">
              <a:latin typeface="Arial"/>
              <a:cs typeface="Arial"/>
            </a:endParaRPr>
          </a:p>
          <a:p>
            <a:pPr marL="2076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Clasificación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Métodos</a:t>
            </a:r>
            <a:r>
              <a:rPr sz="1800" spc="-10" dirty="0">
                <a:latin typeface="Arial MT"/>
                <a:cs typeface="Arial MT"/>
              </a:rPr>
              <a:t> usados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202" y="4449667"/>
            <a:ext cx="2855595" cy="18205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540"/>
              </a:spcBef>
              <a:buChar char="-"/>
              <a:tabLst>
                <a:tab pos="172085" algn="l"/>
              </a:tabLst>
            </a:pPr>
            <a:r>
              <a:rPr sz="1800" spc="-10" dirty="0">
                <a:latin typeface="Arial MT"/>
                <a:cs typeface="Arial MT"/>
              </a:rPr>
              <a:t>Aplicaciones</a:t>
            </a:r>
            <a:endParaRPr sz="18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95"/>
              </a:spcBef>
              <a:buChar char="•"/>
              <a:tabLst>
                <a:tab pos="394970" algn="l"/>
              </a:tabLst>
            </a:pPr>
            <a:r>
              <a:rPr sz="1600" spc="-10" dirty="0">
                <a:latin typeface="Arial MT"/>
                <a:cs typeface="Arial MT"/>
              </a:rPr>
              <a:t>Reconocimiento</a:t>
            </a:r>
            <a:r>
              <a:rPr sz="1600" dirty="0">
                <a:latin typeface="Arial MT"/>
                <a:cs typeface="Arial MT"/>
              </a:rPr>
              <a:t> de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rostros</a:t>
            </a:r>
            <a:endParaRPr sz="16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Reconocimiento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objetos</a:t>
            </a:r>
            <a:endParaRPr sz="16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Reconocimiento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habla</a:t>
            </a:r>
            <a:endParaRPr sz="16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84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Diagnóstico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médico</a:t>
            </a:r>
            <a:endParaRPr sz="16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80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Anuncios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internet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4252" y="2031492"/>
            <a:ext cx="2947034" cy="17358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79745" y="3935095"/>
            <a:ext cx="1924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Clasificación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clases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37859" y="4797552"/>
            <a:ext cx="1975485" cy="1653539"/>
            <a:chOff x="5737859" y="4797552"/>
            <a:chExt cx="1975485" cy="165353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7859" y="4797552"/>
              <a:ext cx="1975104" cy="16535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13525" y="5503926"/>
              <a:ext cx="1045844" cy="797560"/>
            </a:xfrm>
            <a:custGeom>
              <a:avLst/>
              <a:gdLst/>
              <a:ahLst/>
              <a:cxnLst/>
              <a:rect l="l" t="t" r="r" b="b"/>
              <a:pathLst>
                <a:path w="1045845" h="797560">
                  <a:moveTo>
                    <a:pt x="0" y="797052"/>
                  </a:moveTo>
                  <a:lnTo>
                    <a:pt x="1045464" y="797052"/>
                  </a:lnTo>
                  <a:lnTo>
                    <a:pt x="1045464" y="0"/>
                  </a:lnTo>
                  <a:lnTo>
                    <a:pt x="0" y="0"/>
                  </a:lnTo>
                  <a:lnTo>
                    <a:pt x="0" y="797052"/>
                  </a:lnTo>
                  <a:close/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294" y="934974"/>
            <a:ext cx="6508750" cy="3067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58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Aprendizaje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No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Supervisado</a:t>
            </a:r>
            <a:endParaRPr sz="2000">
              <a:latin typeface="Arial"/>
              <a:cs typeface="Arial"/>
            </a:endParaRPr>
          </a:p>
          <a:p>
            <a:pPr marL="2711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711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“Clustering”</a:t>
            </a:r>
            <a:r>
              <a:rPr sz="2000" spc="-10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(agrupamiento)</a:t>
            </a:r>
            <a:endParaRPr sz="1600">
              <a:latin typeface="Arial MT"/>
              <a:cs typeface="Arial MT"/>
            </a:endParaRPr>
          </a:p>
          <a:p>
            <a:pPr marL="4514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51484" algn="l"/>
              </a:tabLst>
            </a:pPr>
            <a:r>
              <a:rPr sz="1800" dirty="0">
                <a:latin typeface="Arial MT"/>
                <a:cs typeface="Arial MT"/>
              </a:rPr>
              <a:t>Dados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…,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n</a:t>
            </a:r>
            <a:r>
              <a:rPr sz="1800" i="1" spc="277" baseline="-20833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(sin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etiquetas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salidas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deseadas)</a:t>
            </a:r>
            <a:endParaRPr sz="1600">
              <a:latin typeface="Arial MT"/>
              <a:cs typeface="Arial MT"/>
            </a:endParaRPr>
          </a:p>
          <a:p>
            <a:pPr marL="451484" marR="68580" lvl="1" indent="-159385">
              <a:lnSpc>
                <a:spcPct val="120100"/>
              </a:lnSpc>
              <a:spcBef>
                <a:spcPts val="10"/>
              </a:spcBef>
              <a:buChar char="-"/>
              <a:tabLst>
                <a:tab pos="482600" algn="l"/>
              </a:tabLst>
            </a:pPr>
            <a:r>
              <a:rPr sz="1800" dirty="0">
                <a:latin typeface="Arial MT"/>
                <a:cs typeface="Arial MT"/>
              </a:rPr>
              <a:t>Objetivo: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encontrar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estructura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escondida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(grupos)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dentro 	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451484" lvl="1" indent="-159385">
              <a:lnSpc>
                <a:spcPct val="100000"/>
              </a:lnSpc>
              <a:buChar char="-"/>
              <a:tabLst>
                <a:tab pos="451484" algn="l"/>
              </a:tabLst>
            </a:pPr>
            <a:r>
              <a:rPr sz="18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</a:t>
            </a:r>
            <a:endParaRPr sz="1800">
              <a:latin typeface="Comic Sans MS"/>
              <a:cs typeface="Comic Sans MS"/>
            </a:endParaRPr>
          </a:p>
          <a:p>
            <a:pPr marL="675005" lvl="2" indent="-225425">
              <a:lnSpc>
                <a:spcPct val="100000"/>
              </a:lnSpc>
              <a:spcBef>
                <a:spcPts val="440"/>
              </a:spcBef>
              <a:buChar char="•"/>
              <a:tabLst>
                <a:tab pos="675005" algn="l"/>
              </a:tabLst>
            </a:pPr>
            <a:r>
              <a:rPr sz="1600" dirty="0">
                <a:latin typeface="Arial MT"/>
                <a:cs typeface="Arial MT"/>
              </a:rPr>
              <a:t>Segmentación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mercado</a:t>
            </a:r>
            <a:endParaRPr sz="1600">
              <a:latin typeface="Arial MT"/>
              <a:cs typeface="Arial MT"/>
            </a:endParaRPr>
          </a:p>
          <a:p>
            <a:pPr marL="675005" lvl="2" indent="-225425">
              <a:lnSpc>
                <a:spcPct val="100000"/>
              </a:lnSpc>
              <a:spcBef>
                <a:spcPts val="384"/>
              </a:spcBef>
              <a:buChar char="•"/>
              <a:tabLst>
                <a:tab pos="675005" algn="l"/>
              </a:tabLst>
            </a:pPr>
            <a:r>
              <a:rPr sz="1600" dirty="0">
                <a:latin typeface="Arial MT"/>
                <a:cs typeface="Arial MT"/>
              </a:rPr>
              <a:t>Análisis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redes</a:t>
            </a:r>
            <a:r>
              <a:rPr sz="1600" spc="-10" dirty="0">
                <a:latin typeface="Arial MT"/>
                <a:cs typeface="Arial MT"/>
              </a:rPr>
              <a:t> sociales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6005576"/>
            <a:ext cx="6789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Métodos: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k-</a:t>
            </a:r>
            <a:r>
              <a:rPr sz="1800" dirty="0">
                <a:latin typeface="Arial MT"/>
                <a:cs typeface="Arial MT"/>
              </a:rPr>
              <a:t>means,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clustering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aglomerativo,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mean-</a:t>
            </a:r>
            <a:r>
              <a:rPr sz="1800" dirty="0">
                <a:latin typeface="Arial MT"/>
                <a:cs typeface="Arial MT"/>
              </a:rPr>
              <a:t>shift,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espectral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323" y="4297679"/>
            <a:ext cx="1898903" cy="14537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9615" y="4277867"/>
            <a:ext cx="1904999" cy="145472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90513" y="4791117"/>
            <a:ext cx="495934" cy="461009"/>
            <a:chOff x="4390513" y="4791117"/>
            <a:chExt cx="495934" cy="46100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0513" y="4791117"/>
              <a:ext cx="495718" cy="4608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8743" y="4797551"/>
              <a:ext cx="431291" cy="4038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28743" y="4797551"/>
              <a:ext cx="431800" cy="403860"/>
            </a:xfrm>
            <a:custGeom>
              <a:avLst/>
              <a:gdLst/>
              <a:ahLst/>
              <a:cxnLst/>
              <a:rect l="l" t="t" r="r" b="b"/>
              <a:pathLst>
                <a:path w="431800" h="403860">
                  <a:moveTo>
                    <a:pt x="0" y="100965"/>
                  </a:moveTo>
                  <a:lnTo>
                    <a:pt x="229361" y="100965"/>
                  </a:lnTo>
                  <a:lnTo>
                    <a:pt x="229361" y="0"/>
                  </a:lnTo>
                  <a:lnTo>
                    <a:pt x="431291" y="201930"/>
                  </a:lnTo>
                  <a:lnTo>
                    <a:pt x="229361" y="403860"/>
                  </a:lnTo>
                  <a:lnTo>
                    <a:pt x="229361" y="302895"/>
                  </a:lnTo>
                  <a:lnTo>
                    <a:pt x="0" y="302895"/>
                  </a:lnTo>
                  <a:lnTo>
                    <a:pt x="0" y="100965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9440" y="1694688"/>
            <a:ext cx="1871853" cy="114909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994" y="934974"/>
            <a:ext cx="5973445" cy="2152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1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Aprendizaje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No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Supervisado</a:t>
            </a:r>
            <a:endParaRPr sz="2000">
              <a:latin typeface="Arial"/>
              <a:cs typeface="Arial"/>
            </a:endParaRPr>
          </a:p>
          <a:p>
            <a:pPr marL="2584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584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Reducción</a:t>
            </a:r>
            <a:r>
              <a:rPr sz="2000" spc="-7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Dimensionalidad</a:t>
            </a:r>
            <a:endParaRPr sz="2000">
              <a:latin typeface="Arial MT"/>
              <a:cs typeface="Arial MT"/>
            </a:endParaRPr>
          </a:p>
          <a:p>
            <a:pPr marL="4387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38784" algn="l"/>
              </a:tabLst>
            </a:pPr>
            <a:r>
              <a:rPr sz="1800" dirty="0">
                <a:latin typeface="Arial MT"/>
                <a:cs typeface="Arial MT"/>
              </a:rPr>
              <a:t>Dados: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…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atributos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</a:t>
            </a:r>
            <a:r>
              <a:rPr sz="1600" dirty="0">
                <a:solidFill>
                  <a:srgbClr val="7E7E7E"/>
                </a:solidFill>
                <a:latin typeface="Cambria Math"/>
                <a:cs typeface="Cambria Math"/>
              </a:rPr>
              <a:t>𝑥</a:t>
            </a:r>
            <a:r>
              <a:rPr sz="1725" baseline="-14492" dirty="0">
                <a:solidFill>
                  <a:srgbClr val="7E7E7E"/>
                </a:solidFill>
                <a:latin typeface="Cambria Math"/>
                <a:cs typeface="Cambria Math"/>
              </a:rPr>
              <a:t>𝑖</a:t>
            </a:r>
            <a:r>
              <a:rPr sz="1725" spc="427" baseline="-14492" dirty="0">
                <a:solidFill>
                  <a:srgbClr val="7E7E7E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7E7E7E"/>
                </a:solidFill>
                <a:latin typeface="Cambria Math"/>
                <a:cs typeface="Cambria Math"/>
              </a:rPr>
              <a:t>∈</a:t>
            </a:r>
            <a:r>
              <a:rPr sz="1600" spc="80" dirty="0">
                <a:solidFill>
                  <a:srgbClr val="7E7E7E"/>
                </a:solidFill>
                <a:latin typeface="Cambria Math"/>
                <a:cs typeface="Cambria Math"/>
              </a:rPr>
              <a:t> </a:t>
            </a:r>
            <a:r>
              <a:rPr sz="1600" spc="35" dirty="0">
                <a:solidFill>
                  <a:srgbClr val="7E7E7E"/>
                </a:solidFill>
                <a:latin typeface="Cambria Math"/>
                <a:cs typeface="Cambria Math"/>
              </a:rPr>
              <a:t>ℝ</a:t>
            </a:r>
            <a:r>
              <a:rPr sz="1725" spc="52" baseline="28985" dirty="0">
                <a:solidFill>
                  <a:srgbClr val="7E7E7E"/>
                </a:solidFill>
                <a:latin typeface="Cambria Math"/>
                <a:cs typeface="Cambria Math"/>
              </a:rPr>
              <a:t>𝑚</a:t>
            </a:r>
            <a:r>
              <a:rPr sz="1600" spc="35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438784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438784" algn="l"/>
              </a:tabLst>
            </a:pPr>
            <a:r>
              <a:rPr sz="1800" spc="-10" dirty="0">
                <a:latin typeface="Arial MT"/>
                <a:cs typeface="Arial MT"/>
              </a:rPr>
              <a:t>Objetivo:</a:t>
            </a:r>
            <a:endParaRPr sz="1800">
              <a:latin typeface="Arial MT"/>
              <a:cs typeface="Arial MT"/>
            </a:endParaRPr>
          </a:p>
          <a:p>
            <a:pPr marL="662305" lvl="2" indent="-225425">
              <a:lnSpc>
                <a:spcPct val="100000"/>
              </a:lnSpc>
              <a:spcBef>
                <a:spcPts val="380"/>
              </a:spcBef>
              <a:buChar char="•"/>
              <a:tabLst>
                <a:tab pos="662305" algn="l"/>
              </a:tabLst>
            </a:pPr>
            <a:r>
              <a:rPr sz="1600" dirty="0">
                <a:latin typeface="Arial MT"/>
                <a:cs typeface="Arial MT"/>
              </a:rPr>
              <a:t>Reducir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tamaño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cada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i="1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atributos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</a:t>
            </a:r>
            <a:r>
              <a:rPr sz="1600" i="1" dirty="0">
                <a:solidFill>
                  <a:srgbClr val="7E7E7E"/>
                </a:solidFill>
                <a:latin typeface="Times New Roman"/>
                <a:cs typeface="Times New Roman"/>
              </a:rPr>
              <a:t>d</a:t>
            </a:r>
            <a:r>
              <a:rPr sz="1600" i="1" spc="-1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7E7E7E"/>
                </a:solidFill>
                <a:latin typeface="Times New Roman"/>
                <a:cs typeface="Times New Roman"/>
              </a:rPr>
              <a:t>&lt;</a:t>
            </a:r>
            <a:r>
              <a:rPr sz="1600" i="1" spc="-25" dirty="0">
                <a:solidFill>
                  <a:srgbClr val="7E7E7E"/>
                </a:solidFill>
                <a:latin typeface="Times New Roman"/>
                <a:cs typeface="Times New Roman"/>
              </a:rPr>
              <a:t> m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662305" lvl="2" indent="-225425">
              <a:lnSpc>
                <a:spcPct val="100000"/>
              </a:lnSpc>
              <a:spcBef>
                <a:spcPts val="400"/>
              </a:spcBef>
              <a:buChar char="•"/>
              <a:tabLst>
                <a:tab pos="662305" algn="l"/>
              </a:tabLst>
            </a:pPr>
            <a:r>
              <a:rPr sz="1600" dirty="0">
                <a:latin typeface="Arial MT"/>
                <a:cs typeface="Arial MT"/>
              </a:rPr>
              <a:t>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debe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preservar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atributos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más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importantes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473672"/>
            <a:ext cx="3700779" cy="9429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545"/>
              </a:spcBef>
              <a:buChar char="-"/>
              <a:tabLst>
                <a:tab pos="172085" algn="l"/>
              </a:tabLst>
            </a:pPr>
            <a:r>
              <a:rPr sz="1800" spc="-10" dirty="0">
                <a:latin typeface="Arial MT"/>
                <a:cs typeface="Arial MT"/>
              </a:rPr>
              <a:t>Métodos:</a:t>
            </a:r>
            <a:endParaRPr sz="18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90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Principal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Component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Analysis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(PCA)</a:t>
            </a:r>
            <a:endParaRPr sz="1600">
              <a:latin typeface="Arial MT"/>
              <a:cs typeface="Arial MT"/>
            </a:endParaRPr>
          </a:p>
          <a:p>
            <a:pPr marL="394970" lvl="1" indent="-225425">
              <a:lnSpc>
                <a:spcPct val="100000"/>
              </a:lnSpc>
              <a:spcBef>
                <a:spcPts val="385"/>
              </a:spcBef>
              <a:buChar char="•"/>
              <a:tabLst>
                <a:tab pos="394970" algn="l"/>
              </a:tabLst>
            </a:pPr>
            <a:r>
              <a:rPr sz="1600" dirty="0">
                <a:latin typeface="Arial MT"/>
                <a:cs typeface="Arial MT"/>
              </a:rPr>
              <a:t>Linear</a:t>
            </a:r>
            <a:r>
              <a:rPr sz="1600" spc="-10" dirty="0">
                <a:latin typeface="Arial MT"/>
                <a:cs typeface="Arial MT"/>
              </a:rPr>
              <a:t> Discriminant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Analysis</a:t>
            </a:r>
            <a:r>
              <a:rPr sz="1600" spc="-10" dirty="0">
                <a:latin typeface="Arial MT"/>
                <a:cs typeface="Arial MT"/>
              </a:rPr>
              <a:t> (LDA)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17387" y="4122175"/>
            <a:ext cx="497205" cy="462280"/>
            <a:chOff x="4317387" y="4122175"/>
            <a:chExt cx="497205" cy="4622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387" y="4122175"/>
              <a:ext cx="497151" cy="4621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592" y="4128516"/>
              <a:ext cx="432816" cy="4053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55592" y="4128516"/>
              <a:ext cx="433070" cy="405765"/>
            </a:xfrm>
            <a:custGeom>
              <a:avLst/>
              <a:gdLst/>
              <a:ahLst/>
              <a:cxnLst/>
              <a:rect l="l" t="t" r="r" b="b"/>
              <a:pathLst>
                <a:path w="433070" h="405764">
                  <a:moveTo>
                    <a:pt x="0" y="101345"/>
                  </a:moveTo>
                  <a:lnTo>
                    <a:pt x="230124" y="101345"/>
                  </a:lnTo>
                  <a:lnTo>
                    <a:pt x="230124" y="0"/>
                  </a:lnTo>
                  <a:lnTo>
                    <a:pt x="432816" y="202691"/>
                  </a:lnTo>
                  <a:lnTo>
                    <a:pt x="230124" y="405383"/>
                  </a:lnTo>
                  <a:lnTo>
                    <a:pt x="230124" y="304037"/>
                  </a:lnTo>
                  <a:lnTo>
                    <a:pt x="0" y="304037"/>
                  </a:lnTo>
                  <a:lnTo>
                    <a:pt x="0" y="101345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196" y="3467100"/>
            <a:ext cx="2231268" cy="17076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36108" y="3456142"/>
            <a:ext cx="1799843" cy="183944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694" y="934974"/>
            <a:ext cx="7372984" cy="2682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1081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Reinforcement</a:t>
            </a:r>
            <a:r>
              <a:rPr sz="2000" b="1" spc="-6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Learning</a:t>
            </a:r>
            <a:endParaRPr sz="2000">
              <a:latin typeface="Arial"/>
              <a:cs typeface="Arial"/>
            </a:endParaRPr>
          </a:p>
          <a:p>
            <a:pPr marL="245745" indent="-194945">
              <a:lnSpc>
                <a:spcPct val="100000"/>
              </a:lnSpc>
              <a:spcBef>
                <a:spcPts val="2130"/>
              </a:spcBef>
              <a:buChar char="•"/>
              <a:tabLst>
                <a:tab pos="245745" algn="l"/>
              </a:tabLst>
            </a:pPr>
            <a:r>
              <a:rPr sz="2000" spc="-10" dirty="0">
                <a:latin typeface="Arial MT"/>
                <a:cs typeface="Arial MT"/>
              </a:rPr>
              <a:t>Dados:</a:t>
            </a:r>
            <a:endParaRPr sz="2000">
              <a:latin typeface="Arial MT"/>
              <a:cs typeface="Arial MT"/>
            </a:endParaRPr>
          </a:p>
          <a:p>
            <a:pPr marL="4260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26084" algn="l"/>
              </a:tabLst>
            </a:pPr>
            <a:r>
              <a:rPr sz="1800" dirty="0">
                <a:latin typeface="Arial MT"/>
                <a:cs typeface="Arial MT"/>
              </a:rPr>
              <a:t>Secuencia 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estados: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baseline="-20833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baseline="-20833" dirty="0">
                <a:latin typeface="Times New Roman"/>
                <a:cs typeface="Times New Roman"/>
              </a:rPr>
              <a:t>4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426084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426084" algn="l"/>
              </a:tabLst>
            </a:pPr>
            <a:r>
              <a:rPr sz="1800" dirty="0">
                <a:latin typeface="Arial MT"/>
                <a:cs typeface="Arial MT"/>
              </a:rPr>
              <a:t>Secuencias 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acciones: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20833" dirty="0">
                <a:latin typeface="Times New Roman"/>
                <a:cs typeface="Times New Roman"/>
              </a:rPr>
              <a:t>4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426084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426084" algn="l"/>
              </a:tabLst>
            </a:pPr>
            <a:r>
              <a:rPr sz="1800" dirty="0">
                <a:latin typeface="Arial MT"/>
                <a:cs typeface="Arial MT"/>
              </a:rPr>
              <a:t>Secuencia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recompensas: 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baseline="-20833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baseline="-20833" dirty="0">
                <a:latin typeface="Times New Roman"/>
                <a:cs typeface="Times New Roman"/>
              </a:rPr>
              <a:t>4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…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recompensa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final)</a:t>
            </a:r>
            <a:endParaRPr sz="1800">
              <a:latin typeface="Arial MT"/>
              <a:cs typeface="Arial MT"/>
            </a:endParaRPr>
          </a:p>
          <a:p>
            <a:pPr marL="245745" indent="-194945">
              <a:lnSpc>
                <a:spcPct val="100000"/>
              </a:lnSpc>
              <a:spcBef>
                <a:spcPts val="1205"/>
              </a:spcBef>
              <a:buChar char="•"/>
              <a:tabLst>
                <a:tab pos="245745" algn="l"/>
              </a:tabLst>
            </a:pPr>
            <a:r>
              <a:rPr sz="2000" spc="-10" dirty="0">
                <a:latin typeface="Arial MT"/>
                <a:cs typeface="Arial MT"/>
              </a:rPr>
              <a:t>Objetivo:</a:t>
            </a:r>
            <a:endParaRPr sz="2000">
              <a:latin typeface="Arial MT"/>
              <a:cs typeface="Arial MT"/>
            </a:endParaRPr>
          </a:p>
          <a:p>
            <a:pPr marL="426084" lvl="1" indent="-159385">
              <a:lnSpc>
                <a:spcPct val="100000"/>
              </a:lnSpc>
              <a:spcBef>
                <a:spcPts val="440"/>
              </a:spcBef>
              <a:buChar char="-"/>
              <a:tabLst>
                <a:tab pos="426084" algn="l"/>
              </a:tabLst>
            </a:pPr>
            <a:r>
              <a:rPr sz="1800" dirty="0">
                <a:latin typeface="Arial MT"/>
                <a:cs typeface="Arial MT"/>
              </a:rPr>
              <a:t>Encontrar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“política”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(policy)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óptima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lleva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deseado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6065011"/>
            <a:ext cx="76885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5"/>
              </a:spcBef>
              <a:buChar char="•"/>
              <a:tabLst>
                <a:tab pos="207010" algn="l"/>
              </a:tabLst>
            </a:pPr>
            <a:r>
              <a:rPr sz="2000" dirty="0">
                <a:latin typeface="Arial MT"/>
                <a:cs typeface="Arial MT"/>
              </a:rPr>
              <a:t>Ejemplos: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juegos,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robot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laberinto,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hacer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volar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helicóptero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382" y="3979278"/>
            <a:ext cx="4907229" cy="17875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28973" y="6635805"/>
            <a:ext cx="1795780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7E7E7E"/>
                </a:solidFill>
                <a:latin typeface="Arial MT"/>
                <a:cs typeface="Arial MT"/>
              </a:rPr>
              <a:t>https://youtu.be/VCdxqn0fcnE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80" dirty="0"/>
              <a:t> </a:t>
            </a:r>
            <a:r>
              <a:rPr dirty="0"/>
              <a:t>de</a:t>
            </a:r>
            <a:r>
              <a:rPr spc="-170" dirty="0"/>
              <a:t> </a:t>
            </a:r>
            <a:r>
              <a:rPr spc="-10" dirty="0"/>
              <a:t>Aprendizaje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" y="908303"/>
            <a:ext cx="8927592" cy="57195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8882" y="595629"/>
            <a:ext cx="1125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2919654"/>
            <a:ext cx="8459764" cy="623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61338"/>
            <a:ext cx="4912995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Introducción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7E7E7E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Tipos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2400" spc="-1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Arial MT"/>
                <a:cs typeface="Arial MT"/>
              </a:rPr>
              <a:t>Aprendizaje</a:t>
            </a:r>
            <a:r>
              <a:rPr sz="2400" spc="-1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Automático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31291" y="2997707"/>
            <a:ext cx="8300084" cy="4724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2413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90"/>
              </a:spcBef>
              <a:tabLst>
                <a:tab pos="690245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3.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Conceptos</a:t>
            </a:r>
            <a:r>
              <a:rPr sz="24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Básicos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9120">
              <a:lnSpc>
                <a:spcPct val="100000"/>
              </a:lnSpc>
              <a:spcBef>
                <a:spcPts val="95"/>
              </a:spcBef>
            </a:pPr>
            <a:r>
              <a:rPr dirty="0"/>
              <a:t>Esquema</a:t>
            </a:r>
            <a:r>
              <a:rPr spc="-70" dirty="0"/>
              <a:t> </a:t>
            </a:r>
            <a:r>
              <a:rPr dirty="0"/>
              <a:t>General</a:t>
            </a:r>
            <a:r>
              <a:rPr spc="-75" dirty="0"/>
              <a:t> </a:t>
            </a:r>
            <a:r>
              <a:rPr dirty="0"/>
              <a:t>de</a:t>
            </a:r>
            <a:r>
              <a:rPr spc="-175" dirty="0"/>
              <a:t> </a:t>
            </a:r>
            <a:r>
              <a:rPr spc="-10" dirty="0"/>
              <a:t>Aplicación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3009"/>
            <a:ext cx="3020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Entrenamiento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i="1" spc="-10" dirty="0">
                <a:latin typeface="Arial"/>
                <a:cs typeface="Arial"/>
              </a:rPr>
              <a:t>training</a:t>
            </a:r>
            <a:r>
              <a:rPr sz="2000" spc="-10" dirty="0">
                <a:latin typeface="Arial MT"/>
                <a:cs typeface="Arial MT"/>
              </a:rPr>
              <a:t>):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551198"/>
            <a:ext cx="648589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Prueba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i="1" spc="-10" dirty="0">
                <a:latin typeface="Arial"/>
                <a:cs typeface="Arial"/>
              </a:rPr>
              <a:t>testing</a:t>
            </a:r>
            <a:r>
              <a:rPr sz="2000" spc="-10" dirty="0">
                <a:latin typeface="Arial MT"/>
                <a:cs typeface="Arial MT"/>
              </a:rPr>
              <a:t>):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mejor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prueba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(testing)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64" y="2026768"/>
            <a:ext cx="7715615" cy="29447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5332" y="3797553"/>
            <a:ext cx="1571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Función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 </a:t>
            </a:r>
            <a:r>
              <a:rPr sz="1600" spc="-10" dirty="0">
                <a:latin typeface="Arial MT"/>
                <a:cs typeface="Arial MT"/>
              </a:rPr>
              <a:t>costo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133957" y="4326382"/>
            <a:ext cx="1257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Optimizador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1661" y="3719829"/>
            <a:ext cx="8032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Entrena- miento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7817" y="3799078"/>
            <a:ext cx="1059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Validación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1967" y="3805808"/>
            <a:ext cx="140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Mejor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885" y="2493390"/>
            <a:ext cx="2687320" cy="107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Datos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Modelo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63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6028055" cy="13074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tienen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diversos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formatos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Texto,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números,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gráficos,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tablas,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imágenes,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videos,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División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datos: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1436" y="6030569"/>
            <a:ext cx="11626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953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Conjunto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spc="-10" dirty="0">
                <a:latin typeface="Arial MT"/>
                <a:cs typeface="Arial MT"/>
              </a:rPr>
              <a:t>entrenamiento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3690" y="4303522"/>
            <a:ext cx="1067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“Universo”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(se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 desconoce)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3327" y="6030569"/>
            <a:ext cx="9848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113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Conjunto</a:t>
            </a:r>
            <a:r>
              <a:rPr sz="1400" spc="-25" dirty="0">
                <a:latin typeface="Arial MT"/>
                <a:cs typeface="Arial MT"/>
              </a:rPr>
              <a:t> de </a:t>
            </a:r>
            <a:r>
              <a:rPr sz="1400" spc="-10" dirty="0">
                <a:latin typeface="Arial MT"/>
                <a:cs typeface="Arial MT"/>
              </a:rPr>
              <a:t>Prueba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76172" y="2686811"/>
            <a:ext cx="6449695" cy="3324225"/>
            <a:chOff x="1376172" y="2686811"/>
            <a:chExt cx="6449695" cy="33242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8005" y="3462516"/>
              <a:ext cx="1548908" cy="10227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18182" y="3467607"/>
              <a:ext cx="1498600" cy="972185"/>
            </a:xfrm>
            <a:custGeom>
              <a:avLst/>
              <a:gdLst/>
              <a:ahLst/>
              <a:cxnLst/>
              <a:rect l="l" t="t" r="r" b="b"/>
              <a:pathLst>
                <a:path w="1498600" h="972185">
                  <a:moveTo>
                    <a:pt x="61849" y="863091"/>
                  </a:moveTo>
                  <a:lnTo>
                    <a:pt x="53975" y="865631"/>
                  </a:lnTo>
                  <a:lnTo>
                    <a:pt x="50800" y="871981"/>
                  </a:lnTo>
                  <a:lnTo>
                    <a:pt x="0" y="972057"/>
                  </a:lnTo>
                  <a:lnTo>
                    <a:pt x="68931" y="969009"/>
                  </a:lnTo>
                  <a:lnTo>
                    <a:pt x="28575" y="969009"/>
                  </a:lnTo>
                  <a:lnTo>
                    <a:pt x="14478" y="947165"/>
                  </a:lnTo>
                  <a:lnTo>
                    <a:pt x="54939" y="921091"/>
                  </a:lnTo>
                  <a:lnTo>
                    <a:pt x="73913" y="883792"/>
                  </a:lnTo>
                  <a:lnTo>
                    <a:pt x="77088" y="877315"/>
                  </a:lnTo>
                  <a:lnTo>
                    <a:pt x="74549" y="869568"/>
                  </a:lnTo>
                  <a:lnTo>
                    <a:pt x="68199" y="866393"/>
                  </a:lnTo>
                  <a:lnTo>
                    <a:pt x="61849" y="863091"/>
                  </a:lnTo>
                  <a:close/>
                </a:path>
                <a:path w="1498600" h="972185">
                  <a:moveTo>
                    <a:pt x="54939" y="921091"/>
                  </a:moveTo>
                  <a:lnTo>
                    <a:pt x="14478" y="947165"/>
                  </a:lnTo>
                  <a:lnTo>
                    <a:pt x="28575" y="969009"/>
                  </a:lnTo>
                  <a:lnTo>
                    <a:pt x="36457" y="963929"/>
                  </a:lnTo>
                  <a:lnTo>
                    <a:pt x="33147" y="963929"/>
                  </a:lnTo>
                  <a:lnTo>
                    <a:pt x="20955" y="945133"/>
                  </a:lnTo>
                  <a:lnTo>
                    <a:pt x="43204" y="944159"/>
                  </a:lnTo>
                  <a:lnTo>
                    <a:pt x="54939" y="921091"/>
                  </a:lnTo>
                  <a:close/>
                </a:path>
                <a:path w="1498600" h="972185">
                  <a:moveTo>
                    <a:pt x="117982" y="940815"/>
                  </a:moveTo>
                  <a:lnTo>
                    <a:pt x="68877" y="943035"/>
                  </a:lnTo>
                  <a:lnTo>
                    <a:pt x="28575" y="969009"/>
                  </a:lnTo>
                  <a:lnTo>
                    <a:pt x="68931" y="969009"/>
                  </a:lnTo>
                  <a:lnTo>
                    <a:pt x="119125" y="966723"/>
                  </a:lnTo>
                  <a:lnTo>
                    <a:pt x="124713" y="960627"/>
                  </a:lnTo>
                  <a:lnTo>
                    <a:pt x="124332" y="953515"/>
                  </a:lnTo>
                  <a:lnTo>
                    <a:pt x="124106" y="947165"/>
                  </a:lnTo>
                  <a:lnTo>
                    <a:pt x="124079" y="946403"/>
                  </a:lnTo>
                  <a:lnTo>
                    <a:pt x="117982" y="940815"/>
                  </a:lnTo>
                  <a:close/>
                </a:path>
                <a:path w="1498600" h="972185">
                  <a:moveTo>
                    <a:pt x="43204" y="944159"/>
                  </a:moveTo>
                  <a:lnTo>
                    <a:pt x="20955" y="945133"/>
                  </a:lnTo>
                  <a:lnTo>
                    <a:pt x="33147" y="963929"/>
                  </a:lnTo>
                  <a:lnTo>
                    <a:pt x="43204" y="944159"/>
                  </a:lnTo>
                  <a:close/>
                </a:path>
                <a:path w="1498600" h="972185">
                  <a:moveTo>
                    <a:pt x="68877" y="943035"/>
                  </a:moveTo>
                  <a:lnTo>
                    <a:pt x="43204" y="944159"/>
                  </a:lnTo>
                  <a:lnTo>
                    <a:pt x="33147" y="963929"/>
                  </a:lnTo>
                  <a:lnTo>
                    <a:pt x="36457" y="963929"/>
                  </a:lnTo>
                  <a:lnTo>
                    <a:pt x="68877" y="943035"/>
                  </a:lnTo>
                  <a:close/>
                </a:path>
                <a:path w="1498600" h="972185">
                  <a:moveTo>
                    <a:pt x="1484248" y="0"/>
                  </a:moveTo>
                  <a:lnTo>
                    <a:pt x="54939" y="921091"/>
                  </a:lnTo>
                  <a:lnTo>
                    <a:pt x="43204" y="944159"/>
                  </a:lnTo>
                  <a:lnTo>
                    <a:pt x="68877" y="943035"/>
                  </a:lnTo>
                  <a:lnTo>
                    <a:pt x="1498219" y="21843"/>
                  </a:lnTo>
                  <a:lnTo>
                    <a:pt x="148424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9726" y="3462516"/>
              <a:ext cx="1555262" cy="1022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5700" y="2686811"/>
              <a:ext cx="4130039" cy="33238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89126" y="4440173"/>
              <a:ext cx="1656714" cy="1557655"/>
            </a:xfrm>
            <a:custGeom>
              <a:avLst/>
              <a:gdLst/>
              <a:ahLst/>
              <a:cxnLst/>
              <a:rect l="l" t="t" r="r" b="b"/>
              <a:pathLst>
                <a:path w="1656714" h="1557654">
                  <a:moveTo>
                    <a:pt x="1656588" y="0"/>
                  </a:moveTo>
                  <a:lnTo>
                    <a:pt x="0" y="0"/>
                  </a:lnTo>
                  <a:lnTo>
                    <a:pt x="0" y="1557528"/>
                  </a:lnTo>
                  <a:lnTo>
                    <a:pt x="1656588" y="1557528"/>
                  </a:lnTo>
                  <a:lnTo>
                    <a:pt x="1656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9126" y="4440173"/>
              <a:ext cx="1656714" cy="1557655"/>
            </a:xfrm>
            <a:custGeom>
              <a:avLst/>
              <a:gdLst/>
              <a:ahLst/>
              <a:cxnLst/>
              <a:rect l="l" t="t" r="r" b="b"/>
              <a:pathLst>
                <a:path w="1656714" h="1557654">
                  <a:moveTo>
                    <a:pt x="0" y="1557528"/>
                  </a:moveTo>
                  <a:lnTo>
                    <a:pt x="1656588" y="1557528"/>
                  </a:lnTo>
                  <a:lnTo>
                    <a:pt x="1656588" y="0"/>
                  </a:lnTo>
                  <a:lnTo>
                    <a:pt x="0" y="0"/>
                  </a:lnTo>
                  <a:lnTo>
                    <a:pt x="0" y="155752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4711" y="4685410"/>
              <a:ext cx="141478" cy="14351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2097" y="4800980"/>
              <a:ext cx="140462" cy="1424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7215" y="4627498"/>
              <a:ext cx="141478" cy="14351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24838" y="4858638"/>
              <a:ext cx="141223" cy="14300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4601" y="4800980"/>
              <a:ext cx="140462" cy="1424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8466" y="4973447"/>
              <a:ext cx="141478" cy="14351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5963" y="5031358"/>
              <a:ext cx="141478" cy="1435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66188" y="5234939"/>
              <a:ext cx="137160" cy="1417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0072" y="5407151"/>
              <a:ext cx="137160" cy="1417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88691" y="5234939"/>
              <a:ext cx="137160" cy="1417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2575" y="5407151"/>
              <a:ext cx="137160" cy="1417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24277" y="5593841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55626" y="0"/>
                  </a:moveTo>
                  <a:lnTo>
                    <a:pt x="33968" y="4551"/>
                  </a:lnTo>
                  <a:lnTo>
                    <a:pt x="16287" y="16964"/>
                  </a:lnTo>
                  <a:lnTo>
                    <a:pt x="4369" y="35372"/>
                  </a:lnTo>
                  <a:lnTo>
                    <a:pt x="0" y="57912"/>
                  </a:lnTo>
                  <a:lnTo>
                    <a:pt x="4369" y="80451"/>
                  </a:lnTo>
                  <a:lnTo>
                    <a:pt x="16287" y="98859"/>
                  </a:lnTo>
                  <a:lnTo>
                    <a:pt x="33968" y="111272"/>
                  </a:lnTo>
                  <a:lnTo>
                    <a:pt x="55626" y="115824"/>
                  </a:lnTo>
                  <a:lnTo>
                    <a:pt x="77283" y="111272"/>
                  </a:lnTo>
                  <a:lnTo>
                    <a:pt x="94964" y="98859"/>
                  </a:lnTo>
                  <a:lnTo>
                    <a:pt x="106882" y="80451"/>
                  </a:lnTo>
                  <a:lnTo>
                    <a:pt x="111252" y="57912"/>
                  </a:lnTo>
                  <a:lnTo>
                    <a:pt x="106882" y="35372"/>
                  </a:lnTo>
                  <a:lnTo>
                    <a:pt x="94964" y="16964"/>
                  </a:lnTo>
                  <a:lnTo>
                    <a:pt x="77283" y="4551"/>
                  </a:lnTo>
                  <a:lnTo>
                    <a:pt x="556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24277" y="5593841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0" y="57912"/>
                  </a:moveTo>
                  <a:lnTo>
                    <a:pt x="4369" y="35372"/>
                  </a:lnTo>
                  <a:lnTo>
                    <a:pt x="16287" y="16964"/>
                  </a:lnTo>
                  <a:lnTo>
                    <a:pt x="33968" y="4551"/>
                  </a:lnTo>
                  <a:lnTo>
                    <a:pt x="55626" y="0"/>
                  </a:lnTo>
                  <a:lnTo>
                    <a:pt x="77283" y="4551"/>
                  </a:lnTo>
                  <a:lnTo>
                    <a:pt x="94964" y="16964"/>
                  </a:lnTo>
                  <a:lnTo>
                    <a:pt x="106882" y="35372"/>
                  </a:lnTo>
                  <a:lnTo>
                    <a:pt x="111252" y="57912"/>
                  </a:lnTo>
                  <a:lnTo>
                    <a:pt x="106882" y="80451"/>
                  </a:lnTo>
                  <a:lnTo>
                    <a:pt x="94964" y="98859"/>
                  </a:lnTo>
                  <a:lnTo>
                    <a:pt x="77283" y="111272"/>
                  </a:lnTo>
                  <a:lnTo>
                    <a:pt x="55626" y="115824"/>
                  </a:lnTo>
                  <a:lnTo>
                    <a:pt x="33968" y="111272"/>
                  </a:lnTo>
                  <a:lnTo>
                    <a:pt x="16287" y="98859"/>
                  </a:lnTo>
                  <a:lnTo>
                    <a:pt x="4369" y="80451"/>
                  </a:lnTo>
                  <a:lnTo>
                    <a:pt x="0" y="5791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45080" y="5407151"/>
              <a:ext cx="137160" cy="14173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446782" y="5593841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55625" y="0"/>
                  </a:moveTo>
                  <a:lnTo>
                    <a:pt x="33968" y="4551"/>
                  </a:lnTo>
                  <a:lnTo>
                    <a:pt x="16287" y="16964"/>
                  </a:lnTo>
                  <a:lnTo>
                    <a:pt x="4369" y="35372"/>
                  </a:lnTo>
                  <a:lnTo>
                    <a:pt x="0" y="57912"/>
                  </a:lnTo>
                  <a:lnTo>
                    <a:pt x="4369" y="80451"/>
                  </a:lnTo>
                  <a:lnTo>
                    <a:pt x="16287" y="98859"/>
                  </a:lnTo>
                  <a:lnTo>
                    <a:pt x="33968" y="111272"/>
                  </a:lnTo>
                  <a:lnTo>
                    <a:pt x="55625" y="115824"/>
                  </a:lnTo>
                  <a:lnTo>
                    <a:pt x="77283" y="111272"/>
                  </a:lnTo>
                  <a:lnTo>
                    <a:pt x="94964" y="98859"/>
                  </a:lnTo>
                  <a:lnTo>
                    <a:pt x="106882" y="80451"/>
                  </a:lnTo>
                  <a:lnTo>
                    <a:pt x="111251" y="57912"/>
                  </a:lnTo>
                  <a:lnTo>
                    <a:pt x="106882" y="35372"/>
                  </a:lnTo>
                  <a:lnTo>
                    <a:pt x="94964" y="16964"/>
                  </a:lnTo>
                  <a:lnTo>
                    <a:pt x="77283" y="4551"/>
                  </a:lnTo>
                  <a:lnTo>
                    <a:pt x="556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6782" y="5593841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0" y="57912"/>
                  </a:moveTo>
                  <a:lnTo>
                    <a:pt x="4369" y="35372"/>
                  </a:lnTo>
                  <a:lnTo>
                    <a:pt x="16287" y="16964"/>
                  </a:lnTo>
                  <a:lnTo>
                    <a:pt x="33968" y="4551"/>
                  </a:lnTo>
                  <a:lnTo>
                    <a:pt x="55625" y="0"/>
                  </a:lnTo>
                  <a:lnTo>
                    <a:pt x="77283" y="4551"/>
                  </a:lnTo>
                  <a:lnTo>
                    <a:pt x="94964" y="16964"/>
                  </a:lnTo>
                  <a:lnTo>
                    <a:pt x="106882" y="35372"/>
                  </a:lnTo>
                  <a:lnTo>
                    <a:pt x="111251" y="57912"/>
                  </a:lnTo>
                  <a:lnTo>
                    <a:pt x="106882" y="80451"/>
                  </a:lnTo>
                  <a:lnTo>
                    <a:pt x="94964" y="98859"/>
                  </a:lnTo>
                  <a:lnTo>
                    <a:pt x="77283" y="111272"/>
                  </a:lnTo>
                  <a:lnTo>
                    <a:pt x="55625" y="115824"/>
                  </a:lnTo>
                  <a:lnTo>
                    <a:pt x="33968" y="111272"/>
                  </a:lnTo>
                  <a:lnTo>
                    <a:pt x="16287" y="98859"/>
                  </a:lnTo>
                  <a:lnTo>
                    <a:pt x="4369" y="80451"/>
                  </a:lnTo>
                  <a:lnTo>
                    <a:pt x="0" y="5791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35530" y="5709666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55625" y="0"/>
                  </a:moveTo>
                  <a:lnTo>
                    <a:pt x="33968" y="4551"/>
                  </a:lnTo>
                  <a:lnTo>
                    <a:pt x="16287" y="16964"/>
                  </a:lnTo>
                  <a:lnTo>
                    <a:pt x="4369" y="35372"/>
                  </a:lnTo>
                  <a:lnTo>
                    <a:pt x="0" y="57912"/>
                  </a:lnTo>
                  <a:lnTo>
                    <a:pt x="4369" y="80451"/>
                  </a:lnTo>
                  <a:lnTo>
                    <a:pt x="16287" y="98859"/>
                  </a:lnTo>
                  <a:lnTo>
                    <a:pt x="33968" y="111272"/>
                  </a:lnTo>
                  <a:lnTo>
                    <a:pt x="55625" y="115824"/>
                  </a:lnTo>
                  <a:lnTo>
                    <a:pt x="77283" y="111272"/>
                  </a:lnTo>
                  <a:lnTo>
                    <a:pt x="94964" y="98859"/>
                  </a:lnTo>
                  <a:lnTo>
                    <a:pt x="106882" y="80451"/>
                  </a:lnTo>
                  <a:lnTo>
                    <a:pt x="111251" y="57912"/>
                  </a:lnTo>
                  <a:lnTo>
                    <a:pt x="106882" y="35372"/>
                  </a:lnTo>
                  <a:lnTo>
                    <a:pt x="94964" y="16964"/>
                  </a:lnTo>
                  <a:lnTo>
                    <a:pt x="77283" y="4551"/>
                  </a:lnTo>
                  <a:lnTo>
                    <a:pt x="556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35530" y="5709666"/>
              <a:ext cx="111760" cy="116205"/>
            </a:xfrm>
            <a:custGeom>
              <a:avLst/>
              <a:gdLst/>
              <a:ahLst/>
              <a:cxnLst/>
              <a:rect l="l" t="t" r="r" b="b"/>
              <a:pathLst>
                <a:path w="111760" h="116204">
                  <a:moveTo>
                    <a:pt x="0" y="57912"/>
                  </a:moveTo>
                  <a:lnTo>
                    <a:pt x="4369" y="35372"/>
                  </a:lnTo>
                  <a:lnTo>
                    <a:pt x="16287" y="16964"/>
                  </a:lnTo>
                  <a:lnTo>
                    <a:pt x="33968" y="4551"/>
                  </a:lnTo>
                  <a:lnTo>
                    <a:pt x="55625" y="0"/>
                  </a:lnTo>
                  <a:lnTo>
                    <a:pt x="77283" y="4551"/>
                  </a:lnTo>
                  <a:lnTo>
                    <a:pt x="94964" y="16964"/>
                  </a:lnTo>
                  <a:lnTo>
                    <a:pt x="106882" y="35372"/>
                  </a:lnTo>
                  <a:lnTo>
                    <a:pt x="111251" y="57912"/>
                  </a:lnTo>
                  <a:lnTo>
                    <a:pt x="106882" y="80451"/>
                  </a:lnTo>
                  <a:lnTo>
                    <a:pt x="94964" y="98859"/>
                  </a:lnTo>
                  <a:lnTo>
                    <a:pt x="77283" y="111272"/>
                  </a:lnTo>
                  <a:lnTo>
                    <a:pt x="55625" y="115824"/>
                  </a:lnTo>
                  <a:lnTo>
                    <a:pt x="33968" y="111272"/>
                  </a:lnTo>
                  <a:lnTo>
                    <a:pt x="16287" y="98859"/>
                  </a:lnTo>
                  <a:lnTo>
                    <a:pt x="4369" y="80451"/>
                  </a:lnTo>
                  <a:lnTo>
                    <a:pt x="0" y="5791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82016" y="4498085"/>
              <a:ext cx="387985" cy="1394460"/>
            </a:xfrm>
            <a:custGeom>
              <a:avLst/>
              <a:gdLst/>
              <a:ahLst/>
              <a:cxnLst/>
              <a:rect l="l" t="t" r="r" b="b"/>
              <a:pathLst>
                <a:path w="387985" h="1394460">
                  <a:moveTo>
                    <a:pt x="97100" y="0"/>
                  </a:moveTo>
                  <a:lnTo>
                    <a:pt x="142694" y="19904"/>
                  </a:lnTo>
                  <a:lnTo>
                    <a:pt x="187293" y="40366"/>
                  </a:lnTo>
                  <a:lnTo>
                    <a:pt x="229892" y="61942"/>
                  </a:lnTo>
                  <a:lnTo>
                    <a:pt x="269488" y="85189"/>
                  </a:lnTo>
                  <a:lnTo>
                    <a:pt x="305078" y="110664"/>
                  </a:lnTo>
                  <a:lnTo>
                    <a:pt x="335657" y="138924"/>
                  </a:lnTo>
                  <a:lnTo>
                    <a:pt x="360223" y="170527"/>
                  </a:lnTo>
                  <a:lnTo>
                    <a:pt x="377772" y="206028"/>
                  </a:lnTo>
                  <a:lnTo>
                    <a:pt x="387299" y="245986"/>
                  </a:lnTo>
                  <a:lnTo>
                    <a:pt x="387803" y="290956"/>
                  </a:lnTo>
                  <a:lnTo>
                    <a:pt x="381595" y="322553"/>
                  </a:lnTo>
                  <a:lnTo>
                    <a:pt x="350961" y="395292"/>
                  </a:lnTo>
                  <a:lnTo>
                    <a:pt x="328265" y="435568"/>
                  </a:lnTo>
                  <a:lnTo>
                    <a:pt x="301806" y="477870"/>
                  </a:lnTo>
                  <a:lnTo>
                    <a:pt x="272447" y="521764"/>
                  </a:lnTo>
                  <a:lnTo>
                    <a:pt x="241054" y="566819"/>
                  </a:lnTo>
                  <a:lnTo>
                    <a:pt x="208495" y="612600"/>
                  </a:lnTo>
                  <a:lnTo>
                    <a:pt x="175632" y="658674"/>
                  </a:lnTo>
                  <a:lnTo>
                    <a:pt x="143334" y="704608"/>
                  </a:lnTo>
                  <a:lnTo>
                    <a:pt x="112464" y="749969"/>
                  </a:lnTo>
                  <a:lnTo>
                    <a:pt x="83890" y="794323"/>
                  </a:lnTo>
                  <a:lnTo>
                    <a:pt x="58475" y="837237"/>
                  </a:lnTo>
                  <a:lnTo>
                    <a:pt x="37087" y="878278"/>
                  </a:lnTo>
                  <a:lnTo>
                    <a:pt x="20590" y="917013"/>
                  </a:lnTo>
                  <a:lnTo>
                    <a:pt x="1458" y="1006594"/>
                  </a:lnTo>
                  <a:lnTo>
                    <a:pt x="0" y="1057200"/>
                  </a:lnTo>
                  <a:lnTo>
                    <a:pt x="4704" y="1105155"/>
                  </a:lnTo>
                  <a:lnTo>
                    <a:pt x="14801" y="1150792"/>
                  </a:lnTo>
                  <a:lnTo>
                    <a:pt x="29520" y="1194441"/>
                  </a:lnTo>
                  <a:lnTo>
                    <a:pt x="48091" y="1236433"/>
                  </a:lnTo>
                  <a:lnTo>
                    <a:pt x="69743" y="1277100"/>
                  </a:lnTo>
                  <a:lnTo>
                    <a:pt x="93707" y="1316772"/>
                  </a:lnTo>
                  <a:lnTo>
                    <a:pt x="119212" y="1355782"/>
                  </a:lnTo>
                  <a:lnTo>
                    <a:pt x="145487" y="1394460"/>
                  </a:lnTo>
                </a:path>
              </a:pathLst>
            </a:custGeom>
            <a:ln w="25908">
              <a:solidFill>
                <a:srgbClr val="5F497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965451" y="3509213"/>
            <a:ext cx="89471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 MT"/>
                <a:cs typeface="Arial MT"/>
              </a:rPr>
              <a:t>Obtención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modelo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6305803" y="3509213"/>
            <a:ext cx="65151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 MT"/>
                <a:cs typeface="Arial MT"/>
              </a:rPr>
              <a:t>Uso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 MT"/>
                <a:cs typeface="Arial MT"/>
              </a:rPr>
              <a:t>práctico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63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Datos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94455"/>
            <a:ext cx="7832090" cy="434213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11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División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910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Conjunto</a:t>
            </a:r>
            <a:r>
              <a:rPr sz="1800" spc="-2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de</a:t>
            </a:r>
            <a:r>
              <a:rPr sz="1800" spc="-6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entrenamiento</a:t>
            </a:r>
            <a:r>
              <a:rPr sz="1800" spc="-2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(training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set)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Usado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aprender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parámetros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determinar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mejor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modelo)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1795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Conjunto</a:t>
            </a:r>
            <a:r>
              <a:rPr sz="1800" spc="-1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de</a:t>
            </a:r>
            <a:r>
              <a:rPr sz="1800" spc="-4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prueba</a:t>
            </a:r>
            <a:r>
              <a:rPr sz="1800" spc="-2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(test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set)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Usado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realizar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prueba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desempeño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final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NO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debe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conjunto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“afinar”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entrenado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Se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 final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proceso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1795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Conjunto</a:t>
            </a:r>
            <a:r>
              <a:rPr sz="1800" spc="-1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de</a:t>
            </a:r>
            <a:r>
              <a:rPr sz="1800" spc="-4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validación</a:t>
            </a:r>
            <a:r>
              <a:rPr sz="1800" spc="-10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900CC"/>
                </a:solidFill>
                <a:latin typeface="Arial MT"/>
                <a:cs typeface="Arial MT"/>
              </a:rPr>
              <a:t>cruzada</a:t>
            </a:r>
            <a:r>
              <a:rPr sz="1800" spc="-25" dirty="0">
                <a:solidFill>
                  <a:srgbClr val="9900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(cross-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validation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set)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95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Permite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“afinar”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(saber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qué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funciona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mejor)</a:t>
            </a:r>
            <a:endParaRPr sz="16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380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conjunto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prueba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“falso”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505"/>
              </a:spcBef>
              <a:buFont typeface="Arial MT"/>
              <a:buChar char="•"/>
            </a:pPr>
            <a:endParaRPr sz="1600">
              <a:latin typeface="Arial MT"/>
              <a:cs typeface="Arial MT"/>
            </a:endParaRPr>
          </a:p>
          <a:p>
            <a:pPr marL="207010" indent="-194310">
              <a:lnSpc>
                <a:spcPct val="100000"/>
              </a:lnSpc>
              <a:buChar char="•"/>
              <a:tabLst>
                <a:tab pos="207010" algn="l"/>
              </a:tabLst>
            </a:pP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dividen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en: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95855" y="5649467"/>
          <a:ext cx="5040629" cy="28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AF50"/>
                      </a:solidFill>
                      <a:prstDash val="solid"/>
                    </a:lnL>
                    <a:lnR w="28575">
                      <a:solidFill>
                        <a:srgbClr val="00AF50"/>
                      </a:solidFill>
                      <a:prstDash val="solid"/>
                    </a:lnR>
                    <a:lnT w="28575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AF5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AF5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FFC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C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29560" y="5996127"/>
            <a:ext cx="118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 marR="5080" indent="-39941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Entrenamiento </a:t>
            </a:r>
            <a:r>
              <a:rPr sz="1400" spc="-25" dirty="0">
                <a:latin typeface="Arial MT"/>
                <a:cs typeface="Arial MT"/>
              </a:rPr>
              <a:t>60%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2370" y="5977839"/>
            <a:ext cx="8350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Validación </a:t>
            </a:r>
            <a:r>
              <a:rPr sz="1400" spc="-25" dirty="0">
                <a:latin typeface="Arial MT"/>
                <a:cs typeface="Arial MT"/>
              </a:rPr>
              <a:t>20%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12585" y="5977839"/>
            <a:ext cx="600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Prueba </a:t>
            </a:r>
            <a:r>
              <a:rPr sz="1400" spc="-25" dirty="0">
                <a:latin typeface="Arial MT"/>
                <a:cs typeface="Arial MT"/>
              </a:rPr>
              <a:t>20%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" y="307593"/>
            <a:ext cx="7855584" cy="5899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algn="ctr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5A9E"/>
                </a:solidFill>
                <a:latin typeface="Arial"/>
                <a:cs typeface="Arial"/>
              </a:rPr>
              <a:t>Modelo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800">
              <a:latin typeface="Arial"/>
              <a:cs typeface="Arial"/>
            </a:endParaRPr>
          </a:p>
          <a:p>
            <a:pPr marL="233045" indent="-194945">
              <a:lnSpc>
                <a:spcPct val="100000"/>
              </a:lnSpc>
              <a:buChar char="•"/>
              <a:tabLst>
                <a:tab pos="233045" algn="l"/>
              </a:tabLst>
            </a:pPr>
            <a:r>
              <a:rPr sz="2000" dirty="0">
                <a:latin typeface="Arial MT"/>
                <a:cs typeface="Arial MT"/>
              </a:rPr>
              <a:t>Un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representa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relación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existente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  <a:p>
            <a:pPr marL="413384" lvl="1" indent="-159385">
              <a:lnSpc>
                <a:spcPct val="100000"/>
              </a:lnSpc>
              <a:spcBef>
                <a:spcPts val="225"/>
              </a:spcBef>
              <a:buChar char="-"/>
              <a:tabLst>
                <a:tab pos="413384" algn="l"/>
              </a:tabLst>
            </a:pPr>
            <a:r>
              <a:rPr sz="1800" dirty="0">
                <a:latin typeface="Arial MT"/>
                <a:cs typeface="Arial MT"/>
              </a:rPr>
              <a:t>Trata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predecir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dada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65"/>
              </a:spcBef>
              <a:buFont typeface="Arial MT"/>
              <a:buChar char="-"/>
            </a:pPr>
            <a:endParaRPr sz="1800">
              <a:latin typeface="Times New Roman"/>
              <a:cs typeface="Times New Roman"/>
            </a:endParaRPr>
          </a:p>
          <a:p>
            <a:pPr marL="233045" indent="-194945">
              <a:lnSpc>
                <a:spcPct val="100000"/>
              </a:lnSpc>
              <a:buFont typeface="Arial MT"/>
              <a:buChar char="•"/>
              <a:tabLst>
                <a:tab pos="233045" algn="l"/>
              </a:tabLst>
            </a:pPr>
            <a:r>
              <a:rPr sz="20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Ejemplo:</a:t>
            </a:r>
            <a:endParaRPr sz="2000">
              <a:latin typeface="Comic Sans MS"/>
              <a:cs typeface="Comic Sans MS"/>
            </a:endParaRPr>
          </a:p>
          <a:p>
            <a:pPr marL="25400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Arial MT"/>
                <a:cs typeface="Arial MT"/>
              </a:rPr>
              <a:t>Problema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clasificación: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qué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categoría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pertenece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imagen</a:t>
            </a:r>
            <a:endParaRPr sz="1800">
              <a:latin typeface="Arial MT"/>
              <a:cs typeface="Arial MT"/>
            </a:endParaRPr>
          </a:p>
          <a:p>
            <a:pPr marL="2980055">
              <a:lnSpc>
                <a:spcPct val="100000"/>
              </a:lnSpc>
              <a:spcBef>
                <a:spcPts val="1070"/>
              </a:spcBef>
              <a:tabLst>
                <a:tab pos="3768725" algn="l"/>
                <a:tab pos="4241800" algn="l"/>
              </a:tabLst>
            </a:pPr>
            <a:r>
              <a:rPr sz="32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3200" spc="-25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3200" dirty="0">
                <a:solidFill>
                  <a:srgbClr val="404040"/>
                </a:solidFill>
                <a:latin typeface="Arial MT"/>
                <a:cs typeface="Arial MT"/>
              </a:rPr>
              <a:t>	)</a:t>
            </a:r>
            <a:r>
              <a:rPr sz="3200" spc="-28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manzana</a:t>
            </a:r>
            <a:endParaRPr sz="1800">
              <a:latin typeface="Arial MT"/>
              <a:cs typeface="Arial MT"/>
            </a:endParaRPr>
          </a:p>
          <a:p>
            <a:pPr marL="2969260">
              <a:lnSpc>
                <a:spcPct val="100000"/>
              </a:lnSpc>
              <a:spcBef>
                <a:spcPts val="204"/>
              </a:spcBef>
              <a:tabLst>
                <a:tab pos="3757295" algn="l"/>
                <a:tab pos="4241800" algn="l"/>
              </a:tabLst>
            </a:pPr>
            <a:r>
              <a:rPr sz="4800" i="1" spc="-37" baseline="-9548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4800" spc="-37" baseline="-9548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4800" baseline="-9548" dirty="0">
                <a:solidFill>
                  <a:srgbClr val="404040"/>
                </a:solidFill>
                <a:latin typeface="Arial MT"/>
                <a:cs typeface="Arial MT"/>
              </a:rPr>
              <a:t>	)</a:t>
            </a:r>
            <a:r>
              <a:rPr sz="4800" spc="-307" baseline="-9548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tomate</a:t>
            </a:r>
            <a:endParaRPr sz="1800">
              <a:latin typeface="Arial MT"/>
              <a:cs typeface="Arial MT"/>
            </a:endParaRPr>
          </a:p>
          <a:p>
            <a:pPr marL="2969260">
              <a:lnSpc>
                <a:spcPct val="100000"/>
              </a:lnSpc>
              <a:spcBef>
                <a:spcPts val="1190"/>
              </a:spcBef>
              <a:tabLst>
                <a:tab pos="3757295" algn="l"/>
                <a:tab pos="4241800" algn="l"/>
              </a:tabLst>
            </a:pPr>
            <a:r>
              <a:rPr sz="4800" i="1" spc="-37" baseline="-2604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4800" spc="-37" baseline="-2604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4800" baseline="-2604" dirty="0">
                <a:solidFill>
                  <a:srgbClr val="404040"/>
                </a:solidFill>
                <a:latin typeface="Arial MT"/>
                <a:cs typeface="Arial MT"/>
              </a:rPr>
              <a:t>	)</a:t>
            </a:r>
            <a:r>
              <a:rPr sz="4800" spc="-300" baseline="-260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vaca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800">
              <a:latin typeface="Arial MT"/>
              <a:cs typeface="Arial MT"/>
            </a:endParaRPr>
          </a:p>
          <a:p>
            <a:pPr marL="233045" indent="-194945">
              <a:lnSpc>
                <a:spcPct val="100000"/>
              </a:lnSpc>
              <a:spcBef>
                <a:spcPts val="5"/>
              </a:spcBef>
              <a:buChar char="•"/>
              <a:tabLst>
                <a:tab pos="233045" algn="l"/>
              </a:tabLst>
            </a:pPr>
            <a:r>
              <a:rPr sz="2000" dirty="0">
                <a:latin typeface="Arial MT"/>
                <a:cs typeface="Arial MT"/>
              </a:rPr>
              <a:t>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llama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“</a:t>
            </a:r>
            <a:r>
              <a:rPr sz="2000" i="1" dirty="0">
                <a:solidFill>
                  <a:srgbClr val="00AF50"/>
                </a:solidFill>
                <a:latin typeface="Arial"/>
                <a:cs typeface="Arial"/>
              </a:rPr>
              <a:t>función</a:t>
            </a:r>
            <a:r>
              <a:rPr sz="2000" i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AF50"/>
                </a:solidFill>
                <a:latin typeface="Arial"/>
                <a:cs typeface="Arial"/>
              </a:rPr>
              <a:t>de</a:t>
            </a:r>
            <a:r>
              <a:rPr sz="2000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i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hipótesis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”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(</a:t>
            </a:r>
            <a:r>
              <a:rPr sz="2000" i="1" spc="-25" dirty="0">
                <a:latin typeface="Times New Roman"/>
                <a:cs typeface="Times New Roman"/>
              </a:rPr>
              <a:t>h</a:t>
            </a:r>
            <a:r>
              <a:rPr sz="2000" spc="-2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413384" lvl="1" indent="-159385">
              <a:lnSpc>
                <a:spcPct val="100000"/>
              </a:lnSpc>
              <a:spcBef>
                <a:spcPts val="390"/>
              </a:spcBef>
              <a:buChar char="-"/>
              <a:tabLst>
                <a:tab pos="413384" algn="l"/>
              </a:tabLst>
            </a:pPr>
            <a:r>
              <a:rPr sz="1800" spc="-30" dirty="0">
                <a:latin typeface="Arial MT"/>
                <a:cs typeface="Arial MT"/>
              </a:rPr>
              <a:t>Toda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hipótesis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tiene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parámetros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(que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se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“aprenden”)</a:t>
            </a:r>
            <a:endParaRPr sz="1600">
              <a:latin typeface="Arial MT"/>
              <a:cs typeface="Arial MT"/>
            </a:endParaRPr>
          </a:p>
          <a:p>
            <a:pPr marL="414020" marR="17780" lvl="1" indent="-160020">
              <a:lnSpc>
                <a:spcPts val="1939"/>
              </a:lnSpc>
              <a:spcBef>
                <a:spcPts val="645"/>
              </a:spcBef>
              <a:buChar char="-"/>
              <a:tabLst>
                <a:tab pos="414020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aprendizaje 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parámetros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solamente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entrenamiento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(training</a:t>
            </a:r>
            <a:r>
              <a:rPr sz="16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set)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00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Modelo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350"/>
              </a:spcBef>
              <a:buChar char="•"/>
              <a:tabLst>
                <a:tab pos="207645" algn="l"/>
              </a:tabLst>
            </a:pPr>
            <a:r>
              <a:rPr dirty="0"/>
              <a:t>Espacio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hipótesis</a:t>
            </a:r>
          </a:p>
          <a:p>
            <a:pPr marL="387985" lvl="1" indent="-159385">
              <a:lnSpc>
                <a:spcPct val="100000"/>
              </a:lnSpc>
              <a:spcBef>
                <a:spcPts val="22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“tipo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modelo”: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agrupa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funciones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hipótesis (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semejantes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22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hipótesis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pertenece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espacio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hipótesis</a:t>
            </a:r>
            <a:endParaRPr sz="1800">
              <a:latin typeface="Arial MT"/>
              <a:cs typeface="Arial MT"/>
            </a:endParaRPr>
          </a:p>
          <a:p>
            <a:pPr marL="611505" lvl="2" indent="-226060">
              <a:lnSpc>
                <a:spcPct val="100000"/>
              </a:lnSpc>
              <a:spcBef>
                <a:spcPts val="200"/>
              </a:spcBef>
              <a:buChar char="•"/>
              <a:tabLst>
                <a:tab pos="611505" algn="l"/>
              </a:tabLst>
            </a:pPr>
            <a:r>
              <a:rPr sz="1600" dirty="0">
                <a:latin typeface="Arial MT"/>
                <a:cs typeface="Arial MT"/>
              </a:rPr>
              <a:t>Cada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</a:t>
            </a:r>
            <a:r>
              <a:rPr sz="1600" i="1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espacio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hipótesis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tiene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parámetros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diferentes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buFont typeface="Arial MT"/>
              <a:buChar char="•"/>
            </a:pPr>
            <a:endParaRPr sz="1600"/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600"/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dirty="0">
                <a:solidFill>
                  <a:srgbClr val="000000"/>
                </a:solidFill>
              </a:rPr>
              <a:t>Regla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“</a:t>
            </a:r>
            <a:r>
              <a:rPr i="1" dirty="0">
                <a:solidFill>
                  <a:srgbClr val="974707"/>
                </a:solidFill>
                <a:latin typeface="Arial"/>
                <a:cs typeface="Arial"/>
              </a:rPr>
              <a:t>No</a:t>
            </a:r>
            <a:r>
              <a:rPr i="1" spc="-4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974707"/>
                </a:solidFill>
                <a:latin typeface="Arial"/>
                <a:cs typeface="Arial"/>
              </a:rPr>
              <a:t>free</a:t>
            </a:r>
            <a:r>
              <a:rPr i="1" spc="-5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974707"/>
                </a:solidFill>
                <a:latin typeface="Arial"/>
                <a:cs typeface="Arial"/>
              </a:rPr>
              <a:t>lunch</a:t>
            </a:r>
            <a:r>
              <a:rPr dirty="0">
                <a:solidFill>
                  <a:srgbClr val="000000"/>
                </a:solidFill>
              </a:rPr>
              <a:t>”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7E7E7E"/>
                </a:solidFill>
              </a:rPr>
              <a:t>(no</a:t>
            </a:r>
            <a:r>
              <a:rPr sz="1600" spc="-15" dirty="0">
                <a:solidFill>
                  <a:srgbClr val="7E7E7E"/>
                </a:solidFill>
              </a:rPr>
              <a:t> </a:t>
            </a:r>
            <a:r>
              <a:rPr sz="1600" dirty="0">
                <a:solidFill>
                  <a:srgbClr val="7E7E7E"/>
                </a:solidFill>
              </a:rPr>
              <a:t>hay</a:t>
            </a:r>
            <a:r>
              <a:rPr sz="1600" spc="-20" dirty="0">
                <a:solidFill>
                  <a:srgbClr val="7E7E7E"/>
                </a:solidFill>
              </a:rPr>
              <a:t> </a:t>
            </a:r>
            <a:r>
              <a:rPr sz="1600" dirty="0">
                <a:solidFill>
                  <a:srgbClr val="7E7E7E"/>
                </a:solidFill>
              </a:rPr>
              <a:t>comida</a:t>
            </a:r>
            <a:r>
              <a:rPr sz="1600" spc="-30" dirty="0">
                <a:solidFill>
                  <a:srgbClr val="7E7E7E"/>
                </a:solidFill>
              </a:rPr>
              <a:t> </a:t>
            </a:r>
            <a:r>
              <a:rPr sz="1600" spc="-10" dirty="0">
                <a:solidFill>
                  <a:srgbClr val="7E7E7E"/>
                </a:solidFill>
              </a:rPr>
              <a:t>gratis)</a:t>
            </a:r>
            <a:r>
              <a:rPr spc="-10" dirty="0">
                <a:solidFill>
                  <a:srgbClr val="000000"/>
                </a:solidFill>
              </a:rPr>
              <a:t>:</a:t>
            </a:r>
            <a:endParaRPr sz="1600">
              <a:latin typeface="Arial"/>
              <a:cs typeface="Arial"/>
            </a:endParaRPr>
          </a:p>
          <a:p>
            <a:pPr marL="388620" marR="5080" lvl="1" indent="-160020">
              <a:lnSpc>
                <a:spcPts val="1939"/>
              </a:lnSpc>
              <a:spcBef>
                <a:spcPts val="470"/>
              </a:spcBef>
              <a:buChar char="-"/>
              <a:tabLst>
                <a:tab pos="388620" algn="l"/>
              </a:tabLst>
            </a:pPr>
            <a:r>
              <a:rPr sz="1800" dirty="0">
                <a:latin typeface="Arial MT"/>
                <a:cs typeface="Arial MT"/>
              </a:rPr>
              <a:t>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hipótesis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(un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modelo)</a:t>
            </a:r>
            <a:r>
              <a:rPr sz="1600" spc="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siempre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suposiciones: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útil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casos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4005071"/>
            <a:ext cx="4189476" cy="25557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9270">
              <a:lnSpc>
                <a:spcPct val="100000"/>
              </a:lnSpc>
              <a:spcBef>
                <a:spcPts val="95"/>
              </a:spcBef>
            </a:pPr>
            <a:r>
              <a:rPr dirty="0"/>
              <a:t>Función</a:t>
            </a:r>
            <a:r>
              <a:rPr spc="-5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Costo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91006"/>
            <a:ext cx="8122920" cy="1306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J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cuán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buena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hipótesis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9900CC"/>
                </a:solidFill>
                <a:latin typeface="Comic Sans MS"/>
                <a:cs typeface="Comic Sans MS"/>
              </a:rPr>
              <a:t>Ejemplo:</a:t>
            </a:r>
            <a:endParaRPr sz="2000">
              <a:latin typeface="Comic Sans MS"/>
              <a:cs typeface="Comic Sans MS"/>
            </a:endParaRPr>
          </a:p>
          <a:p>
            <a:pPr marL="228600">
              <a:lnSpc>
                <a:spcPct val="100000"/>
              </a:lnSpc>
              <a:spcBef>
                <a:spcPts val="270"/>
              </a:spcBef>
            </a:pPr>
            <a:r>
              <a:rPr sz="1800" dirty="0">
                <a:latin typeface="Arial MT"/>
                <a:cs typeface="Arial MT"/>
              </a:rPr>
              <a:t>Suma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diferencias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cuadradas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predicho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real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74910"/>
            <a:ext cx="7932420" cy="27343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350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¿Cuál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mejor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hipótesis?</a:t>
            </a:r>
            <a:endParaRPr sz="2000">
              <a:latin typeface="Arial MT"/>
              <a:cs typeface="Arial MT"/>
            </a:endParaRPr>
          </a:p>
          <a:p>
            <a:pPr marL="551180" lvl="1" indent="-182245">
              <a:lnSpc>
                <a:spcPct val="100000"/>
              </a:lnSpc>
              <a:spcBef>
                <a:spcPts val="225"/>
              </a:spcBef>
              <a:buChar char="-"/>
              <a:tabLst>
                <a:tab pos="551180" algn="l"/>
              </a:tabLst>
            </a:pPr>
            <a:r>
              <a:rPr sz="1800" dirty="0">
                <a:latin typeface="Arial MT"/>
                <a:cs typeface="Arial MT"/>
              </a:rPr>
              <a:t>Aquella cuyos parámetros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minimizan 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costo</a:t>
            </a:r>
            <a:endParaRPr sz="1800">
              <a:latin typeface="Arial MT"/>
              <a:cs typeface="Arial MT"/>
            </a:endParaRPr>
          </a:p>
          <a:p>
            <a:pPr marL="551180" lvl="1" indent="-182245">
              <a:lnSpc>
                <a:spcPct val="100000"/>
              </a:lnSpc>
              <a:spcBef>
                <a:spcPts val="204"/>
              </a:spcBef>
              <a:buChar char="-"/>
              <a:tabLst>
                <a:tab pos="551180" algn="l"/>
              </a:tabLst>
            </a:pPr>
            <a:r>
              <a:rPr sz="1800" dirty="0">
                <a:latin typeface="Arial MT"/>
                <a:cs typeface="Arial MT"/>
              </a:rPr>
              <a:t>Cuanto menor sea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mejor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hipótesis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7010" marR="363220" indent="-194945">
              <a:lnSpc>
                <a:spcPts val="2160"/>
              </a:lnSpc>
              <a:spcBef>
                <a:spcPts val="5"/>
              </a:spcBef>
              <a:buChar char="•"/>
              <a:tabLst>
                <a:tab pos="208915" algn="l"/>
              </a:tabLst>
            </a:pPr>
            <a:r>
              <a:rPr sz="2000" dirty="0">
                <a:latin typeface="Arial MT"/>
                <a:cs typeface="Arial MT"/>
              </a:rPr>
              <a:t>La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minimización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permite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obtener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“mejor” 	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hipótesis</a:t>
            </a:r>
            <a:endParaRPr sz="2000">
              <a:latin typeface="Arial MT"/>
              <a:cs typeface="Arial MT"/>
            </a:endParaRPr>
          </a:p>
          <a:p>
            <a:pPr marL="388620" marR="5080" lvl="1" indent="-160020">
              <a:lnSpc>
                <a:spcPts val="1780"/>
              </a:lnSpc>
              <a:spcBef>
                <a:spcPts val="570"/>
              </a:spcBef>
              <a:buChar char="-"/>
              <a:tabLst>
                <a:tab pos="388620" algn="l"/>
              </a:tabLst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común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minimizar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usando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métodos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numéricos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(ejemplo: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descenso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de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gradiente)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155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busca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sea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convexa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(para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que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tenga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un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mínimo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global)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84727" y="2745104"/>
            <a:ext cx="278765" cy="212090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200" y="0"/>
                </a:moveTo>
                <a:lnTo>
                  <a:pt x="208152" y="8636"/>
                </a:lnTo>
                <a:lnTo>
                  <a:pt x="220438" y="13946"/>
                </a:lnTo>
                <a:lnTo>
                  <a:pt x="230997" y="21304"/>
                </a:lnTo>
                <a:lnTo>
                  <a:pt x="252388" y="55449"/>
                </a:lnTo>
                <a:lnTo>
                  <a:pt x="259461" y="104902"/>
                </a:lnTo>
                <a:lnTo>
                  <a:pt x="258675" y="123571"/>
                </a:lnTo>
                <a:lnTo>
                  <a:pt x="246887" y="169291"/>
                </a:lnTo>
                <a:lnTo>
                  <a:pt x="220581" y="197865"/>
                </a:lnTo>
                <a:lnTo>
                  <a:pt x="208534" y="203200"/>
                </a:lnTo>
                <a:lnTo>
                  <a:pt x="211200" y="211836"/>
                </a:lnTo>
                <a:lnTo>
                  <a:pt x="251670" y="187725"/>
                </a:lnTo>
                <a:lnTo>
                  <a:pt x="274399" y="143398"/>
                </a:lnTo>
                <a:lnTo>
                  <a:pt x="278764" y="106045"/>
                </a:lnTo>
                <a:lnTo>
                  <a:pt x="277683" y="86830"/>
                </a:lnTo>
                <a:lnTo>
                  <a:pt x="261238" y="37211"/>
                </a:lnTo>
                <a:lnTo>
                  <a:pt x="226556" y="5599"/>
                </a:lnTo>
                <a:lnTo>
                  <a:pt x="211200" y="0"/>
                </a:lnTo>
                <a:close/>
              </a:path>
              <a:path w="278764" h="212089">
                <a:moveTo>
                  <a:pt x="67563" y="0"/>
                </a:moveTo>
                <a:lnTo>
                  <a:pt x="27166" y="24181"/>
                </a:lnTo>
                <a:lnTo>
                  <a:pt x="4381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53" y="206291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6376" y="55449"/>
                </a:lnTo>
                <a:lnTo>
                  <a:pt x="47863" y="21304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03699" y="2745104"/>
            <a:ext cx="1005840" cy="212090"/>
          </a:xfrm>
          <a:custGeom>
            <a:avLst/>
            <a:gdLst/>
            <a:ahLst/>
            <a:cxnLst/>
            <a:rect l="l" t="t" r="r" b="b"/>
            <a:pathLst>
              <a:path w="1005839" h="212089">
                <a:moveTo>
                  <a:pt x="70612" y="8636"/>
                </a:moveTo>
                <a:lnTo>
                  <a:pt x="67564" y="0"/>
                </a:lnTo>
                <a:lnTo>
                  <a:pt x="52197" y="5600"/>
                </a:lnTo>
                <a:lnTo>
                  <a:pt x="38735" y="13652"/>
                </a:lnTo>
                <a:lnTo>
                  <a:pt x="9855" y="52171"/>
                </a:lnTo>
                <a:lnTo>
                  <a:pt x="63" y="104902"/>
                </a:lnTo>
                <a:lnTo>
                  <a:pt x="0" y="106045"/>
                </a:lnTo>
                <a:lnTo>
                  <a:pt x="977" y="123571"/>
                </a:lnTo>
                <a:lnTo>
                  <a:pt x="17399" y="174752"/>
                </a:lnTo>
                <a:lnTo>
                  <a:pt x="52146" y="206298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78" y="197866"/>
                </a:lnTo>
                <a:lnTo>
                  <a:pt x="47764" y="190436"/>
                </a:lnTo>
                <a:lnTo>
                  <a:pt x="26365" y="155765"/>
                </a:lnTo>
                <a:lnTo>
                  <a:pt x="19342" y="106045"/>
                </a:lnTo>
                <a:lnTo>
                  <a:pt x="19304" y="104902"/>
                </a:lnTo>
                <a:lnTo>
                  <a:pt x="20078" y="86842"/>
                </a:lnTo>
                <a:lnTo>
                  <a:pt x="31877" y="42164"/>
                </a:lnTo>
                <a:lnTo>
                  <a:pt x="58394" y="13957"/>
                </a:lnTo>
                <a:lnTo>
                  <a:pt x="70612" y="8636"/>
                </a:lnTo>
                <a:close/>
              </a:path>
              <a:path w="1005839" h="212089">
                <a:moveTo>
                  <a:pt x="297688" y="8636"/>
                </a:moveTo>
                <a:lnTo>
                  <a:pt x="294640" y="0"/>
                </a:lnTo>
                <a:lnTo>
                  <a:pt x="279273" y="5600"/>
                </a:lnTo>
                <a:lnTo>
                  <a:pt x="265811" y="13652"/>
                </a:lnTo>
                <a:lnTo>
                  <a:pt x="236931" y="52171"/>
                </a:lnTo>
                <a:lnTo>
                  <a:pt x="227139" y="104902"/>
                </a:lnTo>
                <a:lnTo>
                  <a:pt x="227076" y="106045"/>
                </a:lnTo>
                <a:lnTo>
                  <a:pt x="228053" y="123571"/>
                </a:lnTo>
                <a:lnTo>
                  <a:pt x="244475" y="174752"/>
                </a:lnTo>
                <a:lnTo>
                  <a:pt x="279222" y="206298"/>
                </a:lnTo>
                <a:lnTo>
                  <a:pt x="294640" y="211836"/>
                </a:lnTo>
                <a:lnTo>
                  <a:pt x="297307" y="203200"/>
                </a:lnTo>
                <a:lnTo>
                  <a:pt x="285254" y="197866"/>
                </a:lnTo>
                <a:lnTo>
                  <a:pt x="274840" y="190436"/>
                </a:lnTo>
                <a:lnTo>
                  <a:pt x="253441" y="155765"/>
                </a:lnTo>
                <a:lnTo>
                  <a:pt x="246418" y="106045"/>
                </a:lnTo>
                <a:lnTo>
                  <a:pt x="246380" y="104902"/>
                </a:lnTo>
                <a:lnTo>
                  <a:pt x="247154" y="86842"/>
                </a:lnTo>
                <a:lnTo>
                  <a:pt x="258953" y="42164"/>
                </a:lnTo>
                <a:lnTo>
                  <a:pt x="285470" y="13957"/>
                </a:lnTo>
                <a:lnTo>
                  <a:pt x="297688" y="8636"/>
                </a:lnTo>
                <a:close/>
              </a:path>
              <a:path w="1005839" h="212089">
                <a:moveTo>
                  <a:pt x="505841" y="106045"/>
                </a:moveTo>
                <a:lnTo>
                  <a:pt x="504748" y="86842"/>
                </a:lnTo>
                <a:lnTo>
                  <a:pt x="504736" y="86601"/>
                </a:lnTo>
                <a:lnTo>
                  <a:pt x="501446" y="68630"/>
                </a:lnTo>
                <a:lnTo>
                  <a:pt x="478663" y="24193"/>
                </a:lnTo>
                <a:lnTo>
                  <a:pt x="438277" y="0"/>
                </a:lnTo>
                <a:lnTo>
                  <a:pt x="435229" y="8636"/>
                </a:lnTo>
                <a:lnTo>
                  <a:pt x="447509" y="13957"/>
                </a:lnTo>
                <a:lnTo>
                  <a:pt x="458063" y="21310"/>
                </a:lnTo>
                <a:lnTo>
                  <a:pt x="479463" y="55460"/>
                </a:lnTo>
                <a:lnTo>
                  <a:pt x="485711" y="86601"/>
                </a:lnTo>
                <a:lnTo>
                  <a:pt x="485749" y="86842"/>
                </a:lnTo>
                <a:lnTo>
                  <a:pt x="486537" y="104902"/>
                </a:lnTo>
                <a:lnTo>
                  <a:pt x="485749" y="123583"/>
                </a:lnTo>
                <a:lnTo>
                  <a:pt x="483387" y="140538"/>
                </a:lnTo>
                <a:lnTo>
                  <a:pt x="466839" y="180911"/>
                </a:lnTo>
                <a:lnTo>
                  <a:pt x="435610" y="203200"/>
                </a:lnTo>
                <a:lnTo>
                  <a:pt x="438277" y="211836"/>
                </a:lnTo>
                <a:lnTo>
                  <a:pt x="478739" y="187731"/>
                </a:lnTo>
                <a:lnTo>
                  <a:pt x="501472" y="143408"/>
                </a:lnTo>
                <a:lnTo>
                  <a:pt x="504736" y="125488"/>
                </a:lnTo>
                <a:lnTo>
                  <a:pt x="505841" y="106045"/>
                </a:lnTo>
                <a:close/>
              </a:path>
              <a:path w="1005839" h="212089">
                <a:moveTo>
                  <a:pt x="1005713" y="106045"/>
                </a:moveTo>
                <a:lnTo>
                  <a:pt x="1004620" y="86842"/>
                </a:lnTo>
                <a:lnTo>
                  <a:pt x="1004608" y="86601"/>
                </a:lnTo>
                <a:lnTo>
                  <a:pt x="1001331" y="68630"/>
                </a:lnTo>
                <a:lnTo>
                  <a:pt x="978535" y="24193"/>
                </a:lnTo>
                <a:lnTo>
                  <a:pt x="938149" y="0"/>
                </a:lnTo>
                <a:lnTo>
                  <a:pt x="935101" y="8636"/>
                </a:lnTo>
                <a:lnTo>
                  <a:pt x="947381" y="13957"/>
                </a:lnTo>
                <a:lnTo>
                  <a:pt x="957935" y="21310"/>
                </a:lnTo>
                <a:lnTo>
                  <a:pt x="979335" y="55460"/>
                </a:lnTo>
                <a:lnTo>
                  <a:pt x="985583" y="86601"/>
                </a:lnTo>
                <a:lnTo>
                  <a:pt x="985621" y="86842"/>
                </a:lnTo>
                <a:lnTo>
                  <a:pt x="986409" y="104902"/>
                </a:lnTo>
                <a:lnTo>
                  <a:pt x="985621" y="123583"/>
                </a:lnTo>
                <a:lnTo>
                  <a:pt x="983259" y="140538"/>
                </a:lnTo>
                <a:lnTo>
                  <a:pt x="966711" y="180911"/>
                </a:lnTo>
                <a:lnTo>
                  <a:pt x="935482" y="203200"/>
                </a:lnTo>
                <a:lnTo>
                  <a:pt x="938149" y="211836"/>
                </a:lnTo>
                <a:lnTo>
                  <a:pt x="978611" y="187731"/>
                </a:lnTo>
                <a:lnTo>
                  <a:pt x="1001344" y="143408"/>
                </a:lnTo>
                <a:lnTo>
                  <a:pt x="1004608" y="125488"/>
                </a:lnTo>
                <a:lnTo>
                  <a:pt x="1005713" y="106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50360" y="2675001"/>
            <a:ext cx="19932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300" algn="l"/>
                <a:tab pos="1629410" algn="l"/>
              </a:tabLst>
            </a:pP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28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575" dirty="0">
                <a:latin typeface="Cambria Math"/>
                <a:cs typeface="Cambria Math"/>
              </a:rPr>
              <a:t>෍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	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717285" y="2652141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548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Generalización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91006"/>
            <a:ext cx="7807959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ts val="2285"/>
              </a:lnSpc>
              <a:spcBef>
                <a:spcPts val="105"/>
              </a:spcBef>
              <a:buChar char="•"/>
              <a:tabLst>
                <a:tab pos="207645" algn="l"/>
              </a:tabLst>
            </a:pPr>
            <a:r>
              <a:rPr sz="2000" dirty="0">
                <a:latin typeface="Arial MT"/>
                <a:cs typeface="Arial MT"/>
              </a:rPr>
              <a:t>Idea: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qué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comporta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prueba</a:t>
            </a:r>
            <a:endParaRPr sz="2000">
              <a:latin typeface="Arial MT"/>
              <a:cs typeface="Arial MT"/>
            </a:endParaRPr>
          </a:p>
          <a:p>
            <a:pPr marL="208915">
              <a:lnSpc>
                <a:spcPts val="2285"/>
              </a:lnSpc>
            </a:pP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durante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entrenamiento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2205227"/>
            <a:ext cx="4229100" cy="3599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400" y="2276855"/>
            <a:ext cx="609600" cy="3619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00732" y="5924803"/>
            <a:ext cx="21685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Conjunto</a:t>
            </a:r>
            <a:r>
              <a:rPr sz="1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entrenamiento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(se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conoce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las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respuestas)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7709" y="6640874"/>
            <a:ext cx="74041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A6A6A6"/>
                </a:solidFill>
                <a:latin typeface="Arial MT"/>
                <a:cs typeface="Arial MT"/>
              </a:rPr>
              <a:t>[L.</a:t>
            </a:r>
            <a:r>
              <a:rPr sz="10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6A6A6"/>
                </a:solidFill>
                <a:latin typeface="Arial MT"/>
                <a:cs typeface="Arial MT"/>
              </a:rPr>
              <a:t>Lazebnik]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784593" y="5962903"/>
            <a:ext cx="9829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Conjunto</a:t>
            </a:r>
            <a:r>
              <a:rPr sz="1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de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prueba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95"/>
              </a:spcBef>
            </a:pPr>
            <a:r>
              <a:rPr dirty="0"/>
              <a:t>Overfitting</a:t>
            </a:r>
            <a:r>
              <a:rPr spc="-70" dirty="0"/>
              <a:t> </a:t>
            </a:r>
            <a:r>
              <a:rPr dirty="0"/>
              <a:t>vs</a:t>
            </a:r>
            <a:r>
              <a:rPr spc="-65" dirty="0"/>
              <a:t> </a:t>
            </a:r>
            <a:r>
              <a:rPr spc="-10" dirty="0"/>
              <a:t>Underfitting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5772150" cy="1052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Underfitting</a:t>
            </a:r>
            <a:r>
              <a:rPr sz="2000" spc="-8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Arial MT"/>
                <a:cs typeface="Arial MT"/>
              </a:rPr>
              <a:t>(subajuste)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9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“simplista”: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pocos</a:t>
            </a:r>
            <a:r>
              <a:rPr sz="1800" spc="-10" dirty="0">
                <a:latin typeface="Arial MT"/>
                <a:cs typeface="Arial MT"/>
              </a:rPr>
              <a:t> parámetros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generaliza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adecuadamente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94154"/>
            <a:ext cx="7852409" cy="138303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595"/>
              </a:spcBef>
              <a:buChar char="•"/>
              <a:tabLst>
                <a:tab pos="20701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Overfitting</a:t>
            </a:r>
            <a:r>
              <a:rPr sz="2000" spc="-7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Arial MT"/>
                <a:cs typeface="Arial MT"/>
              </a:rPr>
              <a:t>(sobreajuste)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45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adapta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“demasiado”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entrenamiento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(y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al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ruido)</a:t>
            </a:r>
            <a:endParaRPr sz="16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Demasiados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parámetros</a:t>
            </a:r>
            <a:endParaRPr sz="1800">
              <a:latin typeface="Arial MT"/>
              <a:cs typeface="Arial MT"/>
            </a:endParaRPr>
          </a:p>
          <a:p>
            <a:pPr marL="387985" lvl="1" indent="-159385">
              <a:lnSpc>
                <a:spcPct val="100000"/>
              </a:lnSpc>
              <a:spcBef>
                <a:spcPts val="434"/>
              </a:spcBef>
              <a:buChar char="-"/>
              <a:tabLst>
                <a:tab pos="387985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generaliza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adecuadamente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6266" y="2348483"/>
            <a:ext cx="1343781" cy="13632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700" y="5362955"/>
            <a:ext cx="1296924" cy="12679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2882" y="2491739"/>
            <a:ext cx="1495801" cy="92978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301240" y="2348483"/>
            <a:ext cx="1766570" cy="1216660"/>
          </a:xfrm>
          <a:custGeom>
            <a:avLst/>
            <a:gdLst/>
            <a:ahLst/>
            <a:cxnLst/>
            <a:rect l="l" t="t" r="r" b="b"/>
            <a:pathLst>
              <a:path w="1766570" h="1216660">
                <a:moveTo>
                  <a:pt x="1766316" y="1178052"/>
                </a:moveTo>
                <a:lnTo>
                  <a:pt x="1753616" y="1171702"/>
                </a:lnTo>
                <a:lnTo>
                  <a:pt x="1690116" y="1139952"/>
                </a:lnTo>
                <a:lnTo>
                  <a:pt x="1690116" y="1171702"/>
                </a:lnTo>
                <a:lnTo>
                  <a:pt x="44450" y="1171702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178179"/>
                </a:lnTo>
                <a:lnTo>
                  <a:pt x="38100" y="1178179"/>
                </a:lnTo>
                <a:lnTo>
                  <a:pt x="38100" y="1184402"/>
                </a:lnTo>
                <a:lnTo>
                  <a:pt x="1690116" y="1184402"/>
                </a:lnTo>
                <a:lnTo>
                  <a:pt x="1690116" y="1216152"/>
                </a:lnTo>
                <a:lnTo>
                  <a:pt x="1753616" y="1184402"/>
                </a:lnTo>
                <a:lnTo>
                  <a:pt x="1766316" y="1178052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310383" y="5398008"/>
            <a:ext cx="1766570" cy="1217930"/>
            <a:chOff x="2310383" y="5398008"/>
            <a:chExt cx="1766570" cy="1217930"/>
          </a:xfrm>
        </p:grpSpPr>
        <p:sp>
          <p:nvSpPr>
            <p:cNvPr id="10" name="object 10"/>
            <p:cNvSpPr/>
            <p:nvPr/>
          </p:nvSpPr>
          <p:spPr>
            <a:xfrm>
              <a:off x="2310384" y="5398008"/>
              <a:ext cx="1766570" cy="1217930"/>
            </a:xfrm>
            <a:custGeom>
              <a:avLst/>
              <a:gdLst/>
              <a:ahLst/>
              <a:cxnLst/>
              <a:rect l="l" t="t" r="r" b="b"/>
              <a:pathLst>
                <a:path w="1766570" h="1217929">
                  <a:moveTo>
                    <a:pt x="1766316" y="1179576"/>
                  </a:moveTo>
                  <a:lnTo>
                    <a:pt x="1753616" y="1173226"/>
                  </a:lnTo>
                  <a:lnTo>
                    <a:pt x="1690116" y="1141476"/>
                  </a:lnTo>
                  <a:lnTo>
                    <a:pt x="1690116" y="1173226"/>
                  </a:lnTo>
                  <a:lnTo>
                    <a:pt x="44450" y="1173226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178166"/>
                  </a:lnTo>
                  <a:lnTo>
                    <a:pt x="38100" y="1178166"/>
                  </a:lnTo>
                  <a:lnTo>
                    <a:pt x="38100" y="1185926"/>
                  </a:lnTo>
                  <a:lnTo>
                    <a:pt x="1690116" y="1185926"/>
                  </a:lnTo>
                  <a:lnTo>
                    <a:pt x="1690116" y="1217676"/>
                  </a:lnTo>
                  <a:lnTo>
                    <a:pt x="1753616" y="1185926"/>
                  </a:lnTo>
                  <a:lnTo>
                    <a:pt x="1766316" y="1179576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0297" y="5494358"/>
              <a:ext cx="1541914" cy="99568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3325">
              <a:lnSpc>
                <a:spcPct val="100000"/>
              </a:lnSpc>
              <a:spcBef>
                <a:spcPts val="95"/>
              </a:spcBef>
            </a:pPr>
            <a:r>
              <a:rPr dirty="0"/>
              <a:t>Algunas</a:t>
            </a:r>
            <a:r>
              <a:rPr spc="-50" dirty="0"/>
              <a:t> </a:t>
            </a: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Datos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59191"/>
            <a:ext cx="7912734" cy="52685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605"/>
              </a:spcBef>
              <a:buChar char="•"/>
              <a:tabLst>
                <a:tab pos="207645" algn="l"/>
              </a:tabLst>
            </a:pPr>
            <a:r>
              <a:rPr sz="2000" spc="-10" dirty="0">
                <a:latin typeface="Arial MT"/>
                <a:cs typeface="Arial MT"/>
              </a:rPr>
              <a:t>Generales</a:t>
            </a:r>
            <a:endParaRPr sz="20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400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UCI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learningRepository: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https://archive.ics.uci.edu/ml/index.php</a:t>
            </a:r>
            <a:endParaRPr sz="1600">
              <a:latin typeface="Arial MT"/>
              <a:cs typeface="Arial MT"/>
            </a:endParaRPr>
          </a:p>
          <a:p>
            <a:pPr marL="38862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http://kdd.ics.uci.edu/</a:t>
            </a:r>
            <a:r>
              <a:rPr sz="1600" spc="-10" dirty="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Delve: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http://www.cs.utoronto.ca/~delve/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 MT"/>
              <a:buChar char="-"/>
            </a:pPr>
            <a:endParaRPr sz="1600">
              <a:latin typeface="Arial MT"/>
              <a:cs typeface="Arial MT"/>
            </a:endParaRPr>
          </a:p>
          <a:p>
            <a:pPr marL="207010" indent="-194310">
              <a:lnSpc>
                <a:spcPct val="100000"/>
              </a:lnSpc>
              <a:buChar char="•"/>
              <a:tabLst>
                <a:tab pos="207010" algn="l"/>
              </a:tabLst>
            </a:pPr>
            <a:r>
              <a:rPr sz="2000" spc="-10" dirty="0">
                <a:latin typeface="Arial MT"/>
                <a:cs typeface="Arial MT"/>
              </a:rPr>
              <a:t>Buscadores</a:t>
            </a:r>
            <a:endParaRPr sz="20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405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CMU</a:t>
            </a:r>
            <a:r>
              <a:rPr sz="1600" spc="1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Libraries: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https://guides.library.cmu.edu/machine-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learning/datasets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4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AWS: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https://registry.opendata.aws/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0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Google: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https://toolbox.google.com/datasetsearch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Wikipedia:</a:t>
            </a:r>
            <a:r>
              <a:rPr sz="1600" spc="204" dirty="0">
                <a:latin typeface="Arial MT"/>
                <a:cs typeface="Arial MT"/>
              </a:rPr>
              <a:t> </a:t>
            </a:r>
            <a:r>
              <a:rPr sz="1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https://en.wikipedia.org/wiki/List_of_datasets_for_machine-learning_research</a:t>
            </a:r>
            <a:endParaRPr sz="15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90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Kaggle: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https://www.kaggle.com/datasets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 MT"/>
              <a:buChar char="-"/>
            </a:pPr>
            <a:endParaRPr sz="160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buChar char="•"/>
              <a:tabLst>
                <a:tab pos="207645" algn="l"/>
              </a:tabLst>
            </a:pPr>
            <a:r>
              <a:rPr sz="2000" spc="-10" dirty="0">
                <a:latin typeface="Arial MT"/>
                <a:cs typeface="Arial MT"/>
              </a:rPr>
              <a:t>Imágenes/videos:</a:t>
            </a:r>
            <a:endParaRPr sz="20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400"/>
              </a:spcBef>
              <a:buChar char="-"/>
              <a:tabLst>
                <a:tab pos="389255" algn="l"/>
              </a:tabLst>
            </a:pPr>
            <a:r>
              <a:rPr sz="1600" spc="-10" dirty="0">
                <a:latin typeface="Arial MT"/>
                <a:cs typeface="Arial MT"/>
              </a:rPr>
              <a:t>Visualdata: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https://www.visualdata.io/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4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Imagenet: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http://www.image-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net.org/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COCO: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2"/>
              </a:rPr>
              <a:t>http://cocodataset.org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389255" algn="l"/>
              </a:tabLst>
            </a:pPr>
            <a:r>
              <a:rPr sz="1600" dirty="0">
                <a:latin typeface="Arial MT"/>
                <a:cs typeface="Arial MT"/>
              </a:rPr>
              <a:t>Open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Images: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3"/>
              </a:rPr>
              <a:t>https://storage.googleapis.com/openimages/web/index.html</a:t>
            </a:r>
            <a:endParaRPr sz="1600">
              <a:latin typeface="Arial MT"/>
              <a:cs typeface="Arial MT"/>
            </a:endParaRPr>
          </a:p>
          <a:p>
            <a:pPr marL="389255" lvl="1" indent="-160655">
              <a:lnSpc>
                <a:spcPct val="100000"/>
              </a:lnSpc>
              <a:spcBef>
                <a:spcPts val="384"/>
              </a:spcBef>
              <a:buChar char="-"/>
              <a:tabLst>
                <a:tab pos="389255" algn="l"/>
              </a:tabLst>
            </a:pPr>
            <a:r>
              <a:rPr sz="1600" spc="-40" dirty="0">
                <a:latin typeface="Arial MT"/>
                <a:cs typeface="Arial MT"/>
              </a:rPr>
              <a:t>Youtube-</a:t>
            </a:r>
            <a:r>
              <a:rPr sz="1600" dirty="0">
                <a:latin typeface="Arial MT"/>
                <a:cs typeface="Arial MT"/>
              </a:rPr>
              <a:t>8M: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4"/>
              </a:rPr>
              <a:t>https://research.google.com/youtube8m/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1825</Words>
  <Application>Microsoft Office PowerPoint</Application>
  <PresentationFormat>Presentación en pantalla (4:3)</PresentationFormat>
  <Paragraphs>320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Arial</vt:lpstr>
      <vt:lpstr>Arial MT</vt:lpstr>
      <vt:lpstr>Calibri</vt:lpstr>
      <vt:lpstr>Cambria Math</vt:lpstr>
      <vt:lpstr>Comic Sans MS</vt:lpstr>
      <vt:lpstr>Times New Roman</vt:lpstr>
      <vt:lpstr>Office Theme</vt:lpstr>
      <vt:lpstr>Presentación de PowerPoint</vt:lpstr>
      <vt:lpstr>Temas</vt:lpstr>
      <vt:lpstr>Introducción</vt:lpstr>
      <vt:lpstr>Introducción</vt:lpstr>
      <vt:lpstr>Introducción</vt:lpstr>
      <vt:lpstr>¿Qué es Machine Learning?</vt:lpstr>
      <vt:lpstr>¿Qué es Machine Learning?</vt:lpstr>
      <vt:lpstr>¿Qué es Machine Learning?</vt:lpstr>
      <vt:lpstr>Relación con la “Inteligencia Artificial”</vt:lpstr>
      <vt:lpstr>Relación con la “Inteligencia Artificial”</vt:lpstr>
      <vt:lpstr>Temas</vt:lpstr>
      <vt:lpstr>Tipos de Aprendizaje</vt:lpstr>
      <vt:lpstr>Tipos de Aprendizaje</vt:lpstr>
      <vt:lpstr>Tipos de Aprendizaje</vt:lpstr>
      <vt:lpstr>Tipos de Aprendizaje</vt:lpstr>
      <vt:lpstr>Tipos de Aprendizaje</vt:lpstr>
      <vt:lpstr>Tipos de Aprendizaje</vt:lpstr>
      <vt:lpstr>Tipos de Aprendizaje</vt:lpstr>
      <vt:lpstr>Tipos de Aprendizaje</vt:lpstr>
      <vt:lpstr>Tipos de Aprendizaje</vt:lpstr>
      <vt:lpstr>Temas</vt:lpstr>
      <vt:lpstr>Esquema General de Aplicación</vt:lpstr>
      <vt:lpstr>Datos</vt:lpstr>
      <vt:lpstr>Datos</vt:lpstr>
      <vt:lpstr>Presentación de PowerPoint</vt:lpstr>
      <vt:lpstr>Modelo</vt:lpstr>
      <vt:lpstr>Función de Costo</vt:lpstr>
      <vt:lpstr>Generalización</vt:lpstr>
      <vt:lpstr>Overfitting vs Underfitting</vt:lpstr>
      <vt:lpstr>Algunas Bases de Datos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1</cp:revision>
  <dcterms:created xsi:type="dcterms:W3CDTF">2025-04-10T16:46:12Z</dcterms:created>
  <dcterms:modified xsi:type="dcterms:W3CDTF">2025-04-10T16:49:55Z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2025-04-10T00:00:00Z</vt:filetime>
  </property>
  <property fmtid="{D5CDD505-2E9C-101B-9397-08002B2CF9AE}" pid="5" name="Producer">
    <vt:lpwstr>Microsoft® PowerPoint® 2016</vt:lpwstr>
  </property>
</Properties>
</file>