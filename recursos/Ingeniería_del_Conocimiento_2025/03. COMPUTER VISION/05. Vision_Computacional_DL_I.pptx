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300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</p:sldIdLst>
  <p:sldSz cx="9144000" cy="6858000" type="screen4x3"/>
  <p:notesSz cx="9144000" cy="6858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5A9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5A9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5A9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2130" y="6513986"/>
            <a:ext cx="1201869" cy="34401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806" y="119992"/>
            <a:ext cx="1042303" cy="49610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42624" y="216220"/>
            <a:ext cx="1944464" cy="182603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86927" y="83832"/>
            <a:ext cx="768857" cy="51128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50223" y="83832"/>
            <a:ext cx="375678" cy="51128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20327" y="83832"/>
            <a:ext cx="421398" cy="51128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3">
              <a:lumMod val="40000"/>
              <a:lumOff val="6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42130" y="6513986"/>
            <a:ext cx="1201869" cy="34401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806" y="119992"/>
            <a:ext cx="1042303" cy="49610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18742" y="260350"/>
            <a:ext cx="5906515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5A9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10856" y="2632138"/>
            <a:ext cx="6855459" cy="2026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15705" y="6665086"/>
            <a:ext cx="20447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8585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mailto:jhuaytalla@uncp.edu.pe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8.png"/><Relationship Id="rId5" Type="http://schemas.openxmlformats.org/officeDocument/2006/relationships/image" Target="../media/image14.png"/><Relationship Id="rId10" Type="http://schemas.openxmlformats.org/officeDocument/2006/relationships/image" Target="../media/image10.png"/><Relationship Id="rId4" Type="http://schemas.openxmlformats.org/officeDocument/2006/relationships/image" Target="../media/image13.jp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4.jpg"/><Relationship Id="rId7" Type="http://schemas.openxmlformats.org/officeDocument/2006/relationships/image" Target="../media/image28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g"/><Relationship Id="rId5" Type="http://schemas.openxmlformats.org/officeDocument/2006/relationships/image" Target="../media/image26.jpg"/><Relationship Id="rId4" Type="http://schemas.openxmlformats.org/officeDocument/2006/relationships/image" Target="../media/image25.jp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7" Type="http://schemas.openxmlformats.org/officeDocument/2006/relationships/image" Target="../media/image8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32.jpg"/><Relationship Id="rId4" Type="http://schemas.openxmlformats.org/officeDocument/2006/relationships/image" Target="../media/image31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4.png"/><Relationship Id="rId7" Type="http://schemas.openxmlformats.org/officeDocument/2006/relationships/image" Target="../media/image1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8.png"/><Relationship Id="rId3" Type="http://schemas.openxmlformats.org/officeDocument/2006/relationships/image" Target="../media/image34.png"/><Relationship Id="rId7" Type="http://schemas.openxmlformats.org/officeDocument/2006/relationships/image" Target="../media/image42.png"/><Relationship Id="rId12" Type="http://schemas.openxmlformats.org/officeDocument/2006/relationships/image" Target="../media/image1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5.png"/><Relationship Id="rId5" Type="http://schemas.openxmlformats.org/officeDocument/2006/relationships/image" Target="../media/image40.png"/><Relationship Id="rId10" Type="http://schemas.openxmlformats.org/officeDocument/2006/relationships/image" Target="../media/image44.png"/><Relationship Id="rId4" Type="http://schemas.openxmlformats.org/officeDocument/2006/relationships/image" Target="../media/image39.png"/><Relationship Id="rId9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0.png"/><Relationship Id="rId7" Type="http://schemas.openxmlformats.org/officeDocument/2006/relationships/image" Target="../media/image1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5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8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12" Type="http://schemas.openxmlformats.org/officeDocument/2006/relationships/image" Target="../media/image10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34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8.pn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68.png"/><Relationship Id="rId4" Type="http://schemas.openxmlformats.org/officeDocument/2006/relationships/image" Target="../media/image67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8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g"/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8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10.png"/><Relationship Id="rId3" Type="http://schemas.openxmlformats.org/officeDocument/2006/relationships/image" Target="../media/image89.jpg"/><Relationship Id="rId7" Type="http://schemas.openxmlformats.org/officeDocument/2006/relationships/image" Target="../media/image93.png"/><Relationship Id="rId12" Type="http://schemas.openxmlformats.org/officeDocument/2006/relationships/image" Target="../media/image98.jpg"/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11" Type="http://schemas.openxmlformats.org/officeDocument/2006/relationships/image" Target="../media/image97.jpg"/><Relationship Id="rId5" Type="http://schemas.openxmlformats.org/officeDocument/2006/relationships/image" Target="../media/image91.png"/><Relationship Id="rId10" Type="http://schemas.openxmlformats.org/officeDocument/2006/relationships/image" Target="../media/image96.png"/><Relationship Id="rId4" Type="http://schemas.openxmlformats.org/officeDocument/2006/relationships/image" Target="../media/image90.jpg"/><Relationship Id="rId9" Type="http://schemas.openxmlformats.org/officeDocument/2006/relationships/image" Target="../media/image95.png"/><Relationship Id="rId14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g"/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jpg"/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jpg"/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jpg"/><Relationship Id="rId2" Type="http://schemas.openxmlformats.org/officeDocument/2006/relationships/image" Target="../media/image10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109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 txBox="1"/>
          <p:nvPr/>
        </p:nvSpPr>
        <p:spPr>
          <a:xfrm>
            <a:off x="1676400" y="2895600"/>
            <a:ext cx="5287645" cy="1282402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065" marR="5080" indent="-1270" algn="ctr">
              <a:lnSpc>
                <a:spcPct val="100000"/>
              </a:lnSpc>
              <a:spcBef>
                <a:spcPts val="500"/>
              </a:spcBef>
            </a:pPr>
            <a:r>
              <a:rPr sz="4000" b="1" spc="-5" dirty="0" err="1">
                <a:latin typeface="Calibri"/>
                <a:cs typeface="Calibri"/>
              </a:rPr>
              <a:t>Visión</a:t>
            </a:r>
            <a:r>
              <a:rPr sz="4000" b="1" spc="-5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Computacional </a:t>
            </a:r>
            <a:r>
              <a:rPr sz="4000" b="1" spc="-5" dirty="0">
                <a:latin typeface="Calibri"/>
                <a:cs typeface="Calibri"/>
              </a:rPr>
              <a:t> usando</a:t>
            </a:r>
            <a:r>
              <a:rPr sz="4000" b="1" dirty="0">
                <a:latin typeface="Calibri"/>
                <a:cs typeface="Calibri"/>
              </a:rPr>
              <a:t> </a:t>
            </a:r>
            <a:r>
              <a:rPr sz="4000" b="1" spc="-5" dirty="0">
                <a:latin typeface="Calibri"/>
                <a:cs typeface="Calibri"/>
              </a:rPr>
              <a:t>Deep</a:t>
            </a:r>
            <a:r>
              <a:rPr sz="4000" b="1" spc="-10" dirty="0">
                <a:latin typeface="Calibri"/>
                <a:cs typeface="Calibri"/>
              </a:rPr>
              <a:t> </a:t>
            </a:r>
            <a:r>
              <a:rPr sz="4000" b="1" spc="-5" dirty="0">
                <a:latin typeface="Calibri"/>
                <a:cs typeface="Calibri"/>
              </a:rPr>
              <a:t>Learning</a:t>
            </a:r>
            <a:r>
              <a:rPr sz="4000" b="1" dirty="0">
                <a:latin typeface="Calibri"/>
                <a:cs typeface="Calibri"/>
              </a:rPr>
              <a:t> </a:t>
            </a:r>
            <a:r>
              <a:rPr sz="4000" b="1" spc="-5" dirty="0">
                <a:latin typeface="Calibri"/>
                <a:cs typeface="Calibri"/>
              </a:rPr>
              <a:t>(I)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30EE400-555A-4A2C-B3CC-466A3F99D253}"/>
              </a:ext>
            </a:extLst>
          </p:cNvPr>
          <p:cNvSpPr/>
          <p:nvPr/>
        </p:nvSpPr>
        <p:spPr>
          <a:xfrm>
            <a:off x="6248400" y="76200"/>
            <a:ext cx="28194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A920421-AA01-85C0-5CAD-1D5A5865E94E}"/>
              </a:ext>
            </a:extLst>
          </p:cNvPr>
          <p:cNvSpPr txBox="1"/>
          <p:nvPr/>
        </p:nvSpPr>
        <p:spPr>
          <a:xfrm>
            <a:off x="2362200" y="4343400"/>
            <a:ext cx="39805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dirty="0"/>
              <a:t>Ing. Jaime Antonio </a:t>
            </a:r>
            <a:r>
              <a:rPr lang="es-PE" dirty="0" err="1"/>
              <a:t>Huaytalla</a:t>
            </a:r>
            <a:r>
              <a:rPr lang="es-PE" dirty="0"/>
              <a:t> Pariona</a:t>
            </a:r>
          </a:p>
          <a:p>
            <a:pPr algn="ctr"/>
            <a:r>
              <a:rPr lang="es-PE" dirty="0">
                <a:hlinkClick r:id="rId2"/>
              </a:rPr>
              <a:t>jhuaytalla@uncp.edu.pe</a:t>
            </a:r>
            <a:r>
              <a:rPr lang="es-PE" dirty="0"/>
              <a:t> 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AB21776D-D356-D967-90D5-4B4BE1A4C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"/>
            <a:ext cx="1447800" cy="1232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Ingeniería de Sistemas - UNCP">
            <a:extLst>
              <a:ext uri="{FF2B5EF4-FFF2-40B4-BE49-F238E27FC236}">
                <a16:creationId xmlns:a16="http://schemas.microsoft.com/office/drawing/2014/main" id="{A8D1D443-5410-23F9-B3D3-7FFD22E4B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28599"/>
            <a:ext cx="1226735" cy="1232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98570" y="581913"/>
            <a:ext cx="15455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B51A00"/>
                </a:solidFill>
              </a:rPr>
              <a:t>Co</a:t>
            </a:r>
            <a:r>
              <a:rPr sz="2800" spc="-40" dirty="0">
                <a:solidFill>
                  <a:srgbClr val="B51A00"/>
                </a:solidFill>
              </a:rPr>
              <a:t>nt</a:t>
            </a:r>
            <a:r>
              <a:rPr sz="2800" spc="-10" dirty="0">
                <a:solidFill>
                  <a:srgbClr val="B51A00"/>
                </a:solidFill>
              </a:rPr>
              <a:t>eni</a:t>
            </a:r>
            <a:r>
              <a:rPr sz="2800" spc="-15" dirty="0">
                <a:solidFill>
                  <a:srgbClr val="B51A00"/>
                </a:solidFill>
              </a:rPr>
              <a:t>d</a:t>
            </a:r>
            <a:r>
              <a:rPr sz="2800" spc="-5" dirty="0">
                <a:solidFill>
                  <a:srgbClr val="B51A00"/>
                </a:solidFill>
              </a:rPr>
              <a:t>o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123" y="1400281"/>
            <a:ext cx="8459764" cy="73358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5008" y="1478280"/>
            <a:ext cx="8300084" cy="582295"/>
          </a:xfrm>
          <a:prstGeom prst="rect">
            <a:avLst/>
          </a:prstGeom>
          <a:solidFill>
            <a:srgbClr val="9BEDF7"/>
          </a:solidFill>
        </p:spPr>
        <p:txBody>
          <a:bodyPr vert="horz" wrap="square" lIns="0" tIns="45085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355"/>
              </a:spcBef>
              <a:tabLst>
                <a:tab pos="676275" algn="l"/>
              </a:tabLst>
            </a:pPr>
            <a:r>
              <a:rPr sz="2800" b="1" spc="-5" dirty="0">
                <a:solidFill>
                  <a:srgbClr val="0000FF"/>
                </a:solidFill>
                <a:latin typeface="Calibri"/>
                <a:cs typeface="Calibri"/>
              </a:rPr>
              <a:t>1.	</a:t>
            </a:r>
            <a:r>
              <a:rPr sz="2800" b="1" spc="-15" dirty="0">
                <a:solidFill>
                  <a:srgbClr val="0000FF"/>
                </a:solidFill>
                <a:latin typeface="Calibri"/>
                <a:cs typeface="Calibri"/>
              </a:rPr>
              <a:t>Redes</a:t>
            </a:r>
            <a:r>
              <a:rPr sz="2800" b="1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Calibri"/>
                <a:cs typeface="Calibri"/>
              </a:rPr>
              <a:t>Neuronales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2</a:t>
            </a:fld>
            <a:endParaRPr spc="-5" dirty="0"/>
          </a:p>
        </p:txBody>
      </p:sp>
      <p:sp>
        <p:nvSpPr>
          <p:cNvPr id="5" name="object 5"/>
          <p:cNvSpPr txBox="1"/>
          <p:nvPr/>
        </p:nvSpPr>
        <p:spPr>
          <a:xfrm>
            <a:off x="652068" y="2311399"/>
            <a:ext cx="6452235" cy="2052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AutoNum type="arabicPeriod" startAt="2"/>
              <a:tabLst>
                <a:tab pos="469265" algn="l"/>
                <a:tab pos="469900" algn="l"/>
              </a:tabLst>
            </a:pPr>
            <a:r>
              <a:rPr sz="2800" spc="-15" dirty="0">
                <a:solidFill>
                  <a:srgbClr val="A6A6A6"/>
                </a:solidFill>
                <a:latin typeface="Calibri"/>
                <a:cs typeface="Calibri"/>
              </a:rPr>
              <a:t>Redes</a:t>
            </a:r>
            <a:r>
              <a:rPr sz="2800" spc="-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A6A6A6"/>
                </a:solidFill>
                <a:latin typeface="Calibri"/>
                <a:cs typeface="Calibri"/>
              </a:rPr>
              <a:t>Neuronales</a:t>
            </a:r>
            <a:r>
              <a:rPr sz="2800" spc="3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A6A6A6"/>
                </a:solidFill>
                <a:latin typeface="Calibri"/>
                <a:cs typeface="Calibri"/>
              </a:rPr>
              <a:t>Convolucionales</a:t>
            </a:r>
            <a:r>
              <a:rPr sz="2800" spc="1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A6A6A6"/>
                </a:solidFill>
                <a:latin typeface="Calibri"/>
                <a:cs typeface="Calibri"/>
              </a:rPr>
              <a:t>(CNN)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A6A6A6"/>
              </a:buClr>
              <a:buFont typeface="Calibri"/>
              <a:buAutoNum type="arabicPeriod" startAt="2"/>
            </a:pP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AutoNum type="arabicPeriod" startAt="2"/>
              <a:tabLst>
                <a:tab pos="469265" algn="l"/>
                <a:tab pos="469900" algn="l"/>
              </a:tabLst>
            </a:pPr>
            <a:r>
              <a:rPr sz="2800" spc="-35" dirty="0">
                <a:solidFill>
                  <a:srgbClr val="A6A6A6"/>
                </a:solidFill>
                <a:latin typeface="Calibri"/>
                <a:cs typeface="Calibri"/>
              </a:rPr>
              <a:t>Transferencia</a:t>
            </a:r>
            <a:r>
              <a:rPr sz="2800" spc="-5" dirty="0">
                <a:solidFill>
                  <a:srgbClr val="A6A6A6"/>
                </a:solidFill>
                <a:latin typeface="Calibri"/>
                <a:cs typeface="Calibri"/>
              </a:rPr>
              <a:t> de</a:t>
            </a:r>
            <a:r>
              <a:rPr sz="2800" spc="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A6A6A6"/>
                </a:solidFill>
                <a:latin typeface="Calibri"/>
                <a:cs typeface="Calibri"/>
              </a:rPr>
              <a:t>Aprendizaje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A6A6A6"/>
              </a:buClr>
              <a:buFont typeface="Calibri"/>
              <a:buAutoNum type="arabicPeriod" startAt="2"/>
            </a:pP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AutoNum type="arabicPeriod" startAt="2"/>
              <a:tabLst>
                <a:tab pos="469265" algn="l"/>
                <a:tab pos="469900" algn="l"/>
              </a:tabLst>
            </a:pPr>
            <a:r>
              <a:rPr sz="2800" spc="-15" dirty="0">
                <a:solidFill>
                  <a:srgbClr val="A6A6A6"/>
                </a:solidFill>
                <a:latin typeface="Calibri"/>
                <a:cs typeface="Calibri"/>
              </a:rPr>
              <a:t>Redes</a:t>
            </a:r>
            <a:r>
              <a:rPr sz="280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A6A6A6"/>
                </a:solidFill>
                <a:latin typeface="Calibri"/>
                <a:cs typeface="Calibri"/>
              </a:rPr>
              <a:t>Neuronales</a:t>
            </a:r>
            <a:r>
              <a:rPr sz="2800" spc="3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A6A6A6"/>
                </a:solidFill>
                <a:latin typeface="Calibri"/>
                <a:cs typeface="Calibri"/>
              </a:rPr>
              <a:t>Recurrentes</a:t>
            </a:r>
            <a:r>
              <a:rPr sz="2800" spc="2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A6A6A6"/>
                </a:solidFill>
                <a:latin typeface="Calibri"/>
                <a:cs typeface="Calibri"/>
              </a:rPr>
              <a:t>(RNN)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AEDAFC87-E738-D245-DFB5-3CAD2B3D4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ngeniería de Sistemas - UNCP">
            <a:extLst>
              <a:ext uri="{FF2B5EF4-FFF2-40B4-BE49-F238E27FC236}">
                <a16:creationId xmlns:a16="http://schemas.microsoft.com/office/drawing/2014/main" id="{0758BBD5-647F-FF93-48D1-13751D7BF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9617" y="260350"/>
            <a:ext cx="30664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Redes</a:t>
            </a:r>
            <a:r>
              <a:rPr spc="-60" dirty="0"/>
              <a:t> </a:t>
            </a:r>
            <a:r>
              <a:rPr spc="-5" dirty="0"/>
              <a:t>Neuronales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9013" y="922782"/>
            <a:ext cx="6401435" cy="1569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6425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Aplicación</a:t>
            </a:r>
            <a:r>
              <a:rPr sz="2400" b="1" spc="-4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en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Visión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Computacional</a:t>
            </a:r>
            <a:endParaRPr sz="2400">
              <a:latin typeface="Calibri"/>
              <a:cs typeface="Calibri"/>
            </a:endParaRPr>
          </a:p>
          <a:p>
            <a:pPr marL="209550" indent="-197485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210185" algn="l"/>
              </a:tabLst>
            </a:pPr>
            <a:r>
              <a:rPr sz="2000" spc="-5" dirty="0">
                <a:latin typeface="Calibri"/>
                <a:cs typeface="Calibri"/>
              </a:rPr>
              <a:t>Visión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computacional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“tradicional”</a:t>
            </a:r>
            <a:endParaRPr sz="2000">
              <a:latin typeface="Calibri"/>
              <a:cs typeface="Calibri"/>
            </a:endParaRPr>
          </a:p>
          <a:p>
            <a:pPr marL="389255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890" algn="l"/>
              </a:tabLst>
            </a:pP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basa</a:t>
            </a:r>
            <a:r>
              <a:rPr sz="1800" dirty="0">
                <a:latin typeface="Calibri"/>
                <a:cs typeface="Calibri"/>
              </a:rPr>
              <a:t> en </a:t>
            </a:r>
            <a:r>
              <a:rPr sz="1800" spc="-10" dirty="0">
                <a:latin typeface="Calibri"/>
                <a:cs typeface="Calibri"/>
              </a:rPr>
              <a:t>extracción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manual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atributos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(features)</a:t>
            </a:r>
            <a:endParaRPr sz="1600">
              <a:latin typeface="Calibri"/>
              <a:cs typeface="Calibri"/>
            </a:endParaRPr>
          </a:p>
          <a:p>
            <a:pPr marL="389255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890" algn="l"/>
              </a:tabLst>
            </a:pPr>
            <a:r>
              <a:rPr sz="1800" spc="-5" dirty="0">
                <a:latin typeface="Calibri"/>
                <a:cs typeface="Calibri"/>
              </a:rPr>
              <a:t>Los</a:t>
            </a:r>
            <a:r>
              <a:rPr sz="1800" spc="-10" dirty="0">
                <a:latin typeface="Calibri"/>
                <a:cs typeface="Calibri"/>
              </a:rPr>
              <a:t> atributos </a:t>
            </a:r>
            <a:r>
              <a:rPr sz="1800" dirty="0">
                <a:latin typeface="Calibri"/>
                <a:cs typeface="Calibri"/>
              </a:rPr>
              <a:t>se </a:t>
            </a:r>
            <a:r>
              <a:rPr sz="1800" spc="-5" dirty="0">
                <a:latin typeface="Calibri"/>
                <a:cs typeface="Calibri"/>
              </a:rPr>
              <a:t>usan</a:t>
            </a:r>
            <a:r>
              <a:rPr sz="1800" spc="-10" dirty="0">
                <a:latin typeface="Calibri"/>
                <a:cs typeface="Calibri"/>
              </a:rPr>
              <a:t> para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entrenamiento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9013" y="4292984"/>
            <a:ext cx="7352030" cy="72326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9550" indent="-19748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10185" algn="l"/>
              </a:tabLst>
            </a:pPr>
            <a:r>
              <a:rPr sz="2000" spc="-5" dirty="0">
                <a:latin typeface="Calibri"/>
                <a:cs typeface="Calibri"/>
              </a:rPr>
              <a:t>Visión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computacional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basada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CNN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(“Convolutional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Neural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Networks”)</a:t>
            </a:r>
            <a:endParaRPr sz="1800">
              <a:latin typeface="Calibri"/>
              <a:cs typeface="Calibri"/>
            </a:endParaRPr>
          </a:p>
          <a:p>
            <a:pPr marL="229235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95" dirty="0">
                <a:latin typeface="Calibri"/>
                <a:cs typeface="Calibri"/>
              </a:rPr>
              <a:t> </a:t>
            </a:r>
            <a:r>
              <a:rPr sz="1800" spc="-45" dirty="0">
                <a:latin typeface="Calibri"/>
                <a:cs typeface="Calibri"/>
              </a:rPr>
              <a:t>Toda</a:t>
            </a:r>
            <a:r>
              <a:rPr sz="1800" spc="-5" dirty="0">
                <a:latin typeface="Calibri"/>
                <a:cs typeface="Calibri"/>
              </a:rPr>
              <a:t> la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imagen</a:t>
            </a:r>
            <a:r>
              <a:rPr sz="1800" dirty="0">
                <a:latin typeface="Calibri"/>
                <a:cs typeface="Calibri"/>
              </a:rPr>
              <a:t> se</a:t>
            </a:r>
            <a:r>
              <a:rPr sz="1800" spc="-5" dirty="0">
                <a:latin typeface="Calibri"/>
                <a:cs typeface="Calibri"/>
              </a:rPr>
              <a:t> usa</a:t>
            </a:r>
            <a:r>
              <a:rPr sz="1800" spc="-15" dirty="0">
                <a:latin typeface="Calibri"/>
                <a:cs typeface="Calibri"/>
              </a:rPr>
              <a:t> para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5" dirty="0">
                <a:latin typeface="Calibri"/>
                <a:cs typeface="Calibri"/>
              </a:rPr>
              <a:t> entrenamiento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5963" y="2796539"/>
            <a:ext cx="1295400" cy="125080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02721" y="3030269"/>
            <a:ext cx="1846774" cy="8045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13385" y="5228844"/>
            <a:ext cx="3747543" cy="12058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5963" y="5247132"/>
            <a:ext cx="1295400" cy="125080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647059" y="3104210"/>
            <a:ext cx="145732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585858"/>
                </a:solidFill>
                <a:latin typeface="Calibri"/>
                <a:cs typeface="Calibri"/>
              </a:rPr>
              <a:t>extracción</a:t>
            </a:r>
            <a:r>
              <a:rPr sz="1200" spc="-1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85858"/>
                </a:solidFill>
                <a:latin typeface="Calibri"/>
                <a:cs typeface="Calibri"/>
              </a:rPr>
              <a:t>de</a:t>
            </a:r>
            <a:r>
              <a:rPr sz="1200" spc="-2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585858"/>
                </a:solidFill>
                <a:latin typeface="Calibri"/>
                <a:cs typeface="Calibri"/>
              </a:rPr>
              <a:t>atributos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877203" y="3301822"/>
            <a:ext cx="352425" cy="339725"/>
            <a:chOff x="2877203" y="3301822"/>
            <a:chExt cx="352425" cy="33972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77203" y="3301822"/>
              <a:ext cx="352370" cy="33943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15411" y="3308604"/>
              <a:ext cx="288036" cy="28194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915411" y="3308604"/>
              <a:ext cx="288290" cy="281940"/>
            </a:xfrm>
            <a:custGeom>
              <a:avLst/>
              <a:gdLst/>
              <a:ahLst/>
              <a:cxnLst/>
              <a:rect l="l" t="t" r="r" b="b"/>
              <a:pathLst>
                <a:path w="288289" h="281939">
                  <a:moveTo>
                    <a:pt x="0" y="70485"/>
                  </a:moveTo>
                  <a:lnTo>
                    <a:pt x="147065" y="70485"/>
                  </a:lnTo>
                  <a:lnTo>
                    <a:pt x="147065" y="0"/>
                  </a:lnTo>
                  <a:lnTo>
                    <a:pt x="288036" y="140970"/>
                  </a:lnTo>
                  <a:lnTo>
                    <a:pt x="147065" y="281940"/>
                  </a:lnTo>
                  <a:lnTo>
                    <a:pt x="147065" y="211455"/>
                  </a:lnTo>
                  <a:lnTo>
                    <a:pt x="0" y="211455"/>
                  </a:lnTo>
                  <a:lnTo>
                    <a:pt x="0" y="70485"/>
                  </a:lnTo>
                  <a:close/>
                </a:path>
              </a:pathLst>
            </a:custGeom>
            <a:ln w="9143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5757563" y="3289630"/>
            <a:ext cx="352425" cy="339725"/>
            <a:chOff x="5757563" y="3289630"/>
            <a:chExt cx="352425" cy="339725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57563" y="3289630"/>
              <a:ext cx="352370" cy="33943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95772" y="3296411"/>
              <a:ext cx="288036" cy="28193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795772" y="3296411"/>
              <a:ext cx="288290" cy="281940"/>
            </a:xfrm>
            <a:custGeom>
              <a:avLst/>
              <a:gdLst/>
              <a:ahLst/>
              <a:cxnLst/>
              <a:rect l="l" t="t" r="r" b="b"/>
              <a:pathLst>
                <a:path w="288289" h="281939">
                  <a:moveTo>
                    <a:pt x="0" y="70485"/>
                  </a:moveTo>
                  <a:lnTo>
                    <a:pt x="147065" y="70485"/>
                  </a:lnTo>
                  <a:lnTo>
                    <a:pt x="147065" y="0"/>
                  </a:lnTo>
                  <a:lnTo>
                    <a:pt x="288036" y="140970"/>
                  </a:lnTo>
                  <a:lnTo>
                    <a:pt x="147065" y="281939"/>
                  </a:lnTo>
                  <a:lnTo>
                    <a:pt x="147065" y="211454"/>
                  </a:lnTo>
                  <a:lnTo>
                    <a:pt x="0" y="211454"/>
                  </a:lnTo>
                  <a:lnTo>
                    <a:pt x="0" y="70485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2890883" y="5686933"/>
            <a:ext cx="351155" cy="339725"/>
            <a:chOff x="2890883" y="5686933"/>
            <a:chExt cx="351155" cy="339725"/>
          </a:xfrm>
        </p:grpSpPr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90883" y="5686933"/>
              <a:ext cx="350967" cy="33943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29128" y="5693663"/>
              <a:ext cx="286512" cy="28194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929128" y="5693663"/>
              <a:ext cx="287020" cy="281940"/>
            </a:xfrm>
            <a:custGeom>
              <a:avLst/>
              <a:gdLst/>
              <a:ahLst/>
              <a:cxnLst/>
              <a:rect l="l" t="t" r="r" b="b"/>
              <a:pathLst>
                <a:path w="287019" h="281939">
                  <a:moveTo>
                    <a:pt x="0" y="70485"/>
                  </a:moveTo>
                  <a:lnTo>
                    <a:pt x="145542" y="70485"/>
                  </a:lnTo>
                  <a:lnTo>
                    <a:pt x="145542" y="0"/>
                  </a:lnTo>
                  <a:lnTo>
                    <a:pt x="286512" y="140970"/>
                  </a:lnTo>
                  <a:lnTo>
                    <a:pt x="145542" y="281940"/>
                  </a:lnTo>
                  <a:lnTo>
                    <a:pt x="145542" y="211455"/>
                  </a:lnTo>
                  <a:lnTo>
                    <a:pt x="0" y="211455"/>
                  </a:lnTo>
                  <a:lnTo>
                    <a:pt x="0" y="70485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465189" y="2893822"/>
            <a:ext cx="1899920" cy="9410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Entrenamiento </a:t>
            </a:r>
            <a:r>
              <a:rPr sz="1600" spc="-5" dirty="0">
                <a:latin typeface="Calibri"/>
                <a:cs typeface="Calibri"/>
              </a:rPr>
              <a:t>basado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en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atributos</a:t>
            </a:r>
            <a:endParaRPr sz="1600">
              <a:latin typeface="Calibri"/>
              <a:cs typeface="Calibri"/>
            </a:endParaRPr>
          </a:p>
          <a:p>
            <a:pPr marL="68580" marR="59690" algn="ctr">
              <a:lnSpc>
                <a:spcPct val="100000"/>
              </a:lnSpc>
              <a:spcBef>
                <a:spcPts val="10"/>
              </a:spcBef>
            </a:pP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(SVM, redes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neuronales, </a:t>
            </a:r>
            <a:r>
              <a:rPr sz="1400" spc="-30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random forest,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etc.)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3</a:t>
            </a:fld>
            <a:endParaRPr spc="-5" dirty="0"/>
          </a:p>
        </p:txBody>
      </p:sp>
      <p:sp>
        <p:nvSpPr>
          <p:cNvPr id="23" name="object 23"/>
          <p:cNvSpPr txBox="1"/>
          <p:nvPr/>
        </p:nvSpPr>
        <p:spPr>
          <a:xfrm>
            <a:off x="4760721" y="6358839"/>
            <a:ext cx="204406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Entrenamiento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usando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CNN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26" name="Picture 4">
            <a:extLst>
              <a:ext uri="{FF2B5EF4-FFF2-40B4-BE49-F238E27FC236}">
                <a16:creationId xmlns:a16="http://schemas.microsoft.com/office/drawing/2014/main" id="{28B51F21-C983-DB75-E0AA-8E935C7CE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 descr="Ingeniería de Sistemas - UNCP">
            <a:extLst>
              <a:ext uri="{FF2B5EF4-FFF2-40B4-BE49-F238E27FC236}">
                <a16:creationId xmlns:a16="http://schemas.microsoft.com/office/drawing/2014/main" id="{F9787EFF-416D-0BE0-CE9D-1460283D0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9617" y="260350"/>
            <a:ext cx="30664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Redes</a:t>
            </a:r>
            <a:r>
              <a:rPr spc="-60" dirty="0"/>
              <a:t> </a:t>
            </a:r>
            <a:r>
              <a:rPr spc="-5" dirty="0"/>
              <a:t>Neuronales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168905" y="2296667"/>
            <a:ext cx="3616325" cy="1465580"/>
            <a:chOff x="2168905" y="2296667"/>
            <a:chExt cx="3616325" cy="1465580"/>
          </a:xfrm>
        </p:grpSpPr>
        <p:sp>
          <p:nvSpPr>
            <p:cNvPr id="4" name="object 4"/>
            <p:cNvSpPr/>
            <p:nvPr/>
          </p:nvSpPr>
          <p:spPr>
            <a:xfrm>
              <a:off x="3178302" y="2524505"/>
              <a:ext cx="2592705" cy="1009015"/>
            </a:xfrm>
            <a:custGeom>
              <a:avLst/>
              <a:gdLst/>
              <a:ahLst/>
              <a:cxnLst/>
              <a:rect l="l" t="t" r="r" b="b"/>
              <a:pathLst>
                <a:path w="2592704" h="1009014">
                  <a:moveTo>
                    <a:pt x="0" y="504444"/>
                  </a:moveTo>
                  <a:lnTo>
                    <a:pt x="6691" y="452860"/>
                  </a:lnTo>
                  <a:lnTo>
                    <a:pt x="26331" y="402769"/>
                  </a:lnTo>
                  <a:lnTo>
                    <a:pt x="58268" y="354422"/>
                  </a:lnTo>
                  <a:lnTo>
                    <a:pt x="101852" y="308074"/>
                  </a:lnTo>
                  <a:lnTo>
                    <a:pt x="156429" y="263977"/>
                  </a:lnTo>
                  <a:lnTo>
                    <a:pt x="221351" y="222386"/>
                  </a:lnTo>
                  <a:lnTo>
                    <a:pt x="257487" y="202609"/>
                  </a:lnTo>
                  <a:lnTo>
                    <a:pt x="295964" y="183553"/>
                  </a:lnTo>
                  <a:lnTo>
                    <a:pt x="336702" y="165250"/>
                  </a:lnTo>
                  <a:lnTo>
                    <a:pt x="379618" y="147732"/>
                  </a:lnTo>
                  <a:lnTo>
                    <a:pt x="424632" y="131030"/>
                  </a:lnTo>
                  <a:lnTo>
                    <a:pt x="471662" y="115177"/>
                  </a:lnTo>
                  <a:lnTo>
                    <a:pt x="520626" y="100203"/>
                  </a:lnTo>
                  <a:lnTo>
                    <a:pt x="571444" y="86140"/>
                  </a:lnTo>
                  <a:lnTo>
                    <a:pt x="624033" y="73020"/>
                  </a:lnTo>
                  <a:lnTo>
                    <a:pt x="678312" y="60875"/>
                  </a:lnTo>
                  <a:lnTo>
                    <a:pt x="734201" y="49736"/>
                  </a:lnTo>
                  <a:lnTo>
                    <a:pt x="791616" y="39635"/>
                  </a:lnTo>
                  <a:lnTo>
                    <a:pt x="850478" y="30604"/>
                  </a:lnTo>
                  <a:lnTo>
                    <a:pt x="910705" y="22675"/>
                  </a:lnTo>
                  <a:lnTo>
                    <a:pt x="972214" y="15878"/>
                  </a:lnTo>
                  <a:lnTo>
                    <a:pt x="1034926" y="10246"/>
                  </a:lnTo>
                  <a:lnTo>
                    <a:pt x="1098758" y="5811"/>
                  </a:lnTo>
                  <a:lnTo>
                    <a:pt x="1163628" y="2603"/>
                  </a:lnTo>
                  <a:lnTo>
                    <a:pt x="1229457" y="656"/>
                  </a:lnTo>
                  <a:lnTo>
                    <a:pt x="1296162" y="0"/>
                  </a:lnTo>
                  <a:lnTo>
                    <a:pt x="1362866" y="656"/>
                  </a:lnTo>
                  <a:lnTo>
                    <a:pt x="1428695" y="2603"/>
                  </a:lnTo>
                  <a:lnTo>
                    <a:pt x="1493565" y="5811"/>
                  </a:lnTo>
                  <a:lnTo>
                    <a:pt x="1557397" y="10246"/>
                  </a:lnTo>
                  <a:lnTo>
                    <a:pt x="1620109" y="15878"/>
                  </a:lnTo>
                  <a:lnTo>
                    <a:pt x="1681618" y="22675"/>
                  </a:lnTo>
                  <a:lnTo>
                    <a:pt x="1741845" y="30604"/>
                  </a:lnTo>
                  <a:lnTo>
                    <a:pt x="1800707" y="39635"/>
                  </a:lnTo>
                  <a:lnTo>
                    <a:pt x="1858122" y="49736"/>
                  </a:lnTo>
                  <a:lnTo>
                    <a:pt x="1914011" y="60875"/>
                  </a:lnTo>
                  <a:lnTo>
                    <a:pt x="1968290" y="73020"/>
                  </a:lnTo>
                  <a:lnTo>
                    <a:pt x="2020879" y="86140"/>
                  </a:lnTo>
                  <a:lnTo>
                    <a:pt x="2071697" y="100203"/>
                  </a:lnTo>
                  <a:lnTo>
                    <a:pt x="2120661" y="115177"/>
                  </a:lnTo>
                  <a:lnTo>
                    <a:pt x="2167691" y="131030"/>
                  </a:lnTo>
                  <a:lnTo>
                    <a:pt x="2212705" y="147732"/>
                  </a:lnTo>
                  <a:lnTo>
                    <a:pt x="2255621" y="165250"/>
                  </a:lnTo>
                  <a:lnTo>
                    <a:pt x="2296359" y="183553"/>
                  </a:lnTo>
                  <a:lnTo>
                    <a:pt x="2334836" y="202609"/>
                  </a:lnTo>
                  <a:lnTo>
                    <a:pt x="2370972" y="222386"/>
                  </a:lnTo>
                  <a:lnTo>
                    <a:pt x="2404685" y="242853"/>
                  </a:lnTo>
                  <a:lnTo>
                    <a:pt x="2464516" y="285728"/>
                  </a:lnTo>
                  <a:lnTo>
                    <a:pt x="2513678" y="330982"/>
                  </a:lnTo>
                  <a:lnTo>
                    <a:pt x="2551520" y="378361"/>
                  </a:lnTo>
                  <a:lnTo>
                    <a:pt x="2577390" y="427612"/>
                  </a:lnTo>
                  <a:lnTo>
                    <a:pt x="2590637" y="478481"/>
                  </a:lnTo>
                  <a:lnTo>
                    <a:pt x="2592324" y="504444"/>
                  </a:lnTo>
                  <a:lnTo>
                    <a:pt x="2590637" y="530406"/>
                  </a:lnTo>
                  <a:lnTo>
                    <a:pt x="2577390" y="581275"/>
                  </a:lnTo>
                  <a:lnTo>
                    <a:pt x="2551520" y="630526"/>
                  </a:lnTo>
                  <a:lnTo>
                    <a:pt x="2513678" y="677905"/>
                  </a:lnTo>
                  <a:lnTo>
                    <a:pt x="2464516" y="723159"/>
                  </a:lnTo>
                  <a:lnTo>
                    <a:pt x="2404685" y="766034"/>
                  </a:lnTo>
                  <a:lnTo>
                    <a:pt x="2370972" y="786501"/>
                  </a:lnTo>
                  <a:lnTo>
                    <a:pt x="2334836" y="806278"/>
                  </a:lnTo>
                  <a:lnTo>
                    <a:pt x="2296359" y="825334"/>
                  </a:lnTo>
                  <a:lnTo>
                    <a:pt x="2255621" y="843637"/>
                  </a:lnTo>
                  <a:lnTo>
                    <a:pt x="2212705" y="861155"/>
                  </a:lnTo>
                  <a:lnTo>
                    <a:pt x="2167691" y="877857"/>
                  </a:lnTo>
                  <a:lnTo>
                    <a:pt x="2120661" y="893710"/>
                  </a:lnTo>
                  <a:lnTo>
                    <a:pt x="2071697" y="908684"/>
                  </a:lnTo>
                  <a:lnTo>
                    <a:pt x="2020879" y="922747"/>
                  </a:lnTo>
                  <a:lnTo>
                    <a:pt x="1968290" y="935867"/>
                  </a:lnTo>
                  <a:lnTo>
                    <a:pt x="1914011" y="948012"/>
                  </a:lnTo>
                  <a:lnTo>
                    <a:pt x="1858122" y="959151"/>
                  </a:lnTo>
                  <a:lnTo>
                    <a:pt x="1800707" y="969252"/>
                  </a:lnTo>
                  <a:lnTo>
                    <a:pt x="1741845" y="978283"/>
                  </a:lnTo>
                  <a:lnTo>
                    <a:pt x="1681618" y="986212"/>
                  </a:lnTo>
                  <a:lnTo>
                    <a:pt x="1620109" y="993009"/>
                  </a:lnTo>
                  <a:lnTo>
                    <a:pt x="1557397" y="998641"/>
                  </a:lnTo>
                  <a:lnTo>
                    <a:pt x="1493565" y="1003076"/>
                  </a:lnTo>
                  <a:lnTo>
                    <a:pt x="1428695" y="1006284"/>
                  </a:lnTo>
                  <a:lnTo>
                    <a:pt x="1362866" y="1008231"/>
                  </a:lnTo>
                  <a:lnTo>
                    <a:pt x="1296162" y="1008888"/>
                  </a:lnTo>
                  <a:lnTo>
                    <a:pt x="1229457" y="1008231"/>
                  </a:lnTo>
                  <a:lnTo>
                    <a:pt x="1163628" y="1006284"/>
                  </a:lnTo>
                  <a:lnTo>
                    <a:pt x="1098758" y="1003076"/>
                  </a:lnTo>
                  <a:lnTo>
                    <a:pt x="1034926" y="998641"/>
                  </a:lnTo>
                  <a:lnTo>
                    <a:pt x="972214" y="993009"/>
                  </a:lnTo>
                  <a:lnTo>
                    <a:pt x="910705" y="986212"/>
                  </a:lnTo>
                  <a:lnTo>
                    <a:pt x="850478" y="978283"/>
                  </a:lnTo>
                  <a:lnTo>
                    <a:pt x="791616" y="969252"/>
                  </a:lnTo>
                  <a:lnTo>
                    <a:pt x="734201" y="959151"/>
                  </a:lnTo>
                  <a:lnTo>
                    <a:pt x="678312" y="948012"/>
                  </a:lnTo>
                  <a:lnTo>
                    <a:pt x="624033" y="935867"/>
                  </a:lnTo>
                  <a:lnTo>
                    <a:pt x="571444" y="922747"/>
                  </a:lnTo>
                  <a:lnTo>
                    <a:pt x="520626" y="908684"/>
                  </a:lnTo>
                  <a:lnTo>
                    <a:pt x="471662" y="893710"/>
                  </a:lnTo>
                  <a:lnTo>
                    <a:pt x="424632" y="877857"/>
                  </a:lnTo>
                  <a:lnTo>
                    <a:pt x="379618" y="861155"/>
                  </a:lnTo>
                  <a:lnTo>
                    <a:pt x="336702" y="843637"/>
                  </a:lnTo>
                  <a:lnTo>
                    <a:pt x="295964" y="825334"/>
                  </a:lnTo>
                  <a:lnTo>
                    <a:pt x="257487" y="806278"/>
                  </a:lnTo>
                  <a:lnTo>
                    <a:pt x="221351" y="786501"/>
                  </a:lnTo>
                  <a:lnTo>
                    <a:pt x="187638" y="766034"/>
                  </a:lnTo>
                  <a:lnTo>
                    <a:pt x="127807" y="723159"/>
                  </a:lnTo>
                  <a:lnTo>
                    <a:pt x="78645" y="677905"/>
                  </a:lnTo>
                  <a:lnTo>
                    <a:pt x="40803" y="630526"/>
                  </a:lnTo>
                  <a:lnTo>
                    <a:pt x="14933" y="581275"/>
                  </a:lnTo>
                  <a:lnTo>
                    <a:pt x="1686" y="530406"/>
                  </a:lnTo>
                  <a:lnTo>
                    <a:pt x="0" y="504444"/>
                  </a:lnTo>
                  <a:close/>
                </a:path>
              </a:pathLst>
            </a:custGeom>
            <a:ln w="2895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54323" y="2886455"/>
              <a:ext cx="1399031" cy="2346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1976" y="2889503"/>
              <a:ext cx="426720" cy="2560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906517" y="2524505"/>
              <a:ext cx="0" cy="1008380"/>
            </a:xfrm>
            <a:custGeom>
              <a:avLst/>
              <a:gdLst/>
              <a:ahLst/>
              <a:cxnLst/>
              <a:rect l="l" t="t" r="r" b="b"/>
              <a:pathLst>
                <a:path h="1008379">
                  <a:moveTo>
                    <a:pt x="0" y="0"/>
                  </a:moveTo>
                  <a:lnTo>
                    <a:pt x="0" y="1008126"/>
                  </a:lnTo>
                </a:path>
              </a:pathLst>
            </a:custGeom>
            <a:ln w="28956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68906" y="2296667"/>
              <a:ext cx="1186180" cy="1465580"/>
            </a:xfrm>
            <a:custGeom>
              <a:avLst/>
              <a:gdLst/>
              <a:ahLst/>
              <a:cxnLst/>
              <a:rect l="l" t="t" r="r" b="b"/>
              <a:pathLst>
                <a:path w="1186179" h="1465579">
                  <a:moveTo>
                    <a:pt x="1010158" y="732282"/>
                  </a:moveTo>
                  <a:lnTo>
                    <a:pt x="930148" y="677164"/>
                  </a:lnTo>
                  <a:lnTo>
                    <a:pt x="926109" y="705891"/>
                  </a:lnTo>
                  <a:lnTo>
                    <a:pt x="4064" y="576199"/>
                  </a:lnTo>
                  <a:lnTo>
                    <a:pt x="0" y="604901"/>
                  </a:lnTo>
                  <a:lnTo>
                    <a:pt x="922083" y="734580"/>
                  </a:lnTo>
                  <a:lnTo>
                    <a:pt x="918083" y="763143"/>
                  </a:lnTo>
                  <a:lnTo>
                    <a:pt x="997267" y="736600"/>
                  </a:lnTo>
                  <a:lnTo>
                    <a:pt x="1010158" y="732282"/>
                  </a:lnTo>
                  <a:close/>
                </a:path>
                <a:path w="1186179" h="1465579">
                  <a:moveTo>
                    <a:pt x="1081786" y="517017"/>
                  </a:moveTo>
                  <a:lnTo>
                    <a:pt x="1067206" y="497586"/>
                  </a:lnTo>
                  <a:lnTo>
                    <a:pt x="1023493" y="439293"/>
                  </a:lnTo>
                  <a:lnTo>
                    <a:pt x="1010539" y="465201"/>
                  </a:lnTo>
                  <a:lnTo>
                    <a:pt x="80137" y="0"/>
                  </a:lnTo>
                  <a:lnTo>
                    <a:pt x="67183" y="25908"/>
                  </a:lnTo>
                  <a:lnTo>
                    <a:pt x="997585" y="491109"/>
                  </a:lnTo>
                  <a:lnTo>
                    <a:pt x="984631" y="517017"/>
                  </a:lnTo>
                  <a:lnTo>
                    <a:pt x="1081786" y="517017"/>
                  </a:lnTo>
                  <a:close/>
                </a:path>
                <a:path w="1186179" h="1465579">
                  <a:moveTo>
                    <a:pt x="1185672" y="1020318"/>
                  </a:moveTo>
                  <a:lnTo>
                    <a:pt x="1088644" y="1016000"/>
                  </a:lnTo>
                  <a:lnTo>
                    <a:pt x="1100416" y="1042492"/>
                  </a:lnTo>
                  <a:lnTo>
                    <a:pt x="211074" y="1439164"/>
                  </a:lnTo>
                  <a:lnTo>
                    <a:pt x="222758" y="1465580"/>
                  </a:lnTo>
                  <a:lnTo>
                    <a:pt x="1112177" y="1068920"/>
                  </a:lnTo>
                  <a:lnTo>
                    <a:pt x="1123937" y="1095375"/>
                  </a:lnTo>
                  <a:lnTo>
                    <a:pt x="1172298" y="1036574"/>
                  </a:lnTo>
                  <a:lnTo>
                    <a:pt x="1185672" y="1020318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12394" y="922782"/>
            <a:ext cx="6986905" cy="2030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79115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Unidad</a:t>
            </a:r>
            <a:r>
              <a:rPr sz="2400" b="1" spc="-3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Neuronal</a:t>
            </a:r>
            <a:endParaRPr sz="2400">
              <a:latin typeface="Calibri"/>
              <a:cs typeface="Calibri"/>
            </a:endParaRPr>
          </a:p>
          <a:p>
            <a:pPr marL="234315" indent="-196850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234950" algn="l"/>
              </a:tabLst>
            </a:pPr>
            <a:r>
              <a:rPr sz="2000" spc="-15" dirty="0">
                <a:latin typeface="Calibri"/>
                <a:cs typeface="Calibri"/>
              </a:rPr>
              <a:t>Representa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una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“neurona”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dentro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 </a:t>
            </a:r>
            <a:r>
              <a:rPr sz="2000" spc="-10" dirty="0">
                <a:latin typeface="Calibri"/>
                <a:cs typeface="Calibri"/>
              </a:rPr>
              <a:t>red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(también: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unidad</a:t>
            </a:r>
            <a:r>
              <a:rPr sz="16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logística)</a:t>
            </a:r>
            <a:endParaRPr sz="1600">
              <a:latin typeface="Calibri"/>
              <a:cs typeface="Calibri"/>
            </a:endParaRPr>
          </a:p>
          <a:p>
            <a:pPr marL="1556385">
              <a:lnSpc>
                <a:spcPct val="100000"/>
              </a:lnSpc>
              <a:spcBef>
                <a:spcPts val="1915"/>
              </a:spcBef>
            </a:pP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baseline="-20833" dirty="0">
                <a:latin typeface="Times New Roman"/>
                <a:cs typeface="Times New Roman"/>
              </a:rPr>
              <a:t>1</a:t>
            </a:r>
            <a:endParaRPr sz="1800" baseline="-20833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50">
              <a:latin typeface="Times New Roman"/>
              <a:cs typeface="Times New Roman"/>
            </a:endParaRPr>
          </a:p>
          <a:p>
            <a:pPr marL="1465580">
              <a:lnSpc>
                <a:spcPct val="100000"/>
              </a:lnSpc>
            </a:pP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baseline="-20833" dirty="0">
                <a:latin typeface="Times New Roman"/>
                <a:cs typeface="Times New Roman"/>
              </a:rPr>
              <a:t>2</a:t>
            </a:r>
            <a:endParaRPr sz="1800" baseline="-20833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6994" y="3590035"/>
            <a:ext cx="6783070" cy="2719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2589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i="1" baseline="-20833" dirty="0">
                <a:latin typeface="Times New Roman"/>
                <a:cs typeface="Times New Roman"/>
              </a:rPr>
              <a:t>d</a:t>
            </a:r>
            <a:endParaRPr sz="1800" baseline="-20833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50">
              <a:latin typeface="Times New Roman"/>
              <a:cs typeface="Times New Roman"/>
            </a:endParaRPr>
          </a:p>
          <a:p>
            <a:pPr marL="259715" indent="-196850">
              <a:lnSpc>
                <a:spcPct val="100000"/>
              </a:lnSpc>
              <a:buFont typeface="Arial MT"/>
              <a:buChar char="•"/>
              <a:tabLst>
                <a:tab pos="260350" algn="l"/>
              </a:tabLst>
            </a:pPr>
            <a:r>
              <a:rPr sz="2000" spc="-15" dirty="0">
                <a:latin typeface="Calibri"/>
                <a:cs typeface="Calibri"/>
              </a:rPr>
              <a:t>Partes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importantes:</a:t>
            </a:r>
            <a:endParaRPr sz="2000">
              <a:latin typeface="Calibri"/>
              <a:cs typeface="Calibri"/>
            </a:endParaRPr>
          </a:p>
          <a:p>
            <a:pPr marL="439420" lvl="1" indent="-160655">
              <a:lnSpc>
                <a:spcPct val="100000"/>
              </a:lnSpc>
              <a:spcBef>
                <a:spcPts val="455"/>
              </a:spcBef>
              <a:buFont typeface="Calibri"/>
              <a:buChar char="-"/>
              <a:tabLst>
                <a:tab pos="440055" algn="l"/>
              </a:tabLst>
            </a:pPr>
            <a:r>
              <a:rPr sz="1800" i="1" spc="-10" dirty="0">
                <a:solidFill>
                  <a:srgbClr val="6F2F9F"/>
                </a:solidFill>
                <a:latin typeface="Calibri"/>
                <a:cs typeface="Calibri"/>
              </a:rPr>
              <a:t>Función</a:t>
            </a:r>
            <a:r>
              <a:rPr sz="1800" i="1" spc="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i="1" spc="-5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1800" i="1" spc="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6F2F9F"/>
                </a:solidFill>
                <a:latin typeface="Calibri"/>
                <a:cs typeface="Calibri"/>
              </a:rPr>
              <a:t>propagación</a:t>
            </a:r>
            <a:r>
              <a:rPr sz="1800" i="1" spc="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(combinación</a:t>
            </a:r>
            <a:r>
              <a:rPr sz="1800" spc="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Calibri"/>
                <a:cs typeface="Calibri"/>
              </a:rPr>
              <a:t>lineal</a:t>
            </a:r>
            <a:r>
              <a:rPr sz="1800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8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las </a:t>
            </a:r>
            <a:r>
              <a:rPr sz="1800" spc="-5" dirty="0">
                <a:solidFill>
                  <a:srgbClr val="7E7E7E"/>
                </a:solidFill>
                <a:latin typeface="Calibri"/>
                <a:cs typeface="Calibri"/>
              </a:rPr>
              <a:t>entradas)</a:t>
            </a:r>
            <a:r>
              <a:rPr sz="1800" spc="-5" dirty="0">
                <a:latin typeface="Calibri"/>
                <a:cs typeface="Calibri"/>
              </a:rPr>
              <a:t>: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𝑧</a:t>
            </a:r>
            <a:r>
              <a:rPr sz="1800" spc="14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∈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ℝ</a:t>
            </a:r>
            <a:endParaRPr sz="1800">
              <a:latin typeface="Cambria Math"/>
              <a:cs typeface="Cambria Math"/>
            </a:endParaRPr>
          </a:p>
          <a:p>
            <a:pPr marL="662305" lvl="2" indent="-226060">
              <a:lnSpc>
                <a:spcPct val="100000"/>
              </a:lnSpc>
              <a:spcBef>
                <a:spcPts val="439"/>
              </a:spcBef>
              <a:buFont typeface="Arial MT"/>
              <a:buChar char="•"/>
              <a:tabLst>
                <a:tab pos="662305" algn="l"/>
                <a:tab pos="662940" algn="l"/>
              </a:tabLst>
            </a:pPr>
            <a:r>
              <a:rPr sz="1600" spc="-5" dirty="0">
                <a:latin typeface="Calibri"/>
                <a:cs typeface="Calibri"/>
              </a:rPr>
              <a:t>Contiene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pesos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</a:t>
            </a:r>
            <a:r>
              <a:rPr sz="1600" dirty="0">
                <a:latin typeface="Cambria Math"/>
                <a:cs typeface="Cambria Math"/>
              </a:rPr>
              <a:t>𝒘</a:t>
            </a:r>
            <a:r>
              <a:rPr sz="1600" spc="85" dirty="0">
                <a:latin typeface="Cambria Math"/>
                <a:cs typeface="Cambria Math"/>
              </a:rPr>
              <a:t> </a:t>
            </a:r>
            <a:r>
              <a:rPr sz="1600" spc="-5" dirty="0">
                <a:latin typeface="Cambria Math"/>
                <a:cs typeface="Cambria Math"/>
              </a:rPr>
              <a:t>∈</a:t>
            </a:r>
            <a:r>
              <a:rPr sz="1600" spc="90" dirty="0">
                <a:latin typeface="Cambria Math"/>
                <a:cs typeface="Cambria Math"/>
              </a:rPr>
              <a:t> </a:t>
            </a:r>
            <a:r>
              <a:rPr sz="1600" spc="60" dirty="0">
                <a:latin typeface="Cambria Math"/>
                <a:cs typeface="Cambria Math"/>
              </a:rPr>
              <a:t>ℝ</a:t>
            </a:r>
            <a:r>
              <a:rPr sz="1725" spc="89" baseline="28985" dirty="0">
                <a:latin typeface="Cambria Math"/>
                <a:cs typeface="Cambria Math"/>
              </a:rPr>
              <a:t>𝑑</a:t>
            </a:r>
            <a:r>
              <a:rPr sz="1600" spc="60" dirty="0">
                <a:latin typeface="Calibri"/>
                <a:cs typeface="Calibri"/>
              </a:rPr>
              <a:t>)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y bias o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sesgo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(</a:t>
            </a:r>
            <a:r>
              <a:rPr sz="1600" spc="-5" dirty="0">
                <a:latin typeface="Cambria Math"/>
                <a:cs typeface="Cambria Math"/>
              </a:rPr>
              <a:t>𝑏</a:t>
            </a:r>
            <a:r>
              <a:rPr sz="1600" spc="125" dirty="0">
                <a:latin typeface="Cambria Math"/>
                <a:cs typeface="Cambria Math"/>
              </a:rPr>
              <a:t> </a:t>
            </a:r>
            <a:r>
              <a:rPr sz="1600" spc="-5" dirty="0">
                <a:latin typeface="Cambria Math"/>
                <a:cs typeface="Cambria Math"/>
              </a:rPr>
              <a:t>∈</a:t>
            </a:r>
            <a:r>
              <a:rPr sz="1600" spc="90" dirty="0">
                <a:latin typeface="Cambria Math"/>
                <a:cs typeface="Cambria Math"/>
              </a:rPr>
              <a:t> </a:t>
            </a:r>
            <a:r>
              <a:rPr sz="1600" spc="-5" dirty="0">
                <a:latin typeface="Cambria Math"/>
                <a:cs typeface="Cambria Math"/>
              </a:rPr>
              <a:t>ℝ</a:t>
            </a:r>
            <a:r>
              <a:rPr sz="1600" spc="-5" dirty="0">
                <a:latin typeface="Calibri"/>
                <a:cs typeface="Calibri"/>
              </a:rPr>
              <a:t>)</a:t>
            </a:r>
            <a:endParaRPr sz="1600">
              <a:latin typeface="Calibri"/>
              <a:cs typeface="Calibri"/>
            </a:endParaRPr>
          </a:p>
          <a:p>
            <a:pPr marL="439420" lvl="1" indent="-160655">
              <a:lnSpc>
                <a:spcPct val="100000"/>
              </a:lnSpc>
              <a:spcBef>
                <a:spcPts val="409"/>
              </a:spcBef>
              <a:buFont typeface="Calibri"/>
              <a:buChar char="-"/>
              <a:tabLst>
                <a:tab pos="440055" algn="l"/>
              </a:tabLst>
            </a:pPr>
            <a:r>
              <a:rPr sz="1800" i="1" spc="-10" dirty="0">
                <a:solidFill>
                  <a:srgbClr val="6F2F9F"/>
                </a:solidFill>
                <a:latin typeface="Calibri"/>
                <a:cs typeface="Calibri"/>
              </a:rPr>
              <a:t>Función</a:t>
            </a:r>
            <a:r>
              <a:rPr sz="1800" i="1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i="1" spc="-5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1800" i="1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i="1" spc="-5" dirty="0">
                <a:solidFill>
                  <a:srgbClr val="6F2F9F"/>
                </a:solidFill>
                <a:latin typeface="Calibri"/>
                <a:cs typeface="Calibri"/>
              </a:rPr>
              <a:t>activación</a:t>
            </a:r>
            <a:r>
              <a:rPr sz="1800" spc="-5" dirty="0">
                <a:latin typeface="Calibri"/>
                <a:cs typeface="Calibri"/>
              </a:rPr>
              <a:t>: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𝑔</a:t>
            </a:r>
            <a:r>
              <a:rPr sz="1800" spc="114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∈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ℝ</a:t>
            </a:r>
            <a:endParaRPr sz="1800">
              <a:latin typeface="Cambria Math"/>
              <a:cs typeface="Cambria Math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6F2F9F"/>
              </a:buClr>
              <a:buFont typeface="Calibri"/>
              <a:buChar char="-"/>
            </a:pPr>
            <a:endParaRPr sz="1850">
              <a:latin typeface="Cambria Math"/>
              <a:cs typeface="Cambria Math"/>
            </a:endParaRPr>
          </a:p>
          <a:p>
            <a:pPr marL="259715" indent="-196850">
              <a:lnSpc>
                <a:spcPct val="100000"/>
              </a:lnSpc>
              <a:buFont typeface="Arial MT"/>
              <a:buChar char="•"/>
              <a:tabLst>
                <a:tab pos="260350" algn="l"/>
              </a:tabLst>
            </a:pPr>
            <a:r>
              <a:rPr sz="1800" spc="-10" dirty="0">
                <a:latin typeface="Calibri"/>
                <a:cs typeface="Calibri"/>
              </a:rPr>
              <a:t>Entrada: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𝒙</a:t>
            </a:r>
            <a:r>
              <a:rPr sz="1800" spc="1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∈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spc="45" dirty="0">
                <a:latin typeface="Cambria Math"/>
                <a:cs typeface="Cambria Math"/>
              </a:rPr>
              <a:t>ℝ</a:t>
            </a:r>
            <a:r>
              <a:rPr sz="1950" spc="67" baseline="27777" dirty="0">
                <a:latin typeface="Cambria Math"/>
                <a:cs typeface="Cambria Math"/>
              </a:rPr>
              <a:t>𝑑</a:t>
            </a:r>
            <a:r>
              <a:rPr sz="1950" spc="307" baseline="27777" dirty="0">
                <a:latin typeface="Cambria Math"/>
                <a:cs typeface="Cambria Math"/>
              </a:rPr>
              <a:t> </a:t>
            </a:r>
            <a:r>
              <a:rPr sz="1600" spc="-5" dirty="0">
                <a:latin typeface="Calibri"/>
                <a:cs typeface="Calibri"/>
              </a:rPr>
              <a:t>(</a:t>
            </a:r>
            <a:r>
              <a:rPr sz="1600" i="1" spc="-5" dirty="0">
                <a:latin typeface="Times New Roman"/>
                <a:cs typeface="Times New Roman"/>
              </a:rPr>
              <a:t>d</a:t>
            </a:r>
            <a:r>
              <a:rPr sz="1600" i="1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Calibri"/>
                <a:cs typeface="Calibri"/>
              </a:rPr>
              <a:t>atributos)</a:t>
            </a:r>
            <a:endParaRPr sz="1600">
              <a:latin typeface="Calibri"/>
              <a:cs typeface="Calibri"/>
            </a:endParaRPr>
          </a:p>
          <a:p>
            <a:pPr marL="259715" indent="-196850">
              <a:lnSpc>
                <a:spcPct val="100000"/>
              </a:lnSpc>
              <a:spcBef>
                <a:spcPts val="420"/>
              </a:spcBef>
              <a:buFont typeface="Arial MT"/>
              <a:buChar char="•"/>
              <a:tabLst>
                <a:tab pos="260350" algn="l"/>
              </a:tabLst>
            </a:pPr>
            <a:r>
              <a:rPr sz="1800" spc="-5" dirty="0">
                <a:latin typeface="Calibri"/>
                <a:cs typeface="Calibri"/>
              </a:rPr>
              <a:t>Sal</a:t>
            </a:r>
            <a:r>
              <a:rPr sz="1800" spc="-10" dirty="0">
                <a:latin typeface="Calibri"/>
                <a:cs typeface="Calibri"/>
              </a:rPr>
              <a:t>i</a:t>
            </a:r>
            <a:r>
              <a:rPr sz="1800" spc="-5" dirty="0">
                <a:latin typeface="Calibri"/>
                <a:cs typeface="Calibri"/>
              </a:rPr>
              <a:t>da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770" dirty="0">
                <a:latin typeface="Cambria Math"/>
                <a:cs typeface="Cambria Math"/>
              </a:rPr>
              <a:t>𝑦</a:t>
            </a:r>
            <a:r>
              <a:rPr sz="1800" spc="-1070" dirty="0">
                <a:latin typeface="Cambria Math"/>
                <a:cs typeface="Cambria Math"/>
              </a:rPr>
              <a:t>ො</a:t>
            </a:r>
            <a:r>
              <a:rPr sz="1800" spc="18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∈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ℝ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770626" y="2985516"/>
            <a:ext cx="864235" cy="86995"/>
          </a:xfrm>
          <a:custGeom>
            <a:avLst/>
            <a:gdLst/>
            <a:ahLst/>
            <a:cxnLst/>
            <a:rect l="l" t="t" r="r" b="b"/>
            <a:pathLst>
              <a:path w="864234" h="86994">
                <a:moveTo>
                  <a:pt x="777240" y="0"/>
                </a:moveTo>
                <a:lnTo>
                  <a:pt x="777240" y="86868"/>
                </a:lnTo>
                <a:lnTo>
                  <a:pt x="835151" y="57912"/>
                </a:lnTo>
                <a:lnTo>
                  <a:pt x="791718" y="57912"/>
                </a:lnTo>
                <a:lnTo>
                  <a:pt x="791718" y="28956"/>
                </a:lnTo>
                <a:lnTo>
                  <a:pt x="835151" y="28956"/>
                </a:lnTo>
                <a:lnTo>
                  <a:pt x="777240" y="0"/>
                </a:lnTo>
                <a:close/>
              </a:path>
              <a:path w="864234" h="86994">
                <a:moveTo>
                  <a:pt x="777240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777240" y="57912"/>
                </a:lnTo>
                <a:lnTo>
                  <a:pt x="777240" y="28956"/>
                </a:lnTo>
                <a:close/>
              </a:path>
              <a:path w="864234" h="86994">
                <a:moveTo>
                  <a:pt x="835151" y="28956"/>
                </a:moveTo>
                <a:lnTo>
                  <a:pt x="791718" y="28956"/>
                </a:lnTo>
                <a:lnTo>
                  <a:pt x="791718" y="57912"/>
                </a:lnTo>
                <a:lnTo>
                  <a:pt x="835151" y="57912"/>
                </a:lnTo>
                <a:lnTo>
                  <a:pt x="864107" y="43434"/>
                </a:lnTo>
                <a:lnTo>
                  <a:pt x="835151" y="28956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6723888" y="2892551"/>
            <a:ext cx="996950" cy="373380"/>
            <a:chOff x="6723888" y="2892551"/>
            <a:chExt cx="996950" cy="373380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69608" y="2892551"/>
              <a:ext cx="896111" cy="25755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728460" y="3139439"/>
              <a:ext cx="988060" cy="121920"/>
            </a:xfrm>
            <a:custGeom>
              <a:avLst/>
              <a:gdLst/>
              <a:ahLst/>
              <a:cxnLst/>
              <a:rect l="l" t="t" r="r" b="b"/>
              <a:pathLst>
                <a:path w="988059" h="121920">
                  <a:moveTo>
                    <a:pt x="987551" y="0"/>
                  </a:moveTo>
                  <a:lnTo>
                    <a:pt x="982291" y="23723"/>
                  </a:lnTo>
                  <a:lnTo>
                    <a:pt x="967946" y="43100"/>
                  </a:lnTo>
                  <a:lnTo>
                    <a:pt x="946671" y="56167"/>
                  </a:lnTo>
                  <a:lnTo>
                    <a:pt x="920623" y="60960"/>
                  </a:lnTo>
                  <a:lnTo>
                    <a:pt x="560705" y="60960"/>
                  </a:lnTo>
                  <a:lnTo>
                    <a:pt x="534656" y="65752"/>
                  </a:lnTo>
                  <a:lnTo>
                    <a:pt x="513381" y="78819"/>
                  </a:lnTo>
                  <a:lnTo>
                    <a:pt x="499036" y="98196"/>
                  </a:lnTo>
                  <a:lnTo>
                    <a:pt x="493775" y="121920"/>
                  </a:lnTo>
                  <a:lnTo>
                    <a:pt x="488515" y="98196"/>
                  </a:lnTo>
                  <a:lnTo>
                    <a:pt x="474170" y="78819"/>
                  </a:lnTo>
                  <a:lnTo>
                    <a:pt x="452895" y="65752"/>
                  </a:lnTo>
                  <a:lnTo>
                    <a:pt x="426847" y="60960"/>
                  </a:lnTo>
                  <a:lnTo>
                    <a:pt x="66929" y="60960"/>
                  </a:lnTo>
                  <a:lnTo>
                    <a:pt x="40880" y="56167"/>
                  </a:lnTo>
                  <a:lnTo>
                    <a:pt x="19605" y="43100"/>
                  </a:lnTo>
                  <a:lnTo>
                    <a:pt x="5260" y="23723"/>
                  </a:lnTo>
                  <a:lnTo>
                    <a:pt x="0" y="0"/>
                  </a:lnTo>
                </a:path>
              </a:pathLst>
            </a:custGeom>
            <a:ln w="9143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50607" y="3325367"/>
            <a:ext cx="120394" cy="228600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  <p:pic>
        <p:nvPicPr>
          <p:cNvPr id="18" name="Picture 4">
            <a:extLst>
              <a:ext uri="{FF2B5EF4-FFF2-40B4-BE49-F238E27FC236}">
                <a16:creationId xmlns:a16="http://schemas.microsoft.com/office/drawing/2014/main" id="{7046048B-C218-2C49-C25B-6BC64EC8D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 descr="Ingeniería de Sistemas - UNCP">
            <a:extLst>
              <a:ext uri="{FF2B5EF4-FFF2-40B4-BE49-F238E27FC236}">
                <a16:creationId xmlns:a16="http://schemas.microsoft.com/office/drawing/2014/main" id="{C01C5B9A-4CAB-09A0-2803-F431DE15D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9617" y="260350"/>
            <a:ext cx="30664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Redes</a:t>
            </a:r>
            <a:r>
              <a:rPr spc="-60" dirty="0"/>
              <a:t> </a:t>
            </a:r>
            <a:r>
              <a:rPr spc="-5" dirty="0"/>
              <a:t>Neuronales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1583947"/>
            <a:ext cx="3390900" cy="138176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Función</a:t>
            </a:r>
            <a:r>
              <a:rPr sz="2000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sigmoidea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dirty="0">
                <a:latin typeface="Calibri"/>
                <a:cs typeface="Calibri"/>
              </a:rPr>
              <a:t>Mapea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[0,1]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(como</a:t>
            </a:r>
            <a:r>
              <a:rPr sz="14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probabilidad)</a:t>
            </a:r>
            <a:endParaRPr sz="14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usa</a:t>
            </a:r>
            <a:r>
              <a:rPr sz="1800" spc="-10" dirty="0">
                <a:latin typeface="Calibri"/>
                <a:cs typeface="Calibri"/>
              </a:rPr>
              <a:t> para </a:t>
            </a:r>
            <a:r>
              <a:rPr sz="1800" spc="-5" dirty="0">
                <a:latin typeface="Calibri"/>
                <a:cs typeface="Calibri"/>
              </a:rPr>
              <a:t>salida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toda </a:t>
            </a: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red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10" dirty="0">
                <a:latin typeface="Calibri"/>
                <a:cs typeface="Calibri"/>
              </a:rPr>
              <a:t>Problema:</a:t>
            </a:r>
            <a:r>
              <a:rPr sz="1800" spc="-5" dirty="0">
                <a:latin typeface="Calibri"/>
                <a:cs typeface="Calibri"/>
              </a:rPr>
              <a:t> “vanishing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gradients”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7794" y="3266696"/>
            <a:ext cx="3738245" cy="138176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Función</a:t>
            </a:r>
            <a:r>
              <a:rPr sz="2000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tangente</a:t>
            </a:r>
            <a:r>
              <a:rPr sz="2000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hiperbólica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dirty="0">
                <a:latin typeface="Calibri"/>
                <a:cs typeface="Calibri"/>
              </a:rPr>
              <a:t>Mapea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[-1,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1]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usa</a:t>
            </a:r>
            <a:r>
              <a:rPr sz="1800" spc="-10" dirty="0">
                <a:latin typeface="Calibri"/>
                <a:cs typeface="Calibri"/>
              </a:rPr>
              <a:t> para </a:t>
            </a:r>
            <a:r>
              <a:rPr sz="1800" spc="-5" dirty="0">
                <a:latin typeface="Calibri"/>
                <a:cs typeface="Calibri"/>
              </a:rPr>
              <a:t>capas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ocultas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spc="-10" dirty="0">
                <a:latin typeface="Calibri"/>
                <a:cs typeface="Calibri"/>
              </a:rPr>
              <a:t>Mejora </a:t>
            </a:r>
            <a:r>
              <a:rPr sz="1800" dirty="0">
                <a:latin typeface="Calibri"/>
                <a:cs typeface="Calibri"/>
              </a:rPr>
              <a:t>el </a:t>
            </a:r>
            <a:r>
              <a:rPr sz="1800" spc="-10" dirty="0">
                <a:latin typeface="Calibri"/>
                <a:cs typeface="Calibri"/>
              </a:rPr>
              <a:t>problema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sigmoidea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7794" y="4950052"/>
            <a:ext cx="3983354" cy="138176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Función</a:t>
            </a:r>
            <a:r>
              <a:rPr sz="2000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00AF50"/>
                </a:solidFill>
                <a:latin typeface="Calibri"/>
                <a:cs typeface="Calibri"/>
              </a:rPr>
              <a:t>ReLU</a:t>
            </a: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(Rectified</a:t>
            </a:r>
            <a:r>
              <a:rPr sz="1600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Linear Unit)</a:t>
            </a:r>
            <a:endParaRPr sz="16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usa</a:t>
            </a:r>
            <a:r>
              <a:rPr sz="1800" spc="-10" dirty="0">
                <a:latin typeface="Calibri"/>
                <a:cs typeface="Calibri"/>
              </a:rPr>
              <a:t> para </a:t>
            </a:r>
            <a:r>
              <a:rPr sz="1800" spc="-5" dirty="0">
                <a:latin typeface="Calibri"/>
                <a:cs typeface="Calibri"/>
              </a:rPr>
              <a:t>capas </a:t>
            </a:r>
            <a:r>
              <a:rPr sz="1800" spc="-10" dirty="0">
                <a:latin typeface="Calibri"/>
                <a:cs typeface="Calibri"/>
              </a:rPr>
              <a:t>ocultas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spc="-20" dirty="0">
                <a:latin typeface="Calibri"/>
                <a:cs typeface="Calibri"/>
              </a:rPr>
              <a:t>Ventaja: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facilidad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cálculo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spc="-10" dirty="0">
                <a:latin typeface="Calibri"/>
                <a:cs typeface="Calibri"/>
              </a:rPr>
              <a:t>Problema: genera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neuronas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“muertas”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40507" y="922782"/>
            <a:ext cx="3063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Funciones</a:t>
            </a:r>
            <a:r>
              <a:rPr sz="2400" b="1" spc="-4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4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Activación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7355" y="1680972"/>
            <a:ext cx="1575939" cy="1243584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4823246" y="3429000"/>
            <a:ext cx="3082290" cy="1362710"/>
            <a:chOff x="4823246" y="3429000"/>
            <a:chExt cx="3082290" cy="136271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28587" y="3429000"/>
              <a:ext cx="1676946" cy="136245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23246" y="4021590"/>
              <a:ext cx="1378623" cy="218472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5713" y="2100328"/>
            <a:ext cx="1422923" cy="45862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882255" y="2267204"/>
            <a:ext cx="8813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Si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g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moidea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96555" y="3815588"/>
            <a:ext cx="9448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7E7E7E"/>
                </a:solidFill>
                <a:latin typeface="Calibri"/>
                <a:cs typeface="Calibri"/>
              </a:rPr>
              <a:t>Tangente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hiperbólica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873752" y="5177028"/>
            <a:ext cx="2994660" cy="1275715"/>
            <a:chOff x="4873752" y="5177028"/>
            <a:chExt cx="2994660" cy="1275715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74892" y="5177028"/>
              <a:ext cx="1493519" cy="127558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73752" y="5431536"/>
              <a:ext cx="1569720" cy="531876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7996555" y="5653836"/>
            <a:ext cx="4438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35" dirty="0">
                <a:solidFill>
                  <a:srgbClr val="7E7E7E"/>
                </a:solidFill>
                <a:latin typeface="Calibri"/>
                <a:cs typeface="Calibri"/>
              </a:rPr>
              <a:t>R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e</a:t>
            </a:r>
            <a:r>
              <a:rPr sz="1600" spc="-45" dirty="0">
                <a:solidFill>
                  <a:srgbClr val="7E7E7E"/>
                </a:solidFill>
                <a:latin typeface="Calibri"/>
                <a:cs typeface="Calibri"/>
              </a:rPr>
              <a:t>L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U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99DF80AB-DD50-94A7-50A2-4DC8A13BB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 descr="Ingeniería de Sistemas - UNCP">
            <a:extLst>
              <a:ext uri="{FF2B5EF4-FFF2-40B4-BE49-F238E27FC236}">
                <a16:creationId xmlns:a16="http://schemas.microsoft.com/office/drawing/2014/main" id="{EFE039F7-1233-B962-EFFA-5472A0118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9617" y="260350"/>
            <a:ext cx="30664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Redes</a:t>
            </a:r>
            <a:r>
              <a:rPr spc="-60" dirty="0"/>
              <a:t> </a:t>
            </a:r>
            <a:r>
              <a:rPr spc="-5" dirty="0"/>
              <a:t>Neuronales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5666740" cy="2042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1493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Funciones</a:t>
            </a:r>
            <a:r>
              <a:rPr sz="2400" b="1" spc="-4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4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Activación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Función</a:t>
            </a:r>
            <a:r>
              <a:rPr sz="2000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Leaky</a:t>
            </a:r>
            <a:r>
              <a:rPr sz="2000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00AF50"/>
                </a:solidFill>
                <a:latin typeface="Calibri"/>
                <a:cs typeface="Calibri"/>
              </a:rPr>
              <a:t>ReLU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spc="-15" dirty="0">
                <a:latin typeface="Calibri"/>
                <a:cs typeface="Calibri"/>
              </a:rPr>
              <a:t>Variación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ReLU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dirty="0">
                <a:latin typeface="Calibri"/>
                <a:cs typeface="Calibri"/>
              </a:rPr>
              <a:t> añade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pequeña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pendiente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 </a:t>
            </a:r>
            <a:r>
              <a:rPr sz="1800" spc="-10" dirty="0">
                <a:latin typeface="Calibri"/>
                <a:cs typeface="Calibri"/>
              </a:rPr>
              <a:t>parte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negativa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spc="-20" dirty="0">
                <a:latin typeface="Calibri"/>
                <a:cs typeface="Calibri"/>
              </a:rPr>
              <a:t>Evita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neuronas</a:t>
            </a:r>
            <a:r>
              <a:rPr sz="1800" spc="-5" dirty="0">
                <a:latin typeface="Calibri"/>
                <a:cs typeface="Calibri"/>
              </a:rPr>
              <a:t> “muertas”</a:t>
            </a:r>
            <a:r>
              <a:rPr sz="1800" spc="-10" dirty="0">
                <a:latin typeface="Calibri"/>
                <a:cs typeface="Calibri"/>
              </a:rPr>
              <a:t> (cero)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7794" y="3924329"/>
            <a:ext cx="4776470" cy="105346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Función</a:t>
            </a:r>
            <a:r>
              <a:rPr sz="2000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00AF50"/>
                </a:solidFill>
                <a:latin typeface="Calibri"/>
                <a:cs typeface="Calibri"/>
              </a:rPr>
              <a:t>ELU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5"/>
              </a:spcBef>
              <a:buChar char="-"/>
              <a:tabLst>
                <a:tab pos="389255" algn="l"/>
              </a:tabLst>
            </a:pPr>
            <a:r>
              <a:rPr sz="1800" spc="-15" dirty="0">
                <a:latin typeface="Calibri"/>
                <a:cs typeface="Calibri"/>
              </a:rPr>
              <a:t>Facilita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diferenciabilidad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(función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más</a:t>
            </a:r>
            <a:r>
              <a:rPr sz="1800" spc="-10" dirty="0">
                <a:latin typeface="Calibri"/>
                <a:cs typeface="Calibri"/>
              </a:rPr>
              <a:t> suave)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10" dirty="0">
                <a:latin typeface="Calibri"/>
                <a:cs typeface="Calibri"/>
              </a:rPr>
              <a:t>Problema: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computacionalmente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costoso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7794" y="5999479"/>
            <a:ext cx="75596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Otras:</a:t>
            </a:r>
            <a:r>
              <a:rPr sz="2000" spc="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Softmax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(para</a:t>
            </a:r>
            <a:r>
              <a:rPr sz="1600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varias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clases)</a:t>
            </a:r>
            <a:r>
              <a:rPr sz="1800" spc="-5" dirty="0">
                <a:latin typeface="Calibri"/>
                <a:cs typeface="Calibri"/>
              </a:rPr>
              <a:t>,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Maxout</a:t>
            </a:r>
            <a:r>
              <a:rPr sz="2000" spc="-15" dirty="0">
                <a:latin typeface="Calibri"/>
                <a:cs typeface="Calibri"/>
              </a:rPr>
              <a:t>, </a:t>
            </a:r>
            <a:r>
              <a:rPr sz="2000" spc="-5" dirty="0">
                <a:latin typeface="Calibri"/>
                <a:cs typeface="Calibri"/>
              </a:rPr>
              <a:t>Softplus,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Swish,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GELU,</a:t>
            </a:r>
            <a:r>
              <a:rPr sz="2000" dirty="0">
                <a:latin typeface="Calibri"/>
                <a:cs typeface="Calibri"/>
              </a:rPr>
              <a:t> Mish,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1947" y="2090927"/>
            <a:ext cx="1722120" cy="142341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31399" y="3144011"/>
            <a:ext cx="3949223" cy="65160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70686" y="5108561"/>
            <a:ext cx="1713589" cy="64325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29755" y="4343879"/>
            <a:ext cx="1755648" cy="138128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985506" y="2881629"/>
            <a:ext cx="9575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Leaky</a:t>
            </a:r>
            <a:r>
              <a:rPr sz="1600" spc="-5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7E7E7E"/>
                </a:solidFill>
                <a:latin typeface="Calibri"/>
                <a:cs typeface="Calibri"/>
              </a:rPr>
              <a:t>ReLU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  <p:sp>
        <p:nvSpPr>
          <p:cNvPr id="11" name="object 11"/>
          <p:cNvSpPr txBox="1"/>
          <p:nvPr/>
        </p:nvSpPr>
        <p:spPr>
          <a:xfrm>
            <a:off x="8153781" y="5020183"/>
            <a:ext cx="3352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E</a:t>
            </a:r>
            <a:r>
              <a:rPr sz="1600" spc="-40" dirty="0">
                <a:solidFill>
                  <a:srgbClr val="7E7E7E"/>
                </a:solidFill>
                <a:latin typeface="Calibri"/>
                <a:cs typeface="Calibri"/>
              </a:rPr>
              <a:t>L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U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26E8FC35-B521-EF00-C564-A2BCC145A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Ingeniería de Sistemas - UNCP">
            <a:extLst>
              <a:ext uri="{FF2B5EF4-FFF2-40B4-BE49-F238E27FC236}">
                <a16:creationId xmlns:a16="http://schemas.microsoft.com/office/drawing/2014/main" id="{FEE56E80-18AF-EBE8-EF5C-1D2989DF6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9617" y="260350"/>
            <a:ext cx="30664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Redes</a:t>
            </a:r>
            <a:r>
              <a:rPr spc="-60" dirty="0"/>
              <a:t> </a:t>
            </a:r>
            <a:r>
              <a:rPr spc="-5" dirty="0"/>
              <a:t>Neuronales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7913370" cy="1184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algn="ctr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Redes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Neuronales</a:t>
            </a:r>
            <a:r>
              <a:rPr sz="2400" b="1" spc="-3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Simples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(pocas</a:t>
            </a:r>
            <a:r>
              <a:rPr sz="2400" b="1" spc="-2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capas)</a:t>
            </a:r>
            <a:endParaRPr sz="2400">
              <a:latin typeface="Calibri"/>
              <a:cs typeface="Calibri"/>
            </a:endParaRPr>
          </a:p>
          <a:p>
            <a:pPr marL="208915" marR="5080" indent="-196850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latin typeface="Calibri"/>
                <a:cs typeface="Calibri"/>
              </a:rPr>
              <a:t>Ejemplo: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neuronal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una</a:t>
            </a:r>
            <a:r>
              <a:rPr sz="2000" spc="-5" dirty="0">
                <a:latin typeface="Calibri"/>
                <a:cs typeface="Calibri"/>
              </a:rPr>
              <a:t> capa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oculta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una</a:t>
            </a:r>
            <a:r>
              <a:rPr sz="2000" spc="-5" dirty="0">
                <a:latin typeface="Calibri"/>
                <a:cs typeface="Calibri"/>
              </a:rPr>
              <a:t> capa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salida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Calibri"/>
                <a:cs typeface="Calibri"/>
              </a:rPr>
              <a:t>(el</a:t>
            </a:r>
            <a:r>
              <a:rPr sz="1800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corchete </a:t>
            </a:r>
            <a:r>
              <a:rPr sz="1800" spc="-39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indica</a:t>
            </a:r>
            <a:r>
              <a:rPr sz="1800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el 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número</a:t>
            </a:r>
            <a:r>
              <a:rPr sz="18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Calibri"/>
                <a:cs typeface="Calibri"/>
              </a:rPr>
              <a:t>capa)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7794" y="6129324"/>
            <a:ext cx="69805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dirty="0">
                <a:latin typeface="Calibri"/>
                <a:cs typeface="Calibri"/>
              </a:rPr>
              <a:t>En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general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puede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haber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más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 </a:t>
            </a:r>
            <a:r>
              <a:rPr sz="2000" dirty="0">
                <a:latin typeface="Calibri"/>
                <a:cs typeface="Calibri"/>
              </a:rPr>
              <a:t>1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salida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7E7E7E"/>
                </a:solidFill>
                <a:latin typeface="Calibri"/>
                <a:cs typeface="Calibri"/>
              </a:rPr>
              <a:t>(para</a:t>
            </a:r>
            <a:r>
              <a:rPr sz="1800" spc="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clasificar</a:t>
            </a:r>
            <a:r>
              <a:rPr sz="1800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varias</a:t>
            </a:r>
            <a:r>
              <a:rPr sz="1800" spc="-5" dirty="0">
                <a:solidFill>
                  <a:srgbClr val="7E7E7E"/>
                </a:solidFill>
                <a:latin typeface="Calibri"/>
                <a:cs typeface="Calibri"/>
              </a:rPr>
              <a:t> clases)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941320" y="2456433"/>
            <a:ext cx="3899535" cy="2894965"/>
            <a:chOff x="2941320" y="2456433"/>
            <a:chExt cx="3899535" cy="2894965"/>
          </a:xfrm>
        </p:grpSpPr>
        <p:sp>
          <p:nvSpPr>
            <p:cNvPr id="6" name="object 6"/>
            <p:cNvSpPr/>
            <p:nvPr/>
          </p:nvSpPr>
          <p:spPr>
            <a:xfrm>
              <a:off x="4463796" y="2974847"/>
              <a:ext cx="325120" cy="325120"/>
            </a:xfrm>
            <a:custGeom>
              <a:avLst/>
              <a:gdLst/>
              <a:ahLst/>
              <a:cxnLst/>
              <a:rect l="l" t="t" r="r" b="b"/>
              <a:pathLst>
                <a:path w="325120" h="325120">
                  <a:moveTo>
                    <a:pt x="162305" y="0"/>
                  </a:moveTo>
                  <a:lnTo>
                    <a:pt x="119150" y="5796"/>
                  </a:lnTo>
                  <a:lnTo>
                    <a:pt x="80376" y="22154"/>
                  </a:lnTo>
                  <a:lnTo>
                    <a:pt x="47529" y="47529"/>
                  </a:lnTo>
                  <a:lnTo>
                    <a:pt x="22154" y="80376"/>
                  </a:lnTo>
                  <a:lnTo>
                    <a:pt x="5796" y="119150"/>
                  </a:lnTo>
                  <a:lnTo>
                    <a:pt x="0" y="162305"/>
                  </a:lnTo>
                  <a:lnTo>
                    <a:pt x="5796" y="205461"/>
                  </a:lnTo>
                  <a:lnTo>
                    <a:pt x="22154" y="244235"/>
                  </a:lnTo>
                  <a:lnTo>
                    <a:pt x="47529" y="277082"/>
                  </a:lnTo>
                  <a:lnTo>
                    <a:pt x="80376" y="302457"/>
                  </a:lnTo>
                  <a:lnTo>
                    <a:pt x="119150" y="318815"/>
                  </a:lnTo>
                  <a:lnTo>
                    <a:pt x="162305" y="324612"/>
                  </a:lnTo>
                  <a:lnTo>
                    <a:pt x="205461" y="318815"/>
                  </a:lnTo>
                  <a:lnTo>
                    <a:pt x="244235" y="302457"/>
                  </a:lnTo>
                  <a:lnTo>
                    <a:pt x="277082" y="277082"/>
                  </a:lnTo>
                  <a:lnTo>
                    <a:pt x="302457" y="244235"/>
                  </a:lnTo>
                  <a:lnTo>
                    <a:pt x="318815" y="205461"/>
                  </a:lnTo>
                  <a:lnTo>
                    <a:pt x="324612" y="162305"/>
                  </a:lnTo>
                  <a:lnTo>
                    <a:pt x="318815" y="119150"/>
                  </a:lnTo>
                  <a:lnTo>
                    <a:pt x="302457" y="80376"/>
                  </a:lnTo>
                  <a:lnTo>
                    <a:pt x="277082" y="47529"/>
                  </a:lnTo>
                  <a:lnTo>
                    <a:pt x="244235" y="22154"/>
                  </a:lnTo>
                  <a:lnTo>
                    <a:pt x="205461" y="5796"/>
                  </a:lnTo>
                  <a:lnTo>
                    <a:pt x="162305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63796" y="2974847"/>
              <a:ext cx="325120" cy="325120"/>
            </a:xfrm>
            <a:custGeom>
              <a:avLst/>
              <a:gdLst/>
              <a:ahLst/>
              <a:cxnLst/>
              <a:rect l="l" t="t" r="r" b="b"/>
              <a:pathLst>
                <a:path w="325120" h="325120">
                  <a:moveTo>
                    <a:pt x="0" y="162305"/>
                  </a:moveTo>
                  <a:lnTo>
                    <a:pt x="5796" y="119150"/>
                  </a:lnTo>
                  <a:lnTo>
                    <a:pt x="22154" y="80376"/>
                  </a:lnTo>
                  <a:lnTo>
                    <a:pt x="47529" y="47529"/>
                  </a:lnTo>
                  <a:lnTo>
                    <a:pt x="80376" y="22154"/>
                  </a:lnTo>
                  <a:lnTo>
                    <a:pt x="119150" y="5796"/>
                  </a:lnTo>
                  <a:lnTo>
                    <a:pt x="162305" y="0"/>
                  </a:lnTo>
                  <a:lnTo>
                    <a:pt x="205461" y="5796"/>
                  </a:lnTo>
                  <a:lnTo>
                    <a:pt x="244235" y="22154"/>
                  </a:lnTo>
                  <a:lnTo>
                    <a:pt x="277082" y="47529"/>
                  </a:lnTo>
                  <a:lnTo>
                    <a:pt x="302457" y="80376"/>
                  </a:lnTo>
                  <a:lnTo>
                    <a:pt x="318815" y="119150"/>
                  </a:lnTo>
                  <a:lnTo>
                    <a:pt x="324612" y="162305"/>
                  </a:lnTo>
                  <a:lnTo>
                    <a:pt x="318815" y="205461"/>
                  </a:lnTo>
                  <a:lnTo>
                    <a:pt x="302457" y="244235"/>
                  </a:lnTo>
                  <a:lnTo>
                    <a:pt x="277082" y="277082"/>
                  </a:lnTo>
                  <a:lnTo>
                    <a:pt x="244235" y="302457"/>
                  </a:lnTo>
                  <a:lnTo>
                    <a:pt x="205461" y="318815"/>
                  </a:lnTo>
                  <a:lnTo>
                    <a:pt x="162305" y="324612"/>
                  </a:lnTo>
                  <a:lnTo>
                    <a:pt x="119150" y="318815"/>
                  </a:lnTo>
                  <a:lnTo>
                    <a:pt x="80376" y="302457"/>
                  </a:lnTo>
                  <a:lnTo>
                    <a:pt x="47529" y="277082"/>
                  </a:lnTo>
                  <a:lnTo>
                    <a:pt x="22154" y="244235"/>
                  </a:lnTo>
                  <a:lnTo>
                    <a:pt x="5796" y="205461"/>
                  </a:lnTo>
                  <a:lnTo>
                    <a:pt x="0" y="162305"/>
                  </a:lnTo>
                  <a:close/>
                </a:path>
              </a:pathLst>
            </a:custGeom>
            <a:ln w="12192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63796" y="2462783"/>
              <a:ext cx="325120" cy="325120"/>
            </a:xfrm>
            <a:custGeom>
              <a:avLst/>
              <a:gdLst/>
              <a:ahLst/>
              <a:cxnLst/>
              <a:rect l="l" t="t" r="r" b="b"/>
              <a:pathLst>
                <a:path w="325120" h="325119">
                  <a:moveTo>
                    <a:pt x="162305" y="0"/>
                  </a:moveTo>
                  <a:lnTo>
                    <a:pt x="119150" y="5796"/>
                  </a:lnTo>
                  <a:lnTo>
                    <a:pt x="80376" y="22154"/>
                  </a:lnTo>
                  <a:lnTo>
                    <a:pt x="47529" y="47529"/>
                  </a:lnTo>
                  <a:lnTo>
                    <a:pt x="22154" y="80376"/>
                  </a:lnTo>
                  <a:lnTo>
                    <a:pt x="5796" y="119150"/>
                  </a:lnTo>
                  <a:lnTo>
                    <a:pt x="0" y="162305"/>
                  </a:lnTo>
                  <a:lnTo>
                    <a:pt x="5796" y="205461"/>
                  </a:lnTo>
                  <a:lnTo>
                    <a:pt x="22154" y="244235"/>
                  </a:lnTo>
                  <a:lnTo>
                    <a:pt x="47529" y="277082"/>
                  </a:lnTo>
                  <a:lnTo>
                    <a:pt x="80376" y="302457"/>
                  </a:lnTo>
                  <a:lnTo>
                    <a:pt x="119150" y="318815"/>
                  </a:lnTo>
                  <a:lnTo>
                    <a:pt x="162305" y="324612"/>
                  </a:lnTo>
                  <a:lnTo>
                    <a:pt x="205461" y="318815"/>
                  </a:lnTo>
                  <a:lnTo>
                    <a:pt x="244235" y="302457"/>
                  </a:lnTo>
                  <a:lnTo>
                    <a:pt x="277082" y="277082"/>
                  </a:lnTo>
                  <a:lnTo>
                    <a:pt x="302457" y="244235"/>
                  </a:lnTo>
                  <a:lnTo>
                    <a:pt x="318815" y="205461"/>
                  </a:lnTo>
                  <a:lnTo>
                    <a:pt x="324612" y="162305"/>
                  </a:lnTo>
                  <a:lnTo>
                    <a:pt x="318815" y="119150"/>
                  </a:lnTo>
                  <a:lnTo>
                    <a:pt x="302457" y="80376"/>
                  </a:lnTo>
                  <a:lnTo>
                    <a:pt x="277082" y="47529"/>
                  </a:lnTo>
                  <a:lnTo>
                    <a:pt x="244235" y="22154"/>
                  </a:lnTo>
                  <a:lnTo>
                    <a:pt x="205461" y="5796"/>
                  </a:lnTo>
                  <a:lnTo>
                    <a:pt x="162305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63796" y="2462783"/>
              <a:ext cx="325120" cy="325120"/>
            </a:xfrm>
            <a:custGeom>
              <a:avLst/>
              <a:gdLst/>
              <a:ahLst/>
              <a:cxnLst/>
              <a:rect l="l" t="t" r="r" b="b"/>
              <a:pathLst>
                <a:path w="325120" h="325119">
                  <a:moveTo>
                    <a:pt x="0" y="162305"/>
                  </a:moveTo>
                  <a:lnTo>
                    <a:pt x="5796" y="119150"/>
                  </a:lnTo>
                  <a:lnTo>
                    <a:pt x="22154" y="80376"/>
                  </a:lnTo>
                  <a:lnTo>
                    <a:pt x="47529" y="47529"/>
                  </a:lnTo>
                  <a:lnTo>
                    <a:pt x="80376" y="22154"/>
                  </a:lnTo>
                  <a:lnTo>
                    <a:pt x="119150" y="5796"/>
                  </a:lnTo>
                  <a:lnTo>
                    <a:pt x="162305" y="0"/>
                  </a:lnTo>
                  <a:lnTo>
                    <a:pt x="205461" y="5796"/>
                  </a:lnTo>
                  <a:lnTo>
                    <a:pt x="244235" y="22154"/>
                  </a:lnTo>
                  <a:lnTo>
                    <a:pt x="277082" y="47529"/>
                  </a:lnTo>
                  <a:lnTo>
                    <a:pt x="302457" y="80376"/>
                  </a:lnTo>
                  <a:lnTo>
                    <a:pt x="318815" y="119150"/>
                  </a:lnTo>
                  <a:lnTo>
                    <a:pt x="324612" y="162305"/>
                  </a:lnTo>
                  <a:lnTo>
                    <a:pt x="318815" y="205461"/>
                  </a:lnTo>
                  <a:lnTo>
                    <a:pt x="302457" y="244235"/>
                  </a:lnTo>
                  <a:lnTo>
                    <a:pt x="277082" y="277082"/>
                  </a:lnTo>
                  <a:lnTo>
                    <a:pt x="244235" y="302457"/>
                  </a:lnTo>
                  <a:lnTo>
                    <a:pt x="205461" y="318815"/>
                  </a:lnTo>
                  <a:lnTo>
                    <a:pt x="162305" y="324612"/>
                  </a:lnTo>
                  <a:lnTo>
                    <a:pt x="119150" y="318815"/>
                  </a:lnTo>
                  <a:lnTo>
                    <a:pt x="80376" y="302457"/>
                  </a:lnTo>
                  <a:lnTo>
                    <a:pt x="47529" y="277082"/>
                  </a:lnTo>
                  <a:lnTo>
                    <a:pt x="22154" y="244235"/>
                  </a:lnTo>
                  <a:lnTo>
                    <a:pt x="5796" y="205461"/>
                  </a:lnTo>
                  <a:lnTo>
                    <a:pt x="0" y="162305"/>
                  </a:lnTo>
                  <a:close/>
                </a:path>
              </a:pathLst>
            </a:custGeom>
            <a:ln w="12192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49448" y="2622041"/>
              <a:ext cx="1515110" cy="683260"/>
            </a:xfrm>
            <a:custGeom>
              <a:avLst/>
              <a:gdLst/>
              <a:ahLst/>
              <a:cxnLst/>
              <a:rect l="l" t="t" r="r" b="b"/>
              <a:pathLst>
                <a:path w="1515110" h="683260">
                  <a:moveTo>
                    <a:pt x="1442567" y="29036"/>
                  </a:moveTo>
                  <a:lnTo>
                    <a:pt x="0" y="671703"/>
                  </a:lnTo>
                  <a:lnTo>
                    <a:pt x="5079" y="683260"/>
                  </a:lnTo>
                  <a:lnTo>
                    <a:pt x="1447702" y="40568"/>
                  </a:lnTo>
                  <a:lnTo>
                    <a:pt x="1442567" y="29036"/>
                  </a:lnTo>
                  <a:close/>
                </a:path>
                <a:path w="1515110" h="683260">
                  <a:moveTo>
                    <a:pt x="1498226" y="23875"/>
                  </a:moveTo>
                  <a:lnTo>
                    <a:pt x="1454150" y="23875"/>
                  </a:lnTo>
                  <a:lnTo>
                    <a:pt x="1459229" y="35433"/>
                  </a:lnTo>
                  <a:lnTo>
                    <a:pt x="1447702" y="40568"/>
                  </a:lnTo>
                  <a:lnTo>
                    <a:pt x="1460627" y="69596"/>
                  </a:lnTo>
                  <a:lnTo>
                    <a:pt x="1498226" y="23875"/>
                  </a:lnTo>
                  <a:close/>
                </a:path>
                <a:path w="1515110" h="683260">
                  <a:moveTo>
                    <a:pt x="1454150" y="23875"/>
                  </a:moveTo>
                  <a:lnTo>
                    <a:pt x="1442567" y="29036"/>
                  </a:lnTo>
                  <a:lnTo>
                    <a:pt x="1447702" y="40568"/>
                  </a:lnTo>
                  <a:lnTo>
                    <a:pt x="1459229" y="35433"/>
                  </a:lnTo>
                  <a:lnTo>
                    <a:pt x="1454150" y="23875"/>
                  </a:lnTo>
                  <a:close/>
                </a:path>
                <a:path w="1515110" h="683260">
                  <a:moveTo>
                    <a:pt x="1429639" y="0"/>
                  </a:moveTo>
                  <a:lnTo>
                    <a:pt x="1442567" y="29036"/>
                  </a:lnTo>
                  <a:lnTo>
                    <a:pt x="1454150" y="23875"/>
                  </a:lnTo>
                  <a:lnTo>
                    <a:pt x="1498226" y="23875"/>
                  </a:lnTo>
                  <a:lnTo>
                    <a:pt x="1514728" y="3810"/>
                  </a:lnTo>
                  <a:lnTo>
                    <a:pt x="1429639" y="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463796" y="3997451"/>
              <a:ext cx="325120" cy="325120"/>
            </a:xfrm>
            <a:custGeom>
              <a:avLst/>
              <a:gdLst/>
              <a:ahLst/>
              <a:cxnLst/>
              <a:rect l="l" t="t" r="r" b="b"/>
              <a:pathLst>
                <a:path w="325120" h="325120">
                  <a:moveTo>
                    <a:pt x="162305" y="0"/>
                  </a:moveTo>
                  <a:lnTo>
                    <a:pt x="119150" y="5796"/>
                  </a:lnTo>
                  <a:lnTo>
                    <a:pt x="80376" y="22154"/>
                  </a:lnTo>
                  <a:lnTo>
                    <a:pt x="47529" y="47529"/>
                  </a:lnTo>
                  <a:lnTo>
                    <a:pt x="22154" y="80376"/>
                  </a:lnTo>
                  <a:lnTo>
                    <a:pt x="5796" y="119150"/>
                  </a:lnTo>
                  <a:lnTo>
                    <a:pt x="0" y="162306"/>
                  </a:lnTo>
                  <a:lnTo>
                    <a:pt x="5796" y="205461"/>
                  </a:lnTo>
                  <a:lnTo>
                    <a:pt x="22154" y="244235"/>
                  </a:lnTo>
                  <a:lnTo>
                    <a:pt x="47529" y="277082"/>
                  </a:lnTo>
                  <a:lnTo>
                    <a:pt x="80376" y="302457"/>
                  </a:lnTo>
                  <a:lnTo>
                    <a:pt x="119150" y="318815"/>
                  </a:lnTo>
                  <a:lnTo>
                    <a:pt x="162305" y="324612"/>
                  </a:lnTo>
                  <a:lnTo>
                    <a:pt x="205461" y="318815"/>
                  </a:lnTo>
                  <a:lnTo>
                    <a:pt x="244235" y="302457"/>
                  </a:lnTo>
                  <a:lnTo>
                    <a:pt x="277082" y="277082"/>
                  </a:lnTo>
                  <a:lnTo>
                    <a:pt x="302457" y="244235"/>
                  </a:lnTo>
                  <a:lnTo>
                    <a:pt x="318815" y="205461"/>
                  </a:lnTo>
                  <a:lnTo>
                    <a:pt x="324612" y="162306"/>
                  </a:lnTo>
                  <a:lnTo>
                    <a:pt x="318815" y="119150"/>
                  </a:lnTo>
                  <a:lnTo>
                    <a:pt x="302457" y="80376"/>
                  </a:lnTo>
                  <a:lnTo>
                    <a:pt x="277082" y="47529"/>
                  </a:lnTo>
                  <a:lnTo>
                    <a:pt x="244235" y="22154"/>
                  </a:lnTo>
                  <a:lnTo>
                    <a:pt x="205461" y="5796"/>
                  </a:lnTo>
                  <a:lnTo>
                    <a:pt x="162305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63796" y="3997451"/>
              <a:ext cx="325120" cy="325120"/>
            </a:xfrm>
            <a:custGeom>
              <a:avLst/>
              <a:gdLst/>
              <a:ahLst/>
              <a:cxnLst/>
              <a:rect l="l" t="t" r="r" b="b"/>
              <a:pathLst>
                <a:path w="325120" h="325120">
                  <a:moveTo>
                    <a:pt x="0" y="162306"/>
                  </a:moveTo>
                  <a:lnTo>
                    <a:pt x="5796" y="119150"/>
                  </a:lnTo>
                  <a:lnTo>
                    <a:pt x="22154" y="80376"/>
                  </a:lnTo>
                  <a:lnTo>
                    <a:pt x="47529" y="47529"/>
                  </a:lnTo>
                  <a:lnTo>
                    <a:pt x="80376" y="22154"/>
                  </a:lnTo>
                  <a:lnTo>
                    <a:pt x="119150" y="5796"/>
                  </a:lnTo>
                  <a:lnTo>
                    <a:pt x="162305" y="0"/>
                  </a:lnTo>
                  <a:lnTo>
                    <a:pt x="205461" y="5796"/>
                  </a:lnTo>
                  <a:lnTo>
                    <a:pt x="244235" y="22154"/>
                  </a:lnTo>
                  <a:lnTo>
                    <a:pt x="277082" y="47529"/>
                  </a:lnTo>
                  <a:lnTo>
                    <a:pt x="302457" y="80376"/>
                  </a:lnTo>
                  <a:lnTo>
                    <a:pt x="318815" y="119150"/>
                  </a:lnTo>
                  <a:lnTo>
                    <a:pt x="324612" y="162306"/>
                  </a:lnTo>
                  <a:lnTo>
                    <a:pt x="318815" y="205461"/>
                  </a:lnTo>
                  <a:lnTo>
                    <a:pt x="302457" y="244235"/>
                  </a:lnTo>
                  <a:lnTo>
                    <a:pt x="277082" y="277082"/>
                  </a:lnTo>
                  <a:lnTo>
                    <a:pt x="244235" y="302457"/>
                  </a:lnTo>
                  <a:lnTo>
                    <a:pt x="205461" y="318815"/>
                  </a:lnTo>
                  <a:lnTo>
                    <a:pt x="162305" y="324612"/>
                  </a:lnTo>
                  <a:lnTo>
                    <a:pt x="119150" y="318815"/>
                  </a:lnTo>
                  <a:lnTo>
                    <a:pt x="80376" y="302457"/>
                  </a:lnTo>
                  <a:lnTo>
                    <a:pt x="47529" y="277082"/>
                  </a:lnTo>
                  <a:lnTo>
                    <a:pt x="22154" y="244235"/>
                  </a:lnTo>
                  <a:lnTo>
                    <a:pt x="5796" y="205461"/>
                  </a:lnTo>
                  <a:lnTo>
                    <a:pt x="0" y="162306"/>
                  </a:lnTo>
                  <a:close/>
                </a:path>
              </a:pathLst>
            </a:custGeom>
            <a:ln w="12192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63796" y="4509516"/>
              <a:ext cx="325120" cy="325120"/>
            </a:xfrm>
            <a:custGeom>
              <a:avLst/>
              <a:gdLst/>
              <a:ahLst/>
              <a:cxnLst/>
              <a:rect l="l" t="t" r="r" b="b"/>
              <a:pathLst>
                <a:path w="325120" h="325120">
                  <a:moveTo>
                    <a:pt x="162305" y="0"/>
                  </a:moveTo>
                  <a:lnTo>
                    <a:pt x="119150" y="5796"/>
                  </a:lnTo>
                  <a:lnTo>
                    <a:pt x="80376" y="22154"/>
                  </a:lnTo>
                  <a:lnTo>
                    <a:pt x="47529" y="47529"/>
                  </a:lnTo>
                  <a:lnTo>
                    <a:pt x="22154" y="80376"/>
                  </a:lnTo>
                  <a:lnTo>
                    <a:pt x="5796" y="119150"/>
                  </a:lnTo>
                  <a:lnTo>
                    <a:pt x="0" y="162305"/>
                  </a:lnTo>
                  <a:lnTo>
                    <a:pt x="5796" y="205461"/>
                  </a:lnTo>
                  <a:lnTo>
                    <a:pt x="22154" y="244235"/>
                  </a:lnTo>
                  <a:lnTo>
                    <a:pt x="47529" y="277082"/>
                  </a:lnTo>
                  <a:lnTo>
                    <a:pt x="80376" y="302457"/>
                  </a:lnTo>
                  <a:lnTo>
                    <a:pt x="119150" y="318815"/>
                  </a:lnTo>
                  <a:lnTo>
                    <a:pt x="162305" y="324611"/>
                  </a:lnTo>
                  <a:lnTo>
                    <a:pt x="205461" y="318815"/>
                  </a:lnTo>
                  <a:lnTo>
                    <a:pt x="244235" y="302457"/>
                  </a:lnTo>
                  <a:lnTo>
                    <a:pt x="277082" y="277082"/>
                  </a:lnTo>
                  <a:lnTo>
                    <a:pt x="302457" y="244235"/>
                  </a:lnTo>
                  <a:lnTo>
                    <a:pt x="318815" y="205461"/>
                  </a:lnTo>
                  <a:lnTo>
                    <a:pt x="324612" y="162305"/>
                  </a:lnTo>
                  <a:lnTo>
                    <a:pt x="318815" y="119150"/>
                  </a:lnTo>
                  <a:lnTo>
                    <a:pt x="302457" y="80376"/>
                  </a:lnTo>
                  <a:lnTo>
                    <a:pt x="277082" y="47529"/>
                  </a:lnTo>
                  <a:lnTo>
                    <a:pt x="244235" y="22154"/>
                  </a:lnTo>
                  <a:lnTo>
                    <a:pt x="205461" y="5796"/>
                  </a:lnTo>
                  <a:lnTo>
                    <a:pt x="162305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63796" y="4509516"/>
              <a:ext cx="325120" cy="325120"/>
            </a:xfrm>
            <a:custGeom>
              <a:avLst/>
              <a:gdLst/>
              <a:ahLst/>
              <a:cxnLst/>
              <a:rect l="l" t="t" r="r" b="b"/>
              <a:pathLst>
                <a:path w="325120" h="325120">
                  <a:moveTo>
                    <a:pt x="0" y="162305"/>
                  </a:moveTo>
                  <a:lnTo>
                    <a:pt x="5796" y="119150"/>
                  </a:lnTo>
                  <a:lnTo>
                    <a:pt x="22154" y="80376"/>
                  </a:lnTo>
                  <a:lnTo>
                    <a:pt x="47529" y="47529"/>
                  </a:lnTo>
                  <a:lnTo>
                    <a:pt x="80376" y="22154"/>
                  </a:lnTo>
                  <a:lnTo>
                    <a:pt x="119150" y="5796"/>
                  </a:lnTo>
                  <a:lnTo>
                    <a:pt x="162305" y="0"/>
                  </a:lnTo>
                  <a:lnTo>
                    <a:pt x="205461" y="5796"/>
                  </a:lnTo>
                  <a:lnTo>
                    <a:pt x="244235" y="22154"/>
                  </a:lnTo>
                  <a:lnTo>
                    <a:pt x="277082" y="47529"/>
                  </a:lnTo>
                  <a:lnTo>
                    <a:pt x="302457" y="80376"/>
                  </a:lnTo>
                  <a:lnTo>
                    <a:pt x="318815" y="119150"/>
                  </a:lnTo>
                  <a:lnTo>
                    <a:pt x="324612" y="162305"/>
                  </a:lnTo>
                  <a:lnTo>
                    <a:pt x="318815" y="205461"/>
                  </a:lnTo>
                  <a:lnTo>
                    <a:pt x="302457" y="244235"/>
                  </a:lnTo>
                  <a:lnTo>
                    <a:pt x="277082" y="277082"/>
                  </a:lnTo>
                  <a:lnTo>
                    <a:pt x="244235" y="302457"/>
                  </a:lnTo>
                  <a:lnTo>
                    <a:pt x="205461" y="318815"/>
                  </a:lnTo>
                  <a:lnTo>
                    <a:pt x="162305" y="324611"/>
                  </a:lnTo>
                  <a:lnTo>
                    <a:pt x="119150" y="318815"/>
                  </a:lnTo>
                  <a:lnTo>
                    <a:pt x="80376" y="302457"/>
                  </a:lnTo>
                  <a:lnTo>
                    <a:pt x="47529" y="277082"/>
                  </a:lnTo>
                  <a:lnTo>
                    <a:pt x="22154" y="244235"/>
                  </a:lnTo>
                  <a:lnTo>
                    <a:pt x="5796" y="205461"/>
                  </a:lnTo>
                  <a:lnTo>
                    <a:pt x="0" y="162305"/>
                  </a:lnTo>
                  <a:close/>
                </a:path>
              </a:pathLst>
            </a:custGeom>
            <a:ln w="12192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63796" y="3486911"/>
              <a:ext cx="325120" cy="323215"/>
            </a:xfrm>
            <a:custGeom>
              <a:avLst/>
              <a:gdLst/>
              <a:ahLst/>
              <a:cxnLst/>
              <a:rect l="l" t="t" r="r" b="b"/>
              <a:pathLst>
                <a:path w="325120" h="323214">
                  <a:moveTo>
                    <a:pt x="162305" y="0"/>
                  </a:moveTo>
                  <a:lnTo>
                    <a:pt x="119150" y="5766"/>
                  </a:lnTo>
                  <a:lnTo>
                    <a:pt x="80376" y="22041"/>
                  </a:lnTo>
                  <a:lnTo>
                    <a:pt x="47529" y="47291"/>
                  </a:lnTo>
                  <a:lnTo>
                    <a:pt x="22154" y="79981"/>
                  </a:lnTo>
                  <a:lnTo>
                    <a:pt x="5796" y="118577"/>
                  </a:lnTo>
                  <a:lnTo>
                    <a:pt x="0" y="161544"/>
                  </a:lnTo>
                  <a:lnTo>
                    <a:pt x="5796" y="204510"/>
                  </a:lnTo>
                  <a:lnTo>
                    <a:pt x="22154" y="243106"/>
                  </a:lnTo>
                  <a:lnTo>
                    <a:pt x="47529" y="275796"/>
                  </a:lnTo>
                  <a:lnTo>
                    <a:pt x="80376" y="301046"/>
                  </a:lnTo>
                  <a:lnTo>
                    <a:pt x="119150" y="317321"/>
                  </a:lnTo>
                  <a:lnTo>
                    <a:pt x="162305" y="323088"/>
                  </a:lnTo>
                  <a:lnTo>
                    <a:pt x="205461" y="317321"/>
                  </a:lnTo>
                  <a:lnTo>
                    <a:pt x="244235" y="301046"/>
                  </a:lnTo>
                  <a:lnTo>
                    <a:pt x="277082" y="275796"/>
                  </a:lnTo>
                  <a:lnTo>
                    <a:pt x="302457" y="243106"/>
                  </a:lnTo>
                  <a:lnTo>
                    <a:pt x="318815" y="204510"/>
                  </a:lnTo>
                  <a:lnTo>
                    <a:pt x="324612" y="161544"/>
                  </a:lnTo>
                  <a:lnTo>
                    <a:pt x="318815" y="118577"/>
                  </a:lnTo>
                  <a:lnTo>
                    <a:pt x="302457" y="79981"/>
                  </a:lnTo>
                  <a:lnTo>
                    <a:pt x="277082" y="47291"/>
                  </a:lnTo>
                  <a:lnTo>
                    <a:pt x="244235" y="22041"/>
                  </a:lnTo>
                  <a:lnTo>
                    <a:pt x="205461" y="5766"/>
                  </a:lnTo>
                  <a:lnTo>
                    <a:pt x="162305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63796" y="3486911"/>
              <a:ext cx="325120" cy="323215"/>
            </a:xfrm>
            <a:custGeom>
              <a:avLst/>
              <a:gdLst/>
              <a:ahLst/>
              <a:cxnLst/>
              <a:rect l="l" t="t" r="r" b="b"/>
              <a:pathLst>
                <a:path w="325120" h="323214">
                  <a:moveTo>
                    <a:pt x="0" y="161544"/>
                  </a:moveTo>
                  <a:lnTo>
                    <a:pt x="5796" y="118577"/>
                  </a:lnTo>
                  <a:lnTo>
                    <a:pt x="22154" y="79981"/>
                  </a:lnTo>
                  <a:lnTo>
                    <a:pt x="47529" y="47291"/>
                  </a:lnTo>
                  <a:lnTo>
                    <a:pt x="80376" y="22041"/>
                  </a:lnTo>
                  <a:lnTo>
                    <a:pt x="119150" y="5766"/>
                  </a:lnTo>
                  <a:lnTo>
                    <a:pt x="162305" y="0"/>
                  </a:lnTo>
                  <a:lnTo>
                    <a:pt x="205461" y="5766"/>
                  </a:lnTo>
                  <a:lnTo>
                    <a:pt x="244235" y="22041"/>
                  </a:lnTo>
                  <a:lnTo>
                    <a:pt x="277082" y="47291"/>
                  </a:lnTo>
                  <a:lnTo>
                    <a:pt x="302457" y="79981"/>
                  </a:lnTo>
                  <a:lnTo>
                    <a:pt x="318815" y="118577"/>
                  </a:lnTo>
                  <a:lnTo>
                    <a:pt x="324612" y="161544"/>
                  </a:lnTo>
                  <a:lnTo>
                    <a:pt x="318815" y="204510"/>
                  </a:lnTo>
                  <a:lnTo>
                    <a:pt x="302457" y="243106"/>
                  </a:lnTo>
                  <a:lnTo>
                    <a:pt x="277082" y="275796"/>
                  </a:lnTo>
                  <a:lnTo>
                    <a:pt x="244235" y="301046"/>
                  </a:lnTo>
                  <a:lnTo>
                    <a:pt x="205461" y="317321"/>
                  </a:lnTo>
                  <a:lnTo>
                    <a:pt x="162305" y="323088"/>
                  </a:lnTo>
                  <a:lnTo>
                    <a:pt x="119150" y="317321"/>
                  </a:lnTo>
                  <a:lnTo>
                    <a:pt x="80376" y="301046"/>
                  </a:lnTo>
                  <a:lnTo>
                    <a:pt x="47529" y="275796"/>
                  </a:lnTo>
                  <a:lnTo>
                    <a:pt x="22154" y="243106"/>
                  </a:lnTo>
                  <a:lnTo>
                    <a:pt x="5796" y="204510"/>
                  </a:lnTo>
                  <a:lnTo>
                    <a:pt x="0" y="161544"/>
                  </a:lnTo>
                  <a:close/>
                </a:path>
              </a:pathLst>
            </a:custGeom>
            <a:ln w="12191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950591" y="3106419"/>
              <a:ext cx="1514475" cy="1565910"/>
            </a:xfrm>
            <a:custGeom>
              <a:avLst/>
              <a:gdLst/>
              <a:ahLst/>
              <a:cxnLst/>
              <a:rect l="l" t="t" r="r" b="b"/>
              <a:pathLst>
                <a:path w="1514475" h="1565910">
                  <a:moveTo>
                    <a:pt x="1513967" y="29972"/>
                  </a:moveTo>
                  <a:lnTo>
                    <a:pt x="1434211" y="0"/>
                  </a:lnTo>
                  <a:lnTo>
                    <a:pt x="1437487" y="31559"/>
                  </a:lnTo>
                  <a:lnTo>
                    <a:pt x="5334" y="181229"/>
                  </a:lnTo>
                  <a:lnTo>
                    <a:pt x="5499" y="182892"/>
                  </a:lnTo>
                  <a:lnTo>
                    <a:pt x="2794" y="182245"/>
                  </a:lnTo>
                  <a:lnTo>
                    <a:pt x="0" y="194691"/>
                  </a:lnTo>
                  <a:lnTo>
                    <a:pt x="4457" y="195745"/>
                  </a:lnTo>
                  <a:lnTo>
                    <a:pt x="1453400" y="1518996"/>
                  </a:lnTo>
                  <a:lnTo>
                    <a:pt x="1432052" y="1542415"/>
                  </a:lnTo>
                  <a:lnTo>
                    <a:pt x="1513967" y="1565656"/>
                  </a:lnTo>
                  <a:lnTo>
                    <a:pt x="1499298" y="1527556"/>
                  </a:lnTo>
                  <a:lnTo>
                    <a:pt x="1483360" y="1486154"/>
                  </a:lnTo>
                  <a:lnTo>
                    <a:pt x="1461998" y="1509572"/>
                  </a:lnTo>
                  <a:lnTo>
                    <a:pt x="52908" y="222707"/>
                  </a:lnTo>
                  <a:lnTo>
                    <a:pt x="1444726" y="1021588"/>
                  </a:lnTo>
                  <a:lnTo>
                    <a:pt x="1428877" y="1049147"/>
                  </a:lnTo>
                  <a:lnTo>
                    <a:pt x="1513967" y="1054100"/>
                  </a:lnTo>
                  <a:lnTo>
                    <a:pt x="1496593" y="1027938"/>
                  </a:lnTo>
                  <a:lnTo>
                    <a:pt x="1466850" y="983107"/>
                  </a:lnTo>
                  <a:lnTo>
                    <a:pt x="1450987" y="1010691"/>
                  </a:lnTo>
                  <a:lnTo>
                    <a:pt x="49796" y="206349"/>
                  </a:lnTo>
                  <a:lnTo>
                    <a:pt x="1437919" y="531266"/>
                  </a:lnTo>
                  <a:lnTo>
                    <a:pt x="1430655" y="562229"/>
                  </a:lnTo>
                  <a:lnTo>
                    <a:pt x="1513586" y="542417"/>
                  </a:lnTo>
                  <a:lnTo>
                    <a:pt x="1503629" y="534162"/>
                  </a:lnTo>
                  <a:lnTo>
                    <a:pt x="1448054" y="488061"/>
                  </a:lnTo>
                  <a:lnTo>
                    <a:pt x="1440802" y="518960"/>
                  </a:lnTo>
                  <a:lnTo>
                    <a:pt x="38430" y="190614"/>
                  </a:lnTo>
                  <a:lnTo>
                    <a:pt x="1438795" y="44259"/>
                  </a:lnTo>
                  <a:lnTo>
                    <a:pt x="1442085" y="75819"/>
                  </a:lnTo>
                  <a:lnTo>
                    <a:pt x="1513560" y="30226"/>
                  </a:lnTo>
                  <a:lnTo>
                    <a:pt x="1513967" y="29972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63796" y="5021579"/>
              <a:ext cx="325120" cy="323215"/>
            </a:xfrm>
            <a:custGeom>
              <a:avLst/>
              <a:gdLst/>
              <a:ahLst/>
              <a:cxnLst/>
              <a:rect l="l" t="t" r="r" b="b"/>
              <a:pathLst>
                <a:path w="325120" h="323214">
                  <a:moveTo>
                    <a:pt x="162305" y="0"/>
                  </a:moveTo>
                  <a:lnTo>
                    <a:pt x="119150" y="5766"/>
                  </a:lnTo>
                  <a:lnTo>
                    <a:pt x="80376" y="22041"/>
                  </a:lnTo>
                  <a:lnTo>
                    <a:pt x="47529" y="47291"/>
                  </a:lnTo>
                  <a:lnTo>
                    <a:pt x="22154" y="79981"/>
                  </a:lnTo>
                  <a:lnTo>
                    <a:pt x="5796" y="118577"/>
                  </a:lnTo>
                  <a:lnTo>
                    <a:pt x="0" y="161544"/>
                  </a:lnTo>
                  <a:lnTo>
                    <a:pt x="5796" y="204510"/>
                  </a:lnTo>
                  <a:lnTo>
                    <a:pt x="22154" y="243106"/>
                  </a:lnTo>
                  <a:lnTo>
                    <a:pt x="47529" y="275796"/>
                  </a:lnTo>
                  <a:lnTo>
                    <a:pt x="80376" y="301046"/>
                  </a:lnTo>
                  <a:lnTo>
                    <a:pt x="119150" y="317321"/>
                  </a:lnTo>
                  <a:lnTo>
                    <a:pt x="162305" y="323088"/>
                  </a:lnTo>
                  <a:lnTo>
                    <a:pt x="205461" y="317321"/>
                  </a:lnTo>
                  <a:lnTo>
                    <a:pt x="244235" y="301046"/>
                  </a:lnTo>
                  <a:lnTo>
                    <a:pt x="277082" y="275796"/>
                  </a:lnTo>
                  <a:lnTo>
                    <a:pt x="302457" y="243106"/>
                  </a:lnTo>
                  <a:lnTo>
                    <a:pt x="318815" y="204510"/>
                  </a:lnTo>
                  <a:lnTo>
                    <a:pt x="324612" y="161544"/>
                  </a:lnTo>
                  <a:lnTo>
                    <a:pt x="318815" y="118577"/>
                  </a:lnTo>
                  <a:lnTo>
                    <a:pt x="302457" y="79981"/>
                  </a:lnTo>
                  <a:lnTo>
                    <a:pt x="277082" y="47291"/>
                  </a:lnTo>
                  <a:lnTo>
                    <a:pt x="244235" y="22041"/>
                  </a:lnTo>
                  <a:lnTo>
                    <a:pt x="205461" y="5766"/>
                  </a:lnTo>
                  <a:lnTo>
                    <a:pt x="162305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63796" y="5021579"/>
              <a:ext cx="325120" cy="323215"/>
            </a:xfrm>
            <a:custGeom>
              <a:avLst/>
              <a:gdLst/>
              <a:ahLst/>
              <a:cxnLst/>
              <a:rect l="l" t="t" r="r" b="b"/>
              <a:pathLst>
                <a:path w="325120" h="323214">
                  <a:moveTo>
                    <a:pt x="0" y="161544"/>
                  </a:moveTo>
                  <a:lnTo>
                    <a:pt x="5796" y="118577"/>
                  </a:lnTo>
                  <a:lnTo>
                    <a:pt x="22154" y="79981"/>
                  </a:lnTo>
                  <a:lnTo>
                    <a:pt x="47529" y="47291"/>
                  </a:lnTo>
                  <a:lnTo>
                    <a:pt x="80376" y="22041"/>
                  </a:lnTo>
                  <a:lnTo>
                    <a:pt x="119150" y="5766"/>
                  </a:lnTo>
                  <a:lnTo>
                    <a:pt x="162305" y="0"/>
                  </a:lnTo>
                  <a:lnTo>
                    <a:pt x="205461" y="5766"/>
                  </a:lnTo>
                  <a:lnTo>
                    <a:pt x="244235" y="22041"/>
                  </a:lnTo>
                  <a:lnTo>
                    <a:pt x="277082" y="47291"/>
                  </a:lnTo>
                  <a:lnTo>
                    <a:pt x="302457" y="79981"/>
                  </a:lnTo>
                  <a:lnTo>
                    <a:pt x="318815" y="118577"/>
                  </a:lnTo>
                  <a:lnTo>
                    <a:pt x="324612" y="161544"/>
                  </a:lnTo>
                  <a:lnTo>
                    <a:pt x="318815" y="204510"/>
                  </a:lnTo>
                  <a:lnTo>
                    <a:pt x="302457" y="243106"/>
                  </a:lnTo>
                  <a:lnTo>
                    <a:pt x="277082" y="275796"/>
                  </a:lnTo>
                  <a:lnTo>
                    <a:pt x="244235" y="301046"/>
                  </a:lnTo>
                  <a:lnTo>
                    <a:pt x="205461" y="317321"/>
                  </a:lnTo>
                  <a:lnTo>
                    <a:pt x="162305" y="323088"/>
                  </a:lnTo>
                  <a:lnTo>
                    <a:pt x="119150" y="317321"/>
                  </a:lnTo>
                  <a:lnTo>
                    <a:pt x="80376" y="301046"/>
                  </a:lnTo>
                  <a:lnTo>
                    <a:pt x="47529" y="275796"/>
                  </a:lnTo>
                  <a:lnTo>
                    <a:pt x="22154" y="243106"/>
                  </a:lnTo>
                  <a:lnTo>
                    <a:pt x="5796" y="204510"/>
                  </a:lnTo>
                  <a:lnTo>
                    <a:pt x="0" y="161544"/>
                  </a:lnTo>
                  <a:close/>
                </a:path>
              </a:pathLst>
            </a:custGeom>
            <a:ln w="12191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941320" y="2625851"/>
              <a:ext cx="1523365" cy="2576195"/>
            </a:xfrm>
            <a:custGeom>
              <a:avLst/>
              <a:gdLst/>
              <a:ahLst/>
              <a:cxnLst/>
              <a:rect l="l" t="t" r="r" b="b"/>
              <a:pathLst>
                <a:path w="1523364" h="2576195">
                  <a:moveTo>
                    <a:pt x="1523238" y="2557907"/>
                  </a:moveTo>
                  <a:lnTo>
                    <a:pt x="1513497" y="2512314"/>
                  </a:lnTo>
                  <a:lnTo>
                    <a:pt x="1505458" y="2474595"/>
                  </a:lnTo>
                  <a:lnTo>
                    <a:pt x="1493189" y="2484386"/>
                  </a:lnTo>
                  <a:lnTo>
                    <a:pt x="1490472" y="2475992"/>
                  </a:lnTo>
                  <a:lnTo>
                    <a:pt x="1476705" y="2489504"/>
                  </a:lnTo>
                  <a:lnTo>
                    <a:pt x="1465326" y="2475255"/>
                  </a:lnTo>
                  <a:lnTo>
                    <a:pt x="1465326" y="2495626"/>
                  </a:lnTo>
                  <a:lnTo>
                    <a:pt x="1458810" y="2488996"/>
                  </a:lnTo>
                  <a:lnTo>
                    <a:pt x="1458810" y="2507056"/>
                  </a:lnTo>
                  <a:lnTo>
                    <a:pt x="1456029" y="2509786"/>
                  </a:lnTo>
                  <a:lnTo>
                    <a:pt x="1447927" y="2502535"/>
                  </a:lnTo>
                  <a:lnTo>
                    <a:pt x="1442237" y="2523325"/>
                  </a:lnTo>
                  <a:lnTo>
                    <a:pt x="1436116" y="2529332"/>
                  </a:lnTo>
                  <a:lnTo>
                    <a:pt x="1440205" y="2530741"/>
                  </a:lnTo>
                  <a:lnTo>
                    <a:pt x="1439570" y="2533091"/>
                  </a:lnTo>
                  <a:lnTo>
                    <a:pt x="42748" y="2151481"/>
                  </a:lnTo>
                  <a:lnTo>
                    <a:pt x="1044498" y="2085441"/>
                  </a:lnTo>
                  <a:lnTo>
                    <a:pt x="1458810" y="2507056"/>
                  </a:lnTo>
                  <a:lnTo>
                    <a:pt x="1458810" y="2488996"/>
                  </a:lnTo>
                  <a:lnTo>
                    <a:pt x="1061186" y="2084336"/>
                  </a:lnTo>
                  <a:lnTo>
                    <a:pt x="1133182" y="2079586"/>
                  </a:lnTo>
                  <a:lnTo>
                    <a:pt x="1465326" y="2495626"/>
                  </a:lnTo>
                  <a:lnTo>
                    <a:pt x="1465326" y="2475255"/>
                  </a:lnTo>
                  <a:lnTo>
                    <a:pt x="1148626" y="2078570"/>
                  </a:lnTo>
                  <a:lnTo>
                    <a:pt x="1435773" y="2059635"/>
                  </a:lnTo>
                  <a:lnTo>
                    <a:pt x="1437894" y="2091309"/>
                  </a:lnTo>
                  <a:lnTo>
                    <a:pt x="1511427" y="2048256"/>
                  </a:lnTo>
                  <a:lnTo>
                    <a:pt x="1506283" y="2046097"/>
                  </a:lnTo>
                  <a:lnTo>
                    <a:pt x="1498714" y="2042922"/>
                  </a:lnTo>
                  <a:lnTo>
                    <a:pt x="1516761" y="2045335"/>
                  </a:lnTo>
                  <a:lnTo>
                    <a:pt x="1499730" y="2014982"/>
                  </a:lnTo>
                  <a:lnTo>
                    <a:pt x="1475105" y="1971040"/>
                  </a:lnTo>
                  <a:lnTo>
                    <a:pt x="1457248" y="1997329"/>
                  </a:lnTo>
                  <a:lnTo>
                    <a:pt x="1450098" y="1992477"/>
                  </a:lnTo>
                  <a:lnTo>
                    <a:pt x="1450098" y="2007844"/>
                  </a:lnTo>
                  <a:lnTo>
                    <a:pt x="1442351" y="2019249"/>
                  </a:lnTo>
                  <a:lnTo>
                    <a:pt x="1432814" y="2015236"/>
                  </a:lnTo>
                  <a:lnTo>
                    <a:pt x="1433906" y="2031682"/>
                  </a:lnTo>
                  <a:lnTo>
                    <a:pt x="1432306" y="2034032"/>
                  </a:lnTo>
                  <a:lnTo>
                    <a:pt x="1434071" y="2034273"/>
                  </a:lnTo>
                  <a:lnTo>
                    <a:pt x="1434922" y="2046935"/>
                  </a:lnTo>
                  <a:lnTo>
                    <a:pt x="1138948" y="2066455"/>
                  </a:lnTo>
                  <a:lnTo>
                    <a:pt x="1123505" y="2047113"/>
                  </a:lnTo>
                  <a:lnTo>
                    <a:pt x="1123505" y="2067471"/>
                  </a:lnTo>
                  <a:lnTo>
                    <a:pt x="1049426" y="2072360"/>
                  </a:lnTo>
                  <a:lnTo>
                    <a:pt x="1032725" y="2055368"/>
                  </a:lnTo>
                  <a:lnTo>
                    <a:pt x="1032725" y="2073465"/>
                  </a:lnTo>
                  <a:lnTo>
                    <a:pt x="46736" y="2138476"/>
                  </a:lnTo>
                  <a:lnTo>
                    <a:pt x="796937" y="1833511"/>
                  </a:lnTo>
                  <a:lnTo>
                    <a:pt x="1032725" y="2073465"/>
                  </a:lnTo>
                  <a:lnTo>
                    <a:pt x="1032725" y="2055368"/>
                  </a:lnTo>
                  <a:lnTo>
                    <a:pt x="809650" y="1828342"/>
                  </a:lnTo>
                  <a:lnTo>
                    <a:pt x="902474" y="1790611"/>
                  </a:lnTo>
                  <a:lnTo>
                    <a:pt x="1123505" y="2067471"/>
                  </a:lnTo>
                  <a:lnTo>
                    <a:pt x="1123505" y="2047113"/>
                  </a:lnTo>
                  <a:lnTo>
                    <a:pt x="914742" y="1785632"/>
                  </a:lnTo>
                  <a:lnTo>
                    <a:pt x="1045057" y="1732648"/>
                  </a:lnTo>
                  <a:lnTo>
                    <a:pt x="1450098" y="2007844"/>
                  </a:lnTo>
                  <a:lnTo>
                    <a:pt x="1450098" y="1992477"/>
                  </a:lnTo>
                  <a:lnTo>
                    <a:pt x="1059192" y="1726907"/>
                  </a:lnTo>
                  <a:lnTo>
                    <a:pt x="1443202" y="1570799"/>
                  </a:lnTo>
                  <a:lnTo>
                    <a:pt x="1455166" y="1600200"/>
                  </a:lnTo>
                  <a:lnTo>
                    <a:pt x="1495564" y="1554226"/>
                  </a:lnTo>
                  <a:lnTo>
                    <a:pt x="1511427" y="1536192"/>
                  </a:lnTo>
                  <a:lnTo>
                    <a:pt x="1503489" y="1535582"/>
                  </a:lnTo>
                  <a:lnTo>
                    <a:pt x="1516761" y="1533779"/>
                  </a:lnTo>
                  <a:lnTo>
                    <a:pt x="1502486" y="1519301"/>
                  </a:lnTo>
                  <a:lnTo>
                    <a:pt x="1456944" y="1473073"/>
                  </a:lnTo>
                  <a:lnTo>
                    <a:pt x="1446669" y="1503133"/>
                  </a:lnTo>
                  <a:lnTo>
                    <a:pt x="1442542" y="1501736"/>
                  </a:lnTo>
                  <a:lnTo>
                    <a:pt x="1442542" y="1515224"/>
                  </a:lnTo>
                  <a:lnTo>
                    <a:pt x="1437347" y="1530438"/>
                  </a:lnTo>
                  <a:lnTo>
                    <a:pt x="1426464" y="1529588"/>
                  </a:lnTo>
                  <a:lnTo>
                    <a:pt x="1432521" y="1544548"/>
                  </a:lnTo>
                  <a:lnTo>
                    <a:pt x="1432306" y="1545209"/>
                  </a:lnTo>
                  <a:lnTo>
                    <a:pt x="1432775" y="1545145"/>
                  </a:lnTo>
                  <a:lnTo>
                    <a:pt x="1438414" y="1559026"/>
                  </a:lnTo>
                  <a:lnTo>
                    <a:pt x="1046568" y="1718335"/>
                  </a:lnTo>
                  <a:lnTo>
                    <a:pt x="1032446" y="1708746"/>
                  </a:lnTo>
                  <a:lnTo>
                    <a:pt x="1032446" y="1724075"/>
                  </a:lnTo>
                  <a:lnTo>
                    <a:pt x="906487" y="1775294"/>
                  </a:lnTo>
                  <a:lnTo>
                    <a:pt x="894219" y="1759940"/>
                  </a:lnTo>
                  <a:lnTo>
                    <a:pt x="894219" y="1780273"/>
                  </a:lnTo>
                  <a:lnTo>
                    <a:pt x="800049" y="1818563"/>
                  </a:lnTo>
                  <a:lnTo>
                    <a:pt x="787323" y="1805622"/>
                  </a:lnTo>
                  <a:lnTo>
                    <a:pt x="787323" y="1823732"/>
                  </a:lnTo>
                  <a:lnTo>
                    <a:pt x="58191" y="2120176"/>
                  </a:lnTo>
                  <a:lnTo>
                    <a:pt x="646137" y="1680057"/>
                  </a:lnTo>
                  <a:lnTo>
                    <a:pt x="787323" y="1823732"/>
                  </a:lnTo>
                  <a:lnTo>
                    <a:pt x="787323" y="1805622"/>
                  </a:lnTo>
                  <a:lnTo>
                    <a:pt x="656399" y="1672374"/>
                  </a:lnTo>
                  <a:lnTo>
                    <a:pt x="751344" y="1601304"/>
                  </a:lnTo>
                  <a:lnTo>
                    <a:pt x="894219" y="1780273"/>
                  </a:lnTo>
                  <a:lnTo>
                    <a:pt x="894219" y="1759940"/>
                  </a:lnTo>
                  <a:lnTo>
                    <a:pt x="761504" y="1593697"/>
                  </a:lnTo>
                  <a:lnTo>
                    <a:pt x="799109" y="1565541"/>
                  </a:lnTo>
                  <a:lnTo>
                    <a:pt x="1032446" y="1724075"/>
                  </a:lnTo>
                  <a:lnTo>
                    <a:pt x="1032446" y="1708746"/>
                  </a:lnTo>
                  <a:lnTo>
                    <a:pt x="809840" y="1557515"/>
                  </a:lnTo>
                  <a:lnTo>
                    <a:pt x="1046695" y="1380210"/>
                  </a:lnTo>
                  <a:lnTo>
                    <a:pt x="1442542" y="1515224"/>
                  </a:lnTo>
                  <a:lnTo>
                    <a:pt x="1442542" y="1501736"/>
                  </a:lnTo>
                  <a:lnTo>
                    <a:pt x="1059040" y="1370965"/>
                  </a:lnTo>
                  <a:lnTo>
                    <a:pt x="1454543" y="1074902"/>
                  </a:lnTo>
                  <a:lnTo>
                    <a:pt x="1473581" y="1100328"/>
                  </a:lnTo>
                  <a:lnTo>
                    <a:pt x="1495171" y="1057148"/>
                  </a:lnTo>
                  <a:lnTo>
                    <a:pt x="1511261" y="1024966"/>
                  </a:lnTo>
                  <a:lnTo>
                    <a:pt x="1517015" y="1022096"/>
                  </a:lnTo>
                  <a:lnTo>
                    <a:pt x="1446936" y="986891"/>
                  </a:lnTo>
                  <a:lnTo>
                    <a:pt x="1446936" y="1064742"/>
                  </a:lnTo>
                  <a:lnTo>
                    <a:pt x="1044486" y="1365999"/>
                  </a:lnTo>
                  <a:lnTo>
                    <a:pt x="1032141" y="1361795"/>
                  </a:lnTo>
                  <a:lnTo>
                    <a:pt x="1032141" y="1375244"/>
                  </a:lnTo>
                  <a:lnTo>
                    <a:pt x="798741" y="1549971"/>
                  </a:lnTo>
                  <a:lnTo>
                    <a:pt x="788009" y="1542681"/>
                  </a:lnTo>
                  <a:lnTo>
                    <a:pt x="788009" y="1557997"/>
                  </a:lnTo>
                  <a:lnTo>
                    <a:pt x="753579" y="1583766"/>
                  </a:lnTo>
                  <a:lnTo>
                    <a:pt x="743419" y="1571040"/>
                  </a:lnTo>
                  <a:lnTo>
                    <a:pt x="743419" y="1591373"/>
                  </a:lnTo>
                  <a:lnTo>
                    <a:pt x="647420" y="1663230"/>
                  </a:lnTo>
                  <a:lnTo>
                    <a:pt x="637159" y="1652790"/>
                  </a:lnTo>
                  <a:lnTo>
                    <a:pt x="637159" y="1670913"/>
                  </a:lnTo>
                  <a:lnTo>
                    <a:pt x="69367" y="2095957"/>
                  </a:lnTo>
                  <a:lnTo>
                    <a:pt x="545045" y="1577174"/>
                  </a:lnTo>
                  <a:lnTo>
                    <a:pt x="637159" y="1670913"/>
                  </a:lnTo>
                  <a:lnTo>
                    <a:pt x="637159" y="1652790"/>
                  </a:lnTo>
                  <a:lnTo>
                    <a:pt x="553643" y="1567789"/>
                  </a:lnTo>
                  <a:lnTo>
                    <a:pt x="645033" y="1468120"/>
                  </a:lnTo>
                  <a:lnTo>
                    <a:pt x="743419" y="1591373"/>
                  </a:lnTo>
                  <a:lnTo>
                    <a:pt x="743419" y="1571040"/>
                  </a:lnTo>
                  <a:lnTo>
                    <a:pt x="667816" y="1476324"/>
                  </a:lnTo>
                  <a:lnTo>
                    <a:pt x="788009" y="1557997"/>
                  </a:lnTo>
                  <a:lnTo>
                    <a:pt x="788009" y="1542681"/>
                  </a:lnTo>
                  <a:lnTo>
                    <a:pt x="657796" y="1454213"/>
                  </a:lnTo>
                  <a:lnTo>
                    <a:pt x="802132" y="1296784"/>
                  </a:lnTo>
                  <a:lnTo>
                    <a:pt x="1032141" y="1375244"/>
                  </a:lnTo>
                  <a:lnTo>
                    <a:pt x="1032141" y="1361795"/>
                  </a:lnTo>
                  <a:lnTo>
                    <a:pt x="811504" y="1286560"/>
                  </a:lnTo>
                  <a:lnTo>
                    <a:pt x="1049286" y="1027239"/>
                  </a:lnTo>
                  <a:lnTo>
                    <a:pt x="1440865" y="1028293"/>
                  </a:lnTo>
                  <a:lnTo>
                    <a:pt x="1440840" y="1036904"/>
                  </a:lnTo>
                  <a:lnTo>
                    <a:pt x="1427861" y="1039241"/>
                  </a:lnTo>
                  <a:lnTo>
                    <a:pt x="1440815" y="1056576"/>
                  </a:lnTo>
                  <a:lnTo>
                    <a:pt x="1440815" y="1060069"/>
                  </a:lnTo>
                  <a:lnTo>
                    <a:pt x="1442720" y="1059116"/>
                  </a:lnTo>
                  <a:lnTo>
                    <a:pt x="1446936" y="1064742"/>
                  </a:lnTo>
                  <a:lnTo>
                    <a:pt x="1446936" y="986891"/>
                  </a:lnTo>
                  <a:lnTo>
                    <a:pt x="1440942" y="983869"/>
                  </a:lnTo>
                  <a:lnTo>
                    <a:pt x="1440878" y="1015593"/>
                  </a:lnTo>
                  <a:lnTo>
                    <a:pt x="1060907" y="1014564"/>
                  </a:lnTo>
                  <a:lnTo>
                    <a:pt x="1464881" y="573989"/>
                  </a:lnTo>
                  <a:lnTo>
                    <a:pt x="1488313" y="595503"/>
                  </a:lnTo>
                  <a:lnTo>
                    <a:pt x="1499539" y="556133"/>
                  </a:lnTo>
                  <a:lnTo>
                    <a:pt x="1510728" y="516902"/>
                  </a:lnTo>
                  <a:lnTo>
                    <a:pt x="1517015" y="510540"/>
                  </a:lnTo>
                  <a:lnTo>
                    <a:pt x="1455369" y="502094"/>
                  </a:lnTo>
                  <a:lnTo>
                    <a:pt x="1455369" y="565746"/>
                  </a:lnTo>
                  <a:lnTo>
                    <a:pt x="1043800" y="1014526"/>
                  </a:lnTo>
                  <a:lnTo>
                    <a:pt x="1032192" y="1014501"/>
                  </a:lnTo>
                  <a:lnTo>
                    <a:pt x="1032192" y="1027188"/>
                  </a:lnTo>
                  <a:lnTo>
                    <a:pt x="798423" y="1282090"/>
                  </a:lnTo>
                  <a:lnTo>
                    <a:pt x="789038" y="1278890"/>
                  </a:lnTo>
                  <a:lnTo>
                    <a:pt x="789038" y="1292326"/>
                  </a:lnTo>
                  <a:lnTo>
                    <a:pt x="647192" y="1446999"/>
                  </a:lnTo>
                  <a:lnTo>
                    <a:pt x="641121" y="1442872"/>
                  </a:lnTo>
                  <a:lnTo>
                    <a:pt x="637019" y="1437741"/>
                  </a:lnTo>
                  <a:lnTo>
                    <a:pt x="637019" y="1458087"/>
                  </a:lnTo>
                  <a:lnTo>
                    <a:pt x="544728" y="1558721"/>
                  </a:lnTo>
                  <a:lnTo>
                    <a:pt x="536130" y="1549971"/>
                  </a:lnTo>
                  <a:lnTo>
                    <a:pt x="536130" y="1568107"/>
                  </a:lnTo>
                  <a:lnTo>
                    <a:pt x="48958" y="2099335"/>
                  </a:lnTo>
                  <a:lnTo>
                    <a:pt x="469087" y="1499857"/>
                  </a:lnTo>
                  <a:lnTo>
                    <a:pt x="536130" y="1568107"/>
                  </a:lnTo>
                  <a:lnTo>
                    <a:pt x="536130" y="1549971"/>
                  </a:lnTo>
                  <a:lnTo>
                    <a:pt x="476504" y="1489265"/>
                  </a:lnTo>
                  <a:lnTo>
                    <a:pt x="544360" y="1392453"/>
                  </a:lnTo>
                  <a:lnTo>
                    <a:pt x="632358" y="1452232"/>
                  </a:lnTo>
                  <a:lnTo>
                    <a:pt x="637019" y="1458087"/>
                  </a:lnTo>
                  <a:lnTo>
                    <a:pt x="637019" y="1437741"/>
                  </a:lnTo>
                  <a:lnTo>
                    <a:pt x="605663" y="1398473"/>
                  </a:lnTo>
                  <a:lnTo>
                    <a:pt x="605663" y="1418793"/>
                  </a:lnTo>
                  <a:lnTo>
                    <a:pt x="551624" y="1382090"/>
                  </a:lnTo>
                  <a:lnTo>
                    <a:pt x="563181" y="1365592"/>
                  </a:lnTo>
                  <a:lnTo>
                    <a:pt x="605663" y="1418793"/>
                  </a:lnTo>
                  <a:lnTo>
                    <a:pt x="605663" y="1398473"/>
                  </a:lnTo>
                  <a:lnTo>
                    <a:pt x="570763" y="1354772"/>
                  </a:lnTo>
                  <a:lnTo>
                    <a:pt x="648208" y="1244269"/>
                  </a:lnTo>
                  <a:lnTo>
                    <a:pt x="789038" y="1292326"/>
                  </a:lnTo>
                  <a:lnTo>
                    <a:pt x="789038" y="1278890"/>
                  </a:lnTo>
                  <a:lnTo>
                    <a:pt x="655789" y="1233449"/>
                  </a:lnTo>
                  <a:lnTo>
                    <a:pt x="800798" y="1026553"/>
                  </a:lnTo>
                  <a:lnTo>
                    <a:pt x="1032192" y="1027188"/>
                  </a:lnTo>
                  <a:lnTo>
                    <a:pt x="1032192" y="1014501"/>
                  </a:lnTo>
                  <a:lnTo>
                    <a:pt x="809675" y="1013879"/>
                  </a:lnTo>
                  <a:lnTo>
                    <a:pt x="1045489" y="677405"/>
                  </a:lnTo>
                  <a:lnTo>
                    <a:pt x="1433855" y="545490"/>
                  </a:lnTo>
                  <a:lnTo>
                    <a:pt x="1455127" y="565048"/>
                  </a:lnTo>
                  <a:lnTo>
                    <a:pt x="1455369" y="565746"/>
                  </a:lnTo>
                  <a:lnTo>
                    <a:pt x="1455369" y="502094"/>
                  </a:lnTo>
                  <a:lnTo>
                    <a:pt x="1432687" y="498983"/>
                  </a:lnTo>
                  <a:lnTo>
                    <a:pt x="1442872" y="528980"/>
                  </a:lnTo>
                  <a:lnTo>
                    <a:pt x="1057846" y="659765"/>
                  </a:lnTo>
                  <a:lnTo>
                    <a:pt x="1471625" y="69354"/>
                  </a:lnTo>
                  <a:lnTo>
                    <a:pt x="1474978" y="74295"/>
                  </a:lnTo>
                  <a:lnTo>
                    <a:pt x="1477073" y="70573"/>
                  </a:lnTo>
                  <a:lnTo>
                    <a:pt x="1498854" y="85852"/>
                  </a:lnTo>
                  <a:lnTo>
                    <a:pt x="1504200" y="49911"/>
                  </a:lnTo>
                  <a:lnTo>
                    <a:pt x="1509801" y="12357"/>
                  </a:lnTo>
                  <a:lnTo>
                    <a:pt x="1516761" y="0"/>
                  </a:lnTo>
                  <a:lnTo>
                    <a:pt x="1462481" y="7188"/>
                  </a:lnTo>
                  <a:lnTo>
                    <a:pt x="1462481" y="60312"/>
                  </a:lnTo>
                  <a:lnTo>
                    <a:pt x="1037526" y="666661"/>
                  </a:lnTo>
                  <a:lnTo>
                    <a:pt x="1025169" y="670864"/>
                  </a:lnTo>
                  <a:lnTo>
                    <a:pt x="1025169" y="684314"/>
                  </a:lnTo>
                  <a:lnTo>
                    <a:pt x="794219" y="1013828"/>
                  </a:lnTo>
                  <a:lnTo>
                    <a:pt x="785342" y="1013815"/>
                  </a:lnTo>
                  <a:lnTo>
                    <a:pt x="785342" y="1026502"/>
                  </a:lnTo>
                  <a:lnTo>
                    <a:pt x="643293" y="1229182"/>
                  </a:lnTo>
                  <a:lnTo>
                    <a:pt x="635711" y="1226604"/>
                  </a:lnTo>
                  <a:lnTo>
                    <a:pt x="635711" y="1240015"/>
                  </a:lnTo>
                  <a:lnTo>
                    <a:pt x="562521" y="1344447"/>
                  </a:lnTo>
                  <a:lnTo>
                    <a:pt x="554939" y="1334960"/>
                  </a:lnTo>
                  <a:lnTo>
                    <a:pt x="554939" y="1355267"/>
                  </a:lnTo>
                  <a:lnTo>
                    <a:pt x="541134" y="1374965"/>
                  </a:lnTo>
                  <a:lnTo>
                    <a:pt x="533869" y="1370037"/>
                  </a:lnTo>
                  <a:lnTo>
                    <a:pt x="533869" y="1385328"/>
                  </a:lnTo>
                  <a:lnTo>
                    <a:pt x="467461" y="1480070"/>
                  </a:lnTo>
                  <a:lnTo>
                    <a:pt x="54025" y="1059281"/>
                  </a:lnTo>
                  <a:lnTo>
                    <a:pt x="533869" y="1385328"/>
                  </a:lnTo>
                  <a:lnTo>
                    <a:pt x="533869" y="1370037"/>
                  </a:lnTo>
                  <a:lnTo>
                    <a:pt x="46761" y="1039088"/>
                  </a:lnTo>
                  <a:lnTo>
                    <a:pt x="398259" y="1159002"/>
                  </a:lnTo>
                  <a:lnTo>
                    <a:pt x="554939" y="1355267"/>
                  </a:lnTo>
                  <a:lnTo>
                    <a:pt x="554939" y="1334960"/>
                  </a:lnTo>
                  <a:lnTo>
                    <a:pt x="420547" y="1166609"/>
                  </a:lnTo>
                  <a:lnTo>
                    <a:pt x="635711" y="1240015"/>
                  </a:lnTo>
                  <a:lnTo>
                    <a:pt x="635711" y="1226604"/>
                  </a:lnTo>
                  <a:lnTo>
                    <a:pt x="405879" y="1148219"/>
                  </a:lnTo>
                  <a:lnTo>
                    <a:pt x="383603" y="1120330"/>
                  </a:lnTo>
                  <a:lnTo>
                    <a:pt x="383603" y="1140625"/>
                  </a:lnTo>
                  <a:lnTo>
                    <a:pt x="42976" y="1024470"/>
                  </a:lnTo>
                  <a:lnTo>
                    <a:pt x="291414" y="1025156"/>
                  </a:lnTo>
                  <a:lnTo>
                    <a:pt x="383603" y="1140625"/>
                  </a:lnTo>
                  <a:lnTo>
                    <a:pt x="383603" y="1120330"/>
                  </a:lnTo>
                  <a:lnTo>
                    <a:pt x="307657" y="1025194"/>
                  </a:lnTo>
                  <a:lnTo>
                    <a:pt x="785342" y="1026502"/>
                  </a:lnTo>
                  <a:lnTo>
                    <a:pt x="785342" y="1013815"/>
                  </a:lnTo>
                  <a:lnTo>
                    <a:pt x="297497" y="1012469"/>
                  </a:lnTo>
                  <a:lnTo>
                    <a:pt x="281254" y="992124"/>
                  </a:lnTo>
                  <a:lnTo>
                    <a:pt x="281254" y="1012431"/>
                  </a:lnTo>
                  <a:lnTo>
                    <a:pt x="60883" y="1011834"/>
                  </a:lnTo>
                  <a:lnTo>
                    <a:pt x="233870" y="953071"/>
                  </a:lnTo>
                  <a:lnTo>
                    <a:pt x="281254" y="1012431"/>
                  </a:lnTo>
                  <a:lnTo>
                    <a:pt x="281254" y="992124"/>
                  </a:lnTo>
                  <a:lnTo>
                    <a:pt x="246621" y="948740"/>
                  </a:lnTo>
                  <a:lnTo>
                    <a:pt x="1025169" y="684314"/>
                  </a:lnTo>
                  <a:lnTo>
                    <a:pt x="1025169" y="670864"/>
                  </a:lnTo>
                  <a:lnTo>
                    <a:pt x="238175" y="938174"/>
                  </a:lnTo>
                  <a:lnTo>
                    <a:pt x="225425" y="922197"/>
                  </a:lnTo>
                  <a:lnTo>
                    <a:pt x="225425" y="942492"/>
                  </a:lnTo>
                  <a:lnTo>
                    <a:pt x="44538" y="1003935"/>
                  </a:lnTo>
                  <a:lnTo>
                    <a:pt x="193840" y="902906"/>
                  </a:lnTo>
                  <a:lnTo>
                    <a:pt x="225425" y="942492"/>
                  </a:lnTo>
                  <a:lnTo>
                    <a:pt x="225425" y="922197"/>
                  </a:lnTo>
                  <a:lnTo>
                    <a:pt x="204355" y="895794"/>
                  </a:lnTo>
                  <a:lnTo>
                    <a:pt x="1450987" y="52235"/>
                  </a:lnTo>
                  <a:lnTo>
                    <a:pt x="1462481" y="60312"/>
                  </a:lnTo>
                  <a:lnTo>
                    <a:pt x="1462481" y="7188"/>
                  </a:lnTo>
                  <a:lnTo>
                    <a:pt x="1432306" y="11176"/>
                  </a:lnTo>
                  <a:lnTo>
                    <a:pt x="1448689" y="35445"/>
                  </a:lnTo>
                  <a:lnTo>
                    <a:pt x="1436497" y="42037"/>
                  </a:lnTo>
                  <a:lnTo>
                    <a:pt x="1439862" y="44411"/>
                  </a:lnTo>
                  <a:lnTo>
                    <a:pt x="196405" y="885825"/>
                  </a:lnTo>
                  <a:lnTo>
                    <a:pt x="20193" y="665099"/>
                  </a:lnTo>
                  <a:lnTo>
                    <a:pt x="10287" y="672973"/>
                  </a:lnTo>
                  <a:lnTo>
                    <a:pt x="185877" y="892937"/>
                  </a:lnTo>
                  <a:lnTo>
                    <a:pt x="8750" y="1012799"/>
                  </a:lnTo>
                  <a:lnTo>
                    <a:pt x="6604" y="1012063"/>
                  </a:lnTo>
                  <a:lnTo>
                    <a:pt x="5626" y="1014907"/>
                  </a:lnTo>
                  <a:lnTo>
                    <a:pt x="1016" y="1018032"/>
                  </a:lnTo>
                  <a:lnTo>
                    <a:pt x="2413" y="1020127"/>
                  </a:lnTo>
                  <a:lnTo>
                    <a:pt x="0" y="1022477"/>
                  </a:lnTo>
                  <a:lnTo>
                    <a:pt x="460044" y="1490662"/>
                  </a:lnTo>
                  <a:lnTo>
                    <a:pt x="3937" y="2141474"/>
                  </a:lnTo>
                  <a:lnTo>
                    <a:pt x="8077" y="2144369"/>
                  </a:lnTo>
                  <a:lnTo>
                    <a:pt x="9105" y="2146871"/>
                  </a:lnTo>
                  <a:lnTo>
                    <a:pt x="9207" y="2148598"/>
                  </a:lnTo>
                  <a:lnTo>
                    <a:pt x="7493" y="2154936"/>
                  </a:lnTo>
                  <a:lnTo>
                    <a:pt x="1436192" y="2545423"/>
                  </a:lnTo>
                  <a:lnTo>
                    <a:pt x="1427861" y="2575941"/>
                  </a:lnTo>
                  <a:lnTo>
                    <a:pt x="1511427" y="2559304"/>
                  </a:lnTo>
                  <a:lnTo>
                    <a:pt x="1503934" y="2552623"/>
                  </a:lnTo>
                  <a:lnTo>
                    <a:pt x="1516761" y="2557018"/>
                  </a:lnTo>
                  <a:lnTo>
                    <a:pt x="1515948" y="2554541"/>
                  </a:lnTo>
                  <a:lnTo>
                    <a:pt x="1523238" y="2557907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903976" y="3698747"/>
              <a:ext cx="325120" cy="325120"/>
            </a:xfrm>
            <a:custGeom>
              <a:avLst/>
              <a:gdLst/>
              <a:ahLst/>
              <a:cxnLst/>
              <a:rect l="l" t="t" r="r" b="b"/>
              <a:pathLst>
                <a:path w="325120" h="325120">
                  <a:moveTo>
                    <a:pt x="162306" y="0"/>
                  </a:moveTo>
                  <a:lnTo>
                    <a:pt x="119150" y="5796"/>
                  </a:lnTo>
                  <a:lnTo>
                    <a:pt x="80376" y="22154"/>
                  </a:lnTo>
                  <a:lnTo>
                    <a:pt x="47529" y="47529"/>
                  </a:lnTo>
                  <a:lnTo>
                    <a:pt x="22154" y="80376"/>
                  </a:lnTo>
                  <a:lnTo>
                    <a:pt x="5796" y="119150"/>
                  </a:lnTo>
                  <a:lnTo>
                    <a:pt x="0" y="162306"/>
                  </a:lnTo>
                  <a:lnTo>
                    <a:pt x="5796" y="205461"/>
                  </a:lnTo>
                  <a:lnTo>
                    <a:pt x="22154" y="244235"/>
                  </a:lnTo>
                  <a:lnTo>
                    <a:pt x="47529" y="277082"/>
                  </a:lnTo>
                  <a:lnTo>
                    <a:pt x="80376" y="302457"/>
                  </a:lnTo>
                  <a:lnTo>
                    <a:pt x="119150" y="318815"/>
                  </a:lnTo>
                  <a:lnTo>
                    <a:pt x="162306" y="324612"/>
                  </a:lnTo>
                  <a:lnTo>
                    <a:pt x="205461" y="318815"/>
                  </a:lnTo>
                  <a:lnTo>
                    <a:pt x="244235" y="302457"/>
                  </a:lnTo>
                  <a:lnTo>
                    <a:pt x="277082" y="277082"/>
                  </a:lnTo>
                  <a:lnTo>
                    <a:pt x="302457" y="244235"/>
                  </a:lnTo>
                  <a:lnTo>
                    <a:pt x="318815" y="205461"/>
                  </a:lnTo>
                  <a:lnTo>
                    <a:pt x="324612" y="162306"/>
                  </a:lnTo>
                  <a:lnTo>
                    <a:pt x="318815" y="119150"/>
                  </a:lnTo>
                  <a:lnTo>
                    <a:pt x="302457" y="80376"/>
                  </a:lnTo>
                  <a:lnTo>
                    <a:pt x="277082" y="47529"/>
                  </a:lnTo>
                  <a:lnTo>
                    <a:pt x="244235" y="22154"/>
                  </a:lnTo>
                  <a:lnTo>
                    <a:pt x="205461" y="5796"/>
                  </a:lnTo>
                  <a:lnTo>
                    <a:pt x="162306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903976" y="3698747"/>
              <a:ext cx="325120" cy="325120"/>
            </a:xfrm>
            <a:custGeom>
              <a:avLst/>
              <a:gdLst/>
              <a:ahLst/>
              <a:cxnLst/>
              <a:rect l="l" t="t" r="r" b="b"/>
              <a:pathLst>
                <a:path w="325120" h="325120">
                  <a:moveTo>
                    <a:pt x="0" y="162306"/>
                  </a:moveTo>
                  <a:lnTo>
                    <a:pt x="5796" y="119150"/>
                  </a:lnTo>
                  <a:lnTo>
                    <a:pt x="22154" y="80376"/>
                  </a:lnTo>
                  <a:lnTo>
                    <a:pt x="47529" y="47529"/>
                  </a:lnTo>
                  <a:lnTo>
                    <a:pt x="80376" y="22154"/>
                  </a:lnTo>
                  <a:lnTo>
                    <a:pt x="119150" y="5796"/>
                  </a:lnTo>
                  <a:lnTo>
                    <a:pt x="162306" y="0"/>
                  </a:lnTo>
                  <a:lnTo>
                    <a:pt x="205461" y="5796"/>
                  </a:lnTo>
                  <a:lnTo>
                    <a:pt x="244235" y="22154"/>
                  </a:lnTo>
                  <a:lnTo>
                    <a:pt x="277082" y="47529"/>
                  </a:lnTo>
                  <a:lnTo>
                    <a:pt x="302457" y="80376"/>
                  </a:lnTo>
                  <a:lnTo>
                    <a:pt x="318815" y="119150"/>
                  </a:lnTo>
                  <a:lnTo>
                    <a:pt x="324612" y="162306"/>
                  </a:lnTo>
                  <a:lnTo>
                    <a:pt x="318815" y="205461"/>
                  </a:lnTo>
                  <a:lnTo>
                    <a:pt x="302457" y="244235"/>
                  </a:lnTo>
                  <a:lnTo>
                    <a:pt x="277082" y="277082"/>
                  </a:lnTo>
                  <a:lnTo>
                    <a:pt x="244235" y="302457"/>
                  </a:lnTo>
                  <a:lnTo>
                    <a:pt x="205461" y="318815"/>
                  </a:lnTo>
                  <a:lnTo>
                    <a:pt x="162306" y="324612"/>
                  </a:lnTo>
                  <a:lnTo>
                    <a:pt x="119150" y="318815"/>
                  </a:lnTo>
                  <a:lnTo>
                    <a:pt x="80376" y="302457"/>
                  </a:lnTo>
                  <a:lnTo>
                    <a:pt x="47529" y="277082"/>
                  </a:lnTo>
                  <a:lnTo>
                    <a:pt x="22154" y="244235"/>
                  </a:lnTo>
                  <a:lnTo>
                    <a:pt x="5796" y="205461"/>
                  </a:lnTo>
                  <a:lnTo>
                    <a:pt x="0" y="162306"/>
                  </a:lnTo>
                  <a:close/>
                </a:path>
              </a:pathLst>
            </a:custGeom>
            <a:ln w="12192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783582" y="2621533"/>
              <a:ext cx="2057400" cy="2565400"/>
            </a:xfrm>
            <a:custGeom>
              <a:avLst/>
              <a:gdLst/>
              <a:ahLst/>
              <a:cxnLst/>
              <a:rect l="l" t="t" r="r" b="b"/>
              <a:pathLst>
                <a:path w="2057400" h="2565400">
                  <a:moveTo>
                    <a:pt x="1120902" y="1238758"/>
                  </a:moveTo>
                  <a:lnTo>
                    <a:pt x="1120635" y="1238707"/>
                  </a:lnTo>
                  <a:lnTo>
                    <a:pt x="1120292" y="1238123"/>
                  </a:lnTo>
                  <a:lnTo>
                    <a:pt x="1109002" y="1197356"/>
                  </a:lnTo>
                  <a:lnTo>
                    <a:pt x="1098169" y="1158240"/>
                  </a:lnTo>
                  <a:lnTo>
                    <a:pt x="1081938" y="1172908"/>
                  </a:lnTo>
                  <a:lnTo>
                    <a:pt x="1077722" y="1165733"/>
                  </a:lnTo>
                  <a:lnTo>
                    <a:pt x="1071219" y="1175753"/>
                  </a:lnTo>
                  <a:lnTo>
                    <a:pt x="9525" y="0"/>
                  </a:lnTo>
                  <a:lnTo>
                    <a:pt x="127" y="8636"/>
                  </a:lnTo>
                  <a:lnTo>
                    <a:pt x="1064082" y="1186764"/>
                  </a:lnTo>
                  <a:lnTo>
                    <a:pt x="1060538" y="1192237"/>
                  </a:lnTo>
                  <a:lnTo>
                    <a:pt x="8255" y="509524"/>
                  </a:lnTo>
                  <a:lnTo>
                    <a:pt x="1397" y="520192"/>
                  </a:lnTo>
                  <a:lnTo>
                    <a:pt x="1050683" y="1201140"/>
                  </a:lnTo>
                  <a:lnTo>
                    <a:pt x="1041654" y="1209294"/>
                  </a:lnTo>
                  <a:lnTo>
                    <a:pt x="1047889" y="1211745"/>
                  </a:lnTo>
                  <a:lnTo>
                    <a:pt x="1043571" y="1218412"/>
                  </a:lnTo>
                  <a:lnTo>
                    <a:pt x="5969" y="1020699"/>
                  </a:lnTo>
                  <a:lnTo>
                    <a:pt x="3683" y="1033145"/>
                  </a:lnTo>
                  <a:lnTo>
                    <a:pt x="1039850" y="1230604"/>
                  </a:lnTo>
                  <a:lnTo>
                    <a:pt x="1042911" y="1242060"/>
                  </a:lnTo>
                  <a:lnTo>
                    <a:pt x="1041019" y="1252054"/>
                  </a:lnTo>
                  <a:lnTo>
                    <a:pt x="1036955" y="1252728"/>
                  </a:lnTo>
                  <a:lnTo>
                    <a:pt x="1038136" y="1254366"/>
                  </a:lnTo>
                  <a:lnTo>
                    <a:pt x="3175" y="1531620"/>
                  </a:lnTo>
                  <a:lnTo>
                    <a:pt x="6477" y="1543812"/>
                  </a:lnTo>
                  <a:lnTo>
                    <a:pt x="1046149" y="1265415"/>
                  </a:lnTo>
                  <a:lnTo>
                    <a:pt x="1049185" y="1269619"/>
                  </a:lnTo>
                  <a:lnTo>
                    <a:pt x="1042670" y="1272413"/>
                  </a:lnTo>
                  <a:lnTo>
                    <a:pt x="1052385" y="1280629"/>
                  </a:lnTo>
                  <a:lnTo>
                    <a:pt x="1143" y="2044192"/>
                  </a:lnTo>
                  <a:lnTo>
                    <a:pt x="8509" y="2054479"/>
                  </a:lnTo>
                  <a:lnTo>
                    <a:pt x="1056601" y="1293279"/>
                  </a:lnTo>
                  <a:lnTo>
                    <a:pt x="1057148" y="1295273"/>
                  </a:lnTo>
                  <a:lnTo>
                    <a:pt x="1063294" y="1289824"/>
                  </a:lnTo>
                  <a:lnTo>
                    <a:pt x="1064729" y="1291043"/>
                  </a:lnTo>
                  <a:lnTo>
                    <a:pt x="1066507" y="1293482"/>
                  </a:lnTo>
                  <a:lnTo>
                    <a:pt x="0" y="2556891"/>
                  </a:lnTo>
                  <a:lnTo>
                    <a:pt x="9652" y="2565019"/>
                  </a:lnTo>
                  <a:lnTo>
                    <a:pt x="1074140" y="1303997"/>
                  </a:lnTo>
                  <a:lnTo>
                    <a:pt x="1081659" y="1314323"/>
                  </a:lnTo>
                  <a:lnTo>
                    <a:pt x="1084910" y="1308049"/>
                  </a:lnTo>
                  <a:lnTo>
                    <a:pt x="1100963" y="1321562"/>
                  </a:lnTo>
                  <a:lnTo>
                    <a:pt x="1110195" y="1283208"/>
                  </a:lnTo>
                  <a:lnTo>
                    <a:pt x="1120559" y="1240167"/>
                  </a:lnTo>
                  <a:lnTo>
                    <a:pt x="1120902" y="1240282"/>
                  </a:lnTo>
                  <a:lnTo>
                    <a:pt x="1120724" y="1239697"/>
                  </a:lnTo>
                  <a:lnTo>
                    <a:pt x="1120902" y="1239647"/>
                  </a:lnTo>
                  <a:lnTo>
                    <a:pt x="1120711" y="1239532"/>
                  </a:lnTo>
                  <a:lnTo>
                    <a:pt x="1120800" y="1239139"/>
                  </a:lnTo>
                  <a:lnTo>
                    <a:pt x="1120902" y="1238758"/>
                  </a:lnTo>
                  <a:close/>
                </a:path>
                <a:path w="2057400" h="2565400">
                  <a:moveTo>
                    <a:pt x="2057019" y="1238758"/>
                  </a:moveTo>
                  <a:lnTo>
                    <a:pt x="2044319" y="1232408"/>
                  </a:lnTo>
                  <a:lnTo>
                    <a:pt x="1980819" y="1200658"/>
                  </a:lnTo>
                  <a:lnTo>
                    <a:pt x="1980819" y="1232408"/>
                  </a:lnTo>
                  <a:lnTo>
                    <a:pt x="1445006" y="1232408"/>
                  </a:lnTo>
                  <a:lnTo>
                    <a:pt x="1445006" y="1245108"/>
                  </a:lnTo>
                  <a:lnTo>
                    <a:pt x="1980819" y="1245108"/>
                  </a:lnTo>
                  <a:lnTo>
                    <a:pt x="1980819" y="1276858"/>
                  </a:lnTo>
                  <a:lnTo>
                    <a:pt x="2044319" y="1245108"/>
                  </a:lnTo>
                  <a:lnTo>
                    <a:pt x="2057019" y="1238758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390901" y="5135626"/>
            <a:ext cx="7575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“Capa”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de</a:t>
            </a:r>
            <a:endParaRPr sz="1400">
              <a:latin typeface="Calibri"/>
              <a:cs typeface="Calibri"/>
            </a:endParaRPr>
          </a:p>
          <a:p>
            <a:pPr marL="96520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entrada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45355" y="5443524"/>
            <a:ext cx="87185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Capa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oculta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854446" y="4245990"/>
            <a:ext cx="6064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" marR="5080" indent="-8255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Capa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de </a:t>
            </a:r>
            <a:r>
              <a:rPr sz="1400" spc="-3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salida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9543" y="3723745"/>
            <a:ext cx="116758" cy="222398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2643885" y="2955327"/>
            <a:ext cx="255270" cy="74676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75"/>
              </a:spcBef>
            </a:pP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baseline="-20833" dirty="0">
                <a:latin typeface="Times New Roman"/>
                <a:cs typeface="Times New Roman"/>
              </a:rPr>
              <a:t>1</a:t>
            </a:r>
            <a:endParaRPr sz="1800" baseline="-20833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680"/>
              </a:spcBef>
            </a:pP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baseline="-20833" dirty="0">
                <a:latin typeface="Times New Roman"/>
                <a:cs typeface="Times New Roman"/>
              </a:rPr>
              <a:t>2</a:t>
            </a:r>
            <a:endParaRPr sz="1800" baseline="-20833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643885" y="4569917"/>
            <a:ext cx="2552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i="1" baseline="-20833" dirty="0">
                <a:latin typeface="Times New Roman"/>
                <a:cs typeface="Times New Roman"/>
              </a:rPr>
              <a:t>d</a:t>
            </a:r>
            <a:endParaRPr sz="1800" baseline="-20833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482340" y="2432304"/>
            <a:ext cx="2133600" cy="737870"/>
            <a:chOff x="3482340" y="2432304"/>
            <a:chExt cx="2133600" cy="737870"/>
          </a:xfrm>
        </p:grpSpPr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82340" y="2432304"/>
              <a:ext cx="437388" cy="23164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77028" y="2682240"/>
              <a:ext cx="438912" cy="23164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78352" y="2679192"/>
              <a:ext cx="307848" cy="25603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83708" y="2904744"/>
              <a:ext cx="300227" cy="265175"/>
            </a:xfrm>
            <a:prstGeom prst="rect">
              <a:avLst/>
            </a:prstGeom>
          </p:spPr>
        </p:pic>
      </p:grp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  <p:pic>
        <p:nvPicPr>
          <p:cNvPr id="37" name="Picture 4">
            <a:extLst>
              <a:ext uri="{FF2B5EF4-FFF2-40B4-BE49-F238E27FC236}">
                <a16:creationId xmlns:a16="http://schemas.microsoft.com/office/drawing/2014/main" id="{F11F0B18-6093-3020-1999-F9C30EF55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6" descr="Ingeniería de Sistemas - UNCP">
            <a:extLst>
              <a:ext uri="{FF2B5EF4-FFF2-40B4-BE49-F238E27FC236}">
                <a16:creationId xmlns:a16="http://schemas.microsoft.com/office/drawing/2014/main" id="{3A8CCE57-5A80-4998-8DCF-77E9C9843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2061" y="922782"/>
            <a:ext cx="5991225" cy="1267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2035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Redes</a:t>
            </a:r>
            <a:r>
              <a:rPr sz="2400" b="1" spc="-3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Neuronales</a:t>
            </a:r>
            <a:r>
              <a:rPr sz="2400" b="1" spc="-5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Profundas</a:t>
            </a:r>
            <a:endParaRPr sz="24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spcBef>
                <a:spcPts val="1614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dirty="0">
                <a:latin typeface="Calibri"/>
                <a:cs typeface="Calibri"/>
              </a:rPr>
              <a:t>Llamadas: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Deep</a:t>
            </a:r>
            <a:r>
              <a:rPr sz="2000" i="1" spc="-5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Neural</a:t>
            </a:r>
            <a:r>
              <a:rPr sz="2000" i="1" spc="-30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Networks</a:t>
            </a:r>
            <a:r>
              <a:rPr sz="2000" i="1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sz="2000" i="1" dirty="0">
                <a:latin typeface="Calibri"/>
                <a:cs typeface="Calibri"/>
              </a:rPr>
              <a:t>DNN</a:t>
            </a:r>
            <a:r>
              <a:rPr sz="200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latin typeface="Calibri"/>
                <a:cs typeface="Calibri"/>
              </a:rPr>
              <a:t>Son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redes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neuronales</a:t>
            </a:r>
            <a:r>
              <a:rPr sz="2000" dirty="0">
                <a:latin typeface="Calibri"/>
                <a:cs typeface="Calibri"/>
              </a:rPr>
              <a:t> con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varias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capas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Calibri"/>
                <a:cs typeface="Calibri"/>
              </a:rPr>
              <a:t>(“fully</a:t>
            </a:r>
            <a:r>
              <a:rPr sz="1800" spc="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connected”)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396" y="5880303"/>
            <a:ext cx="7556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“Capa”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de</a:t>
            </a:r>
            <a:endParaRPr sz="1400">
              <a:latin typeface="Calibri"/>
              <a:cs typeface="Calibri"/>
            </a:endParaRPr>
          </a:p>
          <a:p>
            <a:pPr marL="96520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entrada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6710" y="5998870"/>
            <a:ext cx="51498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Capa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81825" y="5880303"/>
            <a:ext cx="6064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" marR="5080" indent="-8255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Capa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de </a:t>
            </a:r>
            <a:r>
              <a:rPr sz="1400" spc="-3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salida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93964" y="4031406"/>
            <a:ext cx="116204" cy="18931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586988" y="5988202"/>
            <a:ext cx="51498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Capa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83963" y="5988202"/>
            <a:ext cx="51498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Capa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07404" y="5988202"/>
            <a:ext cx="51498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Capa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41171" y="3154680"/>
            <a:ext cx="254635" cy="747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31600"/>
              </a:lnSpc>
              <a:spcBef>
                <a:spcPts val="100"/>
              </a:spcBef>
            </a:pPr>
            <a:r>
              <a:rPr sz="1800" i="1" spc="5" dirty="0">
                <a:latin typeface="Times New Roman"/>
                <a:cs typeface="Times New Roman"/>
              </a:rPr>
              <a:t>x</a:t>
            </a:r>
            <a:r>
              <a:rPr sz="1800" baseline="-20833" dirty="0">
                <a:latin typeface="Times New Roman"/>
                <a:cs typeface="Times New Roman"/>
              </a:rPr>
              <a:t>1  </a:t>
            </a:r>
            <a:r>
              <a:rPr sz="1800" i="1" spc="5" dirty="0">
                <a:latin typeface="Times New Roman"/>
                <a:cs typeface="Times New Roman"/>
              </a:rPr>
              <a:t>x</a:t>
            </a:r>
            <a:r>
              <a:rPr sz="1800" baseline="-20833" dirty="0">
                <a:latin typeface="Times New Roman"/>
                <a:cs typeface="Times New Roman"/>
              </a:rPr>
              <a:t>2</a:t>
            </a:r>
            <a:endParaRPr sz="1800" baseline="-20833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41171" y="4770882"/>
            <a:ext cx="254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i="1" baseline="-20833" dirty="0">
                <a:latin typeface="Times New Roman"/>
                <a:cs typeface="Times New Roman"/>
              </a:rPr>
              <a:t>d</a:t>
            </a:r>
            <a:endParaRPr sz="1800" baseline="-20833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604516" y="5661659"/>
            <a:ext cx="76200" cy="315595"/>
          </a:xfrm>
          <a:custGeom>
            <a:avLst/>
            <a:gdLst/>
            <a:ahLst/>
            <a:cxnLst/>
            <a:rect l="l" t="t" r="r" b="b"/>
            <a:pathLst>
              <a:path w="76200" h="315595">
                <a:moveTo>
                  <a:pt x="44450" y="264680"/>
                </a:moveTo>
                <a:lnTo>
                  <a:pt x="31750" y="264680"/>
                </a:lnTo>
                <a:lnTo>
                  <a:pt x="31750" y="315480"/>
                </a:lnTo>
                <a:lnTo>
                  <a:pt x="44450" y="315480"/>
                </a:lnTo>
                <a:lnTo>
                  <a:pt x="44450" y="264680"/>
                </a:lnTo>
                <a:close/>
              </a:path>
              <a:path w="76200" h="315595">
                <a:moveTo>
                  <a:pt x="44450" y="175780"/>
                </a:moveTo>
                <a:lnTo>
                  <a:pt x="31750" y="175780"/>
                </a:lnTo>
                <a:lnTo>
                  <a:pt x="31750" y="226580"/>
                </a:lnTo>
                <a:lnTo>
                  <a:pt x="44450" y="226580"/>
                </a:lnTo>
                <a:lnTo>
                  <a:pt x="44450" y="175780"/>
                </a:lnTo>
                <a:close/>
              </a:path>
              <a:path w="76200" h="315595">
                <a:moveTo>
                  <a:pt x="44450" y="86880"/>
                </a:moveTo>
                <a:lnTo>
                  <a:pt x="31750" y="86880"/>
                </a:lnTo>
                <a:lnTo>
                  <a:pt x="31750" y="137680"/>
                </a:lnTo>
                <a:lnTo>
                  <a:pt x="44450" y="137680"/>
                </a:lnTo>
                <a:lnTo>
                  <a:pt x="44450" y="86880"/>
                </a:lnTo>
                <a:close/>
              </a:path>
              <a:path w="76200" h="315595">
                <a:moveTo>
                  <a:pt x="38100" y="0"/>
                </a:moveTo>
                <a:lnTo>
                  <a:pt x="0" y="76199"/>
                </a:lnTo>
                <a:lnTo>
                  <a:pt x="76200" y="76199"/>
                </a:lnTo>
                <a:lnTo>
                  <a:pt x="38100" y="0"/>
                </a:lnTo>
                <a:close/>
              </a:path>
            </a:pathLst>
          </a:custGeom>
          <a:solidFill>
            <a:srgbClr val="97B85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1545589" y="2640949"/>
            <a:ext cx="6410325" cy="3338829"/>
            <a:chOff x="1545589" y="2640949"/>
            <a:chExt cx="6410325" cy="3338829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4123" y="5155691"/>
              <a:ext cx="381000" cy="20116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41318" y="3151534"/>
              <a:ext cx="405655" cy="40710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484881" y="3175253"/>
              <a:ext cx="323215" cy="325120"/>
            </a:xfrm>
            <a:custGeom>
              <a:avLst/>
              <a:gdLst/>
              <a:ahLst/>
              <a:cxnLst/>
              <a:rect l="l" t="t" r="r" b="b"/>
              <a:pathLst>
                <a:path w="323214" h="325120">
                  <a:moveTo>
                    <a:pt x="161544" y="0"/>
                  </a:moveTo>
                  <a:lnTo>
                    <a:pt x="118577" y="5796"/>
                  </a:lnTo>
                  <a:lnTo>
                    <a:pt x="79981" y="22154"/>
                  </a:lnTo>
                  <a:lnTo>
                    <a:pt x="47291" y="47529"/>
                  </a:lnTo>
                  <a:lnTo>
                    <a:pt x="22041" y="80376"/>
                  </a:lnTo>
                  <a:lnTo>
                    <a:pt x="5766" y="119150"/>
                  </a:lnTo>
                  <a:lnTo>
                    <a:pt x="0" y="162306"/>
                  </a:lnTo>
                  <a:lnTo>
                    <a:pt x="5766" y="205461"/>
                  </a:lnTo>
                  <a:lnTo>
                    <a:pt x="22041" y="244235"/>
                  </a:lnTo>
                  <a:lnTo>
                    <a:pt x="47291" y="277082"/>
                  </a:lnTo>
                  <a:lnTo>
                    <a:pt x="79981" y="302457"/>
                  </a:lnTo>
                  <a:lnTo>
                    <a:pt x="118577" y="318815"/>
                  </a:lnTo>
                  <a:lnTo>
                    <a:pt x="161544" y="324612"/>
                  </a:lnTo>
                  <a:lnTo>
                    <a:pt x="204510" y="318815"/>
                  </a:lnTo>
                  <a:lnTo>
                    <a:pt x="243106" y="302457"/>
                  </a:lnTo>
                  <a:lnTo>
                    <a:pt x="275796" y="277082"/>
                  </a:lnTo>
                  <a:lnTo>
                    <a:pt x="301046" y="244235"/>
                  </a:lnTo>
                  <a:lnTo>
                    <a:pt x="317321" y="205461"/>
                  </a:lnTo>
                  <a:lnTo>
                    <a:pt x="323088" y="162306"/>
                  </a:lnTo>
                  <a:lnTo>
                    <a:pt x="317321" y="119150"/>
                  </a:lnTo>
                  <a:lnTo>
                    <a:pt x="301046" y="80376"/>
                  </a:lnTo>
                  <a:lnTo>
                    <a:pt x="275796" y="47529"/>
                  </a:lnTo>
                  <a:lnTo>
                    <a:pt x="243106" y="22154"/>
                  </a:lnTo>
                  <a:lnTo>
                    <a:pt x="204510" y="579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84881" y="3175253"/>
              <a:ext cx="323215" cy="325120"/>
            </a:xfrm>
            <a:custGeom>
              <a:avLst/>
              <a:gdLst/>
              <a:ahLst/>
              <a:cxnLst/>
              <a:rect l="l" t="t" r="r" b="b"/>
              <a:pathLst>
                <a:path w="323214" h="325120">
                  <a:moveTo>
                    <a:pt x="0" y="162306"/>
                  </a:moveTo>
                  <a:lnTo>
                    <a:pt x="5766" y="119150"/>
                  </a:lnTo>
                  <a:lnTo>
                    <a:pt x="22041" y="80376"/>
                  </a:lnTo>
                  <a:lnTo>
                    <a:pt x="47291" y="47529"/>
                  </a:lnTo>
                  <a:lnTo>
                    <a:pt x="79981" y="22154"/>
                  </a:lnTo>
                  <a:lnTo>
                    <a:pt x="118577" y="5796"/>
                  </a:lnTo>
                  <a:lnTo>
                    <a:pt x="161544" y="0"/>
                  </a:lnTo>
                  <a:lnTo>
                    <a:pt x="204510" y="5796"/>
                  </a:lnTo>
                  <a:lnTo>
                    <a:pt x="243106" y="22154"/>
                  </a:lnTo>
                  <a:lnTo>
                    <a:pt x="275796" y="47529"/>
                  </a:lnTo>
                  <a:lnTo>
                    <a:pt x="301046" y="80376"/>
                  </a:lnTo>
                  <a:lnTo>
                    <a:pt x="317321" y="119150"/>
                  </a:lnTo>
                  <a:lnTo>
                    <a:pt x="323088" y="162306"/>
                  </a:lnTo>
                  <a:lnTo>
                    <a:pt x="317321" y="205461"/>
                  </a:lnTo>
                  <a:lnTo>
                    <a:pt x="301046" y="244235"/>
                  </a:lnTo>
                  <a:lnTo>
                    <a:pt x="275796" y="277082"/>
                  </a:lnTo>
                  <a:lnTo>
                    <a:pt x="243106" y="302457"/>
                  </a:lnTo>
                  <a:lnTo>
                    <a:pt x="204510" y="318815"/>
                  </a:lnTo>
                  <a:lnTo>
                    <a:pt x="161544" y="324612"/>
                  </a:lnTo>
                  <a:lnTo>
                    <a:pt x="118577" y="318815"/>
                  </a:lnTo>
                  <a:lnTo>
                    <a:pt x="79981" y="302457"/>
                  </a:lnTo>
                  <a:lnTo>
                    <a:pt x="47291" y="277082"/>
                  </a:lnTo>
                  <a:lnTo>
                    <a:pt x="22041" y="244235"/>
                  </a:lnTo>
                  <a:lnTo>
                    <a:pt x="5766" y="205461"/>
                  </a:lnTo>
                  <a:lnTo>
                    <a:pt x="0" y="162306"/>
                  </a:lnTo>
                  <a:close/>
                </a:path>
              </a:pathLst>
            </a:custGeom>
            <a:ln w="19811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41318" y="2640949"/>
              <a:ext cx="405655" cy="40565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484881" y="2664713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161544" y="0"/>
                  </a:moveTo>
                  <a:lnTo>
                    <a:pt x="118577" y="5766"/>
                  </a:lnTo>
                  <a:lnTo>
                    <a:pt x="79981" y="22041"/>
                  </a:lnTo>
                  <a:lnTo>
                    <a:pt x="47291" y="47291"/>
                  </a:lnTo>
                  <a:lnTo>
                    <a:pt x="22041" y="79981"/>
                  </a:lnTo>
                  <a:lnTo>
                    <a:pt x="5766" y="118577"/>
                  </a:lnTo>
                  <a:lnTo>
                    <a:pt x="0" y="161544"/>
                  </a:lnTo>
                  <a:lnTo>
                    <a:pt x="5766" y="204510"/>
                  </a:lnTo>
                  <a:lnTo>
                    <a:pt x="22041" y="243106"/>
                  </a:lnTo>
                  <a:lnTo>
                    <a:pt x="47291" y="275796"/>
                  </a:lnTo>
                  <a:lnTo>
                    <a:pt x="79981" y="301046"/>
                  </a:lnTo>
                  <a:lnTo>
                    <a:pt x="118577" y="317321"/>
                  </a:lnTo>
                  <a:lnTo>
                    <a:pt x="161544" y="323088"/>
                  </a:lnTo>
                  <a:lnTo>
                    <a:pt x="204510" y="317321"/>
                  </a:lnTo>
                  <a:lnTo>
                    <a:pt x="243106" y="301046"/>
                  </a:lnTo>
                  <a:lnTo>
                    <a:pt x="275796" y="275796"/>
                  </a:lnTo>
                  <a:lnTo>
                    <a:pt x="301046" y="243106"/>
                  </a:lnTo>
                  <a:lnTo>
                    <a:pt x="317321" y="204510"/>
                  </a:lnTo>
                  <a:lnTo>
                    <a:pt x="323088" y="161544"/>
                  </a:lnTo>
                  <a:lnTo>
                    <a:pt x="317321" y="118577"/>
                  </a:lnTo>
                  <a:lnTo>
                    <a:pt x="301046" y="79981"/>
                  </a:lnTo>
                  <a:lnTo>
                    <a:pt x="275796" y="47291"/>
                  </a:lnTo>
                  <a:lnTo>
                    <a:pt x="243106" y="22041"/>
                  </a:lnTo>
                  <a:lnTo>
                    <a:pt x="204510" y="576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484881" y="2664713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0" y="161544"/>
                  </a:moveTo>
                  <a:lnTo>
                    <a:pt x="5766" y="118577"/>
                  </a:lnTo>
                  <a:lnTo>
                    <a:pt x="22041" y="79981"/>
                  </a:lnTo>
                  <a:lnTo>
                    <a:pt x="47291" y="47291"/>
                  </a:lnTo>
                  <a:lnTo>
                    <a:pt x="79981" y="22041"/>
                  </a:lnTo>
                  <a:lnTo>
                    <a:pt x="118577" y="5766"/>
                  </a:lnTo>
                  <a:lnTo>
                    <a:pt x="161544" y="0"/>
                  </a:lnTo>
                  <a:lnTo>
                    <a:pt x="204510" y="5766"/>
                  </a:lnTo>
                  <a:lnTo>
                    <a:pt x="243106" y="22041"/>
                  </a:lnTo>
                  <a:lnTo>
                    <a:pt x="275796" y="47291"/>
                  </a:lnTo>
                  <a:lnTo>
                    <a:pt x="301046" y="79981"/>
                  </a:lnTo>
                  <a:lnTo>
                    <a:pt x="317321" y="118577"/>
                  </a:lnTo>
                  <a:lnTo>
                    <a:pt x="323088" y="161544"/>
                  </a:lnTo>
                  <a:lnTo>
                    <a:pt x="317321" y="204510"/>
                  </a:lnTo>
                  <a:lnTo>
                    <a:pt x="301046" y="243106"/>
                  </a:lnTo>
                  <a:lnTo>
                    <a:pt x="275796" y="275796"/>
                  </a:lnTo>
                  <a:lnTo>
                    <a:pt x="243106" y="301046"/>
                  </a:lnTo>
                  <a:lnTo>
                    <a:pt x="204510" y="317321"/>
                  </a:lnTo>
                  <a:lnTo>
                    <a:pt x="161544" y="323088"/>
                  </a:lnTo>
                  <a:lnTo>
                    <a:pt x="118577" y="317321"/>
                  </a:lnTo>
                  <a:lnTo>
                    <a:pt x="79981" y="301046"/>
                  </a:lnTo>
                  <a:lnTo>
                    <a:pt x="47291" y="275796"/>
                  </a:lnTo>
                  <a:lnTo>
                    <a:pt x="22041" y="243106"/>
                  </a:lnTo>
                  <a:lnTo>
                    <a:pt x="5766" y="204510"/>
                  </a:lnTo>
                  <a:lnTo>
                    <a:pt x="0" y="161544"/>
                  </a:lnTo>
                  <a:close/>
                </a:path>
              </a:pathLst>
            </a:custGeom>
            <a:ln w="19812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48129" y="2825495"/>
              <a:ext cx="935355" cy="580390"/>
            </a:xfrm>
            <a:custGeom>
              <a:avLst/>
              <a:gdLst/>
              <a:ahLst/>
              <a:cxnLst/>
              <a:rect l="l" t="t" r="r" b="b"/>
              <a:pathLst>
                <a:path w="935355" h="580389">
                  <a:moveTo>
                    <a:pt x="867079" y="34563"/>
                  </a:moveTo>
                  <a:lnTo>
                    <a:pt x="0" y="569087"/>
                  </a:lnTo>
                  <a:lnTo>
                    <a:pt x="6603" y="579881"/>
                  </a:lnTo>
                  <a:lnTo>
                    <a:pt x="873754" y="45392"/>
                  </a:lnTo>
                  <a:lnTo>
                    <a:pt x="867079" y="34563"/>
                  </a:lnTo>
                  <a:close/>
                </a:path>
                <a:path w="935355" h="580389">
                  <a:moveTo>
                    <a:pt x="917924" y="27939"/>
                  </a:moveTo>
                  <a:lnTo>
                    <a:pt x="877824" y="27939"/>
                  </a:lnTo>
                  <a:lnTo>
                    <a:pt x="884555" y="38734"/>
                  </a:lnTo>
                  <a:lnTo>
                    <a:pt x="873754" y="45392"/>
                  </a:lnTo>
                  <a:lnTo>
                    <a:pt x="890396" y="72389"/>
                  </a:lnTo>
                  <a:lnTo>
                    <a:pt x="917924" y="27939"/>
                  </a:lnTo>
                  <a:close/>
                </a:path>
                <a:path w="935355" h="580389">
                  <a:moveTo>
                    <a:pt x="877824" y="27939"/>
                  </a:moveTo>
                  <a:lnTo>
                    <a:pt x="867079" y="34563"/>
                  </a:lnTo>
                  <a:lnTo>
                    <a:pt x="873754" y="45392"/>
                  </a:lnTo>
                  <a:lnTo>
                    <a:pt x="884555" y="38734"/>
                  </a:lnTo>
                  <a:lnTo>
                    <a:pt x="877824" y="27939"/>
                  </a:lnTo>
                  <a:close/>
                </a:path>
                <a:path w="935355" h="580389">
                  <a:moveTo>
                    <a:pt x="935227" y="0"/>
                  </a:moveTo>
                  <a:lnTo>
                    <a:pt x="850392" y="7492"/>
                  </a:lnTo>
                  <a:lnTo>
                    <a:pt x="867079" y="34563"/>
                  </a:lnTo>
                  <a:lnTo>
                    <a:pt x="877824" y="27939"/>
                  </a:lnTo>
                  <a:lnTo>
                    <a:pt x="917924" y="27939"/>
                  </a:lnTo>
                  <a:lnTo>
                    <a:pt x="935227" y="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41318" y="4175617"/>
              <a:ext cx="405655" cy="40565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484881" y="4199381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161544" y="0"/>
                  </a:moveTo>
                  <a:lnTo>
                    <a:pt x="118577" y="5766"/>
                  </a:lnTo>
                  <a:lnTo>
                    <a:pt x="79981" y="22041"/>
                  </a:lnTo>
                  <a:lnTo>
                    <a:pt x="47291" y="47291"/>
                  </a:lnTo>
                  <a:lnTo>
                    <a:pt x="22041" y="79981"/>
                  </a:lnTo>
                  <a:lnTo>
                    <a:pt x="5766" y="118577"/>
                  </a:lnTo>
                  <a:lnTo>
                    <a:pt x="0" y="161544"/>
                  </a:lnTo>
                  <a:lnTo>
                    <a:pt x="5766" y="204510"/>
                  </a:lnTo>
                  <a:lnTo>
                    <a:pt x="22041" y="243106"/>
                  </a:lnTo>
                  <a:lnTo>
                    <a:pt x="47291" y="275796"/>
                  </a:lnTo>
                  <a:lnTo>
                    <a:pt x="79981" y="301046"/>
                  </a:lnTo>
                  <a:lnTo>
                    <a:pt x="118577" y="317321"/>
                  </a:lnTo>
                  <a:lnTo>
                    <a:pt x="161544" y="323088"/>
                  </a:lnTo>
                  <a:lnTo>
                    <a:pt x="204510" y="317321"/>
                  </a:lnTo>
                  <a:lnTo>
                    <a:pt x="243106" y="301046"/>
                  </a:lnTo>
                  <a:lnTo>
                    <a:pt x="275796" y="275796"/>
                  </a:lnTo>
                  <a:lnTo>
                    <a:pt x="301046" y="243106"/>
                  </a:lnTo>
                  <a:lnTo>
                    <a:pt x="317321" y="204510"/>
                  </a:lnTo>
                  <a:lnTo>
                    <a:pt x="323088" y="161544"/>
                  </a:lnTo>
                  <a:lnTo>
                    <a:pt x="317321" y="118577"/>
                  </a:lnTo>
                  <a:lnTo>
                    <a:pt x="301046" y="79981"/>
                  </a:lnTo>
                  <a:lnTo>
                    <a:pt x="275796" y="47291"/>
                  </a:lnTo>
                  <a:lnTo>
                    <a:pt x="243106" y="22041"/>
                  </a:lnTo>
                  <a:lnTo>
                    <a:pt x="204510" y="576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484881" y="4199381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0" y="161544"/>
                  </a:moveTo>
                  <a:lnTo>
                    <a:pt x="5766" y="118577"/>
                  </a:lnTo>
                  <a:lnTo>
                    <a:pt x="22041" y="79981"/>
                  </a:lnTo>
                  <a:lnTo>
                    <a:pt x="47291" y="47291"/>
                  </a:lnTo>
                  <a:lnTo>
                    <a:pt x="79981" y="22041"/>
                  </a:lnTo>
                  <a:lnTo>
                    <a:pt x="118577" y="5766"/>
                  </a:lnTo>
                  <a:lnTo>
                    <a:pt x="161544" y="0"/>
                  </a:lnTo>
                  <a:lnTo>
                    <a:pt x="204510" y="5766"/>
                  </a:lnTo>
                  <a:lnTo>
                    <a:pt x="243106" y="22041"/>
                  </a:lnTo>
                  <a:lnTo>
                    <a:pt x="275796" y="47291"/>
                  </a:lnTo>
                  <a:lnTo>
                    <a:pt x="301046" y="79981"/>
                  </a:lnTo>
                  <a:lnTo>
                    <a:pt x="317321" y="118577"/>
                  </a:lnTo>
                  <a:lnTo>
                    <a:pt x="323088" y="161544"/>
                  </a:lnTo>
                  <a:lnTo>
                    <a:pt x="317321" y="204510"/>
                  </a:lnTo>
                  <a:lnTo>
                    <a:pt x="301046" y="243106"/>
                  </a:lnTo>
                  <a:lnTo>
                    <a:pt x="275796" y="275796"/>
                  </a:lnTo>
                  <a:lnTo>
                    <a:pt x="243106" y="301046"/>
                  </a:lnTo>
                  <a:lnTo>
                    <a:pt x="204510" y="317321"/>
                  </a:lnTo>
                  <a:lnTo>
                    <a:pt x="161544" y="323088"/>
                  </a:lnTo>
                  <a:lnTo>
                    <a:pt x="118577" y="317321"/>
                  </a:lnTo>
                  <a:lnTo>
                    <a:pt x="79981" y="301046"/>
                  </a:lnTo>
                  <a:lnTo>
                    <a:pt x="47291" y="275796"/>
                  </a:lnTo>
                  <a:lnTo>
                    <a:pt x="22041" y="243106"/>
                  </a:lnTo>
                  <a:lnTo>
                    <a:pt x="5766" y="204510"/>
                  </a:lnTo>
                  <a:lnTo>
                    <a:pt x="0" y="161544"/>
                  </a:lnTo>
                  <a:close/>
                </a:path>
              </a:pathLst>
            </a:custGeom>
            <a:ln w="19812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41318" y="4686202"/>
              <a:ext cx="405655" cy="40710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484881" y="4709922"/>
              <a:ext cx="323215" cy="325120"/>
            </a:xfrm>
            <a:custGeom>
              <a:avLst/>
              <a:gdLst/>
              <a:ahLst/>
              <a:cxnLst/>
              <a:rect l="l" t="t" r="r" b="b"/>
              <a:pathLst>
                <a:path w="323214" h="325120">
                  <a:moveTo>
                    <a:pt x="161544" y="0"/>
                  </a:moveTo>
                  <a:lnTo>
                    <a:pt x="118577" y="5796"/>
                  </a:lnTo>
                  <a:lnTo>
                    <a:pt x="79981" y="22154"/>
                  </a:lnTo>
                  <a:lnTo>
                    <a:pt x="47291" y="47529"/>
                  </a:lnTo>
                  <a:lnTo>
                    <a:pt x="22041" y="80376"/>
                  </a:lnTo>
                  <a:lnTo>
                    <a:pt x="5766" y="119150"/>
                  </a:lnTo>
                  <a:lnTo>
                    <a:pt x="0" y="162305"/>
                  </a:lnTo>
                  <a:lnTo>
                    <a:pt x="5766" y="205461"/>
                  </a:lnTo>
                  <a:lnTo>
                    <a:pt x="22041" y="244235"/>
                  </a:lnTo>
                  <a:lnTo>
                    <a:pt x="47291" y="277082"/>
                  </a:lnTo>
                  <a:lnTo>
                    <a:pt x="79981" y="302457"/>
                  </a:lnTo>
                  <a:lnTo>
                    <a:pt x="118577" y="318815"/>
                  </a:lnTo>
                  <a:lnTo>
                    <a:pt x="161544" y="324611"/>
                  </a:lnTo>
                  <a:lnTo>
                    <a:pt x="204510" y="318815"/>
                  </a:lnTo>
                  <a:lnTo>
                    <a:pt x="243106" y="302457"/>
                  </a:lnTo>
                  <a:lnTo>
                    <a:pt x="275796" y="277082"/>
                  </a:lnTo>
                  <a:lnTo>
                    <a:pt x="301046" y="244235"/>
                  </a:lnTo>
                  <a:lnTo>
                    <a:pt x="317321" y="205461"/>
                  </a:lnTo>
                  <a:lnTo>
                    <a:pt x="323088" y="162305"/>
                  </a:lnTo>
                  <a:lnTo>
                    <a:pt x="317321" y="119150"/>
                  </a:lnTo>
                  <a:lnTo>
                    <a:pt x="301046" y="80376"/>
                  </a:lnTo>
                  <a:lnTo>
                    <a:pt x="275796" y="47529"/>
                  </a:lnTo>
                  <a:lnTo>
                    <a:pt x="243106" y="22154"/>
                  </a:lnTo>
                  <a:lnTo>
                    <a:pt x="204510" y="579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484881" y="4709922"/>
              <a:ext cx="323215" cy="325120"/>
            </a:xfrm>
            <a:custGeom>
              <a:avLst/>
              <a:gdLst/>
              <a:ahLst/>
              <a:cxnLst/>
              <a:rect l="l" t="t" r="r" b="b"/>
              <a:pathLst>
                <a:path w="323214" h="325120">
                  <a:moveTo>
                    <a:pt x="0" y="162305"/>
                  </a:moveTo>
                  <a:lnTo>
                    <a:pt x="5766" y="119150"/>
                  </a:lnTo>
                  <a:lnTo>
                    <a:pt x="22041" y="80376"/>
                  </a:lnTo>
                  <a:lnTo>
                    <a:pt x="47291" y="47529"/>
                  </a:lnTo>
                  <a:lnTo>
                    <a:pt x="79981" y="22154"/>
                  </a:lnTo>
                  <a:lnTo>
                    <a:pt x="118577" y="5796"/>
                  </a:lnTo>
                  <a:lnTo>
                    <a:pt x="161544" y="0"/>
                  </a:lnTo>
                  <a:lnTo>
                    <a:pt x="204510" y="5796"/>
                  </a:lnTo>
                  <a:lnTo>
                    <a:pt x="243106" y="22154"/>
                  </a:lnTo>
                  <a:lnTo>
                    <a:pt x="275796" y="47529"/>
                  </a:lnTo>
                  <a:lnTo>
                    <a:pt x="301046" y="80376"/>
                  </a:lnTo>
                  <a:lnTo>
                    <a:pt x="317321" y="119150"/>
                  </a:lnTo>
                  <a:lnTo>
                    <a:pt x="323088" y="162305"/>
                  </a:lnTo>
                  <a:lnTo>
                    <a:pt x="317321" y="205461"/>
                  </a:lnTo>
                  <a:lnTo>
                    <a:pt x="301046" y="244235"/>
                  </a:lnTo>
                  <a:lnTo>
                    <a:pt x="275796" y="277082"/>
                  </a:lnTo>
                  <a:lnTo>
                    <a:pt x="243106" y="302457"/>
                  </a:lnTo>
                  <a:lnTo>
                    <a:pt x="204510" y="318815"/>
                  </a:lnTo>
                  <a:lnTo>
                    <a:pt x="161544" y="324611"/>
                  </a:lnTo>
                  <a:lnTo>
                    <a:pt x="118577" y="318815"/>
                  </a:lnTo>
                  <a:lnTo>
                    <a:pt x="79981" y="302457"/>
                  </a:lnTo>
                  <a:lnTo>
                    <a:pt x="47291" y="277082"/>
                  </a:lnTo>
                  <a:lnTo>
                    <a:pt x="22041" y="244235"/>
                  </a:lnTo>
                  <a:lnTo>
                    <a:pt x="5766" y="205461"/>
                  </a:lnTo>
                  <a:lnTo>
                    <a:pt x="0" y="162305"/>
                  </a:lnTo>
                  <a:close/>
                </a:path>
              </a:pathLst>
            </a:custGeom>
            <a:ln w="19812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41318" y="3663598"/>
              <a:ext cx="405655" cy="40710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484881" y="3687317"/>
              <a:ext cx="323215" cy="325120"/>
            </a:xfrm>
            <a:custGeom>
              <a:avLst/>
              <a:gdLst/>
              <a:ahLst/>
              <a:cxnLst/>
              <a:rect l="l" t="t" r="r" b="b"/>
              <a:pathLst>
                <a:path w="323214" h="325120">
                  <a:moveTo>
                    <a:pt x="161544" y="0"/>
                  </a:moveTo>
                  <a:lnTo>
                    <a:pt x="118577" y="5796"/>
                  </a:lnTo>
                  <a:lnTo>
                    <a:pt x="79981" y="22154"/>
                  </a:lnTo>
                  <a:lnTo>
                    <a:pt x="47291" y="47529"/>
                  </a:lnTo>
                  <a:lnTo>
                    <a:pt x="22041" y="80376"/>
                  </a:lnTo>
                  <a:lnTo>
                    <a:pt x="5766" y="119150"/>
                  </a:lnTo>
                  <a:lnTo>
                    <a:pt x="0" y="162305"/>
                  </a:lnTo>
                  <a:lnTo>
                    <a:pt x="5766" y="205461"/>
                  </a:lnTo>
                  <a:lnTo>
                    <a:pt x="22041" y="244235"/>
                  </a:lnTo>
                  <a:lnTo>
                    <a:pt x="47291" y="277082"/>
                  </a:lnTo>
                  <a:lnTo>
                    <a:pt x="79981" y="302457"/>
                  </a:lnTo>
                  <a:lnTo>
                    <a:pt x="118577" y="318815"/>
                  </a:lnTo>
                  <a:lnTo>
                    <a:pt x="161544" y="324611"/>
                  </a:lnTo>
                  <a:lnTo>
                    <a:pt x="204510" y="318815"/>
                  </a:lnTo>
                  <a:lnTo>
                    <a:pt x="243106" y="302457"/>
                  </a:lnTo>
                  <a:lnTo>
                    <a:pt x="275796" y="277082"/>
                  </a:lnTo>
                  <a:lnTo>
                    <a:pt x="301046" y="244235"/>
                  </a:lnTo>
                  <a:lnTo>
                    <a:pt x="317321" y="205461"/>
                  </a:lnTo>
                  <a:lnTo>
                    <a:pt x="323088" y="162305"/>
                  </a:lnTo>
                  <a:lnTo>
                    <a:pt x="317321" y="119150"/>
                  </a:lnTo>
                  <a:lnTo>
                    <a:pt x="301046" y="80376"/>
                  </a:lnTo>
                  <a:lnTo>
                    <a:pt x="275796" y="47529"/>
                  </a:lnTo>
                  <a:lnTo>
                    <a:pt x="243106" y="22154"/>
                  </a:lnTo>
                  <a:lnTo>
                    <a:pt x="204510" y="579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484881" y="3687317"/>
              <a:ext cx="323215" cy="325120"/>
            </a:xfrm>
            <a:custGeom>
              <a:avLst/>
              <a:gdLst/>
              <a:ahLst/>
              <a:cxnLst/>
              <a:rect l="l" t="t" r="r" b="b"/>
              <a:pathLst>
                <a:path w="323214" h="325120">
                  <a:moveTo>
                    <a:pt x="0" y="162305"/>
                  </a:moveTo>
                  <a:lnTo>
                    <a:pt x="5766" y="119150"/>
                  </a:lnTo>
                  <a:lnTo>
                    <a:pt x="22041" y="80376"/>
                  </a:lnTo>
                  <a:lnTo>
                    <a:pt x="47291" y="47529"/>
                  </a:lnTo>
                  <a:lnTo>
                    <a:pt x="79981" y="22154"/>
                  </a:lnTo>
                  <a:lnTo>
                    <a:pt x="118577" y="5796"/>
                  </a:lnTo>
                  <a:lnTo>
                    <a:pt x="161544" y="0"/>
                  </a:lnTo>
                  <a:lnTo>
                    <a:pt x="204510" y="5796"/>
                  </a:lnTo>
                  <a:lnTo>
                    <a:pt x="243106" y="22154"/>
                  </a:lnTo>
                  <a:lnTo>
                    <a:pt x="275796" y="47529"/>
                  </a:lnTo>
                  <a:lnTo>
                    <a:pt x="301046" y="80376"/>
                  </a:lnTo>
                  <a:lnTo>
                    <a:pt x="317321" y="119150"/>
                  </a:lnTo>
                  <a:lnTo>
                    <a:pt x="323088" y="162305"/>
                  </a:lnTo>
                  <a:lnTo>
                    <a:pt x="317321" y="205461"/>
                  </a:lnTo>
                  <a:lnTo>
                    <a:pt x="301046" y="244235"/>
                  </a:lnTo>
                  <a:lnTo>
                    <a:pt x="275796" y="277082"/>
                  </a:lnTo>
                  <a:lnTo>
                    <a:pt x="243106" y="302457"/>
                  </a:lnTo>
                  <a:lnTo>
                    <a:pt x="204510" y="318815"/>
                  </a:lnTo>
                  <a:lnTo>
                    <a:pt x="161544" y="324611"/>
                  </a:lnTo>
                  <a:lnTo>
                    <a:pt x="118577" y="318815"/>
                  </a:lnTo>
                  <a:lnTo>
                    <a:pt x="79981" y="302457"/>
                  </a:lnTo>
                  <a:lnTo>
                    <a:pt x="47291" y="277082"/>
                  </a:lnTo>
                  <a:lnTo>
                    <a:pt x="22041" y="244235"/>
                  </a:lnTo>
                  <a:lnTo>
                    <a:pt x="5766" y="205461"/>
                  </a:lnTo>
                  <a:lnTo>
                    <a:pt x="0" y="162305"/>
                  </a:lnTo>
                  <a:close/>
                </a:path>
              </a:pathLst>
            </a:custGeom>
            <a:ln w="19811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546098" y="3304666"/>
              <a:ext cx="937260" cy="1567815"/>
            </a:xfrm>
            <a:custGeom>
              <a:avLst/>
              <a:gdLst/>
              <a:ahLst/>
              <a:cxnLst/>
              <a:rect l="l" t="t" r="r" b="b"/>
              <a:pathLst>
                <a:path w="937260" h="1567814">
                  <a:moveTo>
                    <a:pt x="937260" y="32893"/>
                  </a:moveTo>
                  <a:lnTo>
                    <a:pt x="932395" y="30861"/>
                  </a:lnTo>
                  <a:lnTo>
                    <a:pt x="858647" y="0"/>
                  </a:lnTo>
                  <a:lnTo>
                    <a:pt x="860806" y="31724"/>
                  </a:lnTo>
                  <a:lnTo>
                    <a:pt x="4953" y="89408"/>
                  </a:lnTo>
                  <a:lnTo>
                    <a:pt x="5308" y="95402"/>
                  </a:lnTo>
                  <a:lnTo>
                    <a:pt x="0" y="98806"/>
                  </a:lnTo>
                  <a:lnTo>
                    <a:pt x="891159" y="1506524"/>
                  </a:lnTo>
                  <a:lnTo>
                    <a:pt x="864362" y="1523492"/>
                  </a:lnTo>
                  <a:lnTo>
                    <a:pt x="937260" y="1567434"/>
                  </a:lnTo>
                  <a:lnTo>
                    <a:pt x="932205" y="1517142"/>
                  </a:lnTo>
                  <a:lnTo>
                    <a:pt x="928751" y="1482725"/>
                  </a:lnTo>
                  <a:lnTo>
                    <a:pt x="901903" y="1499717"/>
                  </a:lnTo>
                  <a:lnTo>
                    <a:pt x="43599" y="143967"/>
                  </a:lnTo>
                  <a:lnTo>
                    <a:pt x="879690" y="1005547"/>
                  </a:lnTo>
                  <a:lnTo>
                    <a:pt x="856869" y="1027684"/>
                  </a:lnTo>
                  <a:lnTo>
                    <a:pt x="937260" y="1055751"/>
                  </a:lnTo>
                  <a:lnTo>
                    <a:pt x="924242" y="1014603"/>
                  </a:lnTo>
                  <a:lnTo>
                    <a:pt x="911606" y="974598"/>
                  </a:lnTo>
                  <a:lnTo>
                    <a:pt x="888784" y="996734"/>
                  </a:lnTo>
                  <a:lnTo>
                    <a:pt x="34861" y="116662"/>
                  </a:lnTo>
                  <a:lnTo>
                    <a:pt x="865847" y="516839"/>
                  </a:lnTo>
                  <a:lnTo>
                    <a:pt x="852043" y="545465"/>
                  </a:lnTo>
                  <a:lnTo>
                    <a:pt x="937260" y="544195"/>
                  </a:lnTo>
                  <a:lnTo>
                    <a:pt x="920381" y="522351"/>
                  </a:lnTo>
                  <a:lnTo>
                    <a:pt x="885190" y="476758"/>
                  </a:lnTo>
                  <a:lnTo>
                    <a:pt x="871359" y="505434"/>
                  </a:lnTo>
                  <a:lnTo>
                    <a:pt x="30492" y="100444"/>
                  </a:lnTo>
                  <a:lnTo>
                    <a:pt x="861682" y="44424"/>
                  </a:lnTo>
                  <a:lnTo>
                    <a:pt x="863854" y="76073"/>
                  </a:lnTo>
                  <a:lnTo>
                    <a:pt x="937260" y="32893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41318" y="5198266"/>
              <a:ext cx="405655" cy="40710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484881" y="5221985"/>
              <a:ext cx="323215" cy="325120"/>
            </a:xfrm>
            <a:custGeom>
              <a:avLst/>
              <a:gdLst/>
              <a:ahLst/>
              <a:cxnLst/>
              <a:rect l="l" t="t" r="r" b="b"/>
              <a:pathLst>
                <a:path w="323214" h="325120">
                  <a:moveTo>
                    <a:pt x="161544" y="0"/>
                  </a:moveTo>
                  <a:lnTo>
                    <a:pt x="118577" y="5796"/>
                  </a:lnTo>
                  <a:lnTo>
                    <a:pt x="79981" y="22154"/>
                  </a:lnTo>
                  <a:lnTo>
                    <a:pt x="47291" y="47529"/>
                  </a:lnTo>
                  <a:lnTo>
                    <a:pt x="22041" y="80376"/>
                  </a:lnTo>
                  <a:lnTo>
                    <a:pt x="5766" y="119150"/>
                  </a:lnTo>
                  <a:lnTo>
                    <a:pt x="0" y="162305"/>
                  </a:lnTo>
                  <a:lnTo>
                    <a:pt x="5766" y="205461"/>
                  </a:lnTo>
                  <a:lnTo>
                    <a:pt x="22041" y="244235"/>
                  </a:lnTo>
                  <a:lnTo>
                    <a:pt x="47291" y="277082"/>
                  </a:lnTo>
                  <a:lnTo>
                    <a:pt x="79981" y="302457"/>
                  </a:lnTo>
                  <a:lnTo>
                    <a:pt x="118577" y="318815"/>
                  </a:lnTo>
                  <a:lnTo>
                    <a:pt x="161544" y="324611"/>
                  </a:lnTo>
                  <a:lnTo>
                    <a:pt x="204510" y="318815"/>
                  </a:lnTo>
                  <a:lnTo>
                    <a:pt x="243106" y="302457"/>
                  </a:lnTo>
                  <a:lnTo>
                    <a:pt x="275796" y="277082"/>
                  </a:lnTo>
                  <a:lnTo>
                    <a:pt x="301046" y="244235"/>
                  </a:lnTo>
                  <a:lnTo>
                    <a:pt x="317321" y="205461"/>
                  </a:lnTo>
                  <a:lnTo>
                    <a:pt x="323088" y="162305"/>
                  </a:lnTo>
                  <a:lnTo>
                    <a:pt x="317321" y="119150"/>
                  </a:lnTo>
                  <a:lnTo>
                    <a:pt x="301046" y="80376"/>
                  </a:lnTo>
                  <a:lnTo>
                    <a:pt x="275796" y="47529"/>
                  </a:lnTo>
                  <a:lnTo>
                    <a:pt x="243106" y="22154"/>
                  </a:lnTo>
                  <a:lnTo>
                    <a:pt x="204510" y="579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484881" y="5221985"/>
              <a:ext cx="323215" cy="325120"/>
            </a:xfrm>
            <a:custGeom>
              <a:avLst/>
              <a:gdLst/>
              <a:ahLst/>
              <a:cxnLst/>
              <a:rect l="l" t="t" r="r" b="b"/>
              <a:pathLst>
                <a:path w="323214" h="325120">
                  <a:moveTo>
                    <a:pt x="0" y="162305"/>
                  </a:moveTo>
                  <a:lnTo>
                    <a:pt x="5766" y="119150"/>
                  </a:lnTo>
                  <a:lnTo>
                    <a:pt x="22041" y="80376"/>
                  </a:lnTo>
                  <a:lnTo>
                    <a:pt x="47291" y="47529"/>
                  </a:lnTo>
                  <a:lnTo>
                    <a:pt x="79981" y="22154"/>
                  </a:lnTo>
                  <a:lnTo>
                    <a:pt x="118577" y="5796"/>
                  </a:lnTo>
                  <a:lnTo>
                    <a:pt x="161544" y="0"/>
                  </a:lnTo>
                  <a:lnTo>
                    <a:pt x="204510" y="5796"/>
                  </a:lnTo>
                  <a:lnTo>
                    <a:pt x="243106" y="22154"/>
                  </a:lnTo>
                  <a:lnTo>
                    <a:pt x="275796" y="47529"/>
                  </a:lnTo>
                  <a:lnTo>
                    <a:pt x="301046" y="80376"/>
                  </a:lnTo>
                  <a:lnTo>
                    <a:pt x="317321" y="119150"/>
                  </a:lnTo>
                  <a:lnTo>
                    <a:pt x="323088" y="162305"/>
                  </a:lnTo>
                  <a:lnTo>
                    <a:pt x="317321" y="205461"/>
                  </a:lnTo>
                  <a:lnTo>
                    <a:pt x="301046" y="244235"/>
                  </a:lnTo>
                  <a:lnTo>
                    <a:pt x="275796" y="277082"/>
                  </a:lnTo>
                  <a:lnTo>
                    <a:pt x="243106" y="302457"/>
                  </a:lnTo>
                  <a:lnTo>
                    <a:pt x="204510" y="318815"/>
                  </a:lnTo>
                  <a:lnTo>
                    <a:pt x="161544" y="324611"/>
                  </a:lnTo>
                  <a:lnTo>
                    <a:pt x="118577" y="318815"/>
                  </a:lnTo>
                  <a:lnTo>
                    <a:pt x="79981" y="302457"/>
                  </a:lnTo>
                  <a:lnTo>
                    <a:pt x="47291" y="277082"/>
                  </a:lnTo>
                  <a:lnTo>
                    <a:pt x="22041" y="244235"/>
                  </a:lnTo>
                  <a:lnTo>
                    <a:pt x="5766" y="205461"/>
                  </a:lnTo>
                  <a:lnTo>
                    <a:pt x="0" y="162305"/>
                  </a:lnTo>
                  <a:close/>
                </a:path>
              </a:pathLst>
            </a:custGeom>
            <a:ln w="19812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545590" y="2825495"/>
              <a:ext cx="940435" cy="2560320"/>
            </a:xfrm>
            <a:custGeom>
              <a:avLst/>
              <a:gdLst/>
              <a:ahLst/>
              <a:cxnLst/>
              <a:rect l="l" t="t" r="r" b="b"/>
              <a:pathLst>
                <a:path w="940435" h="2560320">
                  <a:moveTo>
                    <a:pt x="939927" y="2473071"/>
                  </a:moveTo>
                  <a:lnTo>
                    <a:pt x="933081" y="2476284"/>
                  </a:lnTo>
                  <a:lnTo>
                    <a:pt x="932942" y="2473706"/>
                  </a:lnTo>
                  <a:lnTo>
                    <a:pt x="910996" y="2486304"/>
                  </a:lnTo>
                  <a:lnTo>
                    <a:pt x="893711" y="2449525"/>
                  </a:lnTo>
                  <a:lnTo>
                    <a:pt x="893711" y="2494737"/>
                  </a:lnTo>
                  <a:lnTo>
                    <a:pt x="881418" y="2500503"/>
                  </a:lnTo>
                  <a:lnTo>
                    <a:pt x="874903" y="2491867"/>
                  </a:lnTo>
                  <a:lnTo>
                    <a:pt x="860831" y="2520251"/>
                  </a:lnTo>
                  <a:lnTo>
                    <a:pt x="30086" y="2108060"/>
                  </a:lnTo>
                  <a:lnTo>
                    <a:pt x="650455" y="2071103"/>
                  </a:lnTo>
                  <a:lnTo>
                    <a:pt x="893711" y="2494737"/>
                  </a:lnTo>
                  <a:lnTo>
                    <a:pt x="893711" y="2449525"/>
                  </a:lnTo>
                  <a:lnTo>
                    <a:pt x="867206" y="2393111"/>
                  </a:lnTo>
                  <a:lnTo>
                    <a:pt x="867206" y="2423007"/>
                  </a:lnTo>
                  <a:lnTo>
                    <a:pt x="664629" y="2070265"/>
                  </a:lnTo>
                  <a:lnTo>
                    <a:pt x="700481" y="2068118"/>
                  </a:lnTo>
                  <a:lnTo>
                    <a:pt x="867206" y="2423007"/>
                  </a:lnTo>
                  <a:lnTo>
                    <a:pt x="867206" y="2393111"/>
                  </a:lnTo>
                  <a:lnTo>
                    <a:pt x="714133" y="2067306"/>
                  </a:lnTo>
                  <a:lnTo>
                    <a:pt x="850569" y="2059178"/>
                  </a:lnTo>
                  <a:lnTo>
                    <a:pt x="852424" y="2090801"/>
                  </a:lnTo>
                  <a:lnTo>
                    <a:pt x="926211" y="2048256"/>
                  </a:lnTo>
                  <a:lnTo>
                    <a:pt x="920280" y="2045716"/>
                  </a:lnTo>
                  <a:lnTo>
                    <a:pt x="847979" y="2014728"/>
                  </a:lnTo>
                  <a:lnTo>
                    <a:pt x="849833" y="2046478"/>
                  </a:lnTo>
                  <a:lnTo>
                    <a:pt x="708304" y="2054910"/>
                  </a:lnTo>
                  <a:lnTo>
                    <a:pt x="694664" y="2025891"/>
                  </a:lnTo>
                  <a:lnTo>
                    <a:pt x="694664" y="2055723"/>
                  </a:lnTo>
                  <a:lnTo>
                    <a:pt x="657542" y="2057933"/>
                  </a:lnTo>
                  <a:lnTo>
                    <a:pt x="643382" y="2033282"/>
                  </a:lnTo>
                  <a:lnTo>
                    <a:pt x="643382" y="2058784"/>
                  </a:lnTo>
                  <a:lnTo>
                    <a:pt x="29857" y="2095322"/>
                  </a:lnTo>
                  <a:lnTo>
                    <a:pt x="498703" y="1806829"/>
                  </a:lnTo>
                  <a:lnTo>
                    <a:pt x="643382" y="2058784"/>
                  </a:lnTo>
                  <a:lnTo>
                    <a:pt x="643382" y="2033282"/>
                  </a:lnTo>
                  <a:lnTo>
                    <a:pt x="509511" y="1800174"/>
                  </a:lnTo>
                  <a:lnTo>
                    <a:pt x="560006" y="1769097"/>
                  </a:lnTo>
                  <a:lnTo>
                    <a:pt x="694664" y="2055723"/>
                  </a:lnTo>
                  <a:lnTo>
                    <a:pt x="694664" y="2025891"/>
                  </a:lnTo>
                  <a:lnTo>
                    <a:pt x="570877" y="1762417"/>
                  </a:lnTo>
                  <a:lnTo>
                    <a:pt x="649973" y="1713738"/>
                  </a:lnTo>
                  <a:lnTo>
                    <a:pt x="883996" y="1992795"/>
                  </a:lnTo>
                  <a:lnTo>
                    <a:pt x="859663" y="2013204"/>
                  </a:lnTo>
                  <a:lnTo>
                    <a:pt x="937768" y="2047113"/>
                  </a:lnTo>
                  <a:lnTo>
                    <a:pt x="927100" y="2002536"/>
                  </a:lnTo>
                  <a:lnTo>
                    <a:pt x="917956" y="1964309"/>
                  </a:lnTo>
                  <a:lnTo>
                    <a:pt x="893660" y="1984692"/>
                  </a:lnTo>
                  <a:lnTo>
                    <a:pt x="660831" y="1707057"/>
                  </a:lnTo>
                  <a:lnTo>
                    <a:pt x="864730" y="1581581"/>
                  </a:lnTo>
                  <a:lnTo>
                    <a:pt x="881380" y="1608582"/>
                  </a:lnTo>
                  <a:lnTo>
                    <a:pt x="908900" y="1564132"/>
                  </a:lnTo>
                  <a:lnTo>
                    <a:pt x="926211" y="1536192"/>
                  </a:lnTo>
                  <a:lnTo>
                    <a:pt x="841375" y="1543685"/>
                  </a:lnTo>
                  <a:lnTo>
                    <a:pt x="858050" y="1570748"/>
                  </a:lnTo>
                  <a:lnTo>
                    <a:pt x="652576" y="1697202"/>
                  </a:lnTo>
                  <a:lnTo>
                    <a:pt x="641718" y="1684261"/>
                  </a:lnTo>
                  <a:lnTo>
                    <a:pt x="641718" y="1703895"/>
                  </a:lnTo>
                  <a:lnTo>
                    <a:pt x="565442" y="1750847"/>
                  </a:lnTo>
                  <a:lnTo>
                    <a:pt x="554570" y="1727720"/>
                  </a:lnTo>
                  <a:lnTo>
                    <a:pt x="554570" y="1757527"/>
                  </a:lnTo>
                  <a:lnTo>
                    <a:pt x="503186" y="1789150"/>
                  </a:lnTo>
                  <a:lnTo>
                    <a:pt x="492379" y="1770341"/>
                  </a:lnTo>
                  <a:lnTo>
                    <a:pt x="492379" y="1795805"/>
                  </a:lnTo>
                  <a:lnTo>
                    <a:pt x="38849" y="2074938"/>
                  </a:lnTo>
                  <a:lnTo>
                    <a:pt x="405828" y="1645094"/>
                  </a:lnTo>
                  <a:lnTo>
                    <a:pt x="492379" y="1795805"/>
                  </a:lnTo>
                  <a:lnTo>
                    <a:pt x="492379" y="1770341"/>
                  </a:lnTo>
                  <a:lnTo>
                    <a:pt x="414578" y="1634845"/>
                  </a:lnTo>
                  <a:lnTo>
                    <a:pt x="467702" y="1572615"/>
                  </a:lnTo>
                  <a:lnTo>
                    <a:pt x="554570" y="1757527"/>
                  </a:lnTo>
                  <a:lnTo>
                    <a:pt x="554570" y="1727720"/>
                  </a:lnTo>
                  <a:lnTo>
                    <a:pt x="476732" y="1562036"/>
                  </a:lnTo>
                  <a:lnTo>
                    <a:pt x="499960" y="1534845"/>
                  </a:lnTo>
                  <a:lnTo>
                    <a:pt x="641718" y="1703895"/>
                  </a:lnTo>
                  <a:lnTo>
                    <a:pt x="641718" y="1684261"/>
                  </a:lnTo>
                  <a:lnTo>
                    <a:pt x="508266" y="1525104"/>
                  </a:lnTo>
                  <a:lnTo>
                    <a:pt x="650697" y="1358290"/>
                  </a:lnTo>
                  <a:lnTo>
                    <a:pt x="870254" y="1499565"/>
                  </a:lnTo>
                  <a:lnTo>
                    <a:pt x="853059" y="1526286"/>
                  </a:lnTo>
                  <a:lnTo>
                    <a:pt x="937768" y="1535430"/>
                  </a:lnTo>
                  <a:lnTo>
                    <a:pt x="920597" y="1506474"/>
                  </a:lnTo>
                  <a:lnTo>
                    <a:pt x="894334" y="1462151"/>
                  </a:lnTo>
                  <a:lnTo>
                    <a:pt x="877112" y="1488897"/>
                  </a:lnTo>
                  <a:lnTo>
                    <a:pt x="659003" y="1348549"/>
                  </a:lnTo>
                  <a:lnTo>
                    <a:pt x="881646" y="1087767"/>
                  </a:lnTo>
                  <a:lnTo>
                    <a:pt x="905764" y="1108329"/>
                  </a:lnTo>
                  <a:lnTo>
                    <a:pt x="915276" y="1069848"/>
                  </a:lnTo>
                  <a:lnTo>
                    <a:pt x="925461" y="1028636"/>
                  </a:lnTo>
                  <a:lnTo>
                    <a:pt x="936777" y="1024255"/>
                  </a:lnTo>
                  <a:lnTo>
                    <a:pt x="937768" y="1023874"/>
                  </a:lnTo>
                  <a:lnTo>
                    <a:pt x="871982" y="982840"/>
                  </a:lnTo>
                  <a:lnTo>
                    <a:pt x="871982" y="1079525"/>
                  </a:lnTo>
                  <a:lnTo>
                    <a:pt x="648220" y="1341615"/>
                  </a:lnTo>
                  <a:lnTo>
                    <a:pt x="639914" y="1336281"/>
                  </a:lnTo>
                  <a:lnTo>
                    <a:pt x="639914" y="1351343"/>
                  </a:lnTo>
                  <a:lnTo>
                    <a:pt x="499986" y="1515237"/>
                  </a:lnTo>
                  <a:lnTo>
                    <a:pt x="491680" y="1505343"/>
                  </a:lnTo>
                  <a:lnTo>
                    <a:pt x="491680" y="1524965"/>
                  </a:lnTo>
                  <a:lnTo>
                    <a:pt x="470801" y="1549425"/>
                  </a:lnTo>
                  <a:lnTo>
                    <a:pt x="461772" y="1530210"/>
                  </a:lnTo>
                  <a:lnTo>
                    <a:pt x="461772" y="1560004"/>
                  </a:lnTo>
                  <a:lnTo>
                    <a:pt x="407860" y="1623161"/>
                  </a:lnTo>
                  <a:lnTo>
                    <a:pt x="399110" y="1607934"/>
                  </a:lnTo>
                  <a:lnTo>
                    <a:pt x="399110" y="1633397"/>
                  </a:lnTo>
                  <a:lnTo>
                    <a:pt x="45300" y="2047811"/>
                  </a:lnTo>
                  <a:lnTo>
                    <a:pt x="342417" y="1534655"/>
                  </a:lnTo>
                  <a:lnTo>
                    <a:pt x="399110" y="1633397"/>
                  </a:lnTo>
                  <a:lnTo>
                    <a:pt x="399110" y="1607934"/>
                  </a:lnTo>
                  <a:lnTo>
                    <a:pt x="349758" y="1521980"/>
                  </a:lnTo>
                  <a:lnTo>
                    <a:pt x="401739" y="1432204"/>
                  </a:lnTo>
                  <a:lnTo>
                    <a:pt x="461772" y="1560004"/>
                  </a:lnTo>
                  <a:lnTo>
                    <a:pt x="461772" y="1530210"/>
                  </a:lnTo>
                  <a:lnTo>
                    <a:pt x="418084" y="1437182"/>
                  </a:lnTo>
                  <a:lnTo>
                    <a:pt x="491680" y="1524965"/>
                  </a:lnTo>
                  <a:lnTo>
                    <a:pt x="491680" y="1505343"/>
                  </a:lnTo>
                  <a:lnTo>
                    <a:pt x="413423" y="1412011"/>
                  </a:lnTo>
                  <a:lnTo>
                    <a:pt x="500494" y="1261630"/>
                  </a:lnTo>
                  <a:lnTo>
                    <a:pt x="639914" y="1351343"/>
                  </a:lnTo>
                  <a:lnTo>
                    <a:pt x="639914" y="1336281"/>
                  </a:lnTo>
                  <a:lnTo>
                    <a:pt x="506857" y="1250645"/>
                  </a:lnTo>
                  <a:lnTo>
                    <a:pt x="650176" y="1003096"/>
                  </a:lnTo>
                  <a:lnTo>
                    <a:pt x="861352" y="1023061"/>
                  </a:lnTo>
                  <a:lnTo>
                    <a:pt x="858405" y="1054455"/>
                  </a:lnTo>
                  <a:lnTo>
                    <a:pt x="847852" y="1058926"/>
                  </a:lnTo>
                  <a:lnTo>
                    <a:pt x="871982" y="1079525"/>
                  </a:lnTo>
                  <a:lnTo>
                    <a:pt x="871982" y="982840"/>
                  </a:lnTo>
                  <a:lnTo>
                    <a:pt x="865505" y="978789"/>
                  </a:lnTo>
                  <a:lnTo>
                    <a:pt x="862533" y="1010373"/>
                  </a:lnTo>
                  <a:lnTo>
                    <a:pt x="657199" y="990968"/>
                  </a:lnTo>
                  <a:lnTo>
                    <a:pt x="893546" y="582764"/>
                  </a:lnTo>
                  <a:lnTo>
                    <a:pt x="921004" y="598678"/>
                  </a:lnTo>
                  <a:lnTo>
                    <a:pt x="923036" y="565404"/>
                  </a:lnTo>
                  <a:lnTo>
                    <a:pt x="925360" y="527367"/>
                  </a:lnTo>
                  <a:lnTo>
                    <a:pt x="937768" y="512064"/>
                  </a:lnTo>
                  <a:lnTo>
                    <a:pt x="882611" y="510006"/>
                  </a:lnTo>
                  <a:lnTo>
                    <a:pt x="882611" y="576427"/>
                  </a:lnTo>
                  <a:lnTo>
                    <a:pt x="643356" y="989647"/>
                  </a:lnTo>
                  <a:lnTo>
                    <a:pt x="636333" y="988987"/>
                  </a:lnTo>
                  <a:lnTo>
                    <a:pt x="636333" y="1001788"/>
                  </a:lnTo>
                  <a:lnTo>
                    <a:pt x="496214" y="1243799"/>
                  </a:lnTo>
                  <a:lnTo>
                    <a:pt x="489851" y="1239710"/>
                  </a:lnTo>
                  <a:lnTo>
                    <a:pt x="489851" y="1254785"/>
                  </a:lnTo>
                  <a:lnTo>
                    <a:pt x="404787" y="1401711"/>
                  </a:lnTo>
                  <a:lnTo>
                    <a:pt x="397103" y="1392529"/>
                  </a:lnTo>
                  <a:lnTo>
                    <a:pt x="395198" y="1388478"/>
                  </a:lnTo>
                  <a:lnTo>
                    <a:pt x="395198" y="1418272"/>
                  </a:lnTo>
                  <a:lnTo>
                    <a:pt x="342480" y="1509318"/>
                  </a:lnTo>
                  <a:lnTo>
                    <a:pt x="335140" y="1496542"/>
                  </a:lnTo>
                  <a:lnTo>
                    <a:pt x="335140" y="1521993"/>
                  </a:lnTo>
                  <a:lnTo>
                    <a:pt x="56375" y="2003488"/>
                  </a:lnTo>
                  <a:lnTo>
                    <a:pt x="296646" y="1454912"/>
                  </a:lnTo>
                  <a:lnTo>
                    <a:pt x="335140" y="1521993"/>
                  </a:lnTo>
                  <a:lnTo>
                    <a:pt x="335140" y="1496542"/>
                  </a:lnTo>
                  <a:lnTo>
                    <a:pt x="302971" y="1440484"/>
                  </a:lnTo>
                  <a:lnTo>
                    <a:pt x="343408" y="1348155"/>
                  </a:lnTo>
                  <a:lnTo>
                    <a:pt x="386283" y="1399273"/>
                  </a:lnTo>
                  <a:lnTo>
                    <a:pt x="395198" y="1418272"/>
                  </a:lnTo>
                  <a:lnTo>
                    <a:pt x="395198" y="1388478"/>
                  </a:lnTo>
                  <a:lnTo>
                    <a:pt x="365315" y="1324889"/>
                  </a:lnTo>
                  <a:lnTo>
                    <a:pt x="365315" y="1354620"/>
                  </a:lnTo>
                  <a:lnTo>
                    <a:pt x="349059" y="1335252"/>
                  </a:lnTo>
                  <a:lnTo>
                    <a:pt x="352513" y="1327378"/>
                  </a:lnTo>
                  <a:lnTo>
                    <a:pt x="365315" y="1354620"/>
                  </a:lnTo>
                  <a:lnTo>
                    <a:pt x="365315" y="1324889"/>
                  </a:lnTo>
                  <a:lnTo>
                    <a:pt x="359257" y="1311986"/>
                  </a:lnTo>
                  <a:lnTo>
                    <a:pt x="407517" y="1201788"/>
                  </a:lnTo>
                  <a:lnTo>
                    <a:pt x="489851" y="1254785"/>
                  </a:lnTo>
                  <a:lnTo>
                    <a:pt x="489851" y="1239710"/>
                  </a:lnTo>
                  <a:lnTo>
                    <a:pt x="412673" y="1190028"/>
                  </a:lnTo>
                  <a:lnTo>
                    <a:pt x="500735" y="988961"/>
                  </a:lnTo>
                  <a:lnTo>
                    <a:pt x="636333" y="1001788"/>
                  </a:lnTo>
                  <a:lnTo>
                    <a:pt x="636333" y="988987"/>
                  </a:lnTo>
                  <a:lnTo>
                    <a:pt x="506120" y="976668"/>
                  </a:lnTo>
                  <a:lnTo>
                    <a:pt x="649109" y="650214"/>
                  </a:lnTo>
                  <a:lnTo>
                    <a:pt x="871042" y="549351"/>
                  </a:lnTo>
                  <a:lnTo>
                    <a:pt x="871245" y="549808"/>
                  </a:lnTo>
                  <a:lnTo>
                    <a:pt x="855091" y="560451"/>
                  </a:lnTo>
                  <a:lnTo>
                    <a:pt x="882611" y="576427"/>
                  </a:lnTo>
                  <a:lnTo>
                    <a:pt x="882611" y="510006"/>
                  </a:lnTo>
                  <a:lnTo>
                    <a:pt x="852678" y="508889"/>
                  </a:lnTo>
                  <a:lnTo>
                    <a:pt x="865784" y="537756"/>
                  </a:lnTo>
                  <a:lnTo>
                    <a:pt x="656755" y="632752"/>
                  </a:lnTo>
                  <a:lnTo>
                    <a:pt x="901547" y="73875"/>
                  </a:lnTo>
                  <a:lnTo>
                    <a:pt x="905789" y="75742"/>
                  </a:lnTo>
                  <a:lnTo>
                    <a:pt x="910971" y="80899"/>
                  </a:lnTo>
                  <a:lnTo>
                    <a:pt x="911809" y="78371"/>
                  </a:lnTo>
                  <a:lnTo>
                    <a:pt x="930656" y="86614"/>
                  </a:lnTo>
                  <a:lnTo>
                    <a:pt x="929106" y="57150"/>
                  </a:lnTo>
                  <a:lnTo>
                    <a:pt x="927709" y="30353"/>
                  </a:lnTo>
                  <a:lnTo>
                    <a:pt x="937768" y="0"/>
                  </a:lnTo>
                  <a:lnTo>
                    <a:pt x="926325" y="3835"/>
                  </a:lnTo>
                  <a:lnTo>
                    <a:pt x="926211" y="1524"/>
                  </a:lnTo>
                  <a:lnTo>
                    <a:pt x="921499" y="5448"/>
                  </a:lnTo>
                  <a:lnTo>
                    <a:pt x="889876" y="16040"/>
                  </a:lnTo>
                  <a:lnTo>
                    <a:pt x="889876" y="68757"/>
                  </a:lnTo>
                  <a:lnTo>
                    <a:pt x="639368" y="640651"/>
                  </a:lnTo>
                  <a:lnTo>
                    <a:pt x="631723" y="644131"/>
                  </a:lnTo>
                  <a:lnTo>
                    <a:pt x="631723" y="658114"/>
                  </a:lnTo>
                  <a:lnTo>
                    <a:pt x="492747" y="975398"/>
                  </a:lnTo>
                  <a:lnTo>
                    <a:pt x="487349" y="974890"/>
                  </a:lnTo>
                  <a:lnTo>
                    <a:pt x="487349" y="987691"/>
                  </a:lnTo>
                  <a:lnTo>
                    <a:pt x="401789" y="1183030"/>
                  </a:lnTo>
                  <a:lnTo>
                    <a:pt x="396646" y="1179728"/>
                  </a:lnTo>
                  <a:lnTo>
                    <a:pt x="396646" y="1194790"/>
                  </a:lnTo>
                  <a:lnTo>
                    <a:pt x="352031" y="1296631"/>
                  </a:lnTo>
                  <a:lnTo>
                    <a:pt x="345287" y="1282280"/>
                  </a:lnTo>
                  <a:lnTo>
                    <a:pt x="345287" y="1312024"/>
                  </a:lnTo>
                  <a:lnTo>
                    <a:pt x="339902" y="1324330"/>
                  </a:lnTo>
                  <a:lnTo>
                    <a:pt x="334251" y="1317599"/>
                  </a:lnTo>
                  <a:lnTo>
                    <a:pt x="334251" y="1337233"/>
                  </a:lnTo>
                  <a:lnTo>
                    <a:pt x="295059" y="1426705"/>
                  </a:lnTo>
                  <a:lnTo>
                    <a:pt x="46850" y="994473"/>
                  </a:lnTo>
                  <a:lnTo>
                    <a:pt x="334251" y="1337233"/>
                  </a:lnTo>
                  <a:lnTo>
                    <a:pt x="334251" y="1317599"/>
                  </a:lnTo>
                  <a:lnTo>
                    <a:pt x="37439" y="963625"/>
                  </a:lnTo>
                  <a:lnTo>
                    <a:pt x="244106" y="1096619"/>
                  </a:lnTo>
                  <a:lnTo>
                    <a:pt x="345287" y="1312024"/>
                  </a:lnTo>
                  <a:lnTo>
                    <a:pt x="345287" y="1282280"/>
                  </a:lnTo>
                  <a:lnTo>
                    <a:pt x="264121" y="1109497"/>
                  </a:lnTo>
                  <a:lnTo>
                    <a:pt x="396646" y="1194790"/>
                  </a:lnTo>
                  <a:lnTo>
                    <a:pt x="396646" y="1179728"/>
                  </a:lnTo>
                  <a:lnTo>
                    <a:pt x="253961" y="1087882"/>
                  </a:lnTo>
                  <a:lnTo>
                    <a:pt x="233959" y="1045324"/>
                  </a:lnTo>
                  <a:lnTo>
                    <a:pt x="233959" y="1075004"/>
                  </a:lnTo>
                  <a:lnTo>
                    <a:pt x="31242" y="944549"/>
                  </a:lnTo>
                  <a:lnTo>
                    <a:pt x="179247" y="958557"/>
                  </a:lnTo>
                  <a:lnTo>
                    <a:pt x="233959" y="1075004"/>
                  </a:lnTo>
                  <a:lnTo>
                    <a:pt x="233959" y="1045324"/>
                  </a:lnTo>
                  <a:lnTo>
                    <a:pt x="193840" y="959929"/>
                  </a:lnTo>
                  <a:lnTo>
                    <a:pt x="487349" y="987691"/>
                  </a:lnTo>
                  <a:lnTo>
                    <a:pt x="487349" y="974890"/>
                  </a:lnTo>
                  <a:lnTo>
                    <a:pt x="187540" y="946518"/>
                  </a:lnTo>
                  <a:lnTo>
                    <a:pt x="172948" y="915466"/>
                  </a:lnTo>
                  <a:lnTo>
                    <a:pt x="172948" y="945146"/>
                  </a:lnTo>
                  <a:lnTo>
                    <a:pt x="29883" y="931608"/>
                  </a:lnTo>
                  <a:lnTo>
                    <a:pt x="142544" y="880414"/>
                  </a:lnTo>
                  <a:lnTo>
                    <a:pt x="172948" y="945146"/>
                  </a:lnTo>
                  <a:lnTo>
                    <a:pt x="172948" y="915466"/>
                  </a:lnTo>
                  <a:lnTo>
                    <a:pt x="154025" y="875195"/>
                  </a:lnTo>
                  <a:lnTo>
                    <a:pt x="631723" y="658114"/>
                  </a:lnTo>
                  <a:lnTo>
                    <a:pt x="631723" y="644131"/>
                  </a:lnTo>
                  <a:lnTo>
                    <a:pt x="148615" y="863676"/>
                  </a:lnTo>
                  <a:lnTo>
                    <a:pt x="137121" y="839190"/>
                  </a:lnTo>
                  <a:lnTo>
                    <a:pt x="137121" y="868895"/>
                  </a:lnTo>
                  <a:lnTo>
                    <a:pt x="34226" y="915657"/>
                  </a:lnTo>
                  <a:lnTo>
                    <a:pt x="119100" y="830491"/>
                  </a:lnTo>
                  <a:lnTo>
                    <a:pt x="137121" y="868895"/>
                  </a:lnTo>
                  <a:lnTo>
                    <a:pt x="137121" y="839190"/>
                  </a:lnTo>
                  <a:lnTo>
                    <a:pt x="128574" y="820978"/>
                  </a:lnTo>
                  <a:lnTo>
                    <a:pt x="881761" y="65214"/>
                  </a:lnTo>
                  <a:lnTo>
                    <a:pt x="889876" y="68757"/>
                  </a:lnTo>
                  <a:lnTo>
                    <a:pt x="889876" y="16040"/>
                  </a:lnTo>
                  <a:lnTo>
                    <a:pt x="856996" y="27051"/>
                  </a:lnTo>
                  <a:lnTo>
                    <a:pt x="874534" y="44577"/>
                  </a:lnTo>
                  <a:lnTo>
                    <a:pt x="860806" y="56007"/>
                  </a:lnTo>
                  <a:lnTo>
                    <a:pt x="869327" y="59753"/>
                  </a:lnTo>
                  <a:lnTo>
                    <a:pt x="122847" y="808786"/>
                  </a:lnTo>
                  <a:lnTo>
                    <a:pt x="11557" y="571881"/>
                  </a:lnTo>
                  <a:lnTo>
                    <a:pt x="127" y="577215"/>
                  </a:lnTo>
                  <a:lnTo>
                    <a:pt x="113372" y="818299"/>
                  </a:lnTo>
                  <a:lnTo>
                    <a:pt x="1397" y="930656"/>
                  </a:lnTo>
                  <a:lnTo>
                    <a:pt x="5537" y="934897"/>
                  </a:lnTo>
                  <a:lnTo>
                    <a:pt x="5842" y="935583"/>
                  </a:lnTo>
                  <a:lnTo>
                    <a:pt x="5842" y="935736"/>
                  </a:lnTo>
                  <a:lnTo>
                    <a:pt x="381" y="938911"/>
                  </a:lnTo>
                  <a:lnTo>
                    <a:pt x="288734" y="1441132"/>
                  </a:lnTo>
                  <a:lnTo>
                    <a:pt x="0" y="2100326"/>
                  </a:lnTo>
                  <a:lnTo>
                    <a:pt x="2641" y="2101519"/>
                  </a:lnTo>
                  <a:lnTo>
                    <a:pt x="4165" y="2102408"/>
                  </a:lnTo>
                  <a:lnTo>
                    <a:pt x="5588" y="2103628"/>
                  </a:lnTo>
                  <a:lnTo>
                    <a:pt x="3048" y="2108835"/>
                  </a:lnTo>
                  <a:lnTo>
                    <a:pt x="855167" y="2531707"/>
                  </a:lnTo>
                  <a:lnTo>
                    <a:pt x="841121" y="2560066"/>
                  </a:lnTo>
                  <a:lnTo>
                    <a:pt x="926211" y="2559812"/>
                  </a:lnTo>
                  <a:lnTo>
                    <a:pt x="913041" y="2542400"/>
                  </a:lnTo>
                  <a:lnTo>
                    <a:pt x="937768" y="2558796"/>
                  </a:lnTo>
                  <a:lnTo>
                    <a:pt x="937729" y="2558275"/>
                  </a:lnTo>
                  <a:lnTo>
                    <a:pt x="939152" y="2503424"/>
                  </a:lnTo>
                  <a:lnTo>
                    <a:pt x="939927" y="2473071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52898" y="3151534"/>
              <a:ext cx="405655" cy="407102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696461" y="3175253"/>
              <a:ext cx="323215" cy="325120"/>
            </a:xfrm>
            <a:custGeom>
              <a:avLst/>
              <a:gdLst/>
              <a:ahLst/>
              <a:cxnLst/>
              <a:rect l="l" t="t" r="r" b="b"/>
              <a:pathLst>
                <a:path w="323214" h="325120">
                  <a:moveTo>
                    <a:pt x="161543" y="0"/>
                  </a:moveTo>
                  <a:lnTo>
                    <a:pt x="118577" y="5796"/>
                  </a:lnTo>
                  <a:lnTo>
                    <a:pt x="79981" y="22154"/>
                  </a:lnTo>
                  <a:lnTo>
                    <a:pt x="47291" y="47529"/>
                  </a:lnTo>
                  <a:lnTo>
                    <a:pt x="22041" y="80376"/>
                  </a:lnTo>
                  <a:lnTo>
                    <a:pt x="5766" y="119150"/>
                  </a:lnTo>
                  <a:lnTo>
                    <a:pt x="0" y="162306"/>
                  </a:lnTo>
                  <a:lnTo>
                    <a:pt x="5766" y="205461"/>
                  </a:lnTo>
                  <a:lnTo>
                    <a:pt x="22041" y="244235"/>
                  </a:lnTo>
                  <a:lnTo>
                    <a:pt x="47291" y="277082"/>
                  </a:lnTo>
                  <a:lnTo>
                    <a:pt x="79981" y="302457"/>
                  </a:lnTo>
                  <a:lnTo>
                    <a:pt x="118577" y="318815"/>
                  </a:lnTo>
                  <a:lnTo>
                    <a:pt x="161543" y="324612"/>
                  </a:lnTo>
                  <a:lnTo>
                    <a:pt x="204510" y="318815"/>
                  </a:lnTo>
                  <a:lnTo>
                    <a:pt x="243106" y="302457"/>
                  </a:lnTo>
                  <a:lnTo>
                    <a:pt x="275796" y="277082"/>
                  </a:lnTo>
                  <a:lnTo>
                    <a:pt x="301046" y="244235"/>
                  </a:lnTo>
                  <a:lnTo>
                    <a:pt x="317321" y="205461"/>
                  </a:lnTo>
                  <a:lnTo>
                    <a:pt x="323088" y="162306"/>
                  </a:lnTo>
                  <a:lnTo>
                    <a:pt x="317321" y="119150"/>
                  </a:lnTo>
                  <a:lnTo>
                    <a:pt x="301046" y="80376"/>
                  </a:lnTo>
                  <a:lnTo>
                    <a:pt x="275796" y="47529"/>
                  </a:lnTo>
                  <a:lnTo>
                    <a:pt x="243106" y="22154"/>
                  </a:lnTo>
                  <a:lnTo>
                    <a:pt x="204510" y="5796"/>
                  </a:lnTo>
                  <a:lnTo>
                    <a:pt x="161543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696461" y="3175253"/>
              <a:ext cx="323215" cy="325120"/>
            </a:xfrm>
            <a:custGeom>
              <a:avLst/>
              <a:gdLst/>
              <a:ahLst/>
              <a:cxnLst/>
              <a:rect l="l" t="t" r="r" b="b"/>
              <a:pathLst>
                <a:path w="323214" h="325120">
                  <a:moveTo>
                    <a:pt x="0" y="162306"/>
                  </a:moveTo>
                  <a:lnTo>
                    <a:pt x="5766" y="119150"/>
                  </a:lnTo>
                  <a:lnTo>
                    <a:pt x="22041" y="80376"/>
                  </a:lnTo>
                  <a:lnTo>
                    <a:pt x="47291" y="47529"/>
                  </a:lnTo>
                  <a:lnTo>
                    <a:pt x="79981" y="22154"/>
                  </a:lnTo>
                  <a:lnTo>
                    <a:pt x="118577" y="5796"/>
                  </a:lnTo>
                  <a:lnTo>
                    <a:pt x="161543" y="0"/>
                  </a:lnTo>
                  <a:lnTo>
                    <a:pt x="204510" y="5796"/>
                  </a:lnTo>
                  <a:lnTo>
                    <a:pt x="243106" y="22154"/>
                  </a:lnTo>
                  <a:lnTo>
                    <a:pt x="275796" y="47529"/>
                  </a:lnTo>
                  <a:lnTo>
                    <a:pt x="301046" y="80376"/>
                  </a:lnTo>
                  <a:lnTo>
                    <a:pt x="317321" y="119150"/>
                  </a:lnTo>
                  <a:lnTo>
                    <a:pt x="323088" y="162306"/>
                  </a:lnTo>
                  <a:lnTo>
                    <a:pt x="317321" y="205461"/>
                  </a:lnTo>
                  <a:lnTo>
                    <a:pt x="301046" y="244235"/>
                  </a:lnTo>
                  <a:lnTo>
                    <a:pt x="275796" y="277082"/>
                  </a:lnTo>
                  <a:lnTo>
                    <a:pt x="243106" y="302457"/>
                  </a:lnTo>
                  <a:lnTo>
                    <a:pt x="204510" y="318815"/>
                  </a:lnTo>
                  <a:lnTo>
                    <a:pt x="161543" y="324612"/>
                  </a:lnTo>
                  <a:lnTo>
                    <a:pt x="118577" y="318815"/>
                  </a:lnTo>
                  <a:lnTo>
                    <a:pt x="79981" y="302457"/>
                  </a:lnTo>
                  <a:lnTo>
                    <a:pt x="47291" y="277082"/>
                  </a:lnTo>
                  <a:lnTo>
                    <a:pt x="22041" y="244235"/>
                  </a:lnTo>
                  <a:lnTo>
                    <a:pt x="5766" y="205461"/>
                  </a:lnTo>
                  <a:lnTo>
                    <a:pt x="0" y="162306"/>
                  </a:lnTo>
                  <a:close/>
                </a:path>
              </a:pathLst>
            </a:custGeom>
            <a:ln w="19811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804032" y="2820034"/>
              <a:ext cx="890905" cy="517525"/>
            </a:xfrm>
            <a:custGeom>
              <a:avLst/>
              <a:gdLst/>
              <a:ahLst/>
              <a:cxnLst/>
              <a:rect l="l" t="t" r="r" b="b"/>
              <a:pathLst>
                <a:path w="890904" h="517525">
                  <a:moveTo>
                    <a:pt x="821305" y="484554"/>
                  </a:moveTo>
                  <a:lnTo>
                    <a:pt x="805433" y="512063"/>
                  </a:lnTo>
                  <a:lnTo>
                    <a:pt x="890524" y="517143"/>
                  </a:lnTo>
                  <a:lnTo>
                    <a:pt x="873154" y="490854"/>
                  </a:lnTo>
                  <a:lnTo>
                    <a:pt x="832231" y="490854"/>
                  </a:lnTo>
                  <a:lnTo>
                    <a:pt x="821305" y="484554"/>
                  </a:lnTo>
                  <a:close/>
                </a:path>
                <a:path w="890904" h="517525">
                  <a:moveTo>
                    <a:pt x="827672" y="473517"/>
                  </a:moveTo>
                  <a:lnTo>
                    <a:pt x="821305" y="484554"/>
                  </a:lnTo>
                  <a:lnTo>
                    <a:pt x="832231" y="490854"/>
                  </a:lnTo>
                  <a:lnTo>
                    <a:pt x="838581" y="479805"/>
                  </a:lnTo>
                  <a:lnTo>
                    <a:pt x="827672" y="473517"/>
                  </a:lnTo>
                  <a:close/>
                </a:path>
                <a:path w="890904" h="517525">
                  <a:moveTo>
                    <a:pt x="843533" y="446024"/>
                  </a:moveTo>
                  <a:lnTo>
                    <a:pt x="827672" y="473517"/>
                  </a:lnTo>
                  <a:lnTo>
                    <a:pt x="838581" y="479805"/>
                  </a:lnTo>
                  <a:lnTo>
                    <a:pt x="832231" y="490854"/>
                  </a:lnTo>
                  <a:lnTo>
                    <a:pt x="873154" y="490854"/>
                  </a:lnTo>
                  <a:lnTo>
                    <a:pt x="843533" y="446024"/>
                  </a:lnTo>
                  <a:close/>
                </a:path>
                <a:path w="890904" h="517525">
                  <a:moveTo>
                    <a:pt x="6350" y="0"/>
                  </a:moveTo>
                  <a:lnTo>
                    <a:pt x="0" y="10922"/>
                  </a:lnTo>
                  <a:lnTo>
                    <a:pt x="821305" y="484554"/>
                  </a:lnTo>
                  <a:lnTo>
                    <a:pt x="827672" y="473517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52898" y="3663598"/>
              <a:ext cx="405655" cy="407102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3696461" y="3687317"/>
              <a:ext cx="323215" cy="325120"/>
            </a:xfrm>
            <a:custGeom>
              <a:avLst/>
              <a:gdLst/>
              <a:ahLst/>
              <a:cxnLst/>
              <a:rect l="l" t="t" r="r" b="b"/>
              <a:pathLst>
                <a:path w="323214" h="325120">
                  <a:moveTo>
                    <a:pt x="161543" y="0"/>
                  </a:moveTo>
                  <a:lnTo>
                    <a:pt x="118577" y="5796"/>
                  </a:lnTo>
                  <a:lnTo>
                    <a:pt x="79981" y="22154"/>
                  </a:lnTo>
                  <a:lnTo>
                    <a:pt x="47291" y="47529"/>
                  </a:lnTo>
                  <a:lnTo>
                    <a:pt x="22041" y="80376"/>
                  </a:lnTo>
                  <a:lnTo>
                    <a:pt x="5766" y="119150"/>
                  </a:lnTo>
                  <a:lnTo>
                    <a:pt x="0" y="162305"/>
                  </a:lnTo>
                  <a:lnTo>
                    <a:pt x="5766" y="205461"/>
                  </a:lnTo>
                  <a:lnTo>
                    <a:pt x="22041" y="244235"/>
                  </a:lnTo>
                  <a:lnTo>
                    <a:pt x="47291" y="277082"/>
                  </a:lnTo>
                  <a:lnTo>
                    <a:pt x="79981" y="302457"/>
                  </a:lnTo>
                  <a:lnTo>
                    <a:pt x="118577" y="318815"/>
                  </a:lnTo>
                  <a:lnTo>
                    <a:pt x="161543" y="324611"/>
                  </a:lnTo>
                  <a:lnTo>
                    <a:pt x="204510" y="318815"/>
                  </a:lnTo>
                  <a:lnTo>
                    <a:pt x="243106" y="302457"/>
                  </a:lnTo>
                  <a:lnTo>
                    <a:pt x="275796" y="277082"/>
                  </a:lnTo>
                  <a:lnTo>
                    <a:pt x="301046" y="244235"/>
                  </a:lnTo>
                  <a:lnTo>
                    <a:pt x="317321" y="205461"/>
                  </a:lnTo>
                  <a:lnTo>
                    <a:pt x="323088" y="162305"/>
                  </a:lnTo>
                  <a:lnTo>
                    <a:pt x="317321" y="119150"/>
                  </a:lnTo>
                  <a:lnTo>
                    <a:pt x="301046" y="80376"/>
                  </a:lnTo>
                  <a:lnTo>
                    <a:pt x="275796" y="47529"/>
                  </a:lnTo>
                  <a:lnTo>
                    <a:pt x="243106" y="22154"/>
                  </a:lnTo>
                  <a:lnTo>
                    <a:pt x="204510" y="5796"/>
                  </a:lnTo>
                  <a:lnTo>
                    <a:pt x="161543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696461" y="3687317"/>
              <a:ext cx="323215" cy="325120"/>
            </a:xfrm>
            <a:custGeom>
              <a:avLst/>
              <a:gdLst/>
              <a:ahLst/>
              <a:cxnLst/>
              <a:rect l="l" t="t" r="r" b="b"/>
              <a:pathLst>
                <a:path w="323214" h="325120">
                  <a:moveTo>
                    <a:pt x="0" y="162305"/>
                  </a:moveTo>
                  <a:lnTo>
                    <a:pt x="5766" y="119150"/>
                  </a:lnTo>
                  <a:lnTo>
                    <a:pt x="22041" y="80376"/>
                  </a:lnTo>
                  <a:lnTo>
                    <a:pt x="47291" y="47529"/>
                  </a:lnTo>
                  <a:lnTo>
                    <a:pt x="79981" y="22154"/>
                  </a:lnTo>
                  <a:lnTo>
                    <a:pt x="118577" y="5796"/>
                  </a:lnTo>
                  <a:lnTo>
                    <a:pt x="161543" y="0"/>
                  </a:lnTo>
                  <a:lnTo>
                    <a:pt x="204510" y="5796"/>
                  </a:lnTo>
                  <a:lnTo>
                    <a:pt x="243106" y="22154"/>
                  </a:lnTo>
                  <a:lnTo>
                    <a:pt x="275796" y="47529"/>
                  </a:lnTo>
                  <a:lnTo>
                    <a:pt x="301046" y="80376"/>
                  </a:lnTo>
                  <a:lnTo>
                    <a:pt x="317321" y="119150"/>
                  </a:lnTo>
                  <a:lnTo>
                    <a:pt x="323088" y="162305"/>
                  </a:lnTo>
                  <a:lnTo>
                    <a:pt x="317321" y="205461"/>
                  </a:lnTo>
                  <a:lnTo>
                    <a:pt x="301046" y="244235"/>
                  </a:lnTo>
                  <a:lnTo>
                    <a:pt x="275796" y="277082"/>
                  </a:lnTo>
                  <a:lnTo>
                    <a:pt x="243106" y="302457"/>
                  </a:lnTo>
                  <a:lnTo>
                    <a:pt x="204510" y="318815"/>
                  </a:lnTo>
                  <a:lnTo>
                    <a:pt x="161543" y="324611"/>
                  </a:lnTo>
                  <a:lnTo>
                    <a:pt x="118577" y="318815"/>
                  </a:lnTo>
                  <a:lnTo>
                    <a:pt x="79981" y="302457"/>
                  </a:lnTo>
                  <a:lnTo>
                    <a:pt x="47291" y="277082"/>
                  </a:lnTo>
                  <a:lnTo>
                    <a:pt x="22041" y="244235"/>
                  </a:lnTo>
                  <a:lnTo>
                    <a:pt x="5766" y="205461"/>
                  </a:lnTo>
                  <a:lnTo>
                    <a:pt x="0" y="162305"/>
                  </a:lnTo>
                  <a:close/>
                </a:path>
              </a:pathLst>
            </a:custGeom>
            <a:ln w="19811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802381" y="2821304"/>
              <a:ext cx="892175" cy="1027430"/>
            </a:xfrm>
            <a:custGeom>
              <a:avLst/>
              <a:gdLst/>
              <a:ahLst/>
              <a:cxnLst/>
              <a:rect l="l" t="t" r="r" b="b"/>
              <a:pathLst>
                <a:path w="892175" h="1027429">
                  <a:moveTo>
                    <a:pt x="837374" y="974022"/>
                  </a:moveTo>
                  <a:lnTo>
                    <a:pt x="813434" y="994791"/>
                  </a:lnTo>
                  <a:lnTo>
                    <a:pt x="892175" y="1027430"/>
                  </a:lnTo>
                  <a:lnTo>
                    <a:pt x="880917" y="983615"/>
                  </a:lnTo>
                  <a:lnTo>
                    <a:pt x="845693" y="983615"/>
                  </a:lnTo>
                  <a:lnTo>
                    <a:pt x="837374" y="974022"/>
                  </a:lnTo>
                  <a:close/>
                </a:path>
                <a:path w="892175" h="1027429">
                  <a:moveTo>
                    <a:pt x="846968" y="965699"/>
                  </a:moveTo>
                  <a:lnTo>
                    <a:pt x="837374" y="974022"/>
                  </a:lnTo>
                  <a:lnTo>
                    <a:pt x="845693" y="983615"/>
                  </a:lnTo>
                  <a:lnTo>
                    <a:pt x="855344" y="975360"/>
                  </a:lnTo>
                  <a:lnTo>
                    <a:pt x="846968" y="965699"/>
                  </a:lnTo>
                  <a:close/>
                </a:path>
                <a:path w="892175" h="1027429">
                  <a:moveTo>
                    <a:pt x="870966" y="944880"/>
                  </a:moveTo>
                  <a:lnTo>
                    <a:pt x="846968" y="965699"/>
                  </a:lnTo>
                  <a:lnTo>
                    <a:pt x="855344" y="975360"/>
                  </a:lnTo>
                  <a:lnTo>
                    <a:pt x="845693" y="983615"/>
                  </a:lnTo>
                  <a:lnTo>
                    <a:pt x="880917" y="983615"/>
                  </a:lnTo>
                  <a:lnTo>
                    <a:pt x="870966" y="944880"/>
                  </a:lnTo>
                  <a:close/>
                </a:path>
                <a:path w="892175" h="1027429">
                  <a:moveTo>
                    <a:pt x="9651" y="0"/>
                  </a:moveTo>
                  <a:lnTo>
                    <a:pt x="0" y="8382"/>
                  </a:lnTo>
                  <a:lnTo>
                    <a:pt x="837374" y="974022"/>
                  </a:lnTo>
                  <a:lnTo>
                    <a:pt x="846968" y="965699"/>
                  </a:lnTo>
                  <a:lnTo>
                    <a:pt x="9651" y="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52898" y="4175617"/>
              <a:ext cx="405655" cy="405655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3696461" y="4199381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161543" y="0"/>
                  </a:moveTo>
                  <a:lnTo>
                    <a:pt x="118577" y="5766"/>
                  </a:lnTo>
                  <a:lnTo>
                    <a:pt x="79981" y="22041"/>
                  </a:lnTo>
                  <a:lnTo>
                    <a:pt x="47291" y="47291"/>
                  </a:lnTo>
                  <a:lnTo>
                    <a:pt x="22041" y="79981"/>
                  </a:lnTo>
                  <a:lnTo>
                    <a:pt x="5766" y="118577"/>
                  </a:lnTo>
                  <a:lnTo>
                    <a:pt x="0" y="161544"/>
                  </a:lnTo>
                  <a:lnTo>
                    <a:pt x="5766" y="204510"/>
                  </a:lnTo>
                  <a:lnTo>
                    <a:pt x="22041" y="243106"/>
                  </a:lnTo>
                  <a:lnTo>
                    <a:pt x="47291" y="275796"/>
                  </a:lnTo>
                  <a:lnTo>
                    <a:pt x="79981" y="301046"/>
                  </a:lnTo>
                  <a:lnTo>
                    <a:pt x="118577" y="317321"/>
                  </a:lnTo>
                  <a:lnTo>
                    <a:pt x="161543" y="323088"/>
                  </a:lnTo>
                  <a:lnTo>
                    <a:pt x="204510" y="317321"/>
                  </a:lnTo>
                  <a:lnTo>
                    <a:pt x="243106" y="301046"/>
                  </a:lnTo>
                  <a:lnTo>
                    <a:pt x="275796" y="275796"/>
                  </a:lnTo>
                  <a:lnTo>
                    <a:pt x="301046" y="243106"/>
                  </a:lnTo>
                  <a:lnTo>
                    <a:pt x="317321" y="204510"/>
                  </a:lnTo>
                  <a:lnTo>
                    <a:pt x="323088" y="161544"/>
                  </a:lnTo>
                  <a:lnTo>
                    <a:pt x="317321" y="118577"/>
                  </a:lnTo>
                  <a:lnTo>
                    <a:pt x="301046" y="79981"/>
                  </a:lnTo>
                  <a:lnTo>
                    <a:pt x="275796" y="47291"/>
                  </a:lnTo>
                  <a:lnTo>
                    <a:pt x="243106" y="22041"/>
                  </a:lnTo>
                  <a:lnTo>
                    <a:pt x="204510" y="5766"/>
                  </a:lnTo>
                  <a:lnTo>
                    <a:pt x="161543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696461" y="4199381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0" y="161544"/>
                  </a:moveTo>
                  <a:lnTo>
                    <a:pt x="5766" y="118577"/>
                  </a:lnTo>
                  <a:lnTo>
                    <a:pt x="22041" y="79981"/>
                  </a:lnTo>
                  <a:lnTo>
                    <a:pt x="47291" y="47291"/>
                  </a:lnTo>
                  <a:lnTo>
                    <a:pt x="79981" y="22041"/>
                  </a:lnTo>
                  <a:lnTo>
                    <a:pt x="118577" y="5766"/>
                  </a:lnTo>
                  <a:lnTo>
                    <a:pt x="161543" y="0"/>
                  </a:lnTo>
                  <a:lnTo>
                    <a:pt x="204510" y="5766"/>
                  </a:lnTo>
                  <a:lnTo>
                    <a:pt x="243106" y="22041"/>
                  </a:lnTo>
                  <a:lnTo>
                    <a:pt x="275796" y="47291"/>
                  </a:lnTo>
                  <a:lnTo>
                    <a:pt x="301046" y="79981"/>
                  </a:lnTo>
                  <a:lnTo>
                    <a:pt x="317321" y="118577"/>
                  </a:lnTo>
                  <a:lnTo>
                    <a:pt x="323088" y="161544"/>
                  </a:lnTo>
                  <a:lnTo>
                    <a:pt x="317321" y="204510"/>
                  </a:lnTo>
                  <a:lnTo>
                    <a:pt x="301046" y="243106"/>
                  </a:lnTo>
                  <a:lnTo>
                    <a:pt x="275796" y="275796"/>
                  </a:lnTo>
                  <a:lnTo>
                    <a:pt x="243106" y="301046"/>
                  </a:lnTo>
                  <a:lnTo>
                    <a:pt x="204510" y="317321"/>
                  </a:lnTo>
                  <a:lnTo>
                    <a:pt x="161543" y="323088"/>
                  </a:lnTo>
                  <a:lnTo>
                    <a:pt x="118577" y="317321"/>
                  </a:lnTo>
                  <a:lnTo>
                    <a:pt x="79981" y="301046"/>
                  </a:lnTo>
                  <a:lnTo>
                    <a:pt x="47291" y="275796"/>
                  </a:lnTo>
                  <a:lnTo>
                    <a:pt x="22041" y="243106"/>
                  </a:lnTo>
                  <a:lnTo>
                    <a:pt x="5766" y="204510"/>
                  </a:lnTo>
                  <a:lnTo>
                    <a:pt x="0" y="161544"/>
                  </a:lnTo>
                  <a:close/>
                </a:path>
              </a:pathLst>
            </a:custGeom>
            <a:ln w="19812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801747" y="2822320"/>
              <a:ext cx="892810" cy="1538605"/>
            </a:xfrm>
            <a:custGeom>
              <a:avLst/>
              <a:gdLst/>
              <a:ahLst/>
              <a:cxnLst/>
              <a:rect l="l" t="t" r="r" b="b"/>
              <a:pathLst>
                <a:path w="892810" h="1538604">
                  <a:moveTo>
                    <a:pt x="849102" y="1475261"/>
                  </a:moveTo>
                  <a:lnTo>
                    <a:pt x="821689" y="1491106"/>
                  </a:lnTo>
                  <a:lnTo>
                    <a:pt x="892810" y="1538096"/>
                  </a:lnTo>
                  <a:lnTo>
                    <a:pt x="889639" y="1486280"/>
                  </a:lnTo>
                  <a:lnTo>
                    <a:pt x="855472" y="1486280"/>
                  </a:lnTo>
                  <a:lnTo>
                    <a:pt x="849102" y="1475261"/>
                  </a:lnTo>
                  <a:close/>
                </a:path>
                <a:path w="892810" h="1538604">
                  <a:moveTo>
                    <a:pt x="860134" y="1468884"/>
                  </a:moveTo>
                  <a:lnTo>
                    <a:pt x="849102" y="1475261"/>
                  </a:lnTo>
                  <a:lnTo>
                    <a:pt x="855472" y="1486280"/>
                  </a:lnTo>
                  <a:lnTo>
                    <a:pt x="866520" y="1479930"/>
                  </a:lnTo>
                  <a:lnTo>
                    <a:pt x="860134" y="1468884"/>
                  </a:lnTo>
                  <a:close/>
                </a:path>
                <a:path w="892810" h="1538604">
                  <a:moveTo>
                    <a:pt x="887602" y="1453006"/>
                  </a:moveTo>
                  <a:lnTo>
                    <a:pt x="860134" y="1468884"/>
                  </a:lnTo>
                  <a:lnTo>
                    <a:pt x="866520" y="1479930"/>
                  </a:lnTo>
                  <a:lnTo>
                    <a:pt x="855472" y="1486280"/>
                  </a:lnTo>
                  <a:lnTo>
                    <a:pt x="889639" y="1486280"/>
                  </a:lnTo>
                  <a:lnTo>
                    <a:pt x="887602" y="1453006"/>
                  </a:lnTo>
                  <a:close/>
                </a:path>
                <a:path w="892810" h="1538604">
                  <a:moveTo>
                    <a:pt x="10921" y="0"/>
                  </a:moveTo>
                  <a:lnTo>
                    <a:pt x="0" y="6350"/>
                  </a:lnTo>
                  <a:lnTo>
                    <a:pt x="849102" y="1475261"/>
                  </a:lnTo>
                  <a:lnTo>
                    <a:pt x="860134" y="1468884"/>
                  </a:lnTo>
                  <a:lnTo>
                    <a:pt x="10921" y="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52898" y="4686202"/>
              <a:ext cx="405655" cy="407102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3696461" y="4709922"/>
              <a:ext cx="323215" cy="325120"/>
            </a:xfrm>
            <a:custGeom>
              <a:avLst/>
              <a:gdLst/>
              <a:ahLst/>
              <a:cxnLst/>
              <a:rect l="l" t="t" r="r" b="b"/>
              <a:pathLst>
                <a:path w="323214" h="325120">
                  <a:moveTo>
                    <a:pt x="161543" y="0"/>
                  </a:moveTo>
                  <a:lnTo>
                    <a:pt x="118577" y="5796"/>
                  </a:lnTo>
                  <a:lnTo>
                    <a:pt x="79981" y="22154"/>
                  </a:lnTo>
                  <a:lnTo>
                    <a:pt x="47291" y="47529"/>
                  </a:lnTo>
                  <a:lnTo>
                    <a:pt x="22041" y="80376"/>
                  </a:lnTo>
                  <a:lnTo>
                    <a:pt x="5766" y="119150"/>
                  </a:lnTo>
                  <a:lnTo>
                    <a:pt x="0" y="162305"/>
                  </a:lnTo>
                  <a:lnTo>
                    <a:pt x="5766" y="205461"/>
                  </a:lnTo>
                  <a:lnTo>
                    <a:pt x="22041" y="244235"/>
                  </a:lnTo>
                  <a:lnTo>
                    <a:pt x="47291" y="277082"/>
                  </a:lnTo>
                  <a:lnTo>
                    <a:pt x="79981" y="302457"/>
                  </a:lnTo>
                  <a:lnTo>
                    <a:pt x="118577" y="318815"/>
                  </a:lnTo>
                  <a:lnTo>
                    <a:pt x="161543" y="324611"/>
                  </a:lnTo>
                  <a:lnTo>
                    <a:pt x="204510" y="318815"/>
                  </a:lnTo>
                  <a:lnTo>
                    <a:pt x="243106" y="302457"/>
                  </a:lnTo>
                  <a:lnTo>
                    <a:pt x="275796" y="277082"/>
                  </a:lnTo>
                  <a:lnTo>
                    <a:pt x="301046" y="244235"/>
                  </a:lnTo>
                  <a:lnTo>
                    <a:pt x="317321" y="205461"/>
                  </a:lnTo>
                  <a:lnTo>
                    <a:pt x="323088" y="162305"/>
                  </a:lnTo>
                  <a:lnTo>
                    <a:pt x="317321" y="119150"/>
                  </a:lnTo>
                  <a:lnTo>
                    <a:pt x="301046" y="80376"/>
                  </a:lnTo>
                  <a:lnTo>
                    <a:pt x="275796" y="47529"/>
                  </a:lnTo>
                  <a:lnTo>
                    <a:pt x="243106" y="22154"/>
                  </a:lnTo>
                  <a:lnTo>
                    <a:pt x="204510" y="5796"/>
                  </a:lnTo>
                  <a:lnTo>
                    <a:pt x="161543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96461" y="4709922"/>
              <a:ext cx="323215" cy="325120"/>
            </a:xfrm>
            <a:custGeom>
              <a:avLst/>
              <a:gdLst/>
              <a:ahLst/>
              <a:cxnLst/>
              <a:rect l="l" t="t" r="r" b="b"/>
              <a:pathLst>
                <a:path w="323214" h="325120">
                  <a:moveTo>
                    <a:pt x="0" y="162305"/>
                  </a:moveTo>
                  <a:lnTo>
                    <a:pt x="5766" y="119150"/>
                  </a:lnTo>
                  <a:lnTo>
                    <a:pt x="22041" y="80376"/>
                  </a:lnTo>
                  <a:lnTo>
                    <a:pt x="47291" y="47529"/>
                  </a:lnTo>
                  <a:lnTo>
                    <a:pt x="79981" y="22154"/>
                  </a:lnTo>
                  <a:lnTo>
                    <a:pt x="118577" y="5796"/>
                  </a:lnTo>
                  <a:lnTo>
                    <a:pt x="161543" y="0"/>
                  </a:lnTo>
                  <a:lnTo>
                    <a:pt x="204510" y="5796"/>
                  </a:lnTo>
                  <a:lnTo>
                    <a:pt x="243106" y="22154"/>
                  </a:lnTo>
                  <a:lnTo>
                    <a:pt x="275796" y="47529"/>
                  </a:lnTo>
                  <a:lnTo>
                    <a:pt x="301046" y="80376"/>
                  </a:lnTo>
                  <a:lnTo>
                    <a:pt x="317321" y="119150"/>
                  </a:lnTo>
                  <a:lnTo>
                    <a:pt x="323088" y="162305"/>
                  </a:lnTo>
                  <a:lnTo>
                    <a:pt x="317321" y="205461"/>
                  </a:lnTo>
                  <a:lnTo>
                    <a:pt x="301046" y="244235"/>
                  </a:lnTo>
                  <a:lnTo>
                    <a:pt x="275796" y="277082"/>
                  </a:lnTo>
                  <a:lnTo>
                    <a:pt x="243106" y="302457"/>
                  </a:lnTo>
                  <a:lnTo>
                    <a:pt x="204510" y="318815"/>
                  </a:lnTo>
                  <a:lnTo>
                    <a:pt x="161543" y="324611"/>
                  </a:lnTo>
                  <a:lnTo>
                    <a:pt x="118577" y="318815"/>
                  </a:lnTo>
                  <a:lnTo>
                    <a:pt x="79981" y="302457"/>
                  </a:lnTo>
                  <a:lnTo>
                    <a:pt x="47291" y="277082"/>
                  </a:lnTo>
                  <a:lnTo>
                    <a:pt x="22041" y="244235"/>
                  </a:lnTo>
                  <a:lnTo>
                    <a:pt x="5766" y="205461"/>
                  </a:lnTo>
                  <a:lnTo>
                    <a:pt x="0" y="162305"/>
                  </a:lnTo>
                  <a:close/>
                </a:path>
              </a:pathLst>
            </a:custGeom>
            <a:ln w="19812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801366" y="2822955"/>
              <a:ext cx="897890" cy="2566670"/>
            </a:xfrm>
            <a:custGeom>
              <a:avLst/>
              <a:gdLst/>
              <a:ahLst/>
              <a:cxnLst/>
              <a:rect l="l" t="t" r="r" b="b"/>
              <a:pathLst>
                <a:path w="897889" h="2566670">
                  <a:moveTo>
                    <a:pt x="897763" y="599694"/>
                  </a:moveTo>
                  <a:lnTo>
                    <a:pt x="896175" y="570357"/>
                  </a:lnTo>
                  <a:lnTo>
                    <a:pt x="893191" y="514604"/>
                  </a:lnTo>
                  <a:lnTo>
                    <a:pt x="880491" y="508254"/>
                  </a:lnTo>
                  <a:lnTo>
                    <a:pt x="845439" y="490728"/>
                  </a:lnTo>
                  <a:lnTo>
                    <a:pt x="845439" y="584428"/>
                  </a:lnTo>
                  <a:lnTo>
                    <a:pt x="843432" y="587908"/>
                  </a:lnTo>
                  <a:lnTo>
                    <a:pt x="843432" y="613333"/>
                  </a:lnTo>
                  <a:lnTo>
                    <a:pt x="712685" y="914857"/>
                  </a:lnTo>
                  <a:lnTo>
                    <a:pt x="707593" y="911923"/>
                  </a:lnTo>
                  <a:lnTo>
                    <a:pt x="707593" y="926617"/>
                  </a:lnTo>
                  <a:lnTo>
                    <a:pt x="667626" y="1018794"/>
                  </a:lnTo>
                  <a:lnTo>
                    <a:pt x="662114" y="1018794"/>
                  </a:lnTo>
                  <a:lnTo>
                    <a:pt x="662114" y="1031494"/>
                  </a:lnTo>
                  <a:lnTo>
                    <a:pt x="595541" y="1185024"/>
                  </a:lnTo>
                  <a:lnTo>
                    <a:pt x="586816" y="1174965"/>
                  </a:lnTo>
                  <a:lnTo>
                    <a:pt x="586816" y="1194371"/>
                  </a:lnTo>
                  <a:lnTo>
                    <a:pt x="584555" y="1195679"/>
                  </a:lnTo>
                  <a:lnTo>
                    <a:pt x="584555" y="1210398"/>
                  </a:lnTo>
                  <a:lnTo>
                    <a:pt x="560489" y="1265885"/>
                  </a:lnTo>
                  <a:lnTo>
                    <a:pt x="553554" y="1249883"/>
                  </a:lnTo>
                  <a:lnTo>
                    <a:pt x="553554" y="1281861"/>
                  </a:lnTo>
                  <a:lnTo>
                    <a:pt x="535597" y="1323301"/>
                  </a:lnTo>
                  <a:lnTo>
                    <a:pt x="530504" y="1320368"/>
                  </a:lnTo>
                  <a:lnTo>
                    <a:pt x="530504" y="1335024"/>
                  </a:lnTo>
                  <a:lnTo>
                    <a:pt x="512038" y="1377619"/>
                  </a:lnTo>
                  <a:lnTo>
                    <a:pt x="505739" y="1366723"/>
                  </a:lnTo>
                  <a:lnTo>
                    <a:pt x="505739" y="1392148"/>
                  </a:lnTo>
                  <a:lnTo>
                    <a:pt x="447979" y="1525371"/>
                  </a:lnTo>
                  <a:lnTo>
                    <a:pt x="435889" y="1511427"/>
                  </a:lnTo>
                  <a:lnTo>
                    <a:pt x="435889" y="1530858"/>
                  </a:lnTo>
                  <a:lnTo>
                    <a:pt x="435140" y="1530858"/>
                  </a:lnTo>
                  <a:lnTo>
                    <a:pt x="435140" y="1543558"/>
                  </a:lnTo>
                  <a:lnTo>
                    <a:pt x="428167" y="1551609"/>
                  </a:lnTo>
                  <a:lnTo>
                    <a:pt x="428167" y="1571066"/>
                  </a:lnTo>
                  <a:lnTo>
                    <a:pt x="357974" y="1732953"/>
                  </a:lnTo>
                  <a:lnTo>
                    <a:pt x="352894" y="1730032"/>
                  </a:lnTo>
                  <a:lnTo>
                    <a:pt x="352894" y="1744662"/>
                  </a:lnTo>
                  <a:lnTo>
                    <a:pt x="297002" y="1873567"/>
                  </a:lnTo>
                  <a:lnTo>
                    <a:pt x="288493" y="1878482"/>
                  </a:lnTo>
                  <a:lnTo>
                    <a:pt x="288493" y="1893189"/>
                  </a:lnTo>
                  <a:lnTo>
                    <a:pt x="223558" y="2042922"/>
                  </a:lnTo>
                  <a:lnTo>
                    <a:pt x="28829" y="2042922"/>
                  </a:lnTo>
                  <a:lnTo>
                    <a:pt x="288493" y="1893189"/>
                  </a:lnTo>
                  <a:lnTo>
                    <a:pt x="288493" y="1878482"/>
                  </a:lnTo>
                  <a:lnTo>
                    <a:pt x="34734" y="2024811"/>
                  </a:lnTo>
                  <a:lnTo>
                    <a:pt x="302729" y="1715731"/>
                  </a:lnTo>
                  <a:lnTo>
                    <a:pt x="352894" y="1744662"/>
                  </a:lnTo>
                  <a:lnTo>
                    <a:pt x="352894" y="1730032"/>
                  </a:lnTo>
                  <a:lnTo>
                    <a:pt x="311175" y="1705978"/>
                  </a:lnTo>
                  <a:lnTo>
                    <a:pt x="428167" y="1571066"/>
                  </a:lnTo>
                  <a:lnTo>
                    <a:pt x="428167" y="1551609"/>
                  </a:lnTo>
                  <a:lnTo>
                    <a:pt x="299923" y="1699488"/>
                  </a:lnTo>
                  <a:lnTo>
                    <a:pt x="291465" y="1694611"/>
                  </a:lnTo>
                  <a:lnTo>
                    <a:pt x="291465" y="1709242"/>
                  </a:lnTo>
                  <a:lnTo>
                    <a:pt x="46634" y="1991588"/>
                  </a:lnTo>
                  <a:lnTo>
                    <a:pt x="230276" y="1673936"/>
                  </a:lnTo>
                  <a:lnTo>
                    <a:pt x="291465" y="1709242"/>
                  </a:lnTo>
                  <a:lnTo>
                    <a:pt x="291465" y="1694611"/>
                  </a:lnTo>
                  <a:lnTo>
                    <a:pt x="236613" y="1662976"/>
                  </a:lnTo>
                  <a:lnTo>
                    <a:pt x="305650" y="1543558"/>
                  </a:lnTo>
                  <a:lnTo>
                    <a:pt x="435140" y="1543558"/>
                  </a:lnTo>
                  <a:lnTo>
                    <a:pt x="435140" y="1530858"/>
                  </a:lnTo>
                  <a:lnTo>
                    <a:pt x="312991" y="1530858"/>
                  </a:lnTo>
                  <a:lnTo>
                    <a:pt x="362153" y="1445831"/>
                  </a:lnTo>
                  <a:lnTo>
                    <a:pt x="435889" y="1530858"/>
                  </a:lnTo>
                  <a:lnTo>
                    <a:pt x="435889" y="1511427"/>
                  </a:lnTo>
                  <a:lnTo>
                    <a:pt x="368896" y="1434160"/>
                  </a:lnTo>
                  <a:lnTo>
                    <a:pt x="449478" y="1294790"/>
                  </a:lnTo>
                  <a:lnTo>
                    <a:pt x="505739" y="1392148"/>
                  </a:lnTo>
                  <a:lnTo>
                    <a:pt x="505739" y="1366723"/>
                  </a:lnTo>
                  <a:lnTo>
                    <a:pt x="465874" y="1297736"/>
                  </a:lnTo>
                  <a:lnTo>
                    <a:pt x="530504" y="1335024"/>
                  </a:lnTo>
                  <a:lnTo>
                    <a:pt x="530504" y="1320368"/>
                  </a:lnTo>
                  <a:lnTo>
                    <a:pt x="462178" y="1280960"/>
                  </a:lnTo>
                  <a:lnTo>
                    <a:pt x="534974" y="1238986"/>
                  </a:lnTo>
                  <a:lnTo>
                    <a:pt x="553554" y="1281861"/>
                  </a:lnTo>
                  <a:lnTo>
                    <a:pt x="553554" y="1249883"/>
                  </a:lnTo>
                  <a:lnTo>
                    <a:pt x="546061" y="1232585"/>
                  </a:lnTo>
                  <a:lnTo>
                    <a:pt x="584555" y="1210398"/>
                  </a:lnTo>
                  <a:lnTo>
                    <a:pt x="584555" y="1195679"/>
                  </a:lnTo>
                  <a:lnTo>
                    <a:pt x="540956" y="1220812"/>
                  </a:lnTo>
                  <a:lnTo>
                    <a:pt x="529869" y="1195247"/>
                  </a:lnTo>
                  <a:lnTo>
                    <a:pt x="529869" y="1227213"/>
                  </a:lnTo>
                  <a:lnTo>
                    <a:pt x="467868" y="1262976"/>
                  </a:lnTo>
                  <a:lnTo>
                    <a:pt x="512152" y="1186370"/>
                  </a:lnTo>
                  <a:lnTo>
                    <a:pt x="529869" y="1227213"/>
                  </a:lnTo>
                  <a:lnTo>
                    <a:pt x="529869" y="1195247"/>
                  </a:lnTo>
                  <a:lnTo>
                    <a:pt x="520077" y="1172667"/>
                  </a:lnTo>
                  <a:lnTo>
                    <a:pt x="539242" y="1139507"/>
                  </a:lnTo>
                  <a:lnTo>
                    <a:pt x="586816" y="1194371"/>
                  </a:lnTo>
                  <a:lnTo>
                    <a:pt x="586816" y="1174965"/>
                  </a:lnTo>
                  <a:lnTo>
                    <a:pt x="545973" y="1127861"/>
                  </a:lnTo>
                  <a:lnTo>
                    <a:pt x="601687" y="1031494"/>
                  </a:lnTo>
                  <a:lnTo>
                    <a:pt x="662114" y="1031494"/>
                  </a:lnTo>
                  <a:lnTo>
                    <a:pt x="662114" y="1018794"/>
                  </a:lnTo>
                  <a:lnTo>
                    <a:pt x="609028" y="1018794"/>
                  </a:lnTo>
                  <a:lnTo>
                    <a:pt x="673646" y="907034"/>
                  </a:lnTo>
                  <a:lnTo>
                    <a:pt x="707593" y="926617"/>
                  </a:lnTo>
                  <a:lnTo>
                    <a:pt x="707593" y="911923"/>
                  </a:lnTo>
                  <a:lnTo>
                    <a:pt x="680008" y="896010"/>
                  </a:lnTo>
                  <a:lnTo>
                    <a:pt x="843432" y="613333"/>
                  </a:lnTo>
                  <a:lnTo>
                    <a:pt x="843432" y="587908"/>
                  </a:lnTo>
                  <a:lnTo>
                    <a:pt x="668997" y="889660"/>
                  </a:lnTo>
                  <a:lnTo>
                    <a:pt x="662622" y="885990"/>
                  </a:lnTo>
                  <a:lnTo>
                    <a:pt x="662622" y="900684"/>
                  </a:lnTo>
                  <a:lnTo>
                    <a:pt x="594347" y="1018794"/>
                  </a:lnTo>
                  <a:lnTo>
                    <a:pt x="587006" y="1018794"/>
                  </a:lnTo>
                  <a:lnTo>
                    <a:pt x="587006" y="1031494"/>
                  </a:lnTo>
                  <a:lnTo>
                    <a:pt x="537171" y="1117701"/>
                  </a:lnTo>
                  <a:lnTo>
                    <a:pt x="530440" y="1109941"/>
                  </a:lnTo>
                  <a:lnTo>
                    <a:pt x="530440" y="1129360"/>
                  </a:lnTo>
                  <a:lnTo>
                    <a:pt x="513791" y="1158163"/>
                  </a:lnTo>
                  <a:lnTo>
                    <a:pt x="505866" y="1139888"/>
                  </a:lnTo>
                  <a:lnTo>
                    <a:pt x="505866" y="1171867"/>
                  </a:lnTo>
                  <a:lnTo>
                    <a:pt x="449478" y="1269415"/>
                  </a:lnTo>
                  <a:lnTo>
                    <a:pt x="436714" y="1247343"/>
                  </a:lnTo>
                  <a:lnTo>
                    <a:pt x="436714" y="1280934"/>
                  </a:lnTo>
                  <a:lnTo>
                    <a:pt x="433120" y="1283017"/>
                  </a:lnTo>
                  <a:lnTo>
                    <a:pt x="433120" y="1297711"/>
                  </a:lnTo>
                  <a:lnTo>
                    <a:pt x="360108" y="1424025"/>
                  </a:lnTo>
                  <a:lnTo>
                    <a:pt x="353364" y="1416253"/>
                  </a:lnTo>
                  <a:lnTo>
                    <a:pt x="353364" y="1435696"/>
                  </a:lnTo>
                  <a:lnTo>
                    <a:pt x="298348" y="1530858"/>
                  </a:lnTo>
                  <a:lnTo>
                    <a:pt x="291007" y="1530858"/>
                  </a:lnTo>
                  <a:lnTo>
                    <a:pt x="291007" y="1543558"/>
                  </a:lnTo>
                  <a:lnTo>
                    <a:pt x="225640" y="1656651"/>
                  </a:lnTo>
                  <a:lnTo>
                    <a:pt x="29502" y="1543558"/>
                  </a:lnTo>
                  <a:lnTo>
                    <a:pt x="291007" y="1543558"/>
                  </a:lnTo>
                  <a:lnTo>
                    <a:pt x="291007" y="1530858"/>
                  </a:lnTo>
                  <a:lnTo>
                    <a:pt x="28841" y="1530858"/>
                  </a:lnTo>
                  <a:lnTo>
                    <a:pt x="300189" y="1374368"/>
                  </a:lnTo>
                  <a:lnTo>
                    <a:pt x="353364" y="1435696"/>
                  </a:lnTo>
                  <a:lnTo>
                    <a:pt x="353364" y="1416253"/>
                  </a:lnTo>
                  <a:lnTo>
                    <a:pt x="311442" y="1367878"/>
                  </a:lnTo>
                  <a:lnTo>
                    <a:pt x="433120" y="1297711"/>
                  </a:lnTo>
                  <a:lnTo>
                    <a:pt x="433120" y="1283017"/>
                  </a:lnTo>
                  <a:lnTo>
                    <a:pt x="302945" y="1358074"/>
                  </a:lnTo>
                  <a:lnTo>
                    <a:pt x="291693" y="1345107"/>
                  </a:lnTo>
                  <a:lnTo>
                    <a:pt x="291693" y="1364564"/>
                  </a:lnTo>
                  <a:lnTo>
                    <a:pt x="37388" y="1511223"/>
                  </a:lnTo>
                  <a:lnTo>
                    <a:pt x="228130" y="1291259"/>
                  </a:lnTo>
                  <a:lnTo>
                    <a:pt x="291693" y="1364564"/>
                  </a:lnTo>
                  <a:lnTo>
                    <a:pt x="291693" y="1345107"/>
                  </a:lnTo>
                  <a:lnTo>
                    <a:pt x="236575" y="1281518"/>
                  </a:lnTo>
                  <a:lnTo>
                    <a:pt x="303631" y="1204188"/>
                  </a:lnTo>
                  <a:lnTo>
                    <a:pt x="436714" y="1280934"/>
                  </a:lnTo>
                  <a:lnTo>
                    <a:pt x="436714" y="1247343"/>
                  </a:lnTo>
                  <a:lnTo>
                    <a:pt x="431165" y="1237742"/>
                  </a:lnTo>
                  <a:lnTo>
                    <a:pt x="431165" y="1263078"/>
                  </a:lnTo>
                  <a:lnTo>
                    <a:pt x="312089" y="1194435"/>
                  </a:lnTo>
                  <a:lnTo>
                    <a:pt x="359727" y="1139507"/>
                  </a:lnTo>
                  <a:lnTo>
                    <a:pt x="431165" y="1263078"/>
                  </a:lnTo>
                  <a:lnTo>
                    <a:pt x="431165" y="1237742"/>
                  </a:lnTo>
                  <a:lnTo>
                    <a:pt x="368515" y="1129360"/>
                  </a:lnTo>
                  <a:lnTo>
                    <a:pt x="447802" y="1037932"/>
                  </a:lnTo>
                  <a:lnTo>
                    <a:pt x="505866" y="1171867"/>
                  </a:lnTo>
                  <a:lnTo>
                    <a:pt x="505866" y="1139888"/>
                  </a:lnTo>
                  <a:lnTo>
                    <a:pt x="472186" y="1062164"/>
                  </a:lnTo>
                  <a:lnTo>
                    <a:pt x="530440" y="1129360"/>
                  </a:lnTo>
                  <a:lnTo>
                    <a:pt x="530440" y="1109941"/>
                  </a:lnTo>
                  <a:lnTo>
                    <a:pt x="462445" y="1031494"/>
                  </a:lnTo>
                  <a:lnTo>
                    <a:pt x="587006" y="1031494"/>
                  </a:lnTo>
                  <a:lnTo>
                    <a:pt x="587006" y="1018794"/>
                  </a:lnTo>
                  <a:lnTo>
                    <a:pt x="464400" y="1018794"/>
                  </a:lnTo>
                  <a:lnTo>
                    <a:pt x="598766" y="863854"/>
                  </a:lnTo>
                  <a:lnTo>
                    <a:pt x="662622" y="900684"/>
                  </a:lnTo>
                  <a:lnTo>
                    <a:pt x="662622" y="885990"/>
                  </a:lnTo>
                  <a:lnTo>
                    <a:pt x="607250" y="854062"/>
                  </a:lnTo>
                  <a:lnTo>
                    <a:pt x="843699" y="581406"/>
                  </a:lnTo>
                  <a:lnTo>
                    <a:pt x="845439" y="584428"/>
                  </a:lnTo>
                  <a:lnTo>
                    <a:pt x="845439" y="490728"/>
                  </a:lnTo>
                  <a:lnTo>
                    <a:pt x="834669" y="485343"/>
                  </a:lnTo>
                  <a:lnTo>
                    <a:pt x="834669" y="572287"/>
                  </a:lnTo>
                  <a:lnTo>
                    <a:pt x="595972" y="847559"/>
                  </a:lnTo>
                  <a:lnTo>
                    <a:pt x="587476" y="842670"/>
                  </a:lnTo>
                  <a:lnTo>
                    <a:pt x="587476" y="857351"/>
                  </a:lnTo>
                  <a:lnTo>
                    <a:pt x="451408" y="1014272"/>
                  </a:lnTo>
                  <a:lnTo>
                    <a:pt x="436460" y="979805"/>
                  </a:lnTo>
                  <a:lnTo>
                    <a:pt x="436460" y="1031494"/>
                  </a:lnTo>
                  <a:lnTo>
                    <a:pt x="361746" y="1117650"/>
                  </a:lnTo>
                  <a:lnTo>
                    <a:pt x="352958" y="1102448"/>
                  </a:lnTo>
                  <a:lnTo>
                    <a:pt x="352958" y="1127798"/>
                  </a:lnTo>
                  <a:lnTo>
                    <a:pt x="300812" y="1187932"/>
                  </a:lnTo>
                  <a:lnTo>
                    <a:pt x="292354" y="1183055"/>
                  </a:lnTo>
                  <a:lnTo>
                    <a:pt x="292354" y="1197686"/>
                  </a:lnTo>
                  <a:lnTo>
                    <a:pt x="228117" y="1271765"/>
                  </a:lnTo>
                  <a:lnTo>
                    <a:pt x="35407" y="1049489"/>
                  </a:lnTo>
                  <a:lnTo>
                    <a:pt x="292354" y="1197686"/>
                  </a:lnTo>
                  <a:lnTo>
                    <a:pt x="292354" y="1183055"/>
                  </a:lnTo>
                  <a:lnTo>
                    <a:pt x="29502" y="1031494"/>
                  </a:lnTo>
                  <a:lnTo>
                    <a:pt x="297307" y="1031494"/>
                  </a:lnTo>
                  <a:lnTo>
                    <a:pt x="352958" y="1127798"/>
                  </a:lnTo>
                  <a:lnTo>
                    <a:pt x="352958" y="1102448"/>
                  </a:lnTo>
                  <a:lnTo>
                    <a:pt x="311950" y="1031494"/>
                  </a:lnTo>
                  <a:lnTo>
                    <a:pt x="436460" y="1031494"/>
                  </a:lnTo>
                  <a:lnTo>
                    <a:pt x="436460" y="979805"/>
                  </a:lnTo>
                  <a:lnTo>
                    <a:pt x="434568" y="975436"/>
                  </a:lnTo>
                  <a:lnTo>
                    <a:pt x="434568" y="1018794"/>
                  </a:lnTo>
                  <a:lnTo>
                    <a:pt x="304609" y="1018794"/>
                  </a:lnTo>
                  <a:lnTo>
                    <a:pt x="289966" y="993470"/>
                  </a:lnTo>
                  <a:lnTo>
                    <a:pt x="289966" y="1018794"/>
                  </a:lnTo>
                  <a:lnTo>
                    <a:pt x="31470" y="1018794"/>
                  </a:lnTo>
                  <a:lnTo>
                    <a:pt x="225348" y="906995"/>
                  </a:lnTo>
                  <a:lnTo>
                    <a:pt x="289966" y="1018794"/>
                  </a:lnTo>
                  <a:lnTo>
                    <a:pt x="289966" y="993470"/>
                  </a:lnTo>
                  <a:lnTo>
                    <a:pt x="236321" y="900671"/>
                  </a:lnTo>
                  <a:lnTo>
                    <a:pt x="300189" y="863828"/>
                  </a:lnTo>
                  <a:lnTo>
                    <a:pt x="434568" y="1018794"/>
                  </a:lnTo>
                  <a:lnTo>
                    <a:pt x="434568" y="975436"/>
                  </a:lnTo>
                  <a:lnTo>
                    <a:pt x="427583" y="959319"/>
                  </a:lnTo>
                  <a:lnTo>
                    <a:pt x="427583" y="991273"/>
                  </a:lnTo>
                  <a:lnTo>
                    <a:pt x="311454" y="857338"/>
                  </a:lnTo>
                  <a:lnTo>
                    <a:pt x="357886" y="830554"/>
                  </a:lnTo>
                  <a:lnTo>
                    <a:pt x="427583" y="991273"/>
                  </a:lnTo>
                  <a:lnTo>
                    <a:pt x="427583" y="959319"/>
                  </a:lnTo>
                  <a:lnTo>
                    <a:pt x="368985" y="824153"/>
                  </a:lnTo>
                  <a:lnTo>
                    <a:pt x="449465" y="777748"/>
                  </a:lnTo>
                  <a:lnTo>
                    <a:pt x="587476" y="857351"/>
                  </a:lnTo>
                  <a:lnTo>
                    <a:pt x="587476" y="842670"/>
                  </a:lnTo>
                  <a:lnTo>
                    <a:pt x="462178" y="770420"/>
                  </a:lnTo>
                  <a:lnTo>
                    <a:pt x="823290" y="562178"/>
                  </a:lnTo>
                  <a:lnTo>
                    <a:pt x="831062" y="566699"/>
                  </a:lnTo>
                  <a:lnTo>
                    <a:pt x="827913" y="569341"/>
                  </a:lnTo>
                  <a:lnTo>
                    <a:pt x="834669" y="572287"/>
                  </a:lnTo>
                  <a:lnTo>
                    <a:pt x="834669" y="485343"/>
                  </a:lnTo>
                  <a:lnTo>
                    <a:pt x="816991" y="476504"/>
                  </a:lnTo>
                  <a:lnTo>
                    <a:pt x="816991" y="508254"/>
                  </a:lnTo>
                  <a:lnTo>
                    <a:pt x="816991" y="535101"/>
                  </a:lnTo>
                  <a:lnTo>
                    <a:pt x="816991" y="546201"/>
                  </a:lnTo>
                  <a:lnTo>
                    <a:pt x="814451" y="547243"/>
                  </a:lnTo>
                  <a:lnTo>
                    <a:pt x="816991" y="549452"/>
                  </a:lnTo>
                  <a:lnTo>
                    <a:pt x="816991" y="551103"/>
                  </a:lnTo>
                  <a:lnTo>
                    <a:pt x="449414" y="763066"/>
                  </a:lnTo>
                  <a:lnTo>
                    <a:pt x="436714" y="755751"/>
                  </a:lnTo>
                  <a:lnTo>
                    <a:pt x="436714" y="770394"/>
                  </a:lnTo>
                  <a:lnTo>
                    <a:pt x="363893" y="812393"/>
                  </a:lnTo>
                  <a:lnTo>
                    <a:pt x="352793" y="786790"/>
                  </a:lnTo>
                  <a:lnTo>
                    <a:pt x="352793" y="818794"/>
                  </a:lnTo>
                  <a:lnTo>
                    <a:pt x="302945" y="847534"/>
                  </a:lnTo>
                  <a:lnTo>
                    <a:pt x="291693" y="834567"/>
                  </a:lnTo>
                  <a:lnTo>
                    <a:pt x="291693" y="854024"/>
                  </a:lnTo>
                  <a:lnTo>
                    <a:pt x="229946" y="889635"/>
                  </a:lnTo>
                  <a:lnTo>
                    <a:pt x="44653" y="569125"/>
                  </a:lnTo>
                  <a:lnTo>
                    <a:pt x="291693" y="854024"/>
                  </a:lnTo>
                  <a:lnTo>
                    <a:pt x="291693" y="834567"/>
                  </a:lnTo>
                  <a:lnTo>
                    <a:pt x="35407" y="538949"/>
                  </a:lnTo>
                  <a:lnTo>
                    <a:pt x="296837" y="689724"/>
                  </a:lnTo>
                  <a:lnTo>
                    <a:pt x="352793" y="818794"/>
                  </a:lnTo>
                  <a:lnTo>
                    <a:pt x="352793" y="786790"/>
                  </a:lnTo>
                  <a:lnTo>
                    <a:pt x="315341" y="700392"/>
                  </a:lnTo>
                  <a:lnTo>
                    <a:pt x="436714" y="770394"/>
                  </a:lnTo>
                  <a:lnTo>
                    <a:pt x="436714" y="755751"/>
                  </a:lnTo>
                  <a:lnTo>
                    <a:pt x="306882" y="680885"/>
                  </a:lnTo>
                  <a:lnTo>
                    <a:pt x="288378" y="638200"/>
                  </a:lnTo>
                  <a:lnTo>
                    <a:pt x="288378" y="670217"/>
                  </a:lnTo>
                  <a:lnTo>
                    <a:pt x="29502" y="520954"/>
                  </a:lnTo>
                  <a:lnTo>
                    <a:pt x="223672" y="520954"/>
                  </a:lnTo>
                  <a:lnTo>
                    <a:pt x="288378" y="670217"/>
                  </a:lnTo>
                  <a:lnTo>
                    <a:pt x="288378" y="638200"/>
                  </a:lnTo>
                  <a:lnTo>
                    <a:pt x="237553" y="520954"/>
                  </a:lnTo>
                  <a:lnTo>
                    <a:pt x="808824" y="520954"/>
                  </a:lnTo>
                  <a:lnTo>
                    <a:pt x="816991" y="535101"/>
                  </a:lnTo>
                  <a:lnTo>
                    <a:pt x="816991" y="508254"/>
                  </a:lnTo>
                  <a:lnTo>
                    <a:pt x="232041" y="508254"/>
                  </a:lnTo>
                  <a:lnTo>
                    <a:pt x="11684" y="0"/>
                  </a:lnTo>
                  <a:lnTo>
                    <a:pt x="0" y="5080"/>
                  </a:lnTo>
                  <a:lnTo>
                    <a:pt x="218173" y="508254"/>
                  </a:lnTo>
                  <a:lnTo>
                    <a:pt x="5842" y="508254"/>
                  </a:lnTo>
                  <a:lnTo>
                    <a:pt x="5842" y="514604"/>
                  </a:lnTo>
                  <a:lnTo>
                    <a:pt x="381" y="517779"/>
                  </a:lnTo>
                  <a:lnTo>
                    <a:pt x="218973" y="895959"/>
                  </a:lnTo>
                  <a:lnTo>
                    <a:pt x="5969" y="1018794"/>
                  </a:lnTo>
                  <a:lnTo>
                    <a:pt x="5842" y="1018794"/>
                  </a:lnTo>
                  <a:lnTo>
                    <a:pt x="2667" y="1020699"/>
                  </a:lnTo>
                  <a:lnTo>
                    <a:pt x="5410" y="1025512"/>
                  </a:lnTo>
                  <a:lnTo>
                    <a:pt x="1016" y="1029335"/>
                  </a:lnTo>
                  <a:lnTo>
                    <a:pt x="219671" y="1281506"/>
                  </a:lnTo>
                  <a:lnTo>
                    <a:pt x="3543" y="1530731"/>
                  </a:lnTo>
                  <a:lnTo>
                    <a:pt x="2667" y="1531239"/>
                  </a:lnTo>
                  <a:lnTo>
                    <a:pt x="2832" y="1531556"/>
                  </a:lnTo>
                  <a:lnTo>
                    <a:pt x="1016" y="1533652"/>
                  </a:lnTo>
                  <a:lnTo>
                    <a:pt x="5588" y="1537639"/>
                  </a:lnTo>
                  <a:lnTo>
                    <a:pt x="2667" y="1542669"/>
                  </a:lnTo>
                  <a:lnTo>
                    <a:pt x="219303" y="1667611"/>
                  </a:lnTo>
                  <a:lnTo>
                    <a:pt x="2844" y="2042083"/>
                  </a:lnTo>
                  <a:lnTo>
                    <a:pt x="1016" y="2044192"/>
                  </a:lnTo>
                  <a:lnTo>
                    <a:pt x="1422" y="2044547"/>
                  </a:lnTo>
                  <a:lnTo>
                    <a:pt x="381" y="2046351"/>
                  </a:lnTo>
                  <a:lnTo>
                    <a:pt x="5842" y="2049538"/>
                  </a:lnTo>
                  <a:lnTo>
                    <a:pt x="5842" y="2055622"/>
                  </a:lnTo>
                  <a:lnTo>
                    <a:pt x="218059" y="2055622"/>
                  </a:lnTo>
                  <a:lnTo>
                    <a:pt x="1714" y="2554579"/>
                  </a:lnTo>
                  <a:lnTo>
                    <a:pt x="381" y="2556891"/>
                  </a:lnTo>
                  <a:lnTo>
                    <a:pt x="647" y="2557056"/>
                  </a:lnTo>
                  <a:lnTo>
                    <a:pt x="0" y="2558542"/>
                  </a:lnTo>
                  <a:lnTo>
                    <a:pt x="5994" y="2561171"/>
                  </a:lnTo>
                  <a:lnTo>
                    <a:pt x="9017" y="2566416"/>
                  </a:lnTo>
                  <a:lnTo>
                    <a:pt x="830275" y="2092807"/>
                  </a:lnTo>
                  <a:lnTo>
                    <a:pt x="846201" y="2120392"/>
                  </a:lnTo>
                  <a:lnTo>
                    <a:pt x="875893" y="2075434"/>
                  </a:lnTo>
                  <a:lnTo>
                    <a:pt x="893064" y="2049462"/>
                  </a:lnTo>
                  <a:lnTo>
                    <a:pt x="893191" y="2049526"/>
                  </a:lnTo>
                  <a:lnTo>
                    <a:pt x="893165" y="2049310"/>
                  </a:lnTo>
                  <a:lnTo>
                    <a:pt x="893152" y="2048992"/>
                  </a:lnTo>
                  <a:lnTo>
                    <a:pt x="896175" y="1993265"/>
                  </a:lnTo>
                  <a:lnTo>
                    <a:pt x="897763" y="1963928"/>
                  </a:lnTo>
                  <a:lnTo>
                    <a:pt x="888199" y="1968093"/>
                  </a:lnTo>
                  <a:lnTo>
                    <a:pt x="887984" y="1964436"/>
                  </a:lnTo>
                  <a:lnTo>
                    <a:pt x="873734" y="1972678"/>
                  </a:lnTo>
                  <a:lnTo>
                    <a:pt x="871982" y="1965833"/>
                  </a:lnTo>
                  <a:lnTo>
                    <a:pt x="866178" y="1970874"/>
                  </a:lnTo>
                  <a:lnTo>
                    <a:pt x="845248" y="1922614"/>
                  </a:lnTo>
                  <a:lnTo>
                    <a:pt x="845248" y="1979422"/>
                  </a:lnTo>
                  <a:lnTo>
                    <a:pt x="843813" y="1981898"/>
                  </a:lnTo>
                  <a:lnTo>
                    <a:pt x="835063" y="1971814"/>
                  </a:lnTo>
                  <a:lnTo>
                    <a:pt x="835063" y="1991182"/>
                  </a:lnTo>
                  <a:lnTo>
                    <a:pt x="827913" y="1994281"/>
                  </a:lnTo>
                  <a:lnTo>
                    <a:pt x="831354" y="1997176"/>
                  </a:lnTo>
                  <a:lnTo>
                    <a:pt x="823823" y="2001520"/>
                  </a:lnTo>
                  <a:lnTo>
                    <a:pt x="816991" y="1997583"/>
                  </a:lnTo>
                  <a:lnTo>
                    <a:pt x="816991" y="2012289"/>
                  </a:lnTo>
                  <a:lnTo>
                    <a:pt x="816991" y="2013546"/>
                  </a:lnTo>
                  <a:lnTo>
                    <a:pt x="814451" y="2015744"/>
                  </a:lnTo>
                  <a:lnTo>
                    <a:pt x="816991" y="2016810"/>
                  </a:lnTo>
                  <a:lnTo>
                    <a:pt x="816991" y="2028393"/>
                  </a:lnTo>
                  <a:lnTo>
                    <a:pt x="816991" y="2069769"/>
                  </a:lnTo>
                  <a:lnTo>
                    <a:pt x="816991" y="2085771"/>
                  </a:lnTo>
                  <a:lnTo>
                    <a:pt x="34747" y="2536875"/>
                  </a:lnTo>
                  <a:lnTo>
                    <a:pt x="452069" y="2055622"/>
                  </a:lnTo>
                  <a:lnTo>
                    <a:pt x="808824" y="2055622"/>
                  </a:lnTo>
                  <a:lnTo>
                    <a:pt x="816991" y="2069769"/>
                  </a:lnTo>
                  <a:lnTo>
                    <a:pt x="816991" y="2028393"/>
                  </a:lnTo>
                  <a:lnTo>
                    <a:pt x="808609" y="2042922"/>
                  </a:lnTo>
                  <a:lnTo>
                    <a:pt x="463080" y="2042922"/>
                  </a:lnTo>
                  <a:lnTo>
                    <a:pt x="598754" y="1886458"/>
                  </a:lnTo>
                  <a:lnTo>
                    <a:pt x="816991" y="2012289"/>
                  </a:lnTo>
                  <a:lnTo>
                    <a:pt x="816991" y="1997583"/>
                  </a:lnTo>
                  <a:lnTo>
                    <a:pt x="607237" y="1876679"/>
                  </a:lnTo>
                  <a:lnTo>
                    <a:pt x="671487" y="1802587"/>
                  </a:lnTo>
                  <a:lnTo>
                    <a:pt x="835063" y="1991182"/>
                  </a:lnTo>
                  <a:lnTo>
                    <a:pt x="835063" y="1971814"/>
                  </a:lnTo>
                  <a:lnTo>
                    <a:pt x="679907" y="1792884"/>
                  </a:lnTo>
                  <a:lnTo>
                    <a:pt x="714400" y="1753108"/>
                  </a:lnTo>
                  <a:lnTo>
                    <a:pt x="845248" y="1979422"/>
                  </a:lnTo>
                  <a:lnTo>
                    <a:pt x="845248" y="1922614"/>
                  </a:lnTo>
                  <a:lnTo>
                    <a:pt x="844270" y="1920367"/>
                  </a:lnTo>
                  <a:lnTo>
                    <a:pt x="844270" y="1952231"/>
                  </a:lnTo>
                  <a:lnTo>
                    <a:pt x="723239" y="1742922"/>
                  </a:lnTo>
                  <a:lnTo>
                    <a:pt x="743407" y="1719668"/>
                  </a:lnTo>
                  <a:lnTo>
                    <a:pt x="844270" y="1952231"/>
                  </a:lnTo>
                  <a:lnTo>
                    <a:pt x="844270" y="1920367"/>
                  </a:lnTo>
                  <a:lnTo>
                    <a:pt x="752627" y="1709026"/>
                  </a:lnTo>
                  <a:lnTo>
                    <a:pt x="843699" y="1604010"/>
                  </a:lnTo>
                  <a:lnTo>
                    <a:pt x="846201" y="1608328"/>
                  </a:lnTo>
                  <a:lnTo>
                    <a:pt x="850785" y="1601381"/>
                  </a:lnTo>
                  <a:lnTo>
                    <a:pt x="871982" y="1619758"/>
                  </a:lnTo>
                  <a:lnTo>
                    <a:pt x="881926" y="1581023"/>
                  </a:lnTo>
                  <a:lnTo>
                    <a:pt x="893038" y="1537792"/>
                  </a:lnTo>
                  <a:lnTo>
                    <a:pt x="893191" y="1537843"/>
                  </a:lnTo>
                  <a:lnTo>
                    <a:pt x="893102" y="1537550"/>
                  </a:lnTo>
                  <a:lnTo>
                    <a:pt x="893191" y="1537208"/>
                  </a:lnTo>
                  <a:lnTo>
                    <a:pt x="893000" y="1537119"/>
                  </a:lnTo>
                  <a:lnTo>
                    <a:pt x="892924" y="1536814"/>
                  </a:lnTo>
                  <a:lnTo>
                    <a:pt x="893191" y="1536827"/>
                  </a:lnTo>
                  <a:lnTo>
                    <a:pt x="892759" y="1536192"/>
                  </a:lnTo>
                  <a:lnTo>
                    <a:pt x="881926" y="1494028"/>
                  </a:lnTo>
                  <a:lnTo>
                    <a:pt x="871982" y="1455293"/>
                  </a:lnTo>
                  <a:lnTo>
                    <a:pt x="851217" y="1473314"/>
                  </a:lnTo>
                  <a:lnTo>
                    <a:pt x="846201" y="1465707"/>
                  </a:lnTo>
                  <a:lnTo>
                    <a:pt x="843292" y="1470736"/>
                  </a:lnTo>
                  <a:lnTo>
                    <a:pt x="836930" y="1463408"/>
                  </a:lnTo>
                  <a:lnTo>
                    <a:pt x="836930" y="1592287"/>
                  </a:lnTo>
                  <a:lnTo>
                    <a:pt x="746988" y="1696008"/>
                  </a:lnTo>
                  <a:lnTo>
                    <a:pt x="737755" y="1674723"/>
                  </a:lnTo>
                  <a:lnTo>
                    <a:pt x="737755" y="1706651"/>
                  </a:lnTo>
                  <a:lnTo>
                    <a:pt x="716470" y="1731213"/>
                  </a:lnTo>
                  <a:lnTo>
                    <a:pt x="707631" y="1715922"/>
                  </a:lnTo>
                  <a:lnTo>
                    <a:pt x="707631" y="1741398"/>
                  </a:lnTo>
                  <a:lnTo>
                    <a:pt x="671449" y="1783118"/>
                  </a:lnTo>
                  <a:lnTo>
                    <a:pt x="663028" y="1773415"/>
                  </a:lnTo>
                  <a:lnTo>
                    <a:pt x="663028" y="1792833"/>
                  </a:lnTo>
                  <a:lnTo>
                    <a:pt x="595960" y="1870176"/>
                  </a:lnTo>
                  <a:lnTo>
                    <a:pt x="587476" y="1865287"/>
                  </a:lnTo>
                  <a:lnTo>
                    <a:pt x="587476" y="1879955"/>
                  </a:lnTo>
                  <a:lnTo>
                    <a:pt x="446151" y="2042922"/>
                  </a:lnTo>
                  <a:lnTo>
                    <a:pt x="435140" y="2042922"/>
                  </a:lnTo>
                  <a:lnTo>
                    <a:pt x="435140" y="2055622"/>
                  </a:lnTo>
                  <a:lnTo>
                    <a:pt x="43992" y="2506688"/>
                  </a:lnTo>
                  <a:lnTo>
                    <a:pt x="304761" y="2055622"/>
                  </a:lnTo>
                  <a:lnTo>
                    <a:pt x="435140" y="2055622"/>
                  </a:lnTo>
                  <a:lnTo>
                    <a:pt x="435140" y="2042922"/>
                  </a:lnTo>
                  <a:lnTo>
                    <a:pt x="312102" y="2042922"/>
                  </a:lnTo>
                  <a:lnTo>
                    <a:pt x="451624" y="1801609"/>
                  </a:lnTo>
                  <a:lnTo>
                    <a:pt x="587476" y="1879955"/>
                  </a:lnTo>
                  <a:lnTo>
                    <a:pt x="587476" y="1865287"/>
                  </a:lnTo>
                  <a:lnTo>
                    <a:pt x="462165" y="1793036"/>
                  </a:lnTo>
                  <a:lnTo>
                    <a:pt x="596188" y="1715744"/>
                  </a:lnTo>
                  <a:lnTo>
                    <a:pt x="663028" y="1792833"/>
                  </a:lnTo>
                  <a:lnTo>
                    <a:pt x="663028" y="1773415"/>
                  </a:lnTo>
                  <a:lnTo>
                    <a:pt x="607428" y="1709267"/>
                  </a:lnTo>
                  <a:lnTo>
                    <a:pt x="668655" y="1673948"/>
                  </a:lnTo>
                  <a:lnTo>
                    <a:pt x="707631" y="1741398"/>
                  </a:lnTo>
                  <a:lnTo>
                    <a:pt x="707631" y="1715922"/>
                  </a:lnTo>
                  <a:lnTo>
                    <a:pt x="679691" y="1667586"/>
                  </a:lnTo>
                  <a:lnTo>
                    <a:pt x="712597" y="1648612"/>
                  </a:lnTo>
                  <a:lnTo>
                    <a:pt x="737755" y="1706651"/>
                  </a:lnTo>
                  <a:lnTo>
                    <a:pt x="737755" y="1674723"/>
                  </a:lnTo>
                  <a:lnTo>
                    <a:pt x="723671" y="1642224"/>
                  </a:lnTo>
                  <a:lnTo>
                    <a:pt x="828306" y="1581886"/>
                  </a:lnTo>
                  <a:lnTo>
                    <a:pt x="833564" y="1586458"/>
                  </a:lnTo>
                  <a:lnTo>
                    <a:pt x="836930" y="1592287"/>
                  </a:lnTo>
                  <a:lnTo>
                    <a:pt x="836930" y="1463408"/>
                  </a:lnTo>
                  <a:lnTo>
                    <a:pt x="836574" y="1462989"/>
                  </a:lnTo>
                  <a:lnTo>
                    <a:pt x="836574" y="1482382"/>
                  </a:lnTo>
                  <a:lnTo>
                    <a:pt x="832396" y="1489633"/>
                  </a:lnTo>
                  <a:lnTo>
                    <a:pt x="829094" y="1492491"/>
                  </a:lnTo>
                  <a:lnTo>
                    <a:pt x="816991" y="1485519"/>
                  </a:lnTo>
                  <a:lnTo>
                    <a:pt x="816991" y="1500225"/>
                  </a:lnTo>
                  <a:lnTo>
                    <a:pt x="816991" y="1503006"/>
                  </a:lnTo>
                  <a:lnTo>
                    <a:pt x="814451" y="1505204"/>
                  </a:lnTo>
                  <a:lnTo>
                    <a:pt x="816991" y="1506258"/>
                  </a:lnTo>
                  <a:lnTo>
                    <a:pt x="816991" y="1516329"/>
                  </a:lnTo>
                  <a:lnTo>
                    <a:pt x="816991" y="1557705"/>
                  </a:lnTo>
                  <a:lnTo>
                    <a:pt x="816991" y="1568805"/>
                  </a:lnTo>
                  <a:lnTo>
                    <a:pt x="814451" y="1569847"/>
                  </a:lnTo>
                  <a:lnTo>
                    <a:pt x="816991" y="1572056"/>
                  </a:lnTo>
                  <a:lnTo>
                    <a:pt x="816991" y="1573707"/>
                  </a:lnTo>
                  <a:lnTo>
                    <a:pt x="718566" y="1630464"/>
                  </a:lnTo>
                  <a:lnTo>
                    <a:pt x="707491" y="1604924"/>
                  </a:lnTo>
                  <a:lnTo>
                    <a:pt x="707491" y="1636852"/>
                  </a:lnTo>
                  <a:lnTo>
                    <a:pt x="673315" y="1656562"/>
                  </a:lnTo>
                  <a:lnTo>
                    <a:pt x="662279" y="1637474"/>
                  </a:lnTo>
                  <a:lnTo>
                    <a:pt x="662279" y="1662925"/>
                  </a:lnTo>
                  <a:lnTo>
                    <a:pt x="598919" y="1699463"/>
                  </a:lnTo>
                  <a:lnTo>
                    <a:pt x="587692" y="1686521"/>
                  </a:lnTo>
                  <a:lnTo>
                    <a:pt x="587692" y="1705940"/>
                  </a:lnTo>
                  <a:lnTo>
                    <a:pt x="466534" y="1775815"/>
                  </a:lnTo>
                  <a:lnTo>
                    <a:pt x="539229" y="1650072"/>
                  </a:lnTo>
                  <a:lnTo>
                    <a:pt x="587692" y="1705940"/>
                  </a:lnTo>
                  <a:lnTo>
                    <a:pt x="587692" y="1686521"/>
                  </a:lnTo>
                  <a:lnTo>
                    <a:pt x="545973" y="1638401"/>
                  </a:lnTo>
                  <a:lnTo>
                    <a:pt x="597039" y="1550073"/>
                  </a:lnTo>
                  <a:lnTo>
                    <a:pt x="662279" y="1662925"/>
                  </a:lnTo>
                  <a:lnTo>
                    <a:pt x="662279" y="1637474"/>
                  </a:lnTo>
                  <a:lnTo>
                    <a:pt x="607987" y="1543558"/>
                  </a:lnTo>
                  <a:lnTo>
                    <a:pt x="667042" y="1543558"/>
                  </a:lnTo>
                  <a:lnTo>
                    <a:pt x="707491" y="1636852"/>
                  </a:lnTo>
                  <a:lnTo>
                    <a:pt x="707491" y="1604924"/>
                  </a:lnTo>
                  <a:lnTo>
                    <a:pt x="680897" y="1543558"/>
                  </a:lnTo>
                  <a:lnTo>
                    <a:pt x="808824" y="1543558"/>
                  </a:lnTo>
                  <a:lnTo>
                    <a:pt x="816991" y="1557705"/>
                  </a:lnTo>
                  <a:lnTo>
                    <a:pt x="816991" y="1516329"/>
                  </a:lnTo>
                  <a:lnTo>
                    <a:pt x="808609" y="1530858"/>
                  </a:lnTo>
                  <a:lnTo>
                    <a:pt x="675386" y="1530858"/>
                  </a:lnTo>
                  <a:lnTo>
                    <a:pt x="661543" y="1498942"/>
                  </a:lnTo>
                  <a:lnTo>
                    <a:pt x="661543" y="1530858"/>
                  </a:lnTo>
                  <a:lnTo>
                    <a:pt x="608152" y="1530858"/>
                  </a:lnTo>
                  <a:lnTo>
                    <a:pt x="638644" y="1478102"/>
                  </a:lnTo>
                  <a:lnTo>
                    <a:pt x="661543" y="1530858"/>
                  </a:lnTo>
                  <a:lnTo>
                    <a:pt x="661543" y="1498942"/>
                  </a:lnTo>
                  <a:lnTo>
                    <a:pt x="646569" y="1464411"/>
                  </a:lnTo>
                  <a:lnTo>
                    <a:pt x="673646" y="1417574"/>
                  </a:lnTo>
                  <a:lnTo>
                    <a:pt x="816991" y="1500225"/>
                  </a:lnTo>
                  <a:lnTo>
                    <a:pt x="816991" y="1485519"/>
                  </a:lnTo>
                  <a:lnTo>
                    <a:pt x="680008" y="1406563"/>
                  </a:lnTo>
                  <a:lnTo>
                    <a:pt x="716330" y="1343736"/>
                  </a:lnTo>
                  <a:lnTo>
                    <a:pt x="836574" y="1482382"/>
                  </a:lnTo>
                  <a:lnTo>
                    <a:pt x="836574" y="1462989"/>
                  </a:lnTo>
                  <a:lnTo>
                    <a:pt x="723061" y="1332090"/>
                  </a:lnTo>
                  <a:lnTo>
                    <a:pt x="859193" y="1096619"/>
                  </a:lnTo>
                  <a:lnTo>
                    <a:pt x="871982" y="1107694"/>
                  </a:lnTo>
                  <a:lnTo>
                    <a:pt x="873480" y="1101839"/>
                  </a:lnTo>
                  <a:lnTo>
                    <a:pt x="887984" y="1110234"/>
                  </a:lnTo>
                  <a:lnTo>
                    <a:pt x="890016" y="1076960"/>
                  </a:lnTo>
                  <a:lnTo>
                    <a:pt x="893114" y="1026287"/>
                  </a:lnTo>
                  <a:lnTo>
                    <a:pt x="893191" y="1025144"/>
                  </a:lnTo>
                  <a:lnTo>
                    <a:pt x="892060" y="1024585"/>
                  </a:lnTo>
                  <a:lnTo>
                    <a:pt x="875817" y="999998"/>
                  </a:lnTo>
                  <a:lnTo>
                    <a:pt x="846201" y="955167"/>
                  </a:lnTo>
                  <a:lnTo>
                    <a:pt x="845439" y="956500"/>
                  </a:lnTo>
                  <a:lnTo>
                    <a:pt x="845439" y="1094968"/>
                  </a:lnTo>
                  <a:lnTo>
                    <a:pt x="714248" y="1321917"/>
                  </a:lnTo>
                  <a:lnTo>
                    <a:pt x="707517" y="1314157"/>
                  </a:lnTo>
                  <a:lnTo>
                    <a:pt x="707517" y="1333563"/>
                  </a:lnTo>
                  <a:lnTo>
                    <a:pt x="668997" y="1400213"/>
                  </a:lnTo>
                  <a:lnTo>
                    <a:pt x="662622" y="1396542"/>
                  </a:lnTo>
                  <a:lnTo>
                    <a:pt x="662622" y="1411224"/>
                  </a:lnTo>
                  <a:lnTo>
                    <a:pt x="640270" y="1449895"/>
                  </a:lnTo>
                  <a:lnTo>
                    <a:pt x="632358" y="1431645"/>
                  </a:lnTo>
                  <a:lnTo>
                    <a:pt x="632358" y="1463586"/>
                  </a:lnTo>
                  <a:lnTo>
                    <a:pt x="597052" y="1524660"/>
                  </a:lnTo>
                  <a:lnTo>
                    <a:pt x="586130" y="1505775"/>
                  </a:lnTo>
                  <a:lnTo>
                    <a:pt x="586130" y="1543558"/>
                  </a:lnTo>
                  <a:lnTo>
                    <a:pt x="537171" y="1628254"/>
                  </a:lnTo>
                  <a:lnTo>
                    <a:pt x="530428" y="1620481"/>
                  </a:lnTo>
                  <a:lnTo>
                    <a:pt x="530428" y="1639912"/>
                  </a:lnTo>
                  <a:lnTo>
                    <a:pt x="446976" y="1784286"/>
                  </a:lnTo>
                  <a:lnTo>
                    <a:pt x="436714" y="1778368"/>
                  </a:lnTo>
                  <a:lnTo>
                    <a:pt x="436714" y="1792998"/>
                  </a:lnTo>
                  <a:lnTo>
                    <a:pt x="431800" y="1795843"/>
                  </a:lnTo>
                  <a:lnTo>
                    <a:pt x="431800" y="1810537"/>
                  </a:lnTo>
                  <a:lnTo>
                    <a:pt x="297472" y="2042922"/>
                  </a:lnTo>
                  <a:lnTo>
                    <a:pt x="290131" y="2042922"/>
                  </a:lnTo>
                  <a:lnTo>
                    <a:pt x="290131" y="2055622"/>
                  </a:lnTo>
                  <a:lnTo>
                    <a:pt x="57277" y="2458453"/>
                  </a:lnTo>
                  <a:lnTo>
                    <a:pt x="231940" y="2055622"/>
                  </a:lnTo>
                  <a:lnTo>
                    <a:pt x="290131" y="2055622"/>
                  </a:lnTo>
                  <a:lnTo>
                    <a:pt x="290131" y="2042922"/>
                  </a:lnTo>
                  <a:lnTo>
                    <a:pt x="237451" y="2042922"/>
                  </a:lnTo>
                  <a:lnTo>
                    <a:pt x="307009" y="1882508"/>
                  </a:lnTo>
                  <a:lnTo>
                    <a:pt x="431800" y="1810537"/>
                  </a:lnTo>
                  <a:lnTo>
                    <a:pt x="431800" y="1795843"/>
                  </a:lnTo>
                  <a:lnTo>
                    <a:pt x="315518" y="1862886"/>
                  </a:lnTo>
                  <a:lnTo>
                    <a:pt x="364007" y="1751063"/>
                  </a:lnTo>
                  <a:lnTo>
                    <a:pt x="436714" y="1792998"/>
                  </a:lnTo>
                  <a:lnTo>
                    <a:pt x="436714" y="1778368"/>
                  </a:lnTo>
                  <a:lnTo>
                    <a:pt x="369074" y="1739353"/>
                  </a:lnTo>
                  <a:lnTo>
                    <a:pt x="451612" y="1549006"/>
                  </a:lnTo>
                  <a:lnTo>
                    <a:pt x="530428" y="1639912"/>
                  </a:lnTo>
                  <a:lnTo>
                    <a:pt x="530428" y="1620481"/>
                  </a:lnTo>
                  <a:lnTo>
                    <a:pt x="463765" y="1543558"/>
                  </a:lnTo>
                  <a:lnTo>
                    <a:pt x="586130" y="1543558"/>
                  </a:lnTo>
                  <a:lnTo>
                    <a:pt x="586130" y="1505775"/>
                  </a:lnTo>
                  <a:lnTo>
                    <a:pt x="585939" y="1505445"/>
                  </a:lnTo>
                  <a:lnTo>
                    <a:pt x="585939" y="1530858"/>
                  </a:lnTo>
                  <a:lnTo>
                    <a:pt x="463016" y="1530858"/>
                  </a:lnTo>
                  <a:lnTo>
                    <a:pt x="536765" y="1445818"/>
                  </a:lnTo>
                  <a:lnTo>
                    <a:pt x="585939" y="1530858"/>
                  </a:lnTo>
                  <a:lnTo>
                    <a:pt x="585939" y="1505445"/>
                  </a:lnTo>
                  <a:lnTo>
                    <a:pt x="545579" y="1435646"/>
                  </a:lnTo>
                  <a:lnTo>
                    <a:pt x="595350" y="1378242"/>
                  </a:lnTo>
                  <a:lnTo>
                    <a:pt x="632358" y="1463586"/>
                  </a:lnTo>
                  <a:lnTo>
                    <a:pt x="632358" y="1431645"/>
                  </a:lnTo>
                  <a:lnTo>
                    <a:pt x="610476" y="1381137"/>
                  </a:lnTo>
                  <a:lnTo>
                    <a:pt x="662622" y="1411224"/>
                  </a:lnTo>
                  <a:lnTo>
                    <a:pt x="662622" y="1396542"/>
                  </a:lnTo>
                  <a:lnTo>
                    <a:pt x="607199" y="1364576"/>
                  </a:lnTo>
                  <a:lnTo>
                    <a:pt x="670801" y="1291221"/>
                  </a:lnTo>
                  <a:lnTo>
                    <a:pt x="707517" y="1333563"/>
                  </a:lnTo>
                  <a:lnTo>
                    <a:pt x="707517" y="1314157"/>
                  </a:lnTo>
                  <a:lnTo>
                    <a:pt x="679221" y="1281518"/>
                  </a:lnTo>
                  <a:lnTo>
                    <a:pt x="843648" y="1091869"/>
                  </a:lnTo>
                  <a:lnTo>
                    <a:pt x="845439" y="1094968"/>
                  </a:lnTo>
                  <a:lnTo>
                    <a:pt x="845439" y="956500"/>
                  </a:lnTo>
                  <a:lnTo>
                    <a:pt x="836688" y="971664"/>
                  </a:lnTo>
                  <a:lnTo>
                    <a:pt x="836688" y="1080503"/>
                  </a:lnTo>
                  <a:lnTo>
                    <a:pt x="670801" y="1271803"/>
                  </a:lnTo>
                  <a:lnTo>
                    <a:pt x="662381" y="1262100"/>
                  </a:lnTo>
                  <a:lnTo>
                    <a:pt x="662381" y="1281518"/>
                  </a:lnTo>
                  <a:lnTo>
                    <a:pt x="598970" y="1354632"/>
                  </a:lnTo>
                  <a:lnTo>
                    <a:pt x="587476" y="1328127"/>
                  </a:lnTo>
                  <a:lnTo>
                    <a:pt x="587476" y="1367891"/>
                  </a:lnTo>
                  <a:lnTo>
                    <a:pt x="538835" y="1423974"/>
                  </a:lnTo>
                  <a:lnTo>
                    <a:pt x="530021" y="1408722"/>
                  </a:lnTo>
                  <a:lnTo>
                    <a:pt x="530021" y="1434147"/>
                  </a:lnTo>
                  <a:lnTo>
                    <a:pt x="472808" y="1500136"/>
                  </a:lnTo>
                  <a:lnTo>
                    <a:pt x="513676" y="1405864"/>
                  </a:lnTo>
                  <a:lnTo>
                    <a:pt x="530021" y="1434147"/>
                  </a:lnTo>
                  <a:lnTo>
                    <a:pt x="530021" y="1408722"/>
                  </a:lnTo>
                  <a:lnTo>
                    <a:pt x="519976" y="1391335"/>
                  </a:lnTo>
                  <a:lnTo>
                    <a:pt x="541616" y="1341437"/>
                  </a:lnTo>
                  <a:lnTo>
                    <a:pt x="587476" y="1367891"/>
                  </a:lnTo>
                  <a:lnTo>
                    <a:pt x="587476" y="1328127"/>
                  </a:lnTo>
                  <a:lnTo>
                    <a:pt x="583514" y="1318983"/>
                  </a:lnTo>
                  <a:lnTo>
                    <a:pt x="583514" y="1350911"/>
                  </a:lnTo>
                  <a:lnTo>
                    <a:pt x="546709" y="1329702"/>
                  </a:lnTo>
                  <a:lnTo>
                    <a:pt x="560501" y="1297876"/>
                  </a:lnTo>
                  <a:lnTo>
                    <a:pt x="583514" y="1350911"/>
                  </a:lnTo>
                  <a:lnTo>
                    <a:pt x="583514" y="1318983"/>
                  </a:lnTo>
                  <a:lnTo>
                    <a:pt x="567436" y="1281887"/>
                  </a:lnTo>
                  <a:lnTo>
                    <a:pt x="599198" y="1208646"/>
                  </a:lnTo>
                  <a:lnTo>
                    <a:pt x="662381" y="1281518"/>
                  </a:lnTo>
                  <a:lnTo>
                    <a:pt x="662381" y="1262100"/>
                  </a:lnTo>
                  <a:lnTo>
                    <a:pt x="606552" y="1197698"/>
                  </a:lnTo>
                  <a:lnTo>
                    <a:pt x="823290" y="1072718"/>
                  </a:lnTo>
                  <a:lnTo>
                    <a:pt x="836688" y="1080503"/>
                  </a:lnTo>
                  <a:lnTo>
                    <a:pt x="836688" y="971664"/>
                  </a:lnTo>
                  <a:lnTo>
                    <a:pt x="830338" y="982662"/>
                  </a:lnTo>
                  <a:lnTo>
                    <a:pt x="816991" y="974979"/>
                  </a:lnTo>
                  <a:lnTo>
                    <a:pt x="816991" y="989685"/>
                  </a:lnTo>
                  <a:lnTo>
                    <a:pt x="816991" y="1005801"/>
                  </a:lnTo>
                  <a:lnTo>
                    <a:pt x="816991" y="1045641"/>
                  </a:lnTo>
                  <a:lnTo>
                    <a:pt x="816991" y="1056741"/>
                  </a:lnTo>
                  <a:lnTo>
                    <a:pt x="814451" y="1057783"/>
                  </a:lnTo>
                  <a:lnTo>
                    <a:pt x="816991" y="1059992"/>
                  </a:lnTo>
                  <a:lnTo>
                    <a:pt x="816991" y="1061643"/>
                  </a:lnTo>
                  <a:lnTo>
                    <a:pt x="611568" y="1180096"/>
                  </a:lnTo>
                  <a:lnTo>
                    <a:pt x="676008" y="1031494"/>
                  </a:lnTo>
                  <a:lnTo>
                    <a:pt x="808824" y="1031494"/>
                  </a:lnTo>
                  <a:lnTo>
                    <a:pt x="816991" y="1045641"/>
                  </a:lnTo>
                  <a:lnTo>
                    <a:pt x="816991" y="1005801"/>
                  </a:lnTo>
                  <a:lnTo>
                    <a:pt x="809485" y="1018794"/>
                  </a:lnTo>
                  <a:lnTo>
                    <a:pt x="681507" y="1018794"/>
                  </a:lnTo>
                  <a:lnTo>
                    <a:pt x="718705" y="933018"/>
                  </a:lnTo>
                  <a:lnTo>
                    <a:pt x="816991" y="989685"/>
                  </a:lnTo>
                  <a:lnTo>
                    <a:pt x="816991" y="974979"/>
                  </a:lnTo>
                  <a:lnTo>
                    <a:pt x="723798" y="921258"/>
                  </a:lnTo>
                  <a:lnTo>
                    <a:pt x="866419" y="592353"/>
                  </a:lnTo>
                  <a:lnTo>
                    <a:pt x="871982" y="597154"/>
                  </a:lnTo>
                  <a:lnTo>
                    <a:pt x="873480" y="591299"/>
                  </a:lnTo>
                  <a:lnTo>
                    <a:pt x="887984" y="599694"/>
                  </a:lnTo>
                  <a:lnTo>
                    <a:pt x="888225" y="595566"/>
                  </a:lnTo>
                  <a:lnTo>
                    <a:pt x="897763" y="599694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43142" y="2901598"/>
              <a:ext cx="405655" cy="407102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4886705" y="2925317"/>
              <a:ext cx="323215" cy="325120"/>
            </a:xfrm>
            <a:custGeom>
              <a:avLst/>
              <a:gdLst/>
              <a:ahLst/>
              <a:cxnLst/>
              <a:rect l="l" t="t" r="r" b="b"/>
              <a:pathLst>
                <a:path w="323214" h="325119">
                  <a:moveTo>
                    <a:pt x="161544" y="0"/>
                  </a:moveTo>
                  <a:lnTo>
                    <a:pt x="118577" y="5796"/>
                  </a:lnTo>
                  <a:lnTo>
                    <a:pt x="79981" y="22154"/>
                  </a:lnTo>
                  <a:lnTo>
                    <a:pt x="47291" y="47529"/>
                  </a:lnTo>
                  <a:lnTo>
                    <a:pt x="22041" y="80376"/>
                  </a:lnTo>
                  <a:lnTo>
                    <a:pt x="5766" y="119150"/>
                  </a:lnTo>
                  <a:lnTo>
                    <a:pt x="0" y="162306"/>
                  </a:lnTo>
                  <a:lnTo>
                    <a:pt x="5766" y="205461"/>
                  </a:lnTo>
                  <a:lnTo>
                    <a:pt x="22041" y="244235"/>
                  </a:lnTo>
                  <a:lnTo>
                    <a:pt x="47291" y="277082"/>
                  </a:lnTo>
                  <a:lnTo>
                    <a:pt x="79981" y="302457"/>
                  </a:lnTo>
                  <a:lnTo>
                    <a:pt x="118577" y="318815"/>
                  </a:lnTo>
                  <a:lnTo>
                    <a:pt x="161544" y="324612"/>
                  </a:lnTo>
                  <a:lnTo>
                    <a:pt x="204510" y="318815"/>
                  </a:lnTo>
                  <a:lnTo>
                    <a:pt x="243106" y="302457"/>
                  </a:lnTo>
                  <a:lnTo>
                    <a:pt x="275796" y="277082"/>
                  </a:lnTo>
                  <a:lnTo>
                    <a:pt x="301046" y="244235"/>
                  </a:lnTo>
                  <a:lnTo>
                    <a:pt x="317321" y="205461"/>
                  </a:lnTo>
                  <a:lnTo>
                    <a:pt x="323088" y="162306"/>
                  </a:lnTo>
                  <a:lnTo>
                    <a:pt x="317321" y="119150"/>
                  </a:lnTo>
                  <a:lnTo>
                    <a:pt x="301046" y="80376"/>
                  </a:lnTo>
                  <a:lnTo>
                    <a:pt x="275796" y="47529"/>
                  </a:lnTo>
                  <a:lnTo>
                    <a:pt x="243106" y="22154"/>
                  </a:lnTo>
                  <a:lnTo>
                    <a:pt x="204510" y="579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886705" y="2925317"/>
              <a:ext cx="323215" cy="325120"/>
            </a:xfrm>
            <a:custGeom>
              <a:avLst/>
              <a:gdLst/>
              <a:ahLst/>
              <a:cxnLst/>
              <a:rect l="l" t="t" r="r" b="b"/>
              <a:pathLst>
                <a:path w="323214" h="325119">
                  <a:moveTo>
                    <a:pt x="0" y="162306"/>
                  </a:moveTo>
                  <a:lnTo>
                    <a:pt x="5766" y="119150"/>
                  </a:lnTo>
                  <a:lnTo>
                    <a:pt x="22041" y="80376"/>
                  </a:lnTo>
                  <a:lnTo>
                    <a:pt x="47291" y="47529"/>
                  </a:lnTo>
                  <a:lnTo>
                    <a:pt x="79981" y="22154"/>
                  </a:lnTo>
                  <a:lnTo>
                    <a:pt x="118577" y="5796"/>
                  </a:lnTo>
                  <a:lnTo>
                    <a:pt x="161544" y="0"/>
                  </a:lnTo>
                  <a:lnTo>
                    <a:pt x="204510" y="5796"/>
                  </a:lnTo>
                  <a:lnTo>
                    <a:pt x="243106" y="22154"/>
                  </a:lnTo>
                  <a:lnTo>
                    <a:pt x="275796" y="47529"/>
                  </a:lnTo>
                  <a:lnTo>
                    <a:pt x="301046" y="80376"/>
                  </a:lnTo>
                  <a:lnTo>
                    <a:pt x="317321" y="119150"/>
                  </a:lnTo>
                  <a:lnTo>
                    <a:pt x="323088" y="162306"/>
                  </a:lnTo>
                  <a:lnTo>
                    <a:pt x="317321" y="205461"/>
                  </a:lnTo>
                  <a:lnTo>
                    <a:pt x="301046" y="244235"/>
                  </a:lnTo>
                  <a:lnTo>
                    <a:pt x="275796" y="277082"/>
                  </a:lnTo>
                  <a:lnTo>
                    <a:pt x="243106" y="302457"/>
                  </a:lnTo>
                  <a:lnTo>
                    <a:pt x="204510" y="318815"/>
                  </a:lnTo>
                  <a:lnTo>
                    <a:pt x="161544" y="324612"/>
                  </a:lnTo>
                  <a:lnTo>
                    <a:pt x="118577" y="318815"/>
                  </a:lnTo>
                  <a:lnTo>
                    <a:pt x="79981" y="302457"/>
                  </a:lnTo>
                  <a:lnTo>
                    <a:pt x="47291" y="277082"/>
                  </a:lnTo>
                  <a:lnTo>
                    <a:pt x="22041" y="244235"/>
                  </a:lnTo>
                  <a:lnTo>
                    <a:pt x="5766" y="205461"/>
                  </a:lnTo>
                  <a:lnTo>
                    <a:pt x="0" y="162306"/>
                  </a:lnTo>
                  <a:close/>
                </a:path>
              </a:pathLst>
            </a:custGeom>
            <a:ln w="19812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17010" y="3072129"/>
              <a:ext cx="868680" cy="271780"/>
            </a:xfrm>
            <a:custGeom>
              <a:avLst/>
              <a:gdLst/>
              <a:ahLst/>
              <a:cxnLst/>
              <a:rect l="l" t="t" r="r" b="b"/>
              <a:pathLst>
                <a:path w="868679" h="271779">
                  <a:moveTo>
                    <a:pt x="793144" y="30561"/>
                  </a:moveTo>
                  <a:lnTo>
                    <a:pt x="0" y="259461"/>
                  </a:lnTo>
                  <a:lnTo>
                    <a:pt x="3555" y="271653"/>
                  </a:lnTo>
                  <a:lnTo>
                    <a:pt x="796655" y="42766"/>
                  </a:lnTo>
                  <a:lnTo>
                    <a:pt x="793144" y="30561"/>
                  </a:lnTo>
                  <a:close/>
                </a:path>
                <a:path w="868679" h="271779">
                  <a:moveTo>
                    <a:pt x="855624" y="27050"/>
                  </a:moveTo>
                  <a:lnTo>
                    <a:pt x="805306" y="27050"/>
                  </a:lnTo>
                  <a:lnTo>
                    <a:pt x="808863" y="39243"/>
                  </a:lnTo>
                  <a:lnTo>
                    <a:pt x="796655" y="42766"/>
                  </a:lnTo>
                  <a:lnTo>
                    <a:pt x="805434" y="73279"/>
                  </a:lnTo>
                  <a:lnTo>
                    <a:pt x="855624" y="27050"/>
                  </a:lnTo>
                  <a:close/>
                </a:path>
                <a:path w="868679" h="271779">
                  <a:moveTo>
                    <a:pt x="805306" y="27050"/>
                  </a:moveTo>
                  <a:lnTo>
                    <a:pt x="793144" y="30561"/>
                  </a:lnTo>
                  <a:lnTo>
                    <a:pt x="796655" y="42766"/>
                  </a:lnTo>
                  <a:lnTo>
                    <a:pt x="808863" y="39243"/>
                  </a:lnTo>
                  <a:lnTo>
                    <a:pt x="805306" y="27050"/>
                  </a:lnTo>
                  <a:close/>
                </a:path>
                <a:path w="868679" h="271779">
                  <a:moveTo>
                    <a:pt x="784351" y="0"/>
                  </a:moveTo>
                  <a:lnTo>
                    <a:pt x="793144" y="30561"/>
                  </a:lnTo>
                  <a:lnTo>
                    <a:pt x="805306" y="27050"/>
                  </a:lnTo>
                  <a:lnTo>
                    <a:pt x="855624" y="27050"/>
                  </a:lnTo>
                  <a:lnTo>
                    <a:pt x="868172" y="15494"/>
                  </a:lnTo>
                  <a:lnTo>
                    <a:pt x="784351" y="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43142" y="3413662"/>
              <a:ext cx="405655" cy="407102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4886705" y="3437381"/>
              <a:ext cx="323215" cy="325120"/>
            </a:xfrm>
            <a:custGeom>
              <a:avLst/>
              <a:gdLst/>
              <a:ahLst/>
              <a:cxnLst/>
              <a:rect l="l" t="t" r="r" b="b"/>
              <a:pathLst>
                <a:path w="323214" h="325120">
                  <a:moveTo>
                    <a:pt x="161544" y="0"/>
                  </a:moveTo>
                  <a:lnTo>
                    <a:pt x="118577" y="5796"/>
                  </a:lnTo>
                  <a:lnTo>
                    <a:pt x="79981" y="22154"/>
                  </a:lnTo>
                  <a:lnTo>
                    <a:pt x="47291" y="47529"/>
                  </a:lnTo>
                  <a:lnTo>
                    <a:pt x="22041" y="80376"/>
                  </a:lnTo>
                  <a:lnTo>
                    <a:pt x="5766" y="119150"/>
                  </a:lnTo>
                  <a:lnTo>
                    <a:pt x="0" y="162305"/>
                  </a:lnTo>
                  <a:lnTo>
                    <a:pt x="5766" y="205461"/>
                  </a:lnTo>
                  <a:lnTo>
                    <a:pt x="22041" y="244235"/>
                  </a:lnTo>
                  <a:lnTo>
                    <a:pt x="47291" y="277082"/>
                  </a:lnTo>
                  <a:lnTo>
                    <a:pt x="79981" y="302457"/>
                  </a:lnTo>
                  <a:lnTo>
                    <a:pt x="118577" y="318815"/>
                  </a:lnTo>
                  <a:lnTo>
                    <a:pt x="161544" y="324611"/>
                  </a:lnTo>
                  <a:lnTo>
                    <a:pt x="204510" y="318815"/>
                  </a:lnTo>
                  <a:lnTo>
                    <a:pt x="243106" y="302457"/>
                  </a:lnTo>
                  <a:lnTo>
                    <a:pt x="275796" y="277082"/>
                  </a:lnTo>
                  <a:lnTo>
                    <a:pt x="301046" y="244235"/>
                  </a:lnTo>
                  <a:lnTo>
                    <a:pt x="317321" y="205461"/>
                  </a:lnTo>
                  <a:lnTo>
                    <a:pt x="323088" y="162305"/>
                  </a:lnTo>
                  <a:lnTo>
                    <a:pt x="317321" y="119150"/>
                  </a:lnTo>
                  <a:lnTo>
                    <a:pt x="301046" y="80376"/>
                  </a:lnTo>
                  <a:lnTo>
                    <a:pt x="275796" y="47529"/>
                  </a:lnTo>
                  <a:lnTo>
                    <a:pt x="243106" y="22154"/>
                  </a:lnTo>
                  <a:lnTo>
                    <a:pt x="204510" y="579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886705" y="3437381"/>
              <a:ext cx="323215" cy="325120"/>
            </a:xfrm>
            <a:custGeom>
              <a:avLst/>
              <a:gdLst/>
              <a:ahLst/>
              <a:cxnLst/>
              <a:rect l="l" t="t" r="r" b="b"/>
              <a:pathLst>
                <a:path w="323214" h="325120">
                  <a:moveTo>
                    <a:pt x="0" y="162305"/>
                  </a:moveTo>
                  <a:lnTo>
                    <a:pt x="5766" y="119150"/>
                  </a:lnTo>
                  <a:lnTo>
                    <a:pt x="22041" y="80376"/>
                  </a:lnTo>
                  <a:lnTo>
                    <a:pt x="47291" y="47529"/>
                  </a:lnTo>
                  <a:lnTo>
                    <a:pt x="79981" y="22154"/>
                  </a:lnTo>
                  <a:lnTo>
                    <a:pt x="118577" y="5796"/>
                  </a:lnTo>
                  <a:lnTo>
                    <a:pt x="161544" y="0"/>
                  </a:lnTo>
                  <a:lnTo>
                    <a:pt x="204510" y="5796"/>
                  </a:lnTo>
                  <a:lnTo>
                    <a:pt x="243106" y="22154"/>
                  </a:lnTo>
                  <a:lnTo>
                    <a:pt x="275796" y="47529"/>
                  </a:lnTo>
                  <a:lnTo>
                    <a:pt x="301046" y="80376"/>
                  </a:lnTo>
                  <a:lnTo>
                    <a:pt x="317321" y="119150"/>
                  </a:lnTo>
                  <a:lnTo>
                    <a:pt x="323088" y="162305"/>
                  </a:lnTo>
                  <a:lnTo>
                    <a:pt x="317321" y="205461"/>
                  </a:lnTo>
                  <a:lnTo>
                    <a:pt x="301046" y="244235"/>
                  </a:lnTo>
                  <a:lnTo>
                    <a:pt x="275796" y="277082"/>
                  </a:lnTo>
                  <a:lnTo>
                    <a:pt x="243106" y="302457"/>
                  </a:lnTo>
                  <a:lnTo>
                    <a:pt x="204510" y="318815"/>
                  </a:lnTo>
                  <a:lnTo>
                    <a:pt x="161544" y="324611"/>
                  </a:lnTo>
                  <a:lnTo>
                    <a:pt x="118577" y="318815"/>
                  </a:lnTo>
                  <a:lnTo>
                    <a:pt x="79981" y="302457"/>
                  </a:lnTo>
                  <a:lnTo>
                    <a:pt x="47291" y="277082"/>
                  </a:lnTo>
                  <a:lnTo>
                    <a:pt x="22041" y="244235"/>
                  </a:lnTo>
                  <a:lnTo>
                    <a:pt x="5766" y="205461"/>
                  </a:lnTo>
                  <a:lnTo>
                    <a:pt x="0" y="162305"/>
                  </a:lnTo>
                  <a:close/>
                </a:path>
              </a:pathLst>
            </a:custGeom>
            <a:ln w="19812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017010" y="3331463"/>
              <a:ext cx="868680" cy="282575"/>
            </a:xfrm>
            <a:custGeom>
              <a:avLst/>
              <a:gdLst/>
              <a:ahLst/>
              <a:cxnLst/>
              <a:rect l="l" t="t" r="r" b="b"/>
              <a:pathLst>
                <a:path w="868679" h="282575">
                  <a:moveTo>
                    <a:pt x="793314" y="251737"/>
                  </a:moveTo>
                  <a:lnTo>
                    <a:pt x="784098" y="282194"/>
                  </a:lnTo>
                  <a:lnTo>
                    <a:pt x="868172" y="267715"/>
                  </a:lnTo>
                  <a:lnTo>
                    <a:pt x="855131" y="255397"/>
                  </a:lnTo>
                  <a:lnTo>
                    <a:pt x="805434" y="255397"/>
                  </a:lnTo>
                  <a:lnTo>
                    <a:pt x="793314" y="251737"/>
                  </a:lnTo>
                  <a:close/>
                </a:path>
                <a:path w="868679" h="282575">
                  <a:moveTo>
                    <a:pt x="797003" y="239547"/>
                  </a:moveTo>
                  <a:lnTo>
                    <a:pt x="793314" y="251737"/>
                  </a:lnTo>
                  <a:lnTo>
                    <a:pt x="805434" y="255397"/>
                  </a:lnTo>
                  <a:lnTo>
                    <a:pt x="809116" y="243205"/>
                  </a:lnTo>
                  <a:lnTo>
                    <a:pt x="797003" y="239547"/>
                  </a:lnTo>
                  <a:close/>
                </a:path>
                <a:path w="868679" h="282575">
                  <a:moveTo>
                    <a:pt x="806195" y="209169"/>
                  </a:moveTo>
                  <a:lnTo>
                    <a:pt x="797003" y="239547"/>
                  </a:lnTo>
                  <a:lnTo>
                    <a:pt x="809116" y="243205"/>
                  </a:lnTo>
                  <a:lnTo>
                    <a:pt x="805434" y="255397"/>
                  </a:lnTo>
                  <a:lnTo>
                    <a:pt x="855131" y="255397"/>
                  </a:lnTo>
                  <a:lnTo>
                    <a:pt x="806195" y="209169"/>
                  </a:lnTo>
                  <a:close/>
                </a:path>
                <a:path w="868679" h="282575">
                  <a:moveTo>
                    <a:pt x="3555" y="0"/>
                  </a:moveTo>
                  <a:lnTo>
                    <a:pt x="0" y="12191"/>
                  </a:lnTo>
                  <a:lnTo>
                    <a:pt x="793314" y="251737"/>
                  </a:lnTo>
                  <a:lnTo>
                    <a:pt x="797003" y="239547"/>
                  </a:lnTo>
                  <a:lnTo>
                    <a:pt x="3555" y="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43142" y="3925681"/>
              <a:ext cx="405655" cy="405655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4886705" y="3949445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161544" y="0"/>
                  </a:moveTo>
                  <a:lnTo>
                    <a:pt x="118577" y="5766"/>
                  </a:lnTo>
                  <a:lnTo>
                    <a:pt x="79981" y="22041"/>
                  </a:lnTo>
                  <a:lnTo>
                    <a:pt x="47291" y="47291"/>
                  </a:lnTo>
                  <a:lnTo>
                    <a:pt x="22041" y="79981"/>
                  </a:lnTo>
                  <a:lnTo>
                    <a:pt x="5766" y="118577"/>
                  </a:lnTo>
                  <a:lnTo>
                    <a:pt x="0" y="161543"/>
                  </a:lnTo>
                  <a:lnTo>
                    <a:pt x="5766" y="204510"/>
                  </a:lnTo>
                  <a:lnTo>
                    <a:pt x="22041" y="243106"/>
                  </a:lnTo>
                  <a:lnTo>
                    <a:pt x="47291" y="275796"/>
                  </a:lnTo>
                  <a:lnTo>
                    <a:pt x="79981" y="301046"/>
                  </a:lnTo>
                  <a:lnTo>
                    <a:pt x="118577" y="317321"/>
                  </a:lnTo>
                  <a:lnTo>
                    <a:pt x="161544" y="323087"/>
                  </a:lnTo>
                  <a:lnTo>
                    <a:pt x="204510" y="317321"/>
                  </a:lnTo>
                  <a:lnTo>
                    <a:pt x="243106" y="301046"/>
                  </a:lnTo>
                  <a:lnTo>
                    <a:pt x="275796" y="275796"/>
                  </a:lnTo>
                  <a:lnTo>
                    <a:pt x="301046" y="243106"/>
                  </a:lnTo>
                  <a:lnTo>
                    <a:pt x="317321" y="204510"/>
                  </a:lnTo>
                  <a:lnTo>
                    <a:pt x="323088" y="161543"/>
                  </a:lnTo>
                  <a:lnTo>
                    <a:pt x="317321" y="118577"/>
                  </a:lnTo>
                  <a:lnTo>
                    <a:pt x="301046" y="79981"/>
                  </a:lnTo>
                  <a:lnTo>
                    <a:pt x="275796" y="47291"/>
                  </a:lnTo>
                  <a:lnTo>
                    <a:pt x="243106" y="22041"/>
                  </a:lnTo>
                  <a:lnTo>
                    <a:pt x="204510" y="576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886705" y="3949445"/>
              <a:ext cx="323215" cy="323215"/>
            </a:xfrm>
            <a:custGeom>
              <a:avLst/>
              <a:gdLst/>
              <a:ahLst/>
              <a:cxnLst/>
              <a:rect l="l" t="t" r="r" b="b"/>
              <a:pathLst>
                <a:path w="323214" h="323214">
                  <a:moveTo>
                    <a:pt x="0" y="161543"/>
                  </a:moveTo>
                  <a:lnTo>
                    <a:pt x="5766" y="118577"/>
                  </a:lnTo>
                  <a:lnTo>
                    <a:pt x="22041" y="79981"/>
                  </a:lnTo>
                  <a:lnTo>
                    <a:pt x="47291" y="47291"/>
                  </a:lnTo>
                  <a:lnTo>
                    <a:pt x="79981" y="22041"/>
                  </a:lnTo>
                  <a:lnTo>
                    <a:pt x="118577" y="5766"/>
                  </a:lnTo>
                  <a:lnTo>
                    <a:pt x="161544" y="0"/>
                  </a:lnTo>
                  <a:lnTo>
                    <a:pt x="204510" y="5766"/>
                  </a:lnTo>
                  <a:lnTo>
                    <a:pt x="243106" y="22041"/>
                  </a:lnTo>
                  <a:lnTo>
                    <a:pt x="275796" y="47291"/>
                  </a:lnTo>
                  <a:lnTo>
                    <a:pt x="301046" y="79981"/>
                  </a:lnTo>
                  <a:lnTo>
                    <a:pt x="317321" y="118577"/>
                  </a:lnTo>
                  <a:lnTo>
                    <a:pt x="323088" y="161543"/>
                  </a:lnTo>
                  <a:lnTo>
                    <a:pt x="317321" y="204510"/>
                  </a:lnTo>
                  <a:lnTo>
                    <a:pt x="301046" y="243106"/>
                  </a:lnTo>
                  <a:lnTo>
                    <a:pt x="275796" y="275796"/>
                  </a:lnTo>
                  <a:lnTo>
                    <a:pt x="243106" y="301046"/>
                  </a:lnTo>
                  <a:lnTo>
                    <a:pt x="204510" y="317321"/>
                  </a:lnTo>
                  <a:lnTo>
                    <a:pt x="161544" y="323087"/>
                  </a:lnTo>
                  <a:lnTo>
                    <a:pt x="118577" y="317321"/>
                  </a:lnTo>
                  <a:lnTo>
                    <a:pt x="79981" y="301046"/>
                  </a:lnTo>
                  <a:lnTo>
                    <a:pt x="47291" y="275796"/>
                  </a:lnTo>
                  <a:lnTo>
                    <a:pt x="22041" y="243106"/>
                  </a:lnTo>
                  <a:lnTo>
                    <a:pt x="5766" y="204510"/>
                  </a:lnTo>
                  <a:lnTo>
                    <a:pt x="0" y="161543"/>
                  </a:lnTo>
                  <a:close/>
                </a:path>
              </a:pathLst>
            </a:custGeom>
            <a:ln w="19812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014597" y="3332860"/>
              <a:ext cx="870585" cy="777875"/>
            </a:xfrm>
            <a:custGeom>
              <a:avLst/>
              <a:gdLst/>
              <a:ahLst/>
              <a:cxnLst/>
              <a:rect l="l" t="t" r="r" b="b"/>
              <a:pathLst>
                <a:path w="870585" h="777875">
                  <a:moveTo>
                    <a:pt x="809436" y="731965"/>
                  </a:moveTo>
                  <a:lnTo>
                    <a:pt x="788288" y="755650"/>
                  </a:lnTo>
                  <a:lnTo>
                    <a:pt x="870585" y="777875"/>
                  </a:lnTo>
                  <a:lnTo>
                    <a:pt x="855671" y="740409"/>
                  </a:lnTo>
                  <a:lnTo>
                    <a:pt x="818895" y="740409"/>
                  </a:lnTo>
                  <a:lnTo>
                    <a:pt x="809436" y="731965"/>
                  </a:lnTo>
                  <a:close/>
                </a:path>
                <a:path w="870585" h="777875">
                  <a:moveTo>
                    <a:pt x="817941" y="722439"/>
                  </a:moveTo>
                  <a:lnTo>
                    <a:pt x="809436" y="731965"/>
                  </a:lnTo>
                  <a:lnTo>
                    <a:pt x="818895" y="740409"/>
                  </a:lnTo>
                  <a:lnTo>
                    <a:pt x="827404" y="730884"/>
                  </a:lnTo>
                  <a:lnTo>
                    <a:pt x="817941" y="722439"/>
                  </a:lnTo>
                  <a:close/>
                </a:path>
                <a:path w="870585" h="777875">
                  <a:moveTo>
                    <a:pt x="839088" y="698753"/>
                  </a:moveTo>
                  <a:lnTo>
                    <a:pt x="817941" y="722439"/>
                  </a:lnTo>
                  <a:lnTo>
                    <a:pt x="827404" y="730884"/>
                  </a:lnTo>
                  <a:lnTo>
                    <a:pt x="818895" y="740409"/>
                  </a:lnTo>
                  <a:lnTo>
                    <a:pt x="855671" y="740409"/>
                  </a:lnTo>
                  <a:lnTo>
                    <a:pt x="839088" y="698753"/>
                  </a:lnTo>
                  <a:close/>
                </a:path>
                <a:path w="870585" h="777875">
                  <a:moveTo>
                    <a:pt x="8381" y="0"/>
                  </a:moveTo>
                  <a:lnTo>
                    <a:pt x="0" y="9398"/>
                  </a:lnTo>
                  <a:lnTo>
                    <a:pt x="809436" y="731965"/>
                  </a:lnTo>
                  <a:lnTo>
                    <a:pt x="817941" y="722439"/>
                  </a:lnTo>
                  <a:lnTo>
                    <a:pt x="8381" y="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43142" y="4436266"/>
              <a:ext cx="405655" cy="407102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4886705" y="4459985"/>
              <a:ext cx="323215" cy="325120"/>
            </a:xfrm>
            <a:custGeom>
              <a:avLst/>
              <a:gdLst/>
              <a:ahLst/>
              <a:cxnLst/>
              <a:rect l="l" t="t" r="r" b="b"/>
              <a:pathLst>
                <a:path w="323214" h="325120">
                  <a:moveTo>
                    <a:pt x="161544" y="0"/>
                  </a:moveTo>
                  <a:lnTo>
                    <a:pt x="118577" y="5796"/>
                  </a:lnTo>
                  <a:lnTo>
                    <a:pt x="79981" y="22154"/>
                  </a:lnTo>
                  <a:lnTo>
                    <a:pt x="47291" y="47529"/>
                  </a:lnTo>
                  <a:lnTo>
                    <a:pt x="22041" y="80376"/>
                  </a:lnTo>
                  <a:lnTo>
                    <a:pt x="5766" y="119150"/>
                  </a:lnTo>
                  <a:lnTo>
                    <a:pt x="0" y="162306"/>
                  </a:lnTo>
                  <a:lnTo>
                    <a:pt x="5766" y="205461"/>
                  </a:lnTo>
                  <a:lnTo>
                    <a:pt x="22041" y="244235"/>
                  </a:lnTo>
                  <a:lnTo>
                    <a:pt x="47291" y="277082"/>
                  </a:lnTo>
                  <a:lnTo>
                    <a:pt x="79981" y="302457"/>
                  </a:lnTo>
                  <a:lnTo>
                    <a:pt x="118577" y="318815"/>
                  </a:lnTo>
                  <a:lnTo>
                    <a:pt x="161544" y="324612"/>
                  </a:lnTo>
                  <a:lnTo>
                    <a:pt x="204510" y="318815"/>
                  </a:lnTo>
                  <a:lnTo>
                    <a:pt x="243106" y="302457"/>
                  </a:lnTo>
                  <a:lnTo>
                    <a:pt x="275796" y="277082"/>
                  </a:lnTo>
                  <a:lnTo>
                    <a:pt x="301046" y="244235"/>
                  </a:lnTo>
                  <a:lnTo>
                    <a:pt x="317321" y="205461"/>
                  </a:lnTo>
                  <a:lnTo>
                    <a:pt x="323088" y="162306"/>
                  </a:lnTo>
                  <a:lnTo>
                    <a:pt x="317321" y="119150"/>
                  </a:lnTo>
                  <a:lnTo>
                    <a:pt x="301046" y="80376"/>
                  </a:lnTo>
                  <a:lnTo>
                    <a:pt x="275796" y="47529"/>
                  </a:lnTo>
                  <a:lnTo>
                    <a:pt x="243106" y="22154"/>
                  </a:lnTo>
                  <a:lnTo>
                    <a:pt x="204510" y="579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86705" y="4459985"/>
              <a:ext cx="323215" cy="325120"/>
            </a:xfrm>
            <a:custGeom>
              <a:avLst/>
              <a:gdLst/>
              <a:ahLst/>
              <a:cxnLst/>
              <a:rect l="l" t="t" r="r" b="b"/>
              <a:pathLst>
                <a:path w="323214" h="325120">
                  <a:moveTo>
                    <a:pt x="0" y="162306"/>
                  </a:moveTo>
                  <a:lnTo>
                    <a:pt x="5766" y="119150"/>
                  </a:lnTo>
                  <a:lnTo>
                    <a:pt x="22041" y="80376"/>
                  </a:lnTo>
                  <a:lnTo>
                    <a:pt x="47291" y="47529"/>
                  </a:lnTo>
                  <a:lnTo>
                    <a:pt x="79981" y="22154"/>
                  </a:lnTo>
                  <a:lnTo>
                    <a:pt x="118577" y="5796"/>
                  </a:lnTo>
                  <a:lnTo>
                    <a:pt x="161544" y="0"/>
                  </a:lnTo>
                  <a:lnTo>
                    <a:pt x="204510" y="5796"/>
                  </a:lnTo>
                  <a:lnTo>
                    <a:pt x="243106" y="22154"/>
                  </a:lnTo>
                  <a:lnTo>
                    <a:pt x="275796" y="47529"/>
                  </a:lnTo>
                  <a:lnTo>
                    <a:pt x="301046" y="80376"/>
                  </a:lnTo>
                  <a:lnTo>
                    <a:pt x="317321" y="119150"/>
                  </a:lnTo>
                  <a:lnTo>
                    <a:pt x="323088" y="162306"/>
                  </a:lnTo>
                  <a:lnTo>
                    <a:pt x="317321" y="205461"/>
                  </a:lnTo>
                  <a:lnTo>
                    <a:pt x="301046" y="244235"/>
                  </a:lnTo>
                  <a:lnTo>
                    <a:pt x="275796" y="277082"/>
                  </a:lnTo>
                  <a:lnTo>
                    <a:pt x="243106" y="302457"/>
                  </a:lnTo>
                  <a:lnTo>
                    <a:pt x="204510" y="318815"/>
                  </a:lnTo>
                  <a:lnTo>
                    <a:pt x="161544" y="324612"/>
                  </a:lnTo>
                  <a:lnTo>
                    <a:pt x="118577" y="318815"/>
                  </a:lnTo>
                  <a:lnTo>
                    <a:pt x="79981" y="302457"/>
                  </a:lnTo>
                  <a:lnTo>
                    <a:pt x="47291" y="277082"/>
                  </a:lnTo>
                  <a:lnTo>
                    <a:pt x="22041" y="244235"/>
                  </a:lnTo>
                  <a:lnTo>
                    <a:pt x="5766" y="205461"/>
                  </a:lnTo>
                  <a:lnTo>
                    <a:pt x="0" y="162306"/>
                  </a:lnTo>
                  <a:close/>
                </a:path>
              </a:pathLst>
            </a:custGeom>
            <a:ln w="19812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013580" y="3334003"/>
              <a:ext cx="871855" cy="1288415"/>
            </a:xfrm>
            <a:custGeom>
              <a:avLst/>
              <a:gdLst/>
              <a:ahLst/>
              <a:cxnLst/>
              <a:rect l="l" t="t" r="r" b="b"/>
              <a:pathLst>
                <a:path w="871854" h="1288414">
                  <a:moveTo>
                    <a:pt x="823729" y="1228730"/>
                  </a:moveTo>
                  <a:lnTo>
                    <a:pt x="797306" y="1246505"/>
                  </a:lnTo>
                  <a:lnTo>
                    <a:pt x="871601" y="1288415"/>
                  </a:lnTo>
                  <a:lnTo>
                    <a:pt x="865170" y="1239266"/>
                  </a:lnTo>
                  <a:lnTo>
                    <a:pt x="830834" y="1239266"/>
                  </a:lnTo>
                  <a:lnTo>
                    <a:pt x="823729" y="1228730"/>
                  </a:lnTo>
                  <a:close/>
                </a:path>
                <a:path w="871854" h="1288414">
                  <a:moveTo>
                    <a:pt x="834193" y="1221691"/>
                  </a:moveTo>
                  <a:lnTo>
                    <a:pt x="823729" y="1228730"/>
                  </a:lnTo>
                  <a:lnTo>
                    <a:pt x="830834" y="1239266"/>
                  </a:lnTo>
                  <a:lnTo>
                    <a:pt x="841248" y="1232154"/>
                  </a:lnTo>
                  <a:lnTo>
                    <a:pt x="834193" y="1221691"/>
                  </a:lnTo>
                  <a:close/>
                </a:path>
                <a:path w="871854" h="1288414">
                  <a:moveTo>
                    <a:pt x="860552" y="1203960"/>
                  </a:moveTo>
                  <a:lnTo>
                    <a:pt x="834193" y="1221691"/>
                  </a:lnTo>
                  <a:lnTo>
                    <a:pt x="841248" y="1232154"/>
                  </a:lnTo>
                  <a:lnTo>
                    <a:pt x="830834" y="1239266"/>
                  </a:lnTo>
                  <a:lnTo>
                    <a:pt x="865170" y="1239266"/>
                  </a:lnTo>
                  <a:lnTo>
                    <a:pt x="860552" y="1203960"/>
                  </a:lnTo>
                  <a:close/>
                </a:path>
                <a:path w="871854" h="1288414">
                  <a:moveTo>
                    <a:pt x="10414" y="0"/>
                  </a:moveTo>
                  <a:lnTo>
                    <a:pt x="0" y="7112"/>
                  </a:lnTo>
                  <a:lnTo>
                    <a:pt x="823729" y="1228730"/>
                  </a:lnTo>
                  <a:lnTo>
                    <a:pt x="834193" y="1221691"/>
                  </a:lnTo>
                  <a:lnTo>
                    <a:pt x="10414" y="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43142" y="4948330"/>
              <a:ext cx="405655" cy="407102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4886705" y="4972050"/>
              <a:ext cx="323215" cy="325120"/>
            </a:xfrm>
            <a:custGeom>
              <a:avLst/>
              <a:gdLst/>
              <a:ahLst/>
              <a:cxnLst/>
              <a:rect l="l" t="t" r="r" b="b"/>
              <a:pathLst>
                <a:path w="323214" h="325120">
                  <a:moveTo>
                    <a:pt x="161544" y="0"/>
                  </a:moveTo>
                  <a:lnTo>
                    <a:pt x="118577" y="5796"/>
                  </a:lnTo>
                  <a:lnTo>
                    <a:pt x="79981" y="22154"/>
                  </a:lnTo>
                  <a:lnTo>
                    <a:pt x="47291" y="47529"/>
                  </a:lnTo>
                  <a:lnTo>
                    <a:pt x="22041" y="80376"/>
                  </a:lnTo>
                  <a:lnTo>
                    <a:pt x="5766" y="119150"/>
                  </a:lnTo>
                  <a:lnTo>
                    <a:pt x="0" y="162306"/>
                  </a:lnTo>
                  <a:lnTo>
                    <a:pt x="5766" y="205461"/>
                  </a:lnTo>
                  <a:lnTo>
                    <a:pt x="22041" y="244235"/>
                  </a:lnTo>
                  <a:lnTo>
                    <a:pt x="47291" y="277082"/>
                  </a:lnTo>
                  <a:lnTo>
                    <a:pt x="79981" y="302457"/>
                  </a:lnTo>
                  <a:lnTo>
                    <a:pt x="118577" y="318815"/>
                  </a:lnTo>
                  <a:lnTo>
                    <a:pt x="161544" y="324612"/>
                  </a:lnTo>
                  <a:lnTo>
                    <a:pt x="204510" y="318815"/>
                  </a:lnTo>
                  <a:lnTo>
                    <a:pt x="243106" y="302457"/>
                  </a:lnTo>
                  <a:lnTo>
                    <a:pt x="275796" y="277082"/>
                  </a:lnTo>
                  <a:lnTo>
                    <a:pt x="301046" y="244235"/>
                  </a:lnTo>
                  <a:lnTo>
                    <a:pt x="317321" y="205461"/>
                  </a:lnTo>
                  <a:lnTo>
                    <a:pt x="323088" y="162306"/>
                  </a:lnTo>
                  <a:lnTo>
                    <a:pt x="317321" y="119150"/>
                  </a:lnTo>
                  <a:lnTo>
                    <a:pt x="301046" y="80376"/>
                  </a:lnTo>
                  <a:lnTo>
                    <a:pt x="275796" y="47529"/>
                  </a:lnTo>
                  <a:lnTo>
                    <a:pt x="243106" y="22154"/>
                  </a:lnTo>
                  <a:lnTo>
                    <a:pt x="204510" y="5796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886705" y="4972050"/>
              <a:ext cx="323215" cy="325120"/>
            </a:xfrm>
            <a:custGeom>
              <a:avLst/>
              <a:gdLst/>
              <a:ahLst/>
              <a:cxnLst/>
              <a:rect l="l" t="t" r="r" b="b"/>
              <a:pathLst>
                <a:path w="323214" h="325120">
                  <a:moveTo>
                    <a:pt x="0" y="162306"/>
                  </a:moveTo>
                  <a:lnTo>
                    <a:pt x="5766" y="119150"/>
                  </a:lnTo>
                  <a:lnTo>
                    <a:pt x="22041" y="80376"/>
                  </a:lnTo>
                  <a:lnTo>
                    <a:pt x="47291" y="47529"/>
                  </a:lnTo>
                  <a:lnTo>
                    <a:pt x="79981" y="22154"/>
                  </a:lnTo>
                  <a:lnTo>
                    <a:pt x="118577" y="5796"/>
                  </a:lnTo>
                  <a:lnTo>
                    <a:pt x="161544" y="0"/>
                  </a:lnTo>
                  <a:lnTo>
                    <a:pt x="204510" y="5796"/>
                  </a:lnTo>
                  <a:lnTo>
                    <a:pt x="243106" y="22154"/>
                  </a:lnTo>
                  <a:lnTo>
                    <a:pt x="275796" y="47529"/>
                  </a:lnTo>
                  <a:lnTo>
                    <a:pt x="301046" y="80376"/>
                  </a:lnTo>
                  <a:lnTo>
                    <a:pt x="317321" y="119150"/>
                  </a:lnTo>
                  <a:lnTo>
                    <a:pt x="323088" y="162306"/>
                  </a:lnTo>
                  <a:lnTo>
                    <a:pt x="317321" y="205461"/>
                  </a:lnTo>
                  <a:lnTo>
                    <a:pt x="301046" y="244235"/>
                  </a:lnTo>
                  <a:lnTo>
                    <a:pt x="275796" y="277082"/>
                  </a:lnTo>
                  <a:lnTo>
                    <a:pt x="243106" y="302457"/>
                  </a:lnTo>
                  <a:lnTo>
                    <a:pt x="204510" y="318815"/>
                  </a:lnTo>
                  <a:lnTo>
                    <a:pt x="161544" y="324612"/>
                  </a:lnTo>
                  <a:lnTo>
                    <a:pt x="118577" y="318815"/>
                  </a:lnTo>
                  <a:lnTo>
                    <a:pt x="79981" y="302457"/>
                  </a:lnTo>
                  <a:lnTo>
                    <a:pt x="47291" y="277082"/>
                  </a:lnTo>
                  <a:lnTo>
                    <a:pt x="22041" y="244235"/>
                  </a:lnTo>
                  <a:lnTo>
                    <a:pt x="5766" y="205461"/>
                  </a:lnTo>
                  <a:lnTo>
                    <a:pt x="0" y="162306"/>
                  </a:lnTo>
                  <a:close/>
                </a:path>
              </a:pathLst>
            </a:custGeom>
            <a:ln w="19812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013073" y="3087623"/>
              <a:ext cx="873760" cy="2061210"/>
            </a:xfrm>
            <a:custGeom>
              <a:avLst/>
              <a:gdLst/>
              <a:ahLst/>
              <a:cxnLst/>
              <a:rect l="l" t="t" r="r" b="b"/>
              <a:pathLst>
                <a:path w="873760" h="2061210">
                  <a:moveTo>
                    <a:pt x="873252" y="1961261"/>
                  </a:moveTo>
                  <a:lnTo>
                    <a:pt x="861822" y="1966772"/>
                  </a:lnTo>
                  <a:lnTo>
                    <a:pt x="861060" y="1960880"/>
                  </a:lnTo>
                  <a:lnTo>
                    <a:pt x="843508" y="1972691"/>
                  </a:lnTo>
                  <a:lnTo>
                    <a:pt x="840816" y="1967128"/>
                  </a:lnTo>
                  <a:lnTo>
                    <a:pt x="840613" y="1966595"/>
                  </a:lnTo>
                  <a:lnTo>
                    <a:pt x="826109" y="1936648"/>
                  </a:lnTo>
                  <a:lnTo>
                    <a:pt x="826109" y="1965909"/>
                  </a:lnTo>
                  <a:lnTo>
                    <a:pt x="823823" y="1962531"/>
                  </a:lnTo>
                  <a:lnTo>
                    <a:pt x="823823" y="1985060"/>
                  </a:lnTo>
                  <a:lnTo>
                    <a:pt x="817168" y="1988261"/>
                  </a:lnTo>
                  <a:lnTo>
                    <a:pt x="807402" y="1979549"/>
                  </a:lnTo>
                  <a:lnTo>
                    <a:pt x="807402" y="1996668"/>
                  </a:lnTo>
                  <a:lnTo>
                    <a:pt x="807288" y="1997049"/>
                  </a:lnTo>
                  <a:lnTo>
                    <a:pt x="797814" y="2003425"/>
                  </a:lnTo>
                  <a:lnTo>
                    <a:pt x="804252" y="2007082"/>
                  </a:lnTo>
                  <a:lnTo>
                    <a:pt x="804151" y="2007450"/>
                  </a:lnTo>
                  <a:lnTo>
                    <a:pt x="795985" y="2016582"/>
                  </a:lnTo>
                  <a:lnTo>
                    <a:pt x="28346" y="1784807"/>
                  </a:lnTo>
                  <a:lnTo>
                    <a:pt x="437718" y="1666671"/>
                  </a:lnTo>
                  <a:lnTo>
                    <a:pt x="804722" y="1994255"/>
                  </a:lnTo>
                  <a:lnTo>
                    <a:pt x="805307" y="1994789"/>
                  </a:lnTo>
                  <a:lnTo>
                    <a:pt x="807402" y="1996668"/>
                  </a:lnTo>
                  <a:lnTo>
                    <a:pt x="807402" y="1979549"/>
                  </a:lnTo>
                  <a:lnTo>
                    <a:pt x="452120" y="1662518"/>
                  </a:lnTo>
                  <a:lnTo>
                    <a:pt x="581177" y="1625269"/>
                  </a:lnTo>
                  <a:lnTo>
                    <a:pt x="823823" y="1985060"/>
                  </a:lnTo>
                  <a:lnTo>
                    <a:pt x="823823" y="1962531"/>
                  </a:lnTo>
                  <a:lnTo>
                    <a:pt x="593915" y="1621599"/>
                  </a:lnTo>
                  <a:lnTo>
                    <a:pt x="651967" y="1604835"/>
                  </a:lnTo>
                  <a:lnTo>
                    <a:pt x="826109" y="1965909"/>
                  </a:lnTo>
                  <a:lnTo>
                    <a:pt x="826109" y="1936648"/>
                  </a:lnTo>
                  <a:lnTo>
                    <a:pt x="664375" y="1601254"/>
                  </a:lnTo>
                  <a:lnTo>
                    <a:pt x="800582" y="1561947"/>
                  </a:lnTo>
                  <a:lnTo>
                    <a:pt x="809371" y="1592453"/>
                  </a:lnTo>
                  <a:lnTo>
                    <a:pt x="859561" y="1546225"/>
                  </a:lnTo>
                  <a:lnTo>
                    <a:pt x="872109" y="1534668"/>
                  </a:lnTo>
                  <a:lnTo>
                    <a:pt x="870673" y="1534414"/>
                  </a:lnTo>
                  <a:lnTo>
                    <a:pt x="872109" y="1534160"/>
                  </a:lnTo>
                  <a:lnTo>
                    <a:pt x="871347" y="1533448"/>
                  </a:lnTo>
                  <a:lnTo>
                    <a:pt x="872109" y="1533652"/>
                  </a:lnTo>
                  <a:lnTo>
                    <a:pt x="857186" y="1496187"/>
                  </a:lnTo>
                  <a:lnTo>
                    <a:pt x="840613" y="1454531"/>
                  </a:lnTo>
                  <a:lnTo>
                    <a:pt x="819454" y="1478229"/>
                  </a:lnTo>
                  <a:lnTo>
                    <a:pt x="807415" y="1467497"/>
                  </a:lnTo>
                  <a:lnTo>
                    <a:pt x="807415" y="1484604"/>
                  </a:lnTo>
                  <a:lnTo>
                    <a:pt x="804151" y="1495374"/>
                  </a:lnTo>
                  <a:lnTo>
                    <a:pt x="797242" y="1503121"/>
                  </a:lnTo>
                  <a:lnTo>
                    <a:pt x="797242" y="1518183"/>
                  </a:lnTo>
                  <a:lnTo>
                    <a:pt x="796480" y="1520698"/>
                  </a:lnTo>
                  <a:lnTo>
                    <a:pt x="788289" y="1519174"/>
                  </a:lnTo>
                  <a:lnTo>
                    <a:pt x="792505" y="1533855"/>
                  </a:lnTo>
                  <a:lnTo>
                    <a:pt x="788035" y="1548638"/>
                  </a:lnTo>
                  <a:lnTo>
                    <a:pt x="796340" y="1547215"/>
                  </a:lnTo>
                  <a:lnTo>
                    <a:pt x="797077" y="1549742"/>
                  </a:lnTo>
                  <a:lnTo>
                    <a:pt x="658787" y="1589659"/>
                  </a:lnTo>
                  <a:lnTo>
                    <a:pt x="646379" y="1563928"/>
                  </a:lnTo>
                  <a:lnTo>
                    <a:pt x="646379" y="1593240"/>
                  </a:lnTo>
                  <a:lnTo>
                    <a:pt x="586447" y="1610537"/>
                  </a:lnTo>
                  <a:lnTo>
                    <a:pt x="573722" y="1591665"/>
                  </a:lnTo>
                  <a:lnTo>
                    <a:pt x="573722" y="1614208"/>
                  </a:lnTo>
                  <a:lnTo>
                    <a:pt x="440918" y="1652524"/>
                  </a:lnTo>
                  <a:lnTo>
                    <a:pt x="426529" y="1639684"/>
                  </a:lnTo>
                  <a:lnTo>
                    <a:pt x="426529" y="1656676"/>
                  </a:lnTo>
                  <a:lnTo>
                    <a:pt x="30454" y="1770989"/>
                  </a:lnTo>
                  <a:lnTo>
                    <a:pt x="294525" y="1538833"/>
                  </a:lnTo>
                  <a:lnTo>
                    <a:pt x="426529" y="1656676"/>
                  </a:lnTo>
                  <a:lnTo>
                    <a:pt x="426529" y="1639684"/>
                  </a:lnTo>
                  <a:lnTo>
                    <a:pt x="304088" y="1530413"/>
                  </a:lnTo>
                  <a:lnTo>
                    <a:pt x="437896" y="1412786"/>
                  </a:lnTo>
                  <a:lnTo>
                    <a:pt x="573722" y="1614208"/>
                  </a:lnTo>
                  <a:lnTo>
                    <a:pt x="573722" y="1591665"/>
                  </a:lnTo>
                  <a:lnTo>
                    <a:pt x="454367" y="1414653"/>
                  </a:lnTo>
                  <a:lnTo>
                    <a:pt x="578307" y="1452079"/>
                  </a:lnTo>
                  <a:lnTo>
                    <a:pt x="646379" y="1593240"/>
                  </a:lnTo>
                  <a:lnTo>
                    <a:pt x="646379" y="1563928"/>
                  </a:lnTo>
                  <a:lnTo>
                    <a:pt x="594855" y="1457071"/>
                  </a:lnTo>
                  <a:lnTo>
                    <a:pt x="797242" y="1518183"/>
                  </a:lnTo>
                  <a:lnTo>
                    <a:pt x="797242" y="1503121"/>
                  </a:lnTo>
                  <a:lnTo>
                    <a:pt x="795985" y="1504518"/>
                  </a:lnTo>
                  <a:lnTo>
                    <a:pt x="587349" y="1441526"/>
                  </a:lnTo>
                  <a:lnTo>
                    <a:pt x="570814" y="1407236"/>
                  </a:lnTo>
                  <a:lnTo>
                    <a:pt x="570814" y="1436535"/>
                  </a:lnTo>
                  <a:lnTo>
                    <a:pt x="451764" y="1400594"/>
                  </a:lnTo>
                  <a:lnTo>
                    <a:pt x="523189" y="1337792"/>
                  </a:lnTo>
                  <a:lnTo>
                    <a:pt x="570814" y="1436535"/>
                  </a:lnTo>
                  <a:lnTo>
                    <a:pt x="570814" y="1407236"/>
                  </a:lnTo>
                  <a:lnTo>
                    <a:pt x="533120" y="1329067"/>
                  </a:lnTo>
                  <a:lnTo>
                    <a:pt x="583526" y="1284757"/>
                  </a:lnTo>
                  <a:lnTo>
                    <a:pt x="807415" y="1484604"/>
                  </a:lnTo>
                  <a:lnTo>
                    <a:pt x="807415" y="1467497"/>
                  </a:lnTo>
                  <a:lnTo>
                    <a:pt x="593153" y="1276299"/>
                  </a:lnTo>
                  <a:lnTo>
                    <a:pt x="819048" y="1077696"/>
                  </a:lnTo>
                  <a:lnTo>
                    <a:pt x="839978" y="1101471"/>
                  </a:lnTo>
                  <a:lnTo>
                    <a:pt x="856945" y="1059815"/>
                  </a:lnTo>
                  <a:lnTo>
                    <a:pt x="872109" y="1022604"/>
                  </a:lnTo>
                  <a:lnTo>
                    <a:pt x="870673" y="1022350"/>
                  </a:lnTo>
                  <a:lnTo>
                    <a:pt x="872109" y="1022096"/>
                  </a:lnTo>
                  <a:lnTo>
                    <a:pt x="859066" y="1009777"/>
                  </a:lnTo>
                  <a:lnTo>
                    <a:pt x="810133" y="963549"/>
                  </a:lnTo>
                  <a:lnTo>
                    <a:pt x="806818" y="974509"/>
                  </a:lnTo>
                  <a:lnTo>
                    <a:pt x="806818" y="1071549"/>
                  </a:lnTo>
                  <a:lnTo>
                    <a:pt x="583615" y="1267790"/>
                  </a:lnTo>
                  <a:lnTo>
                    <a:pt x="574001" y="1259217"/>
                  </a:lnTo>
                  <a:lnTo>
                    <a:pt x="574001" y="1276235"/>
                  </a:lnTo>
                  <a:lnTo>
                    <a:pt x="527392" y="1317205"/>
                  </a:lnTo>
                  <a:lnTo>
                    <a:pt x="517474" y="1296644"/>
                  </a:lnTo>
                  <a:lnTo>
                    <a:pt x="517474" y="1325930"/>
                  </a:lnTo>
                  <a:lnTo>
                    <a:pt x="440296" y="1393786"/>
                  </a:lnTo>
                  <a:lnTo>
                    <a:pt x="426212" y="1372908"/>
                  </a:lnTo>
                  <a:lnTo>
                    <a:pt x="426212" y="1406169"/>
                  </a:lnTo>
                  <a:lnTo>
                    <a:pt x="294551" y="1521904"/>
                  </a:lnTo>
                  <a:lnTo>
                    <a:pt x="284988" y="1513370"/>
                  </a:lnTo>
                  <a:lnTo>
                    <a:pt x="284988" y="1530324"/>
                  </a:lnTo>
                  <a:lnTo>
                    <a:pt x="38252" y="1747227"/>
                  </a:lnTo>
                  <a:lnTo>
                    <a:pt x="223329" y="1475270"/>
                  </a:lnTo>
                  <a:lnTo>
                    <a:pt x="284988" y="1530324"/>
                  </a:lnTo>
                  <a:lnTo>
                    <a:pt x="284988" y="1513370"/>
                  </a:lnTo>
                  <a:lnTo>
                    <a:pt x="230492" y="1464729"/>
                  </a:lnTo>
                  <a:lnTo>
                    <a:pt x="296913" y="1367129"/>
                  </a:lnTo>
                  <a:lnTo>
                    <a:pt x="426212" y="1406169"/>
                  </a:lnTo>
                  <a:lnTo>
                    <a:pt x="426212" y="1372908"/>
                  </a:lnTo>
                  <a:lnTo>
                    <a:pt x="424053" y="1369707"/>
                  </a:lnTo>
                  <a:lnTo>
                    <a:pt x="424053" y="1392224"/>
                  </a:lnTo>
                  <a:lnTo>
                    <a:pt x="304406" y="1356118"/>
                  </a:lnTo>
                  <a:lnTo>
                    <a:pt x="352272" y="1285786"/>
                  </a:lnTo>
                  <a:lnTo>
                    <a:pt x="424053" y="1392224"/>
                  </a:lnTo>
                  <a:lnTo>
                    <a:pt x="424053" y="1369707"/>
                  </a:lnTo>
                  <a:lnTo>
                    <a:pt x="359905" y="1274572"/>
                  </a:lnTo>
                  <a:lnTo>
                    <a:pt x="437629" y="1160348"/>
                  </a:lnTo>
                  <a:lnTo>
                    <a:pt x="517474" y="1325930"/>
                  </a:lnTo>
                  <a:lnTo>
                    <a:pt x="517474" y="1296644"/>
                  </a:lnTo>
                  <a:lnTo>
                    <a:pt x="457492" y="1172222"/>
                  </a:lnTo>
                  <a:lnTo>
                    <a:pt x="574001" y="1276235"/>
                  </a:lnTo>
                  <a:lnTo>
                    <a:pt x="574001" y="1259217"/>
                  </a:lnTo>
                  <a:lnTo>
                    <a:pt x="452132" y="1150442"/>
                  </a:lnTo>
                  <a:lnTo>
                    <a:pt x="795782" y="1051267"/>
                  </a:lnTo>
                  <a:lnTo>
                    <a:pt x="803503" y="1060043"/>
                  </a:lnTo>
                  <a:lnTo>
                    <a:pt x="806818" y="1071549"/>
                  </a:lnTo>
                  <a:lnTo>
                    <a:pt x="806818" y="974509"/>
                  </a:lnTo>
                  <a:lnTo>
                    <a:pt x="800938" y="993940"/>
                  </a:lnTo>
                  <a:lnTo>
                    <a:pt x="797242" y="992835"/>
                  </a:lnTo>
                  <a:lnTo>
                    <a:pt x="797242" y="1006119"/>
                  </a:lnTo>
                  <a:lnTo>
                    <a:pt x="796480" y="1008634"/>
                  </a:lnTo>
                  <a:lnTo>
                    <a:pt x="788289" y="1007110"/>
                  </a:lnTo>
                  <a:lnTo>
                    <a:pt x="792505" y="1021791"/>
                  </a:lnTo>
                  <a:lnTo>
                    <a:pt x="788035" y="1036574"/>
                  </a:lnTo>
                  <a:lnTo>
                    <a:pt x="796340" y="1035151"/>
                  </a:lnTo>
                  <a:lnTo>
                    <a:pt x="797077" y="1037678"/>
                  </a:lnTo>
                  <a:lnTo>
                    <a:pt x="453656" y="1136802"/>
                  </a:lnTo>
                  <a:lnTo>
                    <a:pt x="585978" y="942352"/>
                  </a:lnTo>
                  <a:lnTo>
                    <a:pt x="797242" y="1006119"/>
                  </a:lnTo>
                  <a:lnTo>
                    <a:pt x="797242" y="992835"/>
                  </a:lnTo>
                  <a:lnTo>
                    <a:pt x="593483" y="931329"/>
                  </a:lnTo>
                  <a:lnTo>
                    <a:pt x="832180" y="580555"/>
                  </a:lnTo>
                  <a:lnTo>
                    <a:pt x="839978" y="589407"/>
                  </a:lnTo>
                  <a:lnTo>
                    <a:pt x="842683" y="582752"/>
                  </a:lnTo>
                  <a:lnTo>
                    <a:pt x="860679" y="594995"/>
                  </a:lnTo>
                  <a:lnTo>
                    <a:pt x="865479" y="559435"/>
                  </a:lnTo>
                  <a:lnTo>
                    <a:pt x="872109" y="510540"/>
                  </a:lnTo>
                  <a:lnTo>
                    <a:pt x="823455" y="501561"/>
                  </a:lnTo>
                  <a:lnTo>
                    <a:pt x="823455" y="570649"/>
                  </a:lnTo>
                  <a:lnTo>
                    <a:pt x="580707" y="927468"/>
                  </a:lnTo>
                  <a:lnTo>
                    <a:pt x="573201" y="925207"/>
                  </a:lnTo>
                  <a:lnTo>
                    <a:pt x="573201" y="938491"/>
                  </a:lnTo>
                  <a:lnTo>
                    <a:pt x="439508" y="1134999"/>
                  </a:lnTo>
                  <a:lnTo>
                    <a:pt x="426542" y="1108113"/>
                  </a:lnTo>
                  <a:lnTo>
                    <a:pt x="426542" y="1144612"/>
                  </a:lnTo>
                  <a:lnTo>
                    <a:pt x="423341" y="1145540"/>
                  </a:lnTo>
                  <a:lnTo>
                    <a:pt x="423341" y="1158760"/>
                  </a:lnTo>
                  <a:lnTo>
                    <a:pt x="352259" y="1263243"/>
                  </a:lnTo>
                  <a:lnTo>
                    <a:pt x="344639" y="1251940"/>
                  </a:lnTo>
                  <a:lnTo>
                    <a:pt x="344639" y="1274457"/>
                  </a:lnTo>
                  <a:lnTo>
                    <a:pt x="291693" y="1352270"/>
                  </a:lnTo>
                  <a:lnTo>
                    <a:pt x="284200" y="1350010"/>
                  </a:lnTo>
                  <a:lnTo>
                    <a:pt x="284200" y="1363294"/>
                  </a:lnTo>
                  <a:lnTo>
                    <a:pt x="220967" y="1456232"/>
                  </a:lnTo>
                  <a:lnTo>
                    <a:pt x="213804" y="1449844"/>
                  </a:lnTo>
                  <a:lnTo>
                    <a:pt x="213804" y="1466761"/>
                  </a:lnTo>
                  <a:lnTo>
                    <a:pt x="51092" y="1705927"/>
                  </a:lnTo>
                  <a:lnTo>
                    <a:pt x="181279" y="1437716"/>
                  </a:lnTo>
                  <a:lnTo>
                    <a:pt x="213804" y="1466761"/>
                  </a:lnTo>
                  <a:lnTo>
                    <a:pt x="213804" y="1449844"/>
                  </a:lnTo>
                  <a:lnTo>
                    <a:pt x="187007" y="1425905"/>
                  </a:lnTo>
                  <a:lnTo>
                    <a:pt x="225945" y="1345692"/>
                  </a:lnTo>
                  <a:lnTo>
                    <a:pt x="284200" y="1363294"/>
                  </a:lnTo>
                  <a:lnTo>
                    <a:pt x="284200" y="1350010"/>
                  </a:lnTo>
                  <a:lnTo>
                    <a:pt x="231559" y="1334109"/>
                  </a:lnTo>
                  <a:lnTo>
                    <a:pt x="295732" y="1201915"/>
                  </a:lnTo>
                  <a:lnTo>
                    <a:pt x="344639" y="1274457"/>
                  </a:lnTo>
                  <a:lnTo>
                    <a:pt x="344639" y="1251940"/>
                  </a:lnTo>
                  <a:lnTo>
                    <a:pt x="304876" y="1192949"/>
                  </a:lnTo>
                  <a:lnTo>
                    <a:pt x="423341" y="1158760"/>
                  </a:lnTo>
                  <a:lnTo>
                    <a:pt x="423341" y="1145540"/>
                  </a:lnTo>
                  <a:lnTo>
                    <a:pt x="306755" y="1179182"/>
                  </a:lnTo>
                  <a:lnTo>
                    <a:pt x="354672" y="1080477"/>
                  </a:lnTo>
                  <a:lnTo>
                    <a:pt x="426542" y="1144612"/>
                  </a:lnTo>
                  <a:lnTo>
                    <a:pt x="426542" y="1108113"/>
                  </a:lnTo>
                  <a:lnTo>
                    <a:pt x="418299" y="1091018"/>
                  </a:lnTo>
                  <a:lnTo>
                    <a:pt x="418299" y="1120254"/>
                  </a:lnTo>
                  <a:lnTo>
                    <a:pt x="360426" y="1068628"/>
                  </a:lnTo>
                  <a:lnTo>
                    <a:pt x="376961" y="1034554"/>
                  </a:lnTo>
                  <a:lnTo>
                    <a:pt x="418299" y="1120254"/>
                  </a:lnTo>
                  <a:lnTo>
                    <a:pt x="418299" y="1091018"/>
                  </a:lnTo>
                  <a:lnTo>
                    <a:pt x="384048" y="1019962"/>
                  </a:lnTo>
                  <a:lnTo>
                    <a:pt x="442709" y="899096"/>
                  </a:lnTo>
                  <a:lnTo>
                    <a:pt x="573201" y="938491"/>
                  </a:lnTo>
                  <a:lnTo>
                    <a:pt x="573201" y="925207"/>
                  </a:lnTo>
                  <a:lnTo>
                    <a:pt x="451751" y="888530"/>
                  </a:lnTo>
                  <a:lnTo>
                    <a:pt x="818400" y="566204"/>
                  </a:lnTo>
                  <a:lnTo>
                    <a:pt x="821258" y="568147"/>
                  </a:lnTo>
                  <a:lnTo>
                    <a:pt x="823455" y="570649"/>
                  </a:lnTo>
                  <a:lnTo>
                    <a:pt x="823455" y="501561"/>
                  </a:lnTo>
                  <a:lnTo>
                    <a:pt x="806818" y="498487"/>
                  </a:lnTo>
                  <a:lnTo>
                    <a:pt x="806818" y="559485"/>
                  </a:lnTo>
                  <a:lnTo>
                    <a:pt x="459219" y="865073"/>
                  </a:lnTo>
                  <a:lnTo>
                    <a:pt x="588327" y="599097"/>
                  </a:lnTo>
                  <a:lnTo>
                    <a:pt x="795794" y="539203"/>
                  </a:lnTo>
                  <a:lnTo>
                    <a:pt x="803503" y="547979"/>
                  </a:lnTo>
                  <a:lnTo>
                    <a:pt x="803706" y="548716"/>
                  </a:lnTo>
                  <a:lnTo>
                    <a:pt x="797687" y="552069"/>
                  </a:lnTo>
                  <a:lnTo>
                    <a:pt x="806386" y="558012"/>
                  </a:lnTo>
                  <a:lnTo>
                    <a:pt x="806818" y="559485"/>
                  </a:lnTo>
                  <a:lnTo>
                    <a:pt x="806818" y="498487"/>
                  </a:lnTo>
                  <a:lnTo>
                    <a:pt x="788289" y="495058"/>
                  </a:lnTo>
                  <a:lnTo>
                    <a:pt x="797077" y="525614"/>
                  </a:lnTo>
                  <a:lnTo>
                    <a:pt x="595795" y="583704"/>
                  </a:lnTo>
                  <a:lnTo>
                    <a:pt x="843711" y="72923"/>
                  </a:lnTo>
                  <a:lnTo>
                    <a:pt x="860679" y="84455"/>
                  </a:lnTo>
                  <a:lnTo>
                    <a:pt x="861339" y="79565"/>
                  </a:lnTo>
                  <a:lnTo>
                    <a:pt x="872998" y="85217"/>
                  </a:lnTo>
                  <a:lnTo>
                    <a:pt x="872667" y="54356"/>
                  </a:lnTo>
                  <a:lnTo>
                    <a:pt x="872109" y="0"/>
                  </a:lnTo>
                  <a:lnTo>
                    <a:pt x="828217" y="11569"/>
                  </a:lnTo>
                  <a:lnTo>
                    <a:pt x="828217" y="75717"/>
                  </a:lnTo>
                  <a:lnTo>
                    <a:pt x="579361" y="588454"/>
                  </a:lnTo>
                  <a:lnTo>
                    <a:pt x="571893" y="590613"/>
                  </a:lnTo>
                  <a:lnTo>
                    <a:pt x="571893" y="603834"/>
                  </a:lnTo>
                  <a:lnTo>
                    <a:pt x="436029" y="883793"/>
                  </a:lnTo>
                  <a:lnTo>
                    <a:pt x="426212" y="880833"/>
                  </a:lnTo>
                  <a:lnTo>
                    <a:pt x="426212" y="894092"/>
                  </a:lnTo>
                  <a:lnTo>
                    <a:pt x="420293" y="899299"/>
                  </a:lnTo>
                  <a:lnTo>
                    <a:pt x="420293" y="916190"/>
                  </a:lnTo>
                  <a:lnTo>
                    <a:pt x="377012" y="1005382"/>
                  </a:lnTo>
                  <a:lnTo>
                    <a:pt x="369925" y="990688"/>
                  </a:lnTo>
                  <a:lnTo>
                    <a:pt x="369925" y="1019975"/>
                  </a:lnTo>
                  <a:lnTo>
                    <a:pt x="350583" y="1059840"/>
                  </a:lnTo>
                  <a:lnTo>
                    <a:pt x="344830" y="1054709"/>
                  </a:lnTo>
                  <a:lnTo>
                    <a:pt x="344830" y="1071689"/>
                  </a:lnTo>
                  <a:lnTo>
                    <a:pt x="293890" y="1176655"/>
                  </a:lnTo>
                  <a:lnTo>
                    <a:pt x="284708" y="1163040"/>
                  </a:lnTo>
                  <a:lnTo>
                    <a:pt x="284708" y="1185545"/>
                  </a:lnTo>
                  <a:lnTo>
                    <a:pt x="282892" y="1186078"/>
                  </a:lnTo>
                  <a:lnTo>
                    <a:pt x="282892" y="1199299"/>
                  </a:lnTo>
                  <a:lnTo>
                    <a:pt x="219265" y="1330401"/>
                  </a:lnTo>
                  <a:lnTo>
                    <a:pt x="213652" y="1328712"/>
                  </a:lnTo>
                  <a:lnTo>
                    <a:pt x="213652" y="1341983"/>
                  </a:lnTo>
                  <a:lnTo>
                    <a:pt x="177177" y="1417129"/>
                  </a:lnTo>
                  <a:lnTo>
                    <a:pt x="31242" y="1286891"/>
                  </a:lnTo>
                  <a:lnTo>
                    <a:pt x="213652" y="1341983"/>
                  </a:lnTo>
                  <a:lnTo>
                    <a:pt x="213652" y="1328712"/>
                  </a:lnTo>
                  <a:lnTo>
                    <a:pt x="28346" y="1272743"/>
                  </a:lnTo>
                  <a:lnTo>
                    <a:pt x="282892" y="1199299"/>
                  </a:lnTo>
                  <a:lnTo>
                    <a:pt x="282892" y="1186078"/>
                  </a:lnTo>
                  <a:lnTo>
                    <a:pt x="30454" y="1258925"/>
                  </a:lnTo>
                  <a:lnTo>
                    <a:pt x="221145" y="1091272"/>
                  </a:lnTo>
                  <a:lnTo>
                    <a:pt x="284708" y="1185545"/>
                  </a:lnTo>
                  <a:lnTo>
                    <a:pt x="284708" y="1163040"/>
                  </a:lnTo>
                  <a:lnTo>
                    <a:pt x="230682" y="1082890"/>
                  </a:lnTo>
                  <a:lnTo>
                    <a:pt x="294525" y="1026769"/>
                  </a:lnTo>
                  <a:lnTo>
                    <a:pt x="344830" y="1071689"/>
                  </a:lnTo>
                  <a:lnTo>
                    <a:pt x="344830" y="1054709"/>
                  </a:lnTo>
                  <a:lnTo>
                    <a:pt x="304088" y="1018349"/>
                  </a:lnTo>
                  <a:lnTo>
                    <a:pt x="349783" y="978179"/>
                  </a:lnTo>
                  <a:lnTo>
                    <a:pt x="369925" y="1019975"/>
                  </a:lnTo>
                  <a:lnTo>
                    <a:pt x="369925" y="990688"/>
                  </a:lnTo>
                  <a:lnTo>
                    <a:pt x="359702" y="969467"/>
                  </a:lnTo>
                  <a:lnTo>
                    <a:pt x="420293" y="916190"/>
                  </a:lnTo>
                  <a:lnTo>
                    <a:pt x="420293" y="899299"/>
                  </a:lnTo>
                  <a:lnTo>
                    <a:pt x="353987" y="957592"/>
                  </a:lnTo>
                  <a:lnTo>
                    <a:pt x="344068" y="937031"/>
                  </a:lnTo>
                  <a:lnTo>
                    <a:pt x="344068" y="966317"/>
                  </a:lnTo>
                  <a:lnTo>
                    <a:pt x="294563" y="1009840"/>
                  </a:lnTo>
                  <a:lnTo>
                    <a:pt x="284988" y="1001306"/>
                  </a:lnTo>
                  <a:lnTo>
                    <a:pt x="284988" y="1018247"/>
                  </a:lnTo>
                  <a:lnTo>
                    <a:pt x="223532" y="1072286"/>
                  </a:lnTo>
                  <a:lnTo>
                    <a:pt x="213995" y="1058138"/>
                  </a:lnTo>
                  <a:lnTo>
                    <a:pt x="213995" y="1080668"/>
                  </a:lnTo>
                  <a:lnTo>
                    <a:pt x="40817" y="1232916"/>
                  </a:lnTo>
                  <a:lnTo>
                    <a:pt x="179362" y="1029296"/>
                  </a:lnTo>
                  <a:lnTo>
                    <a:pt x="213995" y="1080668"/>
                  </a:lnTo>
                  <a:lnTo>
                    <a:pt x="213995" y="1058138"/>
                  </a:lnTo>
                  <a:lnTo>
                    <a:pt x="186994" y="1018082"/>
                  </a:lnTo>
                  <a:lnTo>
                    <a:pt x="223964" y="963764"/>
                  </a:lnTo>
                  <a:lnTo>
                    <a:pt x="284988" y="1018247"/>
                  </a:lnTo>
                  <a:lnTo>
                    <a:pt x="284988" y="1001306"/>
                  </a:lnTo>
                  <a:lnTo>
                    <a:pt x="231127" y="953223"/>
                  </a:lnTo>
                  <a:lnTo>
                    <a:pt x="293535" y="861517"/>
                  </a:lnTo>
                  <a:lnTo>
                    <a:pt x="344068" y="966317"/>
                  </a:lnTo>
                  <a:lnTo>
                    <a:pt x="344068" y="937031"/>
                  </a:lnTo>
                  <a:lnTo>
                    <a:pt x="305841" y="857745"/>
                  </a:lnTo>
                  <a:lnTo>
                    <a:pt x="426212" y="894092"/>
                  </a:lnTo>
                  <a:lnTo>
                    <a:pt x="426212" y="880833"/>
                  </a:lnTo>
                  <a:lnTo>
                    <a:pt x="305244" y="844296"/>
                  </a:lnTo>
                  <a:lnTo>
                    <a:pt x="443699" y="640829"/>
                  </a:lnTo>
                  <a:lnTo>
                    <a:pt x="571893" y="603834"/>
                  </a:lnTo>
                  <a:lnTo>
                    <a:pt x="571893" y="590613"/>
                  </a:lnTo>
                  <a:lnTo>
                    <a:pt x="454888" y="624370"/>
                  </a:lnTo>
                  <a:lnTo>
                    <a:pt x="828217" y="75717"/>
                  </a:lnTo>
                  <a:lnTo>
                    <a:pt x="828217" y="11569"/>
                  </a:lnTo>
                  <a:lnTo>
                    <a:pt x="822921" y="12966"/>
                  </a:lnTo>
                  <a:lnTo>
                    <a:pt x="822921" y="60896"/>
                  </a:lnTo>
                  <a:lnTo>
                    <a:pt x="435825" y="629881"/>
                  </a:lnTo>
                  <a:lnTo>
                    <a:pt x="424637" y="633120"/>
                  </a:lnTo>
                  <a:lnTo>
                    <a:pt x="424637" y="646328"/>
                  </a:lnTo>
                  <a:lnTo>
                    <a:pt x="295452" y="836206"/>
                  </a:lnTo>
                  <a:lnTo>
                    <a:pt x="285064" y="814666"/>
                  </a:lnTo>
                  <a:lnTo>
                    <a:pt x="285064" y="851484"/>
                  </a:lnTo>
                  <a:lnTo>
                    <a:pt x="221615" y="944740"/>
                  </a:lnTo>
                  <a:lnTo>
                    <a:pt x="214452" y="938352"/>
                  </a:lnTo>
                  <a:lnTo>
                    <a:pt x="214452" y="955281"/>
                  </a:lnTo>
                  <a:lnTo>
                    <a:pt x="179400" y="1006805"/>
                  </a:lnTo>
                  <a:lnTo>
                    <a:pt x="39116" y="798741"/>
                  </a:lnTo>
                  <a:lnTo>
                    <a:pt x="214452" y="955281"/>
                  </a:lnTo>
                  <a:lnTo>
                    <a:pt x="214452" y="938352"/>
                  </a:lnTo>
                  <a:lnTo>
                    <a:pt x="31242" y="774827"/>
                  </a:lnTo>
                  <a:lnTo>
                    <a:pt x="285064" y="851484"/>
                  </a:lnTo>
                  <a:lnTo>
                    <a:pt x="285064" y="814666"/>
                  </a:lnTo>
                  <a:lnTo>
                    <a:pt x="281825" y="807948"/>
                  </a:lnTo>
                  <a:lnTo>
                    <a:pt x="281825" y="837209"/>
                  </a:lnTo>
                  <a:lnTo>
                    <a:pt x="28359" y="760691"/>
                  </a:lnTo>
                  <a:lnTo>
                    <a:pt x="218465" y="705815"/>
                  </a:lnTo>
                  <a:lnTo>
                    <a:pt x="281825" y="837209"/>
                  </a:lnTo>
                  <a:lnTo>
                    <a:pt x="281825" y="807948"/>
                  </a:lnTo>
                  <a:lnTo>
                    <a:pt x="230860" y="702246"/>
                  </a:lnTo>
                  <a:lnTo>
                    <a:pt x="424637" y="646328"/>
                  </a:lnTo>
                  <a:lnTo>
                    <a:pt x="424637" y="633120"/>
                  </a:lnTo>
                  <a:lnTo>
                    <a:pt x="225272" y="690638"/>
                  </a:lnTo>
                  <a:lnTo>
                    <a:pt x="212877" y="664933"/>
                  </a:lnTo>
                  <a:lnTo>
                    <a:pt x="212877" y="694220"/>
                  </a:lnTo>
                  <a:lnTo>
                    <a:pt x="33032" y="746112"/>
                  </a:lnTo>
                  <a:lnTo>
                    <a:pt x="176911" y="619620"/>
                  </a:lnTo>
                  <a:lnTo>
                    <a:pt x="212877" y="694220"/>
                  </a:lnTo>
                  <a:lnTo>
                    <a:pt x="212877" y="664933"/>
                  </a:lnTo>
                  <a:lnTo>
                    <a:pt x="186829" y="610908"/>
                  </a:lnTo>
                  <a:lnTo>
                    <a:pt x="816178" y="57619"/>
                  </a:lnTo>
                  <a:lnTo>
                    <a:pt x="822921" y="60896"/>
                  </a:lnTo>
                  <a:lnTo>
                    <a:pt x="822921" y="12966"/>
                  </a:lnTo>
                  <a:lnTo>
                    <a:pt x="789686" y="21717"/>
                  </a:lnTo>
                  <a:lnTo>
                    <a:pt x="803998" y="38011"/>
                  </a:lnTo>
                  <a:lnTo>
                    <a:pt x="797687" y="41529"/>
                  </a:lnTo>
                  <a:lnTo>
                    <a:pt x="807580" y="48285"/>
                  </a:lnTo>
                  <a:lnTo>
                    <a:pt x="181114" y="599033"/>
                  </a:lnTo>
                  <a:lnTo>
                    <a:pt x="11430" y="247142"/>
                  </a:lnTo>
                  <a:lnTo>
                    <a:pt x="0" y="252730"/>
                  </a:lnTo>
                  <a:lnTo>
                    <a:pt x="171196" y="607758"/>
                  </a:lnTo>
                  <a:lnTo>
                    <a:pt x="4419" y="754367"/>
                  </a:lnTo>
                  <a:lnTo>
                    <a:pt x="3937" y="754507"/>
                  </a:lnTo>
                  <a:lnTo>
                    <a:pt x="4000" y="754748"/>
                  </a:lnTo>
                  <a:lnTo>
                    <a:pt x="1524" y="756920"/>
                  </a:lnTo>
                  <a:lnTo>
                    <a:pt x="5029" y="760945"/>
                  </a:lnTo>
                  <a:lnTo>
                    <a:pt x="508" y="764032"/>
                  </a:lnTo>
                  <a:lnTo>
                    <a:pt x="171754" y="1018019"/>
                  </a:lnTo>
                  <a:lnTo>
                    <a:pt x="2857" y="1266291"/>
                  </a:lnTo>
                  <a:lnTo>
                    <a:pt x="1524" y="1267460"/>
                  </a:lnTo>
                  <a:lnTo>
                    <a:pt x="1816" y="1267815"/>
                  </a:lnTo>
                  <a:lnTo>
                    <a:pt x="508" y="1269746"/>
                  </a:lnTo>
                  <a:lnTo>
                    <a:pt x="5270" y="1273035"/>
                  </a:lnTo>
                  <a:lnTo>
                    <a:pt x="1524" y="1277239"/>
                  </a:lnTo>
                  <a:lnTo>
                    <a:pt x="171450" y="1428940"/>
                  </a:lnTo>
                  <a:lnTo>
                    <a:pt x="1955" y="1778152"/>
                  </a:lnTo>
                  <a:lnTo>
                    <a:pt x="508" y="1780286"/>
                  </a:lnTo>
                  <a:lnTo>
                    <a:pt x="812" y="1780501"/>
                  </a:lnTo>
                  <a:lnTo>
                    <a:pt x="0" y="1782191"/>
                  </a:lnTo>
                  <a:lnTo>
                    <a:pt x="5626" y="1784908"/>
                  </a:lnTo>
                  <a:lnTo>
                    <a:pt x="3937" y="1790700"/>
                  </a:lnTo>
                  <a:lnTo>
                    <a:pt x="797242" y="2030247"/>
                  </a:lnTo>
                  <a:lnTo>
                    <a:pt x="788035" y="2060702"/>
                  </a:lnTo>
                  <a:lnTo>
                    <a:pt x="871969" y="2046249"/>
                  </a:lnTo>
                  <a:lnTo>
                    <a:pt x="872109" y="2046351"/>
                  </a:lnTo>
                  <a:lnTo>
                    <a:pt x="872109" y="2046224"/>
                  </a:lnTo>
                  <a:lnTo>
                    <a:pt x="872109" y="2045716"/>
                  </a:lnTo>
                  <a:lnTo>
                    <a:pt x="872832" y="1991995"/>
                  </a:lnTo>
                  <a:lnTo>
                    <a:pt x="873252" y="1961261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22166" y="3148441"/>
              <a:ext cx="407102" cy="405655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5965698" y="3172205"/>
              <a:ext cx="325120" cy="323215"/>
            </a:xfrm>
            <a:custGeom>
              <a:avLst/>
              <a:gdLst/>
              <a:ahLst/>
              <a:cxnLst/>
              <a:rect l="l" t="t" r="r" b="b"/>
              <a:pathLst>
                <a:path w="325120" h="323214">
                  <a:moveTo>
                    <a:pt x="162305" y="0"/>
                  </a:moveTo>
                  <a:lnTo>
                    <a:pt x="119150" y="5766"/>
                  </a:lnTo>
                  <a:lnTo>
                    <a:pt x="80376" y="22041"/>
                  </a:lnTo>
                  <a:lnTo>
                    <a:pt x="47529" y="47291"/>
                  </a:lnTo>
                  <a:lnTo>
                    <a:pt x="22154" y="79981"/>
                  </a:lnTo>
                  <a:lnTo>
                    <a:pt x="5796" y="118577"/>
                  </a:lnTo>
                  <a:lnTo>
                    <a:pt x="0" y="161544"/>
                  </a:lnTo>
                  <a:lnTo>
                    <a:pt x="5796" y="204510"/>
                  </a:lnTo>
                  <a:lnTo>
                    <a:pt x="22154" y="243106"/>
                  </a:lnTo>
                  <a:lnTo>
                    <a:pt x="47529" y="275796"/>
                  </a:lnTo>
                  <a:lnTo>
                    <a:pt x="80376" y="301046"/>
                  </a:lnTo>
                  <a:lnTo>
                    <a:pt x="119150" y="317321"/>
                  </a:lnTo>
                  <a:lnTo>
                    <a:pt x="162305" y="323088"/>
                  </a:lnTo>
                  <a:lnTo>
                    <a:pt x="205461" y="317321"/>
                  </a:lnTo>
                  <a:lnTo>
                    <a:pt x="244235" y="301046"/>
                  </a:lnTo>
                  <a:lnTo>
                    <a:pt x="277082" y="275796"/>
                  </a:lnTo>
                  <a:lnTo>
                    <a:pt x="302457" y="243106"/>
                  </a:lnTo>
                  <a:lnTo>
                    <a:pt x="318815" y="204510"/>
                  </a:lnTo>
                  <a:lnTo>
                    <a:pt x="324612" y="161544"/>
                  </a:lnTo>
                  <a:lnTo>
                    <a:pt x="318815" y="118577"/>
                  </a:lnTo>
                  <a:lnTo>
                    <a:pt x="302457" y="79981"/>
                  </a:lnTo>
                  <a:lnTo>
                    <a:pt x="277082" y="47291"/>
                  </a:lnTo>
                  <a:lnTo>
                    <a:pt x="244235" y="22041"/>
                  </a:lnTo>
                  <a:lnTo>
                    <a:pt x="205461" y="5766"/>
                  </a:lnTo>
                  <a:lnTo>
                    <a:pt x="162305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965698" y="3172205"/>
              <a:ext cx="325120" cy="323215"/>
            </a:xfrm>
            <a:custGeom>
              <a:avLst/>
              <a:gdLst/>
              <a:ahLst/>
              <a:cxnLst/>
              <a:rect l="l" t="t" r="r" b="b"/>
              <a:pathLst>
                <a:path w="325120" h="323214">
                  <a:moveTo>
                    <a:pt x="0" y="161544"/>
                  </a:moveTo>
                  <a:lnTo>
                    <a:pt x="5796" y="118577"/>
                  </a:lnTo>
                  <a:lnTo>
                    <a:pt x="22154" y="79981"/>
                  </a:lnTo>
                  <a:lnTo>
                    <a:pt x="47529" y="47291"/>
                  </a:lnTo>
                  <a:lnTo>
                    <a:pt x="80376" y="22041"/>
                  </a:lnTo>
                  <a:lnTo>
                    <a:pt x="119150" y="5766"/>
                  </a:lnTo>
                  <a:lnTo>
                    <a:pt x="162305" y="0"/>
                  </a:lnTo>
                  <a:lnTo>
                    <a:pt x="205461" y="5766"/>
                  </a:lnTo>
                  <a:lnTo>
                    <a:pt x="244235" y="22041"/>
                  </a:lnTo>
                  <a:lnTo>
                    <a:pt x="277082" y="47291"/>
                  </a:lnTo>
                  <a:lnTo>
                    <a:pt x="302457" y="79981"/>
                  </a:lnTo>
                  <a:lnTo>
                    <a:pt x="318815" y="118577"/>
                  </a:lnTo>
                  <a:lnTo>
                    <a:pt x="324612" y="161544"/>
                  </a:lnTo>
                  <a:lnTo>
                    <a:pt x="318815" y="204510"/>
                  </a:lnTo>
                  <a:lnTo>
                    <a:pt x="302457" y="243106"/>
                  </a:lnTo>
                  <a:lnTo>
                    <a:pt x="277082" y="275796"/>
                  </a:lnTo>
                  <a:lnTo>
                    <a:pt x="244235" y="301046"/>
                  </a:lnTo>
                  <a:lnTo>
                    <a:pt x="205461" y="317321"/>
                  </a:lnTo>
                  <a:lnTo>
                    <a:pt x="162305" y="323088"/>
                  </a:lnTo>
                  <a:lnTo>
                    <a:pt x="119150" y="317321"/>
                  </a:lnTo>
                  <a:lnTo>
                    <a:pt x="80376" y="301046"/>
                  </a:lnTo>
                  <a:lnTo>
                    <a:pt x="47529" y="275796"/>
                  </a:lnTo>
                  <a:lnTo>
                    <a:pt x="22154" y="243106"/>
                  </a:lnTo>
                  <a:lnTo>
                    <a:pt x="5796" y="204510"/>
                  </a:lnTo>
                  <a:lnTo>
                    <a:pt x="0" y="161544"/>
                  </a:lnTo>
                  <a:close/>
                </a:path>
              </a:pathLst>
            </a:custGeom>
            <a:ln w="19812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207126" y="3081527"/>
              <a:ext cx="758190" cy="264795"/>
            </a:xfrm>
            <a:custGeom>
              <a:avLst/>
              <a:gdLst/>
              <a:ahLst/>
              <a:cxnLst/>
              <a:rect l="l" t="t" r="r" b="b"/>
              <a:pathLst>
                <a:path w="758189" h="264795">
                  <a:moveTo>
                    <a:pt x="683344" y="234441"/>
                  </a:moveTo>
                  <a:lnTo>
                    <a:pt x="673481" y="264668"/>
                  </a:lnTo>
                  <a:lnTo>
                    <a:pt x="757809" y="252095"/>
                  </a:lnTo>
                  <a:lnTo>
                    <a:pt x="743889" y="238379"/>
                  </a:lnTo>
                  <a:lnTo>
                    <a:pt x="695451" y="238379"/>
                  </a:lnTo>
                  <a:lnTo>
                    <a:pt x="683344" y="234441"/>
                  </a:lnTo>
                  <a:close/>
                </a:path>
                <a:path w="758189" h="264795">
                  <a:moveTo>
                    <a:pt x="687281" y="222374"/>
                  </a:moveTo>
                  <a:lnTo>
                    <a:pt x="683344" y="234441"/>
                  </a:lnTo>
                  <a:lnTo>
                    <a:pt x="695451" y="238379"/>
                  </a:lnTo>
                  <a:lnTo>
                    <a:pt x="699388" y="226313"/>
                  </a:lnTo>
                  <a:lnTo>
                    <a:pt x="687281" y="222374"/>
                  </a:lnTo>
                  <a:close/>
                </a:path>
                <a:path w="758189" h="264795">
                  <a:moveTo>
                    <a:pt x="697102" y="192277"/>
                  </a:moveTo>
                  <a:lnTo>
                    <a:pt x="687281" y="222374"/>
                  </a:lnTo>
                  <a:lnTo>
                    <a:pt x="699388" y="226313"/>
                  </a:lnTo>
                  <a:lnTo>
                    <a:pt x="695451" y="238379"/>
                  </a:lnTo>
                  <a:lnTo>
                    <a:pt x="743889" y="238379"/>
                  </a:lnTo>
                  <a:lnTo>
                    <a:pt x="697102" y="192277"/>
                  </a:lnTo>
                  <a:close/>
                </a:path>
                <a:path w="758189" h="264795">
                  <a:moveTo>
                    <a:pt x="3810" y="0"/>
                  </a:moveTo>
                  <a:lnTo>
                    <a:pt x="0" y="12192"/>
                  </a:lnTo>
                  <a:lnTo>
                    <a:pt x="683344" y="234441"/>
                  </a:lnTo>
                  <a:lnTo>
                    <a:pt x="687281" y="222374"/>
                  </a:lnTo>
                  <a:lnTo>
                    <a:pt x="3810" y="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22166" y="3659026"/>
              <a:ext cx="407102" cy="407102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5965698" y="3682745"/>
              <a:ext cx="325120" cy="325120"/>
            </a:xfrm>
            <a:custGeom>
              <a:avLst/>
              <a:gdLst/>
              <a:ahLst/>
              <a:cxnLst/>
              <a:rect l="l" t="t" r="r" b="b"/>
              <a:pathLst>
                <a:path w="325120" h="325120">
                  <a:moveTo>
                    <a:pt x="162305" y="0"/>
                  </a:moveTo>
                  <a:lnTo>
                    <a:pt x="119150" y="5796"/>
                  </a:lnTo>
                  <a:lnTo>
                    <a:pt x="80376" y="22154"/>
                  </a:lnTo>
                  <a:lnTo>
                    <a:pt x="47529" y="47529"/>
                  </a:lnTo>
                  <a:lnTo>
                    <a:pt x="22154" y="80376"/>
                  </a:lnTo>
                  <a:lnTo>
                    <a:pt x="5796" y="119150"/>
                  </a:lnTo>
                  <a:lnTo>
                    <a:pt x="0" y="162305"/>
                  </a:lnTo>
                  <a:lnTo>
                    <a:pt x="5796" y="205461"/>
                  </a:lnTo>
                  <a:lnTo>
                    <a:pt x="22154" y="244235"/>
                  </a:lnTo>
                  <a:lnTo>
                    <a:pt x="47529" y="277082"/>
                  </a:lnTo>
                  <a:lnTo>
                    <a:pt x="80376" y="302457"/>
                  </a:lnTo>
                  <a:lnTo>
                    <a:pt x="119150" y="318815"/>
                  </a:lnTo>
                  <a:lnTo>
                    <a:pt x="162305" y="324611"/>
                  </a:lnTo>
                  <a:lnTo>
                    <a:pt x="205461" y="318815"/>
                  </a:lnTo>
                  <a:lnTo>
                    <a:pt x="244235" y="302457"/>
                  </a:lnTo>
                  <a:lnTo>
                    <a:pt x="277082" y="277082"/>
                  </a:lnTo>
                  <a:lnTo>
                    <a:pt x="302457" y="244235"/>
                  </a:lnTo>
                  <a:lnTo>
                    <a:pt x="318815" y="205461"/>
                  </a:lnTo>
                  <a:lnTo>
                    <a:pt x="324612" y="162305"/>
                  </a:lnTo>
                  <a:lnTo>
                    <a:pt x="318815" y="119150"/>
                  </a:lnTo>
                  <a:lnTo>
                    <a:pt x="302457" y="80376"/>
                  </a:lnTo>
                  <a:lnTo>
                    <a:pt x="277082" y="47529"/>
                  </a:lnTo>
                  <a:lnTo>
                    <a:pt x="244235" y="22154"/>
                  </a:lnTo>
                  <a:lnTo>
                    <a:pt x="205461" y="5796"/>
                  </a:lnTo>
                  <a:lnTo>
                    <a:pt x="162305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965698" y="3682745"/>
              <a:ext cx="325120" cy="325120"/>
            </a:xfrm>
            <a:custGeom>
              <a:avLst/>
              <a:gdLst/>
              <a:ahLst/>
              <a:cxnLst/>
              <a:rect l="l" t="t" r="r" b="b"/>
              <a:pathLst>
                <a:path w="325120" h="325120">
                  <a:moveTo>
                    <a:pt x="0" y="162305"/>
                  </a:moveTo>
                  <a:lnTo>
                    <a:pt x="5796" y="119150"/>
                  </a:lnTo>
                  <a:lnTo>
                    <a:pt x="22154" y="80376"/>
                  </a:lnTo>
                  <a:lnTo>
                    <a:pt x="47529" y="47529"/>
                  </a:lnTo>
                  <a:lnTo>
                    <a:pt x="80376" y="22154"/>
                  </a:lnTo>
                  <a:lnTo>
                    <a:pt x="119150" y="5796"/>
                  </a:lnTo>
                  <a:lnTo>
                    <a:pt x="162305" y="0"/>
                  </a:lnTo>
                  <a:lnTo>
                    <a:pt x="205461" y="5796"/>
                  </a:lnTo>
                  <a:lnTo>
                    <a:pt x="244235" y="22154"/>
                  </a:lnTo>
                  <a:lnTo>
                    <a:pt x="277082" y="47529"/>
                  </a:lnTo>
                  <a:lnTo>
                    <a:pt x="302457" y="80376"/>
                  </a:lnTo>
                  <a:lnTo>
                    <a:pt x="318815" y="119150"/>
                  </a:lnTo>
                  <a:lnTo>
                    <a:pt x="324612" y="162305"/>
                  </a:lnTo>
                  <a:lnTo>
                    <a:pt x="318815" y="205461"/>
                  </a:lnTo>
                  <a:lnTo>
                    <a:pt x="302457" y="244235"/>
                  </a:lnTo>
                  <a:lnTo>
                    <a:pt x="277082" y="277082"/>
                  </a:lnTo>
                  <a:lnTo>
                    <a:pt x="244235" y="302457"/>
                  </a:lnTo>
                  <a:lnTo>
                    <a:pt x="205461" y="318815"/>
                  </a:lnTo>
                  <a:lnTo>
                    <a:pt x="162305" y="324611"/>
                  </a:lnTo>
                  <a:lnTo>
                    <a:pt x="119150" y="318815"/>
                  </a:lnTo>
                  <a:lnTo>
                    <a:pt x="80376" y="302457"/>
                  </a:lnTo>
                  <a:lnTo>
                    <a:pt x="47529" y="277082"/>
                  </a:lnTo>
                  <a:lnTo>
                    <a:pt x="22154" y="244235"/>
                  </a:lnTo>
                  <a:lnTo>
                    <a:pt x="5796" y="205461"/>
                  </a:lnTo>
                  <a:lnTo>
                    <a:pt x="0" y="162305"/>
                  </a:lnTo>
                  <a:close/>
                </a:path>
              </a:pathLst>
            </a:custGeom>
            <a:ln w="19812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204586" y="3083178"/>
              <a:ext cx="760730" cy="762000"/>
            </a:xfrm>
            <a:custGeom>
              <a:avLst/>
              <a:gdLst/>
              <a:ahLst/>
              <a:cxnLst/>
              <a:rect l="l" t="t" r="r" b="b"/>
              <a:pathLst>
                <a:path w="760729" h="762000">
                  <a:moveTo>
                    <a:pt x="702002" y="712523"/>
                  </a:moveTo>
                  <a:lnTo>
                    <a:pt x="679576" y="734949"/>
                  </a:lnTo>
                  <a:lnTo>
                    <a:pt x="760349" y="762000"/>
                  </a:lnTo>
                  <a:lnTo>
                    <a:pt x="746865" y="721487"/>
                  </a:lnTo>
                  <a:lnTo>
                    <a:pt x="710946" y="721487"/>
                  </a:lnTo>
                  <a:lnTo>
                    <a:pt x="702002" y="712523"/>
                  </a:lnTo>
                  <a:close/>
                </a:path>
                <a:path w="760729" h="762000">
                  <a:moveTo>
                    <a:pt x="710955" y="703570"/>
                  </a:moveTo>
                  <a:lnTo>
                    <a:pt x="702002" y="712523"/>
                  </a:lnTo>
                  <a:lnTo>
                    <a:pt x="710946" y="721487"/>
                  </a:lnTo>
                  <a:lnTo>
                    <a:pt x="719963" y="712597"/>
                  </a:lnTo>
                  <a:lnTo>
                    <a:pt x="710955" y="703570"/>
                  </a:lnTo>
                  <a:close/>
                </a:path>
                <a:path w="760729" h="762000">
                  <a:moveTo>
                    <a:pt x="733425" y="681101"/>
                  </a:moveTo>
                  <a:lnTo>
                    <a:pt x="710955" y="703570"/>
                  </a:lnTo>
                  <a:lnTo>
                    <a:pt x="719963" y="712597"/>
                  </a:lnTo>
                  <a:lnTo>
                    <a:pt x="710946" y="721487"/>
                  </a:lnTo>
                  <a:lnTo>
                    <a:pt x="746865" y="721487"/>
                  </a:lnTo>
                  <a:lnTo>
                    <a:pt x="733425" y="681101"/>
                  </a:lnTo>
                  <a:close/>
                </a:path>
                <a:path w="760729" h="762000">
                  <a:moveTo>
                    <a:pt x="8889" y="0"/>
                  </a:moveTo>
                  <a:lnTo>
                    <a:pt x="0" y="8890"/>
                  </a:lnTo>
                  <a:lnTo>
                    <a:pt x="702002" y="712523"/>
                  </a:lnTo>
                  <a:lnTo>
                    <a:pt x="710955" y="703570"/>
                  </a:lnTo>
                  <a:lnTo>
                    <a:pt x="8889" y="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22166" y="4171090"/>
              <a:ext cx="407102" cy="407102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5965698" y="4194809"/>
              <a:ext cx="325120" cy="325120"/>
            </a:xfrm>
            <a:custGeom>
              <a:avLst/>
              <a:gdLst/>
              <a:ahLst/>
              <a:cxnLst/>
              <a:rect l="l" t="t" r="r" b="b"/>
              <a:pathLst>
                <a:path w="325120" h="325120">
                  <a:moveTo>
                    <a:pt x="162305" y="0"/>
                  </a:moveTo>
                  <a:lnTo>
                    <a:pt x="119150" y="5796"/>
                  </a:lnTo>
                  <a:lnTo>
                    <a:pt x="80376" y="22154"/>
                  </a:lnTo>
                  <a:lnTo>
                    <a:pt x="47529" y="47529"/>
                  </a:lnTo>
                  <a:lnTo>
                    <a:pt x="22154" y="80376"/>
                  </a:lnTo>
                  <a:lnTo>
                    <a:pt x="5796" y="119150"/>
                  </a:lnTo>
                  <a:lnTo>
                    <a:pt x="0" y="162306"/>
                  </a:lnTo>
                  <a:lnTo>
                    <a:pt x="5796" y="205461"/>
                  </a:lnTo>
                  <a:lnTo>
                    <a:pt x="22154" y="244235"/>
                  </a:lnTo>
                  <a:lnTo>
                    <a:pt x="47529" y="277082"/>
                  </a:lnTo>
                  <a:lnTo>
                    <a:pt x="80376" y="302457"/>
                  </a:lnTo>
                  <a:lnTo>
                    <a:pt x="119150" y="318815"/>
                  </a:lnTo>
                  <a:lnTo>
                    <a:pt x="162305" y="324612"/>
                  </a:lnTo>
                  <a:lnTo>
                    <a:pt x="205461" y="318815"/>
                  </a:lnTo>
                  <a:lnTo>
                    <a:pt x="244235" y="302457"/>
                  </a:lnTo>
                  <a:lnTo>
                    <a:pt x="277082" y="277082"/>
                  </a:lnTo>
                  <a:lnTo>
                    <a:pt x="302457" y="244235"/>
                  </a:lnTo>
                  <a:lnTo>
                    <a:pt x="318815" y="205461"/>
                  </a:lnTo>
                  <a:lnTo>
                    <a:pt x="324612" y="162306"/>
                  </a:lnTo>
                  <a:lnTo>
                    <a:pt x="318815" y="119150"/>
                  </a:lnTo>
                  <a:lnTo>
                    <a:pt x="302457" y="80376"/>
                  </a:lnTo>
                  <a:lnTo>
                    <a:pt x="277082" y="47529"/>
                  </a:lnTo>
                  <a:lnTo>
                    <a:pt x="244235" y="22154"/>
                  </a:lnTo>
                  <a:lnTo>
                    <a:pt x="205461" y="5796"/>
                  </a:lnTo>
                  <a:lnTo>
                    <a:pt x="162305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5965698" y="4194809"/>
              <a:ext cx="325120" cy="325120"/>
            </a:xfrm>
            <a:custGeom>
              <a:avLst/>
              <a:gdLst/>
              <a:ahLst/>
              <a:cxnLst/>
              <a:rect l="l" t="t" r="r" b="b"/>
              <a:pathLst>
                <a:path w="325120" h="325120">
                  <a:moveTo>
                    <a:pt x="0" y="162306"/>
                  </a:moveTo>
                  <a:lnTo>
                    <a:pt x="5796" y="119150"/>
                  </a:lnTo>
                  <a:lnTo>
                    <a:pt x="22154" y="80376"/>
                  </a:lnTo>
                  <a:lnTo>
                    <a:pt x="47529" y="47529"/>
                  </a:lnTo>
                  <a:lnTo>
                    <a:pt x="80376" y="22154"/>
                  </a:lnTo>
                  <a:lnTo>
                    <a:pt x="119150" y="5796"/>
                  </a:lnTo>
                  <a:lnTo>
                    <a:pt x="162305" y="0"/>
                  </a:lnTo>
                  <a:lnTo>
                    <a:pt x="205461" y="5796"/>
                  </a:lnTo>
                  <a:lnTo>
                    <a:pt x="244235" y="22154"/>
                  </a:lnTo>
                  <a:lnTo>
                    <a:pt x="277082" y="47529"/>
                  </a:lnTo>
                  <a:lnTo>
                    <a:pt x="302457" y="80376"/>
                  </a:lnTo>
                  <a:lnTo>
                    <a:pt x="318815" y="119150"/>
                  </a:lnTo>
                  <a:lnTo>
                    <a:pt x="324612" y="162306"/>
                  </a:lnTo>
                  <a:lnTo>
                    <a:pt x="318815" y="205461"/>
                  </a:lnTo>
                  <a:lnTo>
                    <a:pt x="302457" y="244235"/>
                  </a:lnTo>
                  <a:lnTo>
                    <a:pt x="277082" y="277082"/>
                  </a:lnTo>
                  <a:lnTo>
                    <a:pt x="244235" y="302457"/>
                  </a:lnTo>
                  <a:lnTo>
                    <a:pt x="205461" y="318815"/>
                  </a:lnTo>
                  <a:lnTo>
                    <a:pt x="162305" y="324612"/>
                  </a:lnTo>
                  <a:lnTo>
                    <a:pt x="119150" y="318815"/>
                  </a:lnTo>
                  <a:lnTo>
                    <a:pt x="80376" y="302457"/>
                  </a:lnTo>
                  <a:lnTo>
                    <a:pt x="47529" y="277082"/>
                  </a:lnTo>
                  <a:lnTo>
                    <a:pt x="22154" y="244235"/>
                  </a:lnTo>
                  <a:lnTo>
                    <a:pt x="5796" y="205461"/>
                  </a:lnTo>
                  <a:lnTo>
                    <a:pt x="0" y="162306"/>
                  </a:lnTo>
                  <a:close/>
                </a:path>
              </a:pathLst>
            </a:custGeom>
            <a:ln w="19812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203570" y="3084321"/>
              <a:ext cx="761365" cy="1272540"/>
            </a:xfrm>
            <a:custGeom>
              <a:avLst/>
              <a:gdLst/>
              <a:ahLst/>
              <a:cxnLst/>
              <a:rect l="l" t="t" r="r" b="b"/>
              <a:pathLst>
                <a:path w="761364" h="1272539">
                  <a:moveTo>
                    <a:pt x="716885" y="1210306"/>
                  </a:moveTo>
                  <a:lnTo>
                    <a:pt x="689609" y="1226565"/>
                  </a:lnTo>
                  <a:lnTo>
                    <a:pt x="761364" y="1272539"/>
                  </a:lnTo>
                  <a:lnTo>
                    <a:pt x="757530" y="1221232"/>
                  </a:lnTo>
                  <a:lnTo>
                    <a:pt x="723391" y="1221232"/>
                  </a:lnTo>
                  <a:lnTo>
                    <a:pt x="716885" y="1210306"/>
                  </a:lnTo>
                  <a:close/>
                </a:path>
                <a:path w="761364" h="1272539">
                  <a:moveTo>
                    <a:pt x="727792" y="1203804"/>
                  </a:moveTo>
                  <a:lnTo>
                    <a:pt x="716885" y="1210306"/>
                  </a:lnTo>
                  <a:lnTo>
                    <a:pt x="723391" y="1221232"/>
                  </a:lnTo>
                  <a:lnTo>
                    <a:pt x="734313" y="1214754"/>
                  </a:lnTo>
                  <a:lnTo>
                    <a:pt x="727792" y="1203804"/>
                  </a:lnTo>
                  <a:close/>
                </a:path>
                <a:path w="761364" h="1272539">
                  <a:moveTo>
                    <a:pt x="755014" y="1187577"/>
                  </a:moveTo>
                  <a:lnTo>
                    <a:pt x="727792" y="1203804"/>
                  </a:lnTo>
                  <a:lnTo>
                    <a:pt x="734313" y="1214754"/>
                  </a:lnTo>
                  <a:lnTo>
                    <a:pt x="723391" y="1221232"/>
                  </a:lnTo>
                  <a:lnTo>
                    <a:pt x="757530" y="1221232"/>
                  </a:lnTo>
                  <a:lnTo>
                    <a:pt x="755014" y="1187577"/>
                  </a:lnTo>
                  <a:close/>
                </a:path>
                <a:path w="761364" h="1272539">
                  <a:moveTo>
                    <a:pt x="10921" y="0"/>
                  </a:moveTo>
                  <a:lnTo>
                    <a:pt x="0" y="6603"/>
                  </a:lnTo>
                  <a:lnTo>
                    <a:pt x="716885" y="1210306"/>
                  </a:lnTo>
                  <a:lnTo>
                    <a:pt x="727792" y="1203804"/>
                  </a:lnTo>
                  <a:lnTo>
                    <a:pt x="10921" y="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22166" y="4683109"/>
              <a:ext cx="407102" cy="405655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5965698" y="4706873"/>
              <a:ext cx="325120" cy="323215"/>
            </a:xfrm>
            <a:custGeom>
              <a:avLst/>
              <a:gdLst/>
              <a:ahLst/>
              <a:cxnLst/>
              <a:rect l="l" t="t" r="r" b="b"/>
              <a:pathLst>
                <a:path w="325120" h="323214">
                  <a:moveTo>
                    <a:pt x="162305" y="0"/>
                  </a:moveTo>
                  <a:lnTo>
                    <a:pt x="119150" y="5766"/>
                  </a:lnTo>
                  <a:lnTo>
                    <a:pt x="80376" y="22041"/>
                  </a:lnTo>
                  <a:lnTo>
                    <a:pt x="47529" y="47291"/>
                  </a:lnTo>
                  <a:lnTo>
                    <a:pt x="22154" y="79981"/>
                  </a:lnTo>
                  <a:lnTo>
                    <a:pt x="5796" y="118577"/>
                  </a:lnTo>
                  <a:lnTo>
                    <a:pt x="0" y="161544"/>
                  </a:lnTo>
                  <a:lnTo>
                    <a:pt x="5796" y="204510"/>
                  </a:lnTo>
                  <a:lnTo>
                    <a:pt x="22154" y="243106"/>
                  </a:lnTo>
                  <a:lnTo>
                    <a:pt x="47529" y="275796"/>
                  </a:lnTo>
                  <a:lnTo>
                    <a:pt x="80376" y="301046"/>
                  </a:lnTo>
                  <a:lnTo>
                    <a:pt x="119150" y="317321"/>
                  </a:lnTo>
                  <a:lnTo>
                    <a:pt x="162305" y="323088"/>
                  </a:lnTo>
                  <a:lnTo>
                    <a:pt x="205461" y="317321"/>
                  </a:lnTo>
                  <a:lnTo>
                    <a:pt x="244235" y="301046"/>
                  </a:lnTo>
                  <a:lnTo>
                    <a:pt x="277082" y="275796"/>
                  </a:lnTo>
                  <a:lnTo>
                    <a:pt x="302457" y="243106"/>
                  </a:lnTo>
                  <a:lnTo>
                    <a:pt x="318815" y="204510"/>
                  </a:lnTo>
                  <a:lnTo>
                    <a:pt x="324612" y="161544"/>
                  </a:lnTo>
                  <a:lnTo>
                    <a:pt x="318815" y="118577"/>
                  </a:lnTo>
                  <a:lnTo>
                    <a:pt x="302457" y="79981"/>
                  </a:lnTo>
                  <a:lnTo>
                    <a:pt x="277082" y="47291"/>
                  </a:lnTo>
                  <a:lnTo>
                    <a:pt x="244235" y="22041"/>
                  </a:lnTo>
                  <a:lnTo>
                    <a:pt x="205461" y="5766"/>
                  </a:lnTo>
                  <a:lnTo>
                    <a:pt x="162305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965698" y="4706873"/>
              <a:ext cx="325120" cy="323215"/>
            </a:xfrm>
            <a:custGeom>
              <a:avLst/>
              <a:gdLst/>
              <a:ahLst/>
              <a:cxnLst/>
              <a:rect l="l" t="t" r="r" b="b"/>
              <a:pathLst>
                <a:path w="325120" h="323214">
                  <a:moveTo>
                    <a:pt x="0" y="161544"/>
                  </a:moveTo>
                  <a:lnTo>
                    <a:pt x="5796" y="118577"/>
                  </a:lnTo>
                  <a:lnTo>
                    <a:pt x="22154" y="79981"/>
                  </a:lnTo>
                  <a:lnTo>
                    <a:pt x="47529" y="47291"/>
                  </a:lnTo>
                  <a:lnTo>
                    <a:pt x="80376" y="22041"/>
                  </a:lnTo>
                  <a:lnTo>
                    <a:pt x="119150" y="5766"/>
                  </a:lnTo>
                  <a:lnTo>
                    <a:pt x="162305" y="0"/>
                  </a:lnTo>
                  <a:lnTo>
                    <a:pt x="205461" y="5766"/>
                  </a:lnTo>
                  <a:lnTo>
                    <a:pt x="244235" y="22041"/>
                  </a:lnTo>
                  <a:lnTo>
                    <a:pt x="277082" y="47291"/>
                  </a:lnTo>
                  <a:lnTo>
                    <a:pt x="302457" y="79981"/>
                  </a:lnTo>
                  <a:lnTo>
                    <a:pt x="318815" y="118577"/>
                  </a:lnTo>
                  <a:lnTo>
                    <a:pt x="324612" y="161544"/>
                  </a:lnTo>
                  <a:lnTo>
                    <a:pt x="318815" y="204510"/>
                  </a:lnTo>
                  <a:lnTo>
                    <a:pt x="302457" y="243106"/>
                  </a:lnTo>
                  <a:lnTo>
                    <a:pt x="277082" y="275796"/>
                  </a:lnTo>
                  <a:lnTo>
                    <a:pt x="244235" y="301046"/>
                  </a:lnTo>
                  <a:lnTo>
                    <a:pt x="205461" y="317321"/>
                  </a:lnTo>
                  <a:lnTo>
                    <a:pt x="162305" y="323088"/>
                  </a:lnTo>
                  <a:lnTo>
                    <a:pt x="119150" y="317321"/>
                  </a:lnTo>
                  <a:lnTo>
                    <a:pt x="80376" y="301046"/>
                  </a:lnTo>
                  <a:lnTo>
                    <a:pt x="47529" y="275796"/>
                  </a:lnTo>
                  <a:lnTo>
                    <a:pt x="22154" y="243106"/>
                  </a:lnTo>
                  <a:lnTo>
                    <a:pt x="5796" y="204510"/>
                  </a:lnTo>
                  <a:lnTo>
                    <a:pt x="0" y="161544"/>
                  </a:lnTo>
                  <a:close/>
                </a:path>
              </a:pathLst>
            </a:custGeom>
            <a:ln w="19811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5203190" y="3085083"/>
              <a:ext cx="767715" cy="2054225"/>
            </a:xfrm>
            <a:custGeom>
              <a:avLst/>
              <a:gdLst/>
              <a:ahLst/>
              <a:cxnLst/>
              <a:rect l="l" t="t" r="r" b="b"/>
              <a:pathLst>
                <a:path w="767714" h="2054225">
                  <a:moveTo>
                    <a:pt x="767334" y="332867"/>
                  </a:moveTo>
                  <a:lnTo>
                    <a:pt x="765429" y="304038"/>
                  </a:lnTo>
                  <a:lnTo>
                    <a:pt x="761746" y="247904"/>
                  </a:lnTo>
                  <a:lnTo>
                    <a:pt x="718896" y="242506"/>
                  </a:lnTo>
                  <a:lnTo>
                    <a:pt x="718896" y="333502"/>
                  </a:lnTo>
                  <a:lnTo>
                    <a:pt x="569353" y="689737"/>
                  </a:lnTo>
                  <a:lnTo>
                    <a:pt x="564413" y="688136"/>
                  </a:lnTo>
                  <a:lnTo>
                    <a:pt x="564413" y="701484"/>
                  </a:lnTo>
                  <a:lnTo>
                    <a:pt x="504761" y="843584"/>
                  </a:lnTo>
                  <a:lnTo>
                    <a:pt x="498132" y="845921"/>
                  </a:lnTo>
                  <a:lnTo>
                    <a:pt x="498132" y="859370"/>
                  </a:lnTo>
                  <a:lnTo>
                    <a:pt x="457288" y="956652"/>
                  </a:lnTo>
                  <a:lnTo>
                    <a:pt x="452018" y="951369"/>
                  </a:lnTo>
                  <a:lnTo>
                    <a:pt x="452018" y="969225"/>
                  </a:lnTo>
                  <a:lnTo>
                    <a:pt x="437591" y="1003592"/>
                  </a:lnTo>
                  <a:lnTo>
                    <a:pt x="430707" y="987374"/>
                  </a:lnTo>
                  <a:lnTo>
                    <a:pt x="430707" y="1020000"/>
                  </a:lnTo>
                  <a:lnTo>
                    <a:pt x="382905" y="1133868"/>
                  </a:lnTo>
                  <a:lnTo>
                    <a:pt x="372491" y="1116380"/>
                  </a:lnTo>
                  <a:lnTo>
                    <a:pt x="372491" y="1151128"/>
                  </a:lnTo>
                  <a:lnTo>
                    <a:pt x="364629" y="1159217"/>
                  </a:lnTo>
                  <a:lnTo>
                    <a:pt x="364629" y="1177378"/>
                  </a:lnTo>
                  <a:lnTo>
                    <a:pt x="305981" y="1317078"/>
                  </a:lnTo>
                  <a:lnTo>
                    <a:pt x="300710" y="1311795"/>
                  </a:lnTo>
                  <a:lnTo>
                    <a:pt x="300710" y="1329651"/>
                  </a:lnTo>
                  <a:lnTo>
                    <a:pt x="253339" y="1442491"/>
                  </a:lnTo>
                  <a:lnTo>
                    <a:pt x="246710" y="1444828"/>
                  </a:lnTo>
                  <a:lnTo>
                    <a:pt x="246710" y="1458277"/>
                  </a:lnTo>
                  <a:lnTo>
                    <a:pt x="191084" y="1590776"/>
                  </a:lnTo>
                  <a:lnTo>
                    <a:pt x="24206" y="1536471"/>
                  </a:lnTo>
                  <a:lnTo>
                    <a:pt x="246710" y="1458277"/>
                  </a:lnTo>
                  <a:lnTo>
                    <a:pt x="246710" y="1444828"/>
                  </a:lnTo>
                  <a:lnTo>
                    <a:pt x="30784" y="1520698"/>
                  </a:lnTo>
                  <a:lnTo>
                    <a:pt x="258102" y="1286929"/>
                  </a:lnTo>
                  <a:lnTo>
                    <a:pt x="300710" y="1329651"/>
                  </a:lnTo>
                  <a:lnTo>
                    <a:pt x="300710" y="1311795"/>
                  </a:lnTo>
                  <a:lnTo>
                    <a:pt x="266890" y="1277886"/>
                  </a:lnTo>
                  <a:lnTo>
                    <a:pt x="364629" y="1177378"/>
                  </a:lnTo>
                  <a:lnTo>
                    <a:pt x="364629" y="1159217"/>
                  </a:lnTo>
                  <a:lnTo>
                    <a:pt x="257949" y="1268920"/>
                  </a:lnTo>
                  <a:lnTo>
                    <a:pt x="249161" y="1260119"/>
                  </a:lnTo>
                  <a:lnTo>
                    <a:pt x="249161" y="1277962"/>
                  </a:lnTo>
                  <a:lnTo>
                    <a:pt x="37058" y="1496085"/>
                  </a:lnTo>
                  <a:lnTo>
                    <a:pt x="196151" y="1224813"/>
                  </a:lnTo>
                  <a:lnTo>
                    <a:pt x="249161" y="1277962"/>
                  </a:lnTo>
                  <a:lnTo>
                    <a:pt x="249161" y="1260119"/>
                  </a:lnTo>
                  <a:lnTo>
                    <a:pt x="202742" y="1213586"/>
                  </a:lnTo>
                  <a:lnTo>
                    <a:pt x="260692" y="1114767"/>
                  </a:lnTo>
                  <a:lnTo>
                    <a:pt x="372491" y="1151128"/>
                  </a:lnTo>
                  <a:lnTo>
                    <a:pt x="372491" y="1116380"/>
                  </a:lnTo>
                  <a:lnTo>
                    <a:pt x="369912" y="1112050"/>
                  </a:lnTo>
                  <a:lnTo>
                    <a:pt x="369912" y="1136891"/>
                  </a:lnTo>
                  <a:lnTo>
                    <a:pt x="267296" y="1103515"/>
                  </a:lnTo>
                  <a:lnTo>
                    <a:pt x="308343" y="1033526"/>
                  </a:lnTo>
                  <a:lnTo>
                    <a:pt x="369912" y="1136891"/>
                  </a:lnTo>
                  <a:lnTo>
                    <a:pt x="369912" y="1112050"/>
                  </a:lnTo>
                  <a:lnTo>
                    <a:pt x="315696" y="1020991"/>
                  </a:lnTo>
                  <a:lnTo>
                    <a:pt x="382663" y="906805"/>
                  </a:lnTo>
                  <a:lnTo>
                    <a:pt x="430707" y="1020000"/>
                  </a:lnTo>
                  <a:lnTo>
                    <a:pt x="430707" y="987374"/>
                  </a:lnTo>
                  <a:lnTo>
                    <a:pt x="401548" y="918629"/>
                  </a:lnTo>
                  <a:lnTo>
                    <a:pt x="452018" y="969225"/>
                  </a:lnTo>
                  <a:lnTo>
                    <a:pt x="452018" y="951369"/>
                  </a:lnTo>
                  <a:lnTo>
                    <a:pt x="396036" y="895248"/>
                  </a:lnTo>
                  <a:lnTo>
                    <a:pt x="498132" y="859370"/>
                  </a:lnTo>
                  <a:lnTo>
                    <a:pt x="498132" y="845921"/>
                  </a:lnTo>
                  <a:lnTo>
                    <a:pt x="397662" y="881227"/>
                  </a:lnTo>
                  <a:lnTo>
                    <a:pt x="512914" y="684733"/>
                  </a:lnTo>
                  <a:lnTo>
                    <a:pt x="564413" y="701484"/>
                  </a:lnTo>
                  <a:lnTo>
                    <a:pt x="564413" y="688136"/>
                  </a:lnTo>
                  <a:lnTo>
                    <a:pt x="519493" y="673506"/>
                  </a:lnTo>
                  <a:lnTo>
                    <a:pt x="718896" y="333502"/>
                  </a:lnTo>
                  <a:lnTo>
                    <a:pt x="718896" y="242506"/>
                  </a:lnTo>
                  <a:lnTo>
                    <a:pt x="716940" y="242265"/>
                  </a:lnTo>
                  <a:lnTo>
                    <a:pt x="716940" y="311746"/>
                  </a:lnTo>
                  <a:lnTo>
                    <a:pt x="507149" y="669493"/>
                  </a:lnTo>
                  <a:lnTo>
                    <a:pt x="500570" y="667359"/>
                  </a:lnTo>
                  <a:lnTo>
                    <a:pt x="500570" y="680720"/>
                  </a:lnTo>
                  <a:lnTo>
                    <a:pt x="384530" y="878598"/>
                  </a:lnTo>
                  <a:lnTo>
                    <a:pt x="372897" y="851192"/>
                  </a:lnTo>
                  <a:lnTo>
                    <a:pt x="372897" y="889927"/>
                  </a:lnTo>
                  <a:lnTo>
                    <a:pt x="369239" y="891222"/>
                  </a:lnTo>
                  <a:lnTo>
                    <a:pt x="369239" y="904671"/>
                  </a:lnTo>
                  <a:lnTo>
                    <a:pt x="308305" y="1008583"/>
                  </a:lnTo>
                  <a:lnTo>
                    <a:pt x="300951" y="996238"/>
                  </a:lnTo>
                  <a:lnTo>
                    <a:pt x="300951" y="1021105"/>
                  </a:lnTo>
                  <a:lnTo>
                    <a:pt x="254977" y="1099502"/>
                  </a:lnTo>
                  <a:lnTo>
                    <a:pt x="248373" y="1097356"/>
                  </a:lnTo>
                  <a:lnTo>
                    <a:pt x="248373" y="1110754"/>
                  </a:lnTo>
                  <a:lnTo>
                    <a:pt x="193497" y="1204341"/>
                  </a:lnTo>
                  <a:lnTo>
                    <a:pt x="28905" y="1039368"/>
                  </a:lnTo>
                  <a:lnTo>
                    <a:pt x="248373" y="1110754"/>
                  </a:lnTo>
                  <a:lnTo>
                    <a:pt x="248373" y="1097356"/>
                  </a:lnTo>
                  <a:lnTo>
                    <a:pt x="26454" y="1025144"/>
                  </a:lnTo>
                  <a:lnTo>
                    <a:pt x="255435" y="944664"/>
                  </a:lnTo>
                  <a:lnTo>
                    <a:pt x="300951" y="1021105"/>
                  </a:lnTo>
                  <a:lnTo>
                    <a:pt x="300951" y="996238"/>
                  </a:lnTo>
                  <a:lnTo>
                    <a:pt x="267690" y="940358"/>
                  </a:lnTo>
                  <a:lnTo>
                    <a:pt x="369239" y="904671"/>
                  </a:lnTo>
                  <a:lnTo>
                    <a:pt x="369239" y="891222"/>
                  </a:lnTo>
                  <a:lnTo>
                    <a:pt x="261061" y="929233"/>
                  </a:lnTo>
                  <a:lnTo>
                    <a:pt x="248805" y="908659"/>
                  </a:lnTo>
                  <a:lnTo>
                    <a:pt x="248805" y="933538"/>
                  </a:lnTo>
                  <a:lnTo>
                    <a:pt x="28536" y="1010958"/>
                  </a:lnTo>
                  <a:lnTo>
                    <a:pt x="193738" y="841057"/>
                  </a:lnTo>
                  <a:lnTo>
                    <a:pt x="248805" y="933538"/>
                  </a:lnTo>
                  <a:lnTo>
                    <a:pt x="248805" y="908659"/>
                  </a:lnTo>
                  <a:lnTo>
                    <a:pt x="202933" y="831608"/>
                  </a:lnTo>
                  <a:lnTo>
                    <a:pt x="258102" y="774865"/>
                  </a:lnTo>
                  <a:lnTo>
                    <a:pt x="372897" y="889927"/>
                  </a:lnTo>
                  <a:lnTo>
                    <a:pt x="372897" y="851192"/>
                  </a:lnTo>
                  <a:lnTo>
                    <a:pt x="364261" y="830834"/>
                  </a:lnTo>
                  <a:lnTo>
                    <a:pt x="364261" y="863396"/>
                  </a:lnTo>
                  <a:lnTo>
                    <a:pt x="266890" y="765835"/>
                  </a:lnTo>
                  <a:lnTo>
                    <a:pt x="305841" y="725766"/>
                  </a:lnTo>
                  <a:lnTo>
                    <a:pt x="364261" y="863396"/>
                  </a:lnTo>
                  <a:lnTo>
                    <a:pt x="364261" y="830834"/>
                  </a:lnTo>
                  <a:lnTo>
                    <a:pt x="315480" y="715860"/>
                  </a:lnTo>
                  <a:lnTo>
                    <a:pt x="385914" y="643420"/>
                  </a:lnTo>
                  <a:lnTo>
                    <a:pt x="500570" y="680720"/>
                  </a:lnTo>
                  <a:lnTo>
                    <a:pt x="500570" y="667359"/>
                  </a:lnTo>
                  <a:lnTo>
                    <a:pt x="395795" y="633260"/>
                  </a:lnTo>
                  <a:lnTo>
                    <a:pt x="710907" y="309206"/>
                  </a:lnTo>
                  <a:lnTo>
                    <a:pt x="716940" y="311746"/>
                  </a:lnTo>
                  <a:lnTo>
                    <a:pt x="716940" y="242265"/>
                  </a:lnTo>
                  <a:lnTo>
                    <a:pt x="699643" y="240080"/>
                  </a:lnTo>
                  <a:lnTo>
                    <a:pt x="699643" y="301218"/>
                  </a:lnTo>
                  <a:lnTo>
                    <a:pt x="697103" y="303403"/>
                  </a:lnTo>
                  <a:lnTo>
                    <a:pt x="698360" y="303936"/>
                  </a:lnTo>
                  <a:lnTo>
                    <a:pt x="382384" y="628891"/>
                  </a:lnTo>
                  <a:lnTo>
                    <a:pt x="372491" y="625678"/>
                  </a:lnTo>
                  <a:lnTo>
                    <a:pt x="372491" y="639064"/>
                  </a:lnTo>
                  <a:lnTo>
                    <a:pt x="310108" y="703211"/>
                  </a:lnTo>
                  <a:lnTo>
                    <a:pt x="300482" y="680529"/>
                  </a:lnTo>
                  <a:lnTo>
                    <a:pt x="300482" y="713117"/>
                  </a:lnTo>
                  <a:lnTo>
                    <a:pt x="257949" y="756869"/>
                  </a:lnTo>
                  <a:lnTo>
                    <a:pt x="249161" y="748068"/>
                  </a:lnTo>
                  <a:lnTo>
                    <a:pt x="249161" y="765898"/>
                  </a:lnTo>
                  <a:lnTo>
                    <a:pt x="196215" y="820343"/>
                  </a:lnTo>
                  <a:lnTo>
                    <a:pt x="37426" y="553669"/>
                  </a:lnTo>
                  <a:lnTo>
                    <a:pt x="249161" y="765898"/>
                  </a:lnTo>
                  <a:lnTo>
                    <a:pt x="249161" y="748068"/>
                  </a:lnTo>
                  <a:lnTo>
                    <a:pt x="28892" y="527304"/>
                  </a:lnTo>
                  <a:lnTo>
                    <a:pt x="252488" y="600024"/>
                  </a:lnTo>
                  <a:lnTo>
                    <a:pt x="300482" y="713117"/>
                  </a:lnTo>
                  <a:lnTo>
                    <a:pt x="300482" y="680529"/>
                  </a:lnTo>
                  <a:lnTo>
                    <a:pt x="268541" y="605243"/>
                  </a:lnTo>
                  <a:lnTo>
                    <a:pt x="372491" y="639064"/>
                  </a:lnTo>
                  <a:lnTo>
                    <a:pt x="372491" y="625678"/>
                  </a:lnTo>
                  <a:lnTo>
                    <a:pt x="261937" y="589699"/>
                  </a:lnTo>
                  <a:lnTo>
                    <a:pt x="245897" y="551903"/>
                  </a:lnTo>
                  <a:lnTo>
                    <a:pt x="245897" y="584479"/>
                  </a:lnTo>
                  <a:lnTo>
                    <a:pt x="26454" y="513080"/>
                  </a:lnTo>
                  <a:lnTo>
                    <a:pt x="191046" y="455231"/>
                  </a:lnTo>
                  <a:lnTo>
                    <a:pt x="245897" y="584479"/>
                  </a:lnTo>
                  <a:lnTo>
                    <a:pt x="245897" y="551903"/>
                  </a:lnTo>
                  <a:lnTo>
                    <a:pt x="203085" y="451002"/>
                  </a:lnTo>
                  <a:lnTo>
                    <a:pt x="686498" y="281101"/>
                  </a:lnTo>
                  <a:lnTo>
                    <a:pt x="695718" y="290042"/>
                  </a:lnTo>
                  <a:lnTo>
                    <a:pt x="695934" y="290690"/>
                  </a:lnTo>
                  <a:lnTo>
                    <a:pt x="690245" y="294386"/>
                  </a:lnTo>
                  <a:lnTo>
                    <a:pt x="699058" y="299554"/>
                  </a:lnTo>
                  <a:lnTo>
                    <a:pt x="699643" y="301218"/>
                  </a:lnTo>
                  <a:lnTo>
                    <a:pt x="699643" y="240080"/>
                  </a:lnTo>
                  <a:lnTo>
                    <a:pt x="677164" y="237236"/>
                  </a:lnTo>
                  <a:lnTo>
                    <a:pt x="687692" y="267220"/>
                  </a:lnTo>
                  <a:lnTo>
                    <a:pt x="198120" y="439293"/>
                  </a:lnTo>
                  <a:lnTo>
                    <a:pt x="11684" y="0"/>
                  </a:lnTo>
                  <a:lnTo>
                    <a:pt x="0" y="5080"/>
                  </a:lnTo>
                  <a:lnTo>
                    <a:pt x="186067" y="443522"/>
                  </a:lnTo>
                  <a:lnTo>
                    <a:pt x="3683" y="507619"/>
                  </a:lnTo>
                  <a:lnTo>
                    <a:pt x="5676" y="513181"/>
                  </a:lnTo>
                  <a:lnTo>
                    <a:pt x="381" y="516382"/>
                  </a:lnTo>
                  <a:lnTo>
                    <a:pt x="187020" y="829792"/>
                  </a:lnTo>
                  <a:lnTo>
                    <a:pt x="1270" y="1020826"/>
                  </a:lnTo>
                  <a:lnTo>
                    <a:pt x="5588" y="1024978"/>
                  </a:lnTo>
                  <a:lnTo>
                    <a:pt x="5689" y="1025296"/>
                  </a:lnTo>
                  <a:lnTo>
                    <a:pt x="1397" y="1029589"/>
                  </a:lnTo>
                  <a:lnTo>
                    <a:pt x="186918" y="1215567"/>
                  </a:lnTo>
                  <a:lnTo>
                    <a:pt x="381" y="1533652"/>
                  </a:lnTo>
                  <a:lnTo>
                    <a:pt x="4660" y="1536153"/>
                  </a:lnTo>
                  <a:lnTo>
                    <a:pt x="5816" y="1537284"/>
                  </a:lnTo>
                  <a:lnTo>
                    <a:pt x="3937" y="1543304"/>
                  </a:lnTo>
                  <a:lnTo>
                    <a:pt x="186131" y="1602574"/>
                  </a:lnTo>
                  <a:lnTo>
                    <a:pt x="0" y="2045970"/>
                  </a:lnTo>
                  <a:lnTo>
                    <a:pt x="3009" y="2047252"/>
                  </a:lnTo>
                  <a:lnTo>
                    <a:pt x="6134" y="2049081"/>
                  </a:lnTo>
                  <a:lnTo>
                    <a:pt x="8001" y="2054225"/>
                  </a:lnTo>
                  <a:lnTo>
                    <a:pt x="691908" y="1813864"/>
                  </a:lnTo>
                  <a:lnTo>
                    <a:pt x="702437" y="1843786"/>
                  </a:lnTo>
                  <a:lnTo>
                    <a:pt x="747102" y="1797685"/>
                  </a:lnTo>
                  <a:lnTo>
                    <a:pt x="761009" y="1783321"/>
                  </a:lnTo>
                  <a:lnTo>
                    <a:pt x="761606" y="1783232"/>
                  </a:lnTo>
                  <a:lnTo>
                    <a:pt x="761746" y="1783334"/>
                  </a:lnTo>
                  <a:lnTo>
                    <a:pt x="761746" y="1783207"/>
                  </a:lnTo>
                  <a:lnTo>
                    <a:pt x="765162" y="1727454"/>
                  </a:lnTo>
                  <a:lnTo>
                    <a:pt x="766953" y="1698371"/>
                  </a:lnTo>
                  <a:lnTo>
                    <a:pt x="755815" y="1703095"/>
                  </a:lnTo>
                  <a:lnTo>
                    <a:pt x="755396" y="1697355"/>
                  </a:lnTo>
                  <a:lnTo>
                    <a:pt x="736981" y="1708327"/>
                  </a:lnTo>
                  <a:lnTo>
                    <a:pt x="734822" y="1701800"/>
                  </a:lnTo>
                  <a:lnTo>
                    <a:pt x="734199" y="1702422"/>
                  </a:lnTo>
                  <a:lnTo>
                    <a:pt x="717537" y="1663179"/>
                  </a:lnTo>
                  <a:lnTo>
                    <a:pt x="717537" y="1695754"/>
                  </a:lnTo>
                  <a:lnTo>
                    <a:pt x="716940" y="1694764"/>
                  </a:lnTo>
                  <a:lnTo>
                    <a:pt x="716940" y="1719567"/>
                  </a:lnTo>
                  <a:lnTo>
                    <a:pt x="710399" y="1722348"/>
                  </a:lnTo>
                  <a:lnTo>
                    <a:pt x="698919" y="1710855"/>
                  </a:lnTo>
                  <a:lnTo>
                    <a:pt x="698919" y="1729867"/>
                  </a:lnTo>
                  <a:lnTo>
                    <a:pt x="698449" y="1731302"/>
                  </a:lnTo>
                  <a:lnTo>
                    <a:pt x="689991" y="1736344"/>
                  </a:lnTo>
                  <a:lnTo>
                    <a:pt x="695617" y="1739976"/>
                  </a:lnTo>
                  <a:lnTo>
                    <a:pt x="695121" y="1741500"/>
                  </a:lnTo>
                  <a:lnTo>
                    <a:pt x="687692" y="1748929"/>
                  </a:lnTo>
                  <a:lnTo>
                    <a:pt x="687692" y="1801888"/>
                  </a:lnTo>
                  <a:lnTo>
                    <a:pt x="28524" y="2033562"/>
                  </a:lnTo>
                  <a:lnTo>
                    <a:pt x="384797" y="1667179"/>
                  </a:lnTo>
                  <a:lnTo>
                    <a:pt x="687273" y="1765554"/>
                  </a:lnTo>
                  <a:lnTo>
                    <a:pt x="684872" y="1772881"/>
                  </a:lnTo>
                  <a:lnTo>
                    <a:pt x="677164" y="1771904"/>
                  </a:lnTo>
                  <a:lnTo>
                    <a:pt x="681329" y="1783778"/>
                  </a:lnTo>
                  <a:lnTo>
                    <a:pt x="677418" y="1795780"/>
                  </a:lnTo>
                  <a:lnTo>
                    <a:pt x="685139" y="1794637"/>
                  </a:lnTo>
                  <a:lnTo>
                    <a:pt x="687692" y="1801888"/>
                  </a:lnTo>
                  <a:lnTo>
                    <a:pt x="687692" y="1748929"/>
                  </a:lnTo>
                  <a:lnTo>
                    <a:pt x="685114" y="1751507"/>
                  </a:lnTo>
                  <a:lnTo>
                    <a:pt x="394665" y="1657032"/>
                  </a:lnTo>
                  <a:lnTo>
                    <a:pt x="509498" y="1538935"/>
                  </a:lnTo>
                  <a:lnTo>
                    <a:pt x="697826" y="1727669"/>
                  </a:lnTo>
                  <a:lnTo>
                    <a:pt x="696849" y="1728089"/>
                  </a:lnTo>
                  <a:lnTo>
                    <a:pt x="698919" y="1729867"/>
                  </a:lnTo>
                  <a:lnTo>
                    <a:pt x="698919" y="1710855"/>
                  </a:lnTo>
                  <a:lnTo>
                    <a:pt x="518312" y="1529867"/>
                  </a:lnTo>
                  <a:lnTo>
                    <a:pt x="571411" y="1475270"/>
                  </a:lnTo>
                  <a:lnTo>
                    <a:pt x="716940" y="1719567"/>
                  </a:lnTo>
                  <a:lnTo>
                    <a:pt x="716940" y="1694764"/>
                  </a:lnTo>
                  <a:lnTo>
                    <a:pt x="580593" y="1465834"/>
                  </a:lnTo>
                  <a:lnTo>
                    <a:pt x="607974" y="1437665"/>
                  </a:lnTo>
                  <a:lnTo>
                    <a:pt x="717537" y="1695754"/>
                  </a:lnTo>
                  <a:lnTo>
                    <a:pt x="717537" y="1663179"/>
                  </a:lnTo>
                  <a:lnTo>
                    <a:pt x="617613" y="1427759"/>
                  </a:lnTo>
                  <a:lnTo>
                    <a:pt x="713130" y="1329524"/>
                  </a:lnTo>
                  <a:lnTo>
                    <a:pt x="735965" y="1351661"/>
                  </a:lnTo>
                  <a:lnTo>
                    <a:pt x="748665" y="1311656"/>
                  </a:lnTo>
                  <a:lnTo>
                    <a:pt x="761530" y="1271181"/>
                  </a:lnTo>
                  <a:lnTo>
                    <a:pt x="761746" y="1271143"/>
                  </a:lnTo>
                  <a:lnTo>
                    <a:pt x="761580" y="1271003"/>
                  </a:lnTo>
                  <a:lnTo>
                    <a:pt x="761707" y="1270635"/>
                  </a:lnTo>
                  <a:lnTo>
                    <a:pt x="761746" y="1270508"/>
                  </a:lnTo>
                  <a:lnTo>
                    <a:pt x="761098" y="1268717"/>
                  </a:lnTo>
                  <a:lnTo>
                    <a:pt x="761098" y="1270431"/>
                  </a:lnTo>
                  <a:lnTo>
                    <a:pt x="760958" y="1270381"/>
                  </a:lnTo>
                  <a:lnTo>
                    <a:pt x="761098" y="1270431"/>
                  </a:lnTo>
                  <a:lnTo>
                    <a:pt x="761098" y="1268717"/>
                  </a:lnTo>
                  <a:lnTo>
                    <a:pt x="748258" y="1230122"/>
                  </a:lnTo>
                  <a:lnTo>
                    <a:pt x="734822" y="1189736"/>
                  </a:lnTo>
                  <a:lnTo>
                    <a:pt x="712343" y="1212215"/>
                  </a:lnTo>
                  <a:lnTo>
                    <a:pt x="700011" y="1199870"/>
                  </a:lnTo>
                  <a:lnTo>
                    <a:pt x="700011" y="1324851"/>
                  </a:lnTo>
                  <a:lnTo>
                    <a:pt x="612241" y="1415110"/>
                  </a:lnTo>
                  <a:lnTo>
                    <a:pt x="602602" y="1392402"/>
                  </a:lnTo>
                  <a:lnTo>
                    <a:pt x="602602" y="1425016"/>
                  </a:lnTo>
                  <a:lnTo>
                    <a:pt x="573874" y="1454569"/>
                  </a:lnTo>
                  <a:lnTo>
                    <a:pt x="564705" y="1439176"/>
                  </a:lnTo>
                  <a:lnTo>
                    <a:pt x="564705" y="1464005"/>
                  </a:lnTo>
                  <a:lnTo>
                    <a:pt x="509371" y="1520901"/>
                  </a:lnTo>
                  <a:lnTo>
                    <a:pt x="500545" y="1512062"/>
                  </a:lnTo>
                  <a:lnTo>
                    <a:pt x="500545" y="1529969"/>
                  </a:lnTo>
                  <a:lnTo>
                    <a:pt x="381254" y="1652663"/>
                  </a:lnTo>
                  <a:lnTo>
                    <a:pt x="371373" y="1649450"/>
                  </a:lnTo>
                  <a:lnTo>
                    <a:pt x="371373" y="1662823"/>
                  </a:lnTo>
                  <a:lnTo>
                    <a:pt x="39306" y="2004314"/>
                  </a:lnTo>
                  <a:lnTo>
                    <a:pt x="260705" y="1626819"/>
                  </a:lnTo>
                  <a:lnTo>
                    <a:pt x="371373" y="1662823"/>
                  </a:lnTo>
                  <a:lnTo>
                    <a:pt x="371373" y="1649450"/>
                  </a:lnTo>
                  <a:lnTo>
                    <a:pt x="267296" y="1615579"/>
                  </a:lnTo>
                  <a:lnTo>
                    <a:pt x="385267" y="1414424"/>
                  </a:lnTo>
                  <a:lnTo>
                    <a:pt x="500545" y="1529969"/>
                  </a:lnTo>
                  <a:lnTo>
                    <a:pt x="500545" y="1512062"/>
                  </a:lnTo>
                  <a:lnTo>
                    <a:pt x="394906" y="1406182"/>
                  </a:lnTo>
                  <a:lnTo>
                    <a:pt x="506844" y="1366850"/>
                  </a:lnTo>
                  <a:lnTo>
                    <a:pt x="564705" y="1464005"/>
                  </a:lnTo>
                  <a:lnTo>
                    <a:pt x="564705" y="1439176"/>
                  </a:lnTo>
                  <a:lnTo>
                    <a:pt x="519087" y="1362544"/>
                  </a:lnTo>
                  <a:lnTo>
                    <a:pt x="568693" y="1345107"/>
                  </a:lnTo>
                  <a:lnTo>
                    <a:pt x="602602" y="1425016"/>
                  </a:lnTo>
                  <a:lnTo>
                    <a:pt x="602602" y="1392402"/>
                  </a:lnTo>
                  <a:lnTo>
                    <a:pt x="580745" y="1340878"/>
                  </a:lnTo>
                  <a:lnTo>
                    <a:pt x="686498" y="1303705"/>
                  </a:lnTo>
                  <a:lnTo>
                    <a:pt x="695718" y="1312646"/>
                  </a:lnTo>
                  <a:lnTo>
                    <a:pt x="700011" y="1324851"/>
                  </a:lnTo>
                  <a:lnTo>
                    <a:pt x="700011" y="1199870"/>
                  </a:lnTo>
                  <a:lnTo>
                    <a:pt x="699185" y="1199032"/>
                  </a:lnTo>
                  <a:lnTo>
                    <a:pt x="699185" y="1216977"/>
                  </a:lnTo>
                  <a:lnTo>
                    <a:pt x="695121" y="1229436"/>
                  </a:lnTo>
                  <a:lnTo>
                    <a:pt x="687692" y="1236865"/>
                  </a:lnTo>
                  <a:lnTo>
                    <a:pt x="687692" y="1289824"/>
                  </a:lnTo>
                  <a:lnTo>
                    <a:pt x="575779" y="1329156"/>
                  </a:lnTo>
                  <a:lnTo>
                    <a:pt x="563727" y="1300759"/>
                  </a:lnTo>
                  <a:lnTo>
                    <a:pt x="563727" y="1333398"/>
                  </a:lnTo>
                  <a:lnTo>
                    <a:pt x="512457" y="1351419"/>
                  </a:lnTo>
                  <a:lnTo>
                    <a:pt x="500214" y="1330871"/>
                  </a:lnTo>
                  <a:lnTo>
                    <a:pt x="500214" y="1355712"/>
                  </a:lnTo>
                  <a:lnTo>
                    <a:pt x="398792" y="1391361"/>
                  </a:lnTo>
                  <a:lnTo>
                    <a:pt x="459651" y="1287614"/>
                  </a:lnTo>
                  <a:lnTo>
                    <a:pt x="500214" y="1355712"/>
                  </a:lnTo>
                  <a:lnTo>
                    <a:pt x="500214" y="1330871"/>
                  </a:lnTo>
                  <a:lnTo>
                    <a:pt x="466991" y="1275080"/>
                  </a:lnTo>
                  <a:lnTo>
                    <a:pt x="508749" y="1203883"/>
                  </a:lnTo>
                  <a:lnTo>
                    <a:pt x="563727" y="1333398"/>
                  </a:lnTo>
                  <a:lnTo>
                    <a:pt x="563727" y="1300759"/>
                  </a:lnTo>
                  <a:lnTo>
                    <a:pt x="520674" y="1199311"/>
                  </a:lnTo>
                  <a:lnTo>
                    <a:pt x="687273" y="1253490"/>
                  </a:lnTo>
                  <a:lnTo>
                    <a:pt x="684872" y="1260817"/>
                  </a:lnTo>
                  <a:lnTo>
                    <a:pt x="677164" y="1259840"/>
                  </a:lnTo>
                  <a:lnTo>
                    <a:pt x="681329" y="1271714"/>
                  </a:lnTo>
                  <a:lnTo>
                    <a:pt x="677418" y="1283716"/>
                  </a:lnTo>
                  <a:lnTo>
                    <a:pt x="685139" y="1282573"/>
                  </a:lnTo>
                  <a:lnTo>
                    <a:pt x="687692" y="1289824"/>
                  </a:lnTo>
                  <a:lnTo>
                    <a:pt x="687692" y="1236865"/>
                  </a:lnTo>
                  <a:lnTo>
                    <a:pt x="685114" y="1239443"/>
                  </a:lnTo>
                  <a:lnTo>
                    <a:pt x="519493" y="1185570"/>
                  </a:lnTo>
                  <a:lnTo>
                    <a:pt x="574408" y="1091920"/>
                  </a:lnTo>
                  <a:lnTo>
                    <a:pt x="699185" y="1216977"/>
                  </a:lnTo>
                  <a:lnTo>
                    <a:pt x="699185" y="1199032"/>
                  </a:lnTo>
                  <a:lnTo>
                    <a:pt x="581025" y="1080643"/>
                  </a:lnTo>
                  <a:lnTo>
                    <a:pt x="726744" y="832192"/>
                  </a:lnTo>
                  <a:lnTo>
                    <a:pt x="735965" y="841121"/>
                  </a:lnTo>
                  <a:lnTo>
                    <a:pt x="738085" y="834440"/>
                  </a:lnTo>
                  <a:lnTo>
                    <a:pt x="756031" y="844931"/>
                  </a:lnTo>
                  <a:lnTo>
                    <a:pt x="758266" y="811530"/>
                  </a:lnTo>
                  <a:lnTo>
                    <a:pt x="761746" y="759968"/>
                  </a:lnTo>
                  <a:lnTo>
                    <a:pt x="758507" y="759561"/>
                  </a:lnTo>
                  <a:lnTo>
                    <a:pt x="761746" y="759079"/>
                  </a:lnTo>
                  <a:lnTo>
                    <a:pt x="747814" y="745363"/>
                  </a:lnTo>
                  <a:lnTo>
                    <a:pt x="717359" y="715352"/>
                  </a:lnTo>
                  <a:lnTo>
                    <a:pt x="717359" y="823099"/>
                  </a:lnTo>
                  <a:lnTo>
                    <a:pt x="571766" y="1071372"/>
                  </a:lnTo>
                  <a:lnTo>
                    <a:pt x="565162" y="1064755"/>
                  </a:lnTo>
                  <a:lnTo>
                    <a:pt x="565162" y="1082649"/>
                  </a:lnTo>
                  <a:lnTo>
                    <a:pt x="510616" y="1175651"/>
                  </a:lnTo>
                  <a:lnTo>
                    <a:pt x="500570" y="1151978"/>
                  </a:lnTo>
                  <a:lnTo>
                    <a:pt x="500570" y="1192784"/>
                  </a:lnTo>
                  <a:lnTo>
                    <a:pt x="459587" y="1262659"/>
                  </a:lnTo>
                  <a:lnTo>
                    <a:pt x="452247" y="1250340"/>
                  </a:lnTo>
                  <a:lnTo>
                    <a:pt x="452247" y="1275181"/>
                  </a:lnTo>
                  <a:lnTo>
                    <a:pt x="382625" y="1393901"/>
                  </a:lnTo>
                  <a:lnTo>
                    <a:pt x="371767" y="1383017"/>
                  </a:lnTo>
                  <a:lnTo>
                    <a:pt x="371767" y="1400860"/>
                  </a:lnTo>
                  <a:lnTo>
                    <a:pt x="370357" y="1401368"/>
                  </a:lnTo>
                  <a:lnTo>
                    <a:pt x="370357" y="1414818"/>
                  </a:lnTo>
                  <a:lnTo>
                    <a:pt x="254977" y="1611566"/>
                  </a:lnTo>
                  <a:lnTo>
                    <a:pt x="248386" y="1609432"/>
                  </a:lnTo>
                  <a:lnTo>
                    <a:pt x="248386" y="1622818"/>
                  </a:lnTo>
                  <a:lnTo>
                    <a:pt x="47828" y="1964791"/>
                  </a:lnTo>
                  <a:lnTo>
                    <a:pt x="198234" y="1606499"/>
                  </a:lnTo>
                  <a:lnTo>
                    <a:pt x="248386" y="1622818"/>
                  </a:lnTo>
                  <a:lnTo>
                    <a:pt x="248386" y="1609432"/>
                  </a:lnTo>
                  <a:lnTo>
                    <a:pt x="203187" y="1594713"/>
                  </a:lnTo>
                  <a:lnTo>
                    <a:pt x="262826" y="1452613"/>
                  </a:lnTo>
                  <a:lnTo>
                    <a:pt x="370357" y="1414818"/>
                  </a:lnTo>
                  <a:lnTo>
                    <a:pt x="370357" y="1401368"/>
                  </a:lnTo>
                  <a:lnTo>
                    <a:pt x="269455" y="1436814"/>
                  </a:lnTo>
                  <a:lnTo>
                    <a:pt x="310375" y="1339342"/>
                  </a:lnTo>
                  <a:lnTo>
                    <a:pt x="371767" y="1400860"/>
                  </a:lnTo>
                  <a:lnTo>
                    <a:pt x="371767" y="1383017"/>
                  </a:lnTo>
                  <a:lnTo>
                    <a:pt x="315658" y="1326769"/>
                  </a:lnTo>
                  <a:lnTo>
                    <a:pt x="384835" y="1161973"/>
                  </a:lnTo>
                  <a:lnTo>
                    <a:pt x="452247" y="1275181"/>
                  </a:lnTo>
                  <a:lnTo>
                    <a:pt x="452247" y="1250340"/>
                  </a:lnTo>
                  <a:lnTo>
                    <a:pt x="398157" y="1159471"/>
                  </a:lnTo>
                  <a:lnTo>
                    <a:pt x="500570" y="1192784"/>
                  </a:lnTo>
                  <a:lnTo>
                    <a:pt x="500570" y="1151978"/>
                  </a:lnTo>
                  <a:lnTo>
                    <a:pt x="498017" y="1145971"/>
                  </a:lnTo>
                  <a:lnTo>
                    <a:pt x="498017" y="1178572"/>
                  </a:lnTo>
                  <a:lnTo>
                    <a:pt x="395795" y="1145324"/>
                  </a:lnTo>
                  <a:lnTo>
                    <a:pt x="457123" y="1082255"/>
                  </a:lnTo>
                  <a:lnTo>
                    <a:pt x="498017" y="1178572"/>
                  </a:lnTo>
                  <a:lnTo>
                    <a:pt x="498017" y="1145971"/>
                  </a:lnTo>
                  <a:lnTo>
                    <a:pt x="466775" y="1072337"/>
                  </a:lnTo>
                  <a:lnTo>
                    <a:pt x="510260" y="1027607"/>
                  </a:lnTo>
                  <a:lnTo>
                    <a:pt x="565162" y="1082649"/>
                  </a:lnTo>
                  <a:lnTo>
                    <a:pt x="565162" y="1064755"/>
                  </a:lnTo>
                  <a:lnTo>
                    <a:pt x="519074" y="1018552"/>
                  </a:lnTo>
                  <a:lnTo>
                    <a:pt x="712584" y="819543"/>
                  </a:lnTo>
                  <a:lnTo>
                    <a:pt x="715378" y="821182"/>
                  </a:lnTo>
                  <a:lnTo>
                    <a:pt x="717359" y="823099"/>
                  </a:lnTo>
                  <a:lnTo>
                    <a:pt x="717359" y="715352"/>
                  </a:lnTo>
                  <a:lnTo>
                    <a:pt x="701040" y="699262"/>
                  </a:lnTo>
                  <a:lnTo>
                    <a:pt x="700011" y="702424"/>
                  </a:lnTo>
                  <a:lnTo>
                    <a:pt x="700011" y="814311"/>
                  </a:lnTo>
                  <a:lnTo>
                    <a:pt x="510120" y="1009586"/>
                  </a:lnTo>
                  <a:lnTo>
                    <a:pt x="501319" y="1000772"/>
                  </a:lnTo>
                  <a:lnTo>
                    <a:pt x="501319" y="1018641"/>
                  </a:lnTo>
                  <a:lnTo>
                    <a:pt x="461403" y="1059688"/>
                  </a:lnTo>
                  <a:lnTo>
                    <a:pt x="451764" y="1036993"/>
                  </a:lnTo>
                  <a:lnTo>
                    <a:pt x="451764" y="1069606"/>
                  </a:lnTo>
                  <a:lnTo>
                    <a:pt x="402209" y="1120571"/>
                  </a:lnTo>
                  <a:lnTo>
                    <a:pt x="437603" y="1036256"/>
                  </a:lnTo>
                  <a:lnTo>
                    <a:pt x="451764" y="1069606"/>
                  </a:lnTo>
                  <a:lnTo>
                    <a:pt x="451764" y="1036993"/>
                  </a:lnTo>
                  <a:lnTo>
                    <a:pt x="444487" y="1019848"/>
                  </a:lnTo>
                  <a:lnTo>
                    <a:pt x="461670" y="978916"/>
                  </a:lnTo>
                  <a:lnTo>
                    <a:pt x="501319" y="1018641"/>
                  </a:lnTo>
                  <a:lnTo>
                    <a:pt x="501319" y="1000772"/>
                  </a:lnTo>
                  <a:lnTo>
                    <a:pt x="466953" y="966330"/>
                  </a:lnTo>
                  <a:lnTo>
                    <a:pt x="514223" y="853719"/>
                  </a:lnTo>
                  <a:lnTo>
                    <a:pt x="686498" y="793165"/>
                  </a:lnTo>
                  <a:lnTo>
                    <a:pt x="695718" y="802106"/>
                  </a:lnTo>
                  <a:lnTo>
                    <a:pt x="695934" y="802754"/>
                  </a:lnTo>
                  <a:lnTo>
                    <a:pt x="690245" y="806450"/>
                  </a:lnTo>
                  <a:lnTo>
                    <a:pt x="699058" y="811618"/>
                  </a:lnTo>
                  <a:lnTo>
                    <a:pt x="700011" y="814311"/>
                  </a:lnTo>
                  <a:lnTo>
                    <a:pt x="700011" y="702424"/>
                  </a:lnTo>
                  <a:lnTo>
                    <a:pt x="691210" y="729361"/>
                  </a:lnTo>
                  <a:lnTo>
                    <a:pt x="687692" y="728218"/>
                  </a:lnTo>
                  <a:lnTo>
                    <a:pt x="687692" y="779284"/>
                  </a:lnTo>
                  <a:lnTo>
                    <a:pt x="520852" y="837933"/>
                  </a:lnTo>
                  <a:lnTo>
                    <a:pt x="576478" y="705408"/>
                  </a:lnTo>
                  <a:lnTo>
                    <a:pt x="687273" y="741426"/>
                  </a:lnTo>
                  <a:lnTo>
                    <a:pt x="684403" y="750214"/>
                  </a:lnTo>
                  <a:lnTo>
                    <a:pt x="677164" y="749300"/>
                  </a:lnTo>
                  <a:lnTo>
                    <a:pt x="681062" y="760437"/>
                  </a:lnTo>
                  <a:lnTo>
                    <a:pt x="677418" y="771652"/>
                  </a:lnTo>
                  <a:lnTo>
                    <a:pt x="684631" y="770585"/>
                  </a:lnTo>
                  <a:lnTo>
                    <a:pt x="687692" y="779284"/>
                  </a:lnTo>
                  <a:lnTo>
                    <a:pt x="687692" y="728218"/>
                  </a:lnTo>
                  <a:lnTo>
                    <a:pt x="581418" y="693661"/>
                  </a:lnTo>
                  <a:lnTo>
                    <a:pt x="734898" y="328028"/>
                  </a:lnTo>
                  <a:lnTo>
                    <a:pt x="735965" y="329057"/>
                  </a:lnTo>
                  <a:lnTo>
                    <a:pt x="738085" y="322376"/>
                  </a:lnTo>
                  <a:lnTo>
                    <a:pt x="756031" y="332867"/>
                  </a:lnTo>
                  <a:lnTo>
                    <a:pt x="756335" y="328269"/>
                  </a:lnTo>
                  <a:lnTo>
                    <a:pt x="767334" y="332867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80374" y="3659026"/>
              <a:ext cx="405655" cy="407102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7123937" y="3682745"/>
              <a:ext cx="323215" cy="325120"/>
            </a:xfrm>
            <a:custGeom>
              <a:avLst/>
              <a:gdLst/>
              <a:ahLst/>
              <a:cxnLst/>
              <a:rect l="l" t="t" r="r" b="b"/>
              <a:pathLst>
                <a:path w="323215" h="325120">
                  <a:moveTo>
                    <a:pt x="161543" y="0"/>
                  </a:moveTo>
                  <a:lnTo>
                    <a:pt x="118577" y="5796"/>
                  </a:lnTo>
                  <a:lnTo>
                    <a:pt x="79981" y="22154"/>
                  </a:lnTo>
                  <a:lnTo>
                    <a:pt x="47291" y="47529"/>
                  </a:lnTo>
                  <a:lnTo>
                    <a:pt x="22041" y="80376"/>
                  </a:lnTo>
                  <a:lnTo>
                    <a:pt x="5766" y="119150"/>
                  </a:lnTo>
                  <a:lnTo>
                    <a:pt x="0" y="162305"/>
                  </a:lnTo>
                  <a:lnTo>
                    <a:pt x="5766" y="205461"/>
                  </a:lnTo>
                  <a:lnTo>
                    <a:pt x="22041" y="244235"/>
                  </a:lnTo>
                  <a:lnTo>
                    <a:pt x="47291" y="277082"/>
                  </a:lnTo>
                  <a:lnTo>
                    <a:pt x="79981" y="302457"/>
                  </a:lnTo>
                  <a:lnTo>
                    <a:pt x="118577" y="318815"/>
                  </a:lnTo>
                  <a:lnTo>
                    <a:pt x="161543" y="324611"/>
                  </a:lnTo>
                  <a:lnTo>
                    <a:pt x="204510" y="318815"/>
                  </a:lnTo>
                  <a:lnTo>
                    <a:pt x="243106" y="302457"/>
                  </a:lnTo>
                  <a:lnTo>
                    <a:pt x="275796" y="277082"/>
                  </a:lnTo>
                  <a:lnTo>
                    <a:pt x="301046" y="244235"/>
                  </a:lnTo>
                  <a:lnTo>
                    <a:pt x="317321" y="205461"/>
                  </a:lnTo>
                  <a:lnTo>
                    <a:pt x="323087" y="162305"/>
                  </a:lnTo>
                  <a:lnTo>
                    <a:pt x="317321" y="119150"/>
                  </a:lnTo>
                  <a:lnTo>
                    <a:pt x="301046" y="80376"/>
                  </a:lnTo>
                  <a:lnTo>
                    <a:pt x="275796" y="47529"/>
                  </a:lnTo>
                  <a:lnTo>
                    <a:pt x="243106" y="22154"/>
                  </a:lnTo>
                  <a:lnTo>
                    <a:pt x="204510" y="5796"/>
                  </a:lnTo>
                  <a:lnTo>
                    <a:pt x="161543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123937" y="3682745"/>
              <a:ext cx="323215" cy="325120"/>
            </a:xfrm>
            <a:custGeom>
              <a:avLst/>
              <a:gdLst/>
              <a:ahLst/>
              <a:cxnLst/>
              <a:rect l="l" t="t" r="r" b="b"/>
              <a:pathLst>
                <a:path w="323215" h="325120">
                  <a:moveTo>
                    <a:pt x="0" y="162305"/>
                  </a:moveTo>
                  <a:lnTo>
                    <a:pt x="5766" y="119150"/>
                  </a:lnTo>
                  <a:lnTo>
                    <a:pt x="22041" y="80376"/>
                  </a:lnTo>
                  <a:lnTo>
                    <a:pt x="47291" y="47529"/>
                  </a:lnTo>
                  <a:lnTo>
                    <a:pt x="79981" y="22154"/>
                  </a:lnTo>
                  <a:lnTo>
                    <a:pt x="118577" y="5796"/>
                  </a:lnTo>
                  <a:lnTo>
                    <a:pt x="161543" y="0"/>
                  </a:lnTo>
                  <a:lnTo>
                    <a:pt x="204510" y="5796"/>
                  </a:lnTo>
                  <a:lnTo>
                    <a:pt x="243106" y="22154"/>
                  </a:lnTo>
                  <a:lnTo>
                    <a:pt x="275796" y="47529"/>
                  </a:lnTo>
                  <a:lnTo>
                    <a:pt x="301046" y="80376"/>
                  </a:lnTo>
                  <a:lnTo>
                    <a:pt x="317321" y="119150"/>
                  </a:lnTo>
                  <a:lnTo>
                    <a:pt x="323087" y="162305"/>
                  </a:lnTo>
                  <a:lnTo>
                    <a:pt x="317321" y="205461"/>
                  </a:lnTo>
                  <a:lnTo>
                    <a:pt x="301046" y="244235"/>
                  </a:lnTo>
                  <a:lnTo>
                    <a:pt x="275796" y="277082"/>
                  </a:lnTo>
                  <a:lnTo>
                    <a:pt x="243106" y="302457"/>
                  </a:lnTo>
                  <a:lnTo>
                    <a:pt x="204510" y="318815"/>
                  </a:lnTo>
                  <a:lnTo>
                    <a:pt x="161543" y="324611"/>
                  </a:lnTo>
                  <a:lnTo>
                    <a:pt x="118577" y="318815"/>
                  </a:lnTo>
                  <a:lnTo>
                    <a:pt x="79981" y="302457"/>
                  </a:lnTo>
                  <a:lnTo>
                    <a:pt x="47291" y="277082"/>
                  </a:lnTo>
                  <a:lnTo>
                    <a:pt x="22041" y="244235"/>
                  </a:lnTo>
                  <a:lnTo>
                    <a:pt x="5766" y="205461"/>
                  </a:lnTo>
                  <a:lnTo>
                    <a:pt x="0" y="162305"/>
                  </a:lnTo>
                  <a:close/>
                </a:path>
              </a:pathLst>
            </a:custGeom>
            <a:ln w="19812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6286245" y="3327526"/>
              <a:ext cx="836930" cy="517525"/>
            </a:xfrm>
            <a:custGeom>
              <a:avLst/>
              <a:gdLst/>
              <a:ahLst/>
              <a:cxnLst/>
              <a:rect l="l" t="t" r="r" b="b"/>
              <a:pathLst>
                <a:path w="836929" h="517525">
                  <a:moveTo>
                    <a:pt x="768508" y="482646"/>
                  </a:moveTo>
                  <a:lnTo>
                    <a:pt x="751967" y="509650"/>
                  </a:lnTo>
                  <a:lnTo>
                    <a:pt x="836802" y="517144"/>
                  </a:lnTo>
                  <a:lnTo>
                    <a:pt x="819480" y="489331"/>
                  </a:lnTo>
                  <a:lnTo>
                    <a:pt x="779399" y="489331"/>
                  </a:lnTo>
                  <a:lnTo>
                    <a:pt x="768508" y="482646"/>
                  </a:lnTo>
                  <a:close/>
                </a:path>
                <a:path w="836929" h="517525">
                  <a:moveTo>
                    <a:pt x="775174" y="471762"/>
                  </a:moveTo>
                  <a:lnTo>
                    <a:pt x="768508" y="482646"/>
                  </a:lnTo>
                  <a:lnTo>
                    <a:pt x="779399" y="489331"/>
                  </a:lnTo>
                  <a:lnTo>
                    <a:pt x="786002" y="478409"/>
                  </a:lnTo>
                  <a:lnTo>
                    <a:pt x="775174" y="471762"/>
                  </a:lnTo>
                  <a:close/>
                </a:path>
                <a:path w="836929" h="517525">
                  <a:moveTo>
                    <a:pt x="791718" y="444754"/>
                  </a:moveTo>
                  <a:lnTo>
                    <a:pt x="775174" y="471762"/>
                  </a:lnTo>
                  <a:lnTo>
                    <a:pt x="786002" y="478409"/>
                  </a:lnTo>
                  <a:lnTo>
                    <a:pt x="779399" y="489331"/>
                  </a:lnTo>
                  <a:lnTo>
                    <a:pt x="819480" y="489331"/>
                  </a:lnTo>
                  <a:lnTo>
                    <a:pt x="791718" y="444754"/>
                  </a:lnTo>
                  <a:close/>
                </a:path>
                <a:path w="836929" h="517525">
                  <a:moveTo>
                    <a:pt x="6603" y="0"/>
                  </a:moveTo>
                  <a:lnTo>
                    <a:pt x="0" y="10922"/>
                  </a:lnTo>
                  <a:lnTo>
                    <a:pt x="768508" y="482646"/>
                  </a:lnTo>
                  <a:lnTo>
                    <a:pt x="775174" y="471762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80374" y="4171090"/>
              <a:ext cx="405655" cy="407102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7123937" y="4194809"/>
              <a:ext cx="323215" cy="325120"/>
            </a:xfrm>
            <a:custGeom>
              <a:avLst/>
              <a:gdLst/>
              <a:ahLst/>
              <a:cxnLst/>
              <a:rect l="l" t="t" r="r" b="b"/>
              <a:pathLst>
                <a:path w="323215" h="325120">
                  <a:moveTo>
                    <a:pt x="161543" y="0"/>
                  </a:moveTo>
                  <a:lnTo>
                    <a:pt x="118577" y="5796"/>
                  </a:lnTo>
                  <a:lnTo>
                    <a:pt x="79981" y="22154"/>
                  </a:lnTo>
                  <a:lnTo>
                    <a:pt x="47291" y="47529"/>
                  </a:lnTo>
                  <a:lnTo>
                    <a:pt x="22041" y="80376"/>
                  </a:lnTo>
                  <a:lnTo>
                    <a:pt x="5766" y="119150"/>
                  </a:lnTo>
                  <a:lnTo>
                    <a:pt x="0" y="162306"/>
                  </a:lnTo>
                  <a:lnTo>
                    <a:pt x="5766" y="205461"/>
                  </a:lnTo>
                  <a:lnTo>
                    <a:pt x="22041" y="244235"/>
                  </a:lnTo>
                  <a:lnTo>
                    <a:pt x="47291" y="277082"/>
                  </a:lnTo>
                  <a:lnTo>
                    <a:pt x="79981" y="302457"/>
                  </a:lnTo>
                  <a:lnTo>
                    <a:pt x="118577" y="318815"/>
                  </a:lnTo>
                  <a:lnTo>
                    <a:pt x="161543" y="324612"/>
                  </a:lnTo>
                  <a:lnTo>
                    <a:pt x="204510" y="318815"/>
                  </a:lnTo>
                  <a:lnTo>
                    <a:pt x="243106" y="302457"/>
                  </a:lnTo>
                  <a:lnTo>
                    <a:pt x="275796" y="277082"/>
                  </a:lnTo>
                  <a:lnTo>
                    <a:pt x="301046" y="244235"/>
                  </a:lnTo>
                  <a:lnTo>
                    <a:pt x="317321" y="205461"/>
                  </a:lnTo>
                  <a:lnTo>
                    <a:pt x="323087" y="162306"/>
                  </a:lnTo>
                  <a:lnTo>
                    <a:pt x="317321" y="119150"/>
                  </a:lnTo>
                  <a:lnTo>
                    <a:pt x="301046" y="80376"/>
                  </a:lnTo>
                  <a:lnTo>
                    <a:pt x="275796" y="47529"/>
                  </a:lnTo>
                  <a:lnTo>
                    <a:pt x="243106" y="22154"/>
                  </a:lnTo>
                  <a:lnTo>
                    <a:pt x="204510" y="5796"/>
                  </a:lnTo>
                  <a:lnTo>
                    <a:pt x="161543" y="0"/>
                  </a:lnTo>
                  <a:close/>
                </a:path>
              </a:pathLst>
            </a:custGeom>
            <a:solidFill>
              <a:srgbClr val="F5F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123937" y="4194809"/>
              <a:ext cx="323215" cy="325120"/>
            </a:xfrm>
            <a:custGeom>
              <a:avLst/>
              <a:gdLst/>
              <a:ahLst/>
              <a:cxnLst/>
              <a:rect l="l" t="t" r="r" b="b"/>
              <a:pathLst>
                <a:path w="323215" h="325120">
                  <a:moveTo>
                    <a:pt x="0" y="162306"/>
                  </a:moveTo>
                  <a:lnTo>
                    <a:pt x="5766" y="119150"/>
                  </a:lnTo>
                  <a:lnTo>
                    <a:pt x="22041" y="80376"/>
                  </a:lnTo>
                  <a:lnTo>
                    <a:pt x="47291" y="47529"/>
                  </a:lnTo>
                  <a:lnTo>
                    <a:pt x="79981" y="22154"/>
                  </a:lnTo>
                  <a:lnTo>
                    <a:pt x="118577" y="5796"/>
                  </a:lnTo>
                  <a:lnTo>
                    <a:pt x="161543" y="0"/>
                  </a:lnTo>
                  <a:lnTo>
                    <a:pt x="204510" y="5796"/>
                  </a:lnTo>
                  <a:lnTo>
                    <a:pt x="243106" y="22154"/>
                  </a:lnTo>
                  <a:lnTo>
                    <a:pt x="275796" y="47529"/>
                  </a:lnTo>
                  <a:lnTo>
                    <a:pt x="301046" y="80376"/>
                  </a:lnTo>
                  <a:lnTo>
                    <a:pt x="317321" y="119150"/>
                  </a:lnTo>
                  <a:lnTo>
                    <a:pt x="323087" y="162306"/>
                  </a:lnTo>
                  <a:lnTo>
                    <a:pt x="317321" y="205461"/>
                  </a:lnTo>
                  <a:lnTo>
                    <a:pt x="301046" y="244235"/>
                  </a:lnTo>
                  <a:lnTo>
                    <a:pt x="275796" y="277082"/>
                  </a:lnTo>
                  <a:lnTo>
                    <a:pt x="243106" y="302457"/>
                  </a:lnTo>
                  <a:lnTo>
                    <a:pt x="204510" y="318815"/>
                  </a:lnTo>
                  <a:lnTo>
                    <a:pt x="161543" y="324612"/>
                  </a:lnTo>
                  <a:lnTo>
                    <a:pt x="118577" y="318815"/>
                  </a:lnTo>
                  <a:lnTo>
                    <a:pt x="79981" y="302457"/>
                  </a:lnTo>
                  <a:lnTo>
                    <a:pt x="47291" y="277082"/>
                  </a:lnTo>
                  <a:lnTo>
                    <a:pt x="22041" y="244235"/>
                  </a:lnTo>
                  <a:lnTo>
                    <a:pt x="5766" y="205461"/>
                  </a:lnTo>
                  <a:lnTo>
                    <a:pt x="0" y="162306"/>
                  </a:lnTo>
                  <a:close/>
                </a:path>
              </a:pathLst>
            </a:custGeom>
            <a:ln w="19812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6284595" y="3328923"/>
              <a:ext cx="1671320" cy="1543685"/>
            </a:xfrm>
            <a:custGeom>
              <a:avLst/>
              <a:gdLst/>
              <a:ahLst/>
              <a:cxnLst/>
              <a:rect l="l" t="t" r="r" b="b"/>
              <a:pathLst>
                <a:path w="1671320" h="1543685">
                  <a:moveTo>
                    <a:pt x="838454" y="516128"/>
                  </a:moveTo>
                  <a:lnTo>
                    <a:pt x="825754" y="509778"/>
                  </a:lnTo>
                  <a:lnTo>
                    <a:pt x="783869" y="488835"/>
                  </a:lnTo>
                  <a:lnTo>
                    <a:pt x="783869" y="573011"/>
                  </a:lnTo>
                  <a:lnTo>
                    <a:pt x="630212" y="761657"/>
                  </a:lnTo>
                  <a:lnTo>
                    <a:pt x="621995" y="751573"/>
                  </a:lnTo>
                  <a:lnTo>
                    <a:pt x="621995" y="771753"/>
                  </a:lnTo>
                  <a:lnTo>
                    <a:pt x="559181" y="848868"/>
                  </a:lnTo>
                  <a:lnTo>
                    <a:pt x="551053" y="843889"/>
                  </a:lnTo>
                  <a:lnTo>
                    <a:pt x="551053" y="858862"/>
                  </a:lnTo>
                  <a:lnTo>
                    <a:pt x="419544" y="1020318"/>
                  </a:lnTo>
                  <a:lnTo>
                    <a:pt x="29146" y="1020318"/>
                  </a:lnTo>
                  <a:lnTo>
                    <a:pt x="421627" y="779411"/>
                  </a:lnTo>
                  <a:lnTo>
                    <a:pt x="551053" y="858862"/>
                  </a:lnTo>
                  <a:lnTo>
                    <a:pt x="551053" y="843889"/>
                  </a:lnTo>
                  <a:lnTo>
                    <a:pt x="433832" y="771918"/>
                  </a:lnTo>
                  <a:lnTo>
                    <a:pt x="559371" y="694855"/>
                  </a:lnTo>
                  <a:lnTo>
                    <a:pt x="621995" y="771753"/>
                  </a:lnTo>
                  <a:lnTo>
                    <a:pt x="621995" y="751573"/>
                  </a:lnTo>
                  <a:lnTo>
                    <a:pt x="570331" y="688124"/>
                  </a:lnTo>
                  <a:lnTo>
                    <a:pt x="774763" y="562648"/>
                  </a:lnTo>
                  <a:lnTo>
                    <a:pt x="780275" y="567131"/>
                  </a:lnTo>
                  <a:lnTo>
                    <a:pt x="783869" y="573011"/>
                  </a:lnTo>
                  <a:lnTo>
                    <a:pt x="783869" y="488835"/>
                  </a:lnTo>
                  <a:lnTo>
                    <a:pt x="764387" y="479094"/>
                  </a:lnTo>
                  <a:lnTo>
                    <a:pt x="764387" y="554177"/>
                  </a:lnTo>
                  <a:lnTo>
                    <a:pt x="562279" y="678230"/>
                  </a:lnTo>
                  <a:lnTo>
                    <a:pt x="551307" y="664768"/>
                  </a:lnTo>
                  <a:lnTo>
                    <a:pt x="551307" y="684961"/>
                  </a:lnTo>
                  <a:lnTo>
                    <a:pt x="421741" y="764489"/>
                  </a:lnTo>
                  <a:lnTo>
                    <a:pt x="27495" y="522478"/>
                  </a:lnTo>
                  <a:lnTo>
                    <a:pt x="418960" y="522478"/>
                  </a:lnTo>
                  <a:lnTo>
                    <a:pt x="551307" y="684961"/>
                  </a:lnTo>
                  <a:lnTo>
                    <a:pt x="551307" y="664768"/>
                  </a:lnTo>
                  <a:lnTo>
                    <a:pt x="435432" y="522478"/>
                  </a:lnTo>
                  <a:lnTo>
                    <a:pt x="762254" y="522478"/>
                  </a:lnTo>
                  <a:lnTo>
                    <a:pt x="762254" y="522744"/>
                  </a:lnTo>
                  <a:lnTo>
                    <a:pt x="753618" y="523494"/>
                  </a:lnTo>
                  <a:lnTo>
                    <a:pt x="762254" y="537629"/>
                  </a:lnTo>
                  <a:lnTo>
                    <a:pt x="762254" y="550494"/>
                  </a:lnTo>
                  <a:lnTo>
                    <a:pt x="760730" y="551180"/>
                  </a:lnTo>
                  <a:lnTo>
                    <a:pt x="762254" y="552424"/>
                  </a:lnTo>
                  <a:lnTo>
                    <a:pt x="762254" y="554228"/>
                  </a:lnTo>
                  <a:lnTo>
                    <a:pt x="763625" y="553542"/>
                  </a:lnTo>
                  <a:lnTo>
                    <a:pt x="764387" y="554177"/>
                  </a:lnTo>
                  <a:lnTo>
                    <a:pt x="764387" y="479094"/>
                  </a:lnTo>
                  <a:lnTo>
                    <a:pt x="762254" y="478028"/>
                  </a:lnTo>
                  <a:lnTo>
                    <a:pt x="762254" y="509778"/>
                  </a:lnTo>
                  <a:lnTo>
                    <a:pt x="425081" y="509778"/>
                  </a:lnTo>
                  <a:lnTo>
                    <a:pt x="9906" y="0"/>
                  </a:lnTo>
                  <a:lnTo>
                    <a:pt x="0" y="8128"/>
                  </a:lnTo>
                  <a:lnTo>
                    <a:pt x="408622" y="509778"/>
                  </a:lnTo>
                  <a:lnTo>
                    <a:pt x="4953" y="509778"/>
                  </a:lnTo>
                  <a:lnTo>
                    <a:pt x="4953" y="516128"/>
                  </a:lnTo>
                  <a:lnTo>
                    <a:pt x="1651" y="521589"/>
                  </a:lnTo>
                  <a:lnTo>
                    <a:pt x="409536" y="771982"/>
                  </a:lnTo>
                  <a:lnTo>
                    <a:pt x="4953" y="1020318"/>
                  </a:lnTo>
                  <a:lnTo>
                    <a:pt x="1651" y="1022350"/>
                  </a:lnTo>
                  <a:lnTo>
                    <a:pt x="4953" y="1027747"/>
                  </a:lnTo>
                  <a:lnTo>
                    <a:pt x="4953" y="1033018"/>
                  </a:lnTo>
                  <a:lnTo>
                    <a:pt x="8166" y="1033018"/>
                  </a:lnTo>
                  <a:lnTo>
                    <a:pt x="8255" y="1033145"/>
                  </a:lnTo>
                  <a:lnTo>
                    <a:pt x="8458" y="1033018"/>
                  </a:lnTo>
                  <a:lnTo>
                    <a:pt x="409194" y="1033018"/>
                  </a:lnTo>
                  <a:lnTo>
                    <a:pt x="2476" y="1532382"/>
                  </a:lnTo>
                  <a:lnTo>
                    <a:pt x="1651" y="1532890"/>
                  </a:lnTo>
                  <a:lnTo>
                    <a:pt x="1828" y="1533194"/>
                  </a:lnTo>
                  <a:lnTo>
                    <a:pt x="0" y="1535430"/>
                  </a:lnTo>
                  <a:lnTo>
                    <a:pt x="6324" y="1540548"/>
                  </a:lnTo>
                  <a:lnTo>
                    <a:pt x="8255" y="1543685"/>
                  </a:lnTo>
                  <a:lnTo>
                    <a:pt x="9359" y="1543011"/>
                  </a:lnTo>
                  <a:lnTo>
                    <a:pt x="9906" y="1543431"/>
                  </a:lnTo>
                  <a:lnTo>
                    <a:pt x="11137" y="1541919"/>
                  </a:lnTo>
                  <a:lnTo>
                    <a:pt x="776782" y="1071943"/>
                  </a:lnTo>
                  <a:lnTo>
                    <a:pt x="793369" y="1099058"/>
                  </a:lnTo>
                  <a:lnTo>
                    <a:pt x="821131" y="1054481"/>
                  </a:lnTo>
                  <a:lnTo>
                    <a:pt x="837768" y="1027760"/>
                  </a:lnTo>
                  <a:lnTo>
                    <a:pt x="838454" y="1027811"/>
                  </a:lnTo>
                  <a:lnTo>
                    <a:pt x="838085" y="1027252"/>
                  </a:lnTo>
                  <a:lnTo>
                    <a:pt x="838454" y="1027303"/>
                  </a:lnTo>
                  <a:lnTo>
                    <a:pt x="838339" y="1026858"/>
                  </a:lnTo>
                  <a:lnTo>
                    <a:pt x="838454" y="1026668"/>
                  </a:lnTo>
                  <a:lnTo>
                    <a:pt x="838288" y="1026591"/>
                  </a:lnTo>
                  <a:lnTo>
                    <a:pt x="828306" y="982091"/>
                  </a:lnTo>
                  <a:lnTo>
                    <a:pt x="819785" y="944118"/>
                  </a:lnTo>
                  <a:lnTo>
                    <a:pt x="797585" y="962215"/>
                  </a:lnTo>
                  <a:lnTo>
                    <a:pt x="793369" y="955421"/>
                  </a:lnTo>
                  <a:lnTo>
                    <a:pt x="791083" y="959154"/>
                  </a:lnTo>
                  <a:lnTo>
                    <a:pt x="784034" y="950506"/>
                  </a:lnTo>
                  <a:lnTo>
                    <a:pt x="784034" y="970648"/>
                  </a:lnTo>
                  <a:lnTo>
                    <a:pt x="780846" y="975855"/>
                  </a:lnTo>
                  <a:lnTo>
                    <a:pt x="774509" y="981024"/>
                  </a:lnTo>
                  <a:lnTo>
                    <a:pt x="770191" y="978382"/>
                  </a:lnTo>
                  <a:lnTo>
                    <a:pt x="770191" y="1061148"/>
                  </a:lnTo>
                  <a:lnTo>
                    <a:pt x="35318" y="1512227"/>
                  </a:lnTo>
                  <a:lnTo>
                    <a:pt x="425615" y="1033018"/>
                  </a:lnTo>
                  <a:lnTo>
                    <a:pt x="762254" y="1033018"/>
                  </a:lnTo>
                  <a:lnTo>
                    <a:pt x="762254" y="1033284"/>
                  </a:lnTo>
                  <a:lnTo>
                    <a:pt x="753618" y="1034034"/>
                  </a:lnTo>
                  <a:lnTo>
                    <a:pt x="762254" y="1048169"/>
                  </a:lnTo>
                  <a:lnTo>
                    <a:pt x="762254" y="1064768"/>
                  </a:lnTo>
                  <a:lnTo>
                    <a:pt x="770026" y="1060881"/>
                  </a:lnTo>
                  <a:lnTo>
                    <a:pt x="770191" y="1061148"/>
                  </a:lnTo>
                  <a:lnTo>
                    <a:pt x="770191" y="978382"/>
                  </a:lnTo>
                  <a:lnTo>
                    <a:pt x="762952" y="973937"/>
                  </a:lnTo>
                  <a:lnTo>
                    <a:pt x="762952" y="988923"/>
                  </a:lnTo>
                  <a:lnTo>
                    <a:pt x="762254" y="988568"/>
                  </a:lnTo>
                  <a:lnTo>
                    <a:pt x="762254" y="991019"/>
                  </a:lnTo>
                  <a:lnTo>
                    <a:pt x="760730" y="992251"/>
                  </a:lnTo>
                  <a:lnTo>
                    <a:pt x="762254" y="992949"/>
                  </a:lnTo>
                  <a:lnTo>
                    <a:pt x="762254" y="1006221"/>
                  </a:lnTo>
                  <a:lnTo>
                    <a:pt x="753618" y="1020318"/>
                  </a:lnTo>
                  <a:lnTo>
                    <a:pt x="435965" y="1020318"/>
                  </a:lnTo>
                  <a:lnTo>
                    <a:pt x="561987" y="865581"/>
                  </a:lnTo>
                  <a:lnTo>
                    <a:pt x="762952" y="988923"/>
                  </a:lnTo>
                  <a:lnTo>
                    <a:pt x="762952" y="973937"/>
                  </a:lnTo>
                  <a:lnTo>
                    <a:pt x="570128" y="855586"/>
                  </a:lnTo>
                  <a:lnTo>
                    <a:pt x="630212" y="781824"/>
                  </a:lnTo>
                  <a:lnTo>
                    <a:pt x="784034" y="970648"/>
                  </a:lnTo>
                  <a:lnTo>
                    <a:pt x="784034" y="950506"/>
                  </a:lnTo>
                  <a:lnTo>
                    <a:pt x="638429" y="771740"/>
                  </a:lnTo>
                  <a:lnTo>
                    <a:pt x="790917" y="584517"/>
                  </a:lnTo>
                  <a:lnTo>
                    <a:pt x="793369" y="588518"/>
                  </a:lnTo>
                  <a:lnTo>
                    <a:pt x="797788" y="581406"/>
                  </a:lnTo>
                  <a:lnTo>
                    <a:pt x="819785" y="599313"/>
                  </a:lnTo>
                  <a:lnTo>
                    <a:pt x="828306" y="561340"/>
                  </a:lnTo>
                  <a:lnTo>
                    <a:pt x="838454" y="516128"/>
                  </a:lnTo>
                  <a:close/>
                </a:path>
                <a:path w="1671320" h="1543685">
                  <a:moveTo>
                    <a:pt x="1669542" y="1026668"/>
                  </a:moveTo>
                  <a:lnTo>
                    <a:pt x="1656842" y="1020318"/>
                  </a:lnTo>
                  <a:lnTo>
                    <a:pt x="1593342" y="988568"/>
                  </a:lnTo>
                  <a:lnTo>
                    <a:pt x="1593342" y="1020318"/>
                  </a:lnTo>
                  <a:lnTo>
                    <a:pt x="1160145" y="1020318"/>
                  </a:lnTo>
                  <a:lnTo>
                    <a:pt x="1160145" y="1033018"/>
                  </a:lnTo>
                  <a:lnTo>
                    <a:pt x="1593342" y="1033018"/>
                  </a:lnTo>
                  <a:lnTo>
                    <a:pt x="1593342" y="1064768"/>
                  </a:lnTo>
                  <a:lnTo>
                    <a:pt x="1656842" y="1033018"/>
                  </a:lnTo>
                  <a:lnTo>
                    <a:pt x="1669542" y="1026668"/>
                  </a:lnTo>
                  <a:close/>
                </a:path>
                <a:path w="1671320" h="1543685">
                  <a:moveTo>
                    <a:pt x="1671066" y="516128"/>
                  </a:moveTo>
                  <a:lnTo>
                    <a:pt x="1658366" y="509778"/>
                  </a:lnTo>
                  <a:lnTo>
                    <a:pt x="1594866" y="478028"/>
                  </a:lnTo>
                  <a:lnTo>
                    <a:pt x="1594866" y="509778"/>
                  </a:lnTo>
                  <a:lnTo>
                    <a:pt x="1161669" y="509778"/>
                  </a:lnTo>
                  <a:lnTo>
                    <a:pt x="1161669" y="522478"/>
                  </a:lnTo>
                  <a:lnTo>
                    <a:pt x="1594866" y="522478"/>
                  </a:lnTo>
                  <a:lnTo>
                    <a:pt x="1594866" y="554228"/>
                  </a:lnTo>
                  <a:lnTo>
                    <a:pt x="1658366" y="522478"/>
                  </a:lnTo>
                  <a:lnTo>
                    <a:pt x="1671066" y="516128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6" name="object 9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83635" y="5160263"/>
              <a:ext cx="381000" cy="202692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12335" y="5053583"/>
              <a:ext cx="381000" cy="202692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65063" y="5099304"/>
              <a:ext cx="381000" cy="202691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80631" y="4739639"/>
              <a:ext cx="381000" cy="202692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3819144" y="4783835"/>
              <a:ext cx="3528060" cy="1196340"/>
            </a:xfrm>
            <a:custGeom>
              <a:avLst/>
              <a:gdLst/>
              <a:ahLst/>
              <a:cxnLst/>
              <a:rect l="l" t="t" r="r" b="b"/>
              <a:pathLst>
                <a:path w="3528059" h="1196339">
                  <a:moveTo>
                    <a:pt x="44450" y="1114640"/>
                  </a:moveTo>
                  <a:lnTo>
                    <a:pt x="31750" y="1114640"/>
                  </a:lnTo>
                  <a:lnTo>
                    <a:pt x="31750" y="1165440"/>
                  </a:lnTo>
                  <a:lnTo>
                    <a:pt x="44450" y="1165440"/>
                  </a:lnTo>
                  <a:lnTo>
                    <a:pt x="44450" y="1114640"/>
                  </a:lnTo>
                  <a:close/>
                </a:path>
                <a:path w="3528059" h="1196339">
                  <a:moveTo>
                    <a:pt x="44450" y="1025740"/>
                  </a:moveTo>
                  <a:lnTo>
                    <a:pt x="31750" y="1025740"/>
                  </a:lnTo>
                  <a:lnTo>
                    <a:pt x="31750" y="1076540"/>
                  </a:lnTo>
                  <a:lnTo>
                    <a:pt x="44450" y="1076540"/>
                  </a:lnTo>
                  <a:lnTo>
                    <a:pt x="44450" y="1025740"/>
                  </a:lnTo>
                  <a:close/>
                </a:path>
                <a:path w="3528059" h="1196339">
                  <a:moveTo>
                    <a:pt x="44450" y="936840"/>
                  </a:moveTo>
                  <a:lnTo>
                    <a:pt x="31750" y="936840"/>
                  </a:lnTo>
                  <a:lnTo>
                    <a:pt x="31750" y="987640"/>
                  </a:lnTo>
                  <a:lnTo>
                    <a:pt x="44450" y="987640"/>
                  </a:lnTo>
                  <a:lnTo>
                    <a:pt x="44450" y="936840"/>
                  </a:lnTo>
                  <a:close/>
                </a:path>
                <a:path w="3528059" h="1196339">
                  <a:moveTo>
                    <a:pt x="44450" y="847940"/>
                  </a:moveTo>
                  <a:lnTo>
                    <a:pt x="31750" y="847940"/>
                  </a:lnTo>
                  <a:lnTo>
                    <a:pt x="31750" y="898740"/>
                  </a:lnTo>
                  <a:lnTo>
                    <a:pt x="44450" y="898740"/>
                  </a:lnTo>
                  <a:lnTo>
                    <a:pt x="44450" y="847940"/>
                  </a:lnTo>
                  <a:close/>
                </a:path>
                <a:path w="3528059" h="1196339">
                  <a:moveTo>
                    <a:pt x="44450" y="759079"/>
                  </a:moveTo>
                  <a:lnTo>
                    <a:pt x="31750" y="759079"/>
                  </a:lnTo>
                  <a:lnTo>
                    <a:pt x="31750" y="809840"/>
                  </a:lnTo>
                  <a:lnTo>
                    <a:pt x="44450" y="809840"/>
                  </a:lnTo>
                  <a:lnTo>
                    <a:pt x="44450" y="759079"/>
                  </a:lnTo>
                  <a:close/>
                </a:path>
                <a:path w="3528059" h="1196339">
                  <a:moveTo>
                    <a:pt x="44450" y="670179"/>
                  </a:moveTo>
                  <a:lnTo>
                    <a:pt x="31750" y="670179"/>
                  </a:lnTo>
                  <a:lnTo>
                    <a:pt x="31750" y="720979"/>
                  </a:lnTo>
                  <a:lnTo>
                    <a:pt x="44450" y="720979"/>
                  </a:lnTo>
                  <a:lnTo>
                    <a:pt x="44450" y="670179"/>
                  </a:lnTo>
                  <a:close/>
                </a:path>
                <a:path w="3528059" h="1196339">
                  <a:moveTo>
                    <a:pt x="76200" y="605028"/>
                  </a:moveTo>
                  <a:lnTo>
                    <a:pt x="69850" y="592328"/>
                  </a:lnTo>
                  <a:lnTo>
                    <a:pt x="38100" y="528828"/>
                  </a:lnTo>
                  <a:lnTo>
                    <a:pt x="0" y="605028"/>
                  </a:lnTo>
                  <a:lnTo>
                    <a:pt x="31750" y="605028"/>
                  </a:lnTo>
                  <a:lnTo>
                    <a:pt x="31750" y="632079"/>
                  </a:lnTo>
                  <a:lnTo>
                    <a:pt x="44450" y="632079"/>
                  </a:lnTo>
                  <a:lnTo>
                    <a:pt x="44450" y="605028"/>
                  </a:lnTo>
                  <a:lnTo>
                    <a:pt x="76200" y="605028"/>
                  </a:lnTo>
                  <a:close/>
                </a:path>
                <a:path w="3528059" h="1196339">
                  <a:moveTo>
                    <a:pt x="1234694" y="1144943"/>
                  </a:moveTo>
                  <a:lnTo>
                    <a:pt x="1221994" y="1144943"/>
                  </a:lnTo>
                  <a:lnTo>
                    <a:pt x="1221994" y="1195743"/>
                  </a:lnTo>
                  <a:lnTo>
                    <a:pt x="1234694" y="1195743"/>
                  </a:lnTo>
                  <a:lnTo>
                    <a:pt x="1234694" y="1144943"/>
                  </a:lnTo>
                  <a:close/>
                </a:path>
                <a:path w="3528059" h="1196339">
                  <a:moveTo>
                    <a:pt x="1234694" y="1056043"/>
                  </a:moveTo>
                  <a:lnTo>
                    <a:pt x="1221994" y="1056043"/>
                  </a:lnTo>
                  <a:lnTo>
                    <a:pt x="1221994" y="1106843"/>
                  </a:lnTo>
                  <a:lnTo>
                    <a:pt x="1234694" y="1106843"/>
                  </a:lnTo>
                  <a:lnTo>
                    <a:pt x="1234694" y="1056043"/>
                  </a:lnTo>
                  <a:close/>
                </a:path>
                <a:path w="3528059" h="1196339">
                  <a:moveTo>
                    <a:pt x="1234694" y="967143"/>
                  </a:moveTo>
                  <a:lnTo>
                    <a:pt x="1221994" y="967143"/>
                  </a:lnTo>
                  <a:lnTo>
                    <a:pt x="1221994" y="1017943"/>
                  </a:lnTo>
                  <a:lnTo>
                    <a:pt x="1234694" y="1017943"/>
                  </a:lnTo>
                  <a:lnTo>
                    <a:pt x="1234694" y="967143"/>
                  </a:lnTo>
                  <a:close/>
                </a:path>
                <a:path w="3528059" h="1196339">
                  <a:moveTo>
                    <a:pt x="1234694" y="878243"/>
                  </a:moveTo>
                  <a:lnTo>
                    <a:pt x="1221994" y="878243"/>
                  </a:lnTo>
                  <a:lnTo>
                    <a:pt x="1221994" y="929043"/>
                  </a:lnTo>
                  <a:lnTo>
                    <a:pt x="1234694" y="929043"/>
                  </a:lnTo>
                  <a:lnTo>
                    <a:pt x="1234694" y="878243"/>
                  </a:lnTo>
                  <a:close/>
                </a:path>
                <a:path w="3528059" h="1196339">
                  <a:moveTo>
                    <a:pt x="1234694" y="789305"/>
                  </a:moveTo>
                  <a:lnTo>
                    <a:pt x="1221994" y="789305"/>
                  </a:lnTo>
                  <a:lnTo>
                    <a:pt x="1221994" y="840143"/>
                  </a:lnTo>
                  <a:lnTo>
                    <a:pt x="1234694" y="840143"/>
                  </a:lnTo>
                  <a:lnTo>
                    <a:pt x="1234694" y="789305"/>
                  </a:lnTo>
                  <a:close/>
                </a:path>
                <a:path w="3528059" h="1196339">
                  <a:moveTo>
                    <a:pt x="1266444" y="737616"/>
                  </a:moveTo>
                  <a:lnTo>
                    <a:pt x="1260094" y="724916"/>
                  </a:lnTo>
                  <a:lnTo>
                    <a:pt x="1228344" y="661416"/>
                  </a:lnTo>
                  <a:lnTo>
                    <a:pt x="1190244" y="737616"/>
                  </a:lnTo>
                  <a:lnTo>
                    <a:pt x="1221994" y="737616"/>
                  </a:lnTo>
                  <a:lnTo>
                    <a:pt x="1221994" y="751205"/>
                  </a:lnTo>
                  <a:lnTo>
                    <a:pt x="1234694" y="751205"/>
                  </a:lnTo>
                  <a:lnTo>
                    <a:pt x="1234694" y="737616"/>
                  </a:lnTo>
                  <a:lnTo>
                    <a:pt x="1266444" y="737616"/>
                  </a:lnTo>
                  <a:close/>
                </a:path>
                <a:path w="3528059" h="1196339">
                  <a:moveTo>
                    <a:pt x="2327402" y="1115263"/>
                  </a:moveTo>
                  <a:lnTo>
                    <a:pt x="2314702" y="1115263"/>
                  </a:lnTo>
                  <a:lnTo>
                    <a:pt x="2314702" y="1166063"/>
                  </a:lnTo>
                  <a:lnTo>
                    <a:pt x="2327402" y="1166063"/>
                  </a:lnTo>
                  <a:lnTo>
                    <a:pt x="2327402" y="1115263"/>
                  </a:lnTo>
                  <a:close/>
                </a:path>
                <a:path w="3528059" h="1196339">
                  <a:moveTo>
                    <a:pt x="2327402" y="1026363"/>
                  </a:moveTo>
                  <a:lnTo>
                    <a:pt x="2314702" y="1026363"/>
                  </a:lnTo>
                  <a:lnTo>
                    <a:pt x="2314702" y="1077163"/>
                  </a:lnTo>
                  <a:lnTo>
                    <a:pt x="2327402" y="1077163"/>
                  </a:lnTo>
                  <a:lnTo>
                    <a:pt x="2327402" y="1026363"/>
                  </a:lnTo>
                  <a:close/>
                </a:path>
                <a:path w="3528059" h="1196339">
                  <a:moveTo>
                    <a:pt x="2327402" y="937463"/>
                  </a:moveTo>
                  <a:lnTo>
                    <a:pt x="2314702" y="937463"/>
                  </a:lnTo>
                  <a:lnTo>
                    <a:pt x="2314702" y="988263"/>
                  </a:lnTo>
                  <a:lnTo>
                    <a:pt x="2327402" y="988263"/>
                  </a:lnTo>
                  <a:lnTo>
                    <a:pt x="2327402" y="937463"/>
                  </a:lnTo>
                  <a:close/>
                </a:path>
                <a:path w="3528059" h="1196339">
                  <a:moveTo>
                    <a:pt x="2327402" y="848563"/>
                  </a:moveTo>
                  <a:lnTo>
                    <a:pt x="2314702" y="848563"/>
                  </a:lnTo>
                  <a:lnTo>
                    <a:pt x="2314702" y="899363"/>
                  </a:lnTo>
                  <a:lnTo>
                    <a:pt x="2327402" y="899363"/>
                  </a:lnTo>
                  <a:lnTo>
                    <a:pt x="2327402" y="848563"/>
                  </a:lnTo>
                  <a:close/>
                </a:path>
                <a:path w="3528059" h="1196339">
                  <a:moveTo>
                    <a:pt x="2327402" y="759714"/>
                  </a:moveTo>
                  <a:lnTo>
                    <a:pt x="2314702" y="759714"/>
                  </a:lnTo>
                  <a:lnTo>
                    <a:pt x="2314702" y="810463"/>
                  </a:lnTo>
                  <a:lnTo>
                    <a:pt x="2327402" y="810463"/>
                  </a:lnTo>
                  <a:lnTo>
                    <a:pt x="2327402" y="759714"/>
                  </a:lnTo>
                  <a:close/>
                </a:path>
                <a:path w="3528059" h="1196339">
                  <a:moveTo>
                    <a:pt x="2327402" y="670814"/>
                  </a:moveTo>
                  <a:lnTo>
                    <a:pt x="2314702" y="670814"/>
                  </a:lnTo>
                  <a:lnTo>
                    <a:pt x="2314702" y="721614"/>
                  </a:lnTo>
                  <a:lnTo>
                    <a:pt x="2327402" y="721614"/>
                  </a:lnTo>
                  <a:lnTo>
                    <a:pt x="2327402" y="670814"/>
                  </a:lnTo>
                  <a:close/>
                </a:path>
                <a:path w="3528059" h="1196339">
                  <a:moveTo>
                    <a:pt x="2327402" y="581914"/>
                  </a:moveTo>
                  <a:lnTo>
                    <a:pt x="2314702" y="581914"/>
                  </a:lnTo>
                  <a:lnTo>
                    <a:pt x="2314702" y="632714"/>
                  </a:lnTo>
                  <a:lnTo>
                    <a:pt x="2327402" y="632714"/>
                  </a:lnTo>
                  <a:lnTo>
                    <a:pt x="2327402" y="581914"/>
                  </a:lnTo>
                  <a:close/>
                </a:path>
                <a:path w="3528059" h="1196339">
                  <a:moveTo>
                    <a:pt x="2359152" y="548640"/>
                  </a:moveTo>
                  <a:lnTo>
                    <a:pt x="2356739" y="543814"/>
                  </a:lnTo>
                  <a:lnTo>
                    <a:pt x="2352802" y="535940"/>
                  </a:lnTo>
                  <a:lnTo>
                    <a:pt x="2321052" y="472440"/>
                  </a:lnTo>
                  <a:lnTo>
                    <a:pt x="2282952" y="548640"/>
                  </a:lnTo>
                  <a:lnTo>
                    <a:pt x="2359152" y="548640"/>
                  </a:lnTo>
                  <a:close/>
                </a:path>
                <a:path w="3528059" h="1196339">
                  <a:moveTo>
                    <a:pt x="3491992" y="1030160"/>
                  </a:moveTo>
                  <a:lnTo>
                    <a:pt x="3479292" y="1030109"/>
                  </a:lnTo>
                  <a:lnTo>
                    <a:pt x="3479038" y="1080909"/>
                  </a:lnTo>
                  <a:lnTo>
                    <a:pt x="3491738" y="1080960"/>
                  </a:lnTo>
                  <a:lnTo>
                    <a:pt x="3491992" y="1030160"/>
                  </a:lnTo>
                  <a:close/>
                </a:path>
                <a:path w="3528059" h="1196339">
                  <a:moveTo>
                    <a:pt x="3492373" y="941260"/>
                  </a:moveTo>
                  <a:lnTo>
                    <a:pt x="3479673" y="941209"/>
                  </a:lnTo>
                  <a:lnTo>
                    <a:pt x="3479419" y="992009"/>
                  </a:lnTo>
                  <a:lnTo>
                    <a:pt x="3492119" y="992060"/>
                  </a:lnTo>
                  <a:lnTo>
                    <a:pt x="3492373" y="941260"/>
                  </a:lnTo>
                  <a:close/>
                </a:path>
                <a:path w="3528059" h="1196339">
                  <a:moveTo>
                    <a:pt x="3492627" y="852360"/>
                  </a:moveTo>
                  <a:lnTo>
                    <a:pt x="3479927" y="852309"/>
                  </a:lnTo>
                  <a:lnTo>
                    <a:pt x="3479800" y="903109"/>
                  </a:lnTo>
                  <a:lnTo>
                    <a:pt x="3492500" y="903160"/>
                  </a:lnTo>
                  <a:lnTo>
                    <a:pt x="3492627" y="852360"/>
                  </a:lnTo>
                  <a:close/>
                </a:path>
                <a:path w="3528059" h="1196339">
                  <a:moveTo>
                    <a:pt x="3493008" y="763524"/>
                  </a:moveTo>
                  <a:lnTo>
                    <a:pt x="3480308" y="763397"/>
                  </a:lnTo>
                  <a:lnTo>
                    <a:pt x="3480181" y="814209"/>
                  </a:lnTo>
                  <a:lnTo>
                    <a:pt x="3492881" y="814260"/>
                  </a:lnTo>
                  <a:lnTo>
                    <a:pt x="3493008" y="763524"/>
                  </a:lnTo>
                  <a:close/>
                </a:path>
                <a:path w="3528059" h="1196339">
                  <a:moveTo>
                    <a:pt x="3493389" y="674624"/>
                  </a:moveTo>
                  <a:lnTo>
                    <a:pt x="3480689" y="674497"/>
                  </a:lnTo>
                  <a:lnTo>
                    <a:pt x="3480562" y="725297"/>
                  </a:lnTo>
                  <a:lnTo>
                    <a:pt x="3493262" y="725424"/>
                  </a:lnTo>
                  <a:lnTo>
                    <a:pt x="3493389" y="674624"/>
                  </a:lnTo>
                  <a:close/>
                </a:path>
                <a:path w="3528059" h="1196339">
                  <a:moveTo>
                    <a:pt x="3493770" y="585724"/>
                  </a:moveTo>
                  <a:lnTo>
                    <a:pt x="3481070" y="585597"/>
                  </a:lnTo>
                  <a:lnTo>
                    <a:pt x="3480943" y="636397"/>
                  </a:lnTo>
                  <a:lnTo>
                    <a:pt x="3493643" y="636524"/>
                  </a:lnTo>
                  <a:lnTo>
                    <a:pt x="3493770" y="585724"/>
                  </a:lnTo>
                  <a:close/>
                </a:path>
                <a:path w="3528059" h="1196339">
                  <a:moveTo>
                    <a:pt x="3494151" y="496824"/>
                  </a:moveTo>
                  <a:lnTo>
                    <a:pt x="3481451" y="496697"/>
                  </a:lnTo>
                  <a:lnTo>
                    <a:pt x="3481197" y="547497"/>
                  </a:lnTo>
                  <a:lnTo>
                    <a:pt x="3493897" y="547624"/>
                  </a:lnTo>
                  <a:lnTo>
                    <a:pt x="3494151" y="496824"/>
                  </a:lnTo>
                  <a:close/>
                </a:path>
                <a:path w="3528059" h="1196339">
                  <a:moveTo>
                    <a:pt x="3494532" y="407924"/>
                  </a:moveTo>
                  <a:lnTo>
                    <a:pt x="3481832" y="407797"/>
                  </a:lnTo>
                  <a:lnTo>
                    <a:pt x="3481578" y="458597"/>
                  </a:lnTo>
                  <a:lnTo>
                    <a:pt x="3494278" y="458724"/>
                  </a:lnTo>
                  <a:lnTo>
                    <a:pt x="3494532" y="407924"/>
                  </a:lnTo>
                  <a:close/>
                </a:path>
                <a:path w="3528059" h="1196339">
                  <a:moveTo>
                    <a:pt x="3494913" y="319024"/>
                  </a:moveTo>
                  <a:lnTo>
                    <a:pt x="3482213" y="318897"/>
                  </a:lnTo>
                  <a:lnTo>
                    <a:pt x="3481959" y="369697"/>
                  </a:lnTo>
                  <a:lnTo>
                    <a:pt x="3494659" y="369824"/>
                  </a:lnTo>
                  <a:lnTo>
                    <a:pt x="3494913" y="319024"/>
                  </a:lnTo>
                  <a:close/>
                </a:path>
                <a:path w="3528059" h="1196339">
                  <a:moveTo>
                    <a:pt x="3495294" y="230124"/>
                  </a:moveTo>
                  <a:lnTo>
                    <a:pt x="3482594" y="229997"/>
                  </a:lnTo>
                  <a:lnTo>
                    <a:pt x="3482340" y="280797"/>
                  </a:lnTo>
                  <a:lnTo>
                    <a:pt x="3495040" y="280924"/>
                  </a:lnTo>
                  <a:lnTo>
                    <a:pt x="3495294" y="230124"/>
                  </a:lnTo>
                  <a:close/>
                </a:path>
                <a:path w="3528059" h="1196339">
                  <a:moveTo>
                    <a:pt x="3495675" y="141224"/>
                  </a:moveTo>
                  <a:lnTo>
                    <a:pt x="3482975" y="141097"/>
                  </a:lnTo>
                  <a:lnTo>
                    <a:pt x="3482721" y="191897"/>
                  </a:lnTo>
                  <a:lnTo>
                    <a:pt x="3495421" y="192024"/>
                  </a:lnTo>
                  <a:lnTo>
                    <a:pt x="3495675" y="141224"/>
                  </a:lnTo>
                  <a:close/>
                </a:path>
                <a:path w="3528059" h="1196339">
                  <a:moveTo>
                    <a:pt x="3527679" y="76327"/>
                  </a:moveTo>
                  <a:lnTo>
                    <a:pt x="3521316" y="63500"/>
                  </a:lnTo>
                  <a:lnTo>
                    <a:pt x="3489833" y="0"/>
                  </a:lnTo>
                  <a:lnTo>
                    <a:pt x="3451479" y="76073"/>
                  </a:lnTo>
                  <a:lnTo>
                    <a:pt x="3483178" y="76187"/>
                  </a:lnTo>
                  <a:lnTo>
                    <a:pt x="3483102" y="102997"/>
                  </a:lnTo>
                  <a:lnTo>
                    <a:pt x="3495802" y="103124"/>
                  </a:lnTo>
                  <a:lnTo>
                    <a:pt x="3495878" y="76225"/>
                  </a:lnTo>
                  <a:lnTo>
                    <a:pt x="3527679" y="76327"/>
                  </a:lnTo>
                  <a:close/>
                </a:path>
              </a:pathLst>
            </a:custGeom>
            <a:solidFill>
              <a:srgbClr val="97B8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/>
          <p:nvPr/>
        </p:nvSpPr>
        <p:spPr>
          <a:xfrm>
            <a:off x="1325880" y="5295900"/>
            <a:ext cx="76200" cy="493395"/>
          </a:xfrm>
          <a:custGeom>
            <a:avLst/>
            <a:gdLst/>
            <a:ahLst/>
            <a:cxnLst/>
            <a:rect l="l" t="t" r="r" b="b"/>
            <a:pathLst>
              <a:path w="76200" h="493395">
                <a:moveTo>
                  <a:pt x="44450" y="442417"/>
                </a:moveTo>
                <a:lnTo>
                  <a:pt x="31750" y="442417"/>
                </a:lnTo>
                <a:lnTo>
                  <a:pt x="31750" y="493217"/>
                </a:lnTo>
                <a:lnTo>
                  <a:pt x="44450" y="493217"/>
                </a:lnTo>
                <a:lnTo>
                  <a:pt x="44450" y="442417"/>
                </a:lnTo>
                <a:close/>
              </a:path>
              <a:path w="76200" h="493395">
                <a:moveTo>
                  <a:pt x="44450" y="353517"/>
                </a:moveTo>
                <a:lnTo>
                  <a:pt x="31750" y="353517"/>
                </a:lnTo>
                <a:lnTo>
                  <a:pt x="31750" y="404317"/>
                </a:lnTo>
                <a:lnTo>
                  <a:pt x="44450" y="404317"/>
                </a:lnTo>
                <a:lnTo>
                  <a:pt x="44450" y="353517"/>
                </a:lnTo>
                <a:close/>
              </a:path>
              <a:path w="76200" h="493395">
                <a:moveTo>
                  <a:pt x="44450" y="264668"/>
                </a:moveTo>
                <a:lnTo>
                  <a:pt x="31750" y="264668"/>
                </a:lnTo>
                <a:lnTo>
                  <a:pt x="31750" y="315417"/>
                </a:lnTo>
                <a:lnTo>
                  <a:pt x="44450" y="315417"/>
                </a:lnTo>
                <a:lnTo>
                  <a:pt x="44450" y="264668"/>
                </a:lnTo>
                <a:close/>
              </a:path>
              <a:path w="76200" h="493395">
                <a:moveTo>
                  <a:pt x="44450" y="175768"/>
                </a:moveTo>
                <a:lnTo>
                  <a:pt x="31750" y="175768"/>
                </a:lnTo>
                <a:lnTo>
                  <a:pt x="31750" y="226568"/>
                </a:lnTo>
                <a:lnTo>
                  <a:pt x="44450" y="226568"/>
                </a:lnTo>
                <a:lnTo>
                  <a:pt x="44450" y="175768"/>
                </a:lnTo>
                <a:close/>
              </a:path>
              <a:path w="76200" h="493395">
                <a:moveTo>
                  <a:pt x="44450" y="86868"/>
                </a:moveTo>
                <a:lnTo>
                  <a:pt x="31750" y="86868"/>
                </a:lnTo>
                <a:lnTo>
                  <a:pt x="31750" y="137668"/>
                </a:lnTo>
                <a:lnTo>
                  <a:pt x="44450" y="137668"/>
                </a:lnTo>
                <a:lnTo>
                  <a:pt x="44450" y="86868"/>
                </a:lnTo>
                <a:close/>
              </a:path>
              <a:path w="76200" h="493395">
                <a:moveTo>
                  <a:pt x="38100" y="0"/>
                </a:moveTo>
                <a:lnTo>
                  <a:pt x="0" y="76200"/>
                </a:lnTo>
                <a:lnTo>
                  <a:pt x="76200" y="76200"/>
                </a:lnTo>
                <a:lnTo>
                  <a:pt x="38100" y="0"/>
                </a:lnTo>
                <a:close/>
              </a:path>
            </a:pathLst>
          </a:custGeom>
          <a:solidFill>
            <a:srgbClr val="97B8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 txBox="1">
            <a:spLocks noGrp="1"/>
          </p:cNvSpPr>
          <p:nvPr>
            <p:ph type="title"/>
          </p:nvPr>
        </p:nvSpPr>
        <p:spPr>
          <a:xfrm>
            <a:off x="3039617" y="260350"/>
            <a:ext cx="30664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Redes</a:t>
            </a:r>
            <a:r>
              <a:rPr spc="-60" dirty="0"/>
              <a:t> </a:t>
            </a:r>
            <a:r>
              <a:rPr spc="-5" dirty="0"/>
              <a:t>Neuronales</a:t>
            </a:r>
          </a:p>
        </p:txBody>
      </p:sp>
      <p:sp>
        <p:nvSpPr>
          <p:cNvPr id="103" name="object 10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  <p:pic>
        <p:nvPicPr>
          <p:cNvPr id="105" name="Picture 4">
            <a:extLst>
              <a:ext uri="{FF2B5EF4-FFF2-40B4-BE49-F238E27FC236}">
                <a16:creationId xmlns:a16="http://schemas.microsoft.com/office/drawing/2014/main" id="{CF4DE9BD-77A5-C593-6EE9-363CB9C40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" name="Picture 6" descr="Ingeniería de Sistemas - UNCP">
            <a:extLst>
              <a:ext uri="{FF2B5EF4-FFF2-40B4-BE49-F238E27FC236}">
                <a16:creationId xmlns:a16="http://schemas.microsoft.com/office/drawing/2014/main" id="{49F08220-1AFD-E01D-DCD1-1168F8E5D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9617" y="260350"/>
            <a:ext cx="30664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Redes</a:t>
            </a:r>
            <a:r>
              <a:rPr spc="-60" dirty="0"/>
              <a:t> </a:t>
            </a:r>
            <a:r>
              <a:rPr spc="-5" dirty="0"/>
              <a:t>Neuronales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0780" y="3275076"/>
            <a:ext cx="3971333" cy="55930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99141" y="4364735"/>
            <a:ext cx="2795818" cy="62026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46840" y="5780532"/>
            <a:ext cx="2341539" cy="62788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36194" y="922782"/>
            <a:ext cx="8441055" cy="529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4" algn="ctr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Función</a:t>
            </a:r>
            <a:r>
              <a:rPr sz="2400" b="1" spc="-3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2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Pérdida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310515" indent="-196850">
              <a:lnSpc>
                <a:spcPct val="100000"/>
              </a:lnSpc>
              <a:buFont typeface="Arial MT"/>
              <a:buChar char="•"/>
              <a:tabLst>
                <a:tab pos="311150" algn="l"/>
              </a:tabLst>
            </a:pPr>
            <a:r>
              <a:rPr sz="2000" spc="-25" dirty="0">
                <a:latin typeface="Calibri"/>
                <a:cs typeface="Calibri"/>
              </a:rPr>
              <a:t>También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llamada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función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spc="-15" dirty="0">
                <a:latin typeface="Calibri"/>
                <a:cs typeface="Calibri"/>
              </a:rPr>
              <a:t> costo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“loss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function”</a:t>
            </a:r>
            <a:endParaRPr sz="2000">
              <a:latin typeface="Calibri"/>
              <a:cs typeface="Calibri"/>
            </a:endParaRPr>
          </a:p>
          <a:p>
            <a:pPr marL="490220" lvl="1" indent="-160655">
              <a:lnSpc>
                <a:spcPct val="100000"/>
              </a:lnSpc>
              <a:spcBef>
                <a:spcPts val="450"/>
              </a:spcBef>
              <a:buChar char="-"/>
              <a:tabLst>
                <a:tab pos="490855" algn="l"/>
              </a:tabLst>
            </a:pPr>
            <a:r>
              <a:rPr sz="1800" spc="-5" dirty="0">
                <a:latin typeface="Calibri"/>
                <a:cs typeface="Calibri"/>
              </a:rPr>
              <a:t>Brinda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suma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errores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entre</a:t>
            </a:r>
            <a:r>
              <a:rPr sz="1800" dirty="0">
                <a:latin typeface="Calibri"/>
                <a:cs typeface="Calibri"/>
              </a:rPr>
              <a:t> la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salida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correcta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30" dirty="0">
                <a:latin typeface="Calibri"/>
                <a:cs typeface="Calibri"/>
              </a:rPr>
              <a:t>(</a:t>
            </a:r>
            <a:r>
              <a:rPr sz="1800" spc="30" dirty="0">
                <a:latin typeface="Cambria Math"/>
                <a:cs typeface="Cambria Math"/>
              </a:rPr>
              <a:t>𝑦</a:t>
            </a:r>
            <a:r>
              <a:rPr sz="1950" spc="44" baseline="-14957" dirty="0">
                <a:latin typeface="Cambria Math"/>
                <a:cs typeface="Cambria Math"/>
              </a:rPr>
              <a:t>𝑖</a:t>
            </a:r>
            <a:r>
              <a:rPr sz="1800" spc="30" dirty="0">
                <a:latin typeface="Calibri"/>
                <a:cs typeface="Calibri"/>
              </a:rPr>
              <a:t>)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 lo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que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predice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340" dirty="0">
                <a:latin typeface="Calibri"/>
                <a:cs typeface="Calibri"/>
              </a:rPr>
              <a:t>(</a:t>
            </a:r>
            <a:r>
              <a:rPr sz="1800" spc="-340" dirty="0">
                <a:latin typeface="Cambria Math"/>
                <a:cs typeface="Cambria Math"/>
              </a:rPr>
              <a:t>𝑦ො</a:t>
            </a:r>
            <a:r>
              <a:rPr sz="1950" spc="-509" baseline="-14957" dirty="0">
                <a:latin typeface="Cambria Math"/>
                <a:cs typeface="Cambria Math"/>
              </a:rPr>
              <a:t>𝑖</a:t>
            </a:r>
            <a:r>
              <a:rPr sz="1800" spc="-340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  <a:p>
            <a:pPr marL="310515" indent="-196850">
              <a:lnSpc>
                <a:spcPct val="100000"/>
              </a:lnSpc>
              <a:spcBef>
                <a:spcPts val="1760"/>
              </a:spcBef>
              <a:buFont typeface="Arial MT"/>
              <a:buChar char="•"/>
              <a:tabLst>
                <a:tab pos="311150" algn="l"/>
              </a:tabLst>
            </a:pPr>
            <a:r>
              <a:rPr sz="2000" spc="-25" dirty="0">
                <a:solidFill>
                  <a:srgbClr val="00AF50"/>
                </a:solidFill>
                <a:latin typeface="Calibri"/>
                <a:cs typeface="Calibri"/>
              </a:rPr>
              <a:t>Para</a:t>
            </a: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 clasificación:</a:t>
            </a:r>
            <a:endParaRPr sz="2000">
              <a:latin typeface="Calibri"/>
              <a:cs typeface="Calibri"/>
            </a:endParaRPr>
          </a:p>
          <a:p>
            <a:pPr marL="490220" lvl="1" indent="-160655">
              <a:lnSpc>
                <a:spcPct val="100000"/>
              </a:lnSpc>
              <a:spcBef>
                <a:spcPts val="439"/>
              </a:spcBef>
              <a:buFont typeface="Calibri"/>
              <a:buChar char="-"/>
              <a:tabLst>
                <a:tab pos="490855" algn="l"/>
              </a:tabLst>
            </a:pPr>
            <a:r>
              <a:rPr sz="1800" i="1" spc="-10" dirty="0">
                <a:solidFill>
                  <a:srgbClr val="6F2F9F"/>
                </a:solidFill>
                <a:latin typeface="Calibri"/>
                <a:cs typeface="Calibri"/>
              </a:rPr>
              <a:t>Entropía</a:t>
            </a:r>
            <a:r>
              <a:rPr sz="1800" i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6F2F9F"/>
                </a:solidFill>
                <a:latin typeface="Calibri"/>
                <a:cs typeface="Calibri"/>
              </a:rPr>
              <a:t>cruzada</a:t>
            </a:r>
            <a:r>
              <a:rPr sz="1800" i="1" spc="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i="1" spc="-5" dirty="0">
                <a:solidFill>
                  <a:srgbClr val="6F2F9F"/>
                </a:solidFill>
                <a:latin typeface="Calibri"/>
                <a:cs typeface="Calibri"/>
              </a:rPr>
              <a:t>Binaria</a:t>
            </a:r>
            <a:r>
              <a:rPr sz="1800" spc="-5" dirty="0">
                <a:latin typeface="Calibri"/>
                <a:cs typeface="Calibri"/>
              </a:rPr>
              <a:t>: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-10" dirty="0">
                <a:latin typeface="Calibri"/>
                <a:cs typeface="Calibri"/>
              </a:rPr>
              <a:t> utiliza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 </a:t>
            </a:r>
            <a:r>
              <a:rPr sz="1800" spc="-5" dirty="0">
                <a:latin typeface="Calibri"/>
                <a:cs typeface="Calibri"/>
              </a:rPr>
              <a:t>problemas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clasificación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binarios</a:t>
            </a:r>
            <a:endParaRPr sz="1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har char="-"/>
            </a:pPr>
            <a:endParaRPr sz="1800">
              <a:latin typeface="Calibri"/>
              <a:cs typeface="Calibri"/>
            </a:endParaRPr>
          </a:p>
          <a:p>
            <a:pPr marL="6848475">
              <a:lnSpc>
                <a:spcPct val="100000"/>
              </a:lnSpc>
            </a:pPr>
            <a:r>
              <a:rPr sz="1400" i="1" dirty="0">
                <a:latin typeface="Times New Roman"/>
                <a:cs typeface="Times New Roman"/>
              </a:rPr>
              <a:t>N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total </a:t>
            </a:r>
            <a:r>
              <a:rPr sz="1400" spc="-5" dirty="0">
                <a:latin typeface="Calibri"/>
                <a:cs typeface="Calibri"/>
              </a:rPr>
              <a:t>de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instancias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100">
              <a:latin typeface="Calibri"/>
              <a:cs typeface="Calibri"/>
            </a:endParaRPr>
          </a:p>
          <a:p>
            <a:pPr marL="490220" lvl="1" indent="-160655">
              <a:lnSpc>
                <a:spcPct val="100000"/>
              </a:lnSpc>
              <a:buFont typeface="Calibri"/>
              <a:buChar char="-"/>
              <a:tabLst>
                <a:tab pos="490855" algn="l"/>
              </a:tabLst>
            </a:pPr>
            <a:r>
              <a:rPr sz="1800" i="1" spc="-10" dirty="0">
                <a:solidFill>
                  <a:srgbClr val="6F2F9F"/>
                </a:solidFill>
                <a:latin typeface="Calibri"/>
                <a:cs typeface="Calibri"/>
              </a:rPr>
              <a:t>Entropía</a:t>
            </a:r>
            <a:r>
              <a:rPr sz="1800" i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6F2F9F"/>
                </a:solidFill>
                <a:latin typeface="Calibri"/>
                <a:cs typeface="Calibri"/>
              </a:rPr>
              <a:t>cruzada</a:t>
            </a:r>
            <a:r>
              <a:rPr sz="1800" spc="-10" dirty="0">
                <a:latin typeface="Calibri"/>
                <a:cs typeface="Calibri"/>
              </a:rPr>
              <a:t>: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utiliza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problemas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multiclase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(con</a:t>
            </a:r>
            <a:r>
              <a:rPr sz="16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salidas</a:t>
            </a:r>
            <a:r>
              <a:rPr sz="16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“one-hot</a:t>
            </a:r>
            <a:r>
              <a:rPr sz="1600" spc="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encoding”)</a:t>
            </a:r>
            <a:endParaRPr sz="16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har char="-"/>
            </a:pPr>
            <a:endParaRPr sz="1950">
              <a:latin typeface="Calibri"/>
              <a:cs typeface="Calibri"/>
            </a:endParaRPr>
          </a:p>
          <a:p>
            <a:pPr marL="6878955">
              <a:lnSpc>
                <a:spcPct val="100000"/>
              </a:lnSpc>
              <a:spcBef>
                <a:spcPts val="5"/>
              </a:spcBef>
            </a:pPr>
            <a:r>
              <a:rPr sz="1400" i="1" spc="-5" dirty="0">
                <a:latin typeface="Times New Roman"/>
                <a:cs typeface="Times New Roman"/>
              </a:rPr>
              <a:t>K</a:t>
            </a:r>
            <a:r>
              <a:rPr sz="1400" spc="-5" dirty="0">
                <a:latin typeface="Calibri"/>
                <a:cs typeface="Calibri"/>
              </a:rPr>
              <a:t>: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total</a:t>
            </a:r>
            <a:r>
              <a:rPr sz="1400" spc="-5" dirty="0">
                <a:latin typeface="Calibri"/>
                <a:cs typeface="Calibri"/>
              </a:rPr>
              <a:t> de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clases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50">
              <a:latin typeface="Calibri"/>
              <a:cs typeface="Calibri"/>
            </a:endParaRPr>
          </a:p>
          <a:p>
            <a:pPr marL="490220" lvl="1" indent="-160655">
              <a:lnSpc>
                <a:spcPct val="100000"/>
              </a:lnSpc>
              <a:buFont typeface="Calibri"/>
              <a:buChar char="-"/>
              <a:tabLst>
                <a:tab pos="490855" algn="l"/>
              </a:tabLst>
            </a:pPr>
            <a:r>
              <a:rPr sz="1800" i="1" spc="-10" dirty="0">
                <a:solidFill>
                  <a:srgbClr val="6F2F9F"/>
                </a:solidFill>
                <a:latin typeface="Calibri"/>
                <a:cs typeface="Calibri"/>
              </a:rPr>
              <a:t>Entropía</a:t>
            </a:r>
            <a:r>
              <a:rPr sz="1800" i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6F2F9F"/>
                </a:solidFill>
                <a:latin typeface="Calibri"/>
                <a:cs typeface="Calibri"/>
              </a:rPr>
              <a:t>cruzada</a:t>
            </a:r>
            <a:r>
              <a:rPr sz="1800" i="1" spc="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i="1" spc="-5" dirty="0">
                <a:solidFill>
                  <a:srgbClr val="6F2F9F"/>
                </a:solidFill>
                <a:latin typeface="Calibri"/>
                <a:cs typeface="Calibri"/>
              </a:rPr>
              <a:t>dispersa</a:t>
            </a:r>
            <a:r>
              <a:rPr sz="1800" i="1" spc="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(sparse)</a:t>
            </a:r>
            <a:r>
              <a:rPr sz="1800" spc="-10" dirty="0">
                <a:latin typeface="Calibri"/>
                <a:cs typeface="Calibri"/>
              </a:rPr>
              <a:t>: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asigna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etiquetas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enteras</a:t>
            </a:r>
            <a:r>
              <a:rPr sz="1800" dirty="0">
                <a:latin typeface="Calibri"/>
                <a:cs typeface="Calibri"/>
              </a:rPr>
              <a:t> 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clases</a:t>
            </a:r>
            <a:endParaRPr sz="1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Char char="-"/>
            </a:pPr>
            <a:endParaRPr sz="1450">
              <a:latin typeface="Calibri"/>
              <a:cs typeface="Calibri"/>
            </a:endParaRPr>
          </a:p>
          <a:p>
            <a:pPr marL="310515" indent="-196850">
              <a:lnSpc>
                <a:spcPct val="100000"/>
              </a:lnSpc>
              <a:buFont typeface="Arial MT"/>
              <a:buChar char="•"/>
              <a:tabLst>
                <a:tab pos="311150" algn="l"/>
              </a:tabLst>
            </a:pPr>
            <a:r>
              <a:rPr sz="2000" spc="-25" dirty="0">
                <a:solidFill>
                  <a:srgbClr val="00AF50"/>
                </a:solidFill>
                <a:latin typeface="Calibri"/>
                <a:cs typeface="Calibri"/>
              </a:rPr>
              <a:t>Para</a:t>
            </a: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regresión:</a:t>
            </a:r>
            <a:endParaRPr sz="2000">
              <a:latin typeface="Calibri"/>
              <a:cs typeface="Calibri"/>
            </a:endParaRPr>
          </a:p>
          <a:p>
            <a:pPr marL="4902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490855" algn="l"/>
              </a:tabLst>
            </a:pPr>
            <a:r>
              <a:rPr sz="1800" spc="-10" dirty="0">
                <a:latin typeface="Calibri"/>
                <a:cs typeface="Calibri"/>
              </a:rPr>
              <a:t>Error</a:t>
            </a:r>
            <a:r>
              <a:rPr sz="1800" spc="-15" dirty="0">
                <a:latin typeface="Calibri"/>
                <a:cs typeface="Calibri"/>
              </a:rPr>
              <a:t> cuadrático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medio</a:t>
            </a:r>
            <a:r>
              <a:rPr sz="1800" spc="-5" dirty="0">
                <a:latin typeface="Calibri"/>
                <a:cs typeface="Calibri"/>
              </a:rPr>
              <a:t> (MSE):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90F5ADF1-CB93-1395-5A1B-FE07DA1A2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Ingeniería de Sistemas - UNCP">
            <a:extLst>
              <a:ext uri="{FF2B5EF4-FFF2-40B4-BE49-F238E27FC236}">
                <a16:creationId xmlns:a16="http://schemas.microsoft.com/office/drawing/2014/main" id="{ECBED10D-C5B8-EB66-0ECF-A2650626D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9617" y="260350"/>
            <a:ext cx="30664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Redes</a:t>
            </a:r>
            <a:r>
              <a:rPr spc="-60" dirty="0"/>
              <a:t> </a:t>
            </a:r>
            <a:r>
              <a:rPr spc="-5" dirty="0"/>
              <a:t>Neuronales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6749415" cy="1386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608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Función</a:t>
            </a:r>
            <a:r>
              <a:rPr sz="2400" b="1" spc="-3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2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Pérdida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Entrenamiento</a:t>
            </a:r>
            <a:r>
              <a:rPr sz="2000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000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una</a:t>
            </a:r>
            <a:r>
              <a:rPr sz="2000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red</a:t>
            </a:r>
            <a:endParaRPr sz="20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45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30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Consiste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obtener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pesos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</a:t>
            </a:r>
            <a:r>
              <a:rPr sz="1800" i="1" spc="-5" dirty="0">
                <a:latin typeface="Times New Roman"/>
                <a:cs typeface="Times New Roman"/>
              </a:rPr>
              <a:t>W</a:t>
            </a:r>
            <a:r>
              <a:rPr sz="1800" spc="-5" dirty="0">
                <a:latin typeface="Calibri"/>
                <a:cs typeface="Calibri"/>
              </a:rPr>
              <a:t>)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que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minimicen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función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pérdida: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7794" y="2936601"/>
            <a:ext cx="8111490" cy="330581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388620" indent="-160655">
              <a:lnSpc>
                <a:spcPct val="100000"/>
              </a:lnSpc>
              <a:spcBef>
                <a:spcPts val="56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-10" dirty="0">
                <a:latin typeface="Calibri"/>
                <a:cs typeface="Calibri"/>
              </a:rPr>
              <a:t> requiere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cálculo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derivadas:</a:t>
            </a:r>
            <a:endParaRPr sz="1800">
              <a:latin typeface="Calibri"/>
              <a:cs typeface="Calibri"/>
            </a:endParaRPr>
          </a:p>
          <a:p>
            <a:pPr marL="611505" lvl="1" indent="-226060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600" spc="-10" dirty="0">
                <a:latin typeface="Calibri"/>
                <a:cs typeface="Calibri"/>
              </a:rPr>
              <a:t>Requieren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el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uso</a:t>
            </a:r>
            <a:r>
              <a:rPr sz="1600" spc="-5" dirty="0">
                <a:latin typeface="Calibri"/>
                <a:cs typeface="Calibri"/>
              </a:rPr>
              <a:t> de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la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regla</a:t>
            </a:r>
            <a:r>
              <a:rPr sz="1600" spc="-5" dirty="0">
                <a:latin typeface="Calibri"/>
                <a:cs typeface="Calibri"/>
              </a:rPr>
              <a:t> de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la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cadena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repetidamente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7E7E7E"/>
                </a:solidFill>
                <a:latin typeface="Calibri"/>
                <a:cs typeface="Calibri"/>
              </a:rPr>
              <a:t>(a</a:t>
            </a:r>
            <a:r>
              <a:rPr sz="15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7E7E7E"/>
                </a:solidFill>
                <a:latin typeface="Calibri"/>
                <a:cs typeface="Calibri"/>
              </a:rPr>
              <a:t>medida</a:t>
            </a:r>
            <a:r>
              <a:rPr sz="15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7E7E7E"/>
                </a:solidFill>
                <a:latin typeface="Calibri"/>
                <a:cs typeface="Calibri"/>
              </a:rPr>
              <a:t>que</a:t>
            </a:r>
            <a:r>
              <a:rPr sz="15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7E7E7E"/>
                </a:solidFill>
                <a:latin typeface="Calibri"/>
                <a:cs typeface="Calibri"/>
              </a:rPr>
              <a:t>la</a:t>
            </a:r>
            <a:r>
              <a:rPr sz="15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7E7E7E"/>
                </a:solidFill>
                <a:latin typeface="Calibri"/>
                <a:cs typeface="Calibri"/>
              </a:rPr>
              <a:t>red</a:t>
            </a:r>
            <a:r>
              <a:rPr sz="15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7E7E7E"/>
                </a:solidFill>
                <a:latin typeface="Calibri"/>
                <a:cs typeface="Calibri"/>
              </a:rPr>
              <a:t>es más </a:t>
            </a:r>
            <a:r>
              <a:rPr sz="1500" spc="-5" dirty="0">
                <a:solidFill>
                  <a:srgbClr val="7E7E7E"/>
                </a:solidFill>
                <a:latin typeface="Calibri"/>
                <a:cs typeface="Calibri"/>
              </a:rPr>
              <a:t>grande)</a:t>
            </a:r>
            <a:endParaRPr sz="1500">
              <a:latin typeface="Calibri"/>
              <a:cs typeface="Calibri"/>
            </a:endParaRPr>
          </a:p>
          <a:p>
            <a:pPr marL="611505" lvl="1" indent="-226060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600" spc="-5" dirty="0">
                <a:latin typeface="Calibri"/>
                <a:cs typeface="Calibri"/>
              </a:rPr>
              <a:t>Se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calculan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utilizando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“propagación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hacia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atrás”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(“</a:t>
            </a:r>
            <a:r>
              <a:rPr sz="16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backpropagation</a:t>
            </a:r>
            <a:r>
              <a:rPr sz="1600" spc="-5" dirty="0">
                <a:latin typeface="Calibri"/>
                <a:cs typeface="Calibri"/>
              </a:rPr>
              <a:t>”)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Optimización</a:t>
            </a:r>
            <a:r>
              <a:rPr sz="2000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(minimización)</a:t>
            </a:r>
            <a:endParaRPr sz="16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Los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principales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métodos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son:</a:t>
            </a:r>
            <a:endParaRPr sz="1800">
              <a:latin typeface="Calibri"/>
              <a:cs typeface="Calibri"/>
            </a:endParaRPr>
          </a:p>
          <a:p>
            <a:pPr marL="611505" lvl="2" indent="-226060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600" spc="-10" dirty="0">
                <a:latin typeface="Calibri"/>
                <a:cs typeface="Calibri"/>
              </a:rPr>
              <a:t>Descenso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del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gradiente: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considera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todos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los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datos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(resulta</a:t>
            </a:r>
            <a:r>
              <a:rPr sz="1400" spc="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lento</a:t>
            </a:r>
            <a:r>
              <a:rPr sz="1400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con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muchos</a:t>
            </a:r>
            <a:r>
              <a:rPr sz="1400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datos)</a:t>
            </a:r>
            <a:endParaRPr sz="1400">
              <a:latin typeface="Calibri"/>
              <a:cs typeface="Calibri"/>
            </a:endParaRPr>
          </a:p>
          <a:p>
            <a:pPr marL="611505" lvl="2" indent="-22606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600" spc="-10" dirty="0">
                <a:latin typeface="Calibri"/>
                <a:cs typeface="Calibri"/>
              </a:rPr>
              <a:t>Descenso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del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gradiente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estocástico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(SGD):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considera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uno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una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muestra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datos</a:t>
            </a:r>
            <a:endParaRPr sz="1600">
              <a:latin typeface="Calibri"/>
              <a:cs typeface="Calibri"/>
            </a:endParaRPr>
          </a:p>
          <a:p>
            <a:pPr marL="611505" lvl="2" indent="-226060">
              <a:lnSpc>
                <a:spcPct val="100000"/>
              </a:lnSpc>
              <a:spcBef>
                <a:spcPts val="384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600" spc="-10" dirty="0">
                <a:latin typeface="Calibri"/>
                <a:cs typeface="Calibri"/>
              </a:rPr>
              <a:t>SGD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+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momentum</a:t>
            </a:r>
            <a:endParaRPr sz="1600">
              <a:latin typeface="Calibri"/>
              <a:cs typeface="Calibri"/>
            </a:endParaRPr>
          </a:p>
          <a:p>
            <a:pPr marL="611505" lvl="2" indent="-22606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600" spc="-10" dirty="0">
                <a:latin typeface="Calibri"/>
                <a:cs typeface="Calibri"/>
              </a:rPr>
              <a:t>RMSProp</a:t>
            </a:r>
            <a:endParaRPr sz="1600">
              <a:latin typeface="Calibri"/>
              <a:cs typeface="Calibri"/>
            </a:endParaRPr>
          </a:p>
          <a:p>
            <a:pPr marL="611505" lvl="2" indent="-226060">
              <a:lnSpc>
                <a:spcPct val="100000"/>
              </a:lnSpc>
              <a:spcBef>
                <a:spcPts val="384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600" spc="-5" dirty="0">
                <a:latin typeface="Calibri"/>
                <a:cs typeface="Calibri"/>
              </a:rPr>
              <a:t>Adam,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etc.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90744" y="2398776"/>
            <a:ext cx="925068" cy="40233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38366" y="2513076"/>
            <a:ext cx="857561" cy="288036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4483489" y="2502315"/>
            <a:ext cx="207645" cy="273050"/>
            <a:chOff x="4483489" y="2502315"/>
            <a:chExt cx="207645" cy="27305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83489" y="2502315"/>
              <a:ext cx="207593" cy="27301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1708" y="2513075"/>
              <a:ext cx="143255" cy="21640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17136" y="2508503"/>
              <a:ext cx="152400" cy="225552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626FEC06-2B90-E886-EA6E-F95280E72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Ingeniería de Sistemas - UNCP">
            <a:extLst>
              <a:ext uri="{FF2B5EF4-FFF2-40B4-BE49-F238E27FC236}">
                <a16:creationId xmlns:a16="http://schemas.microsoft.com/office/drawing/2014/main" id="{297ACCEF-E31F-17BC-7C00-9523AD1D0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98570" y="581913"/>
            <a:ext cx="15455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B51A00"/>
                </a:solidFill>
              </a:rPr>
              <a:t>Co</a:t>
            </a:r>
            <a:r>
              <a:rPr sz="2800" spc="-40" dirty="0">
                <a:solidFill>
                  <a:srgbClr val="B51A00"/>
                </a:solidFill>
              </a:rPr>
              <a:t>nt</a:t>
            </a:r>
            <a:r>
              <a:rPr sz="2800" spc="-10" dirty="0">
                <a:solidFill>
                  <a:srgbClr val="B51A00"/>
                </a:solidFill>
              </a:rPr>
              <a:t>eni</a:t>
            </a:r>
            <a:r>
              <a:rPr sz="2800" spc="-15" dirty="0">
                <a:solidFill>
                  <a:srgbClr val="B51A00"/>
                </a:solidFill>
              </a:rPr>
              <a:t>d</a:t>
            </a:r>
            <a:r>
              <a:rPr sz="2800" spc="-5" dirty="0">
                <a:solidFill>
                  <a:srgbClr val="B51A00"/>
                </a:solidFill>
              </a:rPr>
              <a:t>o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63" y="2198857"/>
            <a:ext cx="8459764" cy="73358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2068" y="1511046"/>
            <a:ext cx="30797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sz="2800" spc="-5" dirty="0">
                <a:solidFill>
                  <a:srgbClr val="A6A6A6"/>
                </a:solidFill>
                <a:latin typeface="Calibri"/>
                <a:cs typeface="Calibri"/>
              </a:rPr>
              <a:t>1.	</a:t>
            </a:r>
            <a:r>
              <a:rPr sz="2800" spc="-15" dirty="0">
                <a:solidFill>
                  <a:srgbClr val="A6A6A6"/>
                </a:solidFill>
                <a:latin typeface="Calibri"/>
                <a:cs typeface="Calibri"/>
              </a:rPr>
              <a:t>Redes</a:t>
            </a:r>
            <a:r>
              <a:rPr sz="2800" spc="-3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A6A6A6"/>
                </a:solidFill>
                <a:latin typeface="Calibri"/>
                <a:cs typeface="Calibri"/>
              </a:rPr>
              <a:t>Neuronales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  <p:sp>
        <p:nvSpPr>
          <p:cNvPr id="5" name="object 5"/>
          <p:cNvSpPr txBox="1"/>
          <p:nvPr/>
        </p:nvSpPr>
        <p:spPr>
          <a:xfrm>
            <a:off x="422148" y="2276855"/>
            <a:ext cx="8300084" cy="582295"/>
          </a:xfrm>
          <a:prstGeom prst="rect">
            <a:avLst/>
          </a:prstGeom>
          <a:solidFill>
            <a:srgbClr val="9BEDF7"/>
          </a:solidFill>
        </p:spPr>
        <p:txBody>
          <a:bodyPr vert="horz" wrap="square" lIns="0" tIns="46355" rIns="0" bIns="0" rtlCol="0">
            <a:spAutoFit/>
          </a:bodyPr>
          <a:lstStyle/>
          <a:p>
            <a:pPr marL="242570">
              <a:lnSpc>
                <a:spcPct val="100000"/>
              </a:lnSpc>
              <a:spcBef>
                <a:spcPts val="365"/>
              </a:spcBef>
              <a:tabLst>
                <a:tab pos="699135" algn="l"/>
              </a:tabLst>
            </a:pPr>
            <a:r>
              <a:rPr sz="2800" b="1" spc="-5" dirty="0">
                <a:solidFill>
                  <a:srgbClr val="0000FF"/>
                </a:solidFill>
                <a:latin typeface="Calibri"/>
                <a:cs typeface="Calibri"/>
              </a:rPr>
              <a:t>2.	</a:t>
            </a:r>
            <a:r>
              <a:rPr sz="2800" b="1" spc="-15" dirty="0">
                <a:solidFill>
                  <a:srgbClr val="0000FF"/>
                </a:solidFill>
                <a:latin typeface="Calibri"/>
                <a:cs typeface="Calibri"/>
              </a:rPr>
              <a:t>Redes</a:t>
            </a:r>
            <a:r>
              <a:rPr sz="2800" b="1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Calibri"/>
                <a:cs typeface="Calibri"/>
              </a:rPr>
              <a:t>Neuronales</a:t>
            </a:r>
            <a:r>
              <a:rPr sz="2800" b="1" spc="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0000FF"/>
                </a:solidFill>
                <a:latin typeface="Calibri"/>
                <a:cs typeface="Calibri"/>
              </a:rPr>
              <a:t>Convolucionales</a:t>
            </a:r>
            <a:r>
              <a:rPr sz="2800" b="1" spc="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Calibri"/>
                <a:cs typeface="Calibri"/>
              </a:rPr>
              <a:t>(CNN)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068" y="3111499"/>
            <a:ext cx="5854700" cy="1252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AutoNum type="arabicPeriod" startAt="3"/>
              <a:tabLst>
                <a:tab pos="469265" algn="l"/>
                <a:tab pos="469900" algn="l"/>
              </a:tabLst>
            </a:pPr>
            <a:r>
              <a:rPr sz="2800" spc="-35" dirty="0">
                <a:solidFill>
                  <a:srgbClr val="A6A6A6"/>
                </a:solidFill>
                <a:latin typeface="Calibri"/>
                <a:cs typeface="Calibri"/>
              </a:rPr>
              <a:t>Transferencia</a:t>
            </a:r>
            <a:r>
              <a:rPr sz="2800" spc="-5" dirty="0">
                <a:solidFill>
                  <a:srgbClr val="A6A6A6"/>
                </a:solidFill>
                <a:latin typeface="Calibri"/>
                <a:cs typeface="Calibri"/>
              </a:rPr>
              <a:t> de</a:t>
            </a:r>
            <a:r>
              <a:rPr sz="2800" spc="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A6A6A6"/>
                </a:solidFill>
                <a:latin typeface="Calibri"/>
                <a:cs typeface="Calibri"/>
              </a:rPr>
              <a:t>Aprendizaje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A6A6A6"/>
              </a:buClr>
              <a:buFont typeface="Calibri"/>
              <a:buAutoNum type="arabicPeriod" startAt="3"/>
            </a:pP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AutoNum type="arabicPeriod" startAt="3"/>
              <a:tabLst>
                <a:tab pos="469265" algn="l"/>
                <a:tab pos="469900" algn="l"/>
              </a:tabLst>
            </a:pPr>
            <a:r>
              <a:rPr sz="2800" spc="-15" dirty="0">
                <a:solidFill>
                  <a:srgbClr val="A6A6A6"/>
                </a:solidFill>
                <a:latin typeface="Calibri"/>
                <a:cs typeface="Calibri"/>
              </a:rPr>
              <a:t>Redes</a:t>
            </a:r>
            <a:r>
              <a:rPr sz="280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A6A6A6"/>
                </a:solidFill>
                <a:latin typeface="Calibri"/>
                <a:cs typeface="Calibri"/>
              </a:rPr>
              <a:t>Neuronales</a:t>
            </a:r>
            <a:r>
              <a:rPr sz="2800" spc="3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A6A6A6"/>
                </a:solidFill>
                <a:latin typeface="Calibri"/>
                <a:cs typeface="Calibri"/>
              </a:rPr>
              <a:t>Recurrentes</a:t>
            </a:r>
            <a:r>
              <a:rPr sz="2800" spc="1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A6A6A6"/>
                </a:solidFill>
                <a:latin typeface="Calibri"/>
                <a:cs typeface="Calibri"/>
              </a:rPr>
              <a:t>(RNN)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C531CAF4-8D6E-96CC-369E-213F6D68A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Ingeniería de Sistemas - UNCP">
            <a:extLst>
              <a:ext uri="{FF2B5EF4-FFF2-40B4-BE49-F238E27FC236}">
                <a16:creationId xmlns:a16="http://schemas.microsoft.com/office/drawing/2014/main" id="{AC7DEAFB-C4B7-A7EF-B81B-1F66DCCF5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Redes</a:t>
            </a:r>
            <a:r>
              <a:rPr spc="-25" dirty="0"/>
              <a:t> </a:t>
            </a:r>
            <a:r>
              <a:rPr spc="-5" dirty="0"/>
              <a:t>Neuronales</a:t>
            </a:r>
            <a:r>
              <a:rPr spc="-50" dirty="0"/>
              <a:t> </a:t>
            </a:r>
            <a:r>
              <a:rPr spc="-5" dirty="0"/>
              <a:t>Convolucionales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8016875" cy="1514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190" algn="ctr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Convoluciones</a:t>
            </a:r>
            <a:r>
              <a:rPr sz="2400" b="1" spc="-3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en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2</a:t>
            </a:r>
            <a:r>
              <a:rPr sz="2400" b="1" spc="-3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Dimensiones</a:t>
            </a:r>
            <a:endParaRPr sz="24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latin typeface="Calibri"/>
                <a:cs typeface="Calibri"/>
              </a:rPr>
              <a:t>Convolución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consiste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en:</a:t>
            </a:r>
            <a:endParaRPr sz="2000">
              <a:latin typeface="Calibri"/>
              <a:cs typeface="Calibri"/>
            </a:endParaRPr>
          </a:p>
          <a:p>
            <a:pPr marL="388620" marR="5080" indent="-160020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3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Sobreponer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filtro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imagen,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realizar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multiplicaciones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término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término,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sumar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 </a:t>
            </a:r>
            <a:r>
              <a:rPr sz="1800" spc="-10" dirty="0">
                <a:latin typeface="Calibri"/>
                <a:cs typeface="Calibri"/>
              </a:rPr>
              <a:t>resultado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202" y="6088176"/>
            <a:ext cx="3194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8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El </a:t>
            </a:r>
            <a:r>
              <a:rPr sz="1800" spc="-10" dirty="0">
                <a:latin typeface="Calibri"/>
                <a:cs typeface="Calibri"/>
              </a:rPr>
              <a:t>filtro “recorre”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toda</a:t>
            </a:r>
            <a:r>
              <a:rPr sz="1800" spc="-5" dirty="0">
                <a:latin typeface="Calibri"/>
                <a:cs typeface="Calibri"/>
              </a:rPr>
              <a:t> la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imagen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7376" y="2564892"/>
            <a:ext cx="4633486" cy="342555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97782" y="4871720"/>
            <a:ext cx="5810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16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0000FF"/>
                </a:solidFill>
                <a:latin typeface="Calibri"/>
                <a:cs typeface="Calibri"/>
              </a:rPr>
              <a:t>filtro </a:t>
            </a:r>
            <a:r>
              <a:rPr sz="14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sz="1400" spc="-50" dirty="0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sz="1400" dirty="0">
                <a:solidFill>
                  <a:srgbClr val="0000FF"/>
                </a:solidFill>
                <a:latin typeface="Calibri"/>
                <a:cs typeface="Calibri"/>
              </a:rPr>
              <a:t>er</a:t>
            </a:r>
            <a:r>
              <a:rPr sz="1400" spc="-5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sz="1400" dirty="0">
                <a:solidFill>
                  <a:srgbClr val="0000FF"/>
                </a:solidFill>
                <a:latin typeface="Calibri"/>
                <a:cs typeface="Calibri"/>
              </a:rPr>
              <a:t>e</a:t>
            </a:r>
            <a:r>
              <a:rPr sz="1400" spc="-5" dirty="0">
                <a:solidFill>
                  <a:srgbClr val="0000FF"/>
                </a:solidFill>
                <a:latin typeface="Calibri"/>
                <a:cs typeface="Calibri"/>
              </a:rPr>
              <a:t>l</a:t>
            </a:r>
            <a:r>
              <a:rPr sz="1400" dirty="0">
                <a:solidFill>
                  <a:srgbClr val="0000FF"/>
                </a:solidFill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94941" y="2683890"/>
            <a:ext cx="50545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244" marR="5080" indent="-431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Pi</a:t>
            </a:r>
            <a:r>
              <a:rPr sz="1200" spc="-40" dirty="0">
                <a:solidFill>
                  <a:srgbClr val="7E7E7E"/>
                </a:solidFill>
                <a:latin typeface="Calibri"/>
                <a:cs typeface="Calibri"/>
              </a:rPr>
              <a:t>x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el</a:t>
            </a:r>
            <a:r>
              <a:rPr sz="1200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de 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origen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18913" y="5110353"/>
            <a:ext cx="4883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8265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Pixel 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200" spc="-15" dirty="0">
                <a:solidFill>
                  <a:srgbClr val="7E7E7E"/>
                </a:solidFill>
                <a:latin typeface="Calibri"/>
                <a:cs typeface="Calibri"/>
              </a:rPr>
              <a:t>s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ti</a:t>
            </a:r>
            <a:r>
              <a:rPr sz="1200" spc="5" dirty="0">
                <a:solidFill>
                  <a:srgbClr val="7E7E7E"/>
                </a:solidFill>
                <a:latin typeface="Calibri"/>
                <a:cs typeface="Calibri"/>
              </a:rPr>
              <a:t>n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o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467480" y="4613147"/>
            <a:ext cx="3515360" cy="1461770"/>
            <a:chOff x="3467480" y="4613147"/>
            <a:chExt cx="3515360" cy="146177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67480" y="4613147"/>
              <a:ext cx="587121" cy="43205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68541" y="5641822"/>
              <a:ext cx="613790" cy="432866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7B32F883-213B-A7F1-1913-835FB06A5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Ingeniería de Sistemas - UNCP">
            <a:extLst>
              <a:ext uri="{FF2B5EF4-FFF2-40B4-BE49-F238E27FC236}">
                <a16:creationId xmlns:a16="http://schemas.microsoft.com/office/drawing/2014/main" id="{D18A51E6-93C7-A11B-D67A-961A87DB8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7794" y="922782"/>
            <a:ext cx="6323965" cy="270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14955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Capa</a:t>
            </a:r>
            <a:r>
              <a:rPr sz="2400" b="1" spc="-2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 Convolución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 dirty="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Componentes:</a:t>
            </a:r>
            <a:endParaRPr sz="2000" dirty="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50"/>
              </a:spcBef>
              <a:buChar char="-"/>
              <a:tabLst>
                <a:tab pos="389255" algn="l"/>
              </a:tabLst>
            </a:pPr>
            <a:r>
              <a:rPr sz="1800" dirty="0">
                <a:latin typeface="Calibri"/>
                <a:cs typeface="Calibri"/>
              </a:rPr>
              <a:t>Mapa de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activación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b="1" i="1" spc="-5" dirty="0">
                <a:latin typeface="Times New Roman"/>
                <a:cs typeface="Times New Roman"/>
              </a:rPr>
              <a:t>z</a:t>
            </a:r>
            <a:r>
              <a:rPr sz="1800" b="1" i="1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(convolución</a:t>
            </a:r>
            <a:r>
              <a:rPr sz="1600" spc="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6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la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entrada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con</a:t>
            </a:r>
            <a:r>
              <a:rPr sz="1600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los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filtros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+</a:t>
            </a:r>
            <a:r>
              <a:rPr sz="1600" spc="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bias)</a:t>
            </a:r>
            <a:endParaRPr sz="1600" dirty="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Funciones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activación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g</a:t>
            </a:r>
            <a:r>
              <a:rPr sz="1800" b="1" i="1" spc="-25" dirty="0"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(aplicadas</a:t>
            </a:r>
            <a:r>
              <a:rPr sz="16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a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los</a:t>
            </a:r>
            <a:r>
              <a:rPr sz="16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mapas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6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activación)</a:t>
            </a:r>
            <a:endParaRPr sz="1600" dirty="0">
              <a:latin typeface="Calibri"/>
              <a:cs typeface="Calibri"/>
            </a:endParaRPr>
          </a:p>
          <a:p>
            <a:pPr marL="611505" lvl="2" indent="-226060">
              <a:lnSpc>
                <a:spcPct val="100000"/>
              </a:lnSpc>
              <a:spcBef>
                <a:spcPts val="420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800" spc="-5" dirty="0">
                <a:latin typeface="Calibri"/>
                <a:cs typeface="Calibri"/>
              </a:rPr>
              <a:t>Usualmente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ReLU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(variaciones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6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7E7E7E"/>
                </a:solidFill>
                <a:latin typeface="Calibri"/>
                <a:cs typeface="Calibri"/>
              </a:rPr>
              <a:t>ReLU</a:t>
            </a:r>
            <a:r>
              <a:rPr sz="16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o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tanh)</a:t>
            </a:r>
            <a:endParaRPr sz="1600" dirty="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30"/>
              </a:spcBef>
              <a:buFont typeface="Arial MT"/>
              <a:buChar char="•"/>
            </a:pPr>
            <a:endParaRPr sz="2250" dirty="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latin typeface="Calibri"/>
                <a:cs typeface="Calibri"/>
              </a:rPr>
              <a:t>Ejemplo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7522" y="3742791"/>
            <a:ext cx="7941945" cy="2710180"/>
            <a:chOff x="827522" y="3742791"/>
            <a:chExt cx="7941945" cy="27101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7522" y="3855701"/>
              <a:ext cx="5113029" cy="23759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0551" y="4486452"/>
              <a:ext cx="2828317" cy="90436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93407" y="5949696"/>
              <a:ext cx="1656588" cy="19354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91883" y="6222492"/>
              <a:ext cx="1211579" cy="2301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46947" y="4293108"/>
              <a:ext cx="284988" cy="20573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04660" y="4203192"/>
              <a:ext cx="1034796" cy="17983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37048" y="4322064"/>
              <a:ext cx="627888" cy="18288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09360" y="4791456"/>
              <a:ext cx="332232" cy="3032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62683" y="3742791"/>
              <a:ext cx="268224" cy="183032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Redes</a:t>
            </a:r>
            <a:r>
              <a:rPr spc="-25" dirty="0"/>
              <a:t> </a:t>
            </a:r>
            <a:r>
              <a:rPr spc="-5" dirty="0"/>
              <a:t>Neuronales</a:t>
            </a:r>
            <a:r>
              <a:rPr spc="-50" dirty="0"/>
              <a:t> </a:t>
            </a:r>
            <a:r>
              <a:rPr spc="-5" dirty="0"/>
              <a:t>Convolucionales</a:t>
            </a:r>
          </a:p>
        </p:txBody>
      </p:sp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467100" y="3511296"/>
            <a:ext cx="396239" cy="210311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  <p:pic>
        <p:nvPicPr>
          <p:cNvPr id="17" name="Picture 4">
            <a:extLst>
              <a:ext uri="{FF2B5EF4-FFF2-40B4-BE49-F238E27FC236}">
                <a16:creationId xmlns:a16="http://schemas.microsoft.com/office/drawing/2014/main" id="{32692B82-7A9D-FC92-8B4A-97F1DDA4A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 descr="Ingeniería de Sistemas - UNCP">
            <a:extLst>
              <a:ext uri="{FF2B5EF4-FFF2-40B4-BE49-F238E27FC236}">
                <a16:creationId xmlns:a16="http://schemas.microsoft.com/office/drawing/2014/main" id="{1EA2A8A3-783A-D406-0206-DF28C1978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Redes</a:t>
            </a:r>
            <a:r>
              <a:rPr spc="-25" dirty="0"/>
              <a:t> </a:t>
            </a:r>
            <a:r>
              <a:rPr spc="-5" dirty="0"/>
              <a:t>Neuronales</a:t>
            </a:r>
            <a:r>
              <a:rPr spc="-50" dirty="0"/>
              <a:t> </a:t>
            </a:r>
            <a:r>
              <a:rPr spc="-5" dirty="0"/>
              <a:t>Convolucionales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5467350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14955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Capa</a:t>
            </a:r>
            <a:r>
              <a:rPr sz="2400" b="1" spc="-3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Convolución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latin typeface="Calibri"/>
                <a:cs typeface="Calibri"/>
              </a:rPr>
              <a:t>Simplificación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representación: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202" y="4385309"/>
            <a:ext cx="4584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30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manera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simplificada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(cuando</a:t>
            </a:r>
            <a:r>
              <a:rPr sz="1600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hay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varias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capas)</a:t>
            </a:r>
            <a:r>
              <a:rPr sz="1800" spc="-5" dirty="0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276600" y="4966715"/>
            <a:ext cx="3633470" cy="1414780"/>
            <a:chOff x="3276600" y="4966715"/>
            <a:chExt cx="3633470" cy="14147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6600" y="5128259"/>
              <a:ext cx="3633215" cy="12527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3744" y="4966715"/>
              <a:ext cx="284988" cy="204216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13788" y="2063990"/>
            <a:ext cx="5537904" cy="190920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11523" y="4863084"/>
            <a:ext cx="283463" cy="20116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571113" y="6361887"/>
            <a:ext cx="6076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6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alibri"/>
                <a:cs typeface="Calibri"/>
              </a:rPr>
              <a:t>x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6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alibri"/>
                <a:cs typeface="Calibri"/>
              </a:rPr>
              <a:t>x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  <p:sp>
        <p:nvSpPr>
          <p:cNvPr id="11" name="object 11"/>
          <p:cNvSpPr txBox="1"/>
          <p:nvPr/>
        </p:nvSpPr>
        <p:spPr>
          <a:xfrm>
            <a:off x="6138164" y="6129934"/>
            <a:ext cx="6070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3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alibri"/>
                <a:cs typeface="Calibri"/>
              </a:rPr>
              <a:t>x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3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Calibri"/>
                <a:cs typeface="Calibri"/>
              </a:rPr>
              <a:t>x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32934" y="5377053"/>
            <a:ext cx="5778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2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Calibri"/>
                <a:cs typeface="Calibri"/>
              </a:rPr>
              <a:t>filtros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1A1CDAEE-9473-76F9-8EEF-C5D5BDF49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Ingeniería de Sistemas - UNCP">
            <a:extLst>
              <a:ext uri="{FF2B5EF4-FFF2-40B4-BE49-F238E27FC236}">
                <a16:creationId xmlns:a16="http://schemas.microsoft.com/office/drawing/2014/main" id="{3194D620-7A4D-D349-E897-4E9B18C4B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Redes</a:t>
            </a:r>
            <a:r>
              <a:rPr spc="-25" dirty="0"/>
              <a:t> </a:t>
            </a:r>
            <a:r>
              <a:rPr spc="-5" dirty="0"/>
              <a:t>Neuronales</a:t>
            </a:r>
            <a:r>
              <a:rPr spc="-50" dirty="0"/>
              <a:t> </a:t>
            </a:r>
            <a:r>
              <a:rPr spc="-5" dirty="0"/>
              <a:t>Convolucionales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6869430" cy="3103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22295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Capa</a:t>
            </a:r>
            <a:r>
              <a:rPr sz="2400" b="1" spc="-3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Pooling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latin typeface="Calibri"/>
                <a:cs typeface="Calibri"/>
              </a:rPr>
              <a:t>Reduce </a:t>
            </a:r>
            <a:r>
              <a:rPr sz="2000" dirty="0">
                <a:latin typeface="Calibri"/>
                <a:cs typeface="Calibri"/>
              </a:rPr>
              <a:t>el </a:t>
            </a:r>
            <a:r>
              <a:rPr sz="2000" spc="-5" dirty="0">
                <a:latin typeface="Calibri"/>
                <a:cs typeface="Calibri"/>
              </a:rPr>
              <a:t>tamaño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las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representaciones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(“downsampling”)</a:t>
            </a:r>
            <a:endParaRPr sz="16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spc="-15" dirty="0">
                <a:latin typeface="Calibri"/>
                <a:cs typeface="Calibri"/>
              </a:rPr>
              <a:t>Opera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cada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canal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manera</a:t>
            </a:r>
            <a:r>
              <a:rPr sz="1800" spc="-5" dirty="0">
                <a:latin typeface="Calibri"/>
                <a:cs typeface="Calibri"/>
              </a:rPr>
              <a:t> independiente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dirty="0">
                <a:latin typeface="Calibri"/>
                <a:cs typeface="Calibri"/>
              </a:rPr>
              <a:t>No </a:t>
            </a:r>
            <a:r>
              <a:rPr sz="1800" spc="-10" dirty="0">
                <a:latin typeface="Calibri"/>
                <a:cs typeface="Calibri"/>
              </a:rPr>
              <a:t>introduce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ningún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nuevo </a:t>
            </a:r>
            <a:r>
              <a:rPr sz="1800" spc="-10" dirty="0">
                <a:latin typeface="Calibri"/>
                <a:cs typeface="Calibri"/>
              </a:rPr>
              <a:t>parámetro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(no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hay</a:t>
            </a:r>
            <a:r>
              <a:rPr sz="16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que</a:t>
            </a:r>
            <a:r>
              <a:rPr sz="16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“aprender”</a:t>
            </a:r>
            <a:r>
              <a:rPr sz="1600" spc="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nada)</a:t>
            </a:r>
            <a:endParaRPr sz="16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Char char="-"/>
            </a:pPr>
            <a:endParaRPr sz="18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spcBef>
                <a:spcPts val="116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latin typeface="Calibri"/>
                <a:cs typeface="Calibri"/>
              </a:rPr>
              <a:t>Tipos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más</a:t>
            </a:r>
            <a:r>
              <a:rPr sz="2000" spc="-10" dirty="0">
                <a:latin typeface="Calibri"/>
                <a:cs typeface="Calibri"/>
              </a:rPr>
              <a:t> utilizados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spc="-5" dirty="0">
                <a:solidFill>
                  <a:srgbClr val="9900CC"/>
                </a:solidFill>
                <a:latin typeface="Calibri"/>
                <a:cs typeface="Calibri"/>
              </a:rPr>
              <a:t>Max </a:t>
            </a:r>
            <a:r>
              <a:rPr sz="1800" spc="-10" dirty="0">
                <a:solidFill>
                  <a:srgbClr val="9900CC"/>
                </a:solidFill>
                <a:latin typeface="Calibri"/>
                <a:cs typeface="Calibri"/>
              </a:rPr>
              <a:t>Pooling:</a:t>
            </a:r>
            <a:r>
              <a:rPr sz="1800" spc="15" dirty="0">
                <a:solidFill>
                  <a:srgbClr val="9900C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utiliza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valor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máximo</a:t>
            </a:r>
            <a:r>
              <a:rPr sz="1800" dirty="0">
                <a:latin typeface="Calibri"/>
                <a:cs typeface="Calibri"/>
              </a:rPr>
              <a:t> de</a:t>
            </a:r>
            <a:r>
              <a:rPr sz="1800" spc="-5" dirty="0">
                <a:latin typeface="Calibri"/>
                <a:cs typeface="Calibri"/>
              </a:rPr>
              <a:t> cada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conjunto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píxeles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15" dirty="0">
                <a:solidFill>
                  <a:srgbClr val="9900CC"/>
                </a:solidFill>
                <a:latin typeface="Calibri"/>
                <a:cs typeface="Calibri"/>
              </a:rPr>
              <a:t>Average</a:t>
            </a:r>
            <a:r>
              <a:rPr sz="1800" spc="-10" dirty="0">
                <a:solidFill>
                  <a:srgbClr val="9900CC"/>
                </a:solidFill>
                <a:latin typeface="Calibri"/>
                <a:cs typeface="Calibri"/>
              </a:rPr>
              <a:t> Pooling:</a:t>
            </a:r>
            <a:r>
              <a:rPr sz="1800" spc="20" dirty="0">
                <a:solidFill>
                  <a:srgbClr val="9900C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utiliza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valor</a:t>
            </a:r>
            <a:r>
              <a:rPr sz="1800" spc="-10" dirty="0">
                <a:latin typeface="Calibri"/>
                <a:cs typeface="Calibri"/>
              </a:rPr>
              <a:t> promedio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cada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conjunto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píxeles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4608" y="4599621"/>
            <a:ext cx="3137477" cy="161215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09762" y="4585810"/>
            <a:ext cx="3137573" cy="161210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749423" y="4765370"/>
            <a:ext cx="4724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i="1" spc="-5" dirty="0">
                <a:latin typeface="Times New Roman"/>
                <a:cs typeface="Times New Roman"/>
              </a:rPr>
              <a:t>s</a:t>
            </a:r>
            <a:r>
              <a:rPr sz="1800" i="1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  <p:sp>
        <p:nvSpPr>
          <p:cNvPr id="7" name="object 7"/>
          <p:cNvSpPr txBox="1"/>
          <p:nvPr/>
        </p:nvSpPr>
        <p:spPr>
          <a:xfrm>
            <a:off x="7033641" y="4765675"/>
            <a:ext cx="4724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i="1" spc="-5" dirty="0">
                <a:latin typeface="Times New Roman"/>
                <a:cs typeface="Times New Roman"/>
              </a:rPr>
              <a:t>s</a:t>
            </a:r>
            <a:r>
              <a:rPr sz="1800" i="1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54451" y="5861100"/>
            <a:ext cx="7893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252525"/>
                </a:solidFill>
                <a:latin typeface="Calibri"/>
                <a:cs typeface="Calibri"/>
              </a:rPr>
              <a:t>Max</a:t>
            </a:r>
            <a:r>
              <a:rPr sz="1200" spc="-6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252525"/>
                </a:solidFill>
                <a:latin typeface="Calibri"/>
                <a:cs typeface="Calibri"/>
              </a:rPr>
              <a:t>Pooling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75042" y="5848299"/>
            <a:ext cx="10179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solidFill>
                  <a:srgbClr val="252525"/>
                </a:solidFill>
                <a:latin typeface="Calibri"/>
                <a:cs typeface="Calibri"/>
              </a:rPr>
              <a:t>Average</a:t>
            </a:r>
            <a:r>
              <a:rPr sz="1200" spc="-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252525"/>
                </a:solidFill>
                <a:latin typeface="Calibri"/>
                <a:cs typeface="Calibri"/>
              </a:rPr>
              <a:t>Pooling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ABB214C1-8452-3852-2C0F-DF066CC18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Ingeniería de Sistemas - UNCP">
            <a:extLst>
              <a:ext uri="{FF2B5EF4-FFF2-40B4-BE49-F238E27FC236}">
                <a16:creationId xmlns:a16="http://schemas.microsoft.com/office/drawing/2014/main" id="{F3E8EB87-DFF3-6864-1246-E4CBED09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Redes</a:t>
            </a:r>
            <a:r>
              <a:rPr spc="-25" dirty="0"/>
              <a:t> </a:t>
            </a:r>
            <a:r>
              <a:rPr spc="-5" dirty="0"/>
              <a:t>Neuronales</a:t>
            </a:r>
            <a:r>
              <a:rPr spc="-50" dirty="0"/>
              <a:t> </a:t>
            </a:r>
            <a:r>
              <a:rPr spc="-5" dirty="0"/>
              <a:t>Convolucionales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7594600" cy="1329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4414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Capa</a:t>
            </a:r>
            <a:r>
              <a:rPr sz="2400" b="1" spc="-2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“Fully</a:t>
            </a: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Connected”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marR="5080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dirty="0">
                <a:latin typeface="Calibri"/>
                <a:cs typeface="Calibri"/>
              </a:rPr>
              <a:t>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una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capa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que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encuentra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completamente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conectada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(como</a:t>
            </a:r>
            <a:r>
              <a:rPr sz="1800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en</a:t>
            </a:r>
            <a:r>
              <a:rPr sz="18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Calibri"/>
                <a:cs typeface="Calibri"/>
              </a:rPr>
              <a:t>redes </a:t>
            </a:r>
            <a:r>
              <a:rPr sz="1800" spc="-39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neuronales</a:t>
            </a:r>
            <a:r>
              <a:rPr sz="18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ordinarias)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7794" y="5944615"/>
            <a:ext cx="31603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latin typeface="Calibri"/>
                <a:cs typeface="Calibri"/>
              </a:rPr>
              <a:t>Se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suele abreviar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como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FC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3869" y="2605852"/>
            <a:ext cx="2988741" cy="296502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C312F6E8-02AE-07A2-1BC8-E1608C518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ngeniería de Sistemas - UNCP">
            <a:extLst>
              <a:ext uri="{FF2B5EF4-FFF2-40B4-BE49-F238E27FC236}">
                <a16:creationId xmlns:a16="http://schemas.microsoft.com/office/drawing/2014/main" id="{FBA17BEB-981E-FEE1-5B38-F96BE0045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Redes</a:t>
            </a:r>
            <a:r>
              <a:rPr spc="-25" dirty="0"/>
              <a:t> </a:t>
            </a:r>
            <a:r>
              <a:rPr spc="-5" dirty="0"/>
              <a:t>Neuronales</a:t>
            </a:r>
            <a:r>
              <a:rPr spc="-50" dirty="0"/>
              <a:t> </a:t>
            </a:r>
            <a:r>
              <a:rPr spc="-5" dirty="0"/>
              <a:t>Convolucionales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7461884" cy="2265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4545" algn="ctr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Otras</a:t>
            </a:r>
            <a:r>
              <a:rPr sz="2400" b="1" spc="-3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Capas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Capas</a:t>
            </a:r>
            <a:r>
              <a:rPr sz="2000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000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normalización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Font typeface="Calibri"/>
              <a:buChar char="-"/>
              <a:tabLst>
                <a:tab pos="389255" algn="l"/>
              </a:tabLst>
            </a:pPr>
            <a:r>
              <a:rPr sz="1800" i="1" spc="-5" dirty="0">
                <a:solidFill>
                  <a:srgbClr val="6F2F9F"/>
                </a:solidFill>
                <a:latin typeface="Calibri"/>
                <a:cs typeface="Calibri"/>
              </a:rPr>
              <a:t>Batch </a:t>
            </a:r>
            <a:r>
              <a:rPr sz="1800" i="1" spc="-10" dirty="0">
                <a:solidFill>
                  <a:srgbClr val="6F2F9F"/>
                </a:solidFill>
                <a:latin typeface="Calibri"/>
                <a:cs typeface="Calibri"/>
              </a:rPr>
              <a:t>Normalization</a:t>
            </a:r>
            <a:r>
              <a:rPr sz="1800" i="1" spc="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(BN)</a:t>
            </a:r>
            <a:endParaRPr sz="1600">
              <a:latin typeface="Calibri"/>
              <a:cs typeface="Calibri"/>
            </a:endParaRPr>
          </a:p>
          <a:p>
            <a:pPr marL="611505" lvl="2" indent="-226060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600" spc="-5" dirty="0">
                <a:latin typeface="Calibri"/>
                <a:cs typeface="Calibri"/>
              </a:rPr>
              <a:t>Normaliza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activaciones</a:t>
            </a:r>
            <a:r>
              <a:rPr sz="1600" spc="-10" dirty="0">
                <a:latin typeface="Calibri"/>
                <a:cs typeface="Calibri"/>
              </a:rPr>
              <a:t> (“salidas”)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las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capas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ocultas</a:t>
            </a:r>
            <a:endParaRPr sz="1600">
              <a:latin typeface="Calibri"/>
              <a:cs typeface="Calibri"/>
            </a:endParaRPr>
          </a:p>
          <a:p>
            <a:pPr marL="611505" lvl="2" indent="-226060">
              <a:lnSpc>
                <a:spcPct val="100000"/>
              </a:lnSpc>
              <a:spcBef>
                <a:spcPts val="384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600" spc="-5" dirty="0">
                <a:latin typeface="Calibri"/>
                <a:cs typeface="Calibri"/>
              </a:rPr>
              <a:t>Se</a:t>
            </a:r>
            <a:r>
              <a:rPr sz="1600" spc="-10" dirty="0">
                <a:latin typeface="Calibri"/>
                <a:cs typeface="Calibri"/>
              </a:rPr>
              <a:t> coloca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antes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la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función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activación</a:t>
            </a:r>
            <a:endParaRPr sz="1600">
              <a:latin typeface="Calibri"/>
              <a:cs typeface="Calibri"/>
            </a:endParaRPr>
          </a:p>
          <a:p>
            <a:pPr marL="611505" lvl="2" indent="-226060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600" spc="-10" dirty="0">
                <a:latin typeface="Calibri"/>
                <a:cs typeface="Calibri"/>
              </a:rPr>
              <a:t>Busca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evitar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el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desplazamiento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interno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la </a:t>
            </a:r>
            <a:r>
              <a:rPr sz="1600" spc="-10" dirty="0">
                <a:latin typeface="Calibri"/>
                <a:cs typeface="Calibri"/>
              </a:rPr>
              <a:t>covarianza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(“invariant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covariant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5" dirty="0">
                <a:latin typeface="Calibri"/>
                <a:cs typeface="Calibri"/>
              </a:rPr>
              <a:t>shift”)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7794" y="4677917"/>
            <a:ext cx="8149590" cy="150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30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Otras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normalizaciones: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layer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normalization,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group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normalization,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instance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normalization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5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Capas</a:t>
            </a:r>
            <a:r>
              <a:rPr sz="2000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000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regularización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9"/>
              </a:spcBef>
              <a:buFont typeface="Calibri"/>
              <a:buChar char="-"/>
              <a:tabLst>
                <a:tab pos="389255" algn="l"/>
              </a:tabLst>
            </a:pPr>
            <a:r>
              <a:rPr sz="1800" i="1" spc="-10" dirty="0">
                <a:solidFill>
                  <a:srgbClr val="6F2F9F"/>
                </a:solidFill>
                <a:latin typeface="Calibri"/>
                <a:cs typeface="Calibri"/>
              </a:rPr>
              <a:t>Dropout</a:t>
            </a:r>
            <a:r>
              <a:rPr sz="1800" spc="-10" dirty="0">
                <a:latin typeface="Calibri"/>
                <a:cs typeface="Calibri"/>
              </a:rPr>
              <a:t>: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evita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sobre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ajuste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apagando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aleatoriamente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porcentaje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neuronas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Modificaciones: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DropConnect,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SpatialDropout,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Dropout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adaptativo,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variacional,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etc.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6568" y="3357360"/>
            <a:ext cx="2623521" cy="110133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17</a:t>
            </a:fld>
            <a:endParaRPr spc="-5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1404C0D0-5AFC-C8F9-ED19-8B310CFD7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ngeniería de Sistemas - UNCP">
            <a:extLst>
              <a:ext uri="{FF2B5EF4-FFF2-40B4-BE49-F238E27FC236}">
                <a16:creationId xmlns:a16="http://schemas.microsoft.com/office/drawing/2014/main" id="{1BFC79F1-186C-0D05-3CE1-7EED43FC1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Redes</a:t>
            </a:r>
            <a:r>
              <a:rPr spc="-25" dirty="0"/>
              <a:t> </a:t>
            </a:r>
            <a:r>
              <a:rPr spc="-5" dirty="0"/>
              <a:t>Neuronales</a:t>
            </a:r>
            <a:r>
              <a:rPr spc="-50" dirty="0"/>
              <a:t> </a:t>
            </a:r>
            <a:r>
              <a:rPr spc="-5" dirty="0"/>
              <a:t>Convolucionales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18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922782"/>
            <a:ext cx="7042150" cy="5165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4485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Aspectos</a:t>
            </a:r>
            <a:r>
              <a:rPr sz="2400" b="1" spc="-2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Prácticos</a:t>
            </a:r>
            <a:endParaRPr sz="24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spcBef>
                <a:spcPts val="1739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Inicialización de</a:t>
            </a: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 parámetros</a:t>
            </a:r>
            <a:r>
              <a:rPr sz="2000" spc="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Calibri"/>
                <a:cs typeface="Calibri"/>
              </a:rPr>
              <a:t>(pesos)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Depende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dirty="0">
                <a:latin typeface="Calibri"/>
                <a:cs typeface="Calibri"/>
              </a:rPr>
              <a:t> la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función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activación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puede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ayudar</a:t>
            </a:r>
            <a:r>
              <a:rPr sz="1800" dirty="0">
                <a:latin typeface="Calibri"/>
                <a:cs typeface="Calibri"/>
              </a:rPr>
              <a:t> en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convergencia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dirty="0">
                <a:latin typeface="Calibri"/>
                <a:cs typeface="Calibri"/>
              </a:rPr>
              <a:t>Algunas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formas:</a:t>
            </a:r>
            <a:endParaRPr sz="1800">
              <a:latin typeface="Calibri"/>
              <a:cs typeface="Calibri"/>
            </a:endParaRPr>
          </a:p>
          <a:p>
            <a:pPr marL="611505" lvl="2" indent="-226695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600" spc="-5" dirty="0">
                <a:latin typeface="Calibri"/>
                <a:cs typeface="Calibri"/>
              </a:rPr>
              <a:t>Inicialización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aleatoria</a:t>
            </a:r>
            <a:endParaRPr sz="1600">
              <a:latin typeface="Calibri"/>
              <a:cs typeface="Calibri"/>
            </a:endParaRPr>
          </a:p>
          <a:p>
            <a:pPr marL="611505" lvl="2" indent="-22669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600" spc="-5" dirty="0">
                <a:latin typeface="Calibri"/>
                <a:cs typeface="Calibri"/>
              </a:rPr>
              <a:t>Inicialización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Xavier</a:t>
            </a:r>
            <a:endParaRPr sz="1600">
              <a:latin typeface="Calibri"/>
              <a:cs typeface="Calibri"/>
            </a:endParaRPr>
          </a:p>
          <a:p>
            <a:pPr marL="611505" lvl="2" indent="-226695">
              <a:lnSpc>
                <a:spcPct val="100000"/>
              </a:lnSpc>
              <a:spcBef>
                <a:spcPts val="384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600" spc="-5" dirty="0">
                <a:latin typeface="Calibri"/>
                <a:cs typeface="Calibri"/>
              </a:rPr>
              <a:t>Inicialización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Kaiming/MSRA</a:t>
            </a:r>
            <a:endParaRPr sz="160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175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Regularización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spc="-15" dirty="0">
                <a:latin typeface="Calibri"/>
                <a:cs typeface="Calibri"/>
              </a:rPr>
              <a:t>Evita</a:t>
            </a:r>
            <a:r>
              <a:rPr sz="1800" dirty="0">
                <a:latin typeface="Calibri"/>
                <a:cs typeface="Calibri"/>
              </a:rPr>
              <a:t> el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sobreajuste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(“overfitting”)</a:t>
            </a:r>
            <a:r>
              <a:rPr sz="1600" spc="8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permite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mejor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entrenamiento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dirty="0">
                <a:latin typeface="Calibri"/>
                <a:cs typeface="Calibri"/>
              </a:rPr>
              <a:t>Algunas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formas:</a:t>
            </a:r>
            <a:endParaRPr sz="1800">
              <a:latin typeface="Calibri"/>
              <a:cs typeface="Calibri"/>
            </a:endParaRPr>
          </a:p>
          <a:p>
            <a:pPr marL="611505" lvl="2" indent="-226695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600" spc="-5" dirty="0">
                <a:latin typeface="Calibri"/>
                <a:cs typeface="Calibri"/>
              </a:rPr>
              <a:t>Aumento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datos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(“Data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augmentation”)</a:t>
            </a:r>
            <a:endParaRPr sz="1600">
              <a:latin typeface="Calibri"/>
              <a:cs typeface="Calibri"/>
            </a:endParaRPr>
          </a:p>
          <a:p>
            <a:pPr marL="611505" lvl="2" indent="-22669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600" spc="-15" dirty="0">
                <a:latin typeface="Calibri"/>
                <a:cs typeface="Calibri"/>
              </a:rPr>
              <a:t>Drop</a:t>
            </a:r>
            <a:r>
              <a:rPr sz="1600" spc="-10" dirty="0">
                <a:latin typeface="Calibri"/>
                <a:cs typeface="Calibri"/>
              </a:rPr>
              <a:t> connect</a:t>
            </a:r>
            <a:endParaRPr sz="1600">
              <a:latin typeface="Calibri"/>
              <a:cs typeface="Calibri"/>
            </a:endParaRPr>
          </a:p>
          <a:p>
            <a:pPr marL="611505" lvl="2" indent="-22669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600" spc="-10" dirty="0">
                <a:latin typeface="Calibri"/>
                <a:cs typeface="Calibri"/>
              </a:rPr>
              <a:t>Fractional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pooling</a:t>
            </a:r>
            <a:endParaRPr sz="1600">
              <a:latin typeface="Calibri"/>
              <a:cs typeface="Calibri"/>
            </a:endParaRPr>
          </a:p>
          <a:p>
            <a:pPr marL="611505" lvl="2" indent="-22669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600" spc="-5" dirty="0">
                <a:latin typeface="Calibri"/>
                <a:cs typeface="Calibri"/>
              </a:rPr>
              <a:t>Profundidad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estocástica</a:t>
            </a:r>
            <a:endParaRPr sz="1600">
              <a:latin typeface="Calibri"/>
              <a:cs typeface="Calibri"/>
            </a:endParaRPr>
          </a:p>
          <a:p>
            <a:pPr marL="611505" lvl="2" indent="-22669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600" spc="-10" dirty="0">
                <a:latin typeface="Calibri"/>
                <a:cs typeface="Calibri"/>
              </a:rPr>
              <a:t>Early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stopping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A88A6B2D-3302-2567-E057-4EF3FB415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Ingeniería de Sistemas - UNCP">
            <a:extLst>
              <a:ext uri="{FF2B5EF4-FFF2-40B4-BE49-F238E27FC236}">
                <a16:creationId xmlns:a16="http://schemas.microsoft.com/office/drawing/2014/main" id="{86548286-912C-A9AE-A02D-EDBA3D416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1105" y="6633464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585858"/>
                </a:solidFill>
                <a:latin typeface="Calibri"/>
                <a:cs typeface="Calibri"/>
              </a:rPr>
              <a:t>19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Redes</a:t>
            </a:r>
            <a:r>
              <a:rPr spc="-25" dirty="0"/>
              <a:t> </a:t>
            </a:r>
            <a:r>
              <a:rPr spc="-5" dirty="0"/>
              <a:t>Neuronales</a:t>
            </a:r>
            <a:r>
              <a:rPr spc="-50" dirty="0"/>
              <a:t> </a:t>
            </a:r>
            <a:r>
              <a:rPr spc="-5" dirty="0"/>
              <a:t>Convolucionales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922782"/>
            <a:ext cx="7115175" cy="1955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635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Arquitecturas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CNN</a:t>
            </a:r>
            <a:endParaRPr sz="24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spcBef>
                <a:spcPts val="1839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latin typeface="Calibri"/>
                <a:cs typeface="Calibri"/>
              </a:rPr>
              <a:t>Consiste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5" dirty="0">
                <a:latin typeface="Calibri"/>
                <a:cs typeface="Calibri"/>
              </a:rPr>
              <a:t> disposición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capas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(y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sus </a:t>
            </a:r>
            <a:r>
              <a:rPr sz="1800" spc="-10" dirty="0">
                <a:latin typeface="Calibri"/>
                <a:cs typeface="Calibri"/>
              </a:rPr>
              <a:t>características)</a:t>
            </a:r>
            <a:r>
              <a:rPr sz="1800" spc="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 una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CNN</a:t>
            </a:r>
            <a:endParaRPr sz="20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medida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va </a:t>
            </a:r>
            <a:r>
              <a:rPr sz="2000" dirty="0">
                <a:latin typeface="Calibri"/>
                <a:cs typeface="Calibri"/>
              </a:rPr>
              <a:t>más </a:t>
            </a:r>
            <a:r>
              <a:rPr sz="2000" spc="-10" dirty="0">
                <a:latin typeface="Calibri"/>
                <a:cs typeface="Calibri"/>
              </a:rPr>
              <a:t>adentro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 la</a:t>
            </a:r>
            <a:r>
              <a:rPr sz="2000" spc="-5" dirty="0">
                <a:latin typeface="Calibri"/>
                <a:cs typeface="Calibri"/>
              </a:rPr>
              <a:t> red: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El </a:t>
            </a:r>
            <a:r>
              <a:rPr sz="1800" spc="-10" dirty="0">
                <a:latin typeface="Calibri"/>
                <a:cs typeface="Calibri"/>
              </a:rPr>
              <a:t>tamaño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 imagen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tiende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decrecer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profundidad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tiende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incrementarse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5483796"/>
            <a:ext cx="5465445" cy="72453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20" dirty="0">
                <a:latin typeface="Calibri"/>
                <a:cs typeface="Calibri"/>
              </a:rPr>
              <a:t>Patrón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común: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Conv-Pool-Conv-Pool-FC-FC-FC-Softmax</a:t>
            </a:r>
            <a:endParaRPr sz="18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spcBef>
                <a:spcPts val="445"/>
              </a:spcBef>
              <a:buFont typeface="Arial MT"/>
              <a:buChar char="•"/>
              <a:tabLst>
                <a:tab pos="209550" algn="l"/>
              </a:tabLst>
            </a:pPr>
            <a:r>
              <a:rPr sz="1800" spc="-10" dirty="0">
                <a:latin typeface="Calibri"/>
                <a:cs typeface="Calibri"/>
              </a:rPr>
              <a:t>Existen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diversas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arquitecturas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bastante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conocidas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0301" y="3303594"/>
            <a:ext cx="8261702" cy="170768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646932" y="3604259"/>
            <a:ext cx="396875" cy="40703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16205">
              <a:lnSpc>
                <a:spcPts val="980"/>
              </a:lnSpc>
            </a:pPr>
            <a:r>
              <a:rPr sz="1200" dirty="0">
                <a:latin typeface="Calibri"/>
                <a:cs typeface="Calibri"/>
              </a:rPr>
              <a:t>M</a:t>
            </a:r>
            <a:r>
              <a:rPr sz="1200" spc="-15" dirty="0">
                <a:latin typeface="Calibri"/>
                <a:cs typeface="Calibri"/>
              </a:rPr>
              <a:t>a</a:t>
            </a:r>
            <a:r>
              <a:rPr sz="1200" dirty="0">
                <a:latin typeface="Calibri"/>
                <a:cs typeface="Calibri"/>
              </a:rPr>
              <a:t>x</a:t>
            </a:r>
            <a:endParaRPr sz="1200">
              <a:latin typeface="Calibri"/>
              <a:cs typeface="Calibri"/>
            </a:endParaRPr>
          </a:p>
          <a:p>
            <a:pPr marL="113030">
              <a:lnSpc>
                <a:spcPct val="100000"/>
              </a:lnSpc>
            </a:pPr>
            <a:r>
              <a:rPr sz="1200" spc="-20" dirty="0">
                <a:latin typeface="Calibri"/>
                <a:cs typeface="Calibri"/>
              </a:rPr>
              <a:t>P</a:t>
            </a:r>
            <a:r>
              <a:rPr sz="1200" spc="-5" dirty="0">
                <a:latin typeface="Calibri"/>
                <a:cs typeface="Calibri"/>
              </a:rPr>
              <a:t>o</a:t>
            </a:r>
            <a:r>
              <a:rPr sz="1200" spc="5" dirty="0">
                <a:latin typeface="Calibri"/>
                <a:cs typeface="Calibri"/>
              </a:rPr>
              <a:t>o</a:t>
            </a:r>
            <a:r>
              <a:rPr sz="1200" dirty="0">
                <a:latin typeface="Calibri"/>
                <a:cs typeface="Calibri"/>
              </a:rPr>
              <a:t>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10884" y="3604259"/>
            <a:ext cx="490855" cy="40703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19380">
              <a:lnSpc>
                <a:spcPts val="1170"/>
              </a:lnSpc>
            </a:pPr>
            <a:r>
              <a:rPr sz="1200" spc="-5" dirty="0">
                <a:latin typeface="Calibri"/>
                <a:cs typeface="Calibri"/>
              </a:rPr>
              <a:t>Max</a:t>
            </a:r>
            <a:endParaRPr sz="1200">
              <a:latin typeface="Calibri"/>
              <a:cs typeface="Calibri"/>
            </a:endParaRPr>
          </a:p>
          <a:p>
            <a:pPr marL="116205">
              <a:lnSpc>
                <a:spcPct val="100000"/>
              </a:lnSpc>
            </a:pPr>
            <a:r>
              <a:rPr sz="1200" spc="-5" dirty="0">
                <a:latin typeface="Calibri"/>
                <a:cs typeface="Calibri"/>
              </a:rPr>
              <a:t>Pool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39442" y="3600069"/>
            <a:ext cx="384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200" spc="-5" dirty="0">
                <a:latin typeface="Calibri"/>
                <a:cs typeface="Calibri"/>
              </a:rPr>
              <a:t>filtros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37835" y="3557396"/>
            <a:ext cx="384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16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200" spc="-5" dirty="0">
                <a:latin typeface="Calibri"/>
                <a:cs typeface="Calibri"/>
              </a:rPr>
              <a:t>filtros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48353" y="3435477"/>
            <a:ext cx="5340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Times New Roman"/>
                <a:cs typeface="Times New Roman"/>
              </a:rPr>
              <a:t>P</a:t>
            </a:r>
            <a:r>
              <a:rPr sz="1200" i="1" spc="-10" dirty="0">
                <a:latin typeface="Times New Roman"/>
                <a:cs typeface="Times New Roman"/>
              </a:rPr>
              <a:t>O</a:t>
            </a:r>
            <a:r>
              <a:rPr sz="1200" i="1" spc="-5" dirty="0">
                <a:latin typeface="Times New Roman"/>
                <a:cs typeface="Times New Roman"/>
              </a:rPr>
              <a:t>OL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47738" y="3419094"/>
            <a:ext cx="534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Times New Roman"/>
                <a:cs typeface="Times New Roman"/>
              </a:rPr>
              <a:t>P</a:t>
            </a:r>
            <a:r>
              <a:rPr sz="1200" i="1" spc="-10" dirty="0">
                <a:latin typeface="Times New Roman"/>
                <a:cs typeface="Times New Roman"/>
              </a:rPr>
              <a:t>O</a:t>
            </a:r>
            <a:r>
              <a:rPr sz="1200" i="1" spc="-5" dirty="0">
                <a:latin typeface="Times New Roman"/>
                <a:cs typeface="Times New Roman"/>
              </a:rPr>
              <a:t>OL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42642" y="6577076"/>
            <a:ext cx="494093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7E7E7E"/>
                </a:solidFill>
                <a:latin typeface="Calibri"/>
                <a:cs typeface="Calibri"/>
              </a:rPr>
              <a:t>LeCun,</a:t>
            </a:r>
            <a:r>
              <a:rPr sz="11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7E7E7E"/>
                </a:solidFill>
                <a:latin typeface="Calibri"/>
                <a:cs typeface="Calibri"/>
              </a:rPr>
              <a:t>Yann, </a:t>
            </a:r>
            <a:r>
              <a:rPr sz="1100" dirty="0">
                <a:solidFill>
                  <a:srgbClr val="7E7E7E"/>
                </a:solidFill>
                <a:latin typeface="Calibri"/>
                <a:cs typeface="Calibri"/>
              </a:rPr>
              <a:t>et</a:t>
            </a:r>
            <a:r>
              <a:rPr sz="11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7E7E7E"/>
                </a:solidFill>
                <a:latin typeface="Calibri"/>
                <a:cs typeface="Calibri"/>
              </a:rPr>
              <a:t>al.</a:t>
            </a:r>
            <a:r>
              <a:rPr sz="11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7E7E7E"/>
                </a:solidFill>
                <a:latin typeface="Calibri"/>
                <a:cs typeface="Calibri"/>
              </a:rPr>
              <a:t>"Gradient-based</a:t>
            </a:r>
            <a:r>
              <a:rPr sz="11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7E7E7E"/>
                </a:solidFill>
                <a:latin typeface="Calibri"/>
                <a:cs typeface="Calibri"/>
              </a:rPr>
              <a:t>learning</a:t>
            </a:r>
            <a:r>
              <a:rPr sz="11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7E7E7E"/>
                </a:solidFill>
                <a:latin typeface="Calibri"/>
                <a:cs typeface="Calibri"/>
              </a:rPr>
              <a:t>applied</a:t>
            </a:r>
            <a:r>
              <a:rPr sz="11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7E7E7E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7E7E7E"/>
                </a:solidFill>
                <a:latin typeface="Calibri"/>
                <a:cs typeface="Calibri"/>
              </a:rPr>
              <a:t>document</a:t>
            </a:r>
            <a:r>
              <a:rPr sz="11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7E7E7E"/>
                </a:solidFill>
                <a:latin typeface="Calibri"/>
                <a:cs typeface="Calibri"/>
              </a:rPr>
              <a:t>recognition."</a:t>
            </a:r>
            <a:r>
              <a:rPr sz="1100" spc="2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7E7E7E"/>
                </a:solidFill>
                <a:latin typeface="Calibri"/>
                <a:cs typeface="Calibri"/>
              </a:rPr>
              <a:t>(1998)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E42188AD-2F17-633A-2422-A392E7649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Ingeniería de Sistemas - UNCP">
            <a:extLst>
              <a:ext uri="{FF2B5EF4-FFF2-40B4-BE49-F238E27FC236}">
                <a16:creationId xmlns:a16="http://schemas.microsoft.com/office/drawing/2014/main" id="{080DF0B9-6D72-0787-1D50-E06BFC022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1105" y="6633464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922782"/>
            <a:ext cx="5734685" cy="930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635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Arquitecturas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CNN</a:t>
            </a:r>
            <a:endParaRPr sz="24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spcBef>
                <a:spcPts val="1839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latin typeface="Calibri"/>
                <a:cs typeface="Calibri"/>
              </a:rPr>
              <a:t>Ejemplo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capas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arquitectura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5" dirty="0">
                <a:latin typeface="Calibri"/>
                <a:cs typeface="Calibri"/>
              </a:rPr>
              <a:t>clasificación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8576" y="2142744"/>
            <a:ext cx="7906511" cy="381762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Redes</a:t>
            </a:r>
            <a:r>
              <a:rPr spc="-25" dirty="0"/>
              <a:t> </a:t>
            </a:r>
            <a:r>
              <a:rPr spc="-5" dirty="0"/>
              <a:t>Neuronales</a:t>
            </a:r>
            <a:r>
              <a:rPr spc="-50" dirty="0"/>
              <a:t> </a:t>
            </a:r>
            <a:r>
              <a:rPr spc="-5" dirty="0"/>
              <a:t>Convolucionales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615197E-E1E0-3F5E-2D76-5119873A03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2EA7F298-097D-781D-0712-928C68963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1105" y="6633464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585858"/>
                </a:solidFill>
                <a:latin typeface="Calibri"/>
                <a:cs typeface="Calibri"/>
              </a:rPr>
              <a:t>21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21917"/>
            <a:ext cx="10210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25" dirty="0">
                <a:solidFill>
                  <a:srgbClr val="00AF50"/>
                </a:solidFill>
                <a:latin typeface="Calibri"/>
                <a:cs typeface="Calibri"/>
              </a:rPr>
              <a:t>V</a:t>
            </a: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G</a:t>
            </a: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G-</a:t>
            </a: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16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8383" y="2188464"/>
            <a:ext cx="6896127" cy="405231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50442" y="6571284"/>
            <a:ext cx="616775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" dirty="0">
                <a:solidFill>
                  <a:srgbClr val="7E7E7E"/>
                </a:solidFill>
                <a:latin typeface="Calibri"/>
                <a:cs typeface="Calibri"/>
              </a:rPr>
              <a:t>K.Simonyan</a:t>
            </a:r>
            <a:r>
              <a:rPr sz="11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7E7E7E"/>
                </a:solidFill>
                <a:latin typeface="Calibri"/>
                <a:cs typeface="Calibri"/>
              </a:rPr>
              <a:t>and</a:t>
            </a:r>
            <a:r>
              <a:rPr sz="1100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7E7E7E"/>
                </a:solidFill>
                <a:latin typeface="Calibri"/>
                <a:cs typeface="Calibri"/>
              </a:rPr>
              <a:t>A.Zisserman.</a:t>
            </a:r>
            <a:r>
              <a:rPr sz="11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7E7E7E"/>
                </a:solidFill>
                <a:latin typeface="Calibri"/>
                <a:cs typeface="Calibri"/>
              </a:rPr>
              <a:t>"Very</a:t>
            </a:r>
            <a:r>
              <a:rPr sz="11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7E7E7E"/>
                </a:solidFill>
                <a:latin typeface="Calibri"/>
                <a:cs typeface="Calibri"/>
              </a:rPr>
              <a:t>deep</a:t>
            </a:r>
            <a:r>
              <a:rPr sz="11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7E7E7E"/>
                </a:solidFill>
                <a:latin typeface="Calibri"/>
                <a:cs typeface="Calibri"/>
              </a:rPr>
              <a:t>convolutional</a:t>
            </a:r>
            <a:r>
              <a:rPr sz="11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7E7E7E"/>
                </a:solidFill>
                <a:latin typeface="Calibri"/>
                <a:cs typeface="Calibri"/>
              </a:rPr>
              <a:t>networks</a:t>
            </a:r>
            <a:r>
              <a:rPr sz="11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7E7E7E"/>
                </a:solidFill>
                <a:latin typeface="Calibri"/>
                <a:cs typeface="Calibri"/>
              </a:rPr>
              <a:t>for</a:t>
            </a:r>
            <a:r>
              <a:rPr sz="11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7E7E7E"/>
                </a:solidFill>
                <a:latin typeface="Calibri"/>
                <a:cs typeface="Calibri"/>
              </a:rPr>
              <a:t>large-scale </a:t>
            </a:r>
            <a:r>
              <a:rPr sz="1100" dirty="0">
                <a:solidFill>
                  <a:srgbClr val="7E7E7E"/>
                </a:solidFill>
                <a:latin typeface="Calibri"/>
                <a:cs typeface="Calibri"/>
              </a:rPr>
              <a:t>image</a:t>
            </a:r>
            <a:r>
              <a:rPr sz="1100" spc="-5" dirty="0">
                <a:solidFill>
                  <a:srgbClr val="7E7E7E"/>
                </a:solidFill>
                <a:latin typeface="Calibri"/>
                <a:cs typeface="Calibri"/>
              </a:rPr>
              <a:t> recognition."</a:t>
            </a:r>
            <a:r>
              <a:rPr sz="1100" spc="2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7E7E7E"/>
                </a:solidFill>
                <a:latin typeface="Calibri"/>
                <a:cs typeface="Calibri"/>
              </a:rPr>
              <a:t>(2014).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Redes</a:t>
            </a:r>
            <a:r>
              <a:rPr spc="-25" dirty="0"/>
              <a:t> </a:t>
            </a:r>
            <a:r>
              <a:rPr spc="-5" dirty="0"/>
              <a:t>Neuronales</a:t>
            </a:r>
            <a:r>
              <a:rPr spc="-50" dirty="0"/>
              <a:t> </a:t>
            </a:r>
            <a:r>
              <a:rPr spc="-5" dirty="0"/>
              <a:t>Convolucionales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191382" y="922782"/>
            <a:ext cx="2760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Arquitecturas</a:t>
            </a:r>
            <a:r>
              <a:rPr sz="2400" b="1" spc="-2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2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CNN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DDF21F1-7EEA-B939-C851-5777FE112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Ingeniería de Sistemas - UNCP">
            <a:extLst>
              <a:ext uri="{FF2B5EF4-FFF2-40B4-BE49-F238E27FC236}">
                <a16:creationId xmlns:a16="http://schemas.microsoft.com/office/drawing/2014/main" id="{F09E1E3D-8E9A-922E-EDF2-87F4C4DAC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349545"/>
            <a:ext cx="6442075" cy="5173345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146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VGG-16</a:t>
            </a:r>
            <a:endParaRPr sz="2000">
              <a:latin typeface="Calibri"/>
              <a:cs typeface="Calibri"/>
            </a:endParaRPr>
          </a:p>
          <a:p>
            <a:pPr marL="347345">
              <a:lnSpc>
                <a:spcPct val="100000"/>
              </a:lnSpc>
              <a:spcBef>
                <a:spcPts val="880"/>
              </a:spcBef>
            </a:pP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Capas</a:t>
            </a:r>
            <a:r>
              <a:rPr sz="13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7E7E7E"/>
                </a:solidFill>
                <a:latin typeface="Calibri"/>
                <a:cs typeface="Calibri"/>
              </a:rPr>
              <a:t>convolucionales:</a:t>
            </a:r>
            <a:endParaRPr sz="1300">
              <a:latin typeface="Calibri"/>
              <a:cs typeface="Calibri"/>
            </a:endParaRPr>
          </a:p>
          <a:p>
            <a:pPr marL="461645">
              <a:lnSpc>
                <a:spcPct val="100000"/>
              </a:lnSpc>
            </a:pPr>
            <a:r>
              <a:rPr sz="1300" spc="-10" dirty="0">
                <a:solidFill>
                  <a:srgbClr val="7E7E7E"/>
                </a:solidFill>
                <a:latin typeface="Calibri"/>
                <a:cs typeface="Calibri"/>
              </a:rPr>
              <a:t>(Conv1):</a:t>
            </a:r>
            <a:r>
              <a:rPr sz="1300" spc="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7E7E7E"/>
                </a:solidFill>
                <a:latin typeface="Calibri"/>
                <a:cs typeface="Calibri"/>
              </a:rPr>
              <a:t>Conv2D(64,</a:t>
            </a:r>
            <a:r>
              <a:rPr sz="1300" spc="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(3,</a:t>
            </a:r>
            <a:r>
              <a:rPr sz="1300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E7E7E"/>
                </a:solidFill>
                <a:latin typeface="Calibri"/>
                <a:cs typeface="Calibri"/>
              </a:rPr>
              <a:t>3),</a:t>
            </a:r>
            <a:r>
              <a:rPr sz="1300" spc="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activation='relu',</a:t>
            </a:r>
            <a:r>
              <a:rPr sz="1300" spc="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padding='same',</a:t>
            </a:r>
            <a:r>
              <a:rPr sz="1300" spc="5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input_shape=(224,</a:t>
            </a:r>
            <a:r>
              <a:rPr sz="1300" spc="7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224,</a:t>
            </a:r>
            <a:r>
              <a:rPr sz="1300" spc="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E7E7E"/>
                </a:solidFill>
                <a:latin typeface="Calibri"/>
                <a:cs typeface="Calibri"/>
              </a:rPr>
              <a:t>3))</a:t>
            </a:r>
            <a:endParaRPr sz="1300">
              <a:latin typeface="Calibri"/>
              <a:cs typeface="Calibri"/>
            </a:endParaRPr>
          </a:p>
          <a:p>
            <a:pPr marL="461645">
              <a:lnSpc>
                <a:spcPct val="100000"/>
              </a:lnSpc>
            </a:pPr>
            <a:r>
              <a:rPr sz="1300" spc="-10" dirty="0">
                <a:solidFill>
                  <a:srgbClr val="7E7E7E"/>
                </a:solidFill>
                <a:latin typeface="Calibri"/>
                <a:cs typeface="Calibri"/>
              </a:rPr>
              <a:t>(Conv2):</a:t>
            </a:r>
            <a:r>
              <a:rPr sz="1300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7E7E7E"/>
                </a:solidFill>
                <a:latin typeface="Calibri"/>
                <a:cs typeface="Calibri"/>
              </a:rPr>
              <a:t>Conv2D(64,</a:t>
            </a:r>
            <a:r>
              <a:rPr sz="1300" spc="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(3,</a:t>
            </a:r>
            <a:r>
              <a:rPr sz="1300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E7E7E"/>
                </a:solidFill>
                <a:latin typeface="Calibri"/>
                <a:cs typeface="Calibri"/>
              </a:rPr>
              <a:t>3),</a:t>
            </a:r>
            <a:r>
              <a:rPr sz="1300" spc="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activation='relu',</a:t>
            </a:r>
            <a:r>
              <a:rPr sz="1300" spc="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padding='same’)</a:t>
            </a:r>
            <a:endParaRPr sz="1300">
              <a:latin typeface="Calibri"/>
              <a:cs typeface="Calibri"/>
            </a:endParaRPr>
          </a:p>
          <a:p>
            <a:pPr marL="461645">
              <a:lnSpc>
                <a:spcPct val="100000"/>
              </a:lnSpc>
            </a:pPr>
            <a:r>
              <a:rPr sz="1300" spc="-10" dirty="0">
                <a:solidFill>
                  <a:srgbClr val="7E7E7E"/>
                </a:solidFill>
                <a:latin typeface="Calibri"/>
                <a:cs typeface="Calibri"/>
              </a:rPr>
              <a:t>(MaxPool1):</a:t>
            </a:r>
            <a:r>
              <a:rPr sz="1300" spc="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7E7E7E"/>
                </a:solidFill>
                <a:latin typeface="Calibri"/>
                <a:cs typeface="Calibri"/>
              </a:rPr>
              <a:t>MaxPooling2D((2,</a:t>
            </a:r>
            <a:r>
              <a:rPr sz="1300" spc="6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E7E7E"/>
                </a:solidFill>
                <a:latin typeface="Calibri"/>
                <a:cs typeface="Calibri"/>
              </a:rPr>
              <a:t>2),</a:t>
            </a:r>
            <a:r>
              <a:rPr sz="1300" spc="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strides=(2,</a:t>
            </a:r>
            <a:r>
              <a:rPr sz="1300" spc="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E7E7E"/>
                </a:solidFill>
                <a:latin typeface="Calibri"/>
                <a:cs typeface="Calibri"/>
              </a:rPr>
              <a:t>2))</a:t>
            </a:r>
            <a:endParaRPr sz="1300">
              <a:latin typeface="Calibri"/>
              <a:cs typeface="Calibri"/>
            </a:endParaRPr>
          </a:p>
          <a:p>
            <a:pPr marL="461645">
              <a:lnSpc>
                <a:spcPct val="100000"/>
              </a:lnSpc>
            </a:pPr>
            <a:r>
              <a:rPr sz="1300" spc="-10" dirty="0">
                <a:solidFill>
                  <a:srgbClr val="7E7E7E"/>
                </a:solidFill>
                <a:latin typeface="Calibri"/>
                <a:cs typeface="Calibri"/>
              </a:rPr>
              <a:t>(Conv3):</a:t>
            </a:r>
            <a:r>
              <a:rPr sz="1300" spc="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7E7E7E"/>
                </a:solidFill>
                <a:latin typeface="Calibri"/>
                <a:cs typeface="Calibri"/>
              </a:rPr>
              <a:t>Conv2D(128,</a:t>
            </a:r>
            <a:r>
              <a:rPr sz="1300" spc="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(3,</a:t>
            </a:r>
            <a:r>
              <a:rPr sz="1300" spc="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E7E7E"/>
                </a:solidFill>
                <a:latin typeface="Calibri"/>
                <a:cs typeface="Calibri"/>
              </a:rPr>
              <a:t>3),</a:t>
            </a:r>
            <a:r>
              <a:rPr sz="1300" spc="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activation='relu',</a:t>
            </a:r>
            <a:r>
              <a:rPr sz="1300" spc="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padding='same’)</a:t>
            </a:r>
            <a:endParaRPr sz="1300">
              <a:latin typeface="Calibri"/>
              <a:cs typeface="Calibri"/>
            </a:endParaRPr>
          </a:p>
          <a:p>
            <a:pPr marL="461645">
              <a:lnSpc>
                <a:spcPct val="100000"/>
              </a:lnSpc>
            </a:pPr>
            <a:r>
              <a:rPr sz="1300" spc="-10" dirty="0">
                <a:solidFill>
                  <a:srgbClr val="7E7E7E"/>
                </a:solidFill>
                <a:latin typeface="Calibri"/>
                <a:cs typeface="Calibri"/>
              </a:rPr>
              <a:t>(Conv4):</a:t>
            </a:r>
            <a:r>
              <a:rPr sz="1300" spc="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7E7E7E"/>
                </a:solidFill>
                <a:latin typeface="Calibri"/>
                <a:cs typeface="Calibri"/>
              </a:rPr>
              <a:t>Conv2D(128,</a:t>
            </a:r>
            <a:r>
              <a:rPr sz="1300" spc="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(3,</a:t>
            </a:r>
            <a:r>
              <a:rPr sz="1300" spc="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E7E7E"/>
                </a:solidFill>
                <a:latin typeface="Calibri"/>
                <a:cs typeface="Calibri"/>
              </a:rPr>
              <a:t>3),</a:t>
            </a:r>
            <a:r>
              <a:rPr sz="1300" spc="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activation='relu',</a:t>
            </a:r>
            <a:r>
              <a:rPr sz="1300" spc="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padding='same’)</a:t>
            </a:r>
            <a:endParaRPr sz="1300">
              <a:latin typeface="Calibri"/>
              <a:cs typeface="Calibri"/>
            </a:endParaRPr>
          </a:p>
          <a:p>
            <a:pPr marL="461645">
              <a:lnSpc>
                <a:spcPct val="100000"/>
              </a:lnSpc>
            </a:pPr>
            <a:r>
              <a:rPr sz="1300" spc="-10" dirty="0">
                <a:solidFill>
                  <a:srgbClr val="7E7E7E"/>
                </a:solidFill>
                <a:latin typeface="Calibri"/>
                <a:cs typeface="Calibri"/>
              </a:rPr>
              <a:t>(MaxPool2):</a:t>
            </a:r>
            <a:r>
              <a:rPr sz="1300" spc="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7E7E7E"/>
                </a:solidFill>
                <a:latin typeface="Calibri"/>
                <a:cs typeface="Calibri"/>
              </a:rPr>
              <a:t>MaxPooling2D((2,</a:t>
            </a:r>
            <a:r>
              <a:rPr sz="1300" spc="6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E7E7E"/>
                </a:solidFill>
                <a:latin typeface="Calibri"/>
                <a:cs typeface="Calibri"/>
              </a:rPr>
              <a:t>2),</a:t>
            </a:r>
            <a:r>
              <a:rPr sz="1300" spc="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strides=(2,</a:t>
            </a:r>
            <a:r>
              <a:rPr sz="1300" spc="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E7E7E"/>
                </a:solidFill>
                <a:latin typeface="Calibri"/>
                <a:cs typeface="Calibri"/>
              </a:rPr>
              <a:t>2))</a:t>
            </a:r>
            <a:endParaRPr sz="1300">
              <a:latin typeface="Calibri"/>
              <a:cs typeface="Calibri"/>
            </a:endParaRPr>
          </a:p>
          <a:p>
            <a:pPr marL="461645">
              <a:lnSpc>
                <a:spcPct val="100000"/>
              </a:lnSpc>
            </a:pPr>
            <a:r>
              <a:rPr sz="1300" spc="-10" dirty="0">
                <a:solidFill>
                  <a:srgbClr val="7E7E7E"/>
                </a:solidFill>
                <a:latin typeface="Calibri"/>
                <a:cs typeface="Calibri"/>
              </a:rPr>
              <a:t>(Conv5):</a:t>
            </a:r>
            <a:r>
              <a:rPr sz="1300" spc="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Conv2D(256,</a:t>
            </a:r>
            <a:r>
              <a:rPr sz="1300" spc="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(3,</a:t>
            </a:r>
            <a:r>
              <a:rPr sz="1300" spc="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3),</a:t>
            </a:r>
            <a:r>
              <a:rPr sz="1300" spc="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activation='relu',</a:t>
            </a:r>
            <a:r>
              <a:rPr sz="1300" spc="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padding='same’)</a:t>
            </a:r>
            <a:endParaRPr sz="1300">
              <a:latin typeface="Calibri"/>
              <a:cs typeface="Calibri"/>
            </a:endParaRPr>
          </a:p>
          <a:p>
            <a:pPr marL="461645">
              <a:lnSpc>
                <a:spcPct val="100000"/>
              </a:lnSpc>
              <a:spcBef>
                <a:spcPts val="5"/>
              </a:spcBef>
            </a:pPr>
            <a:r>
              <a:rPr sz="1300" spc="-10" dirty="0">
                <a:solidFill>
                  <a:srgbClr val="7E7E7E"/>
                </a:solidFill>
                <a:latin typeface="Calibri"/>
                <a:cs typeface="Calibri"/>
              </a:rPr>
              <a:t>(Conv6):</a:t>
            </a:r>
            <a:r>
              <a:rPr sz="1300" spc="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7E7E7E"/>
                </a:solidFill>
                <a:latin typeface="Calibri"/>
                <a:cs typeface="Calibri"/>
              </a:rPr>
              <a:t>Conv2D(256,</a:t>
            </a:r>
            <a:r>
              <a:rPr sz="1300" spc="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(3,</a:t>
            </a:r>
            <a:r>
              <a:rPr sz="1300" spc="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E7E7E"/>
                </a:solidFill>
                <a:latin typeface="Calibri"/>
                <a:cs typeface="Calibri"/>
              </a:rPr>
              <a:t>3),</a:t>
            </a:r>
            <a:r>
              <a:rPr sz="1300" spc="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activation='relu',</a:t>
            </a:r>
            <a:r>
              <a:rPr sz="1300" spc="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padding='same’)</a:t>
            </a:r>
            <a:endParaRPr sz="1300">
              <a:latin typeface="Calibri"/>
              <a:cs typeface="Calibri"/>
            </a:endParaRPr>
          </a:p>
          <a:p>
            <a:pPr marL="461645">
              <a:lnSpc>
                <a:spcPct val="100000"/>
              </a:lnSpc>
            </a:pPr>
            <a:r>
              <a:rPr sz="1300" spc="-10" dirty="0">
                <a:solidFill>
                  <a:srgbClr val="7E7E7E"/>
                </a:solidFill>
                <a:latin typeface="Calibri"/>
                <a:cs typeface="Calibri"/>
              </a:rPr>
              <a:t>(Conv7):</a:t>
            </a:r>
            <a:r>
              <a:rPr sz="1300" spc="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7E7E7E"/>
                </a:solidFill>
                <a:latin typeface="Calibri"/>
                <a:cs typeface="Calibri"/>
              </a:rPr>
              <a:t>Conv2D(256,</a:t>
            </a:r>
            <a:r>
              <a:rPr sz="1300" spc="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(3,</a:t>
            </a:r>
            <a:r>
              <a:rPr sz="1300" spc="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E7E7E"/>
                </a:solidFill>
                <a:latin typeface="Calibri"/>
                <a:cs typeface="Calibri"/>
              </a:rPr>
              <a:t>3),</a:t>
            </a:r>
            <a:r>
              <a:rPr sz="1300" spc="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activation='relu',</a:t>
            </a:r>
            <a:r>
              <a:rPr sz="1300" spc="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padding='same’)</a:t>
            </a:r>
            <a:endParaRPr sz="1300">
              <a:latin typeface="Calibri"/>
              <a:cs typeface="Calibri"/>
            </a:endParaRPr>
          </a:p>
          <a:p>
            <a:pPr marL="461645">
              <a:lnSpc>
                <a:spcPct val="100000"/>
              </a:lnSpc>
            </a:pPr>
            <a:r>
              <a:rPr sz="1300" spc="-10" dirty="0">
                <a:solidFill>
                  <a:srgbClr val="7E7E7E"/>
                </a:solidFill>
                <a:latin typeface="Calibri"/>
                <a:cs typeface="Calibri"/>
              </a:rPr>
              <a:t>(MaxPool3):</a:t>
            </a:r>
            <a:r>
              <a:rPr sz="1300" spc="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7E7E7E"/>
                </a:solidFill>
                <a:latin typeface="Calibri"/>
                <a:cs typeface="Calibri"/>
              </a:rPr>
              <a:t>MaxPooling2D((2,</a:t>
            </a:r>
            <a:r>
              <a:rPr sz="1300" spc="6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E7E7E"/>
                </a:solidFill>
                <a:latin typeface="Calibri"/>
                <a:cs typeface="Calibri"/>
              </a:rPr>
              <a:t>2),</a:t>
            </a:r>
            <a:r>
              <a:rPr sz="1300" spc="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strides=(2,</a:t>
            </a:r>
            <a:r>
              <a:rPr sz="1300" spc="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E7E7E"/>
                </a:solidFill>
                <a:latin typeface="Calibri"/>
                <a:cs typeface="Calibri"/>
              </a:rPr>
              <a:t>2))</a:t>
            </a:r>
            <a:endParaRPr sz="1300">
              <a:latin typeface="Calibri"/>
              <a:cs typeface="Calibri"/>
            </a:endParaRPr>
          </a:p>
          <a:p>
            <a:pPr marL="461645">
              <a:lnSpc>
                <a:spcPct val="100000"/>
              </a:lnSpc>
            </a:pPr>
            <a:r>
              <a:rPr sz="1300" spc="-10" dirty="0">
                <a:solidFill>
                  <a:srgbClr val="7E7E7E"/>
                </a:solidFill>
                <a:latin typeface="Calibri"/>
                <a:cs typeface="Calibri"/>
              </a:rPr>
              <a:t>(Conv8):</a:t>
            </a:r>
            <a:r>
              <a:rPr sz="1300" spc="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7E7E7E"/>
                </a:solidFill>
                <a:latin typeface="Calibri"/>
                <a:cs typeface="Calibri"/>
              </a:rPr>
              <a:t>Conv2D(512,</a:t>
            </a:r>
            <a:r>
              <a:rPr sz="1300" spc="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(3,</a:t>
            </a:r>
            <a:r>
              <a:rPr sz="1300" spc="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E7E7E"/>
                </a:solidFill>
                <a:latin typeface="Calibri"/>
                <a:cs typeface="Calibri"/>
              </a:rPr>
              <a:t>3),</a:t>
            </a:r>
            <a:r>
              <a:rPr sz="1300" spc="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activation='relu',</a:t>
            </a:r>
            <a:r>
              <a:rPr sz="1300" spc="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padding='same’)</a:t>
            </a:r>
            <a:endParaRPr sz="1300">
              <a:latin typeface="Calibri"/>
              <a:cs typeface="Calibri"/>
            </a:endParaRPr>
          </a:p>
          <a:p>
            <a:pPr marL="461645">
              <a:lnSpc>
                <a:spcPct val="100000"/>
              </a:lnSpc>
            </a:pPr>
            <a:r>
              <a:rPr sz="1300" spc="-10" dirty="0">
                <a:solidFill>
                  <a:srgbClr val="7E7E7E"/>
                </a:solidFill>
                <a:latin typeface="Calibri"/>
                <a:cs typeface="Calibri"/>
              </a:rPr>
              <a:t>(Conv9):</a:t>
            </a:r>
            <a:r>
              <a:rPr sz="1300" spc="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7E7E7E"/>
                </a:solidFill>
                <a:latin typeface="Calibri"/>
                <a:cs typeface="Calibri"/>
              </a:rPr>
              <a:t>Conv2D(512,</a:t>
            </a:r>
            <a:r>
              <a:rPr sz="1300" spc="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(3,</a:t>
            </a:r>
            <a:r>
              <a:rPr sz="1300" spc="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E7E7E"/>
                </a:solidFill>
                <a:latin typeface="Calibri"/>
                <a:cs typeface="Calibri"/>
              </a:rPr>
              <a:t>3),</a:t>
            </a:r>
            <a:r>
              <a:rPr sz="1300" spc="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activation='relu',</a:t>
            </a:r>
            <a:r>
              <a:rPr sz="1300" spc="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padding='same’)</a:t>
            </a:r>
            <a:endParaRPr sz="1300">
              <a:latin typeface="Calibri"/>
              <a:cs typeface="Calibri"/>
            </a:endParaRPr>
          </a:p>
          <a:p>
            <a:pPr marL="461645">
              <a:lnSpc>
                <a:spcPct val="100000"/>
              </a:lnSpc>
            </a:pP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(Conv10):</a:t>
            </a:r>
            <a:r>
              <a:rPr sz="1300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7E7E7E"/>
                </a:solidFill>
                <a:latin typeface="Calibri"/>
                <a:cs typeface="Calibri"/>
              </a:rPr>
              <a:t>Conv2D(512,</a:t>
            </a:r>
            <a:r>
              <a:rPr sz="1300" spc="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(3,</a:t>
            </a:r>
            <a:r>
              <a:rPr sz="1300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E7E7E"/>
                </a:solidFill>
                <a:latin typeface="Calibri"/>
                <a:cs typeface="Calibri"/>
              </a:rPr>
              <a:t>3),</a:t>
            </a:r>
            <a:r>
              <a:rPr sz="1300" spc="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activation='relu',</a:t>
            </a:r>
            <a:r>
              <a:rPr sz="1300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padding='same’)</a:t>
            </a:r>
            <a:endParaRPr sz="1300">
              <a:latin typeface="Calibri"/>
              <a:cs typeface="Calibri"/>
            </a:endParaRPr>
          </a:p>
          <a:p>
            <a:pPr marL="499745">
              <a:lnSpc>
                <a:spcPct val="100000"/>
              </a:lnSpc>
            </a:pPr>
            <a:r>
              <a:rPr sz="1300" spc="-10" dirty="0">
                <a:solidFill>
                  <a:srgbClr val="7E7E7E"/>
                </a:solidFill>
                <a:latin typeface="Calibri"/>
                <a:cs typeface="Calibri"/>
              </a:rPr>
              <a:t>(MaxPool4):</a:t>
            </a:r>
            <a:r>
              <a:rPr sz="1300" spc="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7E7E7E"/>
                </a:solidFill>
                <a:latin typeface="Calibri"/>
                <a:cs typeface="Calibri"/>
              </a:rPr>
              <a:t>MaxPooling2D((2,</a:t>
            </a:r>
            <a:r>
              <a:rPr sz="1300" spc="5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2),</a:t>
            </a:r>
            <a:r>
              <a:rPr sz="1300" spc="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strides=(2,</a:t>
            </a:r>
            <a:r>
              <a:rPr sz="1300" spc="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2))</a:t>
            </a:r>
            <a:endParaRPr sz="1300">
              <a:latin typeface="Calibri"/>
              <a:cs typeface="Calibri"/>
            </a:endParaRPr>
          </a:p>
          <a:p>
            <a:pPr marL="461645">
              <a:lnSpc>
                <a:spcPct val="100000"/>
              </a:lnSpc>
            </a:pP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(Conv11):</a:t>
            </a:r>
            <a:r>
              <a:rPr sz="1300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7E7E7E"/>
                </a:solidFill>
                <a:latin typeface="Calibri"/>
                <a:cs typeface="Calibri"/>
              </a:rPr>
              <a:t>Conv2D(512,</a:t>
            </a:r>
            <a:r>
              <a:rPr sz="1300" spc="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(3,</a:t>
            </a:r>
            <a:r>
              <a:rPr sz="1300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E7E7E"/>
                </a:solidFill>
                <a:latin typeface="Calibri"/>
                <a:cs typeface="Calibri"/>
              </a:rPr>
              <a:t>3),</a:t>
            </a:r>
            <a:r>
              <a:rPr sz="1300" spc="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activation='relu',</a:t>
            </a:r>
            <a:r>
              <a:rPr sz="1300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padding='same’)</a:t>
            </a:r>
            <a:endParaRPr sz="1300">
              <a:latin typeface="Calibri"/>
              <a:cs typeface="Calibri"/>
            </a:endParaRPr>
          </a:p>
          <a:p>
            <a:pPr marL="461645">
              <a:lnSpc>
                <a:spcPct val="100000"/>
              </a:lnSpc>
            </a:pP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(Conv12):</a:t>
            </a:r>
            <a:r>
              <a:rPr sz="1300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7E7E7E"/>
                </a:solidFill>
                <a:latin typeface="Calibri"/>
                <a:cs typeface="Calibri"/>
              </a:rPr>
              <a:t>Conv2D(512,</a:t>
            </a:r>
            <a:r>
              <a:rPr sz="1300" spc="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(3,</a:t>
            </a:r>
            <a:r>
              <a:rPr sz="1300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E7E7E"/>
                </a:solidFill>
                <a:latin typeface="Calibri"/>
                <a:cs typeface="Calibri"/>
              </a:rPr>
              <a:t>3),</a:t>
            </a:r>
            <a:r>
              <a:rPr sz="1300" spc="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activation='relu',</a:t>
            </a:r>
            <a:r>
              <a:rPr sz="1300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padding='same’)</a:t>
            </a:r>
            <a:endParaRPr sz="1300">
              <a:latin typeface="Calibri"/>
              <a:cs typeface="Calibri"/>
            </a:endParaRPr>
          </a:p>
          <a:p>
            <a:pPr marL="461645">
              <a:lnSpc>
                <a:spcPct val="100000"/>
              </a:lnSpc>
            </a:pP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(Conv13):</a:t>
            </a:r>
            <a:r>
              <a:rPr sz="1300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7E7E7E"/>
                </a:solidFill>
                <a:latin typeface="Calibri"/>
                <a:cs typeface="Calibri"/>
              </a:rPr>
              <a:t>Conv2D(512,</a:t>
            </a:r>
            <a:r>
              <a:rPr sz="1300" spc="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(3,</a:t>
            </a:r>
            <a:r>
              <a:rPr sz="1300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E7E7E"/>
                </a:solidFill>
                <a:latin typeface="Calibri"/>
                <a:cs typeface="Calibri"/>
              </a:rPr>
              <a:t>3),</a:t>
            </a:r>
            <a:r>
              <a:rPr sz="1300" spc="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activation='relu',</a:t>
            </a:r>
            <a:r>
              <a:rPr sz="1300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padding='same’)</a:t>
            </a:r>
            <a:endParaRPr sz="1300">
              <a:latin typeface="Calibri"/>
              <a:cs typeface="Calibri"/>
            </a:endParaRPr>
          </a:p>
          <a:p>
            <a:pPr marL="347345" marR="2734310" indent="114300">
              <a:lnSpc>
                <a:spcPct val="100000"/>
              </a:lnSpc>
            </a:pPr>
            <a:r>
              <a:rPr sz="1300" spc="-10" dirty="0">
                <a:solidFill>
                  <a:srgbClr val="7E7E7E"/>
                </a:solidFill>
                <a:latin typeface="Calibri"/>
                <a:cs typeface="Calibri"/>
              </a:rPr>
              <a:t>(MaxPool5):</a:t>
            </a:r>
            <a:r>
              <a:rPr sz="1300" spc="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7E7E7E"/>
                </a:solidFill>
                <a:latin typeface="Calibri"/>
                <a:cs typeface="Calibri"/>
              </a:rPr>
              <a:t>MaxPooling2D((2,</a:t>
            </a:r>
            <a:r>
              <a:rPr sz="1300" spc="6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E7E7E"/>
                </a:solidFill>
                <a:latin typeface="Calibri"/>
                <a:cs typeface="Calibri"/>
              </a:rPr>
              <a:t>2),</a:t>
            </a:r>
            <a:r>
              <a:rPr sz="1300" spc="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strides=(2,</a:t>
            </a:r>
            <a:r>
              <a:rPr sz="1300" spc="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E7E7E"/>
                </a:solidFill>
                <a:latin typeface="Calibri"/>
                <a:cs typeface="Calibri"/>
              </a:rPr>
              <a:t>2)) </a:t>
            </a:r>
            <a:r>
              <a:rPr sz="1300" spc="-28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Capas</a:t>
            </a:r>
            <a:r>
              <a:rPr sz="13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7E7E7E"/>
                </a:solidFill>
                <a:latin typeface="Calibri"/>
                <a:cs typeface="Calibri"/>
              </a:rPr>
              <a:t>totalmente</a:t>
            </a:r>
            <a:r>
              <a:rPr sz="1300" spc="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conectadas:</a:t>
            </a:r>
            <a:endParaRPr sz="1300">
              <a:latin typeface="Calibri"/>
              <a:cs typeface="Calibri"/>
            </a:endParaRPr>
          </a:p>
          <a:p>
            <a:pPr marL="499745" marR="1966595">
              <a:lnSpc>
                <a:spcPct val="100000"/>
              </a:lnSpc>
            </a:pPr>
            <a:r>
              <a:rPr sz="1300" spc="-10" dirty="0">
                <a:solidFill>
                  <a:srgbClr val="7E7E7E"/>
                </a:solidFill>
                <a:latin typeface="Calibri"/>
                <a:cs typeface="Calibri"/>
              </a:rPr>
              <a:t>(Flatten):</a:t>
            </a:r>
            <a:r>
              <a:rPr sz="1300" spc="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7E7E7E"/>
                </a:solidFill>
                <a:latin typeface="Calibri"/>
                <a:cs typeface="Calibri"/>
              </a:rPr>
              <a:t>Flatten()</a:t>
            </a:r>
            <a:r>
              <a:rPr sz="1300" spc="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(Dense1):</a:t>
            </a:r>
            <a:r>
              <a:rPr sz="1300" spc="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Dense(4096,</a:t>
            </a:r>
            <a:r>
              <a:rPr sz="1300" spc="5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activation='relu’) </a:t>
            </a:r>
            <a:r>
              <a:rPr sz="1300" spc="-28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(Dense2):</a:t>
            </a:r>
            <a:r>
              <a:rPr sz="1300" spc="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Dense(4096,</a:t>
            </a:r>
            <a:r>
              <a:rPr sz="1300" spc="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activation='relu’)</a:t>
            </a:r>
            <a:endParaRPr sz="1300">
              <a:latin typeface="Calibri"/>
              <a:cs typeface="Calibri"/>
            </a:endParaRPr>
          </a:p>
          <a:p>
            <a:pPr marL="499745">
              <a:lnSpc>
                <a:spcPct val="100000"/>
              </a:lnSpc>
              <a:spcBef>
                <a:spcPts val="5"/>
              </a:spcBef>
            </a:pP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(Output):</a:t>
            </a:r>
            <a:r>
              <a:rPr sz="13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Dense(1000,</a:t>
            </a:r>
            <a:r>
              <a:rPr sz="1300" spc="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7E7E7E"/>
                </a:solidFill>
                <a:latin typeface="Calibri"/>
                <a:cs typeface="Calibri"/>
              </a:rPr>
              <a:t>activation='softmax')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Redes</a:t>
            </a:r>
            <a:r>
              <a:rPr spc="-25" dirty="0"/>
              <a:t> </a:t>
            </a:r>
            <a:r>
              <a:rPr spc="-5" dirty="0"/>
              <a:t>Neuronales</a:t>
            </a:r>
            <a:r>
              <a:rPr spc="-50" dirty="0"/>
              <a:t> </a:t>
            </a:r>
            <a:r>
              <a:rPr spc="-5" dirty="0"/>
              <a:t>Convolucionales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91382" y="922782"/>
            <a:ext cx="2760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Arquitecturas</a:t>
            </a:r>
            <a:r>
              <a:rPr sz="2400" b="1" spc="-2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2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CNN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00215" y="2133598"/>
            <a:ext cx="2202180" cy="463448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22</a:t>
            </a:fld>
            <a:endParaRPr spc="-5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9BFFF7CF-98DC-2054-A820-C899BCC3F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ngeniería de Sistemas - UNCP">
            <a:extLst>
              <a:ext uri="{FF2B5EF4-FFF2-40B4-BE49-F238E27FC236}">
                <a16:creationId xmlns:a16="http://schemas.microsoft.com/office/drawing/2014/main" id="{02BC91D4-226B-47FE-2663-EA88913F5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922782"/>
            <a:ext cx="5634355" cy="1864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635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Arquitecturas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CNN</a:t>
            </a:r>
            <a:endParaRPr sz="24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spcBef>
                <a:spcPts val="1839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ResNet</a:t>
            </a:r>
            <a:endParaRPr sz="2000">
              <a:latin typeface="Calibri"/>
              <a:cs typeface="Calibri"/>
            </a:endParaRPr>
          </a:p>
          <a:p>
            <a:pPr marL="388620" marR="5080" lvl="1" indent="-160020">
              <a:lnSpc>
                <a:spcPct val="100000"/>
              </a:lnSpc>
              <a:spcBef>
                <a:spcPts val="445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Es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una </a:t>
            </a:r>
            <a:r>
              <a:rPr sz="1800" spc="-10" dirty="0">
                <a:latin typeface="Calibri"/>
                <a:cs typeface="Calibri"/>
              </a:rPr>
              <a:t>familia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arquitecturas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para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entrenar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redes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cada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vez </a:t>
            </a:r>
            <a:r>
              <a:rPr sz="1800" dirty="0">
                <a:latin typeface="Calibri"/>
                <a:cs typeface="Calibri"/>
              </a:rPr>
              <a:t>más</a:t>
            </a:r>
            <a:r>
              <a:rPr sz="1800" spc="-10" dirty="0">
                <a:latin typeface="Calibri"/>
                <a:cs typeface="Calibri"/>
              </a:rPr>
              <a:t> profundas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El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“bloque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residual”</a:t>
            </a:r>
            <a:r>
              <a:rPr sz="1800" spc="-10" dirty="0">
                <a:latin typeface="Calibri"/>
                <a:cs typeface="Calibri"/>
              </a:rPr>
              <a:t> permite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tener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redes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más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profundas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2348" y="5450230"/>
            <a:ext cx="5568950" cy="7905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2720" marR="5080" indent="-160020">
              <a:lnSpc>
                <a:spcPct val="100499"/>
              </a:lnSpc>
              <a:spcBef>
                <a:spcPts val="9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30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Variantes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comunes: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ResNet-18,</a:t>
            </a:r>
            <a:r>
              <a:rPr sz="1600" spc="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ResNet-34,</a:t>
            </a:r>
            <a:r>
              <a:rPr sz="1600" spc="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ResNet-50,</a:t>
            </a:r>
            <a:r>
              <a:rPr sz="1600" spc="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ResNet- </a:t>
            </a:r>
            <a:r>
              <a:rPr sz="1600" spc="-3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101,</a:t>
            </a:r>
            <a:r>
              <a:rPr sz="1600" spc="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ResNet-152,</a:t>
            </a:r>
            <a:r>
              <a:rPr sz="1600" spc="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ResNet-200</a:t>
            </a:r>
            <a:r>
              <a:rPr sz="1600" spc="5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(versión</a:t>
            </a:r>
            <a:r>
              <a:rPr sz="1600" spc="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más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profunda,</a:t>
            </a:r>
            <a:r>
              <a:rPr sz="16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con</a:t>
            </a:r>
            <a:r>
              <a:rPr sz="16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200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capas),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 ResNeXt,</a:t>
            </a:r>
            <a:r>
              <a:rPr sz="1600" spc="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Wide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ResNet,</a:t>
            </a:r>
            <a:r>
              <a:rPr sz="1600" spc="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ResNetD,</a:t>
            </a:r>
            <a:r>
              <a:rPr sz="1600" spc="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ResNetX,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Redes</a:t>
            </a:r>
            <a:r>
              <a:rPr spc="-25" dirty="0"/>
              <a:t> </a:t>
            </a:r>
            <a:r>
              <a:rPr spc="-5" dirty="0"/>
              <a:t>Neuronales</a:t>
            </a:r>
            <a:r>
              <a:rPr spc="-50" dirty="0"/>
              <a:t> </a:t>
            </a:r>
            <a:r>
              <a:rPr spc="-5" dirty="0"/>
              <a:t>Convolucionales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2309" y="3191964"/>
            <a:ext cx="1932820" cy="187310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42988" y="1103375"/>
            <a:ext cx="1481327" cy="556564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72076" y="3907916"/>
            <a:ext cx="16002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580" marR="5080" indent="-56515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Al</a:t>
            </a:r>
            <a:r>
              <a:rPr sz="14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aumentar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las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capas </a:t>
            </a:r>
            <a:r>
              <a:rPr sz="1400" spc="-30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no</a:t>
            </a:r>
            <a:r>
              <a:rPr sz="14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se</a:t>
            </a:r>
            <a:r>
              <a:rPr sz="14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degrada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la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red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23</a:t>
            </a:fld>
            <a:endParaRPr spc="-5" dirty="0"/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FD3D1E3F-5BE1-E39D-3B50-C7B32120EC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Ingeniería de Sistemas - UNCP">
            <a:extLst>
              <a:ext uri="{FF2B5EF4-FFF2-40B4-BE49-F238E27FC236}">
                <a16:creationId xmlns:a16="http://schemas.microsoft.com/office/drawing/2014/main" id="{DCFC2F0F-A999-129B-8AF1-4F97EE1D6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922782"/>
            <a:ext cx="7729855" cy="5214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995" algn="ctr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solidFill>
                  <a:srgbClr val="2092FA"/>
                </a:solidFill>
                <a:latin typeface="Calibri"/>
                <a:cs typeface="Calibri"/>
              </a:rPr>
              <a:t>Arquitecturas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CNN</a:t>
            </a:r>
            <a:endParaRPr sz="24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spcBef>
                <a:spcPts val="1839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Otras</a:t>
            </a:r>
            <a:r>
              <a:rPr sz="2000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arquitecturas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5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Inception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(GoogLeNet):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utilizan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convoluciones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diferente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tamaño</a:t>
            </a:r>
            <a:r>
              <a:rPr sz="1800" dirty="0">
                <a:latin typeface="Calibri"/>
                <a:cs typeface="Calibri"/>
              </a:rPr>
              <a:t> en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paralelo</a:t>
            </a:r>
            <a:endParaRPr sz="1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Calibri"/>
              <a:buChar char="-"/>
            </a:pPr>
            <a:endParaRPr sz="245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buChar char="-"/>
              <a:tabLst>
                <a:tab pos="389255" algn="l"/>
              </a:tabLst>
            </a:pPr>
            <a:r>
              <a:rPr sz="1800" spc="-10" dirty="0">
                <a:latin typeface="Calibri"/>
                <a:cs typeface="Calibri"/>
              </a:rPr>
              <a:t>Arquitecturas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enfocadas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5" dirty="0">
                <a:latin typeface="Calibri"/>
                <a:cs typeface="Calibri"/>
              </a:rPr>
              <a:t> eficiencia</a:t>
            </a:r>
            <a:endParaRPr sz="1800">
              <a:latin typeface="Calibri"/>
              <a:cs typeface="Calibri"/>
            </a:endParaRPr>
          </a:p>
          <a:p>
            <a:pPr marL="611505" lvl="2" indent="-226695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600" i="1" spc="-5" dirty="0">
                <a:solidFill>
                  <a:srgbClr val="6F2F9F"/>
                </a:solidFill>
                <a:latin typeface="Calibri"/>
                <a:cs typeface="Calibri"/>
              </a:rPr>
              <a:t>MobileNet</a:t>
            </a:r>
            <a:r>
              <a:rPr sz="1600" spc="-5" dirty="0">
                <a:latin typeface="Calibri"/>
                <a:cs typeface="Calibri"/>
              </a:rPr>
              <a:t>: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para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dispositivos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móviles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(convoluciones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separables,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factorización)</a:t>
            </a:r>
            <a:endParaRPr sz="1600">
              <a:latin typeface="Calibri"/>
              <a:cs typeface="Calibri"/>
            </a:endParaRPr>
          </a:p>
          <a:p>
            <a:pPr marL="611505" lvl="2" indent="-22669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600" i="1" spc="-10" dirty="0">
                <a:solidFill>
                  <a:srgbClr val="6F2F9F"/>
                </a:solidFill>
                <a:latin typeface="Calibri"/>
                <a:cs typeface="Calibri"/>
              </a:rPr>
              <a:t>SqueezeNet</a:t>
            </a:r>
            <a:r>
              <a:rPr sz="1600" spc="-10" dirty="0">
                <a:latin typeface="Calibri"/>
                <a:cs typeface="Calibri"/>
              </a:rPr>
              <a:t>: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reduce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el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número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parámetros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y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operaciones</a:t>
            </a:r>
            <a:endParaRPr sz="1600">
              <a:latin typeface="Calibri"/>
              <a:cs typeface="Calibri"/>
            </a:endParaRPr>
          </a:p>
          <a:p>
            <a:pPr marL="611505" lvl="2" indent="-226695">
              <a:lnSpc>
                <a:spcPct val="100000"/>
              </a:lnSpc>
              <a:spcBef>
                <a:spcPts val="384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600" i="1" spc="-5" dirty="0">
                <a:solidFill>
                  <a:srgbClr val="6F2F9F"/>
                </a:solidFill>
                <a:latin typeface="Calibri"/>
                <a:cs typeface="Calibri"/>
              </a:rPr>
              <a:t>ShuffleNet</a:t>
            </a:r>
            <a:r>
              <a:rPr sz="1600" spc="-5" dirty="0">
                <a:latin typeface="Calibri"/>
                <a:cs typeface="Calibri"/>
              </a:rPr>
              <a:t>: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utiliza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convolución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grupo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y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reorganiza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los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canales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entrada</a:t>
            </a:r>
            <a:endParaRPr sz="160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10"/>
              </a:spcBef>
              <a:buClr>
                <a:srgbClr val="6F2F9F"/>
              </a:buClr>
              <a:buFont typeface="Arial MT"/>
              <a:buChar char="•"/>
            </a:pPr>
            <a:endParaRPr sz="245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buChar char="-"/>
              <a:tabLst>
                <a:tab pos="389255" algn="l"/>
              </a:tabLst>
            </a:pPr>
            <a:r>
              <a:rPr sz="1800" spc="-10" dirty="0">
                <a:latin typeface="Calibri"/>
                <a:cs typeface="Calibri"/>
              </a:rPr>
              <a:t>Arquitecturas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enfocadas</a:t>
            </a:r>
            <a:r>
              <a:rPr sz="1800" dirty="0">
                <a:latin typeface="Calibri"/>
                <a:cs typeface="Calibri"/>
              </a:rPr>
              <a:t> en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profundidad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10" dirty="0">
                <a:latin typeface="Calibri"/>
                <a:cs typeface="Calibri"/>
              </a:rPr>
              <a:t>precisión</a:t>
            </a:r>
            <a:endParaRPr sz="1800">
              <a:latin typeface="Calibri"/>
              <a:cs typeface="Calibri"/>
            </a:endParaRPr>
          </a:p>
          <a:p>
            <a:pPr marL="611505" lvl="2" indent="-226695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600" i="1" spc="-5" dirty="0">
                <a:solidFill>
                  <a:srgbClr val="6F2F9F"/>
                </a:solidFill>
                <a:latin typeface="Calibri"/>
                <a:cs typeface="Calibri"/>
              </a:rPr>
              <a:t>DenseNet</a:t>
            </a:r>
            <a:r>
              <a:rPr sz="1600" spc="-5" dirty="0">
                <a:latin typeface="Calibri"/>
                <a:cs typeface="Calibri"/>
              </a:rPr>
              <a:t>: </a:t>
            </a:r>
            <a:r>
              <a:rPr sz="1600" spc="-10" dirty="0">
                <a:latin typeface="Calibri"/>
                <a:cs typeface="Calibri"/>
              </a:rPr>
              <a:t>concatenan </a:t>
            </a:r>
            <a:r>
              <a:rPr sz="1600" spc="-5" dirty="0">
                <a:latin typeface="Calibri"/>
                <a:cs typeface="Calibri"/>
              </a:rPr>
              <a:t>las salidas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las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capas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anteriores</a:t>
            </a:r>
            <a:endParaRPr sz="1600">
              <a:latin typeface="Calibri"/>
              <a:cs typeface="Calibri"/>
            </a:endParaRPr>
          </a:p>
          <a:p>
            <a:pPr marL="611505" lvl="2" indent="-226695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600" i="1" spc="-10" dirty="0">
                <a:solidFill>
                  <a:srgbClr val="6F2F9F"/>
                </a:solidFill>
                <a:latin typeface="Calibri"/>
                <a:cs typeface="Calibri"/>
              </a:rPr>
              <a:t>Xception</a:t>
            </a:r>
            <a:r>
              <a:rPr sz="1600" spc="-10" dirty="0">
                <a:latin typeface="Calibri"/>
                <a:cs typeface="Calibri"/>
              </a:rPr>
              <a:t>: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usan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operadores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convolución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separables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profundidad</a:t>
            </a:r>
            <a:endParaRPr sz="1600">
              <a:latin typeface="Calibri"/>
              <a:cs typeface="Calibri"/>
            </a:endParaRPr>
          </a:p>
          <a:p>
            <a:pPr marL="611505" lvl="2" indent="-22669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600" i="1" spc="-10" dirty="0">
                <a:solidFill>
                  <a:srgbClr val="6F2F9F"/>
                </a:solidFill>
                <a:latin typeface="Calibri"/>
                <a:cs typeface="Calibri"/>
              </a:rPr>
              <a:t>EfficientNet</a:t>
            </a:r>
            <a:r>
              <a:rPr sz="1600" spc="-10" dirty="0">
                <a:latin typeface="Calibri"/>
                <a:cs typeface="Calibri"/>
              </a:rPr>
              <a:t>: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escalan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la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resolución,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profundidad</a:t>
            </a:r>
            <a:r>
              <a:rPr sz="1600" spc="-5" dirty="0">
                <a:latin typeface="Calibri"/>
                <a:cs typeface="Calibri"/>
              </a:rPr>
              <a:t> y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ancho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manera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compuesta</a:t>
            </a:r>
            <a:endParaRPr sz="1600">
              <a:latin typeface="Calibri"/>
              <a:cs typeface="Calibri"/>
            </a:endParaRPr>
          </a:p>
          <a:p>
            <a:pPr marL="611505" lvl="2" indent="-22669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600" i="1" spc="-5" dirty="0">
                <a:solidFill>
                  <a:srgbClr val="6F2F9F"/>
                </a:solidFill>
                <a:latin typeface="Calibri"/>
                <a:cs typeface="Calibri"/>
              </a:rPr>
              <a:t>NASNet</a:t>
            </a:r>
            <a:r>
              <a:rPr sz="1600" spc="-5" dirty="0">
                <a:latin typeface="Calibri"/>
                <a:cs typeface="Calibri"/>
              </a:rPr>
              <a:t>: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usa</a:t>
            </a:r>
            <a:r>
              <a:rPr sz="1600" spc="-15" dirty="0">
                <a:latin typeface="Calibri"/>
                <a:cs typeface="Calibri"/>
              </a:rPr>
              <a:t> refuerzo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para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encontrar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la</a:t>
            </a:r>
            <a:r>
              <a:rPr sz="1600" spc="-10" dirty="0">
                <a:latin typeface="Calibri"/>
                <a:cs typeface="Calibri"/>
              </a:rPr>
              <a:t> arquitectura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“óptima”</a:t>
            </a:r>
            <a:endParaRPr sz="1600">
              <a:latin typeface="Calibri"/>
              <a:cs typeface="Calibri"/>
            </a:endParaRPr>
          </a:p>
          <a:p>
            <a:pPr marL="611505" lvl="2" indent="-22669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600" i="1" spc="-5" dirty="0">
                <a:solidFill>
                  <a:srgbClr val="6F2F9F"/>
                </a:solidFill>
                <a:latin typeface="Calibri"/>
                <a:cs typeface="Calibri"/>
              </a:rPr>
              <a:t>SENet</a:t>
            </a:r>
            <a:r>
              <a:rPr sz="1600" spc="-5" dirty="0">
                <a:latin typeface="Calibri"/>
                <a:cs typeface="Calibri"/>
              </a:rPr>
              <a:t>: </a:t>
            </a:r>
            <a:r>
              <a:rPr sz="1600" spc="-10" dirty="0">
                <a:latin typeface="Calibri"/>
                <a:cs typeface="Calibri"/>
              </a:rPr>
              <a:t>introduce</a:t>
            </a:r>
            <a:r>
              <a:rPr sz="1600" spc="-5" dirty="0">
                <a:latin typeface="Calibri"/>
                <a:cs typeface="Calibri"/>
              </a:rPr>
              <a:t> bloques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“squeeze-and-excitation”</a:t>
            </a:r>
            <a:endParaRPr sz="1600">
              <a:latin typeface="Calibri"/>
              <a:cs typeface="Calibri"/>
            </a:endParaRPr>
          </a:p>
          <a:p>
            <a:pPr marL="611505" lvl="2" indent="-22669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600" i="1" spc="-10" dirty="0">
                <a:solidFill>
                  <a:srgbClr val="6F2F9F"/>
                </a:solidFill>
                <a:latin typeface="Calibri"/>
                <a:cs typeface="Calibri"/>
              </a:rPr>
              <a:t>CapsuleNet</a:t>
            </a:r>
            <a:r>
              <a:rPr sz="1600" spc="-10" dirty="0">
                <a:latin typeface="Calibri"/>
                <a:cs typeface="Calibri"/>
              </a:rPr>
              <a:t>: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usa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grupos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 </a:t>
            </a:r>
            <a:r>
              <a:rPr sz="1600" spc="-10" dirty="0">
                <a:latin typeface="Calibri"/>
                <a:cs typeface="Calibri"/>
              </a:rPr>
              <a:t>neuronas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(cápsulas)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24</a:t>
            </a:fld>
            <a:endParaRPr spc="-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Redes</a:t>
            </a:r>
            <a:r>
              <a:rPr spc="-25" dirty="0"/>
              <a:t> </a:t>
            </a:r>
            <a:r>
              <a:rPr spc="-5" dirty="0"/>
              <a:t>Neuronales</a:t>
            </a:r>
            <a:r>
              <a:rPr spc="-50" dirty="0"/>
              <a:t> </a:t>
            </a:r>
            <a:r>
              <a:rPr spc="-5" dirty="0"/>
              <a:t>Convolucionales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B63EF15C-4FC1-74F7-0E6E-95D04C72A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Ingeniería de Sistemas - UNCP">
            <a:extLst>
              <a:ext uri="{FF2B5EF4-FFF2-40B4-BE49-F238E27FC236}">
                <a16:creationId xmlns:a16="http://schemas.microsoft.com/office/drawing/2014/main" id="{1C868C42-2F7F-5739-6891-9F5E554D9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98570" y="581913"/>
            <a:ext cx="15455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B51A00"/>
                </a:solidFill>
              </a:rPr>
              <a:t>Co</a:t>
            </a:r>
            <a:r>
              <a:rPr sz="2800" spc="-40" dirty="0">
                <a:solidFill>
                  <a:srgbClr val="B51A00"/>
                </a:solidFill>
              </a:rPr>
              <a:t>nt</a:t>
            </a:r>
            <a:r>
              <a:rPr sz="2800" spc="-10" dirty="0">
                <a:solidFill>
                  <a:srgbClr val="B51A00"/>
                </a:solidFill>
              </a:rPr>
              <a:t>eni</a:t>
            </a:r>
            <a:r>
              <a:rPr sz="2800" spc="-15" dirty="0">
                <a:solidFill>
                  <a:srgbClr val="B51A00"/>
                </a:solidFill>
              </a:rPr>
              <a:t>d</a:t>
            </a:r>
            <a:r>
              <a:rPr sz="2800" spc="-5" dirty="0">
                <a:solidFill>
                  <a:srgbClr val="B51A00"/>
                </a:solidFill>
              </a:rPr>
              <a:t>o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604" y="3005053"/>
            <a:ext cx="8458249" cy="73358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2068" y="1511046"/>
            <a:ext cx="6135370" cy="1252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800" spc="-15" dirty="0">
                <a:solidFill>
                  <a:srgbClr val="A6A6A6"/>
                </a:solidFill>
                <a:latin typeface="Calibri"/>
                <a:cs typeface="Calibri"/>
              </a:rPr>
              <a:t>Redes Neuronales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A6A6A6"/>
              </a:buClr>
              <a:buFont typeface="Calibri"/>
              <a:buAutoNum type="arabicPeriod"/>
            </a:pP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sz="2800" spc="-20" dirty="0">
                <a:solidFill>
                  <a:srgbClr val="A6A6A6"/>
                </a:solidFill>
                <a:latin typeface="Calibri"/>
                <a:cs typeface="Calibri"/>
              </a:rPr>
              <a:t>Red</a:t>
            </a:r>
            <a:r>
              <a:rPr sz="2800" spc="-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A6A6A6"/>
                </a:solidFill>
                <a:latin typeface="Calibri"/>
                <a:cs typeface="Calibri"/>
              </a:rPr>
              <a:t>Neuronales</a:t>
            </a:r>
            <a:r>
              <a:rPr sz="2800" spc="3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A6A6A6"/>
                </a:solidFill>
                <a:latin typeface="Calibri"/>
                <a:cs typeface="Calibri"/>
              </a:rPr>
              <a:t>Convolucionales</a:t>
            </a:r>
            <a:r>
              <a:rPr sz="2800" spc="1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A6A6A6"/>
                </a:solidFill>
                <a:latin typeface="Calibri"/>
                <a:cs typeface="Calibri"/>
              </a:rPr>
              <a:t>(CNN)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25</a:t>
            </a:fld>
            <a:endParaRPr spc="-5" dirty="0"/>
          </a:p>
        </p:txBody>
      </p:sp>
      <p:sp>
        <p:nvSpPr>
          <p:cNvPr id="5" name="object 5"/>
          <p:cNvSpPr txBox="1"/>
          <p:nvPr/>
        </p:nvSpPr>
        <p:spPr>
          <a:xfrm>
            <a:off x="507491" y="3083051"/>
            <a:ext cx="8298180" cy="582295"/>
          </a:xfrm>
          <a:prstGeom prst="rect">
            <a:avLst/>
          </a:prstGeom>
          <a:solidFill>
            <a:srgbClr val="9BEDF7"/>
          </a:solidFill>
        </p:spPr>
        <p:txBody>
          <a:bodyPr vert="horz" wrap="square" lIns="0" tIns="40640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320"/>
              </a:spcBef>
              <a:tabLst>
                <a:tab pos="614045" algn="l"/>
              </a:tabLst>
            </a:pPr>
            <a:r>
              <a:rPr sz="2800" b="1" spc="-5" dirty="0">
                <a:solidFill>
                  <a:srgbClr val="0000FF"/>
                </a:solidFill>
                <a:latin typeface="Calibri"/>
                <a:cs typeface="Calibri"/>
              </a:rPr>
              <a:t>3.	</a:t>
            </a:r>
            <a:r>
              <a:rPr sz="2800" b="1" spc="-30" dirty="0">
                <a:solidFill>
                  <a:srgbClr val="0000FF"/>
                </a:solidFill>
                <a:latin typeface="Calibri"/>
                <a:cs typeface="Calibri"/>
              </a:rPr>
              <a:t>Transferencia</a:t>
            </a:r>
            <a:r>
              <a:rPr sz="2800" b="1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Calibri"/>
                <a:cs typeface="Calibri"/>
              </a:rPr>
              <a:t>del</a:t>
            </a:r>
            <a:r>
              <a:rPr sz="2800" b="1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Calibri"/>
                <a:cs typeface="Calibri"/>
              </a:rPr>
              <a:t>Aprendizaje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068" y="3911853"/>
            <a:ext cx="58547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sz="2800" spc="-5" dirty="0">
                <a:solidFill>
                  <a:srgbClr val="A6A6A6"/>
                </a:solidFill>
                <a:latin typeface="Calibri"/>
                <a:cs typeface="Calibri"/>
              </a:rPr>
              <a:t>4.	</a:t>
            </a:r>
            <a:r>
              <a:rPr sz="2800" spc="-15" dirty="0">
                <a:solidFill>
                  <a:srgbClr val="A6A6A6"/>
                </a:solidFill>
                <a:latin typeface="Calibri"/>
                <a:cs typeface="Calibri"/>
              </a:rPr>
              <a:t>Redes</a:t>
            </a:r>
            <a:r>
              <a:rPr sz="280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A6A6A6"/>
                </a:solidFill>
                <a:latin typeface="Calibri"/>
                <a:cs typeface="Calibri"/>
              </a:rPr>
              <a:t>Neuronales</a:t>
            </a:r>
            <a:r>
              <a:rPr sz="2800" spc="3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A6A6A6"/>
                </a:solidFill>
                <a:latin typeface="Calibri"/>
                <a:cs typeface="Calibri"/>
              </a:rPr>
              <a:t>Recurrentes</a:t>
            </a:r>
            <a:r>
              <a:rPr sz="2800" spc="1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A6A6A6"/>
                </a:solidFill>
                <a:latin typeface="Calibri"/>
                <a:cs typeface="Calibri"/>
              </a:rPr>
              <a:t>(RNN)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C3E3E995-2B83-B78C-4CE8-C8802FAFD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Ingeniería de Sistemas - UNCP">
            <a:extLst>
              <a:ext uri="{FF2B5EF4-FFF2-40B4-BE49-F238E27FC236}">
                <a16:creationId xmlns:a16="http://schemas.microsoft.com/office/drawing/2014/main" id="{09C6D2F2-253A-D6AC-042A-2013269DC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4545" y="260350"/>
            <a:ext cx="49936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Transferencia</a:t>
            </a:r>
            <a:r>
              <a:rPr spc="-60" dirty="0"/>
              <a:t> </a:t>
            </a:r>
            <a:r>
              <a:rPr dirty="0"/>
              <a:t>del</a:t>
            </a:r>
            <a:r>
              <a:rPr spc="-35" dirty="0"/>
              <a:t> </a:t>
            </a:r>
            <a:r>
              <a:rPr spc="-10" dirty="0"/>
              <a:t>Aprendizaje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50537"/>
            <a:ext cx="6729730" cy="288163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latin typeface="Calibri"/>
                <a:cs typeface="Calibri"/>
              </a:rPr>
              <a:t>Problema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CNNs: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5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Se </a:t>
            </a:r>
            <a:r>
              <a:rPr sz="1800" spc="-10" dirty="0">
                <a:latin typeface="Calibri"/>
                <a:cs typeface="Calibri"/>
              </a:rPr>
              <a:t>requiere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muchos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datos</a:t>
            </a:r>
            <a:r>
              <a:rPr sz="1800" spc="-15" dirty="0">
                <a:latin typeface="Calibri"/>
                <a:cs typeface="Calibri"/>
              </a:rPr>
              <a:t> para</a:t>
            </a:r>
            <a:r>
              <a:rPr sz="1800" spc="-5" dirty="0">
                <a:latin typeface="Calibri"/>
                <a:cs typeface="Calibri"/>
              </a:rPr>
              <a:t> entrenar/usar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CNNs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15" dirty="0">
                <a:latin typeface="Calibri"/>
                <a:cs typeface="Calibri"/>
              </a:rPr>
              <a:t>Requiere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mucho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tiempo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 entrenamiento</a:t>
            </a:r>
            <a:endParaRPr sz="1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Calibri"/>
              <a:buChar char="-"/>
            </a:pPr>
            <a:endParaRPr sz="18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latin typeface="Calibri"/>
                <a:cs typeface="Calibri"/>
              </a:rPr>
              <a:t>Alternativa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Aprovechar </a:t>
            </a:r>
            <a:r>
              <a:rPr sz="1800" spc="-10" dirty="0">
                <a:latin typeface="Calibri"/>
                <a:cs typeface="Calibri"/>
              </a:rPr>
              <a:t>parte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alguna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ya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entrenada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(es</a:t>
            </a:r>
            <a:r>
              <a:rPr sz="1600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común</a:t>
            </a:r>
            <a:r>
              <a:rPr sz="16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en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la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práctica)</a:t>
            </a:r>
            <a:endParaRPr sz="16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-10" dirty="0">
                <a:latin typeface="Calibri"/>
                <a:cs typeface="Calibri"/>
              </a:rPr>
              <a:t> conoce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“Transfer </a:t>
            </a:r>
            <a:r>
              <a:rPr sz="1800" spc="5" dirty="0">
                <a:latin typeface="Calibri"/>
                <a:cs typeface="Calibri"/>
              </a:rPr>
              <a:t>Learning”</a:t>
            </a:r>
            <a:endParaRPr sz="1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Calibri"/>
              <a:buChar char="-"/>
            </a:pPr>
            <a:endParaRPr sz="18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dirty="0">
                <a:latin typeface="Calibri"/>
                <a:cs typeface="Calibri"/>
              </a:rPr>
              <a:t>Idea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5722" y="4507991"/>
            <a:ext cx="5867587" cy="126492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883628" y="5862828"/>
            <a:ext cx="5626735" cy="276225"/>
            <a:chOff x="1883628" y="5862828"/>
            <a:chExt cx="5626735" cy="27622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83628" y="5871735"/>
              <a:ext cx="4681781" cy="26722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917954" y="5884926"/>
              <a:ext cx="4608830" cy="195580"/>
            </a:xfrm>
            <a:custGeom>
              <a:avLst/>
              <a:gdLst/>
              <a:ahLst/>
              <a:cxnLst/>
              <a:rect l="l" t="t" r="r" b="b"/>
              <a:pathLst>
                <a:path w="4608830" h="195579">
                  <a:moveTo>
                    <a:pt x="4608576" y="0"/>
                  </a:moveTo>
                  <a:lnTo>
                    <a:pt x="4578965" y="42896"/>
                  </a:lnTo>
                  <a:lnTo>
                    <a:pt x="4544574" y="61006"/>
                  </a:lnTo>
                  <a:lnTo>
                    <a:pt x="4499458" y="76110"/>
                  </a:lnTo>
                  <a:lnTo>
                    <a:pt x="4445364" y="87623"/>
                  </a:lnTo>
                  <a:lnTo>
                    <a:pt x="4384041" y="94960"/>
                  </a:lnTo>
                  <a:lnTo>
                    <a:pt x="4317237" y="97536"/>
                  </a:lnTo>
                  <a:lnTo>
                    <a:pt x="2595625" y="97536"/>
                  </a:lnTo>
                  <a:lnTo>
                    <a:pt x="2528822" y="100111"/>
                  </a:lnTo>
                  <a:lnTo>
                    <a:pt x="2467499" y="107448"/>
                  </a:lnTo>
                  <a:lnTo>
                    <a:pt x="2413405" y="118961"/>
                  </a:lnTo>
                  <a:lnTo>
                    <a:pt x="2368289" y="134065"/>
                  </a:lnTo>
                  <a:lnTo>
                    <a:pt x="2333898" y="152175"/>
                  </a:lnTo>
                  <a:lnTo>
                    <a:pt x="2304287" y="195072"/>
                  </a:lnTo>
                  <a:lnTo>
                    <a:pt x="2296593" y="172706"/>
                  </a:lnTo>
                  <a:lnTo>
                    <a:pt x="2240286" y="134065"/>
                  </a:lnTo>
                  <a:lnTo>
                    <a:pt x="2195170" y="118961"/>
                  </a:lnTo>
                  <a:lnTo>
                    <a:pt x="2141076" y="107448"/>
                  </a:lnTo>
                  <a:lnTo>
                    <a:pt x="2079753" y="100111"/>
                  </a:lnTo>
                  <a:lnTo>
                    <a:pt x="2012949" y="97536"/>
                  </a:lnTo>
                  <a:lnTo>
                    <a:pt x="291338" y="97536"/>
                  </a:lnTo>
                  <a:lnTo>
                    <a:pt x="224534" y="94960"/>
                  </a:lnTo>
                  <a:lnTo>
                    <a:pt x="163211" y="87623"/>
                  </a:lnTo>
                  <a:lnTo>
                    <a:pt x="109117" y="76110"/>
                  </a:lnTo>
                  <a:lnTo>
                    <a:pt x="64001" y="61006"/>
                  </a:lnTo>
                  <a:lnTo>
                    <a:pt x="29610" y="42896"/>
                  </a:lnTo>
                  <a:lnTo>
                    <a:pt x="7694" y="22365"/>
                  </a:lnTo>
                  <a:lnTo>
                    <a:pt x="0" y="0"/>
                  </a:lnTo>
                </a:path>
              </a:pathLst>
            </a:custGeom>
            <a:ln w="19812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45580" y="5862828"/>
              <a:ext cx="964692" cy="22552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598157" y="5884926"/>
              <a:ext cx="864235" cy="135890"/>
            </a:xfrm>
            <a:custGeom>
              <a:avLst/>
              <a:gdLst/>
              <a:ahLst/>
              <a:cxnLst/>
              <a:rect l="l" t="t" r="r" b="b"/>
              <a:pathLst>
                <a:path w="864234" h="135889">
                  <a:moveTo>
                    <a:pt x="864108" y="0"/>
                  </a:moveTo>
                  <a:lnTo>
                    <a:pt x="825028" y="40051"/>
                  </a:lnTo>
                  <a:lnTo>
                    <a:pt x="781181" y="54732"/>
                  </a:lnTo>
                  <a:lnTo>
                    <a:pt x="725574" y="64360"/>
                  </a:lnTo>
                  <a:lnTo>
                    <a:pt x="661543" y="67818"/>
                  </a:lnTo>
                  <a:lnTo>
                    <a:pt x="634619" y="67818"/>
                  </a:lnTo>
                  <a:lnTo>
                    <a:pt x="570587" y="71275"/>
                  </a:lnTo>
                  <a:lnTo>
                    <a:pt x="514980" y="80903"/>
                  </a:lnTo>
                  <a:lnTo>
                    <a:pt x="471133" y="95584"/>
                  </a:lnTo>
                  <a:lnTo>
                    <a:pt x="442379" y="114201"/>
                  </a:lnTo>
                  <a:lnTo>
                    <a:pt x="432053" y="135636"/>
                  </a:lnTo>
                  <a:lnTo>
                    <a:pt x="421728" y="114201"/>
                  </a:lnTo>
                  <a:lnTo>
                    <a:pt x="392974" y="95584"/>
                  </a:lnTo>
                  <a:lnTo>
                    <a:pt x="349127" y="80903"/>
                  </a:lnTo>
                  <a:lnTo>
                    <a:pt x="293520" y="71275"/>
                  </a:lnTo>
                  <a:lnTo>
                    <a:pt x="229489" y="67818"/>
                  </a:lnTo>
                  <a:lnTo>
                    <a:pt x="202565" y="67818"/>
                  </a:lnTo>
                  <a:lnTo>
                    <a:pt x="138533" y="64360"/>
                  </a:lnTo>
                  <a:lnTo>
                    <a:pt x="82926" y="54732"/>
                  </a:lnTo>
                  <a:lnTo>
                    <a:pt x="39079" y="40051"/>
                  </a:lnTo>
                  <a:lnTo>
                    <a:pt x="10325" y="21434"/>
                  </a:lnTo>
                  <a:lnTo>
                    <a:pt x="0" y="0"/>
                  </a:lnTo>
                </a:path>
              </a:pathLst>
            </a:custGeom>
            <a:ln w="19812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848861" y="6096406"/>
            <a:ext cx="7448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405" marR="5080" indent="-53340">
              <a:lnSpc>
                <a:spcPct val="100000"/>
              </a:lnSpc>
              <a:spcBef>
                <a:spcPts val="100"/>
              </a:spcBef>
            </a:pPr>
            <a:r>
              <a:rPr sz="1400" spc="-30" dirty="0">
                <a:solidFill>
                  <a:srgbClr val="7E7E7E"/>
                </a:solidFill>
                <a:latin typeface="Calibri"/>
                <a:cs typeface="Calibri"/>
              </a:rPr>
              <a:t>P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ar</a:t>
            </a:r>
            <a:r>
              <a:rPr sz="1400" spc="-15" dirty="0">
                <a:solidFill>
                  <a:srgbClr val="7E7E7E"/>
                </a:solidFill>
                <a:latin typeface="Calibri"/>
                <a:cs typeface="Calibri"/>
              </a:rPr>
              <a:t>t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e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 m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ás  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genérica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26</a:t>
            </a:fld>
            <a:endParaRPr spc="-5" dirty="0"/>
          </a:p>
        </p:txBody>
      </p:sp>
      <p:sp>
        <p:nvSpPr>
          <p:cNvPr id="11" name="object 11"/>
          <p:cNvSpPr txBox="1"/>
          <p:nvPr/>
        </p:nvSpPr>
        <p:spPr>
          <a:xfrm>
            <a:off x="6658482" y="6096406"/>
            <a:ext cx="7448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>
              <a:lnSpc>
                <a:spcPct val="100000"/>
              </a:lnSpc>
              <a:spcBef>
                <a:spcPts val="100"/>
              </a:spcBef>
            </a:pPr>
            <a:r>
              <a:rPr sz="1400" spc="-30" dirty="0">
                <a:solidFill>
                  <a:srgbClr val="7E7E7E"/>
                </a:solidFill>
                <a:latin typeface="Calibri"/>
                <a:cs typeface="Calibri"/>
              </a:rPr>
              <a:t>P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ar</a:t>
            </a:r>
            <a:r>
              <a:rPr sz="1400" spc="-15" dirty="0">
                <a:solidFill>
                  <a:srgbClr val="7E7E7E"/>
                </a:solidFill>
                <a:latin typeface="Calibri"/>
                <a:cs typeface="Calibri"/>
              </a:rPr>
              <a:t>t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e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 m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ás  es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p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e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c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ífi</a:t>
            </a:r>
            <a:r>
              <a:rPr sz="1400" spc="-20" dirty="0">
                <a:solidFill>
                  <a:srgbClr val="7E7E7E"/>
                </a:solidFill>
                <a:latin typeface="Calibri"/>
                <a:cs typeface="Calibri"/>
              </a:rPr>
              <a:t>c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a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C14D3244-5EAF-2821-B779-4A489A821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Ingeniería de Sistemas - UNCP">
            <a:extLst>
              <a:ext uri="{FF2B5EF4-FFF2-40B4-BE49-F238E27FC236}">
                <a16:creationId xmlns:a16="http://schemas.microsoft.com/office/drawing/2014/main" id="{C0CD1E03-45C9-FEA6-DF0B-4434043AE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6063" y="1925359"/>
            <a:ext cx="943895" cy="437735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83764" y="1845274"/>
            <a:ext cx="1520006" cy="443777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10416" y="1835154"/>
            <a:ext cx="1484843" cy="445841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08354" y="1290065"/>
            <a:ext cx="131191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3530" marR="5080" indent="-291465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Red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entrenada</a:t>
            </a:r>
            <a:r>
              <a:rPr sz="1400" dirty="0">
                <a:latin typeface="Calibri"/>
                <a:cs typeface="Calibri"/>
              </a:rPr>
              <a:t> en </a:t>
            </a:r>
            <a:r>
              <a:rPr sz="1400" spc="-30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ImageNet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27</a:t>
            </a:fld>
            <a:endParaRPr spc="-5" dirty="0"/>
          </a:p>
        </p:txBody>
      </p:sp>
      <p:sp>
        <p:nvSpPr>
          <p:cNvPr id="6" name="object 6"/>
          <p:cNvSpPr txBox="1"/>
          <p:nvPr/>
        </p:nvSpPr>
        <p:spPr>
          <a:xfrm>
            <a:off x="3152901" y="1290065"/>
            <a:ext cx="2031364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93420" marR="5080" indent="-681355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Conjunto</a:t>
            </a:r>
            <a:r>
              <a:rPr sz="1400" spc="-5" dirty="0">
                <a:latin typeface="Calibri"/>
                <a:cs typeface="Calibri"/>
              </a:rPr>
              <a:t> de </a:t>
            </a:r>
            <a:r>
              <a:rPr sz="1400" spc="-10" dirty="0">
                <a:latin typeface="Calibri"/>
                <a:cs typeface="Calibri"/>
              </a:rPr>
              <a:t>entrenamiento </a:t>
            </a:r>
            <a:r>
              <a:rPr sz="1400" spc="-3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pequeño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96534" y="1290065"/>
            <a:ext cx="2031364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96265" marR="5080" indent="-5842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Conjunto</a:t>
            </a:r>
            <a:r>
              <a:rPr sz="1400" spc="-5" dirty="0">
                <a:latin typeface="Calibri"/>
                <a:cs typeface="Calibri"/>
              </a:rPr>
              <a:t> de </a:t>
            </a:r>
            <a:r>
              <a:rPr sz="1400" spc="-10" dirty="0">
                <a:latin typeface="Calibri"/>
                <a:cs typeface="Calibri"/>
              </a:rPr>
              <a:t>entrenamiento </a:t>
            </a:r>
            <a:r>
              <a:rPr sz="1400" spc="-3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más </a:t>
            </a:r>
            <a:r>
              <a:rPr sz="1400" spc="-10" dirty="0">
                <a:latin typeface="Calibri"/>
                <a:cs typeface="Calibri"/>
              </a:rPr>
              <a:t>grande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75834" y="2060524"/>
            <a:ext cx="6534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C00000"/>
                </a:solidFill>
                <a:latin typeface="Calibri"/>
                <a:cs typeface="Calibri"/>
              </a:rPr>
              <a:t>entrenar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46517" y="2096516"/>
            <a:ext cx="65341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C00000"/>
                </a:solidFill>
                <a:latin typeface="Calibri"/>
                <a:cs typeface="Calibri"/>
              </a:rPr>
              <a:t>entrenar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60746" y="2732717"/>
            <a:ext cx="228600" cy="31984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r>
              <a:rPr sz="1600" spc="-10" dirty="0">
                <a:solidFill>
                  <a:srgbClr val="0000FF"/>
                </a:solidFill>
                <a:latin typeface="Calibri"/>
                <a:cs typeface="Calibri"/>
              </a:rPr>
              <a:t>mantener</a:t>
            </a:r>
            <a:r>
              <a:rPr sz="16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Calibri"/>
                <a:cs typeface="Calibri"/>
              </a:rPr>
              <a:t>fijo (el</a:t>
            </a:r>
            <a:r>
              <a:rPr sz="1600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Calibri"/>
                <a:cs typeface="Calibri"/>
              </a:rPr>
              <a:t>original,</a:t>
            </a:r>
            <a:r>
              <a:rPr sz="16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Calibri"/>
                <a:cs typeface="Calibri"/>
              </a:rPr>
              <a:t>no</a:t>
            </a:r>
            <a:r>
              <a:rPr sz="16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00FF"/>
                </a:solidFill>
                <a:latin typeface="Calibri"/>
                <a:cs typeface="Calibri"/>
              </a:rPr>
              <a:t>entrenar)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88985" y="2930930"/>
            <a:ext cx="228600" cy="319786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r>
              <a:rPr sz="1600" spc="-5" dirty="0">
                <a:solidFill>
                  <a:srgbClr val="0000FF"/>
                </a:solidFill>
                <a:latin typeface="Calibri"/>
                <a:cs typeface="Calibri"/>
              </a:rPr>
              <a:t>mantener</a:t>
            </a:r>
            <a:r>
              <a:rPr sz="16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Calibri"/>
                <a:cs typeface="Calibri"/>
              </a:rPr>
              <a:t>fijo</a:t>
            </a:r>
            <a:r>
              <a:rPr sz="1600" spc="-10" dirty="0">
                <a:solidFill>
                  <a:srgbClr val="0000FF"/>
                </a:solidFill>
                <a:latin typeface="Calibri"/>
                <a:cs typeface="Calibri"/>
              </a:rPr>
              <a:t> (el</a:t>
            </a:r>
            <a:r>
              <a:rPr sz="1600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Calibri"/>
                <a:cs typeface="Calibri"/>
              </a:rPr>
              <a:t>original,</a:t>
            </a:r>
            <a:r>
              <a:rPr sz="16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Calibri"/>
                <a:cs typeface="Calibri"/>
              </a:rPr>
              <a:t>no</a:t>
            </a:r>
            <a:r>
              <a:rPr sz="1600" spc="-10" dirty="0">
                <a:solidFill>
                  <a:srgbClr val="0000FF"/>
                </a:solidFill>
                <a:latin typeface="Calibri"/>
                <a:cs typeface="Calibri"/>
              </a:rPr>
              <a:t> entrenar)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074545" y="260350"/>
            <a:ext cx="49936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Transferencia</a:t>
            </a:r>
            <a:r>
              <a:rPr spc="-60" dirty="0"/>
              <a:t> </a:t>
            </a:r>
            <a:r>
              <a:rPr dirty="0"/>
              <a:t>del</a:t>
            </a:r>
            <a:r>
              <a:rPr spc="-35" dirty="0"/>
              <a:t> </a:t>
            </a:r>
            <a:r>
              <a:rPr spc="-10" dirty="0"/>
              <a:t>Aprendizaje</a:t>
            </a:r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954BE9DC-4075-A9FE-88F9-E977AABC9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Ingeniería de Sistemas - UNCP">
            <a:extLst>
              <a:ext uri="{FF2B5EF4-FFF2-40B4-BE49-F238E27FC236}">
                <a16:creationId xmlns:a16="http://schemas.microsoft.com/office/drawing/2014/main" id="{C7CC3B0E-53E6-E2D1-388F-578FEE281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4545" y="260350"/>
            <a:ext cx="49936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Transferencia</a:t>
            </a:r>
            <a:r>
              <a:rPr spc="-60" dirty="0"/>
              <a:t> </a:t>
            </a:r>
            <a:r>
              <a:rPr dirty="0"/>
              <a:t>del</a:t>
            </a:r>
            <a:r>
              <a:rPr spc="-35" dirty="0"/>
              <a:t> </a:t>
            </a:r>
            <a:r>
              <a:rPr spc="-10" dirty="0"/>
              <a:t>Aprendizaje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28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437794" y="1223394"/>
            <a:ext cx="6177280" cy="105219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latin typeface="Calibri"/>
                <a:cs typeface="Calibri"/>
              </a:rPr>
              <a:t>Sugerencias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para</a:t>
            </a:r>
            <a:r>
              <a:rPr sz="2000" spc="-5" dirty="0">
                <a:latin typeface="Calibri"/>
                <a:cs typeface="Calibri"/>
              </a:rPr>
              <a:t> utilizar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transfer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learning: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Según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cantidad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datos </a:t>
            </a:r>
            <a:r>
              <a:rPr sz="1800" spc="-5" dirty="0">
                <a:latin typeface="Calibri"/>
                <a:cs typeface="Calibri"/>
              </a:rPr>
              <a:t>que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tenga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Según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similaridad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diferencia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</a:t>
            </a:r>
            <a:r>
              <a:rPr sz="1800" dirty="0">
                <a:latin typeface="Calibri"/>
                <a:cs typeface="Calibri"/>
              </a:rPr>
              <a:t> el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sistema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pre-entrenado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7794" y="4880766"/>
            <a:ext cx="7169150" cy="105346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latin typeface="Calibri"/>
                <a:cs typeface="Calibri"/>
              </a:rPr>
              <a:t>Existen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varias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redes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pre-entrenadas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grandes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conjuntos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datos: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5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sugiere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aprovecharlas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cuando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posible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25" dirty="0">
                <a:latin typeface="Calibri"/>
                <a:cs typeface="Calibri"/>
              </a:rPr>
              <a:t>Para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transfer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learning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puede </a:t>
            </a:r>
            <a:r>
              <a:rPr sz="1800" spc="-5" dirty="0">
                <a:latin typeface="Calibri"/>
                <a:cs typeface="Calibri"/>
              </a:rPr>
              <a:t>usar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“Data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Augmentation”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110856" y="2632138"/>
          <a:ext cx="6840855" cy="20167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0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0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0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Dataset</a:t>
                      </a:r>
                      <a:r>
                        <a:rPr sz="16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muy</a:t>
                      </a:r>
                      <a:r>
                        <a:rPr sz="16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5" dirty="0">
                          <a:latin typeface="Calibri"/>
                          <a:cs typeface="Calibri"/>
                        </a:rPr>
                        <a:t>similar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Dataset</a:t>
                      </a:r>
                      <a:r>
                        <a:rPr sz="16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muy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5" dirty="0">
                          <a:latin typeface="Calibri"/>
                          <a:cs typeface="Calibri"/>
                        </a:rPr>
                        <a:t>diferente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Muy</a:t>
                      </a:r>
                      <a:r>
                        <a:rPr sz="1600" b="1" spc="-5" dirty="0">
                          <a:latin typeface="Calibri"/>
                          <a:cs typeface="Calibri"/>
                        </a:rPr>
                        <a:t> pocos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datos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22415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Hacer un “finetune”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del </a:t>
                      </a:r>
                      <a:r>
                        <a:rPr sz="1600" spc="-3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clasificador de la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capa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final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46418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Intentar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“data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augmentation”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o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recolectar</a:t>
                      </a:r>
                      <a:r>
                        <a:rPr sz="16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más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datos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Bastantes</a:t>
                      </a:r>
                      <a:r>
                        <a:rPr sz="16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datos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Hacer un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“finetune”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de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algunas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capas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266700" algn="just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Hacer un “finetune”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de </a:t>
                      </a:r>
                      <a:r>
                        <a:rPr sz="1600" spc="-3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un 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número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más 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grande </a:t>
                      </a:r>
                      <a:r>
                        <a:rPr sz="1600" spc="-3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capas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" name="Picture 4">
            <a:extLst>
              <a:ext uri="{FF2B5EF4-FFF2-40B4-BE49-F238E27FC236}">
                <a16:creationId xmlns:a16="http://schemas.microsoft.com/office/drawing/2014/main" id="{C31603D4-6C1F-9A0D-1CCB-24484523C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ngeniería de Sistemas - UNCP">
            <a:extLst>
              <a:ext uri="{FF2B5EF4-FFF2-40B4-BE49-F238E27FC236}">
                <a16:creationId xmlns:a16="http://schemas.microsoft.com/office/drawing/2014/main" id="{96242FB4-265F-53C0-9059-41D9A0809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4545" y="260350"/>
            <a:ext cx="49936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Transferencia</a:t>
            </a:r>
            <a:r>
              <a:rPr spc="-60" dirty="0"/>
              <a:t> </a:t>
            </a:r>
            <a:r>
              <a:rPr dirty="0"/>
              <a:t>del</a:t>
            </a:r>
            <a:r>
              <a:rPr spc="-35" dirty="0"/>
              <a:t> </a:t>
            </a:r>
            <a:r>
              <a:rPr spc="-10" dirty="0"/>
              <a:t>Aprendizaje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1223394"/>
            <a:ext cx="8048625" cy="160147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15" dirty="0">
                <a:solidFill>
                  <a:srgbClr val="00AF50"/>
                </a:solidFill>
                <a:latin typeface="Calibri"/>
                <a:cs typeface="Calibri"/>
              </a:rPr>
              <a:t>Data</a:t>
            </a:r>
            <a:r>
              <a:rPr sz="2000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Augmentation</a:t>
            </a:r>
            <a:endParaRPr sz="2000">
              <a:latin typeface="Calibri"/>
              <a:cs typeface="Calibri"/>
            </a:endParaRPr>
          </a:p>
          <a:p>
            <a:pPr marL="388620" marR="5080" lvl="1" indent="-160020" algn="just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spc="-10" dirty="0">
                <a:latin typeface="Calibri"/>
                <a:cs typeface="Calibri"/>
              </a:rPr>
              <a:t>Incrementar </a:t>
            </a:r>
            <a:r>
              <a:rPr sz="1800" spc="-5" dirty="0">
                <a:latin typeface="Calibri"/>
                <a:cs typeface="Calibri"/>
              </a:rPr>
              <a:t>los </a:t>
            </a:r>
            <a:r>
              <a:rPr sz="1800" spc="-10" dirty="0">
                <a:latin typeface="Calibri"/>
                <a:cs typeface="Calibri"/>
              </a:rPr>
              <a:t>datos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(imágenes) </a:t>
            </a:r>
            <a:r>
              <a:rPr sz="1800" spc="-5" dirty="0">
                <a:latin typeface="Calibri"/>
                <a:cs typeface="Calibri"/>
              </a:rPr>
              <a:t>mediante </a:t>
            </a:r>
            <a:r>
              <a:rPr sz="1800" spc="-10" dirty="0">
                <a:latin typeface="Calibri"/>
                <a:cs typeface="Calibri"/>
              </a:rPr>
              <a:t>operaciones como: traslación, rotación, 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escalado, </a:t>
            </a:r>
            <a:r>
              <a:rPr sz="1800" dirty="0">
                <a:latin typeface="Calibri"/>
                <a:cs typeface="Calibri"/>
              </a:rPr>
              <a:t>shearing, </a:t>
            </a:r>
            <a:r>
              <a:rPr sz="1800" spc="-15" dirty="0">
                <a:latin typeface="Calibri"/>
                <a:cs typeface="Calibri"/>
              </a:rPr>
              <a:t>distorsión </a:t>
            </a:r>
            <a:r>
              <a:rPr sz="1800" spc="-5" dirty="0">
                <a:latin typeface="Calibri"/>
                <a:cs typeface="Calibri"/>
              </a:rPr>
              <a:t>de lentes, </a:t>
            </a:r>
            <a:r>
              <a:rPr sz="1800" spc="-10" dirty="0">
                <a:latin typeface="Calibri"/>
                <a:cs typeface="Calibri"/>
              </a:rPr>
              <a:t>deformaciones, </a:t>
            </a:r>
            <a:r>
              <a:rPr sz="1800" spc="-5" dirty="0">
                <a:latin typeface="Calibri"/>
                <a:cs typeface="Calibri"/>
              </a:rPr>
              <a:t>variaciones </a:t>
            </a:r>
            <a:r>
              <a:rPr sz="1800" dirty="0">
                <a:latin typeface="Calibri"/>
                <a:cs typeface="Calibri"/>
              </a:rPr>
              <a:t>en </a:t>
            </a:r>
            <a:r>
              <a:rPr sz="1800" spc="-10" dirty="0">
                <a:latin typeface="Calibri"/>
                <a:cs typeface="Calibri"/>
              </a:rPr>
              <a:t>intensidad,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etc.</a:t>
            </a:r>
            <a:endParaRPr sz="1800">
              <a:latin typeface="Calibri"/>
              <a:cs typeface="Calibri"/>
            </a:endParaRPr>
          </a:p>
          <a:p>
            <a:pPr marL="388620" lvl="1" indent="-160655" algn="just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Ejemplo: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160" y="2997707"/>
            <a:ext cx="7498541" cy="32948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37189" y="6626085"/>
            <a:ext cx="5421975" cy="14312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29</a:t>
            </a:fld>
            <a:endParaRPr spc="-5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F8F83602-083D-8C76-1450-8AF5E6213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ngeniería de Sistemas - UNCP">
            <a:extLst>
              <a:ext uri="{FF2B5EF4-FFF2-40B4-BE49-F238E27FC236}">
                <a16:creationId xmlns:a16="http://schemas.microsoft.com/office/drawing/2014/main" id="{7F256758-CE9E-64DB-BA4E-C4439213A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7827DFA-E975-E898-8DD4-C2340923F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5AE35AC-3E8C-72F8-1451-3D92F52191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74545" y="260350"/>
            <a:ext cx="49936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Transferencia</a:t>
            </a:r>
            <a:r>
              <a:rPr spc="-60" dirty="0"/>
              <a:t> </a:t>
            </a:r>
            <a:r>
              <a:rPr dirty="0"/>
              <a:t>del</a:t>
            </a:r>
            <a:r>
              <a:rPr spc="-35" dirty="0"/>
              <a:t> </a:t>
            </a:r>
            <a:r>
              <a:rPr spc="-10" dirty="0"/>
              <a:t>Aprendizaje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9BC5736-564D-0653-AEBB-BDF47DAFA1F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30</a:t>
            </a:fld>
            <a:endParaRPr spc="-5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28DCE198-8480-0FBA-1758-B9A5BADBE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ngeniería de Sistemas - UNCP">
            <a:extLst>
              <a:ext uri="{FF2B5EF4-FFF2-40B4-BE49-F238E27FC236}">
                <a16:creationId xmlns:a16="http://schemas.microsoft.com/office/drawing/2014/main" id="{5DA3C3B2-7EFF-6249-54F3-056C31CB2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TL settings: Homogeneous vs Heterogeneous | Download Scientific Diagram">
            <a:extLst>
              <a:ext uri="{FF2B5EF4-FFF2-40B4-BE49-F238E27FC236}">
                <a16:creationId xmlns:a16="http://schemas.microsoft.com/office/drawing/2014/main" id="{E605959E-2F6D-7750-7903-CEADB2B22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867" y="1143000"/>
            <a:ext cx="4216659" cy="4722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5CB62B17-D454-E722-D54C-20AF53E53DC9}"/>
              </a:ext>
            </a:extLst>
          </p:cNvPr>
          <p:cNvSpPr txBox="1"/>
          <p:nvPr/>
        </p:nvSpPr>
        <p:spPr>
          <a:xfrm>
            <a:off x="381000" y="1447800"/>
            <a:ext cx="36925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1" i="1" u="sng" dirty="0"/>
              <a:t>Homogéneo</a:t>
            </a:r>
            <a:r>
              <a:rPr lang="es-ES" b="1" i="1" dirty="0"/>
              <a:t>: </a:t>
            </a:r>
            <a:r>
              <a:rPr lang="es-ES" dirty="0"/>
              <a:t>Transfieres conocimiento entre tareas donde los datos de origen (fuente) y los de destino (objetivo) comparten el mismo espacio de características. Es decir, "hablan el mismo idioma".</a:t>
            </a:r>
            <a:endParaRPr lang="es-PE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B531E38-651D-1130-6C80-7BC311734024}"/>
              </a:ext>
            </a:extLst>
          </p:cNvPr>
          <p:cNvSpPr txBox="1"/>
          <p:nvPr/>
        </p:nvSpPr>
        <p:spPr>
          <a:xfrm>
            <a:off x="381000" y="4038600"/>
            <a:ext cx="36925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1" i="1" u="sng" dirty="0"/>
              <a:t>Heterogéneo</a:t>
            </a:r>
            <a:r>
              <a:rPr lang="es-ES" dirty="0"/>
              <a:t>: Transfieres conocimiento entre tareas donde los datos de origen y destino tienen espacios de características diferentes. Es decir, "hablan idiomas distintos" y necesitas un traductor.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355681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98570" y="581913"/>
            <a:ext cx="15455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B51A00"/>
                </a:solidFill>
              </a:rPr>
              <a:t>Co</a:t>
            </a:r>
            <a:r>
              <a:rPr sz="2800" spc="-40" dirty="0">
                <a:solidFill>
                  <a:srgbClr val="B51A00"/>
                </a:solidFill>
              </a:rPr>
              <a:t>nt</a:t>
            </a:r>
            <a:r>
              <a:rPr sz="2800" spc="-10" dirty="0">
                <a:solidFill>
                  <a:srgbClr val="B51A00"/>
                </a:solidFill>
              </a:rPr>
              <a:t>eni</a:t>
            </a:r>
            <a:r>
              <a:rPr sz="2800" spc="-15" dirty="0">
                <a:solidFill>
                  <a:srgbClr val="B51A00"/>
                </a:solidFill>
              </a:rPr>
              <a:t>d</a:t>
            </a:r>
            <a:r>
              <a:rPr sz="2800" spc="-5" dirty="0">
                <a:solidFill>
                  <a:srgbClr val="B51A00"/>
                </a:solidFill>
              </a:rPr>
              <a:t>o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604" y="3776197"/>
            <a:ext cx="8458249" cy="73358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2068" y="1511046"/>
            <a:ext cx="6452235" cy="2052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800" spc="-15" dirty="0">
                <a:solidFill>
                  <a:srgbClr val="A6A6A6"/>
                </a:solidFill>
                <a:latin typeface="Calibri"/>
                <a:cs typeface="Calibri"/>
              </a:rPr>
              <a:t>Redes Neuronales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A6A6A6"/>
              </a:buClr>
              <a:buFont typeface="Calibri"/>
              <a:buAutoNum type="arabicPeriod"/>
            </a:pP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sz="2800" spc="-15" dirty="0">
                <a:solidFill>
                  <a:srgbClr val="A6A6A6"/>
                </a:solidFill>
                <a:latin typeface="Calibri"/>
                <a:cs typeface="Calibri"/>
              </a:rPr>
              <a:t>Redes</a:t>
            </a:r>
            <a:r>
              <a:rPr sz="2800" spc="-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A6A6A6"/>
                </a:solidFill>
                <a:latin typeface="Calibri"/>
                <a:cs typeface="Calibri"/>
              </a:rPr>
              <a:t>Neuronales</a:t>
            </a:r>
            <a:r>
              <a:rPr sz="2800" spc="3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A6A6A6"/>
                </a:solidFill>
                <a:latin typeface="Calibri"/>
                <a:cs typeface="Calibri"/>
              </a:rPr>
              <a:t>Convolucionales</a:t>
            </a:r>
            <a:r>
              <a:rPr sz="2800" spc="1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A6A6A6"/>
                </a:solidFill>
                <a:latin typeface="Calibri"/>
                <a:cs typeface="Calibri"/>
              </a:rPr>
              <a:t>(CNN)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A6A6A6"/>
              </a:buClr>
              <a:buFont typeface="Calibri"/>
              <a:buAutoNum type="arabicPeriod"/>
            </a:pP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sz="2800" spc="-35" dirty="0">
                <a:solidFill>
                  <a:srgbClr val="A6A6A6"/>
                </a:solidFill>
                <a:latin typeface="Calibri"/>
                <a:cs typeface="Calibri"/>
              </a:rPr>
              <a:t>Transferencia</a:t>
            </a:r>
            <a:r>
              <a:rPr sz="2800" spc="-5" dirty="0">
                <a:solidFill>
                  <a:srgbClr val="A6A6A6"/>
                </a:solidFill>
                <a:latin typeface="Calibri"/>
                <a:cs typeface="Calibri"/>
              </a:rPr>
              <a:t> del</a:t>
            </a:r>
            <a:r>
              <a:rPr sz="280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A6A6A6"/>
                </a:solidFill>
                <a:latin typeface="Calibri"/>
                <a:cs typeface="Calibri"/>
              </a:rPr>
              <a:t>Aprendizaje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31</a:t>
            </a:fld>
            <a:endParaRPr spc="-5" dirty="0"/>
          </a:p>
        </p:txBody>
      </p:sp>
      <p:sp>
        <p:nvSpPr>
          <p:cNvPr id="5" name="object 5"/>
          <p:cNvSpPr txBox="1"/>
          <p:nvPr/>
        </p:nvSpPr>
        <p:spPr>
          <a:xfrm>
            <a:off x="507491" y="3854196"/>
            <a:ext cx="8298180" cy="582295"/>
          </a:xfrm>
          <a:prstGeom prst="rect">
            <a:avLst/>
          </a:prstGeom>
          <a:solidFill>
            <a:srgbClr val="9BEDF7"/>
          </a:solidFill>
        </p:spPr>
        <p:txBody>
          <a:bodyPr vert="horz" wrap="square" lIns="0" tIns="69850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550"/>
              </a:spcBef>
              <a:tabLst>
                <a:tab pos="614045" algn="l"/>
              </a:tabLst>
            </a:pPr>
            <a:r>
              <a:rPr sz="2800" b="1" spc="-5" dirty="0">
                <a:solidFill>
                  <a:srgbClr val="0000FF"/>
                </a:solidFill>
                <a:latin typeface="Calibri"/>
                <a:cs typeface="Calibri"/>
              </a:rPr>
              <a:t>4.	</a:t>
            </a:r>
            <a:r>
              <a:rPr sz="2800" b="1" spc="-15" dirty="0">
                <a:solidFill>
                  <a:srgbClr val="0000FF"/>
                </a:solidFill>
                <a:latin typeface="Calibri"/>
                <a:cs typeface="Calibri"/>
              </a:rPr>
              <a:t>Redes</a:t>
            </a:r>
            <a:r>
              <a:rPr sz="2800" b="1" spc="-10" dirty="0">
                <a:solidFill>
                  <a:srgbClr val="0000FF"/>
                </a:solidFill>
                <a:latin typeface="Calibri"/>
                <a:cs typeface="Calibri"/>
              </a:rPr>
              <a:t> Neuronales</a:t>
            </a:r>
            <a:r>
              <a:rPr sz="2800" b="1" spc="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0000FF"/>
                </a:solidFill>
                <a:latin typeface="Calibri"/>
                <a:cs typeface="Calibri"/>
              </a:rPr>
              <a:t>Recurrentes</a:t>
            </a:r>
            <a:r>
              <a:rPr sz="2800" b="1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Calibri"/>
                <a:cs typeface="Calibri"/>
              </a:rPr>
              <a:t>(RNN)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B4C57AEF-9689-20B6-F7A0-CEEE13955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ngeniería de Sistemas - UNCP">
            <a:extLst>
              <a:ext uri="{FF2B5EF4-FFF2-40B4-BE49-F238E27FC236}">
                <a16:creationId xmlns:a16="http://schemas.microsoft.com/office/drawing/2014/main" id="{1C8921E4-8E0A-3DF6-5EAA-D6CF1321A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3104" y="260350"/>
            <a:ext cx="51790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Redes </a:t>
            </a:r>
            <a:r>
              <a:rPr spc="-5" dirty="0"/>
              <a:t>Neuronales</a:t>
            </a:r>
            <a:r>
              <a:rPr spc="-30" dirty="0"/>
              <a:t> </a:t>
            </a:r>
            <a:r>
              <a:rPr spc="-20" dirty="0"/>
              <a:t>Recurrentes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13865"/>
            <a:ext cx="7610475" cy="15087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dirty="0">
                <a:latin typeface="Calibri"/>
                <a:cs typeface="Calibri"/>
              </a:rPr>
              <a:t>Muchas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aplicaciones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involucran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secuencias: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existen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“Dependencias</a:t>
            </a:r>
            <a:endParaRPr sz="1800">
              <a:latin typeface="Calibri"/>
              <a:cs typeface="Calibri"/>
            </a:endParaRPr>
          </a:p>
          <a:p>
            <a:pPr marL="208915">
              <a:lnSpc>
                <a:spcPct val="100000"/>
              </a:lnSpc>
              <a:spcBef>
                <a:spcPts val="5"/>
              </a:spcBef>
            </a:pPr>
            <a:r>
              <a:rPr sz="1800" spc="-20" dirty="0">
                <a:latin typeface="Calibri"/>
                <a:cs typeface="Calibri"/>
              </a:rPr>
              <a:t>Temporales”</a:t>
            </a:r>
            <a:endParaRPr sz="1800">
              <a:latin typeface="Calibri"/>
              <a:cs typeface="Calibri"/>
            </a:endParaRPr>
          </a:p>
          <a:p>
            <a:pPr marL="388620" marR="5080" lvl="1" indent="-160020">
              <a:lnSpc>
                <a:spcPct val="100899"/>
              </a:lnSpc>
              <a:spcBef>
                <a:spcPts val="415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salida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actual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depende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entrada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actual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las </a:t>
            </a:r>
            <a:r>
              <a:rPr sz="1800" spc="-10" dirty="0">
                <a:latin typeface="Calibri"/>
                <a:cs typeface="Calibri"/>
              </a:rPr>
              <a:t>entradas</a:t>
            </a:r>
            <a:r>
              <a:rPr sz="1800" dirty="0">
                <a:latin typeface="Calibri"/>
                <a:cs typeface="Calibri"/>
              </a:rPr>
              <a:t> pasadas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(video, </a:t>
            </a:r>
            <a:r>
              <a:rPr sz="1600" spc="-3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reconocimiento</a:t>
            </a:r>
            <a:r>
              <a:rPr sz="1600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del habla)</a:t>
            </a:r>
            <a:endParaRPr sz="16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09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Debe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haber “memoria”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523743"/>
            <a:ext cx="4755515" cy="165608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dirty="0">
                <a:latin typeface="Calibri"/>
                <a:cs typeface="Calibri"/>
              </a:rPr>
              <a:t>RNN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(Recurrent</a:t>
            </a:r>
            <a:r>
              <a:rPr sz="18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Neural</a:t>
            </a:r>
            <a:r>
              <a:rPr sz="18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Networks)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spc="-10" dirty="0">
                <a:latin typeface="Calibri"/>
                <a:cs typeface="Calibri"/>
              </a:rPr>
              <a:t>Recurrente: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ocurre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menudo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 </a:t>
            </a:r>
            <a:r>
              <a:rPr sz="1800" spc="-10" dirty="0">
                <a:latin typeface="Calibri"/>
                <a:cs typeface="Calibri"/>
              </a:rPr>
              <a:t>repetidamente</a:t>
            </a:r>
            <a:endParaRPr sz="1800">
              <a:latin typeface="Calibri"/>
              <a:cs typeface="Calibri"/>
            </a:endParaRPr>
          </a:p>
          <a:p>
            <a:pPr marL="388620" marR="172085" lvl="1" indent="-160020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-10" dirty="0">
                <a:latin typeface="Calibri"/>
                <a:cs typeface="Calibri"/>
              </a:rPr>
              <a:t> realiza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misma</a:t>
            </a:r>
            <a:r>
              <a:rPr sz="1800" spc="-15" dirty="0">
                <a:latin typeface="Calibri"/>
                <a:cs typeface="Calibri"/>
              </a:rPr>
              <a:t> tarea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para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cada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elemento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(secuencia)</a:t>
            </a:r>
            <a:r>
              <a:rPr sz="1600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entrada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spc="-20" dirty="0">
                <a:latin typeface="Calibri"/>
                <a:cs typeface="Calibri"/>
              </a:rPr>
              <a:t>Trabajan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 </a:t>
            </a:r>
            <a:r>
              <a:rPr sz="1800" spc="-5" dirty="0">
                <a:latin typeface="Calibri"/>
                <a:cs typeface="Calibri"/>
              </a:rPr>
              <a:t>secuencias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4461" y="3041904"/>
            <a:ext cx="848478" cy="8382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10200" y="3041904"/>
            <a:ext cx="848868" cy="82905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62216" y="3041904"/>
            <a:ext cx="846971" cy="829056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4809625" y="3457148"/>
            <a:ext cx="207645" cy="222885"/>
            <a:chOff x="4809625" y="3457148"/>
            <a:chExt cx="207645" cy="22288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09625" y="3457148"/>
              <a:ext cx="207593" cy="22229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47844" y="3465576"/>
              <a:ext cx="143255" cy="1615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43272" y="3461004"/>
              <a:ext cx="152400" cy="170688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6470843" y="3457148"/>
            <a:ext cx="208915" cy="222885"/>
            <a:chOff x="6470843" y="3457148"/>
            <a:chExt cx="208915" cy="222885"/>
          </a:xfrm>
        </p:grpSpPr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70843" y="3457148"/>
              <a:ext cx="208907" cy="22229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09004" y="3465576"/>
              <a:ext cx="144779" cy="16154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04432" y="3461004"/>
              <a:ext cx="153924" cy="170688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92020" y="3118104"/>
            <a:ext cx="866775" cy="75285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470152" y="3916426"/>
            <a:ext cx="11518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¿Está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saltando?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71109" y="3951223"/>
            <a:ext cx="13284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¿Está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caminando?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196537" y="4853926"/>
            <a:ext cx="2249470" cy="1624597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32</a:t>
            </a:fld>
            <a:endParaRPr spc="-5" dirty="0"/>
          </a:p>
        </p:txBody>
      </p:sp>
      <p:pic>
        <p:nvPicPr>
          <p:cNvPr id="22" name="Picture 4">
            <a:extLst>
              <a:ext uri="{FF2B5EF4-FFF2-40B4-BE49-F238E27FC236}">
                <a16:creationId xmlns:a16="http://schemas.microsoft.com/office/drawing/2014/main" id="{43020C77-2B73-EEED-98C3-C43D756E1E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 descr="Ingeniería de Sistemas - UNCP">
            <a:extLst>
              <a:ext uri="{FF2B5EF4-FFF2-40B4-BE49-F238E27FC236}">
                <a16:creationId xmlns:a16="http://schemas.microsoft.com/office/drawing/2014/main" id="{E6668F64-61F9-C395-77BB-B8E97EB30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3104" y="260350"/>
            <a:ext cx="51790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Redes </a:t>
            </a:r>
            <a:r>
              <a:rPr spc="-5" dirty="0"/>
              <a:t>Neuronales</a:t>
            </a:r>
            <a:r>
              <a:rPr spc="-30" dirty="0"/>
              <a:t> </a:t>
            </a:r>
            <a:r>
              <a:rPr spc="-20" dirty="0"/>
              <a:t>Recurrentes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13865"/>
            <a:ext cx="29241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Reconocimiento</a:t>
            </a:r>
            <a:r>
              <a:rPr sz="2000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000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gestos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254" y="1947969"/>
            <a:ext cx="6862546" cy="389139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33</a:t>
            </a:fld>
            <a:endParaRPr spc="-5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ED7D5DF5-DAD8-23AF-5E5F-DEA1155D5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63E696B2-C0C6-A869-55C8-1DD3E143D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3104" y="260350"/>
            <a:ext cx="51790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Redes </a:t>
            </a:r>
            <a:r>
              <a:rPr spc="-5" dirty="0"/>
              <a:t>Neuronales</a:t>
            </a:r>
            <a:r>
              <a:rPr spc="-30" dirty="0"/>
              <a:t> </a:t>
            </a:r>
            <a:r>
              <a:rPr spc="-20" dirty="0"/>
              <a:t>Recurrentes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52187"/>
            <a:ext cx="8032750" cy="72326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RNN</a:t>
            </a:r>
            <a:r>
              <a:rPr sz="2000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simple</a:t>
            </a:r>
            <a:endParaRPr sz="20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439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30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salidas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capas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ocultas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comportan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entradas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capas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(“estados”)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0996" y="2421635"/>
            <a:ext cx="3383279" cy="35401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35879" y="3523488"/>
            <a:ext cx="3421379" cy="112318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14905" y="6183274"/>
            <a:ext cx="17989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libri"/>
                <a:cs typeface="Calibri"/>
              </a:rPr>
              <a:t>RNN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simple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 Elman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34</a:t>
            </a:fld>
            <a:endParaRPr spc="-5" dirty="0"/>
          </a:p>
        </p:txBody>
      </p:sp>
      <p:sp>
        <p:nvSpPr>
          <p:cNvPr id="7" name="object 7"/>
          <p:cNvSpPr txBox="1"/>
          <p:nvPr/>
        </p:nvSpPr>
        <p:spPr>
          <a:xfrm>
            <a:off x="5631307" y="4818710"/>
            <a:ext cx="24568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libri"/>
                <a:cs typeface="Calibri"/>
              </a:rPr>
              <a:t>Analogía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una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máquina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latin typeface="Calibri"/>
                <a:cs typeface="Calibri"/>
              </a:rPr>
              <a:t>estados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finitos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D4F54A39-A94E-CF3D-BB82-3A9C64078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Ingeniería de Sistemas - UNCP">
            <a:extLst>
              <a:ext uri="{FF2B5EF4-FFF2-40B4-BE49-F238E27FC236}">
                <a16:creationId xmlns:a16="http://schemas.microsoft.com/office/drawing/2014/main" id="{8DB321EC-D97E-C7E5-B2CA-2C9A54853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3104" y="260350"/>
            <a:ext cx="51790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Redes </a:t>
            </a:r>
            <a:r>
              <a:rPr spc="-5" dirty="0"/>
              <a:t>Neuronales</a:t>
            </a:r>
            <a:r>
              <a:rPr spc="-30" dirty="0"/>
              <a:t> </a:t>
            </a:r>
            <a:r>
              <a:rPr spc="-20" dirty="0"/>
              <a:t>Recurrentes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4488" y="2528316"/>
            <a:ext cx="1512595" cy="255269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218689" y="5769355"/>
            <a:ext cx="469836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i="1" spc="-5" dirty="0">
                <a:latin typeface="Times New Roman"/>
                <a:cs typeface="Times New Roman"/>
              </a:rPr>
              <a:t>W</a:t>
            </a:r>
            <a:r>
              <a:rPr sz="1575" i="1" spc="-7" baseline="-21164" dirty="0">
                <a:latin typeface="Times New Roman"/>
                <a:cs typeface="Times New Roman"/>
              </a:rPr>
              <a:t>x</a:t>
            </a:r>
            <a:r>
              <a:rPr sz="1600" spc="-5" dirty="0">
                <a:latin typeface="Calibri"/>
                <a:cs typeface="Calibri"/>
              </a:rPr>
              <a:t>: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matriz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que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relaciona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entradas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el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estado</a:t>
            </a:r>
            <a:endParaRPr sz="16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</a:pPr>
            <a:r>
              <a:rPr sz="1600" i="1" spc="-50" dirty="0">
                <a:latin typeface="Times New Roman"/>
                <a:cs typeface="Times New Roman"/>
              </a:rPr>
              <a:t>W</a:t>
            </a:r>
            <a:r>
              <a:rPr sz="1575" i="1" spc="-75" baseline="-21164" dirty="0">
                <a:latin typeface="Times New Roman"/>
                <a:cs typeface="Times New Roman"/>
              </a:rPr>
              <a:t>y</a:t>
            </a:r>
            <a:r>
              <a:rPr sz="1600" spc="-50" dirty="0">
                <a:latin typeface="Calibri"/>
                <a:cs typeface="Calibri"/>
              </a:rPr>
              <a:t>:</a:t>
            </a:r>
            <a:r>
              <a:rPr sz="1600" spc="-5" dirty="0">
                <a:latin typeface="Calibri"/>
                <a:cs typeface="Calibri"/>
              </a:rPr>
              <a:t> matriz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que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relaciona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el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estado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la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salida</a:t>
            </a:r>
            <a:endParaRPr sz="16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</a:pPr>
            <a:r>
              <a:rPr sz="1600" i="1" spc="-5" dirty="0">
                <a:latin typeface="Times New Roman"/>
                <a:cs typeface="Times New Roman"/>
              </a:rPr>
              <a:t>W</a:t>
            </a:r>
            <a:r>
              <a:rPr sz="1575" i="1" spc="-7" baseline="-21164" dirty="0">
                <a:latin typeface="Times New Roman"/>
                <a:cs typeface="Times New Roman"/>
              </a:rPr>
              <a:t>s</a:t>
            </a:r>
            <a:r>
              <a:rPr sz="1600" spc="-5" dirty="0">
                <a:latin typeface="Calibri"/>
                <a:cs typeface="Calibri"/>
              </a:rPr>
              <a:t>: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Matriz que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relaciona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el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estado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anterior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el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actual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3970" y="2601404"/>
            <a:ext cx="939577" cy="261011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23240" y="1152187"/>
            <a:ext cx="5161280" cy="235140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21615" indent="-19685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22250" algn="l"/>
              </a:tabLst>
            </a:pP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Esquema</a:t>
            </a:r>
            <a:r>
              <a:rPr sz="2000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000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RNN</a:t>
            </a:r>
            <a:endParaRPr sz="2000">
              <a:latin typeface="Calibri"/>
              <a:cs typeface="Calibri"/>
            </a:endParaRPr>
          </a:p>
          <a:p>
            <a:pPr marL="401320" lvl="1" indent="-160655">
              <a:lnSpc>
                <a:spcPct val="100000"/>
              </a:lnSpc>
              <a:spcBef>
                <a:spcPts val="439"/>
              </a:spcBef>
              <a:buChar char="-"/>
              <a:tabLst>
                <a:tab pos="401955" algn="l"/>
              </a:tabLst>
            </a:pP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salida depende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entrada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actual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5" dirty="0">
                <a:latin typeface="Calibri"/>
                <a:cs typeface="Calibri"/>
              </a:rPr>
              <a:t>del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estado</a:t>
            </a:r>
            <a:endParaRPr sz="1800">
              <a:latin typeface="Calibri"/>
              <a:cs typeface="Calibri"/>
            </a:endParaRPr>
          </a:p>
          <a:p>
            <a:pPr marL="4013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401955" algn="l"/>
              </a:tabLst>
            </a:pPr>
            <a:r>
              <a:rPr sz="1800" spc="-5" dirty="0">
                <a:latin typeface="Calibri"/>
                <a:cs typeface="Calibri"/>
              </a:rPr>
              <a:t>El </a:t>
            </a:r>
            <a:r>
              <a:rPr sz="1800" spc="-10" dirty="0">
                <a:latin typeface="Calibri"/>
                <a:cs typeface="Calibri"/>
              </a:rPr>
              <a:t>estado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(S)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contiene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información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“pasado”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 marL="2809240">
              <a:lnSpc>
                <a:spcPct val="100000"/>
              </a:lnSpc>
              <a:spcBef>
                <a:spcPts val="1360"/>
              </a:spcBef>
            </a:pPr>
            <a:r>
              <a:rPr sz="2300" i="1" spc="-35" dirty="0">
                <a:latin typeface="Times New Roman"/>
                <a:cs typeface="Times New Roman"/>
              </a:rPr>
              <a:t>y</a:t>
            </a:r>
            <a:r>
              <a:rPr sz="1950" i="1" spc="7" baseline="-25641" dirty="0">
                <a:latin typeface="Times New Roman"/>
                <a:cs typeface="Times New Roman"/>
              </a:rPr>
              <a:t>t</a:t>
            </a:r>
            <a:r>
              <a:rPr sz="1950" i="1" baseline="-25641" dirty="0">
                <a:latin typeface="Times New Roman"/>
                <a:cs typeface="Times New Roman"/>
              </a:rPr>
              <a:t>  </a:t>
            </a:r>
            <a:r>
              <a:rPr sz="1950" i="1" spc="-195" baseline="-25641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Symbol"/>
                <a:cs typeface="Symbol"/>
              </a:rPr>
              <a:t></a:t>
            </a:r>
            <a:r>
              <a:rPr sz="2300" spc="-260" dirty="0">
                <a:latin typeface="Times New Roman"/>
                <a:cs typeface="Times New Roman"/>
              </a:rPr>
              <a:t> </a:t>
            </a:r>
            <a:r>
              <a:rPr sz="2300" i="1" spc="35" dirty="0">
                <a:latin typeface="Times New Roman"/>
                <a:cs typeface="Times New Roman"/>
              </a:rPr>
              <a:t>W</a:t>
            </a:r>
            <a:r>
              <a:rPr sz="1950" i="1" spc="15" baseline="-25641" dirty="0">
                <a:latin typeface="Times New Roman"/>
                <a:cs typeface="Times New Roman"/>
              </a:rPr>
              <a:t>y</a:t>
            </a:r>
            <a:r>
              <a:rPr sz="1950" i="1" spc="-187" baseline="-25641" dirty="0">
                <a:latin typeface="Times New Roman"/>
                <a:cs typeface="Times New Roman"/>
              </a:rPr>
              <a:t> </a:t>
            </a:r>
            <a:r>
              <a:rPr sz="2300" i="1" spc="-50" dirty="0">
                <a:latin typeface="Times New Roman"/>
                <a:cs typeface="Times New Roman"/>
              </a:rPr>
              <a:t>s</a:t>
            </a:r>
            <a:r>
              <a:rPr sz="1950" i="1" spc="7" baseline="-25641" dirty="0">
                <a:latin typeface="Times New Roman"/>
                <a:cs typeface="Times New Roman"/>
              </a:rPr>
              <a:t>t</a:t>
            </a:r>
            <a:endParaRPr sz="1950" baseline="-25641">
              <a:latin typeface="Times New Roman"/>
              <a:cs typeface="Times New Roman"/>
            </a:endParaRPr>
          </a:p>
          <a:p>
            <a:pPr marL="2780665">
              <a:lnSpc>
                <a:spcPct val="100000"/>
              </a:lnSpc>
              <a:spcBef>
                <a:spcPts val="1155"/>
              </a:spcBef>
            </a:pPr>
            <a:r>
              <a:rPr sz="2300" i="1" spc="-50" dirty="0">
                <a:latin typeface="Times New Roman"/>
                <a:cs typeface="Times New Roman"/>
              </a:rPr>
              <a:t>s</a:t>
            </a:r>
            <a:r>
              <a:rPr sz="1950" i="1" spc="7" baseline="-25641" dirty="0">
                <a:latin typeface="Times New Roman"/>
                <a:cs typeface="Times New Roman"/>
              </a:rPr>
              <a:t>t</a:t>
            </a:r>
            <a:r>
              <a:rPr sz="1950" i="1" baseline="-25641" dirty="0">
                <a:latin typeface="Times New Roman"/>
                <a:cs typeface="Times New Roman"/>
              </a:rPr>
              <a:t>  </a:t>
            </a:r>
            <a:r>
              <a:rPr sz="1950" i="1" spc="-195" baseline="-25641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Symbol"/>
                <a:cs typeface="Symbol"/>
              </a:rPr>
              <a:t></a:t>
            </a:r>
            <a:r>
              <a:rPr sz="2300" spc="60" dirty="0">
                <a:latin typeface="Times New Roman"/>
                <a:cs typeface="Times New Roman"/>
              </a:rPr>
              <a:t> </a:t>
            </a:r>
            <a:r>
              <a:rPr sz="2300" i="1" spc="175" dirty="0">
                <a:latin typeface="Times New Roman"/>
                <a:cs typeface="Times New Roman"/>
              </a:rPr>
              <a:t>g</a:t>
            </a:r>
            <a:r>
              <a:rPr sz="2300" spc="-165" dirty="0">
                <a:latin typeface="Times New Roman"/>
                <a:cs typeface="Times New Roman"/>
              </a:rPr>
              <a:t>(</a:t>
            </a:r>
            <a:r>
              <a:rPr sz="2300" i="1" spc="-35" dirty="0">
                <a:latin typeface="Times New Roman"/>
                <a:cs typeface="Times New Roman"/>
              </a:rPr>
              <a:t>W</a:t>
            </a:r>
            <a:r>
              <a:rPr sz="1950" i="1" spc="15" baseline="-25641" dirty="0">
                <a:latin typeface="Times New Roman"/>
                <a:cs typeface="Times New Roman"/>
              </a:rPr>
              <a:t>x</a:t>
            </a:r>
            <a:r>
              <a:rPr sz="1950" i="1" spc="-120" baseline="-25641" dirty="0">
                <a:latin typeface="Times New Roman"/>
                <a:cs typeface="Times New Roman"/>
              </a:rPr>
              <a:t> </a:t>
            </a:r>
            <a:r>
              <a:rPr sz="2300" i="1" spc="-65" dirty="0">
                <a:latin typeface="Times New Roman"/>
                <a:cs typeface="Times New Roman"/>
              </a:rPr>
              <a:t>x</a:t>
            </a:r>
            <a:r>
              <a:rPr sz="1950" i="1" spc="7" baseline="-25641" dirty="0">
                <a:latin typeface="Times New Roman"/>
                <a:cs typeface="Times New Roman"/>
              </a:rPr>
              <a:t>t</a:t>
            </a:r>
            <a:r>
              <a:rPr sz="1950" i="1" baseline="-25641" dirty="0">
                <a:latin typeface="Times New Roman"/>
                <a:cs typeface="Times New Roman"/>
              </a:rPr>
              <a:t> </a:t>
            </a:r>
            <a:r>
              <a:rPr sz="1950" i="1" spc="75" baseline="-25641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Symbol"/>
                <a:cs typeface="Symbol"/>
              </a:rPr>
              <a:t></a:t>
            </a:r>
            <a:r>
              <a:rPr sz="2300" spc="-375" dirty="0">
                <a:latin typeface="Times New Roman"/>
                <a:cs typeface="Times New Roman"/>
              </a:rPr>
              <a:t> </a:t>
            </a:r>
            <a:r>
              <a:rPr sz="2300" i="1" spc="-70" dirty="0">
                <a:latin typeface="Times New Roman"/>
                <a:cs typeface="Times New Roman"/>
              </a:rPr>
              <a:t>W</a:t>
            </a:r>
            <a:r>
              <a:rPr sz="1950" i="1" spc="292" baseline="-25641" dirty="0">
                <a:latin typeface="Times New Roman"/>
                <a:cs typeface="Times New Roman"/>
              </a:rPr>
              <a:t>s</a:t>
            </a:r>
            <a:r>
              <a:rPr sz="2300" i="1" spc="-45" dirty="0">
                <a:latin typeface="Times New Roman"/>
                <a:cs typeface="Times New Roman"/>
              </a:rPr>
              <a:t>s</a:t>
            </a:r>
            <a:r>
              <a:rPr sz="1950" i="1" spc="7" baseline="-25641" dirty="0">
                <a:latin typeface="Times New Roman"/>
                <a:cs typeface="Times New Roman"/>
              </a:rPr>
              <a:t>t</a:t>
            </a:r>
            <a:r>
              <a:rPr sz="1950" i="1" spc="-262" baseline="-25641" dirty="0">
                <a:latin typeface="Times New Roman"/>
                <a:cs typeface="Times New Roman"/>
              </a:rPr>
              <a:t> </a:t>
            </a:r>
            <a:r>
              <a:rPr sz="1950" spc="-82" baseline="-25641" dirty="0">
                <a:latin typeface="Symbol"/>
                <a:cs typeface="Symbol"/>
              </a:rPr>
              <a:t></a:t>
            </a:r>
            <a:r>
              <a:rPr sz="1950" spc="15" baseline="-25641" dirty="0">
                <a:latin typeface="Times New Roman"/>
                <a:cs typeface="Times New Roman"/>
              </a:rPr>
              <a:t>1</a:t>
            </a:r>
            <a:r>
              <a:rPr sz="1950" spc="-254" baseline="-25641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)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35</a:t>
            </a:fld>
            <a:endParaRPr spc="-5" dirty="0"/>
          </a:p>
        </p:txBody>
      </p:sp>
      <p:sp>
        <p:nvSpPr>
          <p:cNvPr id="7" name="object 7"/>
          <p:cNvSpPr txBox="1"/>
          <p:nvPr/>
        </p:nvSpPr>
        <p:spPr>
          <a:xfrm>
            <a:off x="3509771" y="4089653"/>
            <a:ext cx="194183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5"/>
              </a:spcBef>
            </a:pPr>
            <a:r>
              <a:rPr sz="1600" i="1" spc="-5" dirty="0">
                <a:latin typeface="Times New Roman"/>
                <a:cs typeface="Times New Roman"/>
              </a:rPr>
              <a:t>x</a:t>
            </a:r>
            <a:r>
              <a:rPr sz="1575" i="1" spc="-7" baseline="-21164" dirty="0">
                <a:latin typeface="Times New Roman"/>
                <a:cs typeface="Times New Roman"/>
              </a:rPr>
              <a:t>t</a:t>
            </a:r>
            <a:r>
              <a:rPr sz="1600" spc="-5" dirty="0">
                <a:latin typeface="Calibri"/>
                <a:cs typeface="Calibri"/>
              </a:rPr>
              <a:t>: </a:t>
            </a:r>
            <a:r>
              <a:rPr sz="1600" spc="-10" dirty="0">
                <a:latin typeface="Calibri"/>
                <a:cs typeface="Calibri"/>
              </a:rPr>
              <a:t>entrada </a:t>
            </a:r>
            <a:r>
              <a:rPr sz="1600" spc="-5" dirty="0">
                <a:latin typeface="Calibri"/>
                <a:cs typeface="Calibri"/>
              </a:rPr>
              <a:t>en tiempo </a:t>
            </a:r>
            <a:r>
              <a:rPr sz="1600" i="1" spc="-5" dirty="0">
                <a:latin typeface="Times New Roman"/>
                <a:cs typeface="Times New Roman"/>
              </a:rPr>
              <a:t>t </a:t>
            </a:r>
            <a:r>
              <a:rPr sz="1600" i="1" spc="-385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y</a:t>
            </a:r>
            <a:r>
              <a:rPr sz="1575" i="1" spc="-7" baseline="-21164" dirty="0">
                <a:latin typeface="Times New Roman"/>
                <a:cs typeface="Times New Roman"/>
              </a:rPr>
              <a:t>t</a:t>
            </a:r>
            <a:r>
              <a:rPr sz="1600" spc="-5" dirty="0">
                <a:latin typeface="Calibri"/>
                <a:cs typeface="Calibri"/>
              </a:rPr>
              <a:t>: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salida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en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tiempo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t </a:t>
            </a:r>
            <a:r>
              <a:rPr sz="1600" i="1" dirty="0">
                <a:latin typeface="Times New Roman"/>
                <a:cs typeface="Times New Roman"/>
              </a:rPr>
              <a:t> s</a:t>
            </a:r>
            <a:r>
              <a:rPr sz="1575" i="1" baseline="-21164" dirty="0">
                <a:latin typeface="Times New Roman"/>
                <a:cs typeface="Times New Roman"/>
              </a:rPr>
              <a:t>t</a:t>
            </a:r>
            <a:r>
              <a:rPr sz="1600" dirty="0">
                <a:latin typeface="Calibri"/>
                <a:cs typeface="Calibri"/>
              </a:rPr>
              <a:t>:</a:t>
            </a:r>
            <a:r>
              <a:rPr sz="1600" spc="-10" dirty="0">
                <a:latin typeface="Calibri"/>
                <a:cs typeface="Calibri"/>
              </a:rPr>
              <a:t> estado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en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tiempo </a:t>
            </a:r>
            <a:r>
              <a:rPr sz="1600" i="1" spc="-5" dirty="0">
                <a:latin typeface="Times New Roman"/>
                <a:cs typeface="Times New Roman"/>
              </a:rPr>
              <a:t>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7757" y="5279516"/>
            <a:ext cx="17449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“folded</a:t>
            </a:r>
            <a:r>
              <a:rPr sz="14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representation”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59144" y="5231079"/>
            <a:ext cx="19310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“unfolded</a:t>
            </a:r>
            <a:r>
              <a:rPr sz="14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representation”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9EC0060F-9509-CA22-B2EA-3D6C195F7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Ingeniería de Sistemas - UNCP">
            <a:extLst>
              <a:ext uri="{FF2B5EF4-FFF2-40B4-BE49-F238E27FC236}">
                <a16:creationId xmlns:a16="http://schemas.microsoft.com/office/drawing/2014/main" id="{8CDE5E59-CAEB-7484-BD95-1E008371E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3104" y="260350"/>
            <a:ext cx="51790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Redes </a:t>
            </a:r>
            <a:r>
              <a:rPr spc="-5" dirty="0"/>
              <a:t>Neuronales</a:t>
            </a:r>
            <a:r>
              <a:rPr spc="-30" dirty="0"/>
              <a:t> </a:t>
            </a:r>
            <a:r>
              <a:rPr spc="-20" dirty="0"/>
              <a:t>Recurrentes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52187"/>
            <a:ext cx="4359275" cy="72326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Esquema</a:t>
            </a:r>
            <a:r>
              <a:rPr sz="2000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000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RNN</a:t>
            </a:r>
            <a:endParaRPr sz="20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439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Ejemplo</a:t>
            </a:r>
            <a:r>
              <a:rPr sz="1800" spc="-10" dirty="0">
                <a:latin typeface="Calibri"/>
                <a:cs typeface="Calibri"/>
              </a:rPr>
              <a:t> con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varias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entradas </a:t>
            </a:r>
            <a:r>
              <a:rPr sz="1800" spc="-5" dirty="0">
                <a:latin typeface="Calibri"/>
                <a:cs typeface="Calibri"/>
              </a:rPr>
              <a:t>(secuenciales)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2348" y="5467342"/>
            <a:ext cx="3823970" cy="65405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72720" indent="-160020">
              <a:lnSpc>
                <a:spcPct val="100000"/>
              </a:lnSpc>
              <a:spcBef>
                <a:spcPts val="560"/>
              </a:spcBef>
              <a:buChar char="-"/>
              <a:tabLst>
                <a:tab pos="172720" algn="l"/>
              </a:tabLst>
            </a:pPr>
            <a:r>
              <a:rPr sz="1800" spc="-5" dirty="0">
                <a:latin typeface="Calibri"/>
                <a:cs typeface="Calibri"/>
              </a:rPr>
              <a:t>Es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solo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representación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temporal</a:t>
            </a:r>
            <a:endParaRPr sz="1800">
              <a:latin typeface="Calibri"/>
              <a:cs typeface="Calibri"/>
            </a:endParaRPr>
          </a:p>
          <a:p>
            <a:pPr marL="394970" lvl="1" indent="-226060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394970" algn="l"/>
                <a:tab pos="395605" algn="l"/>
              </a:tabLst>
            </a:pPr>
            <a:r>
              <a:rPr sz="1600" spc="-5" dirty="0">
                <a:latin typeface="Calibri"/>
                <a:cs typeface="Calibri"/>
              </a:rPr>
              <a:t>Los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pesos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(en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cada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etapa)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son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los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mismos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1433" y="2299017"/>
            <a:ext cx="7203406" cy="294201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36</a:t>
            </a:fld>
            <a:endParaRPr spc="-5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428246E4-C970-2BC7-C680-5E4651934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ngeniería de Sistemas - UNCP">
            <a:extLst>
              <a:ext uri="{FF2B5EF4-FFF2-40B4-BE49-F238E27FC236}">
                <a16:creationId xmlns:a16="http://schemas.microsoft.com/office/drawing/2014/main" id="{06525F0B-233E-E642-8347-8660F1AB7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3104" y="260350"/>
            <a:ext cx="51790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Redes </a:t>
            </a:r>
            <a:r>
              <a:rPr spc="-5" dirty="0"/>
              <a:t>Neuronales</a:t>
            </a:r>
            <a:r>
              <a:rPr spc="-30" dirty="0"/>
              <a:t> </a:t>
            </a:r>
            <a:r>
              <a:rPr spc="-20" dirty="0"/>
              <a:t>Recurrentes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5005705" cy="3067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7469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A</a:t>
            </a:r>
            <a:r>
              <a:rPr sz="2400" b="1" spc="-25" dirty="0">
                <a:solidFill>
                  <a:srgbClr val="2092FA"/>
                </a:solidFill>
                <a:latin typeface="Calibri"/>
                <a:cs typeface="Calibri"/>
              </a:rPr>
              <a:t>r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q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u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i</a:t>
            </a:r>
            <a:r>
              <a:rPr sz="2400" b="1" spc="-35" dirty="0">
                <a:solidFill>
                  <a:srgbClr val="2092FA"/>
                </a:solidFill>
                <a:latin typeface="Calibri"/>
                <a:cs typeface="Calibri"/>
              </a:rPr>
              <a:t>t</a:t>
            </a:r>
            <a:r>
              <a:rPr sz="2400" b="1" spc="-5" dirty="0">
                <a:solidFill>
                  <a:srgbClr val="2092FA"/>
                </a:solidFill>
                <a:latin typeface="Calibri"/>
                <a:cs typeface="Calibri"/>
              </a:rPr>
              <a:t>e</a:t>
            </a:r>
            <a:r>
              <a:rPr sz="2400" b="1" spc="5" dirty="0">
                <a:solidFill>
                  <a:srgbClr val="2092FA"/>
                </a:solidFill>
                <a:latin typeface="Calibri"/>
                <a:cs typeface="Calibri"/>
              </a:rPr>
              <a:t>c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t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u</a:t>
            </a:r>
            <a:r>
              <a:rPr sz="2400" b="1" spc="-50" dirty="0">
                <a:solidFill>
                  <a:srgbClr val="2092FA"/>
                </a:solidFill>
                <a:latin typeface="Calibri"/>
                <a:cs typeface="Calibri"/>
              </a:rPr>
              <a:t>r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as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One</a:t>
            </a:r>
            <a:r>
              <a:rPr sz="2000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00AF50"/>
                </a:solidFill>
                <a:latin typeface="Calibri"/>
                <a:cs typeface="Calibri"/>
              </a:rPr>
              <a:t>to</a:t>
            </a:r>
            <a:r>
              <a:rPr sz="2000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one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spc="-10" dirty="0">
                <a:latin typeface="Calibri"/>
                <a:cs typeface="Calibri"/>
              </a:rPr>
              <a:t>Entrada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fija </a:t>
            </a:r>
            <a:r>
              <a:rPr sz="1800" spc="-10" dirty="0">
                <a:latin typeface="Calibri"/>
                <a:cs typeface="Calibri"/>
              </a:rPr>
              <a:t>(única):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imagen,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vector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Salida única: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clasificación</a:t>
            </a:r>
            <a:endParaRPr sz="18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One</a:t>
            </a:r>
            <a:r>
              <a:rPr sz="2000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many: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spc="-10" dirty="0">
                <a:latin typeface="Calibri"/>
                <a:cs typeface="Calibri"/>
              </a:rPr>
              <a:t>Entrada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fija </a:t>
            </a:r>
            <a:r>
              <a:rPr sz="1800" spc="-10" dirty="0">
                <a:latin typeface="Calibri"/>
                <a:cs typeface="Calibri"/>
              </a:rPr>
              <a:t>(única):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imagen,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vector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Salida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variable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(secuencia):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texto,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descripción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Ejemplo: </a:t>
            </a:r>
            <a:r>
              <a:rPr sz="1800" spc="-10" dirty="0">
                <a:latin typeface="Calibri"/>
                <a:cs typeface="Calibri"/>
              </a:rPr>
              <a:t>etiquetado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imagen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3783" y="4021835"/>
            <a:ext cx="400812" cy="247345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36881" y="3953255"/>
            <a:ext cx="1502685" cy="261061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092579" y="4962525"/>
            <a:ext cx="58801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7160" marR="5080" indent="-125095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One</a:t>
            </a:r>
            <a:r>
              <a:rPr sz="1600" spc="-7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to </a:t>
            </a:r>
            <a:r>
              <a:rPr sz="1600" spc="-3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one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37</a:t>
            </a:fld>
            <a:endParaRPr spc="-5" dirty="0"/>
          </a:p>
        </p:txBody>
      </p:sp>
      <p:sp>
        <p:nvSpPr>
          <p:cNvPr id="7" name="object 7"/>
          <p:cNvSpPr txBox="1"/>
          <p:nvPr/>
        </p:nvSpPr>
        <p:spPr>
          <a:xfrm>
            <a:off x="5142357" y="4987797"/>
            <a:ext cx="58801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7310" marR="5080" indent="-55244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One</a:t>
            </a:r>
            <a:r>
              <a:rPr sz="1600" spc="-7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to </a:t>
            </a:r>
            <a:r>
              <a:rPr sz="1600" spc="-3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many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E1DD6929-3995-E072-D61D-2668C2A9DE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Ingeniería de Sistemas - UNCP">
            <a:extLst>
              <a:ext uri="{FF2B5EF4-FFF2-40B4-BE49-F238E27FC236}">
                <a16:creationId xmlns:a16="http://schemas.microsoft.com/office/drawing/2014/main" id="{A5DD64EF-2400-03B4-10BB-86BD52B3C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3104" y="260350"/>
            <a:ext cx="51790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Redes </a:t>
            </a:r>
            <a:r>
              <a:rPr spc="-5" dirty="0"/>
              <a:t>Neuronales</a:t>
            </a:r>
            <a:r>
              <a:rPr spc="-30" dirty="0"/>
              <a:t> </a:t>
            </a:r>
            <a:r>
              <a:rPr spc="-20" dirty="0"/>
              <a:t>Recurrentes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7420609" cy="3396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74695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Arquitecturas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Many</a:t>
            </a:r>
            <a:r>
              <a:rPr sz="2000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00AF50"/>
                </a:solidFill>
                <a:latin typeface="Calibri"/>
                <a:cs typeface="Calibri"/>
              </a:rPr>
              <a:t>to</a:t>
            </a:r>
            <a:r>
              <a:rPr sz="2000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one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spc="-10" dirty="0">
                <a:latin typeface="Calibri"/>
                <a:cs typeface="Calibri"/>
              </a:rPr>
              <a:t>Entrada</a:t>
            </a:r>
            <a:r>
              <a:rPr sz="1800" spc="-5" dirty="0">
                <a:latin typeface="Calibri"/>
                <a:cs typeface="Calibri"/>
              </a:rPr>
              <a:t> variable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(secuencia):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texto,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video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Salida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fija: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clasificación,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sentimiento,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tipo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actividad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Ejemplo: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clasificación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del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sentimiento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texto</a:t>
            </a:r>
            <a:endParaRPr sz="18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Many</a:t>
            </a:r>
            <a:r>
              <a:rPr sz="2000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00AF50"/>
                </a:solidFill>
                <a:latin typeface="Calibri"/>
                <a:cs typeface="Calibri"/>
              </a:rPr>
              <a:t>to</a:t>
            </a:r>
            <a:r>
              <a:rPr sz="2000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many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9"/>
              </a:spcBef>
              <a:buChar char="-"/>
              <a:tabLst>
                <a:tab pos="389255" algn="l"/>
              </a:tabLst>
            </a:pPr>
            <a:r>
              <a:rPr sz="1800" spc="-10" dirty="0">
                <a:latin typeface="Calibri"/>
                <a:cs typeface="Calibri"/>
              </a:rPr>
              <a:t>Entrada</a:t>
            </a:r>
            <a:r>
              <a:rPr sz="1800" spc="-5" dirty="0">
                <a:latin typeface="Calibri"/>
                <a:cs typeface="Calibri"/>
              </a:rPr>
              <a:t> variable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(secuencia):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texto,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video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Salida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variable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(secuencia):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texto,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decisión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(para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cada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elemento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la</a:t>
            </a:r>
            <a:r>
              <a:rPr sz="1600" spc="-10" dirty="0">
                <a:latin typeface="Calibri"/>
                <a:cs typeface="Calibri"/>
              </a:rPr>
              <a:t> secuencia)</a:t>
            </a:r>
            <a:endParaRPr sz="16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Ejemplo: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traducción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(secuencia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palabras</a:t>
            </a:r>
            <a:r>
              <a:rPr sz="1800" dirty="0">
                <a:latin typeface="Calibri"/>
                <a:cs typeface="Calibri"/>
              </a:rPr>
              <a:t> en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idioma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 al </a:t>
            </a:r>
            <a:r>
              <a:rPr sz="1800" spc="-5" dirty="0">
                <a:latin typeface="Calibri"/>
                <a:cs typeface="Calibri"/>
              </a:rPr>
              <a:t>idioma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3494" y="4581144"/>
            <a:ext cx="1144783" cy="198729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04944" y="4684776"/>
            <a:ext cx="1702307" cy="188061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85888" y="4684776"/>
            <a:ext cx="966216" cy="188061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396744" y="5166105"/>
            <a:ext cx="7099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8120" marR="5080" indent="-186055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Ma</a:t>
            </a:r>
            <a:r>
              <a:rPr sz="1600" spc="-30" dirty="0">
                <a:solidFill>
                  <a:srgbClr val="7E7E7E"/>
                </a:solidFill>
                <a:latin typeface="Calibri"/>
                <a:cs typeface="Calibri"/>
              </a:rPr>
              <a:t>n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y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 t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o 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one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38</a:t>
            </a:fld>
            <a:endParaRPr spc="-5" dirty="0"/>
          </a:p>
        </p:txBody>
      </p:sp>
      <p:sp>
        <p:nvSpPr>
          <p:cNvPr id="8" name="object 8"/>
          <p:cNvSpPr txBox="1"/>
          <p:nvPr/>
        </p:nvSpPr>
        <p:spPr>
          <a:xfrm>
            <a:off x="6425310" y="5146675"/>
            <a:ext cx="7099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8270" marR="5080" indent="-116205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Ma</a:t>
            </a:r>
            <a:r>
              <a:rPr sz="1600" spc="-30" dirty="0">
                <a:solidFill>
                  <a:srgbClr val="7E7E7E"/>
                </a:solidFill>
                <a:latin typeface="Calibri"/>
                <a:cs typeface="Calibri"/>
              </a:rPr>
              <a:t>n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y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 t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o 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many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7678965E-6007-2F15-B0F7-4FA0175A8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Ingeniería de Sistemas - UNCP">
            <a:extLst>
              <a:ext uri="{FF2B5EF4-FFF2-40B4-BE49-F238E27FC236}">
                <a16:creationId xmlns:a16="http://schemas.microsoft.com/office/drawing/2014/main" id="{B799B467-B614-5EC6-9710-B2E4B01FC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3104" y="260350"/>
            <a:ext cx="51790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Redes </a:t>
            </a:r>
            <a:r>
              <a:rPr spc="-5" dirty="0"/>
              <a:t>Neuronales</a:t>
            </a:r>
            <a:r>
              <a:rPr spc="-30" dirty="0"/>
              <a:t> </a:t>
            </a:r>
            <a:r>
              <a:rPr spc="-20" dirty="0"/>
              <a:t>Recurrentes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5081905" cy="17138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22909" algn="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Ejemplo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dirty="0">
                <a:latin typeface="Calibri"/>
                <a:cs typeface="Calibri"/>
              </a:rPr>
              <a:t>Dadas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unas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letras,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predecir </a:t>
            </a:r>
            <a:r>
              <a:rPr sz="2000" dirty="0">
                <a:latin typeface="Calibri"/>
                <a:cs typeface="Calibri"/>
              </a:rPr>
              <a:t>las </a:t>
            </a:r>
            <a:r>
              <a:rPr sz="2000" spc="-5" dirty="0">
                <a:latin typeface="Calibri"/>
                <a:cs typeface="Calibri"/>
              </a:rPr>
              <a:t>siguientes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letras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spc="-10" dirty="0">
                <a:latin typeface="Calibri"/>
                <a:cs typeface="Calibri"/>
              </a:rPr>
              <a:t>Vocabulario: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{h,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l, o}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Ejemplo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secuencia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entrenamiento: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“hello”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2492" y="2709672"/>
            <a:ext cx="4680204" cy="395497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39</a:t>
            </a:fld>
            <a:endParaRPr spc="-5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4A51ACC2-8FA2-36AC-10A9-5FCEDFE6BB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DD69BFF0-97AF-F315-EBD7-DADB00B40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3104" y="260350"/>
            <a:ext cx="51790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Redes </a:t>
            </a:r>
            <a:r>
              <a:rPr spc="-5" dirty="0"/>
              <a:t>Neuronales</a:t>
            </a:r>
            <a:r>
              <a:rPr spc="-30" dirty="0"/>
              <a:t> </a:t>
            </a:r>
            <a:r>
              <a:rPr spc="-20" dirty="0"/>
              <a:t>Recurrentes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5081905" cy="1384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22909" algn="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Ejemplo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dirty="0">
                <a:latin typeface="Calibri"/>
                <a:cs typeface="Calibri"/>
              </a:rPr>
              <a:t>Dadas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unas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letras,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predecir </a:t>
            </a:r>
            <a:r>
              <a:rPr sz="2000" dirty="0">
                <a:latin typeface="Calibri"/>
                <a:cs typeface="Calibri"/>
              </a:rPr>
              <a:t>las </a:t>
            </a:r>
            <a:r>
              <a:rPr sz="2000" spc="-5" dirty="0">
                <a:latin typeface="Calibri"/>
                <a:cs typeface="Calibri"/>
              </a:rPr>
              <a:t>siguientes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letras</a:t>
            </a:r>
            <a:endParaRPr sz="20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7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5" dirty="0">
                <a:latin typeface="Calibri"/>
                <a:cs typeface="Calibri"/>
              </a:rPr>
              <a:t> prueba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0192" y="2219524"/>
            <a:ext cx="3309794" cy="428490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40</a:t>
            </a:fld>
            <a:endParaRPr spc="-5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C84ED5BA-BCF7-16E9-9E1B-6F04BA603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C465E723-A0AD-202C-BFA7-122D0E03F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3104" y="260350"/>
            <a:ext cx="51790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Redes </a:t>
            </a:r>
            <a:r>
              <a:rPr spc="-5" dirty="0"/>
              <a:t>Neuronales</a:t>
            </a:r>
            <a:r>
              <a:rPr spc="-30" dirty="0"/>
              <a:t> </a:t>
            </a:r>
            <a:r>
              <a:rPr spc="-20" dirty="0"/>
              <a:t>Recurrentes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53891"/>
            <a:ext cx="7226300" cy="7569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dirty="0">
                <a:latin typeface="Calibri"/>
                <a:cs typeface="Calibri"/>
              </a:rPr>
              <a:t>BPTT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BackPropagation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Through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Time</a:t>
            </a:r>
            <a:endParaRPr sz="20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dirty="0">
                <a:latin typeface="Calibri"/>
                <a:cs typeface="Calibri"/>
              </a:rPr>
              <a:t>Función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costo</a:t>
            </a:r>
            <a:r>
              <a:rPr sz="2000" dirty="0">
                <a:latin typeface="Calibri"/>
                <a:cs typeface="Calibri"/>
              </a:rPr>
              <a:t> (de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manera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general):</a:t>
            </a:r>
            <a:r>
              <a:rPr sz="2000" spc="-5" dirty="0">
                <a:latin typeface="Calibri"/>
                <a:cs typeface="Calibri"/>
              </a:rPr>
              <a:t> suma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costo</a:t>
            </a:r>
            <a:r>
              <a:rPr sz="2000" dirty="0">
                <a:latin typeface="Calibri"/>
                <a:cs typeface="Calibri"/>
              </a:rPr>
              <a:t> de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cada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etapa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2348" y="5965342"/>
            <a:ext cx="5799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Problemático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si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secuencia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 muy </a:t>
            </a:r>
            <a:r>
              <a:rPr sz="1800" spc="-10" dirty="0">
                <a:latin typeface="Calibri"/>
                <a:cs typeface="Calibri"/>
              </a:rPr>
              <a:t>grande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(memoria,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tiempo)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4553" y="2226872"/>
            <a:ext cx="7113443" cy="329000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41</a:t>
            </a:fld>
            <a:endParaRPr spc="-5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211977A7-B71D-DE25-C22B-F0951CE8B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ngeniería de Sistemas - UNCP">
            <a:extLst>
              <a:ext uri="{FF2B5EF4-FFF2-40B4-BE49-F238E27FC236}">
                <a16:creationId xmlns:a16="http://schemas.microsoft.com/office/drawing/2014/main" id="{A842C48B-C86E-ABE8-5F81-5177CDFDE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23797" y="260350"/>
            <a:ext cx="629793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Redes </a:t>
            </a:r>
            <a:r>
              <a:rPr spc="-5" dirty="0"/>
              <a:t>Neuronales</a:t>
            </a:r>
            <a:r>
              <a:rPr spc="-35" dirty="0"/>
              <a:t> </a:t>
            </a:r>
            <a:r>
              <a:rPr spc="-15" dirty="0"/>
              <a:t>Recurrentes:</a:t>
            </a:r>
            <a:r>
              <a:rPr spc="-30" dirty="0"/>
              <a:t> </a:t>
            </a:r>
            <a:r>
              <a:rPr spc="-15" dirty="0"/>
              <a:t>LSTM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52187"/>
            <a:ext cx="5909945" cy="257365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latin typeface="Calibri"/>
                <a:cs typeface="Calibri"/>
              </a:rPr>
              <a:t>LSTM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5" dirty="0">
                <a:latin typeface="Calibri"/>
                <a:cs typeface="Calibri"/>
              </a:rPr>
              <a:t> Long-short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45" dirty="0">
                <a:latin typeface="Calibri"/>
                <a:cs typeface="Calibri"/>
              </a:rPr>
              <a:t>Term</a:t>
            </a:r>
            <a:r>
              <a:rPr sz="2000" dirty="0">
                <a:latin typeface="Calibri"/>
                <a:cs typeface="Calibri"/>
              </a:rPr>
              <a:t> Memory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9"/>
              </a:spcBef>
              <a:buChar char="-"/>
              <a:tabLst>
                <a:tab pos="389255" algn="l"/>
              </a:tabLst>
            </a:pPr>
            <a:r>
              <a:rPr sz="1800" spc="-20" dirty="0">
                <a:latin typeface="Calibri"/>
                <a:cs typeface="Calibri"/>
              </a:rPr>
              <a:t>Evita</a:t>
            </a:r>
            <a:r>
              <a:rPr sz="1800" dirty="0">
                <a:latin typeface="Calibri"/>
                <a:cs typeface="Calibri"/>
              </a:rPr>
              <a:t> la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pérdida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información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 </a:t>
            </a:r>
            <a:r>
              <a:rPr sz="1800" spc="-5" dirty="0">
                <a:latin typeface="Calibri"/>
                <a:cs typeface="Calibri"/>
              </a:rPr>
              <a:t>tiempo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15" dirty="0">
                <a:latin typeface="Calibri"/>
                <a:cs typeface="Calibri"/>
              </a:rPr>
              <a:t>Evita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desaparición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los</a:t>
            </a:r>
            <a:r>
              <a:rPr sz="1800" spc="-10" dirty="0">
                <a:latin typeface="Calibri"/>
                <a:cs typeface="Calibri"/>
              </a:rPr>
              <a:t> gradientes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(vanishing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gradients)</a:t>
            </a:r>
            <a:endParaRPr sz="1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Calibri"/>
              <a:buChar char="-"/>
            </a:pPr>
            <a:endParaRPr sz="145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buFont typeface="Arial MT"/>
              <a:buChar char="•"/>
              <a:tabLst>
                <a:tab pos="209550" algn="l"/>
              </a:tabLst>
            </a:pPr>
            <a:r>
              <a:rPr sz="2000" spc="-10" dirty="0">
                <a:latin typeface="Calibri"/>
                <a:cs typeface="Calibri"/>
              </a:rPr>
              <a:t>Entradas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 </a:t>
            </a:r>
            <a:r>
              <a:rPr sz="2000" spc="-5" dirty="0">
                <a:latin typeface="Calibri"/>
                <a:cs typeface="Calibri"/>
              </a:rPr>
              <a:t>salidas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(E/S)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LSTM</a:t>
            </a:r>
            <a:endParaRPr sz="20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E/S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largo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plazo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(“long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term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memory”):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LTM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Calibri"/>
                <a:cs typeface="Calibri"/>
              </a:rPr>
              <a:t>E/S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corto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plazo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(“short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term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memory”):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STM</a:t>
            </a:r>
            <a:endParaRPr sz="1800">
              <a:latin typeface="Calibri"/>
              <a:cs typeface="Calibri"/>
            </a:endParaRPr>
          </a:p>
          <a:p>
            <a:pPr marL="388620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spc="-10" dirty="0">
                <a:latin typeface="Calibri"/>
                <a:cs typeface="Calibri"/>
              </a:rPr>
              <a:t>Entrada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actual</a:t>
            </a:r>
            <a:r>
              <a:rPr sz="1800" spc="-15" dirty="0">
                <a:latin typeface="Calibri"/>
                <a:cs typeface="Calibri"/>
              </a:rPr>
              <a:t> (“evento”)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7513" y="4499848"/>
            <a:ext cx="6187309" cy="132049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42</a:t>
            </a:fld>
            <a:endParaRPr spc="-5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8AD55D1C-EE0C-A7AD-E904-6261BEA9D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964CCFFA-CC05-AE71-C18E-4F0E1D7FF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23797" y="260350"/>
            <a:ext cx="629793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Redes </a:t>
            </a:r>
            <a:r>
              <a:rPr spc="-5" dirty="0"/>
              <a:t>Neuronales</a:t>
            </a:r>
            <a:r>
              <a:rPr spc="-35" dirty="0"/>
              <a:t> </a:t>
            </a:r>
            <a:r>
              <a:rPr spc="-15" dirty="0"/>
              <a:t>Recurrentes:</a:t>
            </a:r>
            <a:r>
              <a:rPr spc="-30" dirty="0"/>
              <a:t> </a:t>
            </a:r>
            <a:r>
              <a:rPr spc="-15" dirty="0"/>
              <a:t>LSTM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13865"/>
            <a:ext cx="41814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latin typeface="Calibri"/>
                <a:cs typeface="Calibri"/>
              </a:rPr>
              <a:t>Se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puede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formar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varias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capas</a:t>
            </a:r>
            <a:r>
              <a:rPr sz="2000" dirty="0">
                <a:latin typeface="Calibri"/>
                <a:cs typeface="Calibri"/>
              </a:rPr>
              <a:t> de</a:t>
            </a:r>
            <a:r>
              <a:rPr sz="2000" spc="-10" dirty="0">
                <a:latin typeface="Calibri"/>
                <a:cs typeface="Calibri"/>
              </a:rPr>
              <a:t> LSTM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7196" y="1845564"/>
            <a:ext cx="7217664" cy="431901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43</a:t>
            </a:fld>
            <a:endParaRPr spc="-5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9D4253D0-3D24-F65A-B465-5F1F526B1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277D132E-6A0E-F695-4530-7922C64D2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4569" y="260350"/>
            <a:ext cx="613473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Redes</a:t>
            </a:r>
            <a:r>
              <a:rPr spc="-20" dirty="0"/>
              <a:t> </a:t>
            </a:r>
            <a:r>
              <a:rPr spc="-5" dirty="0"/>
              <a:t>Neuronales</a:t>
            </a:r>
            <a:r>
              <a:rPr spc="-40" dirty="0"/>
              <a:t> </a:t>
            </a:r>
            <a:r>
              <a:rPr spc="-15" dirty="0"/>
              <a:t>Recurrentes:</a:t>
            </a:r>
            <a:r>
              <a:rPr spc="-30" dirty="0"/>
              <a:t> </a:t>
            </a:r>
            <a:r>
              <a:rPr spc="-5" dirty="0"/>
              <a:t>GRU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53891"/>
            <a:ext cx="7330440" cy="142748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dirty="0">
                <a:latin typeface="Calibri"/>
                <a:cs typeface="Calibri"/>
              </a:rPr>
              <a:t>GRU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Gated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Recurrent </a:t>
            </a:r>
            <a:r>
              <a:rPr sz="2000" dirty="0">
                <a:latin typeface="Calibri"/>
                <a:cs typeface="Calibri"/>
              </a:rPr>
              <a:t>Unit</a:t>
            </a:r>
            <a:endParaRPr sz="20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dirty="0">
                <a:latin typeface="Calibri"/>
                <a:cs typeface="Calibri"/>
              </a:rPr>
              <a:t>Se </a:t>
            </a:r>
            <a:r>
              <a:rPr sz="2000" spc="-10" dirty="0">
                <a:latin typeface="Calibri"/>
                <a:cs typeface="Calibri"/>
              </a:rPr>
              <a:t>introdujo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2014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para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resolver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problema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 los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gradientes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</a:t>
            </a:r>
            <a:endParaRPr sz="2000">
              <a:latin typeface="Calibri"/>
              <a:cs typeface="Calibri"/>
            </a:endParaRPr>
          </a:p>
          <a:p>
            <a:pPr marL="208915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desaparecen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Calibri"/>
                <a:cs typeface="Calibri"/>
              </a:rPr>
              <a:t>(“vanishing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Calibri"/>
                <a:cs typeface="Calibri"/>
              </a:rPr>
              <a:t>gradients”)</a:t>
            </a:r>
            <a:endParaRPr sz="180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latin typeface="Calibri"/>
                <a:cs typeface="Calibri"/>
              </a:rPr>
              <a:t>Se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puede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considerar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variación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 </a:t>
            </a:r>
            <a:r>
              <a:rPr sz="2000" spc="-10" dirty="0">
                <a:latin typeface="Calibri"/>
                <a:cs typeface="Calibri"/>
              </a:rPr>
              <a:t>LSTM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5177154"/>
            <a:ext cx="7498715" cy="1240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915" marR="38735" indent="-19685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dirty="0">
                <a:latin typeface="Calibri"/>
                <a:cs typeface="Calibri"/>
              </a:rPr>
              <a:t>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computacionalmente</a:t>
            </a:r>
            <a:r>
              <a:rPr sz="2000" dirty="0">
                <a:latin typeface="Calibri"/>
                <a:cs typeface="Calibri"/>
              </a:rPr>
              <a:t> más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eficiente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LSTM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(su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estructura</a:t>
            </a:r>
            <a:r>
              <a:rPr sz="2000" dirty="0">
                <a:latin typeface="Calibri"/>
                <a:cs typeface="Calibri"/>
              </a:rPr>
              <a:t> 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más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simple)</a:t>
            </a:r>
            <a:endParaRPr sz="2000">
              <a:latin typeface="Calibri"/>
              <a:cs typeface="Calibri"/>
            </a:endParaRPr>
          </a:p>
          <a:p>
            <a:pPr marL="388620" marR="5080" indent="-160020">
              <a:lnSpc>
                <a:spcPct val="100000"/>
              </a:lnSpc>
              <a:spcBef>
                <a:spcPts val="445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3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manera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práctica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tienden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funcionar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mejor</a:t>
            </a:r>
            <a:r>
              <a:rPr sz="1800" spc="-5" dirty="0">
                <a:latin typeface="Calibri"/>
                <a:cs typeface="Calibri"/>
              </a:rPr>
              <a:t> que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LSTM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(excepto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cuando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requiere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relaciones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dirty="0">
                <a:latin typeface="Calibri"/>
                <a:cs typeface="Calibri"/>
              </a:rPr>
              <a:t> muy </a:t>
            </a:r>
            <a:r>
              <a:rPr sz="1800" spc="-10" dirty="0">
                <a:latin typeface="Calibri"/>
                <a:cs typeface="Calibri"/>
              </a:rPr>
              <a:t>largo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plazo)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8383" y="2924555"/>
            <a:ext cx="5832347" cy="195603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44</a:t>
            </a:fld>
            <a:endParaRPr spc="-5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FA4BE03C-9787-C0F5-59E6-26433B492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ngeniería de Sistemas - UNCP">
            <a:extLst>
              <a:ext uri="{FF2B5EF4-FFF2-40B4-BE49-F238E27FC236}">
                <a16:creationId xmlns:a16="http://schemas.microsoft.com/office/drawing/2014/main" id="{CA0A54B6-0F4E-F6F9-07AF-2EEC3AB8A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463" y="1758442"/>
            <a:ext cx="7798434" cy="2678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5" dirty="0">
                <a:solidFill>
                  <a:srgbClr val="30859C"/>
                </a:solidFill>
                <a:latin typeface="Calibri"/>
                <a:cs typeface="Calibri"/>
              </a:rPr>
              <a:t>R.</a:t>
            </a:r>
            <a:r>
              <a:rPr sz="2000" spc="-5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0859C"/>
                </a:solidFill>
                <a:latin typeface="Calibri"/>
                <a:cs typeface="Calibri"/>
              </a:rPr>
              <a:t>Szeliski.</a:t>
            </a:r>
            <a:r>
              <a:rPr sz="2000" spc="20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0859C"/>
                </a:solidFill>
                <a:latin typeface="Calibri"/>
                <a:cs typeface="Calibri"/>
              </a:rPr>
              <a:t>Computer</a:t>
            </a:r>
            <a:r>
              <a:rPr sz="2000" i="1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0859C"/>
                </a:solidFill>
                <a:latin typeface="Calibri"/>
                <a:cs typeface="Calibri"/>
              </a:rPr>
              <a:t>Vision:</a:t>
            </a:r>
            <a:r>
              <a:rPr sz="2000" i="1" spc="-10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30859C"/>
                </a:solidFill>
                <a:latin typeface="Calibri"/>
                <a:cs typeface="Calibri"/>
              </a:rPr>
              <a:t>Algorithms</a:t>
            </a:r>
            <a:r>
              <a:rPr sz="2000" i="1" spc="10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0859C"/>
                </a:solidFill>
                <a:latin typeface="Calibri"/>
                <a:cs typeface="Calibri"/>
              </a:rPr>
              <a:t>and</a:t>
            </a:r>
            <a:r>
              <a:rPr sz="2000" i="1" spc="-20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0859C"/>
                </a:solidFill>
                <a:latin typeface="Calibri"/>
                <a:cs typeface="Calibri"/>
              </a:rPr>
              <a:t>Applications</a:t>
            </a:r>
            <a:r>
              <a:rPr sz="2000" spc="-5" dirty="0">
                <a:solidFill>
                  <a:srgbClr val="30859C"/>
                </a:solidFill>
                <a:latin typeface="Calibri"/>
                <a:cs typeface="Calibri"/>
              </a:rPr>
              <a:t>. </a:t>
            </a:r>
            <a:r>
              <a:rPr sz="2000" spc="-25" dirty="0">
                <a:solidFill>
                  <a:srgbClr val="30859C"/>
                </a:solidFill>
                <a:latin typeface="Calibri"/>
                <a:cs typeface="Calibri"/>
              </a:rPr>
              <a:t>Springer,</a:t>
            </a:r>
            <a:r>
              <a:rPr sz="2000" spc="-15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0859C"/>
                </a:solidFill>
                <a:latin typeface="Calibri"/>
                <a:cs typeface="Calibri"/>
              </a:rPr>
              <a:t>2010</a:t>
            </a:r>
            <a:endParaRPr sz="200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7E7E7E"/>
                </a:solidFill>
                <a:latin typeface="Calibri"/>
                <a:cs typeface="Calibri"/>
              </a:rPr>
              <a:t>(</a:t>
            </a:r>
            <a:r>
              <a:rPr sz="1800" i="1" spc="-5" dirty="0">
                <a:solidFill>
                  <a:srgbClr val="7E7E7E"/>
                </a:solidFill>
                <a:latin typeface="Calibri"/>
                <a:cs typeface="Calibri"/>
              </a:rPr>
              <a:t>Capítulos</a:t>
            </a:r>
            <a:r>
              <a:rPr sz="1800" i="1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4,</a:t>
            </a:r>
            <a:r>
              <a:rPr sz="18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14)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 marL="354965" marR="445770" indent="-342900">
              <a:lnSpc>
                <a:spcPct val="100000"/>
              </a:lnSpc>
              <a:spcBef>
                <a:spcPts val="116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25" dirty="0">
                <a:solidFill>
                  <a:srgbClr val="30859C"/>
                </a:solidFill>
                <a:latin typeface="Calibri"/>
                <a:cs typeface="Calibri"/>
              </a:rPr>
              <a:t>D. </a:t>
            </a:r>
            <a:r>
              <a:rPr sz="2000" spc="-15" dirty="0">
                <a:solidFill>
                  <a:srgbClr val="30859C"/>
                </a:solidFill>
                <a:latin typeface="Calibri"/>
                <a:cs typeface="Calibri"/>
              </a:rPr>
              <a:t>Forsyth, </a:t>
            </a:r>
            <a:r>
              <a:rPr sz="2000" spc="-10" dirty="0">
                <a:solidFill>
                  <a:srgbClr val="30859C"/>
                </a:solidFill>
                <a:latin typeface="Calibri"/>
                <a:cs typeface="Calibri"/>
              </a:rPr>
              <a:t>J. Ponce: </a:t>
            </a:r>
            <a:r>
              <a:rPr sz="2000" spc="-5" dirty="0">
                <a:solidFill>
                  <a:srgbClr val="30859C"/>
                </a:solidFill>
                <a:latin typeface="Calibri"/>
                <a:cs typeface="Calibri"/>
              </a:rPr>
              <a:t>Computer Vision, </a:t>
            </a:r>
            <a:r>
              <a:rPr sz="2000" dirty="0">
                <a:solidFill>
                  <a:srgbClr val="30859C"/>
                </a:solidFill>
                <a:latin typeface="Calibri"/>
                <a:cs typeface="Calibri"/>
              </a:rPr>
              <a:t>A Modern </a:t>
            </a:r>
            <a:r>
              <a:rPr sz="2000" spc="-5" dirty="0">
                <a:solidFill>
                  <a:srgbClr val="30859C"/>
                </a:solidFill>
                <a:latin typeface="Calibri"/>
                <a:cs typeface="Calibri"/>
              </a:rPr>
              <a:t>Approach, </a:t>
            </a:r>
            <a:r>
              <a:rPr sz="2000" spc="-15" dirty="0">
                <a:solidFill>
                  <a:srgbClr val="30859C"/>
                </a:solidFill>
                <a:latin typeface="Calibri"/>
                <a:cs typeface="Calibri"/>
              </a:rPr>
              <a:t>Pearson </a:t>
            </a:r>
            <a:r>
              <a:rPr sz="2000" spc="-440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0859C"/>
                </a:solidFill>
                <a:latin typeface="Calibri"/>
                <a:cs typeface="Calibri"/>
              </a:rPr>
              <a:t>Education,</a:t>
            </a:r>
            <a:r>
              <a:rPr sz="2000" spc="-35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0859C"/>
                </a:solidFill>
                <a:latin typeface="Calibri"/>
                <a:cs typeface="Calibri"/>
              </a:rPr>
              <a:t>NJ</a:t>
            </a:r>
            <a:r>
              <a:rPr sz="2000" spc="-10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0859C"/>
                </a:solidFill>
                <a:latin typeface="Calibri"/>
                <a:cs typeface="Calibri"/>
              </a:rPr>
              <a:t>2012</a:t>
            </a:r>
            <a:r>
              <a:rPr sz="2000" spc="-30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7E7E7E"/>
                </a:solidFill>
                <a:latin typeface="Calibri"/>
                <a:cs typeface="Calibri"/>
              </a:rPr>
              <a:t>(</a:t>
            </a:r>
            <a:r>
              <a:rPr sz="1800" i="1" spc="-5" dirty="0">
                <a:solidFill>
                  <a:srgbClr val="7E7E7E"/>
                </a:solidFill>
                <a:latin typeface="Calibri"/>
                <a:cs typeface="Calibri"/>
              </a:rPr>
              <a:t>Capítulos</a:t>
            </a:r>
            <a:r>
              <a:rPr sz="1800" i="1" spc="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5, 16,</a:t>
            </a:r>
            <a:r>
              <a:rPr sz="18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17)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30859C"/>
              </a:buClr>
              <a:buFont typeface="Calibri"/>
              <a:buChar char="•"/>
            </a:pPr>
            <a:endParaRPr sz="2750">
              <a:latin typeface="Calibri"/>
              <a:cs typeface="Calibri"/>
            </a:endParaRPr>
          </a:p>
          <a:p>
            <a:pPr marL="354965" marR="812165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5" dirty="0">
                <a:solidFill>
                  <a:srgbClr val="30859C"/>
                </a:solidFill>
                <a:latin typeface="Calibri"/>
                <a:cs typeface="Calibri"/>
              </a:rPr>
              <a:t>R. </a:t>
            </a:r>
            <a:r>
              <a:rPr sz="2000" spc="-5" dirty="0">
                <a:solidFill>
                  <a:srgbClr val="30859C"/>
                </a:solidFill>
                <a:latin typeface="Calibri"/>
                <a:cs typeface="Calibri"/>
              </a:rPr>
              <a:t>Siegwart, </a:t>
            </a:r>
            <a:r>
              <a:rPr sz="2000" dirty="0">
                <a:solidFill>
                  <a:srgbClr val="30859C"/>
                </a:solidFill>
                <a:latin typeface="Calibri"/>
                <a:cs typeface="Calibri"/>
              </a:rPr>
              <a:t>R.I. Nourbakhsh, and </a:t>
            </a:r>
            <a:r>
              <a:rPr sz="2000" spc="-25" dirty="0">
                <a:solidFill>
                  <a:srgbClr val="30859C"/>
                </a:solidFill>
                <a:latin typeface="Calibri"/>
                <a:cs typeface="Calibri"/>
              </a:rPr>
              <a:t>D. </a:t>
            </a:r>
            <a:r>
              <a:rPr sz="2000" spc="-10" dirty="0">
                <a:solidFill>
                  <a:srgbClr val="30859C"/>
                </a:solidFill>
                <a:latin typeface="Calibri"/>
                <a:cs typeface="Calibri"/>
              </a:rPr>
              <a:t>Scaramuzza. </a:t>
            </a:r>
            <a:r>
              <a:rPr sz="2000" i="1" spc="-5" dirty="0">
                <a:solidFill>
                  <a:srgbClr val="30859C"/>
                </a:solidFill>
                <a:latin typeface="Calibri"/>
                <a:cs typeface="Calibri"/>
              </a:rPr>
              <a:t>Introduction </a:t>
            </a:r>
            <a:r>
              <a:rPr sz="2000" i="1" spc="-15" dirty="0">
                <a:solidFill>
                  <a:srgbClr val="30859C"/>
                </a:solidFill>
                <a:latin typeface="Calibri"/>
                <a:cs typeface="Calibri"/>
              </a:rPr>
              <a:t>to </a:t>
            </a:r>
            <a:r>
              <a:rPr sz="2000" i="1" spc="-440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30859C"/>
                </a:solidFill>
                <a:latin typeface="Calibri"/>
                <a:cs typeface="Calibri"/>
              </a:rPr>
              <a:t>Autonomous</a:t>
            </a:r>
            <a:r>
              <a:rPr sz="2000" i="1" spc="-45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0859C"/>
                </a:solidFill>
                <a:latin typeface="Calibri"/>
                <a:cs typeface="Calibri"/>
              </a:rPr>
              <a:t>Mobile</a:t>
            </a:r>
            <a:r>
              <a:rPr sz="2000" i="1" spc="-20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30859C"/>
                </a:solidFill>
                <a:latin typeface="Calibri"/>
                <a:cs typeface="Calibri"/>
              </a:rPr>
              <a:t>Robots</a:t>
            </a:r>
            <a:r>
              <a:rPr sz="2000" spc="-5" dirty="0">
                <a:solidFill>
                  <a:srgbClr val="30859C"/>
                </a:solidFill>
                <a:latin typeface="Calibri"/>
                <a:cs typeface="Calibri"/>
              </a:rPr>
              <a:t>.</a:t>
            </a:r>
            <a:r>
              <a:rPr sz="2000" spc="-40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0859C"/>
                </a:solidFill>
                <a:latin typeface="Calibri"/>
                <a:cs typeface="Calibri"/>
              </a:rPr>
              <a:t>MIT</a:t>
            </a:r>
            <a:r>
              <a:rPr sz="2000" spc="-10" dirty="0">
                <a:solidFill>
                  <a:srgbClr val="30859C"/>
                </a:solidFill>
                <a:latin typeface="Calibri"/>
                <a:cs typeface="Calibri"/>
              </a:rPr>
              <a:t> press,</a:t>
            </a:r>
            <a:r>
              <a:rPr sz="2000" spc="5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0859C"/>
                </a:solidFill>
                <a:latin typeface="Calibri"/>
                <a:cs typeface="Calibri"/>
              </a:rPr>
              <a:t>2011.</a:t>
            </a:r>
            <a:r>
              <a:rPr sz="2000" spc="-30" dirty="0">
                <a:solidFill>
                  <a:srgbClr val="30859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(</a:t>
            </a:r>
            <a:r>
              <a:rPr sz="1800" i="1" spc="-10" dirty="0">
                <a:solidFill>
                  <a:srgbClr val="7E7E7E"/>
                </a:solidFill>
                <a:latin typeface="Calibri"/>
                <a:cs typeface="Calibri"/>
              </a:rPr>
              <a:t>Capítulo</a:t>
            </a:r>
            <a:r>
              <a:rPr sz="1800" i="1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7E7E7E"/>
                </a:solidFill>
                <a:latin typeface="Calibri"/>
                <a:cs typeface="Calibri"/>
              </a:rPr>
              <a:t>4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45</a:t>
            </a:fld>
            <a:endParaRPr spc="-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39134" y="820039"/>
            <a:ext cx="166497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20" dirty="0">
                <a:solidFill>
                  <a:srgbClr val="C00000"/>
                </a:solidFill>
              </a:rPr>
              <a:t>Referencias</a:t>
            </a:r>
            <a:endParaRPr sz="270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589145DE-67D5-ABB4-B237-02FEAEAD9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Ingeniería de Sistemas - UNCP">
            <a:extLst>
              <a:ext uri="{FF2B5EF4-FFF2-40B4-BE49-F238E27FC236}">
                <a16:creationId xmlns:a16="http://schemas.microsoft.com/office/drawing/2014/main" id="{7BAEA1D3-204B-C959-66C0-9E3FE3075D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2827</Words>
  <Application>Microsoft Office PowerPoint</Application>
  <PresentationFormat>Presentación en pantalla (4:3)</PresentationFormat>
  <Paragraphs>483</Paragraphs>
  <Slides>45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45</vt:i4>
      </vt:variant>
    </vt:vector>
  </HeadingPairs>
  <TitlesOfParts>
    <vt:vector size="52" baseType="lpstr">
      <vt:lpstr>Arial</vt:lpstr>
      <vt:lpstr>Arial MT</vt:lpstr>
      <vt:lpstr>Calibri</vt:lpstr>
      <vt:lpstr>Cambria Math</vt:lpstr>
      <vt:lpstr>Symbol</vt:lpstr>
      <vt:lpstr>Times New Roman</vt:lpstr>
      <vt:lpstr>Office Theme</vt:lpstr>
      <vt:lpstr>Presentación de PowerPoint</vt:lpstr>
      <vt:lpstr>Contenido</vt:lpstr>
      <vt:lpstr>Redes Neuronales</vt:lpstr>
      <vt:lpstr>Redes Neuronales</vt:lpstr>
      <vt:lpstr>Redes Neuronales</vt:lpstr>
      <vt:lpstr>Redes Neuronales</vt:lpstr>
      <vt:lpstr>Redes Neuronales</vt:lpstr>
      <vt:lpstr>Redes Neuronales</vt:lpstr>
      <vt:lpstr>Redes Neuronales</vt:lpstr>
      <vt:lpstr>Redes Neuronales</vt:lpstr>
      <vt:lpstr>Contenido</vt:lpstr>
      <vt:lpstr>Redes Neuronales Convolucionales</vt:lpstr>
      <vt:lpstr>Redes Neuronales Convolucionales</vt:lpstr>
      <vt:lpstr>Redes Neuronales Convolucionales</vt:lpstr>
      <vt:lpstr>Redes Neuronales Convolucionales</vt:lpstr>
      <vt:lpstr>Redes Neuronales Convolucionales</vt:lpstr>
      <vt:lpstr>Redes Neuronales Convolucionales</vt:lpstr>
      <vt:lpstr>Redes Neuronales Convolucionales</vt:lpstr>
      <vt:lpstr>Redes Neuronales Convolucionales</vt:lpstr>
      <vt:lpstr>Redes Neuronales Convolucionales</vt:lpstr>
      <vt:lpstr>Redes Neuronales Convolucionales</vt:lpstr>
      <vt:lpstr>Redes Neuronales Convolucionales</vt:lpstr>
      <vt:lpstr>Redes Neuronales Convolucionales</vt:lpstr>
      <vt:lpstr>Redes Neuronales Convolucionales</vt:lpstr>
      <vt:lpstr>Contenido</vt:lpstr>
      <vt:lpstr>Transferencia del Aprendizaje</vt:lpstr>
      <vt:lpstr>Transferencia del Aprendizaje</vt:lpstr>
      <vt:lpstr>Transferencia del Aprendizaje</vt:lpstr>
      <vt:lpstr>Transferencia del Aprendizaje</vt:lpstr>
      <vt:lpstr>Transferencia del Aprendizaje</vt:lpstr>
      <vt:lpstr>Contenido</vt:lpstr>
      <vt:lpstr>Redes Neuronales Recurrentes</vt:lpstr>
      <vt:lpstr>Redes Neuronales Recurrentes</vt:lpstr>
      <vt:lpstr>Redes Neuronales Recurrentes</vt:lpstr>
      <vt:lpstr>Redes Neuronales Recurrentes</vt:lpstr>
      <vt:lpstr>Redes Neuronales Recurrentes</vt:lpstr>
      <vt:lpstr>Redes Neuronales Recurrentes</vt:lpstr>
      <vt:lpstr>Redes Neuronales Recurrentes</vt:lpstr>
      <vt:lpstr>Redes Neuronales Recurrentes</vt:lpstr>
      <vt:lpstr>Redes Neuronales Recurrentes</vt:lpstr>
      <vt:lpstr>Redes Neuronales Recurrentes</vt:lpstr>
      <vt:lpstr>Redes Neuronales Recurrentes: LSTM</vt:lpstr>
      <vt:lpstr>Redes Neuronales Recurrentes: LSTM</vt:lpstr>
      <vt:lpstr>Redes Neuronales Recurrentes: GRU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JAIME ANTONIO HUAYTALLA PARIONA</cp:lastModifiedBy>
  <cp:revision>5</cp:revision>
  <dcterms:created xsi:type="dcterms:W3CDTF">2024-06-11T20:59:01Z</dcterms:created>
  <dcterms:modified xsi:type="dcterms:W3CDTF">2025-10-22T18:01:37Z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2024-04-22T00:00:00Z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2024-06-11T00:00:00Z</vt:filetime>
  </property>
</Properties>
</file>