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90" d="100"/>
          <a:sy n="90" d="100"/>
        </p:scale>
        <p:origin x="1234" y="6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005A9E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1">
                <a:solidFill>
                  <a:srgbClr val="30859C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58585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045"/>
              </a:lnSpc>
            </a:pPr>
            <a:fld id="{81D60167-4931-47E6-BA6A-407CBD079E47}" type="slidenum">
              <a:rPr spc="-50" dirty="0"/>
              <a:t>‹Nº›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005A9E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1">
                <a:solidFill>
                  <a:srgbClr val="30859C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58585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045"/>
              </a:lnSpc>
            </a:pPr>
            <a:fld id="{81D60167-4931-47E6-BA6A-407CBD079E47}" type="slidenum">
              <a:rPr spc="-50" dirty="0"/>
              <a:t>‹Nº›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005A9E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6/5/2025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58585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045"/>
              </a:lnSpc>
            </a:pPr>
            <a:fld id="{81D60167-4931-47E6-BA6A-407CBD079E47}" type="slidenum">
              <a:rPr spc="-50" dirty="0"/>
              <a:t>‹Nº›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005A9E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6/5/2025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58585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045"/>
              </a:lnSpc>
            </a:pPr>
            <a:fld id="{81D60167-4931-47E6-BA6A-407CBD079E47}" type="slidenum">
              <a:rPr spc="-50" dirty="0"/>
              <a:t>‹Nº›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42130" y="6513986"/>
            <a:ext cx="1201869" cy="344011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806" y="119992"/>
            <a:ext cx="1042303" cy="496106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342624" y="216220"/>
            <a:ext cx="1944464" cy="182603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186927" y="83832"/>
            <a:ext cx="768857" cy="511289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650223" y="83832"/>
            <a:ext cx="375678" cy="511289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720327" y="83832"/>
            <a:ext cx="421398" cy="51128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6/5/2025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58585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045"/>
              </a:lnSpc>
            </a:pPr>
            <a:fld id="{81D60167-4931-47E6-BA6A-407CBD079E47}" type="slidenum">
              <a:rPr spc="-50" dirty="0"/>
              <a:t>‹Nº›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1">
              <a:lumMod val="20000"/>
              <a:lumOff val="8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942130" y="6513986"/>
            <a:ext cx="1201869" cy="344011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0806" y="119992"/>
            <a:ext cx="1042303" cy="496106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417825" y="260350"/>
            <a:ext cx="4308348" cy="5137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005A9E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7463" y="1758442"/>
            <a:ext cx="7799705" cy="26784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1">
                <a:solidFill>
                  <a:srgbClr val="30859C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815705" y="6665086"/>
            <a:ext cx="217170" cy="152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rgbClr val="58585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045"/>
              </a:lnSpc>
            </a:pPr>
            <a:fld id="{81D60167-4931-47E6-BA6A-407CBD079E47}" type="slidenum">
              <a:rPr spc="-50" dirty="0"/>
              <a:t>‹Nº›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mailto:jhuaytalla@uncp.edu.pe" TargetMode="Externa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7" Type="http://schemas.openxmlformats.org/officeDocument/2006/relationships/image" Target="../media/image8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14.jpg"/><Relationship Id="rId4" Type="http://schemas.openxmlformats.org/officeDocument/2006/relationships/image" Target="../media/image13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10.png"/><Relationship Id="rId4" Type="http://schemas.openxmlformats.org/officeDocument/2006/relationships/image" Target="../media/image17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7" Type="http://schemas.openxmlformats.org/officeDocument/2006/relationships/image" Target="../media/image8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21.jpg"/><Relationship Id="rId4" Type="http://schemas.openxmlformats.org/officeDocument/2006/relationships/image" Target="../media/image20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8.png"/><Relationship Id="rId7" Type="http://schemas.openxmlformats.org/officeDocument/2006/relationships/image" Target="../media/image10.png"/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jp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g"/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g"/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g"/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g"/><Relationship Id="rId2" Type="http://schemas.openxmlformats.org/officeDocument/2006/relationships/image" Target="../media/image44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46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4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48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49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/>
          <p:cNvSpPr txBox="1"/>
          <p:nvPr/>
        </p:nvSpPr>
        <p:spPr>
          <a:xfrm>
            <a:off x="1981200" y="2667000"/>
            <a:ext cx="5422900" cy="1282402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12065" marR="5080" indent="1270" algn="ctr">
              <a:lnSpc>
                <a:spcPct val="100000"/>
              </a:lnSpc>
              <a:spcBef>
                <a:spcPts val="500"/>
              </a:spcBef>
            </a:pPr>
            <a:r>
              <a:rPr sz="4000" b="1" dirty="0" err="1">
                <a:latin typeface="Calibri"/>
                <a:cs typeface="Calibri"/>
              </a:rPr>
              <a:t>Visión</a:t>
            </a:r>
            <a:r>
              <a:rPr sz="4000" b="1" spc="-105" dirty="0">
                <a:latin typeface="Calibri"/>
                <a:cs typeface="Calibri"/>
              </a:rPr>
              <a:t> </a:t>
            </a:r>
            <a:r>
              <a:rPr sz="4000" b="1" spc="-10" dirty="0">
                <a:latin typeface="Calibri"/>
                <a:cs typeface="Calibri"/>
              </a:rPr>
              <a:t>Computacional </a:t>
            </a:r>
            <a:r>
              <a:rPr sz="4000" b="1" dirty="0">
                <a:latin typeface="Calibri"/>
                <a:cs typeface="Calibri"/>
              </a:rPr>
              <a:t>usando</a:t>
            </a:r>
            <a:r>
              <a:rPr sz="4000" b="1" spc="-100" dirty="0">
                <a:latin typeface="Calibri"/>
                <a:cs typeface="Calibri"/>
              </a:rPr>
              <a:t> </a:t>
            </a:r>
            <a:r>
              <a:rPr sz="4000" b="1" dirty="0">
                <a:latin typeface="Calibri"/>
                <a:cs typeface="Calibri"/>
              </a:rPr>
              <a:t>Deep</a:t>
            </a:r>
            <a:r>
              <a:rPr sz="4000" b="1" spc="-110" dirty="0">
                <a:latin typeface="Calibri"/>
                <a:cs typeface="Calibri"/>
              </a:rPr>
              <a:t> </a:t>
            </a:r>
            <a:r>
              <a:rPr sz="4000" b="1" dirty="0">
                <a:latin typeface="Calibri"/>
                <a:cs typeface="Calibri"/>
              </a:rPr>
              <a:t>Learning</a:t>
            </a:r>
            <a:r>
              <a:rPr sz="4000" b="1" spc="-95" dirty="0">
                <a:latin typeface="Calibri"/>
                <a:cs typeface="Calibri"/>
              </a:rPr>
              <a:t> </a:t>
            </a:r>
            <a:r>
              <a:rPr sz="4000" b="1" spc="-20" dirty="0">
                <a:latin typeface="Calibri"/>
                <a:cs typeface="Calibri"/>
              </a:rPr>
              <a:t>(II)</a:t>
            </a:r>
            <a:endParaRPr sz="4000" dirty="0">
              <a:latin typeface="Calibri"/>
              <a:cs typeface="Calibri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AE1714F1-B6AF-DB59-CB34-15AF6EF41C25}"/>
              </a:ext>
            </a:extLst>
          </p:cNvPr>
          <p:cNvSpPr txBox="1"/>
          <p:nvPr/>
        </p:nvSpPr>
        <p:spPr>
          <a:xfrm>
            <a:off x="2362200" y="4343400"/>
            <a:ext cx="398057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PE" dirty="0"/>
              <a:t>Ing. Jaime Antonio </a:t>
            </a:r>
            <a:r>
              <a:rPr lang="es-PE" dirty="0" err="1"/>
              <a:t>Huaytalla</a:t>
            </a:r>
            <a:r>
              <a:rPr lang="es-PE" dirty="0"/>
              <a:t> Pariona</a:t>
            </a:r>
          </a:p>
          <a:p>
            <a:pPr algn="ctr"/>
            <a:r>
              <a:rPr lang="es-PE" dirty="0">
                <a:hlinkClick r:id="rId2"/>
              </a:rPr>
              <a:t>jhuaytalla@uncp.edu.pe</a:t>
            </a:r>
            <a:r>
              <a:rPr lang="es-PE" dirty="0"/>
              <a:t> </a:t>
            </a:r>
          </a:p>
        </p:txBody>
      </p:sp>
      <p:pic>
        <p:nvPicPr>
          <p:cNvPr id="3" name="Picture 4">
            <a:extLst>
              <a:ext uri="{FF2B5EF4-FFF2-40B4-BE49-F238E27FC236}">
                <a16:creationId xmlns:a16="http://schemas.microsoft.com/office/drawing/2014/main" id="{F3D80B40-BC33-8F57-2FDC-468BEDDC86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52400"/>
            <a:ext cx="1447800" cy="1232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6" descr="Ingeniería de Sistemas - UNCP">
            <a:extLst>
              <a:ext uri="{FF2B5EF4-FFF2-40B4-BE49-F238E27FC236}">
                <a16:creationId xmlns:a16="http://schemas.microsoft.com/office/drawing/2014/main" id="{63118016-D8AB-346A-F7E5-39BD82A1E6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7600" y="228599"/>
            <a:ext cx="1226735" cy="12324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41105" y="6633464"/>
            <a:ext cx="8953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0" dirty="0">
                <a:solidFill>
                  <a:srgbClr val="585858"/>
                </a:solidFill>
                <a:latin typeface="Calibri"/>
                <a:cs typeface="Calibri"/>
              </a:rPr>
              <a:t>2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798570" y="581913"/>
            <a:ext cx="154749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solidFill>
                  <a:srgbClr val="B51A00"/>
                </a:solidFill>
              </a:rPr>
              <a:t>Contenido</a:t>
            </a:r>
            <a:endParaRPr sz="280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8123" y="1400281"/>
            <a:ext cx="8459764" cy="73358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45008" y="1478280"/>
            <a:ext cx="8300084" cy="582295"/>
          </a:xfrm>
          <a:prstGeom prst="rect">
            <a:avLst/>
          </a:prstGeom>
          <a:solidFill>
            <a:srgbClr val="9BEDF7"/>
          </a:solidFill>
        </p:spPr>
        <p:txBody>
          <a:bodyPr vert="horz" wrap="square" lIns="0" tIns="45085" rIns="0" bIns="0" rtlCol="0">
            <a:spAutoFit/>
          </a:bodyPr>
          <a:lstStyle/>
          <a:p>
            <a:pPr marL="219710">
              <a:lnSpc>
                <a:spcPct val="100000"/>
              </a:lnSpc>
              <a:spcBef>
                <a:spcPts val="355"/>
              </a:spcBef>
              <a:tabLst>
                <a:tab pos="676275" algn="l"/>
              </a:tabLst>
            </a:pPr>
            <a:r>
              <a:rPr sz="2800" b="1" spc="-25" dirty="0">
                <a:solidFill>
                  <a:srgbClr val="0000FF"/>
                </a:solidFill>
                <a:latin typeface="Calibri"/>
                <a:cs typeface="Calibri"/>
              </a:rPr>
              <a:t>1.</a:t>
            </a:r>
            <a:r>
              <a:rPr sz="2800" b="1" dirty="0">
                <a:solidFill>
                  <a:srgbClr val="0000FF"/>
                </a:solidFill>
                <a:latin typeface="Calibri"/>
                <a:cs typeface="Calibri"/>
              </a:rPr>
              <a:t>	Detección</a:t>
            </a:r>
            <a:r>
              <a:rPr sz="2800" b="1" spc="-8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0000FF"/>
                </a:solidFill>
                <a:latin typeface="Calibri"/>
                <a:cs typeface="Calibri"/>
              </a:rPr>
              <a:t>de</a:t>
            </a:r>
            <a:r>
              <a:rPr sz="2800" b="1" spc="-9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0000FF"/>
                </a:solidFill>
                <a:latin typeface="Calibri"/>
                <a:cs typeface="Calibri"/>
              </a:rPr>
              <a:t>Objetos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52068" y="2311399"/>
            <a:ext cx="4132579" cy="12522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95"/>
              </a:spcBef>
              <a:buAutoNum type="arabicPeriod" startAt="2"/>
              <a:tabLst>
                <a:tab pos="469265" algn="l"/>
              </a:tabLst>
            </a:pPr>
            <a:r>
              <a:rPr sz="2800" spc="-10" dirty="0">
                <a:solidFill>
                  <a:srgbClr val="A6A6A6"/>
                </a:solidFill>
                <a:latin typeface="Calibri"/>
                <a:cs typeface="Calibri"/>
              </a:rPr>
              <a:t>Detectores</a:t>
            </a:r>
            <a:r>
              <a:rPr sz="2800" spc="-80" dirty="0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A6A6A6"/>
                </a:solidFill>
                <a:latin typeface="Calibri"/>
                <a:cs typeface="Calibri"/>
              </a:rPr>
              <a:t>de</a:t>
            </a:r>
            <a:r>
              <a:rPr sz="2800" spc="-70" dirty="0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A6A6A6"/>
                </a:solidFill>
                <a:latin typeface="Calibri"/>
                <a:cs typeface="Calibri"/>
              </a:rPr>
              <a:t>dos</a:t>
            </a:r>
            <a:r>
              <a:rPr sz="2800" spc="-55" dirty="0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A6A6A6"/>
                </a:solidFill>
                <a:latin typeface="Calibri"/>
                <a:cs typeface="Calibri"/>
              </a:rPr>
              <a:t>etapas</a:t>
            </a:r>
            <a:endParaRPr sz="280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spcBef>
                <a:spcPts val="2940"/>
              </a:spcBef>
              <a:buAutoNum type="arabicPeriod" startAt="2"/>
              <a:tabLst>
                <a:tab pos="469265" algn="l"/>
              </a:tabLst>
            </a:pPr>
            <a:r>
              <a:rPr sz="2800" spc="-10" dirty="0">
                <a:solidFill>
                  <a:srgbClr val="A6A6A6"/>
                </a:solidFill>
                <a:latin typeface="Calibri"/>
                <a:cs typeface="Calibri"/>
              </a:rPr>
              <a:t>Detectores</a:t>
            </a:r>
            <a:r>
              <a:rPr sz="2800" spc="-75" dirty="0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A6A6A6"/>
                </a:solidFill>
                <a:latin typeface="Calibri"/>
                <a:cs typeface="Calibri"/>
              </a:rPr>
              <a:t>de</a:t>
            </a:r>
            <a:r>
              <a:rPr sz="2800" spc="-70" dirty="0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A6A6A6"/>
                </a:solidFill>
                <a:latin typeface="Calibri"/>
                <a:cs typeface="Calibri"/>
              </a:rPr>
              <a:t>una</a:t>
            </a:r>
            <a:r>
              <a:rPr sz="2800" spc="-55" dirty="0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A6A6A6"/>
                </a:solidFill>
                <a:latin typeface="Calibri"/>
                <a:cs typeface="Calibri"/>
              </a:rPr>
              <a:t>etapa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A10B9285-569B-AC6D-C309-435D8A949C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85" y="152399"/>
            <a:ext cx="685800" cy="583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 descr="Ingeniería de Sistemas - UNCP">
            <a:extLst>
              <a:ext uri="{FF2B5EF4-FFF2-40B4-BE49-F238E27FC236}">
                <a16:creationId xmlns:a16="http://schemas.microsoft.com/office/drawing/2014/main" id="{2F310D0F-78E0-A67F-B2E6-9C8F4EB513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3574" y="152399"/>
            <a:ext cx="581085" cy="583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41105" y="6633464"/>
            <a:ext cx="8953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0" dirty="0">
                <a:solidFill>
                  <a:srgbClr val="585858"/>
                </a:solidFill>
                <a:latin typeface="Calibri"/>
                <a:cs typeface="Calibri"/>
              </a:rPr>
              <a:t>3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3695">
              <a:lnSpc>
                <a:spcPct val="100000"/>
              </a:lnSpc>
              <a:spcBef>
                <a:spcPts val="100"/>
              </a:spcBef>
            </a:pPr>
            <a:r>
              <a:rPr dirty="0"/>
              <a:t>Detección</a:t>
            </a:r>
            <a:r>
              <a:rPr spc="-60" dirty="0"/>
              <a:t> </a:t>
            </a:r>
            <a:r>
              <a:rPr dirty="0"/>
              <a:t>de</a:t>
            </a:r>
            <a:r>
              <a:rPr spc="-60" dirty="0"/>
              <a:t> </a:t>
            </a:r>
            <a:r>
              <a:rPr spc="-10" dirty="0"/>
              <a:t>Objetos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35940" y="1213865"/>
            <a:ext cx="281051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07645" indent="-19494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07645" algn="l"/>
              </a:tabLst>
            </a:pPr>
            <a:r>
              <a:rPr sz="2000" dirty="0">
                <a:latin typeface="Calibri"/>
                <a:cs typeface="Calibri"/>
              </a:rPr>
              <a:t>En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robots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manipuladores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48420" y="1716076"/>
            <a:ext cx="6079179" cy="191255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268094" y="3559809"/>
            <a:ext cx="676402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solidFill>
                  <a:srgbClr val="7E7E7E"/>
                </a:solidFill>
                <a:latin typeface="Calibri"/>
                <a:cs typeface="Calibri"/>
              </a:rPr>
              <a:t>Mezzina</a:t>
            </a:r>
            <a:r>
              <a:rPr sz="1050" spc="-3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7E7E7E"/>
                </a:solidFill>
                <a:latin typeface="Calibri"/>
                <a:cs typeface="Calibri"/>
              </a:rPr>
              <a:t>(2023).</a:t>
            </a:r>
            <a:r>
              <a:rPr sz="1050" spc="-5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7E7E7E"/>
                </a:solidFill>
                <a:latin typeface="Calibri"/>
                <a:cs typeface="Calibri"/>
              </a:rPr>
              <a:t>An</a:t>
            </a:r>
            <a:r>
              <a:rPr sz="1050" spc="-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7E7E7E"/>
                </a:solidFill>
                <a:latin typeface="Calibri"/>
                <a:cs typeface="Calibri"/>
              </a:rPr>
              <a:t>Embedded</a:t>
            </a:r>
            <a:r>
              <a:rPr sz="1050" spc="-3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7E7E7E"/>
                </a:solidFill>
                <a:latin typeface="Calibri"/>
                <a:cs typeface="Calibri"/>
              </a:rPr>
              <a:t>Framework</a:t>
            </a:r>
            <a:r>
              <a:rPr sz="1050" spc="-4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7E7E7E"/>
                </a:solidFill>
                <a:latin typeface="Calibri"/>
                <a:cs typeface="Calibri"/>
              </a:rPr>
              <a:t>for</a:t>
            </a:r>
            <a:r>
              <a:rPr sz="1050" spc="-1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7E7E7E"/>
                </a:solidFill>
                <a:latin typeface="Calibri"/>
                <a:cs typeface="Calibri"/>
              </a:rPr>
              <a:t>Fully</a:t>
            </a:r>
            <a:r>
              <a:rPr sz="1050" spc="-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7E7E7E"/>
                </a:solidFill>
                <a:latin typeface="Calibri"/>
                <a:cs typeface="Calibri"/>
              </a:rPr>
              <a:t>Autonomous</a:t>
            </a:r>
            <a:r>
              <a:rPr sz="1050" spc="-2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7E7E7E"/>
                </a:solidFill>
                <a:latin typeface="Calibri"/>
                <a:cs typeface="Calibri"/>
              </a:rPr>
              <a:t>Object</a:t>
            </a:r>
            <a:r>
              <a:rPr sz="1050" spc="-1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7E7E7E"/>
                </a:solidFill>
                <a:latin typeface="Calibri"/>
                <a:cs typeface="Calibri"/>
              </a:rPr>
              <a:t>Manipulation</a:t>
            </a:r>
            <a:r>
              <a:rPr sz="1050" spc="-3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7E7E7E"/>
                </a:solidFill>
                <a:latin typeface="Calibri"/>
                <a:cs typeface="Calibri"/>
              </a:rPr>
              <a:t>in</a:t>
            </a:r>
            <a:r>
              <a:rPr sz="1050" spc="-2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7E7E7E"/>
                </a:solidFill>
                <a:latin typeface="Calibri"/>
                <a:cs typeface="Calibri"/>
              </a:rPr>
              <a:t>Robotic-</a:t>
            </a:r>
            <a:r>
              <a:rPr sz="1050" dirty="0">
                <a:solidFill>
                  <a:srgbClr val="7E7E7E"/>
                </a:solidFill>
                <a:latin typeface="Calibri"/>
                <a:cs typeface="Calibri"/>
              </a:rPr>
              <a:t>Empowered</a:t>
            </a:r>
            <a:r>
              <a:rPr sz="1050" spc="-4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7E7E7E"/>
                </a:solidFill>
                <a:latin typeface="Calibri"/>
                <a:cs typeface="Calibri"/>
              </a:rPr>
              <a:t>Assisted</a:t>
            </a:r>
            <a:r>
              <a:rPr sz="1050" spc="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7E7E7E"/>
                </a:solidFill>
                <a:latin typeface="Calibri"/>
                <a:cs typeface="Calibri"/>
              </a:rPr>
              <a:t>Living</a:t>
            </a:r>
            <a:endParaRPr sz="105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06780" y="3927347"/>
            <a:ext cx="4463796" cy="2505456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5675376" y="3927347"/>
            <a:ext cx="2940050" cy="2486025"/>
            <a:chOff x="5675376" y="3927347"/>
            <a:chExt cx="2940050" cy="2486025"/>
          </a:xfrm>
        </p:grpSpPr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867400" y="3979163"/>
              <a:ext cx="2555748" cy="215646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675376" y="3927347"/>
              <a:ext cx="2939796" cy="2485644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882802" y="6423152"/>
            <a:ext cx="4411980" cy="346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solidFill>
                  <a:srgbClr val="7E7E7E"/>
                </a:solidFill>
                <a:latin typeface="Calibri"/>
                <a:cs typeface="Calibri"/>
              </a:rPr>
              <a:t>Zabihifar</a:t>
            </a:r>
            <a:r>
              <a:rPr sz="1050" spc="-3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7E7E7E"/>
                </a:solidFill>
                <a:latin typeface="Calibri"/>
                <a:cs typeface="Calibri"/>
              </a:rPr>
              <a:t>(2021).</a:t>
            </a:r>
            <a:r>
              <a:rPr sz="1050" spc="-3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7E7E7E"/>
                </a:solidFill>
                <a:latin typeface="Calibri"/>
                <a:cs typeface="Calibri"/>
              </a:rPr>
              <a:t>Unreal</a:t>
            </a:r>
            <a:r>
              <a:rPr sz="1050" spc="-2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7E7E7E"/>
                </a:solidFill>
                <a:latin typeface="Calibri"/>
                <a:cs typeface="Calibri"/>
              </a:rPr>
              <a:t>mask:</a:t>
            </a:r>
            <a:r>
              <a:rPr sz="1050" spc="-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7E7E7E"/>
                </a:solidFill>
                <a:latin typeface="Calibri"/>
                <a:cs typeface="Calibri"/>
              </a:rPr>
              <a:t>one-shot</a:t>
            </a:r>
            <a:r>
              <a:rPr sz="1050" spc="-10" dirty="0">
                <a:solidFill>
                  <a:srgbClr val="7E7E7E"/>
                </a:solidFill>
                <a:latin typeface="Calibri"/>
                <a:cs typeface="Calibri"/>
              </a:rPr>
              <a:t> multi-</a:t>
            </a:r>
            <a:r>
              <a:rPr sz="1050" dirty="0">
                <a:solidFill>
                  <a:srgbClr val="7E7E7E"/>
                </a:solidFill>
                <a:latin typeface="Calibri"/>
                <a:cs typeface="Calibri"/>
              </a:rPr>
              <a:t>object</a:t>
            </a:r>
            <a:r>
              <a:rPr sz="1050" spc="-10" dirty="0">
                <a:solidFill>
                  <a:srgbClr val="7E7E7E"/>
                </a:solidFill>
                <a:latin typeface="Calibri"/>
                <a:cs typeface="Calibri"/>
              </a:rPr>
              <a:t> class-</a:t>
            </a:r>
            <a:r>
              <a:rPr sz="1050" dirty="0">
                <a:solidFill>
                  <a:srgbClr val="7E7E7E"/>
                </a:solidFill>
                <a:latin typeface="Calibri"/>
                <a:cs typeface="Calibri"/>
              </a:rPr>
              <a:t>based</a:t>
            </a:r>
            <a:r>
              <a:rPr sz="1050" spc="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7E7E7E"/>
                </a:solidFill>
                <a:latin typeface="Calibri"/>
                <a:cs typeface="Calibri"/>
              </a:rPr>
              <a:t>pose</a:t>
            </a:r>
            <a:r>
              <a:rPr sz="1050" spc="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7E7E7E"/>
                </a:solidFill>
                <a:latin typeface="Calibri"/>
                <a:cs typeface="Calibri"/>
              </a:rPr>
              <a:t>estimation</a:t>
            </a:r>
            <a:endParaRPr sz="1050">
              <a:latin typeface="Calibri"/>
              <a:cs typeface="Calibri"/>
            </a:endParaRPr>
          </a:p>
          <a:p>
            <a:pPr marL="635" algn="ctr">
              <a:lnSpc>
                <a:spcPct val="100000"/>
              </a:lnSpc>
            </a:pPr>
            <a:r>
              <a:rPr sz="1050" dirty="0">
                <a:solidFill>
                  <a:srgbClr val="7E7E7E"/>
                </a:solidFill>
                <a:latin typeface="Calibri"/>
                <a:cs typeface="Calibri"/>
              </a:rPr>
              <a:t>for</a:t>
            </a:r>
            <a:r>
              <a:rPr sz="1050" spc="-1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7E7E7E"/>
                </a:solidFill>
                <a:latin typeface="Calibri"/>
                <a:cs typeface="Calibri"/>
              </a:rPr>
              <a:t>robotic</a:t>
            </a:r>
            <a:r>
              <a:rPr sz="1050" spc="-1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7E7E7E"/>
                </a:solidFill>
                <a:latin typeface="Calibri"/>
                <a:cs typeface="Calibri"/>
              </a:rPr>
              <a:t>manipulation</a:t>
            </a:r>
            <a:r>
              <a:rPr sz="1050" spc="-4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7E7E7E"/>
                </a:solidFill>
                <a:latin typeface="Calibri"/>
                <a:cs typeface="Calibri"/>
              </a:rPr>
              <a:t>using</a:t>
            </a:r>
            <a:r>
              <a:rPr sz="1050" spc="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7E7E7E"/>
                </a:solidFill>
                <a:latin typeface="Calibri"/>
                <a:cs typeface="Calibri"/>
              </a:rPr>
              <a:t>keypoints</a:t>
            </a:r>
            <a:r>
              <a:rPr sz="1050" spc="-3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7E7E7E"/>
                </a:solidFill>
                <a:latin typeface="Calibri"/>
                <a:cs typeface="Calibri"/>
              </a:rPr>
              <a:t>with</a:t>
            </a:r>
            <a:r>
              <a:rPr sz="1050" spc="-1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7E7E7E"/>
                </a:solidFill>
                <a:latin typeface="Calibri"/>
                <a:cs typeface="Calibri"/>
              </a:rPr>
              <a:t>a synthetic</a:t>
            </a:r>
            <a:r>
              <a:rPr sz="1050" spc="-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7E7E7E"/>
                </a:solidFill>
                <a:latin typeface="Calibri"/>
                <a:cs typeface="Calibri"/>
              </a:rPr>
              <a:t>dataset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369177" y="6422542"/>
            <a:ext cx="1717039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solidFill>
                  <a:srgbClr val="7E7E7E"/>
                </a:solidFill>
                <a:latin typeface="Calibri"/>
                <a:cs typeface="Calibri"/>
              </a:rPr>
              <a:t>https://youtu.be/ZlQt6vuoFbI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13" name="Picture 4">
            <a:extLst>
              <a:ext uri="{FF2B5EF4-FFF2-40B4-BE49-F238E27FC236}">
                <a16:creationId xmlns:a16="http://schemas.microsoft.com/office/drawing/2014/main" id="{091CFEAC-9E16-0650-EB98-27B469F2E2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85" y="152399"/>
            <a:ext cx="685800" cy="583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6" descr="Ingeniería de Sistemas - UNCP">
            <a:extLst>
              <a:ext uri="{FF2B5EF4-FFF2-40B4-BE49-F238E27FC236}">
                <a16:creationId xmlns:a16="http://schemas.microsoft.com/office/drawing/2014/main" id="{41441F33-B47B-B3C8-1251-560E40F21B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3574" y="152399"/>
            <a:ext cx="581085" cy="583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3695">
              <a:lnSpc>
                <a:spcPct val="100000"/>
              </a:lnSpc>
              <a:spcBef>
                <a:spcPts val="100"/>
              </a:spcBef>
            </a:pPr>
            <a:r>
              <a:rPr dirty="0"/>
              <a:t>Detección</a:t>
            </a:r>
            <a:r>
              <a:rPr spc="-60" dirty="0"/>
              <a:t> </a:t>
            </a:r>
            <a:r>
              <a:rPr dirty="0"/>
              <a:t>de</a:t>
            </a:r>
            <a:r>
              <a:rPr spc="-60" dirty="0"/>
              <a:t> </a:t>
            </a:r>
            <a:r>
              <a:rPr spc="-10" dirty="0"/>
              <a:t>Objetos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213865"/>
            <a:ext cx="205613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07645" indent="-19494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07645" algn="l"/>
              </a:tabLst>
            </a:pPr>
            <a:r>
              <a:rPr sz="2000" dirty="0">
                <a:latin typeface="Calibri"/>
                <a:cs typeface="Calibri"/>
              </a:rPr>
              <a:t>En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robots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móviles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395598" y="3992117"/>
            <a:ext cx="220980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solidFill>
                  <a:srgbClr val="7E7E7E"/>
                </a:solidFill>
                <a:latin typeface="Calibri"/>
                <a:cs typeface="Calibri"/>
              </a:rPr>
              <a:t>ADAS.</a:t>
            </a:r>
            <a:r>
              <a:rPr sz="1050" spc="-1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7E7E7E"/>
                </a:solidFill>
                <a:latin typeface="Calibri"/>
                <a:cs typeface="Calibri"/>
              </a:rPr>
              <a:t>Sensor</a:t>
            </a:r>
            <a:r>
              <a:rPr sz="1050" spc="-3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7E7E7E"/>
                </a:solidFill>
                <a:latin typeface="Calibri"/>
                <a:cs typeface="Calibri"/>
              </a:rPr>
              <a:t>Fusion</a:t>
            </a:r>
            <a:r>
              <a:rPr sz="1050" spc="-1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7E7E7E"/>
                </a:solidFill>
                <a:latin typeface="Calibri"/>
                <a:cs typeface="Calibri"/>
              </a:rPr>
              <a:t>for</a:t>
            </a:r>
            <a:r>
              <a:rPr sz="1050" spc="-3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7E7E7E"/>
                </a:solidFill>
                <a:latin typeface="Calibri"/>
                <a:cs typeface="Calibri"/>
              </a:rPr>
              <a:t>self-</a:t>
            </a:r>
            <a:r>
              <a:rPr sz="1050" dirty="0">
                <a:solidFill>
                  <a:srgbClr val="7E7E7E"/>
                </a:solidFill>
                <a:latin typeface="Calibri"/>
                <a:cs typeface="Calibri"/>
              </a:rPr>
              <a:t>driving</a:t>
            </a:r>
            <a:r>
              <a:rPr sz="1050" spc="-3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050" spc="-20" dirty="0">
                <a:solidFill>
                  <a:srgbClr val="7E7E7E"/>
                </a:solidFill>
                <a:latin typeface="Calibri"/>
                <a:cs typeface="Calibri"/>
              </a:rPr>
              <a:t>cars</a:t>
            </a:r>
            <a:endParaRPr sz="105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84732" y="4306823"/>
            <a:ext cx="2903220" cy="2183891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467055" y="6516116"/>
            <a:ext cx="453771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solidFill>
                  <a:srgbClr val="7E7E7E"/>
                </a:solidFill>
                <a:latin typeface="Calibri"/>
                <a:cs typeface="Calibri"/>
              </a:rPr>
              <a:t>Aryal</a:t>
            </a:r>
            <a:r>
              <a:rPr sz="1050" spc="-2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7E7E7E"/>
                </a:solidFill>
                <a:latin typeface="Calibri"/>
                <a:cs typeface="Calibri"/>
              </a:rPr>
              <a:t>(2018).</a:t>
            </a:r>
            <a:r>
              <a:rPr sz="1050" spc="-3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7E7E7E"/>
                </a:solidFill>
                <a:latin typeface="Calibri"/>
                <a:cs typeface="Calibri"/>
              </a:rPr>
              <a:t>Object Detection,</a:t>
            </a:r>
            <a:r>
              <a:rPr sz="1050" spc="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7E7E7E"/>
                </a:solidFill>
                <a:latin typeface="Calibri"/>
                <a:cs typeface="Calibri"/>
              </a:rPr>
              <a:t>Classification, </a:t>
            </a:r>
            <a:r>
              <a:rPr sz="1050" dirty="0">
                <a:solidFill>
                  <a:srgbClr val="7E7E7E"/>
                </a:solidFill>
                <a:latin typeface="Calibri"/>
                <a:cs typeface="Calibri"/>
              </a:rPr>
              <a:t>and</a:t>
            </a:r>
            <a:r>
              <a:rPr sz="1050" spc="-1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7E7E7E"/>
                </a:solidFill>
                <a:latin typeface="Calibri"/>
                <a:cs typeface="Calibri"/>
              </a:rPr>
              <a:t>Tracking</a:t>
            </a:r>
            <a:r>
              <a:rPr sz="1050" spc="-1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7E7E7E"/>
                </a:solidFill>
                <a:latin typeface="Calibri"/>
                <a:cs typeface="Calibri"/>
              </a:rPr>
              <a:t>for</a:t>
            </a:r>
            <a:r>
              <a:rPr sz="1050" spc="-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7E7E7E"/>
                </a:solidFill>
                <a:latin typeface="Calibri"/>
                <a:cs typeface="Calibri"/>
              </a:rPr>
              <a:t>Autonomous</a:t>
            </a:r>
            <a:r>
              <a:rPr sz="1050" spc="-1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7E7E7E"/>
                </a:solidFill>
                <a:latin typeface="Calibri"/>
                <a:cs typeface="Calibri"/>
              </a:rPr>
              <a:t>Vehicle</a:t>
            </a:r>
            <a:endParaRPr sz="105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36420" y="1709927"/>
            <a:ext cx="6182867" cy="225704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860035" y="4338828"/>
            <a:ext cx="3723132" cy="2139696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45"/>
              </a:lnSpc>
            </a:pPr>
            <a:fld id="{81D60167-4931-47E6-BA6A-407CBD079E47}" type="slidenum">
              <a:rPr spc="-50" dirty="0"/>
              <a:t>4</a:t>
            </a:fld>
            <a:endParaRPr spc="-50" dirty="0"/>
          </a:p>
        </p:txBody>
      </p:sp>
      <p:pic>
        <p:nvPicPr>
          <p:cNvPr id="10" name="Picture 4">
            <a:extLst>
              <a:ext uri="{FF2B5EF4-FFF2-40B4-BE49-F238E27FC236}">
                <a16:creationId xmlns:a16="http://schemas.microsoft.com/office/drawing/2014/main" id="{7399232D-EAC6-F755-5CD4-C49A9F0966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85" y="152399"/>
            <a:ext cx="685800" cy="583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6" descr="Ingeniería de Sistemas - UNCP">
            <a:extLst>
              <a:ext uri="{FF2B5EF4-FFF2-40B4-BE49-F238E27FC236}">
                <a16:creationId xmlns:a16="http://schemas.microsoft.com/office/drawing/2014/main" id="{CBD36453-24F3-7CE1-7CA5-26953A8CA5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3574" y="152399"/>
            <a:ext cx="581085" cy="583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3695">
              <a:lnSpc>
                <a:spcPct val="100000"/>
              </a:lnSpc>
              <a:spcBef>
                <a:spcPts val="100"/>
              </a:spcBef>
            </a:pPr>
            <a:r>
              <a:rPr dirty="0"/>
              <a:t>Detección</a:t>
            </a:r>
            <a:r>
              <a:rPr spc="-60" dirty="0"/>
              <a:t> </a:t>
            </a:r>
            <a:r>
              <a:rPr dirty="0"/>
              <a:t>de</a:t>
            </a:r>
            <a:r>
              <a:rPr spc="-60" dirty="0"/>
              <a:t> </a:t>
            </a:r>
            <a:r>
              <a:rPr spc="-10" dirty="0"/>
              <a:t>Objetos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491484" y="2517648"/>
            <a:ext cx="2552700" cy="1991995"/>
            <a:chOff x="3491484" y="2517648"/>
            <a:chExt cx="2552700" cy="199199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491484" y="2517648"/>
              <a:ext cx="2552700" cy="1991868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3973830" y="3064002"/>
              <a:ext cx="1071880" cy="360045"/>
            </a:xfrm>
            <a:custGeom>
              <a:avLst/>
              <a:gdLst/>
              <a:ahLst/>
              <a:cxnLst/>
              <a:rect l="l" t="t" r="r" b="b"/>
              <a:pathLst>
                <a:path w="1071879" h="360045">
                  <a:moveTo>
                    <a:pt x="1071372" y="0"/>
                  </a:moveTo>
                  <a:lnTo>
                    <a:pt x="0" y="0"/>
                  </a:lnTo>
                  <a:lnTo>
                    <a:pt x="0" y="359663"/>
                  </a:lnTo>
                  <a:lnTo>
                    <a:pt x="1071372" y="359663"/>
                  </a:lnTo>
                  <a:lnTo>
                    <a:pt x="107137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973830" y="3064002"/>
              <a:ext cx="1071880" cy="360045"/>
            </a:xfrm>
            <a:custGeom>
              <a:avLst/>
              <a:gdLst/>
              <a:ahLst/>
              <a:cxnLst/>
              <a:rect l="l" t="t" r="r" b="b"/>
              <a:pathLst>
                <a:path w="1071879" h="360045">
                  <a:moveTo>
                    <a:pt x="0" y="359663"/>
                  </a:moveTo>
                  <a:lnTo>
                    <a:pt x="1071372" y="359663"/>
                  </a:lnTo>
                  <a:lnTo>
                    <a:pt x="1071372" y="0"/>
                  </a:lnTo>
                  <a:lnTo>
                    <a:pt x="0" y="0"/>
                  </a:lnTo>
                  <a:lnTo>
                    <a:pt x="0" y="359663"/>
                  </a:lnTo>
                  <a:close/>
                </a:path>
              </a:pathLst>
            </a:custGeom>
            <a:ln w="259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950970" y="3573018"/>
              <a:ext cx="1071880" cy="360045"/>
            </a:xfrm>
            <a:custGeom>
              <a:avLst/>
              <a:gdLst/>
              <a:ahLst/>
              <a:cxnLst/>
              <a:rect l="l" t="t" r="r" b="b"/>
              <a:pathLst>
                <a:path w="1071879" h="360045">
                  <a:moveTo>
                    <a:pt x="1071372" y="0"/>
                  </a:moveTo>
                  <a:lnTo>
                    <a:pt x="0" y="0"/>
                  </a:lnTo>
                  <a:lnTo>
                    <a:pt x="0" y="359664"/>
                  </a:lnTo>
                  <a:lnTo>
                    <a:pt x="1071372" y="359664"/>
                  </a:lnTo>
                  <a:lnTo>
                    <a:pt x="107137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950970" y="3573018"/>
              <a:ext cx="1071880" cy="360045"/>
            </a:xfrm>
            <a:custGeom>
              <a:avLst/>
              <a:gdLst/>
              <a:ahLst/>
              <a:cxnLst/>
              <a:rect l="l" t="t" r="r" b="b"/>
              <a:pathLst>
                <a:path w="1071879" h="360045">
                  <a:moveTo>
                    <a:pt x="0" y="359664"/>
                  </a:moveTo>
                  <a:lnTo>
                    <a:pt x="1071372" y="359664"/>
                  </a:lnTo>
                  <a:lnTo>
                    <a:pt x="1071372" y="0"/>
                  </a:lnTo>
                  <a:lnTo>
                    <a:pt x="0" y="0"/>
                  </a:lnTo>
                  <a:lnTo>
                    <a:pt x="0" y="359664"/>
                  </a:lnTo>
                  <a:close/>
                </a:path>
              </a:pathLst>
            </a:custGeom>
            <a:ln w="259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437794" y="922782"/>
            <a:ext cx="7170420" cy="30454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59635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solidFill>
                  <a:srgbClr val="2092FA"/>
                </a:solidFill>
                <a:latin typeface="Calibri"/>
                <a:cs typeface="Calibri"/>
              </a:rPr>
              <a:t>“Intersection</a:t>
            </a:r>
            <a:r>
              <a:rPr sz="2400" b="1" spc="-40" dirty="0">
                <a:solidFill>
                  <a:srgbClr val="2092FA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2092FA"/>
                </a:solidFill>
                <a:latin typeface="Calibri"/>
                <a:cs typeface="Calibri"/>
              </a:rPr>
              <a:t>over</a:t>
            </a:r>
            <a:r>
              <a:rPr sz="2400" b="1" spc="-65" dirty="0">
                <a:solidFill>
                  <a:srgbClr val="2092FA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2092FA"/>
                </a:solidFill>
                <a:latin typeface="Calibri"/>
                <a:cs typeface="Calibri"/>
              </a:rPr>
              <a:t>Union”</a:t>
            </a:r>
            <a:r>
              <a:rPr sz="2400" b="1" spc="-60" dirty="0">
                <a:solidFill>
                  <a:srgbClr val="2092FA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2092FA"/>
                </a:solidFill>
                <a:latin typeface="Calibri"/>
                <a:cs typeface="Calibri"/>
              </a:rPr>
              <a:t>(IoU)</a:t>
            </a:r>
            <a:endParaRPr sz="2400">
              <a:latin typeface="Calibri"/>
              <a:cs typeface="Calibri"/>
            </a:endParaRPr>
          </a:p>
          <a:p>
            <a:pPr marL="207645" indent="-194945">
              <a:lnSpc>
                <a:spcPct val="100000"/>
              </a:lnSpc>
              <a:spcBef>
                <a:spcPts val="2815"/>
              </a:spcBef>
              <a:buFont typeface="Arial MT"/>
              <a:buChar char="•"/>
              <a:tabLst>
                <a:tab pos="207645" algn="l"/>
              </a:tabLst>
            </a:pPr>
            <a:r>
              <a:rPr sz="2000" dirty="0">
                <a:latin typeface="Calibri"/>
                <a:cs typeface="Calibri"/>
              </a:rPr>
              <a:t>Es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una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medida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la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superposición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entre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dos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cuadros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delimitadores</a:t>
            </a:r>
            <a:endParaRPr sz="2000">
              <a:latin typeface="Calibri"/>
              <a:cs typeface="Calibri"/>
            </a:endParaRPr>
          </a:p>
          <a:p>
            <a:pPr marL="207645" indent="-194945">
              <a:lnSpc>
                <a:spcPct val="100000"/>
              </a:lnSpc>
              <a:spcBef>
                <a:spcPts val="484"/>
              </a:spcBef>
              <a:buFont typeface="Arial MT"/>
              <a:buChar char="•"/>
              <a:tabLst>
                <a:tab pos="207645" algn="l"/>
              </a:tabLst>
            </a:pPr>
            <a:r>
              <a:rPr sz="2000" spc="-20" dirty="0">
                <a:latin typeface="Calibri"/>
                <a:cs typeface="Calibri"/>
              </a:rPr>
              <a:t>También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se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denomina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índice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7E7E7E"/>
                </a:solidFill>
                <a:latin typeface="Calibri"/>
                <a:cs typeface="Calibri"/>
              </a:rPr>
              <a:t>(similaridad</a:t>
            </a:r>
            <a:r>
              <a:rPr sz="1800" spc="-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7E7E7E"/>
                </a:solidFill>
                <a:latin typeface="Calibri"/>
                <a:cs typeface="Calibri"/>
              </a:rPr>
              <a:t>de)</a:t>
            </a:r>
            <a:r>
              <a:rPr sz="1800" spc="1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“Jaccard”</a:t>
            </a:r>
            <a:endParaRPr sz="2000">
              <a:latin typeface="Calibri"/>
              <a:cs typeface="Calibri"/>
            </a:endParaRPr>
          </a:p>
          <a:p>
            <a:pPr marL="207645" indent="-194945">
              <a:lnSpc>
                <a:spcPct val="100000"/>
              </a:lnSpc>
              <a:spcBef>
                <a:spcPts val="475"/>
              </a:spcBef>
              <a:buFont typeface="Arial MT"/>
              <a:buChar char="•"/>
              <a:tabLst>
                <a:tab pos="207645" algn="l"/>
              </a:tabLst>
            </a:pPr>
            <a:r>
              <a:rPr sz="2000" dirty="0">
                <a:latin typeface="Calibri"/>
                <a:cs typeface="Calibri"/>
              </a:rPr>
              <a:t>Dados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dos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cuadros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delimitadores: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5"/>
              </a:spcBef>
            </a:pPr>
            <a:endParaRPr sz="2000">
              <a:latin typeface="Calibri"/>
              <a:cs typeface="Calibri"/>
            </a:endParaRPr>
          </a:p>
          <a:p>
            <a:pPr marL="972819" algn="ctr">
              <a:lnSpc>
                <a:spcPct val="100000"/>
              </a:lnSpc>
            </a:pPr>
            <a:r>
              <a:rPr sz="1400" dirty="0">
                <a:latin typeface="Calibri"/>
                <a:cs typeface="Calibri"/>
              </a:rPr>
              <a:t>Área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spc="-25" dirty="0">
                <a:latin typeface="Calibri"/>
                <a:cs typeface="Calibri"/>
              </a:rPr>
              <a:t>de</a:t>
            </a:r>
            <a:endParaRPr sz="1400">
              <a:latin typeface="Calibri"/>
              <a:cs typeface="Calibri"/>
            </a:endParaRPr>
          </a:p>
          <a:p>
            <a:pPr marL="972819" algn="ctr">
              <a:lnSpc>
                <a:spcPct val="100000"/>
              </a:lnSpc>
            </a:pPr>
            <a:r>
              <a:rPr sz="1400" spc="-10" dirty="0">
                <a:latin typeface="Calibri"/>
                <a:cs typeface="Calibri"/>
              </a:rPr>
              <a:t>intersección</a:t>
            </a:r>
            <a:endParaRPr sz="1400">
              <a:latin typeface="Calibri"/>
              <a:cs typeface="Calibri"/>
            </a:endParaRPr>
          </a:p>
          <a:p>
            <a:pPr marL="3769360" marR="2834005" algn="ctr">
              <a:lnSpc>
                <a:spcPct val="100000"/>
              </a:lnSpc>
              <a:spcBef>
                <a:spcPts val="655"/>
              </a:spcBef>
            </a:pPr>
            <a:r>
              <a:rPr sz="1400" dirty="0">
                <a:latin typeface="Calibri"/>
                <a:cs typeface="Calibri"/>
              </a:rPr>
              <a:t>Área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spc="-25" dirty="0">
                <a:latin typeface="Calibri"/>
                <a:cs typeface="Calibri"/>
              </a:rPr>
              <a:t>de </a:t>
            </a:r>
            <a:r>
              <a:rPr sz="1400" spc="-10" dirty="0">
                <a:latin typeface="Calibri"/>
                <a:cs typeface="Calibri"/>
              </a:rPr>
              <a:t>Unión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03603" y="4890515"/>
            <a:ext cx="1824227" cy="1589531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950208" y="4890515"/>
            <a:ext cx="1635252" cy="1562100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228588" y="4890515"/>
            <a:ext cx="1616964" cy="1491996"/>
          </a:xfrm>
          <a:prstGeom prst="rect">
            <a:avLst/>
          </a:prstGeom>
        </p:spPr>
      </p:pic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45"/>
              </a:lnSpc>
            </a:pPr>
            <a:fld id="{81D60167-4931-47E6-BA6A-407CBD079E47}" type="slidenum">
              <a:rPr spc="-50" dirty="0"/>
              <a:t>5</a:t>
            </a:fld>
            <a:endParaRPr spc="-50" dirty="0"/>
          </a:p>
        </p:txBody>
      </p:sp>
      <p:pic>
        <p:nvPicPr>
          <p:cNvPr id="14" name="Picture 4">
            <a:extLst>
              <a:ext uri="{FF2B5EF4-FFF2-40B4-BE49-F238E27FC236}">
                <a16:creationId xmlns:a16="http://schemas.microsoft.com/office/drawing/2014/main" id="{D58F1BDF-E4BC-3B89-0EF5-6357ACFBB2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85" y="152399"/>
            <a:ext cx="685800" cy="583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6" descr="Ingeniería de Sistemas - UNCP">
            <a:extLst>
              <a:ext uri="{FF2B5EF4-FFF2-40B4-BE49-F238E27FC236}">
                <a16:creationId xmlns:a16="http://schemas.microsoft.com/office/drawing/2014/main" id="{F073910E-EA8F-3AE0-D79B-168BF0B2D2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3574" y="152399"/>
            <a:ext cx="581085" cy="583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3695">
              <a:lnSpc>
                <a:spcPct val="100000"/>
              </a:lnSpc>
              <a:spcBef>
                <a:spcPts val="100"/>
              </a:spcBef>
            </a:pPr>
            <a:r>
              <a:rPr dirty="0"/>
              <a:t>Detección</a:t>
            </a:r>
            <a:r>
              <a:rPr spc="-60" dirty="0"/>
              <a:t> </a:t>
            </a:r>
            <a:r>
              <a:rPr dirty="0"/>
              <a:t>de</a:t>
            </a:r>
            <a:r>
              <a:rPr spc="-60" dirty="0"/>
              <a:t> </a:t>
            </a:r>
            <a:r>
              <a:rPr spc="-10" dirty="0"/>
              <a:t>Objetos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7794" y="922782"/>
            <a:ext cx="6122670" cy="2042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59635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solidFill>
                  <a:srgbClr val="2092FA"/>
                </a:solidFill>
                <a:latin typeface="Calibri"/>
                <a:cs typeface="Calibri"/>
              </a:rPr>
              <a:t>“Intersection</a:t>
            </a:r>
            <a:r>
              <a:rPr sz="2400" b="1" spc="-40" dirty="0">
                <a:solidFill>
                  <a:srgbClr val="2092FA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2092FA"/>
                </a:solidFill>
                <a:latin typeface="Calibri"/>
                <a:cs typeface="Calibri"/>
              </a:rPr>
              <a:t>over</a:t>
            </a:r>
            <a:r>
              <a:rPr sz="2400" b="1" spc="-65" dirty="0">
                <a:solidFill>
                  <a:srgbClr val="2092FA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2092FA"/>
                </a:solidFill>
                <a:latin typeface="Calibri"/>
                <a:cs typeface="Calibri"/>
              </a:rPr>
              <a:t>Union”</a:t>
            </a:r>
            <a:r>
              <a:rPr sz="2400" b="1" spc="-60" dirty="0">
                <a:solidFill>
                  <a:srgbClr val="2092FA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2092FA"/>
                </a:solidFill>
                <a:latin typeface="Calibri"/>
                <a:cs typeface="Calibri"/>
              </a:rPr>
              <a:t>(IoU)</a:t>
            </a:r>
            <a:endParaRPr sz="2400">
              <a:latin typeface="Calibri"/>
              <a:cs typeface="Calibri"/>
            </a:endParaRPr>
          </a:p>
          <a:p>
            <a:pPr marL="207645" indent="-194945">
              <a:lnSpc>
                <a:spcPct val="100000"/>
              </a:lnSpc>
              <a:spcBef>
                <a:spcPts val="2815"/>
              </a:spcBef>
              <a:buFont typeface="Arial MT"/>
              <a:buChar char="•"/>
              <a:tabLst>
                <a:tab pos="207645" algn="l"/>
              </a:tabLst>
            </a:pPr>
            <a:r>
              <a:rPr sz="2000" dirty="0">
                <a:latin typeface="Calibri"/>
                <a:cs typeface="Calibri"/>
              </a:rPr>
              <a:t>Siempre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varía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entre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0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y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50" dirty="0">
                <a:latin typeface="Calibri"/>
                <a:cs typeface="Calibri"/>
              </a:rPr>
              <a:t>1</a:t>
            </a:r>
            <a:endParaRPr sz="2000">
              <a:latin typeface="Calibri"/>
              <a:cs typeface="Calibri"/>
            </a:endParaRPr>
          </a:p>
          <a:p>
            <a:pPr marL="389890" lvl="1" indent="-161290">
              <a:lnSpc>
                <a:spcPct val="100000"/>
              </a:lnSpc>
              <a:spcBef>
                <a:spcPts val="440"/>
              </a:spcBef>
              <a:buChar char="-"/>
              <a:tabLst>
                <a:tab pos="389890" algn="l"/>
              </a:tabLst>
            </a:pPr>
            <a:r>
              <a:rPr sz="1800" dirty="0">
                <a:latin typeface="Calibri"/>
                <a:cs typeface="Calibri"/>
              </a:rPr>
              <a:t>IoU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&gt;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0.5: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“decente”</a:t>
            </a:r>
            <a:endParaRPr sz="1800">
              <a:latin typeface="Calibri"/>
              <a:cs typeface="Calibri"/>
            </a:endParaRPr>
          </a:p>
          <a:p>
            <a:pPr marL="389890" lvl="1" indent="-161290">
              <a:lnSpc>
                <a:spcPct val="100000"/>
              </a:lnSpc>
              <a:spcBef>
                <a:spcPts val="434"/>
              </a:spcBef>
              <a:buChar char="-"/>
              <a:tabLst>
                <a:tab pos="389890" algn="l"/>
              </a:tabLst>
            </a:pPr>
            <a:r>
              <a:rPr sz="1800" dirty="0">
                <a:latin typeface="Calibri"/>
                <a:cs typeface="Calibri"/>
              </a:rPr>
              <a:t>IoU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&gt;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0.7: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“muy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bueno”</a:t>
            </a:r>
            <a:endParaRPr sz="1800">
              <a:latin typeface="Calibri"/>
              <a:cs typeface="Calibri"/>
            </a:endParaRPr>
          </a:p>
          <a:p>
            <a:pPr marL="389255" lvl="1" indent="-160655">
              <a:lnSpc>
                <a:spcPct val="100000"/>
              </a:lnSpc>
              <a:spcBef>
                <a:spcPts val="430"/>
              </a:spcBef>
              <a:buChar char="-"/>
              <a:tabLst>
                <a:tab pos="389255" algn="l"/>
              </a:tabLst>
            </a:pPr>
            <a:r>
              <a:rPr sz="1800" dirty="0">
                <a:latin typeface="Calibri"/>
                <a:cs typeface="Calibri"/>
              </a:rPr>
              <a:t>IoU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&gt;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0.9: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“casi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perfecto”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37794" y="4986628"/>
            <a:ext cx="2527300" cy="1381760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207645" indent="-194945">
              <a:lnSpc>
                <a:spcPct val="100000"/>
              </a:lnSpc>
              <a:spcBef>
                <a:spcPts val="590"/>
              </a:spcBef>
              <a:buFont typeface="Arial MT"/>
              <a:buChar char="•"/>
              <a:tabLst>
                <a:tab pos="207645" algn="l"/>
              </a:tabLst>
            </a:pPr>
            <a:r>
              <a:rPr sz="2000" spc="-10" dirty="0">
                <a:latin typeface="Calibri"/>
                <a:cs typeface="Calibri"/>
              </a:rPr>
              <a:t>Modificaciones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IoU</a:t>
            </a:r>
            <a:endParaRPr sz="2000">
              <a:latin typeface="Calibri"/>
              <a:cs typeface="Calibri"/>
            </a:endParaRPr>
          </a:p>
          <a:p>
            <a:pPr marL="389255" lvl="1" indent="-160655">
              <a:lnSpc>
                <a:spcPct val="100000"/>
              </a:lnSpc>
              <a:spcBef>
                <a:spcPts val="434"/>
              </a:spcBef>
              <a:buChar char="-"/>
              <a:tabLst>
                <a:tab pos="389255" algn="l"/>
              </a:tabLst>
            </a:pPr>
            <a:r>
              <a:rPr sz="1800" dirty="0">
                <a:latin typeface="Calibri"/>
                <a:cs typeface="Calibri"/>
              </a:rPr>
              <a:t>GIoU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Calibri"/>
                <a:cs typeface="Calibri"/>
              </a:rPr>
              <a:t>(generalized</a:t>
            </a:r>
            <a:r>
              <a:rPr sz="1600" spc="-1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spc="-20" dirty="0">
                <a:solidFill>
                  <a:srgbClr val="7E7E7E"/>
                </a:solidFill>
                <a:latin typeface="Calibri"/>
                <a:cs typeface="Calibri"/>
              </a:rPr>
              <a:t>IoU)</a:t>
            </a:r>
            <a:endParaRPr sz="1600">
              <a:latin typeface="Calibri"/>
              <a:cs typeface="Calibri"/>
            </a:endParaRPr>
          </a:p>
          <a:p>
            <a:pPr marL="389890" lvl="1" indent="-161290">
              <a:lnSpc>
                <a:spcPct val="100000"/>
              </a:lnSpc>
              <a:spcBef>
                <a:spcPts val="434"/>
              </a:spcBef>
              <a:buChar char="-"/>
              <a:tabLst>
                <a:tab pos="389890" algn="l"/>
              </a:tabLst>
            </a:pPr>
            <a:r>
              <a:rPr sz="1800" dirty="0">
                <a:latin typeface="Calibri"/>
                <a:cs typeface="Calibri"/>
              </a:rPr>
              <a:t>DIoU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7E7E7E"/>
                </a:solidFill>
                <a:latin typeface="Calibri"/>
                <a:cs typeface="Calibri"/>
              </a:rPr>
              <a:t>(distance</a:t>
            </a:r>
            <a:r>
              <a:rPr sz="1600" spc="-5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spc="-20" dirty="0">
                <a:solidFill>
                  <a:srgbClr val="7E7E7E"/>
                </a:solidFill>
                <a:latin typeface="Calibri"/>
                <a:cs typeface="Calibri"/>
              </a:rPr>
              <a:t>IoU)</a:t>
            </a:r>
            <a:endParaRPr sz="1600">
              <a:latin typeface="Calibri"/>
              <a:cs typeface="Calibri"/>
            </a:endParaRPr>
          </a:p>
          <a:p>
            <a:pPr marL="389890" lvl="1" indent="-161290">
              <a:lnSpc>
                <a:spcPct val="100000"/>
              </a:lnSpc>
              <a:spcBef>
                <a:spcPts val="434"/>
              </a:spcBef>
              <a:buChar char="-"/>
              <a:tabLst>
                <a:tab pos="389890" algn="l"/>
              </a:tabLst>
            </a:pPr>
            <a:r>
              <a:rPr sz="1800" dirty="0">
                <a:latin typeface="Calibri"/>
                <a:cs typeface="Calibri"/>
              </a:rPr>
              <a:t>CIoU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Calibri"/>
                <a:cs typeface="Calibri"/>
              </a:rPr>
              <a:t>(complete</a:t>
            </a:r>
            <a:r>
              <a:rPr sz="1600" spc="1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spc="-20" dirty="0">
                <a:solidFill>
                  <a:srgbClr val="7E7E7E"/>
                </a:solidFill>
                <a:latin typeface="Calibri"/>
                <a:cs typeface="Calibri"/>
              </a:rPr>
              <a:t>IoU)</a:t>
            </a:r>
            <a:endParaRPr sz="16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42288" y="3102864"/>
            <a:ext cx="6550152" cy="1472118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974595" y="6638569"/>
            <a:ext cx="512191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r>
              <a:rPr sz="1000" dirty="0">
                <a:solidFill>
                  <a:srgbClr val="7E7E7E"/>
                </a:solidFill>
                <a:latin typeface="Calibri"/>
                <a:cs typeface="Calibri"/>
              </a:rPr>
              <a:t>Yuan,</a:t>
            </a:r>
            <a:r>
              <a:rPr sz="1000" spc="-3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7E7E7E"/>
                </a:solidFill>
                <a:latin typeface="Calibri"/>
                <a:cs typeface="Calibri"/>
              </a:rPr>
              <a:t>D.</a:t>
            </a:r>
            <a:r>
              <a:rPr sz="1000" spc="-2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7E7E7E"/>
                </a:solidFill>
                <a:latin typeface="Calibri"/>
                <a:cs typeface="Calibri"/>
              </a:rPr>
              <a:t>et</a:t>
            </a:r>
            <a:r>
              <a:rPr sz="1000" spc="-2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7E7E7E"/>
                </a:solidFill>
                <a:latin typeface="Calibri"/>
                <a:cs typeface="Calibri"/>
              </a:rPr>
              <a:t>al.</a:t>
            </a:r>
            <a:r>
              <a:rPr sz="1000" spc="-3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7E7E7E"/>
                </a:solidFill>
                <a:latin typeface="Calibri"/>
                <a:cs typeface="Calibri"/>
              </a:rPr>
              <a:t>(2020).</a:t>
            </a:r>
            <a:r>
              <a:rPr sz="1000" spc="2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7E7E7E"/>
                </a:solidFill>
                <a:latin typeface="Calibri"/>
                <a:cs typeface="Calibri"/>
              </a:rPr>
              <a:t>Accurate</a:t>
            </a:r>
            <a:r>
              <a:rPr sz="1000" spc="-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7E7E7E"/>
                </a:solidFill>
                <a:latin typeface="Calibri"/>
                <a:cs typeface="Calibri"/>
              </a:rPr>
              <a:t>Bounding-</a:t>
            </a:r>
            <a:r>
              <a:rPr sz="1000" dirty="0">
                <a:solidFill>
                  <a:srgbClr val="7E7E7E"/>
                </a:solidFill>
                <a:latin typeface="Calibri"/>
                <a:cs typeface="Calibri"/>
              </a:rPr>
              <a:t>box</a:t>
            </a:r>
            <a:r>
              <a:rPr sz="1000" spc="-3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7E7E7E"/>
                </a:solidFill>
                <a:latin typeface="Calibri"/>
                <a:cs typeface="Calibri"/>
              </a:rPr>
              <a:t>Regression</a:t>
            </a:r>
            <a:r>
              <a:rPr sz="1000" spc="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7E7E7E"/>
                </a:solidFill>
                <a:latin typeface="Calibri"/>
                <a:cs typeface="Calibri"/>
              </a:rPr>
              <a:t>with</a:t>
            </a:r>
            <a:r>
              <a:rPr sz="1000" spc="-2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7E7E7E"/>
                </a:solidFill>
                <a:latin typeface="Calibri"/>
                <a:cs typeface="Calibri"/>
              </a:rPr>
              <a:t>Distance-</a:t>
            </a:r>
            <a:r>
              <a:rPr sz="1000" dirty="0">
                <a:solidFill>
                  <a:srgbClr val="7E7E7E"/>
                </a:solidFill>
                <a:latin typeface="Calibri"/>
                <a:cs typeface="Calibri"/>
              </a:rPr>
              <a:t>IoU</a:t>
            </a:r>
            <a:r>
              <a:rPr sz="1000" spc="-1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7E7E7E"/>
                </a:solidFill>
                <a:latin typeface="Calibri"/>
                <a:cs typeface="Calibri"/>
              </a:rPr>
              <a:t>Loss</a:t>
            </a:r>
            <a:r>
              <a:rPr sz="1000" spc="-2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7E7E7E"/>
                </a:solidFill>
                <a:latin typeface="Calibri"/>
                <a:cs typeface="Calibri"/>
              </a:rPr>
              <a:t>for</a:t>
            </a:r>
            <a:r>
              <a:rPr sz="1000" spc="-2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7E7E7E"/>
                </a:solidFill>
                <a:latin typeface="Calibri"/>
                <a:cs typeface="Calibri"/>
              </a:rPr>
              <a:t>Visual</a:t>
            </a:r>
            <a:r>
              <a:rPr sz="1000" spc="-4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7E7E7E"/>
                </a:solidFill>
                <a:latin typeface="Calibri"/>
                <a:cs typeface="Calibri"/>
              </a:rPr>
              <a:t>Tracking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45"/>
              </a:lnSpc>
            </a:pPr>
            <a:fld id="{81D60167-4931-47E6-BA6A-407CBD079E47}" type="slidenum">
              <a:rPr spc="-50" dirty="0"/>
              <a:t>6</a:t>
            </a:fld>
            <a:endParaRPr spc="-50" dirty="0"/>
          </a:p>
        </p:txBody>
      </p:sp>
      <p:pic>
        <p:nvPicPr>
          <p:cNvPr id="8" name="Picture 4">
            <a:extLst>
              <a:ext uri="{FF2B5EF4-FFF2-40B4-BE49-F238E27FC236}">
                <a16:creationId xmlns:a16="http://schemas.microsoft.com/office/drawing/2014/main" id="{F9EE3634-3B21-A24D-F1C1-2816BB7D47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85" y="152399"/>
            <a:ext cx="685800" cy="583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6" descr="Ingeniería de Sistemas - UNCP">
            <a:extLst>
              <a:ext uri="{FF2B5EF4-FFF2-40B4-BE49-F238E27FC236}">
                <a16:creationId xmlns:a16="http://schemas.microsoft.com/office/drawing/2014/main" id="{8CED9366-E9F0-A50E-9599-DC8C3C2FF5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3574" y="152399"/>
            <a:ext cx="581085" cy="583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41105" y="6633464"/>
            <a:ext cx="8953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0" dirty="0">
                <a:solidFill>
                  <a:srgbClr val="585858"/>
                </a:solidFill>
                <a:latin typeface="Calibri"/>
                <a:cs typeface="Calibri"/>
              </a:rPr>
              <a:t>7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3695">
              <a:lnSpc>
                <a:spcPct val="100000"/>
              </a:lnSpc>
              <a:spcBef>
                <a:spcPts val="100"/>
              </a:spcBef>
            </a:pPr>
            <a:r>
              <a:rPr dirty="0"/>
              <a:t>Detección</a:t>
            </a:r>
            <a:r>
              <a:rPr spc="-60" dirty="0"/>
              <a:t> </a:t>
            </a:r>
            <a:r>
              <a:rPr dirty="0"/>
              <a:t>de</a:t>
            </a:r>
            <a:r>
              <a:rPr spc="-60" dirty="0"/>
              <a:t> </a:t>
            </a:r>
            <a:r>
              <a:rPr spc="-10" dirty="0"/>
              <a:t>Objetos</a:t>
            </a:r>
          </a:p>
        </p:txBody>
      </p:sp>
      <p:sp>
        <p:nvSpPr>
          <p:cNvPr id="4" name="object 4"/>
          <p:cNvSpPr/>
          <p:nvPr/>
        </p:nvSpPr>
        <p:spPr>
          <a:xfrm>
            <a:off x="3734561" y="5543550"/>
            <a:ext cx="1369060" cy="576580"/>
          </a:xfrm>
          <a:custGeom>
            <a:avLst/>
            <a:gdLst/>
            <a:ahLst/>
            <a:cxnLst/>
            <a:rect l="l" t="t" r="r" b="b"/>
            <a:pathLst>
              <a:path w="1369060" h="576579">
                <a:moveTo>
                  <a:pt x="0" y="96012"/>
                </a:moveTo>
                <a:lnTo>
                  <a:pt x="7536" y="58614"/>
                </a:lnTo>
                <a:lnTo>
                  <a:pt x="28098" y="28098"/>
                </a:lnTo>
                <a:lnTo>
                  <a:pt x="58614" y="7536"/>
                </a:lnTo>
                <a:lnTo>
                  <a:pt x="96012" y="0"/>
                </a:lnTo>
                <a:lnTo>
                  <a:pt x="1272539" y="0"/>
                </a:lnTo>
                <a:lnTo>
                  <a:pt x="1309937" y="7536"/>
                </a:lnTo>
                <a:lnTo>
                  <a:pt x="1340453" y="28098"/>
                </a:lnTo>
                <a:lnTo>
                  <a:pt x="1361015" y="58614"/>
                </a:lnTo>
                <a:lnTo>
                  <a:pt x="1368552" y="96012"/>
                </a:lnTo>
                <a:lnTo>
                  <a:pt x="1368552" y="480059"/>
                </a:lnTo>
                <a:lnTo>
                  <a:pt x="1361015" y="517430"/>
                </a:lnTo>
                <a:lnTo>
                  <a:pt x="1340453" y="547949"/>
                </a:lnTo>
                <a:lnTo>
                  <a:pt x="1309937" y="568526"/>
                </a:lnTo>
                <a:lnTo>
                  <a:pt x="1272539" y="576072"/>
                </a:lnTo>
                <a:lnTo>
                  <a:pt x="96012" y="576072"/>
                </a:lnTo>
                <a:lnTo>
                  <a:pt x="58614" y="568526"/>
                </a:lnTo>
                <a:lnTo>
                  <a:pt x="28098" y="547949"/>
                </a:lnTo>
                <a:lnTo>
                  <a:pt x="7536" y="517430"/>
                </a:lnTo>
                <a:lnTo>
                  <a:pt x="0" y="480059"/>
                </a:lnTo>
                <a:lnTo>
                  <a:pt x="0" y="96012"/>
                </a:lnTo>
                <a:close/>
              </a:path>
            </a:pathLst>
          </a:custGeom>
          <a:ln w="25908">
            <a:solidFill>
              <a:srgbClr val="4F81B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853434" y="5563311"/>
            <a:ext cx="112966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90500" marR="5080" indent="-178435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latin typeface="Calibri"/>
                <a:cs typeface="Calibri"/>
              </a:rPr>
              <a:t>Extracción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de </a:t>
            </a:r>
            <a:r>
              <a:rPr sz="1600" spc="-10" dirty="0">
                <a:latin typeface="Calibri"/>
                <a:cs typeface="Calibri"/>
              </a:rPr>
              <a:t>atributos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703570" y="5228082"/>
            <a:ext cx="1390015" cy="455930"/>
          </a:xfrm>
          <a:custGeom>
            <a:avLst/>
            <a:gdLst/>
            <a:ahLst/>
            <a:cxnLst/>
            <a:rect l="l" t="t" r="r" b="b"/>
            <a:pathLst>
              <a:path w="1390015" h="455929">
                <a:moveTo>
                  <a:pt x="0" y="75946"/>
                </a:moveTo>
                <a:lnTo>
                  <a:pt x="5972" y="46398"/>
                </a:lnTo>
                <a:lnTo>
                  <a:pt x="22256" y="22256"/>
                </a:lnTo>
                <a:lnTo>
                  <a:pt x="46398" y="5972"/>
                </a:lnTo>
                <a:lnTo>
                  <a:pt x="75945" y="0"/>
                </a:lnTo>
                <a:lnTo>
                  <a:pt x="1313941" y="0"/>
                </a:lnTo>
                <a:lnTo>
                  <a:pt x="1343489" y="5972"/>
                </a:lnTo>
                <a:lnTo>
                  <a:pt x="1367631" y="22256"/>
                </a:lnTo>
                <a:lnTo>
                  <a:pt x="1383915" y="46398"/>
                </a:lnTo>
                <a:lnTo>
                  <a:pt x="1389887" y="75946"/>
                </a:lnTo>
                <a:lnTo>
                  <a:pt x="1389887" y="379730"/>
                </a:lnTo>
                <a:lnTo>
                  <a:pt x="1383915" y="409293"/>
                </a:lnTo>
                <a:lnTo>
                  <a:pt x="1367631" y="433433"/>
                </a:lnTo>
                <a:lnTo>
                  <a:pt x="1343489" y="449708"/>
                </a:lnTo>
                <a:lnTo>
                  <a:pt x="1313941" y="455676"/>
                </a:lnTo>
                <a:lnTo>
                  <a:pt x="75945" y="455676"/>
                </a:lnTo>
                <a:lnTo>
                  <a:pt x="46398" y="449708"/>
                </a:lnTo>
                <a:lnTo>
                  <a:pt x="22256" y="433433"/>
                </a:lnTo>
                <a:lnTo>
                  <a:pt x="5972" y="409293"/>
                </a:lnTo>
                <a:lnTo>
                  <a:pt x="0" y="379730"/>
                </a:lnTo>
                <a:lnTo>
                  <a:pt x="0" y="75946"/>
                </a:lnTo>
                <a:close/>
              </a:path>
            </a:pathLst>
          </a:custGeom>
          <a:ln w="25908">
            <a:solidFill>
              <a:srgbClr val="4F81B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37794" y="4254630"/>
            <a:ext cx="6718934" cy="1323975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207645" indent="-194945">
              <a:lnSpc>
                <a:spcPct val="100000"/>
              </a:lnSpc>
              <a:spcBef>
                <a:spcPts val="590"/>
              </a:spcBef>
              <a:buFont typeface="Arial MT"/>
              <a:buChar char="•"/>
              <a:tabLst>
                <a:tab pos="207645" algn="l"/>
              </a:tabLst>
            </a:pPr>
            <a:r>
              <a:rPr sz="2000" spc="-10" dirty="0">
                <a:solidFill>
                  <a:srgbClr val="00AF50"/>
                </a:solidFill>
                <a:latin typeface="Calibri"/>
                <a:cs typeface="Calibri"/>
              </a:rPr>
              <a:t>Detectores</a:t>
            </a:r>
            <a:r>
              <a:rPr sz="2000" spc="-2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AF50"/>
                </a:solidFill>
                <a:latin typeface="Calibri"/>
                <a:cs typeface="Calibri"/>
              </a:rPr>
              <a:t>de</a:t>
            </a:r>
            <a:r>
              <a:rPr sz="2000" spc="-3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AF50"/>
                </a:solidFill>
                <a:latin typeface="Calibri"/>
                <a:cs typeface="Calibri"/>
              </a:rPr>
              <a:t>una</a:t>
            </a:r>
            <a:r>
              <a:rPr sz="2000" spc="-4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AF50"/>
                </a:solidFill>
                <a:latin typeface="Calibri"/>
                <a:cs typeface="Calibri"/>
              </a:rPr>
              <a:t>etapa</a:t>
            </a:r>
            <a:r>
              <a:rPr sz="2000" spc="-3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Calibri"/>
                <a:cs typeface="Calibri"/>
              </a:rPr>
              <a:t>(one-stage)</a:t>
            </a:r>
            <a:endParaRPr sz="1600">
              <a:latin typeface="Calibri"/>
              <a:cs typeface="Calibri"/>
            </a:endParaRPr>
          </a:p>
          <a:p>
            <a:pPr marL="228600">
              <a:lnSpc>
                <a:spcPct val="100000"/>
              </a:lnSpc>
              <a:spcBef>
                <a:spcPts val="440"/>
              </a:spcBef>
            </a:pPr>
            <a:r>
              <a:rPr sz="1800" dirty="0">
                <a:latin typeface="Calibri"/>
                <a:cs typeface="Calibri"/>
              </a:rPr>
              <a:t>-</a:t>
            </a:r>
            <a:r>
              <a:rPr sz="1800" spc="2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Ejemplos: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YOLO,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SSD,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CornerNet,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RetinaNet,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CenterNet,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ExtremeNet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15"/>
              </a:spcBef>
            </a:pPr>
            <a:endParaRPr sz="1800">
              <a:latin typeface="Calibri"/>
              <a:cs typeface="Calibri"/>
            </a:endParaRPr>
          </a:p>
          <a:p>
            <a:pPr marR="244475" algn="r">
              <a:lnSpc>
                <a:spcPct val="100000"/>
              </a:lnSpc>
            </a:pPr>
            <a:r>
              <a:rPr sz="1600" spc="-10" dirty="0">
                <a:latin typeface="Calibri"/>
                <a:cs typeface="Calibri"/>
              </a:rPr>
              <a:t>Clasificación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724905" y="5915405"/>
            <a:ext cx="1369060" cy="457200"/>
          </a:xfrm>
          <a:custGeom>
            <a:avLst/>
            <a:gdLst/>
            <a:ahLst/>
            <a:cxnLst/>
            <a:rect l="l" t="t" r="r" b="b"/>
            <a:pathLst>
              <a:path w="1369059" h="457200">
                <a:moveTo>
                  <a:pt x="0" y="76200"/>
                </a:moveTo>
                <a:lnTo>
                  <a:pt x="5994" y="46537"/>
                </a:lnTo>
                <a:lnTo>
                  <a:pt x="22336" y="22317"/>
                </a:lnTo>
                <a:lnTo>
                  <a:pt x="46559" y="5987"/>
                </a:lnTo>
                <a:lnTo>
                  <a:pt x="76200" y="0"/>
                </a:lnTo>
                <a:lnTo>
                  <a:pt x="1292352" y="0"/>
                </a:lnTo>
                <a:lnTo>
                  <a:pt x="1321992" y="5987"/>
                </a:lnTo>
                <a:lnTo>
                  <a:pt x="1346215" y="22317"/>
                </a:lnTo>
                <a:lnTo>
                  <a:pt x="1362557" y="46537"/>
                </a:lnTo>
                <a:lnTo>
                  <a:pt x="1368552" y="76200"/>
                </a:lnTo>
                <a:lnTo>
                  <a:pt x="1368552" y="381000"/>
                </a:lnTo>
                <a:lnTo>
                  <a:pt x="1362557" y="410662"/>
                </a:lnTo>
                <a:lnTo>
                  <a:pt x="1346215" y="434882"/>
                </a:lnTo>
                <a:lnTo>
                  <a:pt x="1321992" y="451212"/>
                </a:lnTo>
                <a:lnTo>
                  <a:pt x="1292352" y="457200"/>
                </a:lnTo>
                <a:lnTo>
                  <a:pt x="76200" y="457200"/>
                </a:lnTo>
                <a:lnTo>
                  <a:pt x="46559" y="451212"/>
                </a:lnTo>
                <a:lnTo>
                  <a:pt x="22336" y="434882"/>
                </a:lnTo>
                <a:lnTo>
                  <a:pt x="5994" y="410662"/>
                </a:lnTo>
                <a:lnTo>
                  <a:pt x="0" y="381000"/>
                </a:lnTo>
                <a:lnTo>
                  <a:pt x="0" y="76200"/>
                </a:lnTo>
                <a:close/>
              </a:path>
            </a:pathLst>
          </a:custGeom>
          <a:ln w="25908">
            <a:solidFill>
              <a:srgbClr val="4F81B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5901309" y="5997651"/>
            <a:ext cx="1014094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latin typeface="Calibri"/>
                <a:cs typeface="Calibri"/>
              </a:rPr>
              <a:t>Localización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359532" y="5670600"/>
            <a:ext cx="63817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latin typeface="Calibri"/>
                <a:cs typeface="Calibri"/>
              </a:rPr>
              <a:t>Imagen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086100" y="5455920"/>
            <a:ext cx="4154804" cy="1138555"/>
            <a:chOff x="3086100" y="5455920"/>
            <a:chExt cx="4154804" cy="1138555"/>
          </a:xfrm>
        </p:grpSpPr>
        <p:sp>
          <p:nvSpPr>
            <p:cNvPr id="12" name="object 12"/>
            <p:cNvSpPr/>
            <p:nvPr/>
          </p:nvSpPr>
          <p:spPr>
            <a:xfrm>
              <a:off x="3086100" y="5455920"/>
              <a:ext cx="2639060" cy="687705"/>
            </a:xfrm>
            <a:custGeom>
              <a:avLst/>
              <a:gdLst/>
              <a:ahLst/>
              <a:cxnLst/>
              <a:rect l="l" t="t" r="r" b="b"/>
              <a:pathLst>
                <a:path w="2639060" h="687704">
                  <a:moveTo>
                    <a:pt x="648081" y="381000"/>
                  </a:moveTo>
                  <a:lnTo>
                    <a:pt x="635381" y="374650"/>
                  </a:lnTo>
                  <a:lnTo>
                    <a:pt x="571881" y="342900"/>
                  </a:lnTo>
                  <a:lnTo>
                    <a:pt x="571881" y="374650"/>
                  </a:lnTo>
                  <a:lnTo>
                    <a:pt x="0" y="374650"/>
                  </a:lnTo>
                  <a:lnTo>
                    <a:pt x="0" y="387350"/>
                  </a:lnTo>
                  <a:lnTo>
                    <a:pt x="571881" y="387350"/>
                  </a:lnTo>
                  <a:lnTo>
                    <a:pt x="571881" y="419100"/>
                  </a:lnTo>
                  <a:lnTo>
                    <a:pt x="635381" y="387350"/>
                  </a:lnTo>
                  <a:lnTo>
                    <a:pt x="648081" y="381000"/>
                  </a:lnTo>
                  <a:close/>
                </a:path>
                <a:path w="2639060" h="687704">
                  <a:moveTo>
                    <a:pt x="2638552" y="687400"/>
                  </a:moveTo>
                  <a:lnTo>
                    <a:pt x="2621508" y="664578"/>
                  </a:lnTo>
                  <a:lnTo>
                    <a:pt x="2587625" y="619163"/>
                  </a:lnTo>
                  <a:lnTo>
                    <a:pt x="2573375" y="647547"/>
                  </a:lnTo>
                  <a:lnTo>
                    <a:pt x="2029510" y="374484"/>
                  </a:lnTo>
                  <a:lnTo>
                    <a:pt x="2556560" y="45694"/>
                  </a:lnTo>
                  <a:lnTo>
                    <a:pt x="2573401" y="72644"/>
                  </a:lnTo>
                  <a:lnTo>
                    <a:pt x="2600591" y="28194"/>
                  </a:lnTo>
                  <a:lnTo>
                    <a:pt x="2617851" y="0"/>
                  </a:lnTo>
                  <a:lnTo>
                    <a:pt x="2533015" y="8001"/>
                  </a:lnTo>
                  <a:lnTo>
                    <a:pt x="2549817" y="34912"/>
                  </a:lnTo>
                  <a:lnTo>
                    <a:pt x="2012950" y="369925"/>
                  </a:lnTo>
                  <a:lnTo>
                    <a:pt x="2016137" y="375132"/>
                  </a:lnTo>
                  <a:lnTo>
                    <a:pt x="2013458" y="380580"/>
                  </a:lnTo>
                  <a:lnTo>
                    <a:pt x="2567686" y="658914"/>
                  </a:lnTo>
                  <a:lnTo>
                    <a:pt x="2553462" y="687260"/>
                  </a:lnTo>
                  <a:lnTo>
                    <a:pt x="2638552" y="687400"/>
                  </a:lnTo>
                  <a:close/>
                </a:path>
              </a:pathLst>
            </a:custGeom>
            <a:solidFill>
              <a:srgbClr val="497D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636263" y="6379464"/>
              <a:ext cx="3599815" cy="210820"/>
            </a:xfrm>
            <a:custGeom>
              <a:avLst/>
              <a:gdLst/>
              <a:ahLst/>
              <a:cxnLst/>
              <a:rect l="l" t="t" r="r" b="b"/>
              <a:pathLst>
                <a:path w="3599815" h="210820">
                  <a:moveTo>
                    <a:pt x="3599688" y="0"/>
                  </a:moveTo>
                  <a:lnTo>
                    <a:pt x="3564981" y="62104"/>
                  </a:lnTo>
                  <a:lnTo>
                    <a:pt x="3526033" y="84867"/>
                  </a:lnTo>
                  <a:lnTo>
                    <a:pt x="3476630" y="99795"/>
                  </a:lnTo>
                  <a:lnTo>
                    <a:pt x="3419729" y="105156"/>
                  </a:lnTo>
                  <a:lnTo>
                    <a:pt x="1979802" y="105156"/>
                  </a:lnTo>
                  <a:lnTo>
                    <a:pt x="1922901" y="110516"/>
                  </a:lnTo>
                  <a:lnTo>
                    <a:pt x="1873498" y="125444"/>
                  </a:lnTo>
                  <a:lnTo>
                    <a:pt x="1834550" y="148207"/>
                  </a:lnTo>
                  <a:lnTo>
                    <a:pt x="1809013" y="177074"/>
                  </a:lnTo>
                  <a:lnTo>
                    <a:pt x="1799844" y="210312"/>
                  </a:lnTo>
                  <a:lnTo>
                    <a:pt x="1790674" y="177074"/>
                  </a:lnTo>
                  <a:lnTo>
                    <a:pt x="1765137" y="148207"/>
                  </a:lnTo>
                  <a:lnTo>
                    <a:pt x="1726189" y="125444"/>
                  </a:lnTo>
                  <a:lnTo>
                    <a:pt x="1676786" y="110516"/>
                  </a:lnTo>
                  <a:lnTo>
                    <a:pt x="1619885" y="105156"/>
                  </a:lnTo>
                  <a:lnTo>
                    <a:pt x="179959" y="105156"/>
                  </a:lnTo>
                  <a:lnTo>
                    <a:pt x="123057" y="99795"/>
                  </a:lnTo>
                  <a:lnTo>
                    <a:pt x="73654" y="84867"/>
                  </a:lnTo>
                  <a:lnTo>
                    <a:pt x="34706" y="62104"/>
                  </a:lnTo>
                  <a:lnTo>
                    <a:pt x="9169" y="33237"/>
                  </a:lnTo>
                  <a:lnTo>
                    <a:pt x="0" y="0"/>
                  </a:lnTo>
                </a:path>
              </a:pathLst>
            </a:custGeom>
            <a:ln w="9144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/>
          <p:nvPr/>
        </p:nvSpPr>
        <p:spPr>
          <a:xfrm>
            <a:off x="4568190" y="2855214"/>
            <a:ext cx="1369060" cy="576580"/>
          </a:xfrm>
          <a:custGeom>
            <a:avLst/>
            <a:gdLst/>
            <a:ahLst/>
            <a:cxnLst/>
            <a:rect l="l" t="t" r="r" b="b"/>
            <a:pathLst>
              <a:path w="1369060" h="576579">
                <a:moveTo>
                  <a:pt x="0" y="96012"/>
                </a:moveTo>
                <a:lnTo>
                  <a:pt x="7536" y="58614"/>
                </a:lnTo>
                <a:lnTo>
                  <a:pt x="28098" y="28098"/>
                </a:lnTo>
                <a:lnTo>
                  <a:pt x="58614" y="7536"/>
                </a:lnTo>
                <a:lnTo>
                  <a:pt x="96012" y="0"/>
                </a:lnTo>
                <a:lnTo>
                  <a:pt x="1272539" y="0"/>
                </a:lnTo>
                <a:lnTo>
                  <a:pt x="1309937" y="7536"/>
                </a:lnTo>
                <a:lnTo>
                  <a:pt x="1340453" y="28098"/>
                </a:lnTo>
                <a:lnTo>
                  <a:pt x="1361015" y="58614"/>
                </a:lnTo>
                <a:lnTo>
                  <a:pt x="1368552" y="96012"/>
                </a:lnTo>
                <a:lnTo>
                  <a:pt x="1368552" y="480060"/>
                </a:lnTo>
                <a:lnTo>
                  <a:pt x="1361015" y="517457"/>
                </a:lnTo>
                <a:lnTo>
                  <a:pt x="1340453" y="547973"/>
                </a:lnTo>
                <a:lnTo>
                  <a:pt x="1309937" y="568535"/>
                </a:lnTo>
                <a:lnTo>
                  <a:pt x="1272539" y="576072"/>
                </a:lnTo>
                <a:lnTo>
                  <a:pt x="96012" y="576072"/>
                </a:lnTo>
                <a:lnTo>
                  <a:pt x="58614" y="568535"/>
                </a:lnTo>
                <a:lnTo>
                  <a:pt x="28098" y="547973"/>
                </a:lnTo>
                <a:lnTo>
                  <a:pt x="7536" y="517457"/>
                </a:lnTo>
                <a:lnTo>
                  <a:pt x="0" y="480060"/>
                </a:lnTo>
                <a:lnTo>
                  <a:pt x="0" y="96012"/>
                </a:lnTo>
                <a:close/>
              </a:path>
            </a:pathLst>
          </a:custGeom>
          <a:ln w="25908">
            <a:solidFill>
              <a:srgbClr val="4F81B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4783328" y="2874010"/>
            <a:ext cx="93662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8382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latin typeface="Calibri"/>
                <a:cs typeface="Calibri"/>
              </a:rPr>
              <a:t>Regiones Candidatas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6537197" y="2565654"/>
            <a:ext cx="1390015" cy="455930"/>
          </a:xfrm>
          <a:custGeom>
            <a:avLst/>
            <a:gdLst/>
            <a:ahLst/>
            <a:cxnLst/>
            <a:rect l="l" t="t" r="r" b="b"/>
            <a:pathLst>
              <a:path w="1390015" h="455930">
                <a:moveTo>
                  <a:pt x="0" y="75946"/>
                </a:moveTo>
                <a:lnTo>
                  <a:pt x="5972" y="46398"/>
                </a:lnTo>
                <a:lnTo>
                  <a:pt x="22256" y="22256"/>
                </a:lnTo>
                <a:lnTo>
                  <a:pt x="46398" y="5972"/>
                </a:lnTo>
                <a:lnTo>
                  <a:pt x="75946" y="0"/>
                </a:lnTo>
                <a:lnTo>
                  <a:pt x="1313942" y="0"/>
                </a:lnTo>
                <a:lnTo>
                  <a:pt x="1343489" y="5972"/>
                </a:lnTo>
                <a:lnTo>
                  <a:pt x="1367631" y="22256"/>
                </a:lnTo>
                <a:lnTo>
                  <a:pt x="1383915" y="46398"/>
                </a:lnTo>
                <a:lnTo>
                  <a:pt x="1389887" y="75946"/>
                </a:lnTo>
                <a:lnTo>
                  <a:pt x="1389887" y="379730"/>
                </a:lnTo>
                <a:lnTo>
                  <a:pt x="1383915" y="409277"/>
                </a:lnTo>
                <a:lnTo>
                  <a:pt x="1367631" y="433419"/>
                </a:lnTo>
                <a:lnTo>
                  <a:pt x="1343489" y="449703"/>
                </a:lnTo>
                <a:lnTo>
                  <a:pt x="1313942" y="455675"/>
                </a:lnTo>
                <a:lnTo>
                  <a:pt x="75946" y="455675"/>
                </a:lnTo>
                <a:lnTo>
                  <a:pt x="46398" y="449703"/>
                </a:lnTo>
                <a:lnTo>
                  <a:pt x="22256" y="433419"/>
                </a:lnTo>
                <a:lnTo>
                  <a:pt x="5972" y="409277"/>
                </a:lnTo>
                <a:lnTo>
                  <a:pt x="0" y="379730"/>
                </a:lnTo>
                <a:lnTo>
                  <a:pt x="0" y="75946"/>
                </a:lnTo>
                <a:close/>
              </a:path>
            </a:pathLst>
          </a:custGeom>
          <a:ln w="25908">
            <a:solidFill>
              <a:srgbClr val="4F81B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437794" y="922782"/>
            <a:ext cx="7313295" cy="19926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60905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2092FA"/>
                </a:solidFill>
                <a:latin typeface="Calibri"/>
                <a:cs typeface="Calibri"/>
              </a:rPr>
              <a:t>Tipos</a:t>
            </a:r>
            <a:r>
              <a:rPr sz="2400" b="1" spc="-55" dirty="0">
                <a:solidFill>
                  <a:srgbClr val="2092FA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2092FA"/>
                </a:solidFill>
                <a:latin typeface="Calibri"/>
                <a:cs typeface="Calibri"/>
              </a:rPr>
              <a:t>de</a:t>
            </a:r>
            <a:r>
              <a:rPr sz="2400" b="1" spc="-35" dirty="0">
                <a:solidFill>
                  <a:srgbClr val="2092FA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2092FA"/>
                </a:solidFill>
                <a:latin typeface="Calibri"/>
                <a:cs typeface="Calibri"/>
              </a:rPr>
              <a:t>Detectores</a:t>
            </a:r>
            <a:r>
              <a:rPr sz="2400" b="1" spc="-50" dirty="0">
                <a:solidFill>
                  <a:srgbClr val="2092FA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2092FA"/>
                </a:solidFill>
                <a:latin typeface="Calibri"/>
                <a:cs typeface="Calibri"/>
              </a:rPr>
              <a:t>de</a:t>
            </a:r>
            <a:r>
              <a:rPr sz="2400" b="1" spc="-45" dirty="0">
                <a:solidFill>
                  <a:srgbClr val="2092FA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2092FA"/>
                </a:solidFill>
                <a:latin typeface="Calibri"/>
                <a:cs typeface="Calibri"/>
              </a:rPr>
              <a:t>Objetos</a:t>
            </a:r>
            <a:endParaRPr sz="2400">
              <a:latin typeface="Calibri"/>
              <a:cs typeface="Calibri"/>
            </a:endParaRPr>
          </a:p>
          <a:p>
            <a:pPr marL="207645" indent="-194945">
              <a:lnSpc>
                <a:spcPct val="100000"/>
              </a:lnSpc>
              <a:spcBef>
                <a:spcPts val="2815"/>
              </a:spcBef>
              <a:buFont typeface="Arial MT"/>
              <a:buChar char="•"/>
              <a:tabLst>
                <a:tab pos="207645" algn="l"/>
              </a:tabLst>
            </a:pPr>
            <a:r>
              <a:rPr sz="2000" spc="-10" dirty="0">
                <a:solidFill>
                  <a:srgbClr val="00AF50"/>
                </a:solidFill>
                <a:latin typeface="Calibri"/>
                <a:cs typeface="Calibri"/>
              </a:rPr>
              <a:t>Detectores</a:t>
            </a:r>
            <a:r>
              <a:rPr sz="2000" spc="-2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AF50"/>
                </a:solidFill>
                <a:latin typeface="Calibri"/>
                <a:cs typeface="Calibri"/>
              </a:rPr>
              <a:t>de</a:t>
            </a:r>
            <a:r>
              <a:rPr sz="2000" spc="-3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AF50"/>
                </a:solidFill>
                <a:latin typeface="Calibri"/>
                <a:cs typeface="Calibri"/>
              </a:rPr>
              <a:t>dos</a:t>
            </a:r>
            <a:r>
              <a:rPr sz="2000" spc="-4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AF50"/>
                </a:solidFill>
                <a:latin typeface="Calibri"/>
                <a:cs typeface="Calibri"/>
              </a:rPr>
              <a:t>etapas</a:t>
            </a:r>
            <a:r>
              <a:rPr sz="2000" spc="-1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1600" spc="-20" dirty="0">
                <a:solidFill>
                  <a:srgbClr val="7E7E7E"/>
                </a:solidFill>
                <a:latin typeface="Calibri"/>
                <a:cs typeface="Calibri"/>
              </a:rPr>
              <a:t>(two-</a:t>
            </a:r>
            <a:r>
              <a:rPr sz="1600" spc="-10" dirty="0">
                <a:solidFill>
                  <a:srgbClr val="7E7E7E"/>
                </a:solidFill>
                <a:latin typeface="Calibri"/>
                <a:cs typeface="Calibri"/>
              </a:rPr>
              <a:t>stage)</a:t>
            </a:r>
            <a:endParaRPr sz="1600">
              <a:latin typeface="Calibri"/>
              <a:cs typeface="Calibri"/>
            </a:endParaRPr>
          </a:p>
          <a:p>
            <a:pPr marL="228600">
              <a:lnSpc>
                <a:spcPct val="100000"/>
              </a:lnSpc>
              <a:spcBef>
                <a:spcPts val="440"/>
              </a:spcBef>
            </a:pPr>
            <a:r>
              <a:rPr sz="1800" dirty="0">
                <a:latin typeface="Calibri"/>
                <a:cs typeface="Calibri"/>
              </a:rPr>
              <a:t>-</a:t>
            </a:r>
            <a:r>
              <a:rPr sz="1800" spc="2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Ejemplos: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R-CNN,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Fast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R-</a:t>
            </a:r>
            <a:r>
              <a:rPr sz="1800" dirty="0">
                <a:latin typeface="Calibri"/>
                <a:cs typeface="Calibri"/>
              </a:rPr>
              <a:t>CNN,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Faster-</a:t>
            </a:r>
            <a:r>
              <a:rPr sz="1800" dirty="0">
                <a:latin typeface="Calibri"/>
                <a:cs typeface="Calibri"/>
              </a:rPr>
              <a:t>RCNN,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SPP-</a:t>
            </a:r>
            <a:r>
              <a:rPr sz="1800" dirty="0">
                <a:latin typeface="Calibri"/>
                <a:cs typeface="Calibri"/>
              </a:rPr>
              <a:t>Net,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R-</a:t>
            </a:r>
            <a:r>
              <a:rPr sz="1800" spc="-25" dirty="0">
                <a:latin typeface="Calibri"/>
                <a:cs typeface="Calibri"/>
              </a:rPr>
              <a:t>FCN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75"/>
              </a:spcBef>
            </a:pPr>
            <a:endParaRPr sz="1800">
              <a:latin typeface="Calibri"/>
              <a:cs typeface="Calibri"/>
            </a:endParaRPr>
          </a:p>
          <a:p>
            <a:pPr marR="5080" algn="r">
              <a:lnSpc>
                <a:spcPct val="100000"/>
              </a:lnSpc>
            </a:pPr>
            <a:r>
              <a:rPr sz="1600" spc="-10" dirty="0">
                <a:latin typeface="Calibri"/>
                <a:cs typeface="Calibri"/>
              </a:rPr>
              <a:t>Clasificación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6558533" y="3227070"/>
            <a:ext cx="1369060" cy="457200"/>
          </a:xfrm>
          <a:custGeom>
            <a:avLst/>
            <a:gdLst/>
            <a:ahLst/>
            <a:cxnLst/>
            <a:rect l="l" t="t" r="r" b="b"/>
            <a:pathLst>
              <a:path w="1369059" h="457200">
                <a:moveTo>
                  <a:pt x="0" y="76200"/>
                </a:moveTo>
                <a:lnTo>
                  <a:pt x="5994" y="46559"/>
                </a:lnTo>
                <a:lnTo>
                  <a:pt x="22336" y="22336"/>
                </a:lnTo>
                <a:lnTo>
                  <a:pt x="46559" y="5994"/>
                </a:lnTo>
                <a:lnTo>
                  <a:pt x="76200" y="0"/>
                </a:lnTo>
                <a:lnTo>
                  <a:pt x="1292352" y="0"/>
                </a:lnTo>
                <a:lnTo>
                  <a:pt x="1321992" y="5994"/>
                </a:lnTo>
                <a:lnTo>
                  <a:pt x="1346215" y="22336"/>
                </a:lnTo>
                <a:lnTo>
                  <a:pt x="1362557" y="46559"/>
                </a:lnTo>
                <a:lnTo>
                  <a:pt x="1368552" y="76200"/>
                </a:lnTo>
                <a:lnTo>
                  <a:pt x="1368552" y="380999"/>
                </a:lnTo>
                <a:lnTo>
                  <a:pt x="1362557" y="410640"/>
                </a:lnTo>
                <a:lnTo>
                  <a:pt x="1346215" y="434863"/>
                </a:lnTo>
                <a:lnTo>
                  <a:pt x="1321992" y="451205"/>
                </a:lnTo>
                <a:lnTo>
                  <a:pt x="1292352" y="457199"/>
                </a:lnTo>
                <a:lnTo>
                  <a:pt x="76200" y="457199"/>
                </a:lnTo>
                <a:lnTo>
                  <a:pt x="46559" y="451205"/>
                </a:lnTo>
                <a:lnTo>
                  <a:pt x="22336" y="434863"/>
                </a:lnTo>
                <a:lnTo>
                  <a:pt x="5994" y="410640"/>
                </a:lnTo>
                <a:lnTo>
                  <a:pt x="0" y="380999"/>
                </a:lnTo>
                <a:lnTo>
                  <a:pt x="0" y="76200"/>
                </a:lnTo>
                <a:close/>
              </a:path>
            </a:pathLst>
          </a:custGeom>
          <a:ln w="25908">
            <a:solidFill>
              <a:srgbClr val="4F81B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6734936" y="3308730"/>
            <a:ext cx="1014094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latin typeface="Calibri"/>
                <a:cs typeface="Calibri"/>
              </a:rPr>
              <a:t>Localización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407922" y="3022854"/>
            <a:ext cx="63817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latin typeface="Calibri"/>
                <a:cs typeface="Calibri"/>
              </a:rPr>
              <a:t>Imagen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2517584" y="2791967"/>
            <a:ext cx="4041140" cy="683260"/>
            <a:chOff x="2517584" y="2791967"/>
            <a:chExt cx="4041140" cy="683260"/>
          </a:xfrm>
        </p:grpSpPr>
        <p:sp>
          <p:nvSpPr>
            <p:cNvPr id="22" name="object 22"/>
            <p:cNvSpPr/>
            <p:nvPr/>
          </p:nvSpPr>
          <p:spPr>
            <a:xfrm>
              <a:off x="3919728" y="2791967"/>
              <a:ext cx="2639060" cy="663575"/>
            </a:xfrm>
            <a:custGeom>
              <a:avLst/>
              <a:gdLst/>
              <a:ahLst/>
              <a:cxnLst/>
              <a:rect l="l" t="t" r="r" b="b"/>
              <a:pathLst>
                <a:path w="2639059" h="663575">
                  <a:moveTo>
                    <a:pt x="648081" y="355092"/>
                  </a:moveTo>
                  <a:lnTo>
                    <a:pt x="635381" y="348742"/>
                  </a:lnTo>
                  <a:lnTo>
                    <a:pt x="571881" y="316992"/>
                  </a:lnTo>
                  <a:lnTo>
                    <a:pt x="571881" y="348742"/>
                  </a:lnTo>
                  <a:lnTo>
                    <a:pt x="0" y="348742"/>
                  </a:lnTo>
                  <a:lnTo>
                    <a:pt x="0" y="361442"/>
                  </a:lnTo>
                  <a:lnTo>
                    <a:pt x="571881" y="361442"/>
                  </a:lnTo>
                  <a:lnTo>
                    <a:pt x="571881" y="393192"/>
                  </a:lnTo>
                  <a:lnTo>
                    <a:pt x="635381" y="361442"/>
                  </a:lnTo>
                  <a:lnTo>
                    <a:pt x="648081" y="355092"/>
                  </a:lnTo>
                  <a:close/>
                </a:path>
                <a:path w="2639059" h="663575">
                  <a:moveTo>
                    <a:pt x="2638552" y="663067"/>
                  </a:moveTo>
                  <a:lnTo>
                    <a:pt x="2621508" y="640207"/>
                  </a:lnTo>
                  <a:lnTo>
                    <a:pt x="2587625" y="594741"/>
                  </a:lnTo>
                  <a:lnTo>
                    <a:pt x="2573337" y="623201"/>
                  </a:lnTo>
                  <a:lnTo>
                    <a:pt x="2028621" y="349631"/>
                  </a:lnTo>
                  <a:lnTo>
                    <a:pt x="2555151" y="43738"/>
                  </a:lnTo>
                  <a:lnTo>
                    <a:pt x="2571115" y="71247"/>
                  </a:lnTo>
                  <a:lnTo>
                    <a:pt x="2600515" y="26416"/>
                  </a:lnTo>
                  <a:lnTo>
                    <a:pt x="2617851" y="0"/>
                  </a:lnTo>
                  <a:lnTo>
                    <a:pt x="2532888" y="5334"/>
                  </a:lnTo>
                  <a:lnTo>
                    <a:pt x="2548813" y="32804"/>
                  </a:lnTo>
                  <a:lnTo>
                    <a:pt x="2013077" y="343916"/>
                  </a:lnTo>
                  <a:lnTo>
                    <a:pt x="2016531" y="349948"/>
                  </a:lnTo>
                  <a:lnTo>
                    <a:pt x="2013458" y="356235"/>
                  </a:lnTo>
                  <a:lnTo>
                    <a:pt x="2567660" y="634530"/>
                  </a:lnTo>
                  <a:lnTo>
                    <a:pt x="2553462" y="662813"/>
                  </a:lnTo>
                  <a:lnTo>
                    <a:pt x="2638552" y="663067"/>
                  </a:lnTo>
                  <a:close/>
                </a:path>
              </a:pathLst>
            </a:custGeom>
            <a:solidFill>
              <a:srgbClr val="497D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530602" y="2885693"/>
              <a:ext cx="1369060" cy="576580"/>
            </a:xfrm>
            <a:custGeom>
              <a:avLst/>
              <a:gdLst/>
              <a:ahLst/>
              <a:cxnLst/>
              <a:rect l="l" t="t" r="r" b="b"/>
              <a:pathLst>
                <a:path w="1369060" h="576579">
                  <a:moveTo>
                    <a:pt x="0" y="96011"/>
                  </a:moveTo>
                  <a:lnTo>
                    <a:pt x="7536" y="58614"/>
                  </a:lnTo>
                  <a:lnTo>
                    <a:pt x="28098" y="28098"/>
                  </a:lnTo>
                  <a:lnTo>
                    <a:pt x="58614" y="7536"/>
                  </a:lnTo>
                  <a:lnTo>
                    <a:pt x="96012" y="0"/>
                  </a:lnTo>
                  <a:lnTo>
                    <a:pt x="1272539" y="0"/>
                  </a:lnTo>
                  <a:lnTo>
                    <a:pt x="1309937" y="7536"/>
                  </a:lnTo>
                  <a:lnTo>
                    <a:pt x="1340453" y="28098"/>
                  </a:lnTo>
                  <a:lnTo>
                    <a:pt x="1361015" y="58614"/>
                  </a:lnTo>
                  <a:lnTo>
                    <a:pt x="1368552" y="96011"/>
                  </a:lnTo>
                  <a:lnTo>
                    <a:pt x="1368552" y="480059"/>
                  </a:lnTo>
                  <a:lnTo>
                    <a:pt x="1361015" y="517457"/>
                  </a:lnTo>
                  <a:lnTo>
                    <a:pt x="1340453" y="547973"/>
                  </a:lnTo>
                  <a:lnTo>
                    <a:pt x="1309937" y="568535"/>
                  </a:lnTo>
                  <a:lnTo>
                    <a:pt x="1272539" y="576071"/>
                  </a:lnTo>
                  <a:lnTo>
                    <a:pt x="96012" y="576071"/>
                  </a:lnTo>
                  <a:lnTo>
                    <a:pt x="58614" y="568535"/>
                  </a:lnTo>
                  <a:lnTo>
                    <a:pt x="28098" y="547973"/>
                  </a:lnTo>
                  <a:lnTo>
                    <a:pt x="7536" y="517457"/>
                  </a:lnTo>
                  <a:lnTo>
                    <a:pt x="0" y="480059"/>
                  </a:lnTo>
                  <a:lnTo>
                    <a:pt x="0" y="96011"/>
                  </a:lnTo>
                  <a:close/>
                </a:path>
              </a:pathLst>
            </a:custGeom>
            <a:ln w="25908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2649982" y="2904236"/>
            <a:ext cx="112966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90500" marR="5080" indent="-178435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latin typeface="Calibri"/>
                <a:cs typeface="Calibri"/>
              </a:rPr>
              <a:t>Extracción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de </a:t>
            </a:r>
            <a:r>
              <a:rPr sz="1600" spc="-10" dirty="0">
                <a:latin typeface="Calibri"/>
                <a:cs typeface="Calibri"/>
              </a:rPr>
              <a:t>atributos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2154935" y="3134867"/>
            <a:ext cx="5915025" cy="759460"/>
            <a:chOff x="2154935" y="3134867"/>
            <a:chExt cx="5915025" cy="759460"/>
          </a:xfrm>
        </p:grpSpPr>
        <p:sp>
          <p:nvSpPr>
            <p:cNvPr id="26" name="object 26"/>
            <p:cNvSpPr/>
            <p:nvPr/>
          </p:nvSpPr>
          <p:spPr>
            <a:xfrm>
              <a:off x="2154935" y="3134867"/>
              <a:ext cx="375920" cy="76200"/>
            </a:xfrm>
            <a:custGeom>
              <a:avLst/>
              <a:gdLst/>
              <a:ahLst/>
              <a:cxnLst/>
              <a:rect l="l" t="t" r="r" b="b"/>
              <a:pathLst>
                <a:path w="375919" h="76200">
                  <a:moveTo>
                    <a:pt x="299593" y="0"/>
                  </a:moveTo>
                  <a:lnTo>
                    <a:pt x="299593" y="76200"/>
                  </a:lnTo>
                  <a:lnTo>
                    <a:pt x="363093" y="44450"/>
                  </a:lnTo>
                  <a:lnTo>
                    <a:pt x="312293" y="44450"/>
                  </a:lnTo>
                  <a:lnTo>
                    <a:pt x="312293" y="31750"/>
                  </a:lnTo>
                  <a:lnTo>
                    <a:pt x="363093" y="31750"/>
                  </a:lnTo>
                  <a:lnTo>
                    <a:pt x="299593" y="0"/>
                  </a:lnTo>
                  <a:close/>
                </a:path>
                <a:path w="375919" h="76200">
                  <a:moveTo>
                    <a:pt x="299593" y="31750"/>
                  </a:moveTo>
                  <a:lnTo>
                    <a:pt x="0" y="31750"/>
                  </a:lnTo>
                  <a:lnTo>
                    <a:pt x="0" y="44450"/>
                  </a:lnTo>
                  <a:lnTo>
                    <a:pt x="299593" y="44450"/>
                  </a:lnTo>
                  <a:lnTo>
                    <a:pt x="299593" y="31750"/>
                  </a:lnTo>
                  <a:close/>
                </a:path>
                <a:path w="375919" h="76200">
                  <a:moveTo>
                    <a:pt x="363093" y="31750"/>
                  </a:moveTo>
                  <a:lnTo>
                    <a:pt x="312293" y="31750"/>
                  </a:lnTo>
                  <a:lnTo>
                    <a:pt x="312293" y="44450"/>
                  </a:lnTo>
                  <a:lnTo>
                    <a:pt x="363093" y="44450"/>
                  </a:lnTo>
                  <a:lnTo>
                    <a:pt x="375793" y="38100"/>
                  </a:lnTo>
                  <a:lnTo>
                    <a:pt x="363093" y="31750"/>
                  </a:lnTo>
                  <a:close/>
                </a:path>
              </a:pathLst>
            </a:custGeom>
            <a:solidFill>
              <a:srgbClr val="497D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2412491" y="3518915"/>
              <a:ext cx="5652770" cy="370840"/>
            </a:xfrm>
            <a:custGeom>
              <a:avLst/>
              <a:gdLst/>
              <a:ahLst/>
              <a:cxnLst/>
              <a:rect l="l" t="t" r="r" b="b"/>
              <a:pathLst>
                <a:path w="5652770" h="370839">
                  <a:moveTo>
                    <a:pt x="3599687" y="0"/>
                  </a:moveTo>
                  <a:lnTo>
                    <a:pt x="3564981" y="62087"/>
                  </a:lnTo>
                  <a:lnTo>
                    <a:pt x="3526033" y="84856"/>
                  </a:lnTo>
                  <a:lnTo>
                    <a:pt x="3476630" y="99791"/>
                  </a:lnTo>
                  <a:lnTo>
                    <a:pt x="3419729" y="105156"/>
                  </a:lnTo>
                  <a:lnTo>
                    <a:pt x="1979803" y="105156"/>
                  </a:lnTo>
                  <a:lnTo>
                    <a:pt x="1922901" y="110520"/>
                  </a:lnTo>
                  <a:lnTo>
                    <a:pt x="1873498" y="125455"/>
                  </a:lnTo>
                  <a:lnTo>
                    <a:pt x="1834550" y="148224"/>
                  </a:lnTo>
                  <a:lnTo>
                    <a:pt x="1809013" y="177088"/>
                  </a:lnTo>
                  <a:lnTo>
                    <a:pt x="1799844" y="210312"/>
                  </a:lnTo>
                  <a:lnTo>
                    <a:pt x="1790674" y="177088"/>
                  </a:lnTo>
                  <a:lnTo>
                    <a:pt x="1765137" y="148224"/>
                  </a:lnTo>
                  <a:lnTo>
                    <a:pt x="1726189" y="125455"/>
                  </a:lnTo>
                  <a:lnTo>
                    <a:pt x="1676786" y="110520"/>
                  </a:lnTo>
                  <a:lnTo>
                    <a:pt x="1619884" y="105156"/>
                  </a:lnTo>
                  <a:lnTo>
                    <a:pt x="179958" y="105156"/>
                  </a:lnTo>
                  <a:lnTo>
                    <a:pt x="123057" y="99791"/>
                  </a:lnTo>
                  <a:lnTo>
                    <a:pt x="73654" y="84856"/>
                  </a:lnTo>
                  <a:lnTo>
                    <a:pt x="34706" y="62087"/>
                  </a:lnTo>
                  <a:lnTo>
                    <a:pt x="9169" y="33223"/>
                  </a:lnTo>
                  <a:lnTo>
                    <a:pt x="0" y="0"/>
                  </a:lnTo>
                </a:path>
                <a:path w="5652770" h="370839">
                  <a:moveTo>
                    <a:pt x="5652515" y="170688"/>
                  </a:moveTo>
                  <a:lnTo>
                    <a:pt x="5619565" y="229636"/>
                  </a:lnTo>
                  <a:lnTo>
                    <a:pt x="5582591" y="251246"/>
                  </a:lnTo>
                  <a:lnTo>
                    <a:pt x="5535700" y="265419"/>
                  </a:lnTo>
                  <a:lnTo>
                    <a:pt x="5481701" y="270510"/>
                  </a:lnTo>
                  <a:lnTo>
                    <a:pt x="5012562" y="270510"/>
                  </a:lnTo>
                  <a:lnTo>
                    <a:pt x="4958563" y="275600"/>
                  </a:lnTo>
                  <a:lnTo>
                    <a:pt x="4911672" y="289773"/>
                  </a:lnTo>
                  <a:lnTo>
                    <a:pt x="4874698" y="311383"/>
                  </a:lnTo>
                  <a:lnTo>
                    <a:pt x="4850454" y="338785"/>
                  </a:lnTo>
                  <a:lnTo>
                    <a:pt x="4841748" y="370332"/>
                  </a:lnTo>
                  <a:lnTo>
                    <a:pt x="4833041" y="338785"/>
                  </a:lnTo>
                  <a:lnTo>
                    <a:pt x="4808797" y="311383"/>
                  </a:lnTo>
                  <a:lnTo>
                    <a:pt x="4771823" y="289773"/>
                  </a:lnTo>
                  <a:lnTo>
                    <a:pt x="4724932" y="275600"/>
                  </a:lnTo>
                  <a:lnTo>
                    <a:pt x="4670933" y="270510"/>
                  </a:lnTo>
                  <a:lnTo>
                    <a:pt x="4201794" y="270510"/>
                  </a:lnTo>
                  <a:lnTo>
                    <a:pt x="4147795" y="265419"/>
                  </a:lnTo>
                  <a:lnTo>
                    <a:pt x="4100904" y="251246"/>
                  </a:lnTo>
                  <a:lnTo>
                    <a:pt x="4063930" y="229636"/>
                  </a:lnTo>
                  <a:lnTo>
                    <a:pt x="4039686" y="202234"/>
                  </a:lnTo>
                  <a:lnTo>
                    <a:pt x="4030979" y="170688"/>
                  </a:lnTo>
                </a:path>
              </a:pathLst>
            </a:custGeom>
            <a:ln w="9144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3937508" y="3666871"/>
            <a:ext cx="5638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7E7E7E"/>
                </a:solidFill>
                <a:latin typeface="Calibri"/>
                <a:cs typeface="Calibri"/>
              </a:rPr>
              <a:t>Etapa</a:t>
            </a:r>
            <a:r>
              <a:rPr sz="1400" spc="-7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400" spc="-50" dirty="0">
                <a:solidFill>
                  <a:srgbClr val="7E7E7E"/>
                </a:solidFill>
                <a:latin typeface="Calibri"/>
                <a:cs typeface="Calibri"/>
              </a:rPr>
              <a:t>1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977888" y="3810761"/>
            <a:ext cx="5638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7E7E7E"/>
                </a:solidFill>
                <a:latin typeface="Calibri"/>
                <a:cs typeface="Calibri"/>
              </a:rPr>
              <a:t>Etapa</a:t>
            </a:r>
            <a:r>
              <a:rPr sz="1400" spc="-7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400" spc="-50" dirty="0">
                <a:solidFill>
                  <a:srgbClr val="7E7E7E"/>
                </a:solidFill>
                <a:latin typeface="Calibri"/>
                <a:cs typeface="Calibri"/>
              </a:rPr>
              <a:t>2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161534" y="6528003"/>
            <a:ext cx="5638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7E7E7E"/>
                </a:solidFill>
                <a:latin typeface="Calibri"/>
                <a:cs typeface="Calibri"/>
              </a:rPr>
              <a:t>Etapa</a:t>
            </a:r>
            <a:r>
              <a:rPr sz="1400" spc="-7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400" spc="-50" dirty="0">
                <a:solidFill>
                  <a:srgbClr val="7E7E7E"/>
                </a:solidFill>
                <a:latin typeface="Calibri"/>
                <a:cs typeface="Calibri"/>
              </a:rPr>
              <a:t>1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31" name="Picture 4">
            <a:extLst>
              <a:ext uri="{FF2B5EF4-FFF2-40B4-BE49-F238E27FC236}">
                <a16:creationId xmlns:a16="http://schemas.microsoft.com/office/drawing/2014/main" id="{B149C30D-D617-6678-9C3C-24CE402F15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85" y="152399"/>
            <a:ext cx="685800" cy="583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6" descr="Ingeniería de Sistemas - UNCP">
            <a:extLst>
              <a:ext uri="{FF2B5EF4-FFF2-40B4-BE49-F238E27FC236}">
                <a16:creationId xmlns:a16="http://schemas.microsoft.com/office/drawing/2014/main" id="{A240936C-7CB9-9E91-3826-EB252C2B01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3574" y="152399"/>
            <a:ext cx="581085" cy="583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3695">
              <a:lnSpc>
                <a:spcPct val="100000"/>
              </a:lnSpc>
              <a:spcBef>
                <a:spcPts val="100"/>
              </a:spcBef>
            </a:pPr>
            <a:r>
              <a:rPr dirty="0"/>
              <a:t>Detección</a:t>
            </a:r>
            <a:r>
              <a:rPr spc="-60" dirty="0"/>
              <a:t> </a:t>
            </a:r>
            <a:r>
              <a:rPr dirty="0"/>
              <a:t>de</a:t>
            </a:r>
            <a:r>
              <a:rPr spc="-60" dirty="0"/>
              <a:t> </a:t>
            </a:r>
            <a:r>
              <a:rPr spc="-10" dirty="0"/>
              <a:t>Objetos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7794" y="922782"/>
            <a:ext cx="6205220" cy="1419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75814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2092FA"/>
                </a:solidFill>
                <a:latin typeface="Calibri"/>
                <a:cs typeface="Calibri"/>
              </a:rPr>
              <a:t>Supresión</a:t>
            </a:r>
            <a:r>
              <a:rPr sz="2400" b="1" spc="-55" dirty="0">
                <a:solidFill>
                  <a:srgbClr val="2092FA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2092FA"/>
                </a:solidFill>
                <a:latin typeface="Calibri"/>
                <a:cs typeface="Calibri"/>
              </a:rPr>
              <a:t>de</a:t>
            </a:r>
            <a:r>
              <a:rPr sz="2400" b="1" spc="-50" dirty="0">
                <a:solidFill>
                  <a:srgbClr val="2092FA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2092FA"/>
                </a:solidFill>
                <a:latin typeface="Calibri"/>
                <a:cs typeface="Calibri"/>
              </a:rPr>
              <a:t>no</a:t>
            </a:r>
            <a:r>
              <a:rPr sz="2400" b="1" spc="-55" dirty="0">
                <a:solidFill>
                  <a:srgbClr val="2092FA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2092FA"/>
                </a:solidFill>
                <a:latin typeface="Calibri"/>
                <a:cs typeface="Calibri"/>
              </a:rPr>
              <a:t>máximos</a:t>
            </a:r>
            <a:r>
              <a:rPr sz="2400" b="1" spc="-70" dirty="0">
                <a:solidFill>
                  <a:srgbClr val="2092FA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2092FA"/>
                </a:solidFill>
                <a:latin typeface="Calibri"/>
                <a:cs typeface="Calibri"/>
              </a:rPr>
              <a:t>(NMS)</a:t>
            </a:r>
            <a:endParaRPr sz="2400">
              <a:latin typeface="Calibri"/>
              <a:cs typeface="Calibri"/>
            </a:endParaRPr>
          </a:p>
          <a:p>
            <a:pPr marL="207645" indent="-194945">
              <a:lnSpc>
                <a:spcPct val="100000"/>
              </a:lnSpc>
              <a:spcBef>
                <a:spcPts val="2815"/>
              </a:spcBef>
              <a:buFont typeface="Arial MT"/>
              <a:buChar char="•"/>
              <a:tabLst>
                <a:tab pos="207645" algn="l"/>
              </a:tabLst>
            </a:pPr>
            <a:r>
              <a:rPr sz="2000" dirty="0">
                <a:latin typeface="Calibri"/>
                <a:cs typeface="Calibri"/>
              </a:rPr>
              <a:t>NMS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=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“Non-</a:t>
            </a:r>
            <a:r>
              <a:rPr sz="2000" dirty="0">
                <a:latin typeface="Calibri"/>
                <a:cs typeface="Calibri"/>
              </a:rPr>
              <a:t>Maxima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Suppression”</a:t>
            </a:r>
            <a:endParaRPr sz="2000">
              <a:latin typeface="Calibri"/>
              <a:cs typeface="Calibri"/>
            </a:endParaRPr>
          </a:p>
          <a:p>
            <a:pPr marL="207645" indent="-194945">
              <a:lnSpc>
                <a:spcPct val="100000"/>
              </a:lnSpc>
              <a:spcBef>
                <a:spcPts val="484"/>
              </a:spcBef>
              <a:buFont typeface="Arial MT"/>
              <a:buChar char="•"/>
              <a:tabLst>
                <a:tab pos="207645" algn="l"/>
              </a:tabLst>
            </a:pPr>
            <a:r>
              <a:rPr sz="2000" spc="-10" dirty="0">
                <a:latin typeface="Calibri"/>
                <a:cs typeface="Calibri"/>
              </a:rPr>
              <a:t>Usualmente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hay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muchas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detecciones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un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mismo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objeto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37794" y="5994908"/>
            <a:ext cx="55619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8915" indent="-19621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08915" algn="l"/>
              </a:tabLst>
            </a:pPr>
            <a:r>
              <a:rPr sz="1800" dirty="0">
                <a:latin typeface="Calibri"/>
                <a:cs typeface="Calibri"/>
              </a:rPr>
              <a:t>NMS: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Reduce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las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múltiples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detecciones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1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sola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detección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96083" y="2709672"/>
            <a:ext cx="4392168" cy="2938272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45"/>
              </a:lnSpc>
            </a:pPr>
            <a:fld id="{81D60167-4931-47E6-BA6A-407CBD079E47}" type="slidenum">
              <a:rPr spc="-25" dirty="0"/>
              <a:t>8</a:t>
            </a:fld>
            <a:endParaRPr spc="-25" dirty="0"/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3A533555-754C-6595-CE4D-BC48B9BB81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85" y="152399"/>
            <a:ext cx="685800" cy="583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 descr="Ingeniería de Sistemas - UNCP">
            <a:extLst>
              <a:ext uri="{FF2B5EF4-FFF2-40B4-BE49-F238E27FC236}">
                <a16:creationId xmlns:a16="http://schemas.microsoft.com/office/drawing/2014/main" id="{871DD253-3175-BB39-F84A-64856A3D7D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3574" y="152399"/>
            <a:ext cx="581085" cy="583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3695">
              <a:lnSpc>
                <a:spcPct val="100000"/>
              </a:lnSpc>
              <a:spcBef>
                <a:spcPts val="100"/>
              </a:spcBef>
            </a:pPr>
            <a:r>
              <a:rPr dirty="0"/>
              <a:t>Detección</a:t>
            </a:r>
            <a:r>
              <a:rPr spc="-60" dirty="0"/>
              <a:t> </a:t>
            </a:r>
            <a:r>
              <a:rPr dirty="0"/>
              <a:t>de</a:t>
            </a:r>
            <a:r>
              <a:rPr spc="-60" dirty="0"/>
              <a:t> </a:t>
            </a:r>
            <a:r>
              <a:rPr spc="-10" dirty="0"/>
              <a:t>Objetos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7794" y="922782"/>
            <a:ext cx="6522084" cy="26301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75814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2092FA"/>
                </a:solidFill>
                <a:latin typeface="Calibri"/>
                <a:cs typeface="Calibri"/>
              </a:rPr>
              <a:t>Supresión</a:t>
            </a:r>
            <a:r>
              <a:rPr sz="2400" b="1" spc="-55" dirty="0">
                <a:solidFill>
                  <a:srgbClr val="2092FA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2092FA"/>
                </a:solidFill>
                <a:latin typeface="Calibri"/>
                <a:cs typeface="Calibri"/>
              </a:rPr>
              <a:t>de</a:t>
            </a:r>
            <a:r>
              <a:rPr sz="2400" b="1" spc="-50" dirty="0">
                <a:solidFill>
                  <a:srgbClr val="2092FA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2092FA"/>
                </a:solidFill>
                <a:latin typeface="Calibri"/>
                <a:cs typeface="Calibri"/>
              </a:rPr>
              <a:t>no</a:t>
            </a:r>
            <a:r>
              <a:rPr sz="2400" b="1" spc="-55" dirty="0">
                <a:solidFill>
                  <a:srgbClr val="2092FA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2092FA"/>
                </a:solidFill>
                <a:latin typeface="Calibri"/>
                <a:cs typeface="Calibri"/>
              </a:rPr>
              <a:t>máximos</a:t>
            </a:r>
            <a:r>
              <a:rPr sz="2400" b="1" spc="-70" dirty="0">
                <a:solidFill>
                  <a:srgbClr val="2092FA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2092FA"/>
                </a:solidFill>
                <a:latin typeface="Calibri"/>
                <a:cs typeface="Calibri"/>
              </a:rPr>
              <a:t>(NMS)</a:t>
            </a:r>
            <a:endParaRPr sz="2400">
              <a:latin typeface="Calibri"/>
              <a:cs typeface="Calibri"/>
            </a:endParaRPr>
          </a:p>
          <a:p>
            <a:pPr marL="207645" indent="-194945">
              <a:lnSpc>
                <a:spcPct val="100000"/>
              </a:lnSpc>
              <a:spcBef>
                <a:spcPts val="2815"/>
              </a:spcBef>
              <a:buFont typeface="Arial MT"/>
              <a:buChar char="•"/>
              <a:tabLst>
                <a:tab pos="207645" algn="l"/>
              </a:tabLst>
            </a:pPr>
            <a:r>
              <a:rPr sz="2000" spc="-10" dirty="0">
                <a:solidFill>
                  <a:srgbClr val="00AF50"/>
                </a:solidFill>
                <a:latin typeface="Calibri"/>
                <a:cs typeface="Calibri"/>
              </a:rPr>
              <a:t>Procedimiento</a:t>
            </a:r>
            <a:endParaRPr sz="2000">
              <a:latin typeface="Calibri"/>
              <a:cs typeface="Calibri"/>
            </a:endParaRPr>
          </a:p>
          <a:p>
            <a:pPr marL="571500" lvl="1" indent="-342900">
              <a:lnSpc>
                <a:spcPct val="100000"/>
              </a:lnSpc>
              <a:spcBef>
                <a:spcPts val="440"/>
              </a:spcBef>
              <a:buAutoNum type="arabicPeriod"/>
              <a:tabLst>
                <a:tab pos="571500" algn="l"/>
              </a:tabLst>
            </a:pPr>
            <a:r>
              <a:rPr sz="1800" dirty="0">
                <a:latin typeface="Calibri"/>
                <a:cs typeface="Calibri"/>
              </a:rPr>
              <a:t>Seleccionar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el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cuadro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con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mayor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puntaje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Calibri"/>
                <a:cs typeface="Calibri"/>
              </a:rPr>
              <a:t>(probabilidad</a:t>
            </a:r>
            <a:r>
              <a:rPr sz="1600" spc="-6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7E7E7E"/>
                </a:solidFill>
                <a:latin typeface="Calibri"/>
                <a:cs typeface="Calibri"/>
              </a:rPr>
              <a:t>de</a:t>
            </a:r>
            <a:r>
              <a:rPr sz="1600" spc="-3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Calibri"/>
                <a:cs typeface="Calibri"/>
              </a:rPr>
              <a:t>clase)</a:t>
            </a:r>
            <a:endParaRPr sz="1600">
              <a:latin typeface="Calibri"/>
              <a:cs typeface="Calibri"/>
            </a:endParaRPr>
          </a:p>
          <a:p>
            <a:pPr marL="571500" lvl="1" indent="-342900">
              <a:lnSpc>
                <a:spcPct val="100000"/>
              </a:lnSpc>
              <a:spcBef>
                <a:spcPts val="445"/>
              </a:spcBef>
              <a:buAutoNum type="arabicPeriod"/>
              <a:tabLst>
                <a:tab pos="571500" algn="l"/>
              </a:tabLst>
            </a:pPr>
            <a:r>
              <a:rPr sz="1800" dirty="0">
                <a:latin typeface="Calibri"/>
                <a:cs typeface="Calibri"/>
              </a:rPr>
              <a:t>Eliminar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cuadros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con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más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bajo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puntaje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si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IoU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&gt;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T</a:t>
            </a:r>
            <a:r>
              <a:rPr sz="1800" i="1" spc="-75" dirty="0"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7E7E7E"/>
                </a:solidFill>
                <a:latin typeface="Calibri"/>
                <a:cs typeface="Calibri"/>
              </a:rPr>
              <a:t>(ejemplo:</a:t>
            </a:r>
            <a:r>
              <a:rPr sz="1600" spc="-1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i="1" spc="-10" dirty="0">
                <a:solidFill>
                  <a:srgbClr val="7E7E7E"/>
                </a:solidFill>
                <a:latin typeface="Times New Roman"/>
                <a:cs typeface="Times New Roman"/>
              </a:rPr>
              <a:t>T</a:t>
            </a:r>
            <a:r>
              <a:rPr sz="1600" spc="-10" dirty="0">
                <a:solidFill>
                  <a:srgbClr val="7E7E7E"/>
                </a:solidFill>
                <a:latin typeface="Times New Roman"/>
                <a:cs typeface="Times New Roman"/>
              </a:rPr>
              <a:t>=0.7</a:t>
            </a:r>
            <a:r>
              <a:rPr sz="1600" spc="-10" dirty="0">
                <a:solidFill>
                  <a:srgbClr val="7E7E7E"/>
                </a:solidFill>
                <a:latin typeface="Calibri"/>
                <a:cs typeface="Calibri"/>
              </a:rPr>
              <a:t>)</a:t>
            </a:r>
            <a:endParaRPr sz="1600">
              <a:latin typeface="Calibri"/>
              <a:cs typeface="Calibri"/>
            </a:endParaRPr>
          </a:p>
          <a:p>
            <a:pPr marL="571500" lvl="1" indent="-342900">
              <a:lnSpc>
                <a:spcPct val="100000"/>
              </a:lnSpc>
              <a:spcBef>
                <a:spcPts val="420"/>
              </a:spcBef>
              <a:buAutoNum type="arabicPeriod"/>
              <a:tabLst>
                <a:tab pos="571500" algn="l"/>
              </a:tabLst>
            </a:pPr>
            <a:r>
              <a:rPr sz="1800" dirty="0">
                <a:latin typeface="Calibri"/>
                <a:cs typeface="Calibri"/>
              </a:rPr>
              <a:t>Si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queda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algún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cuadro,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repetir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desde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50" dirty="0">
                <a:latin typeface="Calibri"/>
                <a:cs typeface="Calibri"/>
              </a:rPr>
              <a:t>1</a:t>
            </a:r>
            <a:endParaRPr sz="18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30"/>
              </a:spcBef>
              <a:buFont typeface="Calibri"/>
              <a:buAutoNum type="arabicPeriod"/>
            </a:pPr>
            <a:endParaRPr sz="1800">
              <a:latin typeface="Calibri"/>
              <a:cs typeface="Calibri"/>
            </a:endParaRPr>
          </a:p>
          <a:p>
            <a:pPr marL="207645" indent="-194945">
              <a:lnSpc>
                <a:spcPct val="100000"/>
              </a:lnSpc>
              <a:buFont typeface="Arial MT"/>
              <a:buChar char="•"/>
              <a:tabLst>
                <a:tab pos="207645" algn="l"/>
              </a:tabLst>
            </a:pPr>
            <a:r>
              <a:rPr sz="2000" spc="-10" dirty="0">
                <a:solidFill>
                  <a:srgbClr val="6F2F9F"/>
                </a:solidFill>
                <a:latin typeface="Comic Sans MS"/>
                <a:cs typeface="Comic Sans MS"/>
              </a:rPr>
              <a:t>Ejemplo</a:t>
            </a:r>
            <a:endParaRPr sz="2000">
              <a:latin typeface="Comic Sans MS"/>
              <a:cs typeface="Comic Sans M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3939" y="3860291"/>
            <a:ext cx="3276600" cy="234848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291328" y="3858767"/>
            <a:ext cx="3279648" cy="2350008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4695444" y="4876800"/>
            <a:ext cx="222885" cy="314325"/>
            <a:chOff x="4695444" y="4876800"/>
            <a:chExt cx="222885" cy="314325"/>
          </a:xfrm>
        </p:grpSpPr>
        <p:sp>
          <p:nvSpPr>
            <p:cNvPr id="7" name="object 7"/>
            <p:cNvSpPr/>
            <p:nvPr/>
          </p:nvSpPr>
          <p:spPr>
            <a:xfrm>
              <a:off x="4708398" y="4889753"/>
              <a:ext cx="196850" cy="288290"/>
            </a:xfrm>
            <a:custGeom>
              <a:avLst/>
              <a:gdLst/>
              <a:ahLst/>
              <a:cxnLst/>
              <a:rect l="l" t="t" r="r" b="b"/>
              <a:pathLst>
                <a:path w="196850" h="288289">
                  <a:moveTo>
                    <a:pt x="98298" y="0"/>
                  </a:moveTo>
                  <a:lnTo>
                    <a:pt x="98298" y="72009"/>
                  </a:lnTo>
                  <a:lnTo>
                    <a:pt x="0" y="72009"/>
                  </a:lnTo>
                  <a:lnTo>
                    <a:pt x="0" y="216027"/>
                  </a:lnTo>
                  <a:lnTo>
                    <a:pt x="98298" y="216027"/>
                  </a:lnTo>
                  <a:lnTo>
                    <a:pt x="98298" y="288036"/>
                  </a:lnTo>
                  <a:lnTo>
                    <a:pt x="196596" y="144018"/>
                  </a:lnTo>
                  <a:lnTo>
                    <a:pt x="98298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708398" y="4889753"/>
              <a:ext cx="196850" cy="288290"/>
            </a:xfrm>
            <a:custGeom>
              <a:avLst/>
              <a:gdLst/>
              <a:ahLst/>
              <a:cxnLst/>
              <a:rect l="l" t="t" r="r" b="b"/>
              <a:pathLst>
                <a:path w="196850" h="288289">
                  <a:moveTo>
                    <a:pt x="0" y="72009"/>
                  </a:moveTo>
                  <a:lnTo>
                    <a:pt x="98298" y="72009"/>
                  </a:lnTo>
                  <a:lnTo>
                    <a:pt x="98298" y="0"/>
                  </a:lnTo>
                  <a:lnTo>
                    <a:pt x="196596" y="144018"/>
                  </a:lnTo>
                  <a:lnTo>
                    <a:pt x="98298" y="288036"/>
                  </a:lnTo>
                  <a:lnTo>
                    <a:pt x="98298" y="216027"/>
                  </a:lnTo>
                  <a:lnTo>
                    <a:pt x="0" y="216027"/>
                  </a:lnTo>
                  <a:lnTo>
                    <a:pt x="0" y="72009"/>
                  </a:lnTo>
                  <a:close/>
                </a:path>
              </a:pathLst>
            </a:custGeom>
            <a:ln w="25908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45"/>
              </a:lnSpc>
            </a:pPr>
            <a:fld id="{81D60167-4931-47E6-BA6A-407CBD079E47}" type="slidenum">
              <a:rPr spc="-25" dirty="0"/>
              <a:t>9</a:t>
            </a:fld>
            <a:endParaRPr spc="-25" dirty="0"/>
          </a:p>
        </p:txBody>
      </p:sp>
      <p:pic>
        <p:nvPicPr>
          <p:cNvPr id="10" name="Picture 4">
            <a:extLst>
              <a:ext uri="{FF2B5EF4-FFF2-40B4-BE49-F238E27FC236}">
                <a16:creationId xmlns:a16="http://schemas.microsoft.com/office/drawing/2014/main" id="{ABBEA1DC-04E4-D3F5-5833-91F7007EDF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85" y="152399"/>
            <a:ext cx="685800" cy="583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6" descr="Ingeniería de Sistemas - UNCP">
            <a:extLst>
              <a:ext uri="{FF2B5EF4-FFF2-40B4-BE49-F238E27FC236}">
                <a16:creationId xmlns:a16="http://schemas.microsoft.com/office/drawing/2014/main" id="{C47970F9-53DA-465A-25E8-1B2CC9A928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3574" y="152399"/>
            <a:ext cx="581085" cy="583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3695">
              <a:lnSpc>
                <a:spcPct val="100000"/>
              </a:lnSpc>
              <a:spcBef>
                <a:spcPts val="100"/>
              </a:spcBef>
            </a:pPr>
            <a:r>
              <a:rPr dirty="0"/>
              <a:t>Detección</a:t>
            </a:r>
            <a:r>
              <a:rPr spc="-60" dirty="0"/>
              <a:t> </a:t>
            </a:r>
            <a:r>
              <a:rPr dirty="0"/>
              <a:t>de</a:t>
            </a:r>
            <a:r>
              <a:rPr spc="-60" dirty="0"/>
              <a:t> </a:t>
            </a:r>
            <a:r>
              <a:rPr spc="-10" dirty="0"/>
              <a:t>Objetos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45"/>
              </a:lnSpc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437794" y="922782"/>
            <a:ext cx="8241030" cy="49879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 algn="ctr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solidFill>
                  <a:srgbClr val="2092FA"/>
                </a:solidFill>
                <a:latin typeface="Calibri"/>
                <a:cs typeface="Calibri"/>
              </a:rPr>
              <a:t>Elementos</a:t>
            </a:r>
            <a:r>
              <a:rPr sz="2400" b="1" spc="-50" dirty="0">
                <a:solidFill>
                  <a:srgbClr val="2092FA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2092FA"/>
                </a:solidFill>
                <a:latin typeface="Calibri"/>
                <a:cs typeface="Calibri"/>
              </a:rPr>
              <a:t>Involucrados</a:t>
            </a:r>
            <a:r>
              <a:rPr sz="2400" b="1" spc="-75" dirty="0">
                <a:solidFill>
                  <a:srgbClr val="2092FA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2092FA"/>
                </a:solidFill>
                <a:latin typeface="Calibri"/>
                <a:cs typeface="Calibri"/>
              </a:rPr>
              <a:t>en</a:t>
            </a:r>
            <a:r>
              <a:rPr sz="2400" b="1" spc="-45" dirty="0">
                <a:solidFill>
                  <a:srgbClr val="2092FA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2092FA"/>
                </a:solidFill>
                <a:latin typeface="Calibri"/>
                <a:cs typeface="Calibri"/>
              </a:rPr>
              <a:t>la</a:t>
            </a:r>
            <a:r>
              <a:rPr sz="2400" b="1" spc="-60" dirty="0">
                <a:solidFill>
                  <a:srgbClr val="2092FA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2092FA"/>
                </a:solidFill>
                <a:latin typeface="Calibri"/>
                <a:cs typeface="Calibri"/>
              </a:rPr>
              <a:t>detección</a:t>
            </a:r>
            <a:endParaRPr sz="2400">
              <a:latin typeface="Calibri"/>
              <a:cs typeface="Calibri"/>
            </a:endParaRPr>
          </a:p>
          <a:p>
            <a:pPr marL="207010" marR="367665" indent="-194945">
              <a:lnSpc>
                <a:spcPct val="100000"/>
              </a:lnSpc>
              <a:spcBef>
                <a:spcPts val="2815"/>
              </a:spcBef>
              <a:buFont typeface="Arial MT"/>
              <a:buChar char="•"/>
              <a:tabLst>
                <a:tab pos="208915" algn="l"/>
              </a:tabLst>
            </a:pPr>
            <a:r>
              <a:rPr sz="2000" dirty="0">
                <a:latin typeface="Calibri"/>
                <a:cs typeface="Calibri"/>
              </a:rPr>
              <a:t>Ambos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tipos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detectores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tienen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extractores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atributos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y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elementos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de 	</a:t>
            </a:r>
            <a:r>
              <a:rPr sz="2000" spc="-10" dirty="0">
                <a:latin typeface="Calibri"/>
                <a:cs typeface="Calibri"/>
              </a:rPr>
              <a:t>clasificación/regresión</a:t>
            </a:r>
            <a:r>
              <a:rPr sz="2000" spc="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(localización)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19"/>
              </a:spcBef>
              <a:buFont typeface="Arial MT"/>
              <a:buChar char="•"/>
            </a:pPr>
            <a:endParaRPr sz="2000">
              <a:latin typeface="Calibri"/>
              <a:cs typeface="Calibri"/>
            </a:endParaRPr>
          </a:p>
          <a:p>
            <a:pPr marL="207010" indent="-194310">
              <a:lnSpc>
                <a:spcPct val="100000"/>
              </a:lnSpc>
              <a:buFont typeface="Arial MT"/>
              <a:buChar char="•"/>
              <a:tabLst>
                <a:tab pos="207010" algn="l"/>
              </a:tabLst>
            </a:pPr>
            <a:r>
              <a:rPr sz="2000" dirty="0">
                <a:solidFill>
                  <a:srgbClr val="00AF50"/>
                </a:solidFill>
                <a:latin typeface="Calibri"/>
                <a:cs typeface="Calibri"/>
              </a:rPr>
              <a:t>Red</a:t>
            </a:r>
            <a:r>
              <a:rPr sz="2000" spc="-5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00AF50"/>
                </a:solidFill>
                <a:latin typeface="Calibri"/>
                <a:cs typeface="Calibri"/>
              </a:rPr>
              <a:t>“Backbone”</a:t>
            </a:r>
            <a:endParaRPr sz="2000">
              <a:latin typeface="Calibri"/>
              <a:cs typeface="Calibri"/>
            </a:endParaRPr>
          </a:p>
          <a:p>
            <a:pPr marL="389890" lvl="1" indent="-161290">
              <a:lnSpc>
                <a:spcPct val="100000"/>
              </a:lnSpc>
              <a:spcBef>
                <a:spcPts val="445"/>
              </a:spcBef>
              <a:buChar char="-"/>
              <a:tabLst>
                <a:tab pos="389890" algn="l"/>
              </a:tabLst>
            </a:pPr>
            <a:r>
              <a:rPr sz="1800" dirty="0">
                <a:latin typeface="Calibri"/>
                <a:cs typeface="Calibri"/>
              </a:rPr>
              <a:t>Se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encarga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extraer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atributos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las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imágenes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(o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regiones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propuestas)</a:t>
            </a:r>
            <a:endParaRPr sz="1800">
              <a:latin typeface="Calibri"/>
              <a:cs typeface="Calibri"/>
            </a:endParaRPr>
          </a:p>
          <a:p>
            <a:pPr marL="388620" marR="476250" lvl="1" indent="-160020">
              <a:lnSpc>
                <a:spcPct val="100000"/>
              </a:lnSpc>
              <a:spcBef>
                <a:spcPts val="430"/>
              </a:spcBef>
              <a:buChar char="-"/>
              <a:tabLst>
                <a:tab pos="388620" algn="l"/>
                <a:tab pos="389890" algn="l"/>
              </a:tabLst>
            </a:pPr>
            <a:r>
              <a:rPr sz="1800" dirty="0">
                <a:latin typeface="Calibri"/>
                <a:cs typeface="Calibri"/>
              </a:rPr>
              <a:t>	</a:t>
            </a:r>
            <a:r>
              <a:rPr sz="1800" spc="-10" dirty="0">
                <a:latin typeface="Calibri"/>
                <a:cs typeface="Calibri"/>
              </a:rPr>
              <a:t>Alternativas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usuales: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VGG16,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ResNet-</a:t>
            </a:r>
            <a:r>
              <a:rPr sz="1800" dirty="0">
                <a:latin typeface="Calibri"/>
                <a:cs typeface="Calibri"/>
              </a:rPr>
              <a:t>101,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Inception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v2,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Inception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v3,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Inception, </a:t>
            </a:r>
            <a:r>
              <a:rPr sz="1800" dirty="0">
                <a:latin typeface="Calibri"/>
                <a:cs typeface="Calibri"/>
              </a:rPr>
              <a:t>ResNet,</a:t>
            </a:r>
            <a:r>
              <a:rPr sz="1800" spc="-10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MobileNet,</a:t>
            </a:r>
            <a:r>
              <a:rPr sz="1800" spc="-9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etc.</a:t>
            </a:r>
            <a:endParaRPr sz="18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1155"/>
              </a:spcBef>
              <a:buFont typeface="Calibri"/>
              <a:buChar char="-"/>
            </a:pPr>
            <a:endParaRPr sz="1800">
              <a:latin typeface="Calibri"/>
              <a:cs typeface="Calibri"/>
            </a:endParaRPr>
          </a:p>
          <a:p>
            <a:pPr marL="207645" indent="-19494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07645" algn="l"/>
              </a:tabLst>
            </a:pPr>
            <a:r>
              <a:rPr sz="2000" spc="-25" dirty="0">
                <a:solidFill>
                  <a:srgbClr val="00AF50"/>
                </a:solidFill>
                <a:latin typeface="Calibri"/>
                <a:cs typeface="Calibri"/>
              </a:rPr>
              <a:t>“Meta-</a:t>
            </a:r>
            <a:r>
              <a:rPr sz="2000" spc="-10" dirty="0">
                <a:solidFill>
                  <a:srgbClr val="00AF50"/>
                </a:solidFill>
                <a:latin typeface="Calibri"/>
                <a:cs typeface="Calibri"/>
              </a:rPr>
              <a:t>arquitecturas"</a:t>
            </a:r>
            <a:endParaRPr sz="2000">
              <a:latin typeface="Calibri"/>
              <a:cs typeface="Calibri"/>
            </a:endParaRPr>
          </a:p>
          <a:p>
            <a:pPr marL="388620" marR="5080" lvl="1" indent="-160020">
              <a:lnSpc>
                <a:spcPct val="100899"/>
              </a:lnSpc>
              <a:spcBef>
                <a:spcPts val="420"/>
              </a:spcBef>
              <a:buChar char="-"/>
              <a:tabLst>
                <a:tab pos="388620" algn="l"/>
                <a:tab pos="389890" algn="l"/>
              </a:tabLst>
            </a:pPr>
            <a:r>
              <a:rPr sz="1800" dirty="0">
                <a:latin typeface="Calibri"/>
                <a:cs typeface="Calibri"/>
              </a:rPr>
              <a:t>	Son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el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conjunto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elementos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usados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para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la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detección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7E7E7E"/>
                </a:solidFill>
                <a:latin typeface="Calibri"/>
                <a:cs typeface="Calibri"/>
              </a:rPr>
              <a:t>(nota:</a:t>
            </a:r>
            <a:r>
              <a:rPr sz="1600" spc="-2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7E7E7E"/>
                </a:solidFill>
                <a:latin typeface="Calibri"/>
                <a:cs typeface="Calibri"/>
              </a:rPr>
              <a:t>un</a:t>
            </a:r>
            <a:r>
              <a:rPr sz="1600" spc="-4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Calibri"/>
                <a:cs typeface="Calibri"/>
              </a:rPr>
              <a:t>detector</a:t>
            </a:r>
            <a:r>
              <a:rPr sz="1600" spc="-3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7E7E7E"/>
                </a:solidFill>
                <a:latin typeface="Calibri"/>
                <a:cs typeface="Calibri"/>
              </a:rPr>
              <a:t>de</a:t>
            </a:r>
            <a:r>
              <a:rPr sz="1600" spc="-3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7E7E7E"/>
                </a:solidFill>
                <a:latin typeface="Calibri"/>
                <a:cs typeface="Calibri"/>
              </a:rPr>
              <a:t>objetos</a:t>
            </a:r>
            <a:r>
              <a:rPr sz="1600" spc="-25" dirty="0">
                <a:solidFill>
                  <a:srgbClr val="7E7E7E"/>
                </a:solidFill>
                <a:latin typeface="Calibri"/>
                <a:cs typeface="Calibri"/>
              </a:rPr>
              <a:t> no </a:t>
            </a:r>
            <a:r>
              <a:rPr sz="1600" dirty="0">
                <a:solidFill>
                  <a:srgbClr val="7E7E7E"/>
                </a:solidFill>
                <a:latin typeface="Calibri"/>
                <a:cs typeface="Calibri"/>
              </a:rPr>
              <a:t>es</a:t>
            </a:r>
            <a:r>
              <a:rPr sz="1600" spc="-3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7E7E7E"/>
                </a:solidFill>
                <a:latin typeface="Calibri"/>
                <a:cs typeface="Calibri"/>
              </a:rPr>
              <a:t>solo</a:t>
            </a:r>
            <a:r>
              <a:rPr sz="1600" spc="-2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7E7E7E"/>
                </a:solidFill>
                <a:latin typeface="Calibri"/>
                <a:cs typeface="Calibri"/>
              </a:rPr>
              <a:t>una</a:t>
            </a:r>
            <a:r>
              <a:rPr sz="1600" spc="-4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7E7E7E"/>
                </a:solidFill>
                <a:latin typeface="Calibri"/>
                <a:cs typeface="Calibri"/>
              </a:rPr>
              <a:t>red</a:t>
            </a:r>
            <a:r>
              <a:rPr sz="1600" spc="-1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Calibri"/>
                <a:cs typeface="Calibri"/>
              </a:rPr>
              <a:t>neuronal)</a:t>
            </a:r>
            <a:endParaRPr sz="1600">
              <a:latin typeface="Calibri"/>
              <a:cs typeface="Calibri"/>
            </a:endParaRPr>
          </a:p>
          <a:p>
            <a:pPr marL="389890" lvl="1" indent="-161290">
              <a:lnSpc>
                <a:spcPct val="100000"/>
              </a:lnSpc>
              <a:spcBef>
                <a:spcPts val="409"/>
              </a:spcBef>
              <a:buChar char="-"/>
              <a:tabLst>
                <a:tab pos="389890" algn="l"/>
              </a:tabLst>
            </a:pPr>
            <a:r>
              <a:rPr sz="1800" dirty="0">
                <a:latin typeface="Calibri"/>
                <a:cs typeface="Calibri"/>
              </a:rPr>
              <a:t>Dos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etapas: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R-CNN,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Fast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R-</a:t>
            </a:r>
            <a:r>
              <a:rPr sz="1800" dirty="0">
                <a:latin typeface="Calibri"/>
                <a:cs typeface="Calibri"/>
              </a:rPr>
              <a:t>CNN,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Faster-</a:t>
            </a:r>
            <a:r>
              <a:rPr sz="1800" dirty="0">
                <a:latin typeface="Calibri"/>
                <a:cs typeface="Calibri"/>
              </a:rPr>
              <a:t>RCNN,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etc.</a:t>
            </a:r>
            <a:endParaRPr sz="1800">
              <a:latin typeface="Calibri"/>
              <a:cs typeface="Calibri"/>
            </a:endParaRPr>
          </a:p>
          <a:p>
            <a:pPr marL="389890" lvl="1" indent="-161290">
              <a:lnSpc>
                <a:spcPct val="100000"/>
              </a:lnSpc>
              <a:spcBef>
                <a:spcPts val="434"/>
              </a:spcBef>
              <a:buChar char="-"/>
              <a:tabLst>
                <a:tab pos="389890" algn="l"/>
              </a:tabLst>
            </a:pPr>
            <a:r>
              <a:rPr sz="1800" dirty="0">
                <a:latin typeface="Calibri"/>
                <a:cs typeface="Calibri"/>
              </a:rPr>
              <a:t>Una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etapa: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YOLO,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SSD,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etc.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9D79E6A-BB58-608A-D50E-85DFBE8AA5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85" y="152399"/>
            <a:ext cx="685800" cy="583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6" descr="Ingeniería de Sistemas - UNCP">
            <a:extLst>
              <a:ext uri="{FF2B5EF4-FFF2-40B4-BE49-F238E27FC236}">
                <a16:creationId xmlns:a16="http://schemas.microsoft.com/office/drawing/2014/main" id="{FEEAA90A-EF8E-0C41-9C3B-449C4B3F9F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3574" y="152399"/>
            <a:ext cx="581085" cy="583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98570" y="581913"/>
            <a:ext cx="154749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solidFill>
                  <a:srgbClr val="B51A00"/>
                </a:solidFill>
              </a:rPr>
              <a:t>Contenido</a:t>
            </a:r>
            <a:endParaRPr sz="28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0312" y="2198857"/>
            <a:ext cx="8458249" cy="73358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52068" y="1511046"/>
            <a:ext cx="3573779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69265" algn="l"/>
              </a:tabLst>
            </a:pPr>
            <a:r>
              <a:rPr sz="2800" spc="-25" dirty="0">
                <a:solidFill>
                  <a:srgbClr val="A6A6A6"/>
                </a:solidFill>
                <a:latin typeface="Calibri"/>
                <a:cs typeface="Calibri"/>
              </a:rPr>
              <a:t>1.</a:t>
            </a:r>
            <a:r>
              <a:rPr sz="2800" dirty="0">
                <a:solidFill>
                  <a:srgbClr val="A6A6A6"/>
                </a:solidFill>
                <a:latin typeface="Calibri"/>
                <a:cs typeface="Calibri"/>
              </a:rPr>
              <a:t>	</a:t>
            </a:r>
            <a:r>
              <a:rPr sz="2800" spc="-10" dirty="0">
                <a:solidFill>
                  <a:srgbClr val="A6A6A6"/>
                </a:solidFill>
                <a:latin typeface="Calibri"/>
                <a:cs typeface="Calibri"/>
              </a:rPr>
              <a:t>Detección</a:t>
            </a:r>
            <a:r>
              <a:rPr sz="2800" spc="-70" dirty="0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A6A6A6"/>
                </a:solidFill>
                <a:latin typeface="Calibri"/>
                <a:cs typeface="Calibri"/>
              </a:rPr>
              <a:t>de</a:t>
            </a:r>
            <a:r>
              <a:rPr sz="2800" spc="-45" dirty="0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A6A6A6"/>
                </a:solidFill>
                <a:latin typeface="Calibri"/>
                <a:cs typeface="Calibri"/>
              </a:rPr>
              <a:t>Objetos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45"/>
              </a:lnSpc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  <p:sp>
        <p:nvSpPr>
          <p:cNvPr id="5" name="object 5"/>
          <p:cNvSpPr txBox="1"/>
          <p:nvPr/>
        </p:nvSpPr>
        <p:spPr>
          <a:xfrm>
            <a:off x="457200" y="2276855"/>
            <a:ext cx="8298180" cy="582295"/>
          </a:xfrm>
          <a:prstGeom prst="rect">
            <a:avLst/>
          </a:prstGeom>
          <a:solidFill>
            <a:srgbClr val="9BEDF7"/>
          </a:solidFill>
        </p:spPr>
        <p:txBody>
          <a:bodyPr vert="horz" wrap="square" lIns="0" tIns="46355" rIns="0" bIns="0" rtlCol="0">
            <a:spAutoFit/>
          </a:bodyPr>
          <a:lstStyle/>
          <a:p>
            <a:pPr marL="207010">
              <a:lnSpc>
                <a:spcPct val="100000"/>
              </a:lnSpc>
              <a:spcBef>
                <a:spcPts val="365"/>
              </a:spcBef>
              <a:tabLst>
                <a:tab pos="664210" algn="l"/>
              </a:tabLst>
            </a:pPr>
            <a:r>
              <a:rPr sz="2800" b="1" spc="-25" dirty="0">
                <a:solidFill>
                  <a:srgbClr val="0000FF"/>
                </a:solidFill>
                <a:latin typeface="Calibri"/>
                <a:cs typeface="Calibri"/>
              </a:rPr>
              <a:t>2.</a:t>
            </a:r>
            <a:r>
              <a:rPr sz="2800" b="1" dirty="0">
                <a:solidFill>
                  <a:srgbClr val="0000FF"/>
                </a:solidFill>
                <a:latin typeface="Calibri"/>
                <a:cs typeface="Calibri"/>
              </a:rPr>
              <a:t>	</a:t>
            </a:r>
            <a:r>
              <a:rPr sz="2800" b="1" spc="-10" dirty="0">
                <a:solidFill>
                  <a:srgbClr val="0000FF"/>
                </a:solidFill>
                <a:latin typeface="Calibri"/>
                <a:cs typeface="Calibri"/>
              </a:rPr>
              <a:t>Detectores</a:t>
            </a:r>
            <a:r>
              <a:rPr sz="2800" b="1" spc="-3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0000FF"/>
                </a:solidFill>
                <a:latin typeface="Calibri"/>
                <a:cs typeface="Calibri"/>
              </a:rPr>
              <a:t>de</a:t>
            </a:r>
            <a:r>
              <a:rPr sz="2800" b="1" spc="-6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0000FF"/>
                </a:solidFill>
                <a:latin typeface="Calibri"/>
                <a:cs typeface="Calibri"/>
              </a:rPr>
              <a:t>dos</a:t>
            </a:r>
            <a:r>
              <a:rPr sz="2800" b="1" spc="-7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0000FF"/>
                </a:solidFill>
                <a:latin typeface="Calibri"/>
                <a:cs typeface="Calibri"/>
              </a:rPr>
              <a:t>etapas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52068" y="3111499"/>
            <a:ext cx="4024629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69265" algn="l"/>
              </a:tabLst>
            </a:pPr>
            <a:r>
              <a:rPr sz="2800" spc="-25" dirty="0">
                <a:solidFill>
                  <a:srgbClr val="A6A6A6"/>
                </a:solidFill>
                <a:latin typeface="Calibri"/>
                <a:cs typeface="Calibri"/>
              </a:rPr>
              <a:t>3.</a:t>
            </a:r>
            <a:r>
              <a:rPr sz="2800" dirty="0">
                <a:solidFill>
                  <a:srgbClr val="A6A6A6"/>
                </a:solidFill>
                <a:latin typeface="Calibri"/>
                <a:cs typeface="Calibri"/>
              </a:rPr>
              <a:t>	</a:t>
            </a:r>
            <a:r>
              <a:rPr sz="2800" spc="-10" dirty="0">
                <a:solidFill>
                  <a:srgbClr val="A6A6A6"/>
                </a:solidFill>
                <a:latin typeface="Calibri"/>
                <a:cs typeface="Calibri"/>
              </a:rPr>
              <a:t>Detectores</a:t>
            </a:r>
            <a:r>
              <a:rPr sz="2800" spc="-75" dirty="0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A6A6A6"/>
                </a:solidFill>
                <a:latin typeface="Calibri"/>
                <a:cs typeface="Calibri"/>
              </a:rPr>
              <a:t>de</a:t>
            </a:r>
            <a:r>
              <a:rPr sz="2800" spc="-70" dirty="0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A6A6A6"/>
                </a:solidFill>
                <a:latin typeface="Calibri"/>
                <a:cs typeface="Calibri"/>
              </a:rPr>
              <a:t>una</a:t>
            </a:r>
            <a:r>
              <a:rPr sz="2800" spc="-55" dirty="0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A6A6A6"/>
                </a:solidFill>
                <a:latin typeface="Calibri"/>
                <a:cs typeface="Calibri"/>
              </a:rPr>
              <a:t>etapa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8" name="Picture 4">
            <a:extLst>
              <a:ext uri="{FF2B5EF4-FFF2-40B4-BE49-F238E27FC236}">
                <a16:creationId xmlns:a16="http://schemas.microsoft.com/office/drawing/2014/main" id="{0EF9C8FE-4380-A629-99C1-F289561432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85" y="152399"/>
            <a:ext cx="685800" cy="583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6" descr="Ingeniería de Sistemas - UNCP">
            <a:extLst>
              <a:ext uri="{FF2B5EF4-FFF2-40B4-BE49-F238E27FC236}">
                <a16:creationId xmlns:a16="http://schemas.microsoft.com/office/drawing/2014/main" id="{D160ED60-FE55-A239-6C47-6F49E49CEB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3574" y="152399"/>
            <a:ext cx="581085" cy="583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Detectores</a:t>
            </a:r>
            <a:r>
              <a:rPr spc="-40" dirty="0"/>
              <a:t> </a:t>
            </a:r>
            <a:r>
              <a:rPr dirty="0"/>
              <a:t>de</a:t>
            </a:r>
            <a:r>
              <a:rPr spc="-30" dirty="0"/>
              <a:t> </a:t>
            </a:r>
            <a:r>
              <a:rPr dirty="0"/>
              <a:t>Dos</a:t>
            </a:r>
            <a:r>
              <a:rPr spc="-35" dirty="0"/>
              <a:t> </a:t>
            </a:r>
            <a:r>
              <a:rPr spc="-10" dirty="0"/>
              <a:t>Etapas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45"/>
              </a:lnSpc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152187"/>
            <a:ext cx="7957820" cy="5173345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207645" indent="-194945">
              <a:lnSpc>
                <a:spcPct val="100000"/>
              </a:lnSpc>
              <a:spcBef>
                <a:spcPts val="590"/>
              </a:spcBef>
              <a:buFont typeface="Arial MT"/>
              <a:buChar char="•"/>
              <a:tabLst>
                <a:tab pos="207645" algn="l"/>
              </a:tabLst>
            </a:pPr>
            <a:r>
              <a:rPr sz="2000" dirty="0">
                <a:latin typeface="Calibri"/>
                <a:cs typeface="Calibri"/>
              </a:rPr>
              <a:t>Detectan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objetos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procesando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cada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imagen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más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una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vez: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en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dos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etapas</a:t>
            </a:r>
            <a:endParaRPr sz="2000">
              <a:latin typeface="Calibri"/>
              <a:cs typeface="Calibri"/>
            </a:endParaRPr>
          </a:p>
          <a:p>
            <a:pPr marL="389255" lvl="1" indent="-160655">
              <a:lnSpc>
                <a:spcPct val="100000"/>
              </a:lnSpc>
              <a:spcBef>
                <a:spcPts val="439"/>
              </a:spcBef>
              <a:buChar char="-"/>
              <a:tabLst>
                <a:tab pos="389255" algn="l"/>
              </a:tabLst>
            </a:pPr>
            <a:r>
              <a:rPr sz="1800" dirty="0">
                <a:latin typeface="Calibri"/>
                <a:cs typeface="Calibri"/>
              </a:rPr>
              <a:t>Llamados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“two-</a:t>
            </a:r>
            <a:r>
              <a:rPr sz="1800" dirty="0">
                <a:latin typeface="Calibri"/>
                <a:cs typeface="Calibri"/>
              </a:rPr>
              <a:t>stage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object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detectors”</a:t>
            </a:r>
            <a:endParaRPr sz="18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buFont typeface="Calibri"/>
              <a:buChar char="-"/>
            </a:pPr>
            <a:endParaRPr sz="1800">
              <a:latin typeface="Calibri"/>
              <a:cs typeface="Calibri"/>
            </a:endParaRPr>
          </a:p>
          <a:p>
            <a:pPr marL="207645" indent="-19494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07645" algn="l"/>
              </a:tabLst>
            </a:pPr>
            <a:r>
              <a:rPr sz="2000" dirty="0">
                <a:solidFill>
                  <a:srgbClr val="00AF50"/>
                </a:solidFill>
                <a:latin typeface="Calibri"/>
                <a:cs typeface="Calibri"/>
              </a:rPr>
              <a:t>Etapa</a:t>
            </a:r>
            <a:r>
              <a:rPr sz="2000" spc="-8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000" spc="-50" dirty="0">
                <a:solidFill>
                  <a:srgbClr val="00AF50"/>
                </a:solidFill>
                <a:latin typeface="Calibri"/>
                <a:cs typeface="Calibri"/>
              </a:rPr>
              <a:t>1</a:t>
            </a:r>
            <a:endParaRPr sz="2000">
              <a:latin typeface="Calibri"/>
              <a:cs typeface="Calibri"/>
            </a:endParaRPr>
          </a:p>
          <a:p>
            <a:pPr marL="388620" marR="57785" lvl="1" indent="-160020">
              <a:lnSpc>
                <a:spcPct val="100000"/>
              </a:lnSpc>
              <a:spcBef>
                <a:spcPts val="439"/>
              </a:spcBef>
              <a:buChar char="-"/>
              <a:tabLst>
                <a:tab pos="388620" algn="l"/>
                <a:tab pos="389890" algn="l"/>
              </a:tabLst>
            </a:pPr>
            <a:r>
              <a:rPr sz="1800" dirty="0">
                <a:latin typeface="Calibri"/>
                <a:cs typeface="Calibri"/>
              </a:rPr>
              <a:t>	</a:t>
            </a:r>
            <a:r>
              <a:rPr sz="1800" spc="-10" dirty="0">
                <a:latin typeface="Calibri"/>
                <a:cs typeface="Calibri"/>
              </a:rPr>
              <a:t>Determinan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“regiones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candidatas”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7E7E7E"/>
                </a:solidFill>
                <a:latin typeface="Calibri"/>
                <a:cs typeface="Calibri"/>
              </a:rPr>
              <a:t>(</a:t>
            </a:r>
            <a:r>
              <a:rPr sz="1600" i="1" dirty="0">
                <a:solidFill>
                  <a:srgbClr val="7E7E7E"/>
                </a:solidFill>
                <a:latin typeface="Calibri"/>
                <a:cs typeface="Calibri"/>
              </a:rPr>
              <a:t>region</a:t>
            </a:r>
            <a:r>
              <a:rPr sz="1600" i="1" spc="-4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i="1" dirty="0">
                <a:solidFill>
                  <a:srgbClr val="7E7E7E"/>
                </a:solidFill>
                <a:latin typeface="Calibri"/>
                <a:cs typeface="Calibri"/>
              </a:rPr>
              <a:t>proposals</a:t>
            </a:r>
            <a:r>
              <a:rPr sz="1600" dirty="0">
                <a:solidFill>
                  <a:srgbClr val="7E7E7E"/>
                </a:solidFill>
                <a:latin typeface="Calibri"/>
                <a:cs typeface="Calibri"/>
              </a:rPr>
              <a:t>)</a:t>
            </a:r>
            <a:r>
              <a:rPr sz="1600" spc="2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regiones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interés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7E7E7E"/>
                </a:solidFill>
                <a:latin typeface="Calibri"/>
                <a:cs typeface="Calibri"/>
              </a:rPr>
              <a:t>(ROI)</a:t>
            </a:r>
            <a:r>
              <a:rPr sz="1600" spc="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en </a:t>
            </a:r>
            <a:r>
              <a:rPr sz="1800" dirty="0">
                <a:latin typeface="Calibri"/>
                <a:cs typeface="Calibri"/>
              </a:rPr>
              <a:t>la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imagen</a:t>
            </a:r>
            <a:endParaRPr sz="1800">
              <a:latin typeface="Calibri"/>
              <a:cs typeface="Calibri"/>
            </a:endParaRPr>
          </a:p>
          <a:p>
            <a:pPr marL="389255" lvl="1" indent="-160655">
              <a:lnSpc>
                <a:spcPct val="100000"/>
              </a:lnSpc>
              <a:spcBef>
                <a:spcPts val="430"/>
              </a:spcBef>
              <a:buChar char="-"/>
              <a:tabLst>
                <a:tab pos="389255" algn="l"/>
              </a:tabLst>
            </a:pPr>
            <a:r>
              <a:rPr sz="1800" dirty="0">
                <a:latin typeface="Calibri"/>
                <a:cs typeface="Calibri"/>
              </a:rPr>
              <a:t>La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selección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regiones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puede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ser:</a:t>
            </a:r>
            <a:endParaRPr sz="1800">
              <a:latin typeface="Calibri"/>
              <a:cs typeface="Calibri"/>
            </a:endParaRPr>
          </a:p>
          <a:p>
            <a:pPr marL="611505" lvl="2" indent="-226060">
              <a:lnSpc>
                <a:spcPct val="100000"/>
              </a:lnSpc>
              <a:spcBef>
                <a:spcPts val="434"/>
              </a:spcBef>
              <a:buFont typeface="Arial MT"/>
              <a:buChar char="•"/>
              <a:tabLst>
                <a:tab pos="611505" algn="l"/>
              </a:tabLst>
            </a:pPr>
            <a:r>
              <a:rPr sz="1800" dirty="0">
                <a:latin typeface="Calibri"/>
                <a:cs typeface="Calibri"/>
              </a:rPr>
              <a:t>Manual: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usando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“selective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search”</a:t>
            </a:r>
            <a:endParaRPr sz="1800">
              <a:latin typeface="Calibri"/>
              <a:cs typeface="Calibri"/>
            </a:endParaRPr>
          </a:p>
          <a:p>
            <a:pPr marL="611505" lvl="2" indent="-226060">
              <a:lnSpc>
                <a:spcPct val="100000"/>
              </a:lnSpc>
              <a:spcBef>
                <a:spcPts val="430"/>
              </a:spcBef>
              <a:buFont typeface="Arial MT"/>
              <a:buChar char="•"/>
              <a:tabLst>
                <a:tab pos="611505" algn="l"/>
              </a:tabLst>
            </a:pPr>
            <a:r>
              <a:rPr sz="1800" spc="-10" dirty="0">
                <a:latin typeface="Calibri"/>
                <a:cs typeface="Calibri"/>
              </a:rPr>
              <a:t>Automática: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entrenando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una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CNN</a:t>
            </a:r>
            <a:endParaRPr sz="1800">
              <a:latin typeface="Calibri"/>
              <a:cs typeface="Calibri"/>
            </a:endParaRPr>
          </a:p>
          <a:p>
            <a:pPr marL="207645" indent="-194945">
              <a:lnSpc>
                <a:spcPct val="100000"/>
              </a:lnSpc>
              <a:spcBef>
                <a:spcPts val="595"/>
              </a:spcBef>
              <a:buFont typeface="Arial MT"/>
              <a:buChar char="•"/>
              <a:tabLst>
                <a:tab pos="207645" algn="l"/>
              </a:tabLst>
            </a:pPr>
            <a:r>
              <a:rPr sz="2000" dirty="0">
                <a:solidFill>
                  <a:srgbClr val="00AF50"/>
                </a:solidFill>
                <a:latin typeface="Calibri"/>
                <a:cs typeface="Calibri"/>
              </a:rPr>
              <a:t>Etapa</a:t>
            </a:r>
            <a:r>
              <a:rPr sz="2000" spc="-9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000" spc="-50" dirty="0">
                <a:solidFill>
                  <a:srgbClr val="00AF50"/>
                </a:solidFill>
                <a:latin typeface="Calibri"/>
                <a:cs typeface="Calibri"/>
              </a:rPr>
              <a:t>2</a:t>
            </a:r>
            <a:endParaRPr sz="2000">
              <a:latin typeface="Calibri"/>
              <a:cs typeface="Calibri"/>
            </a:endParaRPr>
          </a:p>
          <a:p>
            <a:pPr marL="389890" lvl="1" indent="-161290">
              <a:lnSpc>
                <a:spcPct val="100000"/>
              </a:lnSpc>
              <a:spcBef>
                <a:spcPts val="440"/>
              </a:spcBef>
              <a:buChar char="-"/>
              <a:tabLst>
                <a:tab pos="389890" algn="l"/>
              </a:tabLst>
            </a:pPr>
            <a:r>
              <a:rPr sz="1800" spc="-10" dirty="0">
                <a:latin typeface="Calibri"/>
                <a:cs typeface="Calibri"/>
              </a:rPr>
              <a:t>Determinan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si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hay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una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clase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en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cada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región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candidata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(clasificación)</a:t>
            </a:r>
            <a:endParaRPr sz="1800">
              <a:latin typeface="Calibri"/>
              <a:cs typeface="Calibri"/>
            </a:endParaRPr>
          </a:p>
          <a:p>
            <a:pPr marL="389890" lvl="1" indent="-161290">
              <a:lnSpc>
                <a:spcPct val="100000"/>
              </a:lnSpc>
              <a:spcBef>
                <a:spcPts val="434"/>
              </a:spcBef>
              <a:buChar char="-"/>
              <a:tabLst>
                <a:tab pos="389890" algn="l"/>
              </a:tabLst>
            </a:pPr>
            <a:r>
              <a:rPr sz="1800" spc="-10" dirty="0">
                <a:latin typeface="Calibri"/>
                <a:cs typeface="Calibri"/>
              </a:rPr>
              <a:t>Refinan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coordenadas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y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centro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del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cuadro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delimitador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(regresión)</a:t>
            </a:r>
            <a:endParaRPr sz="18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575"/>
              </a:spcBef>
              <a:buFont typeface="Calibri"/>
              <a:buChar char="-"/>
            </a:pPr>
            <a:endParaRPr sz="1800">
              <a:latin typeface="Calibri"/>
              <a:cs typeface="Calibri"/>
            </a:endParaRPr>
          </a:p>
          <a:p>
            <a:pPr marL="207645" indent="-194945">
              <a:lnSpc>
                <a:spcPct val="100000"/>
              </a:lnSpc>
              <a:buFont typeface="Arial MT"/>
              <a:buChar char="•"/>
              <a:tabLst>
                <a:tab pos="207645" algn="l"/>
              </a:tabLst>
            </a:pPr>
            <a:r>
              <a:rPr sz="2000" spc="-10" dirty="0">
                <a:latin typeface="Calibri"/>
                <a:cs typeface="Calibri"/>
              </a:rPr>
              <a:t>Ejemplos:</a:t>
            </a:r>
            <a:endParaRPr sz="2000">
              <a:latin typeface="Calibri"/>
              <a:cs typeface="Calibri"/>
            </a:endParaRPr>
          </a:p>
          <a:p>
            <a:pPr marL="389255" lvl="1" indent="-160655">
              <a:lnSpc>
                <a:spcPct val="100000"/>
              </a:lnSpc>
              <a:spcBef>
                <a:spcPts val="440"/>
              </a:spcBef>
              <a:buChar char="-"/>
              <a:tabLst>
                <a:tab pos="389255" algn="l"/>
              </a:tabLst>
            </a:pPr>
            <a:r>
              <a:rPr sz="1800" spc="-10" dirty="0">
                <a:latin typeface="Calibri"/>
                <a:cs typeface="Calibri"/>
              </a:rPr>
              <a:t>R-</a:t>
            </a:r>
            <a:r>
              <a:rPr sz="1800" dirty="0">
                <a:latin typeface="Calibri"/>
                <a:cs typeface="Calibri"/>
              </a:rPr>
              <a:t>CNN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600" spc="-20" dirty="0">
                <a:solidFill>
                  <a:srgbClr val="7E7E7E"/>
                </a:solidFill>
                <a:latin typeface="Calibri"/>
                <a:cs typeface="Calibri"/>
              </a:rPr>
              <a:t>(Region-</a:t>
            </a:r>
            <a:r>
              <a:rPr sz="1600" dirty="0">
                <a:solidFill>
                  <a:srgbClr val="7E7E7E"/>
                </a:solidFill>
                <a:latin typeface="Calibri"/>
                <a:cs typeface="Calibri"/>
              </a:rPr>
              <a:t>based</a:t>
            </a:r>
            <a:r>
              <a:rPr sz="1600" spc="-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7E7E7E"/>
                </a:solidFill>
                <a:latin typeface="Calibri"/>
                <a:cs typeface="Calibri"/>
              </a:rPr>
              <a:t>CNN)</a:t>
            </a:r>
            <a:r>
              <a:rPr sz="1800" dirty="0">
                <a:latin typeface="Calibri"/>
                <a:cs typeface="Calibri"/>
              </a:rPr>
              <a:t>,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Fast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R-</a:t>
            </a:r>
            <a:r>
              <a:rPr sz="1800" dirty="0">
                <a:latin typeface="Calibri"/>
                <a:cs typeface="Calibri"/>
              </a:rPr>
              <a:t>CNN,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Faster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R-</a:t>
            </a:r>
            <a:r>
              <a:rPr sz="1800" dirty="0">
                <a:latin typeface="Calibri"/>
                <a:cs typeface="Calibri"/>
              </a:rPr>
              <a:t>CNN,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SPP-</a:t>
            </a:r>
            <a:r>
              <a:rPr sz="1800" dirty="0">
                <a:latin typeface="Calibri"/>
                <a:cs typeface="Calibri"/>
              </a:rPr>
              <a:t>Net,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R-</a:t>
            </a:r>
            <a:r>
              <a:rPr sz="1800" dirty="0">
                <a:latin typeface="Calibri"/>
                <a:cs typeface="Calibri"/>
              </a:rPr>
              <a:t>FCN,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FPN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Calibri"/>
                <a:cs typeface="Calibri"/>
              </a:rPr>
              <a:t>(Feature</a:t>
            </a:r>
            <a:endParaRPr sz="1600">
              <a:latin typeface="Calibri"/>
              <a:cs typeface="Calibri"/>
            </a:endParaRPr>
          </a:p>
          <a:p>
            <a:pPr marL="388620">
              <a:lnSpc>
                <a:spcPct val="100000"/>
              </a:lnSpc>
              <a:spcBef>
                <a:spcPts val="25"/>
              </a:spcBef>
            </a:pPr>
            <a:r>
              <a:rPr sz="1600" dirty="0">
                <a:solidFill>
                  <a:srgbClr val="7E7E7E"/>
                </a:solidFill>
                <a:latin typeface="Calibri"/>
                <a:cs typeface="Calibri"/>
              </a:rPr>
              <a:t>Pyramid</a:t>
            </a:r>
            <a:r>
              <a:rPr sz="1600" spc="-5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Calibri"/>
                <a:cs typeface="Calibri"/>
              </a:rPr>
              <a:t>Network)</a:t>
            </a:r>
            <a:endParaRPr sz="1600">
              <a:latin typeface="Calibri"/>
              <a:cs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08DE78A-FBD0-A061-B1EB-921AF6C46A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85" y="152399"/>
            <a:ext cx="685800" cy="583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6" descr="Ingeniería de Sistemas - UNCP">
            <a:extLst>
              <a:ext uri="{FF2B5EF4-FFF2-40B4-BE49-F238E27FC236}">
                <a16:creationId xmlns:a16="http://schemas.microsoft.com/office/drawing/2014/main" id="{954465B0-BF55-6D9A-512C-6D7782DEDF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3574" y="152399"/>
            <a:ext cx="581085" cy="583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Detectores</a:t>
            </a:r>
            <a:r>
              <a:rPr spc="-40" dirty="0"/>
              <a:t> </a:t>
            </a:r>
            <a:r>
              <a:rPr dirty="0"/>
              <a:t>de</a:t>
            </a:r>
            <a:r>
              <a:rPr spc="-30" dirty="0"/>
              <a:t> </a:t>
            </a:r>
            <a:r>
              <a:rPr dirty="0"/>
              <a:t>Dos</a:t>
            </a:r>
            <a:r>
              <a:rPr spc="-35" dirty="0"/>
              <a:t> </a:t>
            </a:r>
            <a:r>
              <a:rPr spc="-10" dirty="0"/>
              <a:t>Etapas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7794" y="922782"/>
            <a:ext cx="7591425" cy="19602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2829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2092FA"/>
                </a:solidFill>
                <a:latin typeface="Calibri"/>
                <a:cs typeface="Calibri"/>
              </a:rPr>
              <a:t>Regiones</a:t>
            </a:r>
            <a:r>
              <a:rPr sz="2400" b="1" spc="-130" dirty="0">
                <a:solidFill>
                  <a:srgbClr val="2092FA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2092FA"/>
                </a:solidFill>
                <a:latin typeface="Calibri"/>
                <a:cs typeface="Calibri"/>
              </a:rPr>
              <a:t>Candidatas</a:t>
            </a:r>
            <a:endParaRPr sz="2400">
              <a:latin typeface="Calibri"/>
              <a:cs typeface="Calibri"/>
            </a:endParaRPr>
          </a:p>
          <a:p>
            <a:pPr marL="207645" indent="-194945">
              <a:lnSpc>
                <a:spcPct val="100000"/>
              </a:lnSpc>
              <a:spcBef>
                <a:spcPts val="2815"/>
              </a:spcBef>
              <a:buFont typeface="Arial MT"/>
              <a:buChar char="•"/>
              <a:tabLst>
                <a:tab pos="207645" algn="l"/>
              </a:tabLst>
            </a:pPr>
            <a:r>
              <a:rPr sz="2000" dirty="0">
                <a:solidFill>
                  <a:srgbClr val="00AF50"/>
                </a:solidFill>
                <a:latin typeface="Calibri"/>
                <a:cs typeface="Calibri"/>
              </a:rPr>
              <a:t>Selective</a:t>
            </a:r>
            <a:r>
              <a:rPr sz="2000" spc="-8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00AF50"/>
                </a:solidFill>
                <a:latin typeface="Calibri"/>
                <a:cs typeface="Calibri"/>
              </a:rPr>
              <a:t>search</a:t>
            </a:r>
            <a:endParaRPr sz="2000">
              <a:latin typeface="Calibri"/>
              <a:cs typeface="Calibri"/>
            </a:endParaRPr>
          </a:p>
          <a:p>
            <a:pPr marL="389890" lvl="1" indent="-161290">
              <a:lnSpc>
                <a:spcPct val="100000"/>
              </a:lnSpc>
              <a:spcBef>
                <a:spcPts val="440"/>
              </a:spcBef>
              <a:buChar char="-"/>
              <a:tabLst>
                <a:tab pos="389890" algn="l"/>
              </a:tabLst>
            </a:pPr>
            <a:r>
              <a:rPr sz="1800" dirty="0">
                <a:latin typeface="Calibri"/>
                <a:cs typeface="Calibri"/>
              </a:rPr>
              <a:t>Genera</a:t>
            </a:r>
            <a:r>
              <a:rPr sz="1800" spc="-8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bastantes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segmentos</a:t>
            </a:r>
            <a:r>
              <a:rPr sz="1800" spc="-9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iniciales</a:t>
            </a:r>
            <a:endParaRPr sz="1800">
              <a:latin typeface="Calibri"/>
              <a:cs typeface="Calibri"/>
            </a:endParaRPr>
          </a:p>
          <a:p>
            <a:pPr marL="388620" marR="5080" lvl="1" indent="-160020">
              <a:lnSpc>
                <a:spcPct val="100899"/>
              </a:lnSpc>
              <a:spcBef>
                <a:spcPts val="415"/>
              </a:spcBef>
              <a:buChar char="-"/>
              <a:tabLst>
                <a:tab pos="388620" algn="l"/>
                <a:tab pos="389890" algn="l"/>
              </a:tabLst>
            </a:pPr>
            <a:r>
              <a:rPr sz="1800" dirty="0">
                <a:latin typeface="Calibri"/>
                <a:cs typeface="Calibri"/>
              </a:rPr>
              <a:t>	Combina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en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segmentos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más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grandes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usando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similaridad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600" spc="-20" dirty="0">
                <a:solidFill>
                  <a:srgbClr val="7E7E7E"/>
                </a:solidFill>
                <a:latin typeface="Calibri"/>
                <a:cs typeface="Calibri"/>
              </a:rPr>
              <a:t>(color,</a:t>
            </a:r>
            <a:r>
              <a:rPr sz="1600" spc="-10" dirty="0">
                <a:solidFill>
                  <a:srgbClr val="7E7E7E"/>
                </a:solidFill>
                <a:latin typeface="Calibri"/>
                <a:cs typeface="Calibri"/>
              </a:rPr>
              <a:t> textura,</a:t>
            </a:r>
            <a:r>
              <a:rPr sz="1600" spc="-4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Calibri"/>
                <a:cs typeface="Calibri"/>
              </a:rPr>
              <a:t>tamaño, relleno)</a:t>
            </a:r>
            <a:endParaRPr sz="16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82823" y="3133344"/>
            <a:ext cx="6007608" cy="159562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27532" y="3133344"/>
            <a:ext cx="1705356" cy="1632535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923036" y="5229225"/>
            <a:ext cx="5319395" cy="1000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Calibri"/>
                <a:cs typeface="Calibri"/>
              </a:rPr>
              <a:t>Algoritmo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combinación:</a:t>
            </a:r>
            <a:endParaRPr sz="1600">
              <a:latin typeface="Calibri"/>
              <a:cs typeface="Calibri"/>
            </a:endParaRPr>
          </a:p>
          <a:p>
            <a:pPr marL="455295" indent="-227965">
              <a:lnSpc>
                <a:spcPct val="100000"/>
              </a:lnSpc>
              <a:buAutoNum type="arabicPeriod"/>
              <a:tabLst>
                <a:tab pos="455295" algn="l"/>
              </a:tabLst>
            </a:pPr>
            <a:r>
              <a:rPr sz="1600" dirty="0">
                <a:latin typeface="Calibri"/>
                <a:cs typeface="Calibri"/>
              </a:rPr>
              <a:t>De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un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conjunto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de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regiones,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tomar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las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dos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más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semejantes</a:t>
            </a:r>
            <a:endParaRPr sz="1600">
              <a:latin typeface="Calibri"/>
              <a:cs typeface="Calibri"/>
            </a:endParaRPr>
          </a:p>
          <a:p>
            <a:pPr marL="455295" indent="-227965">
              <a:lnSpc>
                <a:spcPct val="100000"/>
              </a:lnSpc>
              <a:buAutoNum type="arabicPeriod"/>
              <a:tabLst>
                <a:tab pos="455295" algn="l"/>
              </a:tabLst>
            </a:pPr>
            <a:r>
              <a:rPr sz="1600" dirty="0">
                <a:latin typeface="Calibri"/>
                <a:cs typeface="Calibri"/>
              </a:rPr>
              <a:t>Combinarlas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en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una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sola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región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(más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grande)</a:t>
            </a:r>
            <a:endParaRPr sz="1600">
              <a:latin typeface="Calibri"/>
              <a:cs typeface="Calibri"/>
            </a:endParaRPr>
          </a:p>
          <a:p>
            <a:pPr marL="455295" indent="-227965">
              <a:lnSpc>
                <a:spcPct val="100000"/>
              </a:lnSpc>
              <a:buAutoNum type="arabicPeriod"/>
              <a:tabLst>
                <a:tab pos="455295" algn="l"/>
              </a:tabLst>
            </a:pPr>
            <a:r>
              <a:rPr sz="1600" dirty="0">
                <a:latin typeface="Calibri"/>
                <a:cs typeface="Calibri"/>
              </a:rPr>
              <a:t>Repetir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por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múltiples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iteraciones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923158" y="6625767"/>
            <a:ext cx="3370579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r>
              <a:rPr sz="1000" dirty="0">
                <a:solidFill>
                  <a:srgbClr val="7E7E7E"/>
                </a:solidFill>
                <a:latin typeface="Calibri"/>
                <a:cs typeface="Calibri"/>
              </a:rPr>
              <a:t>Felzenszwalb</a:t>
            </a:r>
            <a:r>
              <a:rPr sz="1000" spc="-1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7E7E7E"/>
                </a:solidFill>
                <a:latin typeface="Calibri"/>
                <a:cs typeface="Calibri"/>
              </a:rPr>
              <a:t>(2004).</a:t>
            </a:r>
            <a:r>
              <a:rPr sz="1000" spc="-2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7E7E7E"/>
                </a:solidFill>
                <a:latin typeface="Calibri"/>
                <a:cs typeface="Calibri"/>
              </a:rPr>
              <a:t>Efficient</a:t>
            </a:r>
            <a:r>
              <a:rPr sz="1000" spc="-3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7E7E7E"/>
                </a:solidFill>
                <a:latin typeface="Calibri"/>
                <a:cs typeface="Calibri"/>
              </a:rPr>
              <a:t>Graph-</a:t>
            </a:r>
            <a:r>
              <a:rPr sz="1000" dirty="0">
                <a:solidFill>
                  <a:srgbClr val="7E7E7E"/>
                </a:solidFill>
                <a:latin typeface="Calibri"/>
                <a:cs typeface="Calibri"/>
              </a:rPr>
              <a:t>Based</a:t>
            </a:r>
            <a:r>
              <a:rPr sz="1000" spc="-4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7E7E7E"/>
                </a:solidFill>
                <a:latin typeface="Calibri"/>
                <a:cs typeface="Calibri"/>
              </a:rPr>
              <a:t>Image</a:t>
            </a:r>
            <a:r>
              <a:rPr sz="1000" spc="-3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7E7E7E"/>
                </a:solidFill>
                <a:latin typeface="Calibri"/>
                <a:cs typeface="Calibri"/>
              </a:rPr>
              <a:t>Segmentation.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45"/>
              </a:lnSpc>
            </a:pPr>
            <a:fld id="{81D60167-4931-47E6-BA6A-407CBD079E47}" type="slidenum">
              <a:rPr spc="-25" dirty="0"/>
              <a:t>13</a:t>
            </a:fld>
            <a:endParaRPr spc="-25" dirty="0"/>
          </a:p>
        </p:txBody>
      </p:sp>
      <p:sp>
        <p:nvSpPr>
          <p:cNvPr id="7" name="object 7"/>
          <p:cNvSpPr txBox="1"/>
          <p:nvPr/>
        </p:nvSpPr>
        <p:spPr>
          <a:xfrm>
            <a:off x="2989326" y="4731511"/>
            <a:ext cx="129413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7E7E7E"/>
                </a:solidFill>
                <a:latin typeface="Calibri"/>
                <a:cs typeface="Calibri"/>
              </a:rPr>
              <a:t>Segmentación</a:t>
            </a:r>
            <a:r>
              <a:rPr sz="1200" spc="1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7E7E7E"/>
                </a:solidFill>
                <a:latin typeface="Calibri"/>
                <a:cs typeface="Calibri"/>
              </a:rPr>
              <a:t>inicial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176773" y="4720590"/>
            <a:ext cx="10947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7645" marR="5080" indent="-19558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7E7E7E"/>
                </a:solidFill>
                <a:latin typeface="Calibri"/>
                <a:cs typeface="Calibri"/>
              </a:rPr>
              <a:t>Luego</a:t>
            </a:r>
            <a:r>
              <a:rPr sz="1200" spc="-3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7E7E7E"/>
                </a:solidFill>
                <a:latin typeface="Calibri"/>
                <a:cs typeface="Calibri"/>
              </a:rPr>
              <a:t>de</a:t>
            </a:r>
            <a:r>
              <a:rPr sz="1200" spc="-2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7E7E7E"/>
                </a:solidFill>
                <a:latin typeface="Calibri"/>
                <a:cs typeface="Calibri"/>
              </a:rPr>
              <a:t>algunas iteraciones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479538" y="4709921"/>
            <a:ext cx="982344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1130" marR="5080" indent="-139065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7E7E7E"/>
                </a:solidFill>
                <a:latin typeface="Calibri"/>
                <a:cs typeface="Calibri"/>
              </a:rPr>
              <a:t>Luego</a:t>
            </a:r>
            <a:r>
              <a:rPr sz="1200" spc="-3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7E7E7E"/>
                </a:solidFill>
                <a:latin typeface="Calibri"/>
                <a:cs typeface="Calibri"/>
              </a:rPr>
              <a:t>de</a:t>
            </a:r>
            <a:r>
              <a:rPr sz="1200" spc="-2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7E7E7E"/>
                </a:solidFill>
                <a:latin typeface="Calibri"/>
                <a:cs typeface="Calibri"/>
              </a:rPr>
              <a:t>varias iteraciones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12" name="Picture 4">
            <a:extLst>
              <a:ext uri="{FF2B5EF4-FFF2-40B4-BE49-F238E27FC236}">
                <a16:creationId xmlns:a16="http://schemas.microsoft.com/office/drawing/2014/main" id="{73473024-D03D-8CB4-C469-13DBE40CC0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85" y="152399"/>
            <a:ext cx="685800" cy="583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6" descr="Ingeniería de Sistemas - UNCP">
            <a:extLst>
              <a:ext uri="{FF2B5EF4-FFF2-40B4-BE49-F238E27FC236}">
                <a16:creationId xmlns:a16="http://schemas.microsoft.com/office/drawing/2014/main" id="{86CFE1AD-AB38-7CCE-C7F2-7893A5C013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3574" y="152399"/>
            <a:ext cx="581085" cy="583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41105" y="6633464"/>
            <a:ext cx="15367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25" dirty="0">
                <a:solidFill>
                  <a:srgbClr val="585858"/>
                </a:solidFill>
                <a:latin typeface="Calibri"/>
                <a:cs typeface="Calibri"/>
              </a:rPr>
              <a:t>14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Detectores</a:t>
            </a:r>
            <a:r>
              <a:rPr spc="-40" dirty="0"/>
              <a:t> </a:t>
            </a:r>
            <a:r>
              <a:rPr dirty="0"/>
              <a:t>de</a:t>
            </a:r>
            <a:r>
              <a:rPr spc="-30" dirty="0"/>
              <a:t> </a:t>
            </a:r>
            <a:r>
              <a:rPr dirty="0"/>
              <a:t>Dos</a:t>
            </a:r>
            <a:r>
              <a:rPr spc="-35" dirty="0"/>
              <a:t> </a:t>
            </a:r>
            <a:r>
              <a:rPr spc="-10" dirty="0"/>
              <a:t>Etapas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37794" y="922782"/>
            <a:ext cx="8160384" cy="16586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6680" algn="ctr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2092FA"/>
                </a:solidFill>
                <a:latin typeface="Calibri"/>
                <a:cs typeface="Calibri"/>
              </a:rPr>
              <a:t>Regiones</a:t>
            </a:r>
            <a:r>
              <a:rPr sz="2400" b="1" spc="-130" dirty="0">
                <a:solidFill>
                  <a:srgbClr val="2092FA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2092FA"/>
                </a:solidFill>
                <a:latin typeface="Calibri"/>
                <a:cs typeface="Calibri"/>
              </a:rPr>
              <a:t>Candidatas</a:t>
            </a:r>
            <a:endParaRPr sz="2400">
              <a:latin typeface="Calibri"/>
              <a:cs typeface="Calibri"/>
            </a:endParaRPr>
          </a:p>
          <a:p>
            <a:pPr marL="207645" indent="-194945">
              <a:lnSpc>
                <a:spcPct val="100000"/>
              </a:lnSpc>
              <a:spcBef>
                <a:spcPts val="2815"/>
              </a:spcBef>
              <a:buFont typeface="Arial MT"/>
              <a:buChar char="•"/>
              <a:tabLst>
                <a:tab pos="207645" algn="l"/>
              </a:tabLst>
            </a:pPr>
            <a:r>
              <a:rPr sz="2000" dirty="0">
                <a:solidFill>
                  <a:srgbClr val="00AF50"/>
                </a:solidFill>
                <a:latin typeface="Calibri"/>
                <a:cs typeface="Calibri"/>
              </a:rPr>
              <a:t>Selective</a:t>
            </a:r>
            <a:r>
              <a:rPr sz="2000" spc="-8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00AF50"/>
                </a:solidFill>
                <a:latin typeface="Calibri"/>
                <a:cs typeface="Calibri"/>
              </a:rPr>
              <a:t>search</a:t>
            </a:r>
            <a:endParaRPr sz="2000">
              <a:latin typeface="Calibri"/>
              <a:cs typeface="Calibri"/>
            </a:endParaRPr>
          </a:p>
          <a:p>
            <a:pPr marL="388620" marR="5080" indent="-160020">
              <a:lnSpc>
                <a:spcPct val="100000"/>
              </a:lnSpc>
              <a:spcBef>
                <a:spcPts val="440"/>
              </a:spcBef>
            </a:pPr>
            <a:r>
              <a:rPr sz="1800" dirty="0">
                <a:latin typeface="Calibri"/>
                <a:cs typeface="Calibri"/>
              </a:rPr>
              <a:t>-</a:t>
            </a:r>
            <a:r>
              <a:rPr sz="1800" spc="2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Usando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los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segmentos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generados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genera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regiones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candidatas: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lugares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donde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hay </a:t>
            </a:r>
            <a:r>
              <a:rPr sz="1800" spc="-10" dirty="0">
                <a:latin typeface="Calibri"/>
                <a:cs typeface="Calibri"/>
              </a:rPr>
              <a:t>probabilidad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existencia</a:t>
            </a:r>
            <a:r>
              <a:rPr sz="1800" dirty="0">
                <a:latin typeface="Calibri"/>
                <a:cs typeface="Calibri"/>
              </a:rPr>
              <a:t> de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objetos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403603" y="2807207"/>
            <a:ext cx="6139180" cy="1918970"/>
            <a:chOff x="1403603" y="2807207"/>
            <a:chExt cx="6139180" cy="191897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03603" y="2807207"/>
              <a:ext cx="6138672" cy="1629156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112263" y="4440935"/>
              <a:ext cx="240792" cy="24079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291583" y="4465319"/>
              <a:ext cx="242315" cy="242316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576059" y="4483607"/>
              <a:ext cx="242315" cy="242316"/>
            </a:xfrm>
            <a:prstGeom prst="rect">
              <a:avLst/>
            </a:prstGeom>
          </p:spPr>
        </p:pic>
      </p:grpSp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382267" y="4797552"/>
            <a:ext cx="6228587" cy="1651847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2294889" y="6594144"/>
            <a:ext cx="471678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7E7E7E"/>
                </a:solidFill>
                <a:latin typeface="Calibri"/>
                <a:cs typeface="Calibri"/>
              </a:rPr>
              <a:t>Van</a:t>
            </a:r>
            <a:r>
              <a:rPr sz="1000" spc="-3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7E7E7E"/>
                </a:solidFill>
                <a:latin typeface="Calibri"/>
                <a:cs typeface="Calibri"/>
              </a:rPr>
              <a:t>de</a:t>
            </a:r>
            <a:r>
              <a:rPr sz="1000" spc="-2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7E7E7E"/>
                </a:solidFill>
                <a:latin typeface="Calibri"/>
                <a:cs typeface="Calibri"/>
              </a:rPr>
              <a:t>Sande</a:t>
            </a:r>
            <a:r>
              <a:rPr sz="1000" spc="-2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7E7E7E"/>
                </a:solidFill>
                <a:latin typeface="Calibri"/>
                <a:cs typeface="Calibri"/>
              </a:rPr>
              <a:t>et</a:t>
            </a:r>
            <a:r>
              <a:rPr sz="1000" spc="-1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7E7E7E"/>
                </a:solidFill>
                <a:latin typeface="Calibri"/>
                <a:cs typeface="Calibri"/>
              </a:rPr>
              <a:t>al.</a:t>
            </a:r>
            <a:r>
              <a:rPr sz="1000" spc="-3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7E7E7E"/>
                </a:solidFill>
                <a:latin typeface="Calibri"/>
                <a:cs typeface="Calibri"/>
              </a:rPr>
              <a:t>(2011).</a:t>
            </a:r>
            <a:r>
              <a:rPr sz="1000" spc="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7E7E7E"/>
                </a:solidFill>
                <a:latin typeface="Calibri"/>
                <a:cs typeface="Calibri"/>
              </a:rPr>
              <a:t>Segmentation</a:t>
            </a:r>
            <a:r>
              <a:rPr sz="1000" spc="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7E7E7E"/>
                </a:solidFill>
                <a:latin typeface="Calibri"/>
                <a:cs typeface="Calibri"/>
              </a:rPr>
              <a:t>as</a:t>
            </a:r>
            <a:r>
              <a:rPr sz="1000" spc="-4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7E7E7E"/>
                </a:solidFill>
                <a:latin typeface="Calibri"/>
                <a:cs typeface="Calibri"/>
              </a:rPr>
              <a:t>selective</a:t>
            </a:r>
            <a:r>
              <a:rPr sz="1000" spc="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7E7E7E"/>
                </a:solidFill>
                <a:latin typeface="Calibri"/>
                <a:cs typeface="Calibri"/>
              </a:rPr>
              <a:t>search</a:t>
            </a:r>
            <a:r>
              <a:rPr sz="1000" spc="-1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7E7E7E"/>
                </a:solidFill>
                <a:latin typeface="Calibri"/>
                <a:cs typeface="Calibri"/>
              </a:rPr>
              <a:t>for</a:t>
            </a:r>
            <a:r>
              <a:rPr sz="1000" spc="-3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7E7E7E"/>
                </a:solidFill>
                <a:latin typeface="Calibri"/>
                <a:cs typeface="Calibri"/>
              </a:rPr>
              <a:t>object</a:t>
            </a:r>
            <a:r>
              <a:rPr sz="1000" spc="-10" dirty="0">
                <a:solidFill>
                  <a:srgbClr val="7E7E7E"/>
                </a:solidFill>
                <a:latin typeface="Calibri"/>
                <a:cs typeface="Calibri"/>
              </a:rPr>
              <a:t> recognition.</a:t>
            </a:r>
            <a:r>
              <a:rPr sz="1000" spc="-2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7E7E7E"/>
                </a:solidFill>
                <a:latin typeface="Calibri"/>
                <a:cs typeface="Calibri"/>
              </a:rPr>
              <a:t>In</a:t>
            </a:r>
            <a:r>
              <a:rPr sz="1000" spc="-3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000" spc="-20" dirty="0">
                <a:solidFill>
                  <a:srgbClr val="7E7E7E"/>
                </a:solidFill>
                <a:latin typeface="Calibri"/>
                <a:cs typeface="Calibri"/>
              </a:rPr>
              <a:t>ICCV</a:t>
            </a:r>
            <a:endParaRPr sz="1000">
              <a:latin typeface="Calibri"/>
              <a:cs typeface="Calibri"/>
            </a:endParaRPr>
          </a:p>
        </p:txBody>
      </p:sp>
      <p:pic>
        <p:nvPicPr>
          <p:cNvPr id="12" name="Picture 4">
            <a:extLst>
              <a:ext uri="{FF2B5EF4-FFF2-40B4-BE49-F238E27FC236}">
                <a16:creationId xmlns:a16="http://schemas.microsoft.com/office/drawing/2014/main" id="{A7FE1D8D-D4F4-14FC-1B78-3BDB4F880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85" y="152399"/>
            <a:ext cx="685800" cy="583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6" descr="Ingeniería de Sistemas - UNCP">
            <a:extLst>
              <a:ext uri="{FF2B5EF4-FFF2-40B4-BE49-F238E27FC236}">
                <a16:creationId xmlns:a16="http://schemas.microsoft.com/office/drawing/2014/main" id="{0705647F-862F-5E74-4753-4D12B1A8B9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3574" y="152399"/>
            <a:ext cx="581085" cy="583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Detectores</a:t>
            </a:r>
            <a:r>
              <a:rPr spc="-40" dirty="0"/>
              <a:t> </a:t>
            </a:r>
            <a:r>
              <a:rPr dirty="0"/>
              <a:t>de</a:t>
            </a:r>
            <a:r>
              <a:rPr spc="-30" dirty="0"/>
              <a:t> </a:t>
            </a:r>
            <a:r>
              <a:rPr dirty="0"/>
              <a:t>Dos</a:t>
            </a:r>
            <a:r>
              <a:rPr spc="-35" dirty="0"/>
              <a:t> </a:t>
            </a:r>
            <a:r>
              <a:rPr spc="-10" dirty="0"/>
              <a:t>Etapas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7794" y="922782"/>
            <a:ext cx="8176259" cy="2473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3980" algn="ctr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solidFill>
                  <a:srgbClr val="2092FA"/>
                </a:solidFill>
                <a:latin typeface="Calibri"/>
                <a:cs typeface="Calibri"/>
              </a:rPr>
              <a:t>R-</a:t>
            </a:r>
            <a:r>
              <a:rPr sz="2400" b="1" spc="-25" dirty="0">
                <a:solidFill>
                  <a:srgbClr val="2092FA"/>
                </a:solidFill>
                <a:latin typeface="Calibri"/>
                <a:cs typeface="Calibri"/>
              </a:rPr>
              <a:t>CNN</a:t>
            </a:r>
            <a:endParaRPr sz="2400">
              <a:latin typeface="Calibri"/>
              <a:cs typeface="Calibri"/>
            </a:endParaRPr>
          </a:p>
          <a:p>
            <a:pPr marL="207645" indent="-194945">
              <a:lnSpc>
                <a:spcPct val="100000"/>
              </a:lnSpc>
              <a:spcBef>
                <a:spcPts val="1680"/>
              </a:spcBef>
              <a:buFont typeface="Arial MT"/>
              <a:buChar char="•"/>
              <a:tabLst>
                <a:tab pos="207645" algn="l"/>
              </a:tabLst>
            </a:pPr>
            <a:r>
              <a:rPr sz="2000" spc="-10" dirty="0">
                <a:solidFill>
                  <a:srgbClr val="00AF50"/>
                </a:solidFill>
                <a:latin typeface="Calibri"/>
                <a:cs typeface="Calibri"/>
              </a:rPr>
              <a:t>Etapas</a:t>
            </a:r>
            <a:endParaRPr sz="2000">
              <a:latin typeface="Calibri"/>
              <a:cs typeface="Calibri"/>
            </a:endParaRPr>
          </a:p>
          <a:p>
            <a:pPr marL="389890" lvl="1" indent="-161290">
              <a:lnSpc>
                <a:spcPct val="100000"/>
              </a:lnSpc>
              <a:spcBef>
                <a:spcPts val="440"/>
              </a:spcBef>
              <a:buChar char="-"/>
              <a:tabLst>
                <a:tab pos="389890" algn="l"/>
              </a:tabLst>
            </a:pPr>
            <a:r>
              <a:rPr sz="1800" dirty="0">
                <a:latin typeface="Calibri"/>
                <a:cs typeface="Calibri"/>
              </a:rPr>
              <a:t>Se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extrae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regiones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propuestas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Calibri"/>
                <a:cs typeface="Calibri"/>
              </a:rPr>
              <a:t>(aproximadamente</a:t>
            </a:r>
            <a:r>
              <a:rPr sz="1600" spc="-3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Calibri"/>
                <a:cs typeface="Calibri"/>
              </a:rPr>
              <a:t>2000)</a:t>
            </a:r>
            <a:endParaRPr sz="1600">
              <a:latin typeface="Calibri"/>
              <a:cs typeface="Calibri"/>
            </a:endParaRPr>
          </a:p>
          <a:p>
            <a:pPr marL="389890" lvl="1" indent="-161290">
              <a:lnSpc>
                <a:spcPct val="100000"/>
              </a:lnSpc>
              <a:spcBef>
                <a:spcPts val="430"/>
              </a:spcBef>
              <a:buChar char="-"/>
              <a:tabLst>
                <a:tab pos="389890" algn="l"/>
              </a:tabLst>
            </a:pPr>
            <a:r>
              <a:rPr sz="1800" dirty="0">
                <a:latin typeface="Calibri"/>
                <a:cs typeface="Calibri"/>
              </a:rPr>
              <a:t>Se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re-</a:t>
            </a:r>
            <a:r>
              <a:rPr sz="1800" dirty="0">
                <a:latin typeface="Calibri"/>
                <a:cs typeface="Calibri"/>
              </a:rPr>
              <a:t>escala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el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tamaño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las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regiones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7E7E7E"/>
                </a:solidFill>
                <a:latin typeface="Calibri"/>
                <a:cs typeface="Calibri"/>
              </a:rPr>
              <a:t>(224</a:t>
            </a:r>
            <a:r>
              <a:rPr sz="1600" spc="-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7E7E7E"/>
                </a:solidFill>
                <a:latin typeface="Calibri"/>
                <a:cs typeface="Calibri"/>
              </a:rPr>
              <a:t>x</a:t>
            </a:r>
            <a:r>
              <a:rPr sz="1600" spc="-2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spc="-20" dirty="0">
                <a:solidFill>
                  <a:srgbClr val="7E7E7E"/>
                </a:solidFill>
                <a:latin typeface="Calibri"/>
                <a:cs typeface="Calibri"/>
              </a:rPr>
              <a:t>224)</a:t>
            </a:r>
            <a:endParaRPr sz="1600">
              <a:latin typeface="Calibri"/>
              <a:cs typeface="Calibri"/>
            </a:endParaRPr>
          </a:p>
          <a:p>
            <a:pPr marL="389255" lvl="1" indent="-160655">
              <a:lnSpc>
                <a:spcPct val="100000"/>
              </a:lnSpc>
              <a:spcBef>
                <a:spcPts val="434"/>
              </a:spcBef>
              <a:buChar char="-"/>
              <a:tabLst>
                <a:tab pos="389255" algn="l"/>
              </a:tabLst>
            </a:pPr>
            <a:r>
              <a:rPr sz="1800" dirty="0">
                <a:latin typeface="Calibri"/>
                <a:cs typeface="Calibri"/>
              </a:rPr>
              <a:t>Se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extrae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atributos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cada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región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7E7E7E"/>
                </a:solidFill>
                <a:latin typeface="Calibri"/>
                <a:cs typeface="Calibri"/>
              </a:rPr>
              <a:t>(por</a:t>
            </a:r>
            <a:r>
              <a:rPr sz="1600" spc="-3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7E7E7E"/>
                </a:solidFill>
                <a:latin typeface="Calibri"/>
                <a:cs typeface="Calibri"/>
              </a:rPr>
              <a:t>separado)</a:t>
            </a:r>
            <a:r>
              <a:rPr sz="1600" spc="2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usando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CNN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Calibri"/>
                <a:cs typeface="Calibri"/>
              </a:rPr>
              <a:t>(entrenada</a:t>
            </a:r>
            <a:r>
              <a:rPr sz="1600" spc="-2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7E7E7E"/>
                </a:solidFill>
                <a:latin typeface="Calibri"/>
                <a:cs typeface="Calibri"/>
              </a:rPr>
              <a:t>en</a:t>
            </a:r>
            <a:r>
              <a:rPr sz="1600" spc="-3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Calibri"/>
                <a:cs typeface="Calibri"/>
              </a:rPr>
              <a:t>ImageNet)</a:t>
            </a:r>
            <a:endParaRPr sz="1600">
              <a:latin typeface="Calibri"/>
              <a:cs typeface="Calibri"/>
            </a:endParaRPr>
          </a:p>
          <a:p>
            <a:pPr marL="389890" lvl="1" indent="-161290">
              <a:lnSpc>
                <a:spcPct val="100000"/>
              </a:lnSpc>
              <a:spcBef>
                <a:spcPts val="434"/>
              </a:spcBef>
              <a:buChar char="-"/>
              <a:tabLst>
                <a:tab pos="389890" algn="l"/>
              </a:tabLst>
            </a:pPr>
            <a:r>
              <a:rPr sz="1800" dirty="0">
                <a:latin typeface="Calibri"/>
                <a:cs typeface="Calibri"/>
              </a:rPr>
              <a:t>Se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clasifica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cada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región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usando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SVMs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y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corrige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la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localización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los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delimitadores</a:t>
            </a:r>
            <a:endParaRPr sz="1800">
              <a:latin typeface="Calibri"/>
              <a:cs typeface="Calibri"/>
            </a:endParaRPr>
          </a:p>
          <a:p>
            <a:pPr marL="388620">
              <a:lnSpc>
                <a:spcPct val="100000"/>
              </a:lnSpc>
              <a:spcBef>
                <a:spcPts val="20"/>
              </a:spcBef>
            </a:pPr>
            <a:r>
              <a:rPr sz="1600" spc="-10" dirty="0">
                <a:solidFill>
                  <a:srgbClr val="7E7E7E"/>
                </a:solidFill>
                <a:latin typeface="Calibri"/>
                <a:cs typeface="Calibri"/>
              </a:rPr>
              <a:t>(“boxes”)</a:t>
            </a:r>
            <a:endParaRPr sz="16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55292" y="3429000"/>
            <a:ext cx="4032504" cy="3265557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7298563" y="4569078"/>
            <a:ext cx="156972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635" algn="ctr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7E7E7E"/>
                </a:solidFill>
                <a:latin typeface="Calibri"/>
                <a:cs typeface="Calibri"/>
              </a:rPr>
              <a:t>Girshick</a:t>
            </a:r>
            <a:r>
              <a:rPr sz="1000" spc="-5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7E7E7E"/>
                </a:solidFill>
                <a:latin typeface="Calibri"/>
                <a:cs typeface="Calibri"/>
              </a:rPr>
              <a:t>et</a:t>
            </a:r>
            <a:r>
              <a:rPr sz="1000" spc="-1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7E7E7E"/>
                </a:solidFill>
                <a:latin typeface="Calibri"/>
                <a:cs typeface="Calibri"/>
              </a:rPr>
              <a:t>al.</a:t>
            </a:r>
            <a:r>
              <a:rPr sz="1000" spc="-4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7E7E7E"/>
                </a:solidFill>
                <a:latin typeface="Calibri"/>
                <a:cs typeface="Calibri"/>
              </a:rPr>
              <a:t>(2014).</a:t>
            </a:r>
            <a:r>
              <a:rPr sz="1000" spc="-1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000" spc="-20" dirty="0">
                <a:solidFill>
                  <a:srgbClr val="7E7E7E"/>
                </a:solidFill>
                <a:latin typeface="Calibri"/>
                <a:cs typeface="Calibri"/>
              </a:rPr>
              <a:t>Rich </a:t>
            </a:r>
            <a:r>
              <a:rPr sz="1000" dirty="0">
                <a:solidFill>
                  <a:srgbClr val="7E7E7E"/>
                </a:solidFill>
                <a:latin typeface="Calibri"/>
                <a:cs typeface="Calibri"/>
              </a:rPr>
              <a:t>feature</a:t>
            </a:r>
            <a:r>
              <a:rPr sz="1000" spc="1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7E7E7E"/>
                </a:solidFill>
                <a:latin typeface="Calibri"/>
                <a:cs typeface="Calibri"/>
              </a:rPr>
              <a:t>hierarchies</a:t>
            </a:r>
            <a:r>
              <a:rPr sz="100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000" spc="-25" dirty="0">
                <a:solidFill>
                  <a:srgbClr val="7E7E7E"/>
                </a:solidFill>
                <a:latin typeface="Calibri"/>
                <a:cs typeface="Calibri"/>
              </a:rPr>
              <a:t>for</a:t>
            </a:r>
            <a:r>
              <a:rPr sz="1000" dirty="0">
                <a:solidFill>
                  <a:srgbClr val="7E7E7E"/>
                </a:solidFill>
                <a:latin typeface="Calibri"/>
                <a:cs typeface="Calibri"/>
              </a:rPr>
              <a:t> accurate</a:t>
            </a:r>
            <a:r>
              <a:rPr sz="1000" spc="-2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7E7E7E"/>
                </a:solidFill>
                <a:latin typeface="Calibri"/>
                <a:cs typeface="Calibri"/>
              </a:rPr>
              <a:t>object</a:t>
            </a:r>
            <a:r>
              <a:rPr sz="1000" spc="-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7E7E7E"/>
                </a:solidFill>
                <a:latin typeface="Calibri"/>
                <a:cs typeface="Calibri"/>
              </a:rPr>
              <a:t>detection </a:t>
            </a:r>
            <a:r>
              <a:rPr sz="1000" spc="-25" dirty="0">
                <a:solidFill>
                  <a:srgbClr val="7E7E7E"/>
                </a:solidFill>
                <a:latin typeface="Calibri"/>
                <a:cs typeface="Calibri"/>
              </a:rPr>
              <a:t>and</a:t>
            </a:r>
            <a:r>
              <a:rPr sz="1000" dirty="0">
                <a:solidFill>
                  <a:srgbClr val="7E7E7E"/>
                </a:solidFill>
                <a:latin typeface="Calibri"/>
                <a:cs typeface="Calibri"/>
              </a:rPr>
              <a:t> semantic</a:t>
            </a:r>
            <a:r>
              <a:rPr sz="1000" spc="-3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7E7E7E"/>
                </a:solidFill>
                <a:latin typeface="Calibri"/>
                <a:cs typeface="Calibri"/>
              </a:rPr>
              <a:t>segmentation.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45"/>
              </a:lnSpc>
            </a:pPr>
            <a:fld id="{81D60167-4931-47E6-BA6A-407CBD079E47}" type="slidenum">
              <a:rPr spc="-25" dirty="0"/>
              <a:t>15</a:t>
            </a:fld>
            <a:endParaRPr spc="-25" dirty="0"/>
          </a:p>
        </p:txBody>
      </p:sp>
      <p:sp>
        <p:nvSpPr>
          <p:cNvPr id="6" name="object 6"/>
          <p:cNvSpPr txBox="1"/>
          <p:nvPr/>
        </p:nvSpPr>
        <p:spPr>
          <a:xfrm>
            <a:off x="5418835" y="4964684"/>
            <a:ext cx="122110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7E7E7E"/>
                </a:solidFill>
                <a:latin typeface="Calibri"/>
                <a:cs typeface="Calibri"/>
              </a:rPr>
              <a:t>Re-</a:t>
            </a:r>
            <a:r>
              <a:rPr sz="1400" spc="-10" dirty="0">
                <a:solidFill>
                  <a:srgbClr val="7E7E7E"/>
                </a:solidFill>
                <a:latin typeface="Calibri"/>
                <a:cs typeface="Calibri"/>
              </a:rPr>
              <a:t>escalamiento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8" name="Picture 4">
            <a:extLst>
              <a:ext uri="{FF2B5EF4-FFF2-40B4-BE49-F238E27FC236}">
                <a16:creationId xmlns:a16="http://schemas.microsoft.com/office/drawing/2014/main" id="{2DDEE7C2-F7CA-572A-E353-ABA304F45E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85" y="152399"/>
            <a:ext cx="685800" cy="583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6" descr="Ingeniería de Sistemas - UNCP">
            <a:extLst>
              <a:ext uri="{FF2B5EF4-FFF2-40B4-BE49-F238E27FC236}">
                <a16:creationId xmlns:a16="http://schemas.microsoft.com/office/drawing/2014/main" id="{9E73A6FF-8808-B6C1-0F3A-8E09FB3E14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3574" y="152399"/>
            <a:ext cx="581085" cy="583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Detectores</a:t>
            </a:r>
            <a:r>
              <a:rPr spc="-40" dirty="0"/>
              <a:t> </a:t>
            </a:r>
            <a:r>
              <a:rPr dirty="0"/>
              <a:t>de</a:t>
            </a:r>
            <a:r>
              <a:rPr spc="-30" dirty="0"/>
              <a:t> </a:t>
            </a:r>
            <a:r>
              <a:rPr dirty="0"/>
              <a:t>Dos</a:t>
            </a:r>
            <a:r>
              <a:rPr spc="-35" dirty="0"/>
              <a:t> </a:t>
            </a:r>
            <a:r>
              <a:rPr spc="-10" dirty="0"/>
              <a:t>Etapas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60035" y="1918257"/>
            <a:ext cx="3817750" cy="411505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927975" y="3780535"/>
            <a:ext cx="26035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solidFill>
                  <a:srgbClr val="7E7E7E"/>
                </a:solidFill>
                <a:latin typeface="Calibri"/>
                <a:cs typeface="Calibri"/>
              </a:rPr>
              <a:t>RoI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955419" y="6625767"/>
            <a:ext cx="532892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r>
              <a:rPr sz="1000" dirty="0">
                <a:solidFill>
                  <a:srgbClr val="7E7E7E"/>
                </a:solidFill>
                <a:latin typeface="Calibri"/>
                <a:cs typeface="Calibri"/>
              </a:rPr>
              <a:t>Girshick,</a:t>
            </a:r>
            <a:r>
              <a:rPr sz="1000" spc="-3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7E7E7E"/>
                </a:solidFill>
                <a:latin typeface="Calibri"/>
                <a:cs typeface="Calibri"/>
              </a:rPr>
              <a:t>R.</a:t>
            </a:r>
            <a:r>
              <a:rPr sz="1000" spc="-2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7E7E7E"/>
                </a:solidFill>
                <a:latin typeface="Calibri"/>
                <a:cs typeface="Calibri"/>
              </a:rPr>
              <a:t>(2015).</a:t>
            </a:r>
            <a:r>
              <a:rPr sz="1000" spc="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7E7E7E"/>
                </a:solidFill>
                <a:latin typeface="Calibri"/>
                <a:cs typeface="Calibri"/>
              </a:rPr>
              <a:t>Fast</a:t>
            </a:r>
            <a:r>
              <a:rPr sz="1000" spc="-2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7E7E7E"/>
                </a:solidFill>
                <a:latin typeface="Calibri"/>
                <a:cs typeface="Calibri"/>
              </a:rPr>
              <a:t>R-</a:t>
            </a:r>
            <a:r>
              <a:rPr sz="1000" dirty="0">
                <a:solidFill>
                  <a:srgbClr val="7E7E7E"/>
                </a:solidFill>
                <a:latin typeface="Calibri"/>
                <a:cs typeface="Calibri"/>
              </a:rPr>
              <a:t>CNN.</a:t>
            </a:r>
            <a:r>
              <a:rPr sz="1000" spc="-1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7E7E7E"/>
                </a:solidFill>
                <a:latin typeface="Calibri"/>
                <a:cs typeface="Calibri"/>
              </a:rPr>
              <a:t>In</a:t>
            </a:r>
            <a:r>
              <a:rPr sz="1000" spc="-2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7E7E7E"/>
                </a:solidFill>
                <a:latin typeface="Calibri"/>
                <a:cs typeface="Calibri"/>
              </a:rPr>
              <a:t>Proceedings</a:t>
            </a:r>
            <a:r>
              <a:rPr sz="1000" spc="-1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7E7E7E"/>
                </a:solidFill>
                <a:latin typeface="Calibri"/>
                <a:cs typeface="Calibri"/>
              </a:rPr>
              <a:t>of</a:t>
            </a:r>
            <a:r>
              <a:rPr sz="1000" spc="-3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7E7E7E"/>
                </a:solidFill>
                <a:latin typeface="Calibri"/>
                <a:cs typeface="Calibri"/>
              </a:rPr>
              <a:t>the</a:t>
            </a:r>
            <a:r>
              <a:rPr sz="1000" spc="-2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7E7E7E"/>
                </a:solidFill>
                <a:latin typeface="Calibri"/>
                <a:cs typeface="Calibri"/>
              </a:rPr>
              <a:t>IEEE</a:t>
            </a:r>
            <a:r>
              <a:rPr sz="1000" spc="-2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7E7E7E"/>
                </a:solidFill>
                <a:latin typeface="Calibri"/>
                <a:cs typeface="Calibri"/>
              </a:rPr>
              <a:t>international</a:t>
            </a:r>
            <a:r>
              <a:rPr sz="1000" spc="-4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7E7E7E"/>
                </a:solidFill>
                <a:latin typeface="Calibri"/>
                <a:cs typeface="Calibri"/>
              </a:rPr>
              <a:t>conference on</a:t>
            </a:r>
            <a:r>
              <a:rPr sz="1000" spc="-2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7E7E7E"/>
                </a:solidFill>
                <a:latin typeface="Calibri"/>
                <a:cs typeface="Calibri"/>
              </a:rPr>
              <a:t>computer</a:t>
            </a:r>
            <a:r>
              <a:rPr sz="1000" spc="-10" dirty="0">
                <a:solidFill>
                  <a:srgbClr val="7E7E7E"/>
                </a:solidFill>
                <a:latin typeface="Calibri"/>
                <a:cs typeface="Calibri"/>
              </a:rPr>
              <a:t> vision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45"/>
              </a:lnSpc>
            </a:pPr>
            <a:fld id="{81D60167-4931-47E6-BA6A-407CBD079E47}" type="slidenum">
              <a:rPr spc="-25" dirty="0"/>
              <a:t>16</a:t>
            </a:fld>
            <a:endParaRPr spc="-25" dirty="0"/>
          </a:p>
        </p:txBody>
      </p:sp>
      <p:sp>
        <p:nvSpPr>
          <p:cNvPr id="5" name="object 5"/>
          <p:cNvSpPr txBox="1"/>
          <p:nvPr/>
        </p:nvSpPr>
        <p:spPr>
          <a:xfrm>
            <a:off x="7797545" y="3398011"/>
            <a:ext cx="122174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20" dirty="0">
                <a:solidFill>
                  <a:srgbClr val="7E7E7E"/>
                </a:solidFill>
                <a:latin typeface="Calibri"/>
                <a:cs typeface="Calibri"/>
              </a:rPr>
              <a:t>Re-</a:t>
            </a:r>
            <a:r>
              <a:rPr sz="1400" spc="-10" dirty="0">
                <a:solidFill>
                  <a:srgbClr val="7E7E7E"/>
                </a:solidFill>
                <a:latin typeface="Calibri"/>
                <a:cs typeface="Calibri"/>
              </a:rPr>
              <a:t>escalamiento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37794" y="922782"/>
            <a:ext cx="4850765" cy="2214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2092FA"/>
                </a:solidFill>
                <a:latin typeface="Calibri"/>
                <a:cs typeface="Calibri"/>
              </a:rPr>
              <a:t>Fast</a:t>
            </a:r>
            <a:r>
              <a:rPr sz="2400" b="1" spc="-114" dirty="0">
                <a:solidFill>
                  <a:srgbClr val="2092FA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2092FA"/>
                </a:solidFill>
                <a:latin typeface="Calibri"/>
                <a:cs typeface="Calibri"/>
              </a:rPr>
              <a:t>R-</a:t>
            </a:r>
            <a:r>
              <a:rPr sz="2400" b="1" spc="-25" dirty="0">
                <a:solidFill>
                  <a:srgbClr val="2092FA"/>
                </a:solidFill>
                <a:latin typeface="Calibri"/>
                <a:cs typeface="Calibri"/>
              </a:rPr>
              <a:t>CNN</a:t>
            </a:r>
            <a:endParaRPr sz="2400">
              <a:latin typeface="Calibri"/>
              <a:cs typeface="Calibri"/>
            </a:endParaRPr>
          </a:p>
          <a:p>
            <a:pPr marL="207645" indent="-194945">
              <a:lnSpc>
                <a:spcPct val="100000"/>
              </a:lnSpc>
              <a:spcBef>
                <a:spcPts val="1680"/>
              </a:spcBef>
              <a:buFont typeface="Arial MT"/>
              <a:buChar char="•"/>
              <a:tabLst>
                <a:tab pos="207645" algn="l"/>
              </a:tabLst>
            </a:pPr>
            <a:r>
              <a:rPr sz="2000" dirty="0">
                <a:latin typeface="Calibri"/>
                <a:cs typeface="Calibri"/>
              </a:rPr>
              <a:t>Más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rápida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que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R-</a:t>
            </a:r>
            <a:r>
              <a:rPr sz="2000" spc="-20" dirty="0">
                <a:latin typeface="Calibri"/>
                <a:cs typeface="Calibri"/>
              </a:rPr>
              <a:t>CNN:</a:t>
            </a:r>
            <a:endParaRPr sz="2000">
              <a:latin typeface="Calibri"/>
              <a:cs typeface="Calibri"/>
            </a:endParaRPr>
          </a:p>
          <a:p>
            <a:pPr marL="388620" marR="357505" indent="-160020">
              <a:lnSpc>
                <a:spcPct val="101299"/>
              </a:lnSpc>
              <a:spcBef>
                <a:spcPts val="409"/>
              </a:spcBef>
            </a:pPr>
            <a:r>
              <a:rPr sz="1800" dirty="0">
                <a:latin typeface="Calibri"/>
                <a:cs typeface="Calibri"/>
              </a:rPr>
              <a:t>-</a:t>
            </a:r>
            <a:r>
              <a:rPr sz="1800" spc="2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Extrae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atributos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para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toda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la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imagen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E7E7E"/>
                </a:solidFill>
                <a:latin typeface="Calibri"/>
                <a:cs typeface="Calibri"/>
              </a:rPr>
              <a:t>(antes</a:t>
            </a:r>
            <a:r>
              <a:rPr sz="1400" spc="-25" dirty="0">
                <a:solidFill>
                  <a:srgbClr val="7E7E7E"/>
                </a:solidFill>
                <a:latin typeface="Calibri"/>
                <a:cs typeface="Calibri"/>
              </a:rPr>
              <a:t> de </a:t>
            </a:r>
            <a:r>
              <a:rPr sz="1400" dirty="0">
                <a:solidFill>
                  <a:srgbClr val="7E7E7E"/>
                </a:solidFill>
                <a:latin typeface="Calibri"/>
                <a:cs typeface="Calibri"/>
              </a:rPr>
              <a:t>crear</a:t>
            </a:r>
            <a:r>
              <a:rPr sz="1400" spc="-6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7E7E7E"/>
                </a:solidFill>
                <a:latin typeface="Calibri"/>
                <a:cs typeface="Calibri"/>
              </a:rPr>
              <a:t>regiones)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370"/>
              </a:spcBef>
            </a:pPr>
            <a:endParaRPr sz="1800">
              <a:latin typeface="Calibri"/>
              <a:cs typeface="Calibri"/>
            </a:endParaRPr>
          </a:p>
          <a:p>
            <a:pPr marL="207645" indent="-194945">
              <a:lnSpc>
                <a:spcPct val="100000"/>
              </a:lnSpc>
              <a:buFont typeface="Arial MT"/>
              <a:buChar char="•"/>
              <a:tabLst>
                <a:tab pos="207645" algn="l"/>
              </a:tabLst>
            </a:pPr>
            <a:r>
              <a:rPr sz="2000" spc="-10" dirty="0">
                <a:solidFill>
                  <a:srgbClr val="00AF50"/>
                </a:solidFill>
                <a:latin typeface="Calibri"/>
                <a:cs typeface="Calibri"/>
              </a:rPr>
              <a:t>Etapas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54202" y="3265170"/>
            <a:ext cx="413067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-</a:t>
            </a:r>
            <a:r>
              <a:rPr sz="1800" spc="2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Genera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atributos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para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toda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la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imagen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con</a:t>
            </a:r>
            <a:endParaRPr sz="1800">
              <a:latin typeface="Calibri"/>
              <a:cs typeface="Calibri"/>
            </a:endParaRPr>
          </a:p>
          <a:p>
            <a:pPr marL="172085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una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CNN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“backbone”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7E7E7E"/>
                </a:solidFill>
                <a:latin typeface="Calibri"/>
                <a:cs typeface="Calibri"/>
              </a:rPr>
              <a:t>(AlexNet,</a:t>
            </a:r>
            <a:r>
              <a:rPr sz="1600" spc="-3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7E7E7E"/>
                </a:solidFill>
                <a:latin typeface="Calibri"/>
                <a:cs typeface="Calibri"/>
              </a:rPr>
              <a:t>VGG,</a:t>
            </a:r>
            <a:r>
              <a:rPr sz="1600" spc="-3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Calibri"/>
                <a:cs typeface="Calibri"/>
              </a:rPr>
              <a:t>ResNet)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54202" y="3965905"/>
            <a:ext cx="4306570" cy="19773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3355" indent="-160655">
              <a:lnSpc>
                <a:spcPct val="100000"/>
              </a:lnSpc>
              <a:spcBef>
                <a:spcPts val="100"/>
              </a:spcBef>
              <a:buChar char="-"/>
              <a:tabLst>
                <a:tab pos="173355" algn="l"/>
              </a:tabLst>
            </a:pPr>
            <a:r>
              <a:rPr sz="1800" dirty="0">
                <a:latin typeface="Calibri"/>
                <a:cs typeface="Calibri"/>
              </a:rPr>
              <a:t>Generar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regiones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interés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(RoI)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usando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los</a:t>
            </a:r>
            <a:endParaRPr sz="1800">
              <a:latin typeface="Calibri"/>
              <a:cs typeface="Calibri"/>
            </a:endParaRPr>
          </a:p>
          <a:p>
            <a:pPr marL="172085">
              <a:lnSpc>
                <a:spcPct val="100000"/>
              </a:lnSpc>
              <a:spcBef>
                <a:spcPts val="5"/>
              </a:spcBef>
            </a:pPr>
            <a:r>
              <a:rPr sz="1800" spc="-10" dirty="0">
                <a:latin typeface="Calibri"/>
                <a:cs typeface="Calibri"/>
              </a:rPr>
              <a:t>atributos</a:t>
            </a:r>
            <a:endParaRPr sz="1800">
              <a:latin typeface="Calibri"/>
              <a:cs typeface="Calibri"/>
            </a:endParaRPr>
          </a:p>
          <a:p>
            <a:pPr marL="173990" indent="-161290">
              <a:lnSpc>
                <a:spcPct val="100000"/>
              </a:lnSpc>
              <a:spcBef>
                <a:spcPts val="1200"/>
              </a:spcBef>
              <a:buChar char="-"/>
              <a:tabLst>
                <a:tab pos="173990" algn="l"/>
              </a:tabLst>
            </a:pPr>
            <a:r>
              <a:rPr sz="1800" spc="-30" dirty="0">
                <a:latin typeface="Calibri"/>
                <a:cs typeface="Calibri"/>
              </a:rPr>
              <a:t>Re-</a:t>
            </a:r>
            <a:r>
              <a:rPr sz="1800" dirty="0">
                <a:latin typeface="Calibri"/>
                <a:cs typeface="Calibri"/>
              </a:rPr>
              <a:t>escala las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regiones</a:t>
            </a:r>
            <a:endParaRPr sz="1800">
              <a:latin typeface="Calibri"/>
              <a:cs typeface="Calibri"/>
            </a:endParaRPr>
          </a:p>
          <a:p>
            <a:pPr marL="172085" marR="348615" indent="-160020">
              <a:lnSpc>
                <a:spcPct val="100000"/>
              </a:lnSpc>
              <a:spcBef>
                <a:spcPts val="1200"/>
              </a:spcBef>
              <a:buChar char="-"/>
              <a:tabLst>
                <a:tab pos="172085" algn="l"/>
                <a:tab pos="173355" algn="l"/>
              </a:tabLst>
            </a:pPr>
            <a:r>
              <a:rPr sz="1800" dirty="0">
                <a:latin typeface="Calibri"/>
                <a:cs typeface="Calibri"/>
              </a:rPr>
              <a:t>	Aplica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CNN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cada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región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para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generar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la </a:t>
            </a:r>
            <a:r>
              <a:rPr sz="1800" dirty="0">
                <a:latin typeface="Calibri"/>
                <a:cs typeface="Calibri"/>
              </a:rPr>
              <a:t>clase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y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refinar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la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predicción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del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cuadro </a:t>
            </a:r>
            <a:r>
              <a:rPr sz="1800" dirty="0">
                <a:latin typeface="Calibri"/>
                <a:cs typeface="Calibri"/>
              </a:rPr>
              <a:t>delimitador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7E7E7E"/>
                </a:solidFill>
                <a:latin typeface="Calibri"/>
                <a:cs typeface="Calibri"/>
              </a:rPr>
              <a:t>(“bounding</a:t>
            </a:r>
            <a:r>
              <a:rPr sz="1600" spc="-6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spc="-20" dirty="0">
                <a:solidFill>
                  <a:srgbClr val="7E7E7E"/>
                </a:solidFill>
                <a:latin typeface="Calibri"/>
                <a:cs typeface="Calibri"/>
              </a:rPr>
              <a:t>box”)</a:t>
            </a:r>
            <a:endParaRPr sz="1600">
              <a:latin typeface="Calibri"/>
              <a:cs typeface="Calibri"/>
            </a:endParaRPr>
          </a:p>
        </p:txBody>
      </p:sp>
      <p:pic>
        <p:nvPicPr>
          <p:cNvPr id="11" name="Picture 4">
            <a:extLst>
              <a:ext uri="{FF2B5EF4-FFF2-40B4-BE49-F238E27FC236}">
                <a16:creationId xmlns:a16="http://schemas.microsoft.com/office/drawing/2014/main" id="{E20A7C80-D596-57B7-9EA3-91A05B2390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85" y="152399"/>
            <a:ext cx="685800" cy="583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6" descr="Ingeniería de Sistemas - UNCP">
            <a:extLst>
              <a:ext uri="{FF2B5EF4-FFF2-40B4-BE49-F238E27FC236}">
                <a16:creationId xmlns:a16="http://schemas.microsoft.com/office/drawing/2014/main" id="{290A1046-D5D0-D71E-40CE-F3DB607646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3574" y="152399"/>
            <a:ext cx="581085" cy="583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Detectores</a:t>
            </a:r>
            <a:r>
              <a:rPr spc="-40" dirty="0"/>
              <a:t> </a:t>
            </a:r>
            <a:r>
              <a:rPr dirty="0"/>
              <a:t>de</a:t>
            </a:r>
            <a:r>
              <a:rPr spc="-30" dirty="0"/>
              <a:t> </a:t>
            </a:r>
            <a:r>
              <a:rPr dirty="0"/>
              <a:t>Dos</a:t>
            </a:r>
            <a:r>
              <a:rPr spc="-35" dirty="0"/>
              <a:t> </a:t>
            </a:r>
            <a:r>
              <a:rPr spc="-10" dirty="0"/>
              <a:t>Etapas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7794" y="922782"/>
            <a:ext cx="6012815" cy="1240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32175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2092FA"/>
                </a:solidFill>
                <a:latin typeface="Calibri"/>
                <a:cs typeface="Calibri"/>
              </a:rPr>
              <a:t>Fast</a:t>
            </a:r>
            <a:r>
              <a:rPr sz="2400" b="1" spc="-114" dirty="0">
                <a:solidFill>
                  <a:srgbClr val="2092FA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2092FA"/>
                </a:solidFill>
                <a:latin typeface="Calibri"/>
                <a:cs typeface="Calibri"/>
              </a:rPr>
              <a:t>R-</a:t>
            </a:r>
            <a:r>
              <a:rPr sz="2400" b="1" spc="-25" dirty="0">
                <a:solidFill>
                  <a:srgbClr val="2092FA"/>
                </a:solidFill>
                <a:latin typeface="Calibri"/>
                <a:cs typeface="Calibri"/>
              </a:rPr>
              <a:t>CNN</a:t>
            </a:r>
            <a:endParaRPr sz="2400">
              <a:latin typeface="Calibri"/>
              <a:cs typeface="Calibri"/>
            </a:endParaRPr>
          </a:p>
          <a:p>
            <a:pPr marL="207645" indent="-194945">
              <a:lnSpc>
                <a:spcPct val="100000"/>
              </a:lnSpc>
              <a:spcBef>
                <a:spcPts val="1680"/>
              </a:spcBef>
              <a:buFont typeface="Arial MT"/>
              <a:buChar char="•"/>
              <a:tabLst>
                <a:tab pos="207645" algn="l"/>
              </a:tabLst>
            </a:pPr>
            <a:r>
              <a:rPr sz="2000" dirty="0">
                <a:solidFill>
                  <a:srgbClr val="00AF50"/>
                </a:solidFill>
                <a:latin typeface="Calibri"/>
                <a:cs typeface="Calibri"/>
              </a:rPr>
              <a:t>Comparación</a:t>
            </a:r>
            <a:r>
              <a:rPr sz="2000" spc="-6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AF50"/>
                </a:solidFill>
                <a:latin typeface="Calibri"/>
                <a:cs typeface="Calibri"/>
              </a:rPr>
              <a:t>con</a:t>
            </a:r>
            <a:r>
              <a:rPr sz="2000" spc="-6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AF50"/>
                </a:solidFill>
                <a:latin typeface="Calibri"/>
                <a:cs typeface="Calibri"/>
              </a:rPr>
              <a:t>R-</a:t>
            </a:r>
            <a:r>
              <a:rPr sz="2000" spc="-25" dirty="0">
                <a:solidFill>
                  <a:srgbClr val="00AF50"/>
                </a:solidFill>
                <a:latin typeface="Calibri"/>
                <a:cs typeface="Calibri"/>
              </a:rPr>
              <a:t>CNN</a:t>
            </a:r>
            <a:endParaRPr sz="2000">
              <a:latin typeface="Calibri"/>
              <a:cs typeface="Calibri"/>
            </a:endParaRPr>
          </a:p>
          <a:p>
            <a:pPr marL="228600">
              <a:lnSpc>
                <a:spcPct val="100000"/>
              </a:lnSpc>
              <a:spcBef>
                <a:spcPts val="440"/>
              </a:spcBef>
            </a:pPr>
            <a:r>
              <a:rPr sz="1800" dirty="0">
                <a:latin typeface="Calibri"/>
                <a:cs typeface="Calibri"/>
              </a:rPr>
              <a:t>-</a:t>
            </a:r>
            <a:r>
              <a:rPr sz="1800" spc="2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Tiempo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entrenamiento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y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tiempo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prueba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(“inferencia”)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54202" y="5155183"/>
            <a:ext cx="8148320" cy="11474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3990" indent="-161290">
              <a:lnSpc>
                <a:spcPct val="100000"/>
              </a:lnSpc>
              <a:spcBef>
                <a:spcPts val="100"/>
              </a:spcBef>
              <a:buChar char="-"/>
              <a:tabLst>
                <a:tab pos="173990" algn="l"/>
              </a:tabLst>
            </a:pPr>
            <a:r>
              <a:rPr sz="1800" dirty="0">
                <a:latin typeface="Calibri"/>
                <a:cs typeface="Calibri"/>
              </a:rPr>
              <a:t>En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las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pruebas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Calibri"/>
                <a:cs typeface="Calibri"/>
              </a:rPr>
              <a:t>(inferencia)</a:t>
            </a:r>
            <a:r>
              <a:rPr sz="1600" spc="2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lo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que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más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demora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es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la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generación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regiones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propuestas</a:t>
            </a:r>
            <a:endParaRPr sz="1800">
              <a:latin typeface="Calibri"/>
              <a:cs typeface="Calibri"/>
            </a:endParaRPr>
          </a:p>
          <a:p>
            <a:pPr marL="172085">
              <a:lnSpc>
                <a:spcPct val="100000"/>
              </a:lnSpc>
              <a:spcBef>
                <a:spcPts val="20"/>
              </a:spcBef>
            </a:pPr>
            <a:r>
              <a:rPr sz="1600" dirty="0">
                <a:solidFill>
                  <a:srgbClr val="7E7E7E"/>
                </a:solidFill>
                <a:latin typeface="Calibri"/>
                <a:cs typeface="Calibri"/>
              </a:rPr>
              <a:t>(compara</a:t>
            </a:r>
            <a:r>
              <a:rPr sz="1600" spc="-4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7E7E7E"/>
                </a:solidFill>
                <a:latin typeface="Calibri"/>
                <a:cs typeface="Calibri"/>
              </a:rPr>
              <a:t>azul</a:t>
            </a:r>
            <a:r>
              <a:rPr sz="1600" spc="-6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7E7E7E"/>
                </a:solidFill>
                <a:latin typeface="Calibri"/>
                <a:cs typeface="Calibri"/>
              </a:rPr>
              <a:t>con</a:t>
            </a:r>
            <a:r>
              <a:rPr sz="1600" spc="-5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Calibri"/>
                <a:cs typeface="Calibri"/>
              </a:rPr>
              <a:t>rojo)</a:t>
            </a:r>
            <a:endParaRPr sz="1600">
              <a:latin typeface="Calibri"/>
              <a:cs typeface="Calibri"/>
            </a:endParaRPr>
          </a:p>
          <a:p>
            <a:pPr marL="173990" indent="-161290">
              <a:lnSpc>
                <a:spcPct val="100000"/>
              </a:lnSpc>
              <a:spcBef>
                <a:spcPts val="414"/>
              </a:spcBef>
              <a:buChar char="-"/>
              <a:tabLst>
                <a:tab pos="173990" algn="l"/>
              </a:tabLst>
            </a:pPr>
            <a:r>
              <a:rPr sz="1800" spc="-10" dirty="0">
                <a:latin typeface="Calibri"/>
                <a:cs typeface="Calibri"/>
              </a:rPr>
              <a:t>Alternativa: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usar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una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red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neuronal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para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proponer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regiones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interés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(más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rápido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que</a:t>
            </a:r>
            <a:endParaRPr sz="1800">
              <a:latin typeface="Calibri"/>
              <a:cs typeface="Calibri"/>
            </a:endParaRPr>
          </a:p>
          <a:p>
            <a:pPr marL="172085">
              <a:lnSpc>
                <a:spcPct val="100000"/>
              </a:lnSpc>
            </a:pPr>
            <a:r>
              <a:rPr sz="1800" spc="-10" dirty="0">
                <a:latin typeface="Calibri"/>
                <a:cs typeface="Calibri"/>
              </a:rPr>
              <a:t>“selective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search”)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5632" y="2558795"/>
            <a:ext cx="3485388" cy="2132076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856988" y="2348483"/>
            <a:ext cx="3994830" cy="2539198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45"/>
              </a:lnSpc>
            </a:pPr>
            <a:fld id="{81D60167-4931-47E6-BA6A-407CBD079E47}" type="slidenum">
              <a:rPr spc="-25" dirty="0"/>
              <a:t>17</a:t>
            </a:fld>
            <a:endParaRPr spc="-25" dirty="0"/>
          </a:p>
        </p:txBody>
      </p:sp>
      <p:pic>
        <p:nvPicPr>
          <p:cNvPr id="8" name="Picture 4">
            <a:extLst>
              <a:ext uri="{FF2B5EF4-FFF2-40B4-BE49-F238E27FC236}">
                <a16:creationId xmlns:a16="http://schemas.microsoft.com/office/drawing/2014/main" id="{965C9395-D4ED-18FF-F9A5-46F79C0EEF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85" y="152399"/>
            <a:ext cx="685800" cy="583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6" descr="Ingeniería de Sistemas - UNCP">
            <a:extLst>
              <a:ext uri="{FF2B5EF4-FFF2-40B4-BE49-F238E27FC236}">
                <a16:creationId xmlns:a16="http://schemas.microsoft.com/office/drawing/2014/main" id="{ECEC03ED-B362-A950-983A-2FF92594C1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3574" y="152399"/>
            <a:ext cx="581085" cy="583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Detectores</a:t>
            </a:r>
            <a:r>
              <a:rPr spc="-40" dirty="0"/>
              <a:t> </a:t>
            </a:r>
            <a:r>
              <a:rPr dirty="0"/>
              <a:t>de</a:t>
            </a:r>
            <a:r>
              <a:rPr spc="-30" dirty="0"/>
              <a:t> </a:t>
            </a:r>
            <a:r>
              <a:rPr dirty="0"/>
              <a:t>Dos</a:t>
            </a:r>
            <a:r>
              <a:rPr spc="-35" dirty="0"/>
              <a:t> </a:t>
            </a:r>
            <a:r>
              <a:rPr spc="-10" dirty="0"/>
              <a:t>Etapas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82495" y="2351532"/>
            <a:ext cx="4632016" cy="4174236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6443471" y="3717035"/>
            <a:ext cx="216535" cy="2809240"/>
          </a:xfrm>
          <a:custGeom>
            <a:avLst/>
            <a:gdLst/>
            <a:ahLst/>
            <a:cxnLst/>
            <a:rect l="l" t="t" r="r" b="b"/>
            <a:pathLst>
              <a:path w="216534" h="2809240">
                <a:moveTo>
                  <a:pt x="0" y="0"/>
                </a:moveTo>
                <a:lnTo>
                  <a:pt x="54638" y="32225"/>
                </a:lnTo>
                <a:lnTo>
                  <a:pt x="76533" y="69135"/>
                </a:lnTo>
                <a:lnTo>
                  <a:pt x="93443" y="116915"/>
                </a:lnTo>
                <a:lnTo>
                  <a:pt x="104342" y="173316"/>
                </a:lnTo>
                <a:lnTo>
                  <a:pt x="108203" y="236093"/>
                </a:lnTo>
                <a:lnTo>
                  <a:pt x="108203" y="1168272"/>
                </a:lnTo>
                <a:lnTo>
                  <a:pt x="112065" y="1231049"/>
                </a:lnTo>
                <a:lnTo>
                  <a:pt x="122964" y="1287450"/>
                </a:lnTo>
                <a:lnTo>
                  <a:pt x="139874" y="1335230"/>
                </a:lnTo>
                <a:lnTo>
                  <a:pt x="161769" y="1372140"/>
                </a:lnTo>
                <a:lnTo>
                  <a:pt x="216407" y="1404365"/>
                </a:lnTo>
                <a:lnTo>
                  <a:pt x="187623" y="1412796"/>
                </a:lnTo>
                <a:lnTo>
                  <a:pt x="139874" y="1473501"/>
                </a:lnTo>
                <a:lnTo>
                  <a:pt x="122964" y="1521281"/>
                </a:lnTo>
                <a:lnTo>
                  <a:pt x="112065" y="1577682"/>
                </a:lnTo>
                <a:lnTo>
                  <a:pt x="108203" y="1640458"/>
                </a:lnTo>
                <a:lnTo>
                  <a:pt x="108203" y="2572689"/>
                </a:lnTo>
                <a:lnTo>
                  <a:pt x="104342" y="2635440"/>
                </a:lnTo>
                <a:lnTo>
                  <a:pt x="93443" y="2691826"/>
                </a:lnTo>
                <a:lnTo>
                  <a:pt x="76533" y="2739597"/>
                </a:lnTo>
                <a:lnTo>
                  <a:pt x="54638" y="2776505"/>
                </a:lnTo>
                <a:lnTo>
                  <a:pt x="28784" y="2800300"/>
                </a:lnTo>
                <a:lnTo>
                  <a:pt x="0" y="2808732"/>
                </a:lnTo>
              </a:path>
            </a:pathLst>
          </a:custGeom>
          <a:ln w="9144">
            <a:solidFill>
              <a:srgbClr val="497D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443471" y="2313432"/>
            <a:ext cx="216535" cy="1332230"/>
          </a:xfrm>
          <a:custGeom>
            <a:avLst/>
            <a:gdLst/>
            <a:ahLst/>
            <a:cxnLst/>
            <a:rect l="l" t="t" r="r" b="b"/>
            <a:pathLst>
              <a:path w="216534" h="1332229">
                <a:moveTo>
                  <a:pt x="0" y="0"/>
                </a:moveTo>
                <a:lnTo>
                  <a:pt x="54638" y="32225"/>
                </a:lnTo>
                <a:lnTo>
                  <a:pt x="76533" y="69135"/>
                </a:lnTo>
                <a:lnTo>
                  <a:pt x="93443" y="116915"/>
                </a:lnTo>
                <a:lnTo>
                  <a:pt x="104342" y="173316"/>
                </a:lnTo>
                <a:lnTo>
                  <a:pt x="108203" y="236092"/>
                </a:lnTo>
                <a:lnTo>
                  <a:pt x="108203" y="429894"/>
                </a:lnTo>
                <a:lnTo>
                  <a:pt x="112065" y="492671"/>
                </a:lnTo>
                <a:lnTo>
                  <a:pt x="122964" y="549072"/>
                </a:lnTo>
                <a:lnTo>
                  <a:pt x="139874" y="596852"/>
                </a:lnTo>
                <a:lnTo>
                  <a:pt x="161769" y="633762"/>
                </a:lnTo>
                <a:lnTo>
                  <a:pt x="216407" y="665988"/>
                </a:lnTo>
                <a:lnTo>
                  <a:pt x="187623" y="674418"/>
                </a:lnTo>
                <a:lnTo>
                  <a:pt x="139874" y="735123"/>
                </a:lnTo>
                <a:lnTo>
                  <a:pt x="122964" y="782903"/>
                </a:lnTo>
                <a:lnTo>
                  <a:pt x="112065" y="839304"/>
                </a:lnTo>
                <a:lnTo>
                  <a:pt x="108203" y="902080"/>
                </a:lnTo>
                <a:lnTo>
                  <a:pt x="108203" y="1095882"/>
                </a:lnTo>
                <a:lnTo>
                  <a:pt x="104342" y="1158659"/>
                </a:lnTo>
                <a:lnTo>
                  <a:pt x="93443" y="1215060"/>
                </a:lnTo>
                <a:lnTo>
                  <a:pt x="76533" y="1262840"/>
                </a:lnTo>
                <a:lnTo>
                  <a:pt x="54638" y="1299750"/>
                </a:lnTo>
                <a:lnTo>
                  <a:pt x="28784" y="1323545"/>
                </a:lnTo>
                <a:lnTo>
                  <a:pt x="0" y="1331975"/>
                </a:lnTo>
              </a:path>
            </a:pathLst>
          </a:custGeom>
          <a:ln w="9144">
            <a:solidFill>
              <a:srgbClr val="497D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37794" y="922782"/>
            <a:ext cx="8154034" cy="2520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4935" algn="ctr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solidFill>
                  <a:srgbClr val="2092FA"/>
                </a:solidFill>
                <a:latin typeface="Calibri"/>
                <a:cs typeface="Calibri"/>
              </a:rPr>
              <a:t>Faster</a:t>
            </a:r>
            <a:r>
              <a:rPr sz="2400" b="1" spc="-110" dirty="0">
                <a:solidFill>
                  <a:srgbClr val="2092FA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2092FA"/>
                </a:solidFill>
                <a:latin typeface="Calibri"/>
                <a:cs typeface="Calibri"/>
              </a:rPr>
              <a:t>R-</a:t>
            </a:r>
            <a:r>
              <a:rPr sz="2400" b="1" spc="-25" dirty="0">
                <a:solidFill>
                  <a:srgbClr val="2092FA"/>
                </a:solidFill>
                <a:latin typeface="Calibri"/>
                <a:cs typeface="Calibri"/>
              </a:rPr>
              <a:t>CNN</a:t>
            </a:r>
            <a:endParaRPr sz="2400">
              <a:latin typeface="Calibri"/>
              <a:cs typeface="Calibri"/>
            </a:endParaRPr>
          </a:p>
          <a:p>
            <a:pPr marL="207010" marR="5080" indent="-194945">
              <a:lnSpc>
                <a:spcPct val="100000"/>
              </a:lnSpc>
              <a:spcBef>
                <a:spcPts val="2815"/>
              </a:spcBef>
              <a:buFont typeface="Arial MT"/>
              <a:buChar char="•"/>
              <a:tabLst>
                <a:tab pos="208915" algn="l"/>
              </a:tabLst>
            </a:pPr>
            <a:r>
              <a:rPr sz="2000" dirty="0">
                <a:latin typeface="Calibri"/>
                <a:cs typeface="Calibri"/>
              </a:rPr>
              <a:t>Inserta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una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red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neuronal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7E7E7E"/>
                </a:solidFill>
                <a:latin typeface="Calibri"/>
                <a:cs typeface="Calibri"/>
              </a:rPr>
              <a:t>(llamada</a:t>
            </a:r>
            <a:r>
              <a:rPr sz="1800" spc="-3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7E7E7E"/>
                </a:solidFill>
                <a:latin typeface="Calibri"/>
                <a:cs typeface="Calibri"/>
              </a:rPr>
              <a:t>RPN</a:t>
            </a:r>
            <a:r>
              <a:rPr sz="1800" spc="-4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7E7E7E"/>
                </a:solidFill>
                <a:latin typeface="Calibri"/>
                <a:cs typeface="Calibri"/>
              </a:rPr>
              <a:t>=</a:t>
            </a:r>
            <a:r>
              <a:rPr sz="1800" spc="-5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7E7E7E"/>
                </a:solidFill>
                <a:latin typeface="Calibri"/>
                <a:cs typeface="Calibri"/>
              </a:rPr>
              <a:t>Región</a:t>
            </a:r>
            <a:r>
              <a:rPr sz="1800" spc="-2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7E7E7E"/>
                </a:solidFill>
                <a:latin typeface="Calibri"/>
                <a:cs typeface="Calibri"/>
              </a:rPr>
              <a:t>Proposal</a:t>
            </a:r>
            <a:r>
              <a:rPr sz="1800" spc="-5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7E7E7E"/>
                </a:solidFill>
                <a:latin typeface="Calibri"/>
                <a:cs typeface="Calibri"/>
              </a:rPr>
              <a:t>Network)</a:t>
            </a:r>
            <a:r>
              <a:rPr sz="1800" spc="-1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para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predecir 	</a:t>
            </a:r>
            <a:r>
              <a:rPr sz="2000" dirty="0">
                <a:latin typeface="Calibri"/>
                <a:cs typeface="Calibri"/>
              </a:rPr>
              <a:t>las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regiones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interés</a:t>
            </a:r>
            <a:endParaRPr sz="2000">
              <a:latin typeface="Calibri"/>
              <a:cs typeface="Calibri"/>
            </a:endParaRPr>
          </a:p>
          <a:p>
            <a:pPr marL="6364605">
              <a:lnSpc>
                <a:spcPct val="100000"/>
              </a:lnSpc>
              <a:spcBef>
                <a:spcPts val="1465"/>
              </a:spcBef>
            </a:pPr>
            <a:r>
              <a:rPr sz="1600" dirty="0">
                <a:latin typeface="Calibri"/>
                <a:cs typeface="Calibri"/>
              </a:rPr>
              <a:t>Etapa</a:t>
            </a:r>
            <a:r>
              <a:rPr sz="1600" spc="-80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2:</a:t>
            </a:r>
            <a:endParaRPr sz="1600">
              <a:latin typeface="Calibri"/>
              <a:cs typeface="Calibri"/>
            </a:endParaRPr>
          </a:p>
          <a:p>
            <a:pPr marL="6650990" lvl="1" indent="-194945">
              <a:lnSpc>
                <a:spcPct val="100000"/>
              </a:lnSpc>
              <a:buChar char="-"/>
              <a:tabLst>
                <a:tab pos="6650990" algn="l"/>
              </a:tabLst>
            </a:pPr>
            <a:r>
              <a:rPr sz="1600" spc="-25" dirty="0">
                <a:latin typeface="Calibri"/>
                <a:cs typeface="Calibri"/>
              </a:rPr>
              <a:t>RoI</a:t>
            </a:r>
            <a:endParaRPr sz="1600">
              <a:latin typeface="Calibri"/>
              <a:cs typeface="Calibri"/>
            </a:endParaRPr>
          </a:p>
          <a:p>
            <a:pPr marL="6650990" lvl="1" indent="-194945">
              <a:lnSpc>
                <a:spcPct val="100000"/>
              </a:lnSpc>
              <a:buChar char="-"/>
              <a:tabLst>
                <a:tab pos="6650990" algn="l"/>
              </a:tabLst>
            </a:pPr>
            <a:r>
              <a:rPr sz="1600" dirty="0">
                <a:latin typeface="Calibri"/>
                <a:cs typeface="Calibri"/>
              </a:rPr>
              <a:t>Predecir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clases</a:t>
            </a:r>
            <a:endParaRPr sz="1600">
              <a:latin typeface="Calibri"/>
              <a:cs typeface="Calibri"/>
            </a:endParaRPr>
          </a:p>
          <a:p>
            <a:pPr marL="6650990" lvl="1" indent="-194945">
              <a:lnSpc>
                <a:spcPct val="100000"/>
              </a:lnSpc>
              <a:buChar char="-"/>
              <a:tabLst>
                <a:tab pos="6650990" algn="l"/>
              </a:tabLst>
            </a:pPr>
            <a:r>
              <a:rPr sz="1600" dirty="0">
                <a:latin typeface="Calibri"/>
                <a:cs typeface="Calibri"/>
              </a:rPr>
              <a:t>Predecir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cuadros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112010" y="6655943"/>
            <a:ext cx="513207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r>
              <a:rPr sz="1000" dirty="0">
                <a:solidFill>
                  <a:srgbClr val="7E7E7E"/>
                </a:solidFill>
                <a:latin typeface="Calibri"/>
                <a:cs typeface="Calibri"/>
              </a:rPr>
              <a:t>Ren</a:t>
            </a:r>
            <a:r>
              <a:rPr sz="1000" spc="-2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7E7E7E"/>
                </a:solidFill>
                <a:latin typeface="Calibri"/>
                <a:cs typeface="Calibri"/>
              </a:rPr>
              <a:t>et</a:t>
            </a:r>
            <a:r>
              <a:rPr sz="1000" spc="-2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7E7E7E"/>
                </a:solidFill>
                <a:latin typeface="Calibri"/>
                <a:cs typeface="Calibri"/>
              </a:rPr>
              <a:t>al.</a:t>
            </a:r>
            <a:r>
              <a:rPr sz="1000" spc="-3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7E7E7E"/>
                </a:solidFill>
                <a:latin typeface="Calibri"/>
                <a:cs typeface="Calibri"/>
              </a:rPr>
              <a:t>(2015).</a:t>
            </a:r>
            <a:r>
              <a:rPr sz="1000" spc="1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7E7E7E"/>
                </a:solidFill>
                <a:latin typeface="Calibri"/>
                <a:cs typeface="Calibri"/>
              </a:rPr>
              <a:t>Faster</a:t>
            </a:r>
            <a:r>
              <a:rPr sz="1000" spc="-1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7E7E7E"/>
                </a:solidFill>
                <a:latin typeface="Calibri"/>
                <a:cs typeface="Calibri"/>
              </a:rPr>
              <a:t>R-CNN:</a:t>
            </a:r>
            <a:r>
              <a:rPr sz="1000" spc="-1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7E7E7E"/>
                </a:solidFill>
                <a:latin typeface="Calibri"/>
                <a:cs typeface="Calibri"/>
              </a:rPr>
              <a:t>Towards</a:t>
            </a:r>
            <a:r>
              <a:rPr sz="1000" spc="-3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7E7E7E"/>
                </a:solidFill>
                <a:latin typeface="Calibri"/>
                <a:cs typeface="Calibri"/>
              </a:rPr>
              <a:t>real-</a:t>
            </a:r>
            <a:r>
              <a:rPr sz="1000" dirty="0">
                <a:solidFill>
                  <a:srgbClr val="7E7E7E"/>
                </a:solidFill>
                <a:latin typeface="Calibri"/>
                <a:cs typeface="Calibri"/>
              </a:rPr>
              <a:t>time</a:t>
            </a:r>
            <a:r>
              <a:rPr sz="1000" spc="-2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7E7E7E"/>
                </a:solidFill>
                <a:latin typeface="Calibri"/>
                <a:cs typeface="Calibri"/>
              </a:rPr>
              <a:t>object</a:t>
            </a:r>
            <a:r>
              <a:rPr sz="1000" spc="-2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7E7E7E"/>
                </a:solidFill>
                <a:latin typeface="Calibri"/>
                <a:cs typeface="Calibri"/>
              </a:rPr>
              <a:t>detection </a:t>
            </a:r>
            <a:r>
              <a:rPr sz="1000" dirty="0">
                <a:solidFill>
                  <a:srgbClr val="7E7E7E"/>
                </a:solidFill>
                <a:latin typeface="Calibri"/>
                <a:cs typeface="Calibri"/>
              </a:rPr>
              <a:t>with</a:t>
            </a:r>
            <a:r>
              <a:rPr sz="1000" spc="-2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7E7E7E"/>
                </a:solidFill>
                <a:latin typeface="Calibri"/>
                <a:cs typeface="Calibri"/>
              </a:rPr>
              <a:t>region</a:t>
            </a:r>
            <a:r>
              <a:rPr sz="1000" spc="-2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7E7E7E"/>
                </a:solidFill>
                <a:latin typeface="Calibri"/>
                <a:cs typeface="Calibri"/>
              </a:rPr>
              <a:t>proposal</a:t>
            </a:r>
            <a:r>
              <a:rPr sz="1000" spc="-3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7E7E7E"/>
                </a:solidFill>
                <a:latin typeface="Calibri"/>
                <a:cs typeface="Calibri"/>
              </a:rPr>
              <a:t>networks.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45"/>
              </a:lnSpc>
            </a:pPr>
            <a:fld id="{81D60167-4931-47E6-BA6A-407CBD079E47}" type="slidenum">
              <a:rPr spc="-25" dirty="0"/>
              <a:t>18</a:t>
            </a:fld>
            <a:endParaRPr spc="-25" dirty="0"/>
          </a:p>
        </p:txBody>
      </p:sp>
      <p:sp>
        <p:nvSpPr>
          <p:cNvPr id="7" name="object 7"/>
          <p:cNvSpPr txBox="1"/>
          <p:nvPr/>
        </p:nvSpPr>
        <p:spPr>
          <a:xfrm>
            <a:off x="6821551" y="4603241"/>
            <a:ext cx="1957070" cy="756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Calibri"/>
                <a:cs typeface="Calibri"/>
              </a:rPr>
              <a:t>Etapa</a:t>
            </a:r>
            <a:r>
              <a:rPr sz="1600" spc="-80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1:</a:t>
            </a:r>
            <a:endParaRPr sz="1600">
              <a:latin typeface="Calibri"/>
              <a:cs typeface="Calibri"/>
            </a:endParaRPr>
          </a:p>
          <a:p>
            <a:pPr marL="299085" indent="-194945">
              <a:lnSpc>
                <a:spcPct val="100000"/>
              </a:lnSpc>
              <a:buChar char="-"/>
              <a:tabLst>
                <a:tab pos="299085" algn="l"/>
              </a:tabLst>
            </a:pPr>
            <a:r>
              <a:rPr sz="1600" dirty="0">
                <a:latin typeface="Calibri"/>
                <a:cs typeface="Calibri"/>
              </a:rPr>
              <a:t>Red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backbone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7E7E7E"/>
                </a:solidFill>
                <a:latin typeface="Calibri"/>
                <a:cs typeface="Calibri"/>
              </a:rPr>
              <a:t>(CNN)</a:t>
            </a:r>
            <a:endParaRPr sz="1400">
              <a:latin typeface="Calibri"/>
              <a:cs typeface="Calibri"/>
            </a:endParaRPr>
          </a:p>
          <a:p>
            <a:pPr marL="299085" indent="-194945">
              <a:lnSpc>
                <a:spcPct val="100000"/>
              </a:lnSpc>
              <a:buChar char="-"/>
              <a:tabLst>
                <a:tab pos="299085" algn="l"/>
              </a:tabLst>
            </a:pPr>
            <a:r>
              <a:rPr sz="1600" spc="-25" dirty="0">
                <a:latin typeface="Calibri"/>
                <a:cs typeface="Calibri"/>
              </a:rPr>
              <a:t>RPN</a:t>
            </a:r>
            <a:endParaRPr sz="1600">
              <a:latin typeface="Calibri"/>
              <a:cs typeface="Calibri"/>
            </a:endParaRPr>
          </a:p>
        </p:txBody>
      </p:sp>
      <p:pic>
        <p:nvPicPr>
          <p:cNvPr id="10" name="Picture 4">
            <a:extLst>
              <a:ext uri="{FF2B5EF4-FFF2-40B4-BE49-F238E27FC236}">
                <a16:creationId xmlns:a16="http://schemas.microsoft.com/office/drawing/2014/main" id="{EDA54857-6ABB-FCBC-A3DA-C5A5C198F3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85" y="152399"/>
            <a:ext cx="685800" cy="583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6" descr="Ingeniería de Sistemas - UNCP">
            <a:extLst>
              <a:ext uri="{FF2B5EF4-FFF2-40B4-BE49-F238E27FC236}">
                <a16:creationId xmlns:a16="http://schemas.microsoft.com/office/drawing/2014/main" id="{C4E6C4E7-CBB3-D0BC-599E-581FBF1D0B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3574" y="152399"/>
            <a:ext cx="581085" cy="583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98570" y="581913"/>
            <a:ext cx="154749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solidFill>
                  <a:srgbClr val="B51A00"/>
                </a:solidFill>
              </a:rPr>
              <a:t>Contenido</a:t>
            </a:r>
            <a:endParaRPr sz="28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0312" y="2974695"/>
            <a:ext cx="8458249" cy="74407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52068" y="1511046"/>
            <a:ext cx="4132579" cy="12522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95"/>
              </a:spcBef>
              <a:buAutoNum type="arabicPeriod"/>
              <a:tabLst>
                <a:tab pos="469265" algn="l"/>
              </a:tabLst>
            </a:pPr>
            <a:r>
              <a:rPr sz="2800" spc="-10" dirty="0">
                <a:solidFill>
                  <a:srgbClr val="A6A6A6"/>
                </a:solidFill>
                <a:latin typeface="Calibri"/>
                <a:cs typeface="Calibri"/>
              </a:rPr>
              <a:t>Detección</a:t>
            </a:r>
            <a:r>
              <a:rPr sz="2800" spc="-70" dirty="0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A6A6A6"/>
                </a:solidFill>
                <a:latin typeface="Calibri"/>
                <a:cs typeface="Calibri"/>
              </a:rPr>
              <a:t>de</a:t>
            </a:r>
            <a:r>
              <a:rPr sz="2800" spc="-45" dirty="0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A6A6A6"/>
                </a:solidFill>
                <a:latin typeface="Calibri"/>
                <a:cs typeface="Calibri"/>
              </a:rPr>
              <a:t>Objetos</a:t>
            </a:r>
            <a:endParaRPr sz="280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spcBef>
                <a:spcPts val="2940"/>
              </a:spcBef>
              <a:buAutoNum type="arabicPeriod"/>
              <a:tabLst>
                <a:tab pos="469265" algn="l"/>
              </a:tabLst>
            </a:pPr>
            <a:r>
              <a:rPr sz="2800" spc="-10" dirty="0">
                <a:solidFill>
                  <a:srgbClr val="A6A6A6"/>
                </a:solidFill>
                <a:latin typeface="Calibri"/>
                <a:cs typeface="Calibri"/>
              </a:rPr>
              <a:t>Detectores</a:t>
            </a:r>
            <a:r>
              <a:rPr sz="2800" spc="-80" dirty="0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A6A6A6"/>
                </a:solidFill>
                <a:latin typeface="Calibri"/>
                <a:cs typeface="Calibri"/>
              </a:rPr>
              <a:t>de</a:t>
            </a:r>
            <a:r>
              <a:rPr sz="2800" spc="-70" dirty="0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A6A6A6"/>
                </a:solidFill>
                <a:latin typeface="Calibri"/>
                <a:cs typeface="Calibri"/>
              </a:rPr>
              <a:t>dos</a:t>
            </a:r>
            <a:r>
              <a:rPr sz="2800" spc="-55" dirty="0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A6A6A6"/>
                </a:solidFill>
                <a:latin typeface="Calibri"/>
                <a:cs typeface="Calibri"/>
              </a:rPr>
              <a:t>etapas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45"/>
              </a:lnSpc>
            </a:pPr>
            <a:fld id="{81D60167-4931-47E6-BA6A-407CBD079E47}" type="slidenum">
              <a:rPr spc="-25" dirty="0"/>
              <a:t>19</a:t>
            </a:fld>
            <a:endParaRPr spc="-25" dirty="0"/>
          </a:p>
        </p:txBody>
      </p:sp>
      <p:sp>
        <p:nvSpPr>
          <p:cNvPr id="5" name="object 5"/>
          <p:cNvSpPr txBox="1"/>
          <p:nvPr/>
        </p:nvSpPr>
        <p:spPr>
          <a:xfrm>
            <a:off x="457200" y="3061716"/>
            <a:ext cx="8298180" cy="584200"/>
          </a:xfrm>
          <a:prstGeom prst="rect">
            <a:avLst/>
          </a:prstGeom>
          <a:solidFill>
            <a:srgbClr val="9BEDF7"/>
          </a:solidFill>
        </p:spPr>
        <p:txBody>
          <a:bodyPr vert="horz" wrap="square" lIns="0" tIns="61594" rIns="0" bIns="0" rtlCol="0">
            <a:spAutoFit/>
          </a:bodyPr>
          <a:lstStyle/>
          <a:p>
            <a:pPr marL="207010">
              <a:lnSpc>
                <a:spcPct val="100000"/>
              </a:lnSpc>
              <a:spcBef>
                <a:spcPts val="484"/>
              </a:spcBef>
              <a:tabLst>
                <a:tab pos="664210" algn="l"/>
              </a:tabLst>
            </a:pPr>
            <a:r>
              <a:rPr sz="2800" b="1" spc="-25" dirty="0">
                <a:solidFill>
                  <a:srgbClr val="0000FF"/>
                </a:solidFill>
                <a:latin typeface="Calibri"/>
                <a:cs typeface="Calibri"/>
              </a:rPr>
              <a:t>3.</a:t>
            </a:r>
            <a:r>
              <a:rPr sz="2800" b="1" dirty="0">
                <a:solidFill>
                  <a:srgbClr val="0000FF"/>
                </a:solidFill>
                <a:latin typeface="Calibri"/>
                <a:cs typeface="Calibri"/>
              </a:rPr>
              <a:t>	</a:t>
            </a:r>
            <a:r>
              <a:rPr sz="2800" b="1" spc="-10" dirty="0">
                <a:solidFill>
                  <a:srgbClr val="0000FF"/>
                </a:solidFill>
                <a:latin typeface="Calibri"/>
                <a:cs typeface="Calibri"/>
              </a:rPr>
              <a:t>Detectores</a:t>
            </a:r>
            <a:r>
              <a:rPr sz="2800" b="1" spc="-5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0000FF"/>
                </a:solidFill>
                <a:latin typeface="Calibri"/>
                <a:cs typeface="Calibri"/>
              </a:rPr>
              <a:t>de</a:t>
            </a:r>
            <a:r>
              <a:rPr sz="2800" b="1" spc="-7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0000FF"/>
                </a:solidFill>
                <a:latin typeface="Calibri"/>
                <a:cs typeface="Calibri"/>
              </a:rPr>
              <a:t>una</a:t>
            </a:r>
            <a:r>
              <a:rPr sz="2800" b="1" spc="-7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0000FF"/>
                </a:solidFill>
                <a:latin typeface="Calibri"/>
                <a:cs typeface="Calibri"/>
              </a:rPr>
              <a:t>etapa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4D0FBAD0-3883-3C4E-1BFA-87F84895D2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85" y="152399"/>
            <a:ext cx="685800" cy="583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 descr="Ingeniería de Sistemas - UNCP">
            <a:extLst>
              <a:ext uri="{FF2B5EF4-FFF2-40B4-BE49-F238E27FC236}">
                <a16:creationId xmlns:a16="http://schemas.microsoft.com/office/drawing/2014/main" id="{BE7341FC-85FB-3527-6DC2-5233C682CF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3574" y="152399"/>
            <a:ext cx="581085" cy="583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588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Detectores</a:t>
            </a:r>
            <a:r>
              <a:rPr spc="-50" dirty="0"/>
              <a:t> </a:t>
            </a:r>
            <a:r>
              <a:rPr dirty="0"/>
              <a:t>de</a:t>
            </a:r>
            <a:r>
              <a:rPr spc="-35" dirty="0"/>
              <a:t> </a:t>
            </a:r>
            <a:r>
              <a:rPr dirty="0"/>
              <a:t>una</a:t>
            </a:r>
            <a:r>
              <a:rPr spc="-55" dirty="0"/>
              <a:t> </a:t>
            </a:r>
            <a:r>
              <a:rPr spc="-10" dirty="0"/>
              <a:t>Etapa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153891"/>
            <a:ext cx="7851775" cy="756920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L="207645" indent="-194945">
              <a:lnSpc>
                <a:spcPct val="100000"/>
              </a:lnSpc>
              <a:spcBef>
                <a:spcPts val="575"/>
              </a:spcBef>
              <a:buFont typeface="Arial MT"/>
              <a:buChar char="•"/>
              <a:tabLst>
                <a:tab pos="207645" algn="l"/>
              </a:tabLst>
            </a:pPr>
            <a:r>
              <a:rPr sz="2000" dirty="0">
                <a:latin typeface="Calibri"/>
                <a:cs typeface="Calibri"/>
              </a:rPr>
              <a:t>Realizan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la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detección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procesando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una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sola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vez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la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imagen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7E7E7E"/>
                </a:solidFill>
                <a:latin typeface="Calibri"/>
                <a:cs typeface="Calibri"/>
              </a:rPr>
              <a:t>(en</a:t>
            </a:r>
            <a:r>
              <a:rPr sz="1800" spc="-3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7E7E7E"/>
                </a:solidFill>
                <a:latin typeface="Calibri"/>
                <a:cs typeface="Calibri"/>
              </a:rPr>
              <a:t>una</a:t>
            </a:r>
            <a:r>
              <a:rPr sz="1800" spc="-4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7E7E7E"/>
                </a:solidFill>
                <a:latin typeface="Calibri"/>
                <a:cs typeface="Calibri"/>
              </a:rPr>
              <a:t>sola</a:t>
            </a:r>
            <a:r>
              <a:rPr sz="1800" spc="-3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7E7E7E"/>
                </a:solidFill>
                <a:latin typeface="Calibri"/>
                <a:cs typeface="Calibri"/>
              </a:rPr>
              <a:t>etapa)</a:t>
            </a:r>
            <a:endParaRPr sz="1800">
              <a:latin typeface="Calibri"/>
              <a:cs typeface="Calibri"/>
            </a:endParaRPr>
          </a:p>
          <a:p>
            <a:pPr marL="228600">
              <a:lnSpc>
                <a:spcPct val="100000"/>
              </a:lnSpc>
              <a:spcBef>
                <a:spcPts val="480"/>
              </a:spcBef>
            </a:pPr>
            <a:r>
              <a:rPr sz="2000" dirty="0">
                <a:latin typeface="Calibri"/>
                <a:cs typeface="Calibri"/>
              </a:rPr>
              <a:t>-</a:t>
            </a:r>
            <a:r>
              <a:rPr sz="2000" spc="1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No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utilizan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propuestas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regiones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40" y="4810255"/>
            <a:ext cx="7865745" cy="1327150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207645" indent="-194945">
              <a:lnSpc>
                <a:spcPct val="100000"/>
              </a:lnSpc>
              <a:spcBef>
                <a:spcPts val="590"/>
              </a:spcBef>
              <a:buFont typeface="Arial MT"/>
              <a:buChar char="•"/>
              <a:tabLst>
                <a:tab pos="207645" algn="l"/>
              </a:tabLst>
            </a:pPr>
            <a:r>
              <a:rPr sz="2000" spc="-10" dirty="0">
                <a:latin typeface="Calibri"/>
                <a:cs typeface="Calibri"/>
              </a:rPr>
              <a:t>Predicen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la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clase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y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la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región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7E7E7E"/>
                </a:solidFill>
                <a:latin typeface="Calibri"/>
                <a:cs typeface="Calibri"/>
              </a:rPr>
              <a:t>(“bounding</a:t>
            </a:r>
            <a:r>
              <a:rPr sz="1800" spc="-1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7E7E7E"/>
                </a:solidFill>
                <a:latin typeface="Calibri"/>
                <a:cs typeface="Calibri"/>
              </a:rPr>
              <a:t>box”) </a:t>
            </a:r>
            <a:r>
              <a:rPr sz="2000" dirty="0">
                <a:latin typeface="Calibri"/>
                <a:cs typeface="Calibri"/>
              </a:rPr>
              <a:t>en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toda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la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imagen</a:t>
            </a:r>
            <a:endParaRPr sz="2000">
              <a:latin typeface="Calibri"/>
              <a:cs typeface="Calibri"/>
            </a:endParaRPr>
          </a:p>
          <a:p>
            <a:pPr marL="389890" lvl="1" indent="-161290">
              <a:lnSpc>
                <a:spcPct val="100000"/>
              </a:lnSpc>
              <a:spcBef>
                <a:spcPts val="440"/>
              </a:spcBef>
              <a:buChar char="-"/>
              <a:tabLst>
                <a:tab pos="389890" algn="l"/>
              </a:tabLst>
            </a:pPr>
            <a:r>
              <a:rPr sz="1800" dirty="0">
                <a:latin typeface="Calibri"/>
                <a:cs typeface="Calibri"/>
              </a:rPr>
              <a:t>Funcionan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en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“tiempo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real”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7E7E7E"/>
                </a:solidFill>
                <a:latin typeface="Calibri"/>
                <a:cs typeface="Calibri"/>
              </a:rPr>
              <a:t>(varios</a:t>
            </a:r>
            <a:r>
              <a:rPr sz="1600" spc="-4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Calibri"/>
                <a:cs typeface="Calibri"/>
              </a:rPr>
              <a:t>frames</a:t>
            </a:r>
            <a:r>
              <a:rPr sz="1600" spc="-5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7E7E7E"/>
                </a:solidFill>
                <a:latin typeface="Calibri"/>
                <a:cs typeface="Calibri"/>
              </a:rPr>
              <a:t>por</a:t>
            </a:r>
            <a:r>
              <a:rPr sz="1600" spc="-5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Calibri"/>
                <a:cs typeface="Calibri"/>
              </a:rPr>
              <a:t>segundo)</a:t>
            </a:r>
            <a:endParaRPr sz="1600">
              <a:latin typeface="Calibri"/>
              <a:cs typeface="Calibri"/>
            </a:endParaRPr>
          </a:p>
          <a:p>
            <a:pPr marL="389255" lvl="1" indent="-160655">
              <a:lnSpc>
                <a:spcPct val="100000"/>
              </a:lnSpc>
              <a:spcBef>
                <a:spcPts val="434"/>
              </a:spcBef>
              <a:buChar char="-"/>
              <a:tabLst>
                <a:tab pos="389255" algn="l"/>
              </a:tabLst>
            </a:pPr>
            <a:r>
              <a:rPr sz="1800" dirty="0">
                <a:latin typeface="Calibri"/>
                <a:cs typeface="Calibri"/>
              </a:rPr>
              <a:t>Ejemplos: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YOLO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600" spc="-20" dirty="0">
                <a:solidFill>
                  <a:srgbClr val="7E7E7E"/>
                </a:solidFill>
                <a:latin typeface="Calibri"/>
                <a:cs typeface="Calibri"/>
              </a:rPr>
              <a:t>(You</a:t>
            </a:r>
            <a:r>
              <a:rPr sz="1600" spc="-3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7E7E7E"/>
                </a:solidFill>
                <a:latin typeface="Calibri"/>
                <a:cs typeface="Calibri"/>
              </a:rPr>
              <a:t>Only</a:t>
            </a:r>
            <a:r>
              <a:rPr sz="1600" spc="-4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7E7E7E"/>
                </a:solidFill>
                <a:latin typeface="Calibri"/>
                <a:cs typeface="Calibri"/>
              </a:rPr>
              <a:t>Look</a:t>
            </a:r>
            <a:r>
              <a:rPr sz="1600" spc="-1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7E7E7E"/>
                </a:solidFill>
                <a:latin typeface="Calibri"/>
                <a:cs typeface="Calibri"/>
              </a:rPr>
              <a:t>Once)</a:t>
            </a:r>
            <a:r>
              <a:rPr sz="1800" dirty="0">
                <a:latin typeface="Calibri"/>
                <a:cs typeface="Calibri"/>
              </a:rPr>
              <a:t>,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RetinaNet,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SSD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7E7E7E"/>
                </a:solidFill>
                <a:latin typeface="Calibri"/>
                <a:cs typeface="Calibri"/>
              </a:rPr>
              <a:t>(Single</a:t>
            </a:r>
            <a:r>
              <a:rPr sz="1600" spc="-4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7E7E7E"/>
                </a:solidFill>
                <a:latin typeface="Calibri"/>
                <a:cs typeface="Calibri"/>
              </a:rPr>
              <a:t>Shot</a:t>
            </a:r>
            <a:r>
              <a:rPr sz="1600" spc="-3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7E7E7E"/>
                </a:solidFill>
                <a:latin typeface="Calibri"/>
                <a:cs typeface="Calibri"/>
              </a:rPr>
              <a:t>Multibox</a:t>
            </a:r>
            <a:r>
              <a:rPr sz="1600" spc="-7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Calibri"/>
                <a:cs typeface="Calibri"/>
              </a:rPr>
              <a:t>Detector)</a:t>
            </a:r>
            <a:r>
              <a:rPr sz="1800" spc="-10" dirty="0">
                <a:latin typeface="Calibri"/>
                <a:cs typeface="Calibri"/>
              </a:rPr>
              <a:t>,</a:t>
            </a:r>
            <a:endParaRPr sz="1800">
              <a:latin typeface="Calibri"/>
              <a:cs typeface="Calibri"/>
            </a:endParaRPr>
          </a:p>
          <a:p>
            <a:pPr marL="388620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CornerNet,</a:t>
            </a:r>
            <a:r>
              <a:rPr sz="1800" spc="-8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ExtremeNet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93557" y="2166233"/>
            <a:ext cx="5440266" cy="2382276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45"/>
              </a:lnSpc>
            </a:pPr>
            <a:fld id="{81D60167-4931-47E6-BA6A-407CBD079E47}" type="slidenum">
              <a:rPr spc="-25" dirty="0"/>
              <a:t>20</a:t>
            </a:fld>
            <a:endParaRPr spc="-25" dirty="0"/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66B8592A-B45D-BA96-C72C-93C2362F5E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85" y="152399"/>
            <a:ext cx="685800" cy="583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 descr="Ingeniería de Sistemas - UNCP">
            <a:extLst>
              <a:ext uri="{FF2B5EF4-FFF2-40B4-BE49-F238E27FC236}">
                <a16:creationId xmlns:a16="http://schemas.microsoft.com/office/drawing/2014/main" id="{D38F8A92-DE8A-5AB1-3140-9EF28D088B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3574" y="152399"/>
            <a:ext cx="581085" cy="583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588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Detectores</a:t>
            </a:r>
            <a:r>
              <a:rPr spc="-50" dirty="0"/>
              <a:t> </a:t>
            </a:r>
            <a:r>
              <a:rPr dirty="0"/>
              <a:t>de</a:t>
            </a:r>
            <a:r>
              <a:rPr spc="-35" dirty="0"/>
              <a:t> </a:t>
            </a:r>
            <a:r>
              <a:rPr dirty="0"/>
              <a:t>una</a:t>
            </a:r>
            <a:r>
              <a:rPr spc="-55" dirty="0"/>
              <a:t> </a:t>
            </a:r>
            <a:r>
              <a:rPr spc="-10" dirty="0"/>
              <a:t>Etapa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7794" y="922782"/>
            <a:ext cx="7403465" cy="23710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65505" algn="ctr">
              <a:lnSpc>
                <a:spcPct val="100000"/>
              </a:lnSpc>
              <a:spcBef>
                <a:spcPts val="100"/>
              </a:spcBef>
            </a:pPr>
            <a:r>
              <a:rPr sz="2400" b="1" spc="-20" dirty="0">
                <a:solidFill>
                  <a:srgbClr val="2092FA"/>
                </a:solidFill>
                <a:latin typeface="Calibri"/>
                <a:cs typeface="Calibri"/>
              </a:rPr>
              <a:t>YOLO</a:t>
            </a:r>
            <a:endParaRPr sz="2400">
              <a:latin typeface="Calibri"/>
              <a:cs typeface="Calibri"/>
            </a:endParaRPr>
          </a:p>
          <a:p>
            <a:pPr marL="207645" indent="-194945">
              <a:lnSpc>
                <a:spcPct val="100000"/>
              </a:lnSpc>
              <a:spcBef>
                <a:spcPts val="2815"/>
              </a:spcBef>
              <a:buFont typeface="Arial MT"/>
              <a:buChar char="•"/>
              <a:tabLst>
                <a:tab pos="207645" algn="l"/>
              </a:tabLst>
            </a:pPr>
            <a:r>
              <a:rPr sz="2000" spc="-10" dirty="0">
                <a:latin typeface="Calibri"/>
                <a:cs typeface="Calibri"/>
              </a:rPr>
              <a:t>YOLO: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“You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Only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Look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Once”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7E7E7E"/>
                </a:solidFill>
                <a:latin typeface="Calibri"/>
                <a:cs typeface="Calibri"/>
              </a:rPr>
              <a:t>(una</a:t>
            </a:r>
            <a:r>
              <a:rPr sz="1600" spc="-3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7E7E7E"/>
                </a:solidFill>
                <a:latin typeface="Calibri"/>
                <a:cs typeface="Calibri"/>
              </a:rPr>
              <a:t>sola</a:t>
            </a:r>
            <a:r>
              <a:rPr sz="1600" spc="-3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7E7E7E"/>
                </a:solidFill>
                <a:latin typeface="Calibri"/>
                <a:cs typeface="Calibri"/>
              </a:rPr>
              <a:t>pasada</a:t>
            </a:r>
            <a:r>
              <a:rPr sz="1600" spc="-3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7E7E7E"/>
                </a:solidFill>
                <a:latin typeface="Calibri"/>
                <a:cs typeface="Calibri"/>
              </a:rPr>
              <a:t>por</a:t>
            </a:r>
            <a:r>
              <a:rPr sz="1600" spc="-2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7E7E7E"/>
                </a:solidFill>
                <a:latin typeface="Calibri"/>
                <a:cs typeface="Calibri"/>
              </a:rPr>
              <a:t>la</a:t>
            </a:r>
            <a:r>
              <a:rPr sz="1600" spc="-4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7E7E7E"/>
                </a:solidFill>
                <a:latin typeface="Calibri"/>
                <a:cs typeface="Calibri"/>
              </a:rPr>
              <a:t>imagen:</a:t>
            </a:r>
            <a:r>
              <a:rPr sz="1600" spc="-3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7E7E7E"/>
                </a:solidFill>
                <a:latin typeface="Calibri"/>
                <a:cs typeface="Calibri"/>
              </a:rPr>
              <a:t>“only</a:t>
            </a:r>
            <a:r>
              <a:rPr sz="1600" spc="-2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Calibri"/>
                <a:cs typeface="Calibri"/>
              </a:rPr>
              <a:t>once”)</a:t>
            </a:r>
            <a:endParaRPr sz="1600">
              <a:latin typeface="Calibri"/>
              <a:cs typeface="Calibri"/>
            </a:endParaRPr>
          </a:p>
          <a:p>
            <a:pPr marL="389890" lvl="1" indent="-161290">
              <a:lnSpc>
                <a:spcPct val="100000"/>
              </a:lnSpc>
              <a:spcBef>
                <a:spcPts val="440"/>
              </a:spcBef>
              <a:buChar char="-"/>
              <a:tabLst>
                <a:tab pos="389890" algn="l"/>
              </a:tabLst>
            </a:pPr>
            <a:r>
              <a:rPr sz="1800" dirty="0">
                <a:latin typeface="Calibri"/>
                <a:cs typeface="Calibri"/>
              </a:rPr>
              <a:t>Es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mucho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más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rápido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que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los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modelos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R-</a:t>
            </a:r>
            <a:r>
              <a:rPr sz="1800" spc="-25" dirty="0">
                <a:latin typeface="Calibri"/>
                <a:cs typeface="Calibri"/>
              </a:rPr>
              <a:t>CNN</a:t>
            </a:r>
            <a:endParaRPr sz="1800">
              <a:latin typeface="Calibri"/>
              <a:cs typeface="Calibri"/>
            </a:endParaRPr>
          </a:p>
          <a:p>
            <a:pPr marL="389890" lvl="1" indent="-161290">
              <a:lnSpc>
                <a:spcPct val="100000"/>
              </a:lnSpc>
              <a:spcBef>
                <a:spcPts val="434"/>
              </a:spcBef>
              <a:buChar char="-"/>
              <a:tabLst>
                <a:tab pos="389890" algn="l"/>
              </a:tabLst>
            </a:pPr>
            <a:r>
              <a:rPr sz="1800" dirty="0">
                <a:latin typeface="Calibri"/>
                <a:cs typeface="Calibri"/>
              </a:rPr>
              <a:t>Puede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ser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menos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exacto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que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modelos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R-CNN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7E7E7E"/>
                </a:solidFill>
                <a:latin typeface="Calibri"/>
                <a:cs typeface="Calibri"/>
              </a:rPr>
              <a:t>(sacrifica</a:t>
            </a:r>
            <a:r>
              <a:rPr sz="1600" spc="-4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Calibri"/>
                <a:cs typeface="Calibri"/>
              </a:rPr>
              <a:t>exactitud</a:t>
            </a:r>
            <a:r>
              <a:rPr sz="1600" spc="-6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7E7E7E"/>
                </a:solidFill>
                <a:latin typeface="Calibri"/>
                <a:cs typeface="Calibri"/>
              </a:rPr>
              <a:t>por</a:t>
            </a:r>
            <a:r>
              <a:rPr sz="1600" spc="-2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Calibri"/>
                <a:cs typeface="Calibri"/>
              </a:rPr>
              <a:t>velocidad)</a:t>
            </a:r>
            <a:endParaRPr sz="16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580"/>
              </a:spcBef>
              <a:buFont typeface="Calibri"/>
              <a:buChar char="-"/>
            </a:pPr>
            <a:endParaRPr sz="1800">
              <a:latin typeface="Calibri"/>
              <a:cs typeface="Calibri"/>
            </a:endParaRPr>
          </a:p>
          <a:p>
            <a:pPr marL="207645" indent="-194945">
              <a:lnSpc>
                <a:spcPct val="100000"/>
              </a:lnSpc>
              <a:buFont typeface="Arial MT"/>
              <a:buChar char="•"/>
              <a:tabLst>
                <a:tab pos="207645" algn="l"/>
              </a:tabLst>
            </a:pPr>
            <a:r>
              <a:rPr sz="2000" spc="-10" dirty="0">
                <a:latin typeface="Calibri"/>
                <a:cs typeface="Calibri"/>
              </a:rPr>
              <a:t>Actualmente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es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una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“familia”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detectores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7532" y="3515867"/>
            <a:ext cx="7668768" cy="263956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546303" y="6599935"/>
            <a:ext cx="765365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200" spc="-20" dirty="0">
                <a:solidFill>
                  <a:srgbClr val="7E7E7E"/>
                </a:solidFill>
                <a:latin typeface="Calibri"/>
                <a:cs typeface="Calibri"/>
              </a:rPr>
              <a:t>Terven</a:t>
            </a:r>
            <a:r>
              <a:rPr sz="1200" spc="-3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7E7E7E"/>
                </a:solidFill>
                <a:latin typeface="Calibri"/>
                <a:cs typeface="Calibri"/>
              </a:rPr>
              <a:t>(2023).</a:t>
            </a:r>
            <a:r>
              <a:rPr sz="1200" spc="-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7E7E7E"/>
                </a:solidFill>
                <a:latin typeface="Calibri"/>
                <a:cs typeface="Calibri"/>
              </a:rPr>
              <a:t>A</a:t>
            </a:r>
            <a:r>
              <a:rPr sz="1200" spc="-1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7E7E7E"/>
                </a:solidFill>
                <a:latin typeface="Calibri"/>
                <a:cs typeface="Calibri"/>
              </a:rPr>
              <a:t>Comprehensive</a:t>
            </a:r>
            <a:r>
              <a:rPr sz="1200" spc="-4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7E7E7E"/>
                </a:solidFill>
                <a:latin typeface="Calibri"/>
                <a:cs typeface="Calibri"/>
              </a:rPr>
              <a:t>Review</a:t>
            </a:r>
            <a:r>
              <a:rPr sz="1200" spc="-1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7E7E7E"/>
                </a:solidFill>
                <a:latin typeface="Calibri"/>
                <a:cs typeface="Calibri"/>
              </a:rPr>
              <a:t>of</a:t>
            </a:r>
            <a:r>
              <a:rPr sz="1200" spc="-2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7E7E7E"/>
                </a:solidFill>
                <a:latin typeface="Calibri"/>
                <a:cs typeface="Calibri"/>
              </a:rPr>
              <a:t>YOLO Architectures</a:t>
            </a:r>
            <a:r>
              <a:rPr sz="1200" spc="-5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7E7E7E"/>
                </a:solidFill>
                <a:latin typeface="Calibri"/>
                <a:cs typeface="Calibri"/>
              </a:rPr>
              <a:t>in</a:t>
            </a:r>
            <a:r>
              <a:rPr sz="1200" spc="-2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7E7E7E"/>
                </a:solidFill>
                <a:latin typeface="Calibri"/>
                <a:cs typeface="Calibri"/>
              </a:rPr>
              <a:t>Computer</a:t>
            </a:r>
            <a:r>
              <a:rPr sz="1200" spc="-3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7E7E7E"/>
                </a:solidFill>
                <a:latin typeface="Calibri"/>
                <a:cs typeface="Calibri"/>
              </a:rPr>
              <a:t>Vision:</a:t>
            </a:r>
            <a:r>
              <a:rPr sz="1200" spc="-3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7E7E7E"/>
                </a:solidFill>
                <a:latin typeface="Calibri"/>
                <a:cs typeface="Calibri"/>
              </a:rPr>
              <a:t>From</a:t>
            </a:r>
            <a:r>
              <a:rPr sz="1200" spc="-1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7E7E7E"/>
                </a:solidFill>
                <a:latin typeface="Calibri"/>
                <a:cs typeface="Calibri"/>
              </a:rPr>
              <a:t>YOLOv1</a:t>
            </a:r>
            <a:r>
              <a:rPr sz="1200" dirty="0">
                <a:solidFill>
                  <a:srgbClr val="7E7E7E"/>
                </a:solidFill>
                <a:latin typeface="Calibri"/>
                <a:cs typeface="Calibri"/>
              </a:rPr>
              <a:t> to</a:t>
            </a:r>
            <a:r>
              <a:rPr sz="1200" spc="-2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7E7E7E"/>
                </a:solidFill>
                <a:latin typeface="Calibri"/>
                <a:cs typeface="Calibri"/>
              </a:rPr>
              <a:t>YOLOv8 </a:t>
            </a:r>
            <a:r>
              <a:rPr sz="1200" dirty="0">
                <a:solidFill>
                  <a:srgbClr val="7E7E7E"/>
                </a:solidFill>
                <a:latin typeface="Calibri"/>
                <a:cs typeface="Calibri"/>
              </a:rPr>
              <a:t>and</a:t>
            </a:r>
            <a:r>
              <a:rPr sz="1200" spc="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200" spc="-25" dirty="0">
                <a:solidFill>
                  <a:srgbClr val="7E7E7E"/>
                </a:solidFill>
                <a:latin typeface="Calibri"/>
                <a:cs typeface="Calibri"/>
              </a:rPr>
              <a:t>YOLO-NAS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45"/>
              </a:lnSpc>
            </a:pPr>
            <a:fld id="{81D60167-4931-47E6-BA6A-407CBD079E47}" type="slidenum">
              <a:rPr spc="-25" dirty="0"/>
              <a:t>21</a:t>
            </a:fld>
            <a:endParaRPr spc="-25" dirty="0"/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8AC61C1C-2295-4315-EF60-8E214A0773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85" y="152399"/>
            <a:ext cx="685800" cy="583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 descr="Ingeniería de Sistemas - UNCP">
            <a:extLst>
              <a:ext uri="{FF2B5EF4-FFF2-40B4-BE49-F238E27FC236}">
                <a16:creationId xmlns:a16="http://schemas.microsoft.com/office/drawing/2014/main" id="{748C9D7C-B35F-2ACD-3FD1-8F9F9C8B9C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3574" y="152399"/>
            <a:ext cx="581085" cy="583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588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Detectores</a:t>
            </a:r>
            <a:r>
              <a:rPr spc="-50" dirty="0"/>
              <a:t> </a:t>
            </a:r>
            <a:r>
              <a:rPr dirty="0"/>
              <a:t>de</a:t>
            </a:r>
            <a:r>
              <a:rPr spc="-35" dirty="0"/>
              <a:t> </a:t>
            </a:r>
            <a:r>
              <a:rPr dirty="0"/>
              <a:t>una</a:t>
            </a:r>
            <a:r>
              <a:rPr spc="-55" dirty="0"/>
              <a:t> </a:t>
            </a:r>
            <a:r>
              <a:rPr spc="-10" dirty="0"/>
              <a:t>Etapa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7794" y="922782"/>
            <a:ext cx="7680325" cy="19894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88645" algn="ctr">
              <a:lnSpc>
                <a:spcPct val="100000"/>
              </a:lnSpc>
              <a:spcBef>
                <a:spcPts val="100"/>
              </a:spcBef>
            </a:pPr>
            <a:r>
              <a:rPr sz="2400" b="1" spc="-20" dirty="0">
                <a:solidFill>
                  <a:srgbClr val="2092FA"/>
                </a:solidFill>
                <a:latin typeface="Calibri"/>
                <a:cs typeface="Calibri"/>
              </a:rPr>
              <a:t>YOLO</a:t>
            </a:r>
            <a:r>
              <a:rPr sz="2400" b="1" spc="-90" dirty="0">
                <a:solidFill>
                  <a:srgbClr val="2092FA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solidFill>
                  <a:srgbClr val="2092FA"/>
                </a:solidFill>
                <a:latin typeface="Calibri"/>
                <a:cs typeface="Calibri"/>
              </a:rPr>
              <a:t>v1</a:t>
            </a:r>
            <a:endParaRPr sz="2400">
              <a:latin typeface="Calibri"/>
              <a:cs typeface="Calibri"/>
            </a:endParaRPr>
          </a:p>
          <a:p>
            <a:pPr marL="207645" indent="-194945">
              <a:lnSpc>
                <a:spcPct val="100000"/>
              </a:lnSpc>
              <a:spcBef>
                <a:spcPts val="2815"/>
              </a:spcBef>
              <a:buFont typeface="Arial MT"/>
              <a:buChar char="•"/>
              <a:tabLst>
                <a:tab pos="207645" algn="l"/>
              </a:tabLst>
            </a:pPr>
            <a:r>
              <a:rPr sz="2000" spc="-10" dirty="0">
                <a:solidFill>
                  <a:srgbClr val="00AF50"/>
                </a:solidFill>
                <a:latin typeface="Calibri"/>
                <a:cs typeface="Calibri"/>
              </a:rPr>
              <a:t>Funcionamiento</a:t>
            </a:r>
            <a:endParaRPr sz="2000">
              <a:latin typeface="Calibri"/>
              <a:cs typeface="Calibri"/>
            </a:endParaRPr>
          </a:p>
          <a:p>
            <a:pPr marL="389890" lvl="1" indent="-161290">
              <a:lnSpc>
                <a:spcPct val="100000"/>
              </a:lnSpc>
              <a:spcBef>
                <a:spcPts val="440"/>
              </a:spcBef>
              <a:buChar char="-"/>
              <a:tabLst>
                <a:tab pos="389890" algn="l"/>
              </a:tabLst>
            </a:pPr>
            <a:r>
              <a:rPr sz="1800" dirty="0">
                <a:latin typeface="Calibri"/>
                <a:cs typeface="Calibri"/>
              </a:rPr>
              <a:t>Divide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la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imagen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en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celdas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(ejemplo: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7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x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7)</a:t>
            </a:r>
            <a:endParaRPr sz="1800">
              <a:latin typeface="Calibri"/>
              <a:cs typeface="Calibri"/>
            </a:endParaRPr>
          </a:p>
          <a:p>
            <a:pPr marL="388620" marR="5080" lvl="1" indent="-160020">
              <a:lnSpc>
                <a:spcPct val="100000"/>
              </a:lnSpc>
              <a:spcBef>
                <a:spcPts val="445"/>
              </a:spcBef>
              <a:buChar char="-"/>
              <a:tabLst>
                <a:tab pos="388620" algn="l"/>
                <a:tab pos="389890" algn="l"/>
              </a:tabLst>
            </a:pPr>
            <a:r>
              <a:rPr sz="1800" dirty="0">
                <a:latin typeface="Calibri"/>
                <a:cs typeface="Calibri"/>
              </a:rPr>
              <a:t>	Cada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celda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predice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B</a:t>
            </a:r>
            <a:r>
              <a:rPr sz="1800" i="1" spc="-8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Calibri"/>
                <a:cs typeface="Calibri"/>
              </a:rPr>
              <a:t>cuadros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delimitadores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(</a:t>
            </a:r>
            <a:r>
              <a:rPr sz="1800" i="1" dirty="0">
                <a:latin typeface="Times New Roman"/>
                <a:cs typeface="Times New Roman"/>
              </a:rPr>
              <a:t>x,</a:t>
            </a:r>
            <a:r>
              <a:rPr sz="1800" i="1" spc="-45" dirty="0">
                <a:latin typeface="Times New Roman"/>
                <a:cs typeface="Times New Roman"/>
              </a:rPr>
              <a:t> </a:t>
            </a:r>
            <a:r>
              <a:rPr sz="1800" i="1" spc="-10" dirty="0">
                <a:latin typeface="Times New Roman"/>
                <a:cs typeface="Times New Roman"/>
              </a:rPr>
              <a:t>y,</a:t>
            </a:r>
            <a:r>
              <a:rPr sz="1800" i="1" spc="-60" dirty="0">
                <a:latin typeface="Times New Roman"/>
                <a:cs typeface="Times New Roman"/>
              </a:rPr>
              <a:t> </a:t>
            </a:r>
            <a:r>
              <a:rPr sz="1800" i="1" spc="-30" dirty="0">
                <a:latin typeface="Times New Roman"/>
                <a:cs typeface="Times New Roman"/>
              </a:rPr>
              <a:t>w,</a:t>
            </a:r>
            <a:r>
              <a:rPr sz="1800" i="1" spc="-50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h</a:t>
            </a:r>
            <a:r>
              <a:rPr sz="1800" dirty="0">
                <a:latin typeface="Times New Roman"/>
                <a:cs typeface="Times New Roman"/>
              </a:rPr>
              <a:t>)</a:t>
            </a:r>
            <a:r>
              <a:rPr sz="1800" spc="-7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Calibri"/>
                <a:cs typeface="Calibri"/>
              </a:rPr>
              <a:t>y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confianza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tener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un </a:t>
            </a:r>
            <a:r>
              <a:rPr sz="1800" dirty="0">
                <a:latin typeface="Calibri"/>
                <a:cs typeface="Calibri"/>
              </a:rPr>
              <a:t>objeto</a:t>
            </a:r>
            <a:r>
              <a:rPr sz="1800" spc="-7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para</a:t>
            </a:r>
            <a:r>
              <a:rPr sz="1800" spc="-7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cada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cuadro: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i="1" spc="-10" dirty="0">
                <a:latin typeface="Times New Roman"/>
                <a:cs typeface="Times New Roman"/>
              </a:rPr>
              <a:t>P</a:t>
            </a:r>
            <a:r>
              <a:rPr sz="1800" spc="-10" dirty="0">
                <a:latin typeface="Times New Roman"/>
                <a:cs typeface="Times New Roman"/>
              </a:rPr>
              <a:t>(</a:t>
            </a:r>
            <a:r>
              <a:rPr sz="1800" i="1" spc="-10" dirty="0">
                <a:latin typeface="Times New Roman"/>
                <a:cs typeface="Times New Roman"/>
              </a:rPr>
              <a:t>objeto</a:t>
            </a:r>
            <a:r>
              <a:rPr sz="1800" spc="-10" dirty="0">
                <a:latin typeface="Times New Roman"/>
                <a:cs typeface="Times New Roman"/>
              </a:rPr>
              <a:t>)</a:t>
            </a:r>
            <a:endParaRPr sz="18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14044" y="3288791"/>
            <a:ext cx="2871216" cy="288188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27091" y="3273552"/>
            <a:ext cx="2897123" cy="2892552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850517" y="6226555"/>
            <a:ext cx="146177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7E7E7E"/>
                </a:solidFill>
                <a:latin typeface="Calibri"/>
                <a:cs typeface="Calibri"/>
              </a:rPr>
              <a:t>Celdas</a:t>
            </a:r>
            <a:r>
              <a:rPr sz="1400" spc="-2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E7E7E"/>
                </a:solidFill>
                <a:latin typeface="Calibri"/>
                <a:cs typeface="Calibri"/>
              </a:rPr>
              <a:t>de</a:t>
            </a:r>
            <a:r>
              <a:rPr sz="1400" spc="-3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E7E7E"/>
                </a:solidFill>
                <a:latin typeface="Calibri"/>
                <a:cs typeface="Calibri"/>
              </a:rPr>
              <a:t>la</a:t>
            </a:r>
            <a:r>
              <a:rPr sz="1400" spc="-2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7E7E7E"/>
                </a:solidFill>
                <a:latin typeface="Calibri"/>
                <a:cs typeface="Calibri"/>
              </a:rPr>
              <a:t>imagen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841105" y="6665086"/>
            <a:ext cx="15367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r>
              <a:rPr sz="1000" spc="-25" dirty="0">
                <a:solidFill>
                  <a:srgbClr val="585858"/>
                </a:solidFill>
                <a:latin typeface="Calibri"/>
                <a:cs typeface="Calibri"/>
              </a:rPr>
              <a:t>22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158232" y="6187541"/>
            <a:ext cx="243649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58825" marR="5080" indent="-74676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7E7E7E"/>
                </a:solidFill>
                <a:latin typeface="Calibri"/>
                <a:cs typeface="Calibri"/>
              </a:rPr>
              <a:t>Ejemplo:</a:t>
            </a:r>
            <a:r>
              <a:rPr sz="1400" spc="-3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E7E7E"/>
                </a:solidFill>
                <a:latin typeface="Calibri"/>
                <a:cs typeface="Calibri"/>
              </a:rPr>
              <a:t>2</a:t>
            </a:r>
            <a:r>
              <a:rPr sz="1400" spc="-4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E7E7E"/>
                </a:solidFill>
                <a:latin typeface="Calibri"/>
                <a:cs typeface="Calibri"/>
              </a:rPr>
              <a:t>cuadros</a:t>
            </a:r>
            <a:r>
              <a:rPr sz="1400" spc="-3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7E7E7E"/>
                </a:solidFill>
                <a:latin typeface="Calibri"/>
                <a:cs typeface="Calibri"/>
              </a:rPr>
              <a:t>delimitadores </a:t>
            </a:r>
            <a:r>
              <a:rPr sz="1400" dirty="0">
                <a:solidFill>
                  <a:srgbClr val="7E7E7E"/>
                </a:solidFill>
                <a:latin typeface="Calibri"/>
                <a:cs typeface="Calibri"/>
              </a:rPr>
              <a:t>en</a:t>
            </a:r>
            <a:r>
              <a:rPr sz="1400" spc="-3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E7E7E"/>
                </a:solidFill>
                <a:latin typeface="Calibri"/>
                <a:cs typeface="Calibri"/>
              </a:rPr>
              <a:t>una</a:t>
            </a:r>
            <a:r>
              <a:rPr sz="1400" spc="-2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7E7E7E"/>
                </a:solidFill>
                <a:latin typeface="Calibri"/>
                <a:cs typeface="Calibri"/>
              </a:rPr>
              <a:t>celda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9" name="Picture 4">
            <a:extLst>
              <a:ext uri="{FF2B5EF4-FFF2-40B4-BE49-F238E27FC236}">
                <a16:creationId xmlns:a16="http://schemas.microsoft.com/office/drawing/2014/main" id="{BA946626-48CC-9007-18F2-17B15A988C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85" y="152399"/>
            <a:ext cx="685800" cy="583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6" descr="Ingeniería de Sistemas - UNCP">
            <a:extLst>
              <a:ext uri="{FF2B5EF4-FFF2-40B4-BE49-F238E27FC236}">
                <a16:creationId xmlns:a16="http://schemas.microsoft.com/office/drawing/2014/main" id="{4C2272B2-B265-10FF-759C-ADE9A35C64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3574" y="152399"/>
            <a:ext cx="581085" cy="583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588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Detectores</a:t>
            </a:r>
            <a:r>
              <a:rPr spc="-50" dirty="0"/>
              <a:t> </a:t>
            </a:r>
            <a:r>
              <a:rPr dirty="0"/>
              <a:t>de</a:t>
            </a:r>
            <a:r>
              <a:rPr spc="-35" dirty="0"/>
              <a:t> </a:t>
            </a:r>
            <a:r>
              <a:rPr dirty="0"/>
              <a:t>una</a:t>
            </a:r>
            <a:r>
              <a:rPr spc="-55" dirty="0"/>
              <a:t> </a:t>
            </a:r>
            <a:r>
              <a:rPr spc="-10" dirty="0"/>
              <a:t>Etapa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7794" y="922782"/>
            <a:ext cx="4732020" cy="1972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64135" algn="r">
              <a:lnSpc>
                <a:spcPct val="100000"/>
              </a:lnSpc>
              <a:spcBef>
                <a:spcPts val="100"/>
              </a:spcBef>
            </a:pPr>
            <a:r>
              <a:rPr sz="2400" b="1" spc="-20" dirty="0">
                <a:solidFill>
                  <a:srgbClr val="2092FA"/>
                </a:solidFill>
                <a:latin typeface="Calibri"/>
                <a:cs typeface="Calibri"/>
              </a:rPr>
              <a:t>YOLO</a:t>
            </a:r>
            <a:r>
              <a:rPr sz="2400" b="1" spc="-90" dirty="0">
                <a:solidFill>
                  <a:srgbClr val="2092FA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solidFill>
                  <a:srgbClr val="2092FA"/>
                </a:solidFill>
                <a:latin typeface="Calibri"/>
                <a:cs typeface="Calibri"/>
              </a:rPr>
              <a:t>v1</a:t>
            </a:r>
            <a:endParaRPr sz="2400">
              <a:latin typeface="Calibri"/>
              <a:cs typeface="Calibri"/>
            </a:endParaRPr>
          </a:p>
          <a:p>
            <a:pPr marL="207645" indent="-194945">
              <a:lnSpc>
                <a:spcPct val="100000"/>
              </a:lnSpc>
              <a:spcBef>
                <a:spcPts val="2815"/>
              </a:spcBef>
              <a:buFont typeface="Arial MT"/>
              <a:buChar char="•"/>
              <a:tabLst>
                <a:tab pos="207645" algn="l"/>
              </a:tabLst>
            </a:pPr>
            <a:r>
              <a:rPr sz="2000" spc="-10" dirty="0">
                <a:solidFill>
                  <a:srgbClr val="00AF50"/>
                </a:solidFill>
                <a:latin typeface="Calibri"/>
                <a:cs typeface="Calibri"/>
              </a:rPr>
              <a:t>Funcionamiento</a:t>
            </a:r>
            <a:endParaRPr sz="2000">
              <a:latin typeface="Calibri"/>
              <a:cs typeface="Calibri"/>
            </a:endParaRPr>
          </a:p>
          <a:p>
            <a:pPr marL="389890" lvl="1" indent="-161290">
              <a:lnSpc>
                <a:spcPct val="100000"/>
              </a:lnSpc>
              <a:spcBef>
                <a:spcPts val="440"/>
              </a:spcBef>
              <a:buChar char="-"/>
              <a:tabLst>
                <a:tab pos="389890" algn="l"/>
              </a:tabLst>
            </a:pPr>
            <a:r>
              <a:rPr sz="1800" dirty="0">
                <a:latin typeface="Calibri"/>
                <a:cs typeface="Calibri"/>
              </a:rPr>
              <a:t>En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todas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las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celdas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la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imagen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genera:</a:t>
            </a:r>
            <a:endParaRPr sz="1800">
              <a:latin typeface="Calibri"/>
              <a:cs typeface="Calibri"/>
            </a:endParaRPr>
          </a:p>
          <a:p>
            <a:pPr marL="611505" lvl="2" indent="-225425">
              <a:lnSpc>
                <a:spcPct val="100000"/>
              </a:lnSpc>
              <a:spcBef>
                <a:spcPts val="405"/>
              </a:spcBef>
              <a:buFont typeface="Arial MT"/>
              <a:buChar char="•"/>
              <a:tabLst>
                <a:tab pos="611505" algn="l"/>
              </a:tabLst>
            </a:pPr>
            <a:r>
              <a:rPr sz="1600" spc="-20" dirty="0">
                <a:latin typeface="Calibri"/>
                <a:cs typeface="Calibri"/>
              </a:rPr>
              <a:t>Varios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cuadros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delimitadores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con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posibles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objetos</a:t>
            </a:r>
            <a:endParaRPr sz="1600">
              <a:latin typeface="Calibri"/>
              <a:cs typeface="Calibri"/>
            </a:endParaRPr>
          </a:p>
          <a:p>
            <a:pPr marL="611505" lvl="2" indent="-225425">
              <a:lnSpc>
                <a:spcPct val="100000"/>
              </a:lnSpc>
              <a:spcBef>
                <a:spcPts val="385"/>
              </a:spcBef>
              <a:buFont typeface="Arial MT"/>
              <a:buChar char="•"/>
              <a:tabLst>
                <a:tab pos="611505" algn="l"/>
              </a:tabLst>
            </a:pPr>
            <a:r>
              <a:rPr sz="1600" spc="-10" dirty="0">
                <a:latin typeface="Calibri"/>
                <a:cs typeface="Calibri"/>
              </a:rPr>
              <a:t>Probabilidad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de</a:t>
            </a:r>
            <a:r>
              <a:rPr sz="1600" spc="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clase </a:t>
            </a:r>
            <a:r>
              <a:rPr sz="1600" spc="-10" dirty="0">
                <a:latin typeface="Calibri"/>
                <a:cs typeface="Calibri"/>
              </a:rPr>
              <a:t>(objeto)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755775" y="6226555"/>
            <a:ext cx="165163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7E7E7E"/>
                </a:solidFill>
                <a:latin typeface="Calibri"/>
                <a:cs typeface="Calibri"/>
              </a:rPr>
              <a:t>Cuadros</a:t>
            </a:r>
            <a:r>
              <a:rPr sz="1400" spc="-7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7E7E7E"/>
                </a:solidFill>
                <a:latin typeface="Calibri"/>
                <a:cs typeface="Calibri"/>
              </a:rPr>
              <a:t>delimitadores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993384" y="6187541"/>
            <a:ext cx="154241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7E7E7E"/>
                </a:solidFill>
                <a:latin typeface="Calibri"/>
                <a:cs typeface="Calibri"/>
              </a:rPr>
              <a:t>Objeto</a:t>
            </a:r>
            <a:r>
              <a:rPr sz="1400" spc="-4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E7E7E"/>
                </a:solidFill>
                <a:latin typeface="Calibri"/>
                <a:cs typeface="Calibri"/>
              </a:rPr>
              <a:t>en</a:t>
            </a:r>
            <a:r>
              <a:rPr sz="1400" spc="-4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E7E7E"/>
                </a:solidFill>
                <a:latin typeface="Calibri"/>
                <a:cs typeface="Calibri"/>
              </a:rPr>
              <a:t>cada</a:t>
            </a:r>
            <a:r>
              <a:rPr sz="1400" spc="-3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7E7E7E"/>
                </a:solidFill>
                <a:latin typeface="Calibri"/>
                <a:cs typeface="Calibri"/>
              </a:rPr>
              <a:t>celda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2311" y="3140964"/>
            <a:ext cx="3023616" cy="2970276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428744" y="3157727"/>
            <a:ext cx="4523816" cy="2863274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45"/>
              </a:lnSpc>
            </a:pPr>
            <a:fld id="{81D60167-4931-47E6-BA6A-407CBD079E47}" type="slidenum">
              <a:rPr spc="-25" dirty="0"/>
              <a:t>23</a:t>
            </a:fld>
            <a:endParaRPr spc="-25" dirty="0"/>
          </a:p>
        </p:txBody>
      </p:sp>
      <p:pic>
        <p:nvPicPr>
          <p:cNvPr id="9" name="Picture 4">
            <a:extLst>
              <a:ext uri="{FF2B5EF4-FFF2-40B4-BE49-F238E27FC236}">
                <a16:creationId xmlns:a16="http://schemas.microsoft.com/office/drawing/2014/main" id="{CCDCC8BE-692C-D212-BF75-AE2EC64EC3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85" y="152399"/>
            <a:ext cx="685800" cy="583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6" descr="Ingeniería de Sistemas - UNCP">
            <a:extLst>
              <a:ext uri="{FF2B5EF4-FFF2-40B4-BE49-F238E27FC236}">
                <a16:creationId xmlns:a16="http://schemas.microsoft.com/office/drawing/2014/main" id="{512E7771-0DF5-2AA4-8EBE-4454B87809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3574" y="152399"/>
            <a:ext cx="581085" cy="583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588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Detectores</a:t>
            </a:r>
            <a:r>
              <a:rPr spc="-50" dirty="0"/>
              <a:t> </a:t>
            </a:r>
            <a:r>
              <a:rPr dirty="0"/>
              <a:t>de</a:t>
            </a:r>
            <a:r>
              <a:rPr spc="-35" dirty="0"/>
              <a:t> </a:t>
            </a:r>
            <a:r>
              <a:rPr dirty="0"/>
              <a:t>una</a:t>
            </a:r>
            <a:r>
              <a:rPr spc="-55" dirty="0"/>
              <a:t> </a:t>
            </a:r>
            <a:r>
              <a:rPr spc="-10" dirty="0"/>
              <a:t>Etapa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7794" y="922782"/>
            <a:ext cx="6481445" cy="171386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08704">
              <a:lnSpc>
                <a:spcPct val="100000"/>
              </a:lnSpc>
              <a:spcBef>
                <a:spcPts val="100"/>
              </a:spcBef>
            </a:pPr>
            <a:r>
              <a:rPr sz="2400" b="1" spc="-20" dirty="0">
                <a:solidFill>
                  <a:srgbClr val="2092FA"/>
                </a:solidFill>
                <a:latin typeface="Calibri"/>
                <a:cs typeface="Calibri"/>
              </a:rPr>
              <a:t>YOLO</a:t>
            </a:r>
            <a:r>
              <a:rPr sz="2400" b="1" spc="-90" dirty="0">
                <a:solidFill>
                  <a:srgbClr val="2092FA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solidFill>
                  <a:srgbClr val="2092FA"/>
                </a:solidFill>
                <a:latin typeface="Calibri"/>
                <a:cs typeface="Calibri"/>
              </a:rPr>
              <a:t>v1</a:t>
            </a:r>
            <a:endParaRPr sz="2400">
              <a:latin typeface="Calibri"/>
              <a:cs typeface="Calibri"/>
            </a:endParaRPr>
          </a:p>
          <a:p>
            <a:pPr marL="207645" indent="-194945">
              <a:lnSpc>
                <a:spcPct val="100000"/>
              </a:lnSpc>
              <a:spcBef>
                <a:spcPts val="2815"/>
              </a:spcBef>
              <a:buFont typeface="Arial MT"/>
              <a:buChar char="•"/>
              <a:tabLst>
                <a:tab pos="207645" algn="l"/>
              </a:tabLst>
            </a:pPr>
            <a:r>
              <a:rPr sz="2000" spc="-10" dirty="0">
                <a:solidFill>
                  <a:srgbClr val="00AF50"/>
                </a:solidFill>
                <a:latin typeface="Calibri"/>
                <a:cs typeface="Calibri"/>
              </a:rPr>
              <a:t>Funcionamiento</a:t>
            </a:r>
            <a:endParaRPr sz="2000">
              <a:latin typeface="Calibri"/>
              <a:cs typeface="Calibri"/>
            </a:endParaRPr>
          </a:p>
          <a:p>
            <a:pPr marL="389890" lvl="1" indent="-161290">
              <a:lnSpc>
                <a:spcPct val="100000"/>
              </a:lnSpc>
              <a:spcBef>
                <a:spcPts val="440"/>
              </a:spcBef>
              <a:buChar char="-"/>
              <a:tabLst>
                <a:tab pos="389890" algn="l"/>
              </a:tabLst>
            </a:pPr>
            <a:r>
              <a:rPr sz="1800" dirty="0">
                <a:latin typeface="Calibri"/>
                <a:cs typeface="Calibri"/>
              </a:rPr>
              <a:t>Se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combina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los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cuadros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con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las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clases</a:t>
            </a:r>
            <a:endParaRPr sz="1800">
              <a:latin typeface="Calibri"/>
              <a:cs typeface="Calibri"/>
            </a:endParaRPr>
          </a:p>
          <a:p>
            <a:pPr marL="389890" lvl="1" indent="-161290">
              <a:lnSpc>
                <a:spcPct val="100000"/>
              </a:lnSpc>
              <a:spcBef>
                <a:spcPts val="434"/>
              </a:spcBef>
              <a:buChar char="-"/>
              <a:tabLst>
                <a:tab pos="389890" algn="l"/>
              </a:tabLst>
            </a:pPr>
            <a:r>
              <a:rPr sz="1800" dirty="0">
                <a:latin typeface="Calibri"/>
                <a:cs typeface="Calibri"/>
              </a:rPr>
              <a:t>Se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realiza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supresión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no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máximos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7E7E7E"/>
                </a:solidFill>
                <a:latin typeface="Calibri"/>
                <a:cs typeface="Calibri"/>
              </a:rPr>
              <a:t>(NMS:</a:t>
            </a:r>
            <a:r>
              <a:rPr sz="1600" spc="-2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Calibri"/>
                <a:cs typeface="Calibri"/>
              </a:rPr>
              <a:t>non-</a:t>
            </a:r>
            <a:r>
              <a:rPr sz="1600" dirty="0">
                <a:solidFill>
                  <a:srgbClr val="7E7E7E"/>
                </a:solidFill>
                <a:latin typeface="Calibri"/>
                <a:cs typeface="Calibri"/>
              </a:rPr>
              <a:t>maximal</a:t>
            </a:r>
            <a:r>
              <a:rPr sz="1600" spc="-6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Calibri"/>
                <a:cs typeface="Calibri"/>
              </a:rPr>
              <a:t>suppression)</a:t>
            </a:r>
            <a:endParaRPr sz="16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7532" y="2852927"/>
            <a:ext cx="3549396" cy="347319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003291" y="2852927"/>
            <a:ext cx="3486912" cy="3473196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408302" y="6370421"/>
            <a:ext cx="235394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7E7E7E"/>
                </a:solidFill>
                <a:latin typeface="Calibri"/>
                <a:cs typeface="Calibri"/>
              </a:rPr>
              <a:t>Cuadros</a:t>
            </a:r>
            <a:r>
              <a:rPr sz="1400" spc="-3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7E7E7E"/>
                </a:solidFill>
                <a:latin typeface="Calibri"/>
                <a:cs typeface="Calibri"/>
              </a:rPr>
              <a:t>delimitadores</a:t>
            </a:r>
            <a:r>
              <a:rPr sz="1400" spc="-2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E7E7E"/>
                </a:solidFill>
                <a:latin typeface="Calibri"/>
                <a:cs typeface="Calibri"/>
              </a:rPr>
              <a:t>con</a:t>
            </a:r>
            <a:r>
              <a:rPr sz="1400" spc="-2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7E7E7E"/>
                </a:solidFill>
                <a:latin typeface="Calibri"/>
                <a:cs typeface="Calibri"/>
              </a:rPr>
              <a:t>clase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45"/>
              </a:lnSpc>
            </a:pPr>
            <a:fld id="{81D60167-4931-47E6-BA6A-407CBD079E47}" type="slidenum">
              <a:rPr spc="-25" dirty="0"/>
              <a:t>24</a:t>
            </a:fld>
            <a:endParaRPr spc="-25" dirty="0"/>
          </a:p>
        </p:txBody>
      </p:sp>
      <p:sp>
        <p:nvSpPr>
          <p:cNvPr id="7" name="object 7"/>
          <p:cNvSpPr txBox="1"/>
          <p:nvPr/>
        </p:nvSpPr>
        <p:spPr>
          <a:xfrm>
            <a:off x="6229603" y="6339332"/>
            <a:ext cx="107061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7E7E7E"/>
                </a:solidFill>
                <a:latin typeface="Calibri"/>
                <a:cs typeface="Calibri"/>
              </a:rPr>
              <a:t>Luego</a:t>
            </a:r>
            <a:r>
              <a:rPr sz="1400" spc="-3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E7E7E"/>
                </a:solidFill>
                <a:latin typeface="Calibri"/>
                <a:cs typeface="Calibri"/>
              </a:rPr>
              <a:t>de</a:t>
            </a:r>
            <a:r>
              <a:rPr sz="1400" spc="-4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7E7E7E"/>
                </a:solidFill>
                <a:latin typeface="Calibri"/>
                <a:cs typeface="Calibri"/>
              </a:rPr>
              <a:t>NMS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9" name="Picture 4">
            <a:extLst>
              <a:ext uri="{FF2B5EF4-FFF2-40B4-BE49-F238E27FC236}">
                <a16:creationId xmlns:a16="http://schemas.microsoft.com/office/drawing/2014/main" id="{732E01FE-2287-0ECE-237A-C9E3E1561E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85" y="152399"/>
            <a:ext cx="685800" cy="583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6" descr="Ingeniería de Sistemas - UNCP">
            <a:extLst>
              <a:ext uri="{FF2B5EF4-FFF2-40B4-BE49-F238E27FC236}">
                <a16:creationId xmlns:a16="http://schemas.microsoft.com/office/drawing/2014/main" id="{C0138103-1467-040F-7F38-30348E50DE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3574" y="152399"/>
            <a:ext cx="581085" cy="583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588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Detectores</a:t>
            </a:r>
            <a:r>
              <a:rPr spc="-50" dirty="0"/>
              <a:t> </a:t>
            </a:r>
            <a:r>
              <a:rPr dirty="0"/>
              <a:t>de</a:t>
            </a:r>
            <a:r>
              <a:rPr spc="-35" dirty="0"/>
              <a:t> </a:t>
            </a:r>
            <a:r>
              <a:rPr dirty="0"/>
              <a:t>una</a:t>
            </a:r>
            <a:r>
              <a:rPr spc="-55" dirty="0"/>
              <a:t> </a:t>
            </a:r>
            <a:r>
              <a:rPr spc="-10" dirty="0"/>
              <a:t>Etapa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7794" y="922782"/>
            <a:ext cx="4795520" cy="1384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127635" algn="r">
              <a:lnSpc>
                <a:spcPct val="100000"/>
              </a:lnSpc>
              <a:spcBef>
                <a:spcPts val="100"/>
              </a:spcBef>
            </a:pPr>
            <a:r>
              <a:rPr sz="2400" b="1" spc="-20" dirty="0">
                <a:solidFill>
                  <a:srgbClr val="2092FA"/>
                </a:solidFill>
                <a:latin typeface="Calibri"/>
                <a:cs typeface="Calibri"/>
              </a:rPr>
              <a:t>YOLO</a:t>
            </a:r>
            <a:r>
              <a:rPr sz="2400" b="1" spc="-90" dirty="0">
                <a:solidFill>
                  <a:srgbClr val="2092FA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solidFill>
                  <a:srgbClr val="2092FA"/>
                </a:solidFill>
                <a:latin typeface="Calibri"/>
                <a:cs typeface="Calibri"/>
              </a:rPr>
              <a:t>v1</a:t>
            </a:r>
            <a:endParaRPr sz="2400">
              <a:latin typeface="Calibri"/>
              <a:cs typeface="Calibri"/>
            </a:endParaRPr>
          </a:p>
          <a:p>
            <a:pPr marL="207645" indent="-194945">
              <a:lnSpc>
                <a:spcPct val="100000"/>
              </a:lnSpc>
              <a:spcBef>
                <a:spcPts val="2815"/>
              </a:spcBef>
              <a:buFont typeface="Arial MT"/>
              <a:buChar char="•"/>
              <a:tabLst>
                <a:tab pos="207645" algn="l"/>
              </a:tabLst>
            </a:pPr>
            <a:r>
              <a:rPr sz="2000" spc="-10" dirty="0">
                <a:solidFill>
                  <a:srgbClr val="00AF50"/>
                </a:solidFill>
                <a:latin typeface="Calibri"/>
                <a:cs typeface="Calibri"/>
              </a:rPr>
              <a:t>Arquitectura</a:t>
            </a:r>
            <a:r>
              <a:rPr sz="2000" spc="-4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AF50"/>
                </a:solidFill>
                <a:latin typeface="Calibri"/>
                <a:cs typeface="Calibri"/>
              </a:rPr>
              <a:t>de</a:t>
            </a:r>
            <a:r>
              <a:rPr sz="2000" spc="-3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AF50"/>
                </a:solidFill>
                <a:latin typeface="Calibri"/>
                <a:cs typeface="Calibri"/>
              </a:rPr>
              <a:t>la</a:t>
            </a:r>
            <a:r>
              <a:rPr sz="2000" spc="-3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00AF50"/>
                </a:solidFill>
                <a:latin typeface="Calibri"/>
                <a:cs typeface="Calibri"/>
              </a:rPr>
              <a:t>red</a:t>
            </a:r>
            <a:endParaRPr sz="2000">
              <a:latin typeface="Calibri"/>
              <a:cs typeface="Calibri"/>
            </a:endParaRPr>
          </a:p>
          <a:p>
            <a:pPr marL="228600">
              <a:lnSpc>
                <a:spcPct val="100000"/>
              </a:lnSpc>
              <a:spcBef>
                <a:spcPts val="440"/>
              </a:spcBef>
            </a:pPr>
            <a:r>
              <a:rPr sz="1800" dirty="0">
                <a:latin typeface="Calibri"/>
                <a:cs typeface="Calibri"/>
              </a:rPr>
              <a:t>-</a:t>
            </a:r>
            <a:r>
              <a:rPr sz="1800" spc="2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24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capas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convolucionales</a:t>
            </a:r>
            <a:r>
              <a:rPr sz="1800" dirty="0">
                <a:latin typeface="Calibri"/>
                <a:cs typeface="Calibri"/>
              </a:rPr>
              <a:t> con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2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fully-connected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9646" y="2649256"/>
            <a:ext cx="7745369" cy="3140842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45"/>
              </a:lnSpc>
            </a:pPr>
            <a:fld id="{81D60167-4931-47E6-BA6A-407CBD079E47}" type="slidenum">
              <a:rPr spc="-25" dirty="0"/>
              <a:t>25</a:t>
            </a:fld>
            <a:endParaRPr spc="-25" dirty="0"/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5C611870-1EDD-936E-398E-3BF89488D8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85" y="152399"/>
            <a:ext cx="685800" cy="583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Ingeniería de Sistemas - UNCP">
            <a:extLst>
              <a:ext uri="{FF2B5EF4-FFF2-40B4-BE49-F238E27FC236}">
                <a16:creationId xmlns:a16="http://schemas.microsoft.com/office/drawing/2014/main" id="{475F2480-71BF-A31B-A3E8-BB085EB6B5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3574" y="152399"/>
            <a:ext cx="581085" cy="583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588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Detectores</a:t>
            </a:r>
            <a:r>
              <a:rPr spc="-50" dirty="0"/>
              <a:t> </a:t>
            </a:r>
            <a:r>
              <a:rPr dirty="0"/>
              <a:t>de</a:t>
            </a:r>
            <a:r>
              <a:rPr spc="-35" dirty="0"/>
              <a:t> </a:t>
            </a:r>
            <a:r>
              <a:rPr dirty="0"/>
              <a:t>una</a:t>
            </a:r>
            <a:r>
              <a:rPr spc="-55" dirty="0"/>
              <a:t> </a:t>
            </a:r>
            <a:r>
              <a:rPr spc="-10" dirty="0"/>
              <a:t>Etapa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7794" y="922782"/>
            <a:ext cx="5262880" cy="1419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94995" algn="r">
              <a:lnSpc>
                <a:spcPct val="100000"/>
              </a:lnSpc>
              <a:spcBef>
                <a:spcPts val="100"/>
              </a:spcBef>
            </a:pPr>
            <a:r>
              <a:rPr sz="2400" b="1" spc="-20" dirty="0">
                <a:solidFill>
                  <a:srgbClr val="2092FA"/>
                </a:solidFill>
                <a:latin typeface="Calibri"/>
                <a:cs typeface="Calibri"/>
              </a:rPr>
              <a:t>YOLO</a:t>
            </a:r>
            <a:r>
              <a:rPr sz="2400" b="1" spc="-90" dirty="0">
                <a:solidFill>
                  <a:srgbClr val="2092FA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solidFill>
                  <a:srgbClr val="2092FA"/>
                </a:solidFill>
                <a:latin typeface="Calibri"/>
                <a:cs typeface="Calibri"/>
              </a:rPr>
              <a:t>v3</a:t>
            </a:r>
            <a:endParaRPr sz="2400">
              <a:latin typeface="Calibri"/>
              <a:cs typeface="Calibri"/>
            </a:endParaRPr>
          </a:p>
          <a:p>
            <a:pPr marL="207645" indent="-194945">
              <a:lnSpc>
                <a:spcPct val="100000"/>
              </a:lnSpc>
              <a:spcBef>
                <a:spcPts val="2815"/>
              </a:spcBef>
              <a:buFont typeface="Arial MT"/>
              <a:buChar char="•"/>
              <a:tabLst>
                <a:tab pos="207645" algn="l"/>
              </a:tabLst>
            </a:pPr>
            <a:r>
              <a:rPr sz="2000" dirty="0">
                <a:latin typeface="Calibri"/>
                <a:cs typeface="Calibri"/>
              </a:rPr>
              <a:t>Utiliza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una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red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“backbone”</a:t>
            </a:r>
            <a:r>
              <a:rPr sz="2000" spc="-8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diferente: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Darknet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53</a:t>
            </a:r>
            <a:endParaRPr sz="2000">
              <a:latin typeface="Calibri"/>
              <a:cs typeface="Calibri"/>
            </a:endParaRPr>
          </a:p>
          <a:p>
            <a:pPr marL="207645" indent="-194945">
              <a:lnSpc>
                <a:spcPct val="100000"/>
              </a:lnSpc>
              <a:spcBef>
                <a:spcPts val="484"/>
              </a:spcBef>
              <a:buFont typeface="Arial MT"/>
              <a:buChar char="•"/>
              <a:tabLst>
                <a:tab pos="207645" algn="l"/>
              </a:tabLst>
            </a:pPr>
            <a:r>
              <a:rPr sz="2000" dirty="0">
                <a:latin typeface="Calibri"/>
                <a:cs typeface="Calibri"/>
              </a:rPr>
              <a:t>Añade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pooling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espacial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piramidal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(SPP)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0523" y="2755431"/>
            <a:ext cx="6978379" cy="3463973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45"/>
              </a:lnSpc>
            </a:pPr>
            <a:fld id="{81D60167-4931-47E6-BA6A-407CBD079E47}" type="slidenum">
              <a:rPr spc="-25" dirty="0"/>
              <a:t>26</a:t>
            </a:fld>
            <a:endParaRPr spc="-25" dirty="0"/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1E92A810-2119-6FCD-2C0A-C5830483E5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85" y="152399"/>
            <a:ext cx="685800" cy="583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Ingeniería de Sistemas - UNCP">
            <a:extLst>
              <a:ext uri="{FF2B5EF4-FFF2-40B4-BE49-F238E27FC236}">
                <a16:creationId xmlns:a16="http://schemas.microsoft.com/office/drawing/2014/main" id="{4BEA7068-5217-A680-C570-5AD9EA46B5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3574" y="152399"/>
            <a:ext cx="581085" cy="583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588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Detectores</a:t>
            </a:r>
            <a:r>
              <a:rPr spc="-50" dirty="0"/>
              <a:t> </a:t>
            </a:r>
            <a:r>
              <a:rPr dirty="0"/>
              <a:t>de</a:t>
            </a:r>
            <a:r>
              <a:rPr spc="-35" dirty="0"/>
              <a:t> </a:t>
            </a:r>
            <a:r>
              <a:rPr dirty="0"/>
              <a:t>una</a:t>
            </a:r>
            <a:r>
              <a:rPr spc="-55" dirty="0"/>
              <a:t> </a:t>
            </a:r>
            <a:r>
              <a:rPr spc="-10" dirty="0"/>
              <a:t>Etapa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7794" y="922782"/>
            <a:ext cx="7726045" cy="2317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42925" algn="ctr">
              <a:lnSpc>
                <a:spcPct val="100000"/>
              </a:lnSpc>
              <a:spcBef>
                <a:spcPts val="100"/>
              </a:spcBef>
            </a:pPr>
            <a:r>
              <a:rPr sz="2400" b="1" spc="-20" dirty="0">
                <a:solidFill>
                  <a:srgbClr val="2092FA"/>
                </a:solidFill>
                <a:latin typeface="Calibri"/>
                <a:cs typeface="Calibri"/>
              </a:rPr>
              <a:t>YOLO</a:t>
            </a:r>
            <a:r>
              <a:rPr sz="2400" b="1" spc="-90" dirty="0">
                <a:solidFill>
                  <a:srgbClr val="2092FA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solidFill>
                  <a:srgbClr val="2092FA"/>
                </a:solidFill>
                <a:latin typeface="Calibri"/>
                <a:cs typeface="Calibri"/>
              </a:rPr>
              <a:t>v3</a:t>
            </a:r>
            <a:endParaRPr sz="2400">
              <a:latin typeface="Calibri"/>
              <a:cs typeface="Calibri"/>
            </a:endParaRPr>
          </a:p>
          <a:p>
            <a:pPr marL="207645" indent="-194945">
              <a:lnSpc>
                <a:spcPct val="100000"/>
              </a:lnSpc>
              <a:spcBef>
                <a:spcPts val="2815"/>
              </a:spcBef>
              <a:buFont typeface="Arial MT"/>
              <a:buChar char="•"/>
              <a:tabLst>
                <a:tab pos="207645" algn="l"/>
              </a:tabLst>
            </a:pPr>
            <a:r>
              <a:rPr sz="2000" dirty="0">
                <a:latin typeface="Calibri"/>
                <a:cs typeface="Calibri"/>
              </a:rPr>
              <a:t>Se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introduce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los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conceptos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de</a:t>
            </a:r>
            <a:endParaRPr sz="2000">
              <a:latin typeface="Calibri"/>
              <a:cs typeface="Calibri"/>
            </a:endParaRPr>
          </a:p>
          <a:p>
            <a:pPr marL="389890" lvl="1" indent="-161290">
              <a:lnSpc>
                <a:spcPct val="100000"/>
              </a:lnSpc>
              <a:spcBef>
                <a:spcPts val="440"/>
              </a:spcBef>
              <a:buFont typeface="Calibri"/>
              <a:buChar char="-"/>
              <a:tabLst>
                <a:tab pos="389890" algn="l"/>
              </a:tabLst>
            </a:pPr>
            <a:r>
              <a:rPr sz="1800" i="1" dirty="0">
                <a:solidFill>
                  <a:srgbClr val="6F2F9F"/>
                </a:solidFill>
                <a:latin typeface="Calibri"/>
                <a:cs typeface="Calibri"/>
              </a:rPr>
              <a:t>Backbone</a:t>
            </a:r>
            <a:r>
              <a:rPr sz="1800" dirty="0">
                <a:latin typeface="Calibri"/>
                <a:cs typeface="Calibri"/>
              </a:rPr>
              <a:t>: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CNN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para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la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extracción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características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en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diferentes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escalas</a:t>
            </a:r>
            <a:endParaRPr sz="1800">
              <a:latin typeface="Calibri"/>
              <a:cs typeface="Calibri"/>
            </a:endParaRPr>
          </a:p>
          <a:p>
            <a:pPr marL="388620" marR="5080" lvl="1" indent="-160020">
              <a:lnSpc>
                <a:spcPct val="100000"/>
              </a:lnSpc>
              <a:spcBef>
                <a:spcPts val="434"/>
              </a:spcBef>
              <a:buFont typeface="Calibri"/>
              <a:buChar char="-"/>
              <a:tabLst>
                <a:tab pos="388620" algn="l"/>
                <a:tab pos="389890" algn="l"/>
              </a:tabLst>
            </a:pPr>
            <a:r>
              <a:rPr sz="1800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1800" i="1" dirty="0">
                <a:solidFill>
                  <a:srgbClr val="6F2F9F"/>
                </a:solidFill>
                <a:latin typeface="Calibri"/>
                <a:cs typeface="Calibri"/>
              </a:rPr>
              <a:t>Neck</a:t>
            </a:r>
            <a:r>
              <a:rPr sz="1800" dirty="0">
                <a:latin typeface="Calibri"/>
                <a:cs typeface="Calibri"/>
              </a:rPr>
              <a:t>: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mejora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la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información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espacial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y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semántica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en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diferentes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escalas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(incluye </a:t>
            </a:r>
            <a:r>
              <a:rPr sz="1800" dirty="0">
                <a:latin typeface="Calibri"/>
                <a:cs typeface="Calibri"/>
              </a:rPr>
              <a:t>capas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adicionales,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feature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pyramid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networks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FPN,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etc.)</a:t>
            </a:r>
            <a:endParaRPr sz="1800">
              <a:latin typeface="Calibri"/>
              <a:cs typeface="Calibri"/>
            </a:endParaRPr>
          </a:p>
          <a:p>
            <a:pPr marL="389890" lvl="1" indent="-161290">
              <a:lnSpc>
                <a:spcPct val="100000"/>
              </a:lnSpc>
              <a:spcBef>
                <a:spcPts val="434"/>
              </a:spcBef>
              <a:buFont typeface="Calibri"/>
              <a:buChar char="-"/>
              <a:tabLst>
                <a:tab pos="389890" algn="l"/>
              </a:tabLst>
            </a:pPr>
            <a:r>
              <a:rPr sz="1800" i="1" dirty="0">
                <a:solidFill>
                  <a:srgbClr val="6F2F9F"/>
                </a:solidFill>
                <a:latin typeface="Calibri"/>
                <a:cs typeface="Calibri"/>
              </a:rPr>
              <a:t>Head</a:t>
            </a:r>
            <a:r>
              <a:rPr sz="1800" dirty="0">
                <a:latin typeface="Calibri"/>
                <a:cs typeface="Calibri"/>
              </a:rPr>
              <a:t>: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realiza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las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predicciones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(clasificación,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localización)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31050" y="3528147"/>
            <a:ext cx="5782029" cy="3031121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45"/>
              </a:lnSpc>
            </a:pPr>
            <a:fld id="{81D60167-4931-47E6-BA6A-407CBD079E47}" type="slidenum">
              <a:rPr spc="-25" dirty="0"/>
              <a:t>27</a:t>
            </a:fld>
            <a:endParaRPr spc="-25" dirty="0"/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9DB05509-C412-34DA-35E5-ED628C6378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85" y="152399"/>
            <a:ext cx="685800" cy="583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Ingeniería de Sistemas - UNCP">
            <a:extLst>
              <a:ext uri="{FF2B5EF4-FFF2-40B4-BE49-F238E27FC236}">
                <a16:creationId xmlns:a16="http://schemas.microsoft.com/office/drawing/2014/main" id="{6DEE50E1-8C61-FAA6-07BE-41B57C92D1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3574" y="152399"/>
            <a:ext cx="581085" cy="583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588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Detectores</a:t>
            </a:r>
            <a:r>
              <a:rPr spc="-50" dirty="0"/>
              <a:t> </a:t>
            </a:r>
            <a:r>
              <a:rPr dirty="0"/>
              <a:t>de</a:t>
            </a:r>
            <a:r>
              <a:rPr spc="-35" dirty="0"/>
              <a:t> </a:t>
            </a:r>
            <a:r>
              <a:rPr dirty="0"/>
              <a:t>una</a:t>
            </a:r>
            <a:r>
              <a:rPr spc="-55" dirty="0"/>
              <a:t> </a:t>
            </a:r>
            <a:r>
              <a:rPr spc="-10" dirty="0"/>
              <a:t>Etapa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7794" y="922782"/>
            <a:ext cx="8068945" cy="17494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0025" algn="ctr">
              <a:lnSpc>
                <a:spcPct val="100000"/>
              </a:lnSpc>
              <a:spcBef>
                <a:spcPts val="100"/>
              </a:spcBef>
            </a:pPr>
            <a:r>
              <a:rPr sz="2400" b="1" spc="-20" dirty="0">
                <a:solidFill>
                  <a:srgbClr val="2092FA"/>
                </a:solidFill>
                <a:latin typeface="Calibri"/>
                <a:cs typeface="Calibri"/>
              </a:rPr>
              <a:t>YOLO</a:t>
            </a:r>
            <a:r>
              <a:rPr sz="2400" b="1" spc="-90" dirty="0">
                <a:solidFill>
                  <a:srgbClr val="2092FA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solidFill>
                  <a:srgbClr val="2092FA"/>
                </a:solidFill>
                <a:latin typeface="Calibri"/>
                <a:cs typeface="Calibri"/>
              </a:rPr>
              <a:t>v4</a:t>
            </a:r>
            <a:endParaRPr sz="2400">
              <a:latin typeface="Calibri"/>
              <a:cs typeface="Calibri"/>
            </a:endParaRPr>
          </a:p>
          <a:p>
            <a:pPr marL="207645" indent="-194945">
              <a:lnSpc>
                <a:spcPct val="100000"/>
              </a:lnSpc>
              <a:spcBef>
                <a:spcPts val="2815"/>
              </a:spcBef>
              <a:buFont typeface="Arial MT"/>
              <a:buChar char="•"/>
              <a:tabLst>
                <a:tab pos="207645" algn="l"/>
              </a:tabLst>
            </a:pPr>
            <a:r>
              <a:rPr sz="2000" spc="-10" dirty="0">
                <a:latin typeface="Calibri"/>
                <a:cs typeface="Calibri"/>
              </a:rPr>
              <a:t>Introduce:</a:t>
            </a:r>
            <a:endParaRPr sz="2000">
              <a:latin typeface="Calibri"/>
              <a:cs typeface="Calibri"/>
            </a:endParaRPr>
          </a:p>
          <a:p>
            <a:pPr marL="215900" algn="ctr">
              <a:lnSpc>
                <a:spcPct val="100000"/>
              </a:lnSpc>
              <a:spcBef>
                <a:spcPts val="440"/>
              </a:spcBef>
            </a:pPr>
            <a:r>
              <a:rPr sz="1800" dirty="0">
                <a:latin typeface="Calibri"/>
                <a:cs typeface="Calibri"/>
              </a:rPr>
              <a:t>-</a:t>
            </a:r>
            <a:r>
              <a:rPr sz="1800" spc="2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Bag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freebies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(estrategia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entrenamiento),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bag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specials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(mejora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la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exactitud)</a:t>
            </a:r>
            <a:endParaRPr sz="1800">
              <a:latin typeface="Calibri"/>
              <a:cs typeface="Calibri"/>
            </a:endParaRPr>
          </a:p>
          <a:p>
            <a:pPr marL="207645" indent="-194945">
              <a:lnSpc>
                <a:spcPct val="100000"/>
              </a:lnSpc>
              <a:spcBef>
                <a:spcPts val="475"/>
              </a:spcBef>
              <a:buFont typeface="Arial MT"/>
              <a:buChar char="•"/>
              <a:tabLst>
                <a:tab pos="207645" algn="l"/>
              </a:tabLst>
            </a:pPr>
            <a:r>
              <a:rPr sz="2000" spc="-10" dirty="0">
                <a:latin typeface="Calibri"/>
                <a:cs typeface="Calibri"/>
              </a:rPr>
              <a:t>Arquitectura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32694" y="2732541"/>
            <a:ext cx="4759391" cy="37413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095880" y="6635521"/>
            <a:ext cx="450850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r>
              <a:rPr sz="1000" spc="-10" dirty="0">
                <a:solidFill>
                  <a:srgbClr val="7E7E7E"/>
                </a:solidFill>
                <a:latin typeface="Calibri"/>
                <a:cs typeface="Calibri"/>
              </a:rPr>
              <a:t>Bochkovskiy,</a:t>
            </a:r>
            <a:r>
              <a:rPr sz="1000" spc="-3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7E7E7E"/>
                </a:solidFill>
                <a:latin typeface="Calibri"/>
                <a:cs typeface="Calibri"/>
              </a:rPr>
              <a:t>A.</a:t>
            </a:r>
            <a:r>
              <a:rPr sz="1000" spc="-2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7E7E7E"/>
                </a:solidFill>
                <a:latin typeface="Calibri"/>
                <a:cs typeface="Calibri"/>
              </a:rPr>
              <a:t>et</a:t>
            </a:r>
            <a:r>
              <a:rPr sz="1000" spc="-2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7E7E7E"/>
                </a:solidFill>
                <a:latin typeface="Calibri"/>
                <a:cs typeface="Calibri"/>
              </a:rPr>
              <a:t>al.</a:t>
            </a:r>
            <a:r>
              <a:rPr sz="1000" spc="-2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7E7E7E"/>
                </a:solidFill>
                <a:latin typeface="Calibri"/>
                <a:cs typeface="Calibri"/>
              </a:rPr>
              <a:t>(2020). YOLOv4:</a:t>
            </a:r>
            <a:r>
              <a:rPr sz="1000" spc="2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7E7E7E"/>
                </a:solidFill>
                <a:latin typeface="Calibri"/>
                <a:cs typeface="Calibri"/>
              </a:rPr>
              <a:t>Optimal</a:t>
            </a:r>
            <a:r>
              <a:rPr sz="1000" spc="-3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7E7E7E"/>
                </a:solidFill>
                <a:latin typeface="Calibri"/>
                <a:cs typeface="Calibri"/>
              </a:rPr>
              <a:t>Speed</a:t>
            </a:r>
            <a:r>
              <a:rPr sz="1000" spc="1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7E7E7E"/>
                </a:solidFill>
                <a:latin typeface="Calibri"/>
                <a:cs typeface="Calibri"/>
              </a:rPr>
              <a:t>and</a:t>
            </a:r>
            <a:r>
              <a:rPr sz="1000" spc="-4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7E7E7E"/>
                </a:solidFill>
                <a:latin typeface="Calibri"/>
                <a:cs typeface="Calibri"/>
              </a:rPr>
              <a:t>Accuracy</a:t>
            </a:r>
            <a:r>
              <a:rPr sz="1000" spc="-1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7E7E7E"/>
                </a:solidFill>
                <a:latin typeface="Calibri"/>
                <a:cs typeface="Calibri"/>
              </a:rPr>
              <a:t>of</a:t>
            </a:r>
            <a:r>
              <a:rPr sz="1000" spc="-2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7E7E7E"/>
                </a:solidFill>
                <a:latin typeface="Calibri"/>
                <a:cs typeface="Calibri"/>
              </a:rPr>
              <a:t>Object</a:t>
            </a:r>
            <a:r>
              <a:rPr sz="1000" spc="-2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7E7E7E"/>
                </a:solidFill>
                <a:latin typeface="Calibri"/>
                <a:cs typeface="Calibri"/>
              </a:rPr>
              <a:t>Detection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45"/>
              </a:lnSpc>
            </a:pPr>
            <a:fld id="{81D60167-4931-47E6-BA6A-407CBD079E47}" type="slidenum">
              <a:rPr spc="-25" dirty="0"/>
              <a:t>28</a:t>
            </a:fld>
            <a:endParaRPr spc="-25" dirty="0"/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9340057D-7556-11B3-7375-41317B92EF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85" y="152399"/>
            <a:ext cx="685800" cy="583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 descr="Ingeniería de Sistemas - UNCP">
            <a:extLst>
              <a:ext uri="{FF2B5EF4-FFF2-40B4-BE49-F238E27FC236}">
                <a16:creationId xmlns:a16="http://schemas.microsoft.com/office/drawing/2014/main" id="{7074B672-B499-EECF-97F0-71924FF662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3574" y="152399"/>
            <a:ext cx="581085" cy="583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588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Detectores</a:t>
            </a:r>
            <a:r>
              <a:rPr spc="-50" dirty="0"/>
              <a:t> </a:t>
            </a:r>
            <a:r>
              <a:rPr dirty="0"/>
              <a:t>de</a:t>
            </a:r>
            <a:r>
              <a:rPr spc="-35" dirty="0"/>
              <a:t> </a:t>
            </a:r>
            <a:r>
              <a:rPr dirty="0"/>
              <a:t>una</a:t>
            </a:r>
            <a:r>
              <a:rPr spc="-55" dirty="0"/>
              <a:t> </a:t>
            </a:r>
            <a:r>
              <a:rPr spc="-10" dirty="0"/>
              <a:t>Etapa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7794" y="922782"/>
            <a:ext cx="7961630" cy="17494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9880" algn="ctr">
              <a:lnSpc>
                <a:spcPct val="100000"/>
              </a:lnSpc>
              <a:spcBef>
                <a:spcPts val="100"/>
              </a:spcBef>
            </a:pPr>
            <a:r>
              <a:rPr sz="2400" b="1" spc="-40" dirty="0">
                <a:solidFill>
                  <a:srgbClr val="2092FA"/>
                </a:solidFill>
                <a:latin typeface="Calibri"/>
                <a:cs typeface="Calibri"/>
              </a:rPr>
              <a:t>Yolo</a:t>
            </a:r>
            <a:r>
              <a:rPr sz="2400" b="1" spc="-70" dirty="0">
                <a:solidFill>
                  <a:srgbClr val="2092FA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solidFill>
                  <a:srgbClr val="2092FA"/>
                </a:solidFill>
                <a:latin typeface="Calibri"/>
                <a:cs typeface="Calibri"/>
              </a:rPr>
              <a:t>v8</a:t>
            </a:r>
            <a:endParaRPr sz="2400">
              <a:latin typeface="Calibri"/>
              <a:cs typeface="Calibri"/>
            </a:endParaRPr>
          </a:p>
          <a:p>
            <a:pPr marL="207645" indent="-194945">
              <a:lnSpc>
                <a:spcPct val="100000"/>
              </a:lnSpc>
              <a:spcBef>
                <a:spcPts val="2815"/>
              </a:spcBef>
              <a:buFont typeface="Arial MT"/>
              <a:buChar char="•"/>
              <a:tabLst>
                <a:tab pos="207645" algn="l"/>
              </a:tabLst>
            </a:pPr>
            <a:r>
              <a:rPr sz="2000" dirty="0">
                <a:latin typeface="Calibri"/>
                <a:cs typeface="Calibri"/>
              </a:rPr>
              <a:t>Es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un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conjunto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modelos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creados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y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entrenados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en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PyTorch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7E7E7E"/>
                </a:solidFill>
                <a:latin typeface="Calibri"/>
                <a:cs typeface="Calibri"/>
              </a:rPr>
              <a:t>(por</a:t>
            </a:r>
            <a:r>
              <a:rPr sz="1800" spc="-2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7E7E7E"/>
                </a:solidFill>
                <a:latin typeface="Calibri"/>
                <a:cs typeface="Calibri"/>
              </a:rPr>
              <a:t>Ultralytics)</a:t>
            </a:r>
            <a:endParaRPr sz="1800">
              <a:latin typeface="Calibri"/>
              <a:cs typeface="Calibri"/>
            </a:endParaRPr>
          </a:p>
          <a:p>
            <a:pPr marL="228600">
              <a:lnSpc>
                <a:spcPct val="100000"/>
              </a:lnSpc>
              <a:spcBef>
                <a:spcPts val="440"/>
              </a:spcBef>
            </a:pPr>
            <a:r>
              <a:rPr sz="1800" dirty="0">
                <a:latin typeface="Calibri"/>
                <a:cs typeface="Calibri"/>
              </a:rPr>
              <a:t>-</a:t>
            </a:r>
            <a:r>
              <a:rPr sz="1800" spc="2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Ha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sido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pre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entrenado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en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el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conjunto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datos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COCO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7E7E7E"/>
                </a:solidFill>
                <a:latin typeface="Calibri"/>
                <a:cs typeface="Calibri"/>
              </a:rPr>
              <a:t>(80</a:t>
            </a:r>
            <a:r>
              <a:rPr sz="1600" spc="-10" dirty="0">
                <a:solidFill>
                  <a:srgbClr val="7E7E7E"/>
                </a:solidFill>
                <a:latin typeface="Calibri"/>
                <a:cs typeface="Calibri"/>
              </a:rPr>
              <a:t> categorías)</a:t>
            </a:r>
            <a:endParaRPr sz="1600">
              <a:latin typeface="Calibri"/>
              <a:cs typeface="Calibri"/>
            </a:endParaRPr>
          </a:p>
          <a:p>
            <a:pPr marL="207645" indent="-194945">
              <a:lnSpc>
                <a:spcPct val="100000"/>
              </a:lnSpc>
              <a:spcBef>
                <a:spcPts val="475"/>
              </a:spcBef>
              <a:buFont typeface="Arial MT"/>
              <a:buChar char="•"/>
              <a:tabLst>
                <a:tab pos="207645" algn="l"/>
              </a:tabLst>
            </a:pPr>
            <a:r>
              <a:rPr sz="2000" dirty="0">
                <a:latin typeface="Calibri"/>
                <a:cs typeface="Calibri"/>
              </a:rPr>
              <a:t>Realiza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clasificación,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detección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y</a:t>
            </a:r>
            <a:r>
              <a:rPr sz="2000" spc="-8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segmentación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37794" y="4620390"/>
            <a:ext cx="4064635" cy="1327150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207645" indent="-194945">
              <a:lnSpc>
                <a:spcPct val="100000"/>
              </a:lnSpc>
              <a:spcBef>
                <a:spcPts val="590"/>
              </a:spcBef>
              <a:buFont typeface="Arial MT"/>
              <a:buChar char="•"/>
              <a:tabLst>
                <a:tab pos="207645" algn="l"/>
              </a:tabLst>
            </a:pPr>
            <a:r>
              <a:rPr sz="2000" dirty="0">
                <a:latin typeface="Calibri"/>
                <a:cs typeface="Calibri"/>
              </a:rPr>
              <a:t>Soporta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varios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modelos</a:t>
            </a:r>
            <a:endParaRPr sz="2000">
              <a:latin typeface="Calibri"/>
              <a:cs typeface="Calibri"/>
            </a:endParaRPr>
          </a:p>
          <a:p>
            <a:pPr marL="389890" lvl="1" indent="-161290">
              <a:lnSpc>
                <a:spcPct val="100000"/>
              </a:lnSpc>
              <a:spcBef>
                <a:spcPts val="440"/>
              </a:spcBef>
              <a:buChar char="-"/>
              <a:tabLst>
                <a:tab pos="389890" algn="l"/>
              </a:tabLst>
            </a:pPr>
            <a:r>
              <a:rPr sz="1800" dirty="0">
                <a:latin typeface="Calibri"/>
                <a:cs typeface="Calibri"/>
              </a:rPr>
              <a:t>Dependen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la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tarea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y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del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hardware</a:t>
            </a:r>
            <a:endParaRPr sz="1800">
              <a:latin typeface="Calibri"/>
              <a:cs typeface="Calibri"/>
            </a:endParaRPr>
          </a:p>
          <a:p>
            <a:pPr marL="389255" lvl="1" indent="-160655">
              <a:lnSpc>
                <a:spcPct val="100000"/>
              </a:lnSpc>
              <a:spcBef>
                <a:spcPts val="434"/>
              </a:spcBef>
              <a:buChar char="-"/>
              <a:tabLst>
                <a:tab pos="389255" algn="l"/>
              </a:tabLst>
            </a:pPr>
            <a:r>
              <a:rPr sz="1800" dirty="0">
                <a:latin typeface="Calibri"/>
                <a:cs typeface="Calibri"/>
              </a:rPr>
              <a:t>Modelos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más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grandes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son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más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precisos</a:t>
            </a:r>
            <a:endParaRPr sz="1800">
              <a:latin typeface="Calibri"/>
              <a:cs typeface="Calibri"/>
            </a:endParaRPr>
          </a:p>
          <a:p>
            <a:pPr marL="388620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pero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son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más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lentos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39339" y="2852927"/>
            <a:ext cx="3816096" cy="1559052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14900" y="4712208"/>
            <a:ext cx="3084576" cy="1988819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45"/>
              </a:lnSpc>
            </a:pPr>
            <a:fld id="{81D60167-4931-47E6-BA6A-407CBD079E47}" type="slidenum">
              <a:rPr spc="-25" dirty="0"/>
              <a:t>29</a:t>
            </a:fld>
            <a:endParaRPr spc="-25" dirty="0"/>
          </a:p>
        </p:txBody>
      </p:sp>
      <p:pic>
        <p:nvPicPr>
          <p:cNvPr id="8" name="Picture 4">
            <a:extLst>
              <a:ext uri="{FF2B5EF4-FFF2-40B4-BE49-F238E27FC236}">
                <a16:creationId xmlns:a16="http://schemas.microsoft.com/office/drawing/2014/main" id="{E5081C49-57D0-EBB9-D6F9-0216D06805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85" y="152399"/>
            <a:ext cx="685800" cy="583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6" descr="Ingeniería de Sistemas - UNCP">
            <a:extLst>
              <a:ext uri="{FF2B5EF4-FFF2-40B4-BE49-F238E27FC236}">
                <a16:creationId xmlns:a16="http://schemas.microsoft.com/office/drawing/2014/main" id="{099B9F97-9CFA-0084-DD93-44F368D657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3574" y="152399"/>
            <a:ext cx="581085" cy="583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5"/>
              </a:spcBef>
              <a:buChar char="•"/>
              <a:tabLst>
                <a:tab pos="354965" algn="l"/>
              </a:tabLst>
            </a:pPr>
            <a:r>
              <a:rPr i="0" dirty="0">
                <a:latin typeface="Calibri"/>
                <a:cs typeface="Calibri"/>
              </a:rPr>
              <a:t>R.</a:t>
            </a:r>
            <a:r>
              <a:rPr i="0" spc="-40" dirty="0">
                <a:latin typeface="Calibri"/>
                <a:cs typeface="Calibri"/>
              </a:rPr>
              <a:t> </a:t>
            </a:r>
            <a:r>
              <a:rPr i="0" dirty="0">
                <a:latin typeface="Calibri"/>
                <a:cs typeface="Calibri"/>
              </a:rPr>
              <a:t>Szeliski.</a:t>
            </a:r>
            <a:r>
              <a:rPr i="0" spc="-20" dirty="0">
                <a:latin typeface="Calibri"/>
                <a:cs typeface="Calibri"/>
              </a:rPr>
              <a:t> </a:t>
            </a:r>
            <a:r>
              <a:rPr dirty="0"/>
              <a:t>Computer</a:t>
            </a:r>
            <a:r>
              <a:rPr spc="-40" dirty="0"/>
              <a:t> </a:t>
            </a:r>
            <a:r>
              <a:rPr dirty="0"/>
              <a:t>Vision:</a:t>
            </a:r>
            <a:r>
              <a:rPr spc="-50" dirty="0"/>
              <a:t> </a:t>
            </a:r>
            <a:r>
              <a:rPr dirty="0"/>
              <a:t>Algorithms</a:t>
            </a:r>
            <a:r>
              <a:rPr spc="-30" dirty="0"/>
              <a:t> </a:t>
            </a:r>
            <a:r>
              <a:rPr dirty="0"/>
              <a:t>and</a:t>
            </a:r>
            <a:r>
              <a:rPr spc="-55" dirty="0"/>
              <a:t> </a:t>
            </a:r>
            <a:r>
              <a:rPr dirty="0"/>
              <a:t>Applications</a:t>
            </a:r>
            <a:r>
              <a:rPr i="0" dirty="0">
                <a:latin typeface="Calibri"/>
                <a:cs typeface="Calibri"/>
              </a:rPr>
              <a:t>.</a:t>
            </a:r>
            <a:r>
              <a:rPr i="0" spc="-45" dirty="0">
                <a:latin typeface="Calibri"/>
                <a:cs typeface="Calibri"/>
              </a:rPr>
              <a:t> </a:t>
            </a:r>
            <a:r>
              <a:rPr i="0" spc="-25" dirty="0">
                <a:latin typeface="Calibri"/>
                <a:cs typeface="Calibri"/>
              </a:rPr>
              <a:t>Springer,</a:t>
            </a:r>
            <a:r>
              <a:rPr i="0" spc="-50" dirty="0">
                <a:latin typeface="Calibri"/>
                <a:cs typeface="Calibri"/>
              </a:rPr>
              <a:t> </a:t>
            </a:r>
            <a:r>
              <a:rPr i="0" spc="-20" dirty="0">
                <a:latin typeface="Calibri"/>
                <a:cs typeface="Calibri"/>
              </a:rPr>
              <a:t>2010</a:t>
            </a:r>
          </a:p>
          <a:p>
            <a:pPr marL="354965">
              <a:lnSpc>
                <a:spcPct val="100000"/>
              </a:lnSpc>
              <a:spcBef>
                <a:spcPts val="5"/>
              </a:spcBef>
            </a:pPr>
            <a:r>
              <a:rPr sz="1800" i="0" dirty="0">
                <a:solidFill>
                  <a:srgbClr val="7E7E7E"/>
                </a:solidFill>
                <a:latin typeface="Calibri"/>
                <a:cs typeface="Calibri"/>
              </a:rPr>
              <a:t>(</a:t>
            </a:r>
            <a:r>
              <a:rPr sz="1800" dirty="0">
                <a:solidFill>
                  <a:srgbClr val="7E7E7E"/>
                </a:solidFill>
              </a:rPr>
              <a:t>Capítulos</a:t>
            </a:r>
            <a:r>
              <a:rPr sz="1800" spc="-15" dirty="0">
                <a:solidFill>
                  <a:srgbClr val="7E7E7E"/>
                </a:solidFill>
              </a:rPr>
              <a:t> </a:t>
            </a:r>
            <a:r>
              <a:rPr sz="1800" i="0" dirty="0">
                <a:solidFill>
                  <a:srgbClr val="7E7E7E"/>
                </a:solidFill>
                <a:latin typeface="Calibri"/>
                <a:cs typeface="Calibri"/>
              </a:rPr>
              <a:t>4,</a:t>
            </a:r>
            <a:r>
              <a:rPr sz="1800" i="0" spc="-2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800" i="0" spc="-25" dirty="0">
                <a:solidFill>
                  <a:srgbClr val="7E7E7E"/>
                </a:solidFill>
                <a:latin typeface="Calibri"/>
                <a:cs typeface="Calibri"/>
              </a:rPr>
              <a:t>14)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55"/>
              </a:spcBef>
            </a:pPr>
            <a:endParaRPr sz="1800">
              <a:latin typeface="Calibri"/>
              <a:cs typeface="Calibri"/>
            </a:endParaRPr>
          </a:p>
          <a:p>
            <a:pPr marL="354965" marR="447040" indent="-342900">
              <a:lnSpc>
                <a:spcPct val="100000"/>
              </a:lnSpc>
              <a:spcBef>
                <a:spcPts val="5"/>
              </a:spcBef>
              <a:buChar char="•"/>
              <a:tabLst>
                <a:tab pos="354965" algn="l"/>
              </a:tabLst>
            </a:pPr>
            <a:r>
              <a:rPr i="0" dirty="0">
                <a:latin typeface="Calibri"/>
                <a:cs typeface="Calibri"/>
              </a:rPr>
              <a:t>D.</a:t>
            </a:r>
            <a:r>
              <a:rPr i="0" spc="-65" dirty="0">
                <a:latin typeface="Calibri"/>
                <a:cs typeface="Calibri"/>
              </a:rPr>
              <a:t> </a:t>
            </a:r>
            <a:r>
              <a:rPr i="0" spc="-10" dirty="0">
                <a:latin typeface="Calibri"/>
                <a:cs typeface="Calibri"/>
              </a:rPr>
              <a:t>Forsyth,</a:t>
            </a:r>
            <a:r>
              <a:rPr i="0" spc="-55" dirty="0">
                <a:latin typeface="Calibri"/>
                <a:cs typeface="Calibri"/>
              </a:rPr>
              <a:t> </a:t>
            </a:r>
            <a:r>
              <a:rPr i="0" dirty="0">
                <a:latin typeface="Calibri"/>
                <a:cs typeface="Calibri"/>
              </a:rPr>
              <a:t>J.</a:t>
            </a:r>
            <a:r>
              <a:rPr i="0" spc="-55" dirty="0">
                <a:latin typeface="Calibri"/>
                <a:cs typeface="Calibri"/>
              </a:rPr>
              <a:t> </a:t>
            </a:r>
            <a:r>
              <a:rPr i="0" dirty="0">
                <a:latin typeface="Calibri"/>
                <a:cs typeface="Calibri"/>
              </a:rPr>
              <a:t>Ponce:</a:t>
            </a:r>
            <a:r>
              <a:rPr i="0" spc="-40" dirty="0">
                <a:latin typeface="Calibri"/>
                <a:cs typeface="Calibri"/>
              </a:rPr>
              <a:t> </a:t>
            </a:r>
            <a:r>
              <a:rPr i="0" dirty="0">
                <a:latin typeface="Calibri"/>
                <a:cs typeface="Calibri"/>
              </a:rPr>
              <a:t>Computer</a:t>
            </a:r>
            <a:r>
              <a:rPr i="0" spc="-60" dirty="0">
                <a:latin typeface="Calibri"/>
                <a:cs typeface="Calibri"/>
              </a:rPr>
              <a:t> </a:t>
            </a:r>
            <a:r>
              <a:rPr i="0" dirty="0">
                <a:latin typeface="Calibri"/>
                <a:cs typeface="Calibri"/>
              </a:rPr>
              <a:t>Vision,</a:t>
            </a:r>
            <a:r>
              <a:rPr i="0" spc="-35" dirty="0">
                <a:latin typeface="Calibri"/>
                <a:cs typeface="Calibri"/>
              </a:rPr>
              <a:t> </a:t>
            </a:r>
            <a:r>
              <a:rPr i="0" dirty="0">
                <a:latin typeface="Calibri"/>
                <a:cs typeface="Calibri"/>
              </a:rPr>
              <a:t>A</a:t>
            </a:r>
            <a:r>
              <a:rPr i="0" spc="-45" dirty="0">
                <a:latin typeface="Calibri"/>
                <a:cs typeface="Calibri"/>
              </a:rPr>
              <a:t> </a:t>
            </a:r>
            <a:r>
              <a:rPr i="0" dirty="0">
                <a:latin typeface="Calibri"/>
                <a:cs typeface="Calibri"/>
              </a:rPr>
              <a:t>Modern</a:t>
            </a:r>
            <a:r>
              <a:rPr i="0" spc="-65" dirty="0">
                <a:latin typeface="Calibri"/>
                <a:cs typeface="Calibri"/>
              </a:rPr>
              <a:t> </a:t>
            </a:r>
            <a:r>
              <a:rPr i="0" dirty="0">
                <a:latin typeface="Calibri"/>
                <a:cs typeface="Calibri"/>
              </a:rPr>
              <a:t>Approach,</a:t>
            </a:r>
            <a:r>
              <a:rPr i="0" spc="-55" dirty="0">
                <a:latin typeface="Calibri"/>
                <a:cs typeface="Calibri"/>
              </a:rPr>
              <a:t> </a:t>
            </a:r>
            <a:r>
              <a:rPr i="0" spc="-10" dirty="0">
                <a:latin typeface="Calibri"/>
                <a:cs typeface="Calibri"/>
              </a:rPr>
              <a:t>Pearson Education,</a:t>
            </a:r>
            <a:r>
              <a:rPr i="0" spc="-45" dirty="0">
                <a:latin typeface="Calibri"/>
                <a:cs typeface="Calibri"/>
              </a:rPr>
              <a:t> </a:t>
            </a:r>
            <a:r>
              <a:rPr i="0" dirty="0">
                <a:latin typeface="Calibri"/>
                <a:cs typeface="Calibri"/>
              </a:rPr>
              <a:t>NJ</a:t>
            </a:r>
            <a:r>
              <a:rPr i="0" spc="-20" dirty="0">
                <a:latin typeface="Calibri"/>
                <a:cs typeface="Calibri"/>
              </a:rPr>
              <a:t> </a:t>
            </a:r>
            <a:r>
              <a:rPr i="0" dirty="0">
                <a:latin typeface="Calibri"/>
                <a:cs typeface="Calibri"/>
              </a:rPr>
              <a:t>2012</a:t>
            </a:r>
            <a:r>
              <a:rPr i="0" spc="-40" dirty="0">
                <a:latin typeface="Calibri"/>
                <a:cs typeface="Calibri"/>
              </a:rPr>
              <a:t> </a:t>
            </a:r>
            <a:r>
              <a:rPr sz="1800" i="0" dirty="0">
                <a:solidFill>
                  <a:srgbClr val="7E7E7E"/>
                </a:solidFill>
                <a:latin typeface="Calibri"/>
                <a:cs typeface="Calibri"/>
              </a:rPr>
              <a:t>(</a:t>
            </a:r>
            <a:r>
              <a:rPr sz="1800" dirty="0">
                <a:solidFill>
                  <a:srgbClr val="7E7E7E"/>
                </a:solidFill>
              </a:rPr>
              <a:t>Capítulos</a:t>
            </a:r>
            <a:r>
              <a:rPr sz="1800" spc="420" dirty="0">
                <a:solidFill>
                  <a:srgbClr val="7E7E7E"/>
                </a:solidFill>
              </a:rPr>
              <a:t> </a:t>
            </a:r>
            <a:r>
              <a:rPr sz="1800" i="0" dirty="0">
                <a:solidFill>
                  <a:srgbClr val="7E7E7E"/>
                </a:solidFill>
                <a:latin typeface="Calibri"/>
                <a:cs typeface="Calibri"/>
              </a:rPr>
              <a:t>5,</a:t>
            </a:r>
            <a:r>
              <a:rPr sz="1800" i="0" spc="-1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800" i="0" dirty="0">
                <a:solidFill>
                  <a:srgbClr val="7E7E7E"/>
                </a:solidFill>
                <a:latin typeface="Calibri"/>
                <a:cs typeface="Calibri"/>
              </a:rPr>
              <a:t>16,</a:t>
            </a:r>
            <a:r>
              <a:rPr sz="1800" i="0" spc="-1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800" i="0" spc="-25" dirty="0">
                <a:solidFill>
                  <a:srgbClr val="7E7E7E"/>
                </a:solidFill>
                <a:latin typeface="Calibri"/>
                <a:cs typeface="Calibri"/>
              </a:rPr>
              <a:t>17)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19"/>
              </a:spcBef>
              <a:buClr>
                <a:srgbClr val="30859C"/>
              </a:buClr>
              <a:buFont typeface="Calibri"/>
              <a:buChar char="•"/>
            </a:pPr>
            <a:endParaRPr sz="1800">
              <a:latin typeface="Calibri"/>
              <a:cs typeface="Calibri"/>
            </a:endParaRPr>
          </a:p>
          <a:p>
            <a:pPr marL="354965" marR="813435" indent="-342900">
              <a:lnSpc>
                <a:spcPct val="100000"/>
              </a:lnSpc>
              <a:buChar char="•"/>
              <a:tabLst>
                <a:tab pos="354965" algn="l"/>
              </a:tabLst>
            </a:pPr>
            <a:r>
              <a:rPr i="0" dirty="0">
                <a:latin typeface="Calibri"/>
                <a:cs typeface="Calibri"/>
              </a:rPr>
              <a:t>R.</a:t>
            </a:r>
            <a:r>
              <a:rPr i="0" spc="-40" dirty="0">
                <a:latin typeface="Calibri"/>
                <a:cs typeface="Calibri"/>
              </a:rPr>
              <a:t> </a:t>
            </a:r>
            <a:r>
              <a:rPr i="0" dirty="0">
                <a:latin typeface="Calibri"/>
                <a:cs typeface="Calibri"/>
              </a:rPr>
              <a:t>Siegwart,</a:t>
            </a:r>
            <a:r>
              <a:rPr i="0" spc="-20" dirty="0">
                <a:latin typeface="Calibri"/>
                <a:cs typeface="Calibri"/>
              </a:rPr>
              <a:t> </a:t>
            </a:r>
            <a:r>
              <a:rPr i="0" dirty="0">
                <a:latin typeface="Calibri"/>
                <a:cs typeface="Calibri"/>
              </a:rPr>
              <a:t>R.I.</a:t>
            </a:r>
            <a:r>
              <a:rPr i="0" spc="-50" dirty="0">
                <a:latin typeface="Calibri"/>
                <a:cs typeface="Calibri"/>
              </a:rPr>
              <a:t> </a:t>
            </a:r>
            <a:r>
              <a:rPr i="0" dirty="0">
                <a:latin typeface="Calibri"/>
                <a:cs typeface="Calibri"/>
              </a:rPr>
              <a:t>Nourbakhsh,</a:t>
            </a:r>
            <a:r>
              <a:rPr i="0" spc="-55" dirty="0">
                <a:latin typeface="Calibri"/>
                <a:cs typeface="Calibri"/>
              </a:rPr>
              <a:t> </a:t>
            </a:r>
            <a:r>
              <a:rPr i="0" dirty="0">
                <a:latin typeface="Calibri"/>
                <a:cs typeface="Calibri"/>
              </a:rPr>
              <a:t>and</a:t>
            </a:r>
            <a:r>
              <a:rPr i="0" spc="-40" dirty="0">
                <a:latin typeface="Calibri"/>
                <a:cs typeface="Calibri"/>
              </a:rPr>
              <a:t> </a:t>
            </a:r>
            <a:r>
              <a:rPr i="0" dirty="0">
                <a:latin typeface="Calibri"/>
                <a:cs typeface="Calibri"/>
              </a:rPr>
              <a:t>D.</a:t>
            </a:r>
            <a:r>
              <a:rPr i="0" spc="-35" dirty="0">
                <a:latin typeface="Calibri"/>
                <a:cs typeface="Calibri"/>
              </a:rPr>
              <a:t> </a:t>
            </a:r>
            <a:r>
              <a:rPr i="0" spc="-10" dirty="0">
                <a:latin typeface="Calibri"/>
                <a:cs typeface="Calibri"/>
              </a:rPr>
              <a:t>Scaramuzza.</a:t>
            </a:r>
            <a:r>
              <a:rPr i="0" spc="-50" dirty="0">
                <a:latin typeface="Calibri"/>
                <a:cs typeface="Calibri"/>
              </a:rPr>
              <a:t> </a:t>
            </a:r>
            <a:r>
              <a:rPr dirty="0"/>
              <a:t>Introduction</a:t>
            </a:r>
            <a:r>
              <a:rPr spc="-45" dirty="0"/>
              <a:t> </a:t>
            </a:r>
            <a:r>
              <a:rPr spc="-35" dirty="0"/>
              <a:t>to </a:t>
            </a:r>
            <a:r>
              <a:rPr dirty="0"/>
              <a:t>Autonomous</a:t>
            </a:r>
            <a:r>
              <a:rPr spc="-80" dirty="0"/>
              <a:t> </a:t>
            </a:r>
            <a:r>
              <a:rPr dirty="0"/>
              <a:t>Mobile</a:t>
            </a:r>
            <a:r>
              <a:rPr spc="-55" dirty="0"/>
              <a:t> </a:t>
            </a:r>
            <a:r>
              <a:rPr dirty="0"/>
              <a:t>Robots</a:t>
            </a:r>
            <a:r>
              <a:rPr i="0" dirty="0">
                <a:latin typeface="Calibri"/>
                <a:cs typeface="Calibri"/>
              </a:rPr>
              <a:t>.</a:t>
            </a:r>
            <a:r>
              <a:rPr i="0" spc="-65" dirty="0">
                <a:latin typeface="Calibri"/>
                <a:cs typeface="Calibri"/>
              </a:rPr>
              <a:t> </a:t>
            </a:r>
            <a:r>
              <a:rPr i="0" dirty="0">
                <a:latin typeface="Calibri"/>
                <a:cs typeface="Calibri"/>
              </a:rPr>
              <a:t>MIT</a:t>
            </a:r>
            <a:r>
              <a:rPr i="0" spc="-45" dirty="0">
                <a:latin typeface="Calibri"/>
                <a:cs typeface="Calibri"/>
              </a:rPr>
              <a:t> </a:t>
            </a:r>
            <a:r>
              <a:rPr i="0" dirty="0">
                <a:latin typeface="Calibri"/>
                <a:cs typeface="Calibri"/>
              </a:rPr>
              <a:t>press,</a:t>
            </a:r>
            <a:r>
              <a:rPr i="0" spc="-30" dirty="0">
                <a:latin typeface="Calibri"/>
                <a:cs typeface="Calibri"/>
              </a:rPr>
              <a:t> </a:t>
            </a:r>
            <a:r>
              <a:rPr i="0" dirty="0">
                <a:latin typeface="Calibri"/>
                <a:cs typeface="Calibri"/>
              </a:rPr>
              <a:t>2011.</a:t>
            </a:r>
            <a:r>
              <a:rPr i="0" spc="-65" dirty="0">
                <a:latin typeface="Calibri"/>
                <a:cs typeface="Calibri"/>
              </a:rPr>
              <a:t> </a:t>
            </a:r>
            <a:r>
              <a:rPr sz="1800" i="0" dirty="0">
                <a:solidFill>
                  <a:srgbClr val="7E7E7E"/>
                </a:solidFill>
                <a:latin typeface="Calibri"/>
                <a:cs typeface="Calibri"/>
              </a:rPr>
              <a:t>(</a:t>
            </a:r>
            <a:r>
              <a:rPr sz="1800" dirty="0">
                <a:solidFill>
                  <a:srgbClr val="7E7E7E"/>
                </a:solidFill>
              </a:rPr>
              <a:t>Capítulo</a:t>
            </a:r>
            <a:r>
              <a:rPr sz="1800" spc="-10" dirty="0">
                <a:solidFill>
                  <a:srgbClr val="7E7E7E"/>
                </a:solidFill>
              </a:rPr>
              <a:t> </a:t>
            </a:r>
            <a:r>
              <a:rPr sz="1800" spc="-25" dirty="0">
                <a:solidFill>
                  <a:srgbClr val="7E7E7E"/>
                </a:solidFill>
              </a:rPr>
              <a:t>4</a:t>
            </a:r>
            <a:r>
              <a:rPr sz="1800" i="0" spc="-25" dirty="0">
                <a:solidFill>
                  <a:srgbClr val="7E7E7E"/>
                </a:solidFill>
                <a:latin typeface="Calibri"/>
                <a:cs typeface="Calibri"/>
              </a:rPr>
              <a:t>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45"/>
              </a:lnSpc>
            </a:pPr>
            <a:fld id="{81D60167-4931-47E6-BA6A-407CBD079E47}" type="slidenum">
              <a:rPr spc="-25" dirty="0"/>
              <a:t>30</a:t>
            </a:fld>
            <a:endParaRPr spc="-25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739134" y="820039"/>
            <a:ext cx="1665605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-10" dirty="0">
                <a:solidFill>
                  <a:srgbClr val="C00000"/>
                </a:solidFill>
              </a:rPr>
              <a:t>Referencias</a:t>
            </a:r>
            <a:endParaRPr sz="27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D2B1F9-D2D8-0124-7D37-1139BA1343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85" y="152399"/>
            <a:ext cx="685800" cy="583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6" descr="Ingeniería de Sistemas - UNCP">
            <a:extLst>
              <a:ext uri="{FF2B5EF4-FFF2-40B4-BE49-F238E27FC236}">
                <a16:creationId xmlns:a16="http://schemas.microsoft.com/office/drawing/2014/main" id="{87DA72E9-2699-83A8-E0CE-CCB800C640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3574" y="152399"/>
            <a:ext cx="581085" cy="583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Words>1652</Words>
  <Application>Microsoft Office PowerPoint</Application>
  <PresentationFormat>Presentación en pantalla (4:3)</PresentationFormat>
  <Paragraphs>270</Paragraphs>
  <Slides>30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30</vt:i4>
      </vt:variant>
    </vt:vector>
  </HeadingPairs>
  <TitlesOfParts>
    <vt:vector size="35" baseType="lpstr">
      <vt:lpstr>Arial MT</vt:lpstr>
      <vt:lpstr>Calibri</vt:lpstr>
      <vt:lpstr>Comic Sans MS</vt:lpstr>
      <vt:lpstr>Times New Roman</vt:lpstr>
      <vt:lpstr>Office Theme</vt:lpstr>
      <vt:lpstr>Presentación de PowerPoint</vt:lpstr>
      <vt:lpstr>Contenido</vt:lpstr>
      <vt:lpstr>Detección de Objetos</vt:lpstr>
      <vt:lpstr>Detección de Objetos</vt:lpstr>
      <vt:lpstr>Detección de Objetos</vt:lpstr>
      <vt:lpstr>Detección de Objetos</vt:lpstr>
      <vt:lpstr>Detección de Objetos</vt:lpstr>
      <vt:lpstr>Detección de Objetos</vt:lpstr>
      <vt:lpstr>Detección de Objetos</vt:lpstr>
      <vt:lpstr>Detección de Objetos</vt:lpstr>
      <vt:lpstr>Contenido</vt:lpstr>
      <vt:lpstr>Detectores de Dos Etapas</vt:lpstr>
      <vt:lpstr>Detectores de Dos Etapas</vt:lpstr>
      <vt:lpstr>Detectores de Dos Etapas</vt:lpstr>
      <vt:lpstr>Detectores de Dos Etapas</vt:lpstr>
      <vt:lpstr>Detectores de Dos Etapas</vt:lpstr>
      <vt:lpstr>Detectores de Dos Etapas</vt:lpstr>
      <vt:lpstr>Detectores de Dos Etapas</vt:lpstr>
      <vt:lpstr>Contenido</vt:lpstr>
      <vt:lpstr>Detectores de una Etapa</vt:lpstr>
      <vt:lpstr>Detectores de una Etapa</vt:lpstr>
      <vt:lpstr>Detectores de una Etapa</vt:lpstr>
      <vt:lpstr>Detectores de una Etapa</vt:lpstr>
      <vt:lpstr>Detectores de una Etapa</vt:lpstr>
      <vt:lpstr>Detectores de una Etapa</vt:lpstr>
      <vt:lpstr>Detectores de una Etapa</vt:lpstr>
      <vt:lpstr>Detectores de una Etapa</vt:lpstr>
      <vt:lpstr>Detectores de una Etapa</vt:lpstr>
      <vt:lpstr>Detectores de una Etapa</vt:lpstr>
      <vt:lpstr>Referencias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Usuario UC, Aulas-UC</dc:creator>
  <cp:lastModifiedBy>JAIME ANTONIO HUAYTALLA PARIONA</cp:lastModifiedBy>
  <cp:revision>4</cp:revision>
  <dcterms:created xsi:type="dcterms:W3CDTF">2025-02-12T00:44:00Z</dcterms:created>
  <dcterms:modified xsi:type="dcterms:W3CDTF">2025-06-05T17:18:35Z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2024-04-29T00:00:00Z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2025-02-12T00:00:00Z</vt:filetime>
  </property>
  <property fmtid="{D5CDD505-2E9C-101B-9397-08002B2CF9AE}" pid="5" name="Producer">
    <vt:lpwstr>Microsoft® PowerPoint® 2019</vt:lpwstr>
  </property>
</Properties>
</file>