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40"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41" r:id="rId80"/>
    <p:sldId id="335" r:id="rId81"/>
    <p:sldId id="336" r:id="rId82"/>
    <p:sldId id="337" r:id="rId83"/>
    <p:sldId id="338" r:id="rId84"/>
    <p:sldId id="342" r:id="rId85"/>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5" d="100"/>
          <a:sy n="55" d="100"/>
        </p:scale>
        <p:origin x="346"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7213" y="1136584"/>
            <a:ext cx="16004540" cy="1420441"/>
          </a:xfrm>
          <a:prstGeom prst="rect">
            <a:avLst/>
          </a:prstGeom>
        </p:spPr>
        <p:txBody>
          <a:bodyPr wrap="square" lIns="0" tIns="0" rIns="0" bIns="0">
            <a:spAutoFit/>
          </a:bodyPr>
          <a:lstStyle>
            <a:lvl1pPr>
              <a:defRPr sz="545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295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14" dirty="0"/>
              <a:t>Aprendizaje</a:t>
            </a:r>
            <a:r>
              <a:rPr spc="-270" dirty="0"/>
              <a:t> </a:t>
            </a:r>
            <a:r>
              <a:rPr spc="-95" dirty="0"/>
              <a:t>de</a:t>
            </a:r>
            <a:r>
              <a:rPr spc="-270" dirty="0"/>
              <a:t> </a:t>
            </a:r>
            <a:r>
              <a:rPr spc="-130" dirty="0"/>
              <a:t>Máquina</a:t>
            </a:r>
            <a:r>
              <a:rPr spc="-260" dirty="0"/>
              <a:t> </a:t>
            </a:r>
            <a:r>
              <a:rPr spc="-315" dirty="0"/>
              <a:t>I</a:t>
            </a:r>
            <a:r>
              <a:rPr spc="-265" dirty="0"/>
              <a:t> </a:t>
            </a:r>
            <a:r>
              <a:rPr spc="-70" dirty="0"/>
              <a:t>–</a:t>
            </a:r>
            <a:r>
              <a:rPr spc="-265" dirty="0"/>
              <a:t> </a:t>
            </a:r>
            <a:r>
              <a:rPr spc="-160" dirty="0"/>
              <a:t>CEIA</a:t>
            </a:r>
            <a:r>
              <a:rPr spc="-270" dirty="0"/>
              <a:t> </a:t>
            </a:r>
            <a:r>
              <a:rPr spc="-70" dirty="0"/>
              <a:t>–</a:t>
            </a:r>
            <a:r>
              <a:rPr spc="-265" dirty="0"/>
              <a:t> </a:t>
            </a:r>
            <a:r>
              <a:rPr spc="-120" dirty="0"/>
              <a:t>FIUBA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6/12/2025</a:t>
            </a:fld>
            <a:endParaRPr lang="en-US"/>
          </a:p>
        </p:txBody>
      </p:sp>
      <p:sp>
        <p:nvSpPr>
          <p:cNvPr id="6" name="Holder 6"/>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112395">
              <a:lnSpc>
                <a:spcPct val="100000"/>
              </a:lnSpc>
              <a:spcBef>
                <a:spcPts val="295"/>
              </a:spcBef>
            </a:pPr>
            <a:fld id="{81D60167-4931-47E6-BA6A-407CBD079E47}" type="slidenum">
              <a:rPr spc="-50" dirty="0"/>
              <a:t>‹Nº›</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295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14" dirty="0"/>
              <a:t>Aprendizaje</a:t>
            </a:r>
            <a:r>
              <a:rPr spc="-270" dirty="0"/>
              <a:t> </a:t>
            </a:r>
            <a:r>
              <a:rPr spc="-95" dirty="0"/>
              <a:t>de</a:t>
            </a:r>
            <a:r>
              <a:rPr spc="-270" dirty="0"/>
              <a:t> </a:t>
            </a:r>
            <a:r>
              <a:rPr spc="-130" dirty="0"/>
              <a:t>Máquina</a:t>
            </a:r>
            <a:r>
              <a:rPr spc="-260" dirty="0"/>
              <a:t> </a:t>
            </a:r>
            <a:r>
              <a:rPr spc="-315" dirty="0"/>
              <a:t>I</a:t>
            </a:r>
            <a:r>
              <a:rPr spc="-265" dirty="0"/>
              <a:t> </a:t>
            </a:r>
            <a:r>
              <a:rPr spc="-70" dirty="0"/>
              <a:t>–</a:t>
            </a:r>
            <a:r>
              <a:rPr spc="-265" dirty="0"/>
              <a:t> </a:t>
            </a:r>
            <a:r>
              <a:rPr spc="-160" dirty="0"/>
              <a:t>CEIA</a:t>
            </a:r>
            <a:r>
              <a:rPr spc="-270" dirty="0"/>
              <a:t> </a:t>
            </a:r>
            <a:r>
              <a:rPr spc="-70" dirty="0"/>
              <a:t>–</a:t>
            </a:r>
            <a:r>
              <a:rPr spc="-265" dirty="0"/>
              <a:t> </a:t>
            </a:r>
            <a:r>
              <a:rPr spc="-120" dirty="0"/>
              <a:t>FIUBA</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6/12/2025</a:t>
            </a:fld>
            <a:endParaRPr lang="en-US"/>
          </a:p>
        </p:txBody>
      </p:sp>
      <p:sp>
        <p:nvSpPr>
          <p:cNvPr id="6" name="Holder 6"/>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112395">
              <a:lnSpc>
                <a:spcPct val="100000"/>
              </a:lnSpc>
              <a:spcBef>
                <a:spcPts val="295"/>
              </a:spcBef>
            </a:pPr>
            <a:fld id="{81D60167-4931-47E6-BA6A-407CBD079E47}" type="slidenum">
              <a:rPr spc="-50" dirty="0"/>
              <a:t>‹Nº›</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5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14" dirty="0"/>
              <a:t>Aprendizaje</a:t>
            </a:r>
            <a:r>
              <a:rPr spc="-270" dirty="0"/>
              <a:t> </a:t>
            </a:r>
            <a:r>
              <a:rPr spc="-95" dirty="0"/>
              <a:t>de</a:t>
            </a:r>
            <a:r>
              <a:rPr spc="-270" dirty="0"/>
              <a:t> </a:t>
            </a:r>
            <a:r>
              <a:rPr spc="-130" dirty="0"/>
              <a:t>Máquina</a:t>
            </a:r>
            <a:r>
              <a:rPr spc="-260" dirty="0"/>
              <a:t> </a:t>
            </a:r>
            <a:r>
              <a:rPr spc="-315" dirty="0"/>
              <a:t>I</a:t>
            </a:r>
            <a:r>
              <a:rPr spc="-265" dirty="0"/>
              <a:t> </a:t>
            </a:r>
            <a:r>
              <a:rPr spc="-70" dirty="0"/>
              <a:t>–</a:t>
            </a:r>
            <a:r>
              <a:rPr spc="-265" dirty="0"/>
              <a:t> </a:t>
            </a:r>
            <a:r>
              <a:rPr spc="-160" dirty="0"/>
              <a:t>CEIA</a:t>
            </a:r>
            <a:r>
              <a:rPr spc="-270" dirty="0"/>
              <a:t> </a:t>
            </a:r>
            <a:r>
              <a:rPr spc="-70" dirty="0"/>
              <a:t>–</a:t>
            </a:r>
            <a:r>
              <a:rPr spc="-265" dirty="0"/>
              <a:t> </a:t>
            </a:r>
            <a:r>
              <a:rPr spc="-120" dirty="0"/>
              <a:t>FIUBA</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6/12/2025</a:t>
            </a:fld>
            <a:endParaRPr lang="en-US"/>
          </a:p>
        </p:txBody>
      </p:sp>
      <p:sp>
        <p:nvSpPr>
          <p:cNvPr id="7" name="Holder 7"/>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112395">
              <a:lnSpc>
                <a:spcPct val="100000"/>
              </a:lnSpc>
              <a:spcBef>
                <a:spcPts val="295"/>
              </a:spcBef>
            </a:pPr>
            <a:fld id="{81D60167-4931-47E6-BA6A-407CBD079E47}" type="slidenum">
              <a:rPr spc="-50" dirty="0"/>
              <a:t>‹Nº›</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0104100" cy="11308555"/>
          </a:xfrm>
          <a:prstGeom prst="rect">
            <a:avLst/>
          </a:prstGeom>
        </p:spPr>
      </p:pic>
      <p:sp>
        <p:nvSpPr>
          <p:cNvPr id="2" name="Holder 2"/>
          <p:cNvSpPr>
            <a:spLocks noGrp="1"/>
          </p:cNvSpPr>
          <p:nvPr>
            <p:ph type="title"/>
          </p:nvPr>
        </p:nvSpPr>
        <p:spPr/>
        <p:txBody>
          <a:bodyPr lIns="0" tIns="0" rIns="0" bIns="0"/>
          <a:lstStyle>
            <a:lvl1pPr>
              <a:defRPr sz="545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14" dirty="0"/>
              <a:t>Aprendizaje</a:t>
            </a:r>
            <a:r>
              <a:rPr spc="-270" dirty="0"/>
              <a:t> </a:t>
            </a:r>
            <a:r>
              <a:rPr spc="-95" dirty="0"/>
              <a:t>de</a:t>
            </a:r>
            <a:r>
              <a:rPr spc="-270" dirty="0"/>
              <a:t> </a:t>
            </a:r>
            <a:r>
              <a:rPr spc="-130" dirty="0"/>
              <a:t>Máquina</a:t>
            </a:r>
            <a:r>
              <a:rPr spc="-260" dirty="0"/>
              <a:t> </a:t>
            </a:r>
            <a:r>
              <a:rPr spc="-315" dirty="0"/>
              <a:t>I</a:t>
            </a:r>
            <a:r>
              <a:rPr spc="-265" dirty="0"/>
              <a:t> </a:t>
            </a:r>
            <a:r>
              <a:rPr spc="-70" dirty="0"/>
              <a:t>–</a:t>
            </a:r>
            <a:r>
              <a:rPr spc="-265" dirty="0"/>
              <a:t> </a:t>
            </a:r>
            <a:r>
              <a:rPr spc="-160" dirty="0"/>
              <a:t>CEIA</a:t>
            </a:r>
            <a:r>
              <a:rPr spc="-270" dirty="0"/>
              <a:t> </a:t>
            </a:r>
            <a:r>
              <a:rPr spc="-70" dirty="0"/>
              <a:t>–</a:t>
            </a:r>
            <a:r>
              <a:rPr spc="-265" dirty="0"/>
              <a:t> </a:t>
            </a:r>
            <a:r>
              <a:rPr spc="-120" dirty="0"/>
              <a:t>FIUBA</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6/12/2025</a:t>
            </a:fld>
            <a:endParaRPr lang="en-US"/>
          </a:p>
        </p:txBody>
      </p:sp>
      <p:sp>
        <p:nvSpPr>
          <p:cNvPr id="5" name="Holder 5"/>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112395">
              <a:lnSpc>
                <a:spcPct val="100000"/>
              </a:lnSpc>
              <a:spcBef>
                <a:spcPts val="295"/>
              </a:spcBef>
            </a:pPr>
            <a:fld id="{81D60167-4931-47E6-BA6A-407CBD079E47}" type="slidenum">
              <a:rPr spc="-50" dirty="0"/>
              <a:t>‹Nº›</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20104100" cy="11308555"/>
          </a:xfrm>
          <a:prstGeom prst="rect">
            <a:avLst/>
          </a:prstGeom>
        </p:spPr>
      </p:pic>
      <p:sp>
        <p:nvSpPr>
          <p:cNvPr id="2" name="Holder 2"/>
          <p:cNvSpPr>
            <a:spLocks noGrp="1"/>
          </p:cNvSpPr>
          <p:nvPr>
            <p:ph type="ftr" sz="quarter" idx="5"/>
          </p:nvPr>
        </p:nvSpPr>
        <p:spPr/>
        <p:txBody>
          <a:bodyPr lIns="0" tIns="0" rIns="0" bIns="0"/>
          <a:lstStyle>
            <a:lvl1pPr>
              <a:defRPr sz="2300" b="0" i="0">
                <a:solidFill>
                  <a:schemeClr val="tx1"/>
                </a:solidFill>
                <a:latin typeface="Tahoma"/>
                <a:cs typeface="Tahoma"/>
              </a:defRPr>
            </a:lvl1pPr>
          </a:lstStyle>
          <a:p>
            <a:pPr marL="12700">
              <a:lnSpc>
                <a:spcPct val="100000"/>
              </a:lnSpc>
              <a:spcBef>
                <a:spcPts val="295"/>
              </a:spcBef>
            </a:pPr>
            <a:r>
              <a:rPr spc="-114" dirty="0"/>
              <a:t>Aprendizaje</a:t>
            </a:r>
            <a:r>
              <a:rPr spc="-270" dirty="0"/>
              <a:t> </a:t>
            </a:r>
            <a:r>
              <a:rPr spc="-95" dirty="0"/>
              <a:t>de</a:t>
            </a:r>
            <a:r>
              <a:rPr spc="-270" dirty="0"/>
              <a:t> </a:t>
            </a:r>
            <a:r>
              <a:rPr spc="-130" dirty="0"/>
              <a:t>Máquina</a:t>
            </a:r>
            <a:r>
              <a:rPr spc="-260" dirty="0"/>
              <a:t> </a:t>
            </a:r>
            <a:r>
              <a:rPr spc="-315" dirty="0"/>
              <a:t>I</a:t>
            </a:r>
            <a:r>
              <a:rPr spc="-265" dirty="0"/>
              <a:t> </a:t>
            </a:r>
            <a:r>
              <a:rPr spc="-70" dirty="0"/>
              <a:t>–</a:t>
            </a:r>
            <a:r>
              <a:rPr spc="-265" dirty="0"/>
              <a:t> </a:t>
            </a:r>
            <a:r>
              <a:rPr spc="-160" dirty="0"/>
              <a:t>CEIA</a:t>
            </a:r>
            <a:r>
              <a:rPr spc="-270" dirty="0"/>
              <a:t> </a:t>
            </a:r>
            <a:r>
              <a:rPr spc="-70" dirty="0"/>
              <a:t>–</a:t>
            </a:r>
            <a:r>
              <a:rPr spc="-265" dirty="0"/>
              <a:t> </a:t>
            </a:r>
            <a:r>
              <a:rPr spc="-120" dirty="0"/>
              <a:t>FIUBA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6/12/2025</a:t>
            </a:fld>
            <a:endParaRPr lang="en-US"/>
          </a:p>
        </p:txBody>
      </p:sp>
      <p:sp>
        <p:nvSpPr>
          <p:cNvPr id="4" name="Holder 4"/>
          <p:cNvSpPr>
            <a:spLocks noGrp="1"/>
          </p:cNvSpPr>
          <p:nvPr>
            <p:ph type="sldNum" sz="quarter" idx="7"/>
          </p:nvPr>
        </p:nvSpPr>
        <p:spPr/>
        <p:txBody>
          <a:bodyPr lIns="0" tIns="0" rIns="0" bIns="0"/>
          <a:lstStyle>
            <a:lvl1pPr>
              <a:defRPr sz="2300" b="0" i="0">
                <a:solidFill>
                  <a:schemeClr val="tx1"/>
                </a:solidFill>
                <a:latin typeface="Tahoma"/>
                <a:cs typeface="Tahoma"/>
              </a:defRPr>
            </a:lvl1pPr>
          </a:lstStyle>
          <a:p>
            <a:pPr marL="112395">
              <a:lnSpc>
                <a:spcPct val="100000"/>
              </a:lnSpc>
              <a:spcBef>
                <a:spcPts val="295"/>
              </a:spcBef>
            </a:pPr>
            <a:fld id="{81D60167-4931-47E6-BA6A-407CBD079E47}" type="slidenum">
              <a:rPr spc="-50" dirty="0"/>
              <a:t>‹Nº›</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20104100" cy="11308555"/>
          </a:xfrm>
          <a:prstGeom prst="rect">
            <a:avLst/>
          </a:prstGeom>
        </p:spPr>
      </p:pic>
      <p:sp>
        <p:nvSpPr>
          <p:cNvPr id="17" name="bg object 17"/>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a:p>
        </p:txBody>
      </p:sp>
      <p:sp>
        <p:nvSpPr>
          <p:cNvPr id="2" name="Holder 2"/>
          <p:cNvSpPr>
            <a:spLocks noGrp="1"/>
          </p:cNvSpPr>
          <p:nvPr>
            <p:ph type="title"/>
          </p:nvPr>
        </p:nvSpPr>
        <p:spPr>
          <a:xfrm>
            <a:off x="1097213" y="1136584"/>
            <a:ext cx="17909672" cy="1282064"/>
          </a:xfrm>
          <a:prstGeom prst="rect">
            <a:avLst/>
          </a:prstGeom>
        </p:spPr>
        <p:txBody>
          <a:bodyPr wrap="square" lIns="0" tIns="0" rIns="0" bIns="0">
            <a:spAutoFit/>
          </a:bodyPr>
          <a:lstStyle>
            <a:lvl1pPr>
              <a:defRPr sz="545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4708619" y="2967733"/>
            <a:ext cx="14125575" cy="2328545"/>
          </a:xfrm>
          <a:prstGeom prst="rect">
            <a:avLst/>
          </a:prstGeom>
        </p:spPr>
        <p:txBody>
          <a:bodyPr wrap="square" lIns="0" tIns="0" rIns="0" bIns="0">
            <a:spAutoFit/>
          </a:bodyPr>
          <a:lstStyle>
            <a:lvl1pPr>
              <a:defRPr sz="295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65638" y="10591626"/>
            <a:ext cx="4679950" cy="404495"/>
          </a:xfrm>
          <a:prstGeom prst="rect">
            <a:avLst/>
          </a:prstGeom>
        </p:spPr>
        <p:txBody>
          <a:bodyPr wrap="square" lIns="0" tIns="0" rIns="0" bIns="0">
            <a:spAutoFit/>
          </a:bodyPr>
          <a:lstStyle>
            <a:lvl1pPr>
              <a:defRPr sz="2300" b="0" i="0">
                <a:solidFill>
                  <a:schemeClr val="tx1"/>
                </a:solidFill>
                <a:latin typeface="Tahoma"/>
                <a:cs typeface="Tahoma"/>
              </a:defRPr>
            </a:lvl1pPr>
          </a:lstStyle>
          <a:p>
            <a:pPr marL="12700">
              <a:lnSpc>
                <a:spcPct val="100000"/>
              </a:lnSpc>
              <a:spcBef>
                <a:spcPts val="295"/>
              </a:spcBef>
            </a:pPr>
            <a:r>
              <a:rPr spc="-114" dirty="0"/>
              <a:t>Aprendizaje</a:t>
            </a:r>
            <a:r>
              <a:rPr spc="-270" dirty="0"/>
              <a:t> </a:t>
            </a:r>
            <a:r>
              <a:rPr spc="-95" dirty="0"/>
              <a:t>de</a:t>
            </a:r>
            <a:r>
              <a:rPr spc="-270" dirty="0"/>
              <a:t> </a:t>
            </a:r>
            <a:r>
              <a:rPr spc="-130" dirty="0"/>
              <a:t>Máquina</a:t>
            </a:r>
            <a:r>
              <a:rPr spc="-260" dirty="0"/>
              <a:t> </a:t>
            </a:r>
            <a:r>
              <a:rPr spc="-315" dirty="0"/>
              <a:t>I</a:t>
            </a:r>
            <a:r>
              <a:rPr spc="-265" dirty="0"/>
              <a:t> </a:t>
            </a:r>
            <a:r>
              <a:rPr spc="-70" dirty="0"/>
              <a:t>–</a:t>
            </a:r>
            <a:r>
              <a:rPr spc="-265" dirty="0"/>
              <a:t> </a:t>
            </a:r>
            <a:r>
              <a:rPr spc="-160" dirty="0"/>
              <a:t>CEIA</a:t>
            </a:r>
            <a:r>
              <a:rPr spc="-270" dirty="0"/>
              <a:t> </a:t>
            </a:r>
            <a:r>
              <a:rPr spc="-70" dirty="0"/>
              <a:t>–</a:t>
            </a:r>
            <a:r>
              <a:rPr spc="-265" dirty="0"/>
              <a:t> </a:t>
            </a:r>
            <a:r>
              <a:rPr spc="-120" dirty="0"/>
              <a:t>FIUBA</a:t>
            </a: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6/12/2025</a:t>
            </a:fld>
            <a:endParaRPr lang="en-US"/>
          </a:p>
        </p:txBody>
      </p:sp>
      <p:sp>
        <p:nvSpPr>
          <p:cNvPr id="6" name="Holder 6"/>
          <p:cNvSpPr>
            <a:spLocks noGrp="1"/>
          </p:cNvSpPr>
          <p:nvPr>
            <p:ph type="sldNum" sz="quarter" idx="7"/>
          </p:nvPr>
        </p:nvSpPr>
        <p:spPr>
          <a:xfrm>
            <a:off x="19311154" y="10689633"/>
            <a:ext cx="401435" cy="404495"/>
          </a:xfrm>
          <a:prstGeom prst="rect">
            <a:avLst/>
          </a:prstGeom>
        </p:spPr>
        <p:txBody>
          <a:bodyPr wrap="square" lIns="0" tIns="0" rIns="0" bIns="0">
            <a:spAutoFit/>
          </a:bodyPr>
          <a:lstStyle>
            <a:lvl1pPr>
              <a:defRPr sz="2300" b="0" i="0">
                <a:solidFill>
                  <a:schemeClr val="tx1"/>
                </a:solidFill>
                <a:latin typeface="Tahoma"/>
                <a:cs typeface="Tahoma"/>
              </a:defRPr>
            </a:lvl1pPr>
          </a:lstStyle>
          <a:p>
            <a:pPr marL="112395">
              <a:lnSpc>
                <a:spcPct val="100000"/>
              </a:lnSpc>
              <a:spcBef>
                <a:spcPts val="295"/>
              </a:spcBef>
            </a:pPr>
            <a:fld id="{81D60167-4931-47E6-BA6A-407CBD079E47}" type="slidenum">
              <a:rPr spc="-50" dirty="0"/>
              <a:t>‹Nº›</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huaytalla@uncp.edu.pe"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png"/><Relationship Id="rId21" Type="http://schemas.openxmlformats.org/officeDocument/2006/relationships/image" Target="../media/image75.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2" Type="http://schemas.openxmlformats.org/officeDocument/2006/relationships/image" Target="../media/image56.png"/><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10" Type="http://schemas.openxmlformats.org/officeDocument/2006/relationships/image" Target="../media/image64.png"/><Relationship Id="rId19" Type="http://schemas.openxmlformats.org/officeDocument/2006/relationships/image" Target="../media/image73.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100" cy="11308555"/>
          </a:xfrm>
          <a:prstGeom prst="rect">
            <a:avLst/>
          </a:prstGeom>
        </p:spPr>
      </p:pic>
      <p:sp>
        <p:nvSpPr>
          <p:cNvPr id="3" name="object 3"/>
          <p:cNvSpPr txBox="1">
            <a:spLocks noGrp="1"/>
          </p:cNvSpPr>
          <p:nvPr>
            <p:ph type="title"/>
          </p:nvPr>
        </p:nvSpPr>
        <p:spPr>
          <a:xfrm>
            <a:off x="3575050" y="3986513"/>
            <a:ext cx="14923770" cy="3335528"/>
          </a:xfrm>
          <a:prstGeom prst="rect">
            <a:avLst/>
          </a:prstGeom>
        </p:spPr>
        <p:txBody>
          <a:bodyPr vert="horz" wrap="square" lIns="0" tIns="11430" rIns="0" bIns="0" rtlCol="0">
            <a:spAutoFit/>
          </a:bodyPr>
          <a:lstStyle/>
          <a:p>
            <a:pPr marL="12700">
              <a:lnSpc>
                <a:spcPct val="100000"/>
              </a:lnSpc>
              <a:spcBef>
                <a:spcPts val="90"/>
              </a:spcBef>
            </a:pPr>
            <a:r>
              <a:rPr sz="7200" i="1" dirty="0"/>
              <a:t>CLASIFICADOR KNN</a:t>
            </a:r>
            <a:r>
              <a:rPr lang="es-PE" sz="7200" i="1" dirty="0"/>
              <a:t> </a:t>
            </a:r>
            <a:r>
              <a:rPr sz="7200" i="1" dirty="0"/>
              <a:t>Y</a:t>
            </a:r>
            <a:r>
              <a:rPr lang="es-PE" sz="7200" i="1" dirty="0"/>
              <a:t> OPTIMIZACIÓN DE HIPERPARÁMETROS</a:t>
            </a:r>
            <a:endParaRPr sz="7200" i="1" dirty="0"/>
          </a:p>
        </p:txBody>
      </p:sp>
      <p:sp>
        <p:nvSpPr>
          <p:cNvPr id="8" name="Subtítulo 2">
            <a:extLst>
              <a:ext uri="{FF2B5EF4-FFF2-40B4-BE49-F238E27FC236}">
                <a16:creationId xmlns:a16="http://schemas.microsoft.com/office/drawing/2014/main" id="{4C35B54B-2E77-2A45-27E3-D0A46EF31678}"/>
              </a:ext>
            </a:extLst>
          </p:cNvPr>
          <p:cNvSpPr txBox="1">
            <a:spLocks/>
          </p:cNvSpPr>
          <p:nvPr/>
        </p:nvSpPr>
        <p:spPr>
          <a:xfrm>
            <a:off x="8570721" y="8263973"/>
            <a:ext cx="10058400" cy="1477328"/>
          </a:xfrm>
          <a:prstGeom prst="rect">
            <a:avLst/>
          </a:prstGeom>
        </p:spPr>
        <p:txBody>
          <a:bodyPr wrap="square" lIns="0" tIns="0" rIns="0" bIns="0">
            <a:spAutoFit/>
          </a:bodyPr>
          <a:lstStyle>
            <a:lvl1pPr marL="0">
              <a:defRPr sz="36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a:endParaRPr lang="es-PE" sz="3200" i="1" kern="0" noProof="0" dirty="0">
              <a:latin typeface="Aptos" panose="020B0004020202020204" pitchFamily="34" charset="0"/>
            </a:endParaRPr>
          </a:p>
          <a:p>
            <a:pPr algn="r"/>
            <a:r>
              <a:rPr lang="es-PE" sz="3200" i="1" kern="0" noProof="0" dirty="0" err="1">
                <a:latin typeface="Aptos" panose="020B0004020202020204" pitchFamily="34" charset="0"/>
              </a:rPr>
              <a:t>Msc</a:t>
            </a:r>
            <a:r>
              <a:rPr lang="es-PE" sz="3200" i="1" kern="0" noProof="0" dirty="0">
                <a:latin typeface="Aptos" panose="020B0004020202020204" pitchFamily="34" charset="0"/>
              </a:rPr>
              <a:t>. Jaime </a:t>
            </a:r>
            <a:r>
              <a:rPr lang="es-PE" sz="3200" i="1" kern="0" noProof="0" dirty="0" err="1">
                <a:latin typeface="Aptos" panose="020B0004020202020204" pitchFamily="34" charset="0"/>
              </a:rPr>
              <a:t>Huaytalla</a:t>
            </a:r>
            <a:r>
              <a:rPr lang="es-PE" sz="3200" i="1" kern="0" noProof="0" dirty="0">
                <a:latin typeface="Aptos" panose="020B0004020202020204" pitchFamily="34" charset="0"/>
              </a:rPr>
              <a:t> Pariona</a:t>
            </a:r>
          </a:p>
          <a:p>
            <a:pPr algn="r"/>
            <a:r>
              <a:rPr lang="es-PE" sz="3200" i="1" kern="0" noProof="0" dirty="0">
                <a:latin typeface="Aptos" panose="020B0004020202020204" pitchFamily="34" charset="0"/>
                <a:hlinkClick r:id="rId3"/>
              </a:rPr>
              <a:t>jhuaytalla@uncp.edu.pe</a:t>
            </a:r>
            <a:r>
              <a:rPr lang="es-PE" sz="3200" i="1" kern="0" noProof="0" dirty="0">
                <a:latin typeface="Aptos" panose="020B0004020202020204" pitchFamily="34" charset="0"/>
              </a:rPr>
              <a:t> </a:t>
            </a:r>
          </a:p>
        </p:txBody>
      </p:sp>
      <p:sp>
        <p:nvSpPr>
          <p:cNvPr id="9" name="CuadroTexto 8">
            <a:extLst>
              <a:ext uri="{FF2B5EF4-FFF2-40B4-BE49-F238E27FC236}">
                <a16:creationId xmlns:a16="http://schemas.microsoft.com/office/drawing/2014/main" id="{7F10328F-E4FF-BFD6-3D99-D6FD6D97ED1B}"/>
              </a:ext>
            </a:extLst>
          </p:cNvPr>
          <p:cNvSpPr txBox="1"/>
          <p:nvPr/>
        </p:nvSpPr>
        <p:spPr>
          <a:xfrm>
            <a:off x="3603336" y="7415814"/>
            <a:ext cx="4967385" cy="707886"/>
          </a:xfrm>
          <a:prstGeom prst="rect">
            <a:avLst/>
          </a:prstGeom>
          <a:noFill/>
        </p:spPr>
        <p:txBody>
          <a:bodyPr wrap="none" rtlCol="0">
            <a:spAutoFit/>
          </a:bodyPr>
          <a:lstStyle/>
          <a:p>
            <a:r>
              <a:rPr lang="es-PE" sz="4000" cap="all" noProof="0" dirty="0">
                <a:latin typeface="Aptos" panose="020B0004020202020204" pitchFamily="34" charset="0"/>
              </a:rPr>
              <a:t>Machine </a:t>
            </a:r>
            <a:r>
              <a:rPr lang="es-PE" sz="4000" cap="all" noProof="0" dirty="0" err="1">
                <a:latin typeface="Aptos" panose="020B0004020202020204" pitchFamily="34" charset="0"/>
              </a:rPr>
              <a:t>Learning</a:t>
            </a:r>
            <a:r>
              <a:rPr lang="es-PE" sz="4000" cap="all" noProof="0" dirty="0">
                <a:latin typeface="Aptos" panose="020B0004020202020204" pitchFamily="34" charset="0"/>
              </a:rPr>
              <a:t> </a:t>
            </a:r>
          </a:p>
        </p:txBody>
      </p:sp>
      <p:pic>
        <p:nvPicPr>
          <p:cNvPr id="10" name="Picture 2" descr="Manual de Indentidad Visual Corporativa Marca UNCP - UNCP">
            <a:extLst>
              <a:ext uri="{FF2B5EF4-FFF2-40B4-BE49-F238E27FC236}">
                <a16:creationId xmlns:a16="http://schemas.microsoft.com/office/drawing/2014/main" id="{B473560A-76BB-3914-E921-4E08B8A79EF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6338" y="4869262"/>
            <a:ext cx="2258384" cy="1971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REPASO CLASE ANTERIOR</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112395">
              <a:lnSpc>
                <a:spcPct val="100000"/>
              </a:lnSpc>
              <a:spcBef>
                <a:spcPts val="295"/>
              </a:spcBef>
            </a:pPr>
            <a:fld id="{81D60167-4931-47E6-BA6A-407CBD079E47}" type="slidenum">
              <a:rPr spc="-50" dirty="0"/>
              <a:t>2</a:t>
            </a:fld>
            <a:endParaRPr spc="-50" dirty="0"/>
          </a:p>
        </p:txBody>
      </p:sp>
      <p:sp>
        <p:nvSpPr>
          <p:cNvPr id="3" name="object 3"/>
          <p:cNvSpPr txBox="1"/>
          <p:nvPr/>
        </p:nvSpPr>
        <p:spPr>
          <a:xfrm>
            <a:off x="1097213" y="3089195"/>
            <a:ext cx="12512675" cy="4444165"/>
          </a:xfrm>
          <a:prstGeom prst="rect">
            <a:avLst/>
          </a:prstGeom>
        </p:spPr>
        <p:txBody>
          <a:bodyPr vert="horz" wrap="square" lIns="0" tIns="12065" rIns="0" bIns="0" rtlCol="0">
            <a:spAutoFit/>
          </a:bodyPr>
          <a:lstStyle/>
          <a:p>
            <a:pPr marL="546100" indent="-533400">
              <a:lnSpc>
                <a:spcPct val="100000"/>
              </a:lnSpc>
              <a:spcBef>
                <a:spcPts val="95"/>
              </a:spcBef>
              <a:buSzPct val="100000"/>
              <a:buChar char="•"/>
              <a:tabLst>
                <a:tab pos="546100" algn="l"/>
              </a:tabLst>
            </a:pPr>
            <a:r>
              <a:rPr sz="3300" dirty="0">
                <a:latin typeface="Tahoma"/>
                <a:cs typeface="Tahoma"/>
              </a:rPr>
              <a:t>Definición de Machine Learning</a:t>
            </a:r>
          </a:p>
          <a:p>
            <a:pPr marL="546100" indent="-533400">
              <a:lnSpc>
                <a:spcPct val="100000"/>
              </a:lnSpc>
              <a:spcBef>
                <a:spcPts val="2710"/>
              </a:spcBef>
              <a:buSzPct val="100000"/>
              <a:buChar char="•"/>
              <a:tabLst>
                <a:tab pos="546100" algn="l"/>
              </a:tabLst>
            </a:pPr>
            <a:r>
              <a:rPr sz="3300" dirty="0">
                <a:latin typeface="Tahoma"/>
                <a:cs typeface="Tahoma"/>
              </a:rPr>
              <a:t>Tipos de aprendizaje:</a:t>
            </a:r>
          </a:p>
          <a:p>
            <a:pPr marL="1079500" lvl="1" indent="-533400">
              <a:lnSpc>
                <a:spcPct val="100000"/>
              </a:lnSpc>
              <a:spcBef>
                <a:spcPts val="2730"/>
              </a:spcBef>
              <a:buSzPct val="100000"/>
              <a:buChar char="•"/>
              <a:tabLst>
                <a:tab pos="1079500" algn="l"/>
              </a:tabLst>
            </a:pPr>
            <a:r>
              <a:rPr sz="3300" dirty="0">
                <a:latin typeface="Tahoma"/>
                <a:cs typeface="Tahoma"/>
              </a:rPr>
              <a:t>Aprendizaje supervisado: Regresión y clasificación</a:t>
            </a:r>
          </a:p>
          <a:p>
            <a:pPr marL="1079500" lvl="1" indent="-533400">
              <a:lnSpc>
                <a:spcPct val="100000"/>
              </a:lnSpc>
              <a:spcBef>
                <a:spcPts val="2705"/>
              </a:spcBef>
              <a:buSzPct val="100000"/>
              <a:buChar char="•"/>
              <a:tabLst>
                <a:tab pos="1079500" algn="l"/>
              </a:tabLst>
            </a:pPr>
            <a:r>
              <a:rPr sz="3300" dirty="0">
                <a:latin typeface="Tahoma"/>
                <a:cs typeface="Tahoma"/>
              </a:rPr>
              <a:t>Aprendizaje no supervisado: Agrupamiento y reducción dimensional</a:t>
            </a:r>
          </a:p>
          <a:p>
            <a:pPr marL="1079500" lvl="1" indent="-533400">
              <a:lnSpc>
                <a:spcPct val="100000"/>
              </a:lnSpc>
              <a:spcBef>
                <a:spcPts val="2730"/>
              </a:spcBef>
              <a:buSzPct val="100000"/>
              <a:buChar char="•"/>
              <a:tabLst>
                <a:tab pos="1079500" algn="l"/>
              </a:tabLst>
            </a:pPr>
            <a:r>
              <a:rPr sz="3300" dirty="0">
                <a:latin typeface="Tahoma"/>
                <a:cs typeface="Tahoma"/>
              </a:rPr>
              <a:t>Aprendizaje profundo: Redes neuronales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100"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85099"/>
            </a:srgbClr>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REPASO CLASE ANTERIOR</a:t>
            </a:r>
          </a:p>
        </p:txBody>
      </p:sp>
      <p:graphicFrame>
        <p:nvGraphicFramePr>
          <p:cNvPr id="5" name="object 5"/>
          <p:cNvGraphicFramePr>
            <a:graphicFrameLocks noGrp="1"/>
          </p:cNvGraphicFramePr>
          <p:nvPr/>
        </p:nvGraphicFramePr>
        <p:xfrm>
          <a:off x="3755556" y="4409987"/>
          <a:ext cx="14466568" cy="5869305"/>
        </p:xfrm>
        <a:graphic>
          <a:graphicData uri="http://schemas.openxmlformats.org/drawingml/2006/table">
            <a:tbl>
              <a:tblPr firstRow="1" bandRow="1">
                <a:tableStyleId>{2D5ABB26-0587-4C30-8999-92F81FD0307C}</a:tableStyleId>
              </a:tblPr>
              <a:tblGrid>
                <a:gridCol w="2411095">
                  <a:extLst>
                    <a:ext uri="{9D8B030D-6E8A-4147-A177-3AD203B41FA5}">
                      <a16:colId xmlns:a16="http://schemas.microsoft.com/office/drawing/2014/main" val="20000"/>
                    </a:ext>
                  </a:extLst>
                </a:gridCol>
                <a:gridCol w="2411095">
                  <a:extLst>
                    <a:ext uri="{9D8B030D-6E8A-4147-A177-3AD203B41FA5}">
                      <a16:colId xmlns:a16="http://schemas.microsoft.com/office/drawing/2014/main" val="20001"/>
                    </a:ext>
                  </a:extLst>
                </a:gridCol>
                <a:gridCol w="2411094">
                  <a:extLst>
                    <a:ext uri="{9D8B030D-6E8A-4147-A177-3AD203B41FA5}">
                      <a16:colId xmlns:a16="http://schemas.microsoft.com/office/drawing/2014/main" val="20002"/>
                    </a:ext>
                  </a:extLst>
                </a:gridCol>
                <a:gridCol w="2411095">
                  <a:extLst>
                    <a:ext uri="{9D8B030D-6E8A-4147-A177-3AD203B41FA5}">
                      <a16:colId xmlns:a16="http://schemas.microsoft.com/office/drawing/2014/main" val="20003"/>
                    </a:ext>
                  </a:extLst>
                </a:gridCol>
                <a:gridCol w="2411095">
                  <a:extLst>
                    <a:ext uri="{9D8B030D-6E8A-4147-A177-3AD203B41FA5}">
                      <a16:colId xmlns:a16="http://schemas.microsoft.com/office/drawing/2014/main" val="20004"/>
                    </a:ext>
                  </a:extLst>
                </a:gridCol>
                <a:gridCol w="2411094">
                  <a:extLst>
                    <a:ext uri="{9D8B030D-6E8A-4147-A177-3AD203B41FA5}">
                      <a16:colId xmlns:a16="http://schemas.microsoft.com/office/drawing/2014/main" val="20005"/>
                    </a:ext>
                  </a:extLst>
                </a:gridCol>
              </a:tblGrid>
              <a:tr h="652145">
                <a:tc>
                  <a:txBody>
                    <a:bodyPr/>
                    <a:lstStyle/>
                    <a:p>
                      <a:pPr algn="ctr">
                        <a:lnSpc>
                          <a:spcPct val="100000"/>
                        </a:lnSpc>
                        <a:spcBef>
                          <a:spcPts val="1019"/>
                        </a:spcBef>
                      </a:pPr>
                      <a:r>
                        <a:rPr sz="2600" spc="-40" dirty="0">
                          <a:latin typeface="Arial Black"/>
                          <a:cs typeface="Arial Black"/>
                        </a:rPr>
                        <a:t>Position</a:t>
                      </a:r>
                      <a:endParaRPr sz="2600">
                        <a:latin typeface="Arial Black"/>
                        <a:cs typeface="Arial Black"/>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sz="2600" spc="-85" dirty="0">
                          <a:latin typeface="Arial Black"/>
                          <a:cs typeface="Arial Black"/>
                        </a:rPr>
                        <a:t>Experience</a:t>
                      </a:r>
                      <a:endParaRPr sz="2600">
                        <a:latin typeface="Arial Black"/>
                        <a:cs typeface="Arial Black"/>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sz="2600" spc="-10" dirty="0">
                          <a:latin typeface="Arial Black"/>
                          <a:cs typeface="Arial Black"/>
                        </a:rPr>
                        <a:t>Skill</a:t>
                      </a:r>
                      <a:endParaRPr sz="2600">
                        <a:latin typeface="Arial Black"/>
                        <a:cs typeface="Arial Black"/>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sz="2600" spc="-10" dirty="0">
                          <a:latin typeface="Arial Black"/>
                          <a:cs typeface="Arial Black"/>
                        </a:rPr>
                        <a:t>Country</a:t>
                      </a:r>
                      <a:endParaRPr sz="2600">
                        <a:latin typeface="Arial Black"/>
                        <a:cs typeface="Arial Black"/>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sz="2600" spc="-20" dirty="0">
                          <a:latin typeface="Arial Black"/>
                          <a:cs typeface="Arial Black"/>
                        </a:rPr>
                        <a:t>City</a:t>
                      </a:r>
                      <a:endParaRPr sz="2600">
                        <a:latin typeface="Arial Black"/>
                        <a:cs typeface="Arial Black"/>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tc>
                  <a:txBody>
                    <a:bodyPr/>
                    <a:lstStyle/>
                    <a:p>
                      <a:pPr algn="ctr">
                        <a:lnSpc>
                          <a:spcPct val="100000"/>
                        </a:lnSpc>
                        <a:spcBef>
                          <a:spcPts val="1019"/>
                        </a:spcBef>
                      </a:pPr>
                      <a:r>
                        <a:rPr sz="2600" spc="-180" dirty="0">
                          <a:latin typeface="Arial Black"/>
                          <a:cs typeface="Arial Black"/>
                        </a:rPr>
                        <a:t>Salary</a:t>
                      </a:r>
                      <a:r>
                        <a:rPr sz="2600" spc="-254" dirty="0">
                          <a:latin typeface="Arial Black"/>
                          <a:cs typeface="Arial Black"/>
                        </a:rPr>
                        <a:t> </a:t>
                      </a:r>
                      <a:r>
                        <a:rPr sz="2600" spc="-25" dirty="0">
                          <a:latin typeface="Arial Black"/>
                          <a:cs typeface="Arial Black"/>
                        </a:rPr>
                        <a:t>($)</a:t>
                      </a:r>
                      <a:endParaRPr sz="2600">
                        <a:latin typeface="Arial Black"/>
                        <a:cs typeface="Arial Black"/>
                      </a:endParaRPr>
                    </a:p>
                  </a:txBody>
                  <a:tcPr marL="0" marR="0" marT="129539" marB="0">
                    <a:lnL w="12700">
                      <a:solidFill>
                        <a:srgbClr val="4D4D4D"/>
                      </a:solidFill>
                      <a:prstDash val="solid"/>
                    </a:lnL>
                    <a:lnR w="12700">
                      <a:solidFill>
                        <a:srgbClr val="4D4D4D"/>
                      </a:solidFill>
                      <a:prstDash val="solid"/>
                    </a:lnR>
                    <a:lnT w="12700">
                      <a:solidFill>
                        <a:srgbClr val="4D4D4D"/>
                      </a:solidFill>
                      <a:prstDash val="solid"/>
                    </a:lnT>
                    <a:lnB w="28575">
                      <a:solidFill>
                        <a:srgbClr val="4D4D4D"/>
                      </a:solidFill>
                      <a:prstDash val="solid"/>
                    </a:lnB>
                    <a:solidFill>
                      <a:srgbClr val="FF80E9"/>
                    </a:solidFill>
                  </a:tcPr>
                </a:tc>
                <a:extLst>
                  <a:ext uri="{0D108BD9-81ED-4DB2-BD59-A6C34878D82A}">
                    <a16:rowId xmlns:a16="http://schemas.microsoft.com/office/drawing/2014/main" val="10000"/>
                  </a:ext>
                </a:extLst>
              </a:tr>
              <a:tr h="652145">
                <a:tc>
                  <a:txBody>
                    <a:bodyPr/>
                    <a:lstStyle/>
                    <a:p>
                      <a:pPr algn="ctr">
                        <a:lnSpc>
                          <a:spcPct val="100000"/>
                        </a:lnSpc>
                        <a:spcBef>
                          <a:spcPts val="1025"/>
                        </a:spcBef>
                      </a:pPr>
                      <a:r>
                        <a:rPr sz="2600" spc="70" dirty="0">
                          <a:latin typeface="Arial MT"/>
                          <a:cs typeface="Arial MT"/>
                        </a:rPr>
                        <a:t>Developer</a:t>
                      </a:r>
                      <a:endParaRPr sz="2600">
                        <a:latin typeface="Arial MT"/>
                        <a:cs typeface="Arial MT"/>
                      </a:endParaRPr>
                    </a:p>
                  </a:txBody>
                  <a:tcPr marL="0" marR="0" marT="130175" marB="0">
                    <a:lnL w="12700">
                      <a:solidFill>
                        <a:srgbClr val="4D4D4D"/>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280" dirty="0">
                          <a:latin typeface="Arial MT"/>
                          <a:cs typeface="Arial MT"/>
                        </a:rPr>
                        <a:t>0</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459" dirty="0">
                          <a:latin typeface="Arial MT"/>
                          <a:cs typeface="Arial MT"/>
                        </a:rPr>
                        <a:t>1</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25" dirty="0">
                          <a:latin typeface="Arial MT"/>
                          <a:cs typeface="Arial MT"/>
                        </a:rPr>
                        <a:t>USA</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28575">
                      <a:solidFill>
                        <a:srgbClr val="4D4D4D"/>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40" dirty="0">
                          <a:latin typeface="Arial MT"/>
                          <a:cs typeface="Arial MT"/>
                        </a:rPr>
                        <a:t>103100</a:t>
                      </a:r>
                      <a:endParaRPr sz="2600">
                        <a:latin typeface="Arial MT"/>
                        <a:cs typeface="Arial MT"/>
                      </a:endParaRPr>
                    </a:p>
                  </a:txBody>
                  <a:tcPr marL="0" marR="0" marT="130175" marB="0">
                    <a:lnL w="12700">
                      <a:solidFill>
                        <a:srgbClr val="838383"/>
                      </a:solidFill>
                      <a:prstDash val="solid"/>
                    </a:lnL>
                    <a:lnR w="12700">
                      <a:solidFill>
                        <a:srgbClr val="4D4D4D"/>
                      </a:solidFill>
                      <a:prstDash val="solid"/>
                    </a:lnR>
                    <a:lnT w="28575">
                      <a:solidFill>
                        <a:srgbClr val="4D4D4D"/>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1"/>
                  </a:ext>
                </a:extLst>
              </a:tr>
              <a:tr h="652145">
                <a:tc>
                  <a:txBody>
                    <a:bodyPr/>
                    <a:lstStyle/>
                    <a:p>
                      <a:pPr algn="ctr">
                        <a:lnSpc>
                          <a:spcPct val="100000"/>
                        </a:lnSpc>
                        <a:spcBef>
                          <a:spcPts val="1030"/>
                        </a:spcBef>
                      </a:pPr>
                      <a:r>
                        <a:rPr sz="2600" spc="70" dirty="0">
                          <a:latin typeface="Arial MT"/>
                          <a:cs typeface="Arial MT"/>
                        </a:rPr>
                        <a:t>Developer</a:t>
                      </a:r>
                      <a:endParaRPr sz="2600">
                        <a:latin typeface="Arial MT"/>
                        <a:cs typeface="Arial MT"/>
                      </a:endParaRPr>
                    </a:p>
                  </a:txBody>
                  <a:tcPr marL="0" marR="0" marT="130810"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459" dirty="0">
                          <a:latin typeface="Arial MT"/>
                          <a:cs typeface="Arial MT"/>
                        </a:rPr>
                        <a:t>1</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459" dirty="0">
                          <a:latin typeface="Arial MT"/>
                          <a:cs typeface="Arial MT"/>
                        </a:rPr>
                        <a:t>1</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25" dirty="0">
                          <a:latin typeface="Arial MT"/>
                          <a:cs typeface="Arial MT"/>
                        </a:rPr>
                        <a:t>USA</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145" dirty="0">
                          <a:latin typeface="Arial MT"/>
                          <a:cs typeface="Arial MT"/>
                        </a:rPr>
                        <a:t>104900</a:t>
                      </a:r>
                      <a:endParaRPr sz="2600">
                        <a:latin typeface="Arial MT"/>
                        <a:cs typeface="Arial MT"/>
                      </a:endParaRPr>
                    </a:p>
                  </a:txBody>
                  <a:tcPr marL="0" marR="0" marT="130810"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2"/>
                  </a:ext>
                </a:extLst>
              </a:tr>
              <a:tr h="652145">
                <a:tc>
                  <a:txBody>
                    <a:bodyPr/>
                    <a:lstStyle/>
                    <a:p>
                      <a:pPr algn="ctr">
                        <a:lnSpc>
                          <a:spcPct val="100000"/>
                        </a:lnSpc>
                        <a:spcBef>
                          <a:spcPts val="1015"/>
                        </a:spcBef>
                      </a:pPr>
                      <a:r>
                        <a:rPr sz="2600" spc="70" dirty="0">
                          <a:latin typeface="Arial MT"/>
                          <a:cs typeface="Arial MT"/>
                        </a:rPr>
                        <a:t>Developer</a:t>
                      </a:r>
                      <a:endParaRPr sz="2600">
                        <a:latin typeface="Arial MT"/>
                        <a:cs typeface="Arial MT"/>
                      </a:endParaRPr>
                    </a:p>
                  </a:txBody>
                  <a:tcPr marL="0" marR="0" marT="128905"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50" dirty="0">
                          <a:latin typeface="Arial MT"/>
                          <a:cs typeface="Arial MT"/>
                        </a:rPr>
                        <a:t>2</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459" dirty="0">
                          <a:latin typeface="Arial MT"/>
                          <a:cs typeface="Arial MT"/>
                        </a:rPr>
                        <a:t>1</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25" dirty="0">
                          <a:latin typeface="Arial MT"/>
                          <a:cs typeface="Arial MT"/>
                        </a:rPr>
                        <a:t>USA</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140" dirty="0">
                          <a:latin typeface="Arial MT"/>
                          <a:cs typeface="Arial MT"/>
                        </a:rPr>
                        <a:t>106800</a:t>
                      </a:r>
                      <a:endParaRPr sz="2600">
                        <a:latin typeface="Arial MT"/>
                        <a:cs typeface="Arial MT"/>
                      </a:endParaRPr>
                    </a:p>
                  </a:txBody>
                  <a:tcPr marL="0" marR="0" marT="128905"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3"/>
                  </a:ext>
                </a:extLst>
              </a:tr>
              <a:tr h="652145">
                <a:tc>
                  <a:txBody>
                    <a:bodyPr/>
                    <a:lstStyle/>
                    <a:p>
                      <a:pPr algn="ctr">
                        <a:lnSpc>
                          <a:spcPct val="100000"/>
                        </a:lnSpc>
                        <a:spcBef>
                          <a:spcPts val="1025"/>
                        </a:spcBef>
                      </a:pPr>
                      <a:r>
                        <a:rPr sz="2600" spc="70" dirty="0">
                          <a:latin typeface="Arial MT"/>
                          <a:cs typeface="Arial MT"/>
                        </a:rPr>
                        <a:t>Developer</a:t>
                      </a:r>
                      <a:endParaRPr sz="2600">
                        <a:latin typeface="Arial MT"/>
                        <a:cs typeface="Arial MT"/>
                      </a:endParaRPr>
                    </a:p>
                  </a:txBody>
                  <a:tcPr marL="0" marR="0" marT="130175"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80" dirty="0">
                          <a:latin typeface="Arial MT"/>
                          <a:cs typeface="Arial MT"/>
                        </a:rPr>
                        <a:t>3</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459" dirty="0">
                          <a:latin typeface="Arial MT"/>
                          <a:cs typeface="Arial MT"/>
                        </a:rPr>
                        <a:t>1</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25" dirty="0">
                          <a:latin typeface="Arial MT"/>
                          <a:cs typeface="Arial MT"/>
                        </a:rPr>
                        <a:t>USA</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25"/>
                        </a:spcBef>
                      </a:pPr>
                      <a:r>
                        <a:rPr sz="2600" spc="95" dirty="0">
                          <a:latin typeface="Arial MT"/>
                          <a:cs typeface="Arial MT"/>
                        </a:rPr>
                        <a:t>108700</a:t>
                      </a:r>
                      <a:endParaRPr sz="2600">
                        <a:latin typeface="Arial MT"/>
                        <a:cs typeface="Arial MT"/>
                      </a:endParaRPr>
                    </a:p>
                  </a:txBody>
                  <a:tcPr marL="0" marR="0" marT="130175"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4"/>
                  </a:ext>
                </a:extLst>
              </a:tr>
              <a:tr h="652145">
                <a:tc>
                  <a:txBody>
                    <a:bodyPr/>
                    <a:lstStyle/>
                    <a:p>
                      <a:pPr algn="ctr">
                        <a:lnSpc>
                          <a:spcPct val="100000"/>
                        </a:lnSpc>
                        <a:spcBef>
                          <a:spcPts val="1030"/>
                        </a:spcBef>
                      </a:pPr>
                      <a:r>
                        <a:rPr sz="2600" spc="70" dirty="0">
                          <a:latin typeface="Arial MT"/>
                          <a:cs typeface="Arial MT"/>
                        </a:rPr>
                        <a:t>Developer</a:t>
                      </a:r>
                      <a:endParaRPr sz="2600">
                        <a:latin typeface="Arial MT"/>
                        <a:cs typeface="Arial MT"/>
                      </a:endParaRPr>
                    </a:p>
                  </a:txBody>
                  <a:tcPr marL="0" marR="0" marT="130810"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120" dirty="0">
                          <a:latin typeface="Arial MT"/>
                          <a:cs typeface="Arial MT"/>
                        </a:rPr>
                        <a:t>4</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459" dirty="0">
                          <a:latin typeface="Arial MT"/>
                          <a:cs typeface="Arial MT"/>
                        </a:rPr>
                        <a:t>1</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25" dirty="0">
                          <a:latin typeface="Arial MT"/>
                          <a:cs typeface="Arial MT"/>
                        </a:rPr>
                        <a:t>USA</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30810"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30"/>
                        </a:spcBef>
                      </a:pPr>
                      <a:r>
                        <a:rPr sz="2600" spc="45" dirty="0">
                          <a:latin typeface="Arial MT"/>
                          <a:cs typeface="Arial MT"/>
                        </a:rPr>
                        <a:t>110400</a:t>
                      </a:r>
                      <a:endParaRPr sz="2600">
                        <a:latin typeface="Arial MT"/>
                        <a:cs typeface="Arial MT"/>
                      </a:endParaRPr>
                    </a:p>
                  </a:txBody>
                  <a:tcPr marL="0" marR="0" marT="130810"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5"/>
                  </a:ext>
                </a:extLst>
              </a:tr>
              <a:tr h="652145">
                <a:tc>
                  <a:txBody>
                    <a:bodyPr/>
                    <a:lstStyle/>
                    <a:p>
                      <a:pPr algn="ctr">
                        <a:lnSpc>
                          <a:spcPct val="100000"/>
                        </a:lnSpc>
                        <a:spcBef>
                          <a:spcPts val="1015"/>
                        </a:spcBef>
                      </a:pPr>
                      <a:r>
                        <a:rPr sz="2600" spc="70" dirty="0">
                          <a:latin typeface="Arial MT"/>
                          <a:cs typeface="Arial MT"/>
                        </a:rPr>
                        <a:t>Developer</a:t>
                      </a:r>
                      <a:endParaRPr sz="2600">
                        <a:latin typeface="Arial MT"/>
                        <a:cs typeface="Arial MT"/>
                      </a:endParaRPr>
                    </a:p>
                  </a:txBody>
                  <a:tcPr marL="0" marR="0" marT="128905"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35" dirty="0">
                          <a:latin typeface="Arial MT"/>
                          <a:cs typeface="Arial MT"/>
                        </a:rPr>
                        <a:t>5</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459" dirty="0">
                          <a:latin typeface="Arial MT"/>
                          <a:cs typeface="Arial MT"/>
                        </a:rPr>
                        <a:t>1</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25" dirty="0">
                          <a:latin typeface="Arial MT"/>
                          <a:cs typeface="Arial MT"/>
                        </a:rPr>
                        <a:t>USA</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28905"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5"/>
                        </a:spcBef>
                      </a:pPr>
                      <a:r>
                        <a:rPr sz="2600" spc="-10" dirty="0">
                          <a:latin typeface="Arial MT"/>
                          <a:cs typeface="Arial MT"/>
                        </a:rPr>
                        <a:t>112300</a:t>
                      </a:r>
                      <a:endParaRPr sz="2600">
                        <a:latin typeface="Arial MT"/>
                        <a:cs typeface="Arial MT"/>
                      </a:endParaRPr>
                    </a:p>
                  </a:txBody>
                  <a:tcPr marL="0" marR="0" marT="128905"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6"/>
                  </a:ext>
                </a:extLst>
              </a:tr>
              <a:tr h="652145">
                <a:tc>
                  <a:txBody>
                    <a:bodyPr/>
                    <a:lstStyle/>
                    <a:p>
                      <a:pPr algn="ctr">
                        <a:lnSpc>
                          <a:spcPct val="100000"/>
                        </a:lnSpc>
                        <a:spcBef>
                          <a:spcPts val="1019"/>
                        </a:spcBef>
                      </a:pPr>
                      <a:r>
                        <a:rPr sz="2600" spc="70" dirty="0">
                          <a:latin typeface="Arial MT"/>
                          <a:cs typeface="Arial MT"/>
                        </a:rPr>
                        <a:t>Developer</a:t>
                      </a:r>
                      <a:endParaRPr sz="2600">
                        <a:latin typeface="Arial MT"/>
                        <a:cs typeface="Arial MT"/>
                      </a:endParaRPr>
                    </a:p>
                  </a:txBody>
                  <a:tcPr marL="0" marR="0" marT="129539" marB="0">
                    <a:lnL w="12700">
                      <a:solidFill>
                        <a:srgbClr val="4D4D4D"/>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9"/>
                        </a:spcBef>
                      </a:pPr>
                      <a:r>
                        <a:rPr sz="2600" spc="120" dirty="0">
                          <a:latin typeface="Arial MT"/>
                          <a:cs typeface="Arial MT"/>
                        </a:rPr>
                        <a:t>6</a:t>
                      </a:r>
                      <a:endParaRPr sz="2600">
                        <a:latin typeface="Arial MT"/>
                        <a:cs typeface="Arial MT"/>
                      </a:endParaRP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9"/>
                        </a:spcBef>
                      </a:pPr>
                      <a:r>
                        <a:rPr sz="2600" spc="-459" dirty="0">
                          <a:latin typeface="Arial MT"/>
                          <a:cs typeface="Arial MT"/>
                        </a:rPr>
                        <a:t>1</a:t>
                      </a:r>
                      <a:endParaRPr sz="2600">
                        <a:latin typeface="Arial MT"/>
                        <a:cs typeface="Arial MT"/>
                      </a:endParaRP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9"/>
                        </a:spcBef>
                      </a:pPr>
                      <a:r>
                        <a:rPr sz="2600" spc="-25" dirty="0">
                          <a:latin typeface="Arial MT"/>
                          <a:cs typeface="Arial MT"/>
                        </a:rPr>
                        <a:t>USA</a:t>
                      </a:r>
                      <a:endParaRPr sz="2600">
                        <a:latin typeface="Arial MT"/>
                        <a:cs typeface="Arial MT"/>
                      </a:endParaRP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9"/>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29539" marB="0">
                    <a:lnL w="12700">
                      <a:solidFill>
                        <a:srgbClr val="838383"/>
                      </a:solidFill>
                      <a:prstDash val="solid"/>
                    </a:lnL>
                    <a:lnR w="12700">
                      <a:solidFill>
                        <a:srgbClr val="838383"/>
                      </a:solidFill>
                      <a:prstDash val="solid"/>
                    </a:lnR>
                    <a:lnT w="12700">
                      <a:solidFill>
                        <a:srgbClr val="838383"/>
                      </a:solidFill>
                      <a:prstDash val="solid"/>
                    </a:lnT>
                    <a:lnB w="12700">
                      <a:solidFill>
                        <a:srgbClr val="838383"/>
                      </a:solidFill>
                      <a:prstDash val="solid"/>
                    </a:lnB>
                    <a:solidFill>
                      <a:srgbClr val="FFFFFF">
                        <a:alpha val="85099"/>
                      </a:srgbClr>
                    </a:solidFill>
                  </a:tcPr>
                </a:tc>
                <a:tc>
                  <a:txBody>
                    <a:bodyPr/>
                    <a:lstStyle/>
                    <a:p>
                      <a:pPr algn="ctr">
                        <a:lnSpc>
                          <a:spcPct val="100000"/>
                        </a:lnSpc>
                        <a:spcBef>
                          <a:spcPts val="1019"/>
                        </a:spcBef>
                      </a:pPr>
                      <a:r>
                        <a:rPr sz="2600" spc="-10" dirty="0">
                          <a:latin typeface="Arial MT"/>
                          <a:cs typeface="Arial MT"/>
                        </a:rPr>
                        <a:t>116100</a:t>
                      </a:r>
                      <a:endParaRPr sz="2600">
                        <a:latin typeface="Arial MT"/>
                        <a:cs typeface="Arial MT"/>
                      </a:endParaRPr>
                    </a:p>
                  </a:txBody>
                  <a:tcPr marL="0" marR="0" marT="129539" marB="0">
                    <a:lnL w="12700">
                      <a:solidFill>
                        <a:srgbClr val="838383"/>
                      </a:solidFill>
                      <a:prstDash val="solid"/>
                    </a:lnL>
                    <a:lnR w="12700">
                      <a:solidFill>
                        <a:srgbClr val="4D4D4D"/>
                      </a:solidFill>
                      <a:prstDash val="solid"/>
                    </a:lnR>
                    <a:lnT w="12700">
                      <a:solidFill>
                        <a:srgbClr val="838383"/>
                      </a:solidFill>
                      <a:prstDash val="solid"/>
                    </a:lnT>
                    <a:lnB w="12700">
                      <a:solidFill>
                        <a:srgbClr val="838383"/>
                      </a:solidFill>
                      <a:prstDash val="solid"/>
                    </a:lnB>
                    <a:solidFill>
                      <a:srgbClr val="FFFFFF">
                        <a:alpha val="85099"/>
                      </a:srgbClr>
                    </a:solidFill>
                  </a:tcPr>
                </a:tc>
                <a:extLst>
                  <a:ext uri="{0D108BD9-81ED-4DB2-BD59-A6C34878D82A}">
                    <a16:rowId xmlns:a16="http://schemas.microsoft.com/office/drawing/2014/main" val="10007"/>
                  </a:ext>
                </a:extLst>
              </a:tr>
              <a:tr h="652145">
                <a:tc>
                  <a:txBody>
                    <a:bodyPr/>
                    <a:lstStyle/>
                    <a:p>
                      <a:pPr algn="ctr">
                        <a:lnSpc>
                          <a:spcPct val="100000"/>
                        </a:lnSpc>
                        <a:spcBef>
                          <a:spcPts val="1025"/>
                        </a:spcBef>
                      </a:pPr>
                      <a:r>
                        <a:rPr sz="2600" spc="70" dirty="0">
                          <a:latin typeface="Arial MT"/>
                          <a:cs typeface="Arial MT"/>
                        </a:rPr>
                        <a:t>Developer</a:t>
                      </a:r>
                      <a:endParaRPr sz="2600">
                        <a:latin typeface="Arial MT"/>
                        <a:cs typeface="Arial MT"/>
                      </a:endParaRPr>
                    </a:p>
                  </a:txBody>
                  <a:tcPr marL="0" marR="0" marT="130175" marB="0">
                    <a:lnL w="12700">
                      <a:solidFill>
                        <a:srgbClr val="4D4D4D"/>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FFFFF">
                        <a:alpha val="85099"/>
                      </a:srgbClr>
                    </a:solidFill>
                  </a:tcPr>
                </a:tc>
                <a:tc>
                  <a:txBody>
                    <a:bodyPr/>
                    <a:lstStyle/>
                    <a:p>
                      <a:pPr algn="ctr">
                        <a:lnSpc>
                          <a:spcPct val="100000"/>
                        </a:lnSpc>
                        <a:spcBef>
                          <a:spcPts val="1025"/>
                        </a:spcBef>
                      </a:pPr>
                      <a:r>
                        <a:rPr sz="2600" spc="-50" dirty="0">
                          <a:latin typeface="Arial MT"/>
                          <a:cs typeface="Arial MT"/>
                        </a:rPr>
                        <a:t>7</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FFFFF">
                        <a:alpha val="85099"/>
                      </a:srgbClr>
                    </a:solidFill>
                  </a:tcPr>
                </a:tc>
                <a:tc>
                  <a:txBody>
                    <a:bodyPr/>
                    <a:lstStyle/>
                    <a:p>
                      <a:pPr algn="ctr">
                        <a:lnSpc>
                          <a:spcPct val="100000"/>
                        </a:lnSpc>
                        <a:spcBef>
                          <a:spcPts val="1025"/>
                        </a:spcBef>
                      </a:pPr>
                      <a:r>
                        <a:rPr sz="2600" spc="-459" dirty="0">
                          <a:latin typeface="Arial MT"/>
                          <a:cs typeface="Arial MT"/>
                        </a:rPr>
                        <a:t>1</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FFFFF">
                        <a:alpha val="85099"/>
                      </a:srgbClr>
                    </a:solidFill>
                  </a:tcPr>
                </a:tc>
                <a:tc>
                  <a:txBody>
                    <a:bodyPr/>
                    <a:lstStyle/>
                    <a:p>
                      <a:pPr algn="ctr">
                        <a:lnSpc>
                          <a:spcPct val="100000"/>
                        </a:lnSpc>
                        <a:spcBef>
                          <a:spcPts val="1025"/>
                        </a:spcBef>
                      </a:pPr>
                      <a:r>
                        <a:rPr sz="2600" spc="-25" dirty="0">
                          <a:latin typeface="Arial MT"/>
                          <a:cs typeface="Arial MT"/>
                        </a:rPr>
                        <a:t>USA</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FFFFF">
                        <a:alpha val="85099"/>
                      </a:srgbClr>
                    </a:solidFill>
                  </a:tcPr>
                </a:tc>
                <a:tc>
                  <a:txBody>
                    <a:bodyPr/>
                    <a:lstStyle/>
                    <a:p>
                      <a:pPr algn="ctr">
                        <a:lnSpc>
                          <a:spcPct val="100000"/>
                        </a:lnSpc>
                        <a:spcBef>
                          <a:spcPts val="1025"/>
                        </a:spcBef>
                      </a:pPr>
                      <a:r>
                        <a:rPr sz="2600" spc="80" dirty="0">
                          <a:latin typeface="Arial MT"/>
                          <a:cs typeface="Arial MT"/>
                        </a:rPr>
                        <a:t>New</a:t>
                      </a:r>
                      <a:r>
                        <a:rPr sz="2600" spc="-25" dirty="0">
                          <a:latin typeface="Arial MT"/>
                          <a:cs typeface="Arial MT"/>
                        </a:rPr>
                        <a:t> </a:t>
                      </a:r>
                      <a:r>
                        <a:rPr sz="2600" spc="-20" dirty="0">
                          <a:latin typeface="Arial MT"/>
                          <a:cs typeface="Arial MT"/>
                        </a:rPr>
                        <a:t>York</a:t>
                      </a:r>
                      <a:endParaRPr sz="2600">
                        <a:latin typeface="Arial MT"/>
                        <a:cs typeface="Arial MT"/>
                      </a:endParaRPr>
                    </a:p>
                  </a:txBody>
                  <a:tcPr marL="0" marR="0" marT="130175" marB="0">
                    <a:lnL w="12700">
                      <a:solidFill>
                        <a:srgbClr val="838383"/>
                      </a:solidFill>
                      <a:prstDash val="solid"/>
                    </a:lnL>
                    <a:lnR w="12700">
                      <a:solidFill>
                        <a:srgbClr val="838383"/>
                      </a:solidFill>
                      <a:prstDash val="solid"/>
                    </a:lnR>
                    <a:lnT w="12700">
                      <a:solidFill>
                        <a:srgbClr val="838383"/>
                      </a:solidFill>
                      <a:prstDash val="solid"/>
                    </a:lnT>
                    <a:lnB w="12700">
                      <a:solidFill>
                        <a:srgbClr val="4D4D4D"/>
                      </a:solidFill>
                      <a:prstDash val="solid"/>
                    </a:lnB>
                    <a:solidFill>
                      <a:srgbClr val="FFFFFF">
                        <a:alpha val="85099"/>
                      </a:srgbClr>
                    </a:solidFill>
                  </a:tcPr>
                </a:tc>
                <a:tc>
                  <a:txBody>
                    <a:bodyPr/>
                    <a:lstStyle/>
                    <a:p>
                      <a:pPr algn="ctr">
                        <a:lnSpc>
                          <a:spcPct val="100000"/>
                        </a:lnSpc>
                        <a:spcBef>
                          <a:spcPts val="1025"/>
                        </a:spcBef>
                      </a:pPr>
                      <a:r>
                        <a:rPr sz="2600" spc="-10" dirty="0">
                          <a:latin typeface="Arial MT"/>
                          <a:cs typeface="Arial MT"/>
                        </a:rPr>
                        <a:t>117800</a:t>
                      </a:r>
                      <a:endParaRPr sz="2600">
                        <a:latin typeface="Arial MT"/>
                        <a:cs typeface="Arial MT"/>
                      </a:endParaRPr>
                    </a:p>
                  </a:txBody>
                  <a:tcPr marL="0" marR="0" marT="130175" marB="0">
                    <a:lnL w="12700">
                      <a:solidFill>
                        <a:srgbClr val="838383"/>
                      </a:solidFill>
                      <a:prstDash val="solid"/>
                    </a:lnL>
                    <a:lnR w="12700">
                      <a:solidFill>
                        <a:srgbClr val="4D4D4D"/>
                      </a:solidFill>
                      <a:prstDash val="solid"/>
                    </a:lnR>
                    <a:lnT w="12700">
                      <a:solidFill>
                        <a:srgbClr val="838383"/>
                      </a:solidFill>
                      <a:prstDash val="solid"/>
                    </a:lnT>
                    <a:lnB w="12700">
                      <a:solidFill>
                        <a:srgbClr val="4D4D4D"/>
                      </a:solidFill>
                      <a:prstDash val="solid"/>
                    </a:lnB>
                    <a:solidFill>
                      <a:srgbClr val="FFFFFF">
                        <a:alpha val="85099"/>
                      </a:srgbClr>
                    </a:solidFill>
                  </a:tcPr>
                </a:tc>
                <a:extLst>
                  <a:ext uri="{0D108BD9-81ED-4DB2-BD59-A6C34878D82A}">
                    <a16:rowId xmlns:a16="http://schemas.microsoft.com/office/drawing/2014/main" val="10008"/>
                  </a:ext>
                </a:extLst>
              </a:tr>
            </a:tbl>
          </a:graphicData>
        </a:graphic>
      </p:graphicFrame>
      <p:sp>
        <p:nvSpPr>
          <p:cNvPr id="6" name="object 6"/>
          <p:cNvSpPr/>
          <p:nvPr/>
        </p:nvSpPr>
        <p:spPr>
          <a:xfrm>
            <a:off x="2618812" y="5247090"/>
            <a:ext cx="1014094" cy="314325"/>
          </a:xfrm>
          <a:custGeom>
            <a:avLst/>
            <a:gdLst/>
            <a:ahLst/>
            <a:cxnLst/>
            <a:rect l="l" t="t" r="r" b="b"/>
            <a:pathLst>
              <a:path w="1014095" h="314325">
                <a:moveTo>
                  <a:pt x="699859" y="0"/>
                </a:moveTo>
                <a:lnTo>
                  <a:pt x="699858" y="314126"/>
                </a:lnTo>
                <a:lnTo>
                  <a:pt x="909278" y="209417"/>
                </a:lnTo>
                <a:lnTo>
                  <a:pt x="752212" y="209417"/>
                </a:lnTo>
                <a:lnTo>
                  <a:pt x="752212" y="104708"/>
                </a:lnTo>
                <a:lnTo>
                  <a:pt x="909275" y="104708"/>
                </a:lnTo>
                <a:lnTo>
                  <a:pt x="699859" y="0"/>
                </a:lnTo>
                <a:close/>
              </a:path>
              <a:path w="1014095" h="314325">
                <a:moveTo>
                  <a:pt x="699858" y="104708"/>
                </a:moveTo>
                <a:lnTo>
                  <a:pt x="1" y="104708"/>
                </a:lnTo>
                <a:lnTo>
                  <a:pt x="0" y="209417"/>
                </a:lnTo>
                <a:lnTo>
                  <a:pt x="699858" y="209417"/>
                </a:lnTo>
                <a:lnTo>
                  <a:pt x="699858" y="104708"/>
                </a:lnTo>
                <a:close/>
              </a:path>
              <a:path w="1014095" h="314325">
                <a:moveTo>
                  <a:pt x="909275" y="104708"/>
                </a:moveTo>
                <a:lnTo>
                  <a:pt x="752212" y="104708"/>
                </a:lnTo>
                <a:lnTo>
                  <a:pt x="752212" y="209417"/>
                </a:lnTo>
                <a:lnTo>
                  <a:pt x="909278" y="209417"/>
                </a:lnTo>
                <a:lnTo>
                  <a:pt x="1013985" y="157064"/>
                </a:lnTo>
                <a:lnTo>
                  <a:pt x="909275" y="104708"/>
                </a:lnTo>
                <a:close/>
              </a:path>
            </a:pathLst>
          </a:custGeom>
          <a:solidFill>
            <a:srgbClr val="000000"/>
          </a:solidFill>
        </p:spPr>
        <p:txBody>
          <a:bodyPr wrap="square" lIns="0" tIns="0" rIns="0" bIns="0" rtlCol="0"/>
          <a:lstStyle/>
          <a:p>
            <a:endParaRPr/>
          </a:p>
        </p:txBody>
      </p:sp>
      <p:sp>
        <p:nvSpPr>
          <p:cNvPr id="7" name="object 7"/>
          <p:cNvSpPr txBox="1"/>
          <p:nvPr/>
        </p:nvSpPr>
        <p:spPr>
          <a:xfrm>
            <a:off x="603250" y="5166618"/>
            <a:ext cx="1859103" cy="392415"/>
          </a:xfrm>
          <a:prstGeom prst="rect">
            <a:avLst/>
          </a:prstGeom>
        </p:spPr>
        <p:txBody>
          <a:bodyPr vert="horz" wrap="square" lIns="0" tIns="15240" rIns="0" bIns="0" rtlCol="0">
            <a:spAutoFit/>
          </a:bodyPr>
          <a:lstStyle/>
          <a:p>
            <a:pPr marL="12700">
              <a:lnSpc>
                <a:spcPct val="100000"/>
              </a:lnSpc>
              <a:spcBef>
                <a:spcPts val="120"/>
              </a:spcBef>
            </a:pPr>
            <a:r>
              <a:rPr sz="2450" b="1" dirty="0">
                <a:latin typeface="Trebuchet MS"/>
                <a:cs typeface="Trebuchet MS"/>
              </a:rPr>
              <a:t>Observation</a:t>
            </a:r>
            <a:endParaRPr sz="2450" dirty="0">
              <a:latin typeface="Trebuchet MS"/>
              <a:cs typeface="Trebuchet MS"/>
            </a:endParaRPr>
          </a:p>
        </p:txBody>
      </p:sp>
      <p:sp>
        <p:nvSpPr>
          <p:cNvPr id="11" name="object 11"/>
          <p:cNvSpPr txBox="1">
            <a:spLocks noGrp="1"/>
          </p:cNvSpPr>
          <p:nvPr>
            <p:ph type="sldNum" sz="quarter" idx="7"/>
          </p:nvPr>
        </p:nvSpPr>
        <p:spPr>
          <a:prstGeom prst="rect">
            <a:avLst/>
          </a:prstGeom>
        </p:spPr>
        <p:txBody>
          <a:bodyPr vert="horz" wrap="square" lIns="0" tIns="37465" rIns="0" bIns="0" rtlCol="0">
            <a:spAutoFit/>
          </a:bodyPr>
          <a:lstStyle/>
          <a:p>
            <a:pPr marL="112395">
              <a:lnSpc>
                <a:spcPct val="100000"/>
              </a:lnSpc>
              <a:spcBef>
                <a:spcPts val="295"/>
              </a:spcBef>
            </a:pPr>
            <a:fld id="{81D60167-4931-47E6-BA6A-407CBD079E47}" type="slidenum">
              <a:rPr spc="-50" dirty="0"/>
              <a:t>3</a:t>
            </a:fld>
            <a:endParaRPr spc="-50" dirty="0"/>
          </a:p>
        </p:txBody>
      </p:sp>
      <p:sp>
        <p:nvSpPr>
          <p:cNvPr id="8" name="object 8"/>
          <p:cNvSpPr txBox="1"/>
          <p:nvPr/>
        </p:nvSpPr>
        <p:spPr>
          <a:xfrm>
            <a:off x="3747154" y="3662559"/>
            <a:ext cx="12057380" cy="465455"/>
          </a:xfrm>
          <a:prstGeom prst="rect">
            <a:avLst/>
          </a:prstGeom>
          <a:solidFill>
            <a:srgbClr val="599DFF"/>
          </a:solidFill>
        </p:spPr>
        <p:txBody>
          <a:bodyPr vert="horz" wrap="square" lIns="0" tIns="46990" rIns="0" bIns="0" rtlCol="0">
            <a:spAutoFit/>
          </a:bodyPr>
          <a:lstStyle/>
          <a:p>
            <a:pPr algn="ctr">
              <a:lnSpc>
                <a:spcPct val="100000"/>
              </a:lnSpc>
              <a:spcBef>
                <a:spcPts val="370"/>
              </a:spcBef>
            </a:pPr>
            <a:r>
              <a:rPr sz="2450" b="1" i="1" spc="-10" dirty="0">
                <a:solidFill>
                  <a:srgbClr val="404040"/>
                </a:solidFill>
                <a:latin typeface="Arial"/>
                <a:cs typeface="Arial"/>
              </a:rPr>
              <a:t>Features</a:t>
            </a:r>
            <a:endParaRPr sz="2450">
              <a:latin typeface="Arial"/>
              <a:cs typeface="Arial"/>
            </a:endParaRPr>
          </a:p>
        </p:txBody>
      </p:sp>
      <p:sp>
        <p:nvSpPr>
          <p:cNvPr id="9" name="object 9"/>
          <p:cNvSpPr txBox="1"/>
          <p:nvPr/>
        </p:nvSpPr>
        <p:spPr>
          <a:xfrm>
            <a:off x="15804429" y="3662559"/>
            <a:ext cx="2430780" cy="465455"/>
          </a:xfrm>
          <a:prstGeom prst="rect">
            <a:avLst/>
          </a:prstGeom>
          <a:solidFill>
            <a:srgbClr val="FFFC66"/>
          </a:solidFill>
        </p:spPr>
        <p:txBody>
          <a:bodyPr vert="horz" wrap="square" lIns="0" tIns="46990" rIns="0" bIns="0" rtlCol="0">
            <a:spAutoFit/>
          </a:bodyPr>
          <a:lstStyle/>
          <a:p>
            <a:pPr marL="6350" algn="ctr">
              <a:lnSpc>
                <a:spcPct val="100000"/>
              </a:lnSpc>
              <a:spcBef>
                <a:spcPts val="370"/>
              </a:spcBef>
            </a:pPr>
            <a:r>
              <a:rPr sz="2450" b="1" i="1" spc="-10" dirty="0">
                <a:solidFill>
                  <a:srgbClr val="404040"/>
                </a:solidFill>
                <a:latin typeface="Arial"/>
                <a:cs typeface="Arial"/>
              </a:rPr>
              <a:t>Label</a:t>
            </a:r>
            <a:endParaRPr sz="245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100"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85099"/>
            </a:srgbClr>
          </a:solidFill>
        </p:spPr>
        <p:txBody>
          <a:bodyPr wrap="square" lIns="0" tIns="0" rIns="0" bIns="0" rtlCol="0"/>
          <a:lstStyle/>
          <a:p>
            <a:endParaRPr/>
          </a:p>
        </p:txBody>
      </p:sp>
      <p:sp>
        <p:nvSpPr>
          <p:cNvPr id="4" name="object 4"/>
          <p:cNvSpPr txBox="1"/>
          <p:nvPr/>
        </p:nvSpPr>
        <p:spPr>
          <a:xfrm>
            <a:off x="1081535" y="3546563"/>
            <a:ext cx="17795240" cy="1533525"/>
          </a:xfrm>
          <a:prstGeom prst="rect">
            <a:avLst/>
          </a:prstGeom>
        </p:spPr>
        <p:txBody>
          <a:bodyPr vert="horz" wrap="square" lIns="0" tIns="12065" rIns="0" bIns="0" rtlCol="0">
            <a:spAutoFit/>
          </a:bodyPr>
          <a:lstStyle/>
          <a:p>
            <a:pPr marL="546100" marR="5080" indent="-534035" algn="just">
              <a:lnSpc>
                <a:spcPct val="100000"/>
              </a:lnSpc>
              <a:spcBef>
                <a:spcPts val="95"/>
              </a:spcBef>
              <a:buSzPct val="100000"/>
              <a:buChar char="•"/>
              <a:tabLst>
                <a:tab pos="546100" algn="l"/>
              </a:tabLst>
            </a:pPr>
            <a:r>
              <a:rPr sz="3300" dirty="0">
                <a:latin typeface="Tahoma"/>
                <a:cs typeface="Tahoma"/>
              </a:rPr>
              <a:t>Los algoritmos de Machine Learning tienen parámetros “internos” que no dependen de los datos. Estos parámetros se llaman </a:t>
            </a:r>
            <a:r>
              <a:rPr sz="3300" b="1" dirty="0">
                <a:latin typeface="Trebuchet MS"/>
                <a:cs typeface="Trebuchet MS"/>
              </a:rPr>
              <a:t>hiperparámetros</a:t>
            </a:r>
            <a:r>
              <a:rPr sz="3300" dirty="0">
                <a:latin typeface="Tahoma"/>
                <a:cs typeface="Tahoma"/>
              </a:rPr>
              <a:t>. Por ejemplo, una red neuronal tiene como hiperparametros la función de activación o la constante de entrenamiento.</a:t>
            </a:r>
          </a:p>
        </p:txBody>
      </p:sp>
      <p:sp>
        <p:nvSpPr>
          <p:cNvPr id="5" name="object 5"/>
          <p:cNvSpPr txBox="1"/>
          <p:nvPr/>
        </p:nvSpPr>
        <p:spPr>
          <a:xfrm>
            <a:off x="1081535" y="7944335"/>
            <a:ext cx="17282160" cy="1030605"/>
          </a:xfrm>
          <a:prstGeom prst="rect">
            <a:avLst/>
          </a:prstGeom>
        </p:spPr>
        <p:txBody>
          <a:bodyPr vert="horz" wrap="square" lIns="0" tIns="12065" rIns="0" bIns="0" rtlCol="0">
            <a:spAutoFit/>
          </a:bodyPr>
          <a:lstStyle/>
          <a:p>
            <a:pPr marL="546100" marR="5080" indent="-534035">
              <a:lnSpc>
                <a:spcPct val="100000"/>
              </a:lnSpc>
              <a:spcBef>
                <a:spcPts val="95"/>
              </a:spcBef>
              <a:buSzPct val="100000"/>
              <a:buChar char="•"/>
              <a:tabLst>
                <a:tab pos="546100" algn="l"/>
              </a:tabLst>
            </a:pPr>
            <a:r>
              <a:rPr sz="3300" dirty="0">
                <a:latin typeface="Tahoma"/>
                <a:cs typeface="Tahoma"/>
              </a:rPr>
              <a:t>Llamamos </a:t>
            </a:r>
            <a:r>
              <a:rPr sz="3300" b="1" dirty="0">
                <a:latin typeface="Trebuchet MS"/>
                <a:cs typeface="Trebuchet MS"/>
              </a:rPr>
              <a:t>generalización </a:t>
            </a:r>
            <a:r>
              <a:rPr sz="3300" dirty="0">
                <a:latin typeface="Tahoma"/>
                <a:cs typeface="Tahoma"/>
              </a:rPr>
              <a:t>a la capacidad del modelo de hacer predicciones nuevas utilizando datos nuevos.</a:t>
            </a:r>
            <a:endParaRPr sz="3300">
              <a:latin typeface="Tahoma"/>
              <a:cs typeface="Tahoma"/>
            </a:endParaRPr>
          </a:p>
        </p:txBody>
      </p:sp>
      <p:sp>
        <p:nvSpPr>
          <p:cNvPr id="6" name="object 6"/>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REPASO CLASE ANTERIOR</a:t>
            </a:r>
          </a:p>
        </p:txBody>
      </p:sp>
      <p:pic>
        <p:nvPicPr>
          <p:cNvPr id="7" name="object 7"/>
          <p:cNvPicPr/>
          <p:nvPr/>
        </p:nvPicPr>
        <p:blipFill>
          <a:blip r:embed="rId3" cstate="print"/>
          <a:stretch>
            <a:fillRect/>
          </a:stretch>
        </p:blipFill>
        <p:spPr>
          <a:xfrm>
            <a:off x="8553731" y="5207520"/>
            <a:ext cx="2996636" cy="2996636"/>
          </a:xfrm>
          <a:prstGeom prst="rect">
            <a:avLst/>
          </a:prstGeom>
        </p:spPr>
      </p:pic>
      <p:sp>
        <p:nvSpPr>
          <p:cNvPr id="10" name="object 10"/>
          <p:cNvSpPr txBox="1">
            <a:spLocks noGrp="1"/>
          </p:cNvSpPr>
          <p:nvPr>
            <p:ph type="sldNum" sz="quarter" idx="7"/>
          </p:nvPr>
        </p:nvSpPr>
        <p:spPr>
          <a:prstGeom prst="rect">
            <a:avLst/>
          </a:prstGeom>
        </p:spPr>
        <p:txBody>
          <a:bodyPr vert="horz" wrap="square" lIns="0" tIns="37465" rIns="0" bIns="0" rtlCol="0">
            <a:spAutoFit/>
          </a:bodyPr>
          <a:lstStyle/>
          <a:p>
            <a:pPr marL="112395">
              <a:lnSpc>
                <a:spcPct val="100000"/>
              </a:lnSpc>
              <a:spcBef>
                <a:spcPts val="295"/>
              </a:spcBef>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100"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85099"/>
            </a:srgbClr>
          </a:solidFill>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REPASO CLASE ANTERIOR</a:t>
            </a:r>
          </a:p>
        </p:txBody>
      </p:sp>
      <p:sp>
        <p:nvSpPr>
          <p:cNvPr id="5" name="object 5"/>
          <p:cNvSpPr/>
          <p:nvPr/>
        </p:nvSpPr>
        <p:spPr>
          <a:xfrm>
            <a:off x="1361215" y="4460597"/>
            <a:ext cx="5088890" cy="3907790"/>
          </a:xfrm>
          <a:custGeom>
            <a:avLst/>
            <a:gdLst/>
            <a:ahLst/>
            <a:cxnLst/>
            <a:rect l="l" t="t" r="r" b="b"/>
            <a:pathLst>
              <a:path w="5088890" h="3907790">
                <a:moveTo>
                  <a:pt x="0" y="586124"/>
                </a:moveTo>
                <a:lnTo>
                  <a:pt x="1942" y="538053"/>
                </a:lnTo>
                <a:lnTo>
                  <a:pt x="7671" y="491052"/>
                </a:lnTo>
                <a:lnTo>
                  <a:pt x="17034" y="445272"/>
                </a:lnTo>
                <a:lnTo>
                  <a:pt x="29881" y="400863"/>
                </a:lnTo>
                <a:lnTo>
                  <a:pt x="46060" y="357978"/>
                </a:lnTo>
                <a:lnTo>
                  <a:pt x="65422" y="316766"/>
                </a:lnTo>
                <a:lnTo>
                  <a:pt x="87814" y="277379"/>
                </a:lnTo>
                <a:lnTo>
                  <a:pt x="113087" y="239967"/>
                </a:lnTo>
                <a:lnTo>
                  <a:pt x="141090" y="204680"/>
                </a:lnTo>
                <a:lnTo>
                  <a:pt x="171671" y="171671"/>
                </a:lnTo>
                <a:lnTo>
                  <a:pt x="204680" y="141090"/>
                </a:lnTo>
                <a:lnTo>
                  <a:pt x="239966" y="113088"/>
                </a:lnTo>
                <a:lnTo>
                  <a:pt x="277379" y="87814"/>
                </a:lnTo>
                <a:lnTo>
                  <a:pt x="316766" y="65422"/>
                </a:lnTo>
                <a:lnTo>
                  <a:pt x="357978" y="46060"/>
                </a:lnTo>
                <a:lnTo>
                  <a:pt x="400863" y="29881"/>
                </a:lnTo>
                <a:lnTo>
                  <a:pt x="445271" y="17034"/>
                </a:lnTo>
                <a:lnTo>
                  <a:pt x="491051" y="7671"/>
                </a:lnTo>
                <a:lnTo>
                  <a:pt x="538053" y="1942"/>
                </a:lnTo>
                <a:lnTo>
                  <a:pt x="586124" y="0"/>
                </a:lnTo>
                <a:lnTo>
                  <a:pt x="4502673" y="0"/>
                </a:lnTo>
                <a:lnTo>
                  <a:pt x="4550744" y="1942"/>
                </a:lnTo>
                <a:lnTo>
                  <a:pt x="4597745" y="7671"/>
                </a:lnTo>
                <a:lnTo>
                  <a:pt x="4643525" y="17034"/>
                </a:lnTo>
                <a:lnTo>
                  <a:pt x="4687933" y="29881"/>
                </a:lnTo>
                <a:lnTo>
                  <a:pt x="4730818" y="46060"/>
                </a:lnTo>
                <a:lnTo>
                  <a:pt x="4772030" y="65422"/>
                </a:lnTo>
                <a:lnTo>
                  <a:pt x="4811418" y="87814"/>
                </a:lnTo>
                <a:lnTo>
                  <a:pt x="4848830" y="113088"/>
                </a:lnTo>
                <a:lnTo>
                  <a:pt x="4884116" y="141090"/>
                </a:lnTo>
                <a:lnTo>
                  <a:pt x="4917125" y="171671"/>
                </a:lnTo>
                <a:lnTo>
                  <a:pt x="4947706" y="204680"/>
                </a:lnTo>
                <a:lnTo>
                  <a:pt x="4975708" y="239967"/>
                </a:lnTo>
                <a:lnTo>
                  <a:pt x="5000982" y="277379"/>
                </a:lnTo>
                <a:lnTo>
                  <a:pt x="5023374" y="316766"/>
                </a:lnTo>
                <a:lnTo>
                  <a:pt x="5042736" y="357978"/>
                </a:lnTo>
                <a:lnTo>
                  <a:pt x="5058915" y="400863"/>
                </a:lnTo>
                <a:lnTo>
                  <a:pt x="5071762" y="445272"/>
                </a:lnTo>
                <a:lnTo>
                  <a:pt x="5081125" y="491052"/>
                </a:lnTo>
                <a:lnTo>
                  <a:pt x="5086853" y="538053"/>
                </a:lnTo>
                <a:lnTo>
                  <a:pt x="5088796" y="586124"/>
                </a:lnTo>
                <a:lnTo>
                  <a:pt x="5088796" y="3321370"/>
                </a:lnTo>
                <a:lnTo>
                  <a:pt x="5086853" y="3369442"/>
                </a:lnTo>
                <a:lnTo>
                  <a:pt x="5081125" y="3416443"/>
                </a:lnTo>
                <a:lnTo>
                  <a:pt x="5071762" y="3462223"/>
                </a:lnTo>
                <a:lnTo>
                  <a:pt x="5058915" y="3506631"/>
                </a:lnTo>
                <a:lnTo>
                  <a:pt x="5042736" y="3549517"/>
                </a:lnTo>
                <a:lnTo>
                  <a:pt x="5023374" y="3590728"/>
                </a:lnTo>
                <a:lnTo>
                  <a:pt x="5000982" y="3630116"/>
                </a:lnTo>
                <a:lnTo>
                  <a:pt x="4975708" y="3667528"/>
                </a:lnTo>
                <a:lnTo>
                  <a:pt x="4947706" y="3702814"/>
                </a:lnTo>
                <a:lnTo>
                  <a:pt x="4917125" y="3735823"/>
                </a:lnTo>
                <a:lnTo>
                  <a:pt x="4884116" y="3766404"/>
                </a:lnTo>
                <a:lnTo>
                  <a:pt x="4848830" y="3794407"/>
                </a:lnTo>
                <a:lnTo>
                  <a:pt x="4811418" y="3819680"/>
                </a:lnTo>
                <a:lnTo>
                  <a:pt x="4772030" y="3842073"/>
                </a:lnTo>
                <a:lnTo>
                  <a:pt x="4730818" y="3861434"/>
                </a:lnTo>
                <a:lnTo>
                  <a:pt x="4687933" y="3877614"/>
                </a:lnTo>
                <a:lnTo>
                  <a:pt x="4643525" y="3890461"/>
                </a:lnTo>
                <a:lnTo>
                  <a:pt x="4597745" y="3899824"/>
                </a:lnTo>
                <a:lnTo>
                  <a:pt x="4550744" y="3905552"/>
                </a:lnTo>
                <a:lnTo>
                  <a:pt x="4502673" y="3907495"/>
                </a:lnTo>
                <a:lnTo>
                  <a:pt x="586124" y="3907495"/>
                </a:lnTo>
                <a:lnTo>
                  <a:pt x="538053" y="3905552"/>
                </a:lnTo>
                <a:lnTo>
                  <a:pt x="491051" y="3899824"/>
                </a:lnTo>
                <a:lnTo>
                  <a:pt x="445271" y="3890461"/>
                </a:lnTo>
                <a:lnTo>
                  <a:pt x="400863" y="3877614"/>
                </a:lnTo>
                <a:lnTo>
                  <a:pt x="357978" y="3861434"/>
                </a:lnTo>
                <a:lnTo>
                  <a:pt x="316766" y="3842073"/>
                </a:lnTo>
                <a:lnTo>
                  <a:pt x="277379" y="3819680"/>
                </a:lnTo>
                <a:lnTo>
                  <a:pt x="239966" y="3794407"/>
                </a:lnTo>
                <a:lnTo>
                  <a:pt x="204680" y="3766404"/>
                </a:lnTo>
                <a:lnTo>
                  <a:pt x="171671" y="3735823"/>
                </a:lnTo>
                <a:lnTo>
                  <a:pt x="141090" y="3702814"/>
                </a:lnTo>
                <a:lnTo>
                  <a:pt x="113087" y="3667528"/>
                </a:lnTo>
                <a:lnTo>
                  <a:pt x="87814" y="3630116"/>
                </a:lnTo>
                <a:lnTo>
                  <a:pt x="65422" y="3590728"/>
                </a:lnTo>
                <a:lnTo>
                  <a:pt x="46060" y="3549517"/>
                </a:lnTo>
                <a:lnTo>
                  <a:pt x="29881" y="3506631"/>
                </a:lnTo>
                <a:lnTo>
                  <a:pt x="17034" y="3462223"/>
                </a:lnTo>
                <a:lnTo>
                  <a:pt x="7671" y="3416443"/>
                </a:lnTo>
                <a:lnTo>
                  <a:pt x="1942" y="3369442"/>
                </a:lnTo>
                <a:lnTo>
                  <a:pt x="0" y="3321370"/>
                </a:lnTo>
                <a:lnTo>
                  <a:pt x="0" y="586124"/>
                </a:lnTo>
                <a:close/>
              </a:path>
            </a:pathLst>
          </a:custGeom>
          <a:ln w="73296">
            <a:solidFill>
              <a:srgbClr val="FF80E9"/>
            </a:solidFill>
          </a:ln>
        </p:spPr>
        <p:txBody>
          <a:bodyPr wrap="square" lIns="0" tIns="0" rIns="0" bIns="0" rtlCol="0"/>
          <a:lstStyle/>
          <a:p>
            <a:endParaRPr/>
          </a:p>
        </p:txBody>
      </p:sp>
      <p:sp>
        <p:nvSpPr>
          <p:cNvPr id="6" name="object 6"/>
          <p:cNvSpPr txBox="1"/>
          <p:nvPr/>
        </p:nvSpPr>
        <p:spPr>
          <a:xfrm>
            <a:off x="1605096" y="5740116"/>
            <a:ext cx="1704975" cy="833755"/>
          </a:xfrm>
          <a:prstGeom prst="rect">
            <a:avLst/>
          </a:prstGeom>
          <a:solidFill>
            <a:srgbClr val="9BC4FF"/>
          </a:solidFill>
        </p:spPr>
        <p:txBody>
          <a:bodyPr vert="horz" wrap="square" lIns="0" tIns="43815" rIns="0" bIns="0" rtlCol="0">
            <a:spAutoFit/>
          </a:bodyPr>
          <a:lstStyle/>
          <a:p>
            <a:pPr marL="348615" marR="334645" indent="84455">
              <a:lnSpc>
                <a:spcPct val="101000"/>
              </a:lnSpc>
              <a:spcBef>
                <a:spcPts val="345"/>
              </a:spcBef>
            </a:pPr>
            <a:r>
              <a:rPr sz="2450" b="1" i="1" spc="-10" dirty="0">
                <a:solidFill>
                  <a:srgbClr val="404040"/>
                </a:solidFill>
                <a:latin typeface="Arial"/>
                <a:cs typeface="Arial"/>
              </a:rPr>
              <a:t>Datos </a:t>
            </a:r>
            <a:r>
              <a:rPr sz="2450" b="1" i="1" spc="-45" dirty="0">
                <a:solidFill>
                  <a:srgbClr val="404040"/>
                </a:solidFill>
                <a:latin typeface="Arial"/>
                <a:cs typeface="Arial"/>
              </a:rPr>
              <a:t>crudos</a:t>
            </a:r>
            <a:endParaRPr sz="2450">
              <a:latin typeface="Arial"/>
              <a:cs typeface="Arial"/>
            </a:endParaRPr>
          </a:p>
        </p:txBody>
      </p:sp>
      <p:sp>
        <p:nvSpPr>
          <p:cNvPr id="7" name="object 7"/>
          <p:cNvSpPr txBox="1"/>
          <p:nvPr/>
        </p:nvSpPr>
        <p:spPr>
          <a:xfrm>
            <a:off x="1605096" y="6573287"/>
            <a:ext cx="1704975" cy="465455"/>
          </a:xfrm>
          <a:prstGeom prst="rect">
            <a:avLst/>
          </a:prstGeom>
          <a:solidFill>
            <a:srgbClr val="FFFC66"/>
          </a:solidFill>
        </p:spPr>
        <p:txBody>
          <a:bodyPr vert="horz" wrap="square" lIns="0" tIns="46355" rIns="0" bIns="0" rtlCol="0">
            <a:spAutoFit/>
          </a:bodyPr>
          <a:lstStyle/>
          <a:p>
            <a:pPr marL="456565">
              <a:lnSpc>
                <a:spcPct val="100000"/>
              </a:lnSpc>
              <a:spcBef>
                <a:spcPts val="365"/>
              </a:spcBef>
            </a:pPr>
            <a:r>
              <a:rPr sz="2450" b="1" i="1" spc="-10" dirty="0">
                <a:solidFill>
                  <a:srgbClr val="404040"/>
                </a:solidFill>
                <a:latin typeface="Arial"/>
                <a:cs typeface="Arial"/>
              </a:rPr>
              <a:t>Label</a:t>
            </a:r>
            <a:endParaRPr sz="2450">
              <a:latin typeface="Arial"/>
              <a:cs typeface="Arial"/>
            </a:endParaRPr>
          </a:p>
        </p:txBody>
      </p:sp>
      <p:sp>
        <p:nvSpPr>
          <p:cNvPr id="8" name="object 8"/>
          <p:cNvSpPr txBox="1"/>
          <p:nvPr/>
        </p:nvSpPr>
        <p:spPr>
          <a:xfrm>
            <a:off x="4010155" y="5740116"/>
            <a:ext cx="2297430" cy="846455"/>
          </a:xfrm>
          <a:prstGeom prst="rect">
            <a:avLst/>
          </a:prstGeom>
          <a:solidFill>
            <a:srgbClr val="FF7D74"/>
          </a:solidFill>
        </p:spPr>
        <p:txBody>
          <a:bodyPr vert="horz" wrap="square" lIns="0" tIns="43815" rIns="0" bIns="0" rtlCol="0">
            <a:spAutoFit/>
          </a:bodyPr>
          <a:lstStyle/>
          <a:p>
            <a:pPr marL="208915" marR="193675" indent="568960">
              <a:lnSpc>
                <a:spcPct val="101000"/>
              </a:lnSpc>
              <a:spcBef>
                <a:spcPts val="345"/>
              </a:spcBef>
            </a:pPr>
            <a:r>
              <a:rPr sz="2450" b="1" spc="-20" dirty="0">
                <a:solidFill>
                  <a:srgbClr val="404040"/>
                </a:solidFill>
                <a:latin typeface="Trebuchet MS"/>
                <a:cs typeface="Trebuchet MS"/>
              </a:rPr>
              <a:t>Datos </a:t>
            </a:r>
            <a:r>
              <a:rPr sz="2450" b="1" spc="-185" dirty="0">
                <a:solidFill>
                  <a:srgbClr val="404040"/>
                </a:solidFill>
                <a:latin typeface="Trebuchet MS"/>
                <a:cs typeface="Trebuchet MS"/>
              </a:rPr>
              <a:t>entrenamiento</a:t>
            </a:r>
            <a:endParaRPr sz="2450">
              <a:latin typeface="Trebuchet MS"/>
              <a:cs typeface="Trebuchet MS"/>
            </a:endParaRPr>
          </a:p>
        </p:txBody>
      </p:sp>
      <p:sp>
        <p:nvSpPr>
          <p:cNvPr id="9" name="object 9"/>
          <p:cNvSpPr txBox="1"/>
          <p:nvPr/>
        </p:nvSpPr>
        <p:spPr>
          <a:xfrm>
            <a:off x="4010155" y="6585966"/>
            <a:ext cx="2297430" cy="465455"/>
          </a:xfrm>
          <a:prstGeom prst="rect">
            <a:avLst/>
          </a:prstGeom>
          <a:solidFill>
            <a:srgbClr val="88FFFE"/>
          </a:solidFill>
        </p:spPr>
        <p:txBody>
          <a:bodyPr vert="horz" wrap="square" lIns="0" tIns="46355" rIns="0" bIns="0" rtlCol="0">
            <a:spAutoFit/>
          </a:bodyPr>
          <a:lstStyle/>
          <a:p>
            <a:pPr marL="310515">
              <a:lnSpc>
                <a:spcPct val="100000"/>
              </a:lnSpc>
              <a:spcBef>
                <a:spcPts val="365"/>
              </a:spcBef>
            </a:pPr>
            <a:r>
              <a:rPr sz="2450" b="1" spc="-95" dirty="0">
                <a:solidFill>
                  <a:srgbClr val="404040"/>
                </a:solidFill>
                <a:latin typeface="Trebuchet MS"/>
                <a:cs typeface="Trebuchet MS"/>
              </a:rPr>
              <a:t>Datos</a:t>
            </a:r>
            <a:r>
              <a:rPr sz="2450" b="1" spc="-405" dirty="0">
                <a:solidFill>
                  <a:srgbClr val="404040"/>
                </a:solidFill>
                <a:latin typeface="Trebuchet MS"/>
                <a:cs typeface="Trebuchet MS"/>
              </a:rPr>
              <a:t> </a:t>
            </a:r>
            <a:r>
              <a:rPr sz="2450" b="1" spc="-10" dirty="0">
                <a:solidFill>
                  <a:srgbClr val="404040"/>
                </a:solidFill>
                <a:latin typeface="Trebuchet MS"/>
                <a:cs typeface="Trebuchet MS"/>
              </a:rPr>
              <a:t>testing</a:t>
            </a:r>
            <a:endParaRPr sz="2450">
              <a:latin typeface="Trebuchet MS"/>
              <a:cs typeface="Trebuchet MS"/>
            </a:endParaRPr>
          </a:p>
        </p:txBody>
      </p:sp>
      <p:grpSp>
        <p:nvGrpSpPr>
          <p:cNvPr id="10" name="object 10"/>
          <p:cNvGrpSpPr/>
          <p:nvPr/>
        </p:nvGrpSpPr>
        <p:grpSpPr>
          <a:xfrm>
            <a:off x="3403473" y="4423767"/>
            <a:ext cx="7292975" cy="3981450"/>
            <a:chOff x="3403473" y="4423767"/>
            <a:chExt cx="7292975" cy="3981450"/>
          </a:xfrm>
        </p:grpSpPr>
        <p:sp>
          <p:nvSpPr>
            <p:cNvPr id="11" name="object 11"/>
            <p:cNvSpPr/>
            <p:nvPr/>
          </p:nvSpPr>
          <p:spPr>
            <a:xfrm>
              <a:off x="3403473" y="6257280"/>
              <a:ext cx="513715" cy="314325"/>
            </a:xfrm>
            <a:custGeom>
              <a:avLst/>
              <a:gdLst/>
              <a:ahLst/>
              <a:cxnLst/>
              <a:rect l="l" t="t" r="r" b="b"/>
              <a:pathLst>
                <a:path w="513714" h="314325">
                  <a:moveTo>
                    <a:pt x="199030" y="0"/>
                  </a:moveTo>
                  <a:lnTo>
                    <a:pt x="199030" y="314126"/>
                  </a:lnTo>
                  <a:lnTo>
                    <a:pt x="408449" y="209417"/>
                  </a:lnTo>
                  <a:lnTo>
                    <a:pt x="251385" y="209417"/>
                  </a:lnTo>
                  <a:lnTo>
                    <a:pt x="251385" y="104708"/>
                  </a:lnTo>
                  <a:lnTo>
                    <a:pt x="408446" y="104708"/>
                  </a:lnTo>
                  <a:lnTo>
                    <a:pt x="199030" y="0"/>
                  </a:lnTo>
                  <a:close/>
                </a:path>
                <a:path w="513714" h="314325">
                  <a:moveTo>
                    <a:pt x="199030" y="104708"/>
                  </a:moveTo>
                  <a:lnTo>
                    <a:pt x="1" y="104708"/>
                  </a:lnTo>
                  <a:lnTo>
                    <a:pt x="0" y="209417"/>
                  </a:lnTo>
                  <a:lnTo>
                    <a:pt x="199030" y="209417"/>
                  </a:lnTo>
                  <a:lnTo>
                    <a:pt x="199030" y="104708"/>
                  </a:lnTo>
                  <a:close/>
                </a:path>
                <a:path w="513714" h="314325">
                  <a:moveTo>
                    <a:pt x="408446" y="104708"/>
                  </a:moveTo>
                  <a:lnTo>
                    <a:pt x="251385" y="104708"/>
                  </a:lnTo>
                  <a:lnTo>
                    <a:pt x="251385" y="209417"/>
                  </a:lnTo>
                  <a:lnTo>
                    <a:pt x="408449" y="209417"/>
                  </a:lnTo>
                  <a:lnTo>
                    <a:pt x="513157" y="157064"/>
                  </a:lnTo>
                  <a:lnTo>
                    <a:pt x="408446" y="104708"/>
                  </a:lnTo>
                  <a:close/>
                </a:path>
              </a:pathLst>
            </a:custGeom>
            <a:solidFill>
              <a:srgbClr val="19BD1B"/>
            </a:solidFill>
          </p:spPr>
          <p:txBody>
            <a:bodyPr wrap="square" lIns="0" tIns="0" rIns="0" bIns="0" rtlCol="0"/>
            <a:lstStyle/>
            <a:p>
              <a:endParaRPr/>
            </a:p>
          </p:txBody>
        </p:sp>
        <p:sp>
          <p:nvSpPr>
            <p:cNvPr id="12" name="object 12"/>
            <p:cNvSpPr/>
            <p:nvPr/>
          </p:nvSpPr>
          <p:spPr>
            <a:xfrm>
              <a:off x="7043958" y="4460597"/>
              <a:ext cx="3615690" cy="3907790"/>
            </a:xfrm>
            <a:custGeom>
              <a:avLst/>
              <a:gdLst/>
              <a:ahLst/>
              <a:cxnLst/>
              <a:rect l="l" t="t" r="r" b="b"/>
              <a:pathLst>
                <a:path w="3615690" h="3907790">
                  <a:moveTo>
                    <a:pt x="0" y="586111"/>
                  </a:moveTo>
                  <a:lnTo>
                    <a:pt x="1942" y="538041"/>
                  </a:lnTo>
                  <a:lnTo>
                    <a:pt x="7671" y="491041"/>
                  </a:lnTo>
                  <a:lnTo>
                    <a:pt x="17033" y="445262"/>
                  </a:lnTo>
                  <a:lnTo>
                    <a:pt x="29880" y="400854"/>
                  </a:lnTo>
                  <a:lnTo>
                    <a:pt x="46059" y="357970"/>
                  </a:lnTo>
                  <a:lnTo>
                    <a:pt x="65420" y="316759"/>
                  </a:lnTo>
                  <a:lnTo>
                    <a:pt x="87813" y="277372"/>
                  </a:lnTo>
                  <a:lnTo>
                    <a:pt x="113085" y="239961"/>
                  </a:lnTo>
                  <a:lnTo>
                    <a:pt x="141087" y="204676"/>
                  </a:lnTo>
                  <a:lnTo>
                    <a:pt x="171668" y="171668"/>
                  </a:lnTo>
                  <a:lnTo>
                    <a:pt x="204676" y="141087"/>
                  </a:lnTo>
                  <a:lnTo>
                    <a:pt x="239961" y="113085"/>
                  </a:lnTo>
                  <a:lnTo>
                    <a:pt x="277373" y="87812"/>
                  </a:lnTo>
                  <a:lnTo>
                    <a:pt x="316759" y="65420"/>
                  </a:lnTo>
                  <a:lnTo>
                    <a:pt x="357970" y="46059"/>
                  </a:lnTo>
                  <a:lnTo>
                    <a:pt x="400855" y="29880"/>
                  </a:lnTo>
                  <a:lnTo>
                    <a:pt x="445262" y="17033"/>
                  </a:lnTo>
                  <a:lnTo>
                    <a:pt x="491041" y="7671"/>
                  </a:lnTo>
                  <a:lnTo>
                    <a:pt x="538041" y="1942"/>
                  </a:lnTo>
                  <a:lnTo>
                    <a:pt x="586112" y="0"/>
                  </a:lnTo>
                  <a:lnTo>
                    <a:pt x="3029179" y="0"/>
                  </a:lnTo>
                  <a:lnTo>
                    <a:pt x="3077249" y="1942"/>
                  </a:lnTo>
                  <a:lnTo>
                    <a:pt x="3124250" y="7671"/>
                  </a:lnTo>
                  <a:lnTo>
                    <a:pt x="3170029" y="17033"/>
                  </a:lnTo>
                  <a:lnTo>
                    <a:pt x="3214436" y="29880"/>
                  </a:lnTo>
                  <a:lnTo>
                    <a:pt x="3257321" y="46059"/>
                  </a:lnTo>
                  <a:lnTo>
                    <a:pt x="3298532" y="65420"/>
                  </a:lnTo>
                  <a:lnTo>
                    <a:pt x="3337918" y="87812"/>
                  </a:lnTo>
                  <a:lnTo>
                    <a:pt x="3375329" y="113085"/>
                  </a:lnTo>
                  <a:lnTo>
                    <a:pt x="3410615" y="141087"/>
                  </a:lnTo>
                  <a:lnTo>
                    <a:pt x="3443623" y="171668"/>
                  </a:lnTo>
                  <a:lnTo>
                    <a:pt x="3474204" y="204676"/>
                  </a:lnTo>
                  <a:lnTo>
                    <a:pt x="3502206" y="239961"/>
                  </a:lnTo>
                  <a:lnTo>
                    <a:pt x="3527478" y="277372"/>
                  </a:lnTo>
                  <a:lnTo>
                    <a:pt x="3549871" y="316759"/>
                  </a:lnTo>
                  <a:lnTo>
                    <a:pt x="3569232" y="357970"/>
                  </a:lnTo>
                  <a:lnTo>
                    <a:pt x="3585411" y="400854"/>
                  </a:lnTo>
                  <a:lnTo>
                    <a:pt x="3598257" y="445262"/>
                  </a:lnTo>
                  <a:lnTo>
                    <a:pt x="3607620" y="491041"/>
                  </a:lnTo>
                  <a:lnTo>
                    <a:pt x="3613348" y="538041"/>
                  </a:lnTo>
                  <a:lnTo>
                    <a:pt x="3615291" y="586111"/>
                  </a:lnTo>
                  <a:lnTo>
                    <a:pt x="3615291" y="3321383"/>
                  </a:lnTo>
                  <a:lnTo>
                    <a:pt x="3613348" y="3369454"/>
                  </a:lnTo>
                  <a:lnTo>
                    <a:pt x="3607620" y="3416454"/>
                  </a:lnTo>
                  <a:lnTo>
                    <a:pt x="3598257" y="3462233"/>
                  </a:lnTo>
                  <a:lnTo>
                    <a:pt x="3585411" y="3506640"/>
                  </a:lnTo>
                  <a:lnTo>
                    <a:pt x="3569232" y="3549525"/>
                  </a:lnTo>
                  <a:lnTo>
                    <a:pt x="3549871" y="3590735"/>
                  </a:lnTo>
                  <a:lnTo>
                    <a:pt x="3527478" y="3630122"/>
                  </a:lnTo>
                  <a:lnTo>
                    <a:pt x="3502206" y="3667533"/>
                  </a:lnTo>
                  <a:lnTo>
                    <a:pt x="3474204" y="3702819"/>
                  </a:lnTo>
                  <a:lnTo>
                    <a:pt x="3443623" y="3735827"/>
                  </a:lnTo>
                  <a:lnTo>
                    <a:pt x="3410615" y="3766408"/>
                  </a:lnTo>
                  <a:lnTo>
                    <a:pt x="3375329" y="3794409"/>
                  </a:lnTo>
                  <a:lnTo>
                    <a:pt x="3337918" y="3819682"/>
                  </a:lnTo>
                  <a:lnTo>
                    <a:pt x="3298532" y="3842074"/>
                  </a:lnTo>
                  <a:lnTo>
                    <a:pt x="3257321" y="3861435"/>
                  </a:lnTo>
                  <a:lnTo>
                    <a:pt x="3214436" y="3877615"/>
                  </a:lnTo>
                  <a:lnTo>
                    <a:pt x="3170029" y="3890461"/>
                  </a:lnTo>
                  <a:lnTo>
                    <a:pt x="3124250" y="3899824"/>
                  </a:lnTo>
                  <a:lnTo>
                    <a:pt x="3077249" y="3905552"/>
                  </a:lnTo>
                  <a:lnTo>
                    <a:pt x="3029179" y="3907495"/>
                  </a:lnTo>
                  <a:lnTo>
                    <a:pt x="586112" y="3907495"/>
                  </a:lnTo>
                  <a:lnTo>
                    <a:pt x="538041" y="3905552"/>
                  </a:lnTo>
                  <a:lnTo>
                    <a:pt x="491041" y="3899824"/>
                  </a:lnTo>
                  <a:lnTo>
                    <a:pt x="445262" y="3890461"/>
                  </a:lnTo>
                  <a:lnTo>
                    <a:pt x="400855" y="3877615"/>
                  </a:lnTo>
                  <a:lnTo>
                    <a:pt x="357970" y="3861435"/>
                  </a:lnTo>
                  <a:lnTo>
                    <a:pt x="316759" y="3842074"/>
                  </a:lnTo>
                  <a:lnTo>
                    <a:pt x="277373" y="3819682"/>
                  </a:lnTo>
                  <a:lnTo>
                    <a:pt x="239961" y="3794409"/>
                  </a:lnTo>
                  <a:lnTo>
                    <a:pt x="204676" y="3766408"/>
                  </a:lnTo>
                  <a:lnTo>
                    <a:pt x="171668" y="3735827"/>
                  </a:lnTo>
                  <a:lnTo>
                    <a:pt x="141087" y="3702819"/>
                  </a:lnTo>
                  <a:lnTo>
                    <a:pt x="113085" y="3667533"/>
                  </a:lnTo>
                  <a:lnTo>
                    <a:pt x="87813" y="3630122"/>
                  </a:lnTo>
                  <a:lnTo>
                    <a:pt x="65420" y="3590735"/>
                  </a:lnTo>
                  <a:lnTo>
                    <a:pt x="46059" y="3549525"/>
                  </a:lnTo>
                  <a:lnTo>
                    <a:pt x="29880" y="3506640"/>
                  </a:lnTo>
                  <a:lnTo>
                    <a:pt x="17033" y="3462233"/>
                  </a:lnTo>
                  <a:lnTo>
                    <a:pt x="7671" y="3416454"/>
                  </a:lnTo>
                  <a:lnTo>
                    <a:pt x="1942" y="3369454"/>
                  </a:lnTo>
                  <a:lnTo>
                    <a:pt x="0" y="3321383"/>
                  </a:lnTo>
                  <a:lnTo>
                    <a:pt x="0" y="586111"/>
                  </a:lnTo>
                  <a:close/>
                </a:path>
              </a:pathLst>
            </a:custGeom>
            <a:ln w="73296">
              <a:solidFill>
                <a:srgbClr val="FF80E9"/>
              </a:solidFill>
            </a:ln>
          </p:spPr>
          <p:txBody>
            <a:bodyPr wrap="square" lIns="0" tIns="0" rIns="0" bIns="0" rtlCol="0"/>
            <a:lstStyle/>
            <a:p>
              <a:endParaRPr/>
            </a:p>
          </p:txBody>
        </p:sp>
      </p:grpSp>
      <p:sp>
        <p:nvSpPr>
          <p:cNvPr id="13" name="object 13"/>
          <p:cNvSpPr txBox="1"/>
          <p:nvPr/>
        </p:nvSpPr>
        <p:spPr>
          <a:xfrm>
            <a:off x="2674651" y="4641399"/>
            <a:ext cx="2465070" cy="402590"/>
          </a:xfrm>
          <a:prstGeom prst="rect">
            <a:avLst/>
          </a:prstGeom>
        </p:spPr>
        <p:txBody>
          <a:bodyPr vert="horz" wrap="square" lIns="0" tIns="15240" rIns="0" bIns="0" rtlCol="0">
            <a:spAutoFit/>
          </a:bodyPr>
          <a:lstStyle/>
          <a:p>
            <a:pPr marL="12700">
              <a:lnSpc>
                <a:spcPct val="100000"/>
              </a:lnSpc>
              <a:spcBef>
                <a:spcPts val="120"/>
              </a:spcBef>
            </a:pPr>
            <a:r>
              <a:rPr sz="2450" b="1" spc="-35" dirty="0">
                <a:latin typeface="Calibri"/>
                <a:cs typeface="Calibri"/>
              </a:rPr>
              <a:t>Pre-</a:t>
            </a:r>
            <a:r>
              <a:rPr sz="2450" b="1" spc="-10" dirty="0">
                <a:latin typeface="Calibri"/>
                <a:cs typeface="Calibri"/>
              </a:rPr>
              <a:t>procesamiento</a:t>
            </a:r>
            <a:endParaRPr sz="2450">
              <a:latin typeface="Calibri"/>
              <a:cs typeface="Calibri"/>
            </a:endParaRPr>
          </a:p>
        </p:txBody>
      </p:sp>
      <p:sp>
        <p:nvSpPr>
          <p:cNvPr id="14" name="object 14"/>
          <p:cNvSpPr txBox="1"/>
          <p:nvPr/>
        </p:nvSpPr>
        <p:spPr>
          <a:xfrm>
            <a:off x="7878303" y="4641399"/>
            <a:ext cx="1949450" cy="402590"/>
          </a:xfrm>
          <a:prstGeom prst="rect">
            <a:avLst/>
          </a:prstGeom>
        </p:spPr>
        <p:txBody>
          <a:bodyPr vert="horz" wrap="square" lIns="0" tIns="15240" rIns="0" bIns="0" rtlCol="0">
            <a:spAutoFit/>
          </a:bodyPr>
          <a:lstStyle/>
          <a:p>
            <a:pPr marL="12700">
              <a:lnSpc>
                <a:spcPct val="100000"/>
              </a:lnSpc>
              <a:spcBef>
                <a:spcPts val="120"/>
              </a:spcBef>
            </a:pPr>
            <a:r>
              <a:rPr sz="2450" b="1" spc="-10" dirty="0">
                <a:latin typeface="Calibri"/>
                <a:cs typeface="Calibri"/>
              </a:rPr>
              <a:t>Entrenamiento</a:t>
            </a:r>
            <a:endParaRPr sz="2450">
              <a:latin typeface="Calibri"/>
              <a:cs typeface="Calibri"/>
            </a:endParaRPr>
          </a:p>
        </p:txBody>
      </p:sp>
      <p:sp>
        <p:nvSpPr>
          <p:cNvPr id="15" name="object 15"/>
          <p:cNvSpPr txBox="1"/>
          <p:nvPr/>
        </p:nvSpPr>
        <p:spPr>
          <a:xfrm>
            <a:off x="7703129" y="5483078"/>
            <a:ext cx="2297430" cy="1390015"/>
          </a:xfrm>
          <a:prstGeom prst="rect">
            <a:avLst/>
          </a:prstGeom>
          <a:solidFill>
            <a:srgbClr val="FFFFFF">
              <a:alpha val="85099"/>
            </a:srgbClr>
          </a:solidFill>
          <a:ln w="52354">
            <a:solidFill>
              <a:srgbClr val="FF7D74"/>
            </a:solidFill>
          </a:ln>
        </p:spPr>
        <p:txBody>
          <a:bodyPr vert="horz" wrap="square" lIns="0" tIns="339090" rIns="0" bIns="0" rtlCol="0">
            <a:spAutoFit/>
          </a:bodyPr>
          <a:lstStyle/>
          <a:p>
            <a:pPr>
              <a:lnSpc>
                <a:spcPct val="100000"/>
              </a:lnSpc>
              <a:spcBef>
                <a:spcPts val="2670"/>
              </a:spcBef>
            </a:pPr>
            <a:endParaRPr sz="2450">
              <a:latin typeface="Times New Roman"/>
              <a:cs typeface="Times New Roman"/>
            </a:endParaRPr>
          </a:p>
          <a:p>
            <a:pPr marL="128270">
              <a:lnSpc>
                <a:spcPct val="100000"/>
              </a:lnSpc>
            </a:pPr>
            <a:r>
              <a:rPr sz="2450" b="1" i="1" dirty="0">
                <a:latin typeface="Arial"/>
                <a:cs typeface="Arial"/>
              </a:rPr>
              <a:t>Modelo</a:t>
            </a:r>
            <a:r>
              <a:rPr sz="2450" b="1" i="1" spc="-180" dirty="0">
                <a:latin typeface="Arial"/>
                <a:cs typeface="Arial"/>
              </a:rPr>
              <a:t> </a:t>
            </a:r>
            <a:r>
              <a:rPr sz="2450" b="1" i="1" dirty="0">
                <a:latin typeface="Arial"/>
                <a:cs typeface="Arial"/>
              </a:rPr>
              <a:t>de</a:t>
            </a:r>
            <a:r>
              <a:rPr sz="2450" b="1" i="1" spc="-175" dirty="0">
                <a:latin typeface="Arial"/>
                <a:cs typeface="Arial"/>
              </a:rPr>
              <a:t> </a:t>
            </a:r>
            <a:r>
              <a:rPr sz="2450" b="1" i="1" spc="-25" dirty="0">
                <a:latin typeface="Arial"/>
                <a:cs typeface="Arial"/>
              </a:rPr>
              <a:t>ML</a:t>
            </a:r>
            <a:endParaRPr sz="2450">
              <a:latin typeface="Arial"/>
              <a:cs typeface="Arial"/>
            </a:endParaRPr>
          </a:p>
        </p:txBody>
      </p:sp>
      <p:grpSp>
        <p:nvGrpSpPr>
          <p:cNvPr id="16" name="object 16"/>
          <p:cNvGrpSpPr/>
          <p:nvPr/>
        </p:nvGrpSpPr>
        <p:grpSpPr>
          <a:xfrm>
            <a:off x="6400628" y="4423767"/>
            <a:ext cx="8128000" cy="3981450"/>
            <a:chOff x="6400628" y="4423767"/>
            <a:chExt cx="8128000" cy="3981450"/>
          </a:xfrm>
        </p:grpSpPr>
        <p:sp>
          <p:nvSpPr>
            <p:cNvPr id="17" name="object 17"/>
            <p:cNvSpPr/>
            <p:nvPr/>
          </p:nvSpPr>
          <p:spPr>
            <a:xfrm>
              <a:off x="6400628" y="6020759"/>
              <a:ext cx="1183005" cy="314325"/>
            </a:xfrm>
            <a:custGeom>
              <a:avLst/>
              <a:gdLst/>
              <a:ahLst/>
              <a:cxnLst/>
              <a:rect l="l" t="t" r="r" b="b"/>
              <a:pathLst>
                <a:path w="1183004" h="314325">
                  <a:moveTo>
                    <a:pt x="868673" y="0"/>
                  </a:moveTo>
                  <a:lnTo>
                    <a:pt x="868673" y="314126"/>
                  </a:lnTo>
                  <a:lnTo>
                    <a:pt x="1078090" y="209417"/>
                  </a:lnTo>
                  <a:lnTo>
                    <a:pt x="921027" y="209417"/>
                  </a:lnTo>
                  <a:lnTo>
                    <a:pt x="921027" y="104708"/>
                  </a:lnTo>
                  <a:lnTo>
                    <a:pt x="1078090" y="104708"/>
                  </a:lnTo>
                  <a:lnTo>
                    <a:pt x="868673" y="0"/>
                  </a:lnTo>
                  <a:close/>
                </a:path>
                <a:path w="1183004" h="314325">
                  <a:moveTo>
                    <a:pt x="868673" y="104708"/>
                  </a:moveTo>
                  <a:lnTo>
                    <a:pt x="0" y="104708"/>
                  </a:lnTo>
                  <a:lnTo>
                    <a:pt x="0" y="209417"/>
                  </a:lnTo>
                  <a:lnTo>
                    <a:pt x="868673" y="209417"/>
                  </a:lnTo>
                  <a:lnTo>
                    <a:pt x="868673" y="104708"/>
                  </a:lnTo>
                  <a:close/>
                </a:path>
                <a:path w="1183004" h="314325">
                  <a:moveTo>
                    <a:pt x="1078090" y="104708"/>
                  </a:moveTo>
                  <a:lnTo>
                    <a:pt x="921027" y="104708"/>
                  </a:lnTo>
                  <a:lnTo>
                    <a:pt x="921027" y="209417"/>
                  </a:lnTo>
                  <a:lnTo>
                    <a:pt x="1078090" y="209417"/>
                  </a:lnTo>
                  <a:lnTo>
                    <a:pt x="1182799" y="157063"/>
                  </a:lnTo>
                  <a:lnTo>
                    <a:pt x="1078090" y="104708"/>
                  </a:lnTo>
                  <a:close/>
                </a:path>
              </a:pathLst>
            </a:custGeom>
            <a:solidFill>
              <a:srgbClr val="19BD1B"/>
            </a:solidFill>
          </p:spPr>
          <p:txBody>
            <a:bodyPr wrap="square" lIns="0" tIns="0" rIns="0" bIns="0" rtlCol="0"/>
            <a:lstStyle/>
            <a:p>
              <a:endParaRPr/>
            </a:p>
          </p:txBody>
        </p:sp>
        <p:sp>
          <p:nvSpPr>
            <p:cNvPr id="18" name="object 18"/>
            <p:cNvSpPr/>
            <p:nvPr/>
          </p:nvSpPr>
          <p:spPr>
            <a:xfrm>
              <a:off x="10876297" y="4460597"/>
              <a:ext cx="3615690" cy="3907790"/>
            </a:xfrm>
            <a:custGeom>
              <a:avLst/>
              <a:gdLst/>
              <a:ahLst/>
              <a:cxnLst/>
              <a:rect l="l" t="t" r="r" b="b"/>
              <a:pathLst>
                <a:path w="3615690" h="3907790">
                  <a:moveTo>
                    <a:pt x="0" y="586111"/>
                  </a:moveTo>
                  <a:lnTo>
                    <a:pt x="1942" y="538041"/>
                  </a:lnTo>
                  <a:lnTo>
                    <a:pt x="7671" y="491041"/>
                  </a:lnTo>
                  <a:lnTo>
                    <a:pt x="17033" y="445262"/>
                  </a:lnTo>
                  <a:lnTo>
                    <a:pt x="29880" y="400854"/>
                  </a:lnTo>
                  <a:lnTo>
                    <a:pt x="46059" y="357970"/>
                  </a:lnTo>
                  <a:lnTo>
                    <a:pt x="65420" y="316759"/>
                  </a:lnTo>
                  <a:lnTo>
                    <a:pt x="87813" y="277372"/>
                  </a:lnTo>
                  <a:lnTo>
                    <a:pt x="113085" y="239961"/>
                  </a:lnTo>
                  <a:lnTo>
                    <a:pt x="141087" y="204676"/>
                  </a:lnTo>
                  <a:lnTo>
                    <a:pt x="171668" y="171668"/>
                  </a:lnTo>
                  <a:lnTo>
                    <a:pt x="204676" y="141087"/>
                  </a:lnTo>
                  <a:lnTo>
                    <a:pt x="239961" y="113085"/>
                  </a:lnTo>
                  <a:lnTo>
                    <a:pt x="277373" y="87812"/>
                  </a:lnTo>
                  <a:lnTo>
                    <a:pt x="316759" y="65420"/>
                  </a:lnTo>
                  <a:lnTo>
                    <a:pt x="357970" y="46059"/>
                  </a:lnTo>
                  <a:lnTo>
                    <a:pt x="400855" y="29880"/>
                  </a:lnTo>
                  <a:lnTo>
                    <a:pt x="445262" y="17033"/>
                  </a:lnTo>
                  <a:lnTo>
                    <a:pt x="491041" y="7671"/>
                  </a:lnTo>
                  <a:lnTo>
                    <a:pt x="538041" y="1942"/>
                  </a:lnTo>
                  <a:lnTo>
                    <a:pt x="586112" y="0"/>
                  </a:lnTo>
                  <a:lnTo>
                    <a:pt x="3029179" y="0"/>
                  </a:lnTo>
                  <a:lnTo>
                    <a:pt x="3077249" y="1942"/>
                  </a:lnTo>
                  <a:lnTo>
                    <a:pt x="3124250" y="7671"/>
                  </a:lnTo>
                  <a:lnTo>
                    <a:pt x="3170029" y="17033"/>
                  </a:lnTo>
                  <a:lnTo>
                    <a:pt x="3214436" y="29880"/>
                  </a:lnTo>
                  <a:lnTo>
                    <a:pt x="3257321" y="46059"/>
                  </a:lnTo>
                  <a:lnTo>
                    <a:pt x="3298532" y="65420"/>
                  </a:lnTo>
                  <a:lnTo>
                    <a:pt x="3337918" y="87812"/>
                  </a:lnTo>
                  <a:lnTo>
                    <a:pt x="3375329" y="113085"/>
                  </a:lnTo>
                  <a:lnTo>
                    <a:pt x="3410615" y="141087"/>
                  </a:lnTo>
                  <a:lnTo>
                    <a:pt x="3443623" y="171668"/>
                  </a:lnTo>
                  <a:lnTo>
                    <a:pt x="3474204" y="204676"/>
                  </a:lnTo>
                  <a:lnTo>
                    <a:pt x="3502206" y="239961"/>
                  </a:lnTo>
                  <a:lnTo>
                    <a:pt x="3527478" y="277372"/>
                  </a:lnTo>
                  <a:lnTo>
                    <a:pt x="3549871" y="316759"/>
                  </a:lnTo>
                  <a:lnTo>
                    <a:pt x="3569232" y="357970"/>
                  </a:lnTo>
                  <a:lnTo>
                    <a:pt x="3585411" y="400854"/>
                  </a:lnTo>
                  <a:lnTo>
                    <a:pt x="3598257" y="445262"/>
                  </a:lnTo>
                  <a:lnTo>
                    <a:pt x="3607620" y="491041"/>
                  </a:lnTo>
                  <a:lnTo>
                    <a:pt x="3613348" y="538041"/>
                  </a:lnTo>
                  <a:lnTo>
                    <a:pt x="3615291" y="586111"/>
                  </a:lnTo>
                  <a:lnTo>
                    <a:pt x="3615291" y="3321383"/>
                  </a:lnTo>
                  <a:lnTo>
                    <a:pt x="3613348" y="3369454"/>
                  </a:lnTo>
                  <a:lnTo>
                    <a:pt x="3607620" y="3416454"/>
                  </a:lnTo>
                  <a:lnTo>
                    <a:pt x="3598257" y="3462233"/>
                  </a:lnTo>
                  <a:lnTo>
                    <a:pt x="3585411" y="3506640"/>
                  </a:lnTo>
                  <a:lnTo>
                    <a:pt x="3569232" y="3549525"/>
                  </a:lnTo>
                  <a:lnTo>
                    <a:pt x="3549871" y="3590735"/>
                  </a:lnTo>
                  <a:lnTo>
                    <a:pt x="3527478" y="3630122"/>
                  </a:lnTo>
                  <a:lnTo>
                    <a:pt x="3502206" y="3667533"/>
                  </a:lnTo>
                  <a:lnTo>
                    <a:pt x="3474204" y="3702819"/>
                  </a:lnTo>
                  <a:lnTo>
                    <a:pt x="3443623" y="3735827"/>
                  </a:lnTo>
                  <a:lnTo>
                    <a:pt x="3410615" y="3766408"/>
                  </a:lnTo>
                  <a:lnTo>
                    <a:pt x="3375329" y="3794409"/>
                  </a:lnTo>
                  <a:lnTo>
                    <a:pt x="3337918" y="3819682"/>
                  </a:lnTo>
                  <a:lnTo>
                    <a:pt x="3298532" y="3842074"/>
                  </a:lnTo>
                  <a:lnTo>
                    <a:pt x="3257321" y="3861435"/>
                  </a:lnTo>
                  <a:lnTo>
                    <a:pt x="3214436" y="3877615"/>
                  </a:lnTo>
                  <a:lnTo>
                    <a:pt x="3170029" y="3890461"/>
                  </a:lnTo>
                  <a:lnTo>
                    <a:pt x="3124250" y="3899824"/>
                  </a:lnTo>
                  <a:lnTo>
                    <a:pt x="3077249" y="3905552"/>
                  </a:lnTo>
                  <a:lnTo>
                    <a:pt x="3029179" y="3907495"/>
                  </a:lnTo>
                  <a:lnTo>
                    <a:pt x="586112" y="3907495"/>
                  </a:lnTo>
                  <a:lnTo>
                    <a:pt x="538041" y="3905552"/>
                  </a:lnTo>
                  <a:lnTo>
                    <a:pt x="491041" y="3899824"/>
                  </a:lnTo>
                  <a:lnTo>
                    <a:pt x="445262" y="3890461"/>
                  </a:lnTo>
                  <a:lnTo>
                    <a:pt x="400855" y="3877615"/>
                  </a:lnTo>
                  <a:lnTo>
                    <a:pt x="357970" y="3861435"/>
                  </a:lnTo>
                  <a:lnTo>
                    <a:pt x="316759" y="3842074"/>
                  </a:lnTo>
                  <a:lnTo>
                    <a:pt x="277373" y="3819682"/>
                  </a:lnTo>
                  <a:lnTo>
                    <a:pt x="239961" y="3794409"/>
                  </a:lnTo>
                  <a:lnTo>
                    <a:pt x="204676" y="3766408"/>
                  </a:lnTo>
                  <a:lnTo>
                    <a:pt x="171668" y="3735827"/>
                  </a:lnTo>
                  <a:lnTo>
                    <a:pt x="141087" y="3702819"/>
                  </a:lnTo>
                  <a:lnTo>
                    <a:pt x="113085" y="3667533"/>
                  </a:lnTo>
                  <a:lnTo>
                    <a:pt x="87813" y="3630122"/>
                  </a:lnTo>
                  <a:lnTo>
                    <a:pt x="65420" y="3590735"/>
                  </a:lnTo>
                  <a:lnTo>
                    <a:pt x="46059" y="3549525"/>
                  </a:lnTo>
                  <a:lnTo>
                    <a:pt x="29880" y="3506640"/>
                  </a:lnTo>
                  <a:lnTo>
                    <a:pt x="17033" y="3462233"/>
                  </a:lnTo>
                  <a:lnTo>
                    <a:pt x="7671" y="3416454"/>
                  </a:lnTo>
                  <a:lnTo>
                    <a:pt x="1942" y="3369454"/>
                  </a:lnTo>
                  <a:lnTo>
                    <a:pt x="0" y="3321383"/>
                  </a:lnTo>
                  <a:lnTo>
                    <a:pt x="0" y="586111"/>
                  </a:lnTo>
                  <a:close/>
                </a:path>
              </a:pathLst>
            </a:custGeom>
            <a:ln w="73296">
              <a:solidFill>
                <a:srgbClr val="FF80E9"/>
              </a:solidFill>
            </a:ln>
          </p:spPr>
          <p:txBody>
            <a:bodyPr wrap="square" lIns="0" tIns="0" rIns="0" bIns="0" rtlCol="0"/>
            <a:lstStyle/>
            <a:p>
              <a:endParaRPr/>
            </a:p>
          </p:txBody>
        </p:sp>
      </p:grpSp>
      <p:sp>
        <p:nvSpPr>
          <p:cNvPr id="19" name="object 19"/>
          <p:cNvSpPr txBox="1"/>
          <p:nvPr/>
        </p:nvSpPr>
        <p:spPr>
          <a:xfrm>
            <a:off x="11984882" y="4641399"/>
            <a:ext cx="1397635" cy="402590"/>
          </a:xfrm>
          <a:prstGeom prst="rect">
            <a:avLst/>
          </a:prstGeom>
        </p:spPr>
        <p:txBody>
          <a:bodyPr vert="horz" wrap="square" lIns="0" tIns="15240" rIns="0" bIns="0" rtlCol="0">
            <a:spAutoFit/>
          </a:bodyPr>
          <a:lstStyle/>
          <a:p>
            <a:pPr marL="12700">
              <a:lnSpc>
                <a:spcPct val="100000"/>
              </a:lnSpc>
              <a:spcBef>
                <a:spcPts val="120"/>
              </a:spcBef>
            </a:pPr>
            <a:r>
              <a:rPr sz="2450" b="1" spc="-10" dirty="0">
                <a:latin typeface="Calibri"/>
                <a:cs typeface="Calibri"/>
              </a:rPr>
              <a:t>Evaluación</a:t>
            </a:r>
            <a:endParaRPr sz="2450">
              <a:latin typeface="Calibri"/>
              <a:cs typeface="Calibri"/>
            </a:endParaRPr>
          </a:p>
        </p:txBody>
      </p:sp>
      <p:sp>
        <p:nvSpPr>
          <p:cNvPr id="20" name="object 20"/>
          <p:cNvSpPr txBox="1"/>
          <p:nvPr/>
        </p:nvSpPr>
        <p:spPr>
          <a:xfrm>
            <a:off x="11535471" y="5273661"/>
            <a:ext cx="2297430" cy="1808480"/>
          </a:xfrm>
          <a:prstGeom prst="rect">
            <a:avLst/>
          </a:prstGeom>
          <a:solidFill>
            <a:srgbClr val="FFFFFF">
              <a:alpha val="85099"/>
            </a:srgbClr>
          </a:solidFill>
          <a:ln w="52354">
            <a:solidFill>
              <a:srgbClr val="19BD1B"/>
            </a:solidFill>
          </a:ln>
        </p:spPr>
        <p:txBody>
          <a:bodyPr vert="horz" wrap="square" lIns="0" tIns="356235" rIns="0" bIns="0" rtlCol="0">
            <a:spAutoFit/>
          </a:bodyPr>
          <a:lstStyle/>
          <a:p>
            <a:pPr>
              <a:lnSpc>
                <a:spcPct val="100000"/>
              </a:lnSpc>
              <a:spcBef>
                <a:spcPts val="2805"/>
              </a:spcBef>
            </a:pPr>
            <a:endParaRPr sz="2450">
              <a:latin typeface="Times New Roman"/>
              <a:cs typeface="Times New Roman"/>
            </a:endParaRPr>
          </a:p>
          <a:p>
            <a:pPr marL="396240" marR="388620" indent="203200">
              <a:lnSpc>
                <a:spcPct val="101000"/>
              </a:lnSpc>
            </a:pPr>
            <a:r>
              <a:rPr sz="2450" b="1" i="1" spc="-10" dirty="0">
                <a:latin typeface="Arial"/>
                <a:cs typeface="Arial"/>
              </a:rPr>
              <a:t>Modelo entrenado</a:t>
            </a:r>
            <a:endParaRPr sz="2450">
              <a:latin typeface="Arial"/>
              <a:cs typeface="Arial"/>
            </a:endParaRPr>
          </a:p>
        </p:txBody>
      </p:sp>
      <p:grpSp>
        <p:nvGrpSpPr>
          <p:cNvPr id="21" name="object 21"/>
          <p:cNvGrpSpPr/>
          <p:nvPr/>
        </p:nvGrpSpPr>
        <p:grpSpPr>
          <a:xfrm>
            <a:off x="5210630" y="4423767"/>
            <a:ext cx="13136244" cy="3981450"/>
            <a:chOff x="5210630" y="4423767"/>
            <a:chExt cx="13136244" cy="3981450"/>
          </a:xfrm>
        </p:grpSpPr>
        <p:sp>
          <p:nvSpPr>
            <p:cNvPr id="22" name="object 22"/>
            <p:cNvSpPr/>
            <p:nvPr/>
          </p:nvSpPr>
          <p:spPr>
            <a:xfrm>
              <a:off x="10232972" y="6020759"/>
              <a:ext cx="1183005" cy="314325"/>
            </a:xfrm>
            <a:custGeom>
              <a:avLst/>
              <a:gdLst/>
              <a:ahLst/>
              <a:cxnLst/>
              <a:rect l="l" t="t" r="r" b="b"/>
              <a:pathLst>
                <a:path w="1183004" h="314325">
                  <a:moveTo>
                    <a:pt x="868668" y="0"/>
                  </a:moveTo>
                  <a:lnTo>
                    <a:pt x="868668" y="314126"/>
                  </a:lnTo>
                  <a:lnTo>
                    <a:pt x="1078086" y="209417"/>
                  </a:lnTo>
                  <a:lnTo>
                    <a:pt x="921023" y="209417"/>
                  </a:lnTo>
                  <a:lnTo>
                    <a:pt x="921023" y="104708"/>
                  </a:lnTo>
                  <a:lnTo>
                    <a:pt x="1078086" y="104708"/>
                  </a:lnTo>
                  <a:lnTo>
                    <a:pt x="868668" y="0"/>
                  </a:lnTo>
                  <a:close/>
                </a:path>
                <a:path w="1183004" h="314325">
                  <a:moveTo>
                    <a:pt x="868668" y="104708"/>
                  </a:moveTo>
                  <a:lnTo>
                    <a:pt x="0" y="104708"/>
                  </a:lnTo>
                  <a:lnTo>
                    <a:pt x="0" y="209417"/>
                  </a:lnTo>
                  <a:lnTo>
                    <a:pt x="868668" y="209417"/>
                  </a:lnTo>
                  <a:lnTo>
                    <a:pt x="868668" y="104708"/>
                  </a:lnTo>
                  <a:close/>
                </a:path>
                <a:path w="1183004" h="314325">
                  <a:moveTo>
                    <a:pt x="1078086" y="104708"/>
                  </a:moveTo>
                  <a:lnTo>
                    <a:pt x="921023" y="104708"/>
                  </a:lnTo>
                  <a:lnTo>
                    <a:pt x="921023" y="209417"/>
                  </a:lnTo>
                  <a:lnTo>
                    <a:pt x="1078086" y="209417"/>
                  </a:lnTo>
                  <a:lnTo>
                    <a:pt x="1182795" y="157063"/>
                  </a:lnTo>
                  <a:lnTo>
                    <a:pt x="1078086" y="104708"/>
                  </a:lnTo>
                  <a:close/>
                </a:path>
              </a:pathLst>
            </a:custGeom>
            <a:solidFill>
              <a:srgbClr val="19BD1B"/>
            </a:solidFill>
          </p:spPr>
          <p:txBody>
            <a:bodyPr wrap="square" lIns="0" tIns="0" rIns="0" bIns="0" rtlCol="0"/>
            <a:lstStyle/>
            <a:p>
              <a:endParaRPr/>
            </a:p>
          </p:txBody>
        </p:sp>
        <p:sp>
          <p:nvSpPr>
            <p:cNvPr id="23" name="object 23"/>
            <p:cNvSpPr/>
            <p:nvPr/>
          </p:nvSpPr>
          <p:spPr>
            <a:xfrm>
              <a:off x="5210630" y="7206121"/>
              <a:ext cx="7392034" cy="789305"/>
            </a:xfrm>
            <a:custGeom>
              <a:avLst/>
              <a:gdLst/>
              <a:ahLst/>
              <a:cxnLst/>
              <a:rect l="l" t="t" r="r" b="b"/>
              <a:pathLst>
                <a:path w="7392034" h="789304">
                  <a:moveTo>
                    <a:pt x="34463" y="0"/>
                  </a:moveTo>
                  <a:lnTo>
                    <a:pt x="0" y="98874"/>
                  </a:lnTo>
                  <a:lnTo>
                    <a:pt x="120311" y="140810"/>
                  </a:lnTo>
                  <a:lnTo>
                    <a:pt x="240706" y="181508"/>
                  </a:lnTo>
                  <a:lnTo>
                    <a:pt x="360952" y="220889"/>
                  </a:lnTo>
                  <a:lnTo>
                    <a:pt x="481049" y="258952"/>
                  </a:lnTo>
                  <a:lnTo>
                    <a:pt x="600998" y="295697"/>
                  </a:lnTo>
                  <a:lnTo>
                    <a:pt x="720798" y="331123"/>
                  </a:lnTo>
                  <a:lnTo>
                    <a:pt x="840450" y="365232"/>
                  </a:lnTo>
                  <a:lnTo>
                    <a:pt x="959955" y="398023"/>
                  </a:lnTo>
                  <a:lnTo>
                    <a:pt x="1079309" y="429495"/>
                  </a:lnTo>
                  <a:lnTo>
                    <a:pt x="1198514" y="459648"/>
                  </a:lnTo>
                  <a:lnTo>
                    <a:pt x="1317572" y="488482"/>
                  </a:lnTo>
                  <a:lnTo>
                    <a:pt x="1436479" y="515997"/>
                  </a:lnTo>
                  <a:lnTo>
                    <a:pt x="1555239" y="542193"/>
                  </a:lnTo>
                  <a:lnTo>
                    <a:pt x="1673850" y="567071"/>
                  </a:lnTo>
                  <a:lnTo>
                    <a:pt x="1792310" y="590629"/>
                  </a:lnTo>
                  <a:lnTo>
                    <a:pt x="1910622" y="612867"/>
                  </a:lnTo>
                  <a:lnTo>
                    <a:pt x="2028785" y="633784"/>
                  </a:lnTo>
                  <a:lnTo>
                    <a:pt x="2146796" y="653383"/>
                  </a:lnTo>
                  <a:lnTo>
                    <a:pt x="2264659" y="671662"/>
                  </a:lnTo>
                  <a:lnTo>
                    <a:pt x="2382373" y="688620"/>
                  </a:lnTo>
                  <a:lnTo>
                    <a:pt x="2499935" y="704258"/>
                  </a:lnTo>
                  <a:lnTo>
                    <a:pt x="2617348" y="718576"/>
                  </a:lnTo>
                  <a:lnTo>
                    <a:pt x="2734610" y="731573"/>
                  </a:lnTo>
                  <a:lnTo>
                    <a:pt x="2851723" y="743250"/>
                  </a:lnTo>
                  <a:lnTo>
                    <a:pt x="2968683" y="753606"/>
                  </a:lnTo>
                  <a:lnTo>
                    <a:pt x="3085494" y="762641"/>
                  </a:lnTo>
                  <a:lnTo>
                    <a:pt x="3202153" y="770355"/>
                  </a:lnTo>
                  <a:lnTo>
                    <a:pt x="3318661" y="776749"/>
                  </a:lnTo>
                  <a:lnTo>
                    <a:pt x="3435017" y="781821"/>
                  </a:lnTo>
                  <a:lnTo>
                    <a:pt x="3551222" y="785572"/>
                  </a:lnTo>
                  <a:lnTo>
                    <a:pt x="3667274" y="788002"/>
                  </a:lnTo>
                  <a:lnTo>
                    <a:pt x="3783175" y="789111"/>
                  </a:lnTo>
                  <a:lnTo>
                    <a:pt x="3898923" y="788897"/>
                  </a:lnTo>
                  <a:lnTo>
                    <a:pt x="4014519" y="787363"/>
                  </a:lnTo>
                  <a:lnTo>
                    <a:pt x="4129962" y="784508"/>
                  </a:lnTo>
                  <a:lnTo>
                    <a:pt x="4245251" y="780330"/>
                  </a:lnTo>
                  <a:lnTo>
                    <a:pt x="4360388" y="774831"/>
                  </a:lnTo>
                  <a:lnTo>
                    <a:pt x="4475371" y="768011"/>
                  </a:lnTo>
                  <a:lnTo>
                    <a:pt x="4590200" y="759869"/>
                  </a:lnTo>
                  <a:lnTo>
                    <a:pt x="4704875" y="750405"/>
                  </a:lnTo>
                  <a:lnTo>
                    <a:pt x="4819397" y="739620"/>
                  </a:lnTo>
                  <a:lnTo>
                    <a:pt x="4933762" y="727513"/>
                  </a:lnTo>
                  <a:lnTo>
                    <a:pt x="5047975" y="714085"/>
                  </a:lnTo>
                  <a:lnTo>
                    <a:pt x="5162031" y="699335"/>
                  </a:lnTo>
                  <a:lnTo>
                    <a:pt x="5267849" y="684404"/>
                  </a:lnTo>
                  <a:lnTo>
                    <a:pt x="3783878" y="684404"/>
                  </a:lnTo>
                  <a:lnTo>
                    <a:pt x="3669168" y="683310"/>
                  </a:lnTo>
                  <a:lnTo>
                    <a:pt x="3554460" y="680908"/>
                  </a:lnTo>
                  <a:lnTo>
                    <a:pt x="3439404" y="677199"/>
                  </a:lnTo>
                  <a:lnTo>
                    <a:pt x="3324188" y="672181"/>
                  </a:lnTo>
                  <a:lnTo>
                    <a:pt x="3209099" y="665870"/>
                  </a:lnTo>
                  <a:lnTo>
                    <a:pt x="3093328" y="658221"/>
                  </a:lnTo>
                  <a:lnTo>
                    <a:pt x="2977671" y="649279"/>
                  </a:lnTo>
                  <a:lnTo>
                    <a:pt x="2861861" y="639029"/>
                  </a:lnTo>
                  <a:lnTo>
                    <a:pt x="2745884" y="627469"/>
                  </a:lnTo>
                  <a:lnTo>
                    <a:pt x="2629764" y="614602"/>
                  </a:lnTo>
                  <a:lnTo>
                    <a:pt x="2513486" y="600426"/>
                  </a:lnTo>
                  <a:lnTo>
                    <a:pt x="2397051" y="584941"/>
                  </a:lnTo>
                  <a:lnTo>
                    <a:pt x="2280451" y="568147"/>
                  </a:lnTo>
                  <a:lnTo>
                    <a:pt x="2163694" y="550043"/>
                  </a:lnTo>
                  <a:lnTo>
                    <a:pt x="2046781" y="530630"/>
                  </a:lnTo>
                  <a:lnTo>
                    <a:pt x="1929709" y="509909"/>
                  </a:lnTo>
                  <a:lnTo>
                    <a:pt x="1812480" y="487877"/>
                  </a:lnTo>
                  <a:lnTo>
                    <a:pt x="1695093" y="464536"/>
                  </a:lnTo>
                  <a:lnTo>
                    <a:pt x="1577543" y="439885"/>
                  </a:lnTo>
                  <a:lnTo>
                    <a:pt x="1459839" y="413924"/>
                  </a:lnTo>
                  <a:lnTo>
                    <a:pt x="1341972" y="386653"/>
                  </a:lnTo>
                  <a:lnTo>
                    <a:pt x="1223947" y="358071"/>
                  </a:lnTo>
                  <a:lnTo>
                    <a:pt x="1105759" y="328179"/>
                  </a:lnTo>
                  <a:lnTo>
                    <a:pt x="987417" y="296977"/>
                  </a:lnTo>
                  <a:lnTo>
                    <a:pt x="868919" y="264465"/>
                  </a:lnTo>
                  <a:lnTo>
                    <a:pt x="750255" y="230641"/>
                  </a:lnTo>
                  <a:lnTo>
                    <a:pt x="631431" y="195506"/>
                  </a:lnTo>
                  <a:lnTo>
                    <a:pt x="512450" y="159060"/>
                  </a:lnTo>
                  <a:lnTo>
                    <a:pt x="393311" y="121303"/>
                  </a:lnTo>
                  <a:lnTo>
                    <a:pt x="274008" y="82234"/>
                  </a:lnTo>
                  <a:lnTo>
                    <a:pt x="154550" y="41854"/>
                  </a:lnTo>
                  <a:lnTo>
                    <a:pt x="34463" y="0"/>
                  </a:lnTo>
                  <a:close/>
                </a:path>
                <a:path w="7392034" h="789304">
                  <a:moveTo>
                    <a:pt x="7078421" y="134894"/>
                  </a:moveTo>
                  <a:lnTo>
                    <a:pt x="6932772" y="184257"/>
                  </a:lnTo>
                  <a:lnTo>
                    <a:pt x="6822330" y="219781"/>
                  </a:lnTo>
                  <a:lnTo>
                    <a:pt x="6711741" y="253996"/>
                  </a:lnTo>
                  <a:lnTo>
                    <a:pt x="6600999" y="286902"/>
                  </a:lnTo>
                  <a:lnTo>
                    <a:pt x="6490120" y="318499"/>
                  </a:lnTo>
                  <a:lnTo>
                    <a:pt x="6379079" y="348787"/>
                  </a:lnTo>
                  <a:lnTo>
                    <a:pt x="6267886" y="377767"/>
                  </a:lnTo>
                  <a:lnTo>
                    <a:pt x="6156545" y="405437"/>
                  </a:lnTo>
                  <a:lnTo>
                    <a:pt x="6045053" y="431801"/>
                  </a:lnTo>
                  <a:lnTo>
                    <a:pt x="5933413" y="456855"/>
                  </a:lnTo>
                  <a:lnTo>
                    <a:pt x="5821616" y="480602"/>
                  </a:lnTo>
                  <a:lnTo>
                    <a:pt x="5709672" y="503040"/>
                  </a:lnTo>
                  <a:lnTo>
                    <a:pt x="5597582" y="524169"/>
                  </a:lnTo>
                  <a:lnTo>
                    <a:pt x="5485338" y="543991"/>
                  </a:lnTo>
                  <a:lnTo>
                    <a:pt x="5372927" y="562506"/>
                  </a:lnTo>
                  <a:lnTo>
                    <a:pt x="5260375" y="579712"/>
                  </a:lnTo>
                  <a:lnTo>
                    <a:pt x="5147678" y="595611"/>
                  </a:lnTo>
                  <a:lnTo>
                    <a:pt x="5034815" y="610202"/>
                  </a:lnTo>
                  <a:lnTo>
                    <a:pt x="4921806" y="623485"/>
                  </a:lnTo>
                  <a:lnTo>
                    <a:pt x="4808632" y="635461"/>
                  </a:lnTo>
                  <a:lnTo>
                    <a:pt x="4695328" y="646129"/>
                  </a:lnTo>
                  <a:lnTo>
                    <a:pt x="4581844" y="655489"/>
                  </a:lnTo>
                  <a:lnTo>
                    <a:pt x="4468199" y="663543"/>
                  </a:lnTo>
                  <a:lnTo>
                    <a:pt x="4354411" y="670288"/>
                  </a:lnTo>
                  <a:lnTo>
                    <a:pt x="4240466" y="675726"/>
                  </a:lnTo>
                  <a:lnTo>
                    <a:pt x="4126471" y="679856"/>
                  </a:lnTo>
                  <a:lnTo>
                    <a:pt x="4012229" y="682679"/>
                  </a:lnTo>
                  <a:lnTo>
                    <a:pt x="3897833" y="684193"/>
                  </a:lnTo>
                  <a:lnTo>
                    <a:pt x="3781571" y="684404"/>
                  </a:lnTo>
                  <a:lnTo>
                    <a:pt x="5267849" y="684404"/>
                  </a:lnTo>
                  <a:lnTo>
                    <a:pt x="5389675" y="665870"/>
                  </a:lnTo>
                  <a:lnTo>
                    <a:pt x="5503274" y="647157"/>
                  </a:lnTo>
                  <a:lnTo>
                    <a:pt x="5616705" y="627121"/>
                  </a:lnTo>
                  <a:lnTo>
                    <a:pt x="5729979" y="605764"/>
                  </a:lnTo>
                  <a:lnTo>
                    <a:pt x="5843106" y="583086"/>
                  </a:lnTo>
                  <a:lnTo>
                    <a:pt x="5956066" y="559087"/>
                  </a:lnTo>
                  <a:lnTo>
                    <a:pt x="6068880" y="533768"/>
                  </a:lnTo>
                  <a:lnTo>
                    <a:pt x="6181525" y="507126"/>
                  </a:lnTo>
                  <a:lnTo>
                    <a:pt x="6294025" y="479165"/>
                  </a:lnTo>
                  <a:lnTo>
                    <a:pt x="6406356" y="449883"/>
                  </a:lnTo>
                  <a:lnTo>
                    <a:pt x="6518541" y="419280"/>
                  </a:lnTo>
                  <a:lnTo>
                    <a:pt x="6630559" y="387356"/>
                  </a:lnTo>
                  <a:lnTo>
                    <a:pt x="6742419" y="354112"/>
                  </a:lnTo>
                  <a:lnTo>
                    <a:pt x="6854123" y="319549"/>
                  </a:lnTo>
                  <a:lnTo>
                    <a:pt x="6965680" y="283664"/>
                  </a:lnTo>
                  <a:lnTo>
                    <a:pt x="7077236" y="246401"/>
                  </a:lnTo>
                  <a:lnTo>
                    <a:pt x="7113907" y="233407"/>
                  </a:lnTo>
                  <a:lnTo>
                    <a:pt x="7078421" y="134894"/>
                  </a:lnTo>
                  <a:close/>
                </a:path>
                <a:path w="7392034" h="789304">
                  <a:moveTo>
                    <a:pt x="7354269" y="117317"/>
                  </a:moveTo>
                  <a:lnTo>
                    <a:pt x="7128020" y="117317"/>
                  </a:lnTo>
                  <a:lnTo>
                    <a:pt x="7162993" y="216013"/>
                  </a:lnTo>
                  <a:lnTo>
                    <a:pt x="7113907" y="233407"/>
                  </a:lnTo>
                  <a:lnTo>
                    <a:pt x="7149485" y="332177"/>
                  </a:lnTo>
                  <a:lnTo>
                    <a:pt x="7354269" y="117317"/>
                  </a:lnTo>
                  <a:close/>
                </a:path>
                <a:path w="7392034" h="789304">
                  <a:moveTo>
                    <a:pt x="7128020" y="117317"/>
                  </a:moveTo>
                  <a:lnTo>
                    <a:pt x="7078421" y="134894"/>
                  </a:lnTo>
                  <a:lnTo>
                    <a:pt x="7113907" y="233407"/>
                  </a:lnTo>
                  <a:lnTo>
                    <a:pt x="7162993" y="216013"/>
                  </a:lnTo>
                  <a:lnTo>
                    <a:pt x="7128020" y="117317"/>
                  </a:lnTo>
                  <a:close/>
                </a:path>
                <a:path w="7392034" h="789304">
                  <a:moveTo>
                    <a:pt x="7043028" y="36640"/>
                  </a:moveTo>
                  <a:lnTo>
                    <a:pt x="7078421" y="134894"/>
                  </a:lnTo>
                  <a:lnTo>
                    <a:pt x="7128020" y="117317"/>
                  </a:lnTo>
                  <a:lnTo>
                    <a:pt x="7354269" y="117317"/>
                  </a:lnTo>
                  <a:lnTo>
                    <a:pt x="7391792" y="77948"/>
                  </a:lnTo>
                  <a:lnTo>
                    <a:pt x="7043028" y="36640"/>
                  </a:lnTo>
                  <a:close/>
                </a:path>
              </a:pathLst>
            </a:custGeom>
            <a:solidFill>
              <a:srgbClr val="FFA500"/>
            </a:solidFill>
          </p:spPr>
          <p:txBody>
            <a:bodyPr wrap="square" lIns="0" tIns="0" rIns="0" bIns="0" rtlCol="0"/>
            <a:lstStyle/>
            <a:p>
              <a:endParaRPr/>
            </a:p>
          </p:txBody>
        </p:sp>
        <p:sp>
          <p:nvSpPr>
            <p:cNvPr id="24" name="object 24"/>
            <p:cNvSpPr/>
            <p:nvPr/>
          </p:nvSpPr>
          <p:spPr>
            <a:xfrm>
              <a:off x="14694683" y="4460597"/>
              <a:ext cx="3615690" cy="3907790"/>
            </a:xfrm>
            <a:custGeom>
              <a:avLst/>
              <a:gdLst/>
              <a:ahLst/>
              <a:cxnLst/>
              <a:rect l="l" t="t" r="r" b="b"/>
              <a:pathLst>
                <a:path w="3615690" h="3907790">
                  <a:moveTo>
                    <a:pt x="0" y="586111"/>
                  </a:moveTo>
                  <a:lnTo>
                    <a:pt x="1942" y="538041"/>
                  </a:lnTo>
                  <a:lnTo>
                    <a:pt x="7671" y="491041"/>
                  </a:lnTo>
                  <a:lnTo>
                    <a:pt x="17033" y="445262"/>
                  </a:lnTo>
                  <a:lnTo>
                    <a:pt x="29880" y="400854"/>
                  </a:lnTo>
                  <a:lnTo>
                    <a:pt x="46059" y="357970"/>
                  </a:lnTo>
                  <a:lnTo>
                    <a:pt x="65420" y="316759"/>
                  </a:lnTo>
                  <a:lnTo>
                    <a:pt x="87813" y="277372"/>
                  </a:lnTo>
                  <a:lnTo>
                    <a:pt x="113085" y="239961"/>
                  </a:lnTo>
                  <a:lnTo>
                    <a:pt x="141087" y="204676"/>
                  </a:lnTo>
                  <a:lnTo>
                    <a:pt x="171668" y="171668"/>
                  </a:lnTo>
                  <a:lnTo>
                    <a:pt x="204676" y="141087"/>
                  </a:lnTo>
                  <a:lnTo>
                    <a:pt x="239961" y="113085"/>
                  </a:lnTo>
                  <a:lnTo>
                    <a:pt x="277373" y="87812"/>
                  </a:lnTo>
                  <a:lnTo>
                    <a:pt x="316759" y="65420"/>
                  </a:lnTo>
                  <a:lnTo>
                    <a:pt x="357970" y="46059"/>
                  </a:lnTo>
                  <a:lnTo>
                    <a:pt x="400855" y="29880"/>
                  </a:lnTo>
                  <a:lnTo>
                    <a:pt x="445262" y="17033"/>
                  </a:lnTo>
                  <a:lnTo>
                    <a:pt x="491041" y="7671"/>
                  </a:lnTo>
                  <a:lnTo>
                    <a:pt x="538041" y="1942"/>
                  </a:lnTo>
                  <a:lnTo>
                    <a:pt x="586112" y="0"/>
                  </a:lnTo>
                  <a:lnTo>
                    <a:pt x="3029179" y="0"/>
                  </a:lnTo>
                  <a:lnTo>
                    <a:pt x="3077249" y="1942"/>
                  </a:lnTo>
                  <a:lnTo>
                    <a:pt x="3124250" y="7671"/>
                  </a:lnTo>
                  <a:lnTo>
                    <a:pt x="3170029" y="17033"/>
                  </a:lnTo>
                  <a:lnTo>
                    <a:pt x="3214436" y="29880"/>
                  </a:lnTo>
                  <a:lnTo>
                    <a:pt x="3257321" y="46059"/>
                  </a:lnTo>
                  <a:lnTo>
                    <a:pt x="3298532" y="65420"/>
                  </a:lnTo>
                  <a:lnTo>
                    <a:pt x="3337918" y="87812"/>
                  </a:lnTo>
                  <a:lnTo>
                    <a:pt x="3375329" y="113085"/>
                  </a:lnTo>
                  <a:lnTo>
                    <a:pt x="3410615" y="141087"/>
                  </a:lnTo>
                  <a:lnTo>
                    <a:pt x="3443623" y="171668"/>
                  </a:lnTo>
                  <a:lnTo>
                    <a:pt x="3474204" y="204676"/>
                  </a:lnTo>
                  <a:lnTo>
                    <a:pt x="3502206" y="239961"/>
                  </a:lnTo>
                  <a:lnTo>
                    <a:pt x="3527478" y="277372"/>
                  </a:lnTo>
                  <a:lnTo>
                    <a:pt x="3549871" y="316759"/>
                  </a:lnTo>
                  <a:lnTo>
                    <a:pt x="3569232" y="357970"/>
                  </a:lnTo>
                  <a:lnTo>
                    <a:pt x="3585411" y="400854"/>
                  </a:lnTo>
                  <a:lnTo>
                    <a:pt x="3598257" y="445262"/>
                  </a:lnTo>
                  <a:lnTo>
                    <a:pt x="3607620" y="491041"/>
                  </a:lnTo>
                  <a:lnTo>
                    <a:pt x="3613348" y="538041"/>
                  </a:lnTo>
                  <a:lnTo>
                    <a:pt x="3615291" y="586111"/>
                  </a:lnTo>
                  <a:lnTo>
                    <a:pt x="3615291" y="3321383"/>
                  </a:lnTo>
                  <a:lnTo>
                    <a:pt x="3613348" y="3369454"/>
                  </a:lnTo>
                  <a:lnTo>
                    <a:pt x="3607620" y="3416454"/>
                  </a:lnTo>
                  <a:lnTo>
                    <a:pt x="3598257" y="3462233"/>
                  </a:lnTo>
                  <a:lnTo>
                    <a:pt x="3585411" y="3506640"/>
                  </a:lnTo>
                  <a:lnTo>
                    <a:pt x="3569232" y="3549525"/>
                  </a:lnTo>
                  <a:lnTo>
                    <a:pt x="3549871" y="3590735"/>
                  </a:lnTo>
                  <a:lnTo>
                    <a:pt x="3527478" y="3630122"/>
                  </a:lnTo>
                  <a:lnTo>
                    <a:pt x="3502206" y="3667533"/>
                  </a:lnTo>
                  <a:lnTo>
                    <a:pt x="3474204" y="3702819"/>
                  </a:lnTo>
                  <a:lnTo>
                    <a:pt x="3443623" y="3735827"/>
                  </a:lnTo>
                  <a:lnTo>
                    <a:pt x="3410615" y="3766408"/>
                  </a:lnTo>
                  <a:lnTo>
                    <a:pt x="3375329" y="3794409"/>
                  </a:lnTo>
                  <a:lnTo>
                    <a:pt x="3337918" y="3819682"/>
                  </a:lnTo>
                  <a:lnTo>
                    <a:pt x="3298532" y="3842074"/>
                  </a:lnTo>
                  <a:lnTo>
                    <a:pt x="3257321" y="3861435"/>
                  </a:lnTo>
                  <a:lnTo>
                    <a:pt x="3214436" y="3877615"/>
                  </a:lnTo>
                  <a:lnTo>
                    <a:pt x="3170029" y="3890461"/>
                  </a:lnTo>
                  <a:lnTo>
                    <a:pt x="3124250" y="3899824"/>
                  </a:lnTo>
                  <a:lnTo>
                    <a:pt x="3077249" y="3905552"/>
                  </a:lnTo>
                  <a:lnTo>
                    <a:pt x="3029179" y="3907495"/>
                  </a:lnTo>
                  <a:lnTo>
                    <a:pt x="586112" y="3907495"/>
                  </a:lnTo>
                  <a:lnTo>
                    <a:pt x="538041" y="3905552"/>
                  </a:lnTo>
                  <a:lnTo>
                    <a:pt x="491041" y="3899824"/>
                  </a:lnTo>
                  <a:lnTo>
                    <a:pt x="445262" y="3890461"/>
                  </a:lnTo>
                  <a:lnTo>
                    <a:pt x="400855" y="3877615"/>
                  </a:lnTo>
                  <a:lnTo>
                    <a:pt x="357970" y="3861435"/>
                  </a:lnTo>
                  <a:lnTo>
                    <a:pt x="316759" y="3842074"/>
                  </a:lnTo>
                  <a:lnTo>
                    <a:pt x="277373" y="3819682"/>
                  </a:lnTo>
                  <a:lnTo>
                    <a:pt x="239961" y="3794409"/>
                  </a:lnTo>
                  <a:lnTo>
                    <a:pt x="204676" y="3766408"/>
                  </a:lnTo>
                  <a:lnTo>
                    <a:pt x="171668" y="3735827"/>
                  </a:lnTo>
                  <a:lnTo>
                    <a:pt x="141087" y="3702819"/>
                  </a:lnTo>
                  <a:lnTo>
                    <a:pt x="113085" y="3667533"/>
                  </a:lnTo>
                  <a:lnTo>
                    <a:pt x="87813" y="3630122"/>
                  </a:lnTo>
                  <a:lnTo>
                    <a:pt x="65420" y="3590735"/>
                  </a:lnTo>
                  <a:lnTo>
                    <a:pt x="46059" y="3549525"/>
                  </a:lnTo>
                  <a:lnTo>
                    <a:pt x="29880" y="3506640"/>
                  </a:lnTo>
                  <a:lnTo>
                    <a:pt x="17033" y="3462233"/>
                  </a:lnTo>
                  <a:lnTo>
                    <a:pt x="7671" y="3416454"/>
                  </a:lnTo>
                  <a:lnTo>
                    <a:pt x="1942" y="3369454"/>
                  </a:lnTo>
                  <a:lnTo>
                    <a:pt x="0" y="3321383"/>
                  </a:lnTo>
                  <a:lnTo>
                    <a:pt x="0" y="586111"/>
                  </a:lnTo>
                  <a:close/>
                </a:path>
              </a:pathLst>
            </a:custGeom>
            <a:ln w="73296">
              <a:solidFill>
                <a:srgbClr val="FF80E9"/>
              </a:solidFill>
            </a:ln>
          </p:spPr>
          <p:txBody>
            <a:bodyPr wrap="square" lIns="0" tIns="0" rIns="0" bIns="0" rtlCol="0"/>
            <a:lstStyle/>
            <a:p>
              <a:endParaRPr/>
            </a:p>
          </p:txBody>
        </p:sp>
      </p:grpSp>
      <p:sp>
        <p:nvSpPr>
          <p:cNvPr id="25" name="object 25"/>
          <p:cNvSpPr txBox="1"/>
          <p:nvPr/>
        </p:nvSpPr>
        <p:spPr>
          <a:xfrm>
            <a:off x="15824860" y="4641399"/>
            <a:ext cx="1357630" cy="402590"/>
          </a:xfrm>
          <a:prstGeom prst="rect">
            <a:avLst/>
          </a:prstGeom>
        </p:spPr>
        <p:txBody>
          <a:bodyPr vert="horz" wrap="square" lIns="0" tIns="15240" rIns="0" bIns="0" rtlCol="0">
            <a:spAutoFit/>
          </a:bodyPr>
          <a:lstStyle/>
          <a:p>
            <a:pPr marL="12700">
              <a:lnSpc>
                <a:spcPct val="100000"/>
              </a:lnSpc>
              <a:spcBef>
                <a:spcPts val="120"/>
              </a:spcBef>
            </a:pPr>
            <a:r>
              <a:rPr sz="2450" b="1" spc="-10" dirty="0">
                <a:latin typeface="Calibri"/>
                <a:cs typeface="Calibri"/>
              </a:rPr>
              <a:t>Predicción</a:t>
            </a:r>
            <a:endParaRPr sz="2450">
              <a:latin typeface="Calibri"/>
              <a:cs typeface="Calibri"/>
            </a:endParaRPr>
          </a:p>
        </p:txBody>
      </p:sp>
      <p:sp>
        <p:nvSpPr>
          <p:cNvPr id="26" name="object 26"/>
          <p:cNvSpPr txBox="1"/>
          <p:nvPr/>
        </p:nvSpPr>
        <p:spPr>
          <a:xfrm>
            <a:off x="15353856" y="5754897"/>
            <a:ext cx="2297430" cy="846455"/>
          </a:xfrm>
          <a:prstGeom prst="rect">
            <a:avLst/>
          </a:prstGeom>
          <a:solidFill>
            <a:srgbClr val="9BF89C"/>
          </a:solidFill>
        </p:spPr>
        <p:txBody>
          <a:bodyPr vert="horz" wrap="square" lIns="0" tIns="66675" rIns="0" bIns="0" rtlCol="0">
            <a:spAutoFit/>
          </a:bodyPr>
          <a:lstStyle/>
          <a:p>
            <a:pPr>
              <a:lnSpc>
                <a:spcPct val="100000"/>
              </a:lnSpc>
              <a:spcBef>
                <a:spcPts val="525"/>
              </a:spcBef>
            </a:pPr>
            <a:endParaRPr sz="2450">
              <a:latin typeface="Times New Roman"/>
              <a:cs typeface="Times New Roman"/>
            </a:endParaRPr>
          </a:p>
          <a:p>
            <a:pPr marL="165100">
              <a:lnSpc>
                <a:spcPct val="100000"/>
              </a:lnSpc>
              <a:spcBef>
                <a:spcPts val="5"/>
              </a:spcBef>
            </a:pPr>
            <a:r>
              <a:rPr sz="2450" b="1" i="1" spc="-50" dirty="0">
                <a:solidFill>
                  <a:srgbClr val="404040"/>
                </a:solidFill>
                <a:latin typeface="Arial"/>
                <a:cs typeface="Arial"/>
              </a:rPr>
              <a:t>Nuevos</a:t>
            </a:r>
            <a:r>
              <a:rPr sz="2450" b="1" i="1" spc="-190" dirty="0">
                <a:solidFill>
                  <a:srgbClr val="404040"/>
                </a:solidFill>
                <a:latin typeface="Arial"/>
                <a:cs typeface="Arial"/>
              </a:rPr>
              <a:t> </a:t>
            </a:r>
            <a:r>
              <a:rPr sz="2450" b="1" i="1" spc="-20" dirty="0">
                <a:solidFill>
                  <a:srgbClr val="404040"/>
                </a:solidFill>
                <a:latin typeface="Arial"/>
                <a:cs typeface="Arial"/>
              </a:rPr>
              <a:t>datos</a:t>
            </a:r>
            <a:endParaRPr sz="2450">
              <a:latin typeface="Arial"/>
              <a:cs typeface="Arial"/>
            </a:endParaRPr>
          </a:p>
        </p:txBody>
      </p:sp>
      <p:grpSp>
        <p:nvGrpSpPr>
          <p:cNvPr id="27" name="object 27"/>
          <p:cNvGrpSpPr/>
          <p:nvPr/>
        </p:nvGrpSpPr>
        <p:grpSpPr>
          <a:xfrm>
            <a:off x="14051351" y="6020759"/>
            <a:ext cx="2630170" cy="1546225"/>
            <a:chOff x="14051351" y="6020759"/>
            <a:chExt cx="2630170" cy="1546225"/>
          </a:xfrm>
        </p:grpSpPr>
        <p:sp>
          <p:nvSpPr>
            <p:cNvPr id="28" name="object 28"/>
            <p:cNvSpPr/>
            <p:nvPr/>
          </p:nvSpPr>
          <p:spPr>
            <a:xfrm>
              <a:off x="14051351" y="6020759"/>
              <a:ext cx="1183005" cy="314325"/>
            </a:xfrm>
            <a:custGeom>
              <a:avLst/>
              <a:gdLst/>
              <a:ahLst/>
              <a:cxnLst/>
              <a:rect l="l" t="t" r="r" b="b"/>
              <a:pathLst>
                <a:path w="1183005" h="314325">
                  <a:moveTo>
                    <a:pt x="868675" y="0"/>
                  </a:moveTo>
                  <a:lnTo>
                    <a:pt x="868675" y="314126"/>
                  </a:lnTo>
                  <a:lnTo>
                    <a:pt x="1078092" y="209417"/>
                  </a:lnTo>
                  <a:lnTo>
                    <a:pt x="921029" y="209417"/>
                  </a:lnTo>
                  <a:lnTo>
                    <a:pt x="921029" y="104708"/>
                  </a:lnTo>
                  <a:lnTo>
                    <a:pt x="1078092" y="104708"/>
                  </a:lnTo>
                  <a:lnTo>
                    <a:pt x="868675" y="0"/>
                  </a:lnTo>
                  <a:close/>
                </a:path>
                <a:path w="1183005" h="314325">
                  <a:moveTo>
                    <a:pt x="868675" y="104708"/>
                  </a:moveTo>
                  <a:lnTo>
                    <a:pt x="0" y="104708"/>
                  </a:lnTo>
                  <a:lnTo>
                    <a:pt x="0" y="209417"/>
                  </a:lnTo>
                  <a:lnTo>
                    <a:pt x="868675" y="209417"/>
                  </a:lnTo>
                  <a:lnTo>
                    <a:pt x="868675" y="104708"/>
                  </a:lnTo>
                  <a:close/>
                </a:path>
                <a:path w="1183005" h="314325">
                  <a:moveTo>
                    <a:pt x="1078092" y="104708"/>
                  </a:moveTo>
                  <a:lnTo>
                    <a:pt x="921029" y="104708"/>
                  </a:lnTo>
                  <a:lnTo>
                    <a:pt x="921029" y="209417"/>
                  </a:lnTo>
                  <a:lnTo>
                    <a:pt x="1078092" y="209417"/>
                  </a:lnTo>
                  <a:lnTo>
                    <a:pt x="1182801" y="157063"/>
                  </a:lnTo>
                  <a:lnTo>
                    <a:pt x="1078092" y="104708"/>
                  </a:lnTo>
                  <a:close/>
                </a:path>
              </a:pathLst>
            </a:custGeom>
            <a:solidFill>
              <a:srgbClr val="19BD1B"/>
            </a:solidFill>
          </p:spPr>
          <p:txBody>
            <a:bodyPr wrap="square" lIns="0" tIns="0" rIns="0" bIns="0" rtlCol="0"/>
            <a:lstStyle/>
            <a:p>
              <a:endParaRPr/>
            </a:p>
          </p:txBody>
        </p:sp>
        <p:sp>
          <p:nvSpPr>
            <p:cNvPr id="29" name="object 29"/>
            <p:cNvSpPr/>
            <p:nvPr/>
          </p:nvSpPr>
          <p:spPr>
            <a:xfrm>
              <a:off x="16367375" y="6917435"/>
              <a:ext cx="314325" cy="649605"/>
            </a:xfrm>
            <a:custGeom>
              <a:avLst/>
              <a:gdLst/>
              <a:ahLst/>
              <a:cxnLst/>
              <a:rect l="l" t="t" r="r" b="b"/>
              <a:pathLst>
                <a:path w="314325" h="649604">
                  <a:moveTo>
                    <a:pt x="104708" y="334910"/>
                  </a:moveTo>
                  <a:lnTo>
                    <a:pt x="0" y="334910"/>
                  </a:lnTo>
                  <a:lnTo>
                    <a:pt x="157063" y="649036"/>
                  </a:lnTo>
                  <a:lnTo>
                    <a:pt x="287949" y="387264"/>
                  </a:lnTo>
                  <a:lnTo>
                    <a:pt x="104708" y="387264"/>
                  </a:lnTo>
                  <a:lnTo>
                    <a:pt x="104708" y="334910"/>
                  </a:lnTo>
                  <a:close/>
                </a:path>
                <a:path w="314325" h="649604">
                  <a:moveTo>
                    <a:pt x="209417" y="0"/>
                  </a:moveTo>
                  <a:lnTo>
                    <a:pt x="104708" y="0"/>
                  </a:lnTo>
                  <a:lnTo>
                    <a:pt x="104708" y="387264"/>
                  </a:lnTo>
                  <a:lnTo>
                    <a:pt x="209417" y="387264"/>
                  </a:lnTo>
                  <a:lnTo>
                    <a:pt x="209417" y="0"/>
                  </a:lnTo>
                  <a:close/>
                </a:path>
                <a:path w="314325" h="649604">
                  <a:moveTo>
                    <a:pt x="314126" y="334910"/>
                  </a:moveTo>
                  <a:lnTo>
                    <a:pt x="209417" y="334910"/>
                  </a:lnTo>
                  <a:lnTo>
                    <a:pt x="209417" y="387264"/>
                  </a:lnTo>
                  <a:lnTo>
                    <a:pt x="287949" y="387264"/>
                  </a:lnTo>
                  <a:lnTo>
                    <a:pt x="314126" y="334910"/>
                  </a:lnTo>
                  <a:close/>
                </a:path>
              </a:pathLst>
            </a:custGeom>
            <a:solidFill>
              <a:srgbClr val="009002"/>
            </a:solidFill>
          </p:spPr>
          <p:txBody>
            <a:bodyPr wrap="square" lIns="0" tIns="0" rIns="0" bIns="0" rtlCol="0"/>
            <a:lstStyle/>
            <a:p>
              <a:endParaRPr/>
            </a:p>
          </p:txBody>
        </p:sp>
      </p:grpSp>
      <p:sp>
        <p:nvSpPr>
          <p:cNvPr id="30" name="object 30"/>
          <p:cNvSpPr txBox="1"/>
          <p:nvPr/>
        </p:nvSpPr>
        <p:spPr>
          <a:xfrm>
            <a:off x="15672015" y="7654640"/>
            <a:ext cx="1704975" cy="465455"/>
          </a:xfrm>
          <a:prstGeom prst="rect">
            <a:avLst/>
          </a:prstGeom>
          <a:solidFill>
            <a:srgbClr val="FFD600"/>
          </a:solidFill>
        </p:spPr>
        <p:txBody>
          <a:bodyPr vert="horz" wrap="square" lIns="0" tIns="48260" rIns="0" bIns="0" rtlCol="0">
            <a:spAutoFit/>
          </a:bodyPr>
          <a:lstStyle/>
          <a:p>
            <a:pPr marL="456565">
              <a:lnSpc>
                <a:spcPct val="100000"/>
              </a:lnSpc>
              <a:spcBef>
                <a:spcPts val="380"/>
              </a:spcBef>
            </a:pPr>
            <a:r>
              <a:rPr sz="2450" b="1" i="1" spc="-10" dirty="0">
                <a:solidFill>
                  <a:srgbClr val="404040"/>
                </a:solidFill>
                <a:latin typeface="Arial"/>
                <a:cs typeface="Arial"/>
              </a:rPr>
              <a:t>Label</a:t>
            </a:r>
            <a:endParaRPr sz="2450">
              <a:latin typeface="Arial"/>
              <a:cs typeface="Arial"/>
            </a:endParaRPr>
          </a:p>
        </p:txBody>
      </p:sp>
      <p:sp>
        <p:nvSpPr>
          <p:cNvPr id="32" name="object 32"/>
          <p:cNvSpPr txBox="1">
            <a:spLocks noGrp="1"/>
          </p:cNvSpPr>
          <p:nvPr>
            <p:ph type="sldNum" sz="quarter" idx="7"/>
          </p:nvPr>
        </p:nvSpPr>
        <p:spPr>
          <a:prstGeom prst="rect">
            <a:avLst/>
          </a:prstGeom>
        </p:spPr>
        <p:txBody>
          <a:bodyPr vert="horz" wrap="square" lIns="0" tIns="37465" rIns="0" bIns="0" rtlCol="0">
            <a:spAutoFit/>
          </a:bodyPr>
          <a:lstStyle/>
          <a:p>
            <a:pPr marL="112395">
              <a:lnSpc>
                <a:spcPct val="100000"/>
              </a:lnSpc>
              <a:spcBef>
                <a:spcPts val="295"/>
              </a:spcBef>
            </a:pPr>
            <a:fld id="{81D60167-4931-47E6-BA6A-407CBD079E47}" type="slidenum">
              <a:rPr spc="-50" dirty="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6361" y="6400089"/>
            <a:ext cx="13453110" cy="1696720"/>
          </a:xfrm>
          <a:prstGeom prst="rect">
            <a:avLst/>
          </a:prstGeom>
        </p:spPr>
        <p:txBody>
          <a:bodyPr vert="horz" wrap="square" lIns="0" tIns="14604" rIns="0" bIns="0" rtlCol="0">
            <a:spAutoFit/>
          </a:bodyPr>
          <a:lstStyle/>
          <a:p>
            <a:pPr marL="12700">
              <a:lnSpc>
                <a:spcPct val="100000"/>
              </a:lnSpc>
              <a:spcBef>
                <a:spcPts val="114"/>
              </a:spcBef>
            </a:pPr>
            <a:r>
              <a:rPr sz="10950" b="1" i="1" spc="-215" dirty="0">
                <a:latin typeface="Arial"/>
                <a:cs typeface="Arial"/>
              </a:rPr>
              <a:t>CLASIFICADOR</a:t>
            </a:r>
            <a:r>
              <a:rPr sz="10950" b="1" i="1" spc="-1655" dirty="0">
                <a:latin typeface="Arial"/>
                <a:cs typeface="Arial"/>
              </a:rPr>
              <a:t> </a:t>
            </a:r>
            <a:r>
              <a:rPr sz="10950" b="1" i="1" spc="-25" dirty="0">
                <a:latin typeface="Arial"/>
                <a:cs typeface="Arial"/>
              </a:rPr>
              <a:t>KNN</a:t>
            </a:r>
            <a:endParaRPr sz="10950"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sp>
        <p:nvSpPr>
          <p:cNvPr id="3" name="object 3"/>
          <p:cNvSpPr txBox="1"/>
          <p:nvPr/>
        </p:nvSpPr>
        <p:spPr>
          <a:xfrm>
            <a:off x="1097213" y="2834124"/>
            <a:ext cx="17951450" cy="2780633"/>
          </a:xfrm>
          <a:prstGeom prst="rect">
            <a:avLst/>
          </a:prstGeom>
        </p:spPr>
        <p:txBody>
          <a:bodyPr vert="horz" wrap="square" lIns="0" tIns="10160" rIns="0" bIns="0" rtlCol="0">
            <a:spAutoFit/>
          </a:bodyPr>
          <a:lstStyle/>
          <a:p>
            <a:pPr marL="12700" marR="5080" algn="just">
              <a:lnSpc>
                <a:spcPct val="100299"/>
              </a:lnSpc>
              <a:spcBef>
                <a:spcPts val="80"/>
              </a:spcBef>
            </a:pPr>
            <a:r>
              <a:rPr sz="3200" dirty="0">
                <a:latin typeface="Tahoma"/>
                <a:cs typeface="Tahoma"/>
              </a:rPr>
              <a:t>El clasificador de k vecinos más cercanos (KNN o k-NN), es un algoritmo que utiliza la proximidad de sus vecinos para hacer clasificaciones sobre la agrupación de un punto.</a:t>
            </a:r>
          </a:p>
          <a:p>
            <a:pPr marL="12700" marR="19685" algn="just">
              <a:lnSpc>
                <a:spcPct val="100800"/>
              </a:lnSpc>
              <a:spcBef>
                <a:spcPts val="2635"/>
              </a:spcBef>
            </a:pPr>
            <a:r>
              <a:rPr sz="3200" dirty="0">
                <a:latin typeface="Tahoma"/>
                <a:cs typeface="Tahoma"/>
              </a:rPr>
              <a:t>La idea se basa de la </a:t>
            </a:r>
            <a:r>
              <a:rPr sz="3200" b="1" dirty="0">
                <a:latin typeface="Trebuchet MS"/>
                <a:cs typeface="Trebuchet MS"/>
              </a:rPr>
              <a:t>suposición </a:t>
            </a:r>
            <a:r>
              <a:rPr sz="3200" dirty="0">
                <a:latin typeface="Tahoma"/>
                <a:cs typeface="Tahoma"/>
              </a:rPr>
              <a:t>de que se pueden encontrar puntos similares cerca uno del otro en base a votación de pluralidad (se elige la clase en función de la moda de la clase de sus vecinos). Este modelo no obtiene una salida de probabilidad, solo nos dice de que clase es.</a:t>
            </a:r>
          </a:p>
        </p:txBody>
      </p:sp>
      <p:pic>
        <p:nvPicPr>
          <p:cNvPr id="4" name="object 4"/>
          <p:cNvPicPr/>
          <p:nvPr/>
        </p:nvPicPr>
        <p:blipFill>
          <a:blip r:embed="rId2" cstate="print"/>
          <a:stretch>
            <a:fillRect/>
          </a:stretch>
        </p:blipFill>
        <p:spPr>
          <a:xfrm>
            <a:off x="3251992" y="6295212"/>
            <a:ext cx="14688139" cy="4369951"/>
          </a:xfrm>
          <a:prstGeom prst="rect">
            <a:avLst/>
          </a:prstGeom>
        </p:spPr>
      </p:pic>
      <p:sp>
        <p:nvSpPr>
          <p:cNvPr id="6" name="object 6"/>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7</a:t>
            </a:fld>
            <a:endParaRPr sz="2300">
              <a:latin typeface="Tahoma"/>
              <a:cs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p>
        </p:txBody>
      </p:sp>
      <p:sp>
        <p:nvSpPr>
          <p:cNvPr id="5" name="object 5"/>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8</a:t>
            </a:fld>
            <a:endParaRPr sz="2300">
              <a:latin typeface="Tahoma"/>
              <a:cs typeface="Tahoma"/>
            </a:endParaRPr>
          </a:p>
        </p:txBody>
      </p:sp>
      <p:sp>
        <p:nvSpPr>
          <p:cNvPr id="3" name="object 3"/>
          <p:cNvSpPr txBox="1"/>
          <p:nvPr/>
        </p:nvSpPr>
        <p:spPr>
          <a:xfrm>
            <a:off x="1097213" y="3089194"/>
            <a:ext cx="17948910" cy="2686685"/>
          </a:xfrm>
          <a:prstGeom prst="rect">
            <a:avLst/>
          </a:prstGeom>
        </p:spPr>
        <p:txBody>
          <a:bodyPr vert="horz" wrap="square" lIns="0" tIns="33655" rIns="0" bIns="0" rtlCol="0">
            <a:spAutoFit/>
          </a:bodyPr>
          <a:lstStyle/>
          <a:p>
            <a:pPr marL="12700" marR="5080">
              <a:lnSpc>
                <a:spcPts val="4530"/>
              </a:lnSpc>
              <a:spcBef>
                <a:spcPts val="265"/>
              </a:spcBef>
            </a:pPr>
            <a:r>
              <a:rPr sz="3800" dirty="0">
                <a:latin typeface="Tahoma"/>
                <a:cs typeface="Tahoma"/>
              </a:rPr>
              <a:t>Como vimos, este algoritmo se fija en la distancia entre observaciones. ¿Ahora la pregunta es como medimos la distancia?</a:t>
            </a:r>
          </a:p>
          <a:p>
            <a:pPr marL="12700" marR="775970">
              <a:lnSpc>
                <a:spcPts val="4530"/>
              </a:lnSpc>
              <a:spcBef>
                <a:spcPts val="2770"/>
              </a:spcBef>
            </a:pPr>
            <a:r>
              <a:rPr sz="3800" dirty="0">
                <a:latin typeface="Tahoma"/>
                <a:cs typeface="Tahoma"/>
              </a:rPr>
              <a:t>Hay múltiples maneras de medir distancia entre dos puntos geométricos. Vamos a definir algunas.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p>
        </p:txBody>
      </p:sp>
      <p:sp>
        <p:nvSpPr>
          <p:cNvPr id="3" name="object 3"/>
          <p:cNvSpPr txBox="1"/>
          <p:nvPr/>
        </p:nvSpPr>
        <p:spPr>
          <a:xfrm>
            <a:off x="1097213" y="3089194"/>
            <a:ext cx="17957165" cy="1759456"/>
          </a:xfrm>
          <a:prstGeom prst="rect">
            <a:avLst/>
          </a:prstGeom>
        </p:spPr>
        <p:txBody>
          <a:bodyPr vert="horz" wrap="square" lIns="0" tIns="27940" rIns="0" bIns="0" rtlCol="0">
            <a:spAutoFit/>
          </a:bodyPr>
          <a:lstStyle/>
          <a:p>
            <a:pPr marL="12700" marR="5080" algn="just">
              <a:lnSpc>
                <a:spcPts val="4530"/>
              </a:lnSpc>
              <a:spcBef>
                <a:spcPts val="220"/>
              </a:spcBef>
            </a:pPr>
            <a:r>
              <a:rPr sz="3800" b="1" dirty="0">
                <a:latin typeface="Trebuchet MS"/>
                <a:cs typeface="Trebuchet MS"/>
              </a:rPr>
              <a:t>Distancia euclidiana </a:t>
            </a:r>
            <a:r>
              <a:rPr sz="3800" dirty="0">
                <a:latin typeface="Tahoma"/>
                <a:cs typeface="Tahoma"/>
              </a:rPr>
              <a:t>(modulo 2): Es la más conocida, es la mínima distancia (una recta) entre dos puntos en un espacio euclidiano. Es adecuada para datos numéricos continuos.</a:t>
            </a:r>
          </a:p>
        </p:txBody>
      </p:sp>
      <p:pic>
        <p:nvPicPr>
          <p:cNvPr id="5" name="object 5"/>
          <p:cNvPicPr/>
          <p:nvPr/>
        </p:nvPicPr>
        <p:blipFill>
          <a:blip r:embed="rId2" cstate="print"/>
          <a:stretch>
            <a:fillRect/>
          </a:stretch>
        </p:blipFill>
        <p:spPr>
          <a:xfrm>
            <a:off x="10513669" y="4877169"/>
            <a:ext cx="5990026" cy="5495035"/>
          </a:xfrm>
          <a:prstGeom prst="rect">
            <a:avLst/>
          </a:prstGeom>
        </p:spPr>
      </p:pic>
      <p:sp>
        <p:nvSpPr>
          <p:cNvPr id="11" name="object 11"/>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9</a:t>
            </a:fld>
            <a:endParaRPr sz="2300">
              <a:latin typeface="Tahoma"/>
              <a:cs typeface="Tahoma"/>
            </a:endParaRPr>
          </a:p>
        </p:txBody>
      </p:sp>
      <p:pic>
        <p:nvPicPr>
          <p:cNvPr id="13" name="Imagen 12">
            <a:extLst>
              <a:ext uri="{FF2B5EF4-FFF2-40B4-BE49-F238E27FC236}">
                <a16:creationId xmlns:a16="http://schemas.microsoft.com/office/drawing/2014/main" id="{F3DB218F-D820-0C92-A8EF-5CD58B83FC24}"/>
              </a:ext>
            </a:extLst>
          </p:cNvPr>
          <p:cNvPicPr>
            <a:picLocks noChangeAspect="1"/>
          </p:cNvPicPr>
          <p:nvPr/>
        </p:nvPicPr>
        <p:blipFill>
          <a:blip r:embed="rId3"/>
          <a:stretch>
            <a:fillRect/>
          </a:stretch>
        </p:blipFill>
        <p:spPr>
          <a:xfrm>
            <a:off x="2965450" y="5273675"/>
            <a:ext cx="4877481" cy="25435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spc="-975" dirty="0"/>
              <a:t>KNN</a:t>
            </a:r>
            <a:endParaRPr sz="8250" dirty="0"/>
          </a:p>
        </p:txBody>
      </p:sp>
      <p:pic>
        <p:nvPicPr>
          <p:cNvPr id="4" name="object 4"/>
          <p:cNvPicPr/>
          <p:nvPr/>
        </p:nvPicPr>
        <p:blipFill>
          <a:blip r:embed="rId2" cstate="print"/>
          <a:stretch>
            <a:fillRect/>
          </a:stretch>
        </p:blipFill>
        <p:spPr>
          <a:xfrm>
            <a:off x="11032951" y="6088063"/>
            <a:ext cx="4898332" cy="4493559"/>
          </a:xfrm>
          <a:prstGeom prst="rect">
            <a:avLst/>
          </a:prstGeom>
        </p:spPr>
      </p:pic>
      <p:sp>
        <p:nvSpPr>
          <p:cNvPr id="6" name="object 6"/>
          <p:cNvSpPr txBox="1"/>
          <p:nvPr/>
        </p:nvSpPr>
        <p:spPr>
          <a:xfrm>
            <a:off x="1077008" y="2669755"/>
            <a:ext cx="17879060" cy="2935419"/>
          </a:xfrm>
          <a:prstGeom prst="rect">
            <a:avLst/>
          </a:prstGeom>
        </p:spPr>
        <p:txBody>
          <a:bodyPr vert="horz" wrap="square" lIns="0" tIns="11430" rIns="0" bIns="0" rtlCol="0">
            <a:spAutoFit/>
          </a:bodyPr>
          <a:lstStyle/>
          <a:p>
            <a:pPr marL="25400" marR="17780" algn="just">
              <a:lnSpc>
                <a:spcPct val="100000"/>
              </a:lnSpc>
              <a:spcBef>
                <a:spcPts val="90"/>
              </a:spcBef>
            </a:pPr>
            <a:r>
              <a:rPr sz="3800" b="1" dirty="0">
                <a:latin typeface="Trebuchet MS"/>
                <a:cs typeface="Trebuchet MS"/>
              </a:rPr>
              <a:t>Distancia de Manhattan </a:t>
            </a:r>
            <a:r>
              <a:rPr sz="3800" dirty="0">
                <a:latin typeface="Tahoma"/>
                <a:cs typeface="Tahoma"/>
              </a:rPr>
              <a:t>(modulo 1): Es la medida del valor absoluto entre dos puntos. Se conoce también como distancia taxi o de cuadra de ciudad, ya que mide distancias como en una ciudad. Es adecuada para datos que pueden tener correlaciones no lineales y no sigue la suposición de varianzas iguales en todas las </a:t>
            </a:r>
            <a:r>
              <a:rPr sz="3800" dirty="0" err="1">
                <a:latin typeface="Tahoma"/>
                <a:cs typeface="Tahoma"/>
              </a:rPr>
              <a:t>dimensiones</a:t>
            </a:r>
            <a:r>
              <a:rPr sz="3800" dirty="0">
                <a:latin typeface="Tahoma"/>
                <a:cs typeface="Tahoma"/>
              </a:rPr>
              <a:t>.</a:t>
            </a:r>
          </a:p>
        </p:txBody>
      </p:sp>
      <p:sp>
        <p:nvSpPr>
          <p:cNvPr id="8" name="object 8"/>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10</a:t>
            </a:fld>
            <a:endParaRPr sz="2300">
              <a:latin typeface="Tahoma"/>
              <a:cs typeface="Tahoma"/>
            </a:endParaRPr>
          </a:p>
        </p:txBody>
      </p:sp>
      <p:pic>
        <p:nvPicPr>
          <p:cNvPr id="10" name="Imagen 9">
            <a:extLst>
              <a:ext uri="{FF2B5EF4-FFF2-40B4-BE49-F238E27FC236}">
                <a16:creationId xmlns:a16="http://schemas.microsoft.com/office/drawing/2014/main" id="{63FBA369-A323-39C2-0FF6-51B6D5AF2404}"/>
              </a:ext>
            </a:extLst>
          </p:cNvPr>
          <p:cNvPicPr>
            <a:picLocks noChangeAspect="1"/>
          </p:cNvPicPr>
          <p:nvPr/>
        </p:nvPicPr>
        <p:blipFill>
          <a:blip r:embed="rId3"/>
          <a:stretch>
            <a:fillRect/>
          </a:stretch>
        </p:blipFill>
        <p:spPr>
          <a:xfrm>
            <a:off x="2624706" y="6400012"/>
            <a:ext cx="5024908" cy="226931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sp>
        <p:nvSpPr>
          <p:cNvPr id="3" name="object 3"/>
          <p:cNvSpPr txBox="1"/>
          <p:nvPr/>
        </p:nvSpPr>
        <p:spPr>
          <a:xfrm>
            <a:off x="1097213" y="3089194"/>
            <a:ext cx="17441545" cy="1764664"/>
          </a:xfrm>
          <a:prstGeom prst="rect">
            <a:avLst/>
          </a:prstGeom>
        </p:spPr>
        <p:txBody>
          <a:bodyPr vert="horz" wrap="square" lIns="0" tIns="10160" rIns="0" bIns="0" rtlCol="0">
            <a:spAutoFit/>
          </a:bodyPr>
          <a:lstStyle/>
          <a:p>
            <a:pPr marL="12700" marR="5080" algn="just">
              <a:lnSpc>
                <a:spcPct val="100200"/>
              </a:lnSpc>
              <a:spcBef>
                <a:spcPts val="80"/>
              </a:spcBef>
            </a:pPr>
            <a:r>
              <a:rPr sz="3800" b="1" dirty="0">
                <a:latin typeface="Trebuchet MS"/>
                <a:cs typeface="Trebuchet MS"/>
              </a:rPr>
              <a:t>Distancia de Chebyshev </a:t>
            </a:r>
            <a:r>
              <a:rPr sz="3800" dirty="0">
                <a:latin typeface="Tahoma"/>
                <a:cs typeface="Tahoma"/>
              </a:rPr>
              <a:t>(modulo infinito): Se calcula como la diferencia máxima entre las coordenadas de dos puntos. Es adecuada cuando las dimensiones son independientes y la distancia máxima es relevante.</a:t>
            </a:r>
          </a:p>
        </p:txBody>
      </p:sp>
      <p:grpSp>
        <p:nvGrpSpPr>
          <p:cNvPr id="4" name="object 4"/>
          <p:cNvGrpSpPr/>
          <p:nvPr/>
        </p:nvGrpSpPr>
        <p:grpSpPr>
          <a:xfrm>
            <a:off x="3178703" y="4883222"/>
            <a:ext cx="13310235" cy="5468620"/>
            <a:chOff x="3178703" y="4883222"/>
            <a:chExt cx="13310235" cy="5468620"/>
          </a:xfrm>
        </p:grpSpPr>
        <p:pic>
          <p:nvPicPr>
            <p:cNvPr id="5" name="object 5"/>
            <p:cNvPicPr/>
            <p:nvPr/>
          </p:nvPicPr>
          <p:blipFill>
            <a:blip r:embed="rId2" cstate="print"/>
            <a:stretch>
              <a:fillRect/>
            </a:stretch>
          </p:blipFill>
          <p:spPr>
            <a:xfrm>
              <a:off x="10528391" y="4883222"/>
              <a:ext cx="5960551" cy="5467997"/>
            </a:xfrm>
            <a:prstGeom prst="rect">
              <a:avLst/>
            </a:prstGeom>
          </p:spPr>
        </p:pic>
        <p:sp>
          <p:nvSpPr>
            <p:cNvPr id="6" name="object 6"/>
            <p:cNvSpPr/>
            <p:nvPr/>
          </p:nvSpPr>
          <p:spPr>
            <a:xfrm>
              <a:off x="3178703" y="5922175"/>
              <a:ext cx="1080135" cy="466090"/>
            </a:xfrm>
            <a:custGeom>
              <a:avLst/>
              <a:gdLst/>
              <a:ahLst/>
              <a:cxnLst/>
              <a:rect l="l" t="t" r="r" b="b"/>
              <a:pathLst>
                <a:path w="1080135" h="466089">
                  <a:moveTo>
                    <a:pt x="931591" y="0"/>
                  </a:moveTo>
                  <a:lnTo>
                    <a:pt x="924965" y="18896"/>
                  </a:lnTo>
                  <a:lnTo>
                    <a:pt x="951914" y="30592"/>
                  </a:lnTo>
                  <a:lnTo>
                    <a:pt x="975090" y="46781"/>
                  </a:lnTo>
                  <a:lnTo>
                    <a:pt x="1010123" y="92642"/>
                  </a:lnTo>
                  <a:lnTo>
                    <a:pt x="1030737" y="154516"/>
                  </a:lnTo>
                  <a:lnTo>
                    <a:pt x="1037609" y="230441"/>
                  </a:lnTo>
                  <a:lnTo>
                    <a:pt x="1035883" y="271501"/>
                  </a:lnTo>
                  <a:lnTo>
                    <a:pt x="1022079" y="342302"/>
                  </a:lnTo>
                  <a:lnTo>
                    <a:pt x="994378" y="397596"/>
                  </a:lnTo>
                  <a:lnTo>
                    <a:pt x="952229" y="434899"/>
                  </a:lnTo>
                  <a:lnTo>
                    <a:pt x="925701" y="446648"/>
                  </a:lnTo>
                  <a:lnTo>
                    <a:pt x="931591" y="465544"/>
                  </a:lnTo>
                  <a:lnTo>
                    <a:pt x="995091" y="435758"/>
                  </a:lnTo>
                  <a:lnTo>
                    <a:pt x="1041780" y="384191"/>
                  </a:lnTo>
                  <a:lnTo>
                    <a:pt x="1070494" y="315138"/>
                  </a:lnTo>
                  <a:lnTo>
                    <a:pt x="1077672" y="275665"/>
                  </a:lnTo>
                  <a:lnTo>
                    <a:pt x="1080065" y="232895"/>
                  </a:lnTo>
                  <a:lnTo>
                    <a:pt x="1077693" y="190722"/>
                  </a:lnTo>
                  <a:lnTo>
                    <a:pt x="1070463" y="150774"/>
                  </a:lnTo>
                  <a:lnTo>
                    <a:pt x="1058461" y="114568"/>
                  </a:lnTo>
                  <a:lnTo>
                    <a:pt x="1020376" y="52986"/>
                  </a:lnTo>
                  <a:lnTo>
                    <a:pt x="965343" y="12186"/>
                  </a:lnTo>
                  <a:lnTo>
                    <a:pt x="931591" y="0"/>
                  </a:lnTo>
                  <a:close/>
                </a:path>
                <a:path w="1080135" h="466089">
                  <a:moveTo>
                    <a:pt x="148474" y="0"/>
                  </a:moveTo>
                  <a:lnTo>
                    <a:pt x="85127" y="29848"/>
                  </a:lnTo>
                  <a:lnTo>
                    <a:pt x="38407" y="81599"/>
                  </a:lnTo>
                  <a:lnTo>
                    <a:pt x="9601" y="150774"/>
                  </a:lnTo>
                  <a:lnTo>
                    <a:pt x="2400" y="190216"/>
                  </a:lnTo>
                  <a:lnTo>
                    <a:pt x="0" y="232895"/>
                  </a:lnTo>
                  <a:lnTo>
                    <a:pt x="2392" y="275665"/>
                  </a:lnTo>
                  <a:lnTo>
                    <a:pt x="9571" y="315138"/>
                  </a:lnTo>
                  <a:lnTo>
                    <a:pt x="21535" y="351313"/>
                  </a:lnTo>
                  <a:lnTo>
                    <a:pt x="59528" y="412697"/>
                  </a:lnTo>
                  <a:lnTo>
                    <a:pt x="114622" y="453374"/>
                  </a:lnTo>
                  <a:lnTo>
                    <a:pt x="148474" y="465544"/>
                  </a:lnTo>
                  <a:lnTo>
                    <a:pt x="154363" y="446648"/>
                  </a:lnTo>
                  <a:lnTo>
                    <a:pt x="127836" y="434899"/>
                  </a:lnTo>
                  <a:lnTo>
                    <a:pt x="104944" y="418548"/>
                  </a:lnTo>
                  <a:lnTo>
                    <a:pt x="70064" y="372043"/>
                  </a:lnTo>
                  <a:lnTo>
                    <a:pt x="49358" y="308788"/>
                  </a:lnTo>
                  <a:lnTo>
                    <a:pt x="42559" y="232895"/>
                  </a:lnTo>
                  <a:lnTo>
                    <a:pt x="42456" y="230441"/>
                  </a:lnTo>
                  <a:lnTo>
                    <a:pt x="44181" y="190722"/>
                  </a:lnTo>
                  <a:lnTo>
                    <a:pt x="57986" y="121823"/>
                  </a:lnTo>
                  <a:lnTo>
                    <a:pt x="85733" y="67464"/>
                  </a:lnTo>
                  <a:lnTo>
                    <a:pt x="128250" y="30592"/>
                  </a:lnTo>
                  <a:lnTo>
                    <a:pt x="155099" y="18896"/>
                  </a:lnTo>
                  <a:lnTo>
                    <a:pt x="148474" y="0"/>
                  </a:lnTo>
                  <a:close/>
                </a:path>
              </a:pathLst>
            </a:custGeom>
            <a:solidFill>
              <a:srgbClr val="000000"/>
            </a:solidFill>
          </p:spPr>
          <p:txBody>
            <a:bodyPr wrap="square" lIns="0" tIns="0" rIns="0" bIns="0" rtlCol="0"/>
            <a:lstStyle/>
            <a:p>
              <a:endParaRPr/>
            </a:p>
          </p:txBody>
        </p:sp>
      </p:grpSp>
      <p:sp>
        <p:nvSpPr>
          <p:cNvPr id="7" name="object 7"/>
          <p:cNvSpPr txBox="1"/>
          <p:nvPr/>
        </p:nvSpPr>
        <p:spPr>
          <a:xfrm>
            <a:off x="2816708" y="5782306"/>
            <a:ext cx="3112770" cy="628650"/>
          </a:xfrm>
          <a:prstGeom prst="rect">
            <a:avLst/>
          </a:prstGeom>
        </p:spPr>
        <p:txBody>
          <a:bodyPr vert="horz" wrap="square" lIns="0" tIns="13335" rIns="0" bIns="0" rtlCol="0">
            <a:spAutoFit/>
          </a:bodyPr>
          <a:lstStyle/>
          <a:p>
            <a:pPr marL="12700">
              <a:lnSpc>
                <a:spcPct val="100000"/>
              </a:lnSpc>
              <a:spcBef>
                <a:spcPts val="105"/>
              </a:spcBef>
              <a:tabLst>
                <a:tab pos="525780" algn="l"/>
                <a:tab pos="1625600" algn="l"/>
              </a:tabLst>
            </a:pPr>
            <a:r>
              <a:rPr sz="3950" spc="-50" dirty="0">
                <a:latin typeface="Cambria Math"/>
                <a:cs typeface="Cambria Math"/>
              </a:rPr>
              <a:t>𝑑</a:t>
            </a:r>
            <a:r>
              <a:rPr sz="3950" dirty="0">
                <a:latin typeface="Cambria Math"/>
                <a:cs typeface="Cambria Math"/>
              </a:rPr>
              <a:t>	𝑥,</a:t>
            </a:r>
            <a:r>
              <a:rPr sz="3950" spc="-150" dirty="0">
                <a:latin typeface="Cambria Math"/>
                <a:cs typeface="Cambria Math"/>
              </a:rPr>
              <a:t> </a:t>
            </a:r>
            <a:r>
              <a:rPr sz="3950" spc="-50" dirty="0">
                <a:latin typeface="Cambria Math"/>
                <a:cs typeface="Cambria Math"/>
              </a:rPr>
              <a:t>𝑦</a:t>
            </a:r>
            <a:r>
              <a:rPr sz="3950" dirty="0">
                <a:latin typeface="Cambria Math"/>
                <a:cs typeface="Cambria Math"/>
              </a:rPr>
              <a:t>	=</a:t>
            </a:r>
            <a:r>
              <a:rPr sz="3950" spc="204" dirty="0">
                <a:latin typeface="Cambria Math"/>
                <a:cs typeface="Cambria Math"/>
              </a:rPr>
              <a:t> </a:t>
            </a:r>
            <a:r>
              <a:rPr sz="3950" spc="-25" dirty="0">
                <a:latin typeface="Cambria Math"/>
                <a:cs typeface="Cambria Math"/>
              </a:rPr>
              <a:t>𝑚𝑎𝑥</a:t>
            </a:r>
            <a:endParaRPr sz="3950">
              <a:latin typeface="Cambria Math"/>
              <a:cs typeface="Cambria Math"/>
            </a:endParaRPr>
          </a:p>
        </p:txBody>
      </p:sp>
      <p:sp>
        <p:nvSpPr>
          <p:cNvPr id="8" name="object 8"/>
          <p:cNvSpPr/>
          <p:nvPr/>
        </p:nvSpPr>
        <p:spPr>
          <a:xfrm>
            <a:off x="5974893" y="5922181"/>
            <a:ext cx="2085339" cy="466090"/>
          </a:xfrm>
          <a:custGeom>
            <a:avLst/>
            <a:gdLst/>
            <a:ahLst/>
            <a:cxnLst/>
            <a:rect l="l" t="t" r="r" b="b"/>
            <a:pathLst>
              <a:path w="2085340" h="466089">
                <a:moveTo>
                  <a:pt x="155105" y="18897"/>
                </a:moveTo>
                <a:lnTo>
                  <a:pt x="148475" y="0"/>
                </a:lnTo>
                <a:lnTo>
                  <a:pt x="114719" y="12192"/>
                </a:lnTo>
                <a:lnTo>
                  <a:pt x="85128" y="29845"/>
                </a:lnTo>
                <a:lnTo>
                  <a:pt x="38404" y="81597"/>
                </a:lnTo>
                <a:lnTo>
                  <a:pt x="9601" y="150774"/>
                </a:lnTo>
                <a:lnTo>
                  <a:pt x="2400" y="190220"/>
                </a:lnTo>
                <a:lnTo>
                  <a:pt x="0" y="232892"/>
                </a:lnTo>
                <a:lnTo>
                  <a:pt x="2400" y="275666"/>
                </a:lnTo>
                <a:lnTo>
                  <a:pt x="9575" y="315137"/>
                </a:lnTo>
                <a:lnTo>
                  <a:pt x="21539" y="351320"/>
                </a:lnTo>
                <a:lnTo>
                  <a:pt x="59524" y="412699"/>
                </a:lnTo>
                <a:lnTo>
                  <a:pt x="114630" y="453377"/>
                </a:lnTo>
                <a:lnTo>
                  <a:pt x="148475" y="465543"/>
                </a:lnTo>
                <a:lnTo>
                  <a:pt x="154368" y="446646"/>
                </a:lnTo>
                <a:lnTo>
                  <a:pt x="127838" y="434898"/>
                </a:lnTo>
                <a:lnTo>
                  <a:pt x="104940" y="418553"/>
                </a:lnTo>
                <a:lnTo>
                  <a:pt x="70065" y="372046"/>
                </a:lnTo>
                <a:lnTo>
                  <a:pt x="49364" y="308787"/>
                </a:lnTo>
                <a:lnTo>
                  <a:pt x="42557" y="232892"/>
                </a:lnTo>
                <a:lnTo>
                  <a:pt x="42456" y="230441"/>
                </a:lnTo>
                <a:lnTo>
                  <a:pt x="44183" y="190728"/>
                </a:lnTo>
                <a:lnTo>
                  <a:pt x="57988" y="121818"/>
                </a:lnTo>
                <a:lnTo>
                  <a:pt x="85737" y="67462"/>
                </a:lnTo>
                <a:lnTo>
                  <a:pt x="128257" y="30594"/>
                </a:lnTo>
                <a:lnTo>
                  <a:pt x="155105" y="18897"/>
                </a:lnTo>
                <a:close/>
              </a:path>
              <a:path w="2085340" h="466089">
                <a:moveTo>
                  <a:pt x="262813" y="4483"/>
                </a:moveTo>
                <a:lnTo>
                  <a:pt x="225018" y="4483"/>
                </a:lnTo>
                <a:lnTo>
                  <a:pt x="225018" y="461187"/>
                </a:lnTo>
                <a:lnTo>
                  <a:pt x="262813" y="461187"/>
                </a:lnTo>
                <a:lnTo>
                  <a:pt x="262813" y="4483"/>
                </a:lnTo>
                <a:close/>
              </a:path>
              <a:path w="2085340" h="466089">
                <a:moveTo>
                  <a:pt x="1860207" y="4483"/>
                </a:moveTo>
                <a:lnTo>
                  <a:pt x="1822411" y="4483"/>
                </a:lnTo>
                <a:lnTo>
                  <a:pt x="1822411" y="461187"/>
                </a:lnTo>
                <a:lnTo>
                  <a:pt x="1860207" y="461187"/>
                </a:lnTo>
                <a:lnTo>
                  <a:pt x="1860207" y="4483"/>
                </a:lnTo>
                <a:close/>
              </a:path>
              <a:path w="2085340" h="466089">
                <a:moveTo>
                  <a:pt x="2085276" y="232892"/>
                </a:moveTo>
                <a:lnTo>
                  <a:pt x="2082901" y="190728"/>
                </a:lnTo>
                <a:lnTo>
                  <a:pt x="2082876" y="190220"/>
                </a:lnTo>
                <a:lnTo>
                  <a:pt x="2075675" y="150774"/>
                </a:lnTo>
                <a:lnTo>
                  <a:pt x="2063673" y="114566"/>
                </a:lnTo>
                <a:lnTo>
                  <a:pt x="2025586" y="52984"/>
                </a:lnTo>
                <a:lnTo>
                  <a:pt x="1970544" y="12192"/>
                </a:lnTo>
                <a:lnTo>
                  <a:pt x="1936800" y="0"/>
                </a:lnTo>
                <a:lnTo>
                  <a:pt x="1930171" y="18897"/>
                </a:lnTo>
                <a:lnTo>
                  <a:pt x="1957120" y="30594"/>
                </a:lnTo>
                <a:lnTo>
                  <a:pt x="1980298" y="46786"/>
                </a:lnTo>
                <a:lnTo>
                  <a:pt x="2015324" y="92646"/>
                </a:lnTo>
                <a:lnTo>
                  <a:pt x="2035949" y="154520"/>
                </a:lnTo>
                <a:lnTo>
                  <a:pt x="2042820" y="230441"/>
                </a:lnTo>
                <a:lnTo>
                  <a:pt x="2041093" y="271500"/>
                </a:lnTo>
                <a:lnTo>
                  <a:pt x="2027288" y="342303"/>
                </a:lnTo>
                <a:lnTo>
                  <a:pt x="1999589" y="397598"/>
                </a:lnTo>
                <a:lnTo>
                  <a:pt x="1957438" y="434898"/>
                </a:lnTo>
                <a:lnTo>
                  <a:pt x="1930908" y="446646"/>
                </a:lnTo>
                <a:lnTo>
                  <a:pt x="1936800" y="465543"/>
                </a:lnTo>
                <a:lnTo>
                  <a:pt x="2000300" y="435762"/>
                </a:lnTo>
                <a:lnTo>
                  <a:pt x="2046986" y="384187"/>
                </a:lnTo>
                <a:lnTo>
                  <a:pt x="2075700" y="315137"/>
                </a:lnTo>
                <a:lnTo>
                  <a:pt x="2082876" y="275666"/>
                </a:lnTo>
                <a:lnTo>
                  <a:pt x="2085276" y="232892"/>
                </a:lnTo>
                <a:close/>
              </a:path>
            </a:pathLst>
          </a:custGeom>
          <a:solidFill>
            <a:srgbClr val="000000"/>
          </a:solidFill>
        </p:spPr>
        <p:txBody>
          <a:bodyPr wrap="square" lIns="0" tIns="0" rIns="0" bIns="0" rtlCol="0"/>
          <a:lstStyle/>
          <a:p>
            <a:endParaRPr/>
          </a:p>
        </p:txBody>
      </p:sp>
      <p:sp>
        <p:nvSpPr>
          <p:cNvPr id="9" name="object 9"/>
          <p:cNvSpPr txBox="1"/>
          <p:nvPr/>
        </p:nvSpPr>
        <p:spPr>
          <a:xfrm>
            <a:off x="6260258" y="5782306"/>
            <a:ext cx="1483995" cy="628650"/>
          </a:xfrm>
          <a:prstGeom prst="rect">
            <a:avLst/>
          </a:prstGeom>
        </p:spPr>
        <p:txBody>
          <a:bodyPr vert="horz" wrap="square" lIns="0" tIns="13335" rIns="0" bIns="0" rtlCol="0">
            <a:spAutoFit/>
          </a:bodyPr>
          <a:lstStyle/>
          <a:p>
            <a:pPr marL="38100">
              <a:lnSpc>
                <a:spcPct val="100000"/>
              </a:lnSpc>
              <a:spcBef>
                <a:spcPts val="105"/>
              </a:spcBef>
              <a:tabLst>
                <a:tab pos="568325" algn="l"/>
              </a:tabLst>
            </a:pPr>
            <a:r>
              <a:rPr sz="3950" spc="-25" dirty="0">
                <a:latin typeface="Cambria Math"/>
                <a:cs typeface="Cambria Math"/>
              </a:rPr>
              <a:t>𝑥</a:t>
            </a:r>
            <a:r>
              <a:rPr sz="4275" spc="-37" baseline="-15594" dirty="0">
                <a:latin typeface="Cambria Math"/>
                <a:cs typeface="Cambria Math"/>
              </a:rPr>
              <a:t>𝑖</a:t>
            </a:r>
            <a:r>
              <a:rPr sz="4275" baseline="-15594" dirty="0">
                <a:latin typeface="Cambria Math"/>
                <a:cs typeface="Cambria Math"/>
              </a:rPr>
              <a:t>	</a:t>
            </a:r>
            <a:r>
              <a:rPr sz="3950" dirty="0">
                <a:latin typeface="Cambria Math"/>
                <a:cs typeface="Cambria Math"/>
              </a:rPr>
              <a:t>−</a:t>
            </a:r>
            <a:r>
              <a:rPr sz="3950" spc="-15" dirty="0">
                <a:latin typeface="Cambria Math"/>
                <a:cs typeface="Cambria Math"/>
              </a:rPr>
              <a:t> </a:t>
            </a:r>
            <a:r>
              <a:rPr sz="3950" spc="-25" dirty="0">
                <a:latin typeface="Cambria Math"/>
                <a:cs typeface="Cambria Math"/>
              </a:rPr>
              <a:t>𝑦</a:t>
            </a:r>
            <a:r>
              <a:rPr sz="4275" spc="-37" baseline="-15594" dirty="0">
                <a:latin typeface="Cambria Math"/>
                <a:cs typeface="Cambria Math"/>
              </a:rPr>
              <a:t>𝑖</a:t>
            </a:r>
            <a:endParaRPr sz="4275" baseline="-15594">
              <a:latin typeface="Cambria Math"/>
              <a:cs typeface="Cambria Math"/>
            </a:endParaRPr>
          </a:p>
        </p:txBody>
      </p:sp>
      <p:sp>
        <p:nvSpPr>
          <p:cNvPr id="11" name="object 11"/>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11</a:t>
            </a:fld>
            <a:endParaRPr sz="2300">
              <a:latin typeface="Tahoma"/>
              <a:cs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sp>
        <p:nvSpPr>
          <p:cNvPr id="3" name="object 3"/>
          <p:cNvSpPr txBox="1"/>
          <p:nvPr/>
        </p:nvSpPr>
        <p:spPr>
          <a:xfrm>
            <a:off x="1097213" y="2902434"/>
            <a:ext cx="17359630" cy="1179195"/>
          </a:xfrm>
          <a:prstGeom prst="rect">
            <a:avLst/>
          </a:prstGeom>
        </p:spPr>
        <p:txBody>
          <a:bodyPr vert="horz" wrap="square" lIns="0" tIns="27940" rIns="0" bIns="0" rtlCol="0">
            <a:spAutoFit/>
          </a:bodyPr>
          <a:lstStyle/>
          <a:p>
            <a:pPr marL="12700" marR="5080">
              <a:lnSpc>
                <a:spcPts val="4530"/>
              </a:lnSpc>
              <a:spcBef>
                <a:spcPts val="220"/>
              </a:spcBef>
            </a:pPr>
            <a:r>
              <a:rPr sz="3800" b="1" dirty="0">
                <a:latin typeface="Trebuchet MS"/>
                <a:cs typeface="Trebuchet MS"/>
              </a:rPr>
              <a:t>Distancia de Minkowski</a:t>
            </a:r>
            <a:r>
              <a:rPr sz="3800" dirty="0">
                <a:latin typeface="Tahoma"/>
                <a:cs typeface="Tahoma"/>
              </a:rPr>
              <a:t>: Es una medida generalizada que incluye las anteriores. Posee un parámetro, p, es la que permite variar el tipo de distancia.</a:t>
            </a:r>
          </a:p>
        </p:txBody>
      </p:sp>
      <p:pic>
        <p:nvPicPr>
          <p:cNvPr id="5" name="object 5"/>
          <p:cNvPicPr/>
          <p:nvPr/>
        </p:nvPicPr>
        <p:blipFill>
          <a:blip r:embed="rId2" cstate="print"/>
          <a:stretch>
            <a:fillRect/>
          </a:stretch>
        </p:blipFill>
        <p:spPr>
          <a:xfrm>
            <a:off x="11814732" y="4278990"/>
            <a:ext cx="5249379" cy="6612671"/>
          </a:xfrm>
          <a:prstGeom prst="rect">
            <a:avLst/>
          </a:prstGeom>
        </p:spPr>
      </p:pic>
      <p:sp>
        <p:nvSpPr>
          <p:cNvPr id="12" name="object 12"/>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12</a:t>
            </a:fld>
            <a:endParaRPr sz="2300">
              <a:latin typeface="Tahoma"/>
              <a:cs typeface="Tahoma"/>
            </a:endParaRPr>
          </a:p>
        </p:txBody>
      </p:sp>
      <p:pic>
        <p:nvPicPr>
          <p:cNvPr id="14" name="Imagen 13">
            <a:extLst>
              <a:ext uri="{FF2B5EF4-FFF2-40B4-BE49-F238E27FC236}">
                <a16:creationId xmlns:a16="http://schemas.microsoft.com/office/drawing/2014/main" id="{AD31E6F3-626F-F455-FAD3-9BD04AB9FCED}"/>
              </a:ext>
            </a:extLst>
          </p:cNvPr>
          <p:cNvPicPr>
            <a:picLocks noChangeAspect="1"/>
          </p:cNvPicPr>
          <p:nvPr/>
        </p:nvPicPr>
        <p:blipFill>
          <a:blip r:embed="rId3"/>
          <a:stretch>
            <a:fillRect/>
          </a:stretch>
        </p:blipFill>
        <p:spPr>
          <a:xfrm>
            <a:off x="1873677" y="5654675"/>
            <a:ext cx="8206659" cy="2438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pic>
        <p:nvPicPr>
          <p:cNvPr id="4" name="object 4"/>
          <p:cNvPicPr/>
          <p:nvPr/>
        </p:nvPicPr>
        <p:blipFill>
          <a:blip r:embed="rId2" cstate="print"/>
          <a:stretch>
            <a:fillRect/>
          </a:stretch>
        </p:blipFill>
        <p:spPr>
          <a:xfrm>
            <a:off x="11696041" y="5775368"/>
            <a:ext cx="4905651" cy="4500276"/>
          </a:xfrm>
          <a:prstGeom prst="rect">
            <a:avLst/>
          </a:prstGeom>
        </p:spPr>
      </p:pic>
      <p:sp>
        <p:nvSpPr>
          <p:cNvPr id="6" name="object 6"/>
          <p:cNvSpPr txBox="1"/>
          <p:nvPr/>
        </p:nvSpPr>
        <p:spPr>
          <a:xfrm>
            <a:off x="1084513" y="3089194"/>
            <a:ext cx="17595850" cy="3434273"/>
          </a:xfrm>
          <a:prstGeom prst="rect">
            <a:avLst/>
          </a:prstGeom>
        </p:spPr>
        <p:txBody>
          <a:bodyPr vert="horz" wrap="square" lIns="0" tIns="10160" rIns="0" bIns="0" rtlCol="0">
            <a:spAutoFit/>
          </a:bodyPr>
          <a:lstStyle/>
          <a:p>
            <a:pPr marL="25400" marR="17780" algn="just">
              <a:lnSpc>
                <a:spcPct val="100200"/>
              </a:lnSpc>
              <a:spcBef>
                <a:spcPts val="80"/>
              </a:spcBef>
            </a:pPr>
            <a:r>
              <a:rPr sz="3800" b="1" dirty="0">
                <a:latin typeface="Trebuchet MS"/>
                <a:cs typeface="Trebuchet MS"/>
              </a:rPr>
              <a:t>Distancia Coseno</a:t>
            </a:r>
            <a:r>
              <a:rPr sz="3800" dirty="0">
                <a:latin typeface="Tahoma"/>
                <a:cs typeface="Tahoma"/>
              </a:rPr>
              <a:t>: La similitud coseno mide la similitud entre dos vectores como el coseno del ángulo entre ellos, y la distancia es 1 menos la similitud coseno. Es adecuada para datos donde la magnitud de los vectores es irrelevante, pero si su orientación.</a:t>
            </a:r>
          </a:p>
          <a:p>
            <a:pPr>
              <a:lnSpc>
                <a:spcPct val="100000"/>
              </a:lnSpc>
              <a:spcBef>
                <a:spcPts val="3940"/>
              </a:spcBef>
            </a:pPr>
            <a:endParaRPr sz="3800" dirty="0">
              <a:latin typeface="Tahoma"/>
              <a:cs typeface="Tahoma"/>
            </a:endParaRPr>
          </a:p>
        </p:txBody>
      </p:sp>
      <p:sp>
        <p:nvSpPr>
          <p:cNvPr id="13" name="object 13"/>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13</a:t>
            </a:fld>
            <a:endParaRPr sz="2300">
              <a:latin typeface="Tahoma"/>
              <a:cs typeface="Tahoma"/>
            </a:endParaRPr>
          </a:p>
        </p:txBody>
      </p:sp>
      <p:pic>
        <p:nvPicPr>
          <p:cNvPr id="15" name="Imagen 14">
            <a:extLst>
              <a:ext uri="{FF2B5EF4-FFF2-40B4-BE49-F238E27FC236}">
                <a16:creationId xmlns:a16="http://schemas.microsoft.com/office/drawing/2014/main" id="{3E3F8B5E-AC25-C5FF-9083-0FF9A981ACFE}"/>
              </a:ext>
            </a:extLst>
          </p:cNvPr>
          <p:cNvPicPr>
            <a:picLocks noChangeAspect="1"/>
          </p:cNvPicPr>
          <p:nvPr/>
        </p:nvPicPr>
        <p:blipFill>
          <a:blip r:embed="rId3"/>
          <a:stretch>
            <a:fillRect/>
          </a:stretch>
        </p:blipFill>
        <p:spPr>
          <a:xfrm>
            <a:off x="2508250" y="6264275"/>
            <a:ext cx="6204610" cy="25119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sp>
        <p:nvSpPr>
          <p:cNvPr id="3" name="object 3"/>
          <p:cNvSpPr txBox="1"/>
          <p:nvPr/>
        </p:nvSpPr>
        <p:spPr>
          <a:xfrm>
            <a:off x="1097213" y="3089194"/>
            <a:ext cx="17477105" cy="2349361"/>
          </a:xfrm>
          <a:prstGeom prst="rect">
            <a:avLst/>
          </a:prstGeom>
        </p:spPr>
        <p:txBody>
          <a:bodyPr vert="horz" wrap="square" lIns="0" tIns="10160" rIns="0" bIns="0" rtlCol="0">
            <a:spAutoFit/>
          </a:bodyPr>
          <a:lstStyle/>
          <a:p>
            <a:pPr marL="12700" marR="5080">
              <a:lnSpc>
                <a:spcPct val="100200"/>
              </a:lnSpc>
              <a:spcBef>
                <a:spcPts val="80"/>
              </a:spcBef>
            </a:pPr>
            <a:r>
              <a:rPr sz="3800" b="1" dirty="0">
                <a:latin typeface="Trebuchet MS"/>
                <a:cs typeface="Trebuchet MS"/>
              </a:rPr>
              <a:t>Distancia de Canberra</a:t>
            </a:r>
            <a:r>
              <a:rPr sz="3800" dirty="0">
                <a:latin typeface="Tahoma"/>
                <a:cs typeface="Tahoma"/>
              </a:rPr>
              <a:t>: Es una métrica de distancia ponderada que se utiliza comúnmente para datos numéricos y pondera más las diferencias en las dimensiones donde los valores son pequeños. Es la distancia de Manhattan ponderada.</a:t>
            </a:r>
          </a:p>
        </p:txBody>
      </p:sp>
      <p:sp>
        <p:nvSpPr>
          <p:cNvPr id="9" name="object 9"/>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14</a:t>
            </a:fld>
            <a:endParaRPr sz="2300">
              <a:latin typeface="Tahoma"/>
              <a:cs typeface="Tahoma"/>
            </a:endParaRPr>
          </a:p>
        </p:txBody>
      </p:sp>
      <p:pic>
        <p:nvPicPr>
          <p:cNvPr id="11" name="Imagen 10">
            <a:extLst>
              <a:ext uri="{FF2B5EF4-FFF2-40B4-BE49-F238E27FC236}">
                <a16:creationId xmlns:a16="http://schemas.microsoft.com/office/drawing/2014/main" id="{5698F7EF-DB25-9A38-35AE-47862AAF416D}"/>
              </a:ext>
            </a:extLst>
          </p:cNvPr>
          <p:cNvPicPr>
            <a:picLocks noChangeAspect="1"/>
          </p:cNvPicPr>
          <p:nvPr/>
        </p:nvPicPr>
        <p:blipFill>
          <a:blip r:embed="rId2"/>
          <a:stretch>
            <a:fillRect/>
          </a:stretch>
        </p:blipFill>
        <p:spPr>
          <a:xfrm>
            <a:off x="6449483" y="5635914"/>
            <a:ext cx="7205134" cy="2819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sp>
        <p:nvSpPr>
          <p:cNvPr id="3" name="object 3"/>
          <p:cNvSpPr txBox="1"/>
          <p:nvPr/>
        </p:nvSpPr>
        <p:spPr>
          <a:xfrm>
            <a:off x="1097213" y="3074116"/>
            <a:ext cx="17921605" cy="1122359"/>
          </a:xfrm>
          <a:prstGeom prst="rect">
            <a:avLst/>
          </a:prstGeom>
        </p:spPr>
        <p:txBody>
          <a:bodyPr vert="horz" wrap="square" lIns="0" tIns="27940" rIns="0" bIns="0" rtlCol="0">
            <a:spAutoFit/>
          </a:bodyPr>
          <a:lstStyle/>
          <a:p>
            <a:pPr marL="12700" marR="5080">
              <a:lnSpc>
                <a:spcPts val="4530"/>
              </a:lnSpc>
              <a:spcBef>
                <a:spcPts val="220"/>
              </a:spcBef>
            </a:pPr>
            <a:r>
              <a:rPr sz="3200" b="1" dirty="0">
                <a:latin typeface="Trebuchet MS"/>
                <a:cs typeface="Trebuchet MS"/>
              </a:rPr>
              <a:t>Distancia de Jaccard</a:t>
            </a:r>
            <a:r>
              <a:rPr sz="3200" dirty="0">
                <a:latin typeface="Tahoma"/>
                <a:cs typeface="Tahoma"/>
              </a:rPr>
              <a:t>: Se utiliza comúnmente en conjuntos o datos binarios. Mide la similitud entre dos conjuntos como el tamaño de su intersección dividido por el tamaño de su unión.</a:t>
            </a:r>
          </a:p>
        </p:txBody>
      </p:sp>
      <p:sp>
        <p:nvSpPr>
          <p:cNvPr id="4" name="object 4"/>
          <p:cNvSpPr txBox="1"/>
          <p:nvPr/>
        </p:nvSpPr>
        <p:spPr>
          <a:xfrm>
            <a:off x="1097213" y="7066343"/>
            <a:ext cx="17241520" cy="996427"/>
          </a:xfrm>
          <a:prstGeom prst="rect">
            <a:avLst/>
          </a:prstGeom>
        </p:spPr>
        <p:txBody>
          <a:bodyPr vert="horz" wrap="square" lIns="0" tIns="11430" rIns="0" bIns="0" rtlCol="0">
            <a:spAutoFit/>
          </a:bodyPr>
          <a:lstStyle/>
          <a:p>
            <a:pPr marL="12700" marR="5080">
              <a:lnSpc>
                <a:spcPct val="100000"/>
              </a:lnSpc>
              <a:spcBef>
                <a:spcPts val="90"/>
              </a:spcBef>
            </a:pPr>
            <a:r>
              <a:rPr sz="3200" b="1" dirty="0">
                <a:latin typeface="Trebuchet MS"/>
                <a:cs typeface="Trebuchet MS"/>
              </a:rPr>
              <a:t>Distancia de Hamming</a:t>
            </a:r>
            <a:r>
              <a:rPr sz="3200" dirty="0">
                <a:latin typeface="Tahoma"/>
                <a:cs typeface="Tahoma"/>
              </a:rPr>
              <a:t>: Se usa típicamente con vectores booleanos, en donde se mide la cantidad de elementos del vector que son diferentes entre sí.</a:t>
            </a:r>
          </a:p>
        </p:txBody>
      </p:sp>
      <p:grpSp>
        <p:nvGrpSpPr>
          <p:cNvPr id="5" name="object 5"/>
          <p:cNvGrpSpPr/>
          <p:nvPr/>
        </p:nvGrpSpPr>
        <p:grpSpPr>
          <a:xfrm>
            <a:off x="2265391" y="4569806"/>
            <a:ext cx="15876905" cy="5495925"/>
            <a:chOff x="2265391" y="4569806"/>
            <a:chExt cx="15876905" cy="5495925"/>
          </a:xfrm>
        </p:grpSpPr>
        <p:pic>
          <p:nvPicPr>
            <p:cNvPr id="6" name="object 6"/>
            <p:cNvPicPr/>
            <p:nvPr/>
          </p:nvPicPr>
          <p:blipFill>
            <a:blip r:embed="rId2" cstate="print"/>
            <a:stretch>
              <a:fillRect/>
            </a:stretch>
          </p:blipFill>
          <p:spPr>
            <a:xfrm>
              <a:off x="7496431" y="8783249"/>
              <a:ext cx="6451866" cy="1282321"/>
            </a:xfrm>
            <a:prstGeom prst="rect">
              <a:avLst/>
            </a:prstGeom>
          </p:spPr>
        </p:pic>
        <p:pic>
          <p:nvPicPr>
            <p:cNvPr id="7" name="object 7"/>
            <p:cNvPicPr/>
            <p:nvPr/>
          </p:nvPicPr>
          <p:blipFill>
            <a:blip r:embed="rId3" cstate="print"/>
            <a:stretch>
              <a:fillRect/>
            </a:stretch>
          </p:blipFill>
          <p:spPr>
            <a:xfrm>
              <a:off x="12001729" y="4569806"/>
              <a:ext cx="6140388" cy="1679471"/>
            </a:xfrm>
            <a:prstGeom prst="rect">
              <a:avLst/>
            </a:prstGeom>
          </p:spPr>
        </p:pic>
        <p:sp>
          <p:nvSpPr>
            <p:cNvPr id="8" name="object 8"/>
            <p:cNvSpPr/>
            <p:nvPr/>
          </p:nvSpPr>
          <p:spPr>
            <a:xfrm>
              <a:off x="2265388" y="4788350"/>
              <a:ext cx="3218180" cy="842010"/>
            </a:xfrm>
            <a:custGeom>
              <a:avLst/>
              <a:gdLst/>
              <a:ahLst/>
              <a:cxnLst/>
              <a:rect l="l" t="t" r="r" b="b"/>
              <a:pathLst>
                <a:path w="3218179" h="842010">
                  <a:moveTo>
                    <a:pt x="155092" y="394817"/>
                  </a:moveTo>
                  <a:lnTo>
                    <a:pt x="148475" y="375920"/>
                  </a:lnTo>
                  <a:lnTo>
                    <a:pt x="114719" y="388099"/>
                  </a:lnTo>
                  <a:lnTo>
                    <a:pt x="85128" y="405765"/>
                  </a:lnTo>
                  <a:lnTo>
                    <a:pt x="38404" y="457517"/>
                  </a:lnTo>
                  <a:lnTo>
                    <a:pt x="9601" y="526694"/>
                  </a:lnTo>
                  <a:lnTo>
                    <a:pt x="2400" y="566140"/>
                  </a:lnTo>
                  <a:lnTo>
                    <a:pt x="0" y="608812"/>
                  </a:lnTo>
                  <a:lnTo>
                    <a:pt x="2387" y="651586"/>
                  </a:lnTo>
                  <a:lnTo>
                    <a:pt x="9563" y="691057"/>
                  </a:lnTo>
                  <a:lnTo>
                    <a:pt x="21539" y="727227"/>
                  </a:lnTo>
                  <a:lnTo>
                    <a:pt x="59524" y="788619"/>
                  </a:lnTo>
                  <a:lnTo>
                    <a:pt x="114617" y="829297"/>
                  </a:lnTo>
                  <a:lnTo>
                    <a:pt x="148475" y="841463"/>
                  </a:lnTo>
                  <a:lnTo>
                    <a:pt x="154355" y="822566"/>
                  </a:lnTo>
                  <a:lnTo>
                    <a:pt x="127838" y="810818"/>
                  </a:lnTo>
                  <a:lnTo>
                    <a:pt x="104940" y="794473"/>
                  </a:lnTo>
                  <a:lnTo>
                    <a:pt x="70065" y="747966"/>
                  </a:lnTo>
                  <a:lnTo>
                    <a:pt x="49352" y="684707"/>
                  </a:lnTo>
                  <a:lnTo>
                    <a:pt x="42557" y="608812"/>
                  </a:lnTo>
                  <a:lnTo>
                    <a:pt x="42456" y="606361"/>
                  </a:lnTo>
                  <a:lnTo>
                    <a:pt x="44183" y="566635"/>
                  </a:lnTo>
                  <a:lnTo>
                    <a:pt x="57988" y="497738"/>
                  </a:lnTo>
                  <a:lnTo>
                    <a:pt x="85725" y="443382"/>
                  </a:lnTo>
                  <a:lnTo>
                    <a:pt x="128244" y="406514"/>
                  </a:lnTo>
                  <a:lnTo>
                    <a:pt x="155092" y="394817"/>
                  </a:lnTo>
                  <a:close/>
                </a:path>
                <a:path w="3218179" h="842010">
                  <a:moveTo>
                    <a:pt x="1080058" y="608812"/>
                  </a:moveTo>
                  <a:lnTo>
                    <a:pt x="1077696" y="566635"/>
                  </a:lnTo>
                  <a:lnTo>
                    <a:pt x="1070457" y="526694"/>
                  </a:lnTo>
                  <a:lnTo>
                    <a:pt x="1058456" y="490486"/>
                  </a:lnTo>
                  <a:lnTo>
                    <a:pt x="1020368" y="428904"/>
                  </a:lnTo>
                  <a:lnTo>
                    <a:pt x="965339" y="388099"/>
                  </a:lnTo>
                  <a:lnTo>
                    <a:pt x="931583" y="375920"/>
                  </a:lnTo>
                  <a:lnTo>
                    <a:pt x="924966" y="394817"/>
                  </a:lnTo>
                  <a:lnTo>
                    <a:pt x="951915" y="406514"/>
                  </a:lnTo>
                  <a:lnTo>
                    <a:pt x="975093" y="422706"/>
                  </a:lnTo>
                  <a:lnTo>
                    <a:pt x="1010119" y="468566"/>
                  </a:lnTo>
                  <a:lnTo>
                    <a:pt x="1030732" y="530440"/>
                  </a:lnTo>
                  <a:lnTo>
                    <a:pt x="1035812" y="566140"/>
                  </a:lnTo>
                  <a:lnTo>
                    <a:pt x="1035888" y="566635"/>
                  </a:lnTo>
                  <a:lnTo>
                    <a:pt x="1037602" y="606361"/>
                  </a:lnTo>
                  <a:lnTo>
                    <a:pt x="1035875" y="647420"/>
                  </a:lnTo>
                  <a:lnTo>
                    <a:pt x="1022083" y="718223"/>
                  </a:lnTo>
                  <a:lnTo>
                    <a:pt x="994371" y="773518"/>
                  </a:lnTo>
                  <a:lnTo>
                    <a:pt x="952220" y="810818"/>
                  </a:lnTo>
                  <a:lnTo>
                    <a:pt x="925703" y="822566"/>
                  </a:lnTo>
                  <a:lnTo>
                    <a:pt x="931583" y="841463"/>
                  </a:lnTo>
                  <a:lnTo>
                    <a:pt x="995083" y="811682"/>
                  </a:lnTo>
                  <a:lnTo>
                    <a:pt x="1041781" y="760107"/>
                  </a:lnTo>
                  <a:lnTo>
                    <a:pt x="1070495" y="691057"/>
                  </a:lnTo>
                  <a:lnTo>
                    <a:pt x="1077671" y="651586"/>
                  </a:lnTo>
                  <a:lnTo>
                    <a:pt x="1080058" y="608812"/>
                  </a:lnTo>
                  <a:close/>
                </a:path>
                <a:path w="3218179" h="842010">
                  <a:moveTo>
                    <a:pt x="1874812" y="0"/>
                  </a:moveTo>
                  <a:lnTo>
                    <a:pt x="1837016" y="0"/>
                  </a:lnTo>
                  <a:lnTo>
                    <a:pt x="1837016" y="456704"/>
                  </a:lnTo>
                  <a:lnTo>
                    <a:pt x="1874812" y="456704"/>
                  </a:lnTo>
                  <a:lnTo>
                    <a:pt x="1874812" y="0"/>
                  </a:lnTo>
                  <a:close/>
                </a:path>
                <a:path w="3218179" h="842010">
                  <a:moveTo>
                    <a:pt x="3164192" y="0"/>
                  </a:moveTo>
                  <a:lnTo>
                    <a:pt x="3126397" y="0"/>
                  </a:lnTo>
                  <a:lnTo>
                    <a:pt x="3126397" y="456704"/>
                  </a:lnTo>
                  <a:lnTo>
                    <a:pt x="3164192" y="456704"/>
                  </a:lnTo>
                  <a:lnTo>
                    <a:pt x="3164192" y="0"/>
                  </a:lnTo>
                  <a:close/>
                </a:path>
                <a:path w="3218179" h="842010">
                  <a:moveTo>
                    <a:pt x="3217608" y="595198"/>
                  </a:moveTo>
                  <a:lnTo>
                    <a:pt x="1772627" y="595198"/>
                  </a:lnTo>
                  <a:lnTo>
                    <a:pt x="1772627" y="626618"/>
                  </a:lnTo>
                  <a:lnTo>
                    <a:pt x="3217608" y="626618"/>
                  </a:lnTo>
                  <a:lnTo>
                    <a:pt x="3217608" y="595198"/>
                  </a:lnTo>
                  <a:close/>
                </a:path>
              </a:pathLst>
            </a:custGeom>
            <a:solidFill>
              <a:srgbClr val="000000"/>
            </a:solidFill>
          </p:spPr>
          <p:txBody>
            <a:bodyPr wrap="square" lIns="0" tIns="0" rIns="0" bIns="0" rtlCol="0"/>
            <a:lstStyle/>
            <a:p>
              <a:endParaRPr/>
            </a:p>
          </p:txBody>
        </p:sp>
      </p:grpSp>
      <p:sp>
        <p:nvSpPr>
          <p:cNvPr id="9" name="object 9"/>
          <p:cNvSpPr txBox="1"/>
          <p:nvPr/>
        </p:nvSpPr>
        <p:spPr>
          <a:xfrm>
            <a:off x="1983595" y="5025889"/>
            <a:ext cx="3380104" cy="628650"/>
          </a:xfrm>
          <a:prstGeom prst="rect">
            <a:avLst/>
          </a:prstGeom>
        </p:spPr>
        <p:txBody>
          <a:bodyPr vert="horz" wrap="square" lIns="0" tIns="13335" rIns="0" bIns="0" rtlCol="0">
            <a:spAutoFit/>
          </a:bodyPr>
          <a:lstStyle/>
          <a:p>
            <a:pPr marL="38100">
              <a:lnSpc>
                <a:spcPct val="100000"/>
              </a:lnSpc>
              <a:spcBef>
                <a:spcPts val="105"/>
              </a:spcBef>
              <a:tabLst>
                <a:tab pos="445770" algn="l"/>
                <a:tab pos="1544955" algn="l"/>
                <a:tab pos="2216785" algn="l"/>
              </a:tabLst>
            </a:pPr>
            <a:r>
              <a:rPr sz="3950" spc="-50" dirty="0">
                <a:latin typeface="Cambria Math"/>
                <a:cs typeface="Cambria Math"/>
              </a:rPr>
              <a:t>𝐽</a:t>
            </a:r>
            <a:r>
              <a:rPr sz="3950" dirty="0">
                <a:latin typeface="Cambria Math"/>
                <a:cs typeface="Cambria Math"/>
              </a:rPr>
              <a:t>	𝑥,</a:t>
            </a:r>
            <a:r>
              <a:rPr sz="3950" spc="-150" dirty="0">
                <a:latin typeface="Cambria Math"/>
                <a:cs typeface="Cambria Math"/>
              </a:rPr>
              <a:t> </a:t>
            </a:r>
            <a:r>
              <a:rPr sz="3950" spc="-50" dirty="0">
                <a:latin typeface="Cambria Math"/>
                <a:cs typeface="Cambria Math"/>
              </a:rPr>
              <a:t>𝑦</a:t>
            </a:r>
            <a:r>
              <a:rPr sz="3950" dirty="0">
                <a:latin typeface="Cambria Math"/>
                <a:cs typeface="Cambria Math"/>
              </a:rPr>
              <a:t>	</a:t>
            </a:r>
            <a:r>
              <a:rPr sz="3950" spc="-50" dirty="0">
                <a:latin typeface="Cambria Math"/>
                <a:cs typeface="Cambria Math"/>
              </a:rPr>
              <a:t>=</a:t>
            </a:r>
            <a:r>
              <a:rPr sz="3950" dirty="0">
                <a:latin typeface="Cambria Math"/>
                <a:cs typeface="Cambria Math"/>
              </a:rPr>
              <a:t>	</a:t>
            </a:r>
            <a:r>
              <a:rPr sz="5925" baseline="42194" dirty="0">
                <a:latin typeface="Cambria Math"/>
                <a:cs typeface="Cambria Math"/>
              </a:rPr>
              <a:t>𝑥</a:t>
            </a:r>
            <a:r>
              <a:rPr sz="5925" spc="150" baseline="42194" dirty="0">
                <a:latin typeface="Cambria Math"/>
                <a:cs typeface="Cambria Math"/>
              </a:rPr>
              <a:t> </a:t>
            </a:r>
            <a:r>
              <a:rPr sz="5925" baseline="42194" dirty="0">
                <a:latin typeface="Cambria Math"/>
                <a:cs typeface="Cambria Math"/>
              </a:rPr>
              <a:t>∩</a:t>
            </a:r>
            <a:r>
              <a:rPr sz="5925" spc="-15" baseline="42194" dirty="0">
                <a:latin typeface="Cambria Math"/>
                <a:cs typeface="Cambria Math"/>
              </a:rPr>
              <a:t> </a:t>
            </a:r>
            <a:r>
              <a:rPr sz="5925" spc="-75" baseline="42194" dirty="0">
                <a:latin typeface="Cambria Math"/>
                <a:cs typeface="Cambria Math"/>
              </a:rPr>
              <a:t>𝑦</a:t>
            </a:r>
            <a:endParaRPr sz="5925" baseline="42194">
              <a:latin typeface="Cambria Math"/>
              <a:cs typeface="Cambria Math"/>
            </a:endParaRPr>
          </a:p>
        </p:txBody>
      </p:sp>
      <p:sp>
        <p:nvSpPr>
          <p:cNvPr id="10" name="object 10"/>
          <p:cNvSpPr/>
          <p:nvPr/>
        </p:nvSpPr>
        <p:spPr>
          <a:xfrm>
            <a:off x="4102405" y="5104224"/>
            <a:ext cx="6821805" cy="857885"/>
          </a:xfrm>
          <a:custGeom>
            <a:avLst/>
            <a:gdLst/>
            <a:ahLst/>
            <a:cxnLst/>
            <a:rect l="l" t="t" r="r" b="b"/>
            <a:pathLst>
              <a:path w="6821805" h="857885">
                <a:moveTo>
                  <a:pt x="37795" y="400748"/>
                </a:moveTo>
                <a:lnTo>
                  <a:pt x="0" y="400748"/>
                </a:lnTo>
                <a:lnTo>
                  <a:pt x="0" y="857453"/>
                </a:lnTo>
                <a:lnTo>
                  <a:pt x="37795" y="857453"/>
                </a:lnTo>
                <a:lnTo>
                  <a:pt x="37795" y="400748"/>
                </a:lnTo>
                <a:close/>
              </a:path>
              <a:path w="6821805" h="857885">
                <a:moveTo>
                  <a:pt x="1327175" y="400748"/>
                </a:moveTo>
                <a:lnTo>
                  <a:pt x="1289380" y="400748"/>
                </a:lnTo>
                <a:lnTo>
                  <a:pt x="1289380" y="857453"/>
                </a:lnTo>
                <a:lnTo>
                  <a:pt x="1327175" y="857453"/>
                </a:lnTo>
                <a:lnTo>
                  <a:pt x="1327175" y="400748"/>
                </a:lnTo>
                <a:close/>
              </a:path>
              <a:path w="6821805" h="857885">
                <a:moveTo>
                  <a:pt x="3003893" y="18897"/>
                </a:moveTo>
                <a:lnTo>
                  <a:pt x="2997263" y="0"/>
                </a:lnTo>
                <a:lnTo>
                  <a:pt x="2963519" y="12192"/>
                </a:lnTo>
                <a:lnTo>
                  <a:pt x="2933916" y="29845"/>
                </a:lnTo>
                <a:lnTo>
                  <a:pt x="2887205" y="81597"/>
                </a:lnTo>
                <a:lnTo>
                  <a:pt x="2858401" y="150774"/>
                </a:lnTo>
                <a:lnTo>
                  <a:pt x="2851200" y="190220"/>
                </a:lnTo>
                <a:lnTo>
                  <a:pt x="2848800" y="232892"/>
                </a:lnTo>
                <a:lnTo>
                  <a:pt x="2851188" y="275666"/>
                </a:lnTo>
                <a:lnTo>
                  <a:pt x="2858363" y="315137"/>
                </a:lnTo>
                <a:lnTo>
                  <a:pt x="2870327" y="351320"/>
                </a:lnTo>
                <a:lnTo>
                  <a:pt x="2908325" y="412699"/>
                </a:lnTo>
                <a:lnTo>
                  <a:pt x="2963418" y="453377"/>
                </a:lnTo>
                <a:lnTo>
                  <a:pt x="2997263" y="465543"/>
                </a:lnTo>
                <a:lnTo>
                  <a:pt x="3003156" y="446646"/>
                </a:lnTo>
                <a:lnTo>
                  <a:pt x="2976626" y="434898"/>
                </a:lnTo>
                <a:lnTo>
                  <a:pt x="2953740" y="418553"/>
                </a:lnTo>
                <a:lnTo>
                  <a:pt x="2918853" y="372046"/>
                </a:lnTo>
                <a:lnTo>
                  <a:pt x="2898152" y="308787"/>
                </a:lnTo>
                <a:lnTo>
                  <a:pt x="2891358" y="232892"/>
                </a:lnTo>
                <a:lnTo>
                  <a:pt x="2891256" y="230441"/>
                </a:lnTo>
                <a:lnTo>
                  <a:pt x="2892971" y="190728"/>
                </a:lnTo>
                <a:lnTo>
                  <a:pt x="2906776" y="121831"/>
                </a:lnTo>
                <a:lnTo>
                  <a:pt x="2934525" y="67462"/>
                </a:lnTo>
                <a:lnTo>
                  <a:pt x="2977045" y="30594"/>
                </a:lnTo>
                <a:lnTo>
                  <a:pt x="3003893" y="18897"/>
                </a:lnTo>
                <a:close/>
              </a:path>
              <a:path w="6821805" h="857885">
                <a:moveTo>
                  <a:pt x="3928859" y="232892"/>
                </a:moveTo>
                <a:lnTo>
                  <a:pt x="3926484" y="190728"/>
                </a:lnTo>
                <a:lnTo>
                  <a:pt x="3926459" y="190220"/>
                </a:lnTo>
                <a:lnTo>
                  <a:pt x="3919258" y="150774"/>
                </a:lnTo>
                <a:lnTo>
                  <a:pt x="3907256" y="114566"/>
                </a:lnTo>
                <a:lnTo>
                  <a:pt x="3869169" y="52984"/>
                </a:lnTo>
                <a:lnTo>
                  <a:pt x="3814140" y="12192"/>
                </a:lnTo>
                <a:lnTo>
                  <a:pt x="3780383" y="0"/>
                </a:lnTo>
                <a:lnTo>
                  <a:pt x="3773754" y="18897"/>
                </a:lnTo>
                <a:lnTo>
                  <a:pt x="3800703" y="30594"/>
                </a:lnTo>
                <a:lnTo>
                  <a:pt x="3823881" y="46786"/>
                </a:lnTo>
                <a:lnTo>
                  <a:pt x="3858920" y="92646"/>
                </a:lnTo>
                <a:lnTo>
                  <a:pt x="3879532" y="154520"/>
                </a:lnTo>
                <a:lnTo>
                  <a:pt x="3884612" y="190220"/>
                </a:lnTo>
                <a:lnTo>
                  <a:pt x="3884688" y="190728"/>
                </a:lnTo>
                <a:lnTo>
                  <a:pt x="3886403" y="230441"/>
                </a:lnTo>
                <a:lnTo>
                  <a:pt x="3884676" y="271500"/>
                </a:lnTo>
                <a:lnTo>
                  <a:pt x="3870871" y="342303"/>
                </a:lnTo>
                <a:lnTo>
                  <a:pt x="3843172" y="397598"/>
                </a:lnTo>
                <a:lnTo>
                  <a:pt x="3801021" y="434898"/>
                </a:lnTo>
                <a:lnTo>
                  <a:pt x="3774490" y="446646"/>
                </a:lnTo>
                <a:lnTo>
                  <a:pt x="3780383" y="465543"/>
                </a:lnTo>
                <a:lnTo>
                  <a:pt x="3843883" y="435762"/>
                </a:lnTo>
                <a:lnTo>
                  <a:pt x="3890568" y="384187"/>
                </a:lnTo>
                <a:lnTo>
                  <a:pt x="3919283" y="315137"/>
                </a:lnTo>
                <a:lnTo>
                  <a:pt x="3926471" y="275666"/>
                </a:lnTo>
                <a:lnTo>
                  <a:pt x="3928859" y="232892"/>
                </a:lnTo>
                <a:close/>
              </a:path>
              <a:path w="6821805" h="857885">
                <a:moveTo>
                  <a:pt x="5896318" y="18897"/>
                </a:moveTo>
                <a:lnTo>
                  <a:pt x="5889688" y="0"/>
                </a:lnTo>
                <a:lnTo>
                  <a:pt x="5855944" y="12192"/>
                </a:lnTo>
                <a:lnTo>
                  <a:pt x="5826341" y="29845"/>
                </a:lnTo>
                <a:lnTo>
                  <a:pt x="5779630" y="81597"/>
                </a:lnTo>
                <a:lnTo>
                  <a:pt x="5750826" y="150774"/>
                </a:lnTo>
                <a:lnTo>
                  <a:pt x="5743626" y="190220"/>
                </a:lnTo>
                <a:lnTo>
                  <a:pt x="5741225" y="232892"/>
                </a:lnTo>
                <a:lnTo>
                  <a:pt x="5743613" y="275666"/>
                </a:lnTo>
                <a:lnTo>
                  <a:pt x="5750788" y="315137"/>
                </a:lnTo>
                <a:lnTo>
                  <a:pt x="5762752" y="351320"/>
                </a:lnTo>
                <a:lnTo>
                  <a:pt x="5800750" y="412699"/>
                </a:lnTo>
                <a:lnTo>
                  <a:pt x="5855843" y="453377"/>
                </a:lnTo>
                <a:lnTo>
                  <a:pt x="5889688" y="465543"/>
                </a:lnTo>
                <a:lnTo>
                  <a:pt x="5895581" y="446646"/>
                </a:lnTo>
                <a:lnTo>
                  <a:pt x="5869051" y="434898"/>
                </a:lnTo>
                <a:lnTo>
                  <a:pt x="5846165" y="418553"/>
                </a:lnTo>
                <a:lnTo>
                  <a:pt x="5811278" y="372046"/>
                </a:lnTo>
                <a:lnTo>
                  <a:pt x="5790577" y="308787"/>
                </a:lnTo>
                <a:lnTo>
                  <a:pt x="5783783" y="232892"/>
                </a:lnTo>
                <a:lnTo>
                  <a:pt x="5783681" y="230441"/>
                </a:lnTo>
                <a:lnTo>
                  <a:pt x="5785396" y="190728"/>
                </a:lnTo>
                <a:lnTo>
                  <a:pt x="5799201" y="121831"/>
                </a:lnTo>
                <a:lnTo>
                  <a:pt x="5826950" y="67462"/>
                </a:lnTo>
                <a:lnTo>
                  <a:pt x="5869470" y="30594"/>
                </a:lnTo>
                <a:lnTo>
                  <a:pt x="5896318" y="18897"/>
                </a:lnTo>
                <a:close/>
              </a:path>
              <a:path w="6821805" h="857885">
                <a:moveTo>
                  <a:pt x="6821284" y="232892"/>
                </a:moveTo>
                <a:lnTo>
                  <a:pt x="6818909" y="190728"/>
                </a:lnTo>
                <a:lnTo>
                  <a:pt x="6818884" y="190220"/>
                </a:lnTo>
                <a:lnTo>
                  <a:pt x="6811683" y="150774"/>
                </a:lnTo>
                <a:lnTo>
                  <a:pt x="6799681" y="114566"/>
                </a:lnTo>
                <a:lnTo>
                  <a:pt x="6761594" y="52984"/>
                </a:lnTo>
                <a:lnTo>
                  <a:pt x="6706565" y="12192"/>
                </a:lnTo>
                <a:lnTo>
                  <a:pt x="6672808" y="0"/>
                </a:lnTo>
                <a:lnTo>
                  <a:pt x="6666179" y="18897"/>
                </a:lnTo>
                <a:lnTo>
                  <a:pt x="6693128" y="30594"/>
                </a:lnTo>
                <a:lnTo>
                  <a:pt x="6716306" y="46786"/>
                </a:lnTo>
                <a:lnTo>
                  <a:pt x="6751345" y="92646"/>
                </a:lnTo>
                <a:lnTo>
                  <a:pt x="6771957" y="154520"/>
                </a:lnTo>
                <a:lnTo>
                  <a:pt x="6777037" y="190220"/>
                </a:lnTo>
                <a:lnTo>
                  <a:pt x="6777114" y="190728"/>
                </a:lnTo>
                <a:lnTo>
                  <a:pt x="6778828" y="230441"/>
                </a:lnTo>
                <a:lnTo>
                  <a:pt x="6777101" y="271500"/>
                </a:lnTo>
                <a:lnTo>
                  <a:pt x="6763296" y="342303"/>
                </a:lnTo>
                <a:lnTo>
                  <a:pt x="6735597" y="397598"/>
                </a:lnTo>
                <a:lnTo>
                  <a:pt x="6693446" y="434898"/>
                </a:lnTo>
                <a:lnTo>
                  <a:pt x="6666916" y="446646"/>
                </a:lnTo>
                <a:lnTo>
                  <a:pt x="6672808" y="465543"/>
                </a:lnTo>
                <a:lnTo>
                  <a:pt x="6736308" y="435762"/>
                </a:lnTo>
                <a:lnTo>
                  <a:pt x="6782994" y="384187"/>
                </a:lnTo>
                <a:lnTo>
                  <a:pt x="6811721" y="315137"/>
                </a:lnTo>
                <a:lnTo>
                  <a:pt x="6818897" y="275666"/>
                </a:lnTo>
                <a:lnTo>
                  <a:pt x="6821284" y="232892"/>
                </a:lnTo>
                <a:close/>
              </a:path>
            </a:pathLst>
          </a:custGeom>
          <a:solidFill>
            <a:srgbClr val="000000"/>
          </a:solidFill>
        </p:spPr>
        <p:txBody>
          <a:bodyPr wrap="square" lIns="0" tIns="0" rIns="0" bIns="0" rtlCol="0"/>
          <a:lstStyle/>
          <a:p>
            <a:endParaRPr/>
          </a:p>
        </p:txBody>
      </p:sp>
      <p:sp>
        <p:nvSpPr>
          <p:cNvPr id="11" name="object 11"/>
          <p:cNvSpPr txBox="1"/>
          <p:nvPr/>
        </p:nvSpPr>
        <p:spPr>
          <a:xfrm>
            <a:off x="4188143" y="5362633"/>
            <a:ext cx="1149985" cy="628650"/>
          </a:xfrm>
          <a:prstGeom prst="rect">
            <a:avLst/>
          </a:prstGeom>
        </p:spPr>
        <p:txBody>
          <a:bodyPr vert="horz" wrap="square" lIns="0" tIns="13335" rIns="0" bIns="0" rtlCol="0">
            <a:spAutoFit/>
          </a:bodyPr>
          <a:lstStyle/>
          <a:p>
            <a:pPr marL="12700">
              <a:lnSpc>
                <a:spcPct val="100000"/>
              </a:lnSpc>
              <a:spcBef>
                <a:spcPts val="105"/>
              </a:spcBef>
            </a:pPr>
            <a:r>
              <a:rPr sz="3950" dirty="0">
                <a:latin typeface="Cambria Math"/>
                <a:cs typeface="Cambria Math"/>
              </a:rPr>
              <a:t>𝑥</a:t>
            </a:r>
            <a:r>
              <a:rPr sz="3950" spc="100" dirty="0">
                <a:latin typeface="Cambria Math"/>
                <a:cs typeface="Cambria Math"/>
              </a:rPr>
              <a:t> </a:t>
            </a:r>
            <a:r>
              <a:rPr sz="3950" dirty="0">
                <a:latin typeface="Cambria Math"/>
                <a:cs typeface="Cambria Math"/>
              </a:rPr>
              <a:t>∪</a:t>
            </a:r>
            <a:r>
              <a:rPr sz="3950" spc="-10" dirty="0">
                <a:latin typeface="Cambria Math"/>
                <a:cs typeface="Cambria Math"/>
              </a:rPr>
              <a:t> </a:t>
            </a:r>
            <a:r>
              <a:rPr sz="3950" spc="-50" dirty="0">
                <a:latin typeface="Cambria Math"/>
                <a:cs typeface="Cambria Math"/>
              </a:rPr>
              <a:t>𝑦</a:t>
            </a:r>
            <a:endParaRPr sz="3950">
              <a:latin typeface="Cambria Math"/>
              <a:cs typeface="Cambria Math"/>
            </a:endParaRPr>
          </a:p>
        </p:txBody>
      </p:sp>
      <p:sp>
        <p:nvSpPr>
          <p:cNvPr id="14" name="object 14"/>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15</a:t>
            </a:fld>
            <a:endParaRPr sz="2300">
              <a:latin typeface="Tahoma"/>
              <a:cs typeface="Tahoma"/>
            </a:endParaRPr>
          </a:p>
        </p:txBody>
      </p:sp>
      <p:sp>
        <p:nvSpPr>
          <p:cNvPr id="12" name="object 12"/>
          <p:cNvSpPr txBox="1"/>
          <p:nvPr/>
        </p:nvSpPr>
        <p:spPr>
          <a:xfrm>
            <a:off x="6401249" y="4965577"/>
            <a:ext cx="4390390" cy="628650"/>
          </a:xfrm>
          <a:prstGeom prst="rect">
            <a:avLst/>
          </a:prstGeom>
        </p:spPr>
        <p:txBody>
          <a:bodyPr vert="horz" wrap="square" lIns="0" tIns="13335" rIns="0" bIns="0" rtlCol="0">
            <a:spAutoFit/>
          </a:bodyPr>
          <a:lstStyle/>
          <a:p>
            <a:pPr marL="38100">
              <a:lnSpc>
                <a:spcPct val="100000"/>
              </a:lnSpc>
              <a:spcBef>
                <a:spcPts val="105"/>
              </a:spcBef>
              <a:tabLst>
                <a:tab pos="713740" algn="l"/>
                <a:tab pos="1813560" algn="l"/>
                <a:tab pos="3606165" algn="l"/>
              </a:tabLst>
            </a:pPr>
            <a:r>
              <a:rPr sz="3950" spc="-25" dirty="0">
                <a:latin typeface="Cambria Math"/>
                <a:cs typeface="Cambria Math"/>
              </a:rPr>
              <a:t>𝑑</a:t>
            </a:r>
            <a:r>
              <a:rPr sz="4275" spc="-37" baseline="-15594" dirty="0">
                <a:latin typeface="Cambria Math"/>
                <a:cs typeface="Cambria Math"/>
              </a:rPr>
              <a:t>𝐽</a:t>
            </a:r>
            <a:r>
              <a:rPr sz="4275" baseline="-15594" dirty="0">
                <a:latin typeface="Cambria Math"/>
                <a:cs typeface="Cambria Math"/>
              </a:rPr>
              <a:t>	</a:t>
            </a:r>
            <a:r>
              <a:rPr sz="3950" dirty="0">
                <a:latin typeface="Cambria Math"/>
                <a:cs typeface="Cambria Math"/>
              </a:rPr>
              <a:t>𝑥,</a:t>
            </a:r>
            <a:r>
              <a:rPr sz="3950" spc="-150" dirty="0">
                <a:latin typeface="Cambria Math"/>
                <a:cs typeface="Cambria Math"/>
              </a:rPr>
              <a:t> </a:t>
            </a:r>
            <a:r>
              <a:rPr sz="3950" spc="-50" dirty="0">
                <a:latin typeface="Cambria Math"/>
                <a:cs typeface="Cambria Math"/>
              </a:rPr>
              <a:t>𝑦</a:t>
            </a:r>
            <a:r>
              <a:rPr sz="3950" dirty="0">
                <a:latin typeface="Cambria Math"/>
                <a:cs typeface="Cambria Math"/>
              </a:rPr>
              <a:t>	=</a:t>
            </a:r>
            <a:r>
              <a:rPr sz="3950" spc="204" dirty="0">
                <a:latin typeface="Cambria Math"/>
                <a:cs typeface="Cambria Math"/>
              </a:rPr>
              <a:t> </a:t>
            </a:r>
            <a:r>
              <a:rPr sz="3950" dirty="0">
                <a:latin typeface="Cambria Math"/>
                <a:cs typeface="Cambria Math"/>
              </a:rPr>
              <a:t>1</a:t>
            </a:r>
            <a:r>
              <a:rPr sz="3950" spc="-10" dirty="0">
                <a:latin typeface="Cambria Math"/>
                <a:cs typeface="Cambria Math"/>
              </a:rPr>
              <a:t> </a:t>
            </a:r>
            <a:r>
              <a:rPr sz="3950" dirty="0">
                <a:latin typeface="Cambria Math"/>
                <a:cs typeface="Cambria Math"/>
              </a:rPr>
              <a:t>−</a:t>
            </a:r>
            <a:r>
              <a:rPr sz="3950" spc="-15" dirty="0">
                <a:latin typeface="Cambria Math"/>
                <a:cs typeface="Cambria Math"/>
              </a:rPr>
              <a:t> </a:t>
            </a:r>
            <a:r>
              <a:rPr sz="3950" spc="-50" dirty="0">
                <a:latin typeface="Cambria Math"/>
                <a:cs typeface="Cambria Math"/>
              </a:rPr>
              <a:t>𝐽</a:t>
            </a:r>
            <a:r>
              <a:rPr sz="3950" dirty="0">
                <a:latin typeface="Cambria Math"/>
                <a:cs typeface="Cambria Math"/>
              </a:rPr>
              <a:t>	𝑥,</a:t>
            </a:r>
            <a:r>
              <a:rPr sz="3950" spc="-150" dirty="0">
                <a:latin typeface="Cambria Math"/>
                <a:cs typeface="Cambria Math"/>
              </a:rPr>
              <a:t> </a:t>
            </a:r>
            <a:r>
              <a:rPr sz="3950" spc="-50" dirty="0">
                <a:latin typeface="Cambria Math"/>
                <a:cs typeface="Cambria Math"/>
              </a:rPr>
              <a:t>𝑦</a:t>
            </a:r>
            <a:endParaRPr sz="3950">
              <a:latin typeface="Cambria Math"/>
              <a:cs typeface="Cambria Math"/>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KNN</a:t>
            </a:r>
            <a:endParaRPr sz="8250"/>
          </a:p>
        </p:txBody>
      </p:sp>
      <p:sp>
        <p:nvSpPr>
          <p:cNvPr id="5" name="object 5"/>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16</a:t>
            </a:fld>
            <a:endParaRPr sz="2300">
              <a:latin typeface="Tahoma"/>
              <a:cs typeface="Tahoma"/>
            </a:endParaRPr>
          </a:p>
        </p:txBody>
      </p:sp>
      <p:sp>
        <p:nvSpPr>
          <p:cNvPr id="3" name="object 3"/>
          <p:cNvSpPr txBox="1"/>
          <p:nvPr/>
        </p:nvSpPr>
        <p:spPr>
          <a:xfrm>
            <a:off x="1097213" y="3074116"/>
            <a:ext cx="17913350" cy="4281170"/>
          </a:xfrm>
          <a:prstGeom prst="rect">
            <a:avLst/>
          </a:prstGeom>
        </p:spPr>
        <p:txBody>
          <a:bodyPr vert="horz" wrap="square" lIns="0" tIns="8890" rIns="0" bIns="0" rtlCol="0">
            <a:spAutoFit/>
          </a:bodyPr>
          <a:lstStyle/>
          <a:p>
            <a:pPr marL="12700" marR="378460">
              <a:lnSpc>
                <a:spcPct val="100499"/>
              </a:lnSpc>
              <a:spcBef>
                <a:spcPts val="70"/>
              </a:spcBef>
            </a:pPr>
            <a:r>
              <a:rPr sz="3800" b="1" dirty="0">
                <a:latin typeface="Trebuchet MS"/>
                <a:cs typeface="Trebuchet MS"/>
              </a:rPr>
              <a:t>Distancia de Gower</a:t>
            </a:r>
            <a:r>
              <a:rPr sz="3800" dirty="0">
                <a:latin typeface="Tahoma"/>
                <a:cs typeface="Tahoma"/>
              </a:rPr>
              <a:t>: Es una métrica de distancia que puede manejar datos mixtos (numéricos y categóricos) y tiene en cuenta la escala de las variables y la similitud entre las categorías. Esta entre 0 y 1.</a:t>
            </a:r>
          </a:p>
          <a:p>
            <a:pPr marL="1160780" marR="5080" indent="-614680">
              <a:lnSpc>
                <a:spcPts val="4530"/>
              </a:lnSpc>
              <a:spcBef>
                <a:spcPts val="2855"/>
              </a:spcBef>
              <a:buSzPct val="100000"/>
              <a:buChar char="•"/>
              <a:tabLst>
                <a:tab pos="1160780" algn="l"/>
              </a:tabLst>
            </a:pPr>
            <a:r>
              <a:rPr sz="3800" dirty="0">
                <a:latin typeface="Tahoma"/>
                <a:cs typeface="Tahoma"/>
              </a:rPr>
              <a:t>Datos numéricos: Se calcula usando la distancia de Manhattan, pero para cada atributo se la divide por el rango de valores (poblacional o de muestra).</a:t>
            </a:r>
          </a:p>
          <a:p>
            <a:pPr marL="1160145" indent="-614045">
              <a:lnSpc>
                <a:spcPct val="100000"/>
              </a:lnSpc>
              <a:spcBef>
                <a:spcPts val="2560"/>
              </a:spcBef>
              <a:buSzPct val="100000"/>
              <a:buChar char="•"/>
              <a:tabLst>
                <a:tab pos="1160145" algn="l"/>
              </a:tabLst>
            </a:pPr>
            <a:r>
              <a:rPr sz="3800" dirty="0">
                <a:latin typeface="Tahoma"/>
                <a:cs typeface="Tahoma"/>
              </a:rPr>
              <a:t>Datos categóricos: Si el atributo es igual es 0, sino es 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gn="just">
              <a:lnSpc>
                <a:spcPct val="100000"/>
              </a:lnSpc>
              <a:spcBef>
                <a:spcPts val="95"/>
              </a:spcBef>
            </a:pPr>
            <a:r>
              <a:rPr sz="8250" dirty="0"/>
              <a:t>KNN</a:t>
            </a:r>
            <a:endParaRPr sz="8250"/>
          </a:p>
        </p:txBody>
      </p:sp>
      <p:sp>
        <p:nvSpPr>
          <p:cNvPr id="5" name="object 5"/>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17</a:t>
            </a:fld>
            <a:endParaRPr sz="2300">
              <a:latin typeface="Tahoma"/>
              <a:cs typeface="Tahoma"/>
            </a:endParaRPr>
          </a:p>
        </p:txBody>
      </p:sp>
      <p:sp>
        <p:nvSpPr>
          <p:cNvPr id="3" name="object 3"/>
          <p:cNvSpPr txBox="1"/>
          <p:nvPr/>
        </p:nvSpPr>
        <p:spPr>
          <a:xfrm>
            <a:off x="1097213" y="3087938"/>
            <a:ext cx="17910810" cy="6477992"/>
          </a:xfrm>
          <a:prstGeom prst="rect">
            <a:avLst/>
          </a:prstGeom>
        </p:spPr>
        <p:txBody>
          <a:bodyPr vert="horz" wrap="square" lIns="0" tIns="7620" rIns="0" bIns="0" rtlCol="0">
            <a:spAutoFit/>
          </a:bodyPr>
          <a:lstStyle/>
          <a:p>
            <a:pPr marL="12700" marR="1354455" algn="just">
              <a:lnSpc>
                <a:spcPct val="100800"/>
              </a:lnSpc>
              <a:spcBef>
                <a:spcPts val="60"/>
              </a:spcBef>
            </a:pPr>
            <a:r>
              <a:rPr sz="2800" dirty="0">
                <a:latin typeface="Tahoma"/>
                <a:cs typeface="Tahoma"/>
              </a:rPr>
              <a:t>Dada la métrica de distancia, debemos definir el valor de k, que es quien define con cuantos </a:t>
            </a:r>
            <a:r>
              <a:rPr sz="2800" dirty="0" err="1">
                <a:latin typeface="Tahoma"/>
                <a:cs typeface="Tahoma"/>
              </a:rPr>
              <a:t>vecinos</a:t>
            </a:r>
            <a:r>
              <a:rPr sz="2800" dirty="0">
                <a:latin typeface="Tahoma"/>
                <a:cs typeface="Tahoma"/>
              </a:rPr>
              <a:t> se</a:t>
            </a:r>
            <a:r>
              <a:rPr lang="es-PE" sz="2800" dirty="0">
                <a:latin typeface="Tahoma"/>
                <a:cs typeface="Tahoma"/>
              </a:rPr>
              <a:t> </a:t>
            </a:r>
            <a:r>
              <a:rPr sz="2800" dirty="0" err="1">
                <a:latin typeface="Tahoma"/>
                <a:cs typeface="Tahoma"/>
              </a:rPr>
              <a:t>usará</a:t>
            </a:r>
            <a:r>
              <a:rPr sz="2800" dirty="0">
                <a:latin typeface="Tahoma"/>
                <a:cs typeface="Tahoma"/>
              </a:rPr>
              <a:t> para determinar la clasificación de un punto.</a:t>
            </a:r>
          </a:p>
          <a:p>
            <a:pPr marL="12700" marR="516255" algn="just">
              <a:lnSpc>
                <a:spcPts val="7000"/>
              </a:lnSpc>
              <a:spcBef>
                <a:spcPts val="615"/>
              </a:spcBef>
            </a:pPr>
            <a:r>
              <a:rPr sz="2800" dirty="0">
                <a:latin typeface="Tahoma"/>
                <a:cs typeface="Tahoma"/>
              </a:rPr>
              <a:t>Por ejemplo, si k=1, la observación se asignará a la misma clase de su vecino más cercano. Definir k, el cual es un hiper-parámetro justo al tipo de distancia elegida, es un acto de equilibrio.</a:t>
            </a:r>
          </a:p>
          <a:p>
            <a:pPr marL="12700" marR="56515" algn="just">
              <a:lnSpc>
                <a:spcPts val="4210"/>
              </a:lnSpc>
              <a:spcBef>
                <a:spcPts val="2240"/>
              </a:spcBef>
            </a:pPr>
            <a:r>
              <a:rPr sz="2800" dirty="0">
                <a:latin typeface="Tahoma"/>
                <a:cs typeface="Tahoma"/>
              </a:rPr>
              <a:t>Valores bajos de k pueden tener una varianza alta, pero un sesgo bajo, y valores altos de k un sesgo alto y poca varianza.</a:t>
            </a:r>
          </a:p>
          <a:p>
            <a:pPr marL="12700" algn="just">
              <a:lnSpc>
                <a:spcPct val="100000"/>
              </a:lnSpc>
              <a:spcBef>
                <a:spcPts val="2620"/>
              </a:spcBef>
            </a:pPr>
            <a:r>
              <a:rPr sz="2800" dirty="0">
                <a:latin typeface="Tahoma"/>
                <a:cs typeface="Tahoma"/>
              </a:rPr>
              <a:t>En general, se recomienda tener un </a:t>
            </a:r>
            <a:r>
              <a:rPr sz="2800" b="1" dirty="0">
                <a:latin typeface="Trebuchet MS"/>
                <a:cs typeface="Trebuchet MS"/>
              </a:rPr>
              <a:t>número impar </a:t>
            </a:r>
            <a:r>
              <a:rPr sz="2800" dirty="0">
                <a:latin typeface="Tahoma"/>
                <a:cs typeface="Tahoma"/>
              </a:rPr>
              <a:t>para k para evitar empates en la clasificación.</a:t>
            </a:r>
          </a:p>
          <a:p>
            <a:pPr marL="12700" marR="5080" algn="just">
              <a:lnSpc>
                <a:spcPct val="100600"/>
              </a:lnSpc>
              <a:spcBef>
                <a:spcPts val="2640"/>
              </a:spcBef>
            </a:pPr>
            <a:r>
              <a:rPr sz="2800" dirty="0">
                <a:latin typeface="Tahoma"/>
                <a:cs typeface="Tahoma"/>
              </a:rPr>
              <a:t>Este algoritmo no tiene “entrenamiento” ya que debe guardar todo el dataset para evaluar a nuevos valores a que clase pertenece. Si el dataset de entrenamiento es muy grande, puede tener dificultades para almacenarse o ejecutarse.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20104100" cy="11308555"/>
          </a:xfrm>
          <a:prstGeom prst="rect">
            <a:avLst/>
          </a:prstGeom>
        </p:spPr>
      </p:pic>
      <p:sp>
        <p:nvSpPr>
          <p:cNvPr id="3" name="object 3"/>
          <p:cNvSpPr/>
          <p:nvPr/>
        </p:nvSpPr>
        <p:spPr>
          <a:xfrm>
            <a:off x="0" y="1047088"/>
            <a:ext cx="20104100" cy="10261600"/>
          </a:xfrm>
          <a:custGeom>
            <a:avLst/>
            <a:gdLst/>
            <a:ahLst/>
            <a:cxnLst/>
            <a:rect l="l" t="t" r="r" b="b"/>
            <a:pathLst>
              <a:path w="20104100" h="10261600">
                <a:moveTo>
                  <a:pt x="20104100" y="0"/>
                </a:moveTo>
                <a:lnTo>
                  <a:pt x="0" y="0"/>
                </a:lnTo>
                <a:lnTo>
                  <a:pt x="0" y="10261467"/>
                </a:lnTo>
                <a:lnTo>
                  <a:pt x="20104100" y="10261467"/>
                </a:lnTo>
                <a:lnTo>
                  <a:pt x="20104100" y="0"/>
                </a:lnTo>
                <a:close/>
              </a:path>
            </a:pathLst>
          </a:custGeom>
          <a:solidFill>
            <a:srgbClr val="FFFFFF">
              <a:alpha val="90199"/>
            </a:srgbClr>
          </a:solidFill>
        </p:spPr>
        <p:txBody>
          <a:bodyPr wrap="square" lIns="0" tIns="0" rIns="0" bIns="0" rtlCol="0"/>
          <a:lstStyle/>
          <a:p>
            <a:endParaRPr/>
          </a:p>
        </p:txBody>
      </p:sp>
      <p:sp>
        <p:nvSpPr>
          <p:cNvPr id="4" name="object 4"/>
          <p:cNvSpPr txBox="1"/>
          <p:nvPr/>
        </p:nvSpPr>
        <p:spPr>
          <a:xfrm>
            <a:off x="1097213" y="1136584"/>
            <a:ext cx="2317115" cy="1282065"/>
          </a:xfrm>
          <a:prstGeom prst="rect">
            <a:avLst/>
          </a:prstGeom>
        </p:spPr>
        <p:txBody>
          <a:bodyPr vert="horz" wrap="square" lIns="0" tIns="12065" rIns="0" bIns="0" rtlCol="0">
            <a:spAutoFit/>
          </a:bodyPr>
          <a:lstStyle/>
          <a:p>
            <a:pPr marL="12700">
              <a:lnSpc>
                <a:spcPct val="100000"/>
              </a:lnSpc>
              <a:spcBef>
                <a:spcPts val="95"/>
              </a:spcBef>
            </a:pPr>
            <a:r>
              <a:rPr sz="8250" spc="-975" dirty="0">
                <a:latin typeface="Arial Black"/>
                <a:cs typeface="Arial Black"/>
              </a:rPr>
              <a:t>KNN</a:t>
            </a:r>
            <a:endParaRPr sz="8250">
              <a:latin typeface="Arial Black"/>
              <a:cs typeface="Arial Black"/>
            </a:endParaRPr>
          </a:p>
        </p:txBody>
      </p:sp>
      <p:pic>
        <p:nvPicPr>
          <p:cNvPr id="5" name="object 5"/>
          <p:cNvPicPr/>
          <p:nvPr/>
        </p:nvPicPr>
        <p:blipFill>
          <a:blip r:embed="rId3" cstate="print"/>
          <a:stretch>
            <a:fillRect/>
          </a:stretch>
        </p:blipFill>
        <p:spPr>
          <a:xfrm>
            <a:off x="2122380" y="4076596"/>
            <a:ext cx="15859333" cy="4744924"/>
          </a:xfrm>
          <a:prstGeom prst="rect">
            <a:avLst/>
          </a:prstGeom>
        </p:spPr>
      </p:pic>
      <p:sp>
        <p:nvSpPr>
          <p:cNvPr id="7" name="object 7"/>
          <p:cNvSpPr txBox="1"/>
          <p:nvPr/>
        </p:nvSpPr>
        <p:spPr>
          <a:xfrm>
            <a:off x="19356846" y="10689633"/>
            <a:ext cx="29273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180" dirty="0">
                <a:latin typeface="Tahoma"/>
                <a:cs typeface="Tahoma"/>
              </a:rPr>
              <a:t>18</a:t>
            </a:fld>
            <a:endParaRPr sz="230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9025"/>
            <a:ext cx="14890750" cy="2870200"/>
          </a:xfrm>
          <a:prstGeom prst="rect">
            <a:avLst/>
          </a:prstGeom>
        </p:spPr>
        <p:txBody>
          <a:bodyPr vert="horz" wrap="square" lIns="0" tIns="509905" rIns="0" bIns="0" rtlCol="0">
            <a:spAutoFit/>
          </a:bodyPr>
          <a:lstStyle/>
          <a:p>
            <a:pPr marL="601345" marR="48260" indent="-589280">
              <a:lnSpc>
                <a:spcPct val="70300"/>
              </a:lnSpc>
              <a:spcBef>
                <a:spcPts val="4015"/>
              </a:spcBef>
            </a:pPr>
            <a:r>
              <a:rPr sz="10950" b="1" i="1" spc="-180" dirty="0">
                <a:latin typeface="Arial"/>
                <a:cs typeface="Arial"/>
              </a:rPr>
              <a:t>ENCONTRANDO</a:t>
            </a:r>
            <a:r>
              <a:rPr sz="10950" b="1" i="1" spc="-1714" dirty="0">
                <a:latin typeface="Arial"/>
                <a:cs typeface="Arial"/>
              </a:rPr>
              <a:t> </a:t>
            </a:r>
            <a:r>
              <a:rPr sz="10950" b="1" i="1" spc="155" dirty="0">
                <a:latin typeface="Arial"/>
                <a:cs typeface="Arial"/>
              </a:rPr>
              <a:t>A</a:t>
            </a:r>
            <a:r>
              <a:rPr sz="10950" b="1" i="1" spc="-1710" dirty="0">
                <a:latin typeface="Arial"/>
                <a:cs typeface="Arial"/>
              </a:rPr>
              <a:t> </a:t>
            </a:r>
            <a:r>
              <a:rPr sz="10950" b="1" i="1" spc="-535" dirty="0">
                <a:latin typeface="Arial"/>
                <a:cs typeface="Arial"/>
              </a:rPr>
              <a:t>LOS </a:t>
            </a:r>
            <a:r>
              <a:rPr sz="10950" b="1" i="1" spc="-10" dirty="0">
                <a:latin typeface="Arial"/>
                <a:cs typeface="Arial"/>
              </a:rPr>
              <a:t>VECINOS</a:t>
            </a:r>
            <a:endParaRPr sz="1095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
        <p:nvSpPr>
          <p:cNvPr id="3" name="object 3"/>
          <p:cNvSpPr txBox="1"/>
          <p:nvPr/>
        </p:nvSpPr>
        <p:spPr>
          <a:xfrm>
            <a:off x="1084513" y="3089194"/>
            <a:ext cx="11760835" cy="6546536"/>
          </a:xfrm>
          <a:prstGeom prst="rect">
            <a:avLst/>
          </a:prstGeom>
        </p:spPr>
        <p:txBody>
          <a:bodyPr vert="horz" wrap="square" lIns="0" tIns="33655" rIns="0" bIns="0" rtlCol="0">
            <a:spAutoFit/>
          </a:bodyPr>
          <a:lstStyle/>
          <a:p>
            <a:pPr marL="25400" marR="267335" algn="just">
              <a:lnSpc>
                <a:spcPts val="4530"/>
              </a:lnSpc>
              <a:spcBef>
                <a:spcPts val="265"/>
              </a:spcBef>
            </a:pPr>
            <a:r>
              <a:rPr sz="3800" dirty="0">
                <a:latin typeface="Tahoma"/>
                <a:cs typeface="Tahoma"/>
              </a:rPr>
              <a:t>Un detalle que estamos pasando por alto en este modelo es la implementación de la búsqueda de los vecinos.</a:t>
            </a:r>
          </a:p>
          <a:p>
            <a:pPr marL="25400" marR="561340" algn="just">
              <a:lnSpc>
                <a:spcPct val="102200"/>
              </a:lnSpc>
              <a:spcBef>
                <a:spcPts val="2280"/>
              </a:spcBef>
            </a:pPr>
            <a:r>
              <a:rPr sz="3800" dirty="0">
                <a:latin typeface="Tahoma"/>
                <a:cs typeface="Tahoma"/>
              </a:rPr>
              <a:t>La forma más básica de hacer esto es por </a:t>
            </a:r>
            <a:r>
              <a:rPr sz="3800" b="1" dirty="0">
                <a:solidFill>
                  <a:srgbClr val="036AFF"/>
                </a:solidFill>
                <a:latin typeface="Calibri"/>
                <a:cs typeface="Calibri"/>
              </a:rPr>
              <a:t>fuerza bruta</a:t>
            </a:r>
            <a:r>
              <a:rPr sz="3800" dirty="0">
                <a:latin typeface="Tahoma"/>
                <a:cs typeface="Tahoma"/>
              </a:rPr>
              <a:t>. Es dado una nueva observación, calcular la distancia a todos con respecto al set de entrenamiento.</a:t>
            </a:r>
          </a:p>
          <a:p>
            <a:pPr marL="25400" marR="17780">
              <a:lnSpc>
                <a:spcPct val="100200"/>
              </a:lnSpc>
              <a:spcBef>
                <a:spcPts val="2695"/>
              </a:spcBef>
            </a:pPr>
            <a:r>
              <a:rPr sz="3800" dirty="0">
                <a:latin typeface="Tahoma"/>
                <a:cs typeface="Tahoma"/>
              </a:rPr>
              <a:t>El problema es que no escala bien con dataset grandes ya que tiene una complejidad de O(DN</a:t>
            </a:r>
            <a:r>
              <a:rPr sz="3825" baseline="25054" dirty="0">
                <a:latin typeface="Tahoma"/>
                <a:cs typeface="Tahoma"/>
              </a:rPr>
              <a:t>2</a:t>
            </a:r>
            <a:r>
              <a:rPr sz="3800" dirty="0">
                <a:latin typeface="Tahoma"/>
                <a:cs typeface="Tahoma"/>
              </a:rPr>
              <a:t>), con N observaciones y D atributos.</a:t>
            </a:r>
          </a:p>
        </p:txBody>
      </p:sp>
      <p:pic>
        <p:nvPicPr>
          <p:cNvPr id="4" name="object 4"/>
          <p:cNvPicPr/>
          <p:nvPr/>
        </p:nvPicPr>
        <p:blipFill>
          <a:blip r:embed="rId2" cstate="print"/>
          <a:stretch>
            <a:fillRect/>
          </a:stretch>
        </p:blipFill>
        <p:spPr>
          <a:xfrm>
            <a:off x="13070910" y="3714676"/>
            <a:ext cx="6221810" cy="523092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
        <p:nvSpPr>
          <p:cNvPr id="3" name="object 3"/>
          <p:cNvSpPr txBox="1"/>
          <p:nvPr/>
        </p:nvSpPr>
        <p:spPr>
          <a:xfrm>
            <a:off x="1097213" y="2751301"/>
            <a:ext cx="18332450" cy="5715000"/>
          </a:xfrm>
          <a:prstGeom prst="rect">
            <a:avLst/>
          </a:prstGeom>
        </p:spPr>
        <p:txBody>
          <a:bodyPr vert="horz" wrap="square" lIns="0" tIns="15875" rIns="0" bIns="0" rtlCol="0">
            <a:spAutoFit/>
          </a:bodyPr>
          <a:lstStyle/>
          <a:p>
            <a:pPr marL="12700" marR="568325" algn="just">
              <a:lnSpc>
                <a:spcPts val="4710"/>
              </a:lnSpc>
              <a:spcBef>
                <a:spcPts val="125"/>
              </a:spcBef>
            </a:pPr>
            <a:r>
              <a:rPr sz="3200" dirty="0">
                <a:latin typeface="Tahoma"/>
                <a:cs typeface="Tahoma"/>
              </a:rPr>
              <a:t>Entonces necesitamos usar algoritmos de búsquedas. Uno popular es </a:t>
            </a:r>
            <a:r>
              <a:rPr sz="3200" b="1" dirty="0">
                <a:solidFill>
                  <a:srgbClr val="38E53A"/>
                </a:solidFill>
                <a:latin typeface="Calibri"/>
                <a:cs typeface="Calibri"/>
              </a:rPr>
              <a:t>K-D Tree</a:t>
            </a:r>
            <a:r>
              <a:rPr sz="3200" dirty="0">
                <a:latin typeface="Tahoma"/>
                <a:cs typeface="Tahoma"/>
              </a:rPr>
              <a:t>, el cual arma un árbol de búsqueda.</a:t>
            </a:r>
          </a:p>
          <a:p>
            <a:pPr marL="12700" marR="5080" algn="just">
              <a:lnSpc>
                <a:spcPts val="4530"/>
              </a:lnSpc>
              <a:spcBef>
                <a:spcPts val="2775"/>
              </a:spcBef>
            </a:pPr>
            <a:r>
              <a:rPr sz="3200" dirty="0">
                <a:latin typeface="Tahoma"/>
                <a:cs typeface="Tahoma"/>
              </a:rPr>
              <a:t>Se basa en el concepto de que si un punto A está muy distante de B y B está cerca de C, entonces A está lejos de C sin necesidad de explícitamente calcularlo. En este caso se reduce a complejidad máxima de O[DN log(N)].</a:t>
            </a:r>
          </a:p>
          <a:p>
            <a:pPr marL="12700" marR="1801495" algn="just">
              <a:lnSpc>
                <a:spcPts val="4530"/>
              </a:lnSpc>
              <a:spcBef>
                <a:spcPts val="2730"/>
              </a:spcBef>
            </a:pPr>
            <a:r>
              <a:rPr sz="3200" dirty="0">
                <a:latin typeface="Tahoma"/>
                <a:cs typeface="Tahoma"/>
              </a:rPr>
              <a:t>Este algoritmo divide el espacio D dimensional en donde cada nodo va separando una dimensión por vez en dos.</a:t>
            </a:r>
          </a:p>
          <a:p>
            <a:pPr marL="12700" algn="just">
              <a:lnSpc>
                <a:spcPct val="100000"/>
              </a:lnSpc>
              <a:spcBef>
                <a:spcPts val="2640"/>
              </a:spcBef>
            </a:pPr>
            <a:r>
              <a:rPr sz="3200" dirty="0">
                <a:latin typeface="Tahoma"/>
                <a:cs typeface="Tahoma"/>
              </a:rPr>
              <a:t>Para entenderlo veamos un ejemplo en 2 dimensiones con los siguientes puntos:</a:t>
            </a:r>
          </a:p>
        </p:txBody>
      </p:sp>
      <p:pic>
        <p:nvPicPr>
          <p:cNvPr id="4" name="object 4"/>
          <p:cNvPicPr/>
          <p:nvPr/>
        </p:nvPicPr>
        <p:blipFill>
          <a:blip r:embed="rId2" cstate="print"/>
          <a:stretch>
            <a:fillRect/>
          </a:stretch>
        </p:blipFill>
        <p:spPr>
          <a:xfrm>
            <a:off x="3431561" y="9014067"/>
            <a:ext cx="13945772" cy="1281635"/>
          </a:xfrm>
          <a:prstGeom prst="rect">
            <a:avLst/>
          </a:prstGeom>
        </p:spPr>
      </p:pic>
      <p:graphicFrame>
        <p:nvGraphicFramePr>
          <p:cNvPr id="5" name="object 5"/>
          <p:cNvGraphicFramePr>
            <a:graphicFrameLocks noGrp="1"/>
          </p:cNvGraphicFramePr>
          <p:nvPr/>
        </p:nvGraphicFramePr>
        <p:xfrm>
          <a:off x="3427634" y="9006214"/>
          <a:ext cx="13947770" cy="1283970"/>
        </p:xfrm>
        <a:graphic>
          <a:graphicData uri="http://schemas.openxmlformats.org/drawingml/2006/table">
            <a:tbl>
              <a:tblPr firstRow="1" bandRow="1">
                <a:tableStyleId>{2D5ABB26-0587-4C30-8999-92F81FD0307C}</a:tableStyleId>
              </a:tblPr>
              <a:tblGrid>
                <a:gridCol w="2105660">
                  <a:extLst>
                    <a:ext uri="{9D8B030D-6E8A-4147-A177-3AD203B41FA5}">
                      <a16:colId xmlns:a16="http://schemas.microsoft.com/office/drawing/2014/main" val="20000"/>
                    </a:ext>
                  </a:extLst>
                </a:gridCol>
                <a:gridCol w="1878964">
                  <a:extLst>
                    <a:ext uri="{9D8B030D-6E8A-4147-A177-3AD203B41FA5}">
                      <a16:colId xmlns:a16="http://schemas.microsoft.com/office/drawing/2014/main" val="20001"/>
                    </a:ext>
                  </a:extLst>
                </a:gridCol>
                <a:gridCol w="1992629">
                  <a:extLst>
                    <a:ext uri="{9D8B030D-6E8A-4147-A177-3AD203B41FA5}">
                      <a16:colId xmlns:a16="http://schemas.microsoft.com/office/drawing/2014/main" val="20002"/>
                    </a:ext>
                  </a:extLst>
                </a:gridCol>
                <a:gridCol w="1992629">
                  <a:extLst>
                    <a:ext uri="{9D8B030D-6E8A-4147-A177-3AD203B41FA5}">
                      <a16:colId xmlns:a16="http://schemas.microsoft.com/office/drawing/2014/main" val="20003"/>
                    </a:ext>
                  </a:extLst>
                </a:gridCol>
                <a:gridCol w="1992629">
                  <a:extLst>
                    <a:ext uri="{9D8B030D-6E8A-4147-A177-3AD203B41FA5}">
                      <a16:colId xmlns:a16="http://schemas.microsoft.com/office/drawing/2014/main" val="20004"/>
                    </a:ext>
                  </a:extLst>
                </a:gridCol>
                <a:gridCol w="1992629">
                  <a:extLst>
                    <a:ext uri="{9D8B030D-6E8A-4147-A177-3AD203B41FA5}">
                      <a16:colId xmlns:a16="http://schemas.microsoft.com/office/drawing/2014/main" val="20005"/>
                    </a:ext>
                  </a:extLst>
                </a:gridCol>
                <a:gridCol w="1992630">
                  <a:extLst>
                    <a:ext uri="{9D8B030D-6E8A-4147-A177-3AD203B41FA5}">
                      <a16:colId xmlns:a16="http://schemas.microsoft.com/office/drawing/2014/main" val="20006"/>
                    </a:ext>
                  </a:extLst>
                </a:gridCol>
              </a:tblGrid>
              <a:tr h="430530">
                <a:tc>
                  <a:txBody>
                    <a:bodyPr/>
                    <a:lstStyle/>
                    <a:p>
                      <a:pPr algn="ctr">
                        <a:lnSpc>
                          <a:spcPct val="100000"/>
                        </a:lnSpc>
                        <a:spcBef>
                          <a:spcPts val="340"/>
                        </a:spcBef>
                      </a:pPr>
                      <a:r>
                        <a:rPr sz="2300" spc="-50" dirty="0">
                          <a:latin typeface="Arial Black"/>
                          <a:cs typeface="Arial Black"/>
                        </a:rPr>
                        <a:t>Dimensiones</a:t>
                      </a:r>
                      <a:endParaRPr sz="2300">
                        <a:latin typeface="Arial Black"/>
                        <a:cs typeface="Arial Black"/>
                      </a:endParaRPr>
                    </a:p>
                  </a:txBody>
                  <a:tcPr marL="0" marR="0" marT="43180" marB="0">
                    <a:lnL w="9525">
                      <a:solidFill>
                        <a:srgbClr val="FD776E"/>
                      </a:solidFill>
                      <a:prstDash val="solid"/>
                    </a:lnL>
                    <a:lnB w="28575">
                      <a:solidFill>
                        <a:srgbClr val="FFFFFF"/>
                      </a:solidFill>
                      <a:prstDash val="solid"/>
                    </a:lnB>
                    <a:solidFill>
                      <a:srgbClr val="FF7D74"/>
                    </a:solidFill>
                  </a:tcPr>
                </a:tc>
                <a:tc>
                  <a:txBody>
                    <a:bodyPr/>
                    <a:lstStyle/>
                    <a:p>
                      <a:pPr algn="ctr">
                        <a:lnSpc>
                          <a:spcPct val="100000"/>
                        </a:lnSpc>
                        <a:spcBef>
                          <a:spcPts val="340"/>
                        </a:spcBef>
                      </a:pPr>
                      <a:r>
                        <a:rPr sz="2300" spc="-370" dirty="0">
                          <a:latin typeface="Arial Black"/>
                          <a:cs typeface="Arial Black"/>
                        </a:rPr>
                        <a:t>P1</a:t>
                      </a:r>
                      <a:endParaRPr sz="2300">
                        <a:latin typeface="Arial Black"/>
                        <a:cs typeface="Arial Black"/>
                      </a:endParaRPr>
                    </a:p>
                  </a:txBody>
                  <a:tcPr marL="0" marR="0" marT="43180" marB="0">
                    <a:lnB w="28575">
                      <a:solidFill>
                        <a:srgbClr val="FFFFFF"/>
                      </a:solidFill>
                      <a:prstDash val="solid"/>
                    </a:lnB>
                    <a:solidFill>
                      <a:srgbClr val="FF7D74"/>
                    </a:solidFill>
                  </a:tcPr>
                </a:tc>
                <a:tc>
                  <a:txBody>
                    <a:bodyPr/>
                    <a:lstStyle/>
                    <a:p>
                      <a:pPr algn="ctr">
                        <a:lnSpc>
                          <a:spcPct val="100000"/>
                        </a:lnSpc>
                        <a:spcBef>
                          <a:spcPts val="340"/>
                        </a:spcBef>
                      </a:pPr>
                      <a:r>
                        <a:rPr sz="2300" spc="-25" dirty="0">
                          <a:latin typeface="Arial Black"/>
                          <a:cs typeface="Arial Black"/>
                        </a:rPr>
                        <a:t>P2</a:t>
                      </a:r>
                      <a:endParaRPr sz="2300">
                        <a:latin typeface="Arial Black"/>
                        <a:cs typeface="Arial Black"/>
                      </a:endParaRPr>
                    </a:p>
                  </a:txBody>
                  <a:tcPr marL="0" marR="0" marT="43180" marB="0">
                    <a:lnB w="28575">
                      <a:solidFill>
                        <a:srgbClr val="FFFFFF"/>
                      </a:solidFill>
                      <a:prstDash val="solid"/>
                    </a:lnB>
                    <a:solidFill>
                      <a:srgbClr val="FF7D74"/>
                    </a:solidFill>
                  </a:tcPr>
                </a:tc>
                <a:tc>
                  <a:txBody>
                    <a:bodyPr/>
                    <a:lstStyle/>
                    <a:p>
                      <a:pPr algn="ctr">
                        <a:lnSpc>
                          <a:spcPct val="100000"/>
                        </a:lnSpc>
                        <a:spcBef>
                          <a:spcPts val="340"/>
                        </a:spcBef>
                      </a:pPr>
                      <a:r>
                        <a:rPr sz="2300" spc="-25" dirty="0">
                          <a:latin typeface="Arial Black"/>
                          <a:cs typeface="Arial Black"/>
                        </a:rPr>
                        <a:t>P3</a:t>
                      </a:r>
                      <a:endParaRPr sz="2300">
                        <a:latin typeface="Arial Black"/>
                        <a:cs typeface="Arial Black"/>
                      </a:endParaRPr>
                    </a:p>
                  </a:txBody>
                  <a:tcPr marL="0" marR="0" marT="43180" marB="0">
                    <a:lnB w="28575">
                      <a:solidFill>
                        <a:srgbClr val="FFFFFF"/>
                      </a:solidFill>
                      <a:prstDash val="solid"/>
                    </a:lnB>
                    <a:solidFill>
                      <a:srgbClr val="FF7D74"/>
                    </a:solidFill>
                  </a:tcPr>
                </a:tc>
                <a:tc>
                  <a:txBody>
                    <a:bodyPr/>
                    <a:lstStyle/>
                    <a:p>
                      <a:pPr algn="ctr">
                        <a:lnSpc>
                          <a:spcPct val="100000"/>
                        </a:lnSpc>
                        <a:spcBef>
                          <a:spcPts val="340"/>
                        </a:spcBef>
                      </a:pPr>
                      <a:r>
                        <a:rPr sz="2300" spc="-25" dirty="0">
                          <a:latin typeface="Arial Black"/>
                          <a:cs typeface="Arial Black"/>
                        </a:rPr>
                        <a:t>P4</a:t>
                      </a:r>
                      <a:endParaRPr sz="2300">
                        <a:latin typeface="Arial Black"/>
                        <a:cs typeface="Arial Black"/>
                      </a:endParaRPr>
                    </a:p>
                  </a:txBody>
                  <a:tcPr marL="0" marR="0" marT="43180" marB="0">
                    <a:lnB w="28575">
                      <a:solidFill>
                        <a:srgbClr val="FFFFFF"/>
                      </a:solidFill>
                      <a:prstDash val="solid"/>
                    </a:lnB>
                    <a:solidFill>
                      <a:srgbClr val="FF7D74"/>
                    </a:solidFill>
                  </a:tcPr>
                </a:tc>
                <a:tc>
                  <a:txBody>
                    <a:bodyPr/>
                    <a:lstStyle/>
                    <a:p>
                      <a:pPr algn="ctr">
                        <a:lnSpc>
                          <a:spcPct val="100000"/>
                        </a:lnSpc>
                        <a:spcBef>
                          <a:spcPts val="340"/>
                        </a:spcBef>
                      </a:pPr>
                      <a:r>
                        <a:rPr sz="2300" spc="-25" dirty="0">
                          <a:latin typeface="Arial Black"/>
                          <a:cs typeface="Arial Black"/>
                        </a:rPr>
                        <a:t>P5</a:t>
                      </a:r>
                      <a:endParaRPr sz="2300">
                        <a:latin typeface="Arial Black"/>
                        <a:cs typeface="Arial Black"/>
                      </a:endParaRPr>
                    </a:p>
                  </a:txBody>
                  <a:tcPr marL="0" marR="0" marT="43180" marB="0">
                    <a:lnB w="28575">
                      <a:solidFill>
                        <a:srgbClr val="FFFFFF"/>
                      </a:solidFill>
                      <a:prstDash val="solid"/>
                    </a:lnB>
                    <a:solidFill>
                      <a:srgbClr val="FF7D74"/>
                    </a:solidFill>
                  </a:tcPr>
                </a:tc>
                <a:tc>
                  <a:txBody>
                    <a:bodyPr/>
                    <a:lstStyle/>
                    <a:p>
                      <a:pPr algn="ctr">
                        <a:lnSpc>
                          <a:spcPct val="100000"/>
                        </a:lnSpc>
                        <a:spcBef>
                          <a:spcPts val="340"/>
                        </a:spcBef>
                      </a:pPr>
                      <a:r>
                        <a:rPr sz="2300" spc="-25" dirty="0">
                          <a:latin typeface="Arial Black"/>
                          <a:cs typeface="Arial Black"/>
                        </a:rPr>
                        <a:t>P6</a:t>
                      </a:r>
                      <a:endParaRPr sz="2300">
                        <a:latin typeface="Arial Black"/>
                        <a:cs typeface="Arial Black"/>
                      </a:endParaRPr>
                    </a:p>
                  </a:txBody>
                  <a:tcPr marL="0" marR="0" marT="43180" marB="0">
                    <a:lnR w="9525">
                      <a:solidFill>
                        <a:srgbClr val="FD776E"/>
                      </a:solidFill>
                      <a:prstDash val="solid"/>
                    </a:lnR>
                    <a:lnB w="28575">
                      <a:solidFill>
                        <a:srgbClr val="FFFFFF"/>
                      </a:solidFill>
                      <a:prstDash val="solid"/>
                    </a:lnB>
                    <a:solidFill>
                      <a:srgbClr val="FF7D74"/>
                    </a:solidFill>
                  </a:tcPr>
                </a:tc>
                <a:extLst>
                  <a:ext uri="{0D108BD9-81ED-4DB2-BD59-A6C34878D82A}">
                    <a16:rowId xmlns:a16="http://schemas.microsoft.com/office/drawing/2014/main" val="10000"/>
                  </a:ext>
                </a:extLst>
              </a:tr>
              <a:tr h="426720">
                <a:tc>
                  <a:txBody>
                    <a:bodyPr/>
                    <a:lstStyle/>
                    <a:p>
                      <a:pPr marL="635" algn="ctr">
                        <a:lnSpc>
                          <a:spcPct val="100000"/>
                        </a:lnSpc>
                        <a:spcBef>
                          <a:spcPts val="310"/>
                        </a:spcBef>
                      </a:pPr>
                      <a:r>
                        <a:rPr sz="2300" spc="-25" dirty="0">
                          <a:latin typeface="Arial MT"/>
                          <a:cs typeface="Arial MT"/>
                        </a:rPr>
                        <a:t>x</a:t>
                      </a:r>
                      <a:r>
                        <a:rPr sz="2325" spc="-37" baseline="-17921" dirty="0">
                          <a:latin typeface="Arial MT"/>
                          <a:cs typeface="Arial MT"/>
                        </a:rPr>
                        <a:t>1</a:t>
                      </a:r>
                      <a:endParaRPr sz="2325" baseline="-17921">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tc>
                  <a:txBody>
                    <a:bodyPr/>
                    <a:lstStyle/>
                    <a:p>
                      <a:pPr algn="ctr">
                        <a:lnSpc>
                          <a:spcPct val="100000"/>
                        </a:lnSpc>
                        <a:spcBef>
                          <a:spcPts val="310"/>
                        </a:spcBef>
                      </a:pPr>
                      <a:r>
                        <a:rPr sz="2300" spc="-50" dirty="0">
                          <a:latin typeface="Arial MT"/>
                          <a:cs typeface="Arial MT"/>
                        </a:rPr>
                        <a:t>2</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tc>
                  <a:txBody>
                    <a:bodyPr/>
                    <a:lstStyle/>
                    <a:p>
                      <a:pPr algn="ctr">
                        <a:lnSpc>
                          <a:spcPct val="100000"/>
                        </a:lnSpc>
                        <a:spcBef>
                          <a:spcPts val="310"/>
                        </a:spcBef>
                      </a:pPr>
                      <a:r>
                        <a:rPr sz="2300" spc="60" dirty="0">
                          <a:latin typeface="Arial MT"/>
                          <a:cs typeface="Arial MT"/>
                        </a:rPr>
                        <a:t>3</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tc>
                  <a:txBody>
                    <a:bodyPr/>
                    <a:lstStyle/>
                    <a:p>
                      <a:pPr marL="635" algn="ctr">
                        <a:lnSpc>
                          <a:spcPct val="100000"/>
                        </a:lnSpc>
                        <a:spcBef>
                          <a:spcPts val="310"/>
                        </a:spcBef>
                      </a:pPr>
                      <a:r>
                        <a:rPr sz="2300" spc="25" dirty="0">
                          <a:latin typeface="Arial MT"/>
                          <a:cs typeface="Arial MT"/>
                        </a:rPr>
                        <a:t>5</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tc>
                  <a:txBody>
                    <a:bodyPr/>
                    <a:lstStyle/>
                    <a:p>
                      <a:pPr algn="ctr">
                        <a:lnSpc>
                          <a:spcPct val="100000"/>
                        </a:lnSpc>
                        <a:spcBef>
                          <a:spcPts val="310"/>
                        </a:spcBef>
                      </a:pPr>
                      <a:r>
                        <a:rPr sz="2300" spc="60" dirty="0">
                          <a:latin typeface="Arial MT"/>
                          <a:cs typeface="Arial MT"/>
                        </a:rPr>
                        <a:t>8</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tc>
                  <a:txBody>
                    <a:bodyPr/>
                    <a:lstStyle/>
                    <a:p>
                      <a:pPr algn="ctr">
                        <a:lnSpc>
                          <a:spcPct val="100000"/>
                        </a:lnSpc>
                        <a:spcBef>
                          <a:spcPts val="310"/>
                        </a:spcBef>
                      </a:pPr>
                      <a:r>
                        <a:rPr sz="2300" spc="-25" dirty="0">
                          <a:latin typeface="Arial MT"/>
                          <a:cs typeface="Arial MT"/>
                        </a:rPr>
                        <a:t>10</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tc>
                  <a:txBody>
                    <a:bodyPr/>
                    <a:lstStyle/>
                    <a:p>
                      <a:pPr algn="ctr">
                        <a:lnSpc>
                          <a:spcPct val="100000"/>
                        </a:lnSpc>
                        <a:spcBef>
                          <a:spcPts val="310"/>
                        </a:spcBef>
                      </a:pPr>
                      <a:r>
                        <a:rPr sz="2300" spc="-25" dirty="0">
                          <a:latin typeface="Arial MT"/>
                          <a:cs typeface="Arial MT"/>
                        </a:rPr>
                        <a:t>13</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28575">
                      <a:solidFill>
                        <a:srgbClr val="FFFFFF"/>
                      </a:solidFill>
                      <a:prstDash val="solid"/>
                    </a:lnT>
                    <a:lnB w="9525">
                      <a:solidFill>
                        <a:srgbClr val="FD776E"/>
                      </a:solidFill>
                      <a:prstDash val="solid"/>
                    </a:lnB>
                    <a:solidFill>
                      <a:srgbClr val="FF7D74">
                        <a:alpha val="39999"/>
                      </a:srgbClr>
                    </a:solidFill>
                  </a:tcPr>
                </a:tc>
                <a:extLst>
                  <a:ext uri="{0D108BD9-81ED-4DB2-BD59-A6C34878D82A}">
                    <a16:rowId xmlns:a16="http://schemas.microsoft.com/office/drawing/2014/main" val="10001"/>
                  </a:ext>
                </a:extLst>
              </a:tr>
              <a:tr h="426720">
                <a:tc>
                  <a:txBody>
                    <a:bodyPr/>
                    <a:lstStyle/>
                    <a:p>
                      <a:pPr marL="1270" algn="ctr">
                        <a:lnSpc>
                          <a:spcPct val="100000"/>
                        </a:lnSpc>
                        <a:spcBef>
                          <a:spcPts val="310"/>
                        </a:spcBef>
                      </a:pPr>
                      <a:r>
                        <a:rPr sz="2300" spc="-25" dirty="0">
                          <a:latin typeface="Arial MT"/>
                          <a:cs typeface="Arial MT"/>
                        </a:rPr>
                        <a:t>x</a:t>
                      </a:r>
                      <a:r>
                        <a:rPr sz="2325" spc="-37" baseline="-17921" dirty="0">
                          <a:latin typeface="Arial MT"/>
                          <a:cs typeface="Arial MT"/>
                        </a:rPr>
                        <a:t>2</a:t>
                      </a:r>
                      <a:endParaRPr sz="2325" baseline="-17921">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tc>
                  <a:txBody>
                    <a:bodyPr/>
                    <a:lstStyle/>
                    <a:p>
                      <a:pPr algn="ctr">
                        <a:lnSpc>
                          <a:spcPct val="100000"/>
                        </a:lnSpc>
                        <a:spcBef>
                          <a:spcPts val="310"/>
                        </a:spcBef>
                      </a:pPr>
                      <a:r>
                        <a:rPr sz="2300" spc="100" dirty="0">
                          <a:latin typeface="Arial MT"/>
                          <a:cs typeface="Arial MT"/>
                        </a:rPr>
                        <a:t>6</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tc>
                  <a:txBody>
                    <a:bodyPr/>
                    <a:lstStyle/>
                    <a:p>
                      <a:pPr algn="ctr">
                        <a:lnSpc>
                          <a:spcPct val="100000"/>
                        </a:lnSpc>
                        <a:spcBef>
                          <a:spcPts val="310"/>
                        </a:spcBef>
                      </a:pPr>
                      <a:r>
                        <a:rPr sz="2300" spc="-409" dirty="0">
                          <a:latin typeface="Arial MT"/>
                          <a:cs typeface="Arial MT"/>
                        </a:rPr>
                        <a:t>1</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tc>
                  <a:txBody>
                    <a:bodyPr/>
                    <a:lstStyle/>
                    <a:p>
                      <a:pPr algn="ctr">
                        <a:lnSpc>
                          <a:spcPct val="100000"/>
                        </a:lnSpc>
                        <a:spcBef>
                          <a:spcPts val="310"/>
                        </a:spcBef>
                      </a:pPr>
                      <a:r>
                        <a:rPr sz="2300" spc="90" dirty="0">
                          <a:latin typeface="Arial MT"/>
                          <a:cs typeface="Arial MT"/>
                        </a:rPr>
                        <a:t>4</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tc>
                  <a:txBody>
                    <a:bodyPr/>
                    <a:lstStyle/>
                    <a:p>
                      <a:pPr algn="ctr">
                        <a:lnSpc>
                          <a:spcPct val="100000"/>
                        </a:lnSpc>
                        <a:spcBef>
                          <a:spcPts val="310"/>
                        </a:spcBef>
                      </a:pPr>
                      <a:r>
                        <a:rPr sz="2300" spc="-50" dirty="0">
                          <a:latin typeface="Arial MT"/>
                          <a:cs typeface="Arial MT"/>
                        </a:rPr>
                        <a:t>7</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tc>
                  <a:txBody>
                    <a:bodyPr/>
                    <a:lstStyle/>
                    <a:p>
                      <a:pPr algn="ctr">
                        <a:lnSpc>
                          <a:spcPct val="100000"/>
                        </a:lnSpc>
                        <a:spcBef>
                          <a:spcPts val="310"/>
                        </a:spcBef>
                      </a:pPr>
                      <a:r>
                        <a:rPr sz="2300" spc="-50" dirty="0">
                          <a:latin typeface="Arial MT"/>
                          <a:cs typeface="Arial MT"/>
                        </a:rPr>
                        <a:t>2</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tc>
                  <a:txBody>
                    <a:bodyPr/>
                    <a:lstStyle/>
                    <a:p>
                      <a:pPr algn="ctr">
                        <a:lnSpc>
                          <a:spcPct val="100000"/>
                        </a:lnSpc>
                        <a:spcBef>
                          <a:spcPts val="310"/>
                        </a:spcBef>
                      </a:pPr>
                      <a:r>
                        <a:rPr sz="2300" spc="60" dirty="0">
                          <a:latin typeface="Arial MT"/>
                          <a:cs typeface="Arial MT"/>
                        </a:rPr>
                        <a:t>3</a:t>
                      </a:r>
                      <a:endParaRPr sz="2300">
                        <a:latin typeface="Arial MT"/>
                        <a:cs typeface="Arial MT"/>
                      </a:endParaRPr>
                    </a:p>
                  </a:txBody>
                  <a:tcPr marL="0" marR="0" marT="39370" marB="0">
                    <a:lnL w="9525">
                      <a:solidFill>
                        <a:srgbClr val="FD776E"/>
                      </a:solidFill>
                      <a:prstDash val="solid"/>
                    </a:lnL>
                    <a:lnR w="9525">
                      <a:solidFill>
                        <a:srgbClr val="FD776E"/>
                      </a:solidFill>
                      <a:prstDash val="solid"/>
                    </a:lnR>
                    <a:lnT w="9525">
                      <a:solidFill>
                        <a:srgbClr val="FD776E"/>
                      </a:solidFill>
                      <a:prstDash val="solid"/>
                    </a:lnT>
                    <a:lnB w="9525">
                      <a:solidFill>
                        <a:srgbClr val="FD776E"/>
                      </a:solidFill>
                      <a:prstDash val="solid"/>
                    </a:lnB>
                  </a:tcPr>
                </a:tc>
                <a:extLst>
                  <a:ext uri="{0D108BD9-81ED-4DB2-BD59-A6C34878D82A}">
                    <a16:rowId xmlns:a16="http://schemas.microsoft.com/office/drawing/2014/main" val="10002"/>
                  </a:ext>
                </a:extLst>
              </a:tr>
            </a:tbl>
          </a:graphicData>
        </a:graphic>
      </p:graphicFrame>
      <p:sp>
        <p:nvSpPr>
          <p:cNvPr id="7" name="object 7"/>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4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Black"/>
                          <a:cs typeface="Arial Black"/>
                        </a:rPr>
                        <a:t>P3</a:t>
                      </a:r>
                      <a:endParaRPr sz="2950">
                        <a:latin typeface="Arial Black"/>
                        <a:cs typeface="Arial Black"/>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43455" y="3010453"/>
            <a:ext cx="10760710" cy="922687"/>
          </a:xfrm>
          <a:prstGeom prst="rect">
            <a:avLst/>
          </a:prstGeom>
        </p:spPr>
        <p:txBody>
          <a:bodyPr vert="horz" wrap="square" lIns="0" tIns="14604" rIns="0" bIns="0" rtlCol="0">
            <a:spAutoFit/>
          </a:bodyPr>
          <a:lstStyle/>
          <a:p>
            <a:pPr marL="12700">
              <a:lnSpc>
                <a:spcPct val="100000"/>
              </a:lnSpc>
              <a:spcBef>
                <a:spcPts val="114"/>
              </a:spcBef>
            </a:pPr>
            <a:r>
              <a:rPr sz="2950" dirty="0">
                <a:latin typeface="Tahoma"/>
                <a:cs typeface="Tahoma"/>
              </a:rPr>
              <a:t>Arrancamos tomando un punto para armar el árbol, elijamos el punto </a:t>
            </a:r>
            <a:r>
              <a:rPr sz="2950" b="1" dirty="0">
                <a:latin typeface="Calibri"/>
                <a:cs typeface="Calibri"/>
              </a:rPr>
              <a:t>P3</a:t>
            </a:r>
            <a:r>
              <a:rPr sz="2950" dirty="0">
                <a:latin typeface="Tahoma"/>
                <a:cs typeface="Tahoma"/>
              </a:rPr>
              <a:t>:</a:t>
            </a:r>
            <a:endParaRPr sz="2950">
              <a:latin typeface="Tahoma"/>
              <a:cs typeface="Tahoma"/>
            </a:endParaRPr>
          </a:p>
        </p:txBody>
      </p:sp>
      <p:grpSp>
        <p:nvGrpSpPr>
          <p:cNvPr id="6" name="object 6"/>
          <p:cNvGrpSpPr/>
          <p:nvPr/>
        </p:nvGrpSpPr>
        <p:grpSpPr>
          <a:xfrm>
            <a:off x="7857341" y="4773906"/>
            <a:ext cx="1139825" cy="666750"/>
            <a:chOff x="7857341" y="4773906"/>
            <a:chExt cx="1139825" cy="666750"/>
          </a:xfrm>
        </p:grpSpPr>
        <p:sp>
          <p:nvSpPr>
            <p:cNvPr id="7" name="object 7"/>
            <p:cNvSpPr/>
            <p:nvPr/>
          </p:nvSpPr>
          <p:spPr>
            <a:xfrm>
              <a:off x="7881153" y="4797718"/>
              <a:ext cx="1092200" cy="619125"/>
            </a:xfrm>
            <a:custGeom>
              <a:avLst/>
              <a:gdLst/>
              <a:ahLst/>
              <a:cxnLst/>
              <a:rect l="l" t="t" r="r" b="b"/>
              <a:pathLst>
                <a:path w="1092200" h="619125">
                  <a:moveTo>
                    <a:pt x="545931" y="0"/>
                  </a:moveTo>
                  <a:lnTo>
                    <a:pt x="486445" y="1814"/>
                  </a:lnTo>
                  <a:lnTo>
                    <a:pt x="428816" y="7132"/>
                  </a:lnTo>
                  <a:lnTo>
                    <a:pt x="373374" y="15765"/>
                  </a:lnTo>
                  <a:lnTo>
                    <a:pt x="320454" y="27524"/>
                  </a:lnTo>
                  <a:lnTo>
                    <a:pt x="270389" y="42221"/>
                  </a:lnTo>
                  <a:lnTo>
                    <a:pt x="223511" y="59667"/>
                  </a:lnTo>
                  <a:lnTo>
                    <a:pt x="180153" y="79673"/>
                  </a:lnTo>
                  <a:lnTo>
                    <a:pt x="140650" y="102050"/>
                  </a:lnTo>
                  <a:lnTo>
                    <a:pt x="105333" y="126610"/>
                  </a:lnTo>
                  <a:lnTo>
                    <a:pt x="74535" y="153165"/>
                  </a:lnTo>
                  <a:lnTo>
                    <a:pt x="48590" y="181525"/>
                  </a:lnTo>
                  <a:lnTo>
                    <a:pt x="12591" y="242908"/>
                  </a:lnTo>
                  <a:lnTo>
                    <a:pt x="0" y="309250"/>
                  </a:lnTo>
                  <a:lnTo>
                    <a:pt x="3203" y="342946"/>
                  </a:lnTo>
                  <a:lnTo>
                    <a:pt x="27831" y="406997"/>
                  </a:lnTo>
                  <a:lnTo>
                    <a:pt x="74535" y="465335"/>
                  </a:lnTo>
                  <a:lnTo>
                    <a:pt x="105333" y="491890"/>
                  </a:lnTo>
                  <a:lnTo>
                    <a:pt x="140650" y="516450"/>
                  </a:lnTo>
                  <a:lnTo>
                    <a:pt x="180153" y="538828"/>
                  </a:lnTo>
                  <a:lnTo>
                    <a:pt x="223511" y="558834"/>
                  </a:lnTo>
                  <a:lnTo>
                    <a:pt x="270389" y="576279"/>
                  </a:lnTo>
                  <a:lnTo>
                    <a:pt x="320454" y="590976"/>
                  </a:lnTo>
                  <a:lnTo>
                    <a:pt x="373374" y="602735"/>
                  </a:lnTo>
                  <a:lnTo>
                    <a:pt x="428816" y="611368"/>
                  </a:lnTo>
                  <a:lnTo>
                    <a:pt x="486445" y="616686"/>
                  </a:lnTo>
                  <a:lnTo>
                    <a:pt x="545931" y="618501"/>
                  </a:lnTo>
                  <a:lnTo>
                    <a:pt x="605416" y="616686"/>
                  </a:lnTo>
                  <a:lnTo>
                    <a:pt x="663045" y="611368"/>
                  </a:lnTo>
                  <a:lnTo>
                    <a:pt x="718487" y="602735"/>
                  </a:lnTo>
                  <a:lnTo>
                    <a:pt x="771407" y="590976"/>
                  </a:lnTo>
                  <a:lnTo>
                    <a:pt x="821472" y="576279"/>
                  </a:lnTo>
                  <a:lnTo>
                    <a:pt x="868350" y="558834"/>
                  </a:lnTo>
                  <a:lnTo>
                    <a:pt x="911708" y="538828"/>
                  </a:lnTo>
                  <a:lnTo>
                    <a:pt x="951211" y="516450"/>
                  </a:lnTo>
                  <a:lnTo>
                    <a:pt x="986528" y="491890"/>
                  </a:lnTo>
                  <a:lnTo>
                    <a:pt x="1017326" y="465335"/>
                  </a:lnTo>
                  <a:lnTo>
                    <a:pt x="1043271" y="436974"/>
                  </a:lnTo>
                  <a:lnTo>
                    <a:pt x="1079270" y="375591"/>
                  </a:lnTo>
                  <a:lnTo>
                    <a:pt x="1091862" y="309250"/>
                  </a:lnTo>
                  <a:lnTo>
                    <a:pt x="1088658" y="275553"/>
                  </a:lnTo>
                  <a:lnTo>
                    <a:pt x="1064030" y="211503"/>
                  </a:lnTo>
                  <a:lnTo>
                    <a:pt x="1017326" y="153165"/>
                  </a:lnTo>
                  <a:lnTo>
                    <a:pt x="986528" y="126610"/>
                  </a:lnTo>
                  <a:lnTo>
                    <a:pt x="951211" y="102050"/>
                  </a:lnTo>
                  <a:lnTo>
                    <a:pt x="911708" y="79673"/>
                  </a:lnTo>
                  <a:lnTo>
                    <a:pt x="868350" y="59667"/>
                  </a:lnTo>
                  <a:lnTo>
                    <a:pt x="821472" y="42221"/>
                  </a:lnTo>
                  <a:lnTo>
                    <a:pt x="771407" y="27524"/>
                  </a:lnTo>
                  <a:lnTo>
                    <a:pt x="718487" y="15765"/>
                  </a:lnTo>
                  <a:lnTo>
                    <a:pt x="663045" y="7132"/>
                  </a:lnTo>
                  <a:lnTo>
                    <a:pt x="605416" y="1814"/>
                  </a:lnTo>
                  <a:lnTo>
                    <a:pt x="545931" y="0"/>
                  </a:lnTo>
                  <a:close/>
                </a:path>
              </a:pathLst>
            </a:custGeom>
            <a:solidFill>
              <a:srgbClr val="FFFFFF"/>
            </a:solidFill>
          </p:spPr>
          <p:txBody>
            <a:bodyPr wrap="square" lIns="0" tIns="0" rIns="0" bIns="0" rtlCol="0"/>
            <a:lstStyle/>
            <a:p>
              <a:endParaRPr/>
            </a:p>
          </p:txBody>
        </p:sp>
        <p:sp>
          <p:nvSpPr>
            <p:cNvPr id="8" name="object 8"/>
            <p:cNvSpPr/>
            <p:nvPr/>
          </p:nvSpPr>
          <p:spPr>
            <a:xfrm>
              <a:off x="7881153" y="4797718"/>
              <a:ext cx="1092200" cy="619125"/>
            </a:xfrm>
            <a:custGeom>
              <a:avLst/>
              <a:gdLst/>
              <a:ahLst/>
              <a:cxnLst/>
              <a:rect l="l" t="t" r="r" b="b"/>
              <a:pathLst>
                <a:path w="1092200" h="619125">
                  <a:moveTo>
                    <a:pt x="0" y="309251"/>
                  </a:moveTo>
                  <a:lnTo>
                    <a:pt x="12591" y="242909"/>
                  </a:lnTo>
                  <a:lnTo>
                    <a:pt x="48590" y="181526"/>
                  </a:lnTo>
                  <a:lnTo>
                    <a:pt x="74535" y="153166"/>
                  </a:lnTo>
                  <a:lnTo>
                    <a:pt x="105332" y="126611"/>
                  </a:lnTo>
                  <a:lnTo>
                    <a:pt x="140650" y="102050"/>
                  </a:lnTo>
                  <a:lnTo>
                    <a:pt x="180153" y="79673"/>
                  </a:lnTo>
                  <a:lnTo>
                    <a:pt x="223511" y="59667"/>
                  </a:lnTo>
                  <a:lnTo>
                    <a:pt x="270388" y="42221"/>
                  </a:lnTo>
                  <a:lnTo>
                    <a:pt x="320454" y="27525"/>
                  </a:lnTo>
                  <a:lnTo>
                    <a:pt x="373374" y="15765"/>
                  </a:lnTo>
                  <a:lnTo>
                    <a:pt x="428815" y="7132"/>
                  </a:lnTo>
                  <a:lnTo>
                    <a:pt x="486445" y="1814"/>
                  </a:lnTo>
                  <a:lnTo>
                    <a:pt x="545930" y="0"/>
                  </a:lnTo>
                  <a:lnTo>
                    <a:pt x="605415" y="1814"/>
                  </a:lnTo>
                  <a:lnTo>
                    <a:pt x="663045" y="7132"/>
                  </a:lnTo>
                  <a:lnTo>
                    <a:pt x="718486" y="15765"/>
                  </a:lnTo>
                  <a:lnTo>
                    <a:pt x="771406" y="27525"/>
                  </a:lnTo>
                  <a:lnTo>
                    <a:pt x="821471" y="42221"/>
                  </a:lnTo>
                  <a:lnTo>
                    <a:pt x="868349" y="59667"/>
                  </a:lnTo>
                  <a:lnTo>
                    <a:pt x="911707" y="79673"/>
                  </a:lnTo>
                  <a:lnTo>
                    <a:pt x="951210" y="102050"/>
                  </a:lnTo>
                  <a:lnTo>
                    <a:pt x="986528" y="126611"/>
                  </a:lnTo>
                  <a:lnTo>
                    <a:pt x="1017325" y="153166"/>
                  </a:lnTo>
                  <a:lnTo>
                    <a:pt x="1043270" y="181526"/>
                  </a:lnTo>
                  <a:lnTo>
                    <a:pt x="1079269" y="242909"/>
                  </a:lnTo>
                  <a:lnTo>
                    <a:pt x="1091861" y="309251"/>
                  </a:lnTo>
                  <a:lnTo>
                    <a:pt x="1088657" y="342947"/>
                  </a:lnTo>
                  <a:lnTo>
                    <a:pt x="1064029" y="406998"/>
                  </a:lnTo>
                  <a:lnTo>
                    <a:pt x="1017325" y="465335"/>
                  </a:lnTo>
                  <a:lnTo>
                    <a:pt x="986528" y="491890"/>
                  </a:lnTo>
                  <a:lnTo>
                    <a:pt x="951210" y="516451"/>
                  </a:lnTo>
                  <a:lnTo>
                    <a:pt x="911707" y="538828"/>
                  </a:lnTo>
                  <a:lnTo>
                    <a:pt x="868349" y="558834"/>
                  </a:lnTo>
                  <a:lnTo>
                    <a:pt x="821471" y="576280"/>
                  </a:lnTo>
                  <a:lnTo>
                    <a:pt x="771406" y="590976"/>
                  </a:lnTo>
                  <a:lnTo>
                    <a:pt x="718486" y="602736"/>
                  </a:lnTo>
                  <a:lnTo>
                    <a:pt x="663045" y="611369"/>
                  </a:lnTo>
                  <a:lnTo>
                    <a:pt x="605415" y="616687"/>
                  </a:lnTo>
                  <a:lnTo>
                    <a:pt x="545930" y="618502"/>
                  </a:lnTo>
                  <a:lnTo>
                    <a:pt x="486445" y="616687"/>
                  </a:lnTo>
                  <a:lnTo>
                    <a:pt x="428815" y="611369"/>
                  </a:lnTo>
                  <a:lnTo>
                    <a:pt x="373374" y="602736"/>
                  </a:lnTo>
                  <a:lnTo>
                    <a:pt x="320454" y="590976"/>
                  </a:lnTo>
                  <a:lnTo>
                    <a:pt x="270388" y="576280"/>
                  </a:lnTo>
                  <a:lnTo>
                    <a:pt x="223511" y="558834"/>
                  </a:lnTo>
                  <a:lnTo>
                    <a:pt x="180153" y="538828"/>
                  </a:lnTo>
                  <a:lnTo>
                    <a:pt x="140650" y="516451"/>
                  </a:lnTo>
                  <a:lnTo>
                    <a:pt x="105332" y="491890"/>
                  </a:lnTo>
                  <a:lnTo>
                    <a:pt x="74535" y="465335"/>
                  </a:lnTo>
                  <a:lnTo>
                    <a:pt x="48590" y="436975"/>
                  </a:lnTo>
                  <a:lnTo>
                    <a:pt x="12591" y="375592"/>
                  </a:lnTo>
                  <a:lnTo>
                    <a:pt x="0" y="309251"/>
                  </a:lnTo>
                  <a:close/>
                </a:path>
              </a:pathLst>
            </a:custGeom>
            <a:ln w="47118">
              <a:solidFill>
                <a:srgbClr val="FF7D74"/>
              </a:solidFill>
            </a:ln>
          </p:spPr>
          <p:txBody>
            <a:bodyPr wrap="square" lIns="0" tIns="0" rIns="0" bIns="0" rtlCol="0"/>
            <a:lstStyle/>
            <a:p>
              <a:endParaRPr/>
            </a:p>
          </p:txBody>
        </p:sp>
      </p:grpSp>
      <p:sp>
        <p:nvSpPr>
          <p:cNvPr id="9" name="object 9"/>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pic>
        <p:nvPicPr>
          <p:cNvPr id="10" name="object 10"/>
          <p:cNvPicPr/>
          <p:nvPr/>
        </p:nvPicPr>
        <p:blipFill>
          <a:blip r:embed="rId3" cstate="print"/>
          <a:stretch>
            <a:fillRect/>
          </a:stretch>
        </p:blipFill>
        <p:spPr>
          <a:xfrm>
            <a:off x="13427842" y="5325643"/>
            <a:ext cx="5426284" cy="4562097"/>
          </a:xfrm>
          <a:prstGeom prst="rect">
            <a:avLst/>
          </a:prstGeom>
        </p:spPr>
      </p:pic>
      <p:sp>
        <p:nvSpPr>
          <p:cNvPr id="12" name="object 12"/>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4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Black"/>
                          <a:cs typeface="Arial Black"/>
                        </a:rPr>
                        <a:t>P3</a:t>
                      </a:r>
                      <a:endParaRPr sz="2950">
                        <a:latin typeface="Arial Black"/>
                        <a:cs typeface="Arial Black"/>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grpSp>
        <p:nvGrpSpPr>
          <p:cNvPr id="5" name="object 5"/>
          <p:cNvGrpSpPr/>
          <p:nvPr/>
        </p:nvGrpSpPr>
        <p:grpSpPr>
          <a:xfrm>
            <a:off x="7857341" y="4773906"/>
            <a:ext cx="1139825" cy="666750"/>
            <a:chOff x="7857341" y="4773906"/>
            <a:chExt cx="1139825" cy="666750"/>
          </a:xfrm>
        </p:grpSpPr>
        <p:sp>
          <p:nvSpPr>
            <p:cNvPr id="6" name="object 6"/>
            <p:cNvSpPr/>
            <p:nvPr/>
          </p:nvSpPr>
          <p:spPr>
            <a:xfrm>
              <a:off x="7881153" y="4797718"/>
              <a:ext cx="1092200" cy="619125"/>
            </a:xfrm>
            <a:custGeom>
              <a:avLst/>
              <a:gdLst/>
              <a:ahLst/>
              <a:cxnLst/>
              <a:rect l="l" t="t" r="r" b="b"/>
              <a:pathLst>
                <a:path w="1092200" h="619125">
                  <a:moveTo>
                    <a:pt x="545931" y="0"/>
                  </a:moveTo>
                  <a:lnTo>
                    <a:pt x="486445" y="1814"/>
                  </a:lnTo>
                  <a:lnTo>
                    <a:pt x="428816" y="7132"/>
                  </a:lnTo>
                  <a:lnTo>
                    <a:pt x="373374" y="15765"/>
                  </a:lnTo>
                  <a:lnTo>
                    <a:pt x="320454" y="27524"/>
                  </a:lnTo>
                  <a:lnTo>
                    <a:pt x="270389" y="42221"/>
                  </a:lnTo>
                  <a:lnTo>
                    <a:pt x="223511" y="59667"/>
                  </a:lnTo>
                  <a:lnTo>
                    <a:pt x="180153" y="79673"/>
                  </a:lnTo>
                  <a:lnTo>
                    <a:pt x="140650" y="102050"/>
                  </a:lnTo>
                  <a:lnTo>
                    <a:pt x="105333" y="126610"/>
                  </a:lnTo>
                  <a:lnTo>
                    <a:pt x="74535" y="153165"/>
                  </a:lnTo>
                  <a:lnTo>
                    <a:pt x="48590" y="181525"/>
                  </a:lnTo>
                  <a:lnTo>
                    <a:pt x="12591" y="242908"/>
                  </a:lnTo>
                  <a:lnTo>
                    <a:pt x="0" y="309250"/>
                  </a:lnTo>
                  <a:lnTo>
                    <a:pt x="3203" y="342946"/>
                  </a:lnTo>
                  <a:lnTo>
                    <a:pt x="27831" y="406997"/>
                  </a:lnTo>
                  <a:lnTo>
                    <a:pt x="74535" y="465335"/>
                  </a:lnTo>
                  <a:lnTo>
                    <a:pt x="105333" y="491890"/>
                  </a:lnTo>
                  <a:lnTo>
                    <a:pt x="140650" y="516450"/>
                  </a:lnTo>
                  <a:lnTo>
                    <a:pt x="180153" y="538828"/>
                  </a:lnTo>
                  <a:lnTo>
                    <a:pt x="223511" y="558834"/>
                  </a:lnTo>
                  <a:lnTo>
                    <a:pt x="270389" y="576279"/>
                  </a:lnTo>
                  <a:lnTo>
                    <a:pt x="320454" y="590976"/>
                  </a:lnTo>
                  <a:lnTo>
                    <a:pt x="373374" y="602735"/>
                  </a:lnTo>
                  <a:lnTo>
                    <a:pt x="428816" y="611368"/>
                  </a:lnTo>
                  <a:lnTo>
                    <a:pt x="486445" y="616686"/>
                  </a:lnTo>
                  <a:lnTo>
                    <a:pt x="545931" y="618501"/>
                  </a:lnTo>
                  <a:lnTo>
                    <a:pt x="605416" y="616686"/>
                  </a:lnTo>
                  <a:lnTo>
                    <a:pt x="663045" y="611368"/>
                  </a:lnTo>
                  <a:lnTo>
                    <a:pt x="718487" y="602735"/>
                  </a:lnTo>
                  <a:lnTo>
                    <a:pt x="771407" y="590976"/>
                  </a:lnTo>
                  <a:lnTo>
                    <a:pt x="821472" y="576279"/>
                  </a:lnTo>
                  <a:lnTo>
                    <a:pt x="868350" y="558834"/>
                  </a:lnTo>
                  <a:lnTo>
                    <a:pt x="911708" y="538828"/>
                  </a:lnTo>
                  <a:lnTo>
                    <a:pt x="951211" y="516450"/>
                  </a:lnTo>
                  <a:lnTo>
                    <a:pt x="986528" y="491890"/>
                  </a:lnTo>
                  <a:lnTo>
                    <a:pt x="1017326" y="465335"/>
                  </a:lnTo>
                  <a:lnTo>
                    <a:pt x="1043271" y="436974"/>
                  </a:lnTo>
                  <a:lnTo>
                    <a:pt x="1079270" y="375591"/>
                  </a:lnTo>
                  <a:lnTo>
                    <a:pt x="1091862" y="309250"/>
                  </a:lnTo>
                  <a:lnTo>
                    <a:pt x="1088658" y="275553"/>
                  </a:lnTo>
                  <a:lnTo>
                    <a:pt x="1064030" y="211503"/>
                  </a:lnTo>
                  <a:lnTo>
                    <a:pt x="1017326" y="153165"/>
                  </a:lnTo>
                  <a:lnTo>
                    <a:pt x="986528" y="126610"/>
                  </a:lnTo>
                  <a:lnTo>
                    <a:pt x="951211" y="102050"/>
                  </a:lnTo>
                  <a:lnTo>
                    <a:pt x="911708" y="79673"/>
                  </a:lnTo>
                  <a:lnTo>
                    <a:pt x="868350" y="59667"/>
                  </a:lnTo>
                  <a:lnTo>
                    <a:pt x="821472" y="42221"/>
                  </a:lnTo>
                  <a:lnTo>
                    <a:pt x="771407" y="27524"/>
                  </a:lnTo>
                  <a:lnTo>
                    <a:pt x="718487" y="15765"/>
                  </a:lnTo>
                  <a:lnTo>
                    <a:pt x="663045" y="7132"/>
                  </a:lnTo>
                  <a:lnTo>
                    <a:pt x="605416" y="1814"/>
                  </a:lnTo>
                  <a:lnTo>
                    <a:pt x="545931" y="0"/>
                  </a:lnTo>
                  <a:close/>
                </a:path>
              </a:pathLst>
            </a:custGeom>
            <a:solidFill>
              <a:srgbClr val="FFFFFF"/>
            </a:solidFill>
          </p:spPr>
          <p:txBody>
            <a:bodyPr wrap="square" lIns="0" tIns="0" rIns="0" bIns="0" rtlCol="0"/>
            <a:lstStyle/>
            <a:p>
              <a:endParaRPr/>
            </a:p>
          </p:txBody>
        </p:sp>
        <p:sp>
          <p:nvSpPr>
            <p:cNvPr id="7" name="object 7"/>
            <p:cNvSpPr/>
            <p:nvPr/>
          </p:nvSpPr>
          <p:spPr>
            <a:xfrm>
              <a:off x="7881153" y="4797718"/>
              <a:ext cx="1092200" cy="619125"/>
            </a:xfrm>
            <a:custGeom>
              <a:avLst/>
              <a:gdLst/>
              <a:ahLst/>
              <a:cxnLst/>
              <a:rect l="l" t="t" r="r" b="b"/>
              <a:pathLst>
                <a:path w="1092200" h="619125">
                  <a:moveTo>
                    <a:pt x="0" y="309251"/>
                  </a:moveTo>
                  <a:lnTo>
                    <a:pt x="12591" y="242909"/>
                  </a:lnTo>
                  <a:lnTo>
                    <a:pt x="48590" y="181526"/>
                  </a:lnTo>
                  <a:lnTo>
                    <a:pt x="74535" y="153166"/>
                  </a:lnTo>
                  <a:lnTo>
                    <a:pt x="105332" y="126611"/>
                  </a:lnTo>
                  <a:lnTo>
                    <a:pt x="140650" y="102050"/>
                  </a:lnTo>
                  <a:lnTo>
                    <a:pt x="180153" y="79673"/>
                  </a:lnTo>
                  <a:lnTo>
                    <a:pt x="223511" y="59667"/>
                  </a:lnTo>
                  <a:lnTo>
                    <a:pt x="270388" y="42221"/>
                  </a:lnTo>
                  <a:lnTo>
                    <a:pt x="320454" y="27525"/>
                  </a:lnTo>
                  <a:lnTo>
                    <a:pt x="373374" y="15765"/>
                  </a:lnTo>
                  <a:lnTo>
                    <a:pt x="428815" y="7132"/>
                  </a:lnTo>
                  <a:lnTo>
                    <a:pt x="486445" y="1814"/>
                  </a:lnTo>
                  <a:lnTo>
                    <a:pt x="545930" y="0"/>
                  </a:lnTo>
                  <a:lnTo>
                    <a:pt x="605415" y="1814"/>
                  </a:lnTo>
                  <a:lnTo>
                    <a:pt x="663045" y="7132"/>
                  </a:lnTo>
                  <a:lnTo>
                    <a:pt x="718486" y="15765"/>
                  </a:lnTo>
                  <a:lnTo>
                    <a:pt x="771406" y="27525"/>
                  </a:lnTo>
                  <a:lnTo>
                    <a:pt x="821471" y="42221"/>
                  </a:lnTo>
                  <a:lnTo>
                    <a:pt x="868349" y="59667"/>
                  </a:lnTo>
                  <a:lnTo>
                    <a:pt x="911707" y="79673"/>
                  </a:lnTo>
                  <a:lnTo>
                    <a:pt x="951210" y="102050"/>
                  </a:lnTo>
                  <a:lnTo>
                    <a:pt x="986528" y="126611"/>
                  </a:lnTo>
                  <a:lnTo>
                    <a:pt x="1017325" y="153166"/>
                  </a:lnTo>
                  <a:lnTo>
                    <a:pt x="1043270" y="181526"/>
                  </a:lnTo>
                  <a:lnTo>
                    <a:pt x="1079269" y="242909"/>
                  </a:lnTo>
                  <a:lnTo>
                    <a:pt x="1091861" y="309251"/>
                  </a:lnTo>
                  <a:lnTo>
                    <a:pt x="1088657" y="342947"/>
                  </a:lnTo>
                  <a:lnTo>
                    <a:pt x="1064029" y="406998"/>
                  </a:lnTo>
                  <a:lnTo>
                    <a:pt x="1017325" y="465335"/>
                  </a:lnTo>
                  <a:lnTo>
                    <a:pt x="986528" y="491890"/>
                  </a:lnTo>
                  <a:lnTo>
                    <a:pt x="951210" y="516451"/>
                  </a:lnTo>
                  <a:lnTo>
                    <a:pt x="911707" y="538828"/>
                  </a:lnTo>
                  <a:lnTo>
                    <a:pt x="868349" y="558834"/>
                  </a:lnTo>
                  <a:lnTo>
                    <a:pt x="821471" y="576280"/>
                  </a:lnTo>
                  <a:lnTo>
                    <a:pt x="771406" y="590976"/>
                  </a:lnTo>
                  <a:lnTo>
                    <a:pt x="718486" y="602736"/>
                  </a:lnTo>
                  <a:lnTo>
                    <a:pt x="663045" y="611369"/>
                  </a:lnTo>
                  <a:lnTo>
                    <a:pt x="605415" y="616687"/>
                  </a:lnTo>
                  <a:lnTo>
                    <a:pt x="545930" y="618502"/>
                  </a:lnTo>
                  <a:lnTo>
                    <a:pt x="486445" y="616687"/>
                  </a:lnTo>
                  <a:lnTo>
                    <a:pt x="428815" y="611369"/>
                  </a:lnTo>
                  <a:lnTo>
                    <a:pt x="373374" y="602736"/>
                  </a:lnTo>
                  <a:lnTo>
                    <a:pt x="320454" y="590976"/>
                  </a:lnTo>
                  <a:lnTo>
                    <a:pt x="270388" y="576280"/>
                  </a:lnTo>
                  <a:lnTo>
                    <a:pt x="223511" y="558834"/>
                  </a:lnTo>
                  <a:lnTo>
                    <a:pt x="180153" y="538828"/>
                  </a:lnTo>
                  <a:lnTo>
                    <a:pt x="140650" y="516451"/>
                  </a:lnTo>
                  <a:lnTo>
                    <a:pt x="105332" y="491890"/>
                  </a:lnTo>
                  <a:lnTo>
                    <a:pt x="74535" y="465335"/>
                  </a:lnTo>
                  <a:lnTo>
                    <a:pt x="48590" y="436975"/>
                  </a:lnTo>
                  <a:lnTo>
                    <a:pt x="12591" y="375592"/>
                  </a:lnTo>
                  <a:lnTo>
                    <a:pt x="0" y="309251"/>
                  </a:lnTo>
                  <a:close/>
                </a:path>
              </a:pathLst>
            </a:custGeom>
            <a:ln w="47118">
              <a:solidFill>
                <a:srgbClr val="FF7D74"/>
              </a:solidFill>
            </a:ln>
          </p:spPr>
          <p:txBody>
            <a:bodyPr wrap="square" lIns="0" tIns="0" rIns="0" bIns="0" rtlCol="0"/>
            <a:lstStyle/>
            <a:p>
              <a:endParaRPr/>
            </a:p>
          </p:txBody>
        </p:sp>
      </p:grpSp>
      <p:sp>
        <p:nvSpPr>
          <p:cNvPr id="8" name="object 8"/>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9" name="object 9"/>
          <p:cNvSpPr txBox="1"/>
          <p:nvPr/>
        </p:nvSpPr>
        <p:spPr>
          <a:xfrm>
            <a:off x="4718055" y="3010453"/>
            <a:ext cx="10811510" cy="905375"/>
          </a:xfrm>
          <a:prstGeom prst="rect">
            <a:avLst/>
          </a:prstGeom>
        </p:spPr>
        <p:txBody>
          <a:bodyPr vert="horz" wrap="square" lIns="0" tIns="58419" rIns="0" bIns="0" rtlCol="0">
            <a:spAutoFit/>
          </a:bodyPr>
          <a:lstStyle/>
          <a:p>
            <a:pPr marL="57150" marR="30480" indent="-19685">
              <a:lnSpc>
                <a:spcPts val="3260"/>
              </a:lnSpc>
              <a:spcBef>
                <a:spcPts val="459"/>
              </a:spcBef>
            </a:pPr>
            <a:r>
              <a:rPr sz="2950" dirty="0">
                <a:latin typeface="Tahoma"/>
                <a:cs typeface="Tahoma"/>
              </a:rPr>
              <a:t>Arrancamos tomando un punto para armar el árbol, elijamos el punto </a:t>
            </a:r>
            <a:r>
              <a:rPr sz="2950" b="1" dirty="0">
                <a:latin typeface="Calibri"/>
                <a:cs typeface="Calibri"/>
              </a:rPr>
              <a:t>P3</a:t>
            </a:r>
            <a:r>
              <a:rPr sz="2950" dirty="0">
                <a:latin typeface="Tahoma"/>
                <a:cs typeface="Tahoma"/>
              </a:rPr>
              <a:t>: Separamos el espacio en dos con respecto al eje x</a:t>
            </a:r>
            <a:r>
              <a:rPr sz="2925" baseline="-18518" dirty="0">
                <a:latin typeface="Tahoma"/>
                <a:cs typeface="Tahoma"/>
              </a:rPr>
              <a:t>1</a:t>
            </a:r>
          </a:p>
        </p:txBody>
      </p:sp>
      <p:pic>
        <p:nvPicPr>
          <p:cNvPr id="10" name="object 10"/>
          <p:cNvPicPr/>
          <p:nvPr/>
        </p:nvPicPr>
        <p:blipFill>
          <a:blip r:embed="rId3" cstate="print"/>
          <a:stretch>
            <a:fillRect/>
          </a:stretch>
        </p:blipFill>
        <p:spPr>
          <a:xfrm>
            <a:off x="13427842" y="5325643"/>
            <a:ext cx="5426284" cy="4562097"/>
          </a:xfrm>
          <a:prstGeom prst="rect">
            <a:avLst/>
          </a:prstGeom>
        </p:spPr>
      </p:pic>
      <p:sp>
        <p:nvSpPr>
          <p:cNvPr id="12" name="object 12"/>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434" dirty="0">
                          <a:latin typeface="Arial Black"/>
                          <a:cs typeface="Arial Black"/>
                        </a:rPr>
                        <a:t>P1</a:t>
                      </a:r>
                      <a:endParaRPr sz="2950">
                        <a:latin typeface="Arial Black"/>
                        <a:cs typeface="Arial Black"/>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Black"/>
                          <a:cs typeface="Arial Black"/>
                        </a:rPr>
                        <a:t>P3</a:t>
                      </a:r>
                      <a:endParaRPr sz="2950">
                        <a:latin typeface="Arial Black"/>
                        <a:cs typeface="Arial Black"/>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Black"/>
                          <a:cs typeface="Arial Black"/>
                        </a:rPr>
                        <a:t>P6</a:t>
                      </a:r>
                      <a:endParaRPr sz="2950">
                        <a:latin typeface="Arial Black"/>
                        <a:cs typeface="Arial Black"/>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18055" y="2967733"/>
            <a:ext cx="14754860" cy="1184234"/>
          </a:xfrm>
          <a:prstGeom prst="rect">
            <a:avLst/>
          </a:prstGeom>
        </p:spPr>
        <p:txBody>
          <a:bodyPr vert="horz" wrap="square" lIns="0" tIns="107314" rIns="0" bIns="0" rtlCol="0">
            <a:spAutoFit/>
          </a:bodyPr>
          <a:lstStyle/>
          <a:p>
            <a:pPr marL="38100" marR="30480">
              <a:lnSpc>
                <a:spcPct val="79400"/>
              </a:lnSpc>
              <a:spcBef>
                <a:spcPts val="844"/>
              </a:spcBef>
            </a:pPr>
            <a:r>
              <a:rPr sz="2950" dirty="0">
                <a:latin typeface="Tahoma"/>
                <a:cs typeface="Tahoma"/>
              </a:rPr>
              <a:t>Una vez separado el espacio, para cada lado, buscamos quien está arriba o debajo inmediatamente con respecto al eje x</a:t>
            </a:r>
            <a:r>
              <a:rPr sz="2925" baseline="-18518" dirty="0">
                <a:latin typeface="Tahoma"/>
                <a:cs typeface="Tahoma"/>
              </a:rPr>
              <a:t>2</a:t>
            </a:r>
            <a:r>
              <a:rPr sz="2950" dirty="0">
                <a:latin typeface="Tahoma"/>
                <a:cs typeface="Tahoma"/>
              </a:rPr>
              <a:t>, y los usamos para separar con respecto a este eje:</a:t>
            </a:r>
          </a:p>
        </p:txBody>
      </p:sp>
      <p:grpSp>
        <p:nvGrpSpPr>
          <p:cNvPr id="6" name="object 6"/>
          <p:cNvGrpSpPr/>
          <p:nvPr/>
        </p:nvGrpSpPr>
        <p:grpSpPr>
          <a:xfrm>
            <a:off x="7857341" y="4773906"/>
            <a:ext cx="1139825" cy="666750"/>
            <a:chOff x="7857341" y="4773906"/>
            <a:chExt cx="1139825" cy="666750"/>
          </a:xfrm>
        </p:grpSpPr>
        <p:sp>
          <p:nvSpPr>
            <p:cNvPr id="7" name="object 7"/>
            <p:cNvSpPr/>
            <p:nvPr/>
          </p:nvSpPr>
          <p:spPr>
            <a:xfrm>
              <a:off x="7881153" y="4797718"/>
              <a:ext cx="1092200" cy="619125"/>
            </a:xfrm>
            <a:custGeom>
              <a:avLst/>
              <a:gdLst/>
              <a:ahLst/>
              <a:cxnLst/>
              <a:rect l="l" t="t" r="r" b="b"/>
              <a:pathLst>
                <a:path w="1092200" h="619125">
                  <a:moveTo>
                    <a:pt x="545931" y="0"/>
                  </a:moveTo>
                  <a:lnTo>
                    <a:pt x="486445" y="1814"/>
                  </a:lnTo>
                  <a:lnTo>
                    <a:pt x="428816" y="7132"/>
                  </a:lnTo>
                  <a:lnTo>
                    <a:pt x="373374" y="15765"/>
                  </a:lnTo>
                  <a:lnTo>
                    <a:pt x="320454" y="27524"/>
                  </a:lnTo>
                  <a:lnTo>
                    <a:pt x="270389" y="42221"/>
                  </a:lnTo>
                  <a:lnTo>
                    <a:pt x="223511" y="59667"/>
                  </a:lnTo>
                  <a:lnTo>
                    <a:pt x="180153" y="79673"/>
                  </a:lnTo>
                  <a:lnTo>
                    <a:pt x="140650" y="102050"/>
                  </a:lnTo>
                  <a:lnTo>
                    <a:pt x="105333" y="126610"/>
                  </a:lnTo>
                  <a:lnTo>
                    <a:pt x="74535" y="153165"/>
                  </a:lnTo>
                  <a:lnTo>
                    <a:pt x="48590" y="181525"/>
                  </a:lnTo>
                  <a:lnTo>
                    <a:pt x="12591" y="242908"/>
                  </a:lnTo>
                  <a:lnTo>
                    <a:pt x="0" y="309250"/>
                  </a:lnTo>
                  <a:lnTo>
                    <a:pt x="3203" y="342946"/>
                  </a:lnTo>
                  <a:lnTo>
                    <a:pt x="27831" y="406997"/>
                  </a:lnTo>
                  <a:lnTo>
                    <a:pt x="74535" y="465335"/>
                  </a:lnTo>
                  <a:lnTo>
                    <a:pt x="105333" y="491890"/>
                  </a:lnTo>
                  <a:lnTo>
                    <a:pt x="140650" y="516450"/>
                  </a:lnTo>
                  <a:lnTo>
                    <a:pt x="180153" y="538828"/>
                  </a:lnTo>
                  <a:lnTo>
                    <a:pt x="223511" y="558834"/>
                  </a:lnTo>
                  <a:lnTo>
                    <a:pt x="270389" y="576279"/>
                  </a:lnTo>
                  <a:lnTo>
                    <a:pt x="320454" y="590976"/>
                  </a:lnTo>
                  <a:lnTo>
                    <a:pt x="373374" y="602735"/>
                  </a:lnTo>
                  <a:lnTo>
                    <a:pt x="428816" y="611368"/>
                  </a:lnTo>
                  <a:lnTo>
                    <a:pt x="486445" y="616686"/>
                  </a:lnTo>
                  <a:lnTo>
                    <a:pt x="545931" y="618501"/>
                  </a:lnTo>
                  <a:lnTo>
                    <a:pt x="605416" y="616686"/>
                  </a:lnTo>
                  <a:lnTo>
                    <a:pt x="663045" y="611368"/>
                  </a:lnTo>
                  <a:lnTo>
                    <a:pt x="718487" y="602735"/>
                  </a:lnTo>
                  <a:lnTo>
                    <a:pt x="771407" y="590976"/>
                  </a:lnTo>
                  <a:lnTo>
                    <a:pt x="821472" y="576279"/>
                  </a:lnTo>
                  <a:lnTo>
                    <a:pt x="868350" y="558834"/>
                  </a:lnTo>
                  <a:lnTo>
                    <a:pt x="911708" y="538828"/>
                  </a:lnTo>
                  <a:lnTo>
                    <a:pt x="951211" y="516450"/>
                  </a:lnTo>
                  <a:lnTo>
                    <a:pt x="986528" y="491890"/>
                  </a:lnTo>
                  <a:lnTo>
                    <a:pt x="1017326" y="465335"/>
                  </a:lnTo>
                  <a:lnTo>
                    <a:pt x="1043271" y="436974"/>
                  </a:lnTo>
                  <a:lnTo>
                    <a:pt x="1079270" y="375591"/>
                  </a:lnTo>
                  <a:lnTo>
                    <a:pt x="1091862" y="309250"/>
                  </a:lnTo>
                  <a:lnTo>
                    <a:pt x="1088658" y="275553"/>
                  </a:lnTo>
                  <a:lnTo>
                    <a:pt x="1064030" y="211503"/>
                  </a:lnTo>
                  <a:lnTo>
                    <a:pt x="1017326" y="153165"/>
                  </a:lnTo>
                  <a:lnTo>
                    <a:pt x="986528" y="126610"/>
                  </a:lnTo>
                  <a:lnTo>
                    <a:pt x="951211" y="102050"/>
                  </a:lnTo>
                  <a:lnTo>
                    <a:pt x="911708" y="79673"/>
                  </a:lnTo>
                  <a:lnTo>
                    <a:pt x="868350" y="59667"/>
                  </a:lnTo>
                  <a:lnTo>
                    <a:pt x="821472" y="42221"/>
                  </a:lnTo>
                  <a:lnTo>
                    <a:pt x="771407" y="27524"/>
                  </a:lnTo>
                  <a:lnTo>
                    <a:pt x="718487" y="15765"/>
                  </a:lnTo>
                  <a:lnTo>
                    <a:pt x="663045" y="7132"/>
                  </a:lnTo>
                  <a:lnTo>
                    <a:pt x="605416" y="1814"/>
                  </a:lnTo>
                  <a:lnTo>
                    <a:pt x="545931" y="0"/>
                  </a:lnTo>
                  <a:close/>
                </a:path>
              </a:pathLst>
            </a:custGeom>
            <a:solidFill>
              <a:srgbClr val="FFFFFF"/>
            </a:solidFill>
          </p:spPr>
          <p:txBody>
            <a:bodyPr wrap="square" lIns="0" tIns="0" rIns="0" bIns="0" rtlCol="0"/>
            <a:lstStyle/>
            <a:p>
              <a:endParaRPr/>
            </a:p>
          </p:txBody>
        </p:sp>
        <p:sp>
          <p:nvSpPr>
            <p:cNvPr id="8" name="object 8"/>
            <p:cNvSpPr/>
            <p:nvPr/>
          </p:nvSpPr>
          <p:spPr>
            <a:xfrm>
              <a:off x="7881153" y="4797718"/>
              <a:ext cx="1092200" cy="619125"/>
            </a:xfrm>
            <a:custGeom>
              <a:avLst/>
              <a:gdLst/>
              <a:ahLst/>
              <a:cxnLst/>
              <a:rect l="l" t="t" r="r" b="b"/>
              <a:pathLst>
                <a:path w="1092200" h="619125">
                  <a:moveTo>
                    <a:pt x="0" y="309251"/>
                  </a:moveTo>
                  <a:lnTo>
                    <a:pt x="12591" y="242909"/>
                  </a:lnTo>
                  <a:lnTo>
                    <a:pt x="48590" y="181526"/>
                  </a:lnTo>
                  <a:lnTo>
                    <a:pt x="74535" y="153166"/>
                  </a:lnTo>
                  <a:lnTo>
                    <a:pt x="105332" y="126611"/>
                  </a:lnTo>
                  <a:lnTo>
                    <a:pt x="140650" y="102050"/>
                  </a:lnTo>
                  <a:lnTo>
                    <a:pt x="180153" y="79673"/>
                  </a:lnTo>
                  <a:lnTo>
                    <a:pt x="223511" y="59667"/>
                  </a:lnTo>
                  <a:lnTo>
                    <a:pt x="270388" y="42221"/>
                  </a:lnTo>
                  <a:lnTo>
                    <a:pt x="320454" y="27525"/>
                  </a:lnTo>
                  <a:lnTo>
                    <a:pt x="373374" y="15765"/>
                  </a:lnTo>
                  <a:lnTo>
                    <a:pt x="428815" y="7132"/>
                  </a:lnTo>
                  <a:lnTo>
                    <a:pt x="486445" y="1814"/>
                  </a:lnTo>
                  <a:lnTo>
                    <a:pt x="545930" y="0"/>
                  </a:lnTo>
                  <a:lnTo>
                    <a:pt x="605415" y="1814"/>
                  </a:lnTo>
                  <a:lnTo>
                    <a:pt x="663045" y="7132"/>
                  </a:lnTo>
                  <a:lnTo>
                    <a:pt x="718486" y="15765"/>
                  </a:lnTo>
                  <a:lnTo>
                    <a:pt x="771406" y="27525"/>
                  </a:lnTo>
                  <a:lnTo>
                    <a:pt x="821471" y="42221"/>
                  </a:lnTo>
                  <a:lnTo>
                    <a:pt x="868349" y="59667"/>
                  </a:lnTo>
                  <a:lnTo>
                    <a:pt x="911707" y="79673"/>
                  </a:lnTo>
                  <a:lnTo>
                    <a:pt x="951210" y="102050"/>
                  </a:lnTo>
                  <a:lnTo>
                    <a:pt x="986528" y="126611"/>
                  </a:lnTo>
                  <a:lnTo>
                    <a:pt x="1017325" y="153166"/>
                  </a:lnTo>
                  <a:lnTo>
                    <a:pt x="1043270" y="181526"/>
                  </a:lnTo>
                  <a:lnTo>
                    <a:pt x="1079269" y="242909"/>
                  </a:lnTo>
                  <a:lnTo>
                    <a:pt x="1091861" y="309251"/>
                  </a:lnTo>
                  <a:lnTo>
                    <a:pt x="1088657" y="342947"/>
                  </a:lnTo>
                  <a:lnTo>
                    <a:pt x="1064029" y="406998"/>
                  </a:lnTo>
                  <a:lnTo>
                    <a:pt x="1017325" y="465335"/>
                  </a:lnTo>
                  <a:lnTo>
                    <a:pt x="986528" y="491890"/>
                  </a:lnTo>
                  <a:lnTo>
                    <a:pt x="951210" y="516451"/>
                  </a:lnTo>
                  <a:lnTo>
                    <a:pt x="911707" y="538828"/>
                  </a:lnTo>
                  <a:lnTo>
                    <a:pt x="868349" y="558834"/>
                  </a:lnTo>
                  <a:lnTo>
                    <a:pt x="821471" y="576280"/>
                  </a:lnTo>
                  <a:lnTo>
                    <a:pt x="771406" y="590976"/>
                  </a:lnTo>
                  <a:lnTo>
                    <a:pt x="718486" y="602736"/>
                  </a:lnTo>
                  <a:lnTo>
                    <a:pt x="663045" y="611369"/>
                  </a:lnTo>
                  <a:lnTo>
                    <a:pt x="605415" y="616687"/>
                  </a:lnTo>
                  <a:lnTo>
                    <a:pt x="545930" y="618502"/>
                  </a:lnTo>
                  <a:lnTo>
                    <a:pt x="486445" y="616687"/>
                  </a:lnTo>
                  <a:lnTo>
                    <a:pt x="428815" y="611369"/>
                  </a:lnTo>
                  <a:lnTo>
                    <a:pt x="373374" y="602736"/>
                  </a:lnTo>
                  <a:lnTo>
                    <a:pt x="320454" y="590976"/>
                  </a:lnTo>
                  <a:lnTo>
                    <a:pt x="270388" y="576280"/>
                  </a:lnTo>
                  <a:lnTo>
                    <a:pt x="223511" y="558834"/>
                  </a:lnTo>
                  <a:lnTo>
                    <a:pt x="180153" y="538828"/>
                  </a:lnTo>
                  <a:lnTo>
                    <a:pt x="140650" y="516451"/>
                  </a:lnTo>
                  <a:lnTo>
                    <a:pt x="105332" y="491890"/>
                  </a:lnTo>
                  <a:lnTo>
                    <a:pt x="74535" y="465335"/>
                  </a:lnTo>
                  <a:lnTo>
                    <a:pt x="48590" y="436975"/>
                  </a:lnTo>
                  <a:lnTo>
                    <a:pt x="12591" y="375592"/>
                  </a:lnTo>
                  <a:lnTo>
                    <a:pt x="0" y="309251"/>
                  </a:lnTo>
                  <a:close/>
                </a:path>
              </a:pathLst>
            </a:custGeom>
            <a:ln w="47118">
              <a:solidFill>
                <a:srgbClr val="FF7D74"/>
              </a:solidFill>
            </a:ln>
          </p:spPr>
          <p:txBody>
            <a:bodyPr wrap="square" lIns="0" tIns="0" rIns="0" bIns="0" rtlCol="0"/>
            <a:lstStyle/>
            <a:p>
              <a:endParaRPr/>
            </a:p>
          </p:txBody>
        </p:sp>
      </p:grpSp>
      <p:sp>
        <p:nvSpPr>
          <p:cNvPr id="9" name="object 9"/>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grpSp>
        <p:nvGrpSpPr>
          <p:cNvPr id="10" name="object 10"/>
          <p:cNvGrpSpPr/>
          <p:nvPr/>
        </p:nvGrpSpPr>
        <p:grpSpPr>
          <a:xfrm>
            <a:off x="6492514" y="5990075"/>
            <a:ext cx="1139825" cy="666750"/>
            <a:chOff x="6492514" y="5990075"/>
            <a:chExt cx="1139825" cy="666750"/>
          </a:xfrm>
        </p:grpSpPr>
        <p:sp>
          <p:nvSpPr>
            <p:cNvPr id="11" name="object 11"/>
            <p:cNvSpPr/>
            <p:nvPr/>
          </p:nvSpPr>
          <p:spPr>
            <a:xfrm>
              <a:off x="6516327" y="6013887"/>
              <a:ext cx="1092200" cy="619125"/>
            </a:xfrm>
            <a:custGeom>
              <a:avLst/>
              <a:gdLst/>
              <a:ahLst/>
              <a:cxnLst/>
              <a:rect l="l" t="t" r="r" b="b"/>
              <a:pathLst>
                <a:path w="1092200" h="619125">
                  <a:moveTo>
                    <a:pt x="545931" y="0"/>
                  </a:moveTo>
                  <a:lnTo>
                    <a:pt x="486445" y="1814"/>
                  </a:lnTo>
                  <a:lnTo>
                    <a:pt x="428816" y="7132"/>
                  </a:lnTo>
                  <a:lnTo>
                    <a:pt x="373374" y="15765"/>
                  </a:lnTo>
                  <a:lnTo>
                    <a:pt x="320454" y="27525"/>
                  </a:lnTo>
                  <a:lnTo>
                    <a:pt x="270389" y="42221"/>
                  </a:lnTo>
                  <a:lnTo>
                    <a:pt x="223511" y="59667"/>
                  </a:lnTo>
                  <a:lnTo>
                    <a:pt x="180153" y="79673"/>
                  </a:lnTo>
                  <a:lnTo>
                    <a:pt x="140650" y="102051"/>
                  </a:lnTo>
                  <a:lnTo>
                    <a:pt x="105333" y="126611"/>
                  </a:lnTo>
                  <a:lnTo>
                    <a:pt x="74535" y="153166"/>
                  </a:lnTo>
                  <a:lnTo>
                    <a:pt x="48590" y="181526"/>
                  </a:lnTo>
                  <a:lnTo>
                    <a:pt x="12591" y="242909"/>
                  </a:lnTo>
                  <a:lnTo>
                    <a:pt x="0" y="309251"/>
                  </a:lnTo>
                  <a:lnTo>
                    <a:pt x="3203" y="342947"/>
                  </a:lnTo>
                  <a:lnTo>
                    <a:pt x="27831" y="406998"/>
                  </a:lnTo>
                  <a:lnTo>
                    <a:pt x="74535" y="465336"/>
                  </a:lnTo>
                  <a:lnTo>
                    <a:pt x="105333" y="491891"/>
                  </a:lnTo>
                  <a:lnTo>
                    <a:pt x="140650" y="516451"/>
                  </a:lnTo>
                  <a:lnTo>
                    <a:pt x="180153" y="538829"/>
                  </a:lnTo>
                  <a:lnTo>
                    <a:pt x="223511" y="558835"/>
                  </a:lnTo>
                  <a:lnTo>
                    <a:pt x="270389" y="576280"/>
                  </a:lnTo>
                  <a:lnTo>
                    <a:pt x="320454" y="590977"/>
                  </a:lnTo>
                  <a:lnTo>
                    <a:pt x="373374" y="602736"/>
                  </a:lnTo>
                  <a:lnTo>
                    <a:pt x="428816" y="611369"/>
                  </a:lnTo>
                  <a:lnTo>
                    <a:pt x="486445" y="616687"/>
                  </a:lnTo>
                  <a:lnTo>
                    <a:pt x="545931" y="618502"/>
                  </a:lnTo>
                  <a:lnTo>
                    <a:pt x="605416" y="616687"/>
                  </a:lnTo>
                  <a:lnTo>
                    <a:pt x="663045" y="611369"/>
                  </a:lnTo>
                  <a:lnTo>
                    <a:pt x="718487" y="602736"/>
                  </a:lnTo>
                  <a:lnTo>
                    <a:pt x="771407" y="590977"/>
                  </a:lnTo>
                  <a:lnTo>
                    <a:pt x="821472" y="576280"/>
                  </a:lnTo>
                  <a:lnTo>
                    <a:pt x="868350" y="558835"/>
                  </a:lnTo>
                  <a:lnTo>
                    <a:pt x="911708" y="538829"/>
                  </a:lnTo>
                  <a:lnTo>
                    <a:pt x="951211" y="516451"/>
                  </a:lnTo>
                  <a:lnTo>
                    <a:pt x="986528" y="491891"/>
                  </a:lnTo>
                  <a:lnTo>
                    <a:pt x="1017326" y="465336"/>
                  </a:lnTo>
                  <a:lnTo>
                    <a:pt x="1043271" y="436976"/>
                  </a:lnTo>
                  <a:lnTo>
                    <a:pt x="1079270" y="375592"/>
                  </a:lnTo>
                  <a:lnTo>
                    <a:pt x="1091862" y="309251"/>
                  </a:lnTo>
                  <a:lnTo>
                    <a:pt x="1088658" y="275554"/>
                  </a:lnTo>
                  <a:lnTo>
                    <a:pt x="1064030" y="211503"/>
                  </a:lnTo>
                  <a:lnTo>
                    <a:pt x="1017326" y="153166"/>
                  </a:lnTo>
                  <a:lnTo>
                    <a:pt x="986528" y="126611"/>
                  </a:lnTo>
                  <a:lnTo>
                    <a:pt x="951211" y="102051"/>
                  </a:lnTo>
                  <a:lnTo>
                    <a:pt x="911708" y="79673"/>
                  </a:lnTo>
                  <a:lnTo>
                    <a:pt x="868350" y="59667"/>
                  </a:lnTo>
                  <a:lnTo>
                    <a:pt x="821472" y="42221"/>
                  </a:lnTo>
                  <a:lnTo>
                    <a:pt x="771407" y="27525"/>
                  </a:lnTo>
                  <a:lnTo>
                    <a:pt x="718487" y="15765"/>
                  </a:lnTo>
                  <a:lnTo>
                    <a:pt x="663045" y="7132"/>
                  </a:lnTo>
                  <a:lnTo>
                    <a:pt x="605416" y="1814"/>
                  </a:lnTo>
                  <a:lnTo>
                    <a:pt x="545931" y="0"/>
                  </a:lnTo>
                  <a:close/>
                </a:path>
              </a:pathLst>
            </a:custGeom>
            <a:solidFill>
              <a:srgbClr val="FFFFFF"/>
            </a:solidFill>
          </p:spPr>
          <p:txBody>
            <a:bodyPr wrap="square" lIns="0" tIns="0" rIns="0" bIns="0" rtlCol="0"/>
            <a:lstStyle/>
            <a:p>
              <a:endParaRPr/>
            </a:p>
          </p:txBody>
        </p:sp>
        <p:sp>
          <p:nvSpPr>
            <p:cNvPr id="12" name="object 12"/>
            <p:cNvSpPr/>
            <p:nvPr/>
          </p:nvSpPr>
          <p:spPr>
            <a:xfrm>
              <a:off x="6516327" y="6013887"/>
              <a:ext cx="1092200" cy="619125"/>
            </a:xfrm>
            <a:custGeom>
              <a:avLst/>
              <a:gdLst/>
              <a:ahLst/>
              <a:cxnLst/>
              <a:rect l="l" t="t" r="r" b="b"/>
              <a:pathLst>
                <a:path w="1092200" h="619125">
                  <a:moveTo>
                    <a:pt x="0" y="309251"/>
                  </a:moveTo>
                  <a:lnTo>
                    <a:pt x="12591" y="242909"/>
                  </a:lnTo>
                  <a:lnTo>
                    <a:pt x="48590" y="181526"/>
                  </a:lnTo>
                  <a:lnTo>
                    <a:pt x="74535" y="153166"/>
                  </a:lnTo>
                  <a:lnTo>
                    <a:pt x="105332" y="126611"/>
                  </a:lnTo>
                  <a:lnTo>
                    <a:pt x="140650" y="102050"/>
                  </a:lnTo>
                  <a:lnTo>
                    <a:pt x="180153" y="79673"/>
                  </a:lnTo>
                  <a:lnTo>
                    <a:pt x="223511" y="59667"/>
                  </a:lnTo>
                  <a:lnTo>
                    <a:pt x="270388" y="42221"/>
                  </a:lnTo>
                  <a:lnTo>
                    <a:pt x="320454" y="27525"/>
                  </a:lnTo>
                  <a:lnTo>
                    <a:pt x="373374" y="15765"/>
                  </a:lnTo>
                  <a:lnTo>
                    <a:pt x="428815" y="7132"/>
                  </a:lnTo>
                  <a:lnTo>
                    <a:pt x="486445" y="1814"/>
                  </a:lnTo>
                  <a:lnTo>
                    <a:pt x="545930" y="0"/>
                  </a:lnTo>
                  <a:lnTo>
                    <a:pt x="605415" y="1814"/>
                  </a:lnTo>
                  <a:lnTo>
                    <a:pt x="663045" y="7132"/>
                  </a:lnTo>
                  <a:lnTo>
                    <a:pt x="718486" y="15765"/>
                  </a:lnTo>
                  <a:lnTo>
                    <a:pt x="771406" y="27525"/>
                  </a:lnTo>
                  <a:lnTo>
                    <a:pt x="821471" y="42221"/>
                  </a:lnTo>
                  <a:lnTo>
                    <a:pt x="868349" y="59667"/>
                  </a:lnTo>
                  <a:lnTo>
                    <a:pt x="911707" y="79673"/>
                  </a:lnTo>
                  <a:lnTo>
                    <a:pt x="951210" y="102050"/>
                  </a:lnTo>
                  <a:lnTo>
                    <a:pt x="986528" y="126611"/>
                  </a:lnTo>
                  <a:lnTo>
                    <a:pt x="1017325" y="153166"/>
                  </a:lnTo>
                  <a:lnTo>
                    <a:pt x="1043270" y="181526"/>
                  </a:lnTo>
                  <a:lnTo>
                    <a:pt x="1079269" y="242909"/>
                  </a:lnTo>
                  <a:lnTo>
                    <a:pt x="1091861" y="309251"/>
                  </a:lnTo>
                  <a:lnTo>
                    <a:pt x="1088657" y="342947"/>
                  </a:lnTo>
                  <a:lnTo>
                    <a:pt x="1064029" y="406998"/>
                  </a:lnTo>
                  <a:lnTo>
                    <a:pt x="1017325" y="465335"/>
                  </a:lnTo>
                  <a:lnTo>
                    <a:pt x="986528" y="491890"/>
                  </a:lnTo>
                  <a:lnTo>
                    <a:pt x="951210" y="516451"/>
                  </a:lnTo>
                  <a:lnTo>
                    <a:pt x="911707" y="538828"/>
                  </a:lnTo>
                  <a:lnTo>
                    <a:pt x="868349" y="558834"/>
                  </a:lnTo>
                  <a:lnTo>
                    <a:pt x="821471" y="576280"/>
                  </a:lnTo>
                  <a:lnTo>
                    <a:pt x="771406" y="590976"/>
                  </a:lnTo>
                  <a:lnTo>
                    <a:pt x="718486" y="602736"/>
                  </a:lnTo>
                  <a:lnTo>
                    <a:pt x="663045" y="611369"/>
                  </a:lnTo>
                  <a:lnTo>
                    <a:pt x="605415" y="616687"/>
                  </a:lnTo>
                  <a:lnTo>
                    <a:pt x="545930" y="618502"/>
                  </a:lnTo>
                  <a:lnTo>
                    <a:pt x="486445" y="616687"/>
                  </a:lnTo>
                  <a:lnTo>
                    <a:pt x="428815" y="611369"/>
                  </a:lnTo>
                  <a:lnTo>
                    <a:pt x="373374" y="602736"/>
                  </a:lnTo>
                  <a:lnTo>
                    <a:pt x="320454" y="590976"/>
                  </a:lnTo>
                  <a:lnTo>
                    <a:pt x="270388" y="576280"/>
                  </a:lnTo>
                  <a:lnTo>
                    <a:pt x="223511" y="558834"/>
                  </a:lnTo>
                  <a:lnTo>
                    <a:pt x="180153" y="538828"/>
                  </a:lnTo>
                  <a:lnTo>
                    <a:pt x="140650" y="516451"/>
                  </a:lnTo>
                  <a:lnTo>
                    <a:pt x="105332" y="491890"/>
                  </a:lnTo>
                  <a:lnTo>
                    <a:pt x="74535" y="465335"/>
                  </a:lnTo>
                  <a:lnTo>
                    <a:pt x="48590" y="436975"/>
                  </a:lnTo>
                  <a:lnTo>
                    <a:pt x="12591" y="375592"/>
                  </a:lnTo>
                  <a:lnTo>
                    <a:pt x="0" y="309251"/>
                  </a:lnTo>
                  <a:close/>
                </a:path>
              </a:pathLst>
            </a:custGeom>
            <a:ln w="47118">
              <a:solidFill>
                <a:srgbClr val="00D4D2"/>
              </a:solidFill>
            </a:ln>
          </p:spPr>
          <p:txBody>
            <a:bodyPr wrap="square" lIns="0" tIns="0" rIns="0" bIns="0" rtlCol="0"/>
            <a:lstStyle/>
            <a:p>
              <a:endParaRPr/>
            </a:p>
          </p:txBody>
        </p:sp>
      </p:grpSp>
      <p:sp>
        <p:nvSpPr>
          <p:cNvPr id="13" name="object 13"/>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grpSp>
        <p:nvGrpSpPr>
          <p:cNvPr id="14" name="object 14"/>
          <p:cNvGrpSpPr/>
          <p:nvPr/>
        </p:nvGrpSpPr>
        <p:grpSpPr>
          <a:xfrm>
            <a:off x="9194548" y="5990075"/>
            <a:ext cx="1416685" cy="666750"/>
            <a:chOff x="9194548" y="5990075"/>
            <a:chExt cx="1416685" cy="666750"/>
          </a:xfrm>
        </p:grpSpPr>
        <p:sp>
          <p:nvSpPr>
            <p:cNvPr id="15" name="object 15"/>
            <p:cNvSpPr/>
            <p:nvPr/>
          </p:nvSpPr>
          <p:spPr>
            <a:xfrm>
              <a:off x="9218360" y="6013887"/>
              <a:ext cx="1369060" cy="619125"/>
            </a:xfrm>
            <a:custGeom>
              <a:avLst/>
              <a:gdLst/>
              <a:ahLst/>
              <a:cxnLst/>
              <a:rect l="l" t="t" r="r" b="b"/>
              <a:pathLst>
                <a:path w="1369059" h="619125">
                  <a:moveTo>
                    <a:pt x="684501" y="0"/>
                  </a:moveTo>
                  <a:lnTo>
                    <a:pt x="618579" y="1415"/>
                  </a:lnTo>
                  <a:lnTo>
                    <a:pt x="554430" y="5576"/>
                  </a:lnTo>
                  <a:lnTo>
                    <a:pt x="492340" y="12352"/>
                  </a:lnTo>
                  <a:lnTo>
                    <a:pt x="432598" y="21613"/>
                  </a:lnTo>
                  <a:lnTo>
                    <a:pt x="375488" y="33231"/>
                  </a:lnTo>
                  <a:lnTo>
                    <a:pt x="321299" y="47076"/>
                  </a:lnTo>
                  <a:lnTo>
                    <a:pt x="270317" y="63017"/>
                  </a:lnTo>
                  <a:lnTo>
                    <a:pt x="222829" y="80925"/>
                  </a:lnTo>
                  <a:lnTo>
                    <a:pt x="179122" y="100672"/>
                  </a:lnTo>
                  <a:lnTo>
                    <a:pt x="139483" y="122126"/>
                  </a:lnTo>
                  <a:lnTo>
                    <a:pt x="104198" y="145159"/>
                  </a:lnTo>
                  <a:lnTo>
                    <a:pt x="73555" y="169641"/>
                  </a:lnTo>
                  <a:lnTo>
                    <a:pt x="27340" y="222434"/>
                  </a:lnTo>
                  <a:lnTo>
                    <a:pt x="3133" y="279467"/>
                  </a:lnTo>
                  <a:lnTo>
                    <a:pt x="0" y="309250"/>
                  </a:lnTo>
                  <a:lnTo>
                    <a:pt x="3133" y="339033"/>
                  </a:lnTo>
                  <a:lnTo>
                    <a:pt x="27340" y="396066"/>
                  </a:lnTo>
                  <a:lnTo>
                    <a:pt x="73555" y="448859"/>
                  </a:lnTo>
                  <a:lnTo>
                    <a:pt x="104198" y="473341"/>
                  </a:lnTo>
                  <a:lnTo>
                    <a:pt x="139483" y="496374"/>
                  </a:lnTo>
                  <a:lnTo>
                    <a:pt x="179122" y="517829"/>
                  </a:lnTo>
                  <a:lnTo>
                    <a:pt x="222829" y="537575"/>
                  </a:lnTo>
                  <a:lnTo>
                    <a:pt x="270317" y="555484"/>
                  </a:lnTo>
                  <a:lnTo>
                    <a:pt x="321299" y="571425"/>
                  </a:lnTo>
                  <a:lnTo>
                    <a:pt x="375488" y="585269"/>
                  </a:lnTo>
                  <a:lnTo>
                    <a:pt x="432598" y="596887"/>
                  </a:lnTo>
                  <a:lnTo>
                    <a:pt x="492340" y="606149"/>
                  </a:lnTo>
                  <a:lnTo>
                    <a:pt x="554430" y="612925"/>
                  </a:lnTo>
                  <a:lnTo>
                    <a:pt x="618579" y="617085"/>
                  </a:lnTo>
                  <a:lnTo>
                    <a:pt x="684501" y="618501"/>
                  </a:lnTo>
                  <a:lnTo>
                    <a:pt x="750423" y="617085"/>
                  </a:lnTo>
                  <a:lnTo>
                    <a:pt x="814572" y="612925"/>
                  </a:lnTo>
                  <a:lnTo>
                    <a:pt x="876661" y="606149"/>
                  </a:lnTo>
                  <a:lnTo>
                    <a:pt x="936404" y="596887"/>
                  </a:lnTo>
                  <a:lnTo>
                    <a:pt x="993514" y="585269"/>
                  </a:lnTo>
                  <a:lnTo>
                    <a:pt x="1047703" y="571425"/>
                  </a:lnTo>
                  <a:lnTo>
                    <a:pt x="1098685" y="555484"/>
                  </a:lnTo>
                  <a:lnTo>
                    <a:pt x="1146172" y="537575"/>
                  </a:lnTo>
                  <a:lnTo>
                    <a:pt x="1189880" y="517829"/>
                  </a:lnTo>
                  <a:lnTo>
                    <a:pt x="1229519" y="496374"/>
                  </a:lnTo>
                  <a:lnTo>
                    <a:pt x="1264804" y="473341"/>
                  </a:lnTo>
                  <a:lnTo>
                    <a:pt x="1295447" y="448859"/>
                  </a:lnTo>
                  <a:lnTo>
                    <a:pt x="1341662" y="396066"/>
                  </a:lnTo>
                  <a:lnTo>
                    <a:pt x="1365869" y="339033"/>
                  </a:lnTo>
                  <a:lnTo>
                    <a:pt x="1369003" y="309250"/>
                  </a:lnTo>
                  <a:lnTo>
                    <a:pt x="1365869" y="279467"/>
                  </a:lnTo>
                  <a:lnTo>
                    <a:pt x="1341662" y="222434"/>
                  </a:lnTo>
                  <a:lnTo>
                    <a:pt x="1295447" y="169641"/>
                  </a:lnTo>
                  <a:lnTo>
                    <a:pt x="1264804" y="145159"/>
                  </a:lnTo>
                  <a:lnTo>
                    <a:pt x="1229519" y="122126"/>
                  </a:lnTo>
                  <a:lnTo>
                    <a:pt x="1189880" y="100672"/>
                  </a:lnTo>
                  <a:lnTo>
                    <a:pt x="1146172" y="80925"/>
                  </a:lnTo>
                  <a:lnTo>
                    <a:pt x="1098685" y="63017"/>
                  </a:lnTo>
                  <a:lnTo>
                    <a:pt x="1047703" y="47076"/>
                  </a:lnTo>
                  <a:lnTo>
                    <a:pt x="993514" y="33231"/>
                  </a:lnTo>
                  <a:lnTo>
                    <a:pt x="936404" y="21613"/>
                  </a:lnTo>
                  <a:lnTo>
                    <a:pt x="876661" y="12352"/>
                  </a:lnTo>
                  <a:lnTo>
                    <a:pt x="814572" y="5576"/>
                  </a:lnTo>
                  <a:lnTo>
                    <a:pt x="750423" y="1415"/>
                  </a:lnTo>
                  <a:lnTo>
                    <a:pt x="684501" y="0"/>
                  </a:lnTo>
                  <a:close/>
                </a:path>
              </a:pathLst>
            </a:custGeom>
            <a:solidFill>
              <a:srgbClr val="FFFFFF"/>
            </a:solidFill>
          </p:spPr>
          <p:txBody>
            <a:bodyPr wrap="square" lIns="0" tIns="0" rIns="0" bIns="0" rtlCol="0"/>
            <a:lstStyle/>
            <a:p>
              <a:endParaRPr/>
            </a:p>
          </p:txBody>
        </p:sp>
        <p:sp>
          <p:nvSpPr>
            <p:cNvPr id="16" name="object 16"/>
            <p:cNvSpPr/>
            <p:nvPr/>
          </p:nvSpPr>
          <p:spPr>
            <a:xfrm>
              <a:off x="9218360" y="6013887"/>
              <a:ext cx="1369060" cy="619125"/>
            </a:xfrm>
            <a:custGeom>
              <a:avLst/>
              <a:gdLst/>
              <a:ahLst/>
              <a:cxnLst/>
              <a:rect l="l" t="t" r="r" b="b"/>
              <a:pathLst>
                <a:path w="1369059" h="619125">
                  <a:moveTo>
                    <a:pt x="0" y="309251"/>
                  </a:moveTo>
                  <a:lnTo>
                    <a:pt x="12342" y="250486"/>
                  </a:lnTo>
                  <a:lnTo>
                    <a:pt x="47840" y="195443"/>
                  </a:lnTo>
                  <a:lnTo>
                    <a:pt x="104198" y="145159"/>
                  </a:lnTo>
                  <a:lnTo>
                    <a:pt x="139483" y="122126"/>
                  </a:lnTo>
                  <a:lnTo>
                    <a:pt x="179122" y="100672"/>
                  </a:lnTo>
                  <a:lnTo>
                    <a:pt x="222829" y="80925"/>
                  </a:lnTo>
                  <a:lnTo>
                    <a:pt x="270317" y="63017"/>
                  </a:lnTo>
                  <a:lnTo>
                    <a:pt x="321299" y="47075"/>
                  </a:lnTo>
                  <a:lnTo>
                    <a:pt x="375488" y="33231"/>
                  </a:lnTo>
                  <a:lnTo>
                    <a:pt x="432597" y="21613"/>
                  </a:lnTo>
                  <a:lnTo>
                    <a:pt x="492340" y="12352"/>
                  </a:lnTo>
                  <a:lnTo>
                    <a:pt x="554430" y="5576"/>
                  </a:lnTo>
                  <a:lnTo>
                    <a:pt x="618579" y="1415"/>
                  </a:lnTo>
                  <a:lnTo>
                    <a:pt x="684501" y="0"/>
                  </a:lnTo>
                  <a:lnTo>
                    <a:pt x="750423" y="1415"/>
                  </a:lnTo>
                  <a:lnTo>
                    <a:pt x="814572" y="5576"/>
                  </a:lnTo>
                  <a:lnTo>
                    <a:pt x="876661" y="12352"/>
                  </a:lnTo>
                  <a:lnTo>
                    <a:pt x="936404" y="21613"/>
                  </a:lnTo>
                  <a:lnTo>
                    <a:pt x="993513" y="33231"/>
                  </a:lnTo>
                  <a:lnTo>
                    <a:pt x="1047702" y="47075"/>
                  </a:lnTo>
                  <a:lnTo>
                    <a:pt x="1098684" y="63017"/>
                  </a:lnTo>
                  <a:lnTo>
                    <a:pt x="1146172" y="80925"/>
                  </a:lnTo>
                  <a:lnTo>
                    <a:pt x="1189879" y="100672"/>
                  </a:lnTo>
                  <a:lnTo>
                    <a:pt x="1229518" y="122126"/>
                  </a:lnTo>
                  <a:lnTo>
                    <a:pt x="1264803" y="145159"/>
                  </a:lnTo>
                  <a:lnTo>
                    <a:pt x="1295446" y="169642"/>
                  </a:lnTo>
                  <a:lnTo>
                    <a:pt x="1341661" y="222434"/>
                  </a:lnTo>
                  <a:lnTo>
                    <a:pt x="1365868" y="279468"/>
                  </a:lnTo>
                  <a:lnTo>
                    <a:pt x="1369002" y="309251"/>
                  </a:lnTo>
                  <a:lnTo>
                    <a:pt x="1365868" y="339033"/>
                  </a:lnTo>
                  <a:lnTo>
                    <a:pt x="1341661" y="396067"/>
                  </a:lnTo>
                  <a:lnTo>
                    <a:pt x="1295446" y="448859"/>
                  </a:lnTo>
                  <a:lnTo>
                    <a:pt x="1264803" y="473342"/>
                  </a:lnTo>
                  <a:lnTo>
                    <a:pt x="1229518" y="496375"/>
                  </a:lnTo>
                  <a:lnTo>
                    <a:pt x="1189879" y="517829"/>
                  </a:lnTo>
                  <a:lnTo>
                    <a:pt x="1146172" y="537576"/>
                  </a:lnTo>
                  <a:lnTo>
                    <a:pt x="1098684" y="555484"/>
                  </a:lnTo>
                  <a:lnTo>
                    <a:pt x="1047702" y="571426"/>
                  </a:lnTo>
                  <a:lnTo>
                    <a:pt x="993513" y="585270"/>
                  </a:lnTo>
                  <a:lnTo>
                    <a:pt x="936404" y="596888"/>
                  </a:lnTo>
                  <a:lnTo>
                    <a:pt x="876661" y="606149"/>
                  </a:lnTo>
                  <a:lnTo>
                    <a:pt x="814572" y="612925"/>
                  </a:lnTo>
                  <a:lnTo>
                    <a:pt x="750423" y="617086"/>
                  </a:lnTo>
                  <a:lnTo>
                    <a:pt x="684501" y="618502"/>
                  </a:lnTo>
                  <a:lnTo>
                    <a:pt x="618579" y="617086"/>
                  </a:lnTo>
                  <a:lnTo>
                    <a:pt x="554430" y="612925"/>
                  </a:lnTo>
                  <a:lnTo>
                    <a:pt x="492340" y="606149"/>
                  </a:lnTo>
                  <a:lnTo>
                    <a:pt x="432597" y="596888"/>
                  </a:lnTo>
                  <a:lnTo>
                    <a:pt x="375488" y="585270"/>
                  </a:lnTo>
                  <a:lnTo>
                    <a:pt x="321299" y="571426"/>
                  </a:lnTo>
                  <a:lnTo>
                    <a:pt x="270317" y="555484"/>
                  </a:lnTo>
                  <a:lnTo>
                    <a:pt x="222829" y="537576"/>
                  </a:lnTo>
                  <a:lnTo>
                    <a:pt x="179122" y="517829"/>
                  </a:lnTo>
                  <a:lnTo>
                    <a:pt x="139483" y="496375"/>
                  </a:lnTo>
                  <a:lnTo>
                    <a:pt x="104198" y="473342"/>
                  </a:lnTo>
                  <a:lnTo>
                    <a:pt x="73555" y="448859"/>
                  </a:lnTo>
                  <a:lnTo>
                    <a:pt x="27340" y="396067"/>
                  </a:lnTo>
                  <a:lnTo>
                    <a:pt x="3133" y="339033"/>
                  </a:lnTo>
                  <a:lnTo>
                    <a:pt x="0" y="309251"/>
                  </a:lnTo>
                  <a:close/>
                </a:path>
              </a:pathLst>
            </a:custGeom>
            <a:ln w="47118">
              <a:solidFill>
                <a:srgbClr val="00D4D2"/>
              </a:solidFill>
            </a:ln>
          </p:spPr>
          <p:txBody>
            <a:bodyPr wrap="square" lIns="0" tIns="0" rIns="0" bIns="0" rtlCol="0"/>
            <a:lstStyle/>
            <a:p>
              <a:endParaRPr/>
            </a:p>
          </p:txBody>
        </p:sp>
      </p:grpSp>
      <p:sp>
        <p:nvSpPr>
          <p:cNvPr id="17" name="object 17"/>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grpSp>
        <p:nvGrpSpPr>
          <p:cNvPr id="18" name="object 18"/>
          <p:cNvGrpSpPr/>
          <p:nvPr/>
        </p:nvGrpSpPr>
        <p:grpSpPr>
          <a:xfrm>
            <a:off x="7448289" y="5311179"/>
            <a:ext cx="11405870" cy="4577080"/>
            <a:chOff x="7448289" y="5311179"/>
            <a:chExt cx="11405870" cy="4577080"/>
          </a:xfrm>
        </p:grpSpPr>
        <p:sp>
          <p:nvSpPr>
            <p:cNvPr id="19" name="object 19"/>
            <p:cNvSpPr/>
            <p:nvPr/>
          </p:nvSpPr>
          <p:spPr>
            <a:xfrm>
              <a:off x="7448283" y="5311184"/>
              <a:ext cx="1971039" cy="793750"/>
            </a:xfrm>
            <a:custGeom>
              <a:avLst/>
              <a:gdLst/>
              <a:ahLst/>
              <a:cxnLst/>
              <a:rect l="l" t="t" r="r" b="b"/>
              <a:pathLst>
                <a:path w="1971040" h="793750">
                  <a:moveTo>
                    <a:pt x="611505" y="28727"/>
                  </a:moveTo>
                  <a:lnTo>
                    <a:pt x="574014" y="190"/>
                  </a:lnTo>
                  <a:lnTo>
                    <a:pt x="66865" y="666534"/>
                  </a:lnTo>
                  <a:lnTo>
                    <a:pt x="29375" y="637997"/>
                  </a:lnTo>
                  <a:lnTo>
                    <a:pt x="0" y="793292"/>
                  </a:lnTo>
                  <a:lnTo>
                    <a:pt x="141859" y="723607"/>
                  </a:lnTo>
                  <a:lnTo>
                    <a:pt x="128993" y="713816"/>
                  </a:lnTo>
                  <a:lnTo>
                    <a:pt x="104355" y="695071"/>
                  </a:lnTo>
                  <a:lnTo>
                    <a:pt x="611505" y="28727"/>
                  </a:lnTo>
                  <a:close/>
                </a:path>
                <a:path w="1971040" h="793750">
                  <a:moveTo>
                    <a:pt x="1970557" y="793292"/>
                  </a:moveTo>
                  <a:lnTo>
                    <a:pt x="1954860" y="714768"/>
                  </a:lnTo>
                  <a:lnTo>
                    <a:pt x="1939569" y="638314"/>
                  </a:lnTo>
                  <a:lnTo>
                    <a:pt x="1902371" y="667245"/>
                  </a:lnTo>
                  <a:lnTo>
                    <a:pt x="1383423" y="0"/>
                  </a:lnTo>
                  <a:lnTo>
                    <a:pt x="1346225" y="28930"/>
                  </a:lnTo>
                  <a:lnTo>
                    <a:pt x="1865172" y="696163"/>
                  </a:lnTo>
                  <a:lnTo>
                    <a:pt x="1827987" y="725093"/>
                  </a:lnTo>
                  <a:lnTo>
                    <a:pt x="1970557" y="793292"/>
                  </a:lnTo>
                  <a:close/>
                </a:path>
              </a:pathLst>
            </a:custGeom>
            <a:solidFill>
              <a:srgbClr val="32E434"/>
            </a:solidFill>
          </p:spPr>
          <p:txBody>
            <a:bodyPr wrap="square" lIns="0" tIns="0" rIns="0" bIns="0" rtlCol="0"/>
            <a:lstStyle/>
            <a:p>
              <a:endParaRPr/>
            </a:p>
          </p:txBody>
        </p:sp>
        <p:pic>
          <p:nvPicPr>
            <p:cNvPr id="20" name="object 20"/>
            <p:cNvPicPr/>
            <p:nvPr/>
          </p:nvPicPr>
          <p:blipFill>
            <a:blip r:embed="rId3" cstate="print"/>
            <a:stretch>
              <a:fillRect/>
            </a:stretch>
          </p:blipFill>
          <p:spPr>
            <a:xfrm>
              <a:off x="13427842" y="5325643"/>
              <a:ext cx="5426284" cy="4562097"/>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24577" y="2975272"/>
            <a:ext cx="14641194" cy="835025"/>
          </a:xfrm>
          <a:prstGeom prst="rect">
            <a:avLst/>
          </a:prstGeom>
        </p:spPr>
        <p:txBody>
          <a:bodyPr vert="horz" wrap="square" lIns="0" tIns="107314" rIns="0" bIns="0" rtlCol="0">
            <a:spAutoFit/>
          </a:bodyPr>
          <a:lstStyle/>
          <a:p>
            <a:pPr marL="50800" marR="43180">
              <a:lnSpc>
                <a:spcPct val="79400"/>
              </a:lnSpc>
              <a:spcBef>
                <a:spcPts val="844"/>
              </a:spcBef>
            </a:pPr>
            <a:r>
              <a:rPr sz="2950" dirty="0">
                <a:latin typeface="Tahoma"/>
                <a:cs typeface="Tahoma"/>
              </a:rPr>
              <a:t>Finalmente, para la siguiente profundidad, organizamos a los siguientes nodos con respecto a x</a:t>
            </a:r>
            <a:r>
              <a:rPr sz="2925" baseline="-18518" dirty="0">
                <a:latin typeface="Tahoma"/>
                <a:cs typeface="Tahoma"/>
              </a:rPr>
              <a:t>1</a:t>
            </a:r>
            <a:r>
              <a:rPr sz="2950" dirty="0">
                <a:latin typeface="Tahoma"/>
                <a:cs typeface="Tahoma"/>
              </a:rPr>
              <a:t>, y así sucesivamente…</a:t>
            </a:r>
            <a:endParaRPr sz="2950">
              <a:latin typeface="Tahoma"/>
              <a:cs typeface="Tahoma"/>
            </a:endParaRPr>
          </a:p>
        </p:txBody>
      </p:sp>
      <p:pic>
        <p:nvPicPr>
          <p:cNvPr id="6" name="object 6"/>
          <p:cNvPicPr/>
          <p:nvPr/>
        </p:nvPicPr>
        <p:blipFill>
          <a:blip r:embed="rId3" cstate="print"/>
          <a:stretch>
            <a:fillRect/>
          </a:stretch>
        </p:blipFill>
        <p:spPr>
          <a:xfrm>
            <a:off x="5560833" y="4774159"/>
            <a:ext cx="5965689" cy="3248746"/>
          </a:xfrm>
          <a:prstGeom prst="rect">
            <a:avLst/>
          </a:prstGeom>
        </p:spPr>
      </p:pic>
      <p:sp>
        <p:nvSpPr>
          <p:cNvPr id="7" name="object 7"/>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8" name="object 8"/>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9" name="object 9"/>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10" name="object 10"/>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1" name="object 11"/>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2" name="object 12"/>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3" name="object 13"/>
          <p:cNvPicPr/>
          <p:nvPr/>
        </p:nvPicPr>
        <p:blipFill>
          <a:blip r:embed="rId4" cstate="print"/>
          <a:stretch>
            <a:fillRect/>
          </a:stretch>
        </p:blipFill>
        <p:spPr>
          <a:xfrm>
            <a:off x="13427842" y="5325643"/>
            <a:ext cx="5426284" cy="4562098"/>
          </a:xfrm>
          <a:prstGeom prst="rect">
            <a:avLst/>
          </a:prstGeom>
        </p:spPr>
      </p:pic>
      <p:sp>
        <p:nvSpPr>
          <p:cNvPr id="15" name="object 15"/>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pic>
        <p:nvPicPr>
          <p:cNvPr id="5" name="object 5"/>
          <p:cNvPicPr/>
          <p:nvPr/>
        </p:nvPicPr>
        <p:blipFill>
          <a:blip r:embed="rId3" cstate="print"/>
          <a:stretch>
            <a:fillRect/>
          </a:stretch>
        </p:blipFill>
        <p:spPr>
          <a:xfrm>
            <a:off x="5560833" y="4774159"/>
            <a:ext cx="5965689" cy="3248746"/>
          </a:xfrm>
          <a:prstGeom prst="rect">
            <a:avLst/>
          </a:prstGeom>
        </p:spPr>
      </p:pic>
      <p:sp>
        <p:nvSpPr>
          <p:cNvPr id="6" name="object 6"/>
          <p:cNvSpPr txBox="1">
            <a:spLocks noGrp="1"/>
          </p:cNvSpPr>
          <p:nvPr>
            <p:ph type="body" idx="1"/>
          </p:nvPr>
        </p:nvSpPr>
        <p:spPr>
          <a:prstGeom prst="rect">
            <a:avLst/>
          </a:prstGeom>
        </p:spPr>
        <p:txBody>
          <a:bodyPr vert="horz" wrap="square" lIns="0" tIns="107314" rIns="0" bIns="0" rtlCol="0">
            <a:spAutoFit/>
          </a:bodyPr>
          <a:lstStyle/>
          <a:p>
            <a:pPr marL="12700" marR="5080">
              <a:lnSpc>
                <a:spcPct val="79400"/>
              </a:lnSpc>
              <a:spcBef>
                <a:spcPts val="844"/>
              </a:spcBef>
            </a:pPr>
            <a:r>
              <a:rPr dirty="0"/>
              <a:t>Una vez que construimos el árbol, podemos usarlo para calcular distancia de nuevo puntos, por ejemplo, del punto (9,4).</a:t>
            </a:r>
          </a:p>
          <a:p>
            <a:pPr marL="12700">
              <a:lnSpc>
                <a:spcPts val="3204"/>
              </a:lnSpc>
            </a:pPr>
            <a:r>
              <a:rPr dirty="0"/>
              <a:t>Se encuentra la hoja en el que el nodo se encuentra…</a:t>
            </a:r>
          </a:p>
          <a:p>
            <a:pPr>
              <a:lnSpc>
                <a:spcPct val="100000"/>
              </a:lnSpc>
              <a:spcBef>
                <a:spcPts val="2235"/>
              </a:spcBef>
            </a:pPr>
            <a:endParaRPr dirty="0"/>
          </a:p>
          <a:p>
            <a:pPr marL="3418204">
              <a:lnSpc>
                <a:spcPct val="100000"/>
              </a:lnSpc>
            </a:pPr>
            <a:r>
              <a:rPr sz="2300" dirty="0">
                <a:latin typeface="Arial MT"/>
                <a:cs typeface="Arial MT"/>
              </a:rPr>
              <a:t>(5,4)</a:t>
            </a:r>
            <a:endParaRPr sz="2300">
              <a:latin typeface="Arial MT"/>
              <a:cs typeface="Arial MT"/>
            </a:endParaRPr>
          </a:p>
        </p:txBody>
      </p:sp>
      <p:sp>
        <p:nvSpPr>
          <p:cNvPr id="7" name="object 7"/>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8" name="object 8"/>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9" name="object 9"/>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0" name="object 10"/>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1" name="object 11"/>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2" name="object 12"/>
          <p:cNvPicPr/>
          <p:nvPr/>
        </p:nvPicPr>
        <p:blipFill>
          <a:blip r:embed="rId4" cstate="print"/>
          <a:stretch>
            <a:fillRect/>
          </a:stretch>
        </p:blipFill>
        <p:spPr>
          <a:xfrm>
            <a:off x="13427842" y="5325643"/>
            <a:ext cx="5426284" cy="4562097"/>
          </a:xfrm>
          <a:prstGeom prst="rect">
            <a:avLst/>
          </a:prstGeom>
        </p:spPr>
      </p:pic>
      <p:sp>
        <p:nvSpPr>
          <p:cNvPr id="14" name="object 14"/>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pic>
        <p:nvPicPr>
          <p:cNvPr id="5" name="object 5"/>
          <p:cNvPicPr/>
          <p:nvPr/>
        </p:nvPicPr>
        <p:blipFill>
          <a:blip r:embed="rId3" cstate="print"/>
          <a:stretch>
            <a:fillRect/>
          </a:stretch>
        </p:blipFill>
        <p:spPr>
          <a:xfrm>
            <a:off x="5560833" y="4774159"/>
            <a:ext cx="5965689" cy="3248746"/>
          </a:xfrm>
          <a:prstGeom prst="rect">
            <a:avLst/>
          </a:prstGeom>
        </p:spPr>
      </p:pic>
      <p:sp>
        <p:nvSpPr>
          <p:cNvPr id="6" name="object 6"/>
          <p:cNvSpPr txBox="1">
            <a:spLocks noGrp="1"/>
          </p:cNvSpPr>
          <p:nvPr>
            <p:ph type="body" idx="1"/>
          </p:nvPr>
        </p:nvSpPr>
        <p:spPr>
          <a:prstGeom prst="rect">
            <a:avLst/>
          </a:prstGeom>
        </p:spPr>
        <p:txBody>
          <a:bodyPr vert="horz" wrap="square" lIns="0" tIns="107314" rIns="0" bIns="0" rtlCol="0">
            <a:spAutoFit/>
          </a:bodyPr>
          <a:lstStyle/>
          <a:p>
            <a:pPr marL="12700" marR="5080">
              <a:lnSpc>
                <a:spcPct val="79400"/>
              </a:lnSpc>
              <a:spcBef>
                <a:spcPts val="844"/>
              </a:spcBef>
            </a:pPr>
            <a:r>
              <a:rPr dirty="0"/>
              <a:t>Una vez que construimos el árbol, podemos usarlo para calcular distancia de nuevo puntos, por ejemplo, del punto (9,4).</a:t>
            </a:r>
          </a:p>
          <a:p>
            <a:pPr marL="12700">
              <a:lnSpc>
                <a:spcPts val="3204"/>
              </a:lnSpc>
            </a:pPr>
            <a:r>
              <a:rPr dirty="0"/>
              <a:t>Se encuentra la hoja en el que el nodo se encuentra…</a:t>
            </a:r>
          </a:p>
          <a:p>
            <a:pPr>
              <a:lnSpc>
                <a:spcPct val="100000"/>
              </a:lnSpc>
              <a:spcBef>
                <a:spcPts val="2235"/>
              </a:spcBef>
            </a:pPr>
            <a:endParaRPr dirty="0"/>
          </a:p>
          <a:p>
            <a:pPr marL="3418204">
              <a:lnSpc>
                <a:spcPct val="100000"/>
              </a:lnSpc>
            </a:pPr>
            <a:r>
              <a:rPr sz="2300" dirty="0">
                <a:latin typeface="Arial MT"/>
                <a:cs typeface="Arial MT"/>
              </a:rPr>
              <a:t>(5,4)</a:t>
            </a:r>
          </a:p>
        </p:txBody>
      </p:sp>
      <p:sp>
        <p:nvSpPr>
          <p:cNvPr id="7" name="object 7"/>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8" name="object 8"/>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9" name="object 9"/>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0" name="object 10"/>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1" name="object 11"/>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2" name="object 12"/>
          <p:cNvPicPr/>
          <p:nvPr/>
        </p:nvPicPr>
        <p:blipFill>
          <a:blip r:embed="rId4" cstate="print"/>
          <a:stretch>
            <a:fillRect/>
          </a:stretch>
        </p:blipFill>
        <p:spPr>
          <a:xfrm>
            <a:off x="13427842" y="5325643"/>
            <a:ext cx="5426282" cy="4562097"/>
          </a:xfrm>
          <a:prstGeom prst="rect">
            <a:avLst/>
          </a:prstGeom>
        </p:spPr>
      </p:pic>
      <p:sp>
        <p:nvSpPr>
          <p:cNvPr id="14" name="object 14"/>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pic>
        <p:nvPicPr>
          <p:cNvPr id="5" name="object 5"/>
          <p:cNvPicPr/>
          <p:nvPr/>
        </p:nvPicPr>
        <p:blipFill>
          <a:blip r:embed="rId3" cstate="print"/>
          <a:stretch>
            <a:fillRect/>
          </a:stretch>
        </p:blipFill>
        <p:spPr>
          <a:xfrm>
            <a:off x="5560833" y="4774159"/>
            <a:ext cx="5965689" cy="3248746"/>
          </a:xfrm>
          <a:prstGeom prst="rect">
            <a:avLst/>
          </a:prstGeom>
        </p:spPr>
      </p:pic>
      <p:sp>
        <p:nvSpPr>
          <p:cNvPr id="6" name="object 6"/>
          <p:cNvSpPr txBox="1">
            <a:spLocks noGrp="1"/>
          </p:cNvSpPr>
          <p:nvPr>
            <p:ph type="body" idx="1"/>
          </p:nvPr>
        </p:nvSpPr>
        <p:spPr>
          <a:prstGeom prst="rect">
            <a:avLst/>
          </a:prstGeom>
        </p:spPr>
        <p:txBody>
          <a:bodyPr vert="horz" wrap="square" lIns="0" tIns="107314" rIns="0" bIns="0" rtlCol="0">
            <a:spAutoFit/>
          </a:bodyPr>
          <a:lstStyle/>
          <a:p>
            <a:pPr marL="12700" marR="5080">
              <a:lnSpc>
                <a:spcPct val="79400"/>
              </a:lnSpc>
              <a:spcBef>
                <a:spcPts val="844"/>
              </a:spcBef>
            </a:pPr>
            <a:r>
              <a:rPr dirty="0"/>
              <a:t>Una vez que construimos el árbol, podemos usarlo para calcular distancia de nuevo puntos, por ejemplo, del punto (9,4).</a:t>
            </a:r>
          </a:p>
          <a:p>
            <a:pPr marL="12700">
              <a:lnSpc>
                <a:spcPts val="3204"/>
              </a:lnSpc>
            </a:pPr>
            <a:r>
              <a:rPr dirty="0"/>
              <a:t>Se encuentra la hoja en el que el nodo se encuentra y se calcula la distancia…</a:t>
            </a:r>
          </a:p>
          <a:p>
            <a:pPr>
              <a:lnSpc>
                <a:spcPct val="100000"/>
              </a:lnSpc>
              <a:spcBef>
                <a:spcPts val="2235"/>
              </a:spcBef>
            </a:pPr>
            <a:endParaRPr dirty="0"/>
          </a:p>
          <a:p>
            <a:pPr marL="3418204">
              <a:lnSpc>
                <a:spcPct val="100000"/>
              </a:lnSpc>
            </a:pPr>
            <a:r>
              <a:rPr sz="2300" dirty="0">
                <a:latin typeface="Arial MT"/>
                <a:cs typeface="Arial MT"/>
              </a:rPr>
              <a:t>(5,4)</a:t>
            </a:r>
          </a:p>
        </p:txBody>
      </p:sp>
      <p:sp>
        <p:nvSpPr>
          <p:cNvPr id="7" name="object 7"/>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8" name="object 8"/>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9" name="object 9"/>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0" name="object 10"/>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1" name="object 11"/>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2" name="object 12"/>
          <p:cNvPicPr/>
          <p:nvPr/>
        </p:nvPicPr>
        <p:blipFill>
          <a:blip r:embed="rId4" cstate="print"/>
          <a:stretch>
            <a:fillRect/>
          </a:stretch>
        </p:blipFill>
        <p:spPr>
          <a:xfrm>
            <a:off x="13427842" y="5325644"/>
            <a:ext cx="5426282" cy="4562096"/>
          </a:xfrm>
          <a:prstGeom prst="rect">
            <a:avLst/>
          </a:prstGeom>
        </p:spPr>
      </p:pic>
      <p:sp>
        <p:nvSpPr>
          <p:cNvPr id="14" name="object 14"/>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28</a:t>
            </a:fld>
            <a:endParaRPr spc="-25" dirty="0"/>
          </a:p>
        </p:txBody>
      </p:sp>
      <p:sp>
        <p:nvSpPr>
          <p:cNvPr id="16" name="object 2">
            <a:extLst>
              <a:ext uri="{FF2B5EF4-FFF2-40B4-BE49-F238E27FC236}">
                <a16:creationId xmlns:a16="http://schemas.microsoft.com/office/drawing/2014/main" id="{22F27FAE-1267-0320-C520-59E4C605E146}"/>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25506" y="3005427"/>
            <a:ext cx="13409294" cy="832485"/>
          </a:xfrm>
          <a:prstGeom prst="rect">
            <a:avLst/>
          </a:prstGeom>
        </p:spPr>
        <p:txBody>
          <a:bodyPr vert="horz" wrap="square" lIns="0" tIns="109855" rIns="0" bIns="0" rtlCol="0">
            <a:spAutoFit/>
          </a:bodyPr>
          <a:lstStyle/>
          <a:p>
            <a:pPr marL="12700" marR="5080">
              <a:lnSpc>
                <a:spcPct val="78800"/>
              </a:lnSpc>
              <a:spcBef>
                <a:spcPts val="865"/>
              </a:spcBef>
            </a:pPr>
            <a:r>
              <a:rPr sz="2950" dirty="0">
                <a:latin typeface="Tahoma"/>
                <a:cs typeface="Tahoma"/>
              </a:rPr>
              <a:t>Luego se sube al árbol en función de si los ejes de cortes están a una menor distancia de la distancia calculada y se calcula la distancia…</a:t>
            </a:r>
          </a:p>
        </p:txBody>
      </p:sp>
      <p:pic>
        <p:nvPicPr>
          <p:cNvPr id="6" name="object 6"/>
          <p:cNvPicPr/>
          <p:nvPr/>
        </p:nvPicPr>
        <p:blipFill>
          <a:blip r:embed="rId3" cstate="print"/>
          <a:stretch>
            <a:fillRect/>
          </a:stretch>
        </p:blipFill>
        <p:spPr>
          <a:xfrm>
            <a:off x="5560833" y="4774159"/>
            <a:ext cx="5965689" cy="3248746"/>
          </a:xfrm>
          <a:prstGeom prst="rect">
            <a:avLst/>
          </a:prstGeom>
        </p:spPr>
      </p:pic>
      <p:sp>
        <p:nvSpPr>
          <p:cNvPr id="7" name="object 7"/>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8" name="object 8"/>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9" name="object 9"/>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10" name="object 10"/>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1" name="object 11"/>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2" name="object 12"/>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3" name="object 13"/>
          <p:cNvPicPr/>
          <p:nvPr/>
        </p:nvPicPr>
        <p:blipFill>
          <a:blip r:embed="rId4" cstate="print"/>
          <a:stretch>
            <a:fillRect/>
          </a:stretch>
        </p:blipFill>
        <p:spPr>
          <a:xfrm>
            <a:off x="13427842" y="5325644"/>
            <a:ext cx="5426281" cy="4562096"/>
          </a:xfrm>
          <a:prstGeom prst="rect">
            <a:avLst/>
          </a:prstGeom>
        </p:spPr>
      </p:pic>
      <p:sp>
        <p:nvSpPr>
          <p:cNvPr id="15" name="object 15"/>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29</a:t>
            </a:fld>
            <a:endParaRPr spc="-25" dirty="0"/>
          </a:p>
        </p:txBody>
      </p:sp>
      <p:sp>
        <p:nvSpPr>
          <p:cNvPr id="17" name="object 2">
            <a:extLst>
              <a:ext uri="{FF2B5EF4-FFF2-40B4-BE49-F238E27FC236}">
                <a16:creationId xmlns:a16="http://schemas.microsoft.com/office/drawing/2014/main" id="{BFCC6038-23A1-41A0-2D7B-F12E18A54CE1}"/>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25506" y="3005427"/>
            <a:ext cx="13409294" cy="832485"/>
          </a:xfrm>
          <a:prstGeom prst="rect">
            <a:avLst/>
          </a:prstGeom>
        </p:spPr>
        <p:txBody>
          <a:bodyPr vert="horz" wrap="square" lIns="0" tIns="109855" rIns="0" bIns="0" rtlCol="0">
            <a:spAutoFit/>
          </a:bodyPr>
          <a:lstStyle/>
          <a:p>
            <a:pPr marL="12700" marR="5080">
              <a:lnSpc>
                <a:spcPct val="78800"/>
              </a:lnSpc>
              <a:spcBef>
                <a:spcPts val="865"/>
              </a:spcBef>
            </a:pPr>
            <a:r>
              <a:rPr sz="2950" dirty="0">
                <a:latin typeface="Tahoma"/>
                <a:cs typeface="Tahoma"/>
              </a:rPr>
              <a:t>Luego se sube al árbol en función de si los ejes de cortes están a una menor distancia de la distancia calculada y se calcula la distancia…</a:t>
            </a:r>
          </a:p>
        </p:txBody>
      </p:sp>
      <p:pic>
        <p:nvPicPr>
          <p:cNvPr id="6" name="object 6"/>
          <p:cNvPicPr/>
          <p:nvPr/>
        </p:nvPicPr>
        <p:blipFill>
          <a:blip r:embed="rId3" cstate="print"/>
          <a:stretch>
            <a:fillRect/>
          </a:stretch>
        </p:blipFill>
        <p:spPr>
          <a:xfrm>
            <a:off x="5560833" y="4774159"/>
            <a:ext cx="5965689" cy="3248746"/>
          </a:xfrm>
          <a:prstGeom prst="rect">
            <a:avLst/>
          </a:prstGeom>
        </p:spPr>
      </p:pic>
      <p:sp>
        <p:nvSpPr>
          <p:cNvPr id="7" name="object 7"/>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8" name="object 8"/>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9" name="object 9"/>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10" name="object 10"/>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1" name="object 11"/>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2" name="object 12"/>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3" name="object 13"/>
          <p:cNvPicPr/>
          <p:nvPr/>
        </p:nvPicPr>
        <p:blipFill>
          <a:blip r:embed="rId4" cstate="print"/>
          <a:stretch>
            <a:fillRect/>
          </a:stretch>
        </p:blipFill>
        <p:spPr>
          <a:xfrm>
            <a:off x="13427842" y="5325643"/>
            <a:ext cx="5426281" cy="4562096"/>
          </a:xfrm>
          <a:prstGeom prst="rect">
            <a:avLst/>
          </a:prstGeom>
        </p:spPr>
      </p:pic>
      <p:sp>
        <p:nvSpPr>
          <p:cNvPr id="15" name="object 15"/>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30</a:t>
            </a:fld>
            <a:endParaRPr spc="-25" dirty="0"/>
          </a:p>
        </p:txBody>
      </p:sp>
      <p:sp>
        <p:nvSpPr>
          <p:cNvPr id="17" name="object 2">
            <a:extLst>
              <a:ext uri="{FF2B5EF4-FFF2-40B4-BE49-F238E27FC236}">
                <a16:creationId xmlns:a16="http://schemas.microsoft.com/office/drawing/2014/main" id="{EFFA296B-8BFB-3A8A-5344-90A1B83C3D07}"/>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25506" y="3005427"/>
            <a:ext cx="14704060" cy="832485"/>
          </a:xfrm>
          <a:prstGeom prst="rect">
            <a:avLst/>
          </a:prstGeom>
        </p:spPr>
        <p:txBody>
          <a:bodyPr vert="horz" wrap="square" lIns="0" tIns="109855" rIns="0" bIns="0" rtlCol="0">
            <a:spAutoFit/>
          </a:bodyPr>
          <a:lstStyle/>
          <a:p>
            <a:pPr marL="12700" marR="5080">
              <a:lnSpc>
                <a:spcPct val="78800"/>
              </a:lnSpc>
              <a:spcBef>
                <a:spcPts val="865"/>
              </a:spcBef>
            </a:pPr>
            <a:r>
              <a:rPr sz="2950" dirty="0">
                <a:latin typeface="Tahoma"/>
                <a:cs typeface="Tahoma"/>
              </a:rPr>
              <a:t>Como esta distancia es mayor a la anterior, la descartamos, y avanzamos al otro nodo, que también estamos cortando su separación…</a:t>
            </a:r>
            <a:endParaRPr sz="2950">
              <a:latin typeface="Tahoma"/>
              <a:cs typeface="Tahoma"/>
            </a:endParaRPr>
          </a:p>
        </p:txBody>
      </p:sp>
      <p:pic>
        <p:nvPicPr>
          <p:cNvPr id="6" name="object 6"/>
          <p:cNvPicPr/>
          <p:nvPr/>
        </p:nvPicPr>
        <p:blipFill>
          <a:blip r:embed="rId3" cstate="print"/>
          <a:stretch>
            <a:fillRect/>
          </a:stretch>
        </p:blipFill>
        <p:spPr>
          <a:xfrm>
            <a:off x="5560833" y="4774159"/>
            <a:ext cx="5965689" cy="3248746"/>
          </a:xfrm>
          <a:prstGeom prst="rect">
            <a:avLst/>
          </a:prstGeom>
        </p:spPr>
      </p:pic>
      <p:sp>
        <p:nvSpPr>
          <p:cNvPr id="7" name="object 7"/>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8" name="object 8"/>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9" name="object 9"/>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10" name="object 10"/>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1" name="object 11"/>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2" name="object 12"/>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3" name="object 13"/>
          <p:cNvPicPr/>
          <p:nvPr/>
        </p:nvPicPr>
        <p:blipFill>
          <a:blip r:embed="rId4" cstate="print"/>
          <a:stretch>
            <a:fillRect/>
          </a:stretch>
        </p:blipFill>
        <p:spPr>
          <a:xfrm>
            <a:off x="13427842" y="5325643"/>
            <a:ext cx="5426281" cy="4562096"/>
          </a:xfrm>
          <a:prstGeom prst="rect">
            <a:avLst/>
          </a:prstGeom>
        </p:spPr>
      </p:pic>
      <p:sp>
        <p:nvSpPr>
          <p:cNvPr id="15" name="object 15"/>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31</a:t>
            </a:fld>
            <a:endParaRPr spc="-25" dirty="0"/>
          </a:p>
        </p:txBody>
      </p:sp>
      <p:sp>
        <p:nvSpPr>
          <p:cNvPr id="17" name="object 2">
            <a:extLst>
              <a:ext uri="{FF2B5EF4-FFF2-40B4-BE49-F238E27FC236}">
                <a16:creationId xmlns:a16="http://schemas.microsoft.com/office/drawing/2014/main" id="{F782A9B2-84E2-334F-2FD2-7766836F02F9}"/>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2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25506" y="3005427"/>
            <a:ext cx="13940155" cy="1186800"/>
          </a:xfrm>
          <a:prstGeom prst="rect">
            <a:avLst/>
          </a:prstGeom>
        </p:spPr>
        <p:txBody>
          <a:bodyPr vert="horz" wrap="square" lIns="0" tIns="109855" rIns="0" bIns="0" rtlCol="0">
            <a:spAutoFit/>
          </a:bodyPr>
          <a:lstStyle/>
          <a:p>
            <a:pPr marL="12700" marR="5080">
              <a:lnSpc>
                <a:spcPct val="78800"/>
              </a:lnSpc>
              <a:spcBef>
                <a:spcPts val="865"/>
              </a:spcBef>
            </a:pPr>
            <a:r>
              <a:rPr sz="2950" dirty="0">
                <a:latin typeface="Tahoma"/>
                <a:cs typeface="Tahoma"/>
              </a:rPr>
              <a:t>Como esta distancia es menor, la guardamos, y como no cortamos más separaciones, termina nuestra búsqueda y encontramos el más cercano solo haciendo tres cálculos.</a:t>
            </a:r>
          </a:p>
        </p:txBody>
      </p:sp>
      <p:pic>
        <p:nvPicPr>
          <p:cNvPr id="6" name="object 6"/>
          <p:cNvPicPr/>
          <p:nvPr/>
        </p:nvPicPr>
        <p:blipFill>
          <a:blip r:embed="rId3" cstate="print"/>
          <a:stretch>
            <a:fillRect/>
          </a:stretch>
        </p:blipFill>
        <p:spPr>
          <a:xfrm>
            <a:off x="5560833" y="4774159"/>
            <a:ext cx="5965689" cy="3248746"/>
          </a:xfrm>
          <a:prstGeom prst="rect">
            <a:avLst/>
          </a:prstGeom>
        </p:spPr>
      </p:pic>
      <p:sp>
        <p:nvSpPr>
          <p:cNvPr id="7" name="object 7"/>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8" name="object 8"/>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9" name="object 9"/>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sp>
        <p:nvSpPr>
          <p:cNvPr id="10" name="object 10"/>
          <p:cNvSpPr txBox="1"/>
          <p:nvPr/>
        </p:nvSpPr>
        <p:spPr>
          <a:xfrm>
            <a:off x="8530893" y="7502045"/>
            <a:ext cx="748030" cy="377825"/>
          </a:xfrm>
          <a:prstGeom prst="rect">
            <a:avLst/>
          </a:prstGeom>
        </p:spPr>
        <p:txBody>
          <a:bodyPr vert="horz" wrap="square" lIns="0" tIns="13335" rIns="0" bIns="0" rtlCol="0">
            <a:spAutoFit/>
          </a:bodyPr>
          <a:lstStyle/>
          <a:p>
            <a:pPr marL="12700">
              <a:lnSpc>
                <a:spcPct val="100000"/>
              </a:lnSpc>
              <a:spcBef>
                <a:spcPts val="105"/>
              </a:spcBef>
            </a:pPr>
            <a:r>
              <a:rPr sz="2300" spc="-50" dirty="0">
                <a:latin typeface="Arial MT"/>
                <a:cs typeface="Arial MT"/>
              </a:rPr>
              <a:t>(10,2)</a:t>
            </a:r>
            <a:endParaRPr sz="2300">
              <a:latin typeface="Arial MT"/>
              <a:cs typeface="Arial MT"/>
            </a:endParaRPr>
          </a:p>
        </p:txBody>
      </p:sp>
      <p:sp>
        <p:nvSpPr>
          <p:cNvPr id="11" name="object 11"/>
          <p:cNvSpPr txBox="1"/>
          <p:nvPr/>
        </p:nvSpPr>
        <p:spPr>
          <a:xfrm>
            <a:off x="10654158" y="7502045"/>
            <a:ext cx="610870" cy="377825"/>
          </a:xfrm>
          <a:prstGeom prst="rect">
            <a:avLst/>
          </a:prstGeom>
        </p:spPr>
        <p:txBody>
          <a:bodyPr vert="horz" wrap="square" lIns="0" tIns="13335" rIns="0" bIns="0" rtlCol="0">
            <a:spAutoFit/>
          </a:bodyPr>
          <a:lstStyle/>
          <a:p>
            <a:pPr marL="12700">
              <a:lnSpc>
                <a:spcPct val="100000"/>
              </a:lnSpc>
              <a:spcBef>
                <a:spcPts val="105"/>
              </a:spcBef>
            </a:pPr>
            <a:r>
              <a:rPr sz="2300" spc="-20" dirty="0">
                <a:latin typeface="Arial MT"/>
                <a:cs typeface="Arial MT"/>
              </a:rPr>
              <a:t>(8,7)</a:t>
            </a:r>
            <a:endParaRPr sz="2300">
              <a:latin typeface="Arial MT"/>
              <a:cs typeface="Arial MT"/>
            </a:endParaRPr>
          </a:p>
        </p:txBody>
      </p:sp>
      <p:sp>
        <p:nvSpPr>
          <p:cNvPr id="12" name="object 12"/>
          <p:cNvSpPr txBox="1"/>
          <p:nvPr/>
        </p:nvSpPr>
        <p:spPr>
          <a:xfrm>
            <a:off x="5847083" y="7502045"/>
            <a:ext cx="571500" cy="377825"/>
          </a:xfrm>
          <a:prstGeom prst="rect">
            <a:avLst/>
          </a:prstGeom>
        </p:spPr>
        <p:txBody>
          <a:bodyPr vert="horz" wrap="square" lIns="0" tIns="13335" rIns="0" bIns="0" rtlCol="0">
            <a:spAutoFit/>
          </a:bodyPr>
          <a:lstStyle/>
          <a:p>
            <a:pPr marL="12700">
              <a:lnSpc>
                <a:spcPct val="100000"/>
              </a:lnSpc>
              <a:spcBef>
                <a:spcPts val="105"/>
              </a:spcBef>
            </a:pPr>
            <a:r>
              <a:rPr sz="2300" spc="-80" dirty="0">
                <a:latin typeface="Arial MT"/>
                <a:cs typeface="Arial MT"/>
              </a:rPr>
              <a:t>(3,1)</a:t>
            </a:r>
            <a:endParaRPr sz="2300">
              <a:latin typeface="Arial MT"/>
              <a:cs typeface="Arial MT"/>
            </a:endParaRPr>
          </a:p>
        </p:txBody>
      </p:sp>
      <p:pic>
        <p:nvPicPr>
          <p:cNvPr id="13" name="object 13"/>
          <p:cNvPicPr/>
          <p:nvPr/>
        </p:nvPicPr>
        <p:blipFill>
          <a:blip r:embed="rId4" cstate="print"/>
          <a:stretch>
            <a:fillRect/>
          </a:stretch>
        </p:blipFill>
        <p:spPr>
          <a:xfrm>
            <a:off x="13427842" y="5325643"/>
            <a:ext cx="5426281" cy="4562095"/>
          </a:xfrm>
          <a:prstGeom prst="rect">
            <a:avLst/>
          </a:prstGeom>
        </p:spPr>
      </p:pic>
      <p:sp>
        <p:nvSpPr>
          <p:cNvPr id="15" name="object 15"/>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32</a:t>
            </a:fld>
            <a:endParaRPr spc="-25" dirty="0"/>
          </a:p>
        </p:txBody>
      </p:sp>
      <p:sp>
        <p:nvSpPr>
          <p:cNvPr id="17" name="object 2">
            <a:extLst>
              <a:ext uri="{FF2B5EF4-FFF2-40B4-BE49-F238E27FC236}">
                <a16:creationId xmlns:a16="http://schemas.microsoft.com/office/drawing/2014/main" id="{33CBF7DB-DB99-E41D-7F43-9E3E95BAB182}"/>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21031" y="3040487"/>
            <a:ext cx="3837399" cy="3694128"/>
          </a:xfrm>
          <a:prstGeom prst="rect">
            <a:avLst/>
          </a:prstGeom>
        </p:spPr>
      </p:pic>
      <p:graphicFrame>
        <p:nvGraphicFramePr>
          <p:cNvPr id="4" name="object 4"/>
          <p:cNvGraphicFramePr>
            <a:graphicFrameLocks noGrp="1"/>
          </p:cNvGraphicFramePr>
          <p:nvPr/>
        </p:nvGraphicFramePr>
        <p:xfrm>
          <a:off x="617104" y="3032633"/>
          <a:ext cx="3836670" cy="3697605"/>
        </p:xfrm>
        <a:graphic>
          <a:graphicData uri="http://schemas.openxmlformats.org/drawingml/2006/table">
            <a:tbl>
              <a:tblPr firstRow="1" bandRow="1">
                <a:tableStyleId>{2D5ABB26-0587-4C30-8999-92F81FD0307C}</a:tableStyleId>
              </a:tblPr>
              <a:tblGrid>
                <a:gridCol w="1278890">
                  <a:extLst>
                    <a:ext uri="{9D8B030D-6E8A-4147-A177-3AD203B41FA5}">
                      <a16:colId xmlns:a16="http://schemas.microsoft.com/office/drawing/2014/main" val="20000"/>
                    </a:ext>
                  </a:extLst>
                </a:gridCol>
                <a:gridCol w="1278890">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531495">
                <a:tc>
                  <a:txBody>
                    <a:bodyPr/>
                    <a:lstStyle/>
                    <a:p>
                      <a:pPr>
                        <a:lnSpc>
                          <a:spcPct val="100000"/>
                        </a:lnSpc>
                      </a:pPr>
                      <a:endParaRPr sz="3100">
                        <a:latin typeface="Times New Roman"/>
                        <a:cs typeface="Times New Roman"/>
                      </a:endParaRPr>
                    </a:p>
                  </a:txBody>
                  <a:tcPr marL="0" marR="0" marT="0" marB="0">
                    <a:lnL w="9525">
                      <a:solidFill>
                        <a:srgbClr val="00D4D2"/>
                      </a:solidFill>
                      <a:prstDash val="solid"/>
                    </a:lnL>
                    <a:lnB w="28575">
                      <a:solidFill>
                        <a:srgbClr val="FFFFFF"/>
                      </a:solidFill>
                      <a:prstDash val="solid"/>
                    </a:lnB>
                    <a:solidFill>
                      <a:srgbClr val="00D4D2"/>
                    </a:solidFill>
                  </a:tcPr>
                </a:tc>
                <a:tc>
                  <a:txBody>
                    <a:bodyPr/>
                    <a:lstStyle/>
                    <a:p>
                      <a:pPr algn="ctr">
                        <a:lnSpc>
                          <a:spcPct val="100000"/>
                        </a:lnSpc>
                        <a:spcBef>
                          <a:spcPts val="425"/>
                        </a:spcBef>
                      </a:pPr>
                      <a:r>
                        <a:rPr sz="2950" spc="-335" dirty="0">
                          <a:latin typeface="Arial Black"/>
                          <a:cs typeface="Arial Black"/>
                        </a:rPr>
                        <a:t>x</a:t>
                      </a:r>
                      <a:r>
                        <a:rPr sz="2925" spc="-502" baseline="-18518" dirty="0">
                          <a:latin typeface="Arial Black"/>
                          <a:cs typeface="Arial Black"/>
                        </a:rPr>
                        <a:t>1</a:t>
                      </a:r>
                      <a:endParaRPr sz="2925" baseline="-18518">
                        <a:latin typeface="Arial Black"/>
                        <a:cs typeface="Arial Black"/>
                      </a:endParaRPr>
                    </a:p>
                  </a:txBody>
                  <a:tcPr marL="0" marR="0" marT="53975" marB="0">
                    <a:lnB w="28575">
                      <a:solidFill>
                        <a:srgbClr val="FFFFFF"/>
                      </a:solidFill>
                      <a:prstDash val="solid"/>
                    </a:lnB>
                    <a:solidFill>
                      <a:srgbClr val="00D4D2"/>
                    </a:solidFill>
                  </a:tcPr>
                </a:tc>
                <a:tc>
                  <a:txBody>
                    <a:bodyPr/>
                    <a:lstStyle/>
                    <a:p>
                      <a:pPr algn="ctr">
                        <a:lnSpc>
                          <a:spcPct val="100000"/>
                        </a:lnSpc>
                        <a:spcBef>
                          <a:spcPts val="425"/>
                        </a:spcBef>
                      </a:pPr>
                      <a:r>
                        <a:rPr sz="2950" spc="-25" dirty="0">
                          <a:latin typeface="Arial Black"/>
                          <a:cs typeface="Arial Black"/>
                        </a:rPr>
                        <a:t>x</a:t>
                      </a:r>
                      <a:r>
                        <a:rPr sz="2925" spc="-37" baseline="-18518" dirty="0">
                          <a:latin typeface="Arial Black"/>
                          <a:cs typeface="Arial Black"/>
                        </a:rPr>
                        <a:t>2</a:t>
                      </a:r>
                      <a:endParaRPr sz="2925" baseline="-18518">
                        <a:latin typeface="Arial Black"/>
                        <a:cs typeface="Arial Black"/>
                      </a:endParaRPr>
                    </a:p>
                  </a:txBody>
                  <a:tcPr marL="0" marR="0" marT="53975" marB="0">
                    <a:lnR w="9525">
                      <a:solidFill>
                        <a:srgbClr val="00D4D2"/>
                      </a:solidFill>
                      <a:prstDash val="solid"/>
                    </a:lnR>
                    <a:lnB w="28575">
                      <a:solidFill>
                        <a:srgbClr val="FFFFFF"/>
                      </a:solidFill>
                      <a:prstDash val="solid"/>
                    </a:lnB>
                    <a:solidFill>
                      <a:srgbClr val="00D4D2"/>
                    </a:solidFill>
                  </a:tcPr>
                </a:tc>
                <a:extLst>
                  <a:ext uri="{0D108BD9-81ED-4DB2-BD59-A6C34878D82A}">
                    <a16:rowId xmlns:a16="http://schemas.microsoft.com/office/drawing/2014/main" val="10000"/>
                  </a:ext>
                </a:extLst>
              </a:tr>
              <a:tr h="527685">
                <a:tc>
                  <a:txBody>
                    <a:bodyPr/>
                    <a:lstStyle/>
                    <a:p>
                      <a:pPr algn="ctr">
                        <a:lnSpc>
                          <a:spcPct val="100000"/>
                        </a:lnSpc>
                        <a:spcBef>
                          <a:spcPts val="395"/>
                        </a:spcBef>
                      </a:pPr>
                      <a:r>
                        <a:rPr sz="2950" spc="-390" dirty="0">
                          <a:latin typeface="Arial MT"/>
                          <a:cs typeface="Arial MT"/>
                        </a:rPr>
                        <a:t>P1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45" dirty="0">
                          <a:latin typeface="Arial MT"/>
                          <a:cs typeface="Arial MT"/>
                        </a:rPr>
                        <a:t>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28575">
                      <a:solidFill>
                        <a:srgbClr val="FFFFFF"/>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1"/>
                  </a:ext>
                </a:extLst>
              </a:tr>
              <a:tr h="527685">
                <a:tc>
                  <a:txBody>
                    <a:bodyPr/>
                    <a:lstStyle/>
                    <a:p>
                      <a:pPr algn="ctr">
                        <a:lnSpc>
                          <a:spcPct val="100000"/>
                        </a:lnSpc>
                        <a:spcBef>
                          <a:spcPts val="395"/>
                        </a:spcBef>
                      </a:pPr>
                      <a:r>
                        <a:rPr sz="2950" spc="-25" dirty="0">
                          <a:latin typeface="Arial MT"/>
                          <a:cs typeface="Arial MT"/>
                        </a:rPr>
                        <a:t>P2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9" dirty="0">
                          <a:latin typeface="Arial MT"/>
                          <a:cs typeface="Arial MT"/>
                        </a:rPr>
                        <a:t>1</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2"/>
                  </a:ext>
                </a:extLst>
              </a:tr>
              <a:tr h="527685">
                <a:tc>
                  <a:txBody>
                    <a:bodyPr/>
                    <a:lstStyle/>
                    <a:p>
                      <a:pPr algn="ctr">
                        <a:lnSpc>
                          <a:spcPct val="100000"/>
                        </a:lnSpc>
                        <a:spcBef>
                          <a:spcPts val="395"/>
                        </a:spcBef>
                      </a:pPr>
                      <a:r>
                        <a:rPr sz="2950" spc="-25" dirty="0">
                          <a:latin typeface="Arial MT"/>
                          <a:cs typeface="Arial MT"/>
                        </a:rPr>
                        <a:t>P3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45" dirty="0">
                          <a:latin typeface="Arial MT"/>
                          <a:cs typeface="Arial MT"/>
                        </a:rPr>
                        <a:t>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130" dirty="0">
                          <a:latin typeface="Arial MT"/>
                          <a:cs typeface="Arial MT"/>
                        </a:rPr>
                        <a:t>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3"/>
                  </a:ext>
                </a:extLst>
              </a:tr>
              <a:tr h="527685">
                <a:tc>
                  <a:txBody>
                    <a:bodyPr/>
                    <a:lstStyle/>
                    <a:p>
                      <a:pPr algn="ctr">
                        <a:lnSpc>
                          <a:spcPct val="100000"/>
                        </a:lnSpc>
                        <a:spcBef>
                          <a:spcPts val="395"/>
                        </a:spcBef>
                      </a:pPr>
                      <a:r>
                        <a:rPr sz="2950" spc="-25" dirty="0">
                          <a:latin typeface="Arial MT"/>
                          <a:cs typeface="Arial MT"/>
                        </a:rPr>
                        <a:t>P4</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110" dirty="0">
                          <a:latin typeface="Arial MT"/>
                          <a:cs typeface="Arial MT"/>
                        </a:rPr>
                        <a:t>8</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50" dirty="0">
                          <a:latin typeface="Arial MT"/>
                          <a:cs typeface="Arial MT"/>
                        </a:rPr>
                        <a:t>7</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4"/>
                  </a:ext>
                </a:extLst>
              </a:tr>
              <a:tr h="527685">
                <a:tc>
                  <a:txBody>
                    <a:bodyPr/>
                    <a:lstStyle/>
                    <a:p>
                      <a:pPr algn="ctr">
                        <a:lnSpc>
                          <a:spcPct val="100000"/>
                        </a:lnSpc>
                        <a:spcBef>
                          <a:spcPts val="395"/>
                        </a:spcBef>
                      </a:pPr>
                      <a:r>
                        <a:rPr sz="2950" spc="-25" dirty="0">
                          <a:latin typeface="Arial MT"/>
                          <a:cs typeface="Arial MT"/>
                        </a:rPr>
                        <a:t>P5</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25" dirty="0">
                          <a:latin typeface="Arial MT"/>
                          <a:cs typeface="Arial MT"/>
                        </a:rPr>
                        <a:t>10</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tc>
                  <a:txBody>
                    <a:bodyPr/>
                    <a:lstStyle/>
                    <a:p>
                      <a:pPr algn="ctr">
                        <a:lnSpc>
                          <a:spcPct val="100000"/>
                        </a:lnSpc>
                        <a:spcBef>
                          <a:spcPts val="395"/>
                        </a:spcBef>
                      </a:pPr>
                      <a:r>
                        <a:rPr sz="2950" spc="-50" dirty="0">
                          <a:latin typeface="Arial MT"/>
                          <a:cs typeface="Arial MT"/>
                        </a:rPr>
                        <a:t>2</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solidFill>
                      <a:srgbClr val="00D4D2">
                        <a:alpha val="39999"/>
                      </a:srgbClr>
                    </a:solidFill>
                  </a:tcPr>
                </a:tc>
                <a:extLst>
                  <a:ext uri="{0D108BD9-81ED-4DB2-BD59-A6C34878D82A}">
                    <a16:rowId xmlns:a16="http://schemas.microsoft.com/office/drawing/2014/main" val="10005"/>
                  </a:ext>
                </a:extLst>
              </a:tr>
              <a:tr h="527685">
                <a:tc>
                  <a:txBody>
                    <a:bodyPr/>
                    <a:lstStyle/>
                    <a:p>
                      <a:pPr algn="ctr">
                        <a:lnSpc>
                          <a:spcPct val="100000"/>
                        </a:lnSpc>
                        <a:spcBef>
                          <a:spcPts val="395"/>
                        </a:spcBef>
                      </a:pPr>
                      <a:r>
                        <a:rPr sz="2950" spc="-25" dirty="0">
                          <a:latin typeface="Arial MT"/>
                          <a:cs typeface="Arial MT"/>
                        </a:rPr>
                        <a:t>P6</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25" dirty="0">
                          <a:latin typeface="Arial MT"/>
                          <a:cs typeface="Arial MT"/>
                        </a:rPr>
                        <a:t>13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tc>
                  <a:txBody>
                    <a:bodyPr/>
                    <a:lstStyle/>
                    <a:p>
                      <a:pPr algn="ctr">
                        <a:lnSpc>
                          <a:spcPct val="100000"/>
                        </a:lnSpc>
                        <a:spcBef>
                          <a:spcPts val="395"/>
                        </a:spcBef>
                      </a:pPr>
                      <a:r>
                        <a:rPr sz="2950" spc="95" dirty="0">
                          <a:latin typeface="Arial MT"/>
                          <a:cs typeface="Arial MT"/>
                        </a:rPr>
                        <a:t>3</a:t>
                      </a:r>
                      <a:endParaRPr sz="2950">
                        <a:latin typeface="Arial MT"/>
                        <a:cs typeface="Arial MT"/>
                      </a:endParaRPr>
                    </a:p>
                  </a:txBody>
                  <a:tcPr marL="0" marR="0" marT="50165" marB="0">
                    <a:lnL w="9525">
                      <a:solidFill>
                        <a:srgbClr val="00D4D2"/>
                      </a:solidFill>
                      <a:prstDash val="solid"/>
                    </a:lnL>
                    <a:lnR w="9525">
                      <a:solidFill>
                        <a:srgbClr val="00D4D2"/>
                      </a:solidFill>
                      <a:prstDash val="solid"/>
                    </a:lnR>
                    <a:lnT w="9525">
                      <a:solidFill>
                        <a:srgbClr val="00D4D2"/>
                      </a:solidFill>
                      <a:prstDash val="solid"/>
                    </a:lnT>
                    <a:lnB w="9525">
                      <a:solidFill>
                        <a:srgbClr val="00D4D2"/>
                      </a:solidFill>
                      <a:prstDash val="solid"/>
                    </a:lnB>
                  </a:tcPr>
                </a:tc>
                <a:extLst>
                  <a:ext uri="{0D108BD9-81ED-4DB2-BD59-A6C34878D82A}">
                    <a16:rowId xmlns:a16="http://schemas.microsoft.com/office/drawing/2014/main" val="10006"/>
                  </a:ext>
                </a:extLst>
              </a:tr>
            </a:tbl>
          </a:graphicData>
        </a:graphic>
      </p:graphicFrame>
      <p:sp>
        <p:nvSpPr>
          <p:cNvPr id="5" name="object 5"/>
          <p:cNvSpPr txBox="1"/>
          <p:nvPr/>
        </p:nvSpPr>
        <p:spPr>
          <a:xfrm>
            <a:off x="4725506" y="3005427"/>
            <a:ext cx="13940155" cy="1186800"/>
          </a:xfrm>
          <a:prstGeom prst="rect">
            <a:avLst/>
          </a:prstGeom>
        </p:spPr>
        <p:txBody>
          <a:bodyPr vert="horz" wrap="square" lIns="0" tIns="109855" rIns="0" bIns="0" rtlCol="0">
            <a:spAutoFit/>
          </a:bodyPr>
          <a:lstStyle/>
          <a:p>
            <a:pPr marL="12700" marR="5080">
              <a:lnSpc>
                <a:spcPct val="78800"/>
              </a:lnSpc>
              <a:spcBef>
                <a:spcPts val="865"/>
              </a:spcBef>
            </a:pPr>
            <a:r>
              <a:rPr sz="2950" dirty="0">
                <a:latin typeface="Tahoma"/>
                <a:cs typeface="Tahoma"/>
              </a:rPr>
              <a:t>Como esta distancia es menor, la guardamos, y como no cortamos más separaciones, termina nuestra búsqueda y encontramos el más cercano solo haciendo tres cálculos.</a:t>
            </a:r>
            <a:endParaRPr sz="2950">
              <a:latin typeface="Tahoma"/>
              <a:cs typeface="Tahoma"/>
            </a:endParaRPr>
          </a:p>
        </p:txBody>
      </p:sp>
      <p:pic>
        <p:nvPicPr>
          <p:cNvPr id="6" name="object 6"/>
          <p:cNvPicPr/>
          <p:nvPr/>
        </p:nvPicPr>
        <p:blipFill>
          <a:blip r:embed="rId3" cstate="print"/>
          <a:stretch>
            <a:fillRect/>
          </a:stretch>
        </p:blipFill>
        <p:spPr>
          <a:xfrm>
            <a:off x="5560833" y="4774159"/>
            <a:ext cx="5965689" cy="3248746"/>
          </a:xfrm>
          <a:prstGeom prst="rect">
            <a:avLst/>
          </a:prstGeom>
        </p:spPr>
      </p:pic>
      <p:sp>
        <p:nvSpPr>
          <p:cNvPr id="7" name="object 7"/>
          <p:cNvSpPr txBox="1"/>
          <p:nvPr/>
        </p:nvSpPr>
        <p:spPr>
          <a:xfrm>
            <a:off x="8114393" y="4918667"/>
            <a:ext cx="625475"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(5,4)</a:t>
            </a:r>
            <a:endParaRPr sz="2300">
              <a:latin typeface="Arial MT"/>
              <a:cs typeface="Arial MT"/>
            </a:endParaRPr>
          </a:p>
        </p:txBody>
      </p:sp>
      <p:sp>
        <p:nvSpPr>
          <p:cNvPr id="8" name="object 8"/>
          <p:cNvSpPr txBox="1"/>
          <p:nvPr/>
        </p:nvSpPr>
        <p:spPr>
          <a:xfrm>
            <a:off x="6753493" y="6134966"/>
            <a:ext cx="622300" cy="377825"/>
          </a:xfrm>
          <a:prstGeom prst="rect">
            <a:avLst/>
          </a:prstGeom>
        </p:spPr>
        <p:txBody>
          <a:bodyPr vert="horz" wrap="square" lIns="0" tIns="13335" rIns="0" bIns="0" rtlCol="0">
            <a:spAutoFit/>
          </a:bodyPr>
          <a:lstStyle/>
          <a:p>
            <a:pPr marL="12700">
              <a:lnSpc>
                <a:spcPct val="100000"/>
              </a:lnSpc>
              <a:spcBef>
                <a:spcPts val="105"/>
              </a:spcBef>
            </a:pPr>
            <a:r>
              <a:rPr sz="2300" spc="-10" dirty="0">
                <a:latin typeface="Arial MT"/>
                <a:cs typeface="Arial MT"/>
              </a:rPr>
              <a:t>(2,6)</a:t>
            </a:r>
            <a:endParaRPr sz="2300">
              <a:latin typeface="Arial MT"/>
              <a:cs typeface="Arial MT"/>
            </a:endParaRPr>
          </a:p>
        </p:txBody>
      </p:sp>
      <p:sp>
        <p:nvSpPr>
          <p:cNvPr id="9" name="object 9"/>
          <p:cNvSpPr txBox="1"/>
          <p:nvPr/>
        </p:nvSpPr>
        <p:spPr>
          <a:xfrm>
            <a:off x="9533574" y="6134966"/>
            <a:ext cx="743585" cy="377825"/>
          </a:xfrm>
          <a:prstGeom prst="rect">
            <a:avLst/>
          </a:prstGeom>
        </p:spPr>
        <p:txBody>
          <a:bodyPr vert="horz" wrap="square" lIns="0" tIns="13335" rIns="0" bIns="0" rtlCol="0">
            <a:spAutoFit/>
          </a:bodyPr>
          <a:lstStyle/>
          <a:p>
            <a:pPr marL="12700">
              <a:lnSpc>
                <a:spcPct val="100000"/>
              </a:lnSpc>
              <a:spcBef>
                <a:spcPts val="105"/>
              </a:spcBef>
            </a:pPr>
            <a:r>
              <a:rPr sz="2300" spc="-55" dirty="0">
                <a:latin typeface="Arial MT"/>
                <a:cs typeface="Arial MT"/>
              </a:rPr>
              <a:t>(13,3)</a:t>
            </a:r>
            <a:endParaRPr sz="2300">
              <a:latin typeface="Arial MT"/>
              <a:cs typeface="Arial MT"/>
            </a:endParaRPr>
          </a:p>
        </p:txBody>
      </p:sp>
      <p:pic>
        <p:nvPicPr>
          <p:cNvPr id="10" name="object 10"/>
          <p:cNvPicPr/>
          <p:nvPr/>
        </p:nvPicPr>
        <p:blipFill>
          <a:blip r:embed="rId4" cstate="print"/>
          <a:stretch>
            <a:fillRect/>
          </a:stretch>
        </p:blipFill>
        <p:spPr>
          <a:xfrm>
            <a:off x="13427842" y="5325643"/>
            <a:ext cx="5426281" cy="4562095"/>
          </a:xfrm>
          <a:prstGeom prst="rect">
            <a:avLst/>
          </a:prstGeom>
        </p:spPr>
      </p:pic>
      <p:sp>
        <p:nvSpPr>
          <p:cNvPr id="11" name="object 11"/>
          <p:cNvSpPr txBox="1"/>
          <p:nvPr/>
        </p:nvSpPr>
        <p:spPr>
          <a:xfrm>
            <a:off x="650214" y="7502045"/>
            <a:ext cx="12678435" cy="2733825"/>
          </a:xfrm>
          <a:prstGeom prst="rect">
            <a:avLst/>
          </a:prstGeom>
        </p:spPr>
        <p:txBody>
          <a:bodyPr vert="horz" wrap="square" lIns="0" tIns="13335" rIns="0" bIns="0" rtlCol="0">
            <a:spAutoFit/>
          </a:bodyPr>
          <a:lstStyle/>
          <a:p>
            <a:pPr marL="5209540" algn="just">
              <a:lnSpc>
                <a:spcPct val="100000"/>
              </a:lnSpc>
              <a:spcBef>
                <a:spcPts val="105"/>
              </a:spcBef>
              <a:tabLst>
                <a:tab pos="7893050" algn="l"/>
                <a:tab pos="10016490" algn="l"/>
              </a:tabLst>
            </a:pPr>
            <a:r>
              <a:rPr sz="2300" dirty="0">
                <a:latin typeface="Arial MT"/>
                <a:cs typeface="Arial MT"/>
              </a:rPr>
              <a:t>(3,1)	(10,2)	(8,7)</a:t>
            </a:r>
          </a:p>
          <a:p>
            <a:pPr algn="just">
              <a:lnSpc>
                <a:spcPct val="100000"/>
              </a:lnSpc>
              <a:spcBef>
                <a:spcPts val="1445"/>
              </a:spcBef>
            </a:pPr>
            <a:endParaRPr sz="2300" dirty="0">
              <a:latin typeface="Arial MT"/>
              <a:cs typeface="Arial MT"/>
            </a:endParaRPr>
          </a:p>
          <a:p>
            <a:pPr marL="12700" marR="756920" algn="just">
              <a:lnSpc>
                <a:spcPct val="78800"/>
              </a:lnSpc>
            </a:pPr>
            <a:r>
              <a:rPr sz="2950" dirty="0">
                <a:latin typeface="Tahoma"/>
                <a:cs typeface="Tahoma"/>
              </a:rPr>
              <a:t>Este algoritmo con pequeño cambio se puede encontrar los K-vecinos. Y el entrenamiento es el armado de este árbol.</a:t>
            </a:r>
          </a:p>
          <a:p>
            <a:pPr marL="12700" algn="just">
              <a:lnSpc>
                <a:spcPts val="2860"/>
              </a:lnSpc>
            </a:pPr>
            <a:r>
              <a:rPr sz="2950" dirty="0">
                <a:solidFill>
                  <a:srgbClr val="19BD1B"/>
                </a:solidFill>
                <a:latin typeface="Tahoma"/>
                <a:cs typeface="Tahoma"/>
              </a:rPr>
              <a:t>El caso general, las regiones pueden haber más de un punto, eso lo </a:t>
            </a:r>
            <a:r>
              <a:rPr sz="2950" dirty="0" err="1">
                <a:solidFill>
                  <a:srgbClr val="19BD1B"/>
                </a:solidFill>
                <a:latin typeface="Tahoma"/>
                <a:cs typeface="Tahoma"/>
              </a:rPr>
              <a:t>hace</a:t>
            </a:r>
            <a:r>
              <a:rPr sz="2950" dirty="0">
                <a:solidFill>
                  <a:srgbClr val="19BD1B"/>
                </a:solidFill>
                <a:latin typeface="Tahoma"/>
                <a:cs typeface="Tahoma"/>
              </a:rPr>
              <a:t> </a:t>
            </a:r>
            <a:r>
              <a:rPr sz="2950" dirty="0" err="1">
                <a:solidFill>
                  <a:srgbClr val="19BD1B"/>
                </a:solidFill>
                <a:latin typeface="Tahoma"/>
                <a:cs typeface="Tahoma"/>
              </a:rPr>
              <a:t>menos</a:t>
            </a:r>
            <a:r>
              <a:rPr lang="es-PE" sz="2950" dirty="0">
                <a:solidFill>
                  <a:srgbClr val="19BD1B"/>
                </a:solidFill>
                <a:latin typeface="Tahoma"/>
                <a:cs typeface="Tahoma"/>
              </a:rPr>
              <a:t> </a:t>
            </a:r>
            <a:r>
              <a:rPr sz="2950" dirty="0" err="1">
                <a:solidFill>
                  <a:srgbClr val="19BD1B"/>
                </a:solidFill>
                <a:latin typeface="Tahoma"/>
                <a:cs typeface="Tahoma"/>
              </a:rPr>
              <a:t>complejo</a:t>
            </a:r>
            <a:r>
              <a:rPr sz="2950" dirty="0">
                <a:solidFill>
                  <a:srgbClr val="19BD1B"/>
                </a:solidFill>
                <a:latin typeface="Tahoma"/>
                <a:cs typeface="Tahoma"/>
              </a:rPr>
              <a:t>, pero en cada celda se hace una búsqueda de fuerza bruta, pero con muchos menos puntos.</a:t>
            </a:r>
            <a:endParaRPr sz="2950" dirty="0">
              <a:latin typeface="Tahoma"/>
              <a:cs typeface="Tahoma"/>
            </a:endParaRPr>
          </a:p>
        </p:txBody>
      </p:sp>
      <p:sp>
        <p:nvSpPr>
          <p:cNvPr id="13" name="object 13"/>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33</a:t>
            </a:fld>
            <a:endParaRPr spc="-25" dirty="0"/>
          </a:p>
        </p:txBody>
      </p:sp>
      <p:sp>
        <p:nvSpPr>
          <p:cNvPr id="15" name="object 2">
            <a:extLst>
              <a:ext uri="{FF2B5EF4-FFF2-40B4-BE49-F238E27FC236}">
                <a16:creationId xmlns:a16="http://schemas.microsoft.com/office/drawing/2014/main" id="{122F092C-C441-4DBF-CFBB-F35D7D25FF81}"/>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34</a:t>
            </a:fld>
            <a:endParaRPr spc="-25" dirty="0"/>
          </a:p>
        </p:txBody>
      </p:sp>
      <p:sp>
        <p:nvSpPr>
          <p:cNvPr id="3" name="object 3"/>
          <p:cNvSpPr txBox="1"/>
          <p:nvPr/>
        </p:nvSpPr>
        <p:spPr>
          <a:xfrm>
            <a:off x="1097213" y="3089194"/>
            <a:ext cx="18218785" cy="7652992"/>
          </a:xfrm>
          <a:prstGeom prst="rect">
            <a:avLst/>
          </a:prstGeom>
        </p:spPr>
        <p:txBody>
          <a:bodyPr vert="horz" wrap="square" lIns="0" tIns="10160" rIns="0" bIns="0" rtlCol="0">
            <a:spAutoFit/>
          </a:bodyPr>
          <a:lstStyle/>
          <a:p>
            <a:pPr marL="12700" marR="61594" algn="just">
              <a:lnSpc>
                <a:spcPct val="100200"/>
              </a:lnSpc>
              <a:spcBef>
                <a:spcPts val="80"/>
              </a:spcBef>
            </a:pPr>
            <a:r>
              <a:rPr sz="3800" dirty="0">
                <a:latin typeface="Tahoma"/>
                <a:cs typeface="Tahoma"/>
              </a:rPr>
              <a:t>Este algoritmo funciona bien para baja dimensionalidades, pero en grandes dimensiones sufre del efecto de la </a:t>
            </a:r>
            <a:r>
              <a:rPr sz="3800" u="sng" dirty="0">
                <a:solidFill>
                  <a:srgbClr val="0000FF"/>
                </a:solidFill>
                <a:uFill>
                  <a:solidFill>
                    <a:srgbClr val="0000FF"/>
                  </a:solidFill>
                </a:uFill>
                <a:latin typeface="Tahoma"/>
                <a:cs typeface="Tahoma"/>
              </a:rPr>
              <a:t>maldición de dimensión</a:t>
            </a:r>
            <a:r>
              <a:rPr sz="3800" dirty="0">
                <a:latin typeface="Tahoma"/>
                <a:cs typeface="Tahoma"/>
              </a:rPr>
              <a:t>. En grandes dimensiones y tal como se estructura el árbol, se termina en casos tan malos como la búsqueda en fuerza bruta.</a:t>
            </a:r>
          </a:p>
          <a:p>
            <a:pPr marL="12700" marR="367030" algn="just">
              <a:lnSpc>
                <a:spcPts val="4530"/>
              </a:lnSpc>
              <a:spcBef>
                <a:spcPts val="2880"/>
              </a:spcBef>
            </a:pPr>
            <a:r>
              <a:rPr sz="3800" dirty="0">
                <a:latin typeface="Tahoma"/>
                <a:cs typeface="Tahoma"/>
              </a:rPr>
              <a:t>Brevemente, la maldición de dimensionalidad advierte que a medida que aumenta el número de dimensiones, los datos se vuelven más dispersos y los algoritmos basados en la distancia pueden perder precisión o eficiencia.</a:t>
            </a:r>
          </a:p>
          <a:p>
            <a:pPr marL="12700" marR="5080" algn="just">
              <a:lnSpc>
                <a:spcPct val="101299"/>
              </a:lnSpc>
              <a:spcBef>
                <a:spcPts val="2320"/>
              </a:spcBef>
            </a:pPr>
            <a:r>
              <a:rPr sz="3800" dirty="0">
                <a:latin typeface="Tahoma"/>
                <a:cs typeface="Tahoma"/>
              </a:rPr>
              <a:t>Para intentar resolver esto, se utiliza </a:t>
            </a:r>
            <a:r>
              <a:rPr sz="3800" b="1" dirty="0">
                <a:solidFill>
                  <a:srgbClr val="19BD1B"/>
                </a:solidFill>
                <a:latin typeface="Calibri"/>
                <a:cs typeface="Calibri"/>
              </a:rPr>
              <a:t>Ball Tree</a:t>
            </a:r>
            <a:r>
              <a:rPr sz="3800" dirty="0">
                <a:latin typeface="Tahoma"/>
                <a:cs typeface="Tahoma"/>
              </a:rPr>
              <a:t>, el cual, en vez de usar regiones divididas a lo largo de los ejes cartesianos, los Ball Tree dividen los datos en una serie de hiperesferas anidadas. Esto hace que la construcción del árbol sea más costosa, pero resulta que puede ser muy eficiente en datos en dimensiones muy altas.</a:t>
            </a:r>
          </a:p>
        </p:txBody>
      </p:sp>
      <p:sp>
        <p:nvSpPr>
          <p:cNvPr id="7" name="object 2">
            <a:extLst>
              <a:ext uri="{FF2B5EF4-FFF2-40B4-BE49-F238E27FC236}">
                <a16:creationId xmlns:a16="http://schemas.microsoft.com/office/drawing/2014/main" id="{587354D2-855D-81F7-1573-D6430D1C45D8}"/>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9827895" cy="2691121"/>
          </a:xfrm>
          <a:prstGeom prst="rect">
            <a:avLst/>
          </a:prstGeom>
        </p:spPr>
        <p:txBody>
          <a:bodyPr vert="horz" wrap="square" lIns="0" tIns="33655" rIns="0" bIns="0" rtlCol="0">
            <a:spAutoFit/>
          </a:bodyPr>
          <a:lstStyle/>
          <a:p>
            <a:pPr marL="12700" marR="92710">
              <a:lnSpc>
                <a:spcPts val="4530"/>
              </a:lnSpc>
              <a:spcBef>
                <a:spcPts val="265"/>
              </a:spcBef>
            </a:pPr>
            <a:r>
              <a:rPr sz="3800" dirty="0">
                <a:latin typeface="Tahoma"/>
                <a:cs typeface="Tahoma"/>
              </a:rPr>
              <a:t>Ball Tree divide recursivamente los datos en hiper- esferas.</a:t>
            </a:r>
          </a:p>
          <a:p>
            <a:pPr marL="12700">
              <a:lnSpc>
                <a:spcPct val="100000"/>
              </a:lnSpc>
              <a:spcBef>
                <a:spcPts val="2640"/>
              </a:spcBef>
            </a:pPr>
            <a:r>
              <a:rPr sz="3800" dirty="0">
                <a:latin typeface="Tahoma"/>
                <a:cs typeface="Tahoma"/>
              </a:rPr>
              <a:t>Inicialmente se busca los dos puntos más alejados.</a:t>
            </a:r>
          </a:p>
        </p:txBody>
      </p:sp>
      <p:pic>
        <p:nvPicPr>
          <p:cNvPr id="4" name="object 4"/>
          <p:cNvPicPr/>
          <p:nvPr/>
        </p:nvPicPr>
        <p:blipFill>
          <a:blip r:embed="rId2" cstate="print"/>
          <a:stretch>
            <a:fillRect/>
          </a:stretch>
        </p:blipFill>
        <p:spPr>
          <a:xfrm>
            <a:off x="12265019" y="4041448"/>
            <a:ext cx="6547674" cy="550489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35</a:t>
            </a:fld>
            <a:endParaRPr spc="-25" dirty="0"/>
          </a:p>
        </p:txBody>
      </p:sp>
      <p:sp>
        <p:nvSpPr>
          <p:cNvPr id="8" name="object 2">
            <a:extLst>
              <a:ext uri="{FF2B5EF4-FFF2-40B4-BE49-F238E27FC236}">
                <a16:creationId xmlns:a16="http://schemas.microsoft.com/office/drawing/2014/main" id="{FF237FF2-C01C-0047-6FE1-FD470CC98C5F}"/>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478837" cy="2939523"/>
          </a:xfrm>
          <a:prstGeom prst="rect">
            <a:avLst/>
          </a:prstGeom>
        </p:spPr>
        <p:txBody>
          <a:bodyPr vert="horz" wrap="square" lIns="0" tIns="33655" rIns="0" bIns="0" rtlCol="0">
            <a:spAutoFit/>
          </a:bodyPr>
          <a:lstStyle/>
          <a:p>
            <a:pPr marL="12700" marR="92710">
              <a:lnSpc>
                <a:spcPct val="150000"/>
              </a:lnSpc>
              <a:spcBef>
                <a:spcPts val="265"/>
              </a:spcBef>
            </a:pPr>
            <a:r>
              <a:rPr sz="3200" dirty="0">
                <a:latin typeface="Tahoma"/>
                <a:cs typeface="Tahoma"/>
              </a:rPr>
              <a:t>Ball Tree divide recursivamente los datos en hiper- esferas.</a:t>
            </a:r>
          </a:p>
          <a:p>
            <a:pPr marL="12700" marR="5080">
              <a:lnSpc>
                <a:spcPct val="150000"/>
              </a:lnSpc>
              <a:spcBef>
                <a:spcPts val="445"/>
              </a:spcBef>
            </a:pPr>
            <a:r>
              <a:rPr sz="3200" dirty="0">
                <a:latin typeface="Tahoma"/>
                <a:cs typeface="Tahoma"/>
              </a:rPr>
              <a:t>Inicialmente se busca los dos puntos más alejados. Luego se construye una circunferencia entre ellos.</a:t>
            </a:r>
          </a:p>
        </p:txBody>
      </p:sp>
      <p:pic>
        <p:nvPicPr>
          <p:cNvPr id="4" name="object 4"/>
          <p:cNvPicPr/>
          <p:nvPr/>
        </p:nvPicPr>
        <p:blipFill>
          <a:blip r:embed="rId2" cstate="print"/>
          <a:stretch>
            <a:fillRect/>
          </a:stretch>
        </p:blipFill>
        <p:spPr>
          <a:xfrm>
            <a:off x="12265019" y="4041448"/>
            <a:ext cx="6547674" cy="5577651"/>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36</a:t>
            </a:fld>
            <a:endParaRPr spc="-25" dirty="0"/>
          </a:p>
        </p:txBody>
      </p:sp>
      <p:sp>
        <p:nvSpPr>
          <p:cNvPr id="8" name="object 2">
            <a:extLst>
              <a:ext uri="{FF2B5EF4-FFF2-40B4-BE49-F238E27FC236}">
                <a16:creationId xmlns:a16="http://schemas.microsoft.com/office/drawing/2014/main" id="{2B7C45AE-B855-92F1-0039-F4401F67BFE3}"/>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764520" cy="3262629"/>
          </a:xfrm>
          <a:prstGeom prst="rect">
            <a:avLst/>
          </a:prstGeom>
        </p:spPr>
        <p:txBody>
          <a:bodyPr vert="horz" wrap="square" lIns="0" tIns="33655" rIns="0" bIns="0" rtlCol="0">
            <a:spAutoFit/>
          </a:bodyPr>
          <a:lstStyle/>
          <a:p>
            <a:pPr marR="1029335" algn="just">
              <a:lnSpc>
                <a:spcPts val="4530"/>
              </a:lnSpc>
              <a:spcBef>
                <a:spcPts val="265"/>
              </a:spcBef>
            </a:pPr>
            <a:r>
              <a:rPr sz="3800" dirty="0">
                <a:latin typeface="Tahoma"/>
                <a:cs typeface="Tahoma"/>
              </a:rPr>
              <a:t>Ball Tree divide recursivamente los datos en hiper- esferas.</a:t>
            </a:r>
          </a:p>
          <a:p>
            <a:pPr marL="12700" marR="5080" algn="just">
              <a:lnSpc>
                <a:spcPts val="4530"/>
              </a:lnSpc>
              <a:spcBef>
                <a:spcPts val="2770"/>
              </a:spcBef>
            </a:pPr>
            <a:r>
              <a:rPr sz="3800" dirty="0">
                <a:latin typeface="Tahoma"/>
                <a:cs typeface="Tahoma"/>
              </a:rPr>
              <a:t>Similar a T-D Tree, se separa en mitades y mitades, pero ahora lo hacemos en esferas en vez de los ejes cartesianos.</a:t>
            </a: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37</a:t>
            </a:fld>
            <a:endParaRPr spc="-25" dirty="0"/>
          </a:p>
        </p:txBody>
      </p:sp>
      <p:sp>
        <p:nvSpPr>
          <p:cNvPr id="8" name="object 2">
            <a:extLst>
              <a:ext uri="{FF2B5EF4-FFF2-40B4-BE49-F238E27FC236}">
                <a16:creationId xmlns:a16="http://schemas.microsoft.com/office/drawing/2014/main" id="{2927BD98-7594-C5BC-A441-8649EFFDF16D}"/>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764520" cy="3262629"/>
          </a:xfrm>
          <a:prstGeom prst="rect">
            <a:avLst/>
          </a:prstGeom>
        </p:spPr>
        <p:txBody>
          <a:bodyPr vert="horz" wrap="square" lIns="0" tIns="33655" rIns="0" bIns="0" rtlCol="0">
            <a:spAutoFit/>
          </a:bodyPr>
          <a:lstStyle/>
          <a:p>
            <a:pPr marL="12700" marR="1029335" algn="just">
              <a:lnSpc>
                <a:spcPts val="4530"/>
              </a:lnSpc>
              <a:spcBef>
                <a:spcPts val="265"/>
              </a:spcBef>
            </a:pPr>
            <a:r>
              <a:rPr sz="3800" dirty="0">
                <a:latin typeface="Tahoma"/>
                <a:cs typeface="Tahoma"/>
              </a:rPr>
              <a:t>Ball Tree divide recursivamente los datos en hiper- esferas.</a:t>
            </a:r>
            <a:endParaRPr sz="3800">
              <a:latin typeface="Tahoma"/>
              <a:cs typeface="Tahoma"/>
            </a:endParaRPr>
          </a:p>
          <a:p>
            <a:pPr marL="12700" marR="5080" algn="just">
              <a:lnSpc>
                <a:spcPts val="4530"/>
              </a:lnSpc>
              <a:spcBef>
                <a:spcPts val="2770"/>
              </a:spcBef>
            </a:pPr>
            <a:r>
              <a:rPr sz="3800" dirty="0">
                <a:latin typeface="Tahoma"/>
                <a:cs typeface="Tahoma"/>
              </a:rPr>
              <a:t>Similar a T-D Tree, se separa en mitades y mitades, pero ahora lo hacemos en esferas en vez de los ejes cartesianos.</a:t>
            </a:r>
            <a:endParaRPr sz="3800">
              <a:latin typeface="Tahoma"/>
              <a:cs typeface="Tahoma"/>
            </a:endParaRP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38</a:t>
            </a:fld>
            <a:endParaRPr spc="-25" dirty="0"/>
          </a:p>
        </p:txBody>
      </p:sp>
      <p:sp>
        <p:nvSpPr>
          <p:cNvPr id="8" name="object 2">
            <a:extLst>
              <a:ext uri="{FF2B5EF4-FFF2-40B4-BE49-F238E27FC236}">
                <a16:creationId xmlns:a16="http://schemas.microsoft.com/office/drawing/2014/main" id="{229D53AF-4AFE-7181-DAE3-217FCA5203C0}"/>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579735" cy="1764664"/>
          </a:xfrm>
          <a:prstGeom prst="rect">
            <a:avLst/>
          </a:prstGeom>
        </p:spPr>
        <p:txBody>
          <a:bodyPr vert="horz" wrap="square" lIns="0" tIns="10160" rIns="0" bIns="0" rtlCol="0">
            <a:spAutoFit/>
          </a:bodyPr>
          <a:lstStyle/>
          <a:p>
            <a:pPr marL="12700" marR="5080">
              <a:lnSpc>
                <a:spcPct val="100200"/>
              </a:lnSpc>
              <a:spcBef>
                <a:spcPts val="80"/>
              </a:spcBef>
            </a:pPr>
            <a:r>
              <a:rPr sz="3800" dirty="0">
                <a:latin typeface="Tahoma"/>
                <a:cs typeface="Tahoma"/>
              </a:rPr>
              <a:t>Una vez construido el árbol, cuando tenemos un nuevo dato, vemos en que esfera está adentro (la más pequeña).</a:t>
            </a: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39</a:t>
            </a:fld>
            <a:endParaRPr spc="-25" dirty="0"/>
          </a:p>
        </p:txBody>
      </p:sp>
      <p:sp>
        <p:nvSpPr>
          <p:cNvPr id="8" name="object 2">
            <a:extLst>
              <a:ext uri="{FF2B5EF4-FFF2-40B4-BE49-F238E27FC236}">
                <a16:creationId xmlns:a16="http://schemas.microsoft.com/office/drawing/2014/main" id="{9751DAAA-442B-D122-CB30-E922B3868406}"/>
              </a:ext>
            </a:extLst>
          </p:cNvPr>
          <p:cNvSpPr txBox="1">
            <a:spLocks/>
          </p:cNvSpPr>
          <p:nvPr/>
        </p:nvSpPr>
        <p:spPr>
          <a:xfrm>
            <a:off x="1097213" y="1136584"/>
            <a:ext cx="17909672" cy="1120178"/>
          </a:xfrm>
          <a:prstGeom prst="rect">
            <a:avLst/>
          </a:prstGeom>
        </p:spPr>
        <p:txBody>
          <a:bodyPr vert="horz" wrap="square" lIns="0" tIns="12065" rIns="0" bIns="0" rtlCol="0">
            <a:spAutoFit/>
          </a:bodyPr>
          <a:lstStyle>
            <a:lvl1pPr>
              <a:defRPr sz="5450" b="0" i="0">
                <a:solidFill>
                  <a:schemeClr val="tx1"/>
                </a:solidFill>
                <a:latin typeface="Arial Black"/>
                <a:ea typeface="+mj-ea"/>
                <a:cs typeface="Arial Black"/>
              </a:defRPr>
            </a:lvl1pPr>
          </a:lstStyle>
          <a:p>
            <a:pPr marL="12700">
              <a:spcBef>
                <a:spcPts val="95"/>
              </a:spcBef>
            </a:pPr>
            <a:r>
              <a:rPr lang="es-PE" sz="7200"/>
              <a:t>ENCONTRANDO A LOS VECINOS</a:t>
            </a:r>
            <a:endParaRPr lang="es-PE" sz="7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579735" cy="1764664"/>
          </a:xfrm>
          <a:prstGeom prst="rect">
            <a:avLst/>
          </a:prstGeom>
        </p:spPr>
        <p:txBody>
          <a:bodyPr vert="horz" wrap="square" lIns="0" tIns="10160" rIns="0" bIns="0" rtlCol="0">
            <a:spAutoFit/>
          </a:bodyPr>
          <a:lstStyle/>
          <a:p>
            <a:pPr marL="12700" marR="5080">
              <a:lnSpc>
                <a:spcPct val="100200"/>
              </a:lnSpc>
              <a:spcBef>
                <a:spcPts val="80"/>
              </a:spcBef>
            </a:pPr>
            <a:r>
              <a:rPr sz="3800" dirty="0">
                <a:latin typeface="Tahoma"/>
                <a:cs typeface="Tahoma"/>
              </a:rPr>
              <a:t>Una vez construido el árbol, cuando tenemos un nuevo dato, vemos en que esfera está adentro (la más pequeña).</a:t>
            </a: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40</a:t>
            </a:fld>
            <a:endParaRPr spc="-25" dirty="0"/>
          </a:p>
        </p:txBody>
      </p:sp>
      <p:sp>
        <p:nvSpPr>
          <p:cNvPr id="8" name="object 2">
            <a:extLst>
              <a:ext uri="{FF2B5EF4-FFF2-40B4-BE49-F238E27FC236}">
                <a16:creationId xmlns:a16="http://schemas.microsoft.com/office/drawing/2014/main" id="{22330EF5-5799-2C52-0C14-0A03CBFA3C4F}"/>
              </a:ext>
            </a:extLst>
          </p:cNvPr>
          <p:cNvSpPr txBox="1">
            <a:spLocks/>
          </p:cNvSpPr>
          <p:nvPr/>
        </p:nvSpPr>
        <p:spPr>
          <a:xfrm>
            <a:off x="1097213" y="1136584"/>
            <a:ext cx="17909672" cy="1120178"/>
          </a:xfrm>
          <a:prstGeom prst="rect">
            <a:avLst/>
          </a:prstGeom>
        </p:spPr>
        <p:txBody>
          <a:bodyPr vert="horz" wrap="square" lIns="0" tIns="12065" rIns="0" bIns="0" rtlCol="0">
            <a:spAutoFit/>
          </a:bodyPr>
          <a:lstStyle>
            <a:lvl1pPr>
              <a:defRPr sz="5450" b="0" i="0">
                <a:solidFill>
                  <a:schemeClr val="tx1"/>
                </a:solidFill>
                <a:latin typeface="Arial Black"/>
                <a:ea typeface="+mj-ea"/>
                <a:cs typeface="Arial Black"/>
              </a:defRPr>
            </a:lvl1pPr>
          </a:lstStyle>
          <a:p>
            <a:pPr marL="12700">
              <a:spcBef>
                <a:spcPts val="95"/>
              </a:spcBef>
            </a:pPr>
            <a:r>
              <a:rPr lang="es-PE" sz="7200"/>
              <a:t>ENCONTRANDO A LOS VECINOS</a:t>
            </a:r>
            <a:endParaRPr lang="es-PE" sz="7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579735" cy="3262629"/>
          </a:xfrm>
          <a:prstGeom prst="rect">
            <a:avLst/>
          </a:prstGeom>
        </p:spPr>
        <p:txBody>
          <a:bodyPr vert="horz" wrap="square" lIns="0" tIns="10160" rIns="0" bIns="0" rtlCol="0">
            <a:spAutoFit/>
          </a:bodyPr>
          <a:lstStyle/>
          <a:p>
            <a:pPr marL="12700" marR="5080">
              <a:lnSpc>
                <a:spcPct val="100200"/>
              </a:lnSpc>
              <a:spcBef>
                <a:spcPts val="80"/>
              </a:spcBef>
            </a:pPr>
            <a:r>
              <a:rPr sz="3800" dirty="0">
                <a:latin typeface="Tahoma"/>
                <a:cs typeface="Tahoma"/>
              </a:rPr>
              <a:t>Una vez construido el árbol, cuando tenemos un nuevo dato, vemos en que esfera está adentro (la más pequeña).</a:t>
            </a:r>
          </a:p>
          <a:p>
            <a:pPr marL="12700" marR="314960">
              <a:lnSpc>
                <a:spcPts val="4530"/>
              </a:lnSpc>
              <a:spcBef>
                <a:spcPts val="2835"/>
              </a:spcBef>
            </a:pPr>
            <a:r>
              <a:rPr sz="3800" dirty="0">
                <a:latin typeface="Tahoma"/>
                <a:cs typeface="Tahoma"/>
              </a:rPr>
              <a:t>Y en esta esfera calculamos las distancias de quienes estén en esa esfera.</a:t>
            </a: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41</a:t>
            </a:fld>
            <a:endParaRPr spc="-25" dirty="0"/>
          </a:p>
        </p:txBody>
      </p:sp>
      <p:sp>
        <p:nvSpPr>
          <p:cNvPr id="8" name="object 2">
            <a:extLst>
              <a:ext uri="{FF2B5EF4-FFF2-40B4-BE49-F238E27FC236}">
                <a16:creationId xmlns:a16="http://schemas.microsoft.com/office/drawing/2014/main" id="{B44D6617-8389-57E9-2F34-F38D9782A540}"/>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579735" cy="5963171"/>
          </a:xfrm>
          <a:prstGeom prst="rect">
            <a:avLst/>
          </a:prstGeom>
        </p:spPr>
        <p:txBody>
          <a:bodyPr vert="horz" wrap="square" lIns="0" tIns="10160" rIns="0" bIns="0" rtlCol="0">
            <a:spAutoFit/>
          </a:bodyPr>
          <a:lstStyle/>
          <a:p>
            <a:pPr marL="12700" marR="5080" algn="just">
              <a:lnSpc>
                <a:spcPct val="100200"/>
              </a:lnSpc>
              <a:spcBef>
                <a:spcPts val="80"/>
              </a:spcBef>
            </a:pPr>
            <a:r>
              <a:rPr sz="3800" dirty="0">
                <a:latin typeface="Tahoma"/>
                <a:cs typeface="Tahoma"/>
              </a:rPr>
              <a:t>Una vez construido el árbol, cuando tenemos un nuevo dato, vemos en que esfera está adentro (la más pequeña).</a:t>
            </a:r>
            <a:endParaRPr sz="3800">
              <a:latin typeface="Tahoma"/>
              <a:cs typeface="Tahoma"/>
            </a:endParaRPr>
          </a:p>
          <a:p>
            <a:pPr marL="12700" marR="314960" algn="just">
              <a:lnSpc>
                <a:spcPts val="4530"/>
              </a:lnSpc>
              <a:spcBef>
                <a:spcPts val="2880"/>
              </a:spcBef>
            </a:pPr>
            <a:r>
              <a:rPr sz="3800" dirty="0">
                <a:latin typeface="Tahoma"/>
                <a:cs typeface="Tahoma"/>
              </a:rPr>
              <a:t>Y en esta esfera calculamos las distancias de quienes estén en esa esfera.</a:t>
            </a:r>
            <a:endParaRPr sz="3800">
              <a:latin typeface="Tahoma"/>
              <a:cs typeface="Tahoma"/>
            </a:endParaRPr>
          </a:p>
          <a:p>
            <a:pPr marL="12700" marR="36830" algn="just">
              <a:lnSpc>
                <a:spcPct val="100200"/>
              </a:lnSpc>
              <a:spcBef>
                <a:spcPts val="2550"/>
              </a:spcBef>
            </a:pPr>
            <a:r>
              <a:rPr sz="3800" dirty="0">
                <a:latin typeface="Tahoma"/>
                <a:cs typeface="Tahoma"/>
              </a:rPr>
              <a:t>Esta estructura es más pesada y lleva más tiempo de entrenamiento para almacenamiento y para navegarse el árbol cuando buscamos un parámetro nuevo.</a:t>
            </a:r>
            <a:endParaRPr sz="3800">
              <a:latin typeface="Tahoma"/>
              <a:cs typeface="Tahoma"/>
            </a:endParaRP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42</a:t>
            </a:fld>
            <a:endParaRPr spc="-25" dirty="0"/>
          </a:p>
        </p:txBody>
      </p:sp>
      <p:sp>
        <p:nvSpPr>
          <p:cNvPr id="8" name="object 2">
            <a:extLst>
              <a:ext uri="{FF2B5EF4-FFF2-40B4-BE49-F238E27FC236}">
                <a16:creationId xmlns:a16="http://schemas.microsoft.com/office/drawing/2014/main" id="{BD9C640B-78F7-8354-E526-AF97E94342DC}"/>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3089194"/>
            <a:ext cx="10174037" cy="6311984"/>
          </a:xfrm>
          <a:prstGeom prst="rect">
            <a:avLst/>
          </a:prstGeom>
        </p:spPr>
        <p:txBody>
          <a:bodyPr vert="horz" wrap="square" lIns="0" tIns="10160" rIns="0" bIns="0" rtlCol="0">
            <a:spAutoFit/>
          </a:bodyPr>
          <a:lstStyle/>
          <a:p>
            <a:pPr marL="12700" marR="27305" algn="just">
              <a:lnSpc>
                <a:spcPct val="100200"/>
              </a:lnSpc>
              <a:spcBef>
                <a:spcPts val="80"/>
              </a:spcBef>
            </a:pPr>
            <a:r>
              <a:rPr sz="3800" dirty="0">
                <a:latin typeface="Tahoma"/>
                <a:cs typeface="Tahoma"/>
              </a:rPr>
              <a:t>Scikit-Learn implementa esto tres tipos de estructuras para k-NN (y otros algoritmos como k-means), si se elige que automáticamente elija, lo que hace esta librería es:</a:t>
            </a:r>
          </a:p>
          <a:p>
            <a:pPr marL="577850" indent="-565150" algn="just">
              <a:lnSpc>
                <a:spcPct val="100000"/>
              </a:lnSpc>
              <a:spcBef>
                <a:spcPts val="2705"/>
              </a:spcBef>
              <a:buFont typeface="Arial MT"/>
              <a:buChar char="•"/>
              <a:tabLst>
                <a:tab pos="577850" algn="l"/>
              </a:tabLst>
            </a:pPr>
            <a:r>
              <a:rPr sz="3800" dirty="0">
                <a:latin typeface="Tahoma"/>
                <a:cs typeface="Tahoma"/>
              </a:rPr>
              <a:t>Si son pocos datos, usa fuerza bruta.</a:t>
            </a:r>
          </a:p>
          <a:p>
            <a:pPr marL="577850" indent="-565150" algn="just">
              <a:lnSpc>
                <a:spcPct val="100000"/>
              </a:lnSpc>
              <a:spcBef>
                <a:spcPts val="2680"/>
              </a:spcBef>
              <a:buFont typeface="Arial MT"/>
              <a:buChar char="•"/>
              <a:tabLst>
                <a:tab pos="577850" algn="l"/>
              </a:tabLst>
            </a:pPr>
            <a:r>
              <a:rPr sz="3800" dirty="0">
                <a:latin typeface="Tahoma"/>
                <a:cs typeface="Tahoma"/>
              </a:rPr>
              <a:t>Si son muchos, pero de baja dimensión, usa K-D Tree.</a:t>
            </a:r>
          </a:p>
          <a:p>
            <a:pPr marL="577850" indent="-565150" algn="just">
              <a:lnSpc>
                <a:spcPct val="100000"/>
              </a:lnSpc>
              <a:spcBef>
                <a:spcPts val="2705"/>
              </a:spcBef>
              <a:buFont typeface="Arial MT"/>
              <a:buChar char="•"/>
              <a:tabLst>
                <a:tab pos="577850" algn="l"/>
              </a:tabLst>
            </a:pPr>
            <a:r>
              <a:rPr sz="3800" dirty="0">
                <a:latin typeface="Tahoma"/>
                <a:cs typeface="Tahoma"/>
              </a:rPr>
              <a:t>Alta dimensionalidad, utiliza Ball Tree.</a:t>
            </a:r>
          </a:p>
        </p:txBody>
      </p:sp>
      <p:pic>
        <p:nvPicPr>
          <p:cNvPr id="4" name="object 4"/>
          <p:cNvPicPr/>
          <p:nvPr/>
        </p:nvPicPr>
        <p:blipFill>
          <a:blip r:embed="rId2" cstate="print"/>
          <a:stretch>
            <a:fillRect/>
          </a:stretch>
        </p:blipFill>
        <p:spPr>
          <a:xfrm>
            <a:off x="12265019" y="4041448"/>
            <a:ext cx="6547674" cy="5577649"/>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2384">
              <a:lnSpc>
                <a:spcPct val="100000"/>
              </a:lnSpc>
              <a:spcBef>
                <a:spcPts val="295"/>
              </a:spcBef>
            </a:pPr>
            <a:fld id="{81D60167-4931-47E6-BA6A-407CBD079E47}" type="slidenum">
              <a:rPr spc="-25" dirty="0"/>
              <a:t>43</a:t>
            </a:fld>
            <a:endParaRPr spc="-25" dirty="0"/>
          </a:p>
        </p:txBody>
      </p:sp>
      <p:sp>
        <p:nvSpPr>
          <p:cNvPr id="8" name="object 2">
            <a:extLst>
              <a:ext uri="{FF2B5EF4-FFF2-40B4-BE49-F238E27FC236}">
                <a16:creationId xmlns:a16="http://schemas.microsoft.com/office/drawing/2014/main" id="{E5CEFCC7-683E-FB67-6885-6CF632B6C59F}"/>
              </a:ext>
            </a:extLst>
          </p:cNvPr>
          <p:cNvSpPr txBox="1">
            <a:spLocks noGrp="1"/>
          </p:cNvSpPr>
          <p:nvPr>
            <p:ph type="title"/>
          </p:nvPr>
        </p:nvSpPr>
        <p:spPr>
          <a:xfrm>
            <a:off x="1097213" y="1136584"/>
            <a:ext cx="17909672" cy="1120178"/>
          </a:xfrm>
          <a:prstGeom prst="rect">
            <a:avLst/>
          </a:prstGeom>
        </p:spPr>
        <p:txBody>
          <a:bodyPr vert="horz" wrap="square" lIns="0" tIns="12065" rIns="0" bIns="0" rtlCol="0">
            <a:spAutoFit/>
          </a:bodyPr>
          <a:lstStyle/>
          <a:p>
            <a:pPr marL="12700">
              <a:lnSpc>
                <a:spcPct val="100000"/>
              </a:lnSpc>
              <a:spcBef>
                <a:spcPts val="95"/>
              </a:spcBef>
            </a:pPr>
            <a:r>
              <a:rPr sz="7200" dirty="0"/>
              <a:t>ENCONTRANDO A LOS VECINOS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6512"/>
            <a:ext cx="16795750" cy="2900665"/>
          </a:xfrm>
          <a:prstGeom prst="rect">
            <a:avLst/>
          </a:prstGeom>
        </p:spPr>
        <p:txBody>
          <a:bodyPr vert="horz" wrap="square" lIns="0" tIns="511809" rIns="0" bIns="0" rtlCol="0">
            <a:spAutoFit/>
          </a:bodyPr>
          <a:lstStyle/>
          <a:p>
            <a:pPr marL="601345" marR="46990" indent="-589280">
              <a:lnSpc>
                <a:spcPct val="70200"/>
              </a:lnSpc>
              <a:spcBef>
                <a:spcPts val="4029"/>
              </a:spcBef>
            </a:pPr>
            <a:r>
              <a:rPr sz="10950" b="1" i="1" dirty="0">
                <a:latin typeface="Arial"/>
                <a:cs typeface="Arial"/>
              </a:rPr>
              <a:t>REPASO DE MÉTRICAS DE EVALUACIÓN</a:t>
            </a:r>
            <a:endParaRPr sz="10950" dirty="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62642" y="5423918"/>
            <a:ext cx="4498975" cy="2052320"/>
          </a:xfrm>
          <a:prstGeom prst="rect">
            <a:avLst/>
          </a:prstGeom>
          <a:solidFill>
            <a:srgbClr val="FFFA00"/>
          </a:solidFill>
          <a:ln w="20941">
            <a:solidFill>
              <a:srgbClr val="6C6A00"/>
            </a:solidFill>
          </a:ln>
        </p:spPr>
        <p:txBody>
          <a:bodyPr vert="horz" wrap="square" lIns="0" tIns="0" rIns="0" bIns="0" rtlCol="0">
            <a:spAutoFit/>
          </a:bodyPr>
          <a:lstStyle/>
          <a:p>
            <a:pPr>
              <a:lnSpc>
                <a:spcPct val="100000"/>
              </a:lnSpc>
            </a:pPr>
            <a:endParaRPr sz="2600">
              <a:latin typeface="Times New Roman"/>
              <a:cs typeface="Times New Roman"/>
            </a:endParaRPr>
          </a:p>
          <a:p>
            <a:pPr>
              <a:lnSpc>
                <a:spcPct val="100000"/>
              </a:lnSpc>
              <a:spcBef>
                <a:spcPts val="555"/>
              </a:spcBef>
            </a:pPr>
            <a:endParaRPr sz="2600">
              <a:latin typeface="Times New Roman"/>
              <a:cs typeface="Times New Roman"/>
            </a:endParaRPr>
          </a:p>
          <a:p>
            <a:pPr marL="434975">
              <a:lnSpc>
                <a:spcPct val="100000"/>
              </a:lnSpc>
            </a:pPr>
            <a:r>
              <a:rPr sz="2600" b="1" i="1" dirty="0">
                <a:latin typeface="Arial"/>
                <a:cs typeface="Arial"/>
              </a:rPr>
              <a:t>Verdadero</a:t>
            </a:r>
            <a:r>
              <a:rPr sz="2600" b="1" i="1" spc="-190" dirty="0">
                <a:latin typeface="Arial"/>
                <a:cs typeface="Arial"/>
              </a:rPr>
              <a:t> </a:t>
            </a:r>
            <a:r>
              <a:rPr sz="2600" b="1" i="1" spc="-45" dirty="0">
                <a:latin typeface="Arial"/>
                <a:cs typeface="Arial"/>
              </a:rPr>
              <a:t>positivo</a:t>
            </a:r>
            <a:r>
              <a:rPr sz="2600" b="1" i="1" spc="-190" dirty="0">
                <a:latin typeface="Arial"/>
                <a:cs typeface="Arial"/>
              </a:rPr>
              <a:t> </a:t>
            </a:r>
            <a:r>
              <a:rPr sz="2600" b="1" i="1" spc="-20" dirty="0">
                <a:latin typeface="Arial"/>
                <a:cs typeface="Arial"/>
              </a:rPr>
              <a:t>(TP)</a:t>
            </a:r>
            <a:endParaRPr sz="26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37465" rIns="0" bIns="0" rtlCol="0">
            <a:spAutoFit/>
          </a:bodyPr>
          <a:lstStyle/>
          <a:p>
            <a:pPr marL="36830">
              <a:lnSpc>
                <a:spcPct val="100000"/>
              </a:lnSpc>
              <a:spcBef>
                <a:spcPts val="295"/>
              </a:spcBef>
            </a:pPr>
            <a:fld id="{81D60167-4931-47E6-BA6A-407CBD079E47}" type="slidenum">
              <a:rPr spc="-25" dirty="0"/>
              <a:t>45</a:t>
            </a:fld>
            <a:endParaRPr spc="-25" dirty="0"/>
          </a:p>
        </p:txBody>
      </p:sp>
      <p:sp>
        <p:nvSpPr>
          <p:cNvPr id="3" name="object 3"/>
          <p:cNvSpPr txBox="1"/>
          <p:nvPr/>
        </p:nvSpPr>
        <p:spPr>
          <a:xfrm>
            <a:off x="10778028" y="5423918"/>
            <a:ext cx="4498975" cy="2052320"/>
          </a:xfrm>
          <a:prstGeom prst="rect">
            <a:avLst/>
          </a:prstGeom>
          <a:solidFill>
            <a:srgbClr val="FFFA00"/>
          </a:solidFill>
          <a:ln w="20941">
            <a:solidFill>
              <a:srgbClr val="6C6A00"/>
            </a:solidFill>
          </a:ln>
        </p:spPr>
        <p:txBody>
          <a:bodyPr vert="horz" wrap="square" lIns="0" tIns="0" rIns="0" bIns="0" rtlCol="0">
            <a:spAutoFit/>
          </a:bodyPr>
          <a:lstStyle/>
          <a:p>
            <a:pPr>
              <a:lnSpc>
                <a:spcPct val="100000"/>
              </a:lnSpc>
            </a:pPr>
            <a:endParaRPr sz="2600">
              <a:latin typeface="Times New Roman"/>
              <a:cs typeface="Times New Roman"/>
            </a:endParaRPr>
          </a:p>
          <a:p>
            <a:pPr>
              <a:lnSpc>
                <a:spcPct val="100000"/>
              </a:lnSpc>
              <a:spcBef>
                <a:spcPts val="555"/>
              </a:spcBef>
            </a:pPr>
            <a:endParaRPr sz="2600">
              <a:latin typeface="Times New Roman"/>
              <a:cs typeface="Times New Roman"/>
            </a:endParaRPr>
          </a:p>
          <a:p>
            <a:pPr marL="5715" algn="ctr">
              <a:lnSpc>
                <a:spcPct val="100000"/>
              </a:lnSpc>
            </a:pPr>
            <a:r>
              <a:rPr sz="2600" b="1" i="1" spc="-90" dirty="0">
                <a:latin typeface="Arial"/>
                <a:cs typeface="Arial"/>
              </a:rPr>
              <a:t>Falso</a:t>
            </a:r>
            <a:r>
              <a:rPr sz="2600" b="1" i="1" spc="-185" dirty="0">
                <a:latin typeface="Arial"/>
                <a:cs typeface="Arial"/>
              </a:rPr>
              <a:t> </a:t>
            </a:r>
            <a:r>
              <a:rPr sz="2600" b="1" i="1" spc="-45" dirty="0">
                <a:latin typeface="Arial"/>
                <a:cs typeface="Arial"/>
              </a:rPr>
              <a:t>positivo</a:t>
            </a:r>
            <a:r>
              <a:rPr sz="2600" b="1" i="1" spc="-180" dirty="0">
                <a:latin typeface="Arial"/>
                <a:cs typeface="Arial"/>
              </a:rPr>
              <a:t> </a:t>
            </a:r>
            <a:r>
              <a:rPr sz="2600" b="1" i="1" spc="-20" dirty="0">
                <a:latin typeface="Arial"/>
                <a:cs typeface="Arial"/>
              </a:rPr>
              <a:t>(FP)</a:t>
            </a:r>
            <a:endParaRPr sz="2600">
              <a:latin typeface="Arial"/>
              <a:cs typeface="Arial"/>
            </a:endParaRPr>
          </a:p>
        </p:txBody>
      </p:sp>
      <p:sp>
        <p:nvSpPr>
          <p:cNvPr id="4" name="object 4"/>
          <p:cNvSpPr txBox="1"/>
          <p:nvPr/>
        </p:nvSpPr>
        <p:spPr>
          <a:xfrm>
            <a:off x="6062642" y="7678649"/>
            <a:ext cx="4498975" cy="2052320"/>
          </a:xfrm>
          <a:prstGeom prst="rect">
            <a:avLst/>
          </a:prstGeom>
          <a:solidFill>
            <a:srgbClr val="FFFA00"/>
          </a:solidFill>
          <a:ln w="20941">
            <a:solidFill>
              <a:srgbClr val="6C6A00"/>
            </a:solidFill>
          </a:ln>
        </p:spPr>
        <p:txBody>
          <a:bodyPr vert="horz" wrap="square" lIns="0" tIns="0" rIns="0" bIns="0" rtlCol="0">
            <a:spAutoFit/>
          </a:bodyPr>
          <a:lstStyle/>
          <a:p>
            <a:pPr>
              <a:lnSpc>
                <a:spcPct val="100000"/>
              </a:lnSpc>
            </a:pPr>
            <a:endParaRPr sz="2600">
              <a:latin typeface="Times New Roman"/>
              <a:cs typeface="Times New Roman"/>
            </a:endParaRPr>
          </a:p>
          <a:p>
            <a:pPr>
              <a:lnSpc>
                <a:spcPct val="100000"/>
              </a:lnSpc>
              <a:spcBef>
                <a:spcPts val="550"/>
              </a:spcBef>
            </a:pPr>
            <a:endParaRPr sz="2600">
              <a:latin typeface="Times New Roman"/>
              <a:cs typeface="Times New Roman"/>
            </a:endParaRPr>
          </a:p>
          <a:p>
            <a:pPr marL="5715" algn="ctr">
              <a:lnSpc>
                <a:spcPct val="100000"/>
              </a:lnSpc>
            </a:pPr>
            <a:r>
              <a:rPr sz="2600" b="1" i="1" spc="-90" dirty="0">
                <a:latin typeface="Arial"/>
                <a:cs typeface="Arial"/>
              </a:rPr>
              <a:t>Falso</a:t>
            </a:r>
            <a:r>
              <a:rPr sz="2600" b="1" i="1" spc="-210" dirty="0">
                <a:latin typeface="Arial"/>
                <a:cs typeface="Arial"/>
              </a:rPr>
              <a:t> </a:t>
            </a:r>
            <a:r>
              <a:rPr sz="2600" b="1" i="1" spc="-10" dirty="0">
                <a:latin typeface="Arial"/>
                <a:cs typeface="Arial"/>
              </a:rPr>
              <a:t>negativo</a:t>
            </a:r>
            <a:r>
              <a:rPr sz="2600" b="1" i="1" spc="-210" dirty="0">
                <a:latin typeface="Arial"/>
                <a:cs typeface="Arial"/>
              </a:rPr>
              <a:t> </a:t>
            </a:r>
            <a:r>
              <a:rPr sz="2600" b="1" i="1" spc="-20" dirty="0">
                <a:latin typeface="Arial"/>
                <a:cs typeface="Arial"/>
              </a:rPr>
              <a:t>(FN)</a:t>
            </a:r>
            <a:endParaRPr sz="2600">
              <a:latin typeface="Arial"/>
              <a:cs typeface="Arial"/>
            </a:endParaRPr>
          </a:p>
        </p:txBody>
      </p:sp>
      <p:sp>
        <p:nvSpPr>
          <p:cNvPr id="5" name="object 5"/>
          <p:cNvSpPr txBox="1"/>
          <p:nvPr/>
        </p:nvSpPr>
        <p:spPr>
          <a:xfrm>
            <a:off x="10778028" y="7678649"/>
            <a:ext cx="4498975" cy="2052320"/>
          </a:xfrm>
          <a:prstGeom prst="rect">
            <a:avLst/>
          </a:prstGeom>
          <a:solidFill>
            <a:srgbClr val="FFFA00"/>
          </a:solidFill>
          <a:ln w="20941">
            <a:solidFill>
              <a:srgbClr val="6C6A00"/>
            </a:solidFill>
          </a:ln>
        </p:spPr>
        <p:txBody>
          <a:bodyPr vert="horz" wrap="square" lIns="0" tIns="0" rIns="0" bIns="0" rtlCol="0">
            <a:spAutoFit/>
          </a:bodyPr>
          <a:lstStyle/>
          <a:p>
            <a:pPr>
              <a:lnSpc>
                <a:spcPct val="100000"/>
              </a:lnSpc>
            </a:pPr>
            <a:endParaRPr sz="2600">
              <a:latin typeface="Times New Roman"/>
              <a:cs typeface="Times New Roman"/>
            </a:endParaRPr>
          </a:p>
          <a:p>
            <a:pPr>
              <a:lnSpc>
                <a:spcPct val="100000"/>
              </a:lnSpc>
              <a:spcBef>
                <a:spcPts val="550"/>
              </a:spcBef>
            </a:pPr>
            <a:endParaRPr sz="2600">
              <a:latin typeface="Times New Roman"/>
              <a:cs typeface="Times New Roman"/>
            </a:endParaRPr>
          </a:p>
          <a:p>
            <a:pPr marL="352425">
              <a:lnSpc>
                <a:spcPct val="100000"/>
              </a:lnSpc>
            </a:pPr>
            <a:r>
              <a:rPr sz="2600" b="1" i="1" dirty="0">
                <a:latin typeface="Arial"/>
                <a:cs typeface="Arial"/>
              </a:rPr>
              <a:t>Verdadero</a:t>
            </a:r>
            <a:r>
              <a:rPr sz="2600" b="1" i="1" spc="-190" dirty="0">
                <a:latin typeface="Arial"/>
                <a:cs typeface="Arial"/>
              </a:rPr>
              <a:t> </a:t>
            </a:r>
            <a:r>
              <a:rPr sz="2600" b="1" i="1" spc="-20" dirty="0">
                <a:latin typeface="Arial"/>
                <a:cs typeface="Arial"/>
              </a:rPr>
              <a:t>negativo</a:t>
            </a:r>
            <a:r>
              <a:rPr sz="2600" b="1" i="1" spc="-185" dirty="0">
                <a:latin typeface="Arial"/>
                <a:cs typeface="Arial"/>
              </a:rPr>
              <a:t> </a:t>
            </a:r>
            <a:r>
              <a:rPr sz="2600" b="1" i="1" spc="-20" dirty="0">
                <a:latin typeface="Arial"/>
                <a:cs typeface="Arial"/>
              </a:rPr>
              <a:t>(TN)</a:t>
            </a:r>
            <a:endParaRPr sz="2600">
              <a:latin typeface="Arial"/>
              <a:cs typeface="Arial"/>
            </a:endParaRPr>
          </a:p>
        </p:txBody>
      </p:sp>
      <p:sp>
        <p:nvSpPr>
          <p:cNvPr id="6" name="object 6"/>
          <p:cNvSpPr txBox="1"/>
          <p:nvPr/>
        </p:nvSpPr>
        <p:spPr>
          <a:xfrm>
            <a:off x="8237415" y="4052516"/>
            <a:ext cx="4907915" cy="1078865"/>
          </a:xfrm>
          <a:prstGeom prst="rect">
            <a:avLst/>
          </a:prstGeom>
        </p:spPr>
        <p:txBody>
          <a:bodyPr vert="horz" wrap="square" lIns="0" tIns="17145" rIns="0" bIns="0" rtlCol="0">
            <a:spAutoFit/>
          </a:bodyPr>
          <a:lstStyle/>
          <a:p>
            <a:pPr marR="10795" algn="ctr">
              <a:lnSpc>
                <a:spcPct val="100000"/>
              </a:lnSpc>
              <a:spcBef>
                <a:spcPts val="135"/>
              </a:spcBef>
            </a:pPr>
            <a:r>
              <a:rPr sz="2600" b="1" dirty="0">
                <a:latin typeface="Trebuchet MS"/>
                <a:cs typeface="Trebuchet MS"/>
              </a:rPr>
              <a:t>Valores actuales</a:t>
            </a:r>
            <a:endParaRPr sz="2600" dirty="0">
              <a:latin typeface="Trebuchet MS"/>
              <a:cs typeface="Trebuchet MS"/>
            </a:endParaRPr>
          </a:p>
          <a:p>
            <a:pPr marL="12700">
              <a:lnSpc>
                <a:spcPct val="100000"/>
              </a:lnSpc>
              <a:spcBef>
                <a:spcPts val="2005"/>
              </a:spcBef>
              <a:tabLst>
                <a:tab pos="4687570" algn="l"/>
              </a:tabLst>
            </a:pPr>
            <a:r>
              <a:rPr sz="2600" b="1" dirty="0">
                <a:latin typeface="Trebuchet MS"/>
                <a:cs typeface="Trebuchet MS"/>
              </a:rPr>
              <a:t>1	0</a:t>
            </a:r>
            <a:endParaRPr sz="2600" dirty="0">
              <a:latin typeface="Trebuchet MS"/>
              <a:cs typeface="Trebuchet MS"/>
            </a:endParaRPr>
          </a:p>
        </p:txBody>
      </p:sp>
      <p:sp>
        <p:nvSpPr>
          <p:cNvPr id="7" name="object 7"/>
          <p:cNvSpPr txBox="1"/>
          <p:nvPr/>
        </p:nvSpPr>
        <p:spPr>
          <a:xfrm>
            <a:off x="4698978" y="6193603"/>
            <a:ext cx="400110" cy="2174930"/>
          </a:xfrm>
          <a:prstGeom prst="rect">
            <a:avLst/>
          </a:prstGeom>
        </p:spPr>
        <p:txBody>
          <a:bodyPr vert="vert270" wrap="square" lIns="0" tIns="52069" rIns="0" bIns="0" rtlCol="0">
            <a:spAutoFit/>
          </a:bodyPr>
          <a:lstStyle/>
          <a:p>
            <a:pPr marL="12700">
              <a:lnSpc>
                <a:spcPct val="100000"/>
              </a:lnSpc>
              <a:spcBef>
                <a:spcPts val="409"/>
              </a:spcBef>
            </a:pPr>
            <a:r>
              <a:rPr sz="2600" b="1" dirty="0">
                <a:latin typeface="Trebuchet MS"/>
                <a:cs typeface="Trebuchet MS"/>
              </a:rPr>
              <a:t>Predicción</a:t>
            </a:r>
            <a:endParaRPr sz="2600" dirty="0">
              <a:latin typeface="Trebuchet MS"/>
              <a:cs typeface="Trebuchet MS"/>
            </a:endParaRPr>
          </a:p>
        </p:txBody>
      </p:sp>
      <p:sp>
        <p:nvSpPr>
          <p:cNvPr id="8" name="object 8"/>
          <p:cNvSpPr txBox="1"/>
          <p:nvPr/>
        </p:nvSpPr>
        <p:spPr>
          <a:xfrm>
            <a:off x="5662196" y="6193603"/>
            <a:ext cx="153035" cy="427990"/>
          </a:xfrm>
          <a:prstGeom prst="rect">
            <a:avLst/>
          </a:prstGeom>
        </p:spPr>
        <p:txBody>
          <a:bodyPr vert="horz" wrap="square" lIns="0" tIns="17145" rIns="0" bIns="0" rtlCol="0">
            <a:spAutoFit/>
          </a:bodyPr>
          <a:lstStyle/>
          <a:p>
            <a:pPr marL="12700">
              <a:lnSpc>
                <a:spcPct val="100000"/>
              </a:lnSpc>
              <a:spcBef>
                <a:spcPts val="135"/>
              </a:spcBef>
            </a:pPr>
            <a:r>
              <a:rPr sz="2600" b="1" spc="-585" dirty="0">
                <a:latin typeface="Trebuchet MS"/>
                <a:cs typeface="Trebuchet MS"/>
              </a:rPr>
              <a:t>1</a:t>
            </a:r>
            <a:endParaRPr sz="2600">
              <a:latin typeface="Trebuchet MS"/>
              <a:cs typeface="Trebuchet MS"/>
            </a:endParaRPr>
          </a:p>
        </p:txBody>
      </p:sp>
      <p:sp>
        <p:nvSpPr>
          <p:cNvPr id="9" name="object 9"/>
          <p:cNvSpPr txBox="1"/>
          <p:nvPr/>
        </p:nvSpPr>
        <p:spPr>
          <a:xfrm>
            <a:off x="5622276" y="8447775"/>
            <a:ext cx="232410" cy="427990"/>
          </a:xfrm>
          <a:prstGeom prst="rect">
            <a:avLst/>
          </a:prstGeom>
        </p:spPr>
        <p:txBody>
          <a:bodyPr vert="horz" wrap="square" lIns="0" tIns="17145" rIns="0" bIns="0" rtlCol="0">
            <a:spAutoFit/>
          </a:bodyPr>
          <a:lstStyle/>
          <a:p>
            <a:pPr marL="12700">
              <a:lnSpc>
                <a:spcPct val="100000"/>
              </a:lnSpc>
              <a:spcBef>
                <a:spcPts val="135"/>
              </a:spcBef>
            </a:pPr>
            <a:r>
              <a:rPr sz="2600" b="1" spc="30" dirty="0">
                <a:latin typeface="Trebuchet MS"/>
                <a:cs typeface="Trebuchet MS"/>
              </a:rPr>
              <a:t>0</a:t>
            </a:r>
            <a:endParaRPr sz="2600">
              <a:latin typeface="Trebuchet MS"/>
              <a:cs typeface="Trebuchet MS"/>
            </a:endParaRPr>
          </a:p>
        </p:txBody>
      </p:sp>
      <p:sp>
        <p:nvSpPr>
          <p:cNvPr id="10" name="object 10"/>
          <p:cNvSpPr txBox="1">
            <a:spLocks noGrp="1"/>
          </p:cNvSpPr>
          <p:nvPr>
            <p:ph type="title"/>
          </p:nvPr>
        </p:nvSpPr>
        <p:spPr>
          <a:xfrm>
            <a:off x="1065800" y="1073758"/>
            <a:ext cx="17368249" cy="2625078"/>
          </a:xfrm>
          <a:prstGeom prst="rect">
            <a:avLst/>
          </a:prstGeom>
        </p:spPr>
        <p:txBody>
          <a:bodyPr vert="horz" wrap="square" lIns="0" tIns="13335" rIns="0" bIns="0" rtlCol="0">
            <a:spAutoFit/>
          </a:bodyPr>
          <a:lstStyle/>
          <a:p>
            <a:pPr marL="20320" marR="5080" indent="-8255">
              <a:lnSpc>
                <a:spcPct val="104900"/>
              </a:lnSpc>
              <a:spcBef>
                <a:spcPts val="105"/>
              </a:spcBef>
            </a:pPr>
            <a:r>
              <a:rPr sz="8250" dirty="0"/>
              <a:t>MÉTRICAS DE EVALUACIÓN MATRIZ DE CONFUSIÓN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MÉTRICAS DE EVALUACIÓN</a:t>
            </a:r>
          </a:p>
        </p:txBody>
      </p:sp>
      <p:sp>
        <p:nvSpPr>
          <p:cNvPr id="3" name="object 3"/>
          <p:cNvSpPr txBox="1"/>
          <p:nvPr/>
        </p:nvSpPr>
        <p:spPr>
          <a:xfrm>
            <a:off x="1097213" y="3619440"/>
            <a:ext cx="6059237" cy="6397905"/>
          </a:xfrm>
          <a:prstGeom prst="rect">
            <a:avLst/>
          </a:prstGeom>
        </p:spPr>
        <p:txBody>
          <a:bodyPr vert="horz" wrap="square" lIns="0" tIns="11430" rIns="0" bIns="0" rtlCol="0">
            <a:spAutoFit/>
          </a:bodyPr>
          <a:lstStyle/>
          <a:p>
            <a:pPr marL="626110" indent="-613410">
              <a:lnSpc>
                <a:spcPct val="100000"/>
              </a:lnSpc>
              <a:spcBef>
                <a:spcPts val="90"/>
              </a:spcBef>
              <a:buSzPct val="100000"/>
              <a:buChar char="•"/>
              <a:tabLst>
                <a:tab pos="626110" algn="l"/>
              </a:tabLst>
            </a:pPr>
            <a:r>
              <a:rPr sz="4000" b="1" dirty="0">
                <a:latin typeface="Trebuchet MS"/>
                <a:cs typeface="Trebuchet MS"/>
              </a:rPr>
              <a:t>Sensibilidad:</a:t>
            </a:r>
            <a:endParaRPr sz="4000" dirty="0">
              <a:latin typeface="Trebuchet MS"/>
              <a:cs typeface="Trebuchet MS"/>
            </a:endParaRPr>
          </a:p>
          <a:p>
            <a:pPr marL="626110" indent="-613410">
              <a:lnSpc>
                <a:spcPct val="100000"/>
              </a:lnSpc>
              <a:spcBef>
                <a:spcPts val="2685"/>
              </a:spcBef>
              <a:buSzPct val="100000"/>
              <a:buChar char="•"/>
              <a:tabLst>
                <a:tab pos="626110" algn="l"/>
              </a:tabLst>
            </a:pPr>
            <a:r>
              <a:rPr sz="4000" b="1" dirty="0">
                <a:latin typeface="Trebuchet MS"/>
                <a:cs typeface="Trebuchet MS"/>
              </a:rPr>
              <a:t>Especificidad:</a:t>
            </a:r>
            <a:endParaRPr sz="4000" dirty="0">
              <a:latin typeface="Trebuchet MS"/>
              <a:cs typeface="Trebuchet MS"/>
            </a:endParaRPr>
          </a:p>
          <a:p>
            <a:pPr marL="626110" indent="-613410">
              <a:lnSpc>
                <a:spcPct val="100000"/>
              </a:lnSpc>
              <a:spcBef>
                <a:spcPts val="2700"/>
              </a:spcBef>
              <a:buSzPct val="100000"/>
              <a:buChar char="•"/>
              <a:tabLst>
                <a:tab pos="626110" algn="l"/>
              </a:tabLst>
            </a:pPr>
            <a:r>
              <a:rPr sz="4000" b="1" dirty="0">
                <a:latin typeface="Trebuchet MS"/>
                <a:cs typeface="Trebuchet MS"/>
              </a:rPr>
              <a:t>Exactitud:</a:t>
            </a:r>
            <a:endParaRPr sz="4000" dirty="0">
              <a:latin typeface="Trebuchet MS"/>
              <a:cs typeface="Trebuchet MS"/>
            </a:endParaRPr>
          </a:p>
          <a:p>
            <a:pPr marL="626110" indent="-613410">
              <a:lnSpc>
                <a:spcPct val="100000"/>
              </a:lnSpc>
              <a:spcBef>
                <a:spcPts val="2700"/>
              </a:spcBef>
              <a:buSzPct val="100000"/>
              <a:buChar char="•"/>
              <a:tabLst>
                <a:tab pos="626110" algn="l"/>
              </a:tabLst>
            </a:pPr>
            <a:r>
              <a:rPr sz="4000" b="1" dirty="0">
                <a:latin typeface="Trebuchet MS"/>
                <a:cs typeface="Trebuchet MS"/>
              </a:rPr>
              <a:t>Exactitud balanceada:</a:t>
            </a:r>
            <a:endParaRPr sz="4000" dirty="0">
              <a:latin typeface="Trebuchet MS"/>
              <a:cs typeface="Trebuchet MS"/>
            </a:endParaRPr>
          </a:p>
          <a:p>
            <a:pPr marL="626110" indent="-613410">
              <a:lnSpc>
                <a:spcPct val="100000"/>
              </a:lnSpc>
              <a:spcBef>
                <a:spcPts val="2685"/>
              </a:spcBef>
              <a:buSzPct val="100000"/>
              <a:buChar char="•"/>
              <a:tabLst>
                <a:tab pos="626110" algn="l"/>
              </a:tabLst>
            </a:pPr>
            <a:r>
              <a:rPr sz="4000" b="1" dirty="0">
                <a:latin typeface="Trebuchet MS"/>
                <a:cs typeface="Trebuchet MS"/>
              </a:rPr>
              <a:t>Precisión:</a:t>
            </a:r>
            <a:endParaRPr sz="4000" dirty="0">
              <a:latin typeface="Trebuchet MS"/>
              <a:cs typeface="Trebuchet MS"/>
            </a:endParaRPr>
          </a:p>
          <a:p>
            <a:pPr marL="626110" indent="-613410">
              <a:lnSpc>
                <a:spcPct val="100000"/>
              </a:lnSpc>
              <a:spcBef>
                <a:spcPts val="2780"/>
              </a:spcBef>
              <a:buSzPct val="100000"/>
              <a:buChar char="•"/>
              <a:tabLst>
                <a:tab pos="626110" algn="l"/>
              </a:tabLst>
            </a:pPr>
            <a:r>
              <a:rPr sz="4000" b="1" dirty="0">
                <a:latin typeface="Trebuchet MS"/>
                <a:cs typeface="Trebuchet MS"/>
              </a:rPr>
              <a:t>Recuperación:</a:t>
            </a:r>
            <a:endParaRPr sz="4000" dirty="0">
              <a:latin typeface="Trebuchet MS"/>
              <a:cs typeface="Trebuchet MS"/>
            </a:endParaRPr>
          </a:p>
          <a:p>
            <a:pPr marL="626110" indent="-613410">
              <a:lnSpc>
                <a:spcPct val="100000"/>
              </a:lnSpc>
              <a:spcBef>
                <a:spcPts val="2625"/>
              </a:spcBef>
              <a:buSzPct val="100000"/>
              <a:buChar char="•"/>
              <a:tabLst>
                <a:tab pos="626110" algn="l"/>
              </a:tabLst>
            </a:pPr>
            <a:r>
              <a:rPr sz="4000" b="1" dirty="0">
                <a:latin typeface="Trebuchet MS"/>
                <a:cs typeface="Trebuchet MS"/>
              </a:rPr>
              <a:t>F1-score o F</a:t>
            </a:r>
            <a:r>
              <a:rPr sz="4000" dirty="0">
                <a:latin typeface="Cambria"/>
                <a:cs typeface="Cambria"/>
              </a:rPr>
              <a:t>β</a:t>
            </a:r>
            <a:r>
              <a:rPr sz="4000" b="1" dirty="0">
                <a:latin typeface="Trebuchet MS"/>
                <a:cs typeface="Trebuchet MS"/>
              </a:rPr>
              <a:t>-score:</a:t>
            </a:r>
            <a:endParaRPr sz="4000" dirty="0">
              <a:latin typeface="Trebuchet MS"/>
              <a:cs typeface="Trebuchet MS"/>
            </a:endParaRPr>
          </a:p>
        </p:txBody>
      </p:sp>
      <p:grpSp>
        <p:nvGrpSpPr>
          <p:cNvPr id="4" name="object 4"/>
          <p:cNvGrpSpPr/>
          <p:nvPr/>
        </p:nvGrpSpPr>
        <p:grpSpPr>
          <a:xfrm>
            <a:off x="4718051" y="3557336"/>
            <a:ext cx="9220200" cy="6615430"/>
            <a:chOff x="3951706" y="3463559"/>
            <a:chExt cx="9284335" cy="6615430"/>
          </a:xfrm>
        </p:grpSpPr>
        <p:pic>
          <p:nvPicPr>
            <p:cNvPr id="5" name="object 5"/>
            <p:cNvPicPr/>
            <p:nvPr/>
          </p:nvPicPr>
          <p:blipFill>
            <a:blip r:embed="rId2" cstate="print"/>
            <a:stretch>
              <a:fillRect/>
            </a:stretch>
          </p:blipFill>
          <p:spPr>
            <a:xfrm>
              <a:off x="4914115" y="3463559"/>
              <a:ext cx="6853232" cy="859792"/>
            </a:xfrm>
            <a:prstGeom prst="rect">
              <a:avLst/>
            </a:prstGeom>
          </p:spPr>
        </p:pic>
        <p:pic>
          <p:nvPicPr>
            <p:cNvPr id="6" name="object 6"/>
            <p:cNvPicPr/>
            <p:nvPr/>
          </p:nvPicPr>
          <p:blipFill>
            <a:blip r:embed="rId3" cstate="print"/>
            <a:stretch>
              <a:fillRect/>
            </a:stretch>
          </p:blipFill>
          <p:spPr>
            <a:xfrm>
              <a:off x="5001392" y="4415440"/>
              <a:ext cx="7006284" cy="871810"/>
            </a:xfrm>
            <a:prstGeom prst="rect">
              <a:avLst/>
            </a:prstGeom>
          </p:spPr>
        </p:pic>
        <p:pic>
          <p:nvPicPr>
            <p:cNvPr id="7" name="object 7"/>
            <p:cNvPicPr/>
            <p:nvPr/>
          </p:nvPicPr>
          <p:blipFill>
            <a:blip r:embed="rId4" cstate="print"/>
            <a:stretch>
              <a:fillRect/>
            </a:stretch>
          </p:blipFill>
          <p:spPr>
            <a:xfrm>
              <a:off x="3951706" y="5331367"/>
              <a:ext cx="3404509" cy="871810"/>
            </a:xfrm>
            <a:prstGeom prst="rect">
              <a:avLst/>
            </a:prstGeom>
          </p:spPr>
        </p:pic>
        <p:pic>
          <p:nvPicPr>
            <p:cNvPr id="8" name="object 8"/>
            <p:cNvPicPr/>
            <p:nvPr/>
          </p:nvPicPr>
          <p:blipFill>
            <a:blip r:embed="rId5" cstate="print"/>
            <a:stretch>
              <a:fillRect/>
            </a:stretch>
          </p:blipFill>
          <p:spPr>
            <a:xfrm>
              <a:off x="6442023" y="6323984"/>
              <a:ext cx="3797415" cy="859792"/>
            </a:xfrm>
            <a:prstGeom prst="rect">
              <a:avLst/>
            </a:prstGeom>
          </p:spPr>
        </p:pic>
        <p:pic>
          <p:nvPicPr>
            <p:cNvPr id="9" name="object 9"/>
            <p:cNvPicPr/>
            <p:nvPr/>
          </p:nvPicPr>
          <p:blipFill>
            <a:blip r:embed="rId6" cstate="print"/>
            <a:stretch>
              <a:fillRect/>
            </a:stretch>
          </p:blipFill>
          <p:spPr>
            <a:xfrm>
              <a:off x="3951706" y="7183777"/>
              <a:ext cx="4103200" cy="881095"/>
            </a:xfrm>
            <a:prstGeom prst="rect">
              <a:avLst/>
            </a:prstGeom>
          </p:spPr>
        </p:pic>
        <p:pic>
          <p:nvPicPr>
            <p:cNvPr id="10" name="object 10"/>
            <p:cNvPicPr/>
            <p:nvPr/>
          </p:nvPicPr>
          <p:blipFill>
            <a:blip r:embed="rId7" cstate="print"/>
            <a:stretch>
              <a:fillRect/>
            </a:stretch>
          </p:blipFill>
          <p:spPr>
            <a:xfrm>
              <a:off x="4877254" y="8169020"/>
              <a:ext cx="3627281" cy="881094"/>
            </a:xfrm>
            <a:prstGeom prst="rect">
              <a:avLst/>
            </a:prstGeom>
          </p:spPr>
        </p:pic>
        <p:pic>
          <p:nvPicPr>
            <p:cNvPr id="11" name="object 11"/>
            <p:cNvPicPr/>
            <p:nvPr/>
          </p:nvPicPr>
          <p:blipFill>
            <a:blip r:embed="rId8" cstate="print"/>
            <a:stretch>
              <a:fillRect/>
            </a:stretch>
          </p:blipFill>
          <p:spPr>
            <a:xfrm>
              <a:off x="6202092" y="9066004"/>
              <a:ext cx="7033637" cy="1012469"/>
            </a:xfrm>
            <a:prstGeom prst="rect">
              <a:avLst/>
            </a:prstGeom>
          </p:spPr>
        </p:pic>
      </p:grpSp>
      <p:sp>
        <p:nvSpPr>
          <p:cNvPr id="13" name="object 13"/>
          <p:cNvSpPr txBox="1">
            <a:spLocks noGrp="1"/>
          </p:cNvSpPr>
          <p:nvPr>
            <p:ph type="sldNum" sz="quarter" idx="7"/>
          </p:nvPr>
        </p:nvSpPr>
        <p:spPr>
          <a:prstGeom prst="rect">
            <a:avLst/>
          </a:prstGeom>
        </p:spPr>
        <p:txBody>
          <a:bodyPr vert="horz" wrap="square" lIns="0" tIns="37465" rIns="0" bIns="0" rtlCol="0">
            <a:spAutoFit/>
          </a:bodyPr>
          <a:lstStyle/>
          <a:p>
            <a:pPr marL="36830">
              <a:lnSpc>
                <a:spcPct val="100000"/>
              </a:lnSpc>
              <a:spcBef>
                <a:spcPts val="295"/>
              </a:spcBef>
            </a:pPr>
            <a:fld id="{81D60167-4931-47E6-BA6A-407CBD079E47}" type="slidenum">
              <a:rPr spc="-25" dirty="0"/>
              <a:t>46</a:t>
            </a:fld>
            <a:endParaRPr spc="-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CURVA ROC</a:t>
            </a:r>
          </a:p>
        </p:txBody>
      </p:sp>
      <p:sp>
        <p:nvSpPr>
          <p:cNvPr id="3" name="object 3"/>
          <p:cNvSpPr txBox="1"/>
          <p:nvPr/>
        </p:nvSpPr>
        <p:spPr>
          <a:xfrm>
            <a:off x="9137161" y="3087519"/>
            <a:ext cx="9869723" cy="6914650"/>
          </a:xfrm>
          <a:prstGeom prst="rect">
            <a:avLst/>
          </a:prstGeom>
        </p:spPr>
        <p:txBody>
          <a:bodyPr vert="horz" wrap="square" lIns="0" tIns="37465" rIns="0" bIns="0" rtlCol="0">
            <a:spAutoFit/>
          </a:bodyPr>
          <a:lstStyle/>
          <a:p>
            <a:pPr marL="12700" marR="5080" algn="just">
              <a:lnSpc>
                <a:spcPts val="4290"/>
              </a:lnSpc>
              <a:spcBef>
                <a:spcPts val="295"/>
              </a:spcBef>
            </a:pPr>
            <a:r>
              <a:rPr sz="3200" dirty="0">
                <a:latin typeface="Tahoma"/>
                <a:cs typeface="Tahoma"/>
              </a:rPr>
              <a:t>Siempre se arranca de umbral 1, donde la TPR es 0 y TFP es 0 y termina en 0 donde TVP es 1 y TFP es 1.</a:t>
            </a:r>
          </a:p>
          <a:p>
            <a:pPr marL="594995" indent="-582295" algn="just">
              <a:lnSpc>
                <a:spcPct val="100000"/>
              </a:lnSpc>
              <a:spcBef>
                <a:spcPts val="2470"/>
              </a:spcBef>
              <a:buClr>
                <a:srgbClr val="000000"/>
              </a:buClr>
              <a:buSzPct val="100000"/>
              <a:buChar char="•"/>
              <a:tabLst>
                <a:tab pos="594995" algn="l"/>
              </a:tabLst>
            </a:pPr>
            <a:r>
              <a:rPr sz="3200" b="1" dirty="0">
                <a:solidFill>
                  <a:srgbClr val="0000FF"/>
                </a:solidFill>
                <a:latin typeface="Trebuchet MS"/>
                <a:cs typeface="Trebuchet MS"/>
              </a:rPr>
              <a:t>A </a:t>
            </a:r>
            <a:r>
              <a:rPr sz="3200" dirty="0">
                <a:latin typeface="Tahoma"/>
                <a:cs typeface="Tahoma"/>
              </a:rPr>
              <a:t>es la curva de un clasificador perfecto</a:t>
            </a:r>
          </a:p>
          <a:p>
            <a:pPr marL="594995" indent="-582295" algn="just">
              <a:lnSpc>
                <a:spcPct val="100000"/>
              </a:lnSpc>
              <a:spcBef>
                <a:spcPts val="2525"/>
              </a:spcBef>
              <a:buClr>
                <a:srgbClr val="000000"/>
              </a:buClr>
              <a:buSzPct val="100000"/>
              <a:buChar char="•"/>
              <a:tabLst>
                <a:tab pos="594995" algn="l"/>
              </a:tabLst>
            </a:pPr>
            <a:r>
              <a:rPr sz="3200" b="1" dirty="0">
                <a:solidFill>
                  <a:srgbClr val="B30094"/>
                </a:solidFill>
                <a:latin typeface="Trebuchet MS"/>
                <a:cs typeface="Trebuchet MS"/>
              </a:rPr>
              <a:t>B </a:t>
            </a:r>
            <a:r>
              <a:rPr sz="3200" dirty="0">
                <a:latin typeface="Tahoma"/>
                <a:cs typeface="Tahoma"/>
              </a:rPr>
              <a:t>es la curva de un clasificador estándar.</a:t>
            </a:r>
          </a:p>
          <a:p>
            <a:pPr marL="594360" marR="479425" indent="-582295" algn="just">
              <a:lnSpc>
                <a:spcPts val="4270"/>
              </a:lnSpc>
              <a:spcBef>
                <a:spcPts val="2790"/>
              </a:spcBef>
              <a:buClr>
                <a:srgbClr val="000000"/>
              </a:buClr>
              <a:buSzPct val="100000"/>
              <a:buChar char="•"/>
              <a:tabLst>
                <a:tab pos="595630" algn="l"/>
              </a:tabLst>
            </a:pPr>
            <a:r>
              <a:rPr sz="3200" b="1" dirty="0">
                <a:solidFill>
                  <a:srgbClr val="009002"/>
                </a:solidFill>
                <a:latin typeface="Trebuchet MS"/>
                <a:cs typeface="Trebuchet MS"/>
              </a:rPr>
              <a:t>C </a:t>
            </a:r>
            <a:r>
              <a:rPr sz="3200" dirty="0">
                <a:latin typeface="Tahoma"/>
                <a:cs typeface="Tahoma"/>
              </a:rPr>
              <a:t>es la curva de un clasificador que adivina (el 	peor caso).</a:t>
            </a:r>
          </a:p>
          <a:p>
            <a:pPr marL="12700" marR="123825" algn="just">
              <a:lnSpc>
                <a:spcPts val="4290"/>
              </a:lnSpc>
              <a:spcBef>
                <a:spcPts val="2645"/>
              </a:spcBef>
            </a:pPr>
            <a:r>
              <a:rPr sz="3200" dirty="0">
                <a:latin typeface="Tahoma"/>
                <a:cs typeface="Tahoma"/>
              </a:rPr>
              <a:t>La curva ROC me permite encontrar el valor umbral que mejor resultado me dé.</a:t>
            </a:r>
          </a:p>
          <a:p>
            <a:pPr marL="12700" marR="555625" algn="just">
              <a:lnSpc>
                <a:spcPct val="101200"/>
              </a:lnSpc>
              <a:spcBef>
                <a:spcPts val="2340"/>
              </a:spcBef>
            </a:pPr>
            <a:r>
              <a:rPr sz="3200" dirty="0">
                <a:latin typeface="Tahoma"/>
                <a:cs typeface="Tahoma"/>
              </a:rPr>
              <a:t>Además, me permite comparar clasificadores sin preocuparme del valor umbral elegido.</a:t>
            </a:r>
          </a:p>
        </p:txBody>
      </p:sp>
      <p:pic>
        <p:nvPicPr>
          <p:cNvPr id="4" name="object 4"/>
          <p:cNvPicPr/>
          <p:nvPr/>
        </p:nvPicPr>
        <p:blipFill>
          <a:blip r:embed="rId2" cstate="print"/>
          <a:stretch>
            <a:fillRect/>
          </a:stretch>
        </p:blipFill>
        <p:spPr>
          <a:xfrm>
            <a:off x="843669" y="3329200"/>
            <a:ext cx="7322937" cy="6527372"/>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6830">
              <a:lnSpc>
                <a:spcPct val="100000"/>
              </a:lnSpc>
              <a:spcBef>
                <a:spcPts val="295"/>
              </a:spcBef>
            </a:pPr>
            <a:fld id="{81D60167-4931-47E6-BA6A-407CBD079E47}" type="slidenum">
              <a:rPr spc="-25" dirty="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dirty="0"/>
              <a:t>CURVA ROC</a:t>
            </a:r>
          </a:p>
        </p:txBody>
      </p:sp>
      <p:sp>
        <p:nvSpPr>
          <p:cNvPr id="3" name="object 3"/>
          <p:cNvSpPr txBox="1"/>
          <p:nvPr/>
        </p:nvSpPr>
        <p:spPr>
          <a:xfrm>
            <a:off x="9137162" y="3089194"/>
            <a:ext cx="9070975" cy="6610143"/>
          </a:xfrm>
          <a:prstGeom prst="rect">
            <a:avLst/>
          </a:prstGeom>
        </p:spPr>
        <p:txBody>
          <a:bodyPr vert="horz" wrap="square" lIns="0" tIns="33655" rIns="0" bIns="0" rtlCol="0">
            <a:spAutoFit/>
          </a:bodyPr>
          <a:lstStyle/>
          <a:p>
            <a:pPr marL="12700" marR="325755" algn="just">
              <a:lnSpc>
                <a:spcPts val="4530"/>
              </a:lnSpc>
              <a:spcBef>
                <a:spcPts val="265"/>
              </a:spcBef>
            </a:pPr>
            <a:r>
              <a:rPr sz="3800" dirty="0">
                <a:latin typeface="Tahoma"/>
                <a:cs typeface="Tahoma"/>
              </a:rPr>
              <a:t>Si quiero bajar a una métrica a esta curva, podemos calcular el área bajo la curva (AUC).</a:t>
            </a:r>
          </a:p>
          <a:p>
            <a:pPr marL="626110" indent="-613410" algn="just">
              <a:lnSpc>
                <a:spcPct val="100000"/>
              </a:lnSpc>
              <a:spcBef>
                <a:spcPts val="2640"/>
              </a:spcBef>
              <a:buClr>
                <a:srgbClr val="000000"/>
              </a:buClr>
              <a:buSzPct val="100000"/>
              <a:buChar char="•"/>
              <a:tabLst>
                <a:tab pos="626110" algn="l"/>
              </a:tabLst>
            </a:pPr>
            <a:r>
              <a:rPr sz="3800" b="1" dirty="0">
                <a:solidFill>
                  <a:srgbClr val="0000FF"/>
                </a:solidFill>
                <a:latin typeface="Trebuchet MS"/>
                <a:cs typeface="Trebuchet MS"/>
              </a:rPr>
              <a:t>A </a:t>
            </a:r>
            <a:r>
              <a:rPr sz="3800" dirty="0">
                <a:latin typeface="Tahoma"/>
                <a:cs typeface="Tahoma"/>
              </a:rPr>
              <a:t>tendrá un AUC = 1</a:t>
            </a:r>
          </a:p>
          <a:p>
            <a:pPr marL="626110" indent="-613410" algn="just">
              <a:lnSpc>
                <a:spcPct val="100000"/>
              </a:lnSpc>
              <a:spcBef>
                <a:spcPts val="2680"/>
              </a:spcBef>
              <a:buClr>
                <a:srgbClr val="000000"/>
              </a:buClr>
              <a:buSzPct val="100000"/>
              <a:buChar char="•"/>
              <a:tabLst>
                <a:tab pos="626110" algn="l"/>
              </a:tabLst>
            </a:pPr>
            <a:r>
              <a:rPr sz="3800" b="1" dirty="0">
                <a:solidFill>
                  <a:srgbClr val="B30094"/>
                </a:solidFill>
                <a:latin typeface="Trebuchet MS"/>
                <a:cs typeface="Trebuchet MS"/>
              </a:rPr>
              <a:t>B </a:t>
            </a:r>
            <a:r>
              <a:rPr sz="3800" dirty="0">
                <a:latin typeface="Tahoma"/>
                <a:cs typeface="Tahoma"/>
              </a:rPr>
              <a:t>tendrá un 0.5 &lt; AUC &lt; 1</a:t>
            </a:r>
          </a:p>
          <a:p>
            <a:pPr marL="626110" indent="-613410" algn="just">
              <a:lnSpc>
                <a:spcPct val="100000"/>
              </a:lnSpc>
              <a:spcBef>
                <a:spcPts val="2705"/>
              </a:spcBef>
              <a:buClr>
                <a:srgbClr val="000000"/>
              </a:buClr>
              <a:buSzPct val="100000"/>
              <a:buChar char="•"/>
              <a:tabLst>
                <a:tab pos="626110" algn="l"/>
              </a:tabLst>
            </a:pPr>
            <a:r>
              <a:rPr sz="3800" b="1" dirty="0">
                <a:solidFill>
                  <a:srgbClr val="009002"/>
                </a:solidFill>
                <a:latin typeface="Trebuchet MS"/>
                <a:cs typeface="Trebuchet MS"/>
              </a:rPr>
              <a:t>C </a:t>
            </a:r>
            <a:r>
              <a:rPr sz="3800" dirty="0">
                <a:latin typeface="Tahoma"/>
                <a:cs typeface="Tahoma"/>
              </a:rPr>
              <a:t>tendrá un AUC = 0.5</a:t>
            </a:r>
          </a:p>
          <a:p>
            <a:pPr marL="12700" marR="5080" algn="just">
              <a:lnSpc>
                <a:spcPts val="4530"/>
              </a:lnSpc>
              <a:spcBef>
                <a:spcPts val="2575"/>
              </a:spcBef>
            </a:pPr>
            <a:r>
              <a:rPr sz="3800" b="1" dirty="0">
                <a:solidFill>
                  <a:srgbClr val="FF2617"/>
                </a:solidFill>
                <a:latin typeface="Calibri"/>
                <a:cs typeface="Calibri"/>
              </a:rPr>
              <a:t>k-NN no tiene curva ROC, dado que no puede darnos salida probabilística, solo nos da un punto.</a:t>
            </a:r>
            <a:endParaRPr sz="3800" dirty="0">
              <a:latin typeface="Calibri"/>
              <a:cs typeface="Calibri"/>
            </a:endParaRPr>
          </a:p>
        </p:txBody>
      </p:sp>
      <p:pic>
        <p:nvPicPr>
          <p:cNvPr id="4" name="object 4"/>
          <p:cNvPicPr/>
          <p:nvPr/>
        </p:nvPicPr>
        <p:blipFill>
          <a:blip r:embed="rId2" cstate="print"/>
          <a:stretch>
            <a:fillRect/>
          </a:stretch>
        </p:blipFill>
        <p:spPr>
          <a:xfrm>
            <a:off x="843669" y="3329200"/>
            <a:ext cx="7322937" cy="6527372"/>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6830">
              <a:lnSpc>
                <a:spcPct val="100000"/>
              </a:lnSpc>
              <a:spcBef>
                <a:spcPts val="295"/>
              </a:spcBef>
            </a:pPr>
            <a:fld id="{81D60167-4931-47E6-BA6A-407CBD079E47}" type="slidenum">
              <a:rPr spc="-25" dirty="0"/>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6361" y="7375556"/>
            <a:ext cx="11655089" cy="843821"/>
          </a:xfrm>
          <a:prstGeom prst="rect">
            <a:avLst/>
          </a:prstGeom>
        </p:spPr>
        <p:txBody>
          <a:bodyPr vert="horz" wrap="square" lIns="0" tIns="12700" rIns="0" bIns="0" rtlCol="0">
            <a:spAutoFit/>
          </a:bodyPr>
          <a:lstStyle/>
          <a:p>
            <a:pPr marL="12700">
              <a:lnSpc>
                <a:spcPct val="100000"/>
              </a:lnSpc>
              <a:spcBef>
                <a:spcPts val="100"/>
              </a:spcBef>
            </a:pPr>
            <a:r>
              <a:rPr sz="5400" b="1" i="1" dirty="0">
                <a:latin typeface="Trebuchet MS"/>
                <a:cs typeface="Trebuchet MS"/>
              </a:rPr>
              <a:t>VAMOS A PRÁCTICAR UN POCO…</a:t>
            </a:r>
            <a:endParaRPr sz="5400" dirty="0">
              <a:latin typeface="Trebuchet MS"/>
              <a:cs typeface="Trebuchet M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6512"/>
            <a:ext cx="17491710" cy="2606803"/>
          </a:xfrm>
          <a:prstGeom prst="rect">
            <a:avLst/>
          </a:prstGeom>
        </p:spPr>
        <p:txBody>
          <a:bodyPr vert="horz" wrap="square" lIns="0" tIns="511809" rIns="0" bIns="0" rtlCol="0">
            <a:spAutoFit/>
          </a:bodyPr>
          <a:lstStyle/>
          <a:p>
            <a:pPr marL="601345" marR="5080" indent="-589280">
              <a:lnSpc>
                <a:spcPct val="70200"/>
              </a:lnSpc>
              <a:spcBef>
                <a:spcPts val="4029"/>
              </a:spcBef>
            </a:pPr>
            <a:r>
              <a:rPr sz="9600" b="1" i="1" dirty="0">
                <a:latin typeface="Arial"/>
                <a:cs typeface="Arial"/>
              </a:rPr>
              <a:t>MÉTODOS DE AJUSTE DE LOS HIPER-PARÁMETROS</a:t>
            </a:r>
            <a:endParaRPr sz="9600" dirty="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825485"/>
          </a:xfrm>
          <a:prstGeom prst="rect">
            <a:avLst/>
          </a:prstGeom>
        </p:spPr>
        <p:txBody>
          <a:bodyPr vert="horz" wrap="square" lIns="0" tIns="85982" rIns="0" bIns="0" rtlCol="0">
            <a:spAutoFit/>
          </a:bodyPr>
          <a:lstStyle/>
          <a:p>
            <a:pPr marL="12700">
              <a:lnSpc>
                <a:spcPct val="100000"/>
              </a:lnSpc>
              <a:spcBef>
                <a:spcPts val="90"/>
              </a:spcBef>
            </a:pPr>
            <a:r>
              <a:rPr sz="4800" i="1" dirty="0"/>
              <a:t>MÉTODOS DE AJUSTE DE LOS HIPER-PARÁMETROS</a:t>
            </a:r>
          </a:p>
        </p:txBody>
      </p:sp>
      <p:sp>
        <p:nvSpPr>
          <p:cNvPr id="5" name="object 5"/>
          <p:cNvSpPr txBox="1"/>
          <p:nvPr/>
        </p:nvSpPr>
        <p:spPr>
          <a:xfrm>
            <a:off x="19341140" y="10689633"/>
            <a:ext cx="322580"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55" dirty="0">
                <a:latin typeface="Tahoma"/>
                <a:cs typeface="Tahoma"/>
              </a:rPr>
              <a:t>51</a:t>
            </a:fld>
            <a:endParaRPr sz="2300">
              <a:latin typeface="Tahoma"/>
              <a:cs typeface="Tahoma"/>
            </a:endParaRPr>
          </a:p>
        </p:txBody>
      </p:sp>
      <p:sp>
        <p:nvSpPr>
          <p:cNvPr id="3" name="object 3"/>
          <p:cNvSpPr txBox="1"/>
          <p:nvPr/>
        </p:nvSpPr>
        <p:spPr>
          <a:xfrm>
            <a:off x="1097213" y="2786376"/>
            <a:ext cx="17909672" cy="3923446"/>
          </a:xfrm>
          <a:prstGeom prst="rect">
            <a:avLst/>
          </a:prstGeom>
        </p:spPr>
        <p:txBody>
          <a:bodyPr vert="horz" wrap="square" lIns="0" tIns="8890" rIns="0" bIns="0" rtlCol="0">
            <a:spAutoFit/>
          </a:bodyPr>
          <a:lstStyle/>
          <a:p>
            <a:pPr marL="12700" marR="594360" algn="just">
              <a:lnSpc>
                <a:spcPct val="100600"/>
              </a:lnSpc>
              <a:spcBef>
                <a:spcPts val="70"/>
              </a:spcBef>
            </a:pPr>
            <a:r>
              <a:rPr sz="3550" dirty="0">
                <a:latin typeface="Tahoma"/>
                <a:cs typeface="Tahoma"/>
              </a:rPr>
              <a:t>Recordando de Inteligencia Artificial, los hiper-parámetros son aquellos parámetros que caracterizan un modelo de aprendizaje automático, cuyos valores no se ajustan de forma automática durante el entrenamiento.</a:t>
            </a:r>
          </a:p>
          <a:p>
            <a:pPr marL="483234" indent="-470534" algn="just">
              <a:lnSpc>
                <a:spcPct val="100000"/>
              </a:lnSpc>
              <a:spcBef>
                <a:spcPts val="2405"/>
              </a:spcBef>
              <a:buFont typeface="Arial MT"/>
              <a:buChar char="•"/>
              <a:tabLst>
                <a:tab pos="483234" algn="l"/>
              </a:tabLst>
            </a:pPr>
            <a:r>
              <a:rPr sz="3550" dirty="0">
                <a:latin typeface="Tahoma"/>
                <a:cs typeface="Tahoma"/>
              </a:rPr>
              <a:t>El ajuste de los hiper-parámetros tiene gran </a:t>
            </a:r>
            <a:r>
              <a:rPr sz="3550" b="1" dirty="0">
                <a:solidFill>
                  <a:srgbClr val="FF7D74"/>
                </a:solidFill>
                <a:latin typeface="Calibri"/>
                <a:cs typeface="Calibri"/>
              </a:rPr>
              <a:t>impacto en el desempeño </a:t>
            </a:r>
            <a:r>
              <a:rPr sz="3550" dirty="0">
                <a:latin typeface="Tahoma"/>
                <a:cs typeface="Tahoma"/>
              </a:rPr>
              <a:t>del modelo.</a:t>
            </a:r>
          </a:p>
          <a:p>
            <a:pPr marL="483870" marR="5080" indent="-471805" algn="just">
              <a:lnSpc>
                <a:spcPct val="104500"/>
              </a:lnSpc>
              <a:spcBef>
                <a:spcPts val="2395"/>
              </a:spcBef>
              <a:buFont typeface="Arial MT"/>
              <a:buChar char="•"/>
              <a:tabLst>
                <a:tab pos="483870" algn="l"/>
              </a:tabLst>
            </a:pPr>
            <a:r>
              <a:rPr sz="3550" dirty="0">
                <a:latin typeface="Tahoma"/>
                <a:cs typeface="Tahoma"/>
              </a:rPr>
              <a:t>Los hiper-parámetros óptimos </a:t>
            </a:r>
            <a:r>
              <a:rPr sz="3550" b="1" dirty="0">
                <a:solidFill>
                  <a:srgbClr val="00D4D2"/>
                </a:solidFill>
                <a:latin typeface="Calibri"/>
                <a:cs typeface="Calibri"/>
              </a:rPr>
              <a:t>difieren para distintos conjuntos de datos, </a:t>
            </a:r>
            <a:r>
              <a:rPr sz="3550" dirty="0">
                <a:latin typeface="Tahoma"/>
                <a:cs typeface="Tahoma"/>
              </a:rPr>
              <a:t>tienen que ser optimizados para cada conjunto de datos.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825485"/>
          </a:xfrm>
          <a:prstGeom prst="rect">
            <a:avLst/>
          </a:prstGeom>
        </p:spPr>
        <p:txBody>
          <a:bodyPr vert="horz" wrap="square" lIns="0" tIns="85982" rIns="0" bIns="0" rtlCol="0">
            <a:spAutoFit/>
          </a:bodyPr>
          <a:lstStyle/>
          <a:p>
            <a:pPr marL="12700">
              <a:lnSpc>
                <a:spcPct val="100000"/>
              </a:lnSpc>
              <a:spcBef>
                <a:spcPts val="90"/>
              </a:spcBef>
            </a:pPr>
            <a:r>
              <a:rPr sz="4800" i="1" dirty="0"/>
              <a:t>MÉTODOS DE AJUSTE DE LOS HIPER-PARÁMETROS</a:t>
            </a:r>
          </a:p>
        </p:txBody>
      </p:sp>
      <p:sp>
        <p:nvSpPr>
          <p:cNvPr id="7" name="object 7"/>
          <p:cNvSpPr txBox="1"/>
          <p:nvPr/>
        </p:nvSpPr>
        <p:spPr>
          <a:xfrm>
            <a:off x="19341140" y="10689633"/>
            <a:ext cx="322580"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55" dirty="0">
                <a:latin typeface="Tahoma"/>
                <a:cs typeface="Tahoma"/>
              </a:rPr>
              <a:t>52</a:t>
            </a:fld>
            <a:endParaRPr sz="2300">
              <a:latin typeface="Tahoma"/>
              <a:cs typeface="Tahoma"/>
            </a:endParaRPr>
          </a:p>
        </p:txBody>
      </p:sp>
      <p:sp>
        <p:nvSpPr>
          <p:cNvPr id="3" name="object 3"/>
          <p:cNvSpPr txBox="1"/>
          <p:nvPr/>
        </p:nvSpPr>
        <p:spPr>
          <a:xfrm>
            <a:off x="1097213" y="2454275"/>
            <a:ext cx="16755744" cy="2431435"/>
          </a:xfrm>
          <a:prstGeom prst="rect">
            <a:avLst/>
          </a:prstGeom>
        </p:spPr>
        <p:txBody>
          <a:bodyPr vert="horz" wrap="square" lIns="0" tIns="68580" rIns="0" bIns="0" rtlCol="0">
            <a:spAutoFit/>
          </a:bodyPr>
          <a:lstStyle/>
          <a:p>
            <a:pPr marL="12700" marR="372745" algn="just">
              <a:lnSpc>
                <a:spcPts val="3879"/>
              </a:lnSpc>
              <a:spcBef>
                <a:spcPts val="540"/>
              </a:spcBef>
            </a:pPr>
            <a:r>
              <a:rPr sz="3550" dirty="0">
                <a:latin typeface="Tahoma"/>
                <a:cs typeface="Tahoma"/>
              </a:rPr>
              <a:t>El proceso de selección de hiper-parámetros se conoce como </a:t>
            </a:r>
            <a:r>
              <a:rPr sz="3550" dirty="0" err="1">
                <a:latin typeface="Tahoma"/>
                <a:cs typeface="Tahoma"/>
              </a:rPr>
              <a:t>ajuste</a:t>
            </a:r>
            <a:r>
              <a:rPr sz="3550" dirty="0">
                <a:latin typeface="Tahoma"/>
                <a:cs typeface="Tahoma"/>
              </a:rPr>
              <a:t> de</a:t>
            </a:r>
            <a:r>
              <a:rPr lang="es-PE" sz="3550" dirty="0">
                <a:latin typeface="Tahoma"/>
                <a:cs typeface="Tahoma"/>
              </a:rPr>
              <a:t> </a:t>
            </a:r>
            <a:r>
              <a:rPr sz="3550" dirty="0" err="1">
                <a:latin typeface="Tahoma"/>
                <a:cs typeface="Tahoma"/>
              </a:rPr>
              <a:t>hiperparámetros</a:t>
            </a:r>
            <a:r>
              <a:rPr sz="3550" dirty="0">
                <a:latin typeface="Tahoma"/>
                <a:cs typeface="Tahoma"/>
              </a:rPr>
              <a:t> u optimización de hiper-parámetros.</a:t>
            </a:r>
          </a:p>
          <a:p>
            <a:pPr marL="12700" algn="just">
              <a:lnSpc>
                <a:spcPct val="100000"/>
              </a:lnSpc>
              <a:spcBef>
                <a:spcPts val="2105"/>
              </a:spcBef>
            </a:pPr>
            <a:r>
              <a:rPr sz="3550" dirty="0">
                <a:latin typeface="Tahoma"/>
                <a:cs typeface="Tahoma"/>
              </a:rPr>
              <a:t>Son método para seleccionar los hiper-parámetros que minimizan el error de generalización.</a:t>
            </a:r>
          </a:p>
        </p:txBody>
      </p:sp>
      <p:sp>
        <p:nvSpPr>
          <p:cNvPr id="4" name="object 4"/>
          <p:cNvSpPr txBox="1"/>
          <p:nvPr/>
        </p:nvSpPr>
        <p:spPr>
          <a:xfrm>
            <a:off x="1097212" y="5934797"/>
            <a:ext cx="12002837" cy="4012637"/>
          </a:xfrm>
          <a:prstGeom prst="rect">
            <a:avLst/>
          </a:prstGeom>
        </p:spPr>
        <p:txBody>
          <a:bodyPr vert="horz" wrap="square" lIns="0" tIns="278130" rIns="0" bIns="0" rtlCol="0">
            <a:spAutoFit/>
          </a:bodyPr>
          <a:lstStyle/>
          <a:p>
            <a:pPr marL="12700">
              <a:lnSpc>
                <a:spcPct val="100000"/>
              </a:lnSpc>
              <a:spcBef>
                <a:spcPts val="2190"/>
              </a:spcBef>
            </a:pPr>
            <a:r>
              <a:rPr sz="3400" dirty="0">
                <a:latin typeface="Tahoma"/>
                <a:cs typeface="Tahoma"/>
              </a:rPr>
              <a:t>La métrica que se intenta minimizar depende de:</a:t>
            </a:r>
          </a:p>
          <a:p>
            <a:pPr marL="483234" indent="-470534">
              <a:lnSpc>
                <a:spcPct val="100000"/>
              </a:lnSpc>
              <a:spcBef>
                <a:spcPts val="2095"/>
              </a:spcBef>
              <a:buFont typeface="Arial MT"/>
              <a:buChar char="•"/>
              <a:tabLst>
                <a:tab pos="483234" algn="l"/>
              </a:tabLst>
            </a:pPr>
            <a:r>
              <a:rPr sz="3400" dirty="0">
                <a:latin typeface="Tahoma"/>
                <a:cs typeface="Tahoma"/>
              </a:rPr>
              <a:t>La arquitectura del modelo</a:t>
            </a:r>
          </a:p>
          <a:p>
            <a:pPr marL="483234" indent="-470534">
              <a:lnSpc>
                <a:spcPct val="100000"/>
              </a:lnSpc>
              <a:spcBef>
                <a:spcPts val="2170"/>
              </a:spcBef>
              <a:buFont typeface="Arial MT"/>
              <a:buChar char="•"/>
              <a:tabLst>
                <a:tab pos="483234" algn="l"/>
              </a:tabLst>
            </a:pPr>
            <a:r>
              <a:rPr sz="3400" dirty="0">
                <a:latin typeface="Tahoma"/>
                <a:cs typeface="Tahoma"/>
              </a:rPr>
              <a:t>Los datos</a:t>
            </a:r>
          </a:p>
          <a:p>
            <a:pPr marL="483234" indent="-470534">
              <a:lnSpc>
                <a:spcPct val="100000"/>
              </a:lnSpc>
              <a:spcBef>
                <a:spcPts val="2170"/>
              </a:spcBef>
              <a:buFont typeface="Arial MT"/>
              <a:buChar char="•"/>
              <a:tabLst>
                <a:tab pos="483234" algn="l"/>
              </a:tabLst>
            </a:pPr>
            <a:r>
              <a:rPr sz="3400" dirty="0">
                <a:latin typeface="Tahoma"/>
                <a:cs typeface="Tahoma"/>
              </a:rPr>
              <a:t>Los propios hiper-parámetros</a:t>
            </a:r>
          </a:p>
          <a:p>
            <a:pPr marL="483234" indent="-470534">
              <a:lnSpc>
                <a:spcPct val="100000"/>
              </a:lnSpc>
              <a:spcBef>
                <a:spcPts val="2170"/>
              </a:spcBef>
              <a:buFont typeface="Arial MT"/>
              <a:buChar char="•"/>
              <a:tabLst>
                <a:tab pos="483234" algn="l"/>
              </a:tabLst>
            </a:pPr>
            <a:r>
              <a:rPr sz="3400" dirty="0">
                <a:latin typeface="Tahoma"/>
                <a:cs typeface="Tahoma"/>
              </a:rPr>
              <a:t>Métrica seleccionada</a:t>
            </a:r>
          </a:p>
        </p:txBody>
      </p:sp>
      <p:sp>
        <p:nvSpPr>
          <p:cNvPr id="5" name="object 5"/>
          <p:cNvSpPr txBox="1"/>
          <p:nvPr/>
        </p:nvSpPr>
        <p:spPr>
          <a:xfrm>
            <a:off x="4327841" y="5144475"/>
            <a:ext cx="12353609" cy="562333"/>
          </a:xfrm>
          <a:prstGeom prst="rect">
            <a:avLst/>
          </a:prstGeom>
          <a:solidFill>
            <a:srgbClr val="88EF89"/>
          </a:solidFill>
        </p:spPr>
        <p:txBody>
          <a:bodyPr vert="horz" wrap="square" lIns="0" tIns="38735" rIns="0" bIns="0" rtlCol="0">
            <a:spAutoFit/>
          </a:bodyPr>
          <a:lstStyle/>
          <a:p>
            <a:pPr marL="588010">
              <a:lnSpc>
                <a:spcPct val="100000"/>
              </a:lnSpc>
              <a:spcBef>
                <a:spcPts val="305"/>
              </a:spcBef>
            </a:pPr>
            <a:r>
              <a:rPr sz="3400" dirty="0">
                <a:solidFill>
                  <a:srgbClr val="404040"/>
                </a:solidFill>
                <a:latin typeface="Tahoma"/>
                <a:cs typeface="Tahoma"/>
              </a:rPr>
              <a:t>Buscar hiper-parámetros </a:t>
            </a:r>
            <a:r>
              <a:rPr sz="3400" dirty="0">
                <a:solidFill>
                  <a:srgbClr val="404040"/>
                </a:solidFill>
                <a:latin typeface="Times New Roman"/>
                <a:cs typeface="Times New Roman"/>
              </a:rPr>
              <a:t>→ </a:t>
            </a:r>
            <a:r>
              <a:rPr sz="3400" dirty="0">
                <a:solidFill>
                  <a:srgbClr val="404040"/>
                </a:solidFill>
                <a:latin typeface="Tahoma"/>
                <a:cs typeface="Tahoma"/>
              </a:rPr>
              <a:t>min(métrica de rendimiento)</a:t>
            </a:r>
            <a:endParaRPr sz="3400" dirty="0">
              <a:latin typeface="Tahoma"/>
              <a:cs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9341140" y="10689633"/>
            <a:ext cx="322580"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55" dirty="0">
                <a:latin typeface="Tahoma"/>
                <a:cs typeface="Tahoma"/>
              </a:rPr>
              <a:t>53</a:t>
            </a:fld>
            <a:endParaRPr sz="2300">
              <a:latin typeface="Tahoma"/>
              <a:cs typeface="Tahoma"/>
            </a:endParaRPr>
          </a:p>
        </p:txBody>
      </p:sp>
      <p:sp>
        <p:nvSpPr>
          <p:cNvPr id="3" name="object 3"/>
          <p:cNvSpPr txBox="1"/>
          <p:nvPr/>
        </p:nvSpPr>
        <p:spPr>
          <a:xfrm>
            <a:off x="1083936" y="2530475"/>
            <a:ext cx="18243927" cy="7459414"/>
          </a:xfrm>
          <a:prstGeom prst="rect">
            <a:avLst/>
          </a:prstGeom>
        </p:spPr>
        <p:txBody>
          <a:bodyPr vert="horz" wrap="square" lIns="0" tIns="7620" rIns="0" bIns="0" rtlCol="0">
            <a:spAutoFit/>
          </a:bodyPr>
          <a:lstStyle/>
          <a:p>
            <a:pPr marL="12700" marR="5080" algn="just">
              <a:lnSpc>
                <a:spcPct val="100800"/>
              </a:lnSpc>
              <a:spcBef>
                <a:spcPts val="60"/>
              </a:spcBef>
            </a:pPr>
            <a:r>
              <a:rPr sz="3550" dirty="0">
                <a:latin typeface="Tahoma"/>
                <a:cs typeface="Tahoma"/>
              </a:rPr>
              <a:t>En Inteligencia Artificial se vio que validación cruzada nos sirve para ayudarnos a buscar los hiper- parámetros que mejor se nos ajustan a nuestros modelos, permitiendo mantener la </a:t>
            </a:r>
            <a:r>
              <a:rPr sz="3550" b="1" dirty="0">
                <a:latin typeface="Trebuchet MS"/>
                <a:cs typeface="Trebuchet MS"/>
              </a:rPr>
              <a:t>generalidad</a:t>
            </a:r>
            <a:r>
              <a:rPr sz="3550" dirty="0">
                <a:latin typeface="Tahoma"/>
                <a:cs typeface="Tahoma"/>
              </a:rPr>
              <a:t>.</a:t>
            </a:r>
          </a:p>
          <a:p>
            <a:pPr marL="12700" marR="154940" algn="just">
              <a:lnSpc>
                <a:spcPts val="7000"/>
              </a:lnSpc>
              <a:spcBef>
                <a:spcPts val="359"/>
              </a:spcBef>
            </a:pPr>
            <a:r>
              <a:rPr sz="3550" dirty="0">
                <a:latin typeface="Tahoma"/>
                <a:cs typeface="Tahoma"/>
              </a:rPr>
              <a:t>Pero por sí solo, no alcanza, necesitamos de alguna forma </a:t>
            </a:r>
            <a:r>
              <a:rPr sz="3550" i="1" dirty="0">
                <a:solidFill>
                  <a:srgbClr val="FF00D3"/>
                </a:solidFill>
                <a:latin typeface="Calibri"/>
                <a:cs typeface="Calibri"/>
              </a:rPr>
              <a:t>movernos </a:t>
            </a:r>
            <a:r>
              <a:rPr sz="3550" dirty="0">
                <a:latin typeface="Tahoma"/>
                <a:cs typeface="Tahoma"/>
              </a:rPr>
              <a:t>por el espacio de búsqueda. Una búsqueda consiste en:</a:t>
            </a:r>
          </a:p>
          <a:p>
            <a:pPr marL="514984" indent="-502284" algn="just">
              <a:lnSpc>
                <a:spcPct val="100000"/>
              </a:lnSpc>
              <a:spcBef>
                <a:spcPts val="1855"/>
              </a:spcBef>
              <a:buSzPct val="100000"/>
              <a:buChar char="•"/>
              <a:tabLst>
                <a:tab pos="514984" algn="l"/>
              </a:tabLst>
            </a:pPr>
            <a:r>
              <a:rPr sz="3100" dirty="0">
                <a:latin typeface="Tahoma"/>
                <a:cs typeface="Tahoma"/>
              </a:rPr>
              <a:t>Un modelo (de regresión o clasificación)</a:t>
            </a:r>
          </a:p>
          <a:p>
            <a:pPr marL="514984" indent="-502284" algn="just">
              <a:lnSpc>
                <a:spcPct val="100000"/>
              </a:lnSpc>
              <a:spcBef>
                <a:spcPts val="2550"/>
              </a:spcBef>
              <a:buSzPct val="100000"/>
              <a:buChar char="•"/>
              <a:tabLst>
                <a:tab pos="514984" algn="l"/>
              </a:tabLst>
            </a:pPr>
            <a:r>
              <a:rPr sz="3100" dirty="0">
                <a:latin typeface="Tahoma"/>
                <a:cs typeface="Tahoma"/>
              </a:rPr>
              <a:t>Un espacio de parámetros</a:t>
            </a:r>
          </a:p>
          <a:p>
            <a:pPr marL="514984" indent="-502284" algn="just">
              <a:lnSpc>
                <a:spcPct val="100000"/>
              </a:lnSpc>
              <a:spcBef>
                <a:spcPts val="2635"/>
              </a:spcBef>
              <a:buSzPct val="100000"/>
              <a:buChar char="•"/>
              <a:tabLst>
                <a:tab pos="514984" algn="l"/>
              </a:tabLst>
            </a:pPr>
            <a:r>
              <a:rPr sz="3100" dirty="0">
                <a:latin typeface="Tahoma"/>
                <a:cs typeface="Tahoma"/>
              </a:rPr>
              <a:t>Un método de búsqueda o de muestreo de candidatos</a:t>
            </a:r>
          </a:p>
          <a:p>
            <a:pPr marL="514984" indent="-502284" algn="just">
              <a:lnSpc>
                <a:spcPct val="100000"/>
              </a:lnSpc>
              <a:spcBef>
                <a:spcPts val="2530"/>
              </a:spcBef>
              <a:buSzPct val="100000"/>
              <a:buChar char="•"/>
              <a:tabLst>
                <a:tab pos="514984" algn="l"/>
              </a:tabLst>
            </a:pPr>
            <a:r>
              <a:rPr sz="3100" dirty="0">
                <a:latin typeface="Tahoma"/>
                <a:cs typeface="Tahoma"/>
              </a:rPr>
              <a:t>Un esquema de validación cruzada</a:t>
            </a:r>
          </a:p>
          <a:p>
            <a:pPr marL="514984" indent="-502284" algn="just">
              <a:lnSpc>
                <a:spcPct val="100000"/>
              </a:lnSpc>
              <a:spcBef>
                <a:spcPts val="2555"/>
              </a:spcBef>
              <a:buSzPct val="100000"/>
              <a:buChar char="•"/>
              <a:tabLst>
                <a:tab pos="514984" algn="l"/>
              </a:tabLst>
            </a:pPr>
            <a:r>
              <a:rPr sz="3100" dirty="0">
                <a:latin typeface="Tahoma"/>
                <a:cs typeface="Tahoma"/>
              </a:rPr>
              <a:t>Una función de puntaje</a:t>
            </a:r>
          </a:p>
        </p:txBody>
      </p:sp>
      <p:sp>
        <p:nvSpPr>
          <p:cNvPr id="8" name="object 2">
            <a:extLst>
              <a:ext uri="{FF2B5EF4-FFF2-40B4-BE49-F238E27FC236}">
                <a16:creationId xmlns:a16="http://schemas.microsoft.com/office/drawing/2014/main" id="{C4A85ACF-77A9-B04C-70D5-382EEF6FD9E4}"/>
              </a:ext>
            </a:extLst>
          </p:cNvPr>
          <p:cNvSpPr txBox="1">
            <a:spLocks/>
          </p:cNvSpPr>
          <p:nvPr/>
        </p:nvSpPr>
        <p:spPr>
          <a:xfrm>
            <a:off x="1097213" y="1136584"/>
            <a:ext cx="17909672" cy="825485"/>
          </a:xfrm>
          <a:prstGeom prst="rect">
            <a:avLst/>
          </a:prstGeom>
        </p:spPr>
        <p:txBody>
          <a:bodyPr vert="horz" wrap="square" lIns="0" tIns="85982" rIns="0" bIns="0" rtlCol="0">
            <a:spAutoFit/>
          </a:bodyPr>
          <a:lstStyle>
            <a:lvl1pPr>
              <a:defRPr sz="5450" b="0" i="0">
                <a:solidFill>
                  <a:schemeClr val="tx1"/>
                </a:solidFill>
                <a:latin typeface="Arial Black"/>
                <a:ea typeface="+mj-ea"/>
                <a:cs typeface="Arial Black"/>
              </a:defRPr>
            </a:lvl1pPr>
          </a:lstStyle>
          <a:p>
            <a:pPr marL="12700">
              <a:spcBef>
                <a:spcPts val="90"/>
              </a:spcBef>
            </a:pPr>
            <a:r>
              <a:rPr lang="es-PE" sz="4800" i="1" dirty="0"/>
              <a:t>MÉTODOS DE AJUSTE DE LOS HIPER-PARÁMETROS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9341140" y="10689633"/>
            <a:ext cx="322580"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55" dirty="0">
                <a:latin typeface="Tahoma"/>
                <a:cs typeface="Tahoma"/>
              </a:rPr>
              <a:t>54</a:t>
            </a:fld>
            <a:endParaRPr sz="2300">
              <a:latin typeface="Tahoma"/>
              <a:cs typeface="Tahoma"/>
            </a:endParaRPr>
          </a:p>
        </p:txBody>
      </p:sp>
      <p:sp>
        <p:nvSpPr>
          <p:cNvPr id="3" name="object 3"/>
          <p:cNvSpPr txBox="1"/>
          <p:nvPr/>
        </p:nvSpPr>
        <p:spPr>
          <a:xfrm>
            <a:off x="1097213" y="2700528"/>
            <a:ext cx="17740630" cy="7472238"/>
          </a:xfrm>
          <a:prstGeom prst="rect">
            <a:avLst/>
          </a:prstGeom>
        </p:spPr>
        <p:txBody>
          <a:bodyPr vert="horz" wrap="square" lIns="0" tIns="7620" rIns="0" bIns="0" rtlCol="0">
            <a:spAutoFit/>
          </a:bodyPr>
          <a:lstStyle/>
          <a:p>
            <a:pPr marL="12700" marR="5080" algn="just">
              <a:lnSpc>
                <a:spcPct val="100800"/>
              </a:lnSpc>
              <a:spcBef>
                <a:spcPts val="60"/>
              </a:spcBef>
            </a:pPr>
            <a:r>
              <a:rPr sz="3550" dirty="0">
                <a:latin typeface="Tahoma"/>
                <a:cs typeface="Tahoma"/>
              </a:rPr>
              <a:t>En Inteligencia Artificial se vio que validación cruzada nos sirve para ayudarnos a buscar los hiper- parámetros que mejor se nos ajustan a nuestros modelos, permitiendo mantener la </a:t>
            </a:r>
            <a:r>
              <a:rPr sz="3550" b="1" dirty="0">
                <a:latin typeface="Trebuchet MS"/>
                <a:cs typeface="Trebuchet MS"/>
              </a:rPr>
              <a:t>generalidad</a:t>
            </a:r>
            <a:r>
              <a:rPr sz="3550" dirty="0">
                <a:latin typeface="Tahoma"/>
                <a:cs typeface="Tahoma"/>
              </a:rPr>
              <a:t>.</a:t>
            </a:r>
          </a:p>
          <a:p>
            <a:pPr marL="12700" marR="154940" algn="just">
              <a:lnSpc>
                <a:spcPts val="7000"/>
              </a:lnSpc>
              <a:spcBef>
                <a:spcPts val="359"/>
              </a:spcBef>
            </a:pPr>
            <a:r>
              <a:rPr sz="3550" dirty="0">
                <a:latin typeface="Tahoma"/>
                <a:cs typeface="Tahoma"/>
              </a:rPr>
              <a:t>Pero por sí solo, no alcanza, necesitamos de alguna forma </a:t>
            </a:r>
            <a:r>
              <a:rPr sz="3550" i="1" dirty="0">
                <a:solidFill>
                  <a:srgbClr val="FF00D3"/>
                </a:solidFill>
                <a:latin typeface="Calibri"/>
                <a:cs typeface="Calibri"/>
              </a:rPr>
              <a:t>movernos </a:t>
            </a:r>
            <a:r>
              <a:rPr sz="3550" dirty="0">
                <a:latin typeface="Tahoma"/>
                <a:cs typeface="Tahoma"/>
              </a:rPr>
              <a:t>por el espacio de búsqueda. Una búsqueda consiste en:</a:t>
            </a:r>
          </a:p>
          <a:p>
            <a:pPr marL="514984" indent="-502284" algn="just">
              <a:lnSpc>
                <a:spcPct val="100000"/>
              </a:lnSpc>
              <a:spcBef>
                <a:spcPts val="1855"/>
              </a:spcBef>
              <a:buSzPct val="100000"/>
              <a:buChar char="•"/>
              <a:tabLst>
                <a:tab pos="514984" algn="l"/>
              </a:tabLst>
            </a:pPr>
            <a:r>
              <a:rPr sz="3100" dirty="0">
                <a:latin typeface="Tahoma"/>
                <a:cs typeface="Tahoma"/>
              </a:rPr>
              <a:t>Un modelo (de regresión o clasificación)</a:t>
            </a:r>
          </a:p>
          <a:p>
            <a:pPr marL="514984" indent="-502284" algn="just">
              <a:lnSpc>
                <a:spcPct val="100000"/>
              </a:lnSpc>
              <a:spcBef>
                <a:spcPts val="2550"/>
              </a:spcBef>
              <a:buSzPct val="100000"/>
              <a:buChar char="•"/>
              <a:tabLst>
                <a:tab pos="514984" algn="l"/>
              </a:tabLst>
            </a:pPr>
            <a:r>
              <a:rPr sz="3100" dirty="0">
                <a:latin typeface="Tahoma"/>
                <a:cs typeface="Tahoma"/>
              </a:rPr>
              <a:t>Un espacio de parámetros</a:t>
            </a:r>
          </a:p>
          <a:p>
            <a:pPr marL="514984" indent="-502284" algn="just">
              <a:lnSpc>
                <a:spcPct val="100000"/>
              </a:lnSpc>
              <a:spcBef>
                <a:spcPts val="2375"/>
              </a:spcBef>
              <a:buClr>
                <a:srgbClr val="000000"/>
              </a:buClr>
              <a:buSzPct val="100000"/>
              <a:buFont typeface="Tahoma"/>
              <a:buChar char="•"/>
              <a:tabLst>
                <a:tab pos="514984" algn="l"/>
              </a:tabLst>
            </a:pPr>
            <a:r>
              <a:rPr sz="3100" b="1" dirty="0">
                <a:solidFill>
                  <a:srgbClr val="FF7D74"/>
                </a:solidFill>
                <a:latin typeface="Calibri"/>
                <a:cs typeface="Calibri"/>
              </a:rPr>
              <a:t>Un método de búsqueda o de muestreo de candidatos</a:t>
            </a:r>
            <a:endParaRPr sz="3100" dirty="0">
              <a:latin typeface="Calibri"/>
              <a:cs typeface="Calibri"/>
            </a:endParaRPr>
          </a:p>
          <a:p>
            <a:pPr marL="514984" indent="-502284" algn="just">
              <a:lnSpc>
                <a:spcPct val="100000"/>
              </a:lnSpc>
              <a:spcBef>
                <a:spcPts val="2790"/>
              </a:spcBef>
              <a:buSzPct val="100000"/>
              <a:buChar char="•"/>
              <a:tabLst>
                <a:tab pos="514984" algn="l"/>
              </a:tabLst>
            </a:pPr>
            <a:r>
              <a:rPr sz="3100" dirty="0">
                <a:latin typeface="Tahoma"/>
                <a:cs typeface="Tahoma"/>
              </a:rPr>
              <a:t>Un esquema de validación cruzada</a:t>
            </a:r>
          </a:p>
          <a:p>
            <a:pPr marL="514984" indent="-502284" algn="just">
              <a:lnSpc>
                <a:spcPct val="100000"/>
              </a:lnSpc>
              <a:spcBef>
                <a:spcPts val="2555"/>
              </a:spcBef>
              <a:buSzPct val="100000"/>
              <a:buChar char="•"/>
              <a:tabLst>
                <a:tab pos="514984" algn="l"/>
              </a:tabLst>
            </a:pPr>
            <a:r>
              <a:rPr sz="3100" dirty="0">
                <a:latin typeface="Tahoma"/>
                <a:cs typeface="Tahoma"/>
              </a:rPr>
              <a:t>Una función de puntaje</a:t>
            </a:r>
          </a:p>
        </p:txBody>
      </p:sp>
      <p:sp>
        <p:nvSpPr>
          <p:cNvPr id="8" name="object 2">
            <a:extLst>
              <a:ext uri="{FF2B5EF4-FFF2-40B4-BE49-F238E27FC236}">
                <a16:creationId xmlns:a16="http://schemas.microsoft.com/office/drawing/2014/main" id="{A34F3E92-C00B-2F23-F48B-93930A773A7D}"/>
              </a:ext>
            </a:extLst>
          </p:cNvPr>
          <p:cNvSpPr txBox="1">
            <a:spLocks noGrp="1"/>
          </p:cNvSpPr>
          <p:nvPr>
            <p:ph type="title"/>
          </p:nvPr>
        </p:nvSpPr>
        <p:spPr>
          <a:xfrm>
            <a:off x="1097213" y="1136584"/>
            <a:ext cx="17909672" cy="825485"/>
          </a:xfrm>
          <a:prstGeom prst="rect">
            <a:avLst/>
          </a:prstGeom>
        </p:spPr>
        <p:txBody>
          <a:bodyPr vert="horz" wrap="square" lIns="0" tIns="85982" rIns="0" bIns="0" rtlCol="0">
            <a:spAutoFit/>
          </a:bodyPr>
          <a:lstStyle/>
          <a:p>
            <a:pPr marL="12700">
              <a:lnSpc>
                <a:spcPct val="100000"/>
              </a:lnSpc>
              <a:spcBef>
                <a:spcPts val="90"/>
              </a:spcBef>
            </a:pPr>
            <a:r>
              <a:rPr sz="4800" i="1" dirty="0"/>
              <a:t>MÉTODOS DE AJUSTE DE LOS HIPER-PARÁMETROS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97213" y="2796415"/>
            <a:ext cx="9335837" cy="596317"/>
          </a:xfrm>
          <a:prstGeom prst="rect">
            <a:avLst/>
          </a:prstGeom>
        </p:spPr>
        <p:txBody>
          <a:bodyPr vert="horz" wrap="square" lIns="0" tIns="11430" rIns="0" bIns="0" rtlCol="0">
            <a:spAutoFit/>
          </a:bodyPr>
          <a:lstStyle/>
          <a:p>
            <a:pPr marL="12700">
              <a:lnSpc>
                <a:spcPct val="100000"/>
              </a:lnSpc>
              <a:spcBef>
                <a:spcPts val="90"/>
              </a:spcBef>
            </a:pPr>
            <a:r>
              <a:rPr sz="3800" dirty="0">
                <a:latin typeface="Tahoma"/>
                <a:cs typeface="Tahoma"/>
              </a:rPr>
              <a:t>Dos métodos de búsqueda típicos:</a:t>
            </a:r>
          </a:p>
        </p:txBody>
      </p:sp>
      <p:grpSp>
        <p:nvGrpSpPr>
          <p:cNvPr id="4" name="object 4"/>
          <p:cNvGrpSpPr/>
          <p:nvPr/>
        </p:nvGrpSpPr>
        <p:grpSpPr>
          <a:xfrm>
            <a:off x="4276032" y="5318214"/>
            <a:ext cx="12148185" cy="3679190"/>
            <a:chOff x="4276032" y="5595915"/>
            <a:chExt cx="12148185" cy="3679190"/>
          </a:xfrm>
        </p:grpSpPr>
        <p:sp>
          <p:nvSpPr>
            <p:cNvPr id="5" name="object 5"/>
            <p:cNvSpPr/>
            <p:nvPr/>
          </p:nvSpPr>
          <p:spPr>
            <a:xfrm>
              <a:off x="6243655" y="7110358"/>
              <a:ext cx="650240" cy="650240"/>
            </a:xfrm>
            <a:custGeom>
              <a:avLst/>
              <a:gdLst/>
              <a:ahLst/>
              <a:cxnLst/>
              <a:rect l="l" t="t" r="r" b="b"/>
              <a:pathLst>
                <a:path w="650240" h="650240">
                  <a:moveTo>
                    <a:pt x="324957" y="0"/>
                  </a:moveTo>
                  <a:lnTo>
                    <a:pt x="276937" y="3523"/>
                  </a:lnTo>
                  <a:lnTo>
                    <a:pt x="231105" y="13758"/>
                  </a:lnTo>
                  <a:lnTo>
                    <a:pt x="187963" y="30202"/>
                  </a:lnTo>
                  <a:lnTo>
                    <a:pt x="148014" y="52352"/>
                  </a:lnTo>
                  <a:lnTo>
                    <a:pt x="111761" y="79706"/>
                  </a:lnTo>
                  <a:lnTo>
                    <a:pt x="79706" y="111761"/>
                  </a:lnTo>
                  <a:lnTo>
                    <a:pt x="52352" y="148014"/>
                  </a:lnTo>
                  <a:lnTo>
                    <a:pt x="30202" y="187963"/>
                  </a:lnTo>
                  <a:lnTo>
                    <a:pt x="13758" y="231105"/>
                  </a:lnTo>
                  <a:lnTo>
                    <a:pt x="3523" y="276937"/>
                  </a:lnTo>
                  <a:lnTo>
                    <a:pt x="0" y="324957"/>
                  </a:lnTo>
                  <a:lnTo>
                    <a:pt x="3523" y="372977"/>
                  </a:lnTo>
                  <a:lnTo>
                    <a:pt x="13758" y="418810"/>
                  </a:lnTo>
                  <a:lnTo>
                    <a:pt x="30202" y="461952"/>
                  </a:lnTo>
                  <a:lnTo>
                    <a:pt x="52352" y="501901"/>
                  </a:lnTo>
                  <a:lnTo>
                    <a:pt x="79706" y="538154"/>
                  </a:lnTo>
                  <a:lnTo>
                    <a:pt x="111761" y="570209"/>
                  </a:lnTo>
                  <a:lnTo>
                    <a:pt x="148014" y="597563"/>
                  </a:lnTo>
                  <a:lnTo>
                    <a:pt x="187963" y="619713"/>
                  </a:lnTo>
                  <a:lnTo>
                    <a:pt x="231105" y="636157"/>
                  </a:lnTo>
                  <a:lnTo>
                    <a:pt x="276937" y="646392"/>
                  </a:lnTo>
                  <a:lnTo>
                    <a:pt x="324957" y="649916"/>
                  </a:lnTo>
                  <a:lnTo>
                    <a:pt x="372977" y="646392"/>
                  </a:lnTo>
                  <a:lnTo>
                    <a:pt x="418809" y="636157"/>
                  </a:lnTo>
                  <a:lnTo>
                    <a:pt x="461951" y="619713"/>
                  </a:lnTo>
                  <a:lnTo>
                    <a:pt x="501900" y="597563"/>
                  </a:lnTo>
                  <a:lnTo>
                    <a:pt x="538153" y="570209"/>
                  </a:lnTo>
                  <a:lnTo>
                    <a:pt x="570208" y="538154"/>
                  </a:lnTo>
                  <a:lnTo>
                    <a:pt x="597562" y="501901"/>
                  </a:lnTo>
                  <a:lnTo>
                    <a:pt x="619712" y="461952"/>
                  </a:lnTo>
                  <a:lnTo>
                    <a:pt x="636156" y="418810"/>
                  </a:lnTo>
                  <a:lnTo>
                    <a:pt x="646391" y="372977"/>
                  </a:lnTo>
                  <a:lnTo>
                    <a:pt x="649915" y="324957"/>
                  </a:lnTo>
                  <a:lnTo>
                    <a:pt x="646391" y="276937"/>
                  </a:lnTo>
                  <a:lnTo>
                    <a:pt x="636156" y="231105"/>
                  </a:lnTo>
                  <a:lnTo>
                    <a:pt x="619712" y="187963"/>
                  </a:lnTo>
                  <a:lnTo>
                    <a:pt x="597562" y="148014"/>
                  </a:lnTo>
                  <a:lnTo>
                    <a:pt x="570208" y="111761"/>
                  </a:lnTo>
                  <a:lnTo>
                    <a:pt x="538153" y="79706"/>
                  </a:lnTo>
                  <a:lnTo>
                    <a:pt x="501900" y="52352"/>
                  </a:lnTo>
                  <a:lnTo>
                    <a:pt x="461951" y="30202"/>
                  </a:lnTo>
                  <a:lnTo>
                    <a:pt x="418809" y="13758"/>
                  </a:lnTo>
                  <a:lnTo>
                    <a:pt x="372977" y="3523"/>
                  </a:lnTo>
                  <a:lnTo>
                    <a:pt x="324957" y="0"/>
                  </a:lnTo>
                  <a:close/>
                </a:path>
              </a:pathLst>
            </a:custGeom>
            <a:solidFill>
              <a:srgbClr val="FFFD99"/>
            </a:solidFill>
          </p:spPr>
          <p:txBody>
            <a:bodyPr wrap="square" lIns="0" tIns="0" rIns="0" bIns="0" rtlCol="0"/>
            <a:lstStyle/>
            <a:p>
              <a:endParaRPr/>
            </a:p>
          </p:txBody>
        </p:sp>
        <p:sp>
          <p:nvSpPr>
            <p:cNvPr id="6" name="object 6"/>
            <p:cNvSpPr/>
            <p:nvPr/>
          </p:nvSpPr>
          <p:spPr>
            <a:xfrm>
              <a:off x="6243655" y="7110358"/>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7" name="object 7"/>
            <p:cNvSpPr/>
            <p:nvPr/>
          </p:nvSpPr>
          <p:spPr>
            <a:xfrm>
              <a:off x="8195571" y="7110357"/>
              <a:ext cx="650240" cy="650240"/>
            </a:xfrm>
            <a:custGeom>
              <a:avLst/>
              <a:gdLst/>
              <a:ahLst/>
              <a:cxnLst/>
              <a:rect l="l" t="t" r="r" b="b"/>
              <a:pathLst>
                <a:path w="650240" h="650240">
                  <a:moveTo>
                    <a:pt x="324958" y="0"/>
                  </a:moveTo>
                  <a:lnTo>
                    <a:pt x="276938" y="3523"/>
                  </a:lnTo>
                  <a:lnTo>
                    <a:pt x="231106" y="13758"/>
                  </a:lnTo>
                  <a:lnTo>
                    <a:pt x="187964" y="30202"/>
                  </a:lnTo>
                  <a:lnTo>
                    <a:pt x="148015" y="52352"/>
                  </a:lnTo>
                  <a:lnTo>
                    <a:pt x="111761" y="79706"/>
                  </a:lnTo>
                  <a:lnTo>
                    <a:pt x="79706" y="111761"/>
                  </a:lnTo>
                  <a:lnTo>
                    <a:pt x="52352" y="148015"/>
                  </a:lnTo>
                  <a:lnTo>
                    <a:pt x="30202" y="187964"/>
                  </a:lnTo>
                  <a:lnTo>
                    <a:pt x="13758" y="231106"/>
                  </a:lnTo>
                  <a:lnTo>
                    <a:pt x="3523" y="276938"/>
                  </a:lnTo>
                  <a:lnTo>
                    <a:pt x="0" y="324958"/>
                  </a:lnTo>
                  <a:lnTo>
                    <a:pt x="3523" y="372978"/>
                  </a:lnTo>
                  <a:lnTo>
                    <a:pt x="13758" y="418810"/>
                  </a:lnTo>
                  <a:lnTo>
                    <a:pt x="30202" y="461952"/>
                  </a:lnTo>
                  <a:lnTo>
                    <a:pt x="52352" y="501901"/>
                  </a:lnTo>
                  <a:lnTo>
                    <a:pt x="79706" y="538154"/>
                  </a:lnTo>
                  <a:lnTo>
                    <a:pt x="111761" y="570209"/>
                  </a:lnTo>
                  <a:lnTo>
                    <a:pt x="148015" y="597563"/>
                  </a:lnTo>
                  <a:lnTo>
                    <a:pt x="187964" y="619713"/>
                  </a:lnTo>
                  <a:lnTo>
                    <a:pt x="231106" y="636157"/>
                  </a:lnTo>
                  <a:lnTo>
                    <a:pt x="276938" y="646392"/>
                  </a:lnTo>
                  <a:lnTo>
                    <a:pt x="324958" y="649916"/>
                  </a:lnTo>
                  <a:lnTo>
                    <a:pt x="372978"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8"/>
                  </a:lnTo>
                  <a:lnTo>
                    <a:pt x="649916" y="324958"/>
                  </a:lnTo>
                  <a:lnTo>
                    <a:pt x="646392" y="276938"/>
                  </a:lnTo>
                  <a:lnTo>
                    <a:pt x="636157" y="231106"/>
                  </a:lnTo>
                  <a:lnTo>
                    <a:pt x="619713" y="187964"/>
                  </a:lnTo>
                  <a:lnTo>
                    <a:pt x="597563" y="148015"/>
                  </a:lnTo>
                  <a:lnTo>
                    <a:pt x="570209" y="111761"/>
                  </a:lnTo>
                  <a:lnTo>
                    <a:pt x="538154" y="79706"/>
                  </a:lnTo>
                  <a:lnTo>
                    <a:pt x="501901" y="52352"/>
                  </a:lnTo>
                  <a:lnTo>
                    <a:pt x="461952" y="30202"/>
                  </a:lnTo>
                  <a:lnTo>
                    <a:pt x="418810" y="13758"/>
                  </a:lnTo>
                  <a:lnTo>
                    <a:pt x="372978" y="3523"/>
                  </a:lnTo>
                  <a:lnTo>
                    <a:pt x="324958" y="0"/>
                  </a:lnTo>
                  <a:close/>
                </a:path>
              </a:pathLst>
            </a:custGeom>
            <a:solidFill>
              <a:srgbClr val="FFFD99"/>
            </a:solidFill>
          </p:spPr>
          <p:txBody>
            <a:bodyPr wrap="square" lIns="0" tIns="0" rIns="0" bIns="0" rtlCol="0"/>
            <a:lstStyle/>
            <a:p>
              <a:endParaRPr/>
            </a:p>
          </p:txBody>
        </p:sp>
        <p:sp>
          <p:nvSpPr>
            <p:cNvPr id="8" name="object 8"/>
            <p:cNvSpPr/>
            <p:nvPr/>
          </p:nvSpPr>
          <p:spPr>
            <a:xfrm>
              <a:off x="8195571" y="7110357"/>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9" name="object 9"/>
            <p:cNvSpPr/>
            <p:nvPr/>
          </p:nvSpPr>
          <p:spPr>
            <a:xfrm>
              <a:off x="8195571" y="8605595"/>
              <a:ext cx="650240" cy="650240"/>
            </a:xfrm>
            <a:custGeom>
              <a:avLst/>
              <a:gdLst/>
              <a:ahLst/>
              <a:cxnLst/>
              <a:rect l="l" t="t" r="r" b="b"/>
              <a:pathLst>
                <a:path w="650240" h="650240">
                  <a:moveTo>
                    <a:pt x="324958" y="0"/>
                  </a:moveTo>
                  <a:lnTo>
                    <a:pt x="276938" y="3523"/>
                  </a:lnTo>
                  <a:lnTo>
                    <a:pt x="231106" y="13758"/>
                  </a:lnTo>
                  <a:lnTo>
                    <a:pt x="187964" y="30202"/>
                  </a:lnTo>
                  <a:lnTo>
                    <a:pt x="148015" y="52352"/>
                  </a:lnTo>
                  <a:lnTo>
                    <a:pt x="111761" y="79706"/>
                  </a:lnTo>
                  <a:lnTo>
                    <a:pt x="79706" y="111761"/>
                  </a:lnTo>
                  <a:lnTo>
                    <a:pt x="52352" y="148014"/>
                  </a:lnTo>
                  <a:lnTo>
                    <a:pt x="30202" y="187963"/>
                  </a:lnTo>
                  <a:lnTo>
                    <a:pt x="13758" y="231105"/>
                  </a:lnTo>
                  <a:lnTo>
                    <a:pt x="3523" y="276937"/>
                  </a:lnTo>
                  <a:lnTo>
                    <a:pt x="0" y="324957"/>
                  </a:lnTo>
                  <a:lnTo>
                    <a:pt x="3523" y="372977"/>
                  </a:lnTo>
                  <a:lnTo>
                    <a:pt x="13758" y="418810"/>
                  </a:lnTo>
                  <a:lnTo>
                    <a:pt x="30202" y="461952"/>
                  </a:lnTo>
                  <a:lnTo>
                    <a:pt x="52352" y="501901"/>
                  </a:lnTo>
                  <a:lnTo>
                    <a:pt x="79706" y="538154"/>
                  </a:lnTo>
                  <a:lnTo>
                    <a:pt x="111761" y="570209"/>
                  </a:lnTo>
                  <a:lnTo>
                    <a:pt x="148015" y="597563"/>
                  </a:lnTo>
                  <a:lnTo>
                    <a:pt x="187964" y="619713"/>
                  </a:lnTo>
                  <a:lnTo>
                    <a:pt x="231106" y="636157"/>
                  </a:lnTo>
                  <a:lnTo>
                    <a:pt x="276938" y="646392"/>
                  </a:lnTo>
                  <a:lnTo>
                    <a:pt x="324958" y="649916"/>
                  </a:lnTo>
                  <a:lnTo>
                    <a:pt x="372978"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7"/>
                  </a:lnTo>
                  <a:lnTo>
                    <a:pt x="649916" y="324957"/>
                  </a:lnTo>
                  <a:lnTo>
                    <a:pt x="646392" y="276937"/>
                  </a:lnTo>
                  <a:lnTo>
                    <a:pt x="636157" y="231105"/>
                  </a:lnTo>
                  <a:lnTo>
                    <a:pt x="619713" y="187963"/>
                  </a:lnTo>
                  <a:lnTo>
                    <a:pt x="597563" y="148014"/>
                  </a:lnTo>
                  <a:lnTo>
                    <a:pt x="570209" y="111761"/>
                  </a:lnTo>
                  <a:lnTo>
                    <a:pt x="538154" y="79706"/>
                  </a:lnTo>
                  <a:lnTo>
                    <a:pt x="501901" y="52352"/>
                  </a:lnTo>
                  <a:lnTo>
                    <a:pt x="461952" y="30202"/>
                  </a:lnTo>
                  <a:lnTo>
                    <a:pt x="418810" y="13758"/>
                  </a:lnTo>
                  <a:lnTo>
                    <a:pt x="372978" y="3523"/>
                  </a:lnTo>
                  <a:lnTo>
                    <a:pt x="324958" y="0"/>
                  </a:lnTo>
                  <a:close/>
                </a:path>
              </a:pathLst>
            </a:custGeom>
            <a:solidFill>
              <a:srgbClr val="FFFD99"/>
            </a:solidFill>
          </p:spPr>
          <p:txBody>
            <a:bodyPr wrap="square" lIns="0" tIns="0" rIns="0" bIns="0" rtlCol="0"/>
            <a:lstStyle/>
            <a:p>
              <a:endParaRPr/>
            </a:p>
          </p:txBody>
        </p:sp>
        <p:sp>
          <p:nvSpPr>
            <p:cNvPr id="10" name="object 10"/>
            <p:cNvSpPr/>
            <p:nvPr/>
          </p:nvSpPr>
          <p:spPr>
            <a:xfrm>
              <a:off x="8195571" y="8605595"/>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1" name="object 11"/>
            <p:cNvSpPr/>
            <p:nvPr/>
          </p:nvSpPr>
          <p:spPr>
            <a:xfrm>
              <a:off x="6243655" y="8609091"/>
              <a:ext cx="650240" cy="650240"/>
            </a:xfrm>
            <a:custGeom>
              <a:avLst/>
              <a:gdLst/>
              <a:ahLst/>
              <a:cxnLst/>
              <a:rect l="l" t="t" r="r" b="b"/>
              <a:pathLst>
                <a:path w="650240" h="650240">
                  <a:moveTo>
                    <a:pt x="324957" y="0"/>
                  </a:moveTo>
                  <a:lnTo>
                    <a:pt x="276937" y="3523"/>
                  </a:lnTo>
                  <a:lnTo>
                    <a:pt x="231105" y="13758"/>
                  </a:lnTo>
                  <a:lnTo>
                    <a:pt x="187963" y="30202"/>
                  </a:lnTo>
                  <a:lnTo>
                    <a:pt x="148014" y="52352"/>
                  </a:lnTo>
                  <a:lnTo>
                    <a:pt x="111761" y="79706"/>
                  </a:lnTo>
                  <a:lnTo>
                    <a:pt x="79706" y="111761"/>
                  </a:lnTo>
                  <a:lnTo>
                    <a:pt x="52352" y="148014"/>
                  </a:lnTo>
                  <a:lnTo>
                    <a:pt x="30202" y="187963"/>
                  </a:lnTo>
                  <a:lnTo>
                    <a:pt x="13758" y="231105"/>
                  </a:lnTo>
                  <a:lnTo>
                    <a:pt x="3523" y="276937"/>
                  </a:lnTo>
                  <a:lnTo>
                    <a:pt x="0" y="324957"/>
                  </a:lnTo>
                  <a:lnTo>
                    <a:pt x="3523" y="372977"/>
                  </a:lnTo>
                  <a:lnTo>
                    <a:pt x="13758" y="418810"/>
                  </a:lnTo>
                  <a:lnTo>
                    <a:pt x="30202" y="461952"/>
                  </a:lnTo>
                  <a:lnTo>
                    <a:pt x="52352" y="501901"/>
                  </a:lnTo>
                  <a:lnTo>
                    <a:pt x="79706" y="538154"/>
                  </a:lnTo>
                  <a:lnTo>
                    <a:pt x="111761" y="570209"/>
                  </a:lnTo>
                  <a:lnTo>
                    <a:pt x="148014" y="597563"/>
                  </a:lnTo>
                  <a:lnTo>
                    <a:pt x="187963" y="619713"/>
                  </a:lnTo>
                  <a:lnTo>
                    <a:pt x="231105" y="636157"/>
                  </a:lnTo>
                  <a:lnTo>
                    <a:pt x="276937" y="646392"/>
                  </a:lnTo>
                  <a:lnTo>
                    <a:pt x="324957" y="649916"/>
                  </a:lnTo>
                  <a:lnTo>
                    <a:pt x="372977" y="646392"/>
                  </a:lnTo>
                  <a:lnTo>
                    <a:pt x="418809" y="636157"/>
                  </a:lnTo>
                  <a:lnTo>
                    <a:pt x="461951" y="619713"/>
                  </a:lnTo>
                  <a:lnTo>
                    <a:pt x="501900" y="597563"/>
                  </a:lnTo>
                  <a:lnTo>
                    <a:pt x="538153" y="570209"/>
                  </a:lnTo>
                  <a:lnTo>
                    <a:pt x="570208" y="538154"/>
                  </a:lnTo>
                  <a:lnTo>
                    <a:pt x="597562" y="501901"/>
                  </a:lnTo>
                  <a:lnTo>
                    <a:pt x="619712" y="461952"/>
                  </a:lnTo>
                  <a:lnTo>
                    <a:pt x="636156" y="418810"/>
                  </a:lnTo>
                  <a:lnTo>
                    <a:pt x="646391" y="372977"/>
                  </a:lnTo>
                  <a:lnTo>
                    <a:pt x="649915" y="324957"/>
                  </a:lnTo>
                  <a:lnTo>
                    <a:pt x="646391" y="276937"/>
                  </a:lnTo>
                  <a:lnTo>
                    <a:pt x="636156" y="231105"/>
                  </a:lnTo>
                  <a:lnTo>
                    <a:pt x="619712" y="187963"/>
                  </a:lnTo>
                  <a:lnTo>
                    <a:pt x="597562" y="148014"/>
                  </a:lnTo>
                  <a:lnTo>
                    <a:pt x="570208" y="111761"/>
                  </a:lnTo>
                  <a:lnTo>
                    <a:pt x="538153" y="79706"/>
                  </a:lnTo>
                  <a:lnTo>
                    <a:pt x="501900" y="52352"/>
                  </a:lnTo>
                  <a:lnTo>
                    <a:pt x="461951" y="30202"/>
                  </a:lnTo>
                  <a:lnTo>
                    <a:pt x="418809" y="13758"/>
                  </a:lnTo>
                  <a:lnTo>
                    <a:pt x="372977" y="3523"/>
                  </a:lnTo>
                  <a:lnTo>
                    <a:pt x="324957" y="0"/>
                  </a:lnTo>
                  <a:close/>
                </a:path>
              </a:pathLst>
            </a:custGeom>
            <a:solidFill>
              <a:srgbClr val="FFFD99"/>
            </a:solidFill>
          </p:spPr>
          <p:txBody>
            <a:bodyPr wrap="square" lIns="0" tIns="0" rIns="0" bIns="0" rtlCol="0"/>
            <a:lstStyle/>
            <a:p>
              <a:endParaRPr/>
            </a:p>
          </p:txBody>
        </p:sp>
        <p:sp>
          <p:nvSpPr>
            <p:cNvPr id="12" name="object 12"/>
            <p:cNvSpPr/>
            <p:nvPr/>
          </p:nvSpPr>
          <p:spPr>
            <a:xfrm>
              <a:off x="6243655" y="8609091"/>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3" name="object 13"/>
            <p:cNvSpPr/>
            <p:nvPr/>
          </p:nvSpPr>
          <p:spPr>
            <a:xfrm>
              <a:off x="6243653" y="5611622"/>
              <a:ext cx="650240" cy="650240"/>
            </a:xfrm>
            <a:custGeom>
              <a:avLst/>
              <a:gdLst/>
              <a:ahLst/>
              <a:cxnLst/>
              <a:rect l="l" t="t" r="r" b="b"/>
              <a:pathLst>
                <a:path w="650240" h="650239">
                  <a:moveTo>
                    <a:pt x="324958" y="0"/>
                  </a:moveTo>
                  <a:lnTo>
                    <a:pt x="276938" y="3523"/>
                  </a:lnTo>
                  <a:lnTo>
                    <a:pt x="231106" y="13758"/>
                  </a:lnTo>
                  <a:lnTo>
                    <a:pt x="187964" y="30202"/>
                  </a:lnTo>
                  <a:lnTo>
                    <a:pt x="148015" y="52352"/>
                  </a:lnTo>
                  <a:lnTo>
                    <a:pt x="111761" y="79706"/>
                  </a:lnTo>
                  <a:lnTo>
                    <a:pt x="79706" y="111761"/>
                  </a:lnTo>
                  <a:lnTo>
                    <a:pt x="52352" y="148015"/>
                  </a:lnTo>
                  <a:lnTo>
                    <a:pt x="30202" y="187964"/>
                  </a:lnTo>
                  <a:lnTo>
                    <a:pt x="13758" y="231106"/>
                  </a:lnTo>
                  <a:lnTo>
                    <a:pt x="3523" y="276938"/>
                  </a:lnTo>
                  <a:lnTo>
                    <a:pt x="0" y="324958"/>
                  </a:lnTo>
                  <a:lnTo>
                    <a:pt x="3523" y="372978"/>
                  </a:lnTo>
                  <a:lnTo>
                    <a:pt x="13758" y="418810"/>
                  </a:lnTo>
                  <a:lnTo>
                    <a:pt x="30202" y="461952"/>
                  </a:lnTo>
                  <a:lnTo>
                    <a:pt x="52352" y="501901"/>
                  </a:lnTo>
                  <a:lnTo>
                    <a:pt x="79706" y="538154"/>
                  </a:lnTo>
                  <a:lnTo>
                    <a:pt x="111761" y="570209"/>
                  </a:lnTo>
                  <a:lnTo>
                    <a:pt x="148015" y="597563"/>
                  </a:lnTo>
                  <a:lnTo>
                    <a:pt x="187964" y="619713"/>
                  </a:lnTo>
                  <a:lnTo>
                    <a:pt x="231106" y="636157"/>
                  </a:lnTo>
                  <a:lnTo>
                    <a:pt x="276938" y="646392"/>
                  </a:lnTo>
                  <a:lnTo>
                    <a:pt x="324958" y="649916"/>
                  </a:lnTo>
                  <a:lnTo>
                    <a:pt x="372978"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8"/>
                  </a:lnTo>
                  <a:lnTo>
                    <a:pt x="649916" y="324958"/>
                  </a:lnTo>
                  <a:lnTo>
                    <a:pt x="646392" y="276938"/>
                  </a:lnTo>
                  <a:lnTo>
                    <a:pt x="636157" y="231106"/>
                  </a:lnTo>
                  <a:lnTo>
                    <a:pt x="619713" y="187964"/>
                  </a:lnTo>
                  <a:lnTo>
                    <a:pt x="597563" y="148015"/>
                  </a:lnTo>
                  <a:lnTo>
                    <a:pt x="570209" y="111761"/>
                  </a:lnTo>
                  <a:lnTo>
                    <a:pt x="538154" y="79706"/>
                  </a:lnTo>
                  <a:lnTo>
                    <a:pt x="501901" y="52352"/>
                  </a:lnTo>
                  <a:lnTo>
                    <a:pt x="461952" y="30202"/>
                  </a:lnTo>
                  <a:lnTo>
                    <a:pt x="418810" y="13758"/>
                  </a:lnTo>
                  <a:lnTo>
                    <a:pt x="372978" y="3523"/>
                  </a:lnTo>
                  <a:lnTo>
                    <a:pt x="324958" y="0"/>
                  </a:lnTo>
                  <a:close/>
                </a:path>
              </a:pathLst>
            </a:custGeom>
            <a:solidFill>
              <a:srgbClr val="FFFD99"/>
            </a:solidFill>
          </p:spPr>
          <p:txBody>
            <a:bodyPr wrap="square" lIns="0" tIns="0" rIns="0" bIns="0" rtlCol="0"/>
            <a:lstStyle/>
            <a:p>
              <a:endParaRPr/>
            </a:p>
          </p:txBody>
        </p:sp>
        <p:sp>
          <p:nvSpPr>
            <p:cNvPr id="14" name="object 14"/>
            <p:cNvSpPr/>
            <p:nvPr/>
          </p:nvSpPr>
          <p:spPr>
            <a:xfrm>
              <a:off x="6243653" y="5611622"/>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5" name="object 15"/>
            <p:cNvSpPr/>
            <p:nvPr/>
          </p:nvSpPr>
          <p:spPr>
            <a:xfrm>
              <a:off x="8195569" y="5611623"/>
              <a:ext cx="650240" cy="650240"/>
            </a:xfrm>
            <a:custGeom>
              <a:avLst/>
              <a:gdLst/>
              <a:ahLst/>
              <a:cxnLst/>
              <a:rect l="l" t="t" r="r" b="b"/>
              <a:pathLst>
                <a:path w="650240" h="650239">
                  <a:moveTo>
                    <a:pt x="324958" y="0"/>
                  </a:moveTo>
                  <a:lnTo>
                    <a:pt x="276938" y="3523"/>
                  </a:lnTo>
                  <a:lnTo>
                    <a:pt x="231106" y="13758"/>
                  </a:lnTo>
                  <a:lnTo>
                    <a:pt x="187964" y="30202"/>
                  </a:lnTo>
                  <a:lnTo>
                    <a:pt x="148015" y="52352"/>
                  </a:lnTo>
                  <a:lnTo>
                    <a:pt x="111761" y="79706"/>
                  </a:lnTo>
                  <a:lnTo>
                    <a:pt x="79706" y="111761"/>
                  </a:lnTo>
                  <a:lnTo>
                    <a:pt x="52352" y="148014"/>
                  </a:lnTo>
                  <a:lnTo>
                    <a:pt x="30202" y="187963"/>
                  </a:lnTo>
                  <a:lnTo>
                    <a:pt x="13758" y="231105"/>
                  </a:lnTo>
                  <a:lnTo>
                    <a:pt x="3523" y="276937"/>
                  </a:lnTo>
                  <a:lnTo>
                    <a:pt x="0" y="324957"/>
                  </a:lnTo>
                  <a:lnTo>
                    <a:pt x="3523" y="372977"/>
                  </a:lnTo>
                  <a:lnTo>
                    <a:pt x="13758" y="418810"/>
                  </a:lnTo>
                  <a:lnTo>
                    <a:pt x="30202" y="461952"/>
                  </a:lnTo>
                  <a:lnTo>
                    <a:pt x="52352" y="501901"/>
                  </a:lnTo>
                  <a:lnTo>
                    <a:pt x="79706" y="538154"/>
                  </a:lnTo>
                  <a:lnTo>
                    <a:pt x="111761" y="570209"/>
                  </a:lnTo>
                  <a:lnTo>
                    <a:pt x="148015" y="597563"/>
                  </a:lnTo>
                  <a:lnTo>
                    <a:pt x="187964" y="619713"/>
                  </a:lnTo>
                  <a:lnTo>
                    <a:pt x="231106" y="636157"/>
                  </a:lnTo>
                  <a:lnTo>
                    <a:pt x="276938" y="646392"/>
                  </a:lnTo>
                  <a:lnTo>
                    <a:pt x="324958" y="649916"/>
                  </a:lnTo>
                  <a:lnTo>
                    <a:pt x="372978"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7"/>
                  </a:lnTo>
                  <a:lnTo>
                    <a:pt x="649916" y="324957"/>
                  </a:lnTo>
                  <a:lnTo>
                    <a:pt x="646392" y="276937"/>
                  </a:lnTo>
                  <a:lnTo>
                    <a:pt x="636157" y="231105"/>
                  </a:lnTo>
                  <a:lnTo>
                    <a:pt x="619713" y="187963"/>
                  </a:lnTo>
                  <a:lnTo>
                    <a:pt x="597563" y="148014"/>
                  </a:lnTo>
                  <a:lnTo>
                    <a:pt x="570209" y="111761"/>
                  </a:lnTo>
                  <a:lnTo>
                    <a:pt x="538154" y="79706"/>
                  </a:lnTo>
                  <a:lnTo>
                    <a:pt x="501901" y="52352"/>
                  </a:lnTo>
                  <a:lnTo>
                    <a:pt x="461952" y="30202"/>
                  </a:lnTo>
                  <a:lnTo>
                    <a:pt x="418810" y="13758"/>
                  </a:lnTo>
                  <a:lnTo>
                    <a:pt x="372978" y="3523"/>
                  </a:lnTo>
                  <a:lnTo>
                    <a:pt x="324958" y="0"/>
                  </a:lnTo>
                  <a:close/>
                </a:path>
              </a:pathLst>
            </a:custGeom>
            <a:solidFill>
              <a:srgbClr val="FFFD99"/>
            </a:solidFill>
          </p:spPr>
          <p:txBody>
            <a:bodyPr wrap="square" lIns="0" tIns="0" rIns="0" bIns="0" rtlCol="0"/>
            <a:lstStyle/>
            <a:p>
              <a:endParaRPr/>
            </a:p>
          </p:txBody>
        </p:sp>
        <p:sp>
          <p:nvSpPr>
            <p:cNvPr id="16" name="object 16"/>
            <p:cNvSpPr/>
            <p:nvPr/>
          </p:nvSpPr>
          <p:spPr>
            <a:xfrm>
              <a:off x="8195569" y="5611623"/>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7" name="object 17"/>
            <p:cNvSpPr/>
            <p:nvPr/>
          </p:nvSpPr>
          <p:spPr>
            <a:xfrm>
              <a:off x="4291738" y="7110357"/>
              <a:ext cx="650240" cy="650240"/>
            </a:xfrm>
            <a:custGeom>
              <a:avLst/>
              <a:gdLst/>
              <a:ahLst/>
              <a:cxnLst/>
              <a:rect l="l" t="t" r="r" b="b"/>
              <a:pathLst>
                <a:path w="650239" h="650240">
                  <a:moveTo>
                    <a:pt x="324958" y="0"/>
                  </a:moveTo>
                  <a:lnTo>
                    <a:pt x="276938" y="3523"/>
                  </a:lnTo>
                  <a:lnTo>
                    <a:pt x="231106" y="13758"/>
                  </a:lnTo>
                  <a:lnTo>
                    <a:pt x="187964" y="30202"/>
                  </a:lnTo>
                  <a:lnTo>
                    <a:pt x="148015" y="52352"/>
                  </a:lnTo>
                  <a:lnTo>
                    <a:pt x="111761" y="79706"/>
                  </a:lnTo>
                  <a:lnTo>
                    <a:pt x="79706" y="111761"/>
                  </a:lnTo>
                  <a:lnTo>
                    <a:pt x="52352" y="148015"/>
                  </a:lnTo>
                  <a:lnTo>
                    <a:pt x="30202" y="187964"/>
                  </a:lnTo>
                  <a:lnTo>
                    <a:pt x="13758" y="231106"/>
                  </a:lnTo>
                  <a:lnTo>
                    <a:pt x="3523" y="276938"/>
                  </a:lnTo>
                  <a:lnTo>
                    <a:pt x="0" y="324958"/>
                  </a:lnTo>
                  <a:lnTo>
                    <a:pt x="3523" y="372978"/>
                  </a:lnTo>
                  <a:lnTo>
                    <a:pt x="13758" y="418810"/>
                  </a:lnTo>
                  <a:lnTo>
                    <a:pt x="30202" y="461952"/>
                  </a:lnTo>
                  <a:lnTo>
                    <a:pt x="52352" y="501901"/>
                  </a:lnTo>
                  <a:lnTo>
                    <a:pt x="79706" y="538154"/>
                  </a:lnTo>
                  <a:lnTo>
                    <a:pt x="111761" y="570209"/>
                  </a:lnTo>
                  <a:lnTo>
                    <a:pt x="148015" y="597563"/>
                  </a:lnTo>
                  <a:lnTo>
                    <a:pt x="187964" y="619713"/>
                  </a:lnTo>
                  <a:lnTo>
                    <a:pt x="231106" y="636157"/>
                  </a:lnTo>
                  <a:lnTo>
                    <a:pt x="276938" y="646392"/>
                  </a:lnTo>
                  <a:lnTo>
                    <a:pt x="324958" y="649916"/>
                  </a:lnTo>
                  <a:lnTo>
                    <a:pt x="372978"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8"/>
                  </a:lnTo>
                  <a:lnTo>
                    <a:pt x="649916" y="324958"/>
                  </a:lnTo>
                  <a:lnTo>
                    <a:pt x="646392" y="276938"/>
                  </a:lnTo>
                  <a:lnTo>
                    <a:pt x="636157" y="231106"/>
                  </a:lnTo>
                  <a:lnTo>
                    <a:pt x="619713" y="187964"/>
                  </a:lnTo>
                  <a:lnTo>
                    <a:pt x="597563" y="148015"/>
                  </a:lnTo>
                  <a:lnTo>
                    <a:pt x="570209" y="111761"/>
                  </a:lnTo>
                  <a:lnTo>
                    <a:pt x="538154" y="79706"/>
                  </a:lnTo>
                  <a:lnTo>
                    <a:pt x="501901" y="52352"/>
                  </a:lnTo>
                  <a:lnTo>
                    <a:pt x="461952" y="30202"/>
                  </a:lnTo>
                  <a:lnTo>
                    <a:pt x="418810" y="13758"/>
                  </a:lnTo>
                  <a:lnTo>
                    <a:pt x="372978" y="3523"/>
                  </a:lnTo>
                  <a:lnTo>
                    <a:pt x="324958" y="0"/>
                  </a:lnTo>
                  <a:close/>
                </a:path>
              </a:pathLst>
            </a:custGeom>
            <a:solidFill>
              <a:srgbClr val="FFFD99"/>
            </a:solidFill>
          </p:spPr>
          <p:txBody>
            <a:bodyPr wrap="square" lIns="0" tIns="0" rIns="0" bIns="0" rtlCol="0"/>
            <a:lstStyle/>
            <a:p>
              <a:endParaRPr/>
            </a:p>
          </p:txBody>
        </p:sp>
        <p:sp>
          <p:nvSpPr>
            <p:cNvPr id="18" name="object 18"/>
            <p:cNvSpPr/>
            <p:nvPr/>
          </p:nvSpPr>
          <p:spPr>
            <a:xfrm>
              <a:off x="4291738" y="7110357"/>
              <a:ext cx="650240" cy="650240"/>
            </a:xfrm>
            <a:custGeom>
              <a:avLst/>
              <a:gdLst/>
              <a:ahLst/>
              <a:cxnLst/>
              <a:rect l="l" t="t" r="r" b="b"/>
              <a:pathLst>
                <a:path w="650239"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9" name="object 19"/>
            <p:cNvSpPr/>
            <p:nvPr/>
          </p:nvSpPr>
          <p:spPr>
            <a:xfrm>
              <a:off x="4291738" y="8609090"/>
              <a:ext cx="650240" cy="650240"/>
            </a:xfrm>
            <a:custGeom>
              <a:avLst/>
              <a:gdLst/>
              <a:ahLst/>
              <a:cxnLst/>
              <a:rect l="l" t="t" r="r" b="b"/>
              <a:pathLst>
                <a:path w="650239" h="650240">
                  <a:moveTo>
                    <a:pt x="324958" y="0"/>
                  </a:moveTo>
                  <a:lnTo>
                    <a:pt x="276938" y="3523"/>
                  </a:lnTo>
                  <a:lnTo>
                    <a:pt x="231106" y="13758"/>
                  </a:lnTo>
                  <a:lnTo>
                    <a:pt x="187964" y="30202"/>
                  </a:lnTo>
                  <a:lnTo>
                    <a:pt x="148015" y="52352"/>
                  </a:lnTo>
                  <a:lnTo>
                    <a:pt x="111761" y="79706"/>
                  </a:lnTo>
                  <a:lnTo>
                    <a:pt x="79706" y="111761"/>
                  </a:lnTo>
                  <a:lnTo>
                    <a:pt x="52352" y="148015"/>
                  </a:lnTo>
                  <a:lnTo>
                    <a:pt x="30202" y="187964"/>
                  </a:lnTo>
                  <a:lnTo>
                    <a:pt x="13758" y="231106"/>
                  </a:lnTo>
                  <a:lnTo>
                    <a:pt x="3523" y="276938"/>
                  </a:lnTo>
                  <a:lnTo>
                    <a:pt x="0" y="324958"/>
                  </a:lnTo>
                  <a:lnTo>
                    <a:pt x="3523" y="372978"/>
                  </a:lnTo>
                  <a:lnTo>
                    <a:pt x="13758" y="418810"/>
                  </a:lnTo>
                  <a:lnTo>
                    <a:pt x="30202" y="461952"/>
                  </a:lnTo>
                  <a:lnTo>
                    <a:pt x="52352" y="501901"/>
                  </a:lnTo>
                  <a:lnTo>
                    <a:pt x="79706" y="538154"/>
                  </a:lnTo>
                  <a:lnTo>
                    <a:pt x="111761" y="570209"/>
                  </a:lnTo>
                  <a:lnTo>
                    <a:pt x="148015" y="597563"/>
                  </a:lnTo>
                  <a:lnTo>
                    <a:pt x="187964" y="619713"/>
                  </a:lnTo>
                  <a:lnTo>
                    <a:pt x="231106" y="636157"/>
                  </a:lnTo>
                  <a:lnTo>
                    <a:pt x="276938" y="646392"/>
                  </a:lnTo>
                  <a:lnTo>
                    <a:pt x="324958" y="649916"/>
                  </a:lnTo>
                  <a:lnTo>
                    <a:pt x="372978"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8"/>
                  </a:lnTo>
                  <a:lnTo>
                    <a:pt x="649916" y="324958"/>
                  </a:lnTo>
                  <a:lnTo>
                    <a:pt x="646392" y="276938"/>
                  </a:lnTo>
                  <a:lnTo>
                    <a:pt x="636157" y="231106"/>
                  </a:lnTo>
                  <a:lnTo>
                    <a:pt x="619713" y="187964"/>
                  </a:lnTo>
                  <a:lnTo>
                    <a:pt x="597563" y="148015"/>
                  </a:lnTo>
                  <a:lnTo>
                    <a:pt x="570209" y="111761"/>
                  </a:lnTo>
                  <a:lnTo>
                    <a:pt x="538154" y="79706"/>
                  </a:lnTo>
                  <a:lnTo>
                    <a:pt x="501901" y="52352"/>
                  </a:lnTo>
                  <a:lnTo>
                    <a:pt x="461952" y="30202"/>
                  </a:lnTo>
                  <a:lnTo>
                    <a:pt x="418810" y="13758"/>
                  </a:lnTo>
                  <a:lnTo>
                    <a:pt x="372978" y="3523"/>
                  </a:lnTo>
                  <a:lnTo>
                    <a:pt x="324958" y="0"/>
                  </a:lnTo>
                  <a:close/>
                </a:path>
              </a:pathLst>
            </a:custGeom>
            <a:solidFill>
              <a:srgbClr val="FFFD99"/>
            </a:solidFill>
          </p:spPr>
          <p:txBody>
            <a:bodyPr wrap="square" lIns="0" tIns="0" rIns="0" bIns="0" rtlCol="0"/>
            <a:lstStyle/>
            <a:p>
              <a:endParaRPr/>
            </a:p>
          </p:txBody>
        </p:sp>
        <p:sp>
          <p:nvSpPr>
            <p:cNvPr id="20" name="object 20"/>
            <p:cNvSpPr/>
            <p:nvPr/>
          </p:nvSpPr>
          <p:spPr>
            <a:xfrm>
              <a:off x="4291738" y="8609090"/>
              <a:ext cx="650240" cy="650240"/>
            </a:xfrm>
            <a:custGeom>
              <a:avLst/>
              <a:gdLst/>
              <a:ahLst/>
              <a:cxnLst/>
              <a:rect l="l" t="t" r="r" b="b"/>
              <a:pathLst>
                <a:path w="650239"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21" name="object 21"/>
            <p:cNvSpPr/>
            <p:nvPr/>
          </p:nvSpPr>
          <p:spPr>
            <a:xfrm>
              <a:off x="4291738" y="5611621"/>
              <a:ext cx="650240" cy="650240"/>
            </a:xfrm>
            <a:custGeom>
              <a:avLst/>
              <a:gdLst/>
              <a:ahLst/>
              <a:cxnLst/>
              <a:rect l="l" t="t" r="r" b="b"/>
              <a:pathLst>
                <a:path w="650239" h="650239">
                  <a:moveTo>
                    <a:pt x="324957" y="0"/>
                  </a:moveTo>
                  <a:lnTo>
                    <a:pt x="276937" y="3523"/>
                  </a:lnTo>
                  <a:lnTo>
                    <a:pt x="231105" y="13758"/>
                  </a:lnTo>
                  <a:lnTo>
                    <a:pt x="187963" y="30202"/>
                  </a:lnTo>
                  <a:lnTo>
                    <a:pt x="148014" y="52352"/>
                  </a:lnTo>
                  <a:lnTo>
                    <a:pt x="111761" y="79706"/>
                  </a:lnTo>
                  <a:lnTo>
                    <a:pt x="79706" y="111761"/>
                  </a:lnTo>
                  <a:lnTo>
                    <a:pt x="52352" y="148014"/>
                  </a:lnTo>
                  <a:lnTo>
                    <a:pt x="30202" y="187963"/>
                  </a:lnTo>
                  <a:lnTo>
                    <a:pt x="13758" y="231105"/>
                  </a:lnTo>
                  <a:lnTo>
                    <a:pt x="3523" y="276937"/>
                  </a:lnTo>
                  <a:lnTo>
                    <a:pt x="0" y="324957"/>
                  </a:lnTo>
                  <a:lnTo>
                    <a:pt x="3523" y="372977"/>
                  </a:lnTo>
                  <a:lnTo>
                    <a:pt x="13758" y="418810"/>
                  </a:lnTo>
                  <a:lnTo>
                    <a:pt x="30202" y="461952"/>
                  </a:lnTo>
                  <a:lnTo>
                    <a:pt x="52352" y="501901"/>
                  </a:lnTo>
                  <a:lnTo>
                    <a:pt x="79706" y="538154"/>
                  </a:lnTo>
                  <a:lnTo>
                    <a:pt x="111761" y="570209"/>
                  </a:lnTo>
                  <a:lnTo>
                    <a:pt x="148014" y="597563"/>
                  </a:lnTo>
                  <a:lnTo>
                    <a:pt x="187963" y="619713"/>
                  </a:lnTo>
                  <a:lnTo>
                    <a:pt x="231105" y="636157"/>
                  </a:lnTo>
                  <a:lnTo>
                    <a:pt x="276937" y="646392"/>
                  </a:lnTo>
                  <a:lnTo>
                    <a:pt x="324957" y="649916"/>
                  </a:lnTo>
                  <a:lnTo>
                    <a:pt x="372977" y="646392"/>
                  </a:lnTo>
                  <a:lnTo>
                    <a:pt x="418810" y="636157"/>
                  </a:lnTo>
                  <a:lnTo>
                    <a:pt x="461952" y="619713"/>
                  </a:lnTo>
                  <a:lnTo>
                    <a:pt x="501901" y="597563"/>
                  </a:lnTo>
                  <a:lnTo>
                    <a:pt x="538154" y="570209"/>
                  </a:lnTo>
                  <a:lnTo>
                    <a:pt x="570209" y="538154"/>
                  </a:lnTo>
                  <a:lnTo>
                    <a:pt x="597563" y="501901"/>
                  </a:lnTo>
                  <a:lnTo>
                    <a:pt x="619713" y="461952"/>
                  </a:lnTo>
                  <a:lnTo>
                    <a:pt x="636157" y="418810"/>
                  </a:lnTo>
                  <a:lnTo>
                    <a:pt x="646392" y="372977"/>
                  </a:lnTo>
                  <a:lnTo>
                    <a:pt x="649916" y="324957"/>
                  </a:lnTo>
                  <a:lnTo>
                    <a:pt x="646392" y="276937"/>
                  </a:lnTo>
                  <a:lnTo>
                    <a:pt x="636157" y="231105"/>
                  </a:lnTo>
                  <a:lnTo>
                    <a:pt x="619713" y="187963"/>
                  </a:lnTo>
                  <a:lnTo>
                    <a:pt x="597563" y="148014"/>
                  </a:lnTo>
                  <a:lnTo>
                    <a:pt x="570209" y="111761"/>
                  </a:lnTo>
                  <a:lnTo>
                    <a:pt x="538154" y="79706"/>
                  </a:lnTo>
                  <a:lnTo>
                    <a:pt x="501901" y="52352"/>
                  </a:lnTo>
                  <a:lnTo>
                    <a:pt x="461952" y="30202"/>
                  </a:lnTo>
                  <a:lnTo>
                    <a:pt x="418810" y="13758"/>
                  </a:lnTo>
                  <a:lnTo>
                    <a:pt x="372977" y="3523"/>
                  </a:lnTo>
                  <a:lnTo>
                    <a:pt x="324957" y="0"/>
                  </a:lnTo>
                  <a:close/>
                </a:path>
              </a:pathLst>
            </a:custGeom>
            <a:solidFill>
              <a:srgbClr val="FFFD99"/>
            </a:solidFill>
          </p:spPr>
          <p:txBody>
            <a:bodyPr wrap="square" lIns="0" tIns="0" rIns="0" bIns="0" rtlCol="0"/>
            <a:lstStyle/>
            <a:p>
              <a:endParaRPr/>
            </a:p>
          </p:txBody>
        </p:sp>
        <p:sp>
          <p:nvSpPr>
            <p:cNvPr id="22" name="object 22"/>
            <p:cNvSpPr/>
            <p:nvPr/>
          </p:nvSpPr>
          <p:spPr>
            <a:xfrm>
              <a:off x="4291738" y="5611621"/>
              <a:ext cx="650240" cy="650240"/>
            </a:xfrm>
            <a:custGeom>
              <a:avLst/>
              <a:gdLst/>
              <a:ahLst/>
              <a:cxnLst/>
              <a:rect l="l" t="t" r="r" b="b"/>
              <a:pathLst>
                <a:path w="650239"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23" name="object 23"/>
            <p:cNvSpPr/>
            <p:nvPr/>
          </p:nvSpPr>
          <p:spPr>
            <a:xfrm>
              <a:off x="4941654" y="7435315"/>
              <a:ext cx="1302385" cy="0"/>
            </a:xfrm>
            <a:custGeom>
              <a:avLst/>
              <a:gdLst/>
              <a:ahLst/>
              <a:cxnLst/>
              <a:rect l="l" t="t" r="r" b="b"/>
              <a:pathLst>
                <a:path w="1302385">
                  <a:moveTo>
                    <a:pt x="0" y="0"/>
                  </a:moveTo>
                  <a:lnTo>
                    <a:pt x="1302000" y="0"/>
                  </a:lnTo>
                </a:path>
              </a:pathLst>
            </a:custGeom>
            <a:ln w="47118">
              <a:solidFill>
                <a:srgbClr val="FD776E"/>
              </a:solidFill>
            </a:ln>
          </p:spPr>
          <p:txBody>
            <a:bodyPr wrap="square" lIns="0" tIns="0" rIns="0" bIns="0" rtlCol="0"/>
            <a:lstStyle/>
            <a:p>
              <a:endParaRPr/>
            </a:p>
          </p:txBody>
        </p:sp>
        <p:sp>
          <p:nvSpPr>
            <p:cNvPr id="24" name="object 24"/>
            <p:cNvSpPr/>
            <p:nvPr/>
          </p:nvSpPr>
          <p:spPr>
            <a:xfrm>
              <a:off x="4941654" y="8934049"/>
              <a:ext cx="1302385" cy="0"/>
            </a:xfrm>
            <a:custGeom>
              <a:avLst/>
              <a:gdLst/>
              <a:ahLst/>
              <a:cxnLst/>
              <a:rect l="l" t="t" r="r" b="b"/>
              <a:pathLst>
                <a:path w="1302385">
                  <a:moveTo>
                    <a:pt x="0" y="0"/>
                  </a:moveTo>
                  <a:lnTo>
                    <a:pt x="1302000" y="0"/>
                  </a:lnTo>
                </a:path>
              </a:pathLst>
            </a:custGeom>
            <a:ln w="47118">
              <a:solidFill>
                <a:srgbClr val="FD776E"/>
              </a:solidFill>
            </a:ln>
          </p:spPr>
          <p:txBody>
            <a:bodyPr wrap="square" lIns="0" tIns="0" rIns="0" bIns="0" rtlCol="0"/>
            <a:lstStyle/>
            <a:p>
              <a:endParaRPr/>
            </a:p>
          </p:txBody>
        </p:sp>
        <p:sp>
          <p:nvSpPr>
            <p:cNvPr id="25" name="object 25"/>
            <p:cNvSpPr/>
            <p:nvPr/>
          </p:nvSpPr>
          <p:spPr>
            <a:xfrm>
              <a:off x="6893571" y="8930553"/>
              <a:ext cx="1302385" cy="3810"/>
            </a:xfrm>
            <a:custGeom>
              <a:avLst/>
              <a:gdLst/>
              <a:ahLst/>
              <a:cxnLst/>
              <a:rect l="l" t="t" r="r" b="b"/>
              <a:pathLst>
                <a:path w="1302384" h="3809">
                  <a:moveTo>
                    <a:pt x="0" y="3496"/>
                  </a:moveTo>
                  <a:lnTo>
                    <a:pt x="1302000" y="0"/>
                  </a:lnTo>
                </a:path>
              </a:pathLst>
            </a:custGeom>
            <a:ln w="47118">
              <a:solidFill>
                <a:srgbClr val="FD776E"/>
              </a:solidFill>
            </a:ln>
          </p:spPr>
          <p:txBody>
            <a:bodyPr wrap="square" lIns="0" tIns="0" rIns="0" bIns="0" rtlCol="0"/>
            <a:lstStyle/>
            <a:p>
              <a:endParaRPr/>
            </a:p>
          </p:txBody>
        </p:sp>
        <p:sp>
          <p:nvSpPr>
            <p:cNvPr id="26" name="object 26"/>
            <p:cNvSpPr/>
            <p:nvPr/>
          </p:nvSpPr>
          <p:spPr>
            <a:xfrm>
              <a:off x="6893571" y="7435314"/>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7" name="object 27"/>
            <p:cNvSpPr/>
            <p:nvPr/>
          </p:nvSpPr>
          <p:spPr>
            <a:xfrm>
              <a:off x="6893570" y="5936581"/>
              <a:ext cx="1302385" cy="0"/>
            </a:xfrm>
            <a:custGeom>
              <a:avLst/>
              <a:gdLst/>
              <a:ahLst/>
              <a:cxnLst/>
              <a:rect l="l" t="t" r="r" b="b"/>
              <a:pathLst>
                <a:path w="1302384">
                  <a:moveTo>
                    <a:pt x="0" y="0"/>
                  </a:moveTo>
                  <a:lnTo>
                    <a:pt x="1301999" y="0"/>
                  </a:lnTo>
                </a:path>
              </a:pathLst>
            </a:custGeom>
            <a:ln w="47118">
              <a:solidFill>
                <a:srgbClr val="FD776E"/>
              </a:solidFill>
            </a:ln>
          </p:spPr>
          <p:txBody>
            <a:bodyPr wrap="square" lIns="0" tIns="0" rIns="0" bIns="0" rtlCol="0"/>
            <a:lstStyle/>
            <a:p>
              <a:endParaRPr/>
            </a:p>
          </p:txBody>
        </p:sp>
        <p:sp>
          <p:nvSpPr>
            <p:cNvPr id="28" name="object 28"/>
            <p:cNvSpPr/>
            <p:nvPr/>
          </p:nvSpPr>
          <p:spPr>
            <a:xfrm>
              <a:off x="4941654" y="5944862"/>
              <a:ext cx="1302385" cy="0"/>
            </a:xfrm>
            <a:custGeom>
              <a:avLst/>
              <a:gdLst/>
              <a:ahLst/>
              <a:cxnLst/>
              <a:rect l="l" t="t" r="r" b="b"/>
              <a:pathLst>
                <a:path w="1302385">
                  <a:moveTo>
                    <a:pt x="0" y="0"/>
                  </a:moveTo>
                  <a:lnTo>
                    <a:pt x="1301998" y="0"/>
                  </a:lnTo>
                </a:path>
              </a:pathLst>
            </a:custGeom>
            <a:ln w="47118">
              <a:solidFill>
                <a:srgbClr val="FD776E"/>
              </a:solidFill>
            </a:ln>
          </p:spPr>
          <p:txBody>
            <a:bodyPr wrap="square" lIns="0" tIns="0" rIns="0" bIns="0" rtlCol="0"/>
            <a:lstStyle/>
            <a:p>
              <a:endParaRPr/>
            </a:p>
          </p:txBody>
        </p:sp>
        <p:sp>
          <p:nvSpPr>
            <p:cNvPr id="29" name="object 29"/>
            <p:cNvSpPr/>
            <p:nvPr/>
          </p:nvSpPr>
          <p:spPr>
            <a:xfrm>
              <a:off x="4616697" y="7760273"/>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0" name="object 30"/>
            <p:cNvSpPr/>
            <p:nvPr/>
          </p:nvSpPr>
          <p:spPr>
            <a:xfrm>
              <a:off x="6568613" y="7760273"/>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1" name="object 31"/>
            <p:cNvSpPr/>
            <p:nvPr/>
          </p:nvSpPr>
          <p:spPr>
            <a:xfrm>
              <a:off x="8520529" y="7760273"/>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2" name="object 32"/>
            <p:cNvSpPr/>
            <p:nvPr/>
          </p:nvSpPr>
          <p:spPr>
            <a:xfrm>
              <a:off x="4623196" y="6261538"/>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3" name="object 33"/>
            <p:cNvSpPr/>
            <p:nvPr/>
          </p:nvSpPr>
          <p:spPr>
            <a:xfrm>
              <a:off x="6568614" y="6261538"/>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4" name="object 34"/>
            <p:cNvSpPr/>
            <p:nvPr/>
          </p:nvSpPr>
          <p:spPr>
            <a:xfrm>
              <a:off x="8520527" y="6261537"/>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5" name="object 35"/>
            <p:cNvSpPr/>
            <p:nvPr/>
          </p:nvSpPr>
          <p:spPr>
            <a:xfrm>
              <a:off x="13806155" y="7110358"/>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FFFD99"/>
            </a:solidFill>
          </p:spPr>
          <p:txBody>
            <a:bodyPr wrap="square" lIns="0" tIns="0" rIns="0" bIns="0" rtlCol="0"/>
            <a:lstStyle/>
            <a:p>
              <a:endParaRPr/>
            </a:p>
          </p:txBody>
        </p:sp>
        <p:sp>
          <p:nvSpPr>
            <p:cNvPr id="36" name="object 36"/>
            <p:cNvSpPr/>
            <p:nvPr/>
          </p:nvSpPr>
          <p:spPr>
            <a:xfrm>
              <a:off x="13806155" y="7110358"/>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37" name="object 37"/>
            <p:cNvSpPr/>
            <p:nvPr/>
          </p:nvSpPr>
          <p:spPr>
            <a:xfrm>
              <a:off x="15758075" y="8605595"/>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1" y="646392"/>
                  </a:lnTo>
                  <a:lnTo>
                    <a:pt x="418812" y="636157"/>
                  </a:lnTo>
                  <a:lnTo>
                    <a:pt x="461953" y="619713"/>
                  </a:lnTo>
                  <a:lnTo>
                    <a:pt x="501901" y="597563"/>
                  </a:lnTo>
                  <a:lnTo>
                    <a:pt x="538154" y="570209"/>
                  </a:lnTo>
                  <a:lnTo>
                    <a:pt x="570209"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9" y="111761"/>
                  </a:lnTo>
                  <a:lnTo>
                    <a:pt x="538154" y="79706"/>
                  </a:lnTo>
                  <a:lnTo>
                    <a:pt x="501901" y="52352"/>
                  </a:lnTo>
                  <a:lnTo>
                    <a:pt x="461953" y="30202"/>
                  </a:lnTo>
                  <a:lnTo>
                    <a:pt x="418812" y="13758"/>
                  </a:lnTo>
                  <a:lnTo>
                    <a:pt x="372981" y="3523"/>
                  </a:lnTo>
                  <a:lnTo>
                    <a:pt x="324963" y="0"/>
                  </a:lnTo>
                  <a:close/>
                </a:path>
              </a:pathLst>
            </a:custGeom>
            <a:solidFill>
              <a:srgbClr val="FFFD99"/>
            </a:solidFill>
          </p:spPr>
          <p:txBody>
            <a:bodyPr wrap="square" lIns="0" tIns="0" rIns="0" bIns="0" rtlCol="0"/>
            <a:lstStyle/>
            <a:p>
              <a:endParaRPr/>
            </a:p>
          </p:txBody>
        </p:sp>
        <p:sp>
          <p:nvSpPr>
            <p:cNvPr id="38" name="object 38"/>
            <p:cNvSpPr/>
            <p:nvPr/>
          </p:nvSpPr>
          <p:spPr>
            <a:xfrm>
              <a:off x="15758075" y="8605595"/>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39" name="object 39"/>
            <p:cNvSpPr/>
            <p:nvPr/>
          </p:nvSpPr>
          <p:spPr>
            <a:xfrm>
              <a:off x="15758075" y="5611623"/>
              <a:ext cx="650240" cy="650240"/>
            </a:xfrm>
            <a:custGeom>
              <a:avLst/>
              <a:gdLst/>
              <a:ahLst/>
              <a:cxnLst/>
              <a:rect l="l" t="t" r="r" b="b"/>
              <a:pathLst>
                <a:path w="650240" h="650239">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FFFD99"/>
            </a:solidFill>
          </p:spPr>
          <p:txBody>
            <a:bodyPr wrap="square" lIns="0" tIns="0" rIns="0" bIns="0" rtlCol="0"/>
            <a:lstStyle/>
            <a:p>
              <a:endParaRPr/>
            </a:p>
          </p:txBody>
        </p:sp>
        <p:sp>
          <p:nvSpPr>
            <p:cNvPr id="40" name="object 40"/>
            <p:cNvSpPr/>
            <p:nvPr/>
          </p:nvSpPr>
          <p:spPr>
            <a:xfrm>
              <a:off x="15758075" y="5611623"/>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41" name="object 41"/>
            <p:cNvSpPr/>
            <p:nvPr/>
          </p:nvSpPr>
          <p:spPr>
            <a:xfrm>
              <a:off x="11854246" y="860909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FFFD99"/>
            </a:solidFill>
          </p:spPr>
          <p:txBody>
            <a:bodyPr wrap="square" lIns="0" tIns="0" rIns="0" bIns="0" rtlCol="0"/>
            <a:lstStyle/>
            <a:p>
              <a:endParaRPr/>
            </a:p>
          </p:txBody>
        </p:sp>
        <p:sp>
          <p:nvSpPr>
            <p:cNvPr id="42" name="object 42"/>
            <p:cNvSpPr/>
            <p:nvPr/>
          </p:nvSpPr>
          <p:spPr>
            <a:xfrm>
              <a:off x="11854246" y="860909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grpSp>
      <p:sp>
        <p:nvSpPr>
          <p:cNvPr id="43" name="object 43"/>
          <p:cNvSpPr txBox="1"/>
          <p:nvPr/>
        </p:nvSpPr>
        <p:spPr>
          <a:xfrm>
            <a:off x="4547723" y="9067220"/>
            <a:ext cx="153670" cy="352425"/>
          </a:xfrm>
          <a:prstGeom prst="rect">
            <a:avLst/>
          </a:prstGeom>
        </p:spPr>
        <p:txBody>
          <a:bodyPr vert="horz" wrap="square" lIns="0" tIns="11430" rIns="0" bIns="0" rtlCol="0">
            <a:spAutoFit/>
          </a:bodyPr>
          <a:lstStyle/>
          <a:p>
            <a:pPr marL="12700">
              <a:lnSpc>
                <a:spcPct val="100000"/>
              </a:lnSpc>
              <a:spcBef>
                <a:spcPts val="90"/>
              </a:spcBef>
            </a:pPr>
            <a:r>
              <a:rPr sz="2150" spc="-65" dirty="0">
                <a:latin typeface="Tahoma"/>
                <a:cs typeface="Tahoma"/>
              </a:rPr>
              <a:t>a</a:t>
            </a:r>
            <a:endParaRPr sz="2150">
              <a:latin typeface="Tahoma"/>
              <a:cs typeface="Tahoma"/>
            </a:endParaRPr>
          </a:p>
        </p:txBody>
      </p:sp>
      <p:sp>
        <p:nvSpPr>
          <p:cNvPr id="60" name="object 60"/>
          <p:cNvSpPr txBox="1"/>
          <p:nvPr/>
        </p:nvSpPr>
        <p:spPr>
          <a:xfrm>
            <a:off x="19341140" y="10689633"/>
            <a:ext cx="322580"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55" dirty="0">
                <a:latin typeface="Tahoma"/>
                <a:cs typeface="Tahoma"/>
              </a:rPr>
              <a:t>55</a:t>
            </a:fld>
            <a:endParaRPr sz="2300">
              <a:latin typeface="Tahoma"/>
              <a:cs typeface="Tahoma"/>
            </a:endParaRPr>
          </a:p>
        </p:txBody>
      </p:sp>
      <p:sp>
        <p:nvSpPr>
          <p:cNvPr id="44" name="object 44"/>
          <p:cNvSpPr txBox="1"/>
          <p:nvPr/>
        </p:nvSpPr>
        <p:spPr>
          <a:xfrm>
            <a:off x="3869152" y="4109779"/>
            <a:ext cx="5183505" cy="602729"/>
          </a:xfrm>
          <a:prstGeom prst="rect">
            <a:avLst/>
          </a:prstGeom>
          <a:solidFill>
            <a:srgbClr val="88EF89"/>
          </a:solidFill>
        </p:spPr>
        <p:txBody>
          <a:bodyPr vert="horz" wrap="square" lIns="0" tIns="48260" rIns="0" bIns="0" rtlCol="0">
            <a:spAutoFit/>
          </a:bodyPr>
          <a:lstStyle/>
          <a:p>
            <a:pPr marL="4445" algn="ctr">
              <a:lnSpc>
                <a:spcPct val="100000"/>
              </a:lnSpc>
              <a:spcBef>
                <a:spcPts val="380"/>
              </a:spcBef>
            </a:pPr>
            <a:r>
              <a:rPr sz="3600" dirty="0">
                <a:solidFill>
                  <a:srgbClr val="404040"/>
                </a:solidFill>
                <a:latin typeface="Tahoma"/>
                <a:cs typeface="Tahoma"/>
              </a:rPr>
              <a:t>Búsqueda de grilla</a:t>
            </a:r>
            <a:endParaRPr sz="3600">
              <a:latin typeface="Tahoma"/>
              <a:cs typeface="Tahoma"/>
            </a:endParaRPr>
          </a:p>
        </p:txBody>
      </p:sp>
      <p:sp>
        <p:nvSpPr>
          <p:cNvPr id="45" name="object 45"/>
          <p:cNvSpPr txBox="1"/>
          <p:nvPr/>
        </p:nvSpPr>
        <p:spPr>
          <a:xfrm>
            <a:off x="3293042" y="5425864"/>
            <a:ext cx="400110" cy="2967084"/>
          </a:xfrm>
          <a:prstGeom prst="rect">
            <a:avLst/>
          </a:prstGeom>
        </p:spPr>
        <p:txBody>
          <a:bodyPr vert="vert270" wrap="square" lIns="0" tIns="45085" rIns="0" bIns="0" rtlCol="0">
            <a:spAutoFit/>
          </a:bodyPr>
          <a:lstStyle/>
          <a:p>
            <a:pPr marL="12700">
              <a:lnSpc>
                <a:spcPct val="100000"/>
              </a:lnSpc>
              <a:spcBef>
                <a:spcPts val="355"/>
              </a:spcBef>
            </a:pPr>
            <a:r>
              <a:rPr sz="2600" dirty="0">
                <a:latin typeface="Tahoma"/>
                <a:cs typeface="Tahoma"/>
              </a:rPr>
              <a:t>Hiper-parámetro B</a:t>
            </a:r>
          </a:p>
        </p:txBody>
      </p:sp>
      <p:sp>
        <p:nvSpPr>
          <p:cNvPr id="46" name="object 46"/>
          <p:cNvSpPr txBox="1"/>
          <p:nvPr/>
        </p:nvSpPr>
        <p:spPr>
          <a:xfrm>
            <a:off x="5008682" y="9115988"/>
            <a:ext cx="3187135" cy="729687"/>
          </a:xfrm>
          <a:prstGeom prst="rect">
            <a:avLst/>
          </a:prstGeom>
        </p:spPr>
        <p:txBody>
          <a:bodyPr vert="horz" wrap="square" lIns="0" tIns="11430" rIns="0" bIns="0" rtlCol="0">
            <a:spAutoFit/>
          </a:bodyPr>
          <a:lstStyle/>
          <a:p>
            <a:pPr algn="ctr">
              <a:lnSpc>
                <a:spcPts val="2540"/>
              </a:lnSpc>
              <a:spcBef>
                <a:spcPts val="90"/>
              </a:spcBef>
            </a:pPr>
            <a:r>
              <a:rPr sz="2150" dirty="0">
                <a:latin typeface="Tahoma"/>
                <a:cs typeface="Tahoma"/>
              </a:rPr>
              <a:t>b</a:t>
            </a:r>
          </a:p>
          <a:p>
            <a:pPr algn="ctr">
              <a:lnSpc>
                <a:spcPts val="3080"/>
              </a:lnSpc>
            </a:pPr>
            <a:r>
              <a:rPr sz="2600" dirty="0">
                <a:latin typeface="Tahoma"/>
                <a:cs typeface="Tahoma"/>
              </a:rPr>
              <a:t>Hiper-parámetro A</a:t>
            </a:r>
          </a:p>
        </p:txBody>
      </p:sp>
      <p:sp>
        <p:nvSpPr>
          <p:cNvPr id="47" name="object 47"/>
          <p:cNvSpPr txBox="1"/>
          <p:nvPr/>
        </p:nvSpPr>
        <p:spPr>
          <a:xfrm>
            <a:off x="8438574" y="9059680"/>
            <a:ext cx="157480" cy="352425"/>
          </a:xfrm>
          <a:prstGeom prst="rect">
            <a:avLst/>
          </a:prstGeom>
        </p:spPr>
        <p:txBody>
          <a:bodyPr vert="horz" wrap="square" lIns="0" tIns="11430" rIns="0" bIns="0" rtlCol="0">
            <a:spAutoFit/>
          </a:bodyPr>
          <a:lstStyle/>
          <a:p>
            <a:pPr marL="12700">
              <a:lnSpc>
                <a:spcPct val="100000"/>
              </a:lnSpc>
              <a:spcBef>
                <a:spcPts val="90"/>
              </a:spcBef>
            </a:pPr>
            <a:r>
              <a:rPr sz="2150" spc="-50" dirty="0">
                <a:latin typeface="Tahoma"/>
                <a:cs typeface="Tahoma"/>
              </a:rPr>
              <a:t>c</a:t>
            </a:r>
            <a:endParaRPr sz="2150">
              <a:latin typeface="Tahoma"/>
              <a:cs typeface="Tahoma"/>
            </a:endParaRPr>
          </a:p>
        </p:txBody>
      </p:sp>
      <p:sp>
        <p:nvSpPr>
          <p:cNvPr id="48" name="object 48"/>
          <p:cNvSpPr txBox="1"/>
          <p:nvPr/>
        </p:nvSpPr>
        <p:spPr>
          <a:xfrm>
            <a:off x="3947025" y="5425864"/>
            <a:ext cx="153670" cy="352425"/>
          </a:xfrm>
          <a:prstGeom prst="rect">
            <a:avLst/>
          </a:prstGeom>
        </p:spPr>
        <p:txBody>
          <a:bodyPr vert="horz" wrap="square" lIns="0" tIns="11430" rIns="0" bIns="0" rtlCol="0">
            <a:spAutoFit/>
          </a:bodyPr>
          <a:lstStyle/>
          <a:p>
            <a:pPr marL="12700">
              <a:lnSpc>
                <a:spcPct val="100000"/>
              </a:lnSpc>
              <a:spcBef>
                <a:spcPts val="90"/>
              </a:spcBef>
            </a:pPr>
            <a:r>
              <a:rPr sz="2150" spc="-65" dirty="0">
                <a:latin typeface="Tahoma"/>
                <a:cs typeface="Tahoma"/>
              </a:rPr>
              <a:t>a</a:t>
            </a:r>
            <a:endParaRPr sz="2150">
              <a:latin typeface="Tahoma"/>
              <a:cs typeface="Tahoma"/>
            </a:endParaRPr>
          </a:p>
        </p:txBody>
      </p:sp>
      <p:sp>
        <p:nvSpPr>
          <p:cNvPr id="49" name="object 49"/>
          <p:cNvSpPr txBox="1"/>
          <p:nvPr/>
        </p:nvSpPr>
        <p:spPr>
          <a:xfrm>
            <a:off x="3938518" y="6976393"/>
            <a:ext cx="170815" cy="352425"/>
          </a:xfrm>
          <a:prstGeom prst="rect">
            <a:avLst/>
          </a:prstGeom>
        </p:spPr>
        <p:txBody>
          <a:bodyPr vert="horz" wrap="square" lIns="0" tIns="11430" rIns="0" bIns="0" rtlCol="0">
            <a:spAutoFit/>
          </a:bodyPr>
          <a:lstStyle/>
          <a:p>
            <a:pPr marL="12700">
              <a:lnSpc>
                <a:spcPct val="100000"/>
              </a:lnSpc>
              <a:spcBef>
                <a:spcPts val="90"/>
              </a:spcBef>
            </a:pPr>
            <a:r>
              <a:rPr sz="2150" spc="-50" dirty="0">
                <a:latin typeface="Tahoma"/>
                <a:cs typeface="Tahoma"/>
              </a:rPr>
              <a:t>b</a:t>
            </a:r>
            <a:endParaRPr sz="2150">
              <a:latin typeface="Tahoma"/>
              <a:cs typeface="Tahoma"/>
            </a:endParaRPr>
          </a:p>
        </p:txBody>
      </p:sp>
      <p:sp>
        <p:nvSpPr>
          <p:cNvPr id="50" name="object 50"/>
          <p:cNvSpPr txBox="1"/>
          <p:nvPr/>
        </p:nvSpPr>
        <p:spPr>
          <a:xfrm>
            <a:off x="3943079" y="8466610"/>
            <a:ext cx="157480" cy="352425"/>
          </a:xfrm>
          <a:prstGeom prst="rect">
            <a:avLst/>
          </a:prstGeom>
        </p:spPr>
        <p:txBody>
          <a:bodyPr vert="horz" wrap="square" lIns="0" tIns="11430" rIns="0" bIns="0" rtlCol="0">
            <a:spAutoFit/>
          </a:bodyPr>
          <a:lstStyle/>
          <a:p>
            <a:pPr marL="12700">
              <a:lnSpc>
                <a:spcPct val="100000"/>
              </a:lnSpc>
              <a:spcBef>
                <a:spcPts val="90"/>
              </a:spcBef>
            </a:pPr>
            <a:r>
              <a:rPr sz="2150" spc="-50" dirty="0">
                <a:latin typeface="Tahoma"/>
                <a:cs typeface="Tahoma"/>
              </a:rPr>
              <a:t>c</a:t>
            </a:r>
            <a:endParaRPr sz="2150">
              <a:latin typeface="Tahoma"/>
              <a:cs typeface="Tahoma"/>
            </a:endParaRPr>
          </a:p>
        </p:txBody>
      </p:sp>
      <p:sp>
        <p:nvSpPr>
          <p:cNvPr id="51" name="object 51"/>
          <p:cNvSpPr txBox="1"/>
          <p:nvPr/>
        </p:nvSpPr>
        <p:spPr>
          <a:xfrm>
            <a:off x="12110229" y="9067220"/>
            <a:ext cx="153670" cy="352425"/>
          </a:xfrm>
          <a:prstGeom prst="rect">
            <a:avLst/>
          </a:prstGeom>
        </p:spPr>
        <p:txBody>
          <a:bodyPr vert="horz" wrap="square" lIns="0" tIns="11430" rIns="0" bIns="0" rtlCol="0">
            <a:spAutoFit/>
          </a:bodyPr>
          <a:lstStyle/>
          <a:p>
            <a:pPr marL="12700">
              <a:lnSpc>
                <a:spcPct val="100000"/>
              </a:lnSpc>
              <a:spcBef>
                <a:spcPts val="90"/>
              </a:spcBef>
            </a:pPr>
            <a:r>
              <a:rPr sz="2150" spc="-65" dirty="0">
                <a:latin typeface="Tahoma"/>
                <a:cs typeface="Tahoma"/>
              </a:rPr>
              <a:t>a</a:t>
            </a:r>
            <a:endParaRPr sz="2150">
              <a:latin typeface="Tahoma"/>
              <a:cs typeface="Tahoma"/>
            </a:endParaRPr>
          </a:p>
        </p:txBody>
      </p:sp>
      <p:sp>
        <p:nvSpPr>
          <p:cNvPr id="52" name="object 52"/>
          <p:cNvSpPr txBox="1"/>
          <p:nvPr/>
        </p:nvSpPr>
        <p:spPr>
          <a:xfrm>
            <a:off x="11431651" y="4109779"/>
            <a:ext cx="5183505" cy="602729"/>
          </a:xfrm>
          <a:prstGeom prst="rect">
            <a:avLst/>
          </a:prstGeom>
          <a:solidFill>
            <a:srgbClr val="FFB3F2"/>
          </a:solidFill>
        </p:spPr>
        <p:txBody>
          <a:bodyPr vert="horz" wrap="square" lIns="0" tIns="48260" rIns="0" bIns="0" rtlCol="0">
            <a:spAutoFit/>
          </a:bodyPr>
          <a:lstStyle/>
          <a:p>
            <a:pPr marL="5080" algn="ctr">
              <a:lnSpc>
                <a:spcPct val="100000"/>
              </a:lnSpc>
              <a:spcBef>
                <a:spcPts val="380"/>
              </a:spcBef>
            </a:pPr>
            <a:r>
              <a:rPr sz="3600" dirty="0">
                <a:solidFill>
                  <a:srgbClr val="404040"/>
                </a:solidFill>
                <a:latin typeface="Tahoma"/>
                <a:cs typeface="Tahoma"/>
              </a:rPr>
              <a:t>Búsqueda aleatoria</a:t>
            </a:r>
            <a:endParaRPr sz="3600">
              <a:latin typeface="Tahoma"/>
              <a:cs typeface="Tahoma"/>
            </a:endParaRPr>
          </a:p>
        </p:txBody>
      </p:sp>
      <p:sp>
        <p:nvSpPr>
          <p:cNvPr id="53" name="object 53"/>
          <p:cNvSpPr txBox="1"/>
          <p:nvPr/>
        </p:nvSpPr>
        <p:spPr>
          <a:xfrm>
            <a:off x="10855545" y="4995974"/>
            <a:ext cx="400110" cy="3396974"/>
          </a:xfrm>
          <a:prstGeom prst="rect">
            <a:avLst/>
          </a:prstGeom>
        </p:spPr>
        <p:txBody>
          <a:bodyPr vert="vert270" wrap="square" lIns="0" tIns="45085" rIns="0" bIns="0" rtlCol="0">
            <a:spAutoFit/>
          </a:bodyPr>
          <a:lstStyle/>
          <a:p>
            <a:pPr marL="12700">
              <a:lnSpc>
                <a:spcPct val="100000"/>
              </a:lnSpc>
              <a:spcBef>
                <a:spcPts val="355"/>
              </a:spcBef>
            </a:pPr>
            <a:r>
              <a:rPr sz="2600" dirty="0">
                <a:latin typeface="Tahoma"/>
                <a:cs typeface="Tahoma"/>
              </a:rPr>
              <a:t>Hiper-parámetro B</a:t>
            </a:r>
          </a:p>
        </p:txBody>
      </p:sp>
      <p:sp>
        <p:nvSpPr>
          <p:cNvPr id="54" name="object 54"/>
          <p:cNvSpPr txBox="1"/>
          <p:nvPr/>
        </p:nvSpPr>
        <p:spPr>
          <a:xfrm>
            <a:off x="12532772" y="9047261"/>
            <a:ext cx="3282410" cy="729687"/>
          </a:xfrm>
          <a:prstGeom prst="rect">
            <a:avLst/>
          </a:prstGeom>
        </p:spPr>
        <p:txBody>
          <a:bodyPr vert="horz" wrap="square" lIns="0" tIns="11430" rIns="0" bIns="0" rtlCol="0">
            <a:spAutoFit/>
          </a:bodyPr>
          <a:lstStyle/>
          <a:p>
            <a:pPr algn="ctr">
              <a:lnSpc>
                <a:spcPts val="2540"/>
              </a:lnSpc>
              <a:spcBef>
                <a:spcPts val="90"/>
              </a:spcBef>
            </a:pPr>
            <a:r>
              <a:rPr sz="2150" dirty="0">
                <a:latin typeface="Tahoma"/>
                <a:cs typeface="Tahoma"/>
              </a:rPr>
              <a:t>b</a:t>
            </a:r>
          </a:p>
          <a:p>
            <a:pPr algn="ctr">
              <a:lnSpc>
                <a:spcPts val="3080"/>
              </a:lnSpc>
            </a:pPr>
            <a:r>
              <a:rPr sz="2600" dirty="0">
                <a:latin typeface="Tahoma"/>
                <a:cs typeface="Tahoma"/>
              </a:rPr>
              <a:t>Hiper-parámetro A</a:t>
            </a:r>
          </a:p>
        </p:txBody>
      </p:sp>
      <p:sp>
        <p:nvSpPr>
          <p:cNvPr id="55" name="object 55"/>
          <p:cNvSpPr txBox="1"/>
          <p:nvPr/>
        </p:nvSpPr>
        <p:spPr>
          <a:xfrm>
            <a:off x="16001074" y="9059680"/>
            <a:ext cx="157480" cy="352425"/>
          </a:xfrm>
          <a:prstGeom prst="rect">
            <a:avLst/>
          </a:prstGeom>
        </p:spPr>
        <p:txBody>
          <a:bodyPr vert="horz" wrap="square" lIns="0" tIns="11430" rIns="0" bIns="0" rtlCol="0">
            <a:spAutoFit/>
          </a:bodyPr>
          <a:lstStyle/>
          <a:p>
            <a:pPr marL="12700">
              <a:lnSpc>
                <a:spcPct val="100000"/>
              </a:lnSpc>
              <a:spcBef>
                <a:spcPts val="90"/>
              </a:spcBef>
            </a:pPr>
            <a:r>
              <a:rPr sz="2150" spc="-50" dirty="0">
                <a:latin typeface="Tahoma"/>
                <a:cs typeface="Tahoma"/>
              </a:rPr>
              <a:t>c</a:t>
            </a:r>
            <a:endParaRPr sz="2150">
              <a:latin typeface="Tahoma"/>
              <a:cs typeface="Tahoma"/>
            </a:endParaRPr>
          </a:p>
        </p:txBody>
      </p:sp>
      <p:sp>
        <p:nvSpPr>
          <p:cNvPr id="56" name="object 56"/>
          <p:cNvSpPr txBox="1"/>
          <p:nvPr/>
        </p:nvSpPr>
        <p:spPr>
          <a:xfrm>
            <a:off x="11509535" y="5425864"/>
            <a:ext cx="153670" cy="352425"/>
          </a:xfrm>
          <a:prstGeom prst="rect">
            <a:avLst/>
          </a:prstGeom>
        </p:spPr>
        <p:txBody>
          <a:bodyPr vert="horz" wrap="square" lIns="0" tIns="11430" rIns="0" bIns="0" rtlCol="0">
            <a:spAutoFit/>
          </a:bodyPr>
          <a:lstStyle/>
          <a:p>
            <a:pPr marL="12700">
              <a:lnSpc>
                <a:spcPct val="100000"/>
              </a:lnSpc>
              <a:spcBef>
                <a:spcPts val="90"/>
              </a:spcBef>
            </a:pPr>
            <a:r>
              <a:rPr sz="2150" spc="-65" dirty="0">
                <a:latin typeface="Tahoma"/>
                <a:cs typeface="Tahoma"/>
              </a:rPr>
              <a:t>a</a:t>
            </a:r>
            <a:endParaRPr sz="2150">
              <a:latin typeface="Tahoma"/>
              <a:cs typeface="Tahoma"/>
            </a:endParaRPr>
          </a:p>
        </p:txBody>
      </p:sp>
      <p:sp>
        <p:nvSpPr>
          <p:cNvPr id="57" name="object 57"/>
          <p:cNvSpPr txBox="1"/>
          <p:nvPr/>
        </p:nvSpPr>
        <p:spPr>
          <a:xfrm>
            <a:off x="11501022" y="6976393"/>
            <a:ext cx="170815" cy="352425"/>
          </a:xfrm>
          <a:prstGeom prst="rect">
            <a:avLst/>
          </a:prstGeom>
        </p:spPr>
        <p:txBody>
          <a:bodyPr vert="horz" wrap="square" lIns="0" tIns="11430" rIns="0" bIns="0" rtlCol="0">
            <a:spAutoFit/>
          </a:bodyPr>
          <a:lstStyle/>
          <a:p>
            <a:pPr marL="12700">
              <a:lnSpc>
                <a:spcPct val="100000"/>
              </a:lnSpc>
              <a:spcBef>
                <a:spcPts val="90"/>
              </a:spcBef>
            </a:pPr>
            <a:r>
              <a:rPr sz="2150" spc="-50" dirty="0">
                <a:latin typeface="Tahoma"/>
                <a:cs typeface="Tahoma"/>
              </a:rPr>
              <a:t>b</a:t>
            </a:r>
            <a:endParaRPr sz="2150">
              <a:latin typeface="Tahoma"/>
              <a:cs typeface="Tahoma"/>
            </a:endParaRPr>
          </a:p>
        </p:txBody>
      </p:sp>
      <p:sp>
        <p:nvSpPr>
          <p:cNvPr id="58" name="object 58"/>
          <p:cNvSpPr txBox="1"/>
          <p:nvPr/>
        </p:nvSpPr>
        <p:spPr>
          <a:xfrm>
            <a:off x="11505588" y="8466610"/>
            <a:ext cx="157480" cy="352425"/>
          </a:xfrm>
          <a:prstGeom prst="rect">
            <a:avLst/>
          </a:prstGeom>
        </p:spPr>
        <p:txBody>
          <a:bodyPr vert="horz" wrap="square" lIns="0" tIns="11430" rIns="0" bIns="0" rtlCol="0">
            <a:spAutoFit/>
          </a:bodyPr>
          <a:lstStyle/>
          <a:p>
            <a:pPr marL="12700">
              <a:lnSpc>
                <a:spcPct val="100000"/>
              </a:lnSpc>
              <a:spcBef>
                <a:spcPts val="90"/>
              </a:spcBef>
            </a:pPr>
            <a:r>
              <a:rPr sz="2150" spc="-50" dirty="0">
                <a:latin typeface="Tahoma"/>
                <a:cs typeface="Tahoma"/>
              </a:rPr>
              <a:t>c</a:t>
            </a:r>
            <a:endParaRPr sz="2150">
              <a:latin typeface="Tahoma"/>
              <a:cs typeface="Tahoma"/>
            </a:endParaRPr>
          </a:p>
        </p:txBody>
      </p:sp>
      <p:sp>
        <p:nvSpPr>
          <p:cNvPr id="63" name="object 2">
            <a:extLst>
              <a:ext uri="{FF2B5EF4-FFF2-40B4-BE49-F238E27FC236}">
                <a16:creationId xmlns:a16="http://schemas.microsoft.com/office/drawing/2014/main" id="{B1AF8586-908D-1D6A-8FBF-28E0D4779DB2}"/>
              </a:ext>
            </a:extLst>
          </p:cNvPr>
          <p:cNvSpPr txBox="1">
            <a:spLocks noGrp="1"/>
          </p:cNvSpPr>
          <p:nvPr>
            <p:ph type="title"/>
          </p:nvPr>
        </p:nvSpPr>
        <p:spPr>
          <a:xfrm>
            <a:off x="1097213" y="1136584"/>
            <a:ext cx="17909672" cy="825485"/>
          </a:xfrm>
          <a:prstGeom prst="rect">
            <a:avLst/>
          </a:prstGeom>
        </p:spPr>
        <p:txBody>
          <a:bodyPr vert="horz" wrap="square" lIns="0" tIns="85982" rIns="0" bIns="0" rtlCol="0">
            <a:spAutoFit/>
          </a:bodyPr>
          <a:lstStyle/>
          <a:p>
            <a:pPr marL="12700">
              <a:lnSpc>
                <a:spcPct val="100000"/>
              </a:lnSpc>
              <a:spcBef>
                <a:spcPts val="90"/>
              </a:spcBef>
            </a:pPr>
            <a:r>
              <a:rPr sz="4800" i="1" dirty="0"/>
              <a:t>MÉTODOS DE AJUSTE DE LOS HIPER-PARÁMETROS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9341140" y="10689633"/>
            <a:ext cx="322580"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55" dirty="0">
                <a:latin typeface="Tahoma"/>
                <a:cs typeface="Tahoma"/>
              </a:rPr>
              <a:t>56</a:t>
            </a:fld>
            <a:endParaRPr sz="2300">
              <a:latin typeface="Tahoma"/>
              <a:cs typeface="Tahoma"/>
            </a:endParaRPr>
          </a:p>
        </p:txBody>
      </p:sp>
      <p:sp>
        <p:nvSpPr>
          <p:cNvPr id="3" name="object 3"/>
          <p:cNvSpPr txBox="1"/>
          <p:nvPr/>
        </p:nvSpPr>
        <p:spPr>
          <a:xfrm>
            <a:off x="1097213" y="3074116"/>
            <a:ext cx="17964150" cy="4759960"/>
          </a:xfrm>
          <a:prstGeom prst="rect">
            <a:avLst/>
          </a:prstGeom>
        </p:spPr>
        <p:txBody>
          <a:bodyPr vert="horz" wrap="square" lIns="0" tIns="33655" rIns="0" bIns="0" rtlCol="0">
            <a:spAutoFit/>
          </a:bodyPr>
          <a:lstStyle/>
          <a:p>
            <a:pPr marL="12700" marR="753110" algn="just">
              <a:lnSpc>
                <a:spcPts val="4530"/>
              </a:lnSpc>
              <a:spcBef>
                <a:spcPts val="265"/>
              </a:spcBef>
            </a:pPr>
            <a:r>
              <a:rPr sz="3800" dirty="0">
                <a:latin typeface="Tahoma"/>
                <a:cs typeface="Tahoma"/>
              </a:rPr>
              <a:t>Una mejora que se puede aplicar a ambos métodos, a expensa de una mayor duración, es incorporar la reducción a la mitad sucesiva (succesive halving).</a:t>
            </a:r>
          </a:p>
          <a:p>
            <a:pPr marL="12700" marR="5080" algn="just">
              <a:lnSpc>
                <a:spcPts val="4530"/>
              </a:lnSpc>
              <a:spcBef>
                <a:spcPts val="2815"/>
              </a:spcBef>
            </a:pPr>
            <a:r>
              <a:rPr sz="3800" dirty="0">
                <a:latin typeface="Tahoma"/>
                <a:cs typeface="Tahoma"/>
              </a:rPr>
              <a:t>La idea es tener una especie de torneo. En el cual, se arranca buscando los hiper-parámetros, pero usando un subset de entrenamiento chico.</a:t>
            </a:r>
          </a:p>
          <a:p>
            <a:pPr marL="12700" marR="829944" algn="just">
              <a:lnSpc>
                <a:spcPts val="4530"/>
              </a:lnSpc>
              <a:spcBef>
                <a:spcPts val="2690"/>
              </a:spcBef>
            </a:pPr>
            <a:r>
              <a:rPr sz="3800" dirty="0">
                <a:latin typeface="Tahoma"/>
                <a:cs typeface="Tahoma"/>
              </a:rPr>
              <a:t>Una vez que termina la búsqueda, se elige la mitad de las combinaciones que mejores parámetros dieron. Con esa mitad, se aumenta el set de entrenamiento y este proceso se repite, hasta que quede uno.</a:t>
            </a:r>
          </a:p>
        </p:txBody>
      </p:sp>
      <p:sp>
        <p:nvSpPr>
          <p:cNvPr id="8" name="object 2">
            <a:extLst>
              <a:ext uri="{FF2B5EF4-FFF2-40B4-BE49-F238E27FC236}">
                <a16:creationId xmlns:a16="http://schemas.microsoft.com/office/drawing/2014/main" id="{4ABD3CE5-6436-7D3D-5BB4-755D97ADDDCC}"/>
              </a:ext>
            </a:extLst>
          </p:cNvPr>
          <p:cNvSpPr txBox="1">
            <a:spLocks noGrp="1"/>
          </p:cNvSpPr>
          <p:nvPr>
            <p:ph type="title"/>
          </p:nvPr>
        </p:nvSpPr>
        <p:spPr>
          <a:xfrm>
            <a:off x="1097213" y="1136584"/>
            <a:ext cx="17909672" cy="825485"/>
          </a:xfrm>
          <a:prstGeom prst="rect">
            <a:avLst/>
          </a:prstGeom>
        </p:spPr>
        <p:txBody>
          <a:bodyPr vert="horz" wrap="square" lIns="0" tIns="85982" rIns="0" bIns="0" rtlCol="0">
            <a:spAutoFit/>
          </a:bodyPr>
          <a:lstStyle/>
          <a:p>
            <a:pPr marL="12700">
              <a:lnSpc>
                <a:spcPct val="100000"/>
              </a:lnSpc>
              <a:spcBef>
                <a:spcPts val="90"/>
              </a:spcBef>
            </a:pPr>
            <a:r>
              <a:rPr sz="4800" i="1" dirty="0"/>
              <a:t>MÉTODOS DE AJUSTE DE LOS HIPER-PARÁMETROS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78390-C918-EE4D-E976-A6D8696093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0B5191-A0A6-C7DB-29DA-70E1485A14B5}"/>
              </a:ext>
            </a:extLst>
          </p:cNvPr>
          <p:cNvSpPr txBox="1">
            <a:spLocks noGrp="1"/>
          </p:cNvSpPr>
          <p:nvPr>
            <p:ph type="title"/>
          </p:nvPr>
        </p:nvSpPr>
        <p:spPr>
          <a:xfrm>
            <a:off x="1216361" y="7375556"/>
            <a:ext cx="11655089" cy="843821"/>
          </a:xfrm>
          <a:prstGeom prst="rect">
            <a:avLst/>
          </a:prstGeom>
        </p:spPr>
        <p:txBody>
          <a:bodyPr vert="horz" wrap="square" lIns="0" tIns="12700" rIns="0" bIns="0" rtlCol="0">
            <a:spAutoFit/>
          </a:bodyPr>
          <a:lstStyle/>
          <a:p>
            <a:pPr marL="12700">
              <a:lnSpc>
                <a:spcPct val="100000"/>
              </a:lnSpc>
              <a:spcBef>
                <a:spcPts val="100"/>
              </a:spcBef>
            </a:pPr>
            <a:r>
              <a:rPr sz="5400" b="1" i="1" dirty="0">
                <a:latin typeface="Trebuchet MS"/>
                <a:cs typeface="Trebuchet MS"/>
              </a:rPr>
              <a:t>VAMOS A PRÁCTICAR UN POCO…</a:t>
            </a:r>
            <a:endParaRPr sz="5400" dirty="0">
              <a:latin typeface="Trebuchet MS"/>
              <a:cs typeface="Trebuchet MS"/>
            </a:endParaRPr>
          </a:p>
        </p:txBody>
      </p:sp>
    </p:spTree>
    <p:extLst>
      <p:ext uri="{BB962C8B-B14F-4D97-AF65-F5344CB8AC3E}">
        <p14:creationId xmlns:p14="http://schemas.microsoft.com/office/powerpoint/2010/main" val="7366147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6512"/>
            <a:ext cx="10219690" cy="2867660"/>
          </a:xfrm>
          <a:prstGeom prst="rect">
            <a:avLst/>
          </a:prstGeom>
        </p:spPr>
        <p:txBody>
          <a:bodyPr vert="horz" wrap="square" lIns="0" tIns="511809" rIns="0" bIns="0" rtlCol="0">
            <a:spAutoFit/>
          </a:bodyPr>
          <a:lstStyle/>
          <a:p>
            <a:pPr marL="601345" marR="48260" indent="-589280">
              <a:lnSpc>
                <a:spcPct val="70200"/>
              </a:lnSpc>
              <a:spcBef>
                <a:spcPts val="4029"/>
              </a:spcBef>
            </a:pPr>
            <a:r>
              <a:rPr sz="10950" b="1" i="1" spc="-150" dirty="0">
                <a:latin typeface="Arial"/>
                <a:cs typeface="Arial"/>
              </a:rPr>
              <a:t>MÉTODOS</a:t>
            </a:r>
            <a:r>
              <a:rPr sz="10950" b="1" i="1" spc="-1700" dirty="0">
                <a:latin typeface="Arial"/>
                <a:cs typeface="Arial"/>
              </a:rPr>
              <a:t> </a:t>
            </a:r>
            <a:r>
              <a:rPr sz="10950" b="1" i="1" spc="-35" dirty="0">
                <a:latin typeface="Arial"/>
                <a:cs typeface="Arial"/>
              </a:rPr>
              <a:t>MÁS </a:t>
            </a:r>
            <a:r>
              <a:rPr sz="10950" b="1" i="1" spc="-75" dirty="0">
                <a:latin typeface="Arial"/>
                <a:cs typeface="Arial"/>
              </a:rPr>
              <a:t>AVANZADOS</a:t>
            </a:r>
            <a:endParaRPr sz="10950">
              <a:latin typeface="Arial"/>
              <a:cs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200665"/>
            <a:ext cx="11469437" cy="938076"/>
          </a:xfrm>
          <a:prstGeom prst="rect">
            <a:avLst/>
          </a:prstGeom>
        </p:spPr>
        <p:txBody>
          <a:bodyPr vert="horz" wrap="square" lIns="0" tIns="14604" rIns="0" bIns="0" rtlCol="0">
            <a:spAutoFit/>
          </a:bodyPr>
          <a:lstStyle/>
          <a:p>
            <a:pPr marL="12700">
              <a:lnSpc>
                <a:spcPct val="100000"/>
              </a:lnSpc>
              <a:spcBef>
                <a:spcPts val="114"/>
              </a:spcBef>
            </a:pPr>
            <a:r>
              <a:rPr sz="6000" dirty="0"/>
              <a:t>MÉTODOS AVANZADOS</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59</a:t>
            </a:fld>
            <a:endParaRPr spc="-25" dirty="0"/>
          </a:p>
        </p:txBody>
      </p:sp>
      <p:sp>
        <p:nvSpPr>
          <p:cNvPr id="3" name="object 3"/>
          <p:cNvSpPr txBox="1"/>
          <p:nvPr/>
        </p:nvSpPr>
        <p:spPr>
          <a:xfrm>
            <a:off x="1097213" y="2340735"/>
            <a:ext cx="17659985" cy="7939405"/>
          </a:xfrm>
          <a:prstGeom prst="rect">
            <a:avLst/>
          </a:prstGeom>
        </p:spPr>
        <p:txBody>
          <a:bodyPr vert="horz" wrap="square" lIns="0" tIns="114935" rIns="0" bIns="0" rtlCol="0">
            <a:spAutoFit/>
          </a:bodyPr>
          <a:lstStyle/>
          <a:p>
            <a:pPr marL="12700" marR="5080" algn="just">
              <a:lnSpc>
                <a:spcPct val="79400"/>
              </a:lnSpc>
              <a:spcBef>
                <a:spcPts val="905"/>
              </a:spcBef>
            </a:pPr>
            <a:r>
              <a:rPr sz="3200" dirty="0">
                <a:latin typeface="Tahoma"/>
                <a:cs typeface="Tahoma"/>
              </a:rPr>
              <a:t>Cuando la complejidad del modelo que se está entrenando es muy elevada, los métodos clásicos se vuelven muy costosos.</a:t>
            </a:r>
          </a:p>
          <a:p>
            <a:pPr marL="12700" algn="just">
              <a:lnSpc>
                <a:spcPct val="100000"/>
              </a:lnSpc>
              <a:spcBef>
                <a:spcPts val="2014"/>
              </a:spcBef>
            </a:pPr>
            <a:r>
              <a:rPr sz="3200" dirty="0">
                <a:latin typeface="Tahoma"/>
                <a:cs typeface="Tahoma"/>
              </a:rPr>
              <a:t>Existe una relación de compromiso entre:</a:t>
            </a:r>
          </a:p>
          <a:p>
            <a:pPr marL="577850" indent="-565150" algn="just">
              <a:lnSpc>
                <a:spcPct val="100000"/>
              </a:lnSpc>
              <a:spcBef>
                <a:spcPts val="1920"/>
              </a:spcBef>
              <a:buFont typeface="Arial MT"/>
              <a:buChar char="•"/>
              <a:tabLst>
                <a:tab pos="577850" algn="l"/>
              </a:tabLst>
            </a:pPr>
            <a:r>
              <a:rPr sz="3200" dirty="0">
                <a:latin typeface="Tahoma"/>
                <a:cs typeface="Tahoma"/>
              </a:rPr>
              <a:t>Tiempo de entrenamiento</a:t>
            </a:r>
          </a:p>
          <a:p>
            <a:pPr marL="577850" indent="-565150" algn="just">
              <a:lnSpc>
                <a:spcPct val="100000"/>
              </a:lnSpc>
              <a:spcBef>
                <a:spcPts val="2014"/>
              </a:spcBef>
              <a:buFont typeface="Arial MT"/>
              <a:buChar char="•"/>
              <a:tabLst>
                <a:tab pos="577850" algn="l"/>
              </a:tabLst>
            </a:pPr>
            <a:r>
              <a:rPr sz="3200" dirty="0">
                <a:latin typeface="Tahoma"/>
                <a:cs typeface="Tahoma"/>
              </a:rPr>
              <a:t>Tiempo de estimación del próximo conjunto de HPs</a:t>
            </a:r>
          </a:p>
          <a:p>
            <a:pPr marL="12700" marR="83820" algn="just">
              <a:lnSpc>
                <a:spcPct val="79400"/>
              </a:lnSpc>
              <a:spcBef>
                <a:spcPts val="2730"/>
              </a:spcBef>
            </a:pPr>
            <a:r>
              <a:rPr sz="3200" dirty="0">
                <a:latin typeface="Tahoma"/>
                <a:cs typeface="Tahoma"/>
              </a:rPr>
              <a:t>Podemos crear nuestros métodos que sean más avanzados. En inteligencia artificial habían visto algoritmos de búsquedas discretos. Podemos usar estos para buscar hiper-parámetros:</a:t>
            </a:r>
          </a:p>
          <a:p>
            <a:pPr marL="577850" indent="-565150" algn="just">
              <a:lnSpc>
                <a:spcPct val="100000"/>
              </a:lnSpc>
              <a:spcBef>
                <a:spcPts val="2020"/>
              </a:spcBef>
              <a:buFont typeface="Arial MT"/>
              <a:buChar char="•"/>
              <a:tabLst>
                <a:tab pos="577850" algn="l"/>
              </a:tabLst>
            </a:pPr>
            <a:r>
              <a:rPr sz="3200" dirty="0">
                <a:latin typeface="Tahoma"/>
                <a:cs typeface="Tahoma"/>
              </a:rPr>
              <a:t>Gradiente descendiente o Ascendente</a:t>
            </a:r>
          </a:p>
          <a:p>
            <a:pPr marL="577850" indent="-565150" algn="just">
              <a:lnSpc>
                <a:spcPct val="100000"/>
              </a:lnSpc>
              <a:spcBef>
                <a:spcPts val="1914"/>
              </a:spcBef>
              <a:buFont typeface="Arial MT"/>
              <a:buChar char="•"/>
              <a:tabLst>
                <a:tab pos="577850" algn="l"/>
              </a:tabLst>
            </a:pPr>
            <a:r>
              <a:rPr sz="3200" dirty="0">
                <a:latin typeface="Tahoma"/>
                <a:cs typeface="Tahoma"/>
              </a:rPr>
              <a:t>Simulated annealing</a:t>
            </a:r>
          </a:p>
          <a:p>
            <a:pPr marL="577850" indent="-565150" algn="just">
              <a:lnSpc>
                <a:spcPct val="100000"/>
              </a:lnSpc>
              <a:spcBef>
                <a:spcPts val="2020"/>
              </a:spcBef>
              <a:buFont typeface="Arial MT"/>
              <a:buChar char="•"/>
              <a:tabLst>
                <a:tab pos="577850" algn="l"/>
              </a:tabLst>
            </a:pPr>
            <a:r>
              <a:rPr sz="3200" dirty="0">
                <a:latin typeface="Tahoma"/>
                <a:cs typeface="Tahoma"/>
              </a:rPr>
              <a:t>Búsqueda Local Beam</a:t>
            </a:r>
          </a:p>
          <a:p>
            <a:pPr marL="577850" indent="-565150" algn="just">
              <a:lnSpc>
                <a:spcPct val="100000"/>
              </a:lnSpc>
              <a:spcBef>
                <a:spcPts val="1935"/>
              </a:spcBef>
              <a:buFont typeface="Arial MT"/>
              <a:buChar char="•"/>
              <a:tabLst>
                <a:tab pos="577850" algn="l"/>
              </a:tabLst>
            </a:pPr>
            <a:r>
              <a:rPr sz="3200" dirty="0">
                <a:latin typeface="Tahoma"/>
                <a:cs typeface="Tahoma"/>
              </a:rPr>
              <a:t>Algoritmos Genéticos</a:t>
            </a:r>
          </a:p>
          <a:p>
            <a:pPr marL="577850" indent="-565150" algn="just">
              <a:lnSpc>
                <a:spcPct val="100000"/>
              </a:lnSpc>
              <a:spcBef>
                <a:spcPts val="2020"/>
              </a:spcBef>
              <a:buFont typeface="Arial MT"/>
              <a:buChar char="•"/>
              <a:tabLst>
                <a:tab pos="577850" algn="l"/>
              </a:tabLst>
            </a:pPr>
            <a:r>
              <a:rPr sz="3200" dirty="0">
                <a:latin typeface="Tahoma"/>
                <a:cs typeface="Tahoma"/>
              </a:rPr>
              <a:t>Búsqueda bayesiana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002784"/>
          </a:xfrm>
          <a:prstGeom prst="rect">
            <a:avLst/>
          </a:prstGeom>
        </p:spPr>
        <p:txBody>
          <a:bodyPr vert="horz" wrap="square" lIns="0" tIns="78686" rIns="0" bIns="0" rtlCol="0">
            <a:spAutoFit/>
          </a:bodyPr>
          <a:lstStyle/>
          <a:p>
            <a:pPr marL="12700">
              <a:lnSpc>
                <a:spcPct val="100000"/>
              </a:lnSpc>
              <a:spcBef>
                <a:spcPts val="114"/>
              </a:spcBef>
            </a:pPr>
            <a:r>
              <a:rPr sz="6000" dirty="0"/>
              <a:t>MÉTODOS AVANZADOS</a:t>
            </a:r>
          </a:p>
        </p:txBody>
      </p:sp>
      <p:sp>
        <p:nvSpPr>
          <p:cNvPr id="3" name="object 3"/>
          <p:cNvSpPr txBox="1"/>
          <p:nvPr/>
        </p:nvSpPr>
        <p:spPr>
          <a:xfrm>
            <a:off x="1063154" y="2699903"/>
            <a:ext cx="17526000" cy="1759456"/>
          </a:xfrm>
          <a:prstGeom prst="rect">
            <a:avLst/>
          </a:prstGeom>
        </p:spPr>
        <p:txBody>
          <a:bodyPr vert="horz" wrap="square" lIns="0" tIns="27940" rIns="0" bIns="0" rtlCol="0">
            <a:spAutoFit/>
          </a:bodyPr>
          <a:lstStyle/>
          <a:p>
            <a:pPr marL="12700" marR="5080" algn="just">
              <a:lnSpc>
                <a:spcPts val="4530"/>
              </a:lnSpc>
              <a:spcBef>
                <a:spcPts val="220"/>
              </a:spcBef>
            </a:pPr>
            <a:r>
              <a:rPr sz="3800" dirty="0">
                <a:latin typeface="Tahoma"/>
                <a:cs typeface="Tahoma"/>
              </a:rPr>
              <a:t>Podemos crear nuestros métodos que sean más avanzados. En inteligencia artificial habían visto algoritmos de búsquedas. Podemos usar estos para buscar hiper-parámetros:</a:t>
            </a:r>
          </a:p>
        </p:txBody>
      </p:sp>
      <p:sp>
        <p:nvSpPr>
          <p:cNvPr id="4" name="object 4"/>
          <p:cNvSpPr txBox="1"/>
          <p:nvPr/>
        </p:nvSpPr>
        <p:spPr>
          <a:xfrm>
            <a:off x="1042614" y="5236067"/>
            <a:ext cx="8954829" cy="4358886"/>
          </a:xfrm>
          <a:prstGeom prst="rect">
            <a:avLst/>
          </a:prstGeom>
        </p:spPr>
        <p:txBody>
          <a:bodyPr vert="horz" wrap="square" lIns="0" tIns="11430" rIns="0" bIns="0" rtlCol="0">
            <a:spAutoFit/>
          </a:bodyPr>
          <a:lstStyle/>
          <a:p>
            <a:pPr marL="577850" indent="-565150">
              <a:lnSpc>
                <a:spcPct val="100000"/>
              </a:lnSpc>
              <a:spcBef>
                <a:spcPts val="90"/>
              </a:spcBef>
              <a:buFont typeface="Arial MT"/>
              <a:buChar char="•"/>
              <a:tabLst>
                <a:tab pos="577850" algn="l"/>
              </a:tabLst>
            </a:pPr>
            <a:r>
              <a:rPr sz="3800" b="1" dirty="0">
                <a:solidFill>
                  <a:srgbClr val="19BD1B"/>
                </a:solidFill>
                <a:latin typeface="Calibri"/>
                <a:cs typeface="Calibri"/>
              </a:rPr>
              <a:t>Gradiente Descendiente o Ascendente</a:t>
            </a:r>
            <a:endParaRPr sz="3800" dirty="0">
              <a:latin typeface="Calibri"/>
              <a:cs typeface="Calibri"/>
            </a:endParaRPr>
          </a:p>
          <a:p>
            <a:pPr marL="577850" indent="-565150">
              <a:lnSpc>
                <a:spcPct val="100000"/>
              </a:lnSpc>
              <a:spcBef>
                <a:spcPts val="3040"/>
              </a:spcBef>
              <a:buFont typeface="Arial MT"/>
              <a:buChar char="•"/>
              <a:tabLst>
                <a:tab pos="577850" algn="l"/>
              </a:tabLst>
            </a:pPr>
            <a:r>
              <a:rPr sz="3800" dirty="0">
                <a:latin typeface="Tahoma"/>
                <a:cs typeface="Tahoma"/>
              </a:rPr>
              <a:t>Simulated annealing</a:t>
            </a:r>
          </a:p>
          <a:p>
            <a:pPr marL="577850" indent="-565150">
              <a:lnSpc>
                <a:spcPct val="100000"/>
              </a:lnSpc>
              <a:spcBef>
                <a:spcPts val="2680"/>
              </a:spcBef>
              <a:buFont typeface="Arial MT"/>
              <a:buChar char="•"/>
              <a:tabLst>
                <a:tab pos="577850" algn="l"/>
              </a:tabLst>
            </a:pPr>
            <a:r>
              <a:rPr sz="3800" dirty="0">
                <a:latin typeface="Tahoma"/>
                <a:cs typeface="Tahoma"/>
              </a:rPr>
              <a:t>Búsqueda Local Beam</a:t>
            </a:r>
          </a:p>
          <a:p>
            <a:pPr marL="577850" indent="-565150">
              <a:lnSpc>
                <a:spcPct val="100000"/>
              </a:lnSpc>
              <a:spcBef>
                <a:spcPts val="2705"/>
              </a:spcBef>
              <a:buFont typeface="Arial MT"/>
              <a:buChar char="•"/>
              <a:tabLst>
                <a:tab pos="577850" algn="l"/>
              </a:tabLst>
            </a:pPr>
            <a:r>
              <a:rPr sz="3800" dirty="0">
                <a:latin typeface="Tahoma"/>
                <a:cs typeface="Tahoma"/>
              </a:rPr>
              <a:t>Algoritmos Genéticos</a:t>
            </a:r>
          </a:p>
          <a:p>
            <a:pPr marL="577850" indent="-565150">
              <a:lnSpc>
                <a:spcPct val="100000"/>
              </a:lnSpc>
              <a:spcBef>
                <a:spcPts val="2700"/>
              </a:spcBef>
              <a:buFont typeface="Arial MT"/>
              <a:buChar char="•"/>
              <a:tabLst>
                <a:tab pos="577850" algn="l"/>
              </a:tabLst>
            </a:pPr>
            <a:r>
              <a:rPr sz="3800" dirty="0">
                <a:latin typeface="Tahoma"/>
                <a:cs typeface="Tahoma"/>
              </a:rPr>
              <a:t>Búsqueda bayesiana</a:t>
            </a:r>
          </a:p>
        </p:txBody>
      </p:sp>
      <p:grpSp>
        <p:nvGrpSpPr>
          <p:cNvPr id="5" name="object 5"/>
          <p:cNvGrpSpPr/>
          <p:nvPr/>
        </p:nvGrpSpPr>
        <p:grpSpPr>
          <a:xfrm>
            <a:off x="12577522" y="5252977"/>
            <a:ext cx="4585335" cy="3679190"/>
            <a:chOff x="12577522" y="5252977"/>
            <a:chExt cx="4585335" cy="3679190"/>
          </a:xfrm>
        </p:grpSpPr>
        <p:sp>
          <p:nvSpPr>
            <p:cNvPr id="6" name="object 6"/>
            <p:cNvSpPr/>
            <p:nvPr/>
          </p:nvSpPr>
          <p:spPr>
            <a:xfrm>
              <a:off x="14545148" y="676742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5" y="636157"/>
                  </a:lnTo>
                  <a:lnTo>
                    <a:pt x="461947" y="619713"/>
                  </a:lnTo>
                  <a:lnTo>
                    <a:pt x="501895" y="597563"/>
                  </a:lnTo>
                  <a:lnTo>
                    <a:pt x="538148" y="570209"/>
                  </a:lnTo>
                  <a:lnTo>
                    <a:pt x="570202" y="538154"/>
                  </a:lnTo>
                  <a:lnTo>
                    <a:pt x="597555" y="501901"/>
                  </a:lnTo>
                  <a:lnTo>
                    <a:pt x="619705" y="461952"/>
                  </a:lnTo>
                  <a:lnTo>
                    <a:pt x="636149" y="418810"/>
                  </a:lnTo>
                  <a:lnTo>
                    <a:pt x="646383" y="372978"/>
                  </a:lnTo>
                  <a:lnTo>
                    <a:pt x="649906" y="324958"/>
                  </a:lnTo>
                  <a:lnTo>
                    <a:pt x="646383" y="276938"/>
                  </a:lnTo>
                  <a:lnTo>
                    <a:pt x="636149" y="231106"/>
                  </a:lnTo>
                  <a:lnTo>
                    <a:pt x="619705" y="187964"/>
                  </a:lnTo>
                  <a:lnTo>
                    <a:pt x="597555" y="148015"/>
                  </a:lnTo>
                  <a:lnTo>
                    <a:pt x="570202" y="111761"/>
                  </a:lnTo>
                  <a:lnTo>
                    <a:pt x="538148" y="79706"/>
                  </a:lnTo>
                  <a:lnTo>
                    <a:pt x="501895" y="52352"/>
                  </a:lnTo>
                  <a:lnTo>
                    <a:pt x="461947" y="30202"/>
                  </a:lnTo>
                  <a:lnTo>
                    <a:pt x="418805" y="13758"/>
                  </a:lnTo>
                  <a:lnTo>
                    <a:pt x="372973" y="3523"/>
                  </a:lnTo>
                  <a:lnTo>
                    <a:pt x="324953" y="0"/>
                  </a:lnTo>
                  <a:close/>
                </a:path>
              </a:pathLst>
            </a:custGeom>
            <a:solidFill>
              <a:srgbClr val="AFF5B0"/>
            </a:solidFill>
          </p:spPr>
          <p:txBody>
            <a:bodyPr wrap="square" lIns="0" tIns="0" rIns="0" bIns="0" rtlCol="0"/>
            <a:lstStyle/>
            <a:p>
              <a:endParaRPr/>
            </a:p>
          </p:txBody>
        </p:sp>
        <p:sp>
          <p:nvSpPr>
            <p:cNvPr id="7" name="object 7"/>
            <p:cNvSpPr/>
            <p:nvPr/>
          </p:nvSpPr>
          <p:spPr>
            <a:xfrm>
              <a:off x="14545149"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38E53A"/>
              </a:solidFill>
            </a:ln>
          </p:spPr>
          <p:txBody>
            <a:bodyPr wrap="square" lIns="0" tIns="0" rIns="0" bIns="0" rtlCol="0"/>
            <a:lstStyle/>
            <a:p>
              <a:endParaRPr/>
            </a:p>
          </p:txBody>
        </p:sp>
        <p:sp>
          <p:nvSpPr>
            <p:cNvPr id="8" name="object 8"/>
            <p:cNvSpPr/>
            <p:nvPr/>
          </p:nvSpPr>
          <p:spPr>
            <a:xfrm>
              <a:off x="16497058" y="6767420"/>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7F7F7F"/>
            </a:solidFill>
          </p:spPr>
          <p:txBody>
            <a:bodyPr wrap="square" lIns="0" tIns="0" rIns="0" bIns="0" rtlCol="0"/>
            <a:lstStyle/>
            <a:p>
              <a:endParaRPr/>
            </a:p>
          </p:txBody>
        </p:sp>
        <p:sp>
          <p:nvSpPr>
            <p:cNvPr id="9" name="object 9"/>
            <p:cNvSpPr/>
            <p:nvPr/>
          </p:nvSpPr>
          <p:spPr>
            <a:xfrm>
              <a:off x="16497058"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0" name="object 10"/>
            <p:cNvSpPr/>
            <p:nvPr/>
          </p:nvSpPr>
          <p:spPr>
            <a:xfrm>
              <a:off x="16497058" y="8262657"/>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7F7F7F"/>
            </a:solidFill>
          </p:spPr>
          <p:txBody>
            <a:bodyPr wrap="square" lIns="0" tIns="0" rIns="0" bIns="0" rtlCol="0"/>
            <a:lstStyle/>
            <a:p>
              <a:endParaRPr/>
            </a:p>
          </p:txBody>
        </p:sp>
        <p:sp>
          <p:nvSpPr>
            <p:cNvPr id="11" name="object 11"/>
            <p:cNvSpPr/>
            <p:nvPr/>
          </p:nvSpPr>
          <p:spPr>
            <a:xfrm>
              <a:off x="16497058" y="8262657"/>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2" name="object 12"/>
            <p:cNvSpPr/>
            <p:nvPr/>
          </p:nvSpPr>
          <p:spPr>
            <a:xfrm>
              <a:off x="14545148" y="8266153"/>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5" y="636157"/>
                  </a:lnTo>
                  <a:lnTo>
                    <a:pt x="461947" y="619713"/>
                  </a:lnTo>
                  <a:lnTo>
                    <a:pt x="501895" y="597563"/>
                  </a:lnTo>
                  <a:lnTo>
                    <a:pt x="538148" y="570209"/>
                  </a:lnTo>
                  <a:lnTo>
                    <a:pt x="570202" y="538154"/>
                  </a:lnTo>
                  <a:lnTo>
                    <a:pt x="597555" y="501901"/>
                  </a:lnTo>
                  <a:lnTo>
                    <a:pt x="619705" y="461952"/>
                  </a:lnTo>
                  <a:lnTo>
                    <a:pt x="636149" y="418810"/>
                  </a:lnTo>
                  <a:lnTo>
                    <a:pt x="646383" y="372978"/>
                  </a:lnTo>
                  <a:lnTo>
                    <a:pt x="649906" y="324958"/>
                  </a:lnTo>
                  <a:lnTo>
                    <a:pt x="646383" y="276938"/>
                  </a:lnTo>
                  <a:lnTo>
                    <a:pt x="636149" y="231106"/>
                  </a:lnTo>
                  <a:lnTo>
                    <a:pt x="619705" y="187964"/>
                  </a:lnTo>
                  <a:lnTo>
                    <a:pt x="597555" y="148015"/>
                  </a:lnTo>
                  <a:lnTo>
                    <a:pt x="570202" y="111761"/>
                  </a:lnTo>
                  <a:lnTo>
                    <a:pt x="538148" y="79706"/>
                  </a:lnTo>
                  <a:lnTo>
                    <a:pt x="501895" y="52352"/>
                  </a:lnTo>
                  <a:lnTo>
                    <a:pt x="461947" y="30202"/>
                  </a:lnTo>
                  <a:lnTo>
                    <a:pt x="418805" y="13758"/>
                  </a:lnTo>
                  <a:lnTo>
                    <a:pt x="372973" y="3523"/>
                  </a:lnTo>
                  <a:lnTo>
                    <a:pt x="324953" y="0"/>
                  </a:lnTo>
                  <a:close/>
                </a:path>
              </a:pathLst>
            </a:custGeom>
            <a:solidFill>
              <a:srgbClr val="7F7F7F"/>
            </a:solidFill>
          </p:spPr>
          <p:txBody>
            <a:bodyPr wrap="square" lIns="0" tIns="0" rIns="0" bIns="0" rtlCol="0"/>
            <a:lstStyle/>
            <a:p>
              <a:endParaRPr/>
            </a:p>
          </p:txBody>
        </p:sp>
        <p:sp>
          <p:nvSpPr>
            <p:cNvPr id="13" name="object 13"/>
            <p:cNvSpPr/>
            <p:nvPr/>
          </p:nvSpPr>
          <p:spPr>
            <a:xfrm>
              <a:off x="14545149" y="8266153"/>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4" name="object 14"/>
            <p:cNvSpPr/>
            <p:nvPr/>
          </p:nvSpPr>
          <p:spPr>
            <a:xfrm>
              <a:off x="14545138" y="5268684"/>
              <a:ext cx="650240" cy="650240"/>
            </a:xfrm>
            <a:custGeom>
              <a:avLst/>
              <a:gdLst/>
              <a:ahLst/>
              <a:cxnLst/>
              <a:rect l="l" t="t" r="r" b="b"/>
              <a:pathLst>
                <a:path w="650240" h="650239">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7F7F7F"/>
            </a:solidFill>
          </p:spPr>
          <p:txBody>
            <a:bodyPr wrap="square" lIns="0" tIns="0" rIns="0" bIns="0" rtlCol="0"/>
            <a:lstStyle/>
            <a:p>
              <a:endParaRPr/>
            </a:p>
          </p:txBody>
        </p:sp>
        <p:sp>
          <p:nvSpPr>
            <p:cNvPr id="15" name="object 15"/>
            <p:cNvSpPr/>
            <p:nvPr/>
          </p:nvSpPr>
          <p:spPr>
            <a:xfrm>
              <a:off x="14545138" y="5268684"/>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6" name="object 16"/>
            <p:cNvSpPr/>
            <p:nvPr/>
          </p:nvSpPr>
          <p:spPr>
            <a:xfrm>
              <a:off x="16497058" y="5268685"/>
              <a:ext cx="650240" cy="650240"/>
            </a:xfrm>
            <a:custGeom>
              <a:avLst/>
              <a:gdLst/>
              <a:ahLst/>
              <a:cxnLst/>
              <a:rect l="l" t="t" r="r" b="b"/>
              <a:pathLst>
                <a:path w="650240" h="650239">
                  <a:moveTo>
                    <a:pt x="324953" y="0"/>
                  </a:moveTo>
                  <a:lnTo>
                    <a:pt x="276935" y="3523"/>
                  </a:lnTo>
                  <a:lnTo>
                    <a:pt x="231104" y="13758"/>
                  </a:lnTo>
                  <a:lnTo>
                    <a:pt x="187964" y="30202"/>
                  </a:lnTo>
                  <a:lnTo>
                    <a:pt x="148015" y="52352"/>
                  </a:lnTo>
                  <a:lnTo>
                    <a:pt x="111762" y="79706"/>
                  </a:lnTo>
                  <a:lnTo>
                    <a:pt x="79707" y="111761"/>
                  </a:lnTo>
                  <a:lnTo>
                    <a:pt x="52353" y="148015"/>
                  </a:lnTo>
                  <a:lnTo>
                    <a:pt x="30203" y="187964"/>
                  </a:lnTo>
                  <a:lnTo>
                    <a:pt x="13758" y="231106"/>
                  </a:lnTo>
                  <a:lnTo>
                    <a:pt x="3523" y="276938"/>
                  </a:lnTo>
                  <a:lnTo>
                    <a:pt x="0" y="324958"/>
                  </a:lnTo>
                  <a:lnTo>
                    <a:pt x="3523" y="372978"/>
                  </a:lnTo>
                  <a:lnTo>
                    <a:pt x="13758" y="418810"/>
                  </a:lnTo>
                  <a:lnTo>
                    <a:pt x="30203" y="461952"/>
                  </a:lnTo>
                  <a:lnTo>
                    <a:pt x="52353" y="501901"/>
                  </a:lnTo>
                  <a:lnTo>
                    <a:pt x="79707" y="538154"/>
                  </a:lnTo>
                  <a:lnTo>
                    <a:pt x="111762" y="570209"/>
                  </a:lnTo>
                  <a:lnTo>
                    <a:pt x="148015" y="597563"/>
                  </a:lnTo>
                  <a:lnTo>
                    <a:pt x="187964" y="619713"/>
                  </a:lnTo>
                  <a:lnTo>
                    <a:pt x="231104" y="636157"/>
                  </a:lnTo>
                  <a:lnTo>
                    <a:pt x="276935"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17" name="object 17"/>
            <p:cNvSpPr/>
            <p:nvPr/>
          </p:nvSpPr>
          <p:spPr>
            <a:xfrm>
              <a:off x="16497058" y="5268685"/>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8" name="object 18"/>
            <p:cNvSpPr/>
            <p:nvPr/>
          </p:nvSpPr>
          <p:spPr>
            <a:xfrm>
              <a:off x="12593229" y="676742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19" name="object 19"/>
            <p:cNvSpPr/>
            <p:nvPr/>
          </p:nvSpPr>
          <p:spPr>
            <a:xfrm>
              <a:off x="12593229"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20" name="object 20"/>
            <p:cNvSpPr/>
            <p:nvPr/>
          </p:nvSpPr>
          <p:spPr>
            <a:xfrm>
              <a:off x="12593229" y="8266153"/>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21" name="object 21"/>
            <p:cNvSpPr/>
            <p:nvPr/>
          </p:nvSpPr>
          <p:spPr>
            <a:xfrm>
              <a:off x="12593229" y="8266153"/>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22" name="object 22"/>
            <p:cNvSpPr/>
            <p:nvPr/>
          </p:nvSpPr>
          <p:spPr>
            <a:xfrm>
              <a:off x="12593229" y="5268683"/>
              <a:ext cx="650240" cy="650240"/>
            </a:xfrm>
            <a:custGeom>
              <a:avLst/>
              <a:gdLst/>
              <a:ahLst/>
              <a:cxnLst/>
              <a:rect l="l" t="t" r="r" b="b"/>
              <a:pathLst>
                <a:path w="650240" h="650239">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23" name="object 23"/>
            <p:cNvSpPr/>
            <p:nvPr/>
          </p:nvSpPr>
          <p:spPr>
            <a:xfrm>
              <a:off x="12593229" y="5268683"/>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24" name="object 24"/>
            <p:cNvSpPr/>
            <p:nvPr/>
          </p:nvSpPr>
          <p:spPr>
            <a:xfrm>
              <a:off x="13243146" y="7092377"/>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5" name="object 25"/>
            <p:cNvSpPr/>
            <p:nvPr/>
          </p:nvSpPr>
          <p:spPr>
            <a:xfrm>
              <a:off x="13243146" y="8591111"/>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6" name="object 26"/>
            <p:cNvSpPr/>
            <p:nvPr/>
          </p:nvSpPr>
          <p:spPr>
            <a:xfrm>
              <a:off x="15195055" y="8587615"/>
              <a:ext cx="1302385" cy="3810"/>
            </a:xfrm>
            <a:custGeom>
              <a:avLst/>
              <a:gdLst/>
              <a:ahLst/>
              <a:cxnLst/>
              <a:rect l="l" t="t" r="r" b="b"/>
              <a:pathLst>
                <a:path w="1302384" h="3809">
                  <a:moveTo>
                    <a:pt x="0" y="3496"/>
                  </a:moveTo>
                  <a:lnTo>
                    <a:pt x="1302000" y="0"/>
                  </a:lnTo>
                </a:path>
              </a:pathLst>
            </a:custGeom>
            <a:ln w="47118">
              <a:solidFill>
                <a:srgbClr val="FD776E"/>
              </a:solidFill>
            </a:ln>
          </p:spPr>
          <p:txBody>
            <a:bodyPr wrap="square" lIns="0" tIns="0" rIns="0" bIns="0" rtlCol="0"/>
            <a:lstStyle/>
            <a:p>
              <a:endParaRPr/>
            </a:p>
          </p:txBody>
        </p:sp>
        <p:sp>
          <p:nvSpPr>
            <p:cNvPr id="27" name="object 27"/>
            <p:cNvSpPr/>
            <p:nvPr/>
          </p:nvSpPr>
          <p:spPr>
            <a:xfrm>
              <a:off x="15195055" y="7092377"/>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8" name="object 28"/>
            <p:cNvSpPr/>
            <p:nvPr/>
          </p:nvSpPr>
          <p:spPr>
            <a:xfrm>
              <a:off x="15195055" y="5593643"/>
              <a:ext cx="1302385" cy="0"/>
            </a:xfrm>
            <a:custGeom>
              <a:avLst/>
              <a:gdLst/>
              <a:ahLst/>
              <a:cxnLst/>
              <a:rect l="l" t="t" r="r" b="b"/>
              <a:pathLst>
                <a:path w="1302384">
                  <a:moveTo>
                    <a:pt x="0" y="0"/>
                  </a:moveTo>
                  <a:lnTo>
                    <a:pt x="1301999" y="0"/>
                  </a:lnTo>
                </a:path>
              </a:pathLst>
            </a:custGeom>
            <a:ln w="47118">
              <a:solidFill>
                <a:srgbClr val="FD776E"/>
              </a:solidFill>
            </a:ln>
          </p:spPr>
          <p:txBody>
            <a:bodyPr wrap="square" lIns="0" tIns="0" rIns="0" bIns="0" rtlCol="0"/>
            <a:lstStyle/>
            <a:p>
              <a:endParaRPr/>
            </a:p>
          </p:txBody>
        </p:sp>
        <p:sp>
          <p:nvSpPr>
            <p:cNvPr id="29" name="object 29"/>
            <p:cNvSpPr/>
            <p:nvPr/>
          </p:nvSpPr>
          <p:spPr>
            <a:xfrm>
              <a:off x="13243146" y="5601924"/>
              <a:ext cx="1302385" cy="0"/>
            </a:xfrm>
            <a:custGeom>
              <a:avLst/>
              <a:gdLst/>
              <a:ahLst/>
              <a:cxnLst/>
              <a:rect l="l" t="t" r="r" b="b"/>
              <a:pathLst>
                <a:path w="1302384">
                  <a:moveTo>
                    <a:pt x="0" y="0"/>
                  </a:moveTo>
                  <a:lnTo>
                    <a:pt x="1301998" y="0"/>
                  </a:lnTo>
                </a:path>
              </a:pathLst>
            </a:custGeom>
            <a:ln w="47118">
              <a:solidFill>
                <a:srgbClr val="FD776E"/>
              </a:solidFill>
            </a:ln>
          </p:spPr>
          <p:txBody>
            <a:bodyPr wrap="square" lIns="0" tIns="0" rIns="0" bIns="0" rtlCol="0"/>
            <a:lstStyle/>
            <a:p>
              <a:endParaRPr/>
            </a:p>
          </p:txBody>
        </p:sp>
        <p:sp>
          <p:nvSpPr>
            <p:cNvPr id="30" name="object 30"/>
            <p:cNvSpPr/>
            <p:nvPr/>
          </p:nvSpPr>
          <p:spPr>
            <a:xfrm>
              <a:off x="1291818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1" name="object 31"/>
            <p:cNvSpPr/>
            <p:nvPr/>
          </p:nvSpPr>
          <p:spPr>
            <a:xfrm>
              <a:off x="1487010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2" name="object 32"/>
            <p:cNvSpPr/>
            <p:nvPr/>
          </p:nvSpPr>
          <p:spPr>
            <a:xfrm>
              <a:off x="1682202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3" name="object 33"/>
            <p:cNvSpPr/>
            <p:nvPr/>
          </p:nvSpPr>
          <p:spPr>
            <a:xfrm>
              <a:off x="12924685" y="5918600"/>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4" name="object 34"/>
            <p:cNvSpPr/>
            <p:nvPr/>
          </p:nvSpPr>
          <p:spPr>
            <a:xfrm>
              <a:off x="14870102" y="5918600"/>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5" name="object 35"/>
            <p:cNvSpPr/>
            <p:nvPr/>
          </p:nvSpPr>
          <p:spPr>
            <a:xfrm>
              <a:off x="16822011" y="5918599"/>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grpSp>
      <p:sp>
        <p:nvSpPr>
          <p:cNvPr id="36" name="object 36"/>
          <p:cNvSpPr txBox="1"/>
          <p:nvPr/>
        </p:nvSpPr>
        <p:spPr>
          <a:xfrm>
            <a:off x="15178293" y="6462495"/>
            <a:ext cx="1503157"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12</a:t>
            </a:r>
          </a:p>
        </p:txBody>
      </p:sp>
      <p:sp>
        <p:nvSpPr>
          <p:cNvPr id="38" name="object 38"/>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002784"/>
          </a:xfrm>
          <a:prstGeom prst="rect">
            <a:avLst/>
          </a:prstGeom>
        </p:spPr>
        <p:txBody>
          <a:bodyPr vert="horz" wrap="square" lIns="0" tIns="78686" rIns="0" bIns="0" rtlCol="0">
            <a:spAutoFit/>
          </a:bodyPr>
          <a:lstStyle/>
          <a:p>
            <a:pPr marL="12700">
              <a:lnSpc>
                <a:spcPct val="100000"/>
              </a:lnSpc>
              <a:spcBef>
                <a:spcPts val="114"/>
              </a:spcBef>
            </a:pPr>
            <a:r>
              <a:rPr sz="6000" dirty="0"/>
              <a:t>MÉTODOS AVANZADOS</a:t>
            </a:r>
          </a:p>
        </p:txBody>
      </p:sp>
      <p:sp>
        <p:nvSpPr>
          <p:cNvPr id="3" name="object 3"/>
          <p:cNvSpPr txBox="1"/>
          <p:nvPr/>
        </p:nvSpPr>
        <p:spPr>
          <a:xfrm>
            <a:off x="1097212" y="3074116"/>
            <a:ext cx="18213941" cy="1759456"/>
          </a:xfrm>
          <a:prstGeom prst="rect">
            <a:avLst/>
          </a:prstGeom>
        </p:spPr>
        <p:txBody>
          <a:bodyPr vert="horz" wrap="square" lIns="0" tIns="27940" rIns="0" bIns="0" rtlCol="0">
            <a:spAutoFit/>
          </a:bodyPr>
          <a:lstStyle/>
          <a:p>
            <a:pPr marL="12700" marR="5080">
              <a:lnSpc>
                <a:spcPts val="4530"/>
              </a:lnSpc>
              <a:spcBef>
                <a:spcPts val="220"/>
              </a:spcBef>
            </a:pPr>
            <a:r>
              <a:rPr sz="3800" dirty="0">
                <a:latin typeface="Tahoma"/>
                <a:cs typeface="Tahoma"/>
              </a:rPr>
              <a:t>Podemos crear nuestros métodos que sean más avanzados. En inteligencia artificial habían visto algoritmos de búsquedas. Podemos usar estos para buscar hiper-parámetros:</a:t>
            </a:r>
          </a:p>
        </p:txBody>
      </p:sp>
      <p:sp>
        <p:nvSpPr>
          <p:cNvPr id="4" name="object 4"/>
          <p:cNvSpPr txBox="1"/>
          <p:nvPr/>
        </p:nvSpPr>
        <p:spPr>
          <a:xfrm>
            <a:off x="1026451" y="5640285"/>
            <a:ext cx="9264572" cy="4358886"/>
          </a:xfrm>
          <a:prstGeom prst="rect">
            <a:avLst/>
          </a:prstGeom>
        </p:spPr>
        <p:txBody>
          <a:bodyPr vert="horz" wrap="square" lIns="0" tIns="11430" rIns="0" bIns="0" rtlCol="0">
            <a:spAutoFit/>
          </a:bodyPr>
          <a:lstStyle/>
          <a:p>
            <a:pPr marL="577850" indent="-565150">
              <a:lnSpc>
                <a:spcPct val="100000"/>
              </a:lnSpc>
              <a:spcBef>
                <a:spcPts val="90"/>
              </a:spcBef>
              <a:buFont typeface="Arial MT"/>
              <a:buChar char="•"/>
              <a:tabLst>
                <a:tab pos="577850" algn="l"/>
              </a:tabLst>
            </a:pPr>
            <a:r>
              <a:rPr sz="3800" b="1" dirty="0">
                <a:solidFill>
                  <a:srgbClr val="19BD1B"/>
                </a:solidFill>
                <a:latin typeface="Calibri"/>
                <a:cs typeface="Calibri"/>
              </a:rPr>
              <a:t>Gradiente Descendiente o Ascendente</a:t>
            </a:r>
            <a:endParaRPr sz="3800" dirty="0">
              <a:latin typeface="Calibri"/>
              <a:cs typeface="Calibri"/>
            </a:endParaRPr>
          </a:p>
          <a:p>
            <a:pPr marL="577850" indent="-565150">
              <a:lnSpc>
                <a:spcPct val="100000"/>
              </a:lnSpc>
              <a:spcBef>
                <a:spcPts val="3040"/>
              </a:spcBef>
              <a:buFont typeface="Arial MT"/>
              <a:buChar char="•"/>
              <a:tabLst>
                <a:tab pos="577850" algn="l"/>
              </a:tabLst>
            </a:pPr>
            <a:r>
              <a:rPr sz="3800" dirty="0">
                <a:latin typeface="Tahoma"/>
                <a:cs typeface="Tahoma"/>
              </a:rPr>
              <a:t>Simulated annealing</a:t>
            </a:r>
          </a:p>
          <a:p>
            <a:pPr marL="577850" indent="-565150">
              <a:lnSpc>
                <a:spcPct val="100000"/>
              </a:lnSpc>
              <a:spcBef>
                <a:spcPts val="2680"/>
              </a:spcBef>
              <a:buFont typeface="Arial MT"/>
              <a:buChar char="•"/>
              <a:tabLst>
                <a:tab pos="577850" algn="l"/>
              </a:tabLst>
            </a:pPr>
            <a:r>
              <a:rPr sz="3800" dirty="0">
                <a:latin typeface="Tahoma"/>
                <a:cs typeface="Tahoma"/>
              </a:rPr>
              <a:t>Búsqueda Local Beam</a:t>
            </a:r>
          </a:p>
          <a:p>
            <a:pPr marL="577850" indent="-565150">
              <a:lnSpc>
                <a:spcPct val="100000"/>
              </a:lnSpc>
              <a:spcBef>
                <a:spcPts val="2705"/>
              </a:spcBef>
              <a:buFont typeface="Arial MT"/>
              <a:buChar char="•"/>
              <a:tabLst>
                <a:tab pos="577850" algn="l"/>
              </a:tabLst>
            </a:pPr>
            <a:r>
              <a:rPr sz="3800" dirty="0">
                <a:latin typeface="Tahoma"/>
                <a:cs typeface="Tahoma"/>
              </a:rPr>
              <a:t>Algoritmos Genéticos</a:t>
            </a:r>
          </a:p>
          <a:p>
            <a:pPr marL="577850" indent="-565150">
              <a:lnSpc>
                <a:spcPct val="100000"/>
              </a:lnSpc>
              <a:spcBef>
                <a:spcPts val="2700"/>
              </a:spcBef>
              <a:buFont typeface="Arial MT"/>
              <a:buChar char="•"/>
              <a:tabLst>
                <a:tab pos="577850" algn="l"/>
              </a:tabLst>
            </a:pPr>
            <a:r>
              <a:rPr sz="3800" dirty="0">
                <a:latin typeface="Tahoma"/>
                <a:cs typeface="Tahoma"/>
              </a:rPr>
              <a:t>Búsqueda bayesiana</a:t>
            </a:r>
          </a:p>
        </p:txBody>
      </p:sp>
      <p:grpSp>
        <p:nvGrpSpPr>
          <p:cNvPr id="5" name="object 5"/>
          <p:cNvGrpSpPr/>
          <p:nvPr/>
        </p:nvGrpSpPr>
        <p:grpSpPr>
          <a:xfrm>
            <a:off x="12577522" y="5252977"/>
            <a:ext cx="4585335" cy="3679190"/>
            <a:chOff x="12577522" y="5252977"/>
            <a:chExt cx="4585335" cy="3679190"/>
          </a:xfrm>
        </p:grpSpPr>
        <p:sp>
          <p:nvSpPr>
            <p:cNvPr id="6" name="object 6"/>
            <p:cNvSpPr/>
            <p:nvPr/>
          </p:nvSpPr>
          <p:spPr>
            <a:xfrm>
              <a:off x="14545148" y="676742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5" y="636157"/>
                  </a:lnTo>
                  <a:lnTo>
                    <a:pt x="461947" y="619713"/>
                  </a:lnTo>
                  <a:lnTo>
                    <a:pt x="501895" y="597563"/>
                  </a:lnTo>
                  <a:lnTo>
                    <a:pt x="538148" y="570209"/>
                  </a:lnTo>
                  <a:lnTo>
                    <a:pt x="570202" y="538154"/>
                  </a:lnTo>
                  <a:lnTo>
                    <a:pt x="597555" y="501901"/>
                  </a:lnTo>
                  <a:lnTo>
                    <a:pt x="619705" y="461952"/>
                  </a:lnTo>
                  <a:lnTo>
                    <a:pt x="636149" y="418810"/>
                  </a:lnTo>
                  <a:lnTo>
                    <a:pt x="646383" y="372978"/>
                  </a:lnTo>
                  <a:lnTo>
                    <a:pt x="649906" y="324958"/>
                  </a:lnTo>
                  <a:lnTo>
                    <a:pt x="646383" y="276938"/>
                  </a:lnTo>
                  <a:lnTo>
                    <a:pt x="636149" y="231106"/>
                  </a:lnTo>
                  <a:lnTo>
                    <a:pt x="619705" y="187964"/>
                  </a:lnTo>
                  <a:lnTo>
                    <a:pt x="597555" y="148015"/>
                  </a:lnTo>
                  <a:lnTo>
                    <a:pt x="570202" y="111761"/>
                  </a:lnTo>
                  <a:lnTo>
                    <a:pt x="538148" y="79706"/>
                  </a:lnTo>
                  <a:lnTo>
                    <a:pt x="501895" y="52352"/>
                  </a:lnTo>
                  <a:lnTo>
                    <a:pt x="461947" y="30202"/>
                  </a:lnTo>
                  <a:lnTo>
                    <a:pt x="418805" y="13758"/>
                  </a:lnTo>
                  <a:lnTo>
                    <a:pt x="372973" y="3523"/>
                  </a:lnTo>
                  <a:lnTo>
                    <a:pt x="324953" y="0"/>
                  </a:lnTo>
                  <a:close/>
                </a:path>
              </a:pathLst>
            </a:custGeom>
            <a:solidFill>
              <a:srgbClr val="AFF5B0"/>
            </a:solidFill>
          </p:spPr>
          <p:txBody>
            <a:bodyPr wrap="square" lIns="0" tIns="0" rIns="0" bIns="0" rtlCol="0"/>
            <a:lstStyle/>
            <a:p>
              <a:endParaRPr/>
            </a:p>
          </p:txBody>
        </p:sp>
        <p:sp>
          <p:nvSpPr>
            <p:cNvPr id="7" name="object 7"/>
            <p:cNvSpPr/>
            <p:nvPr/>
          </p:nvSpPr>
          <p:spPr>
            <a:xfrm>
              <a:off x="14545149"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38E53A"/>
              </a:solidFill>
            </a:ln>
          </p:spPr>
          <p:txBody>
            <a:bodyPr wrap="square" lIns="0" tIns="0" rIns="0" bIns="0" rtlCol="0"/>
            <a:lstStyle/>
            <a:p>
              <a:endParaRPr/>
            </a:p>
          </p:txBody>
        </p:sp>
        <p:sp>
          <p:nvSpPr>
            <p:cNvPr id="8" name="object 8"/>
            <p:cNvSpPr/>
            <p:nvPr/>
          </p:nvSpPr>
          <p:spPr>
            <a:xfrm>
              <a:off x="16497058" y="6767420"/>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FFFD99"/>
            </a:solidFill>
          </p:spPr>
          <p:txBody>
            <a:bodyPr wrap="square" lIns="0" tIns="0" rIns="0" bIns="0" rtlCol="0"/>
            <a:lstStyle/>
            <a:p>
              <a:endParaRPr/>
            </a:p>
          </p:txBody>
        </p:sp>
        <p:sp>
          <p:nvSpPr>
            <p:cNvPr id="9" name="object 9"/>
            <p:cNvSpPr/>
            <p:nvPr/>
          </p:nvSpPr>
          <p:spPr>
            <a:xfrm>
              <a:off x="16497058"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0" name="object 10"/>
            <p:cNvSpPr/>
            <p:nvPr/>
          </p:nvSpPr>
          <p:spPr>
            <a:xfrm>
              <a:off x="16497058" y="8262657"/>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7F7F7F"/>
            </a:solidFill>
          </p:spPr>
          <p:txBody>
            <a:bodyPr wrap="square" lIns="0" tIns="0" rIns="0" bIns="0" rtlCol="0"/>
            <a:lstStyle/>
            <a:p>
              <a:endParaRPr/>
            </a:p>
          </p:txBody>
        </p:sp>
        <p:sp>
          <p:nvSpPr>
            <p:cNvPr id="11" name="object 11"/>
            <p:cNvSpPr/>
            <p:nvPr/>
          </p:nvSpPr>
          <p:spPr>
            <a:xfrm>
              <a:off x="16497058" y="8262657"/>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2" name="object 12"/>
            <p:cNvSpPr/>
            <p:nvPr/>
          </p:nvSpPr>
          <p:spPr>
            <a:xfrm>
              <a:off x="14545148" y="8266153"/>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5" y="636157"/>
                  </a:lnTo>
                  <a:lnTo>
                    <a:pt x="461947" y="619713"/>
                  </a:lnTo>
                  <a:lnTo>
                    <a:pt x="501895" y="597563"/>
                  </a:lnTo>
                  <a:lnTo>
                    <a:pt x="538148" y="570209"/>
                  </a:lnTo>
                  <a:lnTo>
                    <a:pt x="570202" y="538154"/>
                  </a:lnTo>
                  <a:lnTo>
                    <a:pt x="597555" y="501901"/>
                  </a:lnTo>
                  <a:lnTo>
                    <a:pt x="619705" y="461952"/>
                  </a:lnTo>
                  <a:lnTo>
                    <a:pt x="636149" y="418810"/>
                  </a:lnTo>
                  <a:lnTo>
                    <a:pt x="646383" y="372978"/>
                  </a:lnTo>
                  <a:lnTo>
                    <a:pt x="649906" y="324958"/>
                  </a:lnTo>
                  <a:lnTo>
                    <a:pt x="646383" y="276938"/>
                  </a:lnTo>
                  <a:lnTo>
                    <a:pt x="636149" y="231106"/>
                  </a:lnTo>
                  <a:lnTo>
                    <a:pt x="619705" y="187964"/>
                  </a:lnTo>
                  <a:lnTo>
                    <a:pt x="597555" y="148015"/>
                  </a:lnTo>
                  <a:lnTo>
                    <a:pt x="570202" y="111761"/>
                  </a:lnTo>
                  <a:lnTo>
                    <a:pt x="538148" y="79706"/>
                  </a:lnTo>
                  <a:lnTo>
                    <a:pt x="501895" y="52352"/>
                  </a:lnTo>
                  <a:lnTo>
                    <a:pt x="461947" y="30202"/>
                  </a:lnTo>
                  <a:lnTo>
                    <a:pt x="418805" y="13758"/>
                  </a:lnTo>
                  <a:lnTo>
                    <a:pt x="372973" y="3523"/>
                  </a:lnTo>
                  <a:lnTo>
                    <a:pt x="324953" y="0"/>
                  </a:lnTo>
                  <a:close/>
                </a:path>
              </a:pathLst>
            </a:custGeom>
            <a:solidFill>
              <a:srgbClr val="FFFD99"/>
            </a:solidFill>
          </p:spPr>
          <p:txBody>
            <a:bodyPr wrap="square" lIns="0" tIns="0" rIns="0" bIns="0" rtlCol="0"/>
            <a:lstStyle/>
            <a:p>
              <a:endParaRPr/>
            </a:p>
          </p:txBody>
        </p:sp>
        <p:sp>
          <p:nvSpPr>
            <p:cNvPr id="13" name="object 13"/>
            <p:cNvSpPr/>
            <p:nvPr/>
          </p:nvSpPr>
          <p:spPr>
            <a:xfrm>
              <a:off x="14545149" y="8266153"/>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4" name="object 14"/>
            <p:cNvSpPr/>
            <p:nvPr/>
          </p:nvSpPr>
          <p:spPr>
            <a:xfrm>
              <a:off x="14545138" y="5268684"/>
              <a:ext cx="650240" cy="650240"/>
            </a:xfrm>
            <a:custGeom>
              <a:avLst/>
              <a:gdLst/>
              <a:ahLst/>
              <a:cxnLst/>
              <a:rect l="l" t="t" r="r" b="b"/>
              <a:pathLst>
                <a:path w="650240" h="650239">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FFFD99"/>
            </a:solidFill>
          </p:spPr>
          <p:txBody>
            <a:bodyPr wrap="square" lIns="0" tIns="0" rIns="0" bIns="0" rtlCol="0"/>
            <a:lstStyle/>
            <a:p>
              <a:endParaRPr/>
            </a:p>
          </p:txBody>
        </p:sp>
        <p:sp>
          <p:nvSpPr>
            <p:cNvPr id="15" name="object 15"/>
            <p:cNvSpPr/>
            <p:nvPr/>
          </p:nvSpPr>
          <p:spPr>
            <a:xfrm>
              <a:off x="14545138" y="5268684"/>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6" name="object 16"/>
            <p:cNvSpPr/>
            <p:nvPr/>
          </p:nvSpPr>
          <p:spPr>
            <a:xfrm>
              <a:off x="16497058" y="5268685"/>
              <a:ext cx="650240" cy="650240"/>
            </a:xfrm>
            <a:custGeom>
              <a:avLst/>
              <a:gdLst/>
              <a:ahLst/>
              <a:cxnLst/>
              <a:rect l="l" t="t" r="r" b="b"/>
              <a:pathLst>
                <a:path w="650240" h="650239">
                  <a:moveTo>
                    <a:pt x="324953" y="0"/>
                  </a:moveTo>
                  <a:lnTo>
                    <a:pt x="276935" y="3523"/>
                  </a:lnTo>
                  <a:lnTo>
                    <a:pt x="231104" y="13758"/>
                  </a:lnTo>
                  <a:lnTo>
                    <a:pt x="187964" y="30202"/>
                  </a:lnTo>
                  <a:lnTo>
                    <a:pt x="148015" y="52352"/>
                  </a:lnTo>
                  <a:lnTo>
                    <a:pt x="111762" y="79706"/>
                  </a:lnTo>
                  <a:lnTo>
                    <a:pt x="79707" y="111761"/>
                  </a:lnTo>
                  <a:lnTo>
                    <a:pt x="52353" y="148015"/>
                  </a:lnTo>
                  <a:lnTo>
                    <a:pt x="30203" y="187964"/>
                  </a:lnTo>
                  <a:lnTo>
                    <a:pt x="13758" y="231106"/>
                  </a:lnTo>
                  <a:lnTo>
                    <a:pt x="3523" y="276938"/>
                  </a:lnTo>
                  <a:lnTo>
                    <a:pt x="0" y="324958"/>
                  </a:lnTo>
                  <a:lnTo>
                    <a:pt x="3523" y="372978"/>
                  </a:lnTo>
                  <a:lnTo>
                    <a:pt x="13758" y="418810"/>
                  </a:lnTo>
                  <a:lnTo>
                    <a:pt x="30203" y="461952"/>
                  </a:lnTo>
                  <a:lnTo>
                    <a:pt x="52353" y="501901"/>
                  </a:lnTo>
                  <a:lnTo>
                    <a:pt x="79707" y="538154"/>
                  </a:lnTo>
                  <a:lnTo>
                    <a:pt x="111762" y="570209"/>
                  </a:lnTo>
                  <a:lnTo>
                    <a:pt x="148015" y="597563"/>
                  </a:lnTo>
                  <a:lnTo>
                    <a:pt x="187964" y="619713"/>
                  </a:lnTo>
                  <a:lnTo>
                    <a:pt x="231104" y="636157"/>
                  </a:lnTo>
                  <a:lnTo>
                    <a:pt x="276935"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17" name="object 17"/>
            <p:cNvSpPr/>
            <p:nvPr/>
          </p:nvSpPr>
          <p:spPr>
            <a:xfrm>
              <a:off x="16497058" y="5268685"/>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8" name="object 18"/>
            <p:cNvSpPr/>
            <p:nvPr/>
          </p:nvSpPr>
          <p:spPr>
            <a:xfrm>
              <a:off x="12593229" y="676742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FFFD99"/>
            </a:solidFill>
          </p:spPr>
          <p:txBody>
            <a:bodyPr wrap="square" lIns="0" tIns="0" rIns="0" bIns="0" rtlCol="0"/>
            <a:lstStyle/>
            <a:p>
              <a:endParaRPr/>
            </a:p>
          </p:txBody>
        </p:sp>
        <p:sp>
          <p:nvSpPr>
            <p:cNvPr id="19" name="object 19"/>
            <p:cNvSpPr/>
            <p:nvPr/>
          </p:nvSpPr>
          <p:spPr>
            <a:xfrm>
              <a:off x="12593229"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20" name="object 20"/>
            <p:cNvSpPr/>
            <p:nvPr/>
          </p:nvSpPr>
          <p:spPr>
            <a:xfrm>
              <a:off x="12593229" y="8266153"/>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21" name="object 21"/>
            <p:cNvSpPr/>
            <p:nvPr/>
          </p:nvSpPr>
          <p:spPr>
            <a:xfrm>
              <a:off x="12593229" y="8266153"/>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22" name="object 22"/>
            <p:cNvSpPr/>
            <p:nvPr/>
          </p:nvSpPr>
          <p:spPr>
            <a:xfrm>
              <a:off x="12593229" y="5268683"/>
              <a:ext cx="650240" cy="650240"/>
            </a:xfrm>
            <a:custGeom>
              <a:avLst/>
              <a:gdLst/>
              <a:ahLst/>
              <a:cxnLst/>
              <a:rect l="l" t="t" r="r" b="b"/>
              <a:pathLst>
                <a:path w="650240" h="650239">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23" name="object 23"/>
            <p:cNvSpPr/>
            <p:nvPr/>
          </p:nvSpPr>
          <p:spPr>
            <a:xfrm>
              <a:off x="12593229" y="5268683"/>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24" name="object 24"/>
            <p:cNvSpPr/>
            <p:nvPr/>
          </p:nvSpPr>
          <p:spPr>
            <a:xfrm>
              <a:off x="13243146" y="7092377"/>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5" name="object 25"/>
            <p:cNvSpPr/>
            <p:nvPr/>
          </p:nvSpPr>
          <p:spPr>
            <a:xfrm>
              <a:off x="13243146" y="8591111"/>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6" name="object 26"/>
            <p:cNvSpPr/>
            <p:nvPr/>
          </p:nvSpPr>
          <p:spPr>
            <a:xfrm>
              <a:off x="15195055" y="8587615"/>
              <a:ext cx="1302385" cy="3810"/>
            </a:xfrm>
            <a:custGeom>
              <a:avLst/>
              <a:gdLst/>
              <a:ahLst/>
              <a:cxnLst/>
              <a:rect l="l" t="t" r="r" b="b"/>
              <a:pathLst>
                <a:path w="1302384" h="3809">
                  <a:moveTo>
                    <a:pt x="0" y="3496"/>
                  </a:moveTo>
                  <a:lnTo>
                    <a:pt x="1302000" y="0"/>
                  </a:lnTo>
                </a:path>
              </a:pathLst>
            </a:custGeom>
            <a:ln w="47118">
              <a:solidFill>
                <a:srgbClr val="FD776E"/>
              </a:solidFill>
            </a:ln>
          </p:spPr>
          <p:txBody>
            <a:bodyPr wrap="square" lIns="0" tIns="0" rIns="0" bIns="0" rtlCol="0"/>
            <a:lstStyle/>
            <a:p>
              <a:endParaRPr/>
            </a:p>
          </p:txBody>
        </p:sp>
        <p:sp>
          <p:nvSpPr>
            <p:cNvPr id="27" name="object 27"/>
            <p:cNvSpPr/>
            <p:nvPr/>
          </p:nvSpPr>
          <p:spPr>
            <a:xfrm>
              <a:off x="15195055" y="7092377"/>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8" name="object 28"/>
            <p:cNvSpPr/>
            <p:nvPr/>
          </p:nvSpPr>
          <p:spPr>
            <a:xfrm>
              <a:off x="15195055" y="5593643"/>
              <a:ext cx="1302385" cy="0"/>
            </a:xfrm>
            <a:custGeom>
              <a:avLst/>
              <a:gdLst/>
              <a:ahLst/>
              <a:cxnLst/>
              <a:rect l="l" t="t" r="r" b="b"/>
              <a:pathLst>
                <a:path w="1302384">
                  <a:moveTo>
                    <a:pt x="0" y="0"/>
                  </a:moveTo>
                  <a:lnTo>
                    <a:pt x="1301999" y="0"/>
                  </a:lnTo>
                </a:path>
              </a:pathLst>
            </a:custGeom>
            <a:ln w="47118">
              <a:solidFill>
                <a:srgbClr val="FD776E"/>
              </a:solidFill>
            </a:ln>
          </p:spPr>
          <p:txBody>
            <a:bodyPr wrap="square" lIns="0" tIns="0" rIns="0" bIns="0" rtlCol="0"/>
            <a:lstStyle/>
            <a:p>
              <a:endParaRPr/>
            </a:p>
          </p:txBody>
        </p:sp>
        <p:sp>
          <p:nvSpPr>
            <p:cNvPr id="29" name="object 29"/>
            <p:cNvSpPr/>
            <p:nvPr/>
          </p:nvSpPr>
          <p:spPr>
            <a:xfrm>
              <a:off x="13243146" y="5601924"/>
              <a:ext cx="1302385" cy="0"/>
            </a:xfrm>
            <a:custGeom>
              <a:avLst/>
              <a:gdLst/>
              <a:ahLst/>
              <a:cxnLst/>
              <a:rect l="l" t="t" r="r" b="b"/>
              <a:pathLst>
                <a:path w="1302384">
                  <a:moveTo>
                    <a:pt x="0" y="0"/>
                  </a:moveTo>
                  <a:lnTo>
                    <a:pt x="1301998" y="0"/>
                  </a:lnTo>
                </a:path>
              </a:pathLst>
            </a:custGeom>
            <a:ln w="47118">
              <a:solidFill>
                <a:srgbClr val="FD776E"/>
              </a:solidFill>
            </a:ln>
          </p:spPr>
          <p:txBody>
            <a:bodyPr wrap="square" lIns="0" tIns="0" rIns="0" bIns="0" rtlCol="0"/>
            <a:lstStyle/>
            <a:p>
              <a:endParaRPr/>
            </a:p>
          </p:txBody>
        </p:sp>
        <p:sp>
          <p:nvSpPr>
            <p:cNvPr id="30" name="object 30"/>
            <p:cNvSpPr/>
            <p:nvPr/>
          </p:nvSpPr>
          <p:spPr>
            <a:xfrm>
              <a:off x="1291818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1" name="object 31"/>
            <p:cNvSpPr/>
            <p:nvPr/>
          </p:nvSpPr>
          <p:spPr>
            <a:xfrm>
              <a:off x="1487010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2" name="object 32"/>
            <p:cNvSpPr/>
            <p:nvPr/>
          </p:nvSpPr>
          <p:spPr>
            <a:xfrm>
              <a:off x="1682202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3" name="object 33"/>
            <p:cNvSpPr/>
            <p:nvPr/>
          </p:nvSpPr>
          <p:spPr>
            <a:xfrm>
              <a:off x="12924685" y="5918600"/>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4" name="object 34"/>
            <p:cNvSpPr/>
            <p:nvPr/>
          </p:nvSpPr>
          <p:spPr>
            <a:xfrm>
              <a:off x="14870102" y="5918600"/>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5" name="object 35"/>
            <p:cNvSpPr/>
            <p:nvPr/>
          </p:nvSpPr>
          <p:spPr>
            <a:xfrm>
              <a:off x="16822011" y="5918599"/>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grpSp>
      <p:sp>
        <p:nvSpPr>
          <p:cNvPr id="36" name="object 36"/>
          <p:cNvSpPr txBox="1"/>
          <p:nvPr/>
        </p:nvSpPr>
        <p:spPr>
          <a:xfrm>
            <a:off x="15178293" y="6462495"/>
            <a:ext cx="1444012"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12</a:t>
            </a:r>
          </a:p>
        </p:txBody>
      </p:sp>
      <p:sp>
        <p:nvSpPr>
          <p:cNvPr id="42" name="object 42"/>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61</a:t>
            </a:fld>
            <a:endParaRPr spc="-25" dirty="0"/>
          </a:p>
        </p:txBody>
      </p:sp>
      <p:sp>
        <p:nvSpPr>
          <p:cNvPr id="37" name="object 37"/>
          <p:cNvSpPr txBox="1"/>
          <p:nvPr/>
        </p:nvSpPr>
        <p:spPr>
          <a:xfrm>
            <a:off x="14439362" y="4824011"/>
            <a:ext cx="1684446"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13</a:t>
            </a:r>
          </a:p>
        </p:txBody>
      </p:sp>
      <p:sp>
        <p:nvSpPr>
          <p:cNvPr id="38" name="object 38"/>
          <p:cNvSpPr txBox="1"/>
          <p:nvPr/>
        </p:nvSpPr>
        <p:spPr>
          <a:xfrm>
            <a:off x="17347000" y="6907298"/>
            <a:ext cx="1426929"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11</a:t>
            </a:r>
          </a:p>
        </p:txBody>
      </p:sp>
      <p:sp>
        <p:nvSpPr>
          <p:cNvPr id="39" name="object 39"/>
          <p:cNvSpPr txBox="1"/>
          <p:nvPr/>
        </p:nvSpPr>
        <p:spPr>
          <a:xfrm>
            <a:off x="11118854" y="6907298"/>
            <a:ext cx="1305708"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14</a:t>
            </a:r>
          </a:p>
        </p:txBody>
      </p:sp>
      <p:sp>
        <p:nvSpPr>
          <p:cNvPr id="40" name="object 40"/>
          <p:cNvSpPr txBox="1"/>
          <p:nvPr/>
        </p:nvSpPr>
        <p:spPr>
          <a:xfrm>
            <a:off x="14438932" y="9053411"/>
            <a:ext cx="1302385"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9</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8686" rIns="0" bIns="0" rtlCol="0">
            <a:spAutoFit/>
          </a:bodyPr>
          <a:lstStyle/>
          <a:p>
            <a:pPr marL="12700">
              <a:lnSpc>
                <a:spcPct val="100000"/>
              </a:lnSpc>
              <a:spcBef>
                <a:spcPts val="114"/>
              </a:spcBef>
            </a:pPr>
            <a:r>
              <a:rPr sz="6000" spc="-515" dirty="0"/>
              <a:t>MÉTODOS</a:t>
            </a:r>
            <a:r>
              <a:rPr sz="6000" spc="-1270" dirty="0"/>
              <a:t> </a:t>
            </a:r>
            <a:r>
              <a:rPr sz="6000" spc="-540" dirty="0"/>
              <a:t>AVANZADOS</a:t>
            </a:r>
            <a:endParaRPr sz="6000"/>
          </a:p>
        </p:txBody>
      </p:sp>
      <p:sp>
        <p:nvSpPr>
          <p:cNvPr id="3" name="object 3"/>
          <p:cNvSpPr txBox="1"/>
          <p:nvPr/>
        </p:nvSpPr>
        <p:spPr>
          <a:xfrm>
            <a:off x="1097213" y="2539614"/>
            <a:ext cx="17526000" cy="1759456"/>
          </a:xfrm>
          <a:prstGeom prst="rect">
            <a:avLst/>
          </a:prstGeom>
        </p:spPr>
        <p:txBody>
          <a:bodyPr vert="horz" wrap="square" lIns="0" tIns="27940" rIns="0" bIns="0" rtlCol="0">
            <a:spAutoFit/>
          </a:bodyPr>
          <a:lstStyle/>
          <a:p>
            <a:pPr marL="12700" marR="5080" algn="just">
              <a:lnSpc>
                <a:spcPts val="4530"/>
              </a:lnSpc>
              <a:spcBef>
                <a:spcPts val="220"/>
              </a:spcBef>
            </a:pPr>
            <a:r>
              <a:rPr sz="3800" dirty="0">
                <a:latin typeface="Tahoma"/>
                <a:cs typeface="Tahoma"/>
              </a:rPr>
              <a:t>Podemos crear nuestros métodos que sean más avanzados. En inteligencia artificial habían visto algoritmos de búsquedas. Podemos usar estos para buscar hiper-parámetros:</a:t>
            </a:r>
          </a:p>
        </p:txBody>
      </p:sp>
      <p:sp>
        <p:nvSpPr>
          <p:cNvPr id="4" name="object 4"/>
          <p:cNvSpPr txBox="1"/>
          <p:nvPr/>
        </p:nvSpPr>
        <p:spPr>
          <a:xfrm>
            <a:off x="1097212" y="4491703"/>
            <a:ext cx="9875553" cy="3427861"/>
          </a:xfrm>
          <a:prstGeom prst="rect">
            <a:avLst/>
          </a:prstGeom>
        </p:spPr>
        <p:txBody>
          <a:bodyPr vert="horz" wrap="square" lIns="0" tIns="11430" rIns="0" bIns="0" rtlCol="0">
            <a:spAutoFit/>
          </a:bodyPr>
          <a:lstStyle/>
          <a:p>
            <a:pPr marL="577850" indent="-565150">
              <a:lnSpc>
                <a:spcPct val="100000"/>
              </a:lnSpc>
              <a:spcBef>
                <a:spcPts val="90"/>
              </a:spcBef>
              <a:buFont typeface="Arial MT"/>
              <a:buChar char="•"/>
              <a:tabLst>
                <a:tab pos="577850" algn="l"/>
              </a:tabLst>
            </a:pPr>
            <a:r>
              <a:rPr sz="3800" b="1" dirty="0">
                <a:solidFill>
                  <a:srgbClr val="19BD1B"/>
                </a:solidFill>
                <a:latin typeface="Calibri"/>
                <a:cs typeface="Calibri"/>
              </a:rPr>
              <a:t>Gradiente Descendiente o Ascendente</a:t>
            </a:r>
            <a:endParaRPr sz="3800" dirty="0">
              <a:latin typeface="Calibri"/>
              <a:cs typeface="Calibri"/>
            </a:endParaRPr>
          </a:p>
          <a:p>
            <a:pPr marL="577850" indent="-565150">
              <a:lnSpc>
                <a:spcPct val="100000"/>
              </a:lnSpc>
              <a:spcBef>
                <a:spcPts val="3040"/>
              </a:spcBef>
              <a:buFont typeface="Arial MT"/>
              <a:buChar char="•"/>
              <a:tabLst>
                <a:tab pos="577850" algn="l"/>
              </a:tabLst>
            </a:pPr>
            <a:r>
              <a:rPr sz="3800" dirty="0">
                <a:latin typeface="Tahoma"/>
                <a:cs typeface="Tahoma"/>
              </a:rPr>
              <a:t>Simulated annealing</a:t>
            </a:r>
          </a:p>
          <a:p>
            <a:pPr marL="577850" indent="-565150">
              <a:lnSpc>
                <a:spcPct val="100000"/>
              </a:lnSpc>
              <a:spcBef>
                <a:spcPts val="2680"/>
              </a:spcBef>
              <a:buFont typeface="Arial MT"/>
              <a:buChar char="•"/>
              <a:tabLst>
                <a:tab pos="577850" algn="l"/>
              </a:tabLst>
            </a:pPr>
            <a:r>
              <a:rPr sz="3800" dirty="0">
                <a:latin typeface="Tahoma"/>
                <a:cs typeface="Tahoma"/>
              </a:rPr>
              <a:t>Búsqueda Local Beam</a:t>
            </a:r>
          </a:p>
          <a:p>
            <a:pPr marL="577850" indent="-565150">
              <a:lnSpc>
                <a:spcPct val="100000"/>
              </a:lnSpc>
              <a:spcBef>
                <a:spcPts val="2705"/>
              </a:spcBef>
              <a:buFont typeface="Arial MT"/>
              <a:buChar char="•"/>
              <a:tabLst>
                <a:tab pos="577850" algn="l"/>
              </a:tabLst>
            </a:pPr>
            <a:r>
              <a:rPr sz="3800" dirty="0">
                <a:latin typeface="Tahoma"/>
                <a:cs typeface="Tahoma"/>
              </a:rPr>
              <a:t>Algoritmos Genéticos</a:t>
            </a:r>
          </a:p>
        </p:txBody>
      </p:sp>
      <p:sp>
        <p:nvSpPr>
          <p:cNvPr id="5" name="object 5"/>
          <p:cNvSpPr txBox="1"/>
          <p:nvPr/>
        </p:nvSpPr>
        <p:spPr>
          <a:xfrm>
            <a:off x="1109913" y="8241717"/>
            <a:ext cx="4537710" cy="623570"/>
          </a:xfrm>
          <a:prstGeom prst="rect">
            <a:avLst/>
          </a:prstGeom>
        </p:spPr>
        <p:txBody>
          <a:bodyPr vert="horz" wrap="square" lIns="0" tIns="38100" rIns="0" bIns="0" rtlCol="0">
            <a:spAutoFit/>
          </a:bodyPr>
          <a:lstStyle/>
          <a:p>
            <a:pPr>
              <a:lnSpc>
                <a:spcPct val="100000"/>
              </a:lnSpc>
              <a:spcBef>
                <a:spcPts val="300"/>
              </a:spcBef>
              <a:tabLst>
                <a:tab pos="565150" algn="l"/>
              </a:tabLst>
            </a:pPr>
            <a:r>
              <a:rPr sz="3800" spc="-50" dirty="0">
                <a:latin typeface="Arial MT"/>
                <a:cs typeface="Arial MT"/>
              </a:rPr>
              <a:t>•</a:t>
            </a:r>
            <a:r>
              <a:rPr sz="3800" dirty="0">
                <a:latin typeface="Arial MT"/>
                <a:cs typeface="Arial MT"/>
              </a:rPr>
              <a:t>	</a:t>
            </a:r>
            <a:r>
              <a:rPr sz="3800" spc="-170" dirty="0">
                <a:latin typeface="Tahoma"/>
                <a:cs typeface="Tahoma"/>
              </a:rPr>
              <a:t>Búsqueda</a:t>
            </a:r>
            <a:r>
              <a:rPr sz="3800" spc="-375" dirty="0">
                <a:latin typeface="Tahoma"/>
                <a:cs typeface="Tahoma"/>
              </a:rPr>
              <a:t> </a:t>
            </a:r>
            <a:r>
              <a:rPr sz="3800" spc="-150" dirty="0">
                <a:latin typeface="Tahoma"/>
                <a:cs typeface="Tahoma"/>
              </a:rPr>
              <a:t>bayesiana</a:t>
            </a:r>
            <a:endParaRPr sz="3800">
              <a:latin typeface="Tahoma"/>
              <a:cs typeface="Tahoma"/>
            </a:endParaRPr>
          </a:p>
        </p:txBody>
      </p:sp>
      <p:grpSp>
        <p:nvGrpSpPr>
          <p:cNvPr id="6" name="object 6"/>
          <p:cNvGrpSpPr/>
          <p:nvPr/>
        </p:nvGrpSpPr>
        <p:grpSpPr>
          <a:xfrm>
            <a:off x="12577522" y="5252977"/>
            <a:ext cx="4585335" cy="3679190"/>
            <a:chOff x="12577522" y="5252977"/>
            <a:chExt cx="4585335" cy="3679190"/>
          </a:xfrm>
        </p:grpSpPr>
        <p:sp>
          <p:nvSpPr>
            <p:cNvPr id="7" name="object 7"/>
            <p:cNvSpPr/>
            <p:nvPr/>
          </p:nvSpPr>
          <p:spPr>
            <a:xfrm>
              <a:off x="14545148" y="676742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5" y="636157"/>
                  </a:lnTo>
                  <a:lnTo>
                    <a:pt x="461947" y="619713"/>
                  </a:lnTo>
                  <a:lnTo>
                    <a:pt x="501895" y="597563"/>
                  </a:lnTo>
                  <a:lnTo>
                    <a:pt x="538148" y="570209"/>
                  </a:lnTo>
                  <a:lnTo>
                    <a:pt x="570202" y="538154"/>
                  </a:lnTo>
                  <a:lnTo>
                    <a:pt x="597555" y="501901"/>
                  </a:lnTo>
                  <a:lnTo>
                    <a:pt x="619705" y="461952"/>
                  </a:lnTo>
                  <a:lnTo>
                    <a:pt x="636149" y="418810"/>
                  </a:lnTo>
                  <a:lnTo>
                    <a:pt x="646383" y="372978"/>
                  </a:lnTo>
                  <a:lnTo>
                    <a:pt x="649906" y="324958"/>
                  </a:lnTo>
                  <a:lnTo>
                    <a:pt x="646383" y="276938"/>
                  </a:lnTo>
                  <a:lnTo>
                    <a:pt x="636149" y="231106"/>
                  </a:lnTo>
                  <a:lnTo>
                    <a:pt x="619705" y="187964"/>
                  </a:lnTo>
                  <a:lnTo>
                    <a:pt x="597555" y="148015"/>
                  </a:lnTo>
                  <a:lnTo>
                    <a:pt x="570202" y="111761"/>
                  </a:lnTo>
                  <a:lnTo>
                    <a:pt x="538148" y="79706"/>
                  </a:lnTo>
                  <a:lnTo>
                    <a:pt x="501895" y="52352"/>
                  </a:lnTo>
                  <a:lnTo>
                    <a:pt x="461947" y="30202"/>
                  </a:lnTo>
                  <a:lnTo>
                    <a:pt x="418805" y="13758"/>
                  </a:lnTo>
                  <a:lnTo>
                    <a:pt x="372973" y="3523"/>
                  </a:lnTo>
                  <a:lnTo>
                    <a:pt x="324953" y="0"/>
                  </a:lnTo>
                  <a:close/>
                </a:path>
              </a:pathLst>
            </a:custGeom>
            <a:solidFill>
              <a:srgbClr val="FFCCF6"/>
            </a:solidFill>
          </p:spPr>
          <p:txBody>
            <a:bodyPr wrap="square" lIns="0" tIns="0" rIns="0" bIns="0" rtlCol="0"/>
            <a:lstStyle/>
            <a:p>
              <a:endParaRPr/>
            </a:p>
          </p:txBody>
        </p:sp>
        <p:sp>
          <p:nvSpPr>
            <p:cNvPr id="8" name="object 8"/>
            <p:cNvSpPr/>
            <p:nvPr/>
          </p:nvSpPr>
          <p:spPr>
            <a:xfrm>
              <a:off x="14545149"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FF80E9"/>
              </a:solidFill>
            </a:ln>
          </p:spPr>
          <p:txBody>
            <a:bodyPr wrap="square" lIns="0" tIns="0" rIns="0" bIns="0" rtlCol="0"/>
            <a:lstStyle/>
            <a:p>
              <a:endParaRPr/>
            </a:p>
          </p:txBody>
        </p:sp>
        <p:sp>
          <p:nvSpPr>
            <p:cNvPr id="9" name="object 9"/>
            <p:cNvSpPr/>
            <p:nvPr/>
          </p:nvSpPr>
          <p:spPr>
            <a:xfrm>
              <a:off x="16497058" y="6767420"/>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7F7F7F"/>
            </a:solidFill>
          </p:spPr>
          <p:txBody>
            <a:bodyPr wrap="square" lIns="0" tIns="0" rIns="0" bIns="0" rtlCol="0"/>
            <a:lstStyle/>
            <a:p>
              <a:endParaRPr/>
            </a:p>
          </p:txBody>
        </p:sp>
        <p:sp>
          <p:nvSpPr>
            <p:cNvPr id="10" name="object 10"/>
            <p:cNvSpPr/>
            <p:nvPr/>
          </p:nvSpPr>
          <p:spPr>
            <a:xfrm>
              <a:off x="16497058"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404040"/>
              </a:solidFill>
            </a:ln>
          </p:spPr>
          <p:txBody>
            <a:bodyPr wrap="square" lIns="0" tIns="0" rIns="0" bIns="0" rtlCol="0"/>
            <a:lstStyle/>
            <a:p>
              <a:endParaRPr/>
            </a:p>
          </p:txBody>
        </p:sp>
        <p:sp>
          <p:nvSpPr>
            <p:cNvPr id="11" name="object 11"/>
            <p:cNvSpPr/>
            <p:nvPr/>
          </p:nvSpPr>
          <p:spPr>
            <a:xfrm>
              <a:off x="16497058" y="8262657"/>
              <a:ext cx="650240" cy="650240"/>
            </a:xfrm>
            <a:custGeom>
              <a:avLst/>
              <a:gdLst/>
              <a:ahLst/>
              <a:cxnLst/>
              <a:rect l="l" t="t" r="r" b="b"/>
              <a:pathLst>
                <a:path w="650240" h="650240">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FFFD99"/>
            </a:solidFill>
          </p:spPr>
          <p:txBody>
            <a:bodyPr wrap="square" lIns="0" tIns="0" rIns="0" bIns="0" rtlCol="0"/>
            <a:lstStyle/>
            <a:p>
              <a:endParaRPr/>
            </a:p>
          </p:txBody>
        </p:sp>
        <p:sp>
          <p:nvSpPr>
            <p:cNvPr id="12" name="object 12"/>
            <p:cNvSpPr/>
            <p:nvPr/>
          </p:nvSpPr>
          <p:spPr>
            <a:xfrm>
              <a:off x="16497058" y="8262657"/>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13" name="object 13"/>
            <p:cNvSpPr/>
            <p:nvPr/>
          </p:nvSpPr>
          <p:spPr>
            <a:xfrm>
              <a:off x="14545148" y="8266153"/>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5" y="636157"/>
                  </a:lnTo>
                  <a:lnTo>
                    <a:pt x="461947" y="619713"/>
                  </a:lnTo>
                  <a:lnTo>
                    <a:pt x="501895" y="597563"/>
                  </a:lnTo>
                  <a:lnTo>
                    <a:pt x="538148" y="570209"/>
                  </a:lnTo>
                  <a:lnTo>
                    <a:pt x="570202" y="538154"/>
                  </a:lnTo>
                  <a:lnTo>
                    <a:pt x="597555" y="501901"/>
                  </a:lnTo>
                  <a:lnTo>
                    <a:pt x="619705" y="461952"/>
                  </a:lnTo>
                  <a:lnTo>
                    <a:pt x="636149" y="418810"/>
                  </a:lnTo>
                  <a:lnTo>
                    <a:pt x="646383" y="372978"/>
                  </a:lnTo>
                  <a:lnTo>
                    <a:pt x="649906" y="324958"/>
                  </a:lnTo>
                  <a:lnTo>
                    <a:pt x="646383" y="276938"/>
                  </a:lnTo>
                  <a:lnTo>
                    <a:pt x="636149" y="231106"/>
                  </a:lnTo>
                  <a:lnTo>
                    <a:pt x="619705" y="187964"/>
                  </a:lnTo>
                  <a:lnTo>
                    <a:pt x="597555" y="148015"/>
                  </a:lnTo>
                  <a:lnTo>
                    <a:pt x="570202" y="111761"/>
                  </a:lnTo>
                  <a:lnTo>
                    <a:pt x="538148" y="79706"/>
                  </a:lnTo>
                  <a:lnTo>
                    <a:pt x="501895" y="52352"/>
                  </a:lnTo>
                  <a:lnTo>
                    <a:pt x="461947" y="30202"/>
                  </a:lnTo>
                  <a:lnTo>
                    <a:pt x="418805" y="13758"/>
                  </a:lnTo>
                  <a:lnTo>
                    <a:pt x="372973" y="3523"/>
                  </a:lnTo>
                  <a:lnTo>
                    <a:pt x="324953" y="0"/>
                  </a:lnTo>
                  <a:close/>
                </a:path>
              </a:pathLst>
            </a:custGeom>
            <a:solidFill>
              <a:srgbClr val="AFF5B0"/>
            </a:solidFill>
          </p:spPr>
          <p:txBody>
            <a:bodyPr wrap="square" lIns="0" tIns="0" rIns="0" bIns="0" rtlCol="0"/>
            <a:lstStyle/>
            <a:p>
              <a:endParaRPr/>
            </a:p>
          </p:txBody>
        </p:sp>
        <p:sp>
          <p:nvSpPr>
            <p:cNvPr id="14" name="object 14"/>
            <p:cNvSpPr/>
            <p:nvPr/>
          </p:nvSpPr>
          <p:spPr>
            <a:xfrm>
              <a:off x="14545149" y="8266153"/>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38E53A"/>
              </a:solidFill>
            </a:ln>
          </p:spPr>
          <p:txBody>
            <a:bodyPr wrap="square" lIns="0" tIns="0" rIns="0" bIns="0" rtlCol="0"/>
            <a:lstStyle/>
            <a:p>
              <a:endParaRPr/>
            </a:p>
          </p:txBody>
        </p:sp>
        <p:sp>
          <p:nvSpPr>
            <p:cNvPr id="15" name="object 15"/>
            <p:cNvSpPr/>
            <p:nvPr/>
          </p:nvSpPr>
          <p:spPr>
            <a:xfrm>
              <a:off x="14545138" y="5268684"/>
              <a:ext cx="650240" cy="650240"/>
            </a:xfrm>
            <a:custGeom>
              <a:avLst/>
              <a:gdLst/>
              <a:ahLst/>
              <a:cxnLst/>
              <a:rect l="l" t="t" r="r" b="b"/>
              <a:pathLst>
                <a:path w="650240" h="650239">
                  <a:moveTo>
                    <a:pt x="324963" y="0"/>
                  </a:moveTo>
                  <a:lnTo>
                    <a:pt x="276943" y="3523"/>
                  </a:lnTo>
                  <a:lnTo>
                    <a:pt x="231110" y="13758"/>
                  </a:lnTo>
                  <a:lnTo>
                    <a:pt x="187968" y="30202"/>
                  </a:lnTo>
                  <a:lnTo>
                    <a:pt x="148018" y="52352"/>
                  </a:lnTo>
                  <a:lnTo>
                    <a:pt x="111764" y="79706"/>
                  </a:lnTo>
                  <a:lnTo>
                    <a:pt x="79708" y="111761"/>
                  </a:lnTo>
                  <a:lnTo>
                    <a:pt x="52354" y="148014"/>
                  </a:lnTo>
                  <a:lnTo>
                    <a:pt x="30203" y="187963"/>
                  </a:lnTo>
                  <a:lnTo>
                    <a:pt x="13758" y="231105"/>
                  </a:lnTo>
                  <a:lnTo>
                    <a:pt x="3523" y="276937"/>
                  </a:lnTo>
                  <a:lnTo>
                    <a:pt x="0" y="324957"/>
                  </a:lnTo>
                  <a:lnTo>
                    <a:pt x="3523" y="372977"/>
                  </a:lnTo>
                  <a:lnTo>
                    <a:pt x="13758" y="418810"/>
                  </a:lnTo>
                  <a:lnTo>
                    <a:pt x="30203" y="461952"/>
                  </a:lnTo>
                  <a:lnTo>
                    <a:pt x="52354" y="501901"/>
                  </a:lnTo>
                  <a:lnTo>
                    <a:pt x="79708" y="538154"/>
                  </a:lnTo>
                  <a:lnTo>
                    <a:pt x="111764" y="570209"/>
                  </a:lnTo>
                  <a:lnTo>
                    <a:pt x="148018" y="597563"/>
                  </a:lnTo>
                  <a:lnTo>
                    <a:pt x="187968" y="619713"/>
                  </a:lnTo>
                  <a:lnTo>
                    <a:pt x="231110" y="636157"/>
                  </a:lnTo>
                  <a:lnTo>
                    <a:pt x="276943" y="646392"/>
                  </a:lnTo>
                  <a:lnTo>
                    <a:pt x="324963" y="649916"/>
                  </a:lnTo>
                  <a:lnTo>
                    <a:pt x="372984" y="646392"/>
                  </a:lnTo>
                  <a:lnTo>
                    <a:pt x="418816" y="636157"/>
                  </a:lnTo>
                  <a:lnTo>
                    <a:pt x="461957" y="619713"/>
                  </a:lnTo>
                  <a:lnTo>
                    <a:pt x="501906" y="597563"/>
                  </a:lnTo>
                  <a:lnTo>
                    <a:pt x="538158" y="570209"/>
                  </a:lnTo>
                  <a:lnTo>
                    <a:pt x="570213" y="538154"/>
                  </a:lnTo>
                  <a:lnTo>
                    <a:pt x="597566" y="501901"/>
                  </a:lnTo>
                  <a:lnTo>
                    <a:pt x="619716" y="461952"/>
                  </a:lnTo>
                  <a:lnTo>
                    <a:pt x="636159" y="418810"/>
                  </a:lnTo>
                  <a:lnTo>
                    <a:pt x="646394" y="372977"/>
                  </a:lnTo>
                  <a:lnTo>
                    <a:pt x="649917" y="324957"/>
                  </a:lnTo>
                  <a:lnTo>
                    <a:pt x="646394" y="276937"/>
                  </a:lnTo>
                  <a:lnTo>
                    <a:pt x="636159" y="231105"/>
                  </a:lnTo>
                  <a:lnTo>
                    <a:pt x="619716" y="187963"/>
                  </a:lnTo>
                  <a:lnTo>
                    <a:pt x="597566" y="148014"/>
                  </a:lnTo>
                  <a:lnTo>
                    <a:pt x="570213" y="111761"/>
                  </a:lnTo>
                  <a:lnTo>
                    <a:pt x="538158" y="79706"/>
                  </a:lnTo>
                  <a:lnTo>
                    <a:pt x="501906" y="52352"/>
                  </a:lnTo>
                  <a:lnTo>
                    <a:pt x="461957" y="30202"/>
                  </a:lnTo>
                  <a:lnTo>
                    <a:pt x="418816" y="13758"/>
                  </a:lnTo>
                  <a:lnTo>
                    <a:pt x="372984" y="3523"/>
                  </a:lnTo>
                  <a:lnTo>
                    <a:pt x="324963" y="0"/>
                  </a:lnTo>
                  <a:close/>
                </a:path>
              </a:pathLst>
            </a:custGeom>
            <a:solidFill>
              <a:srgbClr val="7F7F7F"/>
            </a:solidFill>
          </p:spPr>
          <p:txBody>
            <a:bodyPr wrap="square" lIns="0" tIns="0" rIns="0" bIns="0" rtlCol="0"/>
            <a:lstStyle/>
            <a:p>
              <a:endParaRPr/>
            </a:p>
          </p:txBody>
        </p:sp>
        <p:sp>
          <p:nvSpPr>
            <p:cNvPr id="16" name="object 16"/>
            <p:cNvSpPr/>
            <p:nvPr/>
          </p:nvSpPr>
          <p:spPr>
            <a:xfrm>
              <a:off x="14545138" y="5268684"/>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404040"/>
              </a:solidFill>
            </a:ln>
          </p:spPr>
          <p:txBody>
            <a:bodyPr wrap="square" lIns="0" tIns="0" rIns="0" bIns="0" rtlCol="0"/>
            <a:lstStyle/>
            <a:p>
              <a:endParaRPr/>
            </a:p>
          </p:txBody>
        </p:sp>
        <p:sp>
          <p:nvSpPr>
            <p:cNvPr id="17" name="object 17"/>
            <p:cNvSpPr/>
            <p:nvPr/>
          </p:nvSpPr>
          <p:spPr>
            <a:xfrm>
              <a:off x="16497058" y="5268685"/>
              <a:ext cx="650240" cy="650240"/>
            </a:xfrm>
            <a:custGeom>
              <a:avLst/>
              <a:gdLst/>
              <a:ahLst/>
              <a:cxnLst/>
              <a:rect l="l" t="t" r="r" b="b"/>
              <a:pathLst>
                <a:path w="650240" h="650239">
                  <a:moveTo>
                    <a:pt x="324953" y="0"/>
                  </a:moveTo>
                  <a:lnTo>
                    <a:pt x="276935" y="3523"/>
                  </a:lnTo>
                  <a:lnTo>
                    <a:pt x="231104" y="13758"/>
                  </a:lnTo>
                  <a:lnTo>
                    <a:pt x="187964" y="30202"/>
                  </a:lnTo>
                  <a:lnTo>
                    <a:pt x="148015" y="52352"/>
                  </a:lnTo>
                  <a:lnTo>
                    <a:pt x="111762" y="79706"/>
                  </a:lnTo>
                  <a:lnTo>
                    <a:pt x="79707" y="111761"/>
                  </a:lnTo>
                  <a:lnTo>
                    <a:pt x="52353" y="148015"/>
                  </a:lnTo>
                  <a:lnTo>
                    <a:pt x="30203" y="187964"/>
                  </a:lnTo>
                  <a:lnTo>
                    <a:pt x="13758" y="231106"/>
                  </a:lnTo>
                  <a:lnTo>
                    <a:pt x="3523" y="276938"/>
                  </a:lnTo>
                  <a:lnTo>
                    <a:pt x="0" y="324958"/>
                  </a:lnTo>
                  <a:lnTo>
                    <a:pt x="3523" y="372978"/>
                  </a:lnTo>
                  <a:lnTo>
                    <a:pt x="13758" y="418810"/>
                  </a:lnTo>
                  <a:lnTo>
                    <a:pt x="30203" y="461952"/>
                  </a:lnTo>
                  <a:lnTo>
                    <a:pt x="52353" y="501901"/>
                  </a:lnTo>
                  <a:lnTo>
                    <a:pt x="79707" y="538154"/>
                  </a:lnTo>
                  <a:lnTo>
                    <a:pt x="111762" y="570209"/>
                  </a:lnTo>
                  <a:lnTo>
                    <a:pt x="148015" y="597563"/>
                  </a:lnTo>
                  <a:lnTo>
                    <a:pt x="187964" y="619713"/>
                  </a:lnTo>
                  <a:lnTo>
                    <a:pt x="231104" y="636157"/>
                  </a:lnTo>
                  <a:lnTo>
                    <a:pt x="276935"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18" name="object 18"/>
            <p:cNvSpPr/>
            <p:nvPr/>
          </p:nvSpPr>
          <p:spPr>
            <a:xfrm>
              <a:off x="16497058" y="5268685"/>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19" name="object 19"/>
            <p:cNvSpPr/>
            <p:nvPr/>
          </p:nvSpPr>
          <p:spPr>
            <a:xfrm>
              <a:off x="12593229" y="6767420"/>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20" name="object 20"/>
            <p:cNvSpPr/>
            <p:nvPr/>
          </p:nvSpPr>
          <p:spPr>
            <a:xfrm>
              <a:off x="12593229" y="6767420"/>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353535"/>
              </a:solidFill>
            </a:ln>
          </p:spPr>
          <p:txBody>
            <a:bodyPr wrap="square" lIns="0" tIns="0" rIns="0" bIns="0" rtlCol="0"/>
            <a:lstStyle/>
            <a:p>
              <a:endParaRPr/>
            </a:p>
          </p:txBody>
        </p:sp>
        <p:sp>
          <p:nvSpPr>
            <p:cNvPr id="21" name="object 21"/>
            <p:cNvSpPr/>
            <p:nvPr/>
          </p:nvSpPr>
          <p:spPr>
            <a:xfrm>
              <a:off x="12593229" y="8266153"/>
              <a:ext cx="650240" cy="650240"/>
            </a:xfrm>
            <a:custGeom>
              <a:avLst/>
              <a:gdLst/>
              <a:ahLst/>
              <a:cxnLst/>
              <a:rect l="l" t="t" r="r" b="b"/>
              <a:pathLst>
                <a:path w="650240" h="650240">
                  <a:moveTo>
                    <a:pt x="324953" y="0"/>
                  </a:moveTo>
                  <a:lnTo>
                    <a:pt x="276933" y="3523"/>
                  </a:lnTo>
                  <a:lnTo>
                    <a:pt x="231101" y="13758"/>
                  </a:lnTo>
                  <a:lnTo>
                    <a:pt x="187959" y="30202"/>
                  </a:lnTo>
                  <a:lnTo>
                    <a:pt x="148011" y="52352"/>
                  </a:lnTo>
                  <a:lnTo>
                    <a:pt x="111758" y="79706"/>
                  </a:lnTo>
                  <a:lnTo>
                    <a:pt x="79704" y="111761"/>
                  </a:lnTo>
                  <a:lnTo>
                    <a:pt x="52350" y="148014"/>
                  </a:lnTo>
                  <a:lnTo>
                    <a:pt x="30201" y="187963"/>
                  </a:lnTo>
                  <a:lnTo>
                    <a:pt x="13757" y="231105"/>
                  </a:lnTo>
                  <a:lnTo>
                    <a:pt x="3523" y="276937"/>
                  </a:lnTo>
                  <a:lnTo>
                    <a:pt x="0" y="324957"/>
                  </a:lnTo>
                  <a:lnTo>
                    <a:pt x="3523" y="372977"/>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7"/>
                  </a:lnTo>
                  <a:lnTo>
                    <a:pt x="649917" y="324957"/>
                  </a:lnTo>
                  <a:lnTo>
                    <a:pt x="646393" y="276937"/>
                  </a:lnTo>
                  <a:lnTo>
                    <a:pt x="636158" y="231105"/>
                  </a:lnTo>
                  <a:lnTo>
                    <a:pt x="619714" y="187963"/>
                  </a:lnTo>
                  <a:lnTo>
                    <a:pt x="597563" y="148014"/>
                  </a:lnTo>
                  <a:lnTo>
                    <a:pt x="570208" y="111761"/>
                  </a:lnTo>
                  <a:lnTo>
                    <a:pt x="538152" y="79706"/>
                  </a:lnTo>
                  <a:lnTo>
                    <a:pt x="501898" y="52352"/>
                  </a:lnTo>
                  <a:lnTo>
                    <a:pt x="461949" y="30202"/>
                  </a:lnTo>
                  <a:lnTo>
                    <a:pt x="418806" y="13758"/>
                  </a:lnTo>
                  <a:lnTo>
                    <a:pt x="372973" y="3523"/>
                  </a:lnTo>
                  <a:lnTo>
                    <a:pt x="324953" y="0"/>
                  </a:lnTo>
                  <a:close/>
                </a:path>
              </a:pathLst>
            </a:custGeom>
            <a:solidFill>
              <a:srgbClr val="FFFD99"/>
            </a:solidFill>
          </p:spPr>
          <p:txBody>
            <a:bodyPr wrap="square" lIns="0" tIns="0" rIns="0" bIns="0" rtlCol="0"/>
            <a:lstStyle/>
            <a:p>
              <a:endParaRPr/>
            </a:p>
          </p:txBody>
        </p:sp>
        <p:sp>
          <p:nvSpPr>
            <p:cNvPr id="22" name="object 22"/>
            <p:cNvSpPr/>
            <p:nvPr/>
          </p:nvSpPr>
          <p:spPr>
            <a:xfrm>
              <a:off x="12593229" y="8266153"/>
              <a:ext cx="650240" cy="650240"/>
            </a:xfrm>
            <a:custGeom>
              <a:avLst/>
              <a:gdLst/>
              <a:ahLst/>
              <a:cxnLst/>
              <a:rect l="l" t="t" r="r" b="b"/>
              <a:pathLst>
                <a:path w="650240" h="650240">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BFBB00"/>
              </a:solidFill>
            </a:ln>
          </p:spPr>
          <p:txBody>
            <a:bodyPr wrap="square" lIns="0" tIns="0" rIns="0" bIns="0" rtlCol="0"/>
            <a:lstStyle/>
            <a:p>
              <a:endParaRPr/>
            </a:p>
          </p:txBody>
        </p:sp>
        <p:sp>
          <p:nvSpPr>
            <p:cNvPr id="23" name="object 23"/>
            <p:cNvSpPr/>
            <p:nvPr/>
          </p:nvSpPr>
          <p:spPr>
            <a:xfrm>
              <a:off x="12593229" y="5268683"/>
              <a:ext cx="650240" cy="650240"/>
            </a:xfrm>
            <a:custGeom>
              <a:avLst/>
              <a:gdLst/>
              <a:ahLst/>
              <a:cxnLst/>
              <a:rect l="l" t="t" r="r" b="b"/>
              <a:pathLst>
                <a:path w="650240" h="650239">
                  <a:moveTo>
                    <a:pt x="324953" y="0"/>
                  </a:moveTo>
                  <a:lnTo>
                    <a:pt x="276933" y="3523"/>
                  </a:lnTo>
                  <a:lnTo>
                    <a:pt x="231101" y="13758"/>
                  </a:lnTo>
                  <a:lnTo>
                    <a:pt x="187959" y="30202"/>
                  </a:lnTo>
                  <a:lnTo>
                    <a:pt x="148011" y="52352"/>
                  </a:lnTo>
                  <a:lnTo>
                    <a:pt x="111758" y="79706"/>
                  </a:lnTo>
                  <a:lnTo>
                    <a:pt x="79704" y="111761"/>
                  </a:lnTo>
                  <a:lnTo>
                    <a:pt x="52350" y="148015"/>
                  </a:lnTo>
                  <a:lnTo>
                    <a:pt x="30201" y="187964"/>
                  </a:lnTo>
                  <a:lnTo>
                    <a:pt x="13757" y="231106"/>
                  </a:lnTo>
                  <a:lnTo>
                    <a:pt x="3523" y="276938"/>
                  </a:lnTo>
                  <a:lnTo>
                    <a:pt x="0" y="324958"/>
                  </a:lnTo>
                  <a:lnTo>
                    <a:pt x="3523" y="372978"/>
                  </a:lnTo>
                  <a:lnTo>
                    <a:pt x="13757" y="418810"/>
                  </a:lnTo>
                  <a:lnTo>
                    <a:pt x="30201" y="461952"/>
                  </a:lnTo>
                  <a:lnTo>
                    <a:pt x="52350" y="501901"/>
                  </a:lnTo>
                  <a:lnTo>
                    <a:pt x="79704" y="538154"/>
                  </a:lnTo>
                  <a:lnTo>
                    <a:pt x="111758" y="570209"/>
                  </a:lnTo>
                  <a:lnTo>
                    <a:pt x="148011" y="597563"/>
                  </a:lnTo>
                  <a:lnTo>
                    <a:pt x="187959" y="619713"/>
                  </a:lnTo>
                  <a:lnTo>
                    <a:pt x="231101" y="636157"/>
                  </a:lnTo>
                  <a:lnTo>
                    <a:pt x="276933" y="646392"/>
                  </a:lnTo>
                  <a:lnTo>
                    <a:pt x="324953" y="649916"/>
                  </a:lnTo>
                  <a:lnTo>
                    <a:pt x="372973" y="646392"/>
                  </a:lnTo>
                  <a:lnTo>
                    <a:pt x="418806" y="636157"/>
                  </a:lnTo>
                  <a:lnTo>
                    <a:pt x="461949" y="619713"/>
                  </a:lnTo>
                  <a:lnTo>
                    <a:pt x="501898" y="597563"/>
                  </a:lnTo>
                  <a:lnTo>
                    <a:pt x="538152" y="570209"/>
                  </a:lnTo>
                  <a:lnTo>
                    <a:pt x="570208" y="538154"/>
                  </a:lnTo>
                  <a:lnTo>
                    <a:pt x="597563" y="501901"/>
                  </a:lnTo>
                  <a:lnTo>
                    <a:pt x="619714" y="461952"/>
                  </a:lnTo>
                  <a:lnTo>
                    <a:pt x="636158" y="418810"/>
                  </a:lnTo>
                  <a:lnTo>
                    <a:pt x="646393" y="372978"/>
                  </a:lnTo>
                  <a:lnTo>
                    <a:pt x="649917" y="324958"/>
                  </a:lnTo>
                  <a:lnTo>
                    <a:pt x="646393" y="276938"/>
                  </a:lnTo>
                  <a:lnTo>
                    <a:pt x="636158" y="231106"/>
                  </a:lnTo>
                  <a:lnTo>
                    <a:pt x="619714" y="187964"/>
                  </a:lnTo>
                  <a:lnTo>
                    <a:pt x="597563" y="148015"/>
                  </a:lnTo>
                  <a:lnTo>
                    <a:pt x="570208" y="111761"/>
                  </a:lnTo>
                  <a:lnTo>
                    <a:pt x="538152" y="79706"/>
                  </a:lnTo>
                  <a:lnTo>
                    <a:pt x="501898" y="52352"/>
                  </a:lnTo>
                  <a:lnTo>
                    <a:pt x="461949" y="30202"/>
                  </a:lnTo>
                  <a:lnTo>
                    <a:pt x="418806" y="13758"/>
                  </a:lnTo>
                  <a:lnTo>
                    <a:pt x="372973" y="3523"/>
                  </a:lnTo>
                  <a:lnTo>
                    <a:pt x="324953" y="0"/>
                  </a:lnTo>
                  <a:close/>
                </a:path>
              </a:pathLst>
            </a:custGeom>
            <a:solidFill>
              <a:srgbClr val="7F7F7F"/>
            </a:solidFill>
          </p:spPr>
          <p:txBody>
            <a:bodyPr wrap="square" lIns="0" tIns="0" rIns="0" bIns="0" rtlCol="0"/>
            <a:lstStyle/>
            <a:p>
              <a:endParaRPr/>
            </a:p>
          </p:txBody>
        </p:sp>
        <p:sp>
          <p:nvSpPr>
            <p:cNvPr id="24" name="object 24"/>
            <p:cNvSpPr/>
            <p:nvPr/>
          </p:nvSpPr>
          <p:spPr>
            <a:xfrm>
              <a:off x="12593229" y="5268683"/>
              <a:ext cx="650240" cy="650240"/>
            </a:xfrm>
            <a:custGeom>
              <a:avLst/>
              <a:gdLst/>
              <a:ahLst/>
              <a:cxnLst/>
              <a:rect l="l" t="t" r="r" b="b"/>
              <a:pathLst>
                <a:path w="650240" h="650239">
                  <a:moveTo>
                    <a:pt x="0" y="324958"/>
                  </a:moveTo>
                  <a:lnTo>
                    <a:pt x="3523" y="276938"/>
                  </a:lnTo>
                  <a:lnTo>
                    <a:pt x="13758" y="231105"/>
                  </a:lnTo>
                  <a:lnTo>
                    <a:pt x="30202" y="187964"/>
                  </a:lnTo>
                  <a:lnTo>
                    <a:pt x="52352" y="148015"/>
                  </a:lnTo>
                  <a:lnTo>
                    <a:pt x="79706" y="111761"/>
                  </a:lnTo>
                  <a:lnTo>
                    <a:pt x="111761" y="79706"/>
                  </a:lnTo>
                  <a:lnTo>
                    <a:pt x="148015" y="52352"/>
                  </a:lnTo>
                  <a:lnTo>
                    <a:pt x="187964" y="30202"/>
                  </a:lnTo>
                  <a:lnTo>
                    <a:pt x="231105" y="13758"/>
                  </a:lnTo>
                  <a:lnTo>
                    <a:pt x="276938" y="3523"/>
                  </a:lnTo>
                  <a:lnTo>
                    <a:pt x="324958" y="0"/>
                  </a:lnTo>
                  <a:lnTo>
                    <a:pt x="372978" y="3523"/>
                  </a:lnTo>
                  <a:lnTo>
                    <a:pt x="418810" y="13758"/>
                  </a:lnTo>
                  <a:lnTo>
                    <a:pt x="461952" y="30202"/>
                  </a:lnTo>
                  <a:lnTo>
                    <a:pt x="501901" y="52352"/>
                  </a:lnTo>
                  <a:lnTo>
                    <a:pt x="538154" y="79706"/>
                  </a:lnTo>
                  <a:lnTo>
                    <a:pt x="570209" y="111761"/>
                  </a:lnTo>
                  <a:lnTo>
                    <a:pt x="597563" y="148015"/>
                  </a:lnTo>
                  <a:lnTo>
                    <a:pt x="619713" y="187964"/>
                  </a:lnTo>
                  <a:lnTo>
                    <a:pt x="636157" y="231105"/>
                  </a:lnTo>
                  <a:lnTo>
                    <a:pt x="646392" y="276938"/>
                  </a:lnTo>
                  <a:lnTo>
                    <a:pt x="649916" y="324958"/>
                  </a:lnTo>
                  <a:lnTo>
                    <a:pt x="646392" y="372978"/>
                  </a:lnTo>
                  <a:lnTo>
                    <a:pt x="636157" y="418810"/>
                  </a:lnTo>
                  <a:lnTo>
                    <a:pt x="619713" y="461952"/>
                  </a:lnTo>
                  <a:lnTo>
                    <a:pt x="597563" y="501901"/>
                  </a:lnTo>
                  <a:lnTo>
                    <a:pt x="570209" y="538154"/>
                  </a:lnTo>
                  <a:lnTo>
                    <a:pt x="538154" y="570209"/>
                  </a:lnTo>
                  <a:lnTo>
                    <a:pt x="501901" y="597563"/>
                  </a:lnTo>
                  <a:lnTo>
                    <a:pt x="461952" y="619713"/>
                  </a:lnTo>
                  <a:lnTo>
                    <a:pt x="418810" y="636157"/>
                  </a:lnTo>
                  <a:lnTo>
                    <a:pt x="372978" y="646392"/>
                  </a:lnTo>
                  <a:lnTo>
                    <a:pt x="324958" y="649916"/>
                  </a:lnTo>
                  <a:lnTo>
                    <a:pt x="276938" y="646392"/>
                  </a:lnTo>
                  <a:lnTo>
                    <a:pt x="231105" y="636157"/>
                  </a:lnTo>
                  <a:lnTo>
                    <a:pt x="187964" y="619713"/>
                  </a:lnTo>
                  <a:lnTo>
                    <a:pt x="148015" y="597563"/>
                  </a:lnTo>
                  <a:lnTo>
                    <a:pt x="111761" y="570209"/>
                  </a:lnTo>
                  <a:lnTo>
                    <a:pt x="79706" y="538154"/>
                  </a:lnTo>
                  <a:lnTo>
                    <a:pt x="52352" y="501901"/>
                  </a:lnTo>
                  <a:lnTo>
                    <a:pt x="30202" y="461952"/>
                  </a:lnTo>
                  <a:lnTo>
                    <a:pt x="13758" y="418810"/>
                  </a:lnTo>
                  <a:lnTo>
                    <a:pt x="3523" y="372978"/>
                  </a:lnTo>
                  <a:lnTo>
                    <a:pt x="0" y="324958"/>
                  </a:lnTo>
                  <a:close/>
                </a:path>
              </a:pathLst>
            </a:custGeom>
            <a:ln w="31412">
              <a:solidFill>
                <a:srgbClr val="262626"/>
              </a:solidFill>
            </a:ln>
          </p:spPr>
          <p:txBody>
            <a:bodyPr wrap="square" lIns="0" tIns="0" rIns="0" bIns="0" rtlCol="0"/>
            <a:lstStyle/>
            <a:p>
              <a:endParaRPr/>
            </a:p>
          </p:txBody>
        </p:sp>
        <p:sp>
          <p:nvSpPr>
            <p:cNvPr id="25" name="object 25"/>
            <p:cNvSpPr/>
            <p:nvPr/>
          </p:nvSpPr>
          <p:spPr>
            <a:xfrm>
              <a:off x="13243146" y="7092377"/>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6" name="object 26"/>
            <p:cNvSpPr/>
            <p:nvPr/>
          </p:nvSpPr>
          <p:spPr>
            <a:xfrm>
              <a:off x="13243146" y="8591111"/>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7" name="object 27"/>
            <p:cNvSpPr/>
            <p:nvPr/>
          </p:nvSpPr>
          <p:spPr>
            <a:xfrm>
              <a:off x="15195055" y="8587615"/>
              <a:ext cx="1302385" cy="3810"/>
            </a:xfrm>
            <a:custGeom>
              <a:avLst/>
              <a:gdLst/>
              <a:ahLst/>
              <a:cxnLst/>
              <a:rect l="l" t="t" r="r" b="b"/>
              <a:pathLst>
                <a:path w="1302384" h="3809">
                  <a:moveTo>
                    <a:pt x="0" y="3496"/>
                  </a:moveTo>
                  <a:lnTo>
                    <a:pt x="1302000" y="0"/>
                  </a:lnTo>
                </a:path>
              </a:pathLst>
            </a:custGeom>
            <a:ln w="47118">
              <a:solidFill>
                <a:srgbClr val="FD776E"/>
              </a:solidFill>
            </a:ln>
          </p:spPr>
          <p:txBody>
            <a:bodyPr wrap="square" lIns="0" tIns="0" rIns="0" bIns="0" rtlCol="0"/>
            <a:lstStyle/>
            <a:p>
              <a:endParaRPr/>
            </a:p>
          </p:txBody>
        </p:sp>
        <p:sp>
          <p:nvSpPr>
            <p:cNvPr id="28" name="object 28"/>
            <p:cNvSpPr/>
            <p:nvPr/>
          </p:nvSpPr>
          <p:spPr>
            <a:xfrm>
              <a:off x="15195055" y="7092377"/>
              <a:ext cx="1302385" cy="0"/>
            </a:xfrm>
            <a:custGeom>
              <a:avLst/>
              <a:gdLst/>
              <a:ahLst/>
              <a:cxnLst/>
              <a:rect l="l" t="t" r="r" b="b"/>
              <a:pathLst>
                <a:path w="1302384">
                  <a:moveTo>
                    <a:pt x="0" y="0"/>
                  </a:moveTo>
                  <a:lnTo>
                    <a:pt x="1302000" y="0"/>
                  </a:lnTo>
                </a:path>
              </a:pathLst>
            </a:custGeom>
            <a:ln w="47118">
              <a:solidFill>
                <a:srgbClr val="FD776E"/>
              </a:solidFill>
            </a:ln>
          </p:spPr>
          <p:txBody>
            <a:bodyPr wrap="square" lIns="0" tIns="0" rIns="0" bIns="0" rtlCol="0"/>
            <a:lstStyle/>
            <a:p>
              <a:endParaRPr/>
            </a:p>
          </p:txBody>
        </p:sp>
        <p:sp>
          <p:nvSpPr>
            <p:cNvPr id="29" name="object 29"/>
            <p:cNvSpPr/>
            <p:nvPr/>
          </p:nvSpPr>
          <p:spPr>
            <a:xfrm>
              <a:off x="15195055" y="5593643"/>
              <a:ext cx="1302385" cy="0"/>
            </a:xfrm>
            <a:custGeom>
              <a:avLst/>
              <a:gdLst/>
              <a:ahLst/>
              <a:cxnLst/>
              <a:rect l="l" t="t" r="r" b="b"/>
              <a:pathLst>
                <a:path w="1302384">
                  <a:moveTo>
                    <a:pt x="0" y="0"/>
                  </a:moveTo>
                  <a:lnTo>
                    <a:pt x="1301999" y="0"/>
                  </a:lnTo>
                </a:path>
              </a:pathLst>
            </a:custGeom>
            <a:ln w="47118">
              <a:solidFill>
                <a:srgbClr val="FD776E"/>
              </a:solidFill>
            </a:ln>
          </p:spPr>
          <p:txBody>
            <a:bodyPr wrap="square" lIns="0" tIns="0" rIns="0" bIns="0" rtlCol="0"/>
            <a:lstStyle/>
            <a:p>
              <a:endParaRPr/>
            </a:p>
          </p:txBody>
        </p:sp>
        <p:sp>
          <p:nvSpPr>
            <p:cNvPr id="30" name="object 30"/>
            <p:cNvSpPr/>
            <p:nvPr/>
          </p:nvSpPr>
          <p:spPr>
            <a:xfrm>
              <a:off x="13243146" y="5601924"/>
              <a:ext cx="1302385" cy="0"/>
            </a:xfrm>
            <a:custGeom>
              <a:avLst/>
              <a:gdLst/>
              <a:ahLst/>
              <a:cxnLst/>
              <a:rect l="l" t="t" r="r" b="b"/>
              <a:pathLst>
                <a:path w="1302384">
                  <a:moveTo>
                    <a:pt x="0" y="0"/>
                  </a:moveTo>
                  <a:lnTo>
                    <a:pt x="1301998" y="0"/>
                  </a:lnTo>
                </a:path>
              </a:pathLst>
            </a:custGeom>
            <a:ln w="47118">
              <a:solidFill>
                <a:srgbClr val="FD776E"/>
              </a:solidFill>
            </a:ln>
          </p:spPr>
          <p:txBody>
            <a:bodyPr wrap="square" lIns="0" tIns="0" rIns="0" bIns="0" rtlCol="0"/>
            <a:lstStyle/>
            <a:p>
              <a:endParaRPr/>
            </a:p>
          </p:txBody>
        </p:sp>
        <p:sp>
          <p:nvSpPr>
            <p:cNvPr id="31" name="object 31"/>
            <p:cNvSpPr/>
            <p:nvPr/>
          </p:nvSpPr>
          <p:spPr>
            <a:xfrm>
              <a:off x="1291818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2" name="object 32"/>
            <p:cNvSpPr/>
            <p:nvPr/>
          </p:nvSpPr>
          <p:spPr>
            <a:xfrm>
              <a:off x="1487010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3" name="object 33"/>
            <p:cNvSpPr/>
            <p:nvPr/>
          </p:nvSpPr>
          <p:spPr>
            <a:xfrm>
              <a:off x="16822022" y="7417336"/>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4" name="object 34"/>
            <p:cNvSpPr/>
            <p:nvPr/>
          </p:nvSpPr>
          <p:spPr>
            <a:xfrm>
              <a:off x="12924685" y="5918600"/>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5" name="object 35"/>
            <p:cNvSpPr/>
            <p:nvPr/>
          </p:nvSpPr>
          <p:spPr>
            <a:xfrm>
              <a:off x="14870102" y="5918600"/>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sp>
          <p:nvSpPr>
            <p:cNvPr id="36" name="object 36"/>
            <p:cNvSpPr/>
            <p:nvPr/>
          </p:nvSpPr>
          <p:spPr>
            <a:xfrm>
              <a:off x="16822011" y="5918599"/>
              <a:ext cx="0" cy="848994"/>
            </a:xfrm>
            <a:custGeom>
              <a:avLst/>
              <a:gdLst/>
              <a:ahLst/>
              <a:cxnLst/>
              <a:rect l="l" t="t" r="r" b="b"/>
              <a:pathLst>
                <a:path h="848995">
                  <a:moveTo>
                    <a:pt x="0" y="848817"/>
                  </a:moveTo>
                  <a:lnTo>
                    <a:pt x="0" y="0"/>
                  </a:lnTo>
                </a:path>
              </a:pathLst>
            </a:custGeom>
            <a:ln w="47118">
              <a:solidFill>
                <a:srgbClr val="FD776E"/>
              </a:solidFill>
            </a:ln>
          </p:spPr>
          <p:txBody>
            <a:bodyPr wrap="square" lIns="0" tIns="0" rIns="0" bIns="0" rtlCol="0"/>
            <a:lstStyle/>
            <a:p>
              <a:endParaRPr/>
            </a:p>
          </p:txBody>
        </p:sp>
      </p:grpSp>
      <p:sp>
        <p:nvSpPr>
          <p:cNvPr id="37" name="object 37"/>
          <p:cNvSpPr txBox="1"/>
          <p:nvPr/>
        </p:nvSpPr>
        <p:spPr>
          <a:xfrm>
            <a:off x="15178293" y="6414995"/>
            <a:ext cx="1302385"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12</a:t>
            </a:r>
          </a:p>
        </p:txBody>
      </p:sp>
      <p:sp>
        <p:nvSpPr>
          <p:cNvPr id="46" name="object 46"/>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62</a:t>
            </a:fld>
            <a:endParaRPr spc="-25" dirty="0"/>
          </a:p>
        </p:txBody>
      </p:sp>
      <p:sp>
        <p:nvSpPr>
          <p:cNvPr id="38" name="object 38"/>
          <p:cNvSpPr txBox="1"/>
          <p:nvPr/>
        </p:nvSpPr>
        <p:spPr>
          <a:xfrm>
            <a:off x="14439362" y="4776511"/>
            <a:ext cx="1684446"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13</a:t>
            </a:r>
            <a:endParaRPr sz="2150">
              <a:latin typeface="Tahoma"/>
              <a:cs typeface="Tahoma"/>
            </a:endParaRPr>
          </a:p>
        </p:txBody>
      </p:sp>
      <p:sp>
        <p:nvSpPr>
          <p:cNvPr id="39" name="object 39"/>
          <p:cNvSpPr txBox="1"/>
          <p:nvPr/>
        </p:nvSpPr>
        <p:spPr>
          <a:xfrm>
            <a:off x="17347001" y="6907298"/>
            <a:ext cx="1426930"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11</a:t>
            </a:r>
          </a:p>
        </p:txBody>
      </p:sp>
      <p:sp>
        <p:nvSpPr>
          <p:cNvPr id="40" name="object 40"/>
          <p:cNvSpPr txBox="1"/>
          <p:nvPr/>
        </p:nvSpPr>
        <p:spPr>
          <a:xfrm>
            <a:off x="11172468" y="6859798"/>
            <a:ext cx="1252093"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14</a:t>
            </a:r>
          </a:p>
        </p:txBody>
      </p:sp>
      <p:sp>
        <p:nvSpPr>
          <p:cNvPr id="41" name="object 41"/>
          <p:cNvSpPr txBox="1"/>
          <p:nvPr/>
        </p:nvSpPr>
        <p:spPr>
          <a:xfrm>
            <a:off x="14438932" y="9053411"/>
            <a:ext cx="1302385"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9</a:t>
            </a:r>
          </a:p>
        </p:txBody>
      </p:sp>
      <p:sp>
        <p:nvSpPr>
          <p:cNvPr id="42" name="object 42"/>
          <p:cNvSpPr txBox="1"/>
          <p:nvPr/>
        </p:nvSpPr>
        <p:spPr>
          <a:xfrm>
            <a:off x="12494165" y="9053411"/>
            <a:ext cx="1302385"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8</a:t>
            </a:r>
          </a:p>
        </p:txBody>
      </p:sp>
      <p:sp>
        <p:nvSpPr>
          <p:cNvPr id="43" name="object 43"/>
          <p:cNvSpPr txBox="1"/>
          <p:nvPr/>
        </p:nvSpPr>
        <p:spPr>
          <a:xfrm>
            <a:off x="16344476" y="9058437"/>
            <a:ext cx="1302385"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12</a:t>
            </a:r>
          </a:p>
        </p:txBody>
      </p:sp>
      <p:sp>
        <p:nvSpPr>
          <p:cNvPr id="44" name="object 44"/>
          <p:cNvSpPr txBox="1"/>
          <p:nvPr/>
        </p:nvSpPr>
        <p:spPr>
          <a:xfrm>
            <a:off x="701636" y="8065397"/>
            <a:ext cx="10734675" cy="2830968"/>
          </a:xfrm>
          <a:prstGeom prst="rect">
            <a:avLst/>
          </a:prstGeom>
          <a:solidFill>
            <a:srgbClr val="BDD8FF"/>
          </a:solidFill>
        </p:spPr>
        <p:txBody>
          <a:bodyPr vert="horz" wrap="square" lIns="0" tIns="88900" rIns="0" bIns="0" rtlCol="0">
            <a:spAutoFit/>
          </a:bodyPr>
          <a:lstStyle/>
          <a:p>
            <a:pPr marL="41275" marR="117475" algn="just">
              <a:lnSpc>
                <a:spcPts val="2550"/>
              </a:lnSpc>
              <a:spcBef>
                <a:spcPts val="700"/>
              </a:spcBef>
            </a:pPr>
            <a:r>
              <a:rPr sz="2600" dirty="0">
                <a:solidFill>
                  <a:srgbClr val="7030A0"/>
                </a:solidFill>
                <a:latin typeface="Tahoma"/>
                <a:cs typeface="Tahoma"/>
              </a:rPr>
              <a:t>De esta forma podemos explorar le espacio sin tener que ir todos los parámetros exhaustivamente, sino con algo de inteligencia.</a:t>
            </a:r>
            <a:endParaRPr sz="2600" dirty="0">
              <a:latin typeface="Tahoma"/>
              <a:cs typeface="Tahoma"/>
            </a:endParaRPr>
          </a:p>
          <a:p>
            <a:pPr marL="41275" algn="just">
              <a:lnSpc>
                <a:spcPts val="2795"/>
              </a:lnSpc>
              <a:spcBef>
                <a:spcPts val="2650"/>
              </a:spcBef>
            </a:pPr>
            <a:r>
              <a:rPr sz="2600" dirty="0">
                <a:solidFill>
                  <a:srgbClr val="C00000"/>
                </a:solidFill>
                <a:latin typeface="Tahoma"/>
                <a:cs typeface="Tahoma"/>
              </a:rPr>
              <a:t>El problema de este método es que se depende de donde se arranca, es fácil de</a:t>
            </a:r>
            <a:endParaRPr sz="2600" dirty="0">
              <a:latin typeface="Tahoma"/>
              <a:cs typeface="Tahoma"/>
            </a:endParaRPr>
          </a:p>
          <a:p>
            <a:pPr marL="41275" marR="442595" algn="just">
              <a:lnSpc>
                <a:spcPct val="82100"/>
              </a:lnSpc>
              <a:spcBef>
                <a:spcPts val="235"/>
              </a:spcBef>
            </a:pPr>
            <a:r>
              <a:rPr sz="2600" dirty="0">
                <a:solidFill>
                  <a:srgbClr val="C00000"/>
                </a:solidFill>
                <a:latin typeface="Tahoma"/>
                <a:cs typeface="Tahoma"/>
              </a:rPr>
              <a:t>caer en mínimos locales dado la complejidad del espacio de hiper-parámetros </a:t>
            </a:r>
            <a:r>
              <a:rPr sz="2600" dirty="0">
                <a:solidFill>
                  <a:srgbClr val="107E12"/>
                </a:solidFill>
                <a:latin typeface="Tahoma"/>
                <a:cs typeface="Tahoma"/>
              </a:rPr>
              <a:t>(se puede usar gradiente estocástico para remediar), </a:t>
            </a:r>
            <a:r>
              <a:rPr sz="2600" dirty="0">
                <a:solidFill>
                  <a:srgbClr val="C00000"/>
                </a:solidFill>
                <a:latin typeface="Tahoma"/>
                <a:cs typeface="Tahoma"/>
              </a:rPr>
              <a:t>y que es difícil de paralelizar </a:t>
            </a:r>
            <a:r>
              <a:rPr sz="2600" dirty="0">
                <a:solidFill>
                  <a:srgbClr val="107E12"/>
                </a:solidFill>
                <a:latin typeface="Tahoma"/>
                <a:cs typeface="Tahoma"/>
              </a:rPr>
              <a:t>(aunque es posible múltiples comienzos).</a:t>
            </a:r>
            <a:endParaRPr sz="2600" dirty="0">
              <a:latin typeface="Tahoma"/>
              <a:cs typeface="Tahom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002784"/>
          </a:xfrm>
          <a:prstGeom prst="rect">
            <a:avLst/>
          </a:prstGeom>
        </p:spPr>
        <p:txBody>
          <a:bodyPr vert="horz" wrap="square" lIns="0" tIns="78686" rIns="0" bIns="0" rtlCol="0">
            <a:spAutoFit/>
          </a:bodyPr>
          <a:lstStyle/>
          <a:p>
            <a:pPr marL="12700">
              <a:lnSpc>
                <a:spcPct val="100000"/>
              </a:lnSpc>
              <a:spcBef>
                <a:spcPts val="114"/>
              </a:spcBef>
            </a:pPr>
            <a:r>
              <a:rPr sz="6000" dirty="0"/>
              <a:t>MÉTODOS AVANZADOS</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63</a:t>
            </a:fld>
            <a:endParaRPr spc="-25" dirty="0"/>
          </a:p>
        </p:txBody>
      </p:sp>
      <p:sp>
        <p:nvSpPr>
          <p:cNvPr id="3" name="object 3"/>
          <p:cNvSpPr txBox="1"/>
          <p:nvPr/>
        </p:nvSpPr>
        <p:spPr>
          <a:xfrm>
            <a:off x="1097213" y="3074116"/>
            <a:ext cx="17526000" cy="6407523"/>
          </a:xfrm>
          <a:prstGeom prst="rect">
            <a:avLst/>
          </a:prstGeom>
        </p:spPr>
        <p:txBody>
          <a:bodyPr vert="horz" wrap="square" lIns="0" tIns="33655" rIns="0" bIns="0" rtlCol="0">
            <a:spAutoFit/>
          </a:bodyPr>
          <a:lstStyle/>
          <a:p>
            <a:pPr marL="12700" marR="5080" algn="just">
              <a:lnSpc>
                <a:spcPts val="4530"/>
              </a:lnSpc>
              <a:spcBef>
                <a:spcPts val="265"/>
              </a:spcBef>
            </a:pPr>
            <a:r>
              <a:rPr sz="3800" dirty="0">
                <a:latin typeface="Tahoma"/>
                <a:cs typeface="Tahoma"/>
              </a:rPr>
              <a:t>Podemos crear nuestros métodos que sean más avanzados. En inteligencia artificial habían visto algoritmos de búsquedas. Podemos usar estos para buscar hiper-parámetros:</a:t>
            </a:r>
          </a:p>
          <a:p>
            <a:pPr marL="577850" indent="-565150" algn="just">
              <a:lnSpc>
                <a:spcPct val="100000"/>
              </a:lnSpc>
              <a:spcBef>
                <a:spcPts val="2640"/>
              </a:spcBef>
              <a:buFont typeface="Arial MT"/>
              <a:buChar char="•"/>
              <a:tabLst>
                <a:tab pos="577850" algn="l"/>
              </a:tabLst>
            </a:pPr>
            <a:r>
              <a:rPr sz="3800" dirty="0">
                <a:latin typeface="Tahoma"/>
                <a:cs typeface="Tahoma"/>
              </a:rPr>
              <a:t>Gradiente Descendiente o Ascendente</a:t>
            </a:r>
          </a:p>
          <a:p>
            <a:pPr marL="577850" indent="-565150" algn="just">
              <a:lnSpc>
                <a:spcPct val="100000"/>
              </a:lnSpc>
              <a:spcBef>
                <a:spcPts val="2700"/>
              </a:spcBef>
              <a:buFont typeface="Arial MT"/>
              <a:buChar char="•"/>
              <a:tabLst>
                <a:tab pos="577850" algn="l"/>
              </a:tabLst>
            </a:pPr>
            <a:r>
              <a:rPr sz="3800" dirty="0">
                <a:latin typeface="Tahoma"/>
                <a:cs typeface="Tahoma"/>
              </a:rPr>
              <a:t>Simulated annealing</a:t>
            </a:r>
          </a:p>
          <a:p>
            <a:pPr marL="577850" indent="-565150" algn="just">
              <a:lnSpc>
                <a:spcPct val="100000"/>
              </a:lnSpc>
              <a:spcBef>
                <a:spcPts val="2685"/>
              </a:spcBef>
              <a:buFont typeface="Arial MT"/>
              <a:buChar char="•"/>
              <a:tabLst>
                <a:tab pos="577850" algn="l"/>
              </a:tabLst>
            </a:pPr>
            <a:r>
              <a:rPr sz="3800" dirty="0">
                <a:latin typeface="Tahoma"/>
                <a:cs typeface="Tahoma"/>
              </a:rPr>
              <a:t>Búsqueda Local Beam</a:t>
            </a:r>
          </a:p>
          <a:p>
            <a:pPr marL="577850" indent="-565150" algn="just">
              <a:lnSpc>
                <a:spcPct val="100000"/>
              </a:lnSpc>
              <a:spcBef>
                <a:spcPts val="2460"/>
              </a:spcBef>
              <a:buFont typeface="Arial MT"/>
              <a:buChar char="•"/>
              <a:tabLst>
                <a:tab pos="577850" algn="l"/>
              </a:tabLst>
            </a:pPr>
            <a:r>
              <a:rPr sz="3800" b="1" dirty="0">
                <a:solidFill>
                  <a:srgbClr val="7030A0"/>
                </a:solidFill>
                <a:latin typeface="Calibri"/>
                <a:cs typeface="Calibri"/>
              </a:rPr>
              <a:t>Algoritmos Genéticos</a:t>
            </a:r>
            <a:endParaRPr sz="3800" dirty="0">
              <a:latin typeface="Calibri"/>
              <a:cs typeface="Calibri"/>
            </a:endParaRPr>
          </a:p>
          <a:p>
            <a:pPr marL="577850" indent="-565150" algn="just">
              <a:lnSpc>
                <a:spcPct val="100000"/>
              </a:lnSpc>
              <a:spcBef>
                <a:spcPts val="2940"/>
              </a:spcBef>
              <a:buFont typeface="Arial MT"/>
              <a:buChar char="•"/>
              <a:tabLst>
                <a:tab pos="577850" algn="l"/>
              </a:tabLst>
            </a:pPr>
            <a:r>
              <a:rPr sz="3800" dirty="0">
                <a:latin typeface="Tahoma"/>
                <a:cs typeface="Tahoma"/>
              </a:rPr>
              <a:t>Búsqueda bayesiana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074116"/>
            <a:ext cx="17920970" cy="1179195"/>
          </a:xfrm>
          <a:prstGeom prst="rect">
            <a:avLst/>
          </a:prstGeom>
        </p:spPr>
        <p:txBody>
          <a:bodyPr vert="horz" wrap="square" lIns="0" tIns="27940" rIns="0" bIns="0" rtlCol="0">
            <a:spAutoFit/>
          </a:bodyPr>
          <a:lstStyle/>
          <a:p>
            <a:pPr marL="12700" marR="5080" algn="just">
              <a:lnSpc>
                <a:spcPts val="4530"/>
              </a:lnSpc>
              <a:spcBef>
                <a:spcPts val="220"/>
              </a:spcBef>
            </a:pPr>
            <a:r>
              <a:rPr sz="3800" dirty="0">
                <a:latin typeface="Tahoma"/>
                <a:cs typeface="Tahoma"/>
              </a:rPr>
              <a:t>Esta problemática es apropiada para algoritmos genéticos. Podemos codificar el cromosoma con los valores de los hiper-parámetros:</a:t>
            </a:r>
          </a:p>
        </p:txBody>
      </p:sp>
      <p:sp>
        <p:nvSpPr>
          <p:cNvPr id="3" name="object 3"/>
          <p:cNvSpPr txBox="1"/>
          <p:nvPr/>
        </p:nvSpPr>
        <p:spPr>
          <a:xfrm>
            <a:off x="1097213" y="6423962"/>
            <a:ext cx="17414240" cy="2101215"/>
          </a:xfrm>
          <a:prstGeom prst="rect">
            <a:avLst/>
          </a:prstGeom>
        </p:spPr>
        <p:txBody>
          <a:bodyPr vert="horz" wrap="square" lIns="0" tIns="11430" rIns="0" bIns="0" rtlCol="0">
            <a:spAutoFit/>
          </a:bodyPr>
          <a:lstStyle/>
          <a:p>
            <a:pPr marL="12700" algn="just">
              <a:lnSpc>
                <a:spcPct val="100000"/>
              </a:lnSpc>
              <a:spcBef>
                <a:spcPts val="90"/>
              </a:spcBef>
            </a:pPr>
            <a:r>
              <a:rPr sz="3800" dirty="0">
                <a:latin typeface="Tahoma"/>
                <a:cs typeface="Tahoma"/>
              </a:rPr>
              <a:t>Una manifestación de este cromosoma es un set de hiper-parámetros.</a:t>
            </a:r>
          </a:p>
          <a:p>
            <a:pPr marL="12700" marR="5080" algn="just">
              <a:lnSpc>
                <a:spcPts val="4530"/>
              </a:lnSpc>
              <a:spcBef>
                <a:spcPts val="2835"/>
              </a:spcBef>
            </a:pPr>
            <a:r>
              <a:rPr sz="3800" dirty="0">
                <a:latin typeface="Tahoma"/>
                <a:cs typeface="Tahoma"/>
              </a:rPr>
              <a:t>Entonces como función de idoneidad es el resultado de la función de puntaje del esquema de validación cruzada.</a:t>
            </a:r>
          </a:p>
        </p:txBody>
      </p:sp>
      <p:pic>
        <p:nvPicPr>
          <p:cNvPr id="4" name="object 4"/>
          <p:cNvPicPr/>
          <p:nvPr/>
        </p:nvPicPr>
        <p:blipFill>
          <a:blip r:embed="rId2" cstate="print"/>
          <a:stretch>
            <a:fillRect/>
          </a:stretch>
        </p:blipFill>
        <p:spPr>
          <a:xfrm>
            <a:off x="5480109" y="4964283"/>
            <a:ext cx="9143881" cy="818854"/>
          </a:xfrm>
          <a:prstGeom prst="rect">
            <a:avLst/>
          </a:prstGeom>
        </p:spPr>
      </p:pic>
      <p:sp>
        <p:nvSpPr>
          <p:cNvPr id="5" name="object 5"/>
          <p:cNvSpPr txBox="1">
            <a:spLocks noGrp="1"/>
          </p:cNvSpPr>
          <p:nvPr>
            <p:ph type="title"/>
          </p:nvPr>
        </p:nvSpPr>
        <p:spPr>
          <a:xfrm>
            <a:off x="1097213" y="1200665"/>
            <a:ext cx="116980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30480">
              <a:lnSpc>
                <a:spcPts val="3610"/>
              </a:lnSpc>
            </a:pPr>
            <a:r>
              <a:rPr sz="3300" b="1" dirty="0">
                <a:latin typeface="Calibri"/>
                <a:cs typeface="Calibri"/>
              </a:rPr>
              <a:t>Algoritmos Genéticos</a:t>
            </a:r>
            <a:endParaRPr sz="3300" dirty="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64</a:t>
            </a:fld>
            <a:endParaRPr spc="-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047088"/>
            <a:ext cx="20104100" cy="10261600"/>
            <a:chOff x="0" y="1047088"/>
            <a:chExt cx="20104100" cy="10261600"/>
          </a:xfrm>
        </p:grpSpPr>
        <p:sp>
          <p:nvSpPr>
            <p:cNvPr id="3" name="object 3"/>
            <p:cNvSpPr/>
            <p:nvPr/>
          </p:nvSpPr>
          <p:spPr>
            <a:xfrm>
              <a:off x="1068030" y="3581761"/>
              <a:ext cx="3255010" cy="1301115"/>
            </a:xfrm>
            <a:custGeom>
              <a:avLst/>
              <a:gdLst/>
              <a:ahLst/>
              <a:cxnLst/>
              <a:rect l="l" t="t" r="r" b="b"/>
              <a:pathLst>
                <a:path w="3255010" h="1301114">
                  <a:moveTo>
                    <a:pt x="3254596" y="0"/>
                  </a:moveTo>
                  <a:lnTo>
                    <a:pt x="0" y="0"/>
                  </a:lnTo>
                  <a:lnTo>
                    <a:pt x="0" y="1300705"/>
                  </a:lnTo>
                  <a:lnTo>
                    <a:pt x="3254596" y="1300705"/>
                  </a:lnTo>
                  <a:lnTo>
                    <a:pt x="3254596" y="0"/>
                  </a:lnTo>
                  <a:close/>
                </a:path>
              </a:pathLst>
            </a:custGeom>
            <a:solidFill>
              <a:srgbClr val="FFEDFB"/>
            </a:solidFill>
          </p:spPr>
          <p:txBody>
            <a:bodyPr wrap="square" lIns="0" tIns="0" rIns="0" bIns="0" rtlCol="0"/>
            <a:lstStyle/>
            <a:p>
              <a:endParaRPr/>
            </a:p>
          </p:txBody>
        </p:sp>
        <p:sp>
          <p:nvSpPr>
            <p:cNvPr id="4" name="object 4"/>
            <p:cNvSpPr/>
            <p:nvPr/>
          </p:nvSpPr>
          <p:spPr>
            <a:xfrm>
              <a:off x="1068030" y="4882467"/>
              <a:ext cx="3255010" cy="1301115"/>
            </a:xfrm>
            <a:custGeom>
              <a:avLst/>
              <a:gdLst/>
              <a:ahLst/>
              <a:cxnLst/>
              <a:rect l="l" t="t" r="r" b="b"/>
              <a:pathLst>
                <a:path w="3255010" h="1301114">
                  <a:moveTo>
                    <a:pt x="3254596" y="0"/>
                  </a:moveTo>
                  <a:lnTo>
                    <a:pt x="0" y="0"/>
                  </a:lnTo>
                  <a:lnTo>
                    <a:pt x="0" y="1300705"/>
                  </a:lnTo>
                  <a:lnTo>
                    <a:pt x="3254596" y="1300705"/>
                  </a:lnTo>
                  <a:lnTo>
                    <a:pt x="3254596" y="0"/>
                  </a:lnTo>
                  <a:close/>
                </a:path>
              </a:pathLst>
            </a:custGeom>
            <a:solidFill>
              <a:srgbClr val="FFD8F7"/>
            </a:solidFill>
          </p:spPr>
          <p:txBody>
            <a:bodyPr wrap="square" lIns="0" tIns="0" rIns="0" bIns="0" rtlCol="0"/>
            <a:lstStyle/>
            <a:p>
              <a:endParaRPr/>
            </a:p>
          </p:txBody>
        </p:sp>
        <p:sp>
          <p:nvSpPr>
            <p:cNvPr id="5" name="object 5"/>
            <p:cNvSpPr/>
            <p:nvPr/>
          </p:nvSpPr>
          <p:spPr>
            <a:xfrm>
              <a:off x="1068030" y="6183173"/>
              <a:ext cx="3255010" cy="1301115"/>
            </a:xfrm>
            <a:custGeom>
              <a:avLst/>
              <a:gdLst/>
              <a:ahLst/>
              <a:cxnLst/>
              <a:rect l="l" t="t" r="r" b="b"/>
              <a:pathLst>
                <a:path w="3255010" h="1301115">
                  <a:moveTo>
                    <a:pt x="3254596" y="0"/>
                  </a:moveTo>
                  <a:lnTo>
                    <a:pt x="0" y="0"/>
                  </a:lnTo>
                  <a:lnTo>
                    <a:pt x="0" y="1300705"/>
                  </a:lnTo>
                  <a:lnTo>
                    <a:pt x="3254596" y="1300705"/>
                  </a:lnTo>
                  <a:lnTo>
                    <a:pt x="3254596" y="0"/>
                  </a:lnTo>
                  <a:close/>
                </a:path>
              </a:pathLst>
            </a:custGeom>
            <a:solidFill>
              <a:srgbClr val="FFEDFB"/>
            </a:solidFill>
          </p:spPr>
          <p:txBody>
            <a:bodyPr wrap="square" lIns="0" tIns="0" rIns="0" bIns="0" rtlCol="0"/>
            <a:lstStyle/>
            <a:p>
              <a:endParaRPr/>
            </a:p>
          </p:txBody>
        </p:sp>
        <p:sp>
          <p:nvSpPr>
            <p:cNvPr id="6" name="object 6"/>
            <p:cNvSpPr/>
            <p:nvPr/>
          </p:nvSpPr>
          <p:spPr>
            <a:xfrm>
              <a:off x="1068030" y="7483879"/>
              <a:ext cx="3255010" cy="1301115"/>
            </a:xfrm>
            <a:custGeom>
              <a:avLst/>
              <a:gdLst/>
              <a:ahLst/>
              <a:cxnLst/>
              <a:rect l="l" t="t" r="r" b="b"/>
              <a:pathLst>
                <a:path w="3255010" h="1301115">
                  <a:moveTo>
                    <a:pt x="3254596" y="0"/>
                  </a:moveTo>
                  <a:lnTo>
                    <a:pt x="0" y="0"/>
                  </a:lnTo>
                  <a:lnTo>
                    <a:pt x="0" y="1300705"/>
                  </a:lnTo>
                  <a:lnTo>
                    <a:pt x="3254596" y="1300705"/>
                  </a:lnTo>
                  <a:lnTo>
                    <a:pt x="3254596" y="0"/>
                  </a:lnTo>
                  <a:close/>
                </a:path>
              </a:pathLst>
            </a:custGeom>
            <a:solidFill>
              <a:srgbClr val="FFD8F7"/>
            </a:solidFill>
          </p:spPr>
          <p:txBody>
            <a:bodyPr wrap="square" lIns="0" tIns="0" rIns="0" bIns="0" rtlCol="0"/>
            <a:lstStyle/>
            <a:p>
              <a:endParaRPr/>
            </a:p>
          </p:txBody>
        </p:sp>
        <p:sp>
          <p:nvSpPr>
            <p:cNvPr id="7" name="object 7"/>
            <p:cNvSpPr/>
            <p:nvPr/>
          </p:nvSpPr>
          <p:spPr>
            <a:xfrm>
              <a:off x="1062794" y="3576526"/>
              <a:ext cx="3265170" cy="5213350"/>
            </a:xfrm>
            <a:custGeom>
              <a:avLst/>
              <a:gdLst/>
              <a:ahLst/>
              <a:cxnLst/>
              <a:rect l="l" t="t" r="r" b="b"/>
              <a:pathLst>
                <a:path w="3265170" h="5213350">
                  <a:moveTo>
                    <a:pt x="0" y="1305941"/>
                  </a:moveTo>
                  <a:lnTo>
                    <a:pt x="3265067" y="1305941"/>
                  </a:lnTo>
                </a:path>
                <a:path w="3265170" h="5213350">
                  <a:moveTo>
                    <a:pt x="0" y="2606647"/>
                  </a:moveTo>
                  <a:lnTo>
                    <a:pt x="3265067" y="2606647"/>
                  </a:lnTo>
                </a:path>
                <a:path w="3265170" h="5213350">
                  <a:moveTo>
                    <a:pt x="0" y="3907352"/>
                  </a:moveTo>
                  <a:lnTo>
                    <a:pt x="3265067" y="3907352"/>
                  </a:lnTo>
                </a:path>
                <a:path w="3265170" h="5213350">
                  <a:moveTo>
                    <a:pt x="5235" y="0"/>
                  </a:moveTo>
                  <a:lnTo>
                    <a:pt x="5235" y="5213294"/>
                  </a:lnTo>
                </a:path>
                <a:path w="3265170" h="5213350">
                  <a:moveTo>
                    <a:pt x="3259831" y="0"/>
                  </a:moveTo>
                  <a:lnTo>
                    <a:pt x="3259831" y="5213294"/>
                  </a:lnTo>
                </a:path>
                <a:path w="3265170" h="5213350">
                  <a:moveTo>
                    <a:pt x="0" y="5235"/>
                  </a:moveTo>
                  <a:lnTo>
                    <a:pt x="3265067" y="5235"/>
                  </a:lnTo>
                </a:path>
                <a:path w="3265170" h="5213350">
                  <a:moveTo>
                    <a:pt x="0" y="5208058"/>
                  </a:moveTo>
                  <a:lnTo>
                    <a:pt x="3265067" y="5208058"/>
                  </a:lnTo>
                </a:path>
              </a:pathLst>
            </a:custGeom>
            <a:ln w="10470">
              <a:solidFill>
                <a:srgbClr val="FF80E9"/>
              </a:solidFill>
            </a:ln>
          </p:spPr>
          <p:txBody>
            <a:bodyPr wrap="square" lIns="0" tIns="0" rIns="0" bIns="0" rtlCol="0"/>
            <a:lstStyle/>
            <a:p>
              <a:endParaRPr/>
            </a:p>
          </p:txBody>
        </p:sp>
        <p:sp>
          <p:nvSpPr>
            <p:cNvPr id="8" name="object 8"/>
            <p:cNvSpPr/>
            <p:nvPr/>
          </p:nvSpPr>
          <p:spPr>
            <a:xfrm>
              <a:off x="6242963" y="3567954"/>
              <a:ext cx="3255010" cy="1301115"/>
            </a:xfrm>
            <a:custGeom>
              <a:avLst/>
              <a:gdLst/>
              <a:ahLst/>
              <a:cxnLst/>
              <a:rect l="l" t="t" r="r" b="b"/>
              <a:pathLst>
                <a:path w="3255009" h="1301114">
                  <a:moveTo>
                    <a:pt x="3254596" y="0"/>
                  </a:moveTo>
                  <a:lnTo>
                    <a:pt x="0" y="0"/>
                  </a:lnTo>
                  <a:lnTo>
                    <a:pt x="0" y="1300705"/>
                  </a:lnTo>
                  <a:lnTo>
                    <a:pt x="3254596" y="1300705"/>
                  </a:lnTo>
                  <a:lnTo>
                    <a:pt x="3254596" y="0"/>
                  </a:lnTo>
                  <a:close/>
                </a:path>
              </a:pathLst>
            </a:custGeom>
            <a:solidFill>
              <a:srgbClr val="E8FAE8"/>
            </a:solidFill>
          </p:spPr>
          <p:txBody>
            <a:bodyPr wrap="square" lIns="0" tIns="0" rIns="0" bIns="0" rtlCol="0"/>
            <a:lstStyle/>
            <a:p>
              <a:endParaRPr/>
            </a:p>
          </p:txBody>
        </p:sp>
        <p:sp>
          <p:nvSpPr>
            <p:cNvPr id="9" name="object 9"/>
            <p:cNvSpPr/>
            <p:nvPr/>
          </p:nvSpPr>
          <p:spPr>
            <a:xfrm>
              <a:off x="6242963" y="4868660"/>
              <a:ext cx="3255010" cy="1301115"/>
            </a:xfrm>
            <a:custGeom>
              <a:avLst/>
              <a:gdLst/>
              <a:ahLst/>
              <a:cxnLst/>
              <a:rect l="l" t="t" r="r" b="b"/>
              <a:pathLst>
                <a:path w="3255009" h="1301114">
                  <a:moveTo>
                    <a:pt x="3254596" y="0"/>
                  </a:moveTo>
                  <a:lnTo>
                    <a:pt x="0" y="0"/>
                  </a:lnTo>
                  <a:lnTo>
                    <a:pt x="0" y="1300705"/>
                  </a:lnTo>
                  <a:lnTo>
                    <a:pt x="3254596" y="1300705"/>
                  </a:lnTo>
                  <a:lnTo>
                    <a:pt x="3254596" y="0"/>
                  </a:lnTo>
                  <a:close/>
                </a:path>
              </a:pathLst>
            </a:custGeom>
            <a:solidFill>
              <a:srgbClr val="CEF5CE"/>
            </a:solidFill>
          </p:spPr>
          <p:txBody>
            <a:bodyPr wrap="square" lIns="0" tIns="0" rIns="0" bIns="0" rtlCol="0"/>
            <a:lstStyle/>
            <a:p>
              <a:endParaRPr/>
            </a:p>
          </p:txBody>
        </p:sp>
        <p:sp>
          <p:nvSpPr>
            <p:cNvPr id="10" name="object 10"/>
            <p:cNvSpPr/>
            <p:nvPr/>
          </p:nvSpPr>
          <p:spPr>
            <a:xfrm>
              <a:off x="6242963" y="6169366"/>
              <a:ext cx="3255010" cy="1301115"/>
            </a:xfrm>
            <a:custGeom>
              <a:avLst/>
              <a:gdLst/>
              <a:ahLst/>
              <a:cxnLst/>
              <a:rect l="l" t="t" r="r" b="b"/>
              <a:pathLst>
                <a:path w="3255009" h="1301115">
                  <a:moveTo>
                    <a:pt x="3254596" y="0"/>
                  </a:moveTo>
                  <a:lnTo>
                    <a:pt x="0" y="0"/>
                  </a:lnTo>
                  <a:lnTo>
                    <a:pt x="0" y="1300705"/>
                  </a:lnTo>
                  <a:lnTo>
                    <a:pt x="3254596" y="1300705"/>
                  </a:lnTo>
                  <a:lnTo>
                    <a:pt x="3254596" y="0"/>
                  </a:lnTo>
                  <a:close/>
                </a:path>
              </a:pathLst>
            </a:custGeom>
            <a:solidFill>
              <a:srgbClr val="E8FAE8"/>
            </a:solidFill>
          </p:spPr>
          <p:txBody>
            <a:bodyPr wrap="square" lIns="0" tIns="0" rIns="0" bIns="0" rtlCol="0"/>
            <a:lstStyle/>
            <a:p>
              <a:endParaRPr/>
            </a:p>
          </p:txBody>
        </p:sp>
        <p:sp>
          <p:nvSpPr>
            <p:cNvPr id="11" name="object 11"/>
            <p:cNvSpPr/>
            <p:nvPr/>
          </p:nvSpPr>
          <p:spPr>
            <a:xfrm>
              <a:off x="6242963" y="7470072"/>
              <a:ext cx="3255010" cy="1301115"/>
            </a:xfrm>
            <a:custGeom>
              <a:avLst/>
              <a:gdLst/>
              <a:ahLst/>
              <a:cxnLst/>
              <a:rect l="l" t="t" r="r" b="b"/>
              <a:pathLst>
                <a:path w="3255009" h="1301115">
                  <a:moveTo>
                    <a:pt x="3254596" y="0"/>
                  </a:moveTo>
                  <a:lnTo>
                    <a:pt x="0" y="0"/>
                  </a:lnTo>
                  <a:lnTo>
                    <a:pt x="0" y="1300705"/>
                  </a:lnTo>
                  <a:lnTo>
                    <a:pt x="3254596" y="1300705"/>
                  </a:lnTo>
                  <a:lnTo>
                    <a:pt x="3254596" y="0"/>
                  </a:lnTo>
                  <a:close/>
                </a:path>
              </a:pathLst>
            </a:custGeom>
            <a:solidFill>
              <a:srgbClr val="CEF5CE"/>
            </a:solidFill>
          </p:spPr>
          <p:txBody>
            <a:bodyPr wrap="square" lIns="0" tIns="0" rIns="0" bIns="0" rtlCol="0"/>
            <a:lstStyle/>
            <a:p>
              <a:endParaRPr/>
            </a:p>
          </p:txBody>
        </p:sp>
        <p:sp>
          <p:nvSpPr>
            <p:cNvPr id="12" name="object 12"/>
            <p:cNvSpPr/>
            <p:nvPr/>
          </p:nvSpPr>
          <p:spPr>
            <a:xfrm>
              <a:off x="6237728" y="3562719"/>
              <a:ext cx="3265170" cy="5213350"/>
            </a:xfrm>
            <a:custGeom>
              <a:avLst/>
              <a:gdLst/>
              <a:ahLst/>
              <a:cxnLst/>
              <a:rect l="l" t="t" r="r" b="b"/>
              <a:pathLst>
                <a:path w="3265170" h="5213350">
                  <a:moveTo>
                    <a:pt x="0" y="1305941"/>
                  </a:moveTo>
                  <a:lnTo>
                    <a:pt x="3265067" y="1305941"/>
                  </a:lnTo>
                </a:path>
                <a:path w="3265170" h="5213350">
                  <a:moveTo>
                    <a:pt x="0" y="2606647"/>
                  </a:moveTo>
                  <a:lnTo>
                    <a:pt x="3265067" y="2606647"/>
                  </a:lnTo>
                </a:path>
                <a:path w="3265170" h="5213350">
                  <a:moveTo>
                    <a:pt x="0" y="3907352"/>
                  </a:moveTo>
                  <a:lnTo>
                    <a:pt x="3265067" y="3907352"/>
                  </a:lnTo>
                </a:path>
                <a:path w="3265170" h="5213350">
                  <a:moveTo>
                    <a:pt x="5235" y="0"/>
                  </a:moveTo>
                  <a:lnTo>
                    <a:pt x="5235" y="5213294"/>
                  </a:lnTo>
                </a:path>
                <a:path w="3265170" h="5213350">
                  <a:moveTo>
                    <a:pt x="3259831" y="0"/>
                  </a:moveTo>
                  <a:lnTo>
                    <a:pt x="3259831" y="5213294"/>
                  </a:lnTo>
                </a:path>
                <a:path w="3265170" h="5213350">
                  <a:moveTo>
                    <a:pt x="0" y="5235"/>
                  </a:moveTo>
                  <a:lnTo>
                    <a:pt x="3265067" y="5235"/>
                  </a:lnTo>
                </a:path>
                <a:path w="3265170" h="5213350">
                  <a:moveTo>
                    <a:pt x="0" y="5208058"/>
                  </a:moveTo>
                  <a:lnTo>
                    <a:pt x="3265067" y="5208058"/>
                  </a:lnTo>
                </a:path>
              </a:pathLst>
            </a:custGeom>
            <a:ln w="10470">
              <a:solidFill>
                <a:srgbClr val="38E53A"/>
              </a:solidFill>
            </a:ln>
          </p:spPr>
          <p:txBody>
            <a:bodyPr wrap="square" lIns="0" tIns="0" rIns="0" bIns="0" rtlCol="0"/>
            <a:lstStyle/>
            <a:p>
              <a:endParaRPr/>
            </a:p>
          </p:txBody>
        </p:sp>
        <p:sp>
          <p:nvSpPr>
            <p:cNvPr id="13" name="object 13"/>
            <p:cNvSpPr/>
            <p:nvPr/>
          </p:nvSpPr>
          <p:spPr>
            <a:xfrm>
              <a:off x="15767258" y="3563228"/>
              <a:ext cx="3515360" cy="1301750"/>
            </a:xfrm>
            <a:custGeom>
              <a:avLst/>
              <a:gdLst/>
              <a:ahLst/>
              <a:cxnLst/>
              <a:rect l="l" t="t" r="r" b="b"/>
              <a:pathLst>
                <a:path w="3515359" h="1301750">
                  <a:moveTo>
                    <a:pt x="3514919" y="0"/>
                  </a:moveTo>
                  <a:lnTo>
                    <a:pt x="0" y="0"/>
                  </a:lnTo>
                  <a:lnTo>
                    <a:pt x="0" y="1301325"/>
                  </a:lnTo>
                  <a:lnTo>
                    <a:pt x="3514919" y="1301325"/>
                  </a:lnTo>
                  <a:lnTo>
                    <a:pt x="3514919" y="0"/>
                  </a:lnTo>
                  <a:close/>
                </a:path>
              </a:pathLst>
            </a:custGeom>
            <a:solidFill>
              <a:srgbClr val="E7E7E7"/>
            </a:solidFill>
          </p:spPr>
          <p:txBody>
            <a:bodyPr wrap="square" lIns="0" tIns="0" rIns="0" bIns="0" rtlCol="0"/>
            <a:lstStyle/>
            <a:p>
              <a:endParaRPr/>
            </a:p>
          </p:txBody>
        </p:sp>
        <p:sp>
          <p:nvSpPr>
            <p:cNvPr id="14" name="object 14"/>
            <p:cNvSpPr/>
            <p:nvPr/>
          </p:nvSpPr>
          <p:spPr>
            <a:xfrm>
              <a:off x="15767258" y="4864553"/>
              <a:ext cx="3515360" cy="1301750"/>
            </a:xfrm>
            <a:custGeom>
              <a:avLst/>
              <a:gdLst/>
              <a:ahLst/>
              <a:cxnLst/>
              <a:rect l="l" t="t" r="r" b="b"/>
              <a:pathLst>
                <a:path w="3515359" h="1301750">
                  <a:moveTo>
                    <a:pt x="3514919" y="0"/>
                  </a:moveTo>
                  <a:lnTo>
                    <a:pt x="0" y="0"/>
                  </a:lnTo>
                  <a:lnTo>
                    <a:pt x="0" y="1301325"/>
                  </a:lnTo>
                  <a:lnTo>
                    <a:pt x="3514919" y="1301325"/>
                  </a:lnTo>
                  <a:lnTo>
                    <a:pt x="3514919" y="0"/>
                  </a:lnTo>
                  <a:close/>
                </a:path>
              </a:pathLst>
            </a:custGeom>
            <a:solidFill>
              <a:srgbClr val="CBCBCB"/>
            </a:solidFill>
          </p:spPr>
          <p:txBody>
            <a:bodyPr wrap="square" lIns="0" tIns="0" rIns="0" bIns="0" rtlCol="0"/>
            <a:lstStyle/>
            <a:p>
              <a:endParaRPr/>
            </a:p>
          </p:txBody>
        </p:sp>
        <p:sp>
          <p:nvSpPr>
            <p:cNvPr id="15" name="object 15"/>
            <p:cNvSpPr/>
            <p:nvPr/>
          </p:nvSpPr>
          <p:spPr>
            <a:xfrm>
              <a:off x="15767258" y="6165879"/>
              <a:ext cx="3515360" cy="1301750"/>
            </a:xfrm>
            <a:custGeom>
              <a:avLst/>
              <a:gdLst/>
              <a:ahLst/>
              <a:cxnLst/>
              <a:rect l="l" t="t" r="r" b="b"/>
              <a:pathLst>
                <a:path w="3515359" h="1301750">
                  <a:moveTo>
                    <a:pt x="3514919" y="0"/>
                  </a:moveTo>
                  <a:lnTo>
                    <a:pt x="0" y="0"/>
                  </a:lnTo>
                  <a:lnTo>
                    <a:pt x="0" y="1301325"/>
                  </a:lnTo>
                  <a:lnTo>
                    <a:pt x="3514919" y="1301325"/>
                  </a:lnTo>
                  <a:lnTo>
                    <a:pt x="3514919" y="0"/>
                  </a:lnTo>
                  <a:close/>
                </a:path>
              </a:pathLst>
            </a:custGeom>
            <a:solidFill>
              <a:srgbClr val="E7E7E7"/>
            </a:solidFill>
          </p:spPr>
          <p:txBody>
            <a:bodyPr wrap="square" lIns="0" tIns="0" rIns="0" bIns="0" rtlCol="0"/>
            <a:lstStyle/>
            <a:p>
              <a:endParaRPr/>
            </a:p>
          </p:txBody>
        </p:sp>
        <p:sp>
          <p:nvSpPr>
            <p:cNvPr id="16" name="object 16"/>
            <p:cNvSpPr/>
            <p:nvPr/>
          </p:nvSpPr>
          <p:spPr>
            <a:xfrm>
              <a:off x="15767258" y="7467205"/>
              <a:ext cx="3515360" cy="1301750"/>
            </a:xfrm>
            <a:custGeom>
              <a:avLst/>
              <a:gdLst/>
              <a:ahLst/>
              <a:cxnLst/>
              <a:rect l="l" t="t" r="r" b="b"/>
              <a:pathLst>
                <a:path w="3515359" h="1301750">
                  <a:moveTo>
                    <a:pt x="3514919" y="0"/>
                  </a:moveTo>
                  <a:lnTo>
                    <a:pt x="0" y="0"/>
                  </a:lnTo>
                  <a:lnTo>
                    <a:pt x="0" y="1301325"/>
                  </a:lnTo>
                  <a:lnTo>
                    <a:pt x="3514919" y="1301325"/>
                  </a:lnTo>
                  <a:lnTo>
                    <a:pt x="3514919" y="0"/>
                  </a:lnTo>
                  <a:close/>
                </a:path>
              </a:pathLst>
            </a:custGeom>
            <a:solidFill>
              <a:srgbClr val="CBCBCB"/>
            </a:solidFill>
          </p:spPr>
          <p:txBody>
            <a:bodyPr wrap="square" lIns="0" tIns="0" rIns="0" bIns="0" rtlCol="0"/>
            <a:lstStyle/>
            <a:p>
              <a:endParaRPr/>
            </a:p>
          </p:txBody>
        </p:sp>
        <p:sp>
          <p:nvSpPr>
            <p:cNvPr id="17" name="object 17"/>
            <p:cNvSpPr/>
            <p:nvPr/>
          </p:nvSpPr>
          <p:spPr>
            <a:xfrm>
              <a:off x="15762023" y="3557993"/>
              <a:ext cx="3525520" cy="5215890"/>
            </a:xfrm>
            <a:custGeom>
              <a:avLst/>
              <a:gdLst/>
              <a:ahLst/>
              <a:cxnLst/>
              <a:rect l="l" t="t" r="r" b="b"/>
              <a:pathLst>
                <a:path w="3525519" h="5215890">
                  <a:moveTo>
                    <a:pt x="0" y="1306561"/>
                  </a:moveTo>
                  <a:lnTo>
                    <a:pt x="3525390" y="1306561"/>
                  </a:lnTo>
                </a:path>
                <a:path w="3525519" h="5215890">
                  <a:moveTo>
                    <a:pt x="0" y="2607887"/>
                  </a:moveTo>
                  <a:lnTo>
                    <a:pt x="3525390" y="2607887"/>
                  </a:lnTo>
                </a:path>
                <a:path w="3525519" h="5215890">
                  <a:moveTo>
                    <a:pt x="0" y="3909212"/>
                  </a:moveTo>
                  <a:lnTo>
                    <a:pt x="3525390" y="3909212"/>
                  </a:lnTo>
                </a:path>
                <a:path w="3525519" h="5215890">
                  <a:moveTo>
                    <a:pt x="5235" y="0"/>
                  </a:moveTo>
                  <a:lnTo>
                    <a:pt x="5235" y="5215774"/>
                  </a:lnTo>
                </a:path>
                <a:path w="3525519" h="5215890">
                  <a:moveTo>
                    <a:pt x="3520155" y="0"/>
                  </a:moveTo>
                  <a:lnTo>
                    <a:pt x="3520155" y="5215774"/>
                  </a:lnTo>
                </a:path>
                <a:path w="3525519" h="5215890">
                  <a:moveTo>
                    <a:pt x="0" y="5235"/>
                  </a:moveTo>
                  <a:lnTo>
                    <a:pt x="3525390" y="5235"/>
                  </a:lnTo>
                </a:path>
                <a:path w="3525519" h="5215890">
                  <a:moveTo>
                    <a:pt x="0" y="5210538"/>
                  </a:moveTo>
                  <a:lnTo>
                    <a:pt x="3525390" y="5210538"/>
                  </a:lnTo>
                </a:path>
              </a:pathLst>
            </a:custGeom>
            <a:ln w="10470">
              <a:solidFill>
                <a:srgbClr val="000000"/>
              </a:solidFill>
            </a:ln>
          </p:spPr>
          <p:txBody>
            <a:bodyPr wrap="square" lIns="0" tIns="0" rIns="0" bIns="0" rtlCol="0"/>
            <a:lstStyle/>
            <a:p>
              <a:endParaRPr/>
            </a:p>
          </p:txBody>
        </p:sp>
        <p:sp>
          <p:nvSpPr>
            <p:cNvPr id="18" name="object 18"/>
            <p:cNvSpPr/>
            <p:nvPr/>
          </p:nvSpPr>
          <p:spPr>
            <a:xfrm>
              <a:off x="11042208" y="3563228"/>
              <a:ext cx="3312160" cy="1372235"/>
            </a:xfrm>
            <a:custGeom>
              <a:avLst/>
              <a:gdLst/>
              <a:ahLst/>
              <a:cxnLst/>
              <a:rect l="l" t="t" r="r" b="b"/>
              <a:pathLst>
                <a:path w="3312159" h="1372235">
                  <a:moveTo>
                    <a:pt x="3311923" y="0"/>
                  </a:moveTo>
                  <a:lnTo>
                    <a:pt x="0" y="0"/>
                  </a:lnTo>
                  <a:lnTo>
                    <a:pt x="0" y="1372170"/>
                  </a:lnTo>
                  <a:lnTo>
                    <a:pt x="3311923" y="1372170"/>
                  </a:lnTo>
                  <a:lnTo>
                    <a:pt x="3311923" y="0"/>
                  </a:lnTo>
                  <a:close/>
                </a:path>
              </a:pathLst>
            </a:custGeom>
            <a:solidFill>
              <a:srgbClr val="E7F7F7"/>
            </a:solidFill>
          </p:spPr>
          <p:txBody>
            <a:bodyPr wrap="square" lIns="0" tIns="0" rIns="0" bIns="0" rtlCol="0"/>
            <a:lstStyle/>
            <a:p>
              <a:endParaRPr/>
            </a:p>
          </p:txBody>
        </p:sp>
        <p:sp>
          <p:nvSpPr>
            <p:cNvPr id="19" name="object 19"/>
            <p:cNvSpPr/>
            <p:nvPr/>
          </p:nvSpPr>
          <p:spPr>
            <a:xfrm>
              <a:off x="11042208" y="4935398"/>
              <a:ext cx="3312160" cy="1118870"/>
            </a:xfrm>
            <a:custGeom>
              <a:avLst/>
              <a:gdLst/>
              <a:ahLst/>
              <a:cxnLst/>
              <a:rect l="l" t="t" r="r" b="b"/>
              <a:pathLst>
                <a:path w="3312159" h="1118870">
                  <a:moveTo>
                    <a:pt x="3311923" y="0"/>
                  </a:moveTo>
                  <a:lnTo>
                    <a:pt x="0" y="0"/>
                  </a:lnTo>
                  <a:lnTo>
                    <a:pt x="0" y="1118365"/>
                  </a:lnTo>
                  <a:lnTo>
                    <a:pt x="3311923" y="1118365"/>
                  </a:lnTo>
                  <a:lnTo>
                    <a:pt x="3311923" y="0"/>
                  </a:lnTo>
                  <a:close/>
                </a:path>
              </a:pathLst>
            </a:custGeom>
            <a:solidFill>
              <a:srgbClr val="CBEFEE"/>
            </a:solidFill>
          </p:spPr>
          <p:txBody>
            <a:bodyPr wrap="square" lIns="0" tIns="0" rIns="0" bIns="0" rtlCol="0"/>
            <a:lstStyle/>
            <a:p>
              <a:endParaRPr/>
            </a:p>
          </p:txBody>
        </p:sp>
        <p:sp>
          <p:nvSpPr>
            <p:cNvPr id="20" name="object 20"/>
            <p:cNvSpPr/>
            <p:nvPr/>
          </p:nvSpPr>
          <p:spPr>
            <a:xfrm>
              <a:off x="11042208" y="6053764"/>
              <a:ext cx="3312160" cy="1372235"/>
            </a:xfrm>
            <a:custGeom>
              <a:avLst/>
              <a:gdLst/>
              <a:ahLst/>
              <a:cxnLst/>
              <a:rect l="l" t="t" r="r" b="b"/>
              <a:pathLst>
                <a:path w="3312159" h="1372234">
                  <a:moveTo>
                    <a:pt x="3311923" y="0"/>
                  </a:moveTo>
                  <a:lnTo>
                    <a:pt x="0" y="0"/>
                  </a:lnTo>
                  <a:lnTo>
                    <a:pt x="0" y="1372170"/>
                  </a:lnTo>
                  <a:lnTo>
                    <a:pt x="3311923" y="1372170"/>
                  </a:lnTo>
                  <a:lnTo>
                    <a:pt x="3311923" y="0"/>
                  </a:lnTo>
                  <a:close/>
                </a:path>
              </a:pathLst>
            </a:custGeom>
            <a:solidFill>
              <a:srgbClr val="E7F7F7"/>
            </a:solidFill>
          </p:spPr>
          <p:txBody>
            <a:bodyPr wrap="square" lIns="0" tIns="0" rIns="0" bIns="0" rtlCol="0"/>
            <a:lstStyle/>
            <a:p>
              <a:endParaRPr/>
            </a:p>
          </p:txBody>
        </p:sp>
        <p:sp>
          <p:nvSpPr>
            <p:cNvPr id="21" name="object 21"/>
            <p:cNvSpPr/>
            <p:nvPr/>
          </p:nvSpPr>
          <p:spPr>
            <a:xfrm>
              <a:off x="11042208" y="7425935"/>
              <a:ext cx="3312160" cy="1343025"/>
            </a:xfrm>
            <a:custGeom>
              <a:avLst/>
              <a:gdLst/>
              <a:ahLst/>
              <a:cxnLst/>
              <a:rect l="l" t="t" r="r" b="b"/>
              <a:pathLst>
                <a:path w="3312159" h="1343025">
                  <a:moveTo>
                    <a:pt x="3311923" y="0"/>
                  </a:moveTo>
                  <a:lnTo>
                    <a:pt x="0" y="0"/>
                  </a:lnTo>
                  <a:lnTo>
                    <a:pt x="0" y="1342596"/>
                  </a:lnTo>
                  <a:lnTo>
                    <a:pt x="3311923" y="1342596"/>
                  </a:lnTo>
                  <a:lnTo>
                    <a:pt x="3311923" y="0"/>
                  </a:lnTo>
                  <a:close/>
                </a:path>
              </a:pathLst>
            </a:custGeom>
            <a:solidFill>
              <a:srgbClr val="CBEFEE"/>
            </a:solidFill>
          </p:spPr>
          <p:txBody>
            <a:bodyPr wrap="square" lIns="0" tIns="0" rIns="0" bIns="0" rtlCol="0"/>
            <a:lstStyle/>
            <a:p>
              <a:endParaRPr/>
            </a:p>
          </p:txBody>
        </p:sp>
        <p:sp>
          <p:nvSpPr>
            <p:cNvPr id="22" name="object 22"/>
            <p:cNvSpPr/>
            <p:nvPr/>
          </p:nvSpPr>
          <p:spPr>
            <a:xfrm>
              <a:off x="11036972" y="3557993"/>
              <a:ext cx="3322954" cy="5215890"/>
            </a:xfrm>
            <a:custGeom>
              <a:avLst/>
              <a:gdLst/>
              <a:ahLst/>
              <a:cxnLst/>
              <a:rect l="l" t="t" r="r" b="b"/>
              <a:pathLst>
                <a:path w="3322955" h="5215890">
                  <a:moveTo>
                    <a:pt x="0" y="1377406"/>
                  </a:moveTo>
                  <a:lnTo>
                    <a:pt x="3322394" y="1377406"/>
                  </a:lnTo>
                </a:path>
                <a:path w="3322955" h="5215890">
                  <a:moveTo>
                    <a:pt x="0" y="2495771"/>
                  </a:moveTo>
                  <a:lnTo>
                    <a:pt x="3322394" y="2495771"/>
                  </a:lnTo>
                </a:path>
                <a:path w="3322955" h="5215890">
                  <a:moveTo>
                    <a:pt x="0" y="3867942"/>
                  </a:moveTo>
                  <a:lnTo>
                    <a:pt x="3322394" y="3867942"/>
                  </a:lnTo>
                </a:path>
                <a:path w="3322955" h="5215890">
                  <a:moveTo>
                    <a:pt x="5235" y="0"/>
                  </a:moveTo>
                  <a:lnTo>
                    <a:pt x="5235" y="5215775"/>
                  </a:lnTo>
                </a:path>
                <a:path w="3322955" h="5215890">
                  <a:moveTo>
                    <a:pt x="3317159" y="0"/>
                  </a:moveTo>
                  <a:lnTo>
                    <a:pt x="3317159" y="5215775"/>
                  </a:lnTo>
                </a:path>
                <a:path w="3322955" h="5215890">
                  <a:moveTo>
                    <a:pt x="0" y="5235"/>
                  </a:moveTo>
                  <a:lnTo>
                    <a:pt x="3322394" y="5235"/>
                  </a:lnTo>
                </a:path>
                <a:path w="3322955" h="5215890">
                  <a:moveTo>
                    <a:pt x="0" y="5210539"/>
                  </a:moveTo>
                  <a:lnTo>
                    <a:pt x="3322394" y="5210539"/>
                  </a:lnTo>
                </a:path>
              </a:pathLst>
            </a:custGeom>
            <a:ln w="10470">
              <a:solidFill>
                <a:srgbClr val="00D4D2"/>
              </a:solidFill>
            </a:ln>
          </p:spPr>
          <p:txBody>
            <a:bodyPr wrap="square" lIns="0" tIns="0" rIns="0" bIns="0" rtlCol="0"/>
            <a:lstStyle/>
            <a:p>
              <a:endParaRPr/>
            </a:p>
          </p:txBody>
        </p:sp>
        <p:sp>
          <p:nvSpPr>
            <p:cNvPr id="23" name="object 23"/>
            <p:cNvSpPr/>
            <p:nvPr/>
          </p:nvSpPr>
          <p:spPr>
            <a:xfrm>
              <a:off x="4421365" y="4232471"/>
              <a:ext cx="1733550" cy="3969385"/>
            </a:xfrm>
            <a:custGeom>
              <a:avLst/>
              <a:gdLst/>
              <a:ahLst/>
              <a:cxnLst/>
              <a:rect l="l" t="t" r="r" b="b"/>
              <a:pathLst>
                <a:path w="1733550" h="3969384">
                  <a:moveTo>
                    <a:pt x="1722843" y="3898379"/>
                  </a:moveTo>
                  <a:lnTo>
                    <a:pt x="1675726" y="3874820"/>
                  </a:lnTo>
                  <a:lnTo>
                    <a:pt x="1581492" y="3827703"/>
                  </a:lnTo>
                  <a:lnTo>
                    <a:pt x="1581492" y="3874820"/>
                  </a:lnTo>
                  <a:lnTo>
                    <a:pt x="0" y="3874820"/>
                  </a:lnTo>
                  <a:lnTo>
                    <a:pt x="0" y="3921937"/>
                  </a:lnTo>
                  <a:lnTo>
                    <a:pt x="1581492" y="3921937"/>
                  </a:lnTo>
                  <a:lnTo>
                    <a:pt x="1581492" y="3969054"/>
                  </a:lnTo>
                  <a:lnTo>
                    <a:pt x="1675726" y="3921937"/>
                  </a:lnTo>
                  <a:lnTo>
                    <a:pt x="1722843" y="3898379"/>
                  </a:lnTo>
                  <a:close/>
                </a:path>
                <a:path w="1733550" h="3969384">
                  <a:moveTo>
                    <a:pt x="1733423" y="0"/>
                  </a:moveTo>
                  <a:lnTo>
                    <a:pt x="1580578" y="40195"/>
                  </a:lnTo>
                  <a:lnTo>
                    <a:pt x="1611680" y="75590"/>
                  </a:lnTo>
                  <a:lnTo>
                    <a:pt x="637108" y="931748"/>
                  </a:lnTo>
                  <a:lnTo>
                    <a:pt x="55257" y="43205"/>
                  </a:lnTo>
                  <a:lnTo>
                    <a:pt x="15836" y="69024"/>
                  </a:lnTo>
                  <a:lnTo>
                    <a:pt x="601357" y="963155"/>
                  </a:lnTo>
                  <a:lnTo>
                    <a:pt x="85572" y="1416278"/>
                  </a:lnTo>
                  <a:lnTo>
                    <a:pt x="116674" y="1451673"/>
                  </a:lnTo>
                  <a:lnTo>
                    <a:pt x="627430" y="1002969"/>
                  </a:lnTo>
                  <a:lnTo>
                    <a:pt x="1145616" y="1794268"/>
                  </a:lnTo>
                  <a:lnTo>
                    <a:pt x="55118" y="2679712"/>
                  </a:lnTo>
                  <a:lnTo>
                    <a:pt x="84823" y="2716288"/>
                  </a:lnTo>
                  <a:lnTo>
                    <a:pt x="1171562" y="1833905"/>
                  </a:lnTo>
                  <a:lnTo>
                    <a:pt x="1625701" y="2527363"/>
                  </a:lnTo>
                  <a:lnTo>
                    <a:pt x="1586280" y="2553182"/>
                  </a:lnTo>
                  <a:lnTo>
                    <a:pt x="1722843" y="2632710"/>
                  </a:lnTo>
                  <a:lnTo>
                    <a:pt x="1712861" y="2547074"/>
                  </a:lnTo>
                  <a:lnTo>
                    <a:pt x="1704530" y="2475738"/>
                  </a:lnTo>
                  <a:lnTo>
                    <a:pt x="1665109" y="2501557"/>
                  </a:lnTo>
                  <a:lnTo>
                    <a:pt x="1208328" y="1804047"/>
                  </a:lnTo>
                  <a:lnTo>
                    <a:pt x="1592414" y="1492186"/>
                  </a:lnTo>
                  <a:lnTo>
                    <a:pt x="1622107" y="1528775"/>
                  </a:lnTo>
                  <a:lnTo>
                    <a:pt x="1661960" y="1440764"/>
                  </a:lnTo>
                  <a:lnTo>
                    <a:pt x="1687296" y="1384795"/>
                  </a:lnTo>
                  <a:lnTo>
                    <a:pt x="1533004" y="1419034"/>
                  </a:lnTo>
                  <a:lnTo>
                    <a:pt x="1562709" y="1455610"/>
                  </a:lnTo>
                  <a:lnTo>
                    <a:pt x="1182382" y="1764423"/>
                  </a:lnTo>
                  <a:lnTo>
                    <a:pt x="663181" y="971562"/>
                  </a:lnTo>
                  <a:lnTo>
                    <a:pt x="1642770" y="110998"/>
                  </a:lnTo>
                  <a:lnTo>
                    <a:pt x="1673872" y="146392"/>
                  </a:lnTo>
                  <a:lnTo>
                    <a:pt x="1709000" y="60045"/>
                  </a:lnTo>
                  <a:lnTo>
                    <a:pt x="1733423" y="0"/>
                  </a:lnTo>
                  <a:close/>
                </a:path>
              </a:pathLst>
            </a:custGeom>
            <a:solidFill>
              <a:srgbClr val="599DFF"/>
            </a:solidFill>
          </p:spPr>
          <p:txBody>
            <a:bodyPr wrap="square" lIns="0" tIns="0" rIns="0" bIns="0" rtlCol="0"/>
            <a:lstStyle/>
            <a:p>
              <a:endParaRPr/>
            </a:p>
          </p:txBody>
        </p:sp>
      </p:grpSp>
      <p:pic>
        <p:nvPicPr>
          <p:cNvPr id="24" name="object 24"/>
          <p:cNvPicPr/>
          <p:nvPr/>
        </p:nvPicPr>
        <p:blipFill>
          <a:blip r:embed="rId2" cstate="print"/>
          <a:stretch>
            <a:fillRect/>
          </a:stretch>
        </p:blipFill>
        <p:spPr>
          <a:xfrm>
            <a:off x="1166037" y="4116314"/>
            <a:ext cx="3058336" cy="273918"/>
          </a:xfrm>
          <a:prstGeom prst="rect">
            <a:avLst/>
          </a:prstGeom>
        </p:spPr>
      </p:pic>
      <p:pic>
        <p:nvPicPr>
          <p:cNvPr id="25" name="object 25"/>
          <p:cNvPicPr/>
          <p:nvPr/>
        </p:nvPicPr>
        <p:blipFill>
          <a:blip r:embed="rId3" cstate="print"/>
          <a:stretch>
            <a:fillRect/>
          </a:stretch>
        </p:blipFill>
        <p:spPr>
          <a:xfrm>
            <a:off x="1166037" y="5408002"/>
            <a:ext cx="3058336" cy="276431"/>
          </a:xfrm>
          <a:prstGeom prst="rect">
            <a:avLst/>
          </a:prstGeom>
        </p:spPr>
      </p:pic>
      <p:pic>
        <p:nvPicPr>
          <p:cNvPr id="26" name="object 26"/>
          <p:cNvPicPr/>
          <p:nvPr/>
        </p:nvPicPr>
        <p:blipFill>
          <a:blip r:embed="rId4" cstate="print"/>
          <a:stretch>
            <a:fillRect/>
          </a:stretch>
        </p:blipFill>
        <p:spPr>
          <a:xfrm>
            <a:off x="1123316" y="6699691"/>
            <a:ext cx="3058336" cy="276431"/>
          </a:xfrm>
          <a:prstGeom prst="rect">
            <a:avLst/>
          </a:prstGeom>
        </p:spPr>
      </p:pic>
      <p:pic>
        <p:nvPicPr>
          <p:cNvPr id="27" name="object 27"/>
          <p:cNvPicPr/>
          <p:nvPr/>
        </p:nvPicPr>
        <p:blipFill>
          <a:blip r:embed="rId5" cstate="print"/>
          <a:stretch>
            <a:fillRect/>
          </a:stretch>
        </p:blipFill>
        <p:spPr>
          <a:xfrm>
            <a:off x="1166037" y="7993892"/>
            <a:ext cx="3058336" cy="273918"/>
          </a:xfrm>
          <a:prstGeom prst="rect">
            <a:avLst/>
          </a:prstGeom>
        </p:spPr>
      </p:pic>
      <p:sp>
        <p:nvSpPr>
          <p:cNvPr id="28" name="object 28"/>
          <p:cNvSpPr txBox="1"/>
          <p:nvPr/>
        </p:nvSpPr>
        <p:spPr>
          <a:xfrm>
            <a:off x="5038590" y="5303996"/>
            <a:ext cx="1259866"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12</a:t>
            </a:r>
          </a:p>
        </p:txBody>
      </p:sp>
      <p:sp>
        <p:nvSpPr>
          <p:cNvPr id="29" name="object 29"/>
          <p:cNvSpPr txBox="1"/>
          <p:nvPr/>
        </p:nvSpPr>
        <p:spPr>
          <a:xfrm>
            <a:off x="4479324" y="6588145"/>
            <a:ext cx="1906169" cy="1373453"/>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13</a:t>
            </a:r>
            <a:endParaRPr lang="es-PE" sz="2150" dirty="0">
              <a:latin typeface="Tahoma"/>
              <a:cs typeface="Tahoma"/>
            </a:endParaRPr>
          </a:p>
          <a:p>
            <a:pPr marL="12700">
              <a:lnSpc>
                <a:spcPct val="100000"/>
              </a:lnSpc>
              <a:spcBef>
                <a:spcPts val="90"/>
              </a:spcBef>
            </a:pPr>
            <a:endParaRPr lang="es-PE" sz="2150" dirty="0">
              <a:latin typeface="Tahoma"/>
              <a:cs typeface="Tahoma"/>
            </a:endParaRPr>
          </a:p>
          <a:p>
            <a:pPr marL="12700">
              <a:lnSpc>
                <a:spcPct val="100000"/>
              </a:lnSpc>
              <a:spcBef>
                <a:spcPts val="90"/>
              </a:spcBef>
            </a:pPr>
            <a:endParaRPr lang="es-PE" sz="2150" dirty="0">
              <a:latin typeface="Tahoma"/>
              <a:cs typeface="Tahoma"/>
            </a:endParaRPr>
          </a:p>
          <a:p>
            <a:pPr marL="12700">
              <a:lnSpc>
                <a:spcPct val="100000"/>
              </a:lnSpc>
              <a:spcBef>
                <a:spcPts val="90"/>
              </a:spcBef>
            </a:pPr>
            <a:r>
              <a:rPr lang="es-PE" sz="2150" dirty="0">
                <a:latin typeface="Tahoma"/>
                <a:cs typeface="Tahoma"/>
              </a:rPr>
              <a:t>      </a:t>
            </a:r>
            <a:r>
              <a:rPr sz="2150" dirty="0">
                <a:latin typeface="Tahoma"/>
                <a:cs typeface="Tahoma"/>
              </a:rPr>
              <a:t>MAE = 15</a:t>
            </a:r>
          </a:p>
        </p:txBody>
      </p:sp>
      <p:sp>
        <p:nvSpPr>
          <p:cNvPr id="30" name="object 30"/>
          <p:cNvSpPr txBox="1"/>
          <p:nvPr/>
        </p:nvSpPr>
        <p:spPr>
          <a:xfrm>
            <a:off x="4905564" y="3869066"/>
            <a:ext cx="1173003"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MAE = 9</a:t>
            </a:r>
          </a:p>
        </p:txBody>
      </p:sp>
      <p:pic>
        <p:nvPicPr>
          <p:cNvPr id="31" name="object 31"/>
          <p:cNvPicPr/>
          <p:nvPr/>
        </p:nvPicPr>
        <p:blipFill>
          <a:blip r:embed="rId6" cstate="print"/>
          <a:stretch>
            <a:fillRect/>
          </a:stretch>
        </p:blipFill>
        <p:spPr>
          <a:xfrm>
            <a:off x="6327765" y="6714769"/>
            <a:ext cx="3060849" cy="276431"/>
          </a:xfrm>
          <a:prstGeom prst="rect">
            <a:avLst/>
          </a:prstGeom>
        </p:spPr>
      </p:pic>
      <p:pic>
        <p:nvPicPr>
          <p:cNvPr id="32" name="object 32"/>
          <p:cNvPicPr/>
          <p:nvPr/>
        </p:nvPicPr>
        <p:blipFill>
          <a:blip r:embed="rId7" cstate="print"/>
          <a:stretch>
            <a:fillRect/>
          </a:stretch>
        </p:blipFill>
        <p:spPr>
          <a:xfrm>
            <a:off x="6327765" y="8016509"/>
            <a:ext cx="3060849" cy="276431"/>
          </a:xfrm>
          <a:prstGeom prst="rect">
            <a:avLst/>
          </a:prstGeom>
        </p:spPr>
      </p:pic>
      <p:pic>
        <p:nvPicPr>
          <p:cNvPr id="33" name="object 33"/>
          <p:cNvPicPr/>
          <p:nvPr/>
        </p:nvPicPr>
        <p:blipFill>
          <a:blip r:embed="rId8" cstate="print"/>
          <a:stretch>
            <a:fillRect/>
          </a:stretch>
        </p:blipFill>
        <p:spPr>
          <a:xfrm>
            <a:off x="6307661" y="5392924"/>
            <a:ext cx="3058336" cy="276431"/>
          </a:xfrm>
          <a:prstGeom prst="rect">
            <a:avLst/>
          </a:prstGeom>
        </p:spPr>
      </p:pic>
      <p:pic>
        <p:nvPicPr>
          <p:cNvPr id="34" name="object 34"/>
          <p:cNvPicPr/>
          <p:nvPr/>
        </p:nvPicPr>
        <p:blipFill>
          <a:blip r:embed="rId9" cstate="print"/>
          <a:stretch>
            <a:fillRect/>
          </a:stretch>
        </p:blipFill>
        <p:spPr>
          <a:xfrm>
            <a:off x="6307661" y="4106262"/>
            <a:ext cx="3058336" cy="276431"/>
          </a:xfrm>
          <a:prstGeom prst="rect">
            <a:avLst/>
          </a:prstGeom>
        </p:spPr>
      </p:pic>
      <p:grpSp>
        <p:nvGrpSpPr>
          <p:cNvPr id="35" name="object 35"/>
          <p:cNvGrpSpPr/>
          <p:nvPr/>
        </p:nvGrpSpPr>
        <p:grpSpPr>
          <a:xfrm>
            <a:off x="15997837" y="4053489"/>
            <a:ext cx="3083560" cy="417195"/>
            <a:chOff x="15997837" y="4053489"/>
            <a:chExt cx="3083560" cy="417195"/>
          </a:xfrm>
        </p:grpSpPr>
        <p:pic>
          <p:nvPicPr>
            <p:cNvPr id="36" name="object 36"/>
            <p:cNvPicPr/>
            <p:nvPr/>
          </p:nvPicPr>
          <p:blipFill>
            <a:blip r:embed="rId10" cstate="print"/>
            <a:stretch>
              <a:fillRect/>
            </a:stretch>
          </p:blipFill>
          <p:spPr>
            <a:xfrm>
              <a:off x="15997837" y="4126366"/>
              <a:ext cx="1560580" cy="344282"/>
            </a:xfrm>
            <a:prstGeom prst="rect">
              <a:avLst/>
            </a:prstGeom>
          </p:spPr>
        </p:pic>
        <p:pic>
          <p:nvPicPr>
            <p:cNvPr id="37" name="object 37"/>
            <p:cNvPicPr/>
            <p:nvPr/>
          </p:nvPicPr>
          <p:blipFill>
            <a:blip r:embed="rId11" cstate="print"/>
            <a:stretch>
              <a:fillRect/>
            </a:stretch>
          </p:blipFill>
          <p:spPr>
            <a:xfrm>
              <a:off x="17520722" y="4053489"/>
              <a:ext cx="1560580" cy="344282"/>
            </a:xfrm>
            <a:prstGeom prst="rect">
              <a:avLst/>
            </a:prstGeom>
          </p:spPr>
        </p:pic>
      </p:grpSp>
      <p:grpSp>
        <p:nvGrpSpPr>
          <p:cNvPr id="38" name="object 38"/>
          <p:cNvGrpSpPr/>
          <p:nvPr/>
        </p:nvGrpSpPr>
        <p:grpSpPr>
          <a:xfrm>
            <a:off x="15997837" y="6641892"/>
            <a:ext cx="3061335" cy="452755"/>
            <a:chOff x="15997837" y="6641892"/>
            <a:chExt cx="3061335" cy="452755"/>
          </a:xfrm>
        </p:grpSpPr>
        <p:pic>
          <p:nvPicPr>
            <p:cNvPr id="39" name="object 39"/>
            <p:cNvPicPr/>
            <p:nvPr/>
          </p:nvPicPr>
          <p:blipFill>
            <a:blip r:embed="rId12" cstate="print"/>
            <a:stretch>
              <a:fillRect/>
            </a:stretch>
          </p:blipFill>
          <p:spPr>
            <a:xfrm>
              <a:off x="15997837" y="6641892"/>
              <a:ext cx="784059" cy="452342"/>
            </a:xfrm>
            <a:prstGeom prst="rect">
              <a:avLst/>
            </a:prstGeom>
          </p:spPr>
        </p:pic>
        <p:pic>
          <p:nvPicPr>
            <p:cNvPr id="40" name="object 40"/>
            <p:cNvPicPr/>
            <p:nvPr/>
          </p:nvPicPr>
          <p:blipFill>
            <a:blip r:embed="rId13" cstate="print"/>
            <a:stretch>
              <a:fillRect/>
            </a:stretch>
          </p:blipFill>
          <p:spPr>
            <a:xfrm>
              <a:off x="16779384" y="6641892"/>
              <a:ext cx="2279302" cy="334230"/>
            </a:xfrm>
            <a:prstGeom prst="rect">
              <a:avLst/>
            </a:prstGeom>
          </p:spPr>
        </p:pic>
      </p:grpSp>
      <p:grpSp>
        <p:nvGrpSpPr>
          <p:cNvPr id="41" name="object 41"/>
          <p:cNvGrpSpPr/>
          <p:nvPr/>
        </p:nvGrpSpPr>
        <p:grpSpPr>
          <a:xfrm>
            <a:off x="15819414" y="7976301"/>
            <a:ext cx="3279775" cy="550545"/>
            <a:chOff x="15819414" y="7976301"/>
            <a:chExt cx="3279775" cy="550545"/>
          </a:xfrm>
        </p:grpSpPr>
        <p:pic>
          <p:nvPicPr>
            <p:cNvPr id="42" name="object 42"/>
            <p:cNvPicPr/>
            <p:nvPr/>
          </p:nvPicPr>
          <p:blipFill>
            <a:blip r:embed="rId14" cstate="print"/>
            <a:stretch>
              <a:fillRect/>
            </a:stretch>
          </p:blipFill>
          <p:spPr>
            <a:xfrm>
              <a:off x="15819414" y="7976301"/>
              <a:ext cx="3279481" cy="550349"/>
            </a:xfrm>
            <a:prstGeom prst="rect">
              <a:avLst/>
            </a:prstGeom>
          </p:spPr>
        </p:pic>
        <p:pic>
          <p:nvPicPr>
            <p:cNvPr id="43" name="object 43"/>
            <p:cNvPicPr/>
            <p:nvPr/>
          </p:nvPicPr>
          <p:blipFill>
            <a:blip r:embed="rId15" cstate="print"/>
            <a:stretch>
              <a:fillRect/>
            </a:stretch>
          </p:blipFill>
          <p:spPr>
            <a:xfrm>
              <a:off x="16794463" y="7981327"/>
              <a:ext cx="1507807" cy="545323"/>
            </a:xfrm>
            <a:prstGeom prst="rect">
              <a:avLst/>
            </a:prstGeom>
          </p:spPr>
        </p:pic>
      </p:grpSp>
      <p:grpSp>
        <p:nvGrpSpPr>
          <p:cNvPr id="44" name="object 44"/>
          <p:cNvGrpSpPr/>
          <p:nvPr/>
        </p:nvGrpSpPr>
        <p:grpSpPr>
          <a:xfrm>
            <a:off x="15997837" y="5201935"/>
            <a:ext cx="3192145" cy="525780"/>
            <a:chOff x="15997837" y="5201935"/>
            <a:chExt cx="3192145" cy="525780"/>
          </a:xfrm>
        </p:grpSpPr>
        <p:pic>
          <p:nvPicPr>
            <p:cNvPr id="45" name="object 45"/>
            <p:cNvPicPr/>
            <p:nvPr/>
          </p:nvPicPr>
          <p:blipFill>
            <a:blip r:embed="rId16" cstate="print"/>
            <a:stretch>
              <a:fillRect/>
            </a:stretch>
          </p:blipFill>
          <p:spPr>
            <a:xfrm>
              <a:off x="17520722" y="5272300"/>
              <a:ext cx="1668640" cy="381977"/>
            </a:xfrm>
            <a:prstGeom prst="rect">
              <a:avLst/>
            </a:prstGeom>
          </p:spPr>
        </p:pic>
        <p:pic>
          <p:nvPicPr>
            <p:cNvPr id="46" name="object 46"/>
            <p:cNvPicPr/>
            <p:nvPr/>
          </p:nvPicPr>
          <p:blipFill>
            <a:blip r:embed="rId17" cstate="print"/>
            <a:stretch>
              <a:fillRect/>
            </a:stretch>
          </p:blipFill>
          <p:spPr>
            <a:xfrm>
              <a:off x="15997837" y="5201935"/>
              <a:ext cx="1560580" cy="452342"/>
            </a:xfrm>
            <a:prstGeom prst="rect">
              <a:avLst/>
            </a:prstGeom>
          </p:spPr>
        </p:pic>
        <p:pic>
          <p:nvPicPr>
            <p:cNvPr id="47" name="object 47"/>
            <p:cNvPicPr/>
            <p:nvPr/>
          </p:nvPicPr>
          <p:blipFill>
            <a:blip r:embed="rId18" cstate="print"/>
            <a:stretch>
              <a:fillRect/>
            </a:stretch>
          </p:blipFill>
          <p:spPr>
            <a:xfrm>
              <a:off x="16812053" y="5345177"/>
              <a:ext cx="746364" cy="381977"/>
            </a:xfrm>
            <a:prstGeom prst="rect">
              <a:avLst/>
            </a:prstGeom>
          </p:spPr>
        </p:pic>
      </p:grpSp>
      <p:grpSp>
        <p:nvGrpSpPr>
          <p:cNvPr id="48" name="object 48"/>
          <p:cNvGrpSpPr/>
          <p:nvPr/>
        </p:nvGrpSpPr>
        <p:grpSpPr>
          <a:xfrm>
            <a:off x="9568775" y="4053489"/>
            <a:ext cx="6090285" cy="4473575"/>
            <a:chOff x="9568775" y="4053489"/>
            <a:chExt cx="6090285" cy="4473575"/>
          </a:xfrm>
        </p:grpSpPr>
        <p:pic>
          <p:nvPicPr>
            <p:cNvPr id="49" name="object 49"/>
            <p:cNvPicPr/>
            <p:nvPr/>
          </p:nvPicPr>
          <p:blipFill>
            <a:blip r:embed="rId19" cstate="print"/>
            <a:stretch>
              <a:fillRect/>
            </a:stretch>
          </p:blipFill>
          <p:spPr>
            <a:xfrm>
              <a:off x="11165314" y="4123853"/>
              <a:ext cx="1560580" cy="344282"/>
            </a:xfrm>
            <a:prstGeom prst="rect">
              <a:avLst/>
            </a:prstGeom>
          </p:spPr>
        </p:pic>
        <p:pic>
          <p:nvPicPr>
            <p:cNvPr id="50" name="object 50"/>
            <p:cNvPicPr/>
            <p:nvPr/>
          </p:nvPicPr>
          <p:blipFill>
            <a:blip r:embed="rId20" cstate="print"/>
            <a:stretch>
              <a:fillRect/>
            </a:stretch>
          </p:blipFill>
          <p:spPr>
            <a:xfrm>
              <a:off x="12685687" y="4053489"/>
              <a:ext cx="1560580" cy="344282"/>
            </a:xfrm>
            <a:prstGeom prst="rect">
              <a:avLst/>
            </a:prstGeom>
          </p:spPr>
        </p:pic>
        <p:pic>
          <p:nvPicPr>
            <p:cNvPr id="51" name="object 51"/>
            <p:cNvPicPr/>
            <p:nvPr/>
          </p:nvPicPr>
          <p:blipFill>
            <a:blip r:embed="rId21" cstate="print"/>
            <a:stretch>
              <a:fillRect/>
            </a:stretch>
          </p:blipFill>
          <p:spPr>
            <a:xfrm>
              <a:off x="12685687" y="5264761"/>
              <a:ext cx="1668640" cy="381977"/>
            </a:xfrm>
            <a:prstGeom prst="rect">
              <a:avLst/>
            </a:prstGeom>
          </p:spPr>
        </p:pic>
        <p:pic>
          <p:nvPicPr>
            <p:cNvPr id="52" name="object 52"/>
            <p:cNvPicPr/>
            <p:nvPr/>
          </p:nvPicPr>
          <p:blipFill>
            <a:blip r:embed="rId22" cstate="print"/>
            <a:stretch>
              <a:fillRect/>
            </a:stretch>
          </p:blipFill>
          <p:spPr>
            <a:xfrm>
              <a:off x="11165314" y="5191883"/>
              <a:ext cx="1560580" cy="454855"/>
            </a:xfrm>
            <a:prstGeom prst="rect">
              <a:avLst/>
            </a:prstGeom>
          </p:spPr>
        </p:pic>
        <p:pic>
          <p:nvPicPr>
            <p:cNvPr id="53" name="object 53"/>
            <p:cNvPicPr/>
            <p:nvPr/>
          </p:nvPicPr>
          <p:blipFill>
            <a:blip r:embed="rId23" cstate="print"/>
            <a:stretch>
              <a:fillRect/>
            </a:stretch>
          </p:blipFill>
          <p:spPr>
            <a:xfrm>
              <a:off x="11157775" y="6614248"/>
              <a:ext cx="784059" cy="454855"/>
            </a:xfrm>
            <a:prstGeom prst="rect">
              <a:avLst/>
            </a:prstGeom>
          </p:spPr>
        </p:pic>
        <p:pic>
          <p:nvPicPr>
            <p:cNvPr id="54" name="object 54"/>
            <p:cNvPicPr/>
            <p:nvPr/>
          </p:nvPicPr>
          <p:blipFill>
            <a:blip r:embed="rId24" cstate="print"/>
            <a:stretch>
              <a:fillRect/>
            </a:stretch>
          </p:blipFill>
          <p:spPr>
            <a:xfrm>
              <a:off x="11939322" y="6614248"/>
              <a:ext cx="2279302" cy="336743"/>
            </a:xfrm>
            <a:prstGeom prst="rect">
              <a:avLst/>
            </a:prstGeom>
          </p:spPr>
        </p:pic>
        <p:pic>
          <p:nvPicPr>
            <p:cNvPr id="55" name="object 55"/>
            <p:cNvPicPr/>
            <p:nvPr/>
          </p:nvPicPr>
          <p:blipFill>
            <a:blip r:embed="rId25" cstate="print"/>
            <a:stretch>
              <a:fillRect/>
            </a:stretch>
          </p:blipFill>
          <p:spPr>
            <a:xfrm>
              <a:off x="10966786" y="7976301"/>
              <a:ext cx="3279481" cy="550349"/>
            </a:xfrm>
            <a:prstGeom prst="rect">
              <a:avLst/>
            </a:prstGeom>
          </p:spPr>
        </p:pic>
        <p:sp>
          <p:nvSpPr>
            <p:cNvPr id="56" name="object 56"/>
            <p:cNvSpPr/>
            <p:nvPr/>
          </p:nvSpPr>
          <p:spPr>
            <a:xfrm>
              <a:off x="9568764" y="4250594"/>
              <a:ext cx="1404620" cy="4006850"/>
            </a:xfrm>
            <a:custGeom>
              <a:avLst/>
              <a:gdLst/>
              <a:ahLst/>
              <a:cxnLst/>
              <a:rect l="l" t="t" r="r" b="b"/>
              <a:pathLst>
                <a:path w="1404620" h="4006850">
                  <a:moveTo>
                    <a:pt x="1399019" y="0"/>
                  </a:moveTo>
                  <a:lnTo>
                    <a:pt x="1249997" y="52641"/>
                  </a:lnTo>
                  <a:lnTo>
                    <a:pt x="1283906" y="85356"/>
                  </a:lnTo>
                  <a:lnTo>
                    <a:pt x="922845" y="459486"/>
                  </a:lnTo>
                  <a:lnTo>
                    <a:pt x="864489" y="424954"/>
                  </a:lnTo>
                  <a:lnTo>
                    <a:pt x="822401" y="409676"/>
                  </a:lnTo>
                  <a:lnTo>
                    <a:pt x="777697" y="400164"/>
                  </a:lnTo>
                  <a:lnTo>
                    <a:pt x="730846" y="396887"/>
                  </a:lnTo>
                  <a:lnTo>
                    <a:pt x="684009" y="400164"/>
                  </a:lnTo>
                  <a:lnTo>
                    <a:pt x="639292" y="409676"/>
                  </a:lnTo>
                  <a:lnTo>
                    <a:pt x="597204" y="424954"/>
                  </a:lnTo>
                  <a:lnTo>
                    <a:pt x="558241" y="445541"/>
                  </a:lnTo>
                  <a:lnTo>
                    <a:pt x="535406" y="461949"/>
                  </a:lnTo>
                  <a:lnTo>
                    <a:pt x="60528" y="12014"/>
                  </a:lnTo>
                  <a:lnTo>
                    <a:pt x="28117" y="46215"/>
                  </a:lnTo>
                  <a:lnTo>
                    <a:pt x="499694" y="493039"/>
                  </a:lnTo>
                  <a:lnTo>
                    <a:pt x="491604" y="500748"/>
                  </a:lnTo>
                  <a:lnTo>
                    <a:pt x="464921" y="534441"/>
                  </a:lnTo>
                  <a:lnTo>
                    <a:pt x="443306" y="571563"/>
                  </a:lnTo>
                  <a:lnTo>
                    <a:pt x="427266" y="611644"/>
                  </a:lnTo>
                  <a:lnTo>
                    <a:pt x="417283" y="654240"/>
                  </a:lnTo>
                  <a:lnTo>
                    <a:pt x="413842" y="698855"/>
                  </a:lnTo>
                  <a:lnTo>
                    <a:pt x="417283" y="743483"/>
                  </a:lnTo>
                  <a:lnTo>
                    <a:pt x="427266" y="786079"/>
                  </a:lnTo>
                  <a:lnTo>
                    <a:pt x="443306" y="826160"/>
                  </a:lnTo>
                  <a:lnTo>
                    <a:pt x="464921" y="863282"/>
                  </a:lnTo>
                  <a:lnTo>
                    <a:pt x="491604" y="896975"/>
                  </a:lnTo>
                  <a:lnTo>
                    <a:pt x="496316" y="901484"/>
                  </a:lnTo>
                  <a:lnTo>
                    <a:pt x="0" y="1415770"/>
                  </a:lnTo>
                  <a:lnTo>
                    <a:pt x="33909" y="1448498"/>
                  </a:lnTo>
                  <a:lnTo>
                    <a:pt x="531456" y="932942"/>
                  </a:lnTo>
                  <a:lnTo>
                    <a:pt x="558241" y="952182"/>
                  </a:lnTo>
                  <a:lnTo>
                    <a:pt x="597204" y="972769"/>
                  </a:lnTo>
                  <a:lnTo>
                    <a:pt x="639292" y="988047"/>
                  </a:lnTo>
                  <a:lnTo>
                    <a:pt x="684009" y="997559"/>
                  </a:lnTo>
                  <a:lnTo>
                    <a:pt x="730846" y="1000836"/>
                  </a:lnTo>
                  <a:lnTo>
                    <a:pt x="777697" y="997559"/>
                  </a:lnTo>
                  <a:lnTo>
                    <a:pt x="822401" y="988047"/>
                  </a:lnTo>
                  <a:lnTo>
                    <a:pt x="864489" y="972769"/>
                  </a:lnTo>
                  <a:lnTo>
                    <a:pt x="903465" y="952182"/>
                  </a:lnTo>
                  <a:lnTo>
                    <a:pt x="938822" y="926757"/>
                  </a:lnTo>
                  <a:lnTo>
                    <a:pt x="948118" y="917905"/>
                  </a:lnTo>
                  <a:lnTo>
                    <a:pt x="1261859" y="1215136"/>
                  </a:lnTo>
                  <a:lnTo>
                    <a:pt x="1229461" y="1249337"/>
                  </a:lnTo>
                  <a:lnTo>
                    <a:pt x="1380680" y="1295247"/>
                  </a:lnTo>
                  <a:lnTo>
                    <a:pt x="1357439" y="1231328"/>
                  </a:lnTo>
                  <a:lnTo>
                    <a:pt x="1326680" y="1146721"/>
                  </a:lnTo>
                  <a:lnTo>
                    <a:pt x="1294269" y="1180922"/>
                  </a:lnTo>
                  <a:lnTo>
                    <a:pt x="980579" y="883729"/>
                  </a:lnTo>
                  <a:lnTo>
                    <a:pt x="996784" y="863282"/>
                  </a:lnTo>
                  <a:lnTo>
                    <a:pt x="1018387" y="826160"/>
                  </a:lnTo>
                  <a:lnTo>
                    <a:pt x="1034427" y="786079"/>
                  </a:lnTo>
                  <a:lnTo>
                    <a:pt x="1044409" y="743483"/>
                  </a:lnTo>
                  <a:lnTo>
                    <a:pt x="1047851" y="698855"/>
                  </a:lnTo>
                  <a:lnTo>
                    <a:pt x="1044409" y="654240"/>
                  </a:lnTo>
                  <a:lnTo>
                    <a:pt x="1034427" y="611644"/>
                  </a:lnTo>
                  <a:lnTo>
                    <a:pt x="1018387" y="571563"/>
                  </a:lnTo>
                  <a:lnTo>
                    <a:pt x="996784" y="534441"/>
                  </a:lnTo>
                  <a:lnTo>
                    <a:pt x="970089" y="500748"/>
                  </a:lnTo>
                  <a:lnTo>
                    <a:pt x="958850" y="490054"/>
                  </a:lnTo>
                  <a:lnTo>
                    <a:pt x="1317815" y="118084"/>
                  </a:lnTo>
                  <a:lnTo>
                    <a:pt x="1351724" y="150799"/>
                  </a:lnTo>
                  <a:lnTo>
                    <a:pt x="1377569" y="68402"/>
                  </a:lnTo>
                  <a:lnTo>
                    <a:pt x="1399019" y="0"/>
                  </a:lnTo>
                  <a:close/>
                </a:path>
                <a:path w="1404620" h="4006850">
                  <a:moveTo>
                    <a:pt x="1404264" y="2558008"/>
                  </a:moveTo>
                  <a:lnTo>
                    <a:pt x="1255242" y="2610650"/>
                  </a:lnTo>
                  <a:lnTo>
                    <a:pt x="1289151" y="2643365"/>
                  </a:lnTo>
                  <a:lnTo>
                    <a:pt x="722591" y="3230448"/>
                  </a:lnTo>
                  <a:lnTo>
                    <a:pt x="78879" y="2620543"/>
                  </a:lnTo>
                  <a:lnTo>
                    <a:pt x="46469" y="2654744"/>
                  </a:lnTo>
                  <a:lnTo>
                    <a:pt x="689876" y="3264357"/>
                  </a:lnTo>
                  <a:lnTo>
                    <a:pt x="5245" y="3973779"/>
                  </a:lnTo>
                  <a:lnTo>
                    <a:pt x="39154" y="4006494"/>
                  </a:lnTo>
                  <a:lnTo>
                    <a:pt x="724077" y="3296755"/>
                  </a:lnTo>
                  <a:lnTo>
                    <a:pt x="1280210" y="3823665"/>
                  </a:lnTo>
                  <a:lnTo>
                    <a:pt x="1247800" y="3857866"/>
                  </a:lnTo>
                  <a:lnTo>
                    <a:pt x="1399019" y="3903776"/>
                  </a:lnTo>
                  <a:lnTo>
                    <a:pt x="1375778" y="3839857"/>
                  </a:lnTo>
                  <a:lnTo>
                    <a:pt x="1345018" y="3755250"/>
                  </a:lnTo>
                  <a:lnTo>
                    <a:pt x="1312608" y="3789451"/>
                  </a:lnTo>
                  <a:lnTo>
                    <a:pt x="756793" y="3262846"/>
                  </a:lnTo>
                  <a:lnTo>
                    <a:pt x="1323047" y="2676080"/>
                  </a:lnTo>
                  <a:lnTo>
                    <a:pt x="1356956" y="2708808"/>
                  </a:lnTo>
                  <a:lnTo>
                    <a:pt x="1382814" y="2626410"/>
                  </a:lnTo>
                  <a:lnTo>
                    <a:pt x="1404264" y="2558008"/>
                  </a:lnTo>
                  <a:close/>
                </a:path>
              </a:pathLst>
            </a:custGeom>
            <a:solidFill>
              <a:srgbClr val="599DFF"/>
            </a:solidFill>
          </p:spPr>
          <p:txBody>
            <a:bodyPr wrap="square" lIns="0" tIns="0" rIns="0" bIns="0" rtlCol="0"/>
            <a:lstStyle/>
            <a:p>
              <a:endParaRPr/>
            </a:p>
          </p:txBody>
        </p:sp>
        <p:sp>
          <p:nvSpPr>
            <p:cNvPr id="57" name="object 57"/>
            <p:cNvSpPr/>
            <p:nvPr/>
          </p:nvSpPr>
          <p:spPr>
            <a:xfrm>
              <a:off x="9982614" y="4647482"/>
              <a:ext cx="634365" cy="604520"/>
            </a:xfrm>
            <a:custGeom>
              <a:avLst/>
              <a:gdLst/>
              <a:ahLst/>
              <a:cxnLst/>
              <a:rect l="l" t="t" r="r" b="b"/>
              <a:pathLst>
                <a:path w="634365" h="604520">
                  <a:moveTo>
                    <a:pt x="0" y="301968"/>
                  </a:moveTo>
                  <a:lnTo>
                    <a:pt x="3437" y="257345"/>
                  </a:lnTo>
                  <a:lnTo>
                    <a:pt x="13421" y="214755"/>
                  </a:lnTo>
                  <a:lnTo>
                    <a:pt x="29463" y="174666"/>
                  </a:lnTo>
                  <a:lnTo>
                    <a:pt x="51071" y="137543"/>
                  </a:lnTo>
                  <a:lnTo>
                    <a:pt x="77755" y="103854"/>
                  </a:lnTo>
                  <a:lnTo>
                    <a:pt x="109026" y="74067"/>
                  </a:lnTo>
                  <a:lnTo>
                    <a:pt x="144391" y="48648"/>
                  </a:lnTo>
                  <a:lnTo>
                    <a:pt x="183363" y="28065"/>
                  </a:lnTo>
                  <a:lnTo>
                    <a:pt x="225449" y="12785"/>
                  </a:lnTo>
                  <a:lnTo>
                    <a:pt x="270159" y="3274"/>
                  </a:lnTo>
                  <a:lnTo>
                    <a:pt x="317004" y="0"/>
                  </a:lnTo>
                  <a:lnTo>
                    <a:pt x="363848" y="3274"/>
                  </a:lnTo>
                  <a:lnTo>
                    <a:pt x="408558" y="12785"/>
                  </a:lnTo>
                  <a:lnTo>
                    <a:pt x="450644" y="28065"/>
                  </a:lnTo>
                  <a:lnTo>
                    <a:pt x="489615" y="48648"/>
                  </a:lnTo>
                  <a:lnTo>
                    <a:pt x="524981" y="74067"/>
                  </a:lnTo>
                  <a:lnTo>
                    <a:pt x="556252" y="103854"/>
                  </a:lnTo>
                  <a:lnTo>
                    <a:pt x="582936" y="137543"/>
                  </a:lnTo>
                  <a:lnTo>
                    <a:pt x="604544" y="174666"/>
                  </a:lnTo>
                  <a:lnTo>
                    <a:pt x="620586" y="214755"/>
                  </a:lnTo>
                  <a:lnTo>
                    <a:pt x="630570" y="257345"/>
                  </a:lnTo>
                  <a:lnTo>
                    <a:pt x="634008" y="301968"/>
                  </a:lnTo>
                  <a:lnTo>
                    <a:pt x="630570" y="346591"/>
                  </a:lnTo>
                  <a:lnTo>
                    <a:pt x="620586" y="389180"/>
                  </a:lnTo>
                  <a:lnTo>
                    <a:pt x="604544" y="429270"/>
                  </a:lnTo>
                  <a:lnTo>
                    <a:pt x="582936" y="466393"/>
                  </a:lnTo>
                  <a:lnTo>
                    <a:pt x="556252" y="500081"/>
                  </a:lnTo>
                  <a:lnTo>
                    <a:pt x="524981" y="529869"/>
                  </a:lnTo>
                  <a:lnTo>
                    <a:pt x="489615" y="555287"/>
                  </a:lnTo>
                  <a:lnTo>
                    <a:pt x="450644" y="575871"/>
                  </a:lnTo>
                  <a:lnTo>
                    <a:pt x="408558" y="591151"/>
                  </a:lnTo>
                  <a:lnTo>
                    <a:pt x="363848" y="600662"/>
                  </a:lnTo>
                  <a:lnTo>
                    <a:pt x="317004" y="603936"/>
                  </a:lnTo>
                  <a:lnTo>
                    <a:pt x="270159" y="600662"/>
                  </a:lnTo>
                  <a:lnTo>
                    <a:pt x="225449" y="591151"/>
                  </a:lnTo>
                  <a:lnTo>
                    <a:pt x="183363" y="575871"/>
                  </a:lnTo>
                  <a:lnTo>
                    <a:pt x="144391" y="555287"/>
                  </a:lnTo>
                  <a:lnTo>
                    <a:pt x="109026" y="529869"/>
                  </a:lnTo>
                  <a:lnTo>
                    <a:pt x="77755" y="500081"/>
                  </a:lnTo>
                  <a:lnTo>
                    <a:pt x="51071" y="466393"/>
                  </a:lnTo>
                  <a:lnTo>
                    <a:pt x="29463" y="429270"/>
                  </a:lnTo>
                  <a:lnTo>
                    <a:pt x="13421" y="389180"/>
                  </a:lnTo>
                  <a:lnTo>
                    <a:pt x="3437" y="346591"/>
                  </a:lnTo>
                  <a:lnTo>
                    <a:pt x="0" y="301968"/>
                  </a:lnTo>
                  <a:close/>
                </a:path>
              </a:pathLst>
            </a:custGeom>
            <a:ln w="20941">
              <a:solidFill>
                <a:srgbClr val="21406C"/>
              </a:solidFill>
            </a:ln>
          </p:spPr>
          <p:txBody>
            <a:bodyPr wrap="square" lIns="0" tIns="0" rIns="0" bIns="0" rtlCol="0"/>
            <a:lstStyle/>
            <a:p>
              <a:endParaRPr/>
            </a:p>
          </p:txBody>
        </p:sp>
        <p:sp>
          <p:nvSpPr>
            <p:cNvPr id="58" name="object 58"/>
            <p:cNvSpPr/>
            <p:nvPr/>
          </p:nvSpPr>
          <p:spPr>
            <a:xfrm>
              <a:off x="9952660" y="7255527"/>
              <a:ext cx="634365" cy="604520"/>
            </a:xfrm>
            <a:custGeom>
              <a:avLst/>
              <a:gdLst/>
              <a:ahLst/>
              <a:cxnLst/>
              <a:rect l="l" t="t" r="r" b="b"/>
              <a:pathLst>
                <a:path w="634365" h="604520">
                  <a:moveTo>
                    <a:pt x="317003" y="0"/>
                  </a:moveTo>
                  <a:lnTo>
                    <a:pt x="270159" y="3274"/>
                  </a:lnTo>
                  <a:lnTo>
                    <a:pt x="225449" y="12785"/>
                  </a:lnTo>
                  <a:lnTo>
                    <a:pt x="183363" y="28065"/>
                  </a:lnTo>
                  <a:lnTo>
                    <a:pt x="144392" y="48648"/>
                  </a:lnTo>
                  <a:lnTo>
                    <a:pt x="109026" y="74067"/>
                  </a:lnTo>
                  <a:lnTo>
                    <a:pt x="77755" y="103854"/>
                  </a:lnTo>
                  <a:lnTo>
                    <a:pt x="51071" y="137543"/>
                  </a:lnTo>
                  <a:lnTo>
                    <a:pt x="29463" y="174665"/>
                  </a:lnTo>
                  <a:lnTo>
                    <a:pt x="13421" y="214755"/>
                  </a:lnTo>
                  <a:lnTo>
                    <a:pt x="3437" y="257345"/>
                  </a:lnTo>
                  <a:lnTo>
                    <a:pt x="0" y="301967"/>
                  </a:lnTo>
                  <a:lnTo>
                    <a:pt x="3437" y="346590"/>
                  </a:lnTo>
                  <a:lnTo>
                    <a:pt x="13421" y="389180"/>
                  </a:lnTo>
                  <a:lnTo>
                    <a:pt x="29463" y="429270"/>
                  </a:lnTo>
                  <a:lnTo>
                    <a:pt x="51071" y="466393"/>
                  </a:lnTo>
                  <a:lnTo>
                    <a:pt x="77755" y="500081"/>
                  </a:lnTo>
                  <a:lnTo>
                    <a:pt x="109026" y="529868"/>
                  </a:lnTo>
                  <a:lnTo>
                    <a:pt x="144392" y="555287"/>
                  </a:lnTo>
                  <a:lnTo>
                    <a:pt x="183363" y="575870"/>
                  </a:lnTo>
                  <a:lnTo>
                    <a:pt x="225449" y="591151"/>
                  </a:lnTo>
                  <a:lnTo>
                    <a:pt x="270159" y="600662"/>
                  </a:lnTo>
                  <a:lnTo>
                    <a:pt x="317003" y="603936"/>
                  </a:lnTo>
                  <a:lnTo>
                    <a:pt x="363848" y="600662"/>
                  </a:lnTo>
                  <a:lnTo>
                    <a:pt x="408559" y="591151"/>
                  </a:lnTo>
                  <a:lnTo>
                    <a:pt x="450645" y="575870"/>
                  </a:lnTo>
                  <a:lnTo>
                    <a:pt x="489617" y="555287"/>
                  </a:lnTo>
                  <a:lnTo>
                    <a:pt x="524983" y="529868"/>
                  </a:lnTo>
                  <a:lnTo>
                    <a:pt x="556254" y="500081"/>
                  </a:lnTo>
                  <a:lnTo>
                    <a:pt x="582939" y="466393"/>
                  </a:lnTo>
                  <a:lnTo>
                    <a:pt x="604548" y="429270"/>
                  </a:lnTo>
                  <a:lnTo>
                    <a:pt x="620590" y="389180"/>
                  </a:lnTo>
                  <a:lnTo>
                    <a:pt x="630574" y="346590"/>
                  </a:lnTo>
                  <a:lnTo>
                    <a:pt x="634012" y="301967"/>
                  </a:lnTo>
                  <a:lnTo>
                    <a:pt x="630574" y="257345"/>
                  </a:lnTo>
                  <a:lnTo>
                    <a:pt x="620590" y="214755"/>
                  </a:lnTo>
                  <a:lnTo>
                    <a:pt x="604548" y="174665"/>
                  </a:lnTo>
                  <a:lnTo>
                    <a:pt x="582939" y="137543"/>
                  </a:lnTo>
                  <a:lnTo>
                    <a:pt x="556254" y="103854"/>
                  </a:lnTo>
                  <a:lnTo>
                    <a:pt x="524983" y="74067"/>
                  </a:lnTo>
                  <a:lnTo>
                    <a:pt x="489617" y="48648"/>
                  </a:lnTo>
                  <a:lnTo>
                    <a:pt x="450645" y="28065"/>
                  </a:lnTo>
                  <a:lnTo>
                    <a:pt x="408559" y="12785"/>
                  </a:lnTo>
                  <a:lnTo>
                    <a:pt x="363848" y="3274"/>
                  </a:lnTo>
                  <a:lnTo>
                    <a:pt x="317003" y="0"/>
                  </a:lnTo>
                  <a:close/>
                </a:path>
              </a:pathLst>
            </a:custGeom>
            <a:solidFill>
              <a:srgbClr val="599DFF"/>
            </a:solidFill>
          </p:spPr>
          <p:txBody>
            <a:bodyPr wrap="square" lIns="0" tIns="0" rIns="0" bIns="0" rtlCol="0"/>
            <a:lstStyle/>
            <a:p>
              <a:endParaRPr/>
            </a:p>
          </p:txBody>
        </p:sp>
        <p:sp>
          <p:nvSpPr>
            <p:cNvPr id="59" name="object 59"/>
            <p:cNvSpPr/>
            <p:nvPr/>
          </p:nvSpPr>
          <p:spPr>
            <a:xfrm>
              <a:off x="9952660" y="7255527"/>
              <a:ext cx="634365" cy="604520"/>
            </a:xfrm>
            <a:custGeom>
              <a:avLst/>
              <a:gdLst/>
              <a:ahLst/>
              <a:cxnLst/>
              <a:rect l="l" t="t" r="r" b="b"/>
              <a:pathLst>
                <a:path w="634365" h="604520">
                  <a:moveTo>
                    <a:pt x="0" y="301968"/>
                  </a:moveTo>
                  <a:lnTo>
                    <a:pt x="3437" y="257345"/>
                  </a:lnTo>
                  <a:lnTo>
                    <a:pt x="13421" y="214755"/>
                  </a:lnTo>
                  <a:lnTo>
                    <a:pt x="29463" y="174666"/>
                  </a:lnTo>
                  <a:lnTo>
                    <a:pt x="51071" y="137543"/>
                  </a:lnTo>
                  <a:lnTo>
                    <a:pt x="77755" y="103854"/>
                  </a:lnTo>
                  <a:lnTo>
                    <a:pt x="109026" y="74067"/>
                  </a:lnTo>
                  <a:lnTo>
                    <a:pt x="144391" y="48648"/>
                  </a:lnTo>
                  <a:lnTo>
                    <a:pt x="183363" y="28065"/>
                  </a:lnTo>
                  <a:lnTo>
                    <a:pt x="225449" y="12785"/>
                  </a:lnTo>
                  <a:lnTo>
                    <a:pt x="270159" y="3274"/>
                  </a:lnTo>
                  <a:lnTo>
                    <a:pt x="317004" y="0"/>
                  </a:lnTo>
                  <a:lnTo>
                    <a:pt x="363848" y="3274"/>
                  </a:lnTo>
                  <a:lnTo>
                    <a:pt x="408558" y="12785"/>
                  </a:lnTo>
                  <a:lnTo>
                    <a:pt x="450644" y="28065"/>
                  </a:lnTo>
                  <a:lnTo>
                    <a:pt x="489615" y="48648"/>
                  </a:lnTo>
                  <a:lnTo>
                    <a:pt x="524981" y="74067"/>
                  </a:lnTo>
                  <a:lnTo>
                    <a:pt x="556252" y="103854"/>
                  </a:lnTo>
                  <a:lnTo>
                    <a:pt x="582936" y="137543"/>
                  </a:lnTo>
                  <a:lnTo>
                    <a:pt x="604544" y="174666"/>
                  </a:lnTo>
                  <a:lnTo>
                    <a:pt x="620586" y="214755"/>
                  </a:lnTo>
                  <a:lnTo>
                    <a:pt x="630570" y="257345"/>
                  </a:lnTo>
                  <a:lnTo>
                    <a:pt x="634008" y="301968"/>
                  </a:lnTo>
                  <a:lnTo>
                    <a:pt x="630570" y="346591"/>
                  </a:lnTo>
                  <a:lnTo>
                    <a:pt x="620586" y="389180"/>
                  </a:lnTo>
                  <a:lnTo>
                    <a:pt x="604544" y="429270"/>
                  </a:lnTo>
                  <a:lnTo>
                    <a:pt x="582936" y="466393"/>
                  </a:lnTo>
                  <a:lnTo>
                    <a:pt x="556252" y="500081"/>
                  </a:lnTo>
                  <a:lnTo>
                    <a:pt x="524981" y="529869"/>
                  </a:lnTo>
                  <a:lnTo>
                    <a:pt x="489615" y="555287"/>
                  </a:lnTo>
                  <a:lnTo>
                    <a:pt x="450644" y="575871"/>
                  </a:lnTo>
                  <a:lnTo>
                    <a:pt x="408558" y="591151"/>
                  </a:lnTo>
                  <a:lnTo>
                    <a:pt x="363848" y="600662"/>
                  </a:lnTo>
                  <a:lnTo>
                    <a:pt x="317004" y="603936"/>
                  </a:lnTo>
                  <a:lnTo>
                    <a:pt x="270159" y="600662"/>
                  </a:lnTo>
                  <a:lnTo>
                    <a:pt x="225449" y="591151"/>
                  </a:lnTo>
                  <a:lnTo>
                    <a:pt x="183363" y="575871"/>
                  </a:lnTo>
                  <a:lnTo>
                    <a:pt x="144391" y="555287"/>
                  </a:lnTo>
                  <a:lnTo>
                    <a:pt x="109026" y="529869"/>
                  </a:lnTo>
                  <a:lnTo>
                    <a:pt x="77755" y="500081"/>
                  </a:lnTo>
                  <a:lnTo>
                    <a:pt x="51071" y="466393"/>
                  </a:lnTo>
                  <a:lnTo>
                    <a:pt x="29463" y="429270"/>
                  </a:lnTo>
                  <a:lnTo>
                    <a:pt x="13421" y="389180"/>
                  </a:lnTo>
                  <a:lnTo>
                    <a:pt x="3437" y="346591"/>
                  </a:lnTo>
                  <a:lnTo>
                    <a:pt x="0" y="301968"/>
                  </a:lnTo>
                  <a:close/>
                </a:path>
              </a:pathLst>
            </a:custGeom>
            <a:ln w="20941">
              <a:solidFill>
                <a:srgbClr val="21406C"/>
              </a:solidFill>
            </a:ln>
          </p:spPr>
          <p:txBody>
            <a:bodyPr wrap="square" lIns="0" tIns="0" rIns="0" bIns="0" rtlCol="0"/>
            <a:lstStyle/>
            <a:p>
              <a:endParaRPr/>
            </a:p>
          </p:txBody>
        </p:sp>
        <p:sp>
          <p:nvSpPr>
            <p:cNvPr id="60" name="object 60"/>
            <p:cNvSpPr/>
            <p:nvPr/>
          </p:nvSpPr>
          <p:spPr>
            <a:xfrm>
              <a:off x="14455978" y="4183766"/>
              <a:ext cx="1202690" cy="3968750"/>
            </a:xfrm>
            <a:custGeom>
              <a:avLst/>
              <a:gdLst/>
              <a:ahLst/>
              <a:cxnLst/>
              <a:rect l="l" t="t" r="r" b="b"/>
              <a:pathLst>
                <a:path w="1202690" h="3968750">
                  <a:moveTo>
                    <a:pt x="1202537" y="3897452"/>
                  </a:moveTo>
                  <a:lnTo>
                    <a:pt x="1155420" y="3873893"/>
                  </a:lnTo>
                  <a:lnTo>
                    <a:pt x="1061173" y="3826776"/>
                  </a:lnTo>
                  <a:lnTo>
                    <a:pt x="1061173" y="3873893"/>
                  </a:lnTo>
                  <a:lnTo>
                    <a:pt x="0" y="3873893"/>
                  </a:lnTo>
                  <a:lnTo>
                    <a:pt x="0" y="3921010"/>
                  </a:lnTo>
                  <a:lnTo>
                    <a:pt x="1061173" y="3921010"/>
                  </a:lnTo>
                  <a:lnTo>
                    <a:pt x="1061173" y="3968127"/>
                  </a:lnTo>
                  <a:lnTo>
                    <a:pt x="1155420" y="3921010"/>
                  </a:lnTo>
                  <a:lnTo>
                    <a:pt x="1202537" y="3897452"/>
                  </a:lnTo>
                  <a:close/>
                </a:path>
                <a:path w="1202690" h="3968750">
                  <a:moveTo>
                    <a:pt x="1202537" y="2587193"/>
                  </a:moveTo>
                  <a:lnTo>
                    <a:pt x="1155420" y="2563634"/>
                  </a:lnTo>
                  <a:lnTo>
                    <a:pt x="1061173" y="2516517"/>
                  </a:lnTo>
                  <a:lnTo>
                    <a:pt x="1061173" y="2563634"/>
                  </a:lnTo>
                  <a:lnTo>
                    <a:pt x="0" y="2563634"/>
                  </a:lnTo>
                  <a:lnTo>
                    <a:pt x="0" y="2610764"/>
                  </a:lnTo>
                  <a:lnTo>
                    <a:pt x="1061173" y="2610764"/>
                  </a:lnTo>
                  <a:lnTo>
                    <a:pt x="1061173" y="2657881"/>
                  </a:lnTo>
                  <a:lnTo>
                    <a:pt x="1155420" y="2610764"/>
                  </a:lnTo>
                  <a:lnTo>
                    <a:pt x="1202537" y="2587193"/>
                  </a:lnTo>
                  <a:close/>
                </a:path>
                <a:path w="1202690" h="3968750">
                  <a:moveTo>
                    <a:pt x="1202537" y="1306283"/>
                  </a:moveTo>
                  <a:lnTo>
                    <a:pt x="1155420" y="1282725"/>
                  </a:lnTo>
                  <a:lnTo>
                    <a:pt x="1061173" y="1235608"/>
                  </a:lnTo>
                  <a:lnTo>
                    <a:pt x="1061173" y="1282725"/>
                  </a:lnTo>
                  <a:lnTo>
                    <a:pt x="0" y="1282725"/>
                  </a:lnTo>
                  <a:lnTo>
                    <a:pt x="0" y="1329842"/>
                  </a:lnTo>
                  <a:lnTo>
                    <a:pt x="1061173" y="1329842"/>
                  </a:lnTo>
                  <a:lnTo>
                    <a:pt x="1061173" y="1376959"/>
                  </a:lnTo>
                  <a:lnTo>
                    <a:pt x="1155420" y="1329842"/>
                  </a:lnTo>
                  <a:lnTo>
                    <a:pt x="1202537" y="1306283"/>
                  </a:lnTo>
                  <a:close/>
                </a:path>
                <a:path w="1202690" h="3968750">
                  <a:moveTo>
                    <a:pt x="1202537" y="70675"/>
                  </a:moveTo>
                  <a:lnTo>
                    <a:pt x="1155420" y="47117"/>
                  </a:lnTo>
                  <a:lnTo>
                    <a:pt x="1061173" y="0"/>
                  </a:lnTo>
                  <a:lnTo>
                    <a:pt x="1061173" y="47117"/>
                  </a:lnTo>
                  <a:lnTo>
                    <a:pt x="0" y="47117"/>
                  </a:lnTo>
                  <a:lnTo>
                    <a:pt x="0" y="94234"/>
                  </a:lnTo>
                  <a:lnTo>
                    <a:pt x="1061173" y="94234"/>
                  </a:lnTo>
                  <a:lnTo>
                    <a:pt x="1061173" y="141351"/>
                  </a:lnTo>
                  <a:lnTo>
                    <a:pt x="1155420" y="94234"/>
                  </a:lnTo>
                  <a:lnTo>
                    <a:pt x="1202537" y="70675"/>
                  </a:lnTo>
                  <a:close/>
                </a:path>
              </a:pathLst>
            </a:custGeom>
            <a:solidFill>
              <a:srgbClr val="599DFF"/>
            </a:solidFill>
          </p:spPr>
          <p:txBody>
            <a:bodyPr wrap="square" lIns="0" tIns="0" rIns="0" bIns="0" rtlCol="0"/>
            <a:lstStyle/>
            <a:p>
              <a:endParaRPr/>
            </a:p>
          </p:txBody>
        </p:sp>
      </p:grpSp>
      <p:sp>
        <p:nvSpPr>
          <p:cNvPr id="61" name="object 61"/>
          <p:cNvSpPr txBox="1"/>
          <p:nvPr/>
        </p:nvSpPr>
        <p:spPr>
          <a:xfrm>
            <a:off x="1479365" y="8941163"/>
            <a:ext cx="2942000" cy="468717"/>
          </a:xfrm>
          <a:prstGeom prst="rect">
            <a:avLst/>
          </a:prstGeom>
        </p:spPr>
        <p:txBody>
          <a:bodyPr vert="horz" wrap="square" lIns="0" tIns="14604" rIns="0" bIns="0" rtlCol="0">
            <a:spAutoFit/>
          </a:bodyPr>
          <a:lstStyle/>
          <a:p>
            <a:pPr marL="12700">
              <a:lnSpc>
                <a:spcPct val="100000"/>
              </a:lnSpc>
              <a:spcBef>
                <a:spcPts val="114"/>
              </a:spcBef>
            </a:pPr>
            <a:r>
              <a:rPr sz="2950" dirty="0">
                <a:latin typeface="Tahoma"/>
                <a:cs typeface="Tahoma"/>
              </a:rPr>
              <a:t>Población inicial</a:t>
            </a:r>
          </a:p>
        </p:txBody>
      </p:sp>
      <p:sp>
        <p:nvSpPr>
          <p:cNvPr id="68" name="object 68"/>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65</a:t>
            </a:fld>
            <a:endParaRPr spc="-25" dirty="0"/>
          </a:p>
        </p:txBody>
      </p:sp>
      <p:sp>
        <p:nvSpPr>
          <p:cNvPr id="62" name="object 62"/>
          <p:cNvSpPr txBox="1"/>
          <p:nvPr/>
        </p:nvSpPr>
        <p:spPr>
          <a:xfrm>
            <a:off x="7094518" y="8941163"/>
            <a:ext cx="1890732" cy="468717"/>
          </a:xfrm>
          <a:prstGeom prst="rect">
            <a:avLst/>
          </a:prstGeom>
        </p:spPr>
        <p:txBody>
          <a:bodyPr vert="horz" wrap="square" lIns="0" tIns="14604" rIns="0" bIns="0" rtlCol="0">
            <a:spAutoFit/>
          </a:bodyPr>
          <a:lstStyle/>
          <a:p>
            <a:pPr marL="12700">
              <a:lnSpc>
                <a:spcPct val="100000"/>
              </a:lnSpc>
              <a:spcBef>
                <a:spcPts val="114"/>
              </a:spcBef>
            </a:pPr>
            <a:r>
              <a:rPr sz="2950" dirty="0">
                <a:latin typeface="Tahoma"/>
                <a:cs typeface="Tahoma"/>
              </a:rPr>
              <a:t>Selección</a:t>
            </a:r>
          </a:p>
        </p:txBody>
      </p:sp>
      <p:sp>
        <p:nvSpPr>
          <p:cNvPr id="63" name="object 63"/>
          <p:cNvSpPr txBox="1"/>
          <p:nvPr/>
        </p:nvSpPr>
        <p:spPr>
          <a:xfrm>
            <a:off x="11629332" y="8943676"/>
            <a:ext cx="2589292" cy="468717"/>
          </a:xfrm>
          <a:prstGeom prst="rect">
            <a:avLst/>
          </a:prstGeom>
        </p:spPr>
        <p:txBody>
          <a:bodyPr vert="horz" wrap="square" lIns="0" tIns="14604" rIns="0" bIns="0" rtlCol="0">
            <a:spAutoFit/>
          </a:bodyPr>
          <a:lstStyle/>
          <a:p>
            <a:pPr marL="12700">
              <a:lnSpc>
                <a:spcPct val="100000"/>
              </a:lnSpc>
              <a:spcBef>
                <a:spcPts val="114"/>
              </a:spcBef>
            </a:pPr>
            <a:r>
              <a:rPr sz="2950" dirty="0">
                <a:latin typeface="Tahoma"/>
                <a:cs typeface="Tahoma"/>
              </a:rPr>
              <a:t>Reproducción</a:t>
            </a:r>
          </a:p>
        </p:txBody>
      </p:sp>
      <p:sp>
        <p:nvSpPr>
          <p:cNvPr id="64" name="object 64"/>
          <p:cNvSpPr txBox="1"/>
          <p:nvPr/>
        </p:nvSpPr>
        <p:spPr>
          <a:xfrm>
            <a:off x="16783783" y="8946189"/>
            <a:ext cx="1840952" cy="468717"/>
          </a:xfrm>
          <a:prstGeom prst="rect">
            <a:avLst/>
          </a:prstGeom>
        </p:spPr>
        <p:txBody>
          <a:bodyPr vert="horz" wrap="square" lIns="0" tIns="14604" rIns="0" bIns="0" rtlCol="0">
            <a:spAutoFit/>
          </a:bodyPr>
          <a:lstStyle/>
          <a:p>
            <a:pPr marL="12700">
              <a:lnSpc>
                <a:spcPct val="100000"/>
              </a:lnSpc>
              <a:spcBef>
                <a:spcPts val="114"/>
              </a:spcBef>
            </a:pPr>
            <a:r>
              <a:rPr sz="2950" dirty="0">
                <a:latin typeface="Tahoma"/>
                <a:cs typeface="Tahoma"/>
              </a:rPr>
              <a:t>Mutación</a:t>
            </a:r>
          </a:p>
        </p:txBody>
      </p:sp>
      <p:sp>
        <p:nvSpPr>
          <p:cNvPr id="65" name="object 65"/>
          <p:cNvSpPr txBox="1"/>
          <p:nvPr/>
        </p:nvSpPr>
        <p:spPr>
          <a:xfrm>
            <a:off x="4452110" y="8672271"/>
            <a:ext cx="2120900" cy="867545"/>
          </a:xfrm>
          <a:prstGeom prst="rect">
            <a:avLst/>
          </a:prstGeom>
        </p:spPr>
        <p:txBody>
          <a:bodyPr vert="horz" wrap="square" lIns="0" tIns="71755" rIns="0" bIns="0" rtlCol="0">
            <a:spAutoFit/>
          </a:bodyPr>
          <a:lstStyle/>
          <a:p>
            <a:pPr marL="126364" marR="5080" indent="-114300">
              <a:lnSpc>
                <a:spcPts val="3130"/>
              </a:lnSpc>
              <a:spcBef>
                <a:spcPts val="565"/>
              </a:spcBef>
            </a:pPr>
            <a:r>
              <a:rPr sz="2950" dirty="0">
                <a:latin typeface="Tahoma"/>
                <a:cs typeface="Tahoma"/>
              </a:rPr>
              <a:t>Función de idoneidad</a:t>
            </a:r>
          </a:p>
        </p:txBody>
      </p:sp>
      <p:sp>
        <p:nvSpPr>
          <p:cNvPr id="66" name="object 66"/>
          <p:cNvSpPr txBox="1">
            <a:spLocks noGrp="1"/>
          </p:cNvSpPr>
          <p:nvPr>
            <p:ph type="title"/>
          </p:nvPr>
        </p:nvSpPr>
        <p:spPr>
          <a:xfrm>
            <a:off x="1097213" y="1200665"/>
            <a:ext cx="120028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30480">
              <a:lnSpc>
                <a:spcPts val="3610"/>
              </a:lnSpc>
            </a:pPr>
            <a:r>
              <a:rPr sz="3300" b="1" dirty="0">
                <a:latin typeface="Calibri"/>
                <a:cs typeface="Calibri"/>
              </a:rPr>
              <a:t>Algoritmos Genéticos</a:t>
            </a:r>
            <a:endParaRPr sz="3300" dirty="0">
              <a:latin typeface="Calibri"/>
              <a:cs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074116"/>
            <a:ext cx="17455515" cy="3861313"/>
          </a:xfrm>
          <a:prstGeom prst="rect">
            <a:avLst/>
          </a:prstGeom>
        </p:spPr>
        <p:txBody>
          <a:bodyPr vert="horz" wrap="square" lIns="0" tIns="8890" rIns="0" bIns="0" rtlCol="0">
            <a:spAutoFit/>
          </a:bodyPr>
          <a:lstStyle/>
          <a:p>
            <a:pPr marL="12700" marR="827405" algn="just">
              <a:lnSpc>
                <a:spcPct val="100499"/>
              </a:lnSpc>
              <a:spcBef>
                <a:spcPts val="70"/>
              </a:spcBef>
            </a:pPr>
            <a:r>
              <a:rPr sz="3800" dirty="0">
                <a:latin typeface="Tahoma"/>
                <a:cs typeface="Tahoma"/>
              </a:rPr>
              <a:t>Este método es fácil de hacerlo más eficiente computacionalmente aprovechando multiproceso y una buena definición de una generación inicial apropiada y una tasa de mutación correcta, puede llevarnos a buenos resultados sin explorar tanto.</a:t>
            </a:r>
          </a:p>
          <a:p>
            <a:pPr marL="12700" marR="5080" algn="just">
              <a:lnSpc>
                <a:spcPts val="4530"/>
              </a:lnSpc>
              <a:spcBef>
                <a:spcPts val="2810"/>
              </a:spcBef>
            </a:pPr>
            <a:r>
              <a:rPr sz="3800" dirty="0">
                <a:solidFill>
                  <a:srgbClr val="C00000"/>
                </a:solidFill>
                <a:latin typeface="Tahoma"/>
                <a:cs typeface="Tahoma"/>
              </a:rPr>
              <a:t>La principal desventaja es difícil de definir y configurar, hay herramientas más poderosas y más seguras.</a:t>
            </a:r>
            <a:endParaRPr sz="3800" dirty="0">
              <a:latin typeface="Tahoma"/>
              <a:cs typeface="Tahoma"/>
            </a:endParaRP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66</a:t>
            </a:fld>
            <a:endParaRPr spc="-25" dirty="0"/>
          </a:p>
        </p:txBody>
      </p:sp>
      <p:sp>
        <p:nvSpPr>
          <p:cNvPr id="3" name="object 3"/>
          <p:cNvSpPr txBox="1">
            <a:spLocks noGrp="1"/>
          </p:cNvSpPr>
          <p:nvPr>
            <p:ph type="title"/>
          </p:nvPr>
        </p:nvSpPr>
        <p:spPr>
          <a:xfrm>
            <a:off x="1097213" y="1200665"/>
            <a:ext cx="110122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30480">
              <a:lnSpc>
                <a:spcPts val="3610"/>
              </a:lnSpc>
            </a:pPr>
            <a:r>
              <a:rPr sz="3300" b="1" dirty="0">
                <a:latin typeface="Calibri"/>
                <a:cs typeface="Calibri"/>
              </a:rPr>
              <a:t>Algoritmos Genéticos</a:t>
            </a:r>
            <a:endParaRPr sz="3300" dirty="0">
              <a:latin typeface="Calibri"/>
              <a:cs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002784"/>
          </a:xfrm>
          <a:prstGeom prst="rect">
            <a:avLst/>
          </a:prstGeom>
        </p:spPr>
        <p:txBody>
          <a:bodyPr vert="horz" wrap="square" lIns="0" tIns="78686" rIns="0" bIns="0" rtlCol="0">
            <a:spAutoFit/>
          </a:bodyPr>
          <a:lstStyle/>
          <a:p>
            <a:pPr marL="12700">
              <a:lnSpc>
                <a:spcPct val="100000"/>
              </a:lnSpc>
              <a:spcBef>
                <a:spcPts val="114"/>
              </a:spcBef>
            </a:pPr>
            <a:r>
              <a:rPr sz="6000" dirty="0"/>
              <a:t>MÉTODOS AVANZADOS</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67</a:t>
            </a:fld>
            <a:endParaRPr spc="-25" dirty="0"/>
          </a:p>
        </p:txBody>
      </p:sp>
      <p:sp>
        <p:nvSpPr>
          <p:cNvPr id="3" name="object 3"/>
          <p:cNvSpPr txBox="1"/>
          <p:nvPr/>
        </p:nvSpPr>
        <p:spPr>
          <a:xfrm>
            <a:off x="1097213" y="3074116"/>
            <a:ext cx="17526000" cy="6369051"/>
          </a:xfrm>
          <a:prstGeom prst="rect">
            <a:avLst/>
          </a:prstGeom>
        </p:spPr>
        <p:txBody>
          <a:bodyPr vert="horz" wrap="square" lIns="0" tIns="33655" rIns="0" bIns="0" rtlCol="0">
            <a:spAutoFit/>
          </a:bodyPr>
          <a:lstStyle/>
          <a:p>
            <a:pPr marL="12700" marR="5080" algn="just">
              <a:lnSpc>
                <a:spcPts val="4530"/>
              </a:lnSpc>
              <a:spcBef>
                <a:spcPts val="265"/>
              </a:spcBef>
            </a:pPr>
            <a:r>
              <a:rPr sz="3800" dirty="0">
                <a:latin typeface="Tahoma"/>
                <a:cs typeface="Tahoma"/>
              </a:rPr>
              <a:t>Podemos crear nuestros métodos que sean más avanzados. En inteligencia artificial habían visto algoritmos de búsquedas. Podemos usar estos para buscar hiper-parámetros:</a:t>
            </a:r>
          </a:p>
          <a:p>
            <a:pPr marL="577850" indent="-565150" algn="just">
              <a:lnSpc>
                <a:spcPct val="100000"/>
              </a:lnSpc>
              <a:spcBef>
                <a:spcPts val="2640"/>
              </a:spcBef>
              <a:buFont typeface="Arial MT"/>
              <a:buChar char="•"/>
              <a:tabLst>
                <a:tab pos="577850" algn="l"/>
              </a:tabLst>
            </a:pPr>
            <a:r>
              <a:rPr sz="3800" dirty="0">
                <a:latin typeface="Tahoma"/>
                <a:cs typeface="Tahoma"/>
              </a:rPr>
              <a:t>Gradiente Descendiente o Ascendente</a:t>
            </a:r>
          </a:p>
          <a:p>
            <a:pPr marL="577850" indent="-565150" algn="just">
              <a:lnSpc>
                <a:spcPct val="100000"/>
              </a:lnSpc>
              <a:spcBef>
                <a:spcPts val="2700"/>
              </a:spcBef>
              <a:buFont typeface="Arial MT"/>
              <a:buChar char="•"/>
              <a:tabLst>
                <a:tab pos="577850" algn="l"/>
              </a:tabLst>
            </a:pPr>
            <a:r>
              <a:rPr sz="3800" dirty="0">
                <a:latin typeface="Tahoma"/>
                <a:cs typeface="Tahoma"/>
              </a:rPr>
              <a:t>Simulated annealing</a:t>
            </a:r>
          </a:p>
          <a:p>
            <a:pPr marL="577850" indent="-565150" algn="just">
              <a:lnSpc>
                <a:spcPct val="100000"/>
              </a:lnSpc>
              <a:spcBef>
                <a:spcPts val="2685"/>
              </a:spcBef>
              <a:buFont typeface="Arial MT"/>
              <a:buChar char="•"/>
              <a:tabLst>
                <a:tab pos="577850" algn="l"/>
              </a:tabLst>
            </a:pPr>
            <a:r>
              <a:rPr sz="3800" dirty="0">
                <a:latin typeface="Tahoma"/>
                <a:cs typeface="Tahoma"/>
              </a:rPr>
              <a:t>Búsqueda Local Beam</a:t>
            </a:r>
          </a:p>
          <a:p>
            <a:pPr marL="577850" indent="-565150" algn="just">
              <a:lnSpc>
                <a:spcPct val="100000"/>
              </a:lnSpc>
              <a:spcBef>
                <a:spcPts val="2700"/>
              </a:spcBef>
              <a:buFont typeface="Arial MT"/>
              <a:buChar char="•"/>
              <a:tabLst>
                <a:tab pos="577850" algn="l"/>
              </a:tabLst>
            </a:pPr>
            <a:r>
              <a:rPr sz="3800" dirty="0">
                <a:latin typeface="Tahoma"/>
                <a:cs typeface="Tahoma"/>
              </a:rPr>
              <a:t>Algoritmos Genéticos</a:t>
            </a:r>
          </a:p>
          <a:p>
            <a:pPr marL="577850" indent="-565150" algn="just">
              <a:lnSpc>
                <a:spcPct val="100000"/>
              </a:lnSpc>
              <a:spcBef>
                <a:spcPts val="2445"/>
              </a:spcBef>
              <a:buFont typeface="Arial MT"/>
              <a:buChar char="•"/>
              <a:tabLst>
                <a:tab pos="577850" algn="l"/>
              </a:tabLst>
            </a:pPr>
            <a:r>
              <a:rPr sz="3800" b="1" dirty="0">
                <a:solidFill>
                  <a:srgbClr val="036AFF"/>
                </a:solidFill>
                <a:latin typeface="Calibri"/>
                <a:cs typeface="Calibri"/>
              </a:rPr>
              <a:t>Búsqueda bayesiana</a:t>
            </a:r>
            <a:endParaRPr sz="3800" dirty="0">
              <a:latin typeface="Calibri"/>
              <a:cs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054012"/>
            <a:ext cx="17814925" cy="3021330"/>
          </a:xfrm>
          <a:prstGeom prst="rect">
            <a:avLst/>
          </a:prstGeom>
        </p:spPr>
        <p:txBody>
          <a:bodyPr vert="horz" wrap="square" lIns="0" tIns="17780" rIns="0" bIns="0" rtlCol="0">
            <a:spAutoFit/>
          </a:bodyPr>
          <a:lstStyle/>
          <a:p>
            <a:pPr marL="12700" marR="5080" algn="just">
              <a:lnSpc>
                <a:spcPts val="4690"/>
              </a:lnSpc>
              <a:spcBef>
                <a:spcPts val="140"/>
              </a:spcBef>
            </a:pPr>
            <a:r>
              <a:rPr sz="3800" dirty="0">
                <a:latin typeface="Tahoma"/>
                <a:cs typeface="Tahoma"/>
              </a:rPr>
              <a:t>La búsqueda bayesiana es una estrategia secuencial para </a:t>
            </a:r>
            <a:r>
              <a:rPr sz="3800" b="1" dirty="0">
                <a:solidFill>
                  <a:srgbClr val="19BD1B"/>
                </a:solidFill>
                <a:latin typeface="Calibri"/>
                <a:cs typeface="Calibri"/>
              </a:rPr>
              <a:t>optimización </a:t>
            </a:r>
            <a:r>
              <a:rPr sz="3800" dirty="0">
                <a:latin typeface="Tahoma"/>
                <a:cs typeface="Tahoma"/>
              </a:rPr>
              <a:t>de funciones de caja negra las cuales no asumen ninguna función.</a:t>
            </a:r>
          </a:p>
          <a:p>
            <a:pPr marL="577850" indent="-565150" algn="just">
              <a:lnSpc>
                <a:spcPct val="100000"/>
              </a:lnSpc>
              <a:spcBef>
                <a:spcPts val="2600"/>
              </a:spcBef>
              <a:buFont typeface="Arial MT"/>
              <a:buChar char="•"/>
              <a:tabLst>
                <a:tab pos="577850" algn="l"/>
              </a:tabLst>
            </a:pPr>
            <a:r>
              <a:rPr sz="3800" dirty="0">
                <a:latin typeface="Tahoma"/>
                <a:cs typeface="Tahoma"/>
              </a:rPr>
              <a:t>Es utilizada comúnmente para optimizar funciones que son costosas de evaluar.</a:t>
            </a:r>
          </a:p>
          <a:p>
            <a:pPr marL="577850" indent="-565150" algn="just">
              <a:lnSpc>
                <a:spcPct val="100000"/>
              </a:lnSpc>
              <a:spcBef>
                <a:spcPts val="2445"/>
              </a:spcBef>
              <a:buFont typeface="Arial MT"/>
              <a:buChar char="•"/>
              <a:tabLst>
                <a:tab pos="577850" algn="l"/>
              </a:tabLst>
            </a:pPr>
            <a:r>
              <a:rPr sz="3800" dirty="0">
                <a:latin typeface="Tahoma"/>
                <a:cs typeface="Tahoma"/>
              </a:rPr>
              <a:t>La función objetivo debe poder ser evaluada en puntos arbitrarios.</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68</a:t>
            </a:fld>
            <a:endParaRPr spc="-25" dirty="0"/>
          </a:p>
        </p:txBody>
      </p:sp>
      <p:sp>
        <p:nvSpPr>
          <p:cNvPr id="3" name="object 3"/>
          <p:cNvSpPr txBox="1">
            <a:spLocks noGrp="1"/>
          </p:cNvSpPr>
          <p:nvPr>
            <p:ph type="title"/>
          </p:nvPr>
        </p:nvSpPr>
        <p:spPr>
          <a:xfrm>
            <a:off x="1097213" y="1200665"/>
            <a:ext cx="119266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109220">
              <a:lnSpc>
                <a:spcPts val="3610"/>
              </a:lnSpc>
            </a:pPr>
            <a:r>
              <a:rPr sz="3300" b="1" dirty="0">
                <a:latin typeface="Calibri"/>
                <a:cs typeface="Calibri"/>
              </a:rPr>
              <a:t>Búsqueda Bayesiana</a:t>
            </a:r>
            <a:endParaRPr sz="3300" dirty="0">
              <a:latin typeface="Calibri"/>
              <a:cs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9113" y="3021762"/>
            <a:ext cx="17186910" cy="3079688"/>
          </a:xfrm>
          <a:prstGeom prst="rect">
            <a:avLst/>
          </a:prstGeom>
        </p:spPr>
        <p:txBody>
          <a:bodyPr vert="horz" wrap="square" lIns="0" tIns="14604" rIns="0" bIns="0" rtlCol="0">
            <a:spAutoFit/>
          </a:bodyPr>
          <a:lstStyle/>
          <a:p>
            <a:pPr marL="50800" algn="just">
              <a:lnSpc>
                <a:spcPct val="100000"/>
              </a:lnSpc>
              <a:spcBef>
                <a:spcPts val="114"/>
              </a:spcBef>
            </a:pPr>
            <a:r>
              <a:rPr sz="3200" dirty="0">
                <a:latin typeface="Tahoma"/>
                <a:cs typeface="Tahoma"/>
              </a:rPr>
              <a:t>El objetivo es construir un modelo probabilístico de la función que queremos optimizar que sepa:</a:t>
            </a:r>
          </a:p>
          <a:p>
            <a:pPr marL="615950" indent="-565150" algn="just">
              <a:lnSpc>
                <a:spcPct val="100000"/>
              </a:lnSpc>
              <a:spcBef>
                <a:spcPts val="2430"/>
              </a:spcBef>
              <a:buFont typeface="Arial MT"/>
              <a:buChar char="•"/>
              <a:tabLst>
                <a:tab pos="615950" algn="l"/>
              </a:tabLst>
            </a:pPr>
            <a:r>
              <a:rPr sz="3200" dirty="0">
                <a:latin typeface="Tahoma"/>
                <a:cs typeface="Tahoma"/>
              </a:rPr>
              <a:t>x</a:t>
            </a:r>
            <a:r>
              <a:rPr sz="3225" baseline="-19379" dirty="0">
                <a:latin typeface="Tahoma"/>
                <a:cs typeface="Tahoma"/>
              </a:rPr>
              <a:t>1 </a:t>
            </a:r>
            <a:r>
              <a:rPr sz="3200" dirty="0">
                <a:latin typeface="Tahoma"/>
                <a:cs typeface="Tahoma"/>
              </a:rPr>
              <a:t>que es un buen lugar para muestrear porque la función probablemente devolverá un valor alto aquí</a:t>
            </a:r>
          </a:p>
          <a:p>
            <a:pPr marL="615950" indent="-565150" algn="just">
              <a:lnSpc>
                <a:spcPct val="100000"/>
              </a:lnSpc>
              <a:spcBef>
                <a:spcPts val="2335"/>
              </a:spcBef>
              <a:buFont typeface="Arial MT"/>
              <a:buChar char="•"/>
              <a:tabLst>
                <a:tab pos="615950" algn="l"/>
              </a:tabLst>
            </a:pPr>
            <a:r>
              <a:rPr sz="3200" dirty="0">
                <a:latin typeface="Tahoma"/>
                <a:cs typeface="Tahoma"/>
              </a:rPr>
              <a:t>x</a:t>
            </a:r>
            <a:r>
              <a:rPr sz="3225" baseline="-19379" dirty="0">
                <a:latin typeface="Tahoma"/>
                <a:cs typeface="Tahoma"/>
              </a:rPr>
              <a:t>2 </a:t>
            </a:r>
            <a:r>
              <a:rPr sz="3200" dirty="0">
                <a:latin typeface="Tahoma"/>
                <a:cs typeface="Tahoma"/>
              </a:rPr>
              <a:t>es un buen lugar para muestrear porque la incertidumbre aquí es muy grande.</a:t>
            </a:r>
          </a:p>
        </p:txBody>
      </p:sp>
      <p:pic>
        <p:nvPicPr>
          <p:cNvPr id="3" name="object 3"/>
          <p:cNvPicPr/>
          <p:nvPr/>
        </p:nvPicPr>
        <p:blipFill>
          <a:blip r:embed="rId2" cstate="print"/>
          <a:stretch>
            <a:fillRect/>
          </a:stretch>
        </p:blipFill>
        <p:spPr>
          <a:xfrm>
            <a:off x="5100335" y="6535589"/>
            <a:ext cx="9903429" cy="4115365"/>
          </a:xfrm>
          <a:prstGeom prst="rect">
            <a:avLst/>
          </a:prstGeom>
        </p:spPr>
      </p:pic>
      <p:sp>
        <p:nvSpPr>
          <p:cNvPr id="4" name="object 4"/>
          <p:cNvSpPr txBox="1">
            <a:spLocks noGrp="1"/>
          </p:cNvSpPr>
          <p:nvPr>
            <p:ph type="title"/>
          </p:nvPr>
        </p:nvSpPr>
        <p:spPr>
          <a:xfrm>
            <a:off x="1097213" y="1200665"/>
            <a:ext cx="107074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109220">
              <a:lnSpc>
                <a:spcPts val="3610"/>
              </a:lnSpc>
            </a:pPr>
            <a:r>
              <a:rPr sz="3300" b="1" dirty="0">
                <a:latin typeface="Calibri"/>
                <a:cs typeface="Calibri"/>
              </a:rPr>
              <a:t>Búsqueda Bayesiana</a:t>
            </a:r>
            <a:endParaRPr sz="3300" dirty="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69</a:t>
            </a:fld>
            <a:endParaRPr spc="-2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2759991"/>
            <a:ext cx="17569180" cy="6730365"/>
          </a:xfrm>
          <a:prstGeom prst="rect">
            <a:avLst/>
          </a:prstGeom>
        </p:spPr>
        <p:txBody>
          <a:bodyPr vert="horz" wrap="square" lIns="0" tIns="273050" rIns="0" bIns="0" rtlCol="0">
            <a:spAutoFit/>
          </a:bodyPr>
          <a:lstStyle/>
          <a:p>
            <a:pPr marL="12700" algn="just">
              <a:lnSpc>
                <a:spcPct val="100000"/>
              </a:lnSpc>
              <a:spcBef>
                <a:spcPts val="2150"/>
              </a:spcBef>
            </a:pPr>
            <a:r>
              <a:rPr sz="3800" dirty="0">
                <a:latin typeface="Tahoma"/>
                <a:cs typeface="Tahoma"/>
              </a:rPr>
              <a:t>Un algoritmo de búsqueda bayesiana tiene dos componentes:</a:t>
            </a:r>
          </a:p>
          <a:p>
            <a:pPr marL="577850" marR="481330" indent="-565785" algn="just">
              <a:lnSpc>
                <a:spcPct val="91000"/>
              </a:lnSpc>
              <a:spcBef>
                <a:spcPts val="2460"/>
              </a:spcBef>
              <a:buFont typeface="Arial MT"/>
              <a:buChar char="•"/>
              <a:tabLst>
                <a:tab pos="577850" algn="l"/>
              </a:tabLst>
            </a:pPr>
            <a:r>
              <a:rPr sz="3800" b="1" dirty="0">
                <a:solidFill>
                  <a:srgbClr val="FF80E9"/>
                </a:solidFill>
                <a:latin typeface="Calibri"/>
                <a:cs typeface="Calibri"/>
              </a:rPr>
              <a:t>Modelo probabilístico de la función</a:t>
            </a:r>
            <a:r>
              <a:rPr sz="3800" dirty="0">
                <a:latin typeface="Tahoma"/>
                <a:cs typeface="Tahoma"/>
              </a:rPr>
              <a:t>: Siempre arranca con una distribución inicial (a priori), en general una con total incertidumbre. Con nuevas observaciones de nuestra función a optimizar, aprendemos más y ajustamos este modelo (a posteriori) para que tenga menos incertidumbre.</a:t>
            </a:r>
          </a:p>
          <a:p>
            <a:pPr marL="574675" marR="5080" indent="-562610" algn="just">
              <a:lnSpc>
                <a:spcPct val="91300"/>
              </a:lnSpc>
              <a:spcBef>
                <a:spcPts val="2505"/>
              </a:spcBef>
              <a:buFont typeface="Arial MT"/>
              <a:buChar char="•"/>
              <a:tabLst>
                <a:tab pos="577850" algn="l"/>
              </a:tabLst>
            </a:pPr>
            <a:r>
              <a:rPr sz="3800" b="1" dirty="0">
                <a:solidFill>
                  <a:srgbClr val="599DFF"/>
                </a:solidFill>
                <a:latin typeface="Calibri"/>
                <a:cs typeface="Calibri"/>
              </a:rPr>
              <a:t>Función de adquisición: </a:t>
            </a:r>
            <a:r>
              <a:rPr sz="3800" dirty="0">
                <a:latin typeface="Tahoma"/>
                <a:cs typeface="Tahoma"/>
              </a:rPr>
              <a:t>Se calcula a partir de la distribución posterior de la función y se 	define en el mismo dominio. La adquisición indica la conveniencia de muestrear cada un 	nuevo punto.</a:t>
            </a:r>
          </a:p>
          <a:p>
            <a:pPr marL="577850" marR="379730" algn="just">
              <a:lnSpc>
                <a:spcPts val="3879"/>
              </a:lnSpc>
              <a:spcBef>
                <a:spcPts val="4385"/>
              </a:spcBef>
            </a:pPr>
            <a:r>
              <a:rPr sz="3800" dirty="0">
                <a:latin typeface="Tahoma"/>
                <a:cs typeface="Tahoma"/>
              </a:rPr>
              <a:t>Con una estrategia similar a la vista de Aprendizaje por refuerzo, se puede favorecer la exploración o explotación.</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70</a:t>
            </a:fld>
            <a:endParaRPr spc="-25" dirty="0"/>
          </a:p>
        </p:txBody>
      </p:sp>
      <p:sp>
        <p:nvSpPr>
          <p:cNvPr id="3" name="object 3"/>
          <p:cNvSpPr txBox="1">
            <a:spLocks noGrp="1"/>
          </p:cNvSpPr>
          <p:nvPr>
            <p:ph type="title"/>
          </p:nvPr>
        </p:nvSpPr>
        <p:spPr>
          <a:xfrm>
            <a:off x="1097213" y="1200665"/>
            <a:ext cx="109360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109220">
              <a:lnSpc>
                <a:spcPts val="3610"/>
              </a:lnSpc>
            </a:pPr>
            <a:r>
              <a:rPr sz="3300" b="1" dirty="0">
                <a:latin typeface="Calibri"/>
                <a:cs typeface="Calibri"/>
              </a:rPr>
              <a:t>Búsqueda Bayesiana</a:t>
            </a:r>
            <a:endParaRPr sz="3300" dirty="0">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6650" y="3063875"/>
            <a:ext cx="16078200" cy="4307589"/>
          </a:xfrm>
          <a:prstGeom prst="rect">
            <a:avLst/>
          </a:prstGeom>
        </p:spPr>
        <p:txBody>
          <a:bodyPr vert="horz" wrap="square" lIns="0" tIns="11430" rIns="0" bIns="0" rtlCol="0">
            <a:spAutoFit/>
          </a:bodyPr>
          <a:lstStyle/>
          <a:p>
            <a:pPr marL="12700">
              <a:lnSpc>
                <a:spcPct val="100000"/>
              </a:lnSpc>
              <a:spcBef>
                <a:spcPts val="90"/>
              </a:spcBef>
            </a:pPr>
            <a:r>
              <a:rPr sz="3800" dirty="0">
                <a:latin typeface="Tahoma"/>
                <a:cs typeface="Tahoma"/>
              </a:rPr>
              <a:t>Hay miles de aplicaciones de modelos probabilísticos, entre ellos:</a:t>
            </a:r>
          </a:p>
          <a:p>
            <a:pPr marL="577850" indent="-565150">
              <a:lnSpc>
                <a:spcPct val="100000"/>
              </a:lnSpc>
              <a:spcBef>
                <a:spcPts val="2705"/>
              </a:spcBef>
              <a:buFont typeface="Arial MT"/>
              <a:buChar char="•"/>
              <a:tabLst>
                <a:tab pos="577850" algn="l"/>
              </a:tabLst>
            </a:pPr>
            <a:r>
              <a:rPr sz="3800" dirty="0">
                <a:latin typeface="Tahoma"/>
                <a:cs typeface="Tahoma"/>
              </a:rPr>
              <a:t>Proceso Gaussiano</a:t>
            </a:r>
          </a:p>
          <a:p>
            <a:pPr marL="577850" indent="-565150">
              <a:lnSpc>
                <a:spcPct val="100000"/>
              </a:lnSpc>
              <a:spcBef>
                <a:spcPts val="2780"/>
              </a:spcBef>
              <a:buFont typeface="Arial MT"/>
              <a:buChar char="•"/>
              <a:tabLst>
                <a:tab pos="577850" algn="l"/>
              </a:tabLst>
            </a:pPr>
            <a:r>
              <a:rPr sz="3800" dirty="0">
                <a:latin typeface="Tahoma"/>
                <a:cs typeface="Tahoma"/>
              </a:rPr>
              <a:t>Bandido multibrazo</a:t>
            </a:r>
          </a:p>
          <a:p>
            <a:pPr marL="577850" indent="-565150">
              <a:lnSpc>
                <a:spcPct val="100000"/>
              </a:lnSpc>
              <a:spcBef>
                <a:spcPts val="2680"/>
              </a:spcBef>
              <a:buFont typeface="Arial MT"/>
              <a:buChar char="•"/>
              <a:tabLst>
                <a:tab pos="577850" algn="l"/>
              </a:tabLst>
            </a:pPr>
            <a:r>
              <a:rPr sz="3800" dirty="0">
                <a:latin typeface="Tahoma"/>
                <a:cs typeface="Tahoma"/>
              </a:rPr>
              <a:t>Árboles aleatorios</a:t>
            </a:r>
          </a:p>
          <a:p>
            <a:pPr marL="577850" indent="-565150">
              <a:lnSpc>
                <a:spcPct val="100000"/>
              </a:lnSpc>
              <a:spcBef>
                <a:spcPts val="2545"/>
              </a:spcBef>
              <a:buFont typeface="Arial MT"/>
              <a:buChar char="•"/>
              <a:tabLst>
                <a:tab pos="577850" algn="l"/>
              </a:tabLst>
            </a:pPr>
            <a:r>
              <a:rPr sz="3800" dirty="0">
                <a:latin typeface="Tahoma"/>
                <a:cs typeface="Tahoma"/>
              </a:rPr>
              <a:t>Estimador Tree-Parzen</a:t>
            </a: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71</a:t>
            </a:fld>
            <a:endParaRPr spc="-25" dirty="0"/>
          </a:p>
        </p:txBody>
      </p:sp>
      <p:sp>
        <p:nvSpPr>
          <p:cNvPr id="3" name="object 3"/>
          <p:cNvSpPr txBox="1">
            <a:spLocks noGrp="1"/>
          </p:cNvSpPr>
          <p:nvPr>
            <p:ph type="title"/>
          </p:nvPr>
        </p:nvSpPr>
        <p:spPr>
          <a:xfrm>
            <a:off x="1136650" y="1190424"/>
            <a:ext cx="9906000"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endParaRPr sz="6000"/>
          </a:p>
          <a:p>
            <a:pPr marL="109220">
              <a:lnSpc>
                <a:spcPts val="3610"/>
              </a:lnSpc>
            </a:pPr>
            <a:r>
              <a:rPr sz="3300" b="1" dirty="0">
                <a:latin typeface="Calibri"/>
                <a:cs typeface="Calibri"/>
              </a:rPr>
              <a:t>Búsqueda Bayesiana</a:t>
            </a:r>
            <a:endParaRPr sz="3300">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074116"/>
            <a:ext cx="15203237" cy="4294765"/>
          </a:xfrm>
          <a:prstGeom prst="rect">
            <a:avLst/>
          </a:prstGeom>
        </p:spPr>
        <p:txBody>
          <a:bodyPr vert="horz" wrap="square" lIns="0" tIns="11430" rIns="0" bIns="0" rtlCol="0">
            <a:spAutoFit/>
          </a:bodyPr>
          <a:lstStyle/>
          <a:p>
            <a:pPr marL="12700">
              <a:lnSpc>
                <a:spcPct val="100000"/>
              </a:lnSpc>
              <a:spcBef>
                <a:spcPts val="90"/>
              </a:spcBef>
            </a:pPr>
            <a:r>
              <a:rPr sz="3800" dirty="0">
                <a:latin typeface="Tahoma"/>
                <a:cs typeface="Tahoma"/>
              </a:rPr>
              <a:t>Hay miles de aplicaciones de modelos probabilísticos, entre ellos:</a:t>
            </a:r>
          </a:p>
          <a:p>
            <a:pPr marL="577850" indent="-565150">
              <a:lnSpc>
                <a:spcPct val="100000"/>
              </a:lnSpc>
              <a:spcBef>
                <a:spcPts val="2705"/>
              </a:spcBef>
              <a:buFont typeface="Arial MT"/>
              <a:buChar char="•"/>
              <a:tabLst>
                <a:tab pos="577850" algn="l"/>
              </a:tabLst>
            </a:pPr>
            <a:r>
              <a:rPr sz="3800" dirty="0">
                <a:latin typeface="Tahoma"/>
                <a:cs typeface="Tahoma"/>
              </a:rPr>
              <a:t>Proceso Gaussiano</a:t>
            </a:r>
          </a:p>
          <a:p>
            <a:pPr marL="577850" indent="-565150">
              <a:lnSpc>
                <a:spcPct val="100000"/>
              </a:lnSpc>
              <a:spcBef>
                <a:spcPts val="2780"/>
              </a:spcBef>
              <a:buFont typeface="Arial MT"/>
              <a:buChar char="•"/>
              <a:tabLst>
                <a:tab pos="577850" algn="l"/>
              </a:tabLst>
            </a:pPr>
            <a:r>
              <a:rPr sz="3800" dirty="0">
                <a:latin typeface="Tahoma"/>
                <a:cs typeface="Tahoma"/>
              </a:rPr>
              <a:t>Bandido multibrazo</a:t>
            </a:r>
          </a:p>
          <a:p>
            <a:pPr marL="577850" indent="-565150">
              <a:lnSpc>
                <a:spcPct val="100000"/>
              </a:lnSpc>
              <a:spcBef>
                <a:spcPts val="2680"/>
              </a:spcBef>
              <a:buFont typeface="Arial MT"/>
              <a:buChar char="•"/>
              <a:tabLst>
                <a:tab pos="577850" algn="l"/>
              </a:tabLst>
            </a:pPr>
            <a:r>
              <a:rPr sz="3800" dirty="0">
                <a:latin typeface="Tahoma"/>
                <a:cs typeface="Tahoma"/>
              </a:rPr>
              <a:t>Árboles aleatorios</a:t>
            </a:r>
          </a:p>
          <a:p>
            <a:pPr marL="577850" indent="-565150">
              <a:lnSpc>
                <a:spcPct val="100000"/>
              </a:lnSpc>
              <a:spcBef>
                <a:spcPts val="2445"/>
              </a:spcBef>
              <a:buFont typeface="Arial MT"/>
              <a:buChar char="•"/>
              <a:tabLst>
                <a:tab pos="577850" algn="l"/>
              </a:tabLst>
            </a:pPr>
            <a:r>
              <a:rPr sz="3800" b="1" dirty="0">
                <a:solidFill>
                  <a:srgbClr val="19BD1B"/>
                </a:solidFill>
                <a:latin typeface="Calibri"/>
                <a:cs typeface="Calibri"/>
              </a:rPr>
              <a:t>Estimador Tree-Parzen</a:t>
            </a:r>
            <a:endParaRPr sz="3800"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72</a:t>
            </a:fld>
            <a:endParaRPr spc="-25" dirty="0"/>
          </a:p>
        </p:txBody>
      </p:sp>
      <p:sp>
        <p:nvSpPr>
          <p:cNvPr id="3" name="object 3"/>
          <p:cNvSpPr txBox="1">
            <a:spLocks noGrp="1"/>
          </p:cNvSpPr>
          <p:nvPr>
            <p:ph type="title"/>
          </p:nvPr>
        </p:nvSpPr>
        <p:spPr>
          <a:xfrm>
            <a:off x="1097213" y="1200665"/>
            <a:ext cx="106312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endParaRPr sz="6000"/>
          </a:p>
          <a:p>
            <a:pPr marL="109220">
              <a:lnSpc>
                <a:spcPts val="3610"/>
              </a:lnSpc>
            </a:pPr>
            <a:r>
              <a:rPr sz="3300" b="1" dirty="0">
                <a:latin typeface="Calibri"/>
                <a:cs typeface="Calibri"/>
              </a:rPr>
              <a:t>Búsqueda Bayesiana</a:t>
            </a:r>
            <a:endParaRPr sz="3300">
              <a:latin typeface="Calibri"/>
              <a:cs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3062808"/>
            <a:ext cx="17889855" cy="2170274"/>
          </a:xfrm>
          <a:prstGeom prst="rect">
            <a:avLst/>
          </a:prstGeom>
        </p:spPr>
        <p:txBody>
          <a:bodyPr vert="horz" wrap="square" lIns="0" tIns="7620" rIns="0" bIns="0" rtlCol="0">
            <a:spAutoFit/>
          </a:bodyPr>
          <a:lstStyle/>
          <a:p>
            <a:pPr marL="12700" marR="5080" algn="just">
              <a:lnSpc>
                <a:spcPct val="100800"/>
              </a:lnSpc>
              <a:spcBef>
                <a:spcPts val="60"/>
              </a:spcBef>
            </a:pPr>
            <a:r>
              <a:rPr sz="3550" dirty="0">
                <a:latin typeface="Tahoma"/>
                <a:cs typeface="Tahoma"/>
              </a:rPr>
              <a:t>El objetivo de este método es construir dos modelos separados </a:t>
            </a:r>
            <a:r>
              <a:rPr sz="3550" dirty="0">
                <a:latin typeface="Cambria Math"/>
                <a:cs typeface="Cambria Math"/>
              </a:rPr>
              <a:t>P(𝑥|𝑦 ∈ 𝐿) </a:t>
            </a:r>
            <a:r>
              <a:rPr sz="3550" dirty="0">
                <a:latin typeface="Tahoma"/>
                <a:cs typeface="Tahoma"/>
              </a:rPr>
              <a:t>y </a:t>
            </a:r>
            <a:r>
              <a:rPr sz="3550" dirty="0">
                <a:latin typeface="Cambria Math"/>
                <a:cs typeface="Cambria Math"/>
              </a:rPr>
              <a:t>P(𝑥|𝑦 ∈ 𝐻)</a:t>
            </a:r>
            <a:r>
              <a:rPr sz="3550" dirty="0">
                <a:latin typeface="Tahoma"/>
                <a:cs typeface="Tahoma"/>
              </a:rPr>
              <a:t>, donde el set </a:t>
            </a:r>
            <a:r>
              <a:rPr sz="3550" i="1" dirty="0">
                <a:latin typeface="Calibri"/>
                <a:cs typeface="Calibri"/>
              </a:rPr>
              <a:t>L </a:t>
            </a:r>
            <a:r>
              <a:rPr sz="3550" dirty="0">
                <a:latin typeface="Tahoma"/>
                <a:cs typeface="Tahoma"/>
              </a:rPr>
              <a:t>contiene los valores más chicos de y que se han visto y </a:t>
            </a:r>
            <a:r>
              <a:rPr sz="3550" i="1" dirty="0">
                <a:latin typeface="Calibri"/>
                <a:cs typeface="Calibri"/>
              </a:rPr>
              <a:t>H </a:t>
            </a:r>
            <a:r>
              <a:rPr sz="3550" dirty="0">
                <a:latin typeface="Tahoma"/>
                <a:cs typeface="Tahoma"/>
              </a:rPr>
              <a:t>los más altos. Estos conjuntos se crean dividiendo los valores según si caen por debajo o por encima de algún cuantil fijo.</a:t>
            </a:r>
          </a:p>
        </p:txBody>
      </p:sp>
      <p:sp>
        <p:nvSpPr>
          <p:cNvPr id="3" name="object 3"/>
          <p:cNvSpPr txBox="1">
            <a:spLocks noGrp="1"/>
          </p:cNvSpPr>
          <p:nvPr>
            <p:ph type="ctrTitle"/>
          </p:nvPr>
        </p:nvSpPr>
        <p:spPr>
          <a:prstGeom prst="rect">
            <a:avLst/>
          </a:prstGeom>
        </p:spPr>
        <p:txBody>
          <a:bodyPr vert="horz" wrap="square" lIns="0" tIns="78686" rIns="0" bIns="0" rtlCol="0">
            <a:spAutoFit/>
          </a:bodyPr>
          <a:lstStyle/>
          <a:p>
            <a:pPr marL="12700">
              <a:lnSpc>
                <a:spcPts val="6850"/>
              </a:lnSpc>
              <a:spcBef>
                <a:spcPts val="114"/>
              </a:spcBef>
            </a:pPr>
            <a:r>
              <a:rPr sz="6000" dirty="0"/>
              <a:t>MÉTODOS AVANZADOS</a:t>
            </a:r>
            <a:endParaRPr sz="6000"/>
          </a:p>
          <a:p>
            <a:pPr marL="91440">
              <a:lnSpc>
                <a:spcPts val="3610"/>
              </a:lnSpc>
            </a:pPr>
            <a:r>
              <a:rPr sz="3300" b="1" dirty="0">
                <a:latin typeface="Calibri"/>
                <a:cs typeface="Calibri"/>
              </a:rPr>
              <a:t>Búsqueda Bayesiana - Estimador Tree-Parzen</a:t>
            </a:r>
            <a:endParaRPr sz="3300">
              <a:latin typeface="Calibri"/>
              <a:cs typeface="Calibri"/>
            </a:endParaRPr>
          </a:p>
        </p:txBody>
      </p:sp>
      <p:pic>
        <p:nvPicPr>
          <p:cNvPr id="4" name="object 4"/>
          <p:cNvPicPr/>
          <p:nvPr/>
        </p:nvPicPr>
        <p:blipFill>
          <a:blip r:embed="rId2" cstate="print"/>
          <a:stretch>
            <a:fillRect/>
          </a:stretch>
        </p:blipFill>
        <p:spPr>
          <a:xfrm>
            <a:off x="5421425" y="5596880"/>
            <a:ext cx="9261250" cy="4557125"/>
          </a:xfrm>
          <a:prstGeom prst="rect">
            <a:avLst/>
          </a:prstGeom>
        </p:spPr>
      </p:pic>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31750">
              <a:lnSpc>
                <a:spcPct val="100000"/>
              </a:lnSpc>
              <a:spcBef>
                <a:spcPts val="295"/>
              </a:spcBef>
            </a:pPr>
            <a:fld id="{81D60167-4931-47E6-BA6A-407CBD079E47}" type="slidenum">
              <a:rPr spc="-25" dirty="0"/>
              <a:t>73</a:t>
            </a:fld>
            <a:endParaRPr spc="-2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2807226"/>
            <a:ext cx="17889855" cy="2170274"/>
          </a:xfrm>
          <a:prstGeom prst="rect">
            <a:avLst/>
          </a:prstGeom>
        </p:spPr>
        <p:txBody>
          <a:bodyPr vert="horz" wrap="square" lIns="0" tIns="7620" rIns="0" bIns="0" rtlCol="0">
            <a:spAutoFit/>
          </a:bodyPr>
          <a:lstStyle/>
          <a:p>
            <a:pPr marL="12700" marR="5080" algn="just">
              <a:lnSpc>
                <a:spcPct val="100800"/>
              </a:lnSpc>
              <a:spcBef>
                <a:spcPts val="60"/>
              </a:spcBef>
            </a:pPr>
            <a:r>
              <a:rPr sz="3550" dirty="0">
                <a:latin typeface="Tahoma"/>
                <a:cs typeface="Tahoma"/>
              </a:rPr>
              <a:t>El objetivo de este método es construir dos modelos separados </a:t>
            </a:r>
            <a:r>
              <a:rPr sz="3550" dirty="0">
                <a:latin typeface="Cambria Math"/>
                <a:cs typeface="Cambria Math"/>
              </a:rPr>
              <a:t>P(𝑥|𝑦 ∈ 𝐿) </a:t>
            </a:r>
            <a:r>
              <a:rPr sz="3550" dirty="0">
                <a:latin typeface="Tahoma"/>
                <a:cs typeface="Tahoma"/>
              </a:rPr>
              <a:t>y </a:t>
            </a:r>
            <a:r>
              <a:rPr sz="3550" dirty="0">
                <a:latin typeface="Cambria Math"/>
                <a:cs typeface="Cambria Math"/>
              </a:rPr>
              <a:t>P(𝑥|𝑦 ∈ 𝐻)</a:t>
            </a:r>
            <a:r>
              <a:rPr sz="3550" dirty="0">
                <a:latin typeface="Tahoma"/>
                <a:cs typeface="Tahoma"/>
              </a:rPr>
              <a:t>, donde el set </a:t>
            </a:r>
            <a:r>
              <a:rPr sz="3550" i="1" dirty="0">
                <a:latin typeface="Calibri"/>
                <a:cs typeface="Calibri"/>
              </a:rPr>
              <a:t>L </a:t>
            </a:r>
            <a:r>
              <a:rPr sz="3550" dirty="0">
                <a:latin typeface="Tahoma"/>
                <a:cs typeface="Tahoma"/>
              </a:rPr>
              <a:t>contiene los valores más chicos de y que se han visto y </a:t>
            </a:r>
            <a:r>
              <a:rPr sz="3550" i="1" dirty="0">
                <a:latin typeface="Calibri"/>
                <a:cs typeface="Calibri"/>
              </a:rPr>
              <a:t>H </a:t>
            </a:r>
            <a:r>
              <a:rPr sz="3550" dirty="0">
                <a:latin typeface="Tahoma"/>
                <a:cs typeface="Tahoma"/>
              </a:rPr>
              <a:t>los más altos. Estos conjuntos se crean dividiendo los valores según si caen por debajo o por encima de algún cuantil fijo.</a:t>
            </a:r>
          </a:p>
        </p:txBody>
      </p:sp>
      <p:sp>
        <p:nvSpPr>
          <p:cNvPr id="4" name="object 4"/>
          <p:cNvSpPr txBox="1"/>
          <p:nvPr/>
        </p:nvSpPr>
        <p:spPr>
          <a:xfrm>
            <a:off x="19345715" y="10713674"/>
            <a:ext cx="313055" cy="377825"/>
          </a:xfrm>
          <a:prstGeom prst="rect">
            <a:avLst/>
          </a:prstGeom>
        </p:spPr>
        <p:txBody>
          <a:bodyPr vert="horz" wrap="square" lIns="0" tIns="13335" rIns="0" bIns="0" rtlCol="0">
            <a:spAutoFit/>
          </a:bodyPr>
          <a:lstStyle/>
          <a:p>
            <a:pPr marL="12700">
              <a:lnSpc>
                <a:spcPct val="100000"/>
              </a:lnSpc>
              <a:spcBef>
                <a:spcPts val="105"/>
              </a:spcBef>
            </a:pPr>
            <a:r>
              <a:rPr sz="2300" spc="-100" dirty="0">
                <a:latin typeface="Tahoma"/>
                <a:cs typeface="Tahoma"/>
              </a:rPr>
              <a:t>74</a:t>
            </a:r>
            <a:endParaRPr sz="2300">
              <a:latin typeface="Tahoma"/>
              <a:cs typeface="Tahoma"/>
            </a:endParaRPr>
          </a:p>
        </p:txBody>
      </p:sp>
      <p:sp>
        <p:nvSpPr>
          <p:cNvPr id="5" name="object 5"/>
          <p:cNvSpPr txBox="1">
            <a:spLocks noGrp="1"/>
          </p:cNvSpPr>
          <p:nvPr>
            <p:ph type="title"/>
          </p:nvPr>
        </p:nvSpPr>
        <p:spPr>
          <a:xfrm>
            <a:off x="1097213" y="1200665"/>
            <a:ext cx="108598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endParaRPr sz="6000"/>
          </a:p>
          <a:p>
            <a:pPr marL="91440">
              <a:lnSpc>
                <a:spcPts val="3610"/>
              </a:lnSpc>
            </a:pPr>
            <a:r>
              <a:rPr sz="3300" b="1" dirty="0">
                <a:latin typeface="Calibri"/>
                <a:cs typeface="Calibri"/>
              </a:rPr>
              <a:t>Búsqueda Bayesiana - Estimador Tree-Parzen</a:t>
            </a:r>
            <a:endParaRPr sz="3300">
              <a:latin typeface="Calibri"/>
              <a:cs typeface="Calibri"/>
            </a:endParaRPr>
          </a:p>
        </p:txBody>
      </p:sp>
      <p:pic>
        <p:nvPicPr>
          <p:cNvPr id="6" name="object 6"/>
          <p:cNvPicPr/>
          <p:nvPr/>
        </p:nvPicPr>
        <p:blipFill>
          <a:blip r:embed="rId2" cstate="print"/>
          <a:stretch>
            <a:fillRect/>
          </a:stretch>
        </p:blipFill>
        <p:spPr>
          <a:xfrm>
            <a:off x="5452834" y="5222793"/>
            <a:ext cx="9261250" cy="4557125"/>
          </a:xfrm>
          <a:prstGeom prst="rect">
            <a:avLst/>
          </a:prstGeom>
        </p:spPr>
      </p:pic>
      <p:sp>
        <p:nvSpPr>
          <p:cNvPr id="7" name="object 7"/>
          <p:cNvSpPr txBox="1"/>
          <p:nvPr/>
        </p:nvSpPr>
        <p:spPr>
          <a:xfrm>
            <a:off x="5452834" y="9083607"/>
            <a:ext cx="13036054" cy="1883208"/>
          </a:xfrm>
          <a:prstGeom prst="rect">
            <a:avLst/>
          </a:prstGeom>
          <a:solidFill>
            <a:srgbClr val="FFB3F2"/>
          </a:solidFill>
        </p:spPr>
        <p:txBody>
          <a:bodyPr vert="horz" wrap="square" lIns="0" tIns="53975" rIns="0" bIns="0" rtlCol="0">
            <a:spAutoFit/>
          </a:bodyPr>
          <a:lstStyle/>
          <a:p>
            <a:pPr marL="3810" algn="ctr">
              <a:lnSpc>
                <a:spcPct val="100000"/>
              </a:lnSpc>
              <a:spcBef>
                <a:spcPts val="425"/>
              </a:spcBef>
            </a:pPr>
            <a:r>
              <a:rPr sz="2950" dirty="0">
                <a:solidFill>
                  <a:srgbClr val="404040"/>
                </a:solidFill>
                <a:latin typeface="Tahoma"/>
                <a:cs typeface="Tahoma"/>
              </a:rPr>
              <a:t>La distribución H es la distribución de la combinación de los hiper-parámetros</a:t>
            </a:r>
            <a:endParaRPr sz="2950" dirty="0">
              <a:latin typeface="Tahoma"/>
              <a:cs typeface="Tahoma"/>
            </a:endParaRPr>
          </a:p>
          <a:p>
            <a:pPr marL="5080" algn="ctr">
              <a:lnSpc>
                <a:spcPct val="100000"/>
              </a:lnSpc>
              <a:spcBef>
                <a:spcPts val="5"/>
              </a:spcBef>
            </a:pPr>
            <a:r>
              <a:rPr sz="2950" i="1" dirty="0">
                <a:solidFill>
                  <a:srgbClr val="404040"/>
                </a:solidFill>
                <a:latin typeface="Verdana"/>
                <a:cs typeface="Verdana"/>
              </a:rPr>
              <a:t>buenos</a:t>
            </a:r>
            <a:r>
              <a:rPr sz="2950" dirty="0">
                <a:solidFill>
                  <a:srgbClr val="404040"/>
                </a:solidFill>
                <a:latin typeface="Tahoma"/>
                <a:cs typeface="Tahoma"/>
              </a:rPr>
              <a:t>, es decir que el modelo rindió mejor.</a:t>
            </a:r>
            <a:endParaRPr sz="2950" dirty="0">
              <a:latin typeface="Tahoma"/>
              <a:cs typeface="Tahoma"/>
            </a:endParaRPr>
          </a:p>
          <a:p>
            <a:pPr marL="3810" algn="ctr">
              <a:lnSpc>
                <a:spcPct val="100000"/>
              </a:lnSpc>
              <a:spcBef>
                <a:spcPts val="80"/>
              </a:spcBef>
            </a:pPr>
            <a:r>
              <a:rPr sz="2950" dirty="0">
                <a:solidFill>
                  <a:srgbClr val="404040"/>
                </a:solidFill>
                <a:latin typeface="Tahoma"/>
                <a:cs typeface="Tahoma"/>
              </a:rPr>
              <a:t>La distribución H es la distribución de la combinación de los hiper-parámetros</a:t>
            </a:r>
            <a:endParaRPr sz="2950" dirty="0">
              <a:latin typeface="Tahoma"/>
              <a:cs typeface="Tahoma"/>
            </a:endParaRPr>
          </a:p>
          <a:p>
            <a:pPr marL="4445" algn="ctr">
              <a:lnSpc>
                <a:spcPct val="100000"/>
              </a:lnSpc>
            </a:pPr>
            <a:r>
              <a:rPr sz="2950" i="1" dirty="0">
                <a:solidFill>
                  <a:srgbClr val="404040"/>
                </a:solidFill>
                <a:latin typeface="Verdana"/>
                <a:cs typeface="Verdana"/>
              </a:rPr>
              <a:t>malos</a:t>
            </a:r>
            <a:r>
              <a:rPr sz="2950" dirty="0">
                <a:solidFill>
                  <a:srgbClr val="404040"/>
                </a:solidFill>
                <a:latin typeface="Tahoma"/>
                <a:cs typeface="Tahoma"/>
              </a:rPr>
              <a:t>, es decir que el modelo rindió peor.</a:t>
            </a:r>
            <a:endParaRPr sz="2950" dirty="0">
              <a:latin typeface="Tahoma"/>
              <a:cs typeface="Tahom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52834" y="5222793"/>
            <a:ext cx="9261252" cy="4557125"/>
          </a:xfrm>
          <a:prstGeom prst="rect">
            <a:avLst/>
          </a:prstGeom>
        </p:spPr>
      </p:pic>
      <p:sp>
        <p:nvSpPr>
          <p:cNvPr id="3" name="object 3"/>
          <p:cNvSpPr txBox="1"/>
          <p:nvPr/>
        </p:nvSpPr>
        <p:spPr>
          <a:xfrm>
            <a:off x="1097213" y="3054012"/>
            <a:ext cx="17506950" cy="1199515"/>
          </a:xfrm>
          <a:prstGeom prst="rect">
            <a:avLst/>
          </a:prstGeom>
        </p:spPr>
        <p:txBody>
          <a:bodyPr vert="horz" wrap="square" lIns="0" tIns="7620" rIns="0" bIns="0" rtlCol="0">
            <a:spAutoFit/>
          </a:bodyPr>
          <a:lstStyle/>
          <a:p>
            <a:pPr marL="12700" marR="5080">
              <a:lnSpc>
                <a:spcPts val="4690"/>
              </a:lnSpc>
              <a:spcBef>
                <a:spcPts val="60"/>
              </a:spcBef>
            </a:pPr>
            <a:r>
              <a:rPr sz="3800" dirty="0">
                <a:latin typeface="Tahoma"/>
                <a:cs typeface="Tahoma"/>
              </a:rPr>
              <a:t>Se estima la densidad de probabilidad de </a:t>
            </a:r>
            <a:r>
              <a:rPr sz="3800" i="1" dirty="0">
                <a:latin typeface="Calibri"/>
                <a:cs typeface="Calibri"/>
              </a:rPr>
              <a:t>L </a:t>
            </a:r>
            <a:r>
              <a:rPr sz="3800" dirty="0">
                <a:latin typeface="Tahoma"/>
                <a:cs typeface="Tahoma"/>
              </a:rPr>
              <a:t>y </a:t>
            </a:r>
            <a:r>
              <a:rPr sz="3800" i="1" dirty="0">
                <a:latin typeface="Calibri"/>
                <a:cs typeface="Calibri"/>
              </a:rPr>
              <a:t>H </a:t>
            </a:r>
            <a:r>
              <a:rPr sz="3800" dirty="0">
                <a:latin typeface="Tahoma"/>
                <a:cs typeface="Tahoma"/>
              </a:rPr>
              <a:t>asumiendo una distribución normal en cada dato observado y sumando todas las distribuciones.</a:t>
            </a:r>
            <a:endParaRPr sz="3800">
              <a:latin typeface="Tahoma"/>
              <a:cs typeface="Tahoma"/>
            </a:endParaRPr>
          </a:p>
        </p:txBody>
      </p:sp>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48260">
              <a:lnSpc>
                <a:spcPct val="100000"/>
              </a:lnSpc>
              <a:spcBef>
                <a:spcPts val="295"/>
              </a:spcBef>
            </a:pPr>
            <a:fld id="{81D60167-4931-47E6-BA6A-407CBD079E47}" type="slidenum">
              <a:rPr spc="-25" dirty="0"/>
              <a:t>75</a:t>
            </a:fld>
            <a:endParaRPr spc="-25" dirty="0"/>
          </a:p>
        </p:txBody>
      </p:sp>
      <p:sp>
        <p:nvSpPr>
          <p:cNvPr id="4" name="object 4"/>
          <p:cNvSpPr txBox="1">
            <a:spLocks noGrp="1"/>
          </p:cNvSpPr>
          <p:nvPr>
            <p:ph type="ctrTitle"/>
          </p:nvPr>
        </p:nvSpPr>
        <p:spPr>
          <a:prstGeom prst="rect">
            <a:avLst/>
          </a:prstGeom>
        </p:spPr>
        <p:txBody>
          <a:bodyPr vert="horz" wrap="square" lIns="0" tIns="78686" rIns="0" bIns="0" rtlCol="0">
            <a:spAutoFit/>
          </a:bodyPr>
          <a:lstStyle/>
          <a:p>
            <a:pPr marL="12700">
              <a:lnSpc>
                <a:spcPts val="6850"/>
              </a:lnSpc>
              <a:spcBef>
                <a:spcPts val="114"/>
              </a:spcBef>
            </a:pPr>
            <a:r>
              <a:rPr sz="6000" dirty="0"/>
              <a:t>MÉTODOS AVANZADOS</a:t>
            </a:r>
          </a:p>
          <a:p>
            <a:pPr marL="91440">
              <a:lnSpc>
                <a:spcPts val="3610"/>
              </a:lnSpc>
            </a:pPr>
            <a:r>
              <a:rPr sz="3300" b="1" dirty="0">
                <a:latin typeface="Calibri"/>
                <a:cs typeface="Calibri"/>
              </a:rPr>
              <a:t>Búsqueda Bayesiana - Estimador Tree-Parzen</a:t>
            </a:r>
            <a:endParaRPr sz="3300" dirty="0">
              <a:latin typeface="Calibri"/>
              <a:cs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52834" y="5222793"/>
            <a:ext cx="9261252" cy="4557125"/>
          </a:xfrm>
          <a:prstGeom prst="rect">
            <a:avLst/>
          </a:prstGeom>
        </p:spPr>
      </p:pic>
      <p:sp>
        <p:nvSpPr>
          <p:cNvPr id="3" name="object 3"/>
          <p:cNvSpPr txBox="1"/>
          <p:nvPr/>
        </p:nvSpPr>
        <p:spPr>
          <a:xfrm>
            <a:off x="1071813" y="3003752"/>
            <a:ext cx="17690465" cy="1267783"/>
          </a:xfrm>
          <a:prstGeom prst="rect">
            <a:avLst/>
          </a:prstGeom>
        </p:spPr>
        <p:txBody>
          <a:bodyPr vert="horz" wrap="square" lIns="0" tIns="12700" rIns="0" bIns="0" rtlCol="0">
            <a:spAutoFit/>
          </a:bodyPr>
          <a:lstStyle/>
          <a:p>
            <a:pPr marL="38100" marR="30480" algn="just">
              <a:lnSpc>
                <a:spcPct val="112000"/>
              </a:lnSpc>
              <a:spcBef>
                <a:spcPts val="100"/>
              </a:spcBef>
            </a:pPr>
            <a:r>
              <a:rPr sz="3800" dirty="0">
                <a:latin typeface="Tahoma"/>
                <a:cs typeface="Tahoma"/>
              </a:rPr>
              <a:t>Se puede </a:t>
            </a:r>
            <a:r>
              <a:rPr sz="3800" u="sng" dirty="0">
                <a:solidFill>
                  <a:srgbClr val="0000FF"/>
                </a:solidFill>
                <a:uFill>
                  <a:solidFill>
                    <a:srgbClr val="0000FF"/>
                  </a:solidFill>
                </a:uFill>
                <a:latin typeface="Tahoma"/>
                <a:cs typeface="Tahoma"/>
              </a:rPr>
              <a:t>demostrar</a:t>
            </a:r>
            <a:r>
              <a:rPr sz="3800" dirty="0">
                <a:solidFill>
                  <a:srgbClr val="0000FF"/>
                </a:solidFill>
                <a:latin typeface="Tahoma"/>
                <a:cs typeface="Tahoma"/>
              </a:rPr>
              <a:t> </a:t>
            </a:r>
            <a:r>
              <a:rPr sz="3800" dirty="0">
                <a:latin typeface="Tahoma"/>
                <a:cs typeface="Tahoma"/>
              </a:rPr>
              <a:t>que los mejores hiper-parámetros se encuentran quienes maximizan la verosimilitud de </a:t>
            </a:r>
            <a:r>
              <a:rPr sz="4200" baseline="35714" dirty="0">
                <a:latin typeface="Cambria Math"/>
                <a:cs typeface="Cambria Math"/>
              </a:rPr>
              <a:t>P(𝑥|𝑦∈𝐻)</a:t>
            </a:r>
            <a:r>
              <a:rPr sz="3800" dirty="0">
                <a:latin typeface="Cambria Math"/>
                <a:cs typeface="Cambria Math"/>
              </a:rPr>
              <a:t>/</a:t>
            </a:r>
            <a:r>
              <a:rPr sz="4200" baseline="-19841" dirty="0">
                <a:latin typeface="Cambria Math"/>
                <a:cs typeface="Cambria Math"/>
              </a:rPr>
              <a:t>P(𝑥|𝑦∈𝐿)</a:t>
            </a:r>
            <a:r>
              <a:rPr sz="3800" dirty="0">
                <a:latin typeface="Tahoma"/>
                <a:cs typeface="Tahoma"/>
              </a:rPr>
              <a:t>.</a:t>
            </a:r>
          </a:p>
        </p:txBody>
      </p:sp>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48260">
              <a:lnSpc>
                <a:spcPct val="100000"/>
              </a:lnSpc>
              <a:spcBef>
                <a:spcPts val="295"/>
              </a:spcBef>
            </a:pPr>
            <a:fld id="{81D60167-4931-47E6-BA6A-407CBD079E47}" type="slidenum">
              <a:rPr spc="-25" dirty="0"/>
              <a:t>76</a:t>
            </a:fld>
            <a:endParaRPr spc="-25" dirty="0"/>
          </a:p>
        </p:txBody>
      </p:sp>
      <p:sp>
        <p:nvSpPr>
          <p:cNvPr id="4" name="object 4"/>
          <p:cNvSpPr txBox="1">
            <a:spLocks noGrp="1"/>
          </p:cNvSpPr>
          <p:nvPr>
            <p:ph type="ctrTitle"/>
          </p:nvPr>
        </p:nvSpPr>
        <p:spPr>
          <a:prstGeom prst="rect">
            <a:avLst/>
          </a:prstGeom>
        </p:spPr>
        <p:txBody>
          <a:bodyPr vert="horz" wrap="square" lIns="0" tIns="78686" rIns="0" bIns="0" rtlCol="0">
            <a:spAutoFit/>
          </a:bodyPr>
          <a:lstStyle/>
          <a:p>
            <a:pPr marL="12700">
              <a:lnSpc>
                <a:spcPts val="6850"/>
              </a:lnSpc>
              <a:spcBef>
                <a:spcPts val="114"/>
              </a:spcBef>
            </a:pPr>
            <a:r>
              <a:rPr sz="6000" dirty="0"/>
              <a:t>MÉTODOS AVANZADOS</a:t>
            </a:r>
            <a:endParaRPr sz="6000"/>
          </a:p>
          <a:p>
            <a:pPr marL="91440">
              <a:lnSpc>
                <a:spcPts val="3610"/>
              </a:lnSpc>
            </a:pPr>
            <a:r>
              <a:rPr sz="3300" b="1" dirty="0">
                <a:latin typeface="Calibri"/>
                <a:cs typeface="Calibri"/>
              </a:rPr>
              <a:t>Búsqueda Bayesiana - Estimador Tree-Parzen</a:t>
            </a:r>
            <a:endParaRPr sz="3300">
              <a:latin typeface="Calibri"/>
              <a:cs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52834" y="5222793"/>
            <a:ext cx="9261252" cy="4557125"/>
          </a:xfrm>
          <a:prstGeom prst="rect">
            <a:avLst/>
          </a:prstGeom>
        </p:spPr>
      </p:pic>
      <p:sp>
        <p:nvSpPr>
          <p:cNvPr id="3" name="object 3"/>
          <p:cNvSpPr txBox="1">
            <a:spLocks noGrp="1"/>
          </p:cNvSpPr>
          <p:nvPr>
            <p:ph type="title"/>
          </p:nvPr>
        </p:nvSpPr>
        <p:spPr>
          <a:xfrm>
            <a:off x="1097213" y="1200665"/>
            <a:ext cx="11164637" cy="938076"/>
          </a:xfrm>
          <a:prstGeom prst="rect">
            <a:avLst/>
          </a:prstGeom>
        </p:spPr>
        <p:txBody>
          <a:bodyPr vert="horz" wrap="square" lIns="0" tIns="14604" rIns="0" bIns="0" rtlCol="0">
            <a:spAutoFit/>
          </a:bodyPr>
          <a:lstStyle/>
          <a:p>
            <a:pPr marL="12700">
              <a:lnSpc>
                <a:spcPct val="100000"/>
              </a:lnSpc>
              <a:spcBef>
                <a:spcPts val="114"/>
              </a:spcBef>
            </a:pPr>
            <a:r>
              <a:rPr sz="6000" dirty="0"/>
              <a:t>MÉTODOS AVANZADOS</a:t>
            </a:r>
            <a:endParaRPr sz="6000"/>
          </a:p>
        </p:txBody>
      </p:sp>
      <p:sp>
        <p:nvSpPr>
          <p:cNvPr id="6" name="object 6"/>
          <p:cNvSpPr txBox="1">
            <a:spLocks noGrp="1"/>
          </p:cNvSpPr>
          <p:nvPr>
            <p:ph type="sldNum" sz="quarter" idx="7"/>
          </p:nvPr>
        </p:nvSpPr>
        <p:spPr>
          <a:prstGeom prst="rect">
            <a:avLst/>
          </a:prstGeom>
        </p:spPr>
        <p:txBody>
          <a:bodyPr vert="horz" wrap="square" lIns="0" tIns="37465" rIns="0" bIns="0" rtlCol="0">
            <a:spAutoFit/>
          </a:bodyPr>
          <a:lstStyle/>
          <a:p>
            <a:pPr marL="48260">
              <a:lnSpc>
                <a:spcPct val="100000"/>
              </a:lnSpc>
              <a:spcBef>
                <a:spcPts val="295"/>
              </a:spcBef>
            </a:pPr>
            <a:fld id="{81D60167-4931-47E6-BA6A-407CBD079E47}" type="slidenum">
              <a:rPr spc="-25" dirty="0"/>
              <a:t>77</a:t>
            </a:fld>
            <a:endParaRPr spc="-25" dirty="0"/>
          </a:p>
        </p:txBody>
      </p:sp>
      <p:sp>
        <p:nvSpPr>
          <p:cNvPr id="4" name="object 4"/>
          <p:cNvSpPr txBox="1"/>
          <p:nvPr/>
        </p:nvSpPr>
        <p:spPr>
          <a:xfrm>
            <a:off x="1084513" y="2028703"/>
            <a:ext cx="17894300" cy="2743835"/>
          </a:xfrm>
          <a:prstGeom prst="rect">
            <a:avLst/>
          </a:prstGeom>
        </p:spPr>
        <p:txBody>
          <a:bodyPr vert="horz" wrap="square" lIns="0" tIns="12065" rIns="0" bIns="0" rtlCol="0">
            <a:spAutoFit/>
          </a:bodyPr>
          <a:lstStyle/>
          <a:p>
            <a:pPr marL="104139">
              <a:lnSpc>
                <a:spcPct val="100000"/>
              </a:lnSpc>
              <a:spcBef>
                <a:spcPts val="95"/>
              </a:spcBef>
            </a:pPr>
            <a:r>
              <a:rPr sz="3300" b="1" dirty="0">
                <a:latin typeface="Calibri"/>
                <a:cs typeface="Calibri"/>
              </a:rPr>
              <a:t>Búsqueda Bayesiana - Estimador Tree-Parzen</a:t>
            </a:r>
            <a:endParaRPr sz="3300" dirty="0">
              <a:latin typeface="Calibri"/>
              <a:cs typeface="Calibri"/>
            </a:endParaRPr>
          </a:p>
          <a:p>
            <a:pPr marL="25400" marR="17780" algn="just">
              <a:lnSpc>
                <a:spcPct val="111500"/>
              </a:lnSpc>
              <a:spcBef>
                <a:spcPts val="3195"/>
              </a:spcBef>
            </a:pPr>
            <a:r>
              <a:rPr sz="3550" dirty="0">
                <a:latin typeface="Tahoma"/>
                <a:cs typeface="Tahoma"/>
              </a:rPr>
              <a:t>Intuitivamente, queremos los hiper-parámetros que sean </a:t>
            </a:r>
            <a:r>
              <a:rPr sz="3550" b="1" dirty="0">
                <a:solidFill>
                  <a:srgbClr val="19BD1B"/>
                </a:solidFill>
                <a:latin typeface="Calibri"/>
                <a:cs typeface="Calibri"/>
              </a:rPr>
              <a:t>muy probables bajo la </a:t>
            </a:r>
            <a:r>
              <a:rPr sz="3550" b="1" i="1" dirty="0">
                <a:solidFill>
                  <a:srgbClr val="19BD1B"/>
                </a:solidFill>
                <a:latin typeface="Calibri"/>
                <a:cs typeface="Calibri"/>
              </a:rPr>
              <a:t>distribución buena </a:t>
            </a:r>
            <a:r>
              <a:rPr sz="3550" dirty="0">
                <a:solidFill>
                  <a:srgbClr val="19BD1B"/>
                </a:solidFill>
                <a:latin typeface="Cambria Math"/>
                <a:cs typeface="Cambria Math"/>
              </a:rPr>
              <a:t>𝐏(𝒙|𝒚 ∈ 𝑯) </a:t>
            </a:r>
            <a:r>
              <a:rPr sz="3550" dirty="0">
                <a:latin typeface="Tahoma"/>
                <a:cs typeface="Tahoma"/>
              </a:rPr>
              <a:t>y </a:t>
            </a:r>
            <a:r>
              <a:rPr sz="3550" b="1" dirty="0">
                <a:solidFill>
                  <a:srgbClr val="FF7D74"/>
                </a:solidFill>
                <a:latin typeface="Calibri"/>
                <a:cs typeface="Calibri"/>
              </a:rPr>
              <a:t>no muy probables bajo la </a:t>
            </a:r>
            <a:r>
              <a:rPr sz="3550" b="1" i="1" dirty="0">
                <a:solidFill>
                  <a:srgbClr val="FF7D74"/>
                </a:solidFill>
                <a:latin typeface="Calibri"/>
                <a:cs typeface="Calibri"/>
              </a:rPr>
              <a:t>distribución mala </a:t>
            </a:r>
            <a:r>
              <a:rPr sz="3550" dirty="0">
                <a:solidFill>
                  <a:srgbClr val="FF7D74"/>
                </a:solidFill>
                <a:latin typeface="Cambria Math"/>
                <a:cs typeface="Cambria Math"/>
              </a:rPr>
              <a:t>𝐏(𝒙|𝒚 ∈ 𝑳) </a:t>
            </a:r>
            <a:r>
              <a:rPr sz="3550" b="1" dirty="0">
                <a:solidFill>
                  <a:srgbClr val="FF7D74"/>
                </a:solidFill>
                <a:latin typeface="Calibri"/>
                <a:cs typeface="Calibri"/>
              </a:rPr>
              <a:t>. </a:t>
            </a:r>
            <a:r>
              <a:rPr sz="3550" dirty="0">
                <a:latin typeface="Tahoma"/>
                <a:cs typeface="Tahoma"/>
              </a:rPr>
              <a:t>En esta búsqueda, la función de adquisición elije N muestras que maximicen </a:t>
            </a:r>
            <a:r>
              <a:rPr sz="3825" baseline="37037" dirty="0">
                <a:latin typeface="Cambria Math"/>
                <a:cs typeface="Cambria Math"/>
              </a:rPr>
              <a:t>P(𝑥|𝑦∈𝐻)</a:t>
            </a:r>
            <a:r>
              <a:rPr sz="3550" dirty="0">
                <a:latin typeface="Cambria Math"/>
                <a:cs typeface="Cambria Math"/>
              </a:rPr>
              <a:t>/</a:t>
            </a:r>
            <a:r>
              <a:rPr sz="3825" baseline="-20697" dirty="0">
                <a:latin typeface="Cambria Math"/>
                <a:cs typeface="Cambria Math"/>
              </a:rPr>
              <a:t>P(𝑥|𝑦∈𝐿)</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200665"/>
            <a:ext cx="11012237" cy="1361269"/>
          </a:xfrm>
          <a:prstGeom prst="rect">
            <a:avLst/>
          </a:prstGeom>
        </p:spPr>
        <p:txBody>
          <a:bodyPr vert="horz" wrap="square" lIns="0" tIns="14604" rIns="0" bIns="0" rtlCol="0">
            <a:spAutoFit/>
          </a:bodyPr>
          <a:lstStyle/>
          <a:p>
            <a:pPr marL="12700">
              <a:lnSpc>
                <a:spcPts val="6850"/>
              </a:lnSpc>
              <a:spcBef>
                <a:spcPts val="114"/>
              </a:spcBef>
            </a:pPr>
            <a:r>
              <a:rPr sz="6000" dirty="0"/>
              <a:t>MÉTODOS AVANZADOS</a:t>
            </a:r>
          </a:p>
          <a:p>
            <a:pPr marL="91440">
              <a:lnSpc>
                <a:spcPts val="3610"/>
              </a:lnSpc>
            </a:pPr>
            <a:r>
              <a:rPr sz="3300" b="1" dirty="0">
                <a:latin typeface="Calibri"/>
                <a:cs typeface="Calibri"/>
              </a:rPr>
              <a:t>Búsqueda Bayesiana - Estimador Tree-Parzen</a:t>
            </a:r>
            <a:endParaRPr sz="3300" dirty="0">
              <a:latin typeface="Calibri"/>
              <a:cs typeface="Calibri"/>
            </a:endParaRPr>
          </a:p>
        </p:txBody>
      </p:sp>
      <p:sp>
        <p:nvSpPr>
          <p:cNvPr id="3" name="object 3"/>
          <p:cNvSpPr txBox="1"/>
          <p:nvPr/>
        </p:nvSpPr>
        <p:spPr>
          <a:xfrm>
            <a:off x="1097213" y="3007686"/>
            <a:ext cx="6300929" cy="1242904"/>
          </a:xfrm>
          <a:prstGeom prst="rect">
            <a:avLst/>
          </a:prstGeom>
          <a:solidFill>
            <a:srgbClr val="FFCCF6"/>
          </a:solidFill>
        </p:spPr>
        <p:txBody>
          <a:bodyPr vert="horz" wrap="square" lIns="0" tIns="45085" rIns="0" bIns="0" rtlCol="0">
            <a:spAutoFit/>
          </a:bodyPr>
          <a:lstStyle/>
          <a:p>
            <a:pPr marL="271145" marR="257175" algn="ctr">
              <a:lnSpc>
                <a:spcPct val="101800"/>
              </a:lnSpc>
              <a:spcBef>
                <a:spcPts val="355"/>
              </a:spcBef>
            </a:pPr>
            <a:r>
              <a:rPr sz="2600" dirty="0">
                <a:solidFill>
                  <a:srgbClr val="404040"/>
                </a:solidFill>
                <a:latin typeface="Tahoma"/>
                <a:cs typeface="Tahoma"/>
              </a:rPr>
              <a:t>Se elige una función de probabilidad inicial para f (en general la distribución uniforme) que llamamos a </a:t>
            </a:r>
            <a:r>
              <a:rPr sz="2600" b="1" dirty="0">
                <a:solidFill>
                  <a:srgbClr val="404040"/>
                </a:solidFill>
                <a:latin typeface="Trebuchet MS"/>
                <a:cs typeface="Trebuchet MS"/>
              </a:rPr>
              <a:t>priori.</a:t>
            </a:r>
            <a:endParaRPr sz="2600" dirty="0">
              <a:latin typeface="Trebuchet MS"/>
              <a:cs typeface="Trebuchet MS"/>
            </a:endParaRPr>
          </a:p>
        </p:txBody>
      </p:sp>
      <p:sp>
        <p:nvSpPr>
          <p:cNvPr id="4" name="object 4"/>
          <p:cNvSpPr txBox="1"/>
          <p:nvPr/>
        </p:nvSpPr>
        <p:spPr>
          <a:xfrm>
            <a:off x="8395571" y="4770441"/>
            <a:ext cx="6761878" cy="866904"/>
          </a:xfrm>
          <a:prstGeom prst="rect">
            <a:avLst/>
          </a:prstGeom>
          <a:solidFill>
            <a:srgbClr val="FFCCF6"/>
          </a:solidFill>
        </p:spPr>
        <p:txBody>
          <a:bodyPr vert="horz" wrap="square" lIns="0" tIns="71120" rIns="0" bIns="0" rtlCol="0">
            <a:spAutoFit/>
          </a:bodyPr>
          <a:lstStyle/>
          <a:p>
            <a:pPr marL="1691005" marR="174625" indent="-1503680">
              <a:lnSpc>
                <a:spcPts val="3050"/>
              </a:lnSpc>
              <a:spcBef>
                <a:spcPts val="560"/>
              </a:spcBef>
            </a:pPr>
            <a:r>
              <a:rPr sz="2600" dirty="0">
                <a:solidFill>
                  <a:srgbClr val="404040"/>
                </a:solidFill>
                <a:latin typeface="Tahoma"/>
                <a:cs typeface="Tahoma"/>
              </a:rPr>
              <a:t>Se obtiene las estimaciones de probabilidad 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𝑦∈𝐻</a:t>
            </a:r>
            <a:r>
              <a:rPr sz="2600" dirty="0">
                <a:solidFill>
                  <a:srgbClr val="404040"/>
                </a:solidFill>
                <a:latin typeface="Tahoma"/>
                <a:cs typeface="Tahoma"/>
              </a:rPr>
              <a:t>) y 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a:t>
            </a:r>
            <a:r>
              <a:rPr sz="2600" dirty="0">
                <a:solidFill>
                  <a:srgbClr val="404040"/>
                </a:solidFill>
                <a:latin typeface="Tahoma"/>
                <a:cs typeface="Tahoma"/>
              </a:rPr>
              <a:t>L).</a:t>
            </a:r>
            <a:endParaRPr sz="2600" dirty="0">
              <a:latin typeface="Tahoma"/>
              <a:cs typeface="Tahoma"/>
            </a:endParaRPr>
          </a:p>
        </p:txBody>
      </p:sp>
      <p:sp>
        <p:nvSpPr>
          <p:cNvPr id="5" name="object 5"/>
          <p:cNvSpPr txBox="1"/>
          <p:nvPr/>
        </p:nvSpPr>
        <p:spPr>
          <a:xfrm>
            <a:off x="8395570" y="6562036"/>
            <a:ext cx="6761877" cy="846386"/>
          </a:xfrm>
          <a:prstGeom prst="rect">
            <a:avLst/>
          </a:prstGeom>
          <a:solidFill>
            <a:srgbClr val="FFCCF6"/>
          </a:solidFill>
        </p:spPr>
        <p:txBody>
          <a:bodyPr vert="horz" wrap="square" lIns="0" tIns="50800" rIns="0" bIns="0" rtlCol="0">
            <a:spAutoFit/>
          </a:bodyPr>
          <a:lstStyle/>
          <a:p>
            <a:pPr marL="3175" algn="ctr">
              <a:lnSpc>
                <a:spcPts val="3085"/>
              </a:lnSpc>
              <a:spcBef>
                <a:spcPts val="400"/>
              </a:spcBef>
            </a:pPr>
            <a:r>
              <a:rPr sz="2600" dirty="0">
                <a:solidFill>
                  <a:srgbClr val="404040"/>
                </a:solidFill>
                <a:latin typeface="Tahoma"/>
                <a:cs typeface="Tahoma"/>
              </a:rPr>
              <a:t>Se calcula la distribución a </a:t>
            </a:r>
            <a:r>
              <a:rPr sz="2600" b="1" dirty="0">
                <a:solidFill>
                  <a:srgbClr val="404040"/>
                </a:solidFill>
                <a:latin typeface="Trebuchet MS"/>
                <a:cs typeface="Trebuchet MS"/>
              </a:rPr>
              <a:t>posteriori</a:t>
            </a:r>
            <a:endParaRPr sz="2600" dirty="0">
              <a:latin typeface="Trebuchet MS"/>
              <a:cs typeface="Trebuchet MS"/>
            </a:endParaRPr>
          </a:p>
          <a:p>
            <a:pPr algn="ctr">
              <a:lnSpc>
                <a:spcPts val="3085"/>
              </a:lnSpc>
            </a:pPr>
            <a:r>
              <a:rPr sz="2600" dirty="0">
                <a:solidFill>
                  <a:srgbClr val="404040"/>
                </a:solidFill>
                <a:latin typeface="Tahoma"/>
                <a:cs typeface="Tahoma"/>
              </a:rPr>
              <a:t>haciendo 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𝑦∈𝐻</a:t>
            </a:r>
            <a:r>
              <a:rPr sz="2600" dirty="0">
                <a:solidFill>
                  <a:srgbClr val="404040"/>
                </a:solidFill>
                <a:latin typeface="Tahoma"/>
                <a:cs typeface="Tahoma"/>
              </a:rPr>
              <a:t>)/P(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a:t>
            </a:r>
            <a:r>
              <a:rPr sz="2600" dirty="0">
                <a:solidFill>
                  <a:srgbClr val="404040"/>
                </a:solidFill>
                <a:latin typeface="Tahoma"/>
                <a:cs typeface="Tahoma"/>
              </a:rPr>
              <a:t>L).</a:t>
            </a:r>
            <a:endParaRPr sz="2600" dirty="0">
              <a:latin typeface="Tahoma"/>
              <a:cs typeface="Tahoma"/>
            </a:endParaRPr>
          </a:p>
        </p:txBody>
      </p:sp>
      <p:sp>
        <p:nvSpPr>
          <p:cNvPr id="6" name="object 6"/>
          <p:cNvSpPr/>
          <p:nvPr/>
        </p:nvSpPr>
        <p:spPr>
          <a:xfrm>
            <a:off x="7538250" y="3501535"/>
            <a:ext cx="4032250" cy="4695190"/>
          </a:xfrm>
          <a:custGeom>
            <a:avLst/>
            <a:gdLst/>
            <a:ahLst/>
            <a:cxnLst/>
            <a:rect l="l" t="t" r="r" b="b"/>
            <a:pathLst>
              <a:path w="4032250" h="4695190">
                <a:moveTo>
                  <a:pt x="717067" y="128625"/>
                </a:moveTo>
                <a:lnTo>
                  <a:pt x="588441" y="0"/>
                </a:lnTo>
                <a:lnTo>
                  <a:pt x="588441" y="64312"/>
                </a:lnTo>
                <a:lnTo>
                  <a:pt x="0" y="64312"/>
                </a:lnTo>
                <a:lnTo>
                  <a:pt x="0" y="192938"/>
                </a:lnTo>
                <a:lnTo>
                  <a:pt x="588441" y="192938"/>
                </a:lnTo>
                <a:lnTo>
                  <a:pt x="588441" y="257251"/>
                </a:lnTo>
                <a:lnTo>
                  <a:pt x="717067" y="128625"/>
                </a:lnTo>
                <a:close/>
              </a:path>
              <a:path w="4032250" h="4695190">
                <a:moveTo>
                  <a:pt x="2602382" y="4258195"/>
                </a:moveTo>
                <a:lnTo>
                  <a:pt x="2517495" y="4161561"/>
                </a:lnTo>
                <a:lnTo>
                  <a:pt x="2075370" y="4549876"/>
                </a:lnTo>
                <a:lnTo>
                  <a:pt x="2032927" y="4501553"/>
                </a:lnTo>
                <a:lnTo>
                  <a:pt x="2021166" y="4683074"/>
                </a:lnTo>
                <a:lnTo>
                  <a:pt x="2202688" y="4694847"/>
                </a:lnTo>
                <a:lnTo>
                  <a:pt x="2160244" y="4646523"/>
                </a:lnTo>
                <a:lnTo>
                  <a:pt x="2602382" y="4258195"/>
                </a:lnTo>
                <a:close/>
              </a:path>
              <a:path w="4032250" h="4695190">
                <a:moveTo>
                  <a:pt x="4031970" y="2858846"/>
                </a:moveTo>
                <a:lnTo>
                  <a:pt x="3967657" y="2858846"/>
                </a:lnTo>
                <a:lnTo>
                  <a:pt x="3967657" y="2270391"/>
                </a:lnTo>
                <a:lnTo>
                  <a:pt x="3839032" y="2270391"/>
                </a:lnTo>
                <a:lnTo>
                  <a:pt x="3839032" y="2858846"/>
                </a:lnTo>
                <a:lnTo>
                  <a:pt x="3774719" y="2858846"/>
                </a:lnTo>
                <a:lnTo>
                  <a:pt x="3903345" y="2987459"/>
                </a:lnTo>
                <a:lnTo>
                  <a:pt x="4031970" y="2858846"/>
                </a:lnTo>
                <a:close/>
              </a:path>
              <a:path w="4032250" h="4695190">
                <a:moveTo>
                  <a:pt x="4031970" y="1075423"/>
                </a:moveTo>
                <a:lnTo>
                  <a:pt x="3967657" y="1075423"/>
                </a:lnTo>
                <a:lnTo>
                  <a:pt x="3967657" y="486981"/>
                </a:lnTo>
                <a:lnTo>
                  <a:pt x="3839032" y="486981"/>
                </a:lnTo>
                <a:lnTo>
                  <a:pt x="3839032" y="1075423"/>
                </a:lnTo>
                <a:lnTo>
                  <a:pt x="3774719" y="1075423"/>
                </a:lnTo>
                <a:lnTo>
                  <a:pt x="3903345" y="1204048"/>
                </a:lnTo>
                <a:lnTo>
                  <a:pt x="4031970" y="1075423"/>
                </a:lnTo>
                <a:close/>
              </a:path>
            </a:pathLst>
          </a:custGeom>
          <a:solidFill>
            <a:srgbClr val="FF80E9"/>
          </a:solidFill>
        </p:spPr>
        <p:txBody>
          <a:bodyPr wrap="square" lIns="0" tIns="0" rIns="0" bIns="0" rtlCol="0"/>
          <a:lstStyle/>
          <a:p>
            <a:endParaRPr/>
          </a:p>
        </p:txBody>
      </p:sp>
      <p:sp>
        <p:nvSpPr>
          <p:cNvPr id="7" name="object 7"/>
          <p:cNvSpPr txBox="1"/>
          <p:nvPr/>
        </p:nvSpPr>
        <p:spPr>
          <a:xfrm>
            <a:off x="16024412" y="2519534"/>
            <a:ext cx="3145155" cy="1237004"/>
          </a:xfrm>
          <a:prstGeom prst="rect">
            <a:avLst/>
          </a:prstGeom>
          <a:solidFill>
            <a:srgbClr val="BDD8FF"/>
          </a:solidFill>
        </p:spPr>
        <p:txBody>
          <a:bodyPr vert="horz" wrap="square" lIns="0" tIns="45719" rIns="0" bIns="0" rtlCol="0">
            <a:spAutoFit/>
          </a:bodyPr>
          <a:lstStyle/>
          <a:p>
            <a:pPr marL="80010" marR="67310" indent="-635" algn="ctr">
              <a:lnSpc>
                <a:spcPct val="101800"/>
              </a:lnSpc>
              <a:spcBef>
                <a:spcPts val="359"/>
              </a:spcBef>
            </a:pPr>
            <a:r>
              <a:rPr sz="2600" dirty="0">
                <a:solidFill>
                  <a:srgbClr val="404040"/>
                </a:solidFill>
                <a:latin typeface="Tahoma"/>
                <a:cs typeface="Tahoma"/>
              </a:rPr>
              <a:t>f = superficie de respuesta de los Hiper- parámetros</a:t>
            </a:r>
            <a:endParaRPr sz="2600" dirty="0">
              <a:latin typeface="Tahoma"/>
              <a:cs typeface="Tahoma"/>
            </a:endParaRPr>
          </a:p>
        </p:txBody>
      </p:sp>
      <p:sp>
        <p:nvSpPr>
          <p:cNvPr id="8" name="object 8"/>
          <p:cNvSpPr txBox="1"/>
          <p:nvPr/>
        </p:nvSpPr>
        <p:spPr>
          <a:xfrm>
            <a:off x="8395570" y="3384854"/>
            <a:ext cx="6761879" cy="450123"/>
          </a:xfrm>
          <a:prstGeom prst="rect">
            <a:avLst/>
          </a:prstGeom>
          <a:solidFill>
            <a:srgbClr val="FFCCF6"/>
          </a:solidFill>
        </p:spPr>
        <p:txBody>
          <a:bodyPr vert="horz" wrap="square" lIns="0" tIns="49530" rIns="0" bIns="0" rtlCol="0">
            <a:spAutoFit/>
          </a:bodyPr>
          <a:lstStyle/>
          <a:p>
            <a:pPr marL="268605">
              <a:lnSpc>
                <a:spcPct val="100000"/>
              </a:lnSpc>
              <a:spcBef>
                <a:spcPts val="390"/>
              </a:spcBef>
            </a:pPr>
            <a:r>
              <a:rPr sz="2600" dirty="0">
                <a:solidFill>
                  <a:srgbClr val="404040"/>
                </a:solidFill>
                <a:latin typeface="Tahoma"/>
                <a:cs typeface="Tahoma"/>
              </a:rPr>
              <a:t>Extraemos N puntos al azar para evaluar a f</a:t>
            </a:r>
            <a:endParaRPr sz="2600" dirty="0">
              <a:latin typeface="Tahoma"/>
              <a:cs typeface="Tahoma"/>
            </a:endParaRPr>
          </a:p>
        </p:txBody>
      </p:sp>
      <p:sp>
        <p:nvSpPr>
          <p:cNvPr id="9" name="object 9"/>
          <p:cNvSpPr txBox="1"/>
          <p:nvPr/>
        </p:nvSpPr>
        <p:spPr>
          <a:xfrm>
            <a:off x="11736898" y="8414790"/>
            <a:ext cx="7230551" cy="815544"/>
          </a:xfrm>
          <a:prstGeom prst="rect">
            <a:avLst/>
          </a:prstGeom>
          <a:solidFill>
            <a:srgbClr val="FFCCF6"/>
          </a:solidFill>
        </p:spPr>
        <p:txBody>
          <a:bodyPr vert="horz" wrap="square" lIns="0" tIns="19685" rIns="0" bIns="0" rtlCol="0">
            <a:spAutoFit/>
          </a:bodyPr>
          <a:lstStyle/>
          <a:p>
            <a:pPr marL="674370" marR="241300" indent="-421005">
              <a:lnSpc>
                <a:spcPct val="102699"/>
              </a:lnSpc>
              <a:spcBef>
                <a:spcPts val="155"/>
              </a:spcBef>
            </a:pPr>
            <a:r>
              <a:rPr sz="2600" dirty="0">
                <a:solidFill>
                  <a:srgbClr val="404040"/>
                </a:solidFill>
                <a:latin typeface="Tahoma"/>
                <a:cs typeface="Tahoma"/>
              </a:rPr>
              <a:t>Muestreamos al azar N puntos de 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𝑦∈𝐻</a:t>
            </a:r>
            <a:r>
              <a:rPr sz="2600" dirty="0">
                <a:solidFill>
                  <a:srgbClr val="404040"/>
                </a:solidFill>
                <a:latin typeface="Tahoma"/>
                <a:cs typeface="Tahoma"/>
              </a:rPr>
              <a:t>) que maximicen a 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𝑦∈𝐻</a:t>
            </a:r>
            <a:r>
              <a:rPr sz="2600" dirty="0">
                <a:solidFill>
                  <a:srgbClr val="404040"/>
                </a:solidFill>
                <a:latin typeface="Tahoma"/>
                <a:cs typeface="Tahoma"/>
              </a:rPr>
              <a:t>)/P(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a:t>
            </a:r>
            <a:r>
              <a:rPr sz="2600" dirty="0">
                <a:solidFill>
                  <a:srgbClr val="404040"/>
                </a:solidFill>
                <a:latin typeface="Tahoma"/>
                <a:cs typeface="Tahoma"/>
              </a:rPr>
              <a:t>L)</a:t>
            </a:r>
            <a:endParaRPr sz="2600" dirty="0">
              <a:latin typeface="Tahoma"/>
              <a:cs typeface="Tahoma"/>
            </a:endParaRPr>
          </a:p>
        </p:txBody>
      </p:sp>
      <p:grpSp>
        <p:nvGrpSpPr>
          <p:cNvPr id="10" name="object 10"/>
          <p:cNvGrpSpPr/>
          <p:nvPr/>
        </p:nvGrpSpPr>
        <p:grpSpPr>
          <a:xfrm>
            <a:off x="4641850" y="7615818"/>
            <a:ext cx="9406202" cy="1492830"/>
            <a:chOff x="4641850" y="7615818"/>
            <a:chExt cx="9406202" cy="1492830"/>
          </a:xfrm>
        </p:grpSpPr>
        <p:sp>
          <p:nvSpPr>
            <p:cNvPr id="11" name="object 11"/>
            <p:cNvSpPr/>
            <p:nvPr/>
          </p:nvSpPr>
          <p:spPr>
            <a:xfrm>
              <a:off x="13514017" y="7615818"/>
              <a:ext cx="534035" cy="580390"/>
            </a:xfrm>
            <a:custGeom>
              <a:avLst/>
              <a:gdLst/>
              <a:ahLst/>
              <a:cxnLst/>
              <a:rect l="l" t="t" r="r" b="b"/>
              <a:pathLst>
                <a:path w="534034" h="580390">
                  <a:moveTo>
                    <a:pt x="96468" y="0"/>
                  </a:moveTo>
                  <a:lnTo>
                    <a:pt x="0" y="85073"/>
                  </a:lnTo>
                  <a:lnTo>
                    <a:pt x="389213" y="526423"/>
                  </a:lnTo>
                  <a:lnTo>
                    <a:pt x="340973" y="568961"/>
                  </a:lnTo>
                  <a:lnTo>
                    <a:pt x="522518" y="580357"/>
                  </a:lnTo>
                  <a:lnTo>
                    <a:pt x="533920" y="398812"/>
                  </a:lnTo>
                  <a:lnTo>
                    <a:pt x="485681" y="441349"/>
                  </a:lnTo>
                  <a:lnTo>
                    <a:pt x="96468" y="0"/>
                  </a:lnTo>
                  <a:close/>
                </a:path>
              </a:pathLst>
            </a:custGeom>
            <a:solidFill>
              <a:srgbClr val="FF80E9"/>
            </a:solidFill>
          </p:spPr>
          <p:txBody>
            <a:bodyPr wrap="square" lIns="0" tIns="0" rIns="0" bIns="0" rtlCol="0"/>
            <a:lstStyle/>
            <a:p>
              <a:endParaRPr/>
            </a:p>
          </p:txBody>
        </p:sp>
        <p:sp>
          <p:nvSpPr>
            <p:cNvPr id="12" name="object 12"/>
            <p:cNvSpPr/>
            <p:nvPr/>
          </p:nvSpPr>
          <p:spPr>
            <a:xfrm>
              <a:off x="4641850" y="8617793"/>
              <a:ext cx="6912218" cy="490855"/>
            </a:xfrm>
            <a:custGeom>
              <a:avLst/>
              <a:gdLst/>
              <a:ahLst/>
              <a:cxnLst/>
              <a:rect l="l" t="t" r="r" b="b"/>
              <a:pathLst>
                <a:path w="6092190" h="490854">
                  <a:moveTo>
                    <a:pt x="6092052" y="0"/>
                  </a:moveTo>
                  <a:lnTo>
                    <a:pt x="0" y="0"/>
                  </a:lnTo>
                  <a:lnTo>
                    <a:pt x="0" y="490593"/>
                  </a:lnTo>
                  <a:lnTo>
                    <a:pt x="6092052" y="490593"/>
                  </a:lnTo>
                  <a:lnTo>
                    <a:pt x="6092052" y="0"/>
                  </a:lnTo>
                  <a:close/>
                </a:path>
              </a:pathLst>
            </a:custGeom>
            <a:solidFill>
              <a:srgbClr val="AFF5B0"/>
            </a:solidFill>
          </p:spPr>
          <p:txBody>
            <a:bodyPr wrap="square" lIns="0" tIns="0" rIns="0" bIns="0" rtlCol="0"/>
            <a:lstStyle/>
            <a:p>
              <a:endParaRPr/>
            </a:p>
          </p:txBody>
        </p:sp>
      </p:grpSp>
      <p:sp>
        <p:nvSpPr>
          <p:cNvPr id="13" name="object 13"/>
          <p:cNvSpPr txBox="1"/>
          <p:nvPr/>
        </p:nvSpPr>
        <p:spPr>
          <a:xfrm>
            <a:off x="4870450" y="8628712"/>
            <a:ext cx="6446861" cy="417422"/>
          </a:xfrm>
          <a:prstGeom prst="rect">
            <a:avLst/>
          </a:prstGeom>
        </p:spPr>
        <p:txBody>
          <a:bodyPr vert="horz" wrap="square" lIns="0" tIns="17145" rIns="0" bIns="0" rtlCol="0">
            <a:spAutoFit/>
          </a:bodyPr>
          <a:lstStyle/>
          <a:p>
            <a:pPr marL="12700">
              <a:lnSpc>
                <a:spcPct val="100000"/>
              </a:lnSpc>
              <a:spcBef>
                <a:spcPts val="135"/>
              </a:spcBef>
            </a:pPr>
            <a:r>
              <a:rPr sz="2600" dirty="0">
                <a:solidFill>
                  <a:srgbClr val="404040"/>
                </a:solidFill>
                <a:latin typeface="Tahoma"/>
                <a:cs typeface="Tahoma"/>
              </a:rPr>
              <a:t>Muestreamos al azar N puntos de P(</a:t>
            </a:r>
            <a:r>
              <a:rPr sz="2600" dirty="0">
                <a:solidFill>
                  <a:srgbClr val="404040"/>
                </a:solidFill>
                <a:latin typeface="Cambria Math"/>
                <a:cs typeface="Cambria Math"/>
              </a:rPr>
              <a:t>𝑥</a:t>
            </a:r>
            <a:r>
              <a:rPr sz="2600" dirty="0">
                <a:solidFill>
                  <a:srgbClr val="404040"/>
                </a:solidFill>
                <a:latin typeface="Tahoma"/>
                <a:cs typeface="Tahoma"/>
              </a:rPr>
              <a:t>|</a:t>
            </a:r>
            <a:r>
              <a:rPr sz="2600" dirty="0">
                <a:solidFill>
                  <a:srgbClr val="404040"/>
                </a:solidFill>
                <a:latin typeface="Cambria Math"/>
                <a:cs typeface="Cambria Math"/>
              </a:rPr>
              <a:t>𝑦∈𝐻</a:t>
            </a:r>
            <a:r>
              <a:rPr sz="2600" dirty="0">
                <a:solidFill>
                  <a:srgbClr val="404040"/>
                </a:solidFill>
                <a:latin typeface="Tahoma"/>
                <a:cs typeface="Tahoma"/>
              </a:rPr>
              <a:t>)</a:t>
            </a:r>
            <a:endParaRPr sz="2600" dirty="0">
              <a:latin typeface="Tahoma"/>
              <a:cs typeface="Tahoma"/>
            </a:endParaRPr>
          </a:p>
        </p:txBody>
      </p:sp>
      <p:sp>
        <p:nvSpPr>
          <p:cNvPr id="14" name="object 14"/>
          <p:cNvSpPr txBox="1"/>
          <p:nvPr/>
        </p:nvSpPr>
        <p:spPr>
          <a:xfrm>
            <a:off x="8524194" y="10101664"/>
            <a:ext cx="7090455" cy="450123"/>
          </a:xfrm>
          <a:prstGeom prst="rect">
            <a:avLst/>
          </a:prstGeom>
          <a:solidFill>
            <a:srgbClr val="FFCCF6"/>
          </a:solidFill>
        </p:spPr>
        <p:txBody>
          <a:bodyPr vert="horz" wrap="square" lIns="0" tIns="49530" rIns="0" bIns="0" rtlCol="0">
            <a:spAutoFit/>
          </a:bodyPr>
          <a:lstStyle/>
          <a:p>
            <a:pPr marL="622935">
              <a:lnSpc>
                <a:spcPct val="100000"/>
              </a:lnSpc>
              <a:spcBef>
                <a:spcPts val="390"/>
              </a:spcBef>
            </a:pPr>
            <a:r>
              <a:rPr sz="2600" dirty="0">
                <a:solidFill>
                  <a:srgbClr val="404040"/>
                </a:solidFill>
                <a:latin typeface="Tahoma"/>
                <a:cs typeface="Tahoma"/>
              </a:rPr>
              <a:t>Evaluamos a f para los nuevos puntos</a:t>
            </a:r>
            <a:endParaRPr sz="2600" dirty="0">
              <a:latin typeface="Tahoma"/>
              <a:cs typeface="Tahoma"/>
            </a:endParaRPr>
          </a:p>
        </p:txBody>
      </p:sp>
      <p:sp>
        <p:nvSpPr>
          <p:cNvPr id="15" name="object 15"/>
          <p:cNvSpPr/>
          <p:nvPr/>
        </p:nvSpPr>
        <p:spPr>
          <a:xfrm>
            <a:off x="3290138" y="5090699"/>
            <a:ext cx="10582910" cy="5270500"/>
          </a:xfrm>
          <a:custGeom>
            <a:avLst/>
            <a:gdLst/>
            <a:ahLst/>
            <a:cxnLst/>
            <a:rect l="l" t="t" r="r" b="b"/>
            <a:pathLst>
              <a:path w="10582910" h="5270500">
                <a:moveTo>
                  <a:pt x="5039068" y="152400"/>
                </a:moveTo>
                <a:lnTo>
                  <a:pt x="5006556" y="127000"/>
                </a:lnTo>
                <a:lnTo>
                  <a:pt x="4843970" y="0"/>
                </a:lnTo>
                <a:lnTo>
                  <a:pt x="4849406" y="127000"/>
                </a:lnTo>
                <a:lnTo>
                  <a:pt x="4770780" y="127000"/>
                </a:lnTo>
                <a:lnTo>
                  <a:pt x="4728603" y="139700"/>
                </a:lnTo>
                <a:lnTo>
                  <a:pt x="4460938" y="139700"/>
                </a:lnTo>
                <a:lnTo>
                  <a:pt x="4431423" y="152400"/>
                </a:lnTo>
                <a:lnTo>
                  <a:pt x="4300499" y="152400"/>
                </a:lnTo>
                <a:lnTo>
                  <a:pt x="4264164" y="165100"/>
                </a:lnTo>
                <a:lnTo>
                  <a:pt x="4219435" y="165100"/>
                </a:lnTo>
                <a:lnTo>
                  <a:pt x="4197375" y="177800"/>
                </a:lnTo>
                <a:lnTo>
                  <a:pt x="4168864" y="190500"/>
                </a:lnTo>
                <a:lnTo>
                  <a:pt x="4143083" y="203200"/>
                </a:lnTo>
                <a:lnTo>
                  <a:pt x="4112107" y="215900"/>
                </a:lnTo>
                <a:lnTo>
                  <a:pt x="4076141" y="241300"/>
                </a:lnTo>
                <a:lnTo>
                  <a:pt x="4056342" y="241300"/>
                </a:lnTo>
                <a:lnTo>
                  <a:pt x="4013238" y="266700"/>
                </a:lnTo>
                <a:lnTo>
                  <a:pt x="3965613" y="292100"/>
                </a:lnTo>
                <a:lnTo>
                  <a:pt x="3913670" y="317500"/>
                </a:lnTo>
                <a:lnTo>
                  <a:pt x="3857587" y="342900"/>
                </a:lnTo>
                <a:lnTo>
                  <a:pt x="3828046" y="355600"/>
                </a:lnTo>
                <a:lnTo>
                  <a:pt x="3797554" y="381000"/>
                </a:lnTo>
                <a:lnTo>
                  <a:pt x="3766108" y="393700"/>
                </a:lnTo>
                <a:lnTo>
                  <a:pt x="3700526" y="431800"/>
                </a:lnTo>
                <a:lnTo>
                  <a:pt x="3631488" y="457200"/>
                </a:lnTo>
                <a:lnTo>
                  <a:pt x="3559175" y="495300"/>
                </a:lnTo>
                <a:lnTo>
                  <a:pt x="3483787" y="533400"/>
                </a:lnTo>
                <a:lnTo>
                  <a:pt x="3405517" y="584200"/>
                </a:lnTo>
                <a:lnTo>
                  <a:pt x="3324542" y="622300"/>
                </a:lnTo>
                <a:lnTo>
                  <a:pt x="3241065" y="673100"/>
                </a:lnTo>
                <a:lnTo>
                  <a:pt x="3155289" y="711200"/>
                </a:lnTo>
                <a:lnTo>
                  <a:pt x="3067393" y="762000"/>
                </a:lnTo>
                <a:lnTo>
                  <a:pt x="2977565" y="812800"/>
                </a:lnTo>
                <a:lnTo>
                  <a:pt x="2792895" y="914400"/>
                </a:lnTo>
                <a:lnTo>
                  <a:pt x="2698432" y="977900"/>
                </a:lnTo>
                <a:lnTo>
                  <a:pt x="2602814" y="1028700"/>
                </a:lnTo>
                <a:lnTo>
                  <a:pt x="2506230" y="1092200"/>
                </a:lnTo>
                <a:lnTo>
                  <a:pt x="2408872" y="1143000"/>
                </a:lnTo>
                <a:lnTo>
                  <a:pt x="2212581" y="1270000"/>
                </a:lnTo>
                <a:lnTo>
                  <a:pt x="2114042" y="1320800"/>
                </a:lnTo>
                <a:lnTo>
                  <a:pt x="1917014" y="1447800"/>
                </a:lnTo>
                <a:lnTo>
                  <a:pt x="1721688" y="1587500"/>
                </a:lnTo>
                <a:lnTo>
                  <a:pt x="1625003" y="1651000"/>
                </a:lnTo>
                <a:lnTo>
                  <a:pt x="1434680" y="1778000"/>
                </a:lnTo>
                <a:lnTo>
                  <a:pt x="1341412" y="1854200"/>
                </a:lnTo>
                <a:lnTo>
                  <a:pt x="1249667" y="1917700"/>
                </a:lnTo>
                <a:lnTo>
                  <a:pt x="1159624" y="1981200"/>
                </a:lnTo>
                <a:lnTo>
                  <a:pt x="1071486" y="2057400"/>
                </a:lnTo>
                <a:lnTo>
                  <a:pt x="985431" y="2120900"/>
                </a:lnTo>
                <a:lnTo>
                  <a:pt x="901661" y="2197100"/>
                </a:lnTo>
                <a:lnTo>
                  <a:pt x="820369" y="2260600"/>
                </a:lnTo>
                <a:lnTo>
                  <a:pt x="741730" y="2336800"/>
                </a:lnTo>
                <a:lnTo>
                  <a:pt x="665937" y="2400300"/>
                </a:lnTo>
                <a:lnTo>
                  <a:pt x="593191" y="2476500"/>
                </a:lnTo>
                <a:lnTo>
                  <a:pt x="523684" y="2540000"/>
                </a:lnTo>
                <a:lnTo>
                  <a:pt x="457733" y="2616200"/>
                </a:lnTo>
                <a:lnTo>
                  <a:pt x="426034" y="2654300"/>
                </a:lnTo>
                <a:lnTo>
                  <a:pt x="395262" y="2679700"/>
                </a:lnTo>
                <a:lnTo>
                  <a:pt x="365442" y="2717800"/>
                </a:lnTo>
                <a:lnTo>
                  <a:pt x="336588" y="2755900"/>
                </a:lnTo>
                <a:lnTo>
                  <a:pt x="308749" y="2794000"/>
                </a:lnTo>
                <a:lnTo>
                  <a:pt x="281914" y="2819400"/>
                </a:lnTo>
                <a:lnTo>
                  <a:pt x="256133" y="2857500"/>
                </a:lnTo>
                <a:lnTo>
                  <a:pt x="231432" y="2895600"/>
                </a:lnTo>
                <a:lnTo>
                  <a:pt x="207822" y="2933700"/>
                </a:lnTo>
                <a:lnTo>
                  <a:pt x="185331" y="2959100"/>
                </a:lnTo>
                <a:lnTo>
                  <a:pt x="163982" y="2997200"/>
                </a:lnTo>
                <a:lnTo>
                  <a:pt x="143814" y="3035300"/>
                </a:lnTo>
                <a:lnTo>
                  <a:pt x="124841" y="3060700"/>
                </a:lnTo>
                <a:lnTo>
                  <a:pt x="107086" y="3098800"/>
                </a:lnTo>
                <a:lnTo>
                  <a:pt x="90589" y="3136900"/>
                </a:lnTo>
                <a:lnTo>
                  <a:pt x="75374" y="3175000"/>
                </a:lnTo>
                <a:lnTo>
                  <a:pt x="61455" y="3200400"/>
                </a:lnTo>
                <a:lnTo>
                  <a:pt x="48869" y="3238500"/>
                </a:lnTo>
                <a:lnTo>
                  <a:pt x="37655" y="3276600"/>
                </a:lnTo>
                <a:lnTo>
                  <a:pt x="27838" y="3302000"/>
                </a:lnTo>
                <a:lnTo>
                  <a:pt x="19443" y="3340100"/>
                </a:lnTo>
                <a:lnTo>
                  <a:pt x="12496" y="3365500"/>
                </a:lnTo>
                <a:lnTo>
                  <a:pt x="7048" y="3403600"/>
                </a:lnTo>
                <a:lnTo>
                  <a:pt x="3124" y="3441700"/>
                </a:lnTo>
                <a:lnTo>
                  <a:pt x="749" y="3467100"/>
                </a:lnTo>
                <a:lnTo>
                  <a:pt x="0" y="3505200"/>
                </a:lnTo>
                <a:lnTo>
                  <a:pt x="3149" y="3568700"/>
                </a:lnTo>
                <a:lnTo>
                  <a:pt x="8686" y="3632200"/>
                </a:lnTo>
                <a:lnTo>
                  <a:pt x="16624" y="3695700"/>
                </a:lnTo>
                <a:lnTo>
                  <a:pt x="26936" y="3746500"/>
                </a:lnTo>
                <a:lnTo>
                  <a:pt x="39674" y="3810000"/>
                </a:lnTo>
                <a:lnTo>
                  <a:pt x="54800" y="3860800"/>
                </a:lnTo>
                <a:lnTo>
                  <a:pt x="72351" y="3911600"/>
                </a:lnTo>
                <a:lnTo>
                  <a:pt x="92303" y="3975100"/>
                </a:lnTo>
                <a:lnTo>
                  <a:pt x="114668" y="4025900"/>
                </a:lnTo>
                <a:lnTo>
                  <a:pt x="139446" y="4076700"/>
                </a:lnTo>
                <a:lnTo>
                  <a:pt x="166624" y="4127500"/>
                </a:lnTo>
                <a:lnTo>
                  <a:pt x="196202" y="4165600"/>
                </a:lnTo>
                <a:lnTo>
                  <a:pt x="228168" y="4216400"/>
                </a:lnTo>
                <a:lnTo>
                  <a:pt x="262509" y="4267200"/>
                </a:lnTo>
                <a:lnTo>
                  <a:pt x="299237" y="4305300"/>
                </a:lnTo>
                <a:lnTo>
                  <a:pt x="338328" y="4343400"/>
                </a:lnTo>
                <a:lnTo>
                  <a:pt x="379768" y="4394200"/>
                </a:lnTo>
                <a:lnTo>
                  <a:pt x="423557" y="4432300"/>
                </a:lnTo>
                <a:lnTo>
                  <a:pt x="469696" y="4470400"/>
                </a:lnTo>
                <a:lnTo>
                  <a:pt x="518172" y="4508500"/>
                </a:lnTo>
                <a:lnTo>
                  <a:pt x="568972" y="4546600"/>
                </a:lnTo>
                <a:lnTo>
                  <a:pt x="622109" y="4572000"/>
                </a:lnTo>
                <a:lnTo>
                  <a:pt x="677557" y="4610100"/>
                </a:lnTo>
                <a:lnTo>
                  <a:pt x="735342" y="4648200"/>
                </a:lnTo>
                <a:lnTo>
                  <a:pt x="795451" y="4673600"/>
                </a:lnTo>
                <a:lnTo>
                  <a:pt x="857885" y="4711700"/>
                </a:lnTo>
                <a:lnTo>
                  <a:pt x="922629" y="4737100"/>
                </a:lnTo>
                <a:lnTo>
                  <a:pt x="989711" y="4762500"/>
                </a:lnTo>
                <a:lnTo>
                  <a:pt x="1059116" y="4787900"/>
                </a:lnTo>
                <a:lnTo>
                  <a:pt x="1130846" y="4813300"/>
                </a:lnTo>
                <a:lnTo>
                  <a:pt x="1204912" y="4838700"/>
                </a:lnTo>
                <a:lnTo>
                  <a:pt x="1360043" y="4889500"/>
                </a:lnTo>
                <a:lnTo>
                  <a:pt x="1524520" y="4940300"/>
                </a:lnTo>
                <a:lnTo>
                  <a:pt x="1610283" y="4953000"/>
                </a:lnTo>
                <a:lnTo>
                  <a:pt x="1698383" y="4978400"/>
                </a:lnTo>
                <a:lnTo>
                  <a:pt x="1788833" y="4991100"/>
                </a:lnTo>
                <a:lnTo>
                  <a:pt x="1881632" y="5016500"/>
                </a:lnTo>
                <a:lnTo>
                  <a:pt x="1976793" y="5029200"/>
                </a:lnTo>
                <a:lnTo>
                  <a:pt x="2074303" y="5054600"/>
                </a:lnTo>
                <a:lnTo>
                  <a:pt x="2487955" y="5105400"/>
                </a:lnTo>
                <a:lnTo>
                  <a:pt x="3429025" y="5207000"/>
                </a:lnTo>
                <a:lnTo>
                  <a:pt x="3557371" y="5207000"/>
                </a:lnTo>
                <a:lnTo>
                  <a:pt x="3821214" y="5232400"/>
                </a:lnTo>
                <a:lnTo>
                  <a:pt x="3956710" y="5232400"/>
                </a:lnTo>
                <a:lnTo>
                  <a:pt x="4094607" y="5245100"/>
                </a:lnTo>
                <a:lnTo>
                  <a:pt x="4234891" y="5245100"/>
                </a:lnTo>
                <a:lnTo>
                  <a:pt x="4377575" y="5257800"/>
                </a:lnTo>
                <a:lnTo>
                  <a:pt x="4522648" y="5257800"/>
                </a:lnTo>
                <a:lnTo>
                  <a:pt x="4670120" y="5270500"/>
                </a:lnTo>
                <a:lnTo>
                  <a:pt x="4972189" y="5270500"/>
                </a:lnTo>
                <a:lnTo>
                  <a:pt x="4974272" y="5219700"/>
                </a:lnTo>
                <a:lnTo>
                  <a:pt x="4822075" y="5207000"/>
                </a:lnTo>
                <a:lnTo>
                  <a:pt x="4672355" y="5207000"/>
                </a:lnTo>
                <a:lnTo>
                  <a:pt x="4525061" y="5194300"/>
                </a:lnTo>
                <a:lnTo>
                  <a:pt x="4380166" y="5194300"/>
                </a:lnTo>
                <a:lnTo>
                  <a:pt x="4237685" y="5181600"/>
                </a:lnTo>
                <a:lnTo>
                  <a:pt x="4097617" y="5181600"/>
                </a:lnTo>
                <a:lnTo>
                  <a:pt x="3959961" y="5168900"/>
                </a:lnTo>
                <a:lnTo>
                  <a:pt x="3824706" y="5168900"/>
                </a:lnTo>
                <a:lnTo>
                  <a:pt x="3561423" y="5143500"/>
                </a:lnTo>
                <a:lnTo>
                  <a:pt x="3433394" y="5143500"/>
                </a:lnTo>
                <a:lnTo>
                  <a:pt x="2945295" y="5092700"/>
                </a:lnTo>
                <a:lnTo>
                  <a:pt x="2829280" y="5092700"/>
                </a:lnTo>
                <a:lnTo>
                  <a:pt x="2495626" y="5054600"/>
                </a:lnTo>
                <a:lnTo>
                  <a:pt x="2389213" y="5029200"/>
                </a:lnTo>
                <a:lnTo>
                  <a:pt x="2084362" y="4991100"/>
                </a:lnTo>
                <a:lnTo>
                  <a:pt x="1987550" y="4965700"/>
                </a:lnTo>
                <a:lnTo>
                  <a:pt x="1801114" y="4940300"/>
                </a:lnTo>
                <a:lnTo>
                  <a:pt x="1711490" y="4914900"/>
                </a:lnTo>
                <a:lnTo>
                  <a:pt x="1624266" y="4902200"/>
                </a:lnTo>
                <a:lnTo>
                  <a:pt x="1457020" y="4851400"/>
                </a:lnTo>
                <a:lnTo>
                  <a:pt x="1376984" y="4826000"/>
                </a:lnTo>
                <a:lnTo>
                  <a:pt x="1299362" y="4813300"/>
                </a:lnTo>
                <a:lnTo>
                  <a:pt x="1224127" y="4787900"/>
                </a:lnTo>
                <a:lnTo>
                  <a:pt x="1151293" y="4762500"/>
                </a:lnTo>
                <a:lnTo>
                  <a:pt x="1080858" y="4737100"/>
                </a:lnTo>
                <a:lnTo>
                  <a:pt x="1012825" y="4711700"/>
                </a:lnTo>
                <a:lnTo>
                  <a:pt x="947191" y="4673600"/>
                </a:lnTo>
                <a:lnTo>
                  <a:pt x="883945" y="4648200"/>
                </a:lnTo>
                <a:lnTo>
                  <a:pt x="823099" y="4622800"/>
                </a:lnTo>
                <a:lnTo>
                  <a:pt x="764641" y="4584700"/>
                </a:lnTo>
                <a:lnTo>
                  <a:pt x="708583" y="4559300"/>
                </a:lnTo>
                <a:lnTo>
                  <a:pt x="654900" y="4521200"/>
                </a:lnTo>
                <a:lnTo>
                  <a:pt x="603605" y="4495800"/>
                </a:lnTo>
                <a:lnTo>
                  <a:pt x="554697" y="4457700"/>
                </a:lnTo>
                <a:lnTo>
                  <a:pt x="508152" y="4419600"/>
                </a:lnTo>
                <a:lnTo>
                  <a:pt x="463969" y="4381500"/>
                </a:lnTo>
                <a:lnTo>
                  <a:pt x="422148" y="4343400"/>
                </a:lnTo>
                <a:lnTo>
                  <a:pt x="382663" y="4305300"/>
                </a:lnTo>
                <a:lnTo>
                  <a:pt x="345528" y="4267200"/>
                </a:lnTo>
                <a:lnTo>
                  <a:pt x="310705" y="4216400"/>
                </a:lnTo>
                <a:lnTo>
                  <a:pt x="278206" y="4178300"/>
                </a:lnTo>
                <a:lnTo>
                  <a:pt x="248005" y="4140200"/>
                </a:lnTo>
                <a:lnTo>
                  <a:pt x="220103" y="4089400"/>
                </a:lnTo>
                <a:lnTo>
                  <a:pt x="194475" y="4038600"/>
                </a:lnTo>
                <a:lnTo>
                  <a:pt x="171119" y="4000500"/>
                </a:lnTo>
                <a:lnTo>
                  <a:pt x="150037" y="3949700"/>
                </a:lnTo>
                <a:lnTo>
                  <a:pt x="131216" y="3898900"/>
                </a:lnTo>
                <a:lnTo>
                  <a:pt x="114655" y="3848100"/>
                </a:lnTo>
                <a:lnTo>
                  <a:pt x="100342" y="3784600"/>
                </a:lnTo>
                <a:lnTo>
                  <a:pt x="88303" y="3733800"/>
                </a:lnTo>
                <a:lnTo>
                  <a:pt x="78511" y="3683000"/>
                </a:lnTo>
                <a:lnTo>
                  <a:pt x="70980" y="3619500"/>
                </a:lnTo>
                <a:lnTo>
                  <a:pt x="65722" y="3556000"/>
                </a:lnTo>
                <a:lnTo>
                  <a:pt x="62738" y="3505200"/>
                </a:lnTo>
                <a:lnTo>
                  <a:pt x="63563" y="3467100"/>
                </a:lnTo>
                <a:lnTo>
                  <a:pt x="65786" y="3441700"/>
                </a:lnTo>
                <a:lnTo>
                  <a:pt x="69430" y="3416300"/>
                </a:lnTo>
                <a:lnTo>
                  <a:pt x="74485" y="3378200"/>
                </a:lnTo>
                <a:lnTo>
                  <a:pt x="80937" y="3352800"/>
                </a:lnTo>
                <a:lnTo>
                  <a:pt x="88760" y="3314700"/>
                </a:lnTo>
                <a:lnTo>
                  <a:pt x="97942" y="3289300"/>
                </a:lnTo>
                <a:lnTo>
                  <a:pt x="108470" y="3251200"/>
                </a:lnTo>
                <a:lnTo>
                  <a:pt x="120332" y="3225800"/>
                </a:lnTo>
                <a:lnTo>
                  <a:pt x="133489" y="3187700"/>
                </a:lnTo>
                <a:lnTo>
                  <a:pt x="147929" y="3162300"/>
                </a:lnTo>
                <a:lnTo>
                  <a:pt x="163639" y="3124200"/>
                </a:lnTo>
                <a:lnTo>
                  <a:pt x="180606" y="3098800"/>
                </a:lnTo>
                <a:lnTo>
                  <a:pt x="198793" y="3060700"/>
                </a:lnTo>
                <a:lnTo>
                  <a:pt x="218173" y="3035300"/>
                </a:lnTo>
                <a:lnTo>
                  <a:pt x="238747" y="2997200"/>
                </a:lnTo>
                <a:lnTo>
                  <a:pt x="260477" y="2959100"/>
                </a:lnTo>
                <a:lnTo>
                  <a:pt x="283337" y="2933700"/>
                </a:lnTo>
                <a:lnTo>
                  <a:pt x="307314" y="2895600"/>
                </a:lnTo>
                <a:lnTo>
                  <a:pt x="332384" y="2857500"/>
                </a:lnTo>
                <a:lnTo>
                  <a:pt x="358508" y="2832100"/>
                </a:lnTo>
                <a:lnTo>
                  <a:pt x="385686" y="2794000"/>
                </a:lnTo>
                <a:lnTo>
                  <a:pt x="413880" y="2755900"/>
                </a:lnTo>
                <a:lnTo>
                  <a:pt x="443064" y="2730500"/>
                </a:lnTo>
                <a:lnTo>
                  <a:pt x="473214" y="2692400"/>
                </a:lnTo>
                <a:lnTo>
                  <a:pt x="504317" y="2654300"/>
                </a:lnTo>
                <a:lnTo>
                  <a:pt x="569404" y="2590800"/>
                </a:lnTo>
                <a:lnTo>
                  <a:pt x="637832" y="2514600"/>
                </a:lnTo>
                <a:lnTo>
                  <a:pt x="709574" y="2451100"/>
                </a:lnTo>
                <a:lnTo>
                  <a:pt x="784402" y="2374900"/>
                </a:lnTo>
                <a:lnTo>
                  <a:pt x="862152" y="2311400"/>
                </a:lnTo>
                <a:lnTo>
                  <a:pt x="942619" y="2247900"/>
                </a:lnTo>
                <a:lnTo>
                  <a:pt x="1025601" y="2171700"/>
                </a:lnTo>
                <a:lnTo>
                  <a:pt x="1110919" y="2108200"/>
                </a:lnTo>
                <a:lnTo>
                  <a:pt x="1198372" y="2032000"/>
                </a:lnTo>
                <a:lnTo>
                  <a:pt x="1287767" y="1968500"/>
                </a:lnTo>
                <a:lnTo>
                  <a:pt x="1378902" y="1905000"/>
                </a:lnTo>
                <a:lnTo>
                  <a:pt x="1471587" y="1828800"/>
                </a:lnTo>
                <a:lnTo>
                  <a:pt x="1660867" y="1701800"/>
                </a:lnTo>
                <a:lnTo>
                  <a:pt x="2441460" y="1193800"/>
                </a:lnTo>
                <a:lnTo>
                  <a:pt x="2538501" y="1143000"/>
                </a:lnTo>
                <a:lnTo>
                  <a:pt x="2634780" y="1079500"/>
                </a:lnTo>
                <a:lnTo>
                  <a:pt x="2824264" y="977900"/>
                </a:lnTo>
                <a:lnTo>
                  <a:pt x="3008401" y="876300"/>
                </a:lnTo>
                <a:lnTo>
                  <a:pt x="3097987" y="825500"/>
                </a:lnTo>
                <a:lnTo>
                  <a:pt x="3185642" y="774700"/>
                </a:lnTo>
                <a:lnTo>
                  <a:pt x="3271189" y="723900"/>
                </a:lnTo>
                <a:lnTo>
                  <a:pt x="3354438" y="685800"/>
                </a:lnTo>
                <a:lnTo>
                  <a:pt x="3435197" y="635000"/>
                </a:lnTo>
                <a:lnTo>
                  <a:pt x="3513264" y="596900"/>
                </a:lnTo>
                <a:lnTo>
                  <a:pt x="3588461" y="558800"/>
                </a:lnTo>
                <a:lnTo>
                  <a:pt x="3660584" y="520700"/>
                </a:lnTo>
                <a:lnTo>
                  <a:pt x="3729431" y="482600"/>
                </a:lnTo>
                <a:lnTo>
                  <a:pt x="3794836" y="444500"/>
                </a:lnTo>
                <a:lnTo>
                  <a:pt x="3826154" y="431800"/>
                </a:lnTo>
                <a:lnTo>
                  <a:pt x="3856571" y="419100"/>
                </a:lnTo>
                <a:lnTo>
                  <a:pt x="3886009" y="406400"/>
                </a:lnTo>
                <a:lnTo>
                  <a:pt x="3914483" y="393700"/>
                </a:lnTo>
                <a:lnTo>
                  <a:pt x="3941940" y="368300"/>
                </a:lnTo>
                <a:lnTo>
                  <a:pt x="3968356" y="355600"/>
                </a:lnTo>
                <a:lnTo>
                  <a:pt x="3993731" y="342900"/>
                </a:lnTo>
                <a:lnTo>
                  <a:pt x="4018013" y="330200"/>
                </a:lnTo>
                <a:lnTo>
                  <a:pt x="4041203" y="330200"/>
                </a:lnTo>
                <a:lnTo>
                  <a:pt x="4063250" y="317500"/>
                </a:lnTo>
                <a:lnTo>
                  <a:pt x="4084155" y="304800"/>
                </a:lnTo>
                <a:lnTo>
                  <a:pt x="4103890" y="292100"/>
                </a:lnTo>
                <a:lnTo>
                  <a:pt x="4139717" y="279400"/>
                </a:lnTo>
                <a:lnTo>
                  <a:pt x="4170553" y="266700"/>
                </a:lnTo>
                <a:lnTo>
                  <a:pt x="4196194" y="254000"/>
                </a:lnTo>
                <a:lnTo>
                  <a:pt x="4224528" y="228600"/>
                </a:lnTo>
                <a:lnTo>
                  <a:pt x="4270730" y="228600"/>
                </a:lnTo>
                <a:lnTo>
                  <a:pt x="4306748" y="215900"/>
                </a:lnTo>
                <a:lnTo>
                  <a:pt x="4436338" y="215900"/>
                </a:lnTo>
                <a:lnTo>
                  <a:pt x="4465510" y="203200"/>
                </a:lnTo>
                <a:lnTo>
                  <a:pt x="4687240" y="203200"/>
                </a:lnTo>
                <a:lnTo>
                  <a:pt x="4730102" y="190500"/>
                </a:lnTo>
                <a:lnTo>
                  <a:pt x="4852136" y="190500"/>
                </a:lnTo>
                <a:lnTo>
                  <a:pt x="4857585" y="317500"/>
                </a:lnTo>
                <a:lnTo>
                  <a:pt x="4997196" y="190500"/>
                </a:lnTo>
                <a:lnTo>
                  <a:pt x="5039068" y="152400"/>
                </a:lnTo>
                <a:close/>
              </a:path>
              <a:path w="10582910" h="5270500">
                <a:moveTo>
                  <a:pt x="6807086" y="4668672"/>
                </a:moveTo>
                <a:lnTo>
                  <a:pt x="6797141" y="4487037"/>
                </a:lnTo>
                <a:lnTo>
                  <a:pt x="6754228" y="4534928"/>
                </a:lnTo>
                <a:lnTo>
                  <a:pt x="6316015" y="4142194"/>
                </a:lnTo>
                <a:lnTo>
                  <a:pt x="6230163" y="4237977"/>
                </a:lnTo>
                <a:lnTo>
                  <a:pt x="6668376" y="4630712"/>
                </a:lnTo>
                <a:lnTo>
                  <a:pt x="6625450" y="4678604"/>
                </a:lnTo>
                <a:lnTo>
                  <a:pt x="6807086" y="4668672"/>
                </a:lnTo>
                <a:close/>
              </a:path>
              <a:path w="10582910" h="5270500">
                <a:moveTo>
                  <a:pt x="10582593" y="4331881"/>
                </a:moveTo>
                <a:lnTo>
                  <a:pt x="10484866" y="4248251"/>
                </a:lnTo>
                <a:lnTo>
                  <a:pt x="10102266" y="4695329"/>
                </a:lnTo>
                <a:lnTo>
                  <a:pt x="10053396" y="4653521"/>
                </a:lnTo>
                <a:lnTo>
                  <a:pt x="10067493" y="4834877"/>
                </a:lnTo>
                <a:lnTo>
                  <a:pt x="10248849" y="4820780"/>
                </a:lnTo>
                <a:lnTo>
                  <a:pt x="10199992" y="4778972"/>
                </a:lnTo>
                <a:lnTo>
                  <a:pt x="10582593" y="4331881"/>
                </a:lnTo>
                <a:close/>
              </a:path>
            </a:pathLst>
          </a:custGeom>
          <a:solidFill>
            <a:srgbClr val="FF80E9"/>
          </a:solidFill>
        </p:spPr>
        <p:txBody>
          <a:bodyPr wrap="square" lIns="0" tIns="0" rIns="0" bIns="0" rtlCol="0"/>
          <a:lstStyle/>
          <a:p>
            <a:endParaRPr/>
          </a:p>
        </p:txBody>
      </p:sp>
      <p:sp>
        <p:nvSpPr>
          <p:cNvPr id="16" name="object 16"/>
          <p:cNvSpPr txBox="1"/>
          <p:nvPr/>
        </p:nvSpPr>
        <p:spPr>
          <a:xfrm>
            <a:off x="14143203" y="7691358"/>
            <a:ext cx="1673362"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Explotación</a:t>
            </a:r>
          </a:p>
        </p:txBody>
      </p:sp>
      <p:sp>
        <p:nvSpPr>
          <p:cNvPr id="19" name="object 19"/>
          <p:cNvSpPr txBox="1">
            <a:spLocks noGrp="1"/>
          </p:cNvSpPr>
          <p:nvPr>
            <p:ph type="sldNum" sz="quarter" idx="7"/>
          </p:nvPr>
        </p:nvSpPr>
        <p:spPr>
          <a:prstGeom prst="rect">
            <a:avLst/>
          </a:prstGeom>
        </p:spPr>
        <p:txBody>
          <a:bodyPr vert="horz" wrap="square" lIns="0" tIns="37465" rIns="0" bIns="0" rtlCol="0">
            <a:spAutoFit/>
          </a:bodyPr>
          <a:lstStyle/>
          <a:p>
            <a:pPr marL="48260">
              <a:lnSpc>
                <a:spcPct val="100000"/>
              </a:lnSpc>
              <a:spcBef>
                <a:spcPts val="295"/>
              </a:spcBef>
            </a:pPr>
            <a:fld id="{81D60167-4931-47E6-BA6A-407CBD079E47}" type="slidenum">
              <a:rPr spc="-25" dirty="0"/>
              <a:t>78</a:t>
            </a:fld>
            <a:endParaRPr spc="-25" dirty="0"/>
          </a:p>
        </p:txBody>
      </p:sp>
      <p:sp>
        <p:nvSpPr>
          <p:cNvPr id="17" name="object 17"/>
          <p:cNvSpPr txBox="1"/>
          <p:nvPr/>
        </p:nvSpPr>
        <p:spPr>
          <a:xfrm>
            <a:off x="10207647" y="7741618"/>
            <a:ext cx="1782441" cy="342401"/>
          </a:xfrm>
          <a:prstGeom prst="rect">
            <a:avLst/>
          </a:prstGeom>
        </p:spPr>
        <p:txBody>
          <a:bodyPr vert="horz" wrap="square" lIns="0" tIns="11430" rIns="0" bIns="0" rtlCol="0">
            <a:spAutoFit/>
          </a:bodyPr>
          <a:lstStyle/>
          <a:p>
            <a:pPr marL="12700">
              <a:lnSpc>
                <a:spcPct val="100000"/>
              </a:lnSpc>
              <a:spcBef>
                <a:spcPts val="90"/>
              </a:spcBef>
            </a:pPr>
            <a:r>
              <a:rPr sz="2150" dirty="0">
                <a:latin typeface="Tahoma"/>
                <a:cs typeface="Tahoma"/>
              </a:rPr>
              <a:t>Exploración</a:t>
            </a:r>
            <a:endParaRPr sz="2150">
              <a:latin typeface="Tahoma"/>
              <a:cs typeface="Tahom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0958-1AD1-218A-0C3D-5B53AE25C13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E3E08EA-E5B6-3497-46F0-48665CEB0956}"/>
              </a:ext>
            </a:extLst>
          </p:cNvPr>
          <p:cNvSpPr txBox="1">
            <a:spLocks noGrp="1"/>
          </p:cNvSpPr>
          <p:nvPr>
            <p:ph type="title"/>
          </p:nvPr>
        </p:nvSpPr>
        <p:spPr>
          <a:xfrm>
            <a:off x="1216361" y="7375556"/>
            <a:ext cx="11655089" cy="843821"/>
          </a:xfrm>
          <a:prstGeom prst="rect">
            <a:avLst/>
          </a:prstGeom>
        </p:spPr>
        <p:txBody>
          <a:bodyPr vert="horz" wrap="square" lIns="0" tIns="12700" rIns="0" bIns="0" rtlCol="0">
            <a:spAutoFit/>
          </a:bodyPr>
          <a:lstStyle/>
          <a:p>
            <a:pPr marL="12700">
              <a:lnSpc>
                <a:spcPct val="100000"/>
              </a:lnSpc>
              <a:spcBef>
                <a:spcPts val="100"/>
              </a:spcBef>
            </a:pPr>
            <a:r>
              <a:rPr sz="5400" b="1" i="1" dirty="0">
                <a:latin typeface="Trebuchet MS"/>
                <a:cs typeface="Trebuchet MS"/>
              </a:rPr>
              <a:t>VAMOS A PRÁCTICAR UN POCO…</a:t>
            </a:r>
            <a:endParaRPr sz="5400" dirty="0">
              <a:latin typeface="Trebuchet MS"/>
              <a:cs typeface="Trebuchet MS"/>
            </a:endParaRPr>
          </a:p>
        </p:txBody>
      </p:sp>
    </p:spTree>
    <p:extLst>
      <p:ext uri="{BB962C8B-B14F-4D97-AF65-F5344CB8AC3E}">
        <p14:creationId xmlns:p14="http://schemas.microsoft.com/office/powerpoint/2010/main" val="38492779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6361" y="5226512"/>
            <a:ext cx="11042650" cy="2900665"/>
          </a:xfrm>
          <a:prstGeom prst="rect">
            <a:avLst/>
          </a:prstGeom>
        </p:spPr>
        <p:txBody>
          <a:bodyPr vert="horz" wrap="square" lIns="0" tIns="511809" rIns="0" bIns="0" rtlCol="0">
            <a:spAutoFit/>
          </a:bodyPr>
          <a:lstStyle/>
          <a:p>
            <a:pPr marL="601345" marR="48260" indent="-589280">
              <a:lnSpc>
                <a:spcPct val="70200"/>
              </a:lnSpc>
              <a:spcBef>
                <a:spcPts val="4029"/>
              </a:spcBef>
            </a:pPr>
            <a:r>
              <a:rPr sz="10950" b="1" i="1" dirty="0">
                <a:latin typeface="Arial"/>
                <a:cs typeface="Arial"/>
              </a:rPr>
              <a:t>FRAMEWORK DE BÚSQUEDA</a:t>
            </a:r>
            <a:endParaRPr sz="10950" dirty="0">
              <a:latin typeface="Arial"/>
              <a:cs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7909672" cy="1230465"/>
          </a:xfrm>
          <a:prstGeom prst="rect">
            <a:avLst/>
          </a:prstGeom>
        </p:spPr>
        <p:txBody>
          <a:bodyPr vert="horz" wrap="square" lIns="0" tIns="14605" rIns="0" bIns="0" rtlCol="0">
            <a:spAutoFit/>
          </a:bodyPr>
          <a:lstStyle/>
          <a:p>
            <a:pPr marL="12700">
              <a:lnSpc>
                <a:spcPct val="100000"/>
              </a:lnSpc>
              <a:spcBef>
                <a:spcPts val="115"/>
              </a:spcBef>
            </a:pPr>
            <a:r>
              <a:rPr sz="7900" dirty="0"/>
              <a:t>FRAMEWORK DE BÚSQUEDA</a:t>
            </a:r>
          </a:p>
        </p:txBody>
      </p:sp>
      <p:sp>
        <p:nvSpPr>
          <p:cNvPr id="5" name="object 5"/>
          <p:cNvSpPr txBox="1"/>
          <p:nvPr/>
        </p:nvSpPr>
        <p:spPr>
          <a:xfrm>
            <a:off x="19338521" y="10689633"/>
            <a:ext cx="32829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40" dirty="0">
                <a:latin typeface="Tahoma"/>
                <a:cs typeface="Tahoma"/>
              </a:rPr>
              <a:t>81</a:t>
            </a:fld>
            <a:endParaRPr sz="2300">
              <a:latin typeface="Tahoma"/>
              <a:cs typeface="Tahoma"/>
            </a:endParaRPr>
          </a:p>
        </p:txBody>
      </p:sp>
      <p:sp>
        <p:nvSpPr>
          <p:cNvPr id="3" name="object 3"/>
          <p:cNvSpPr txBox="1"/>
          <p:nvPr/>
        </p:nvSpPr>
        <p:spPr>
          <a:xfrm>
            <a:off x="1097213" y="3074116"/>
            <a:ext cx="17694910" cy="5710346"/>
          </a:xfrm>
          <a:prstGeom prst="rect">
            <a:avLst/>
          </a:prstGeom>
        </p:spPr>
        <p:txBody>
          <a:bodyPr vert="horz" wrap="square" lIns="0" tIns="33655" rIns="0" bIns="0" rtlCol="0">
            <a:spAutoFit/>
          </a:bodyPr>
          <a:lstStyle/>
          <a:p>
            <a:pPr marL="12700" marR="500380" algn="just">
              <a:lnSpc>
                <a:spcPts val="4530"/>
              </a:lnSpc>
              <a:spcBef>
                <a:spcPts val="265"/>
              </a:spcBef>
            </a:pPr>
            <a:r>
              <a:rPr sz="3800" dirty="0">
                <a:latin typeface="Tahoma"/>
                <a:cs typeface="Tahoma"/>
              </a:rPr>
              <a:t>Hay muchos estudios que aplican algoritmos que buscan encontrar selecciones de hiper- parámetros eficientes, y cortar evaluaciones de combinaciones no tan atractivas.</a:t>
            </a:r>
            <a:endParaRPr sz="3800">
              <a:latin typeface="Tahoma"/>
              <a:cs typeface="Tahoma"/>
            </a:endParaRPr>
          </a:p>
          <a:p>
            <a:pPr marL="12700" marR="5080" algn="just">
              <a:lnSpc>
                <a:spcPct val="99400"/>
              </a:lnSpc>
              <a:spcBef>
                <a:spcPts val="2665"/>
              </a:spcBef>
            </a:pPr>
            <a:r>
              <a:rPr sz="3800" dirty="0">
                <a:latin typeface="Tahoma"/>
                <a:cs typeface="Tahoma"/>
              </a:rPr>
              <a:t>Un framework que nos ofrece técnicas más avanzadas de búsqueda de hiper-parámetros es </a:t>
            </a:r>
            <a:r>
              <a:rPr sz="3800" b="1" dirty="0">
                <a:latin typeface="Calibri"/>
                <a:cs typeface="Calibri"/>
              </a:rPr>
              <a:t>Optuna</a:t>
            </a:r>
            <a:r>
              <a:rPr sz="3800" dirty="0">
                <a:latin typeface="Tahoma"/>
                <a:cs typeface="Tahoma"/>
              </a:rPr>
              <a:t>. Para buscar hiper-parámetros realiza dos acciones que ayudan a ser más eficiente en su búsqueda:</a:t>
            </a:r>
            <a:endParaRPr sz="3800">
              <a:latin typeface="Tahoma"/>
              <a:cs typeface="Tahoma"/>
            </a:endParaRPr>
          </a:p>
          <a:p>
            <a:pPr marL="577850" indent="-565150" algn="just">
              <a:lnSpc>
                <a:spcPct val="100000"/>
              </a:lnSpc>
              <a:spcBef>
                <a:spcPts val="2705"/>
              </a:spcBef>
              <a:buFont typeface="Arial MT"/>
              <a:buChar char="•"/>
              <a:tabLst>
                <a:tab pos="577850" algn="l"/>
              </a:tabLst>
            </a:pPr>
            <a:r>
              <a:rPr sz="3800" dirty="0">
                <a:latin typeface="Tahoma"/>
                <a:cs typeface="Tahoma"/>
              </a:rPr>
              <a:t>Selección de hiper-parámetros que pueden dar buenos resultados.</a:t>
            </a:r>
            <a:endParaRPr sz="3800">
              <a:latin typeface="Tahoma"/>
              <a:cs typeface="Tahoma"/>
            </a:endParaRPr>
          </a:p>
          <a:p>
            <a:pPr marL="577850" indent="-565150" algn="just">
              <a:lnSpc>
                <a:spcPct val="100000"/>
              </a:lnSpc>
              <a:spcBef>
                <a:spcPts val="2700"/>
              </a:spcBef>
              <a:buFont typeface="Arial MT"/>
              <a:buChar char="•"/>
              <a:tabLst>
                <a:tab pos="577850" algn="l"/>
              </a:tabLst>
            </a:pPr>
            <a:r>
              <a:rPr sz="3800" dirty="0">
                <a:latin typeface="Tahoma"/>
                <a:cs typeface="Tahoma"/>
              </a:rPr>
              <a:t>Podado de hiper-parámetros que es innecesario buscar por malos resultados.</a:t>
            </a:r>
            <a:endParaRPr sz="3800">
              <a:latin typeface="Tahoma"/>
              <a:cs typeface="Tahom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13" y="2546384"/>
            <a:ext cx="17868900" cy="6873875"/>
          </a:xfrm>
          <a:prstGeom prst="rect">
            <a:avLst/>
          </a:prstGeom>
        </p:spPr>
        <p:txBody>
          <a:bodyPr vert="horz" wrap="square" lIns="0" tIns="11430" rIns="0" bIns="0" rtlCol="0">
            <a:spAutoFit/>
          </a:bodyPr>
          <a:lstStyle/>
          <a:p>
            <a:pPr marL="12700" algn="just">
              <a:lnSpc>
                <a:spcPct val="100000"/>
              </a:lnSpc>
              <a:spcBef>
                <a:spcPts val="90"/>
              </a:spcBef>
            </a:pPr>
            <a:r>
              <a:rPr sz="3800" b="1" dirty="0">
                <a:solidFill>
                  <a:srgbClr val="00D4D2"/>
                </a:solidFill>
                <a:latin typeface="Calibri"/>
                <a:cs typeface="Calibri"/>
              </a:rPr>
              <a:t>Selección de hiper-parámetros</a:t>
            </a:r>
            <a:endParaRPr sz="3800" dirty="0">
              <a:latin typeface="Calibri"/>
              <a:cs typeface="Calibri"/>
            </a:endParaRPr>
          </a:p>
          <a:p>
            <a:pPr marL="12700" marR="414655" algn="just">
              <a:lnSpc>
                <a:spcPct val="105000"/>
              </a:lnSpc>
              <a:spcBef>
                <a:spcPts val="2535"/>
              </a:spcBef>
            </a:pPr>
            <a:r>
              <a:rPr sz="3800" dirty="0">
                <a:latin typeface="Tahoma"/>
                <a:cs typeface="Tahoma"/>
              </a:rPr>
              <a:t>Hay muchos tipos de búsqueda para este problema. </a:t>
            </a:r>
            <a:r>
              <a:rPr sz="3800" b="1" dirty="0">
                <a:latin typeface="Calibri"/>
                <a:cs typeface="Calibri"/>
              </a:rPr>
              <a:t>Optuna </a:t>
            </a:r>
            <a:r>
              <a:rPr sz="3800" dirty="0">
                <a:latin typeface="Tahoma"/>
                <a:cs typeface="Tahoma"/>
              </a:rPr>
              <a:t>usa una combinación de TPE+ CMA-ES:</a:t>
            </a:r>
          </a:p>
          <a:p>
            <a:pPr marL="12700" marR="1075690" algn="just">
              <a:lnSpc>
                <a:spcPct val="102200"/>
              </a:lnSpc>
              <a:spcBef>
                <a:spcPts val="2345"/>
              </a:spcBef>
            </a:pPr>
            <a:r>
              <a:rPr sz="3800" b="1" dirty="0">
                <a:latin typeface="Calibri"/>
                <a:cs typeface="Calibri"/>
              </a:rPr>
              <a:t>Covariance Matrix Adaptation - Evolution Strategy (CMA-ES): </a:t>
            </a:r>
            <a:r>
              <a:rPr sz="3800" dirty="0">
                <a:latin typeface="Tahoma"/>
                <a:cs typeface="Tahoma"/>
              </a:rPr>
              <a:t>Es un algoritmo de optimización basado en evolución que busca encontrar los óptimos en espacios de alta dimensionalidad.</a:t>
            </a:r>
          </a:p>
          <a:p>
            <a:pPr marL="12700" marR="5080" algn="just">
              <a:lnSpc>
                <a:spcPct val="100000"/>
              </a:lnSpc>
              <a:spcBef>
                <a:spcPts val="2700"/>
              </a:spcBef>
            </a:pPr>
            <a:r>
              <a:rPr sz="3800" dirty="0">
                <a:latin typeface="Tahoma"/>
                <a:cs typeface="Tahoma"/>
              </a:rPr>
              <a:t>Utiliza una estrategia de evolución para ajustar una distribución multivariada de probabilidad que representa la población de soluciones candidatas. La matriz de covarianza se adapta durante el proceso de optimización para guiar la búsqueda hacia las regiones más prometedoras del espacio de búsqueda.</a:t>
            </a:r>
          </a:p>
        </p:txBody>
      </p:sp>
      <p:sp>
        <p:nvSpPr>
          <p:cNvPr id="5" name="object 5"/>
          <p:cNvSpPr txBox="1"/>
          <p:nvPr/>
        </p:nvSpPr>
        <p:spPr>
          <a:xfrm>
            <a:off x="19338521" y="10689633"/>
            <a:ext cx="32829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40" dirty="0">
                <a:latin typeface="Tahoma"/>
                <a:cs typeface="Tahoma"/>
              </a:rPr>
              <a:t>82</a:t>
            </a:fld>
            <a:endParaRPr sz="2300">
              <a:latin typeface="Tahoma"/>
              <a:cs typeface="Tahoma"/>
            </a:endParaRPr>
          </a:p>
        </p:txBody>
      </p:sp>
      <p:sp>
        <p:nvSpPr>
          <p:cNvPr id="3" name="object 3"/>
          <p:cNvSpPr txBox="1">
            <a:spLocks noGrp="1"/>
          </p:cNvSpPr>
          <p:nvPr>
            <p:ph type="title"/>
          </p:nvPr>
        </p:nvSpPr>
        <p:spPr>
          <a:xfrm>
            <a:off x="1097213" y="1136584"/>
            <a:ext cx="17909672" cy="1230465"/>
          </a:xfrm>
          <a:prstGeom prst="rect">
            <a:avLst/>
          </a:prstGeom>
        </p:spPr>
        <p:txBody>
          <a:bodyPr vert="horz" wrap="square" lIns="0" tIns="14605" rIns="0" bIns="0" rtlCol="0">
            <a:spAutoFit/>
          </a:bodyPr>
          <a:lstStyle/>
          <a:p>
            <a:pPr marL="12700">
              <a:lnSpc>
                <a:spcPct val="100000"/>
              </a:lnSpc>
              <a:spcBef>
                <a:spcPts val="115"/>
              </a:spcBef>
            </a:pPr>
            <a:r>
              <a:rPr sz="7900" dirty="0"/>
              <a:t>FRAMEWORK DE BÚSQUEDA</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13" y="1136584"/>
            <a:ext cx="18327438" cy="825485"/>
          </a:xfrm>
          <a:prstGeom prst="rect">
            <a:avLst/>
          </a:prstGeom>
        </p:spPr>
        <p:txBody>
          <a:bodyPr vert="horz" wrap="square" lIns="0" tIns="85982" rIns="0" bIns="0" rtlCol="0">
            <a:spAutoFit/>
          </a:bodyPr>
          <a:lstStyle/>
          <a:p>
            <a:pPr marL="12700">
              <a:lnSpc>
                <a:spcPct val="100000"/>
              </a:lnSpc>
              <a:spcBef>
                <a:spcPts val="90"/>
              </a:spcBef>
            </a:pPr>
            <a:r>
              <a:rPr sz="4800" dirty="0"/>
              <a:t>MÉTODOS DE AJUSTE DE LOS HIPER-PARÁMETROS</a:t>
            </a:r>
          </a:p>
        </p:txBody>
      </p:sp>
      <p:sp>
        <p:nvSpPr>
          <p:cNvPr id="5" name="object 5"/>
          <p:cNvSpPr txBox="1"/>
          <p:nvPr/>
        </p:nvSpPr>
        <p:spPr>
          <a:xfrm>
            <a:off x="19338521" y="10689633"/>
            <a:ext cx="328295" cy="404495"/>
          </a:xfrm>
          <a:prstGeom prst="rect">
            <a:avLst/>
          </a:prstGeom>
        </p:spPr>
        <p:txBody>
          <a:bodyPr vert="horz" wrap="square" lIns="0" tIns="37465" rIns="0" bIns="0" rtlCol="0">
            <a:spAutoFit/>
          </a:bodyPr>
          <a:lstStyle/>
          <a:p>
            <a:pPr marL="12700">
              <a:lnSpc>
                <a:spcPct val="100000"/>
              </a:lnSpc>
              <a:spcBef>
                <a:spcPts val="295"/>
              </a:spcBef>
            </a:pPr>
            <a:fld id="{81D60167-4931-47E6-BA6A-407CBD079E47}" type="slidenum">
              <a:rPr sz="2300" spc="-40" dirty="0">
                <a:latin typeface="Tahoma"/>
                <a:cs typeface="Tahoma"/>
              </a:rPr>
              <a:t>83</a:t>
            </a:fld>
            <a:endParaRPr sz="2300">
              <a:latin typeface="Tahoma"/>
              <a:cs typeface="Tahoma"/>
            </a:endParaRPr>
          </a:p>
        </p:txBody>
      </p:sp>
      <p:sp>
        <p:nvSpPr>
          <p:cNvPr id="3" name="object 3"/>
          <p:cNvSpPr txBox="1"/>
          <p:nvPr/>
        </p:nvSpPr>
        <p:spPr>
          <a:xfrm>
            <a:off x="1097213" y="2546384"/>
            <a:ext cx="16927830" cy="3307316"/>
          </a:xfrm>
          <a:prstGeom prst="rect">
            <a:avLst/>
          </a:prstGeom>
        </p:spPr>
        <p:txBody>
          <a:bodyPr vert="horz" wrap="square" lIns="0" tIns="11430" rIns="0" bIns="0" rtlCol="0">
            <a:spAutoFit/>
          </a:bodyPr>
          <a:lstStyle/>
          <a:p>
            <a:pPr marL="12700" algn="just">
              <a:lnSpc>
                <a:spcPct val="100000"/>
              </a:lnSpc>
              <a:spcBef>
                <a:spcPts val="90"/>
              </a:spcBef>
            </a:pPr>
            <a:r>
              <a:rPr sz="3800" b="1" dirty="0">
                <a:solidFill>
                  <a:srgbClr val="38E53A"/>
                </a:solidFill>
                <a:latin typeface="Calibri"/>
                <a:cs typeface="Calibri"/>
              </a:rPr>
              <a:t>Podado de hiper-parámetros</a:t>
            </a:r>
            <a:endParaRPr sz="3800" dirty="0">
              <a:latin typeface="Calibri"/>
              <a:cs typeface="Calibri"/>
            </a:endParaRPr>
          </a:p>
          <a:p>
            <a:pPr marL="12700" marR="5080" algn="just">
              <a:lnSpc>
                <a:spcPct val="100200"/>
              </a:lnSpc>
              <a:spcBef>
                <a:spcPts val="2930"/>
              </a:spcBef>
            </a:pPr>
            <a:r>
              <a:rPr sz="3800" dirty="0">
                <a:latin typeface="Tahoma"/>
                <a:cs typeface="Tahoma"/>
              </a:rPr>
              <a:t>Por otro lado, el podado permite reducir el espacio de búsqueda, determinando anticipadamente que combinación de hiper-parámetros no va a dar buenos resultados. Optuna implementa esto usando una versión de reducción a la mitad sucesiva (halving).</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8B4FE-37A5-DAFF-DF2C-646BBA1990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FCDF20-C5F0-9ADF-322B-429AEC39EFE9}"/>
              </a:ext>
            </a:extLst>
          </p:cNvPr>
          <p:cNvSpPr txBox="1">
            <a:spLocks noGrp="1"/>
          </p:cNvSpPr>
          <p:nvPr>
            <p:ph type="title"/>
          </p:nvPr>
        </p:nvSpPr>
        <p:spPr>
          <a:xfrm>
            <a:off x="1216361" y="7375556"/>
            <a:ext cx="11655089" cy="843821"/>
          </a:xfrm>
          <a:prstGeom prst="rect">
            <a:avLst/>
          </a:prstGeom>
        </p:spPr>
        <p:txBody>
          <a:bodyPr vert="horz" wrap="square" lIns="0" tIns="12700" rIns="0" bIns="0" rtlCol="0">
            <a:spAutoFit/>
          </a:bodyPr>
          <a:lstStyle/>
          <a:p>
            <a:pPr marL="12700">
              <a:lnSpc>
                <a:spcPct val="100000"/>
              </a:lnSpc>
              <a:spcBef>
                <a:spcPts val="100"/>
              </a:spcBef>
            </a:pPr>
            <a:r>
              <a:rPr sz="5400" b="1" i="1" dirty="0">
                <a:latin typeface="Trebuchet MS"/>
                <a:cs typeface="Trebuchet MS"/>
              </a:rPr>
              <a:t>VAMOS A PRÁCTICAR UN POCO…</a:t>
            </a:r>
            <a:endParaRPr sz="5400" dirty="0">
              <a:latin typeface="Trebuchet MS"/>
              <a:cs typeface="Trebuchet MS"/>
            </a:endParaRPr>
          </a:p>
        </p:txBody>
      </p:sp>
    </p:spTree>
    <p:extLst>
      <p:ext uri="{BB962C8B-B14F-4D97-AF65-F5344CB8AC3E}">
        <p14:creationId xmlns:p14="http://schemas.microsoft.com/office/powerpoint/2010/main" val="1979311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TotalTime>
  <Words>4801</Words>
  <Application>Microsoft Office PowerPoint</Application>
  <PresentationFormat>Personalizado</PresentationFormat>
  <Paragraphs>851</Paragraphs>
  <Slides>84</Slides>
  <Notes>0</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84</vt:i4>
      </vt:variant>
    </vt:vector>
  </HeadingPairs>
  <TitlesOfParts>
    <vt:vector size="96" baseType="lpstr">
      <vt:lpstr>Aptos</vt:lpstr>
      <vt:lpstr>Arial</vt:lpstr>
      <vt:lpstr>Arial Black</vt:lpstr>
      <vt:lpstr>Arial MT</vt:lpstr>
      <vt:lpstr>Calibri</vt:lpstr>
      <vt:lpstr>Cambria</vt:lpstr>
      <vt:lpstr>Cambria Math</vt:lpstr>
      <vt:lpstr>Tahoma</vt:lpstr>
      <vt:lpstr>Times New Roman</vt:lpstr>
      <vt:lpstr>Trebuchet MS</vt:lpstr>
      <vt:lpstr>Verdana</vt:lpstr>
      <vt:lpstr>Office Theme</vt:lpstr>
      <vt:lpstr>CLASIFICADOR KNN Y OPTIMIZACIÓN DE HIPERPARÁMETROS</vt:lpstr>
      <vt:lpstr>REPASO CLASE ANTERIOR</vt:lpstr>
      <vt:lpstr>REPASO CLASE ANTERIOR</vt:lpstr>
      <vt:lpstr>REPASO CLASE ANTERIOR</vt:lpstr>
      <vt:lpstr>REPASO CLASE ANTERIOR</vt:lpstr>
      <vt:lpstr>CLASIFICADOR KNN</vt:lpstr>
      <vt:lpstr>KNN</vt:lpstr>
      <vt:lpstr>KNN</vt:lpstr>
      <vt:lpstr>KNN</vt:lpstr>
      <vt:lpstr>KNN</vt:lpstr>
      <vt:lpstr>KNN</vt:lpstr>
      <vt:lpstr>KNN</vt:lpstr>
      <vt:lpstr>KNN</vt:lpstr>
      <vt:lpstr>KNN</vt:lpstr>
      <vt:lpstr>KNN</vt:lpstr>
      <vt:lpstr>KNN</vt:lpstr>
      <vt:lpstr>KNN</vt:lpstr>
      <vt:lpstr>Presentación de PowerPoint</vt:lpstr>
      <vt:lpstr>Presentación de PowerPoint</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ENCONTRANDO A LOS VECINOS</vt:lpstr>
      <vt:lpstr>Presentación de PowerPoint</vt:lpstr>
      <vt:lpstr>Presentación de PowerPoint</vt:lpstr>
      <vt:lpstr>ENCONTRANDO A LOS VECINOS</vt:lpstr>
      <vt:lpstr>ENCONTRANDO A LOS VECINOS</vt:lpstr>
      <vt:lpstr>ENCONTRANDO A LOS VECINOS</vt:lpstr>
      <vt:lpstr>Presentación de PowerPoint</vt:lpstr>
      <vt:lpstr>MÉTRICAS DE EVALUACIÓN MATRIZ DE CONFUSIÓN</vt:lpstr>
      <vt:lpstr>MÉTRICAS DE EVALUACIÓN</vt:lpstr>
      <vt:lpstr>CURVA ROC</vt:lpstr>
      <vt:lpstr>CURVA ROC</vt:lpstr>
      <vt:lpstr>VAMOS A PRÁCTICAR UN POCO…</vt:lpstr>
      <vt:lpstr>Presentación de PowerPoint</vt:lpstr>
      <vt:lpstr>MÉTODOS DE AJUSTE DE LOS HIPER-PARÁMETROS</vt:lpstr>
      <vt:lpstr>MÉTODOS DE AJUSTE DE LOS HIPER-PARÁMETROS</vt:lpstr>
      <vt:lpstr>Presentación de PowerPoint</vt:lpstr>
      <vt:lpstr>MÉTODOS DE AJUSTE DE LOS HIPER-PARÁMETROS</vt:lpstr>
      <vt:lpstr>MÉTODOS DE AJUSTE DE LOS HIPER-PARÁMETROS</vt:lpstr>
      <vt:lpstr>MÉTODOS DE AJUSTE DE LOS HIPER-PARÁMETROS</vt:lpstr>
      <vt:lpstr>VAMOS A PRÁCTICAR UN POCO…</vt:lpstr>
      <vt:lpstr>Presentación de PowerPoint</vt:lpstr>
      <vt:lpstr>MÉTODOS AVANZADOS</vt:lpstr>
      <vt:lpstr>MÉTODOS AVANZADOS</vt:lpstr>
      <vt:lpstr>MÉTODOS AVANZADOS</vt:lpstr>
      <vt:lpstr>MÉTODOS AVANZADOS</vt:lpstr>
      <vt:lpstr>MÉTODOS AVANZADOS</vt:lpstr>
      <vt:lpstr>MÉTODOS AVANZADOS Algoritmos Genéticos</vt:lpstr>
      <vt:lpstr>MÉTODOS AVANZADOS Algoritmos Genéticos</vt:lpstr>
      <vt:lpstr>MÉTODOS AVANZADOS Algoritmos Genéticos</vt:lpstr>
      <vt:lpstr>MÉTODOS AVANZADOS</vt:lpstr>
      <vt:lpstr>MÉTODOS AVANZADOS Búsqueda Bayesiana</vt:lpstr>
      <vt:lpstr>MÉTODOS AVANZADOS Búsqueda Bayesiana</vt:lpstr>
      <vt:lpstr>MÉTODOS AVANZADOS Búsqueda Bayesiana</vt:lpstr>
      <vt:lpstr>MÉTODOS AVANZADOS Búsqueda Bayesiana</vt:lpstr>
      <vt:lpstr>MÉTODOS AVANZADOS Búsqueda Bayesiana</vt:lpstr>
      <vt:lpstr>MÉTODOS AVANZADOS Búsqueda Bayesiana - Estimador Tree-Parzen</vt:lpstr>
      <vt:lpstr>MÉTODOS AVANZADOS Búsqueda Bayesiana - Estimador Tree-Parzen</vt:lpstr>
      <vt:lpstr>MÉTODOS AVANZADOS Búsqueda Bayesiana - Estimador Tree-Parzen</vt:lpstr>
      <vt:lpstr>MÉTODOS AVANZADOS Búsqueda Bayesiana - Estimador Tree-Parzen</vt:lpstr>
      <vt:lpstr>MÉTODOS AVANZADOS</vt:lpstr>
      <vt:lpstr>MÉTODOS AVANZADOS Búsqueda Bayesiana - Estimador Tree-Parzen</vt:lpstr>
      <vt:lpstr>VAMOS A PRÁCTICAR UN POCO…</vt:lpstr>
      <vt:lpstr>Presentación de PowerPoint</vt:lpstr>
      <vt:lpstr>FRAMEWORK DE BÚSQUEDA</vt:lpstr>
      <vt:lpstr>FRAMEWORK DE BÚSQUEDA</vt:lpstr>
      <vt:lpstr>MÉTODOS DE AJUSTE DE LOS HIPER-PARÁMETROS</vt:lpstr>
      <vt:lpstr>VAMOS A PRÁCTICAR UN POCO…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JAIME ANTONIO HUAYTALLA PARIONA</cp:lastModifiedBy>
  <cp:revision>5</cp:revision>
  <dcterms:created xsi:type="dcterms:W3CDTF">2025-06-11T18:08:42Z</dcterms:created>
  <dcterms:modified xsi:type="dcterms:W3CDTF">2025-06-12T18:18:02Z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2024-06-15T00:00:00Z</vt:filetime>
  </property>
  <property fmtid="{D5CDD505-2E9C-101B-9397-08002B2CF9AE}" pid="3" name="LastSaved">
    <vt:filetime>2025-06-11T00:00:00Z</vt:filetime>
  </property>
  <property fmtid="{D5CDD505-2E9C-101B-9397-08002B2CF9AE}" pid="4" name="Producer">
    <vt:lpwstr>macOS Version 14.5 (Build 23F79) Quartz PDFContext</vt:lpwstr>
  </property>
</Properties>
</file>