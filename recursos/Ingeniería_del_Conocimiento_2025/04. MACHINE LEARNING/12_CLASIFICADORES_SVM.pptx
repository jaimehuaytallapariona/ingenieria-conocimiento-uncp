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331" r:id="rId2"/>
    <p:sldId id="346" r:id="rId3"/>
    <p:sldId id="347" r:id="rId4"/>
    <p:sldId id="348" r:id="rId5"/>
    <p:sldId id="349" r:id="rId6"/>
    <p:sldId id="350" r:id="rId7"/>
    <p:sldId id="351" r:id="rId8"/>
    <p:sldId id="352" r:id="rId9"/>
    <p:sldId id="353" r:id="rId10"/>
    <p:sldId id="354" r:id="rId11"/>
    <p:sldId id="355" r:id="rId12"/>
    <p:sldId id="412" r:id="rId13"/>
    <p:sldId id="360" r:id="rId14"/>
    <p:sldId id="361" r:id="rId15"/>
    <p:sldId id="358" r:id="rId16"/>
    <p:sldId id="359" r:id="rId17"/>
    <p:sldId id="363" r:id="rId18"/>
    <p:sldId id="364" r:id="rId19"/>
    <p:sldId id="365" r:id="rId20"/>
    <p:sldId id="381" r:id="rId21"/>
    <p:sldId id="366" r:id="rId22"/>
    <p:sldId id="382" r:id="rId23"/>
    <p:sldId id="383" r:id="rId24"/>
    <p:sldId id="384" r:id="rId25"/>
    <p:sldId id="385" r:id="rId26"/>
    <p:sldId id="386" r:id="rId27"/>
    <p:sldId id="387" r:id="rId28"/>
    <p:sldId id="388" r:id="rId29"/>
    <p:sldId id="389" r:id="rId30"/>
    <p:sldId id="390" r:id="rId31"/>
    <p:sldId id="411" r:id="rId32"/>
    <p:sldId id="378" r:id="rId33"/>
    <p:sldId id="379" r:id="rId34"/>
    <p:sldId id="380" r:id="rId35"/>
    <p:sldId id="391" r:id="rId36"/>
    <p:sldId id="392" r:id="rId37"/>
    <p:sldId id="393" r:id="rId38"/>
    <p:sldId id="394" r:id="rId39"/>
    <p:sldId id="395" r:id="rId40"/>
    <p:sldId id="396" r:id="rId41"/>
    <p:sldId id="397" r:id="rId42"/>
    <p:sldId id="398" r:id="rId43"/>
    <p:sldId id="399" r:id="rId44"/>
    <p:sldId id="400" r:id="rId45"/>
    <p:sldId id="401" r:id="rId46"/>
    <p:sldId id="402" r:id="rId47"/>
    <p:sldId id="403" r:id="rId48"/>
    <p:sldId id="404" r:id="rId49"/>
    <p:sldId id="405" r:id="rId50"/>
    <p:sldId id="406" r:id="rId51"/>
    <p:sldId id="407" r:id="rId52"/>
    <p:sldId id="408" r:id="rId53"/>
    <p:sldId id="409" r:id="rId54"/>
    <p:sldId id="410" r:id="rId5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EFA07"/>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254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254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chemeClr val="accent4">
              <a:hueOff val="3712597"/>
              <a:satOff val="-23099"/>
              <a:lumOff val="5802"/>
            </a:schemeClr>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E5E5E"/>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9BCEF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E5E5E"/>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5E5E5E"/>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2871FF"/>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D1F6"/>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E7FE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wholeTbl>
    <a:band2H>
      <a:tcTxStyle/>
      <a:tcStyle>
        <a:tcBdr/>
        <a:fill>
          <a:solidFill>
            <a:srgbClr val="EAEAEA"/>
          </a:solidFill>
        </a:fill>
      </a:tcStyle>
    </a:band2H>
    <a:firstCol>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lastRow>
    <a:firstRow>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53"/>
    <p:restoredTop sz="94805"/>
  </p:normalViewPr>
  <p:slideViewPr>
    <p:cSldViewPr snapToGrid="0">
      <p:cViewPr varScale="1">
        <p:scale>
          <a:sx n="45" d="100"/>
          <a:sy n="45" d="100"/>
        </p:scale>
        <p:origin x="739" y="7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1143000" y="685800"/>
            <a:ext cx="4572000" cy="3429000"/>
          </a:xfrm>
          <a:prstGeom prst="rect">
            <a:avLst/>
          </a:prstGeom>
        </p:spPr>
        <p:txBody>
          <a:bodyPr/>
          <a:lstStyle/>
          <a:p>
            <a:endParaRPr/>
          </a:p>
        </p:txBody>
      </p:sp>
      <p:sp>
        <p:nvSpPr>
          <p:cNvPr id="158" name="Shape 15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913722885"/>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760039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Presentation Title"/>
          <p:cNvSpPr txBox="1">
            <a:spLocks noGrp="1"/>
          </p:cNvSpPr>
          <p:nvPr>
            <p:ph type="title" hasCustomPrompt="1"/>
          </p:nvPr>
        </p:nvSpPr>
        <p:spPr>
          <a:prstGeom prst="rect">
            <a:avLst/>
          </a:prstGeom>
        </p:spPr>
        <p:txBody>
          <a:bodyPr/>
          <a:lstStyle/>
          <a:p>
            <a:r>
              <a:t>Presentation Title</a:t>
            </a:r>
          </a:p>
        </p:txBody>
      </p:sp>
      <p:sp>
        <p:nvSpPr>
          <p:cNvPr id="12" name="Body Level One…"/>
          <p:cNvSpPr txBox="1">
            <a:spLocks noGrp="1"/>
          </p:cNvSpPr>
          <p:nvPr>
            <p:ph type="body" sz="quarter" idx="1" hasCustomPrompt="1"/>
          </p:nvPr>
        </p:nvSpPr>
        <p:spPr>
          <a:prstGeom prst="rect">
            <a:avLst/>
          </a:prstGeom>
        </p:spPr>
        <p:txBody>
          <a:bodyPr/>
          <a:lstStyle/>
          <a:p>
            <a:r>
              <a:t>Presentation Subtitle </a:t>
            </a:r>
          </a:p>
          <a:p>
            <a:pPr lvl="1"/>
            <a:endParaRPr/>
          </a:p>
          <a:p>
            <a:pPr lvl="2"/>
            <a:endParaRPr/>
          </a:p>
          <a:p>
            <a:pPr lvl="3"/>
            <a:endParaRPr/>
          </a:p>
          <a:p>
            <a:pPr lvl="4"/>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0" name="Low angle view of a building and palm trees under a bright sky"/>
          <p:cNvSpPr>
            <a:spLocks noGrp="1"/>
          </p:cNvSpPr>
          <p:nvPr>
            <p:ph type="pic" idx="21"/>
          </p:nvPr>
        </p:nvSpPr>
        <p:spPr>
          <a:xfrm>
            <a:off x="-254000" y="-3937000"/>
            <a:ext cx="24980900" cy="18739909"/>
          </a:xfrm>
          <a:prstGeom prst="rect">
            <a:avLst/>
          </a:prstGeom>
        </p:spPr>
        <p:txBody>
          <a:bodyPr lIns="91439" tIns="45719" rIns="91439" bIns="45719">
            <a:noAutofit/>
          </a:bodyPr>
          <a:lstStyle/>
          <a:p>
            <a:endParaRPr/>
          </a:p>
        </p:txBody>
      </p:sp>
      <p:sp>
        <p:nvSpPr>
          <p:cNvPr id="21" name="Presentation Title"/>
          <p:cNvSpPr txBox="1">
            <a:spLocks noGrp="1"/>
          </p:cNvSpPr>
          <p:nvPr>
            <p:ph type="title" hasCustomPrompt="1"/>
          </p:nvPr>
        </p:nvSpPr>
        <p:spPr>
          <a:xfrm>
            <a:off x="1295400" y="4384675"/>
            <a:ext cx="21869400" cy="4699000"/>
          </a:xfrm>
          <a:prstGeom prst="rect">
            <a:avLst/>
          </a:prstGeom>
        </p:spPr>
        <p:txBody>
          <a:bodyPr/>
          <a:lstStyle/>
          <a:p>
            <a:r>
              <a:t>Presentation Title</a:t>
            </a:r>
          </a:p>
        </p:txBody>
      </p:sp>
      <p:sp>
        <p:nvSpPr>
          <p:cNvPr id="22" name="Body Level One…"/>
          <p:cNvSpPr txBox="1">
            <a:spLocks noGrp="1"/>
          </p:cNvSpPr>
          <p:nvPr>
            <p:ph type="body" sz="quarter" idx="1" hasCustomPrompt="1"/>
          </p:nvPr>
        </p:nvSpPr>
        <p:spPr>
          <a:xfrm>
            <a:off x="1295400" y="9268776"/>
            <a:ext cx="21869400" cy="1422714"/>
          </a:xfrm>
          <a:prstGeom prst="rect">
            <a:avLst/>
          </a:prstGeom>
        </p:spPr>
        <p:txBody>
          <a:bodyPr/>
          <a:lstStyle/>
          <a:p>
            <a:r>
              <a:t>Presentation Subtitle</a:t>
            </a:r>
          </a:p>
          <a:p>
            <a:pPr lvl="1"/>
            <a:endParaRPr/>
          </a:p>
          <a:p>
            <a:pPr lvl="2"/>
            <a:endParaRPr/>
          </a:p>
          <a:p>
            <a:pPr lvl="3"/>
            <a:endParaRPr/>
          </a:p>
          <a:p>
            <a:pPr lvl="4"/>
            <a:endParaRP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0"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31" name="Low angle view of a palm tree with Dubai’s skyscrapers in the background"/>
          <p:cNvSpPr>
            <a:spLocks noGrp="1"/>
          </p:cNvSpPr>
          <p:nvPr>
            <p:ph type="pic" idx="21"/>
          </p:nvPr>
        </p:nvSpPr>
        <p:spPr>
          <a:xfrm>
            <a:off x="14033251" y="-897806"/>
            <a:ext cx="10349536" cy="15511609"/>
          </a:xfrm>
          <a:prstGeom prst="rect">
            <a:avLst/>
          </a:prstGeom>
        </p:spPr>
        <p:txBody>
          <a:bodyPr lIns="91439" tIns="45719" rIns="91439" bIns="45719">
            <a:noAutofit/>
          </a:bodyPr>
          <a:lstStyle/>
          <a:p>
            <a:endParaRPr/>
          </a:p>
        </p:txBody>
      </p:sp>
      <p:sp>
        <p:nvSpPr>
          <p:cNvPr id="32" name="Slide Title"/>
          <p:cNvSpPr txBox="1">
            <a:spLocks noGrp="1"/>
          </p:cNvSpPr>
          <p:nvPr>
            <p:ph type="title" hasCustomPrompt="1"/>
          </p:nvPr>
        </p:nvSpPr>
        <p:spPr>
          <a:xfrm>
            <a:off x="1295400" y="3743016"/>
            <a:ext cx="11442700" cy="5334001"/>
          </a:xfrm>
          <a:prstGeom prst="rect">
            <a:avLst/>
          </a:prstGeom>
        </p:spPr>
        <p:txBody>
          <a:bodyPr/>
          <a:lstStyle/>
          <a:p>
            <a:r>
              <a:t>Slide Title</a:t>
            </a:r>
          </a:p>
        </p:txBody>
      </p:sp>
      <p:sp>
        <p:nvSpPr>
          <p:cNvPr id="33" name="Body Level One…"/>
          <p:cNvSpPr txBox="1">
            <a:spLocks noGrp="1"/>
          </p:cNvSpPr>
          <p:nvPr>
            <p:ph type="body" sz="quarter" idx="1" hasCustomPrompt="1"/>
          </p:nvPr>
        </p:nvSpPr>
        <p:spPr>
          <a:xfrm>
            <a:off x="1295400" y="9271000"/>
            <a:ext cx="11442700" cy="3175000"/>
          </a:xfrm>
          <a:prstGeom prst="rect">
            <a:avLst/>
          </a:prstGeom>
        </p:spPr>
        <p:txBody>
          <a:bodyPr/>
          <a:lstStyle/>
          <a:p>
            <a:r>
              <a:t>Slide Subtitle</a:t>
            </a:r>
          </a:p>
          <a:p>
            <a:pPr lvl="1"/>
            <a:endParaRPr/>
          </a:p>
          <a:p>
            <a:pPr lvl="2"/>
            <a:endParaRPr/>
          </a:p>
          <a:p>
            <a:pPr lvl="3"/>
            <a:endParaRPr/>
          </a:p>
          <a:p>
            <a:pPr lvl="4"/>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1"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42"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43"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a:t>
            </a:r>
          </a:p>
        </p:txBody>
      </p:sp>
      <p:sp>
        <p:nvSpPr>
          <p:cNvPr id="44" name="Slide Title"/>
          <p:cNvSpPr txBox="1">
            <a:spLocks noGrp="1"/>
          </p:cNvSpPr>
          <p:nvPr>
            <p:ph type="title" hasCustomPrompt="1"/>
          </p:nvPr>
        </p:nvSpPr>
        <p:spPr>
          <a:xfrm>
            <a:off x="1295400" y="1620697"/>
            <a:ext cx="21869400" cy="1778386"/>
          </a:xfrm>
          <a:prstGeom prst="rect">
            <a:avLst/>
          </a:prstGeom>
        </p:spPr>
        <p:txBody>
          <a:bodyPr anchor="t"/>
          <a:lstStyle>
            <a:lvl1pPr defTabSz="584200">
              <a:defRPr sz="10000" spc="-400"/>
            </a:lvl1pPr>
          </a:lstStyle>
          <a:p>
            <a:r>
              <a:t>Slide Title</a:t>
            </a:r>
          </a:p>
        </p:txBody>
      </p:sp>
      <p:sp>
        <p:nvSpPr>
          <p:cNvPr id="45" name="Body Level One…"/>
          <p:cNvSpPr txBox="1">
            <a:spLocks noGrp="1"/>
          </p:cNvSpPr>
          <p:nvPr>
            <p:ph type="body" idx="1" hasCustomPrompt="1"/>
          </p:nvPr>
        </p:nvSpPr>
        <p:spPr>
          <a:xfrm>
            <a:off x="1295400" y="5270500"/>
            <a:ext cx="21869400" cy="7137400"/>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xfrm>
            <a:off x="22793706" y="12981031"/>
            <a:ext cx="361189" cy="404115"/>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54"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55" name="Body Level One…"/>
          <p:cNvSpPr txBox="1">
            <a:spLocks noGrp="1"/>
          </p:cNvSpPr>
          <p:nvPr>
            <p:ph type="body" idx="1" hasCustomPrompt="1"/>
          </p:nvPr>
        </p:nvSpPr>
        <p:spPr>
          <a:xfrm>
            <a:off x="1295400" y="5270500"/>
            <a:ext cx="21869400" cy="7135317"/>
          </a:xfrm>
          <a:prstGeom prst="rect">
            <a:avLst/>
          </a:prstGeom>
        </p:spPr>
        <p:txBody>
          <a:bodyPr numCol="2" spcCol="1093469"/>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64" name="A blue and white director’s chair beside a pool with a floating blue inflatable ring"/>
          <p:cNvSpPr>
            <a:spLocks noGrp="1"/>
          </p:cNvSpPr>
          <p:nvPr>
            <p:ph type="pic" idx="21"/>
          </p:nvPr>
        </p:nvSpPr>
        <p:spPr>
          <a:xfrm>
            <a:off x="14034290" y="-250431"/>
            <a:ext cx="10358781" cy="14229560"/>
          </a:xfrm>
          <a:prstGeom prst="rect">
            <a:avLst/>
          </a:prstGeom>
        </p:spPr>
        <p:txBody>
          <a:bodyPr lIns="91439" tIns="45719" rIns="91439" bIns="45719">
            <a:noAutofit/>
          </a:bodyPr>
          <a:lstStyle/>
          <a:p>
            <a:endParaRPr/>
          </a:p>
        </p:txBody>
      </p:sp>
      <p:sp>
        <p:nvSpPr>
          <p:cNvPr id="65" name="Body Level One…"/>
          <p:cNvSpPr txBox="1">
            <a:spLocks noGrp="1"/>
          </p:cNvSpPr>
          <p:nvPr>
            <p:ph type="body" sz="half" idx="1" hasCustomPrompt="1"/>
          </p:nvPr>
        </p:nvSpPr>
        <p:spPr>
          <a:xfrm>
            <a:off x="1295400" y="5257800"/>
            <a:ext cx="11442700" cy="6886575"/>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66" name="Author and Date"/>
          <p:cNvSpPr txBox="1">
            <a:spLocks noGrp="1"/>
          </p:cNvSpPr>
          <p:nvPr>
            <p:ph type="body" sz="quarter" idx="22" hasCustomPrompt="1"/>
          </p:nvPr>
        </p:nvSpPr>
        <p:spPr>
          <a:xfrm>
            <a:off x="1295400" y="12955885"/>
            <a:ext cx="114427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67" name="Slide Title"/>
          <p:cNvSpPr txBox="1">
            <a:spLocks noGrp="1"/>
          </p:cNvSpPr>
          <p:nvPr>
            <p:ph type="title" hasCustomPrompt="1"/>
          </p:nvPr>
        </p:nvSpPr>
        <p:spPr>
          <a:xfrm>
            <a:off x="1295400" y="1625600"/>
            <a:ext cx="11442700" cy="2466975"/>
          </a:xfrm>
          <a:prstGeom prst="rect">
            <a:avLst/>
          </a:prstGeom>
        </p:spPr>
        <p:txBody>
          <a:bodyPr anchor="t"/>
          <a:lstStyle>
            <a:lvl1pPr defTabSz="584200">
              <a:defRPr sz="10000" spc="-400"/>
            </a:lvl1pPr>
          </a:lstStyle>
          <a:p>
            <a:r>
              <a:t>Slide Title</a:t>
            </a:r>
          </a:p>
        </p:txBody>
      </p:sp>
      <p:sp>
        <p:nvSpPr>
          <p:cNvPr id="68" name="Slide Subtitle"/>
          <p:cNvSpPr txBox="1">
            <a:spLocks noGrp="1"/>
          </p:cNvSpPr>
          <p:nvPr>
            <p:ph type="body" sz="quarter" idx="23" hasCustomPrompt="1"/>
          </p:nvPr>
        </p:nvSpPr>
        <p:spPr>
          <a:xfrm>
            <a:off x="1295400" y="4092575"/>
            <a:ext cx="11442701" cy="678372"/>
          </a:xfrm>
          <a:prstGeom prst="rect">
            <a:avLst/>
          </a:prstGeom>
        </p:spPr>
        <p:txBody>
          <a:bodyPr/>
          <a:lstStyle>
            <a:lvl1pPr defTabSz="566674">
              <a:defRPr sz="3395" spc="-101"/>
            </a:lvl1pPr>
          </a:lstStyle>
          <a:p>
            <a:r>
              <a:t>Slide Subtitle</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6" name="Section Title"/>
          <p:cNvSpPr txBox="1">
            <a:spLocks noGrp="1"/>
          </p:cNvSpPr>
          <p:nvPr>
            <p:ph type="title" hasCustomPrompt="1"/>
          </p:nvPr>
        </p:nvSpPr>
        <p:spPr>
          <a:xfrm>
            <a:off x="1295400" y="5404408"/>
            <a:ext cx="21869400" cy="2881785"/>
          </a:xfrm>
          <a:prstGeom prst="rect">
            <a:avLst/>
          </a:prstGeom>
        </p:spPr>
        <p:txBody>
          <a:bodyPr anchor="ctr"/>
          <a:lstStyle>
            <a:lvl1pPr defTabSz="825500">
              <a:defRPr sz="10200" spc="-408"/>
            </a:lvl1pPr>
          </a:lstStyle>
          <a:p>
            <a:r>
              <a:t>Section Title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4"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85"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86"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 </a:t>
            </a:r>
          </a:p>
        </p:txBody>
      </p:sp>
      <p:sp>
        <p:nvSpPr>
          <p:cNvPr id="87" name="Slide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Slide Title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5"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96"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97" name="Agenda Subtitle"/>
          <p:cNvSpPr txBox="1">
            <a:spLocks noGrp="1"/>
          </p:cNvSpPr>
          <p:nvPr>
            <p:ph type="body" sz="quarter" idx="22" hasCustomPrompt="1"/>
          </p:nvPr>
        </p:nvSpPr>
        <p:spPr>
          <a:xfrm>
            <a:off x="1295400" y="3543455"/>
            <a:ext cx="21869400" cy="694056"/>
          </a:xfrm>
          <a:prstGeom prst="rect">
            <a:avLst/>
          </a:prstGeom>
        </p:spPr>
        <p:txBody>
          <a:bodyPr/>
          <a:lstStyle/>
          <a:p>
            <a:r>
              <a:t>Agenda Subtitle</a:t>
            </a:r>
          </a:p>
        </p:txBody>
      </p:sp>
      <p:sp>
        <p:nvSpPr>
          <p:cNvPr id="98" name="Body Level One…"/>
          <p:cNvSpPr txBox="1">
            <a:spLocks noGrp="1"/>
          </p:cNvSpPr>
          <p:nvPr>
            <p:ph type="body" idx="1" hasCustomPrompt="1"/>
          </p:nvPr>
        </p:nvSpPr>
        <p:spPr>
          <a:xfrm>
            <a:off x="1295400" y="5118100"/>
            <a:ext cx="21869400" cy="7137400"/>
          </a:xfrm>
          <a:prstGeom prst="rect">
            <a:avLst/>
          </a:prstGeom>
        </p:spPr>
        <p:txBody>
          <a:bodyPr/>
          <a:lstStyle>
            <a:lvl1pPr defTabSz="825500">
              <a:spcBef>
                <a:spcPts val="3200"/>
              </a:spcBef>
              <a:defRPr sz="5400" b="1" u="sng" cap="none" spc="-53">
                <a:latin typeface="+mn-lt"/>
                <a:ea typeface="+mn-ea"/>
                <a:cs typeface="+mn-cs"/>
                <a:sym typeface="Graphik"/>
              </a:defRPr>
            </a:lvl1pPr>
            <a:lvl2pPr defTabSz="825500">
              <a:spcBef>
                <a:spcPts val="3200"/>
              </a:spcBef>
              <a:defRPr sz="5400" b="1" u="sng" cap="none" spc="-53">
                <a:latin typeface="+mn-lt"/>
                <a:ea typeface="+mn-ea"/>
                <a:cs typeface="+mn-cs"/>
                <a:sym typeface="Graphik"/>
              </a:defRPr>
            </a:lvl2pPr>
            <a:lvl3pPr defTabSz="825500">
              <a:spcBef>
                <a:spcPts val="3200"/>
              </a:spcBef>
              <a:defRPr sz="5400" b="1" u="sng" cap="none" spc="-53">
                <a:latin typeface="+mn-lt"/>
                <a:ea typeface="+mn-ea"/>
                <a:cs typeface="+mn-cs"/>
                <a:sym typeface="Graphik"/>
              </a:defRPr>
            </a:lvl3pPr>
            <a:lvl4pPr defTabSz="825500">
              <a:spcBef>
                <a:spcPts val="3200"/>
              </a:spcBef>
              <a:defRPr sz="5400" b="1" u="sng" cap="none" spc="-53">
                <a:latin typeface="+mn-lt"/>
                <a:ea typeface="+mn-ea"/>
                <a:cs typeface="+mn-cs"/>
                <a:sym typeface="Graphik"/>
              </a:defRPr>
            </a:lvl4pPr>
            <a:lvl5pPr defTabSz="825500">
              <a:spcBef>
                <a:spcPts val="3200"/>
              </a:spcBef>
              <a:defRPr sz="5400" b="1" u="sng" cap="none" spc="-53">
                <a:latin typeface="+mn-lt"/>
                <a:ea typeface="+mn-ea"/>
                <a:cs typeface="+mn-cs"/>
                <a:sym typeface="Graphik"/>
              </a:defRPr>
            </a:lvl5pPr>
          </a:lstStyle>
          <a:p>
            <a:r>
              <a:t>Agenda Topics</a:t>
            </a:r>
          </a:p>
          <a:p>
            <a:pPr lvl="1"/>
            <a:endParaRPr/>
          </a:p>
          <a:p>
            <a:pPr lvl="2"/>
            <a:endParaRPr/>
          </a:p>
          <a:p>
            <a:pPr lvl="3"/>
            <a:endParaRPr/>
          </a:p>
          <a:p>
            <a:pPr lvl="4"/>
            <a:endParaRPr/>
          </a:p>
        </p:txBody>
      </p:sp>
      <p:sp>
        <p:nvSpPr>
          <p:cNvPr id="99" name="Agenda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Agenda Title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7" name="Body Level One…"/>
          <p:cNvSpPr txBox="1">
            <a:spLocks noGrp="1"/>
          </p:cNvSpPr>
          <p:nvPr>
            <p:ph type="body" sz="half" idx="1" hasCustomPrompt="1"/>
          </p:nvPr>
        </p:nvSpPr>
        <p:spPr>
          <a:xfrm>
            <a:off x="1298277" y="4927600"/>
            <a:ext cx="21863646" cy="3853767"/>
          </a:xfrm>
          <a:prstGeom prst="rect">
            <a:avLst/>
          </a:prstGeom>
        </p:spPr>
        <p:txBody>
          <a:bodyPr anchor="ctr"/>
          <a:lstStyle>
            <a:lvl1pPr algn="ctr" defTabSz="1160859">
              <a:defRPr sz="10200" b="1" spc="-408">
                <a:latin typeface="+mn-lt"/>
                <a:ea typeface="+mn-ea"/>
                <a:cs typeface="+mn-cs"/>
                <a:sym typeface="Graphik"/>
              </a:defRPr>
            </a:lvl1pPr>
            <a:lvl2pPr algn="ctr" defTabSz="1160859">
              <a:defRPr sz="10200" b="1" spc="-408">
                <a:latin typeface="+mn-lt"/>
                <a:ea typeface="+mn-ea"/>
                <a:cs typeface="+mn-cs"/>
                <a:sym typeface="Graphik"/>
              </a:defRPr>
            </a:lvl2pPr>
            <a:lvl3pPr algn="ctr" defTabSz="1160859">
              <a:defRPr sz="10200" b="1" spc="-408">
                <a:latin typeface="+mn-lt"/>
                <a:ea typeface="+mn-ea"/>
                <a:cs typeface="+mn-cs"/>
                <a:sym typeface="Graphik"/>
              </a:defRPr>
            </a:lvl3pPr>
            <a:lvl4pPr algn="ctr" defTabSz="1160859">
              <a:defRPr sz="10200" b="1" spc="-408">
                <a:latin typeface="+mn-lt"/>
                <a:ea typeface="+mn-ea"/>
                <a:cs typeface="+mn-cs"/>
                <a:sym typeface="Graphik"/>
              </a:defRPr>
            </a:lvl4pPr>
            <a:lvl5pPr algn="ctr" defTabSz="1160859">
              <a:defRPr sz="10200" b="1" spc="-408">
                <a:latin typeface="+mn-lt"/>
                <a:ea typeface="+mn-ea"/>
                <a:cs typeface="+mn-cs"/>
                <a:sym typeface="Graphik"/>
              </a:defRPr>
            </a:lvl5pPr>
          </a:lstStyle>
          <a:p>
            <a:r>
              <a:t>Statement</a:t>
            </a:r>
          </a:p>
          <a:p>
            <a:pPr lvl="1"/>
            <a:endParaRPr/>
          </a:p>
          <a:p>
            <a:pPr lvl="2"/>
            <a:endParaRPr/>
          </a:p>
          <a:p>
            <a:pPr lvl="3"/>
            <a:endParaRPr/>
          </a:p>
          <a:p>
            <a:pPr lvl="4"/>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5" name="Body Level One…"/>
          <p:cNvSpPr txBox="1">
            <a:spLocks noGrp="1"/>
          </p:cNvSpPr>
          <p:nvPr>
            <p:ph type="body" sz="half" idx="1" hasCustomPrompt="1"/>
          </p:nvPr>
        </p:nvSpPr>
        <p:spPr>
          <a:xfrm>
            <a:off x="1295400" y="3587043"/>
            <a:ext cx="21869400" cy="4730168"/>
          </a:xfrm>
          <a:prstGeom prst="rect">
            <a:avLst/>
          </a:prstGeom>
        </p:spPr>
        <p:txBody>
          <a:bodyPr anchor="b"/>
          <a:lstStyle>
            <a:lvl1pPr algn="ctr" defTabSz="825500">
              <a:lnSpc>
                <a:spcPct val="70000"/>
              </a:lnSpc>
              <a:defRPr sz="22400" b="1" spc="-448">
                <a:latin typeface="+mn-lt"/>
                <a:ea typeface="+mn-ea"/>
                <a:cs typeface="+mn-cs"/>
                <a:sym typeface="Graphik"/>
              </a:defRPr>
            </a:lvl1pPr>
            <a:lvl2pPr algn="ctr" defTabSz="825500">
              <a:lnSpc>
                <a:spcPct val="70000"/>
              </a:lnSpc>
              <a:defRPr sz="22400" b="1" spc="-448">
                <a:latin typeface="+mn-lt"/>
                <a:ea typeface="+mn-ea"/>
                <a:cs typeface="+mn-cs"/>
                <a:sym typeface="Graphik"/>
              </a:defRPr>
            </a:lvl2pPr>
            <a:lvl3pPr algn="ctr" defTabSz="825500">
              <a:lnSpc>
                <a:spcPct val="70000"/>
              </a:lnSpc>
              <a:defRPr sz="22400" b="1" spc="-448">
                <a:latin typeface="+mn-lt"/>
                <a:ea typeface="+mn-ea"/>
                <a:cs typeface="+mn-cs"/>
                <a:sym typeface="Graphik"/>
              </a:defRPr>
            </a:lvl3pPr>
            <a:lvl4pPr algn="ctr" defTabSz="825500">
              <a:lnSpc>
                <a:spcPct val="70000"/>
              </a:lnSpc>
              <a:defRPr sz="22400" b="1" spc="-448">
                <a:latin typeface="+mn-lt"/>
                <a:ea typeface="+mn-ea"/>
                <a:cs typeface="+mn-cs"/>
                <a:sym typeface="Graphik"/>
              </a:defRPr>
            </a:lvl4pPr>
            <a:lvl5pPr algn="ctr" defTabSz="825500">
              <a:lnSpc>
                <a:spcPct val="70000"/>
              </a:lnSpc>
              <a:defRPr sz="22400" b="1" spc="-448">
                <a:latin typeface="+mn-lt"/>
                <a:ea typeface="+mn-ea"/>
                <a:cs typeface="+mn-cs"/>
                <a:sym typeface="Graphik"/>
              </a:defRPr>
            </a:lvl5pPr>
          </a:lstStyle>
          <a:p>
            <a:r>
              <a:t>100%</a:t>
            </a:r>
          </a:p>
          <a:p>
            <a:pPr lvl="1"/>
            <a:endParaRPr/>
          </a:p>
          <a:p>
            <a:pPr lvl="2"/>
            <a:endParaRPr/>
          </a:p>
          <a:p>
            <a:pPr lvl="3"/>
            <a:endParaRPr/>
          </a:p>
          <a:p>
            <a:pPr lvl="4"/>
            <a:endParaRPr/>
          </a:p>
        </p:txBody>
      </p:sp>
      <p:sp>
        <p:nvSpPr>
          <p:cNvPr id="116" name="Fact information"/>
          <p:cNvSpPr txBox="1">
            <a:spLocks noGrp="1"/>
          </p:cNvSpPr>
          <p:nvPr>
            <p:ph type="body" sz="quarter" idx="21" hasCustomPrompt="1"/>
          </p:nvPr>
        </p:nvSpPr>
        <p:spPr>
          <a:xfrm>
            <a:off x="1295400" y="8117284"/>
            <a:ext cx="21869400" cy="592456"/>
          </a:xfrm>
          <a:prstGeom prst="rect">
            <a:avLst/>
          </a:prstGeom>
        </p:spPr>
        <p:txBody>
          <a:bodyPr/>
          <a:lstStyle>
            <a:lvl1pPr algn="ctr" defTabSz="490727">
              <a:spcBef>
                <a:spcPts val="2600"/>
              </a:spcBef>
              <a:defRPr sz="2940" spc="-88"/>
            </a:lvl1pPr>
          </a:lstStyle>
          <a:p>
            <a:r>
              <a:t>Fact information</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4" name="Attribution"/>
          <p:cNvSpPr txBox="1">
            <a:spLocks noGrp="1"/>
          </p:cNvSpPr>
          <p:nvPr>
            <p:ph type="body" sz="quarter" idx="21" hasCustomPrompt="1"/>
          </p:nvPr>
        </p:nvSpPr>
        <p:spPr>
          <a:xfrm>
            <a:off x="2252674" y="10353079"/>
            <a:ext cx="20691414" cy="567945"/>
          </a:xfrm>
          <a:prstGeom prst="rect">
            <a:avLst/>
          </a:prstGeom>
        </p:spPr>
        <p:txBody>
          <a:bodyPr/>
          <a:lstStyle>
            <a:lvl1pPr defTabSz="584200">
              <a:defRPr sz="2800" spc="-84"/>
            </a:lvl1pPr>
          </a:lstStyle>
          <a:p>
            <a:r>
              <a:t>Attribution </a:t>
            </a:r>
          </a:p>
        </p:txBody>
      </p:sp>
      <p:sp>
        <p:nvSpPr>
          <p:cNvPr id="125" name="Body Level One…"/>
          <p:cNvSpPr txBox="1">
            <a:spLocks noGrp="1"/>
          </p:cNvSpPr>
          <p:nvPr>
            <p:ph type="body" sz="half" idx="1" hasCustomPrompt="1"/>
          </p:nvPr>
        </p:nvSpPr>
        <p:spPr>
          <a:xfrm>
            <a:off x="1439912" y="4332885"/>
            <a:ext cx="21504176" cy="5497468"/>
          </a:xfrm>
          <a:prstGeom prst="rect">
            <a:avLst/>
          </a:prstGeom>
        </p:spPr>
        <p:txBody>
          <a:bodyPr anchor="b"/>
          <a:lstStyle>
            <a:lvl1pPr marL="714375" indent="-714375" defTabSz="1160859">
              <a:lnSpc>
                <a:spcPct val="70000"/>
              </a:lnSpc>
              <a:defRPr sz="13300" b="1" i="1" spc="-532">
                <a:latin typeface="+mn-lt"/>
                <a:ea typeface="+mn-ea"/>
                <a:cs typeface="+mn-cs"/>
                <a:sym typeface="Graphik"/>
              </a:defRPr>
            </a:lvl1pPr>
            <a:lvl2pPr marL="714375" indent="-257175" defTabSz="1160859">
              <a:lnSpc>
                <a:spcPct val="70000"/>
              </a:lnSpc>
              <a:defRPr sz="13300" b="1" i="1" spc="-532">
                <a:latin typeface="+mn-lt"/>
                <a:ea typeface="+mn-ea"/>
                <a:cs typeface="+mn-cs"/>
                <a:sym typeface="Graphik"/>
              </a:defRPr>
            </a:lvl2pPr>
            <a:lvl3pPr marL="714375" indent="200025" defTabSz="1160859">
              <a:lnSpc>
                <a:spcPct val="70000"/>
              </a:lnSpc>
              <a:defRPr sz="13300" b="1" i="1" spc="-532">
                <a:latin typeface="+mn-lt"/>
                <a:ea typeface="+mn-ea"/>
                <a:cs typeface="+mn-cs"/>
                <a:sym typeface="Graphik"/>
              </a:defRPr>
            </a:lvl3pPr>
            <a:lvl4pPr marL="714375" indent="657225" defTabSz="1160859">
              <a:lnSpc>
                <a:spcPct val="70000"/>
              </a:lnSpc>
              <a:defRPr sz="13300" b="1" i="1" spc="-532">
                <a:latin typeface="+mn-lt"/>
                <a:ea typeface="+mn-ea"/>
                <a:cs typeface="+mn-cs"/>
                <a:sym typeface="Graphik"/>
              </a:defRPr>
            </a:lvl4pPr>
            <a:lvl5pPr marL="714375" indent="1114425" defTabSz="1160859">
              <a:lnSpc>
                <a:spcPct val="70000"/>
              </a:lnSpc>
              <a:defRPr sz="13300" b="1" i="1" spc="-532">
                <a:latin typeface="+mn-lt"/>
                <a:ea typeface="+mn-ea"/>
                <a:cs typeface="+mn-cs"/>
                <a:sym typeface="Graphik"/>
              </a:defRPr>
            </a:lvl5pPr>
          </a:lstStyle>
          <a:p>
            <a:r>
              <a:t>“Notable Quote”</a:t>
            </a:r>
          </a:p>
          <a:p>
            <a:pPr lvl="1"/>
            <a:endParaRPr/>
          </a:p>
          <a:p>
            <a:pPr lvl="2"/>
            <a:endParaRPr/>
          </a:p>
          <a:p>
            <a:pPr lvl="3"/>
            <a:endParaRPr/>
          </a:p>
          <a:p>
            <a:pPr lvl="4"/>
            <a:endParaRP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33" name="High angle view of a pink inflatable raft in a pool"/>
          <p:cNvSpPr>
            <a:spLocks noGrp="1"/>
          </p:cNvSpPr>
          <p:nvPr>
            <p:ph type="pic" idx="21"/>
          </p:nvPr>
        </p:nvSpPr>
        <p:spPr>
          <a:xfrm>
            <a:off x="5867400" y="0"/>
            <a:ext cx="20573997" cy="13715999"/>
          </a:xfrm>
          <a:prstGeom prst="rect">
            <a:avLst/>
          </a:prstGeom>
        </p:spPr>
        <p:txBody>
          <a:bodyPr lIns="91439" tIns="45719" rIns="91439" bIns="45719">
            <a:noAutofit/>
          </a:bodyPr>
          <a:lstStyle/>
          <a:p>
            <a:endParaRPr/>
          </a:p>
        </p:txBody>
      </p:sp>
      <p:sp>
        <p:nvSpPr>
          <p:cNvPr id="134" name="Palm trees against a pink and purple sky after sunset"/>
          <p:cNvSpPr>
            <a:spLocks noGrp="1"/>
          </p:cNvSpPr>
          <p:nvPr>
            <p:ph type="pic" sz="half" idx="22"/>
          </p:nvPr>
        </p:nvSpPr>
        <p:spPr>
          <a:xfrm>
            <a:off x="-1" y="-1159934"/>
            <a:ext cx="12065001" cy="9050868"/>
          </a:xfrm>
          <a:prstGeom prst="rect">
            <a:avLst/>
          </a:prstGeom>
        </p:spPr>
        <p:txBody>
          <a:bodyPr lIns="91439" tIns="45719" rIns="91439" bIns="45719">
            <a:noAutofit/>
          </a:bodyPr>
          <a:lstStyle/>
          <a:p>
            <a:endParaRPr/>
          </a:p>
        </p:txBody>
      </p:sp>
      <p:sp>
        <p:nvSpPr>
          <p:cNvPr id="135" name="A pink inflatable ring floating in a pool"/>
          <p:cNvSpPr>
            <a:spLocks noGrp="1"/>
          </p:cNvSpPr>
          <p:nvPr>
            <p:ph type="pic" sz="half" idx="23"/>
          </p:nvPr>
        </p:nvSpPr>
        <p:spPr>
          <a:xfrm>
            <a:off x="-1" y="6326054"/>
            <a:ext cx="12065001" cy="8043335"/>
          </a:xfrm>
          <a:prstGeom prst="rect">
            <a:avLst/>
          </a:prstGeom>
        </p:spPr>
        <p:txBody>
          <a:bodyPr lIns="91439" tIns="45719" rIns="91439" bIns="45719">
            <a:noAutofit/>
          </a:bodyPr>
          <a:lstStyle/>
          <a:p>
            <a:endParaRP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43" name="Miami Beach palm trees against a pink sky after sunset with art deco buildings in the background"/>
          <p:cNvSpPr>
            <a:spLocks noGrp="1"/>
          </p:cNvSpPr>
          <p:nvPr>
            <p:ph type="pic" idx="21"/>
          </p:nvPr>
        </p:nvSpPr>
        <p:spPr>
          <a:xfrm>
            <a:off x="-368300" y="-482600"/>
            <a:ext cx="25133300" cy="16752711"/>
          </a:xfrm>
          <a:prstGeom prst="rect">
            <a:avLst/>
          </a:prstGeom>
        </p:spPr>
        <p:txBody>
          <a:bodyPr lIns="91439" tIns="45719" rIns="91439" bIns="45719">
            <a:noAutofit/>
          </a:bodyPr>
          <a:lstStyle/>
          <a:p>
            <a:endParaRP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sp>
        <p:nvSpPr>
          <p:cNvPr id="2" name="Presentation Title"/>
          <p:cNvSpPr txBox="1">
            <a:spLocks noGrp="1"/>
          </p:cNvSpPr>
          <p:nvPr>
            <p:ph type="title"/>
          </p:nvPr>
        </p:nvSpPr>
        <p:spPr>
          <a:xfrm>
            <a:off x="1298349" y="4384675"/>
            <a:ext cx="21869401" cy="469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Presentation Title</a:t>
            </a:r>
          </a:p>
        </p:txBody>
      </p:sp>
      <p:sp>
        <p:nvSpPr>
          <p:cNvPr id="3" name="Body Level One…"/>
          <p:cNvSpPr txBox="1">
            <a:spLocks noGrp="1"/>
          </p:cNvSpPr>
          <p:nvPr>
            <p:ph type="body" idx="1"/>
          </p:nvPr>
        </p:nvSpPr>
        <p:spPr>
          <a:xfrm>
            <a:off x="1298349" y="9268776"/>
            <a:ext cx="21869401" cy="14022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Presentation Subtitle </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22797516" y="12979146"/>
            <a:ext cx="361189" cy="404115"/>
          </a:xfrm>
          <a:prstGeom prst="rect">
            <a:avLst/>
          </a:prstGeom>
          <a:ln w="12700">
            <a:miter lim="400000"/>
          </a:ln>
        </p:spPr>
        <p:txBody>
          <a:bodyPr wrap="none" lIns="50800" tIns="50800" rIns="50800" bIns="50800" anchor="b">
            <a:spAutoFit/>
          </a:bodyPr>
          <a:lstStyle>
            <a:lvl1pPr defTabSz="3428914">
              <a:lnSpc>
                <a:spcPct val="100000"/>
              </a:lnSpc>
              <a:spcBef>
                <a:spcPts val="0"/>
              </a:spcBef>
              <a:tabLst/>
              <a:defRPr sz="1800" spc="0">
                <a:latin typeface="+mn-lt"/>
                <a:ea typeface="+mn-ea"/>
                <a:cs typeface="+mn-cs"/>
                <a:sym typeface="Graphik"/>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1pPr>
      <a:lvl2pPr marL="0" marR="0" indent="457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2pPr>
      <a:lvl3pPr marL="0" marR="0" indent="914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3pPr>
      <a:lvl4pPr marL="0" marR="0" indent="1371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4pPr>
      <a:lvl5pPr marL="0" marR="0" indent="18288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5pPr>
      <a:lvl6pPr marL="0" marR="0" indent="22860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6pPr>
      <a:lvl7pPr marL="0" marR="0" indent="2743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7pPr>
      <a:lvl8pPr marL="0" marR="0" indent="3200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8pPr>
      <a:lvl9pPr marL="0" marR="0" indent="3657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9pPr>
    </p:titleStyle>
    <p:bodyStyle>
      <a:lvl1pPr marL="0" marR="0" indent="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1pPr>
      <a:lvl2pPr marL="0" marR="0" indent="457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2pPr>
      <a:lvl3pPr marL="0" marR="0" indent="914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3pPr>
      <a:lvl4pPr marL="0" marR="0" indent="1371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4pPr>
      <a:lvl5pPr marL="0" marR="0" indent="18288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5pPr>
      <a:lvl6pPr marL="0" marR="0" indent="22860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6pPr>
      <a:lvl7pPr marL="0" marR="0" indent="2743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7pPr>
      <a:lvl8pPr marL="0" marR="0" indent="3200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8pPr>
      <a:lvl9pPr marL="0" marR="0" indent="3657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9pPr>
    </p:bodyStyle>
    <p:otherStyle>
      <a:lvl1pPr marL="0" marR="0" indent="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1pPr>
      <a:lvl2pPr marL="0" marR="0" indent="457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2pPr>
      <a:lvl3pPr marL="0" marR="0" indent="914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3pPr>
      <a:lvl4pPr marL="0" marR="0" indent="1371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4pPr>
      <a:lvl5pPr marL="0" marR="0" indent="18288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5pPr>
      <a:lvl6pPr marL="0" marR="0" indent="22860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6pPr>
      <a:lvl7pPr marL="0" marR="0" indent="2743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7pPr>
      <a:lvl8pPr marL="0" marR="0" indent="3200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8pPr>
      <a:lvl9pPr marL="0" marR="0" indent="3657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jhuaytalla@uncp.edu.p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40.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0.png"/></Relationships>
</file>

<file path=ppt/slides/_rels/slide2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0.png"/><Relationship Id="rId7"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0.png"/><Relationship Id="rId4" Type="http://schemas.openxmlformats.org/officeDocument/2006/relationships/image" Target="../media/image360.png"/></Relationships>
</file>

<file path=ppt/slides/_rels/slide22.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0.png"/></Relationships>
</file>

<file path=ppt/slides/_rels/slide23.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0.png"/></Relationships>
</file>

<file path=ppt/slides/_rels/slide24.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0.png"/></Relationships>
</file>

<file path=ppt/slides/_rels/slide25.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0.png"/></Relationships>
</file>

<file path=ppt/slides/_rels/slide26.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0.png"/></Relationships>
</file>

<file path=ppt/slides/_rels/slide27.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0.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9.png"/><Relationship Id="rId2" Type="http://schemas.openxmlformats.org/officeDocument/2006/relationships/image" Target="../media/image350.png"/><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3.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image" Target="../media/image44.png"/><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3.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58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4.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Introducción"/>
          <p:cNvSpPr txBox="1">
            <a:spLocks noGrp="1"/>
          </p:cNvSpPr>
          <p:nvPr>
            <p:ph type="title"/>
          </p:nvPr>
        </p:nvSpPr>
        <p:spPr>
          <a:xfrm>
            <a:off x="4894830" y="4137746"/>
            <a:ext cx="18326247" cy="4699001"/>
          </a:xfrm>
          <a:prstGeom prst="rect">
            <a:avLst/>
          </a:prstGeom>
        </p:spPr>
        <p:txBody>
          <a:bodyPr>
            <a:normAutofit/>
          </a:bodyPr>
          <a:lstStyle>
            <a:lvl1pPr>
              <a:defRPr>
                <a:solidFill>
                  <a:srgbClr val="FFFFFF"/>
                </a:solidFill>
              </a:defRPr>
            </a:lvl1pPr>
          </a:lstStyle>
          <a:p>
            <a:r>
              <a:rPr lang="es-ES_tradnl" dirty="0">
                <a:solidFill>
                  <a:schemeClr val="tx1"/>
                </a:solidFill>
              </a:rPr>
              <a:t>Máquinas de vectores de soporte</a:t>
            </a:r>
          </a:p>
        </p:txBody>
      </p:sp>
      <p:sp>
        <p:nvSpPr>
          <p:cNvPr id="5" name="Subtítulo 2">
            <a:extLst>
              <a:ext uri="{FF2B5EF4-FFF2-40B4-BE49-F238E27FC236}">
                <a16:creationId xmlns:a16="http://schemas.microsoft.com/office/drawing/2014/main" id="{38878A09-1F89-FD7C-CED3-E9A6B95AD542}"/>
              </a:ext>
            </a:extLst>
          </p:cNvPr>
          <p:cNvSpPr txBox="1">
            <a:spLocks/>
          </p:cNvSpPr>
          <p:nvPr/>
        </p:nvSpPr>
        <p:spPr>
          <a:xfrm>
            <a:off x="11246188" y="10058905"/>
            <a:ext cx="10058400" cy="1477328"/>
          </a:xfrm>
          <a:prstGeom prst="rect">
            <a:avLst/>
          </a:prstGeom>
        </p:spPr>
        <p:txBody>
          <a:bodyPr wrap="square" lIns="0" tIns="0" rIns="0" bIns="0">
            <a:spAutoFit/>
          </a:bodyPr>
          <a:lstStyle>
            <a:lvl1pPr marL="0">
              <a:defRPr sz="36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a:endParaRPr lang="es-PE" sz="3200" i="1" kern="0" noProof="0" dirty="0">
              <a:latin typeface="Aptos" panose="020B0004020202020204" pitchFamily="34" charset="0"/>
            </a:endParaRPr>
          </a:p>
          <a:p>
            <a:pPr algn="r"/>
            <a:r>
              <a:rPr lang="es-PE" sz="3200" i="1" kern="0" noProof="0" dirty="0" err="1">
                <a:latin typeface="Aptos" panose="020B0004020202020204" pitchFamily="34" charset="0"/>
              </a:rPr>
              <a:t>Msc</a:t>
            </a:r>
            <a:r>
              <a:rPr lang="es-PE" sz="3200" i="1" kern="0" noProof="0" dirty="0">
                <a:latin typeface="Aptos" panose="020B0004020202020204" pitchFamily="34" charset="0"/>
              </a:rPr>
              <a:t>. Jaime </a:t>
            </a:r>
            <a:r>
              <a:rPr lang="es-PE" sz="3200" i="1" kern="0" noProof="0" dirty="0" err="1">
                <a:latin typeface="Aptos" panose="020B0004020202020204" pitchFamily="34" charset="0"/>
              </a:rPr>
              <a:t>Huaytalla</a:t>
            </a:r>
            <a:r>
              <a:rPr lang="es-PE" sz="3200" i="1" kern="0" noProof="0" dirty="0">
                <a:latin typeface="Aptos" panose="020B0004020202020204" pitchFamily="34" charset="0"/>
              </a:rPr>
              <a:t> Pariona</a:t>
            </a:r>
          </a:p>
          <a:p>
            <a:pPr algn="r"/>
            <a:r>
              <a:rPr lang="es-PE" sz="3200" i="1" kern="0" noProof="0" dirty="0">
                <a:latin typeface="Aptos" panose="020B0004020202020204" pitchFamily="34" charset="0"/>
                <a:hlinkClick r:id="rId2"/>
              </a:rPr>
              <a:t>jhuaytalla@uncp.edu.pe</a:t>
            </a:r>
            <a:r>
              <a:rPr lang="es-PE" sz="3200" i="1" kern="0" noProof="0" dirty="0">
                <a:latin typeface="Aptos" panose="020B0004020202020204" pitchFamily="34" charset="0"/>
              </a:rPr>
              <a:t> </a:t>
            </a:r>
          </a:p>
        </p:txBody>
      </p:sp>
      <p:sp>
        <p:nvSpPr>
          <p:cNvPr id="6" name="CuadroTexto 5">
            <a:extLst>
              <a:ext uri="{FF2B5EF4-FFF2-40B4-BE49-F238E27FC236}">
                <a16:creationId xmlns:a16="http://schemas.microsoft.com/office/drawing/2014/main" id="{306A4C3A-3A0B-B852-F7E5-89E467F06E47}"/>
              </a:ext>
            </a:extLst>
          </p:cNvPr>
          <p:cNvSpPr txBox="1"/>
          <p:nvPr/>
        </p:nvSpPr>
        <p:spPr>
          <a:xfrm>
            <a:off x="4894830" y="8992283"/>
            <a:ext cx="4967385" cy="707886"/>
          </a:xfrm>
          <a:prstGeom prst="rect">
            <a:avLst/>
          </a:prstGeom>
          <a:noFill/>
        </p:spPr>
        <p:txBody>
          <a:bodyPr wrap="none" rtlCol="0">
            <a:spAutoFit/>
          </a:bodyPr>
          <a:lstStyle/>
          <a:p>
            <a:r>
              <a:rPr lang="es-PE" sz="4000" cap="all" noProof="0" dirty="0">
                <a:latin typeface="Aptos" panose="020B0004020202020204" pitchFamily="34" charset="0"/>
              </a:rPr>
              <a:t>Machine </a:t>
            </a:r>
            <a:r>
              <a:rPr lang="es-PE" sz="4000" cap="all" noProof="0" dirty="0" err="1">
                <a:latin typeface="Aptos" panose="020B0004020202020204" pitchFamily="34" charset="0"/>
              </a:rPr>
              <a:t>Learning</a:t>
            </a:r>
            <a:r>
              <a:rPr lang="es-PE" sz="4000" cap="all" noProof="0" dirty="0">
                <a:latin typeface="Aptos" panose="020B0004020202020204" pitchFamily="34" charset="0"/>
              </a:rPr>
              <a:t> </a:t>
            </a:r>
          </a:p>
        </p:txBody>
      </p:sp>
      <p:pic>
        <p:nvPicPr>
          <p:cNvPr id="7" name="Picture 2" descr="Manual de Indentidad Visual Corporativa Marca UNCP - UNCP">
            <a:extLst>
              <a:ext uri="{FF2B5EF4-FFF2-40B4-BE49-F238E27FC236}">
                <a16:creationId xmlns:a16="http://schemas.microsoft.com/office/drawing/2014/main" id="{6C3BA706-E22B-A343-5826-7C2748091E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671" y="5755408"/>
            <a:ext cx="2892161" cy="2524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9382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Maximal Margin Classifier"/>
          <p:cNvSpPr txBox="1">
            <a:spLocks noGrp="1"/>
          </p:cNvSpPr>
          <p:nvPr>
            <p:ph type="body" sz="half" idx="1"/>
          </p:nvPr>
        </p:nvSpPr>
        <p:spPr>
          <a:xfrm>
            <a:off x="1439912" y="4328870"/>
            <a:ext cx="21504176" cy="5497468"/>
          </a:xfrm>
          <a:prstGeom prst="rect">
            <a:avLst/>
          </a:prstGeom>
        </p:spPr>
        <p:txBody>
          <a:bodyPr>
            <a:normAutofit/>
          </a:bodyPr>
          <a:lstStyle>
            <a:lvl1pPr>
              <a:defRPr>
                <a:solidFill>
                  <a:srgbClr val="FFFFFF"/>
                </a:solidFill>
              </a:defRPr>
            </a:lvl1pPr>
          </a:lstStyle>
          <a:p>
            <a:pPr marL="0" indent="0">
              <a:lnSpc>
                <a:spcPct val="100000"/>
              </a:lnSpc>
            </a:pPr>
            <a:r>
              <a:rPr dirty="0">
                <a:solidFill>
                  <a:schemeClr val="tx1"/>
                </a:solidFill>
              </a:rPr>
              <a:t>Maximal Margin Classifier </a:t>
            </a:r>
            <a:endParaRPr lang="es-ES" dirty="0">
              <a:solidFill>
                <a:schemeClr val="tx1"/>
              </a:solidFill>
            </a:endParaRPr>
          </a:p>
          <a:p>
            <a:pPr marL="0" indent="0">
              <a:lnSpc>
                <a:spcPct val="100000"/>
              </a:lnSpc>
            </a:pPr>
            <a:br>
              <a:rPr lang="es-ES" sz="7100" dirty="0">
                <a:solidFill>
                  <a:schemeClr val="tx1"/>
                </a:solidFill>
              </a:rPr>
            </a:br>
            <a:r>
              <a:rPr lang="es-ES" sz="7100" dirty="0">
                <a:solidFill>
                  <a:schemeClr val="tx1"/>
                </a:solidFill>
              </a:rPr>
              <a:t>( CLASIFICADORES DE MÁXIMO MARGEN  )</a:t>
            </a:r>
            <a:endParaRPr sz="7100" dirty="0">
              <a:solidFill>
                <a:schemeClr val="tx1"/>
              </a:solidFill>
            </a:endParaRPr>
          </a:p>
        </p:txBody>
      </p:sp>
    </p:spTree>
    <p:extLst>
      <p:ext uri="{BB962C8B-B14F-4D97-AF65-F5344CB8AC3E}">
        <p14:creationId xmlns:p14="http://schemas.microsoft.com/office/powerpoint/2010/main" val="330547901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Maximal Margin Classifier"/>
          <p:cNvSpPr txBox="1">
            <a:spLocks noGrp="1"/>
          </p:cNvSpPr>
          <p:nvPr>
            <p:ph type="title"/>
          </p:nvPr>
        </p:nvSpPr>
        <p:spPr>
          <a:xfrm>
            <a:off x="1295400" y="1622629"/>
            <a:ext cx="21869400" cy="1778386"/>
          </a:xfrm>
          <a:prstGeom prst="rect">
            <a:avLst/>
          </a:prstGeom>
        </p:spPr>
        <p:txBody>
          <a:bodyPr/>
          <a:lstStyle/>
          <a:p>
            <a:r>
              <a:rPr lang="es-ES_tradnl" dirty="0" err="1"/>
              <a:t>Maximal</a:t>
            </a:r>
            <a:r>
              <a:rPr lang="es-ES_tradnl" dirty="0"/>
              <a:t> </a:t>
            </a:r>
            <a:r>
              <a:rPr lang="es-ES_tradnl" dirty="0" err="1"/>
              <a:t>Margin</a:t>
            </a:r>
            <a:r>
              <a:rPr lang="es-ES_tradnl" dirty="0"/>
              <a:t> </a:t>
            </a:r>
            <a:r>
              <a:rPr lang="es-ES_tradnl" dirty="0" err="1"/>
              <a:t>Classifier</a:t>
            </a:r>
            <a:r>
              <a:rPr lang="es-ES_tradnl" dirty="0"/>
              <a:t> </a:t>
            </a:r>
          </a:p>
        </p:txBody>
      </p:sp>
      <p:sp>
        <p:nvSpPr>
          <p:cNvPr id="266" name="Empecemos con álgebra, en un espacio p-dimensional, un hiperplano es un subespacio de dimensión p-1.…"/>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Empecemos con álgebra, en un espacio p-dimensional, un </a:t>
            </a:r>
            <a:r>
              <a:rPr lang="es-ES_tradnl" b="1" dirty="0"/>
              <a:t>hiperplano</a:t>
            </a:r>
            <a:r>
              <a:rPr lang="es-ES_tradnl" dirty="0"/>
              <a:t> es un subespacio de dimensión p-1. </a:t>
            </a:r>
          </a:p>
          <a:p>
            <a:pPr>
              <a:defRPr sz="4600">
                <a:latin typeface="Graphik Compact Regular"/>
                <a:ea typeface="Graphik Compact Regular"/>
                <a:cs typeface="Graphik Compact Regular"/>
                <a:sym typeface="Graphik Compact Regular"/>
              </a:defRPr>
            </a:pPr>
            <a:r>
              <a:rPr lang="es-ES_tradnl" dirty="0"/>
              <a:t>Por ejemplo, </a:t>
            </a:r>
          </a:p>
          <a:p>
            <a:pPr marL="744854" indent="-744854">
              <a:buClr>
                <a:srgbClr val="000000"/>
              </a:buClr>
              <a:buSzPct val="100000"/>
              <a:buChar char="•"/>
              <a:defRPr sz="4600">
                <a:latin typeface="Graphik Compact Regular"/>
                <a:ea typeface="Graphik Compact Regular"/>
                <a:cs typeface="Graphik Compact Regular"/>
                <a:sym typeface="Graphik Compact Regular"/>
              </a:defRPr>
            </a:pPr>
            <a:r>
              <a:rPr lang="es-ES_tradnl" dirty="0"/>
              <a:t>En 2 dimensiones, el hiperplano es la recta</a:t>
            </a:r>
          </a:p>
          <a:p>
            <a:pPr marL="744854" indent="-744854">
              <a:buClr>
                <a:srgbClr val="000000"/>
              </a:buClr>
              <a:buSzPct val="100000"/>
              <a:buChar char="•"/>
              <a:defRPr sz="4600">
                <a:latin typeface="Graphik Compact Regular"/>
                <a:ea typeface="Graphik Compact Regular"/>
                <a:cs typeface="Graphik Compact Regular"/>
                <a:sym typeface="Graphik Compact Regular"/>
              </a:defRPr>
            </a:pPr>
            <a:r>
              <a:rPr lang="es-ES_tradnl" dirty="0"/>
              <a:t>En 3 dimensiones, el hiperplano es el plano</a:t>
            </a:r>
          </a:p>
          <a:p>
            <a:pPr>
              <a:defRPr sz="4600">
                <a:latin typeface="Graphik Compact Regular"/>
                <a:ea typeface="Graphik Compact Regular"/>
                <a:cs typeface="Graphik Compact Regular"/>
                <a:sym typeface="Graphik Compact Regular"/>
              </a:defRPr>
            </a:pPr>
            <a:r>
              <a:rPr lang="es-ES_tradnl" dirty="0"/>
              <a:t> La definición matemática ya la conocemos:</a:t>
            </a:r>
          </a:p>
          <a:p>
            <a:pPr lvl="1">
              <a:defRPr sz="4600">
                <a:latin typeface="Graphik Compact Regular"/>
                <a:ea typeface="Graphik Compact Regular"/>
                <a:cs typeface="Graphik Compact Regular"/>
                <a:sym typeface="Graphik Compact Regular"/>
              </a:defRPr>
            </a:pPr>
            <a:r>
              <a:rPr lang="es-ES_tradnl" dirty="0"/>
              <a:t>2 dimensiones:         </a:t>
            </a:r>
          </a:p>
          <a:p>
            <a:pPr lvl="1">
              <a:defRPr sz="4600">
                <a:latin typeface="Graphik Compact Regular"/>
                <a:ea typeface="Graphik Compact Regular"/>
                <a:cs typeface="Graphik Compact Regular"/>
                <a:sym typeface="Graphik Compact Regular"/>
              </a:defRPr>
            </a:pPr>
            <a:r>
              <a:rPr lang="es-ES_tradnl" dirty="0"/>
              <a:t>p-dimensiones: </a:t>
            </a:r>
          </a:p>
        </p:txBody>
      </p:sp>
      <p:sp>
        <p:nvSpPr>
          <p:cNvPr id="3" name="Slide Number Placeholder 5">
            <a:extLst>
              <a:ext uri="{FF2B5EF4-FFF2-40B4-BE49-F238E27FC236}">
                <a16:creationId xmlns:a16="http://schemas.microsoft.com/office/drawing/2014/main" id="{4337504E-1925-8AC8-0D9E-902D1707FA41}"/>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53FB35F-1779-3977-02FB-93836AC445CC}"/>
                  </a:ext>
                </a:extLst>
              </p:cNvPr>
              <p:cNvSpPr txBox="1"/>
              <p:nvPr/>
            </p:nvSpPr>
            <p:spPr>
              <a:xfrm>
                <a:off x="9376171" y="10102161"/>
                <a:ext cx="5504328" cy="7448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8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1</m:t>
                        </m:r>
                      </m:sub>
                    </m:sSub>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1</m:t>
                        </m:r>
                      </m:sub>
                    </m:sSub>
                  </m:oMath>
                </a14:m>
                <a:r>
                  <a:rPr kumimoji="0" lang="es-ES_tradnl" sz="4800" b="0" i="0" u="none" strike="noStrike" cap="none" spc="-26" normalizeH="0" baseline="0" dirty="0">
                    <a:ln>
                      <a:noFill/>
                    </a:ln>
                    <a:solidFill>
                      <a:srgbClr val="000000"/>
                    </a:solidFill>
                    <a:effectLst/>
                    <a:uFillTx/>
                    <a:sym typeface="Graphik Compact Regular"/>
                  </a:rPr>
                  <a:t>+</a:t>
                </a:r>
                <a:r>
                  <a:rPr lang="es-ES_tradnl" sz="4800" dirty="0"/>
                  <a:t> </a:t>
                </a:r>
                <a14:m>
                  <m:oMath xmlns:m="http://schemas.openxmlformats.org/officeDocument/2006/math">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2</m:t>
                        </m:r>
                      </m:sub>
                    </m:sSub>
                  </m:oMath>
                </a14:m>
                <a:r>
                  <a:rPr lang="es-ES_tradnl" sz="4800" dirty="0"/>
                  <a:t> </a:t>
                </a:r>
                <a14:m>
                  <m:oMath xmlns:m="http://schemas.openxmlformats.org/officeDocument/2006/math">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2</m:t>
                        </m:r>
                      </m:sub>
                    </m:sSub>
                    <m:r>
                      <a:rPr lang="en-US" sz="4800" b="0" i="1" smtClean="0">
                        <a:latin typeface="Cambria Math" panose="02040503050406030204" pitchFamily="18" charset="0"/>
                      </a:rPr>
                      <m:t>=0</m:t>
                    </m:r>
                  </m:oMath>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153FB35F-1779-3977-02FB-93836AC445CC}"/>
                  </a:ext>
                </a:extLst>
              </p:cNvPr>
              <p:cNvSpPr txBox="1">
                <a:spLocks noRot="1" noChangeAspect="1" noMove="1" noResize="1" noEditPoints="1" noAdjustHandles="1" noChangeArrowheads="1" noChangeShapeType="1" noTextEdit="1"/>
              </p:cNvSpPr>
              <p:nvPr/>
            </p:nvSpPr>
            <p:spPr>
              <a:xfrm>
                <a:off x="9376171" y="10102161"/>
                <a:ext cx="5504328" cy="744819"/>
              </a:xfrm>
              <a:prstGeom prst="rect">
                <a:avLst/>
              </a:prstGeom>
              <a:blipFill>
                <a:blip r:embed="rId2"/>
                <a:stretch>
                  <a:fillRect l="-3917" t="-30508" r="-2304" b="-40678"/>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4A9248-733D-7CD1-CCEE-C0F3FDEB1053}"/>
                  </a:ext>
                </a:extLst>
              </p:cNvPr>
              <p:cNvSpPr txBox="1"/>
              <p:nvPr/>
            </p:nvSpPr>
            <p:spPr>
              <a:xfrm>
                <a:off x="8868083" y="11156359"/>
                <a:ext cx="6520504" cy="7903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8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1</m:t>
                        </m:r>
                      </m:sub>
                    </m:sSub>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1</m:t>
                        </m:r>
                      </m:sub>
                    </m:sSub>
                  </m:oMath>
                </a14:m>
                <a:r>
                  <a:rPr kumimoji="0" lang="es-ES_tradnl" sz="4800" b="0" i="0" u="none" strike="noStrike" cap="none" spc="-26" normalizeH="0" baseline="0" dirty="0">
                    <a:ln>
                      <a:noFill/>
                    </a:ln>
                    <a:solidFill>
                      <a:srgbClr val="000000"/>
                    </a:solidFill>
                    <a:effectLst/>
                    <a:uFillTx/>
                    <a:sym typeface="Graphik Compact Regular"/>
                  </a:rPr>
                  <a:t>+</a:t>
                </a:r>
                <a:r>
                  <a:rPr lang="es-ES_tradnl" sz="4800" dirty="0"/>
                  <a:t> … +</a:t>
                </a:r>
                <a14:m>
                  <m:oMath xmlns:m="http://schemas.openxmlformats.org/officeDocument/2006/math">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𝑝</m:t>
                        </m:r>
                      </m:sub>
                    </m:sSub>
                  </m:oMath>
                </a14:m>
                <a:r>
                  <a:rPr lang="es-ES_tradnl" sz="4800" dirty="0"/>
                  <a:t> </a:t>
                </a:r>
                <a14:m>
                  <m:oMath xmlns:m="http://schemas.openxmlformats.org/officeDocument/2006/math">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𝑝</m:t>
                        </m:r>
                      </m:sub>
                    </m:sSub>
                    <m:r>
                      <a:rPr lang="en-US" sz="4800" b="0" i="1" smtClean="0">
                        <a:latin typeface="Cambria Math" panose="02040503050406030204" pitchFamily="18" charset="0"/>
                      </a:rPr>
                      <m:t>=0</m:t>
                    </m:r>
                  </m:oMath>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804A9248-733D-7CD1-CCEE-C0F3FDEB1053}"/>
                  </a:ext>
                </a:extLst>
              </p:cNvPr>
              <p:cNvSpPr txBox="1">
                <a:spLocks noRot="1" noChangeAspect="1" noMove="1" noResize="1" noEditPoints="1" noAdjustHandles="1" noChangeArrowheads="1" noChangeShapeType="1" noTextEdit="1"/>
              </p:cNvSpPr>
              <p:nvPr/>
            </p:nvSpPr>
            <p:spPr>
              <a:xfrm>
                <a:off x="8868083" y="11156359"/>
                <a:ext cx="6520504" cy="790345"/>
              </a:xfrm>
              <a:prstGeom prst="rect">
                <a:avLst/>
              </a:prstGeom>
              <a:blipFill>
                <a:blip r:embed="rId3"/>
                <a:stretch>
                  <a:fillRect l="-2140" t="-26984" r="-973" b="-3333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928C6D8-CCDB-DF14-AEEA-1D68A069322E}"/>
                  </a:ext>
                </a:extLst>
              </p:cNvPr>
              <p:cNvSpPr txBox="1"/>
              <p:nvPr/>
            </p:nvSpPr>
            <p:spPr>
              <a:xfrm>
                <a:off x="17697804" y="10102160"/>
                <a:ext cx="3733201" cy="7448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8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1</m:t>
                        </m:r>
                      </m:sub>
                    </m:sSub>
                  </m:oMath>
                </a14:m>
                <a:r>
                  <a:rPr lang="es-ES_tradnl" sz="4800" dirty="0"/>
                  <a:t>, </a:t>
                </a:r>
                <a14:m>
                  <m:oMath xmlns:m="http://schemas.openxmlformats.org/officeDocument/2006/math">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2</m:t>
                        </m:r>
                      </m:sub>
                    </m:sSub>
                    <m:r>
                      <a:rPr lang="en-US" sz="4800" b="0" i="1" smtClean="0">
                        <a:latin typeface="Cambria Math" panose="02040503050406030204" pitchFamily="18" charset="0"/>
                        <a:ea typeface="Cambria Math" panose="02040503050406030204" pitchFamily="18" charset="0"/>
                      </a:rPr>
                      <m:t>∈</m:t>
                    </m:r>
                    <m:r>
                      <a:rPr lang="en-US" sz="4800" b="0" i="1" smtClean="0">
                        <a:latin typeface="Cambria Math" panose="02040503050406030204" pitchFamily="18" charset="0"/>
                        <a:ea typeface="Cambria Math" panose="02040503050406030204" pitchFamily="18" charset="0"/>
                      </a:rPr>
                      <m:t>ℝ</m:t>
                    </m:r>
                  </m:oMath>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C928C6D8-CCDB-DF14-AEEA-1D68A069322E}"/>
                  </a:ext>
                </a:extLst>
              </p:cNvPr>
              <p:cNvSpPr txBox="1">
                <a:spLocks noRot="1" noChangeAspect="1" noMove="1" noResize="1" noEditPoints="1" noAdjustHandles="1" noChangeArrowheads="1" noChangeShapeType="1" noTextEdit="1"/>
              </p:cNvSpPr>
              <p:nvPr/>
            </p:nvSpPr>
            <p:spPr>
              <a:xfrm>
                <a:off x="17697804" y="10102160"/>
                <a:ext cx="3733201" cy="744819"/>
              </a:xfrm>
              <a:prstGeom prst="rect">
                <a:avLst/>
              </a:prstGeom>
              <a:blipFill>
                <a:blip r:embed="rId4"/>
                <a:stretch>
                  <a:fillRect l="-4068" t="-30508" r="-1695" b="-40678"/>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2DF7E8-0314-E8BD-36CB-5E73313CE999}"/>
                  </a:ext>
                </a:extLst>
              </p:cNvPr>
              <p:cNvSpPr txBox="1"/>
              <p:nvPr/>
            </p:nvSpPr>
            <p:spPr>
              <a:xfrm>
                <a:off x="17401857" y="11156358"/>
                <a:ext cx="4325094" cy="7903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8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1</m:t>
                        </m:r>
                      </m:sub>
                    </m:sSub>
                  </m:oMath>
                </a14:m>
                <a:r>
                  <a:rPr lang="es-ES_tradnl" sz="4800" dirty="0"/>
                  <a:t>, …, </a:t>
                </a:r>
                <a14:m>
                  <m:oMath xmlns:m="http://schemas.openxmlformats.org/officeDocument/2006/math">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𝑝</m:t>
                        </m:r>
                      </m:sub>
                    </m:sSub>
                    <m:r>
                      <a:rPr lang="en-US" sz="4800" b="0" i="1" smtClean="0">
                        <a:latin typeface="Cambria Math" panose="02040503050406030204" pitchFamily="18" charset="0"/>
                        <a:ea typeface="Cambria Math" panose="02040503050406030204" pitchFamily="18" charset="0"/>
                      </a:rPr>
                      <m:t>∈</m:t>
                    </m:r>
                    <m:r>
                      <a:rPr lang="en-US" sz="4800" b="0" i="1" smtClean="0">
                        <a:latin typeface="Cambria Math" panose="02040503050406030204" pitchFamily="18" charset="0"/>
                        <a:ea typeface="Cambria Math" panose="02040503050406030204" pitchFamily="18" charset="0"/>
                      </a:rPr>
                      <m:t>ℝ</m:t>
                    </m:r>
                  </m:oMath>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7" name="TextBox 6">
                <a:extLst>
                  <a:ext uri="{FF2B5EF4-FFF2-40B4-BE49-F238E27FC236}">
                    <a16:creationId xmlns:a16="http://schemas.microsoft.com/office/drawing/2014/main" id="{A42DF7E8-0314-E8BD-36CB-5E73313CE999}"/>
                  </a:ext>
                </a:extLst>
              </p:cNvPr>
              <p:cNvSpPr txBox="1">
                <a:spLocks noRot="1" noChangeAspect="1" noMove="1" noResize="1" noEditPoints="1" noAdjustHandles="1" noChangeArrowheads="1" noChangeShapeType="1" noTextEdit="1"/>
              </p:cNvSpPr>
              <p:nvPr/>
            </p:nvSpPr>
            <p:spPr>
              <a:xfrm>
                <a:off x="17401857" y="11156358"/>
                <a:ext cx="4325094" cy="790345"/>
              </a:xfrm>
              <a:prstGeom prst="rect">
                <a:avLst/>
              </a:prstGeom>
              <a:blipFill>
                <a:blip r:embed="rId5"/>
                <a:stretch>
                  <a:fillRect l="-4985" t="-26984" r="-3226" b="-33333"/>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34042462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mc:AlternateContent xmlns:mc="http://schemas.openxmlformats.org/markup-compatibility/2006" xmlns:a14="http://schemas.microsoft.com/office/drawing/2010/main">
        <mc:Choice Requires="a14">
          <p:sp>
            <p:nvSpPr>
              <p:cNvPr id="273" name="Dado un punto               ,                          ,  si verifica la ecuación, decimos que pertenece al hiperplano.…"/>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Dado un punto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𝑝</m:t>
                        </m:r>
                      </m:sub>
                    </m:sSub>
                    <m:r>
                      <a:rPr lang="en-US" b="0" i="1" smtClean="0">
                        <a:latin typeface="Cambria Math" panose="02040503050406030204" pitchFamily="18" charset="0"/>
                      </a:rPr>
                      <m:t>)</m:t>
                    </m:r>
                  </m:oMath>
                </a14:m>
                <a:r>
                  <a:rPr lang="es-ES_tradnl" dirty="0"/>
                  <a:t> ,  si verifica la ecuación, decimos que pertenece al hiperplano.</a:t>
                </a:r>
              </a:p>
              <a:p>
                <a:pPr>
                  <a:defRPr sz="4600">
                    <a:latin typeface="Graphik Compact Regular"/>
                    <a:ea typeface="Graphik Compact Regular"/>
                    <a:cs typeface="Graphik Compact Regular"/>
                    <a:sym typeface="Graphik Compact Regular"/>
                  </a:defRPr>
                </a:pPr>
                <a:r>
                  <a:rPr lang="es-ES_tradnl" dirty="0"/>
                  <a:t>Pero más interesante, si el punto hace que,</a:t>
                </a:r>
              </a:p>
            </p:txBody>
          </p:sp>
        </mc:Choice>
        <mc:Fallback xmlns="">
          <p:sp>
            <p:nvSpPr>
              <p:cNvPr id="273" name="Dado un punto               ,                          ,  si verifica la ecuación, decimos que pertenece al hiperplano.…"/>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598"/>
                </a:stretch>
              </a:blipFill>
            </p:spPr>
            <p:txBody>
              <a:bodyPr/>
              <a:lstStyle/>
              <a:p>
                <a:r>
                  <a:rPr lang="es-ES_tradnl">
                    <a:noFill/>
                  </a:rPr>
                  <a:t> </a:t>
                </a:r>
              </a:p>
            </p:txBody>
          </p:sp>
        </mc:Fallback>
      </mc:AlternateContent>
      <p:pic>
        <p:nvPicPr>
          <p:cNvPr id="275" name="path3775.png" descr="path3775.png"/>
          <p:cNvPicPr>
            <a:picLocks noChangeAspect="1"/>
          </p:cNvPicPr>
          <p:nvPr/>
        </p:nvPicPr>
        <p:blipFill>
          <a:blip r:embed="rId3"/>
          <a:stretch>
            <a:fillRect/>
          </a:stretch>
        </p:blipFill>
        <p:spPr>
          <a:xfrm>
            <a:off x="8638598" y="6878042"/>
            <a:ext cx="7183004" cy="6553465"/>
          </a:xfrm>
          <a:prstGeom prst="rect">
            <a:avLst/>
          </a:prstGeom>
          <a:ln w="12700">
            <a:miter lim="400000"/>
          </a:ln>
        </p:spPr>
      </p:pic>
      <p:sp>
        <p:nvSpPr>
          <p:cNvPr id="3" name="Slide Number Placeholder 5">
            <a:extLst>
              <a:ext uri="{FF2B5EF4-FFF2-40B4-BE49-F238E27FC236}">
                <a16:creationId xmlns:a16="http://schemas.microsoft.com/office/drawing/2014/main" id="{AC5DCBF6-138E-4CCA-DA1B-9FBDE410DA4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a:t>
            </a:fld>
            <a:endParaRPr lang="en-US" sz="2800" dirty="0"/>
          </a:p>
        </p:txBody>
      </p:sp>
    </p:spTree>
    <p:extLst>
      <p:ext uri="{BB962C8B-B14F-4D97-AF65-F5344CB8AC3E}">
        <p14:creationId xmlns:p14="http://schemas.microsoft.com/office/powerpoint/2010/main" val="136014342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278" name="Podemos usar esta idea para clasificar, si tenemos observaciones con p atributos, y estas caen en dos posibles clases {-1, 1}.…"/>
          <p:cNvSpPr txBox="1">
            <a:spLocks noGrp="1"/>
          </p:cNvSpPr>
          <p:nvPr>
            <p:ph type="body" idx="1"/>
          </p:nvPr>
        </p:nvSpPr>
        <p:spPr>
          <a:xfrm>
            <a:off x="1295400" y="3710394"/>
            <a:ext cx="21869400" cy="9532780"/>
          </a:xfrm>
          <a:prstGeom prst="rect">
            <a:avLst/>
          </a:prstGeom>
        </p:spPr>
        <p:txBody>
          <a:bodyPr/>
          <a:lstStyle/>
          <a:p>
            <a:pPr defTabSz="514095">
              <a:spcBef>
                <a:spcPts val="2900"/>
              </a:spcBef>
              <a:defRPr sz="4048">
                <a:latin typeface="Graphik Compact Regular"/>
                <a:ea typeface="Graphik Compact Regular"/>
                <a:cs typeface="Graphik Compact Regular"/>
                <a:sym typeface="Graphik Compact Regular"/>
              </a:defRPr>
            </a:pPr>
            <a:r>
              <a:rPr lang="es-ES_tradnl" dirty="0"/>
              <a:t>Podemos usar esta idea para clasificar, si tenemos observaciones con p atributos, y estas caen en dos posibles clases {-1, 1}.</a:t>
            </a:r>
          </a:p>
          <a:p>
            <a:pPr defTabSz="514095">
              <a:spcBef>
                <a:spcPts val="2900"/>
              </a:spcBef>
              <a:defRPr sz="4048">
                <a:latin typeface="Graphik Compact Regular"/>
                <a:ea typeface="Graphik Compact Regular"/>
                <a:cs typeface="Graphik Compact Regular"/>
                <a:sym typeface="Graphik Compact Regular"/>
              </a:defRPr>
            </a:pPr>
            <a:r>
              <a:rPr lang="es-ES_tradnl" dirty="0"/>
              <a:t>Si de alguna forma podemos construir un hiperplano que separa los datos de entrenamiento </a:t>
            </a:r>
            <a:r>
              <a:rPr lang="es-ES_tradnl" dirty="0">
                <a:latin typeface="Graphik Compact Bold"/>
                <a:ea typeface="Graphik Compact Bold"/>
                <a:cs typeface="Graphik Compact Bold"/>
                <a:sym typeface="Graphik Compact Bold"/>
              </a:rPr>
              <a:t>perfectamente</a:t>
            </a:r>
            <a:r>
              <a:rPr lang="es-ES_tradnl" dirty="0"/>
              <a:t> de acuerdo con su clase, podríamos clasificar como:</a:t>
            </a:r>
          </a:p>
          <a:p>
            <a:pPr defTabSz="514095">
              <a:spcBef>
                <a:spcPts val="2900"/>
              </a:spcBef>
              <a:defRPr sz="4048">
                <a:latin typeface="Graphik Compact Regular"/>
                <a:ea typeface="Graphik Compact Regular"/>
                <a:cs typeface="Graphik Compact Regular"/>
                <a:sym typeface="Graphik Compact Regular"/>
              </a:defRPr>
            </a:pPr>
            <a:endParaRPr lang="es-ES_tradnl" dirty="0"/>
          </a:p>
          <a:p>
            <a:pPr defTabSz="514095">
              <a:spcBef>
                <a:spcPts val="2900"/>
              </a:spcBef>
              <a:defRPr sz="4048">
                <a:latin typeface="Graphik Compact Regular"/>
                <a:ea typeface="Graphik Compact Regular"/>
                <a:cs typeface="Graphik Compact Regular"/>
                <a:sym typeface="Graphik Compact Regular"/>
              </a:defRPr>
            </a:pPr>
            <a:endParaRPr lang="es-ES_tradnl" dirty="0"/>
          </a:p>
          <a:p>
            <a:pPr defTabSz="514095">
              <a:spcBef>
                <a:spcPts val="2900"/>
              </a:spcBef>
              <a:defRPr sz="4048">
                <a:latin typeface="Graphik Compact Regular"/>
                <a:ea typeface="Graphik Compact Regular"/>
                <a:cs typeface="Graphik Compact Regular"/>
                <a:sym typeface="Graphik Compact Regular"/>
              </a:defRPr>
            </a:pPr>
            <a:endParaRPr lang="es-ES_tradnl" dirty="0"/>
          </a:p>
          <a:p>
            <a:pPr defTabSz="514095">
              <a:spcBef>
                <a:spcPts val="2900"/>
              </a:spcBef>
              <a:defRPr sz="4048">
                <a:latin typeface="Graphik Compact Regular"/>
                <a:ea typeface="Graphik Compact Regular"/>
                <a:cs typeface="Graphik Compact Regular"/>
                <a:sym typeface="Graphik Compact Regular"/>
              </a:defRPr>
            </a:pPr>
            <a:endParaRPr lang="es-ES_tradnl" dirty="0"/>
          </a:p>
          <a:p>
            <a:pPr defTabSz="514095">
              <a:spcBef>
                <a:spcPts val="2900"/>
              </a:spcBef>
              <a:defRPr sz="4048">
                <a:latin typeface="Graphik Compact Regular"/>
                <a:ea typeface="Graphik Compact Regular"/>
                <a:cs typeface="Graphik Compact Regular"/>
                <a:sym typeface="Graphik Compact Regular"/>
              </a:defRPr>
            </a:pPr>
            <a:endParaRPr lang="es-ES_tradnl" dirty="0"/>
          </a:p>
        </p:txBody>
      </p:sp>
      <p:pic>
        <p:nvPicPr>
          <p:cNvPr id="279" name="path37275.png" descr="path37275.png"/>
          <p:cNvPicPr>
            <a:picLocks noChangeAspect="1"/>
          </p:cNvPicPr>
          <p:nvPr/>
        </p:nvPicPr>
        <p:blipFill>
          <a:blip r:embed="rId2"/>
          <a:stretch>
            <a:fillRect/>
          </a:stretch>
        </p:blipFill>
        <p:spPr>
          <a:xfrm>
            <a:off x="1608070" y="7070374"/>
            <a:ext cx="6505585" cy="6496468"/>
          </a:xfrm>
          <a:prstGeom prst="rect">
            <a:avLst/>
          </a:prstGeom>
          <a:ln w="12700">
            <a:miter lim="400000"/>
          </a:ln>
        </p:spPr>
      </p:pic>
      <p:sp>
        <p:nvSpPr>
          <p:cNvPr id="3" name="Slide Number Placeholder 5">
            <a:extLst>
              <a:ext uri="{FF2B5EF4-FFF2-40B4-BE49-F238E27FC236}">
                <a16:creationId xmlns:a16="http://schemas.microsoft.com/office/drawing/2014/main" id="{E7CA76FE-FE32-9C1B-0398-BED5FD861F3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a:t>
            </a:fld>
            <a:endParaRPr lang="en-US" sz="28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6CC667-571B-368E-CCB0-67A673E5D40F}"/>
                  </a:ext>
                </a:extLst>
              </p:cNvPr>
              <p:cNvSpPr txBox="1"/>
              <p:nvPr/>
            </p:nvSpPr>
            <p:spPr>
              <a:xfrm>
                <a:off x="10103938" y="7923794"/>
                <a:ext cx="9965870" cy="7903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8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1</m:t>
                        </m:r>
                      </m:sub>
                    </m:sSub>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𝑖</m:t>
                        </m:r>
                        <m:r>
                          <a:rPr lang="en-US" sz="4800" b="0" i="1" smtClean="0">
                            <a:latin typeface="Cambria Math" panose="02040503050406030204" pitchFamily="18" charset="0"/>
                          </a:rPr>
                          <m:t>1</m:t>
                        </m:r>
                      </m:sub>
                    </m:sSub>
                  </m:oMath>
                </a14:m>
                <a:r>
                  <a:rPr kumimoji="0" lang="es-ES_tradnl" sz="4800" b="0" i="0" u="none" strike="noStrike" cap="none" spc="-26" normalizeH="0" baseline="0" dirty="0">
                    <a:ln>
                      <a:noFill/>
                    </a:ln>
                    <a:solidFill>
                      <a:srgbClr val="000000"/>
                    </a:solidFill>
                    <a:effectLst/>
                    <a:uFillTx/>
                    <a:sym typeface="Graphik Compact Regular"/>
                  </a:rPr>
                  <a:t>+</a:t>
                </a:r>
                <a:r>
                  <a:rPr lang="es-ES_tradnl" sz="4800" dirty="0"/>
                  <a:t> … +</a:t>
                </a:r>
                <a14:m>
                  <m:oMath xmlns:m="http://schemas.openxmlformats.org/officeDocument/2006/math">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𝑝</m:t>
                        </m:r>
                      </m:sub>
                    </m:sSub>
                  </m:oMath>
                </a14:m>
                <a:r>
                  <a:rPr lang="es-ES_tradnl" sz="4800" dirty="0"/>
                  <a:t> </a:t>
                </a:r>
                <a14:m>
                  <m:oMath xmlns:m="http://schemas.openxmlformats.org/officeDocument/2006/math">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𝑖𝑝</m:t>
                        </m:r>
                      </m:sub>
                    </m:sSub>
                    <m:r>
                      <a:rPr lang="en-US" sz="4800" b="0" i="1" smtClean="0">
                        <a:latin typeface="Cambria Math" panose="02040503050406030204" pitchFamily="18" charset="0"/>
                      </a:rPr>
                      <m:t>&gt;0       </m:t>
                    </m:r>
                    <m:r>
                      <a:rPr lang="en-US" sz="4800" b="0" i="1" smtClean="0">
                        <a:latin typeface="Cambria Math" panose="02040503050406030204" pitchFamily="18" charset="0"/>
                      </a:rPr>
                      <m:t>𝑆𝑖</m:t>
                    </m:r>
                    <m:r>
                      <a:rPr lang="en-US" sz="4800" b="0" i="1" smtClean="0">
                        <a:latin typeface="Cambria Math" panose="02040503050406030204" pitchFamily="18" charset="0"/>
                      </a:rPr>
                      <m:t> </m:t>
                    </m:r>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𝑦</m:t>
                        </m:r>
                      </m:e>
                      <m:sub>
                        <m:r>
                          <a:rPr lang="en-US" sz="4800" b="0" i="1" smtClean="0">
                            <a:latin typeface="Cambria Math" panose="02040503050406030204" pitchFamily="18" charset="0"/>
                          </a:rPr>
                          <m:t>𝑖</m:t>
                        </m:r>
                      </m:sub>
                    </m:sSub>
                    <m:r>
                      <a:rPr lang="en-US" sz="4800" b="0" i="1" smtClean="0">
                        <a:latin typeface="Cambria Math" panose="02040503050406030204" pitchFamily="18" charset="0"/>
                      </a:rPr>
                      <m:t>=1</m:t>
                    </m:r>
                  </m:oMath>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5D6CC667-571B-368E-CCB0-67A673E5D40F}"/>
                  </a:ext>
                </a:extLst>
              </p:cNvPr>
              <p:cNvSpPr txBox="1">
                <a:spLocks noRot="1" noChangeAspect="1" noMove="1" noResize="1" noEditPoints="1" noAdjustHandles="1" noChangeArrowheads="1" noChangeShapeType="1" noTextEdit="1"/>
              </p:cNvSpPr>
              <p:nvPr/>
            </p:nvSpPr>
            <p:spPr>
              <a:xfrm>
                <a:off x="10103938" y="7923794"/>
                <a:ext cx="9965870" cy="790345"/>
              </a:xfrm>
              <a:prstGeom prst="rect">
                <a:avLst/>
              </a:prstGeom>
              <a:blipFill>
                <a:blip r:embed="rId3"/>
                <a:stretch>
                  <a:fillRect l="-1908" t="-29032" r="-1018" b="-3548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16F001A-F241-6810-0DC3-DBCB816C82BC}"/>
                  </a:ext>
                </a:extLst>
              </p:cNvPr>
              <p:cNvSpPr txBox="1"/>
              <p:nvPr/>
            </p:nvSpPr>
            <p:spPr>
              <a:xfrm>
                <a:off x="10103938" y="9176589"/>
                <a:ext cx="10451965" cy="7903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8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1</m:t>
                        </m:r>
                      </m:sub>
                    </m:sSub>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𝑖</m:t>
                        </m:r>
                        <m:r>
                          <a:rPr lang="en-US" sz="4800" b="0" i="1" smtClean="0">
                            <a:latin typeface="Cambria Math" panose="02040503050406030204" pitchFamily="18" charset="0"/>
                          </a:rPr>
                          <m:t>1</m:t>
                        </m:r>
                      </m:sub>
                    </m:sSub>
                  </m:oMath>
                </a14:m>
                <a:r>
                  <a:rPr kumimoji="0" lang="es-ES_tradnl" sz="4800" b="0" i="0" u="none" strike="noStrike" cap="none" spc="-26" normalizeH="0" baseline="0" dirty="0">
                    <a:ln>
                      <a:noFill/>
                    </a:ln>
                    <a:solidFill>
                      <a:srgbClr val="000000"/>
                    </a:solidFill>
                    <a:effectLst/>
                    <a:uFillTx/>
                    <a:sym typeface="Graphik Compact Regular"/>
                  </a:rPr>
                  <a:t>+</a:t>
                </a:r>
                <a:r>
                  <a:rPr lang="es-ES_tradnl" sz="4800" dirty="0"/>
                  <a:t> … +</a:t>
                </a:r>
                <a14:m>
                  <m:oMath xmlns:m="http://schemas.openxmlformats.org/officeDocument/2006/math">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rPr>
                          <m:t>𝑝</m:t>
                        </m:r>
                      </m:sub>
                    </m:sSub>
                  </m:oMath>
                </a14:m>
                <a:r>
                  <a:rPr lang="es-ES_tradnl" sz="4800" dirty="0"/>
                  <a:t> </a:t>
                </a:r>
                <a14:m>
                  <m:oMath xmlns:m="http://schemas.openxmlformats.org/officeDocument/2006/math">
                    <m:sSub>
                      <m:sSubPr>
                        <m:ctrlPr>
                          <a:rPr lang="es-ES_tradnl" sz="4800" i="1">
                            <a:latin typeface="Cambria Math" panose="02040503050406030204" pitchFamily="18" charset="0"/>
                          </a:rPr>
                        </m:ctrlPr>
                      </m:sSubPr>
                      <m:e>
                        <m:r>
                          <a:rPr lang="en-US" sz="4800" b="0" i="1" smtClean="0">
                            <a:latin typeface="Cambria Math" panose="02040503050406030204" pitchFamily="18" charset="0"/>
                          </a:rPr>
                          <m:t>𝑥</m:t>
                        </m:r>
                      </m:e>
                      <m:sub>
                        <m:r>
                          <a:rPr lang="en-US" sz="4800" b="0" i="1" smtClean="0">
                            <a:latin typeface="Cambria Math" panose="02040503050406030204" pitchFamily="18" charset="0"/>
                          </a:rPr>
                          <m:t>𝑖𝑝</m:t>
                        </m:r>
                      </m:sub>
                    </m:sSub>
                    <m:r>
                      <a:rPr lang="en-US" sz="4800" b="0" i="1" smtClean="0">
                        <a:latin typeface="Cambria Math" panose="02040503050406030204" pitchFamily="18" charset="0"/>
                      </a:rPr>
                      <m:t>&lt;0       </m:t>
                    </m:r>
                    <m:r>
                      <a:rPr lang="en-US" sz="4800" b="0" i="1" smtClean="0">
                        <a:latin typeface="Cambria Math" panose="02040503050406030204" pitchFamily="18" charset="0"/>
                      </a:rPr>
                      <m:t>𝑆𝑖</m:t>
                    </m:r>
                    <m:r>
                      <a:rPr lang="en-US" sz="4800" b="0" i="1" smtClean="0">
                        <a:latin typeface="Cambria Math" panose="02040503050406030204" pitchFamily="18" charset="0"/>
                      </a:rPr>
                      <m:t> </m:t>
                    </m:r>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𝑦</m:t>
                        </m:r>
                      </m:e>
                      <m:sub>
                        <m:r>
                          <a:rPr lang="en-US" sz="4800" b="0" i="1" smtClean="0">
                            <a:latin typeface="Cambria Math" panose="02040503050406030204" pitchFamily="18" charset="0"/>
                          </a:rPr>
                          <m:t>𝑖</m:t>
                        </m:r>
                      </m:sub>
                    </m:sSub>
                    <m:r>
                      <a:rPr lang="en-US" sz="4800" b="0" i="1" smtClean="0">
                        <a:latin typeface="Cambria Math" panose="02040503050406030204" pitchFamily="18" charset="0"/>
                      </a:rPr>
                      <m:t>=−1</m:t>
                    </m:r>
                  </m:oMath>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116F001A-F241-6810-0DC3-DBCB816C82BC}"/>
                  </a:ext>
                </a:extLst>
              </p:cNvPr>
              <p:cNvSpPr txBox="1">
                <a:spLocks noRot="1" noChangeAspect="1" noMove="1" noResize="1" noEditPoints="1" noAdjustHandles="1" noChangeArrowheads="1" noChangeShapeType="1" noTextEdit="1"/>
              </p:cNvSpPr>
              <p:nvPr/>
            </p:nvSpPr>
            <p:spPr>
              <a:xfrm>
                <a:off x="10103938" y="9176589"/>
                <a:ext cx="10451965" cy="790345"/>
              </a:xfrm>
              <a:prstGeom prst="rect">
                <a:avLst/>
              </a:prstGeom>
              <a:blipFill>
                <a:blip r:embed="rId4"/>
                <a:stretch>
                  <a:fillRect l="-1578" t="-26984" r="-850" b="-3333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856BDA8-305D-12FF-62AF-E0591C42F2C8}"/>
                  </a:ext>
                </a:extLst>
              </p:cNvPr>
              <p:cNvSpPr txBox="1"/>
              <p:nvPr/>
            </p:nvSpPr>
            <p:spPr>
              <a:xfrm>
                <a:off x="10125154" y="10543904"/>
                <a:ext cx="11028147" cy="7813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𝑦</m:t>
                          </m:r>
                        </m:e>
                        <m:sub>
                          <m:r>
                            <a:rPr lang="en-US" sz="4800" b="0" i="1" smtClean="0">
                              <a:latin typeface="Cambria Math" panose="02040503050406030204" pitchFamily="18" charset="0"/>
                            </a:rPr>
                            <m:t>𝑖</m:t>
                          </m:r>
                        </m:sub>
                      </m:sSub>
                      <m:d>
                        <m:dPr>
                          <m:ctrlPr>
                            <a:rPr lang="en-US" sz="4800" b="0" i="1" smtClean="0">
                              <a:latin typeface="Cambria Math" panose="02040503050406030204" pitchFamily="18" charset="0"/>
                            </a:rPr>
                          </m:ctrlPr>
                        </m:dPr>
                        <m:e>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i="1">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1</m:t>
                              </m:r>
                            </m:sub>
                          </m:sSub>
                          <m:sSub>
                            <m:sSubPr>
                              <m:ctrlPr>
                                <a:rPr lang="es-ES_tradnl" sz="4800" i="1">
                                  <a:latin typeface="Cambria Math" panose="02040503050406030204" pitchFamily="18" charset="0"/>
                                </a:rPr>
                              </m:ctrlPr>
                            </m:sSubPr>
                            <m:e>
                              <m:r>
                                <a:rPr lang="en-US" sz="4800" i="1">
                                  <a:latin typeface="Cambria Math" panose="02040503050406030204" pitchFamily="18" charset="0"/>
                                </a:rPr>
                                <m:t>𝑥</m:t>
                              </m:r>
                            </m:e>
                            <m:sub>
                              <m:r>
                                <a:rPr lang="en-US" sz="4800" i="1">
                                  <a:latin typeface="Cambria Math" panose="02040503050406030204" pitchFamily="18" charset="0"/>
                                </a:rPr>
                                <m:t>𝑖</m:t>
                              </m:r>
                              <m:r>
                                <a:rPr lang="en-US" sz="4800" i="1">
                                  <a:latin typeface="Cambria Math" panose="02040503050406030204" pitchFamily="18" charset="0"/>
                                </a:rPr>
                                <m:t>1</m:t>
                              </m:r>
                            </m:sub>
                          </m:sSub>
                          <m:r>
                            <m:rPr>
                              <m:nor/>
                            </m:rPr>
                            <a:rPr lang="es-ES_tradnl" sz="4800" dirty="0"/>
                            <m:t>+ …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𝑝</m:t>
                              </m:r>
                            </m:sub>
                          </m:sSub>
                          <m:r>
                            <m:rPr>
                              <m:nor/>
                            </m:rPr>
                            <a:rPr lang="es-ES_tradnl" sz="4800" dirty="0"/>
                            <m:t> </m:t>
                          </m:r>
                          <m:sSub>
                            <m:sSubPr>
                              <m:ctrlPr>
                                <a:rPr lang="es-ES_tradnl" sz="4800" i="1">
                                  <a:latin typeface="Cambria Math" panose="02040503050406030204" pitchFamily="18" charset="0"/>
                                </a:rPr>
                              </m:ctrlPr>
                            </m:sSubPr>
                            <m:e>
                              <m:r>
                                <a:rPr lang="en-US" sz="4800" i="1">
                                  <a:latin typeface="Cambria Math" panose="02040503050406030204" pitchFamily="18" charset="0"/>
                                </a:rPr>
                                <m:t>𝑥</m:t>
                              </m:r>
                            </m:e>
                            <m:sub>
                              <m:r>
                                <a:rPr lang="en-US" sz="4800" i="1">
                                  <a:latin typeface="Cambria Math" panose="02040503050406030204" pitchFamily="18" charset="0"/>
                                </a:rPr>
                                <m:t>𝑖𝑝</m:t>
                              </m:r>
                            </m:sub>
                          </m:sSub>
                        </m:e>
                      </m:d>
                      <m:r>
                        <a:rPr lang="en-US" sz="4800" b="0" i="1" smtClean="0">
                          <a:latin typeface="Cambria Math" panose="02040503050406030204" pitchFamily="18" charset="0"/>
                        </a:rPr>
                        <m:t>&gt;0   </m:t>
                      </m:r>
                      <m:r>
                        <a:rPr lang="en-US" sz="4800" b="0" i="1" smtClean="0">
                          <a:latin typeface="Cambria Math" panose="02040503050406030204" pitchFamily="18" charset="0"/>
                        </a:rPr>
                        <m:t>𝑖</m:t>
                      </m:r>
                      <m:r>
                        <a:rPr lang="en-US" sz="4800" b="0" i="1" smtClean="0">
                          <a:latin typeface="Cambria Math" panose="02040503050406030204" pitchFamily="18" charset="0"/>
                        </a:rPr>
                        <m:t>=1,…,</m:t>
                      </m:r>
                      <m:r>
                        <a:rPr lang="en-US" sz="4800" b="0" i="1" smtClean="0">
                          <a:latin typeface="Cambria Math" panose="02040503050406030204" pitchFamily="18" charset="0"/>
                        </a:rPr>
                        <m:t>𝑛</m:t>
                      </m:r>
                    </m:oMath>
                  </m:oMathPara>
                </a14:m>
                <a:endParaRPr kumimoji="0" lang="es-ES_tradnl" sz="4800" b="0" i="0" u="none" strike="noStrike" cap="none" spc="-26" normalizeH="0" baseline="0" dirty="0">
                  <a:ln>
                    <a:noFill/>
                  </a:ln>
                  <a:solidFill>
                    <a:srgbClr val="000000"/>
                  </a:solidFill>
                  <a:effectLst/>
                  <a:uFillTx/>
                  <a:sym typeface="Graphik Compact Regular"/>
                </a:endParaRPr>
              </a:p>
            </p:txBody>
          </p:sp>
        </mc:Choice>
        <mc:Fallback xmlns="">
          <p:sp>
            <p:nvSpPr>
              <p:cNvPr id="7" name="TextBox 6">
                <a:extLst>
                  <a:ext uri="{FF2B5EF4-FFF2-40B4-BE49-F238E27FC236}">
                    <a16:creationId xmlns:a16="http://schemas.microsoft.com/office/drawing/2014/main" id="{2856BDA8-305D-12FF-62AF-E0591C42F2C8}"/>
                  </a:ext>
                </a:extLst>
              </p:cNvPr>
              <p:cNvSpPr txBox="1">
                <a:spLocks noRot="1" noChangeAspect="1" noMove="1" noResize="1" noEditPoints="1" noAdjustHandles="1" noChangeArrowheads="1" noChangeShapeType="1" noTextEdit="1"/>
              </p:cNvSpPr>
              <p:nvPr/>
            </p:nvSpPr>
            <p:spPr>
              <a:xfrm>
                <a:off x="10125154" y="10543904"/>
                <a:ext cx="11028147" cy="781368"/>
              </a:xfrm>
              <a:prstGeom prst="rect">
                <a:avLst/>
              </a:prstGeom>
              <a:blipFill>
                <a:blip r:embed="rId5"/>
                <a:stretch>
                  <a:fillRect l="-1036" t="-32258" b="-29032"/>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408629642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285" name="Podemos usar esta idea para clasificar, si tenemos observaciones con p atributos, y estas caen en dos posibles clases {-1, 1}.…"/>
          <p:cNvSpPr txBox="1">
            <a:spLocks noGrp="1"/>
          </p:cNvSpPr>
          <p:nvPr>
            <p:ph type="body" idx="1"/>
          </p:nvPr>
        </p:nvSpPr>
        <p:spPr>
          <a:xfrm>
            <a:off x="1295400" y="3710394"/>
            <a:ext cx="21869400" cy="3190738"/>
          </a:xfrm>
          <a:prstGeom prst="rect">
            <a:avLst/>
          </a:prstGeom>
        </p:spPr>
        <p:txBody>
          <a:bodyPr/>
          <a:lstStyle/>
          <a:p>
            <a:pPr defTabSz="514095">
              <a:spcBef>
                <a:spcPts val="2900"/>
              </a:spcBef>
              <a:defRPr sz="4048">
                <a:latin typeface="Graphik Compact Regular"/>
                <a:ea typeface="Graphik Compact Regular"/>
                <a:cs typeface="Graphik Compact Regular"/>
                <a:sym typeface="Graphik Compact Regular"/>
              </a:defRPr>
            </a:pPr>
            <a:r>
              <a:rPr lang="es-ES_tradnl" dirty="0"/>
              <a:t>Podemos usar esta idea para clasificar, si tenemos observaciones con p atributos, y estas caen en dos posibles clases {-1, 1}.</a:t>
            </a:r>
          </a:p>
          <a:p>
            <a:pPr defTabSz="514095">
              <a:spcBef>
                <a:spcPts val="2900"/>
              </a:spcBef>
              <a:defRPr sz="4048">
                <a:latin typeface="Graphik Compact Regular"/>
                <a:ea typeface="Graphik Compact Regular"/>
                <a:cs typeface="Graphik Compact Regular"/>
                <a:sym typeface="Graphik Compact Regular"/>
              </a:defRPr>
            </a:pPr>
            <a:r>
              <a:rPr lang="es-ES_tradnl" dirty="0"/>
              <a:t>Si de alguna forma podemos construir un hiperplano que separa los datos de entrenamiento </a:t>
            </a:r>
            <a:r>
              <a:rPr lang="es-ES_tradnl" dirty="0">
                <a:latin typeface="Graphik Compact Bold"/>
                <a:ea typeface="Graphik Compact Bold"/>
                <a:cs typeface="Graphik Compact Bold"/>
                <a:sym typeface="Graphik Compact Bold"/>
              </a:rPr>
              <a:t>perfectamente</a:t>
            </a:r>
            <a:r>
              <a:rPr lang="es-ES_tradnl" dirty="0"/>
              <a:t> de acuerdo con su clase, podríamos clasificar como:</a:t>
            </a:r>
          </a:p>
        </p:txBody>
      </p:sp>
      <p:pic>
        <p:nvPicPr>
          <p:cNvPr id="286" name="path37275.png" descr="path37275.png"/>
          <p:cNvPicPr>
            <a:picLocks noChangeAspect="1"/>
          </p:cNvPicPr>
          <p:nvPr/>
        </p:nvPicPr>
        <p:blipFill>
          <a:blip r:embed="rId2"/>
          <a:stretch>
            <a:fillRect/>
          </a:stretch>
        </p:blipFill>
        <p:spPr>
          <a:xfrm>
            <a:off x="1608070" y="7070374"/>
            <a:ext cx="6505585" cy="6496468"/>
          </a:xfrm>
          <a:prstGeom prst="rect">
            <a:avLst/>
          </a:prstGeom>
          <a:ln w="12700">
            <a:miter lim="400000"/>
          </a:ln>
        </p:spPr>
      </p:pic>
      <p:sp>
        <p:nvSpPr>
          <p:cNvPr id="3" name="Slide Number Placeholder 5">
            <a:extLst>
              <a:ext uri="{FF2B5EF4-FFF2-40B4-BE49-F238E27FC236}">
                <a16:creationId xmlns:a16="http://schemas.microsoft.com/office/drawing/2014/main" id="{DE9A5690-D632-61E5-808D-CD0442C063FB}"/>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1A1B634-66ED-8345-12B8-2F523F44D2DF}"/>
                  </a:ext>
                </a:extLst>
              </p:cNvPr>
              <p:cNvSpPr txBox="1"/>
              <p:nvPr/>
            </p:nvSpPr>
            <p:spPr>
              <a:xfrm>
                <a:off x="10073136" y="8473978"/>
                <a:ext cx="11397351" cy="633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𝑓</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𝑋</m:t>
                              </m:r>
                            </m:e>
                            <m:sub>
                              <m:r>
                                <a:rPr lang="en-US" sz="4000" b="0" i="1" smtClean="0">
                                  <a:latin typeface="Cambria Math" panose="02040503050406030204" pitchFamily="18" charset="0"/>
                                </a:rPr>
                                <m:t>𝑖</m:t>
                              </m:r>
                            </m:sub>
                          </m:sSub>
                        </m:e>
                      </m:d>
                      <m:r>
                        <a:rPr lang="en-US" sz="4000" b="0" i="1" smtClean="0">
                          <a:latin typeface="Cambria Math" panose="02040503050406030204" pitchFamily="18" charset="0"/>
                        </a:rPr>
                        <m:t>=</m:t>
                      </m:r>
                      <m:sSub>
                        <m:sSubPr>
                          <m:ctrlPr>
                            <a:rPr lang="es-ES_tradnl" sz="4000" i="1">
                              <a:latin typeface="Cambria Math" panose="02040503050406030204" pitchFamily="18" charset="0"/>
                            </a:rPr>
                          </m:ctrlPr>
                        </m:sSubPr>
                        <m:e>
                          <m:r>
                            <a:rPr lang="es-ES_tradnl" sz="4000" i="1">
                              <a:latin typeface="Cambria Math" panose="02040503050406030204" pitchFamily="18" charset="0"/>
                              <a:ea typeface="Cambria Math" panose="02040503050406030204" pitchFamily="18" charset="0"/>
                            </a:rPr>
                            <m:t>𝛽</m:t>
                          </m:r>
                        </m:e>
                        <m:sub>
                          <m:r>
                            <a:rPr lang="en-US" sz="4000" i="1">
                              <a:latin typeface="Cambria Math" panose="02040503050406030204" pitchFamily="18" charset="0"/>
                            </a:rPr>
                            <m:t>0</m:t>
                          </m:r>
                        </m:sub>
                      </m:sSub>
                      <m:r>
                        <a:rPr lang="en-US" sz="4000" i="1">
                          <a:latin typeface="Cambria Math" panose="02040503050406030204" pitchFamily="18" charset="0"/>
                        </a:rPr>
                        <m:t>+</m:t>
                      </m:r>
                      <m:sSub>
                        <m:sSubPr>
                          <m:ctrlPr>
                            <a:rPr lang="es-ES_tradnl" sz="4000" i="1">
                              <a:latin typeface="Cambria Math" panose="02040503050406030204" pitchFamily="18" charset="0"/>
                            </a:rPr>
                          </m:ctrlPr>
                        </m:sSubPr>
                        <m:e>
                          <m:r>
                            <a:rPr lang="es-ES_tradnl" sz="4000" i="1">
                              <a:latin typeface="Cambria Math" panose="02040503050406030204" pitchFamily="18" charset="0"/>
                              <a:ea typeface="Cambria Math" panose="02040503050406030204" pitchFamily="18" charset="0"/>
                            </a:rPr>
                            <m:t>𝛽</m:t>
                          </m:r>
                        </m:e>
                        <m:sub>
                          <m:r>
                            <a:rPr lang="en-US" sz="4000" i="1">
                              <a:latin typeface="Cambria Math" panose="02040503050406030204" pitchFamily="18" charset="0"/>
                            </a:rPr>
                            <m:t>1</m:t>
                          </m:r>
                        </m:sub>
                      </m:sSub>
                      <m:sSub>
                        <m:sSubPr>
                          <m:ctrlPr>
                            <a:rPr lang="es-ES_tradnl"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𝑖</m:t>
                          </m:r>
                          <m:r>
                            <a:rPr lang="en-US" sz="4000" i="1">
                              <a:latin typeface="Cambria Math" panose="02040503050406030204" pitchFamily="18" charset="0"/>
                            </a:rPr>
                            <m:t>1</m:t>
                          </m:r>
                        </m:sub>
                      </m:sSub>
                      <m:r>
                        <m:rPr>
                          <m:nor/>
                        </m:rPr>
                        <a:rPr lang="es-ES_tradnl" sz="4000" dirty="0"/>
                        <m:t>+ … +</m:t>
                      </m:r>
                      <m:sSub>
                        <m:sSubPr>
                          <m:ctrlPr>
                            <a:rPr lang="es-ES_tradnl" sz="4000" i="1">
                              <a:latin typeface="Cambria Math" panose="02040503050406030204" pitchFamily="18" charset="0"/>
                            </a:rPr>
                          </m:ctrlPr>
                        </m:sSubPr>
                        <m:e>
                          <m:r>
                            <a:rPr lang="es-ES_tradnl" sz="4000" i="1">
                              <a:latin typeface="Cambria Math" panose="02040503050406030204" pitchFamily="18" charset="0"/>
                              <a:ea typeface="Cambria Math" panose="02040503050406030204" pitchFamily="18" charset="0"/>
                            </a:rPr>
                            <m:t>𝛽</m:t>
                          </m:r>
                        </m:e>
                        <m:sub>
                          <m:r>
                            <a:rPr lang="en-US" sz="4000" i="1">
                              <a:latin typeface="Cambria Math" panose="02040503050406030204" pitchFamily="18" charset="0"/>
                            </a:rPr>
                            <m:t>𝑝</m:t>
                          </m:r>
                        </m:sub>
                      </m:sSub>
                      <m:r>
                        <m:rPr>
                          <m:nor/>
                        </m:rPr>
                        <a:rPr lang="es-ES_tradnl" sz="4000" dirty="0"/>
                        <m:t> </m:t>
                      </m:r>
                      <m:sSub>
                        <m:sSubPr>
                          <m:ctrlPr>
                            <a:rPr lang="es-ES_tradnl"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𝑖𝑝</m:t>
                          </m:r>
                        </m:sub>
                      </m:sSub>
                      <m:r>
                        <a:rPr lang="en-US" sz="4000" b="0" i="1" smtClean="0">
                          <a:latin typeface="Cambria Math" panose="02040503050406030204" pitchFamily="18" charset="0"/>
                        </a:rPr>
                        <m:t>&gt;0   </m:t>
                      </m:r>
                      <m:r>
                        <a:rPr lang="en-US" sz="4000" b="0" i="1" smtClean="0">
                          <a:latin typeface="Cambria Math" panose="02040503050406030204" pitchFamily="18" charset="0"/>
                        </a:rPr>
                        <m:t>𝑒𝑛𝑡𝑜𝑛𝑐𝑒𝑠</m:t>
                      </m:r>
                      <m:r>
                        <a:rPr lang="en-US" sz="4000" b="0" i="1" smtClean="0">
                          <a:latin typeface="Cambria Math" panose="02040503050406030204" pitchFamily="18" charset="0"/>
                        </a:rPr>
                        <m:t> </m:t>
                      </m:r>
                      <m:acc>
                        <m:accPr>
                          <m:chr m:val="̃"/>
                          <m:ctrlPr>
                            <a:rPr lang="en-US" sz="4000" b="0" i="1" smtClean="0">
                              <a:latin typeface="Cambria Math" panose="02040503050406030204" pitchFamily="18" charset="0"/>
                            </a:rPr>
                          </m:ctrlPr>
                        </m:acc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𝑦</m:t>
                              </m:r>
                            </m:e>
                            <m:sub>
                              <m:r>
                                <a:rPr lang="en-US" sz="4000" b="0" i="1" smtClean="0">
                                  <a:latin typeface="Cambria Math" panose="02040503050406030204" pitchFamily="18" charset="0"/>
                                </a:rPr>
                                <m:t>𝑖</m:t>
                              </m:r>
                            </m:sub>
                          </m:sSub>
                        </m:e>
                      </m:acc>
                      <m:r>
                        <a:rPr lang="en-US" sz="4000" b="0" i="1" smtClean="0">
                          <a:latin typeface="Cambria Math" panose="02040503050406030204" pitchFamily="18" charset="0"/>
                        </a:rPr>
                        <m:t>=1</m:t>
                      </m:r>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B1A1B634-66ED-8345-12B8-2F523F44D2DF}"/>
                  </a:ext>
                </a:extLst>
              </p:cNvPr>
              <p:cNvSpPr txBox="1">
                <a:spLocks noRot="1" noChangeAspect="1" noMove="1" noResize="1" noEditPoints="1" noAdjustHandles="1" noChangeArrowheads="1" noChangeShapeType="1" noTextEdit="1"/>
              </p:cNvSpPr>
              <p:nvPr/>
            </p:nvSpPr>
            <p:spPr>
              <a:xfrm>
                <a:off x="10073136" y="8473978"/>
                <a:ext cx="11397351" cy="633122"/>
              </a:xfrm>
              <a:prstGeom prst="rect">
                <a:avLst/>
              </a:prstGeom>
              <a:blipFill>
                <a:blip r:embed="rId3"/>
                <a:stretch>
                  <a:fillRect l="-1112" t="-37255" b="-27451"/>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6BB875-50EA-DE95-5CB7-12423AD4D030}"/>
                  </a:ext>
                </a:extLst>
              </p:cNvPr>
              <p:cNvSpPr txBox="1"/>
              <p:nvPr/>
            </p:nvSpPr>
            <p:spPr>
              <a:xfrm>
                <a:off x="10073136" y="9489699"/>
                <a:ext cx="11777135" cy="633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𝑓</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𝑋</m:t>
                              </m:r>
                            </m:e>
                            <m:sub>
                              <m:r>
                                <a:rPr lang="en-US" sz="4000" b="0" i="1" smtClean="0">
                                  <a:latin typeface="Cambria Math" panose="02040503050406030204" pitchFamily="18" charset="0"/>
                                </a:rPr>
                                <m:t>𝑖</m:t>
                              </m:r>
                            </m:sub>
                          </m:sSub>
                        </m:e>
                      </m:d>
                      <m:r>
                        <a:rPr lang="en-US" sz="4000" b="0" i="1" smtClean="0">
                          <a:latin typeface="Cambria Math" panose="02040503050406030204" pitchFamily="18" charset="0"/>
                        </a:rPr>
                        <m:t>=</m:t>
                      </m:r>
                      <m:sSub>
                        <m:sSubPr>
                          <m:ctrlPr>
                            <a:rPr lang="es-ES_tradnl" sz="4000" i="1">
                              <a:latin typeface="Cambria Math" panose="02040503050406030204" pitchFamily="18" charset="0"/>
                            </a:rPr>
                          </m:ctrlPr>
                        </m:sSubPr>
                        <m:e>
                          <m:r>
                            <a:rPr lang="es-ES_tradnl" sz="4000" i="1">
                              <a:latin typeface="Cambria Math" panose="02040503050406030204" pitchFamily="18" charset="0"/>
                              <a:ea typeface="Cambria Math" panose="02040503050406030204" pitchFamily="18" charset="0"/>
                            </a:rPr>
                            <m:t>𝛽</m:t>
                          </m:r>
                        </m:e>
                        <m:sub>
                          <m:r>
                            <a:rPr lang="en-US" sz="4000" i="1">
                              <a:latin typeface="Cambria Math" panose="02040503050406030204" pitchFamily="18" charset="0"/>
                            </a:rPr>
                            <m:t>0</m:t>
                          </m:r>
                        </m:sub>
                      </m:sSub>
                      <m:r>
                        <a:rPr lang="en-US" sz="4000" i="1">
                          <a:latin typeface="Cambria Math" panose="02040503050406030204" pitchFamily="18" charset="0"/>
                        </a:rPr>
                        <m:t>+</m:t>
                      </m:r>
                      <m:sSub>
                        <m:sSubPr>
                          <m:ctrlPr>
                            <a:rPr lang="es-ES_tradnl" sz="4000" i="1">
                              <a:latin typeface="Cambria Math" panose="02040503050406030204" pitchFamily="18" charset="0"/>
                            </a:rPr>
                          </m:ctrlPr>
                        </m:sSubPr>
                        <m:e>
                          <m:r>
                            <a:rPr lang="es-ES_tradnl" sz="4000" i="1">
                              <a:latin typeface="Cambria Math" panose="02040503050406030204" pitchFamily="18" charset="0"/>
                              <a:ea typeface="Cambria Math" panose="02040503050406030204" pitchFamily="18" charset="0"/>
                            </a:rPr>
                            <m:t>𝛽</m:t>
                          </m:r>
                        </m:e>
                        <m:sub>
                          <m:r>
                            <a:rPr lang="en-US" sz="4000" i="1">
                              <a:latin typeface="Cambria Math" panose="02040503050406030204" pitchFamily="18" charset="0"/>
                            </a:rPr>
                            <m:t>1</m:t>
                          </m:r>
                        </m:sub>
                      </m:sSub>
                      <m:sSub>
                        <m:sSubPr>
                          <m:ctrlPr>
                            <a:rPr lang="es-ES_tradnl"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𝑖</m:t>
                          </m:r>
                          <m:r>
                            <a:rPr lang="en-US" sz="4000" i="1">
                              <a:latin typeface="Cambria Math" panose="02040503050406030204" pitchFamily="18" charset="0"/>
                            </a:rPr>
                            <m:t>1</m:t>
                          </m:r>
                        </m:sub>
                      </m:sSub>
                      <m:r>
                        <m:rPr>
                          <m:nor/>
                        </m:rPr>
                        <a:rPr lang="es-ES_tradnl" sz="4000" dirty="0"/>
                        <m:t>+ … +</m:t>
                      </m:r>
                      <m:sSub>
                        <m:sSubPr>
                          <m:ctrlPr>
                            <a:rPr lang="es-ES_tradnl" sz="4000" i="1">
                              <a:latin typeface="Cambria Math" panose="02040503050406030204" pitchFamily="18" charset="0"/>
                            </a:rPr>
                          </m:ctrlPr>
                        </m:sSubPr>
                        <m:e>
                          <m:r>
                            <a:rPr lang="es-ES_tradnl" sz="4000" i="1">
                              <a:latin typeface="Cambria Math" panose="02040503050406030204" pitchFamily="18" charset="0"/>
                              <a:ea typeface="Cambria Math" panose="02040503050406030204" pitchFamily="18" charset="0"/>
                            </a:rPr>
                            <m:t>𝛽</m:t>
                          </m:r>
                        </m:e>
                        <m:sub>
                          <m:r>
                            <a:rPr lang="en-US" sz="4000" i="1">
                              <a:latin typeface="Cambria Math" panose="02040503050406030204" pitchFamily="18" charset="0"/>
                            </a:rPr>
                            <m:t>𝑝</m:t>
                          </m:r>
                        </m:sub>
                      </m:sSub>
                      <m:r>
                        <m:rPr>
                          <m:nor/>
                        </m:rPr>
                        <a:rPr lang="es-ES_tradnl" sz="4000" dirty="0"/>
                        <m:t> </m:t>
                      </m:r>
                      <m:sSub>
                        <m:sSubPr>
                          <m:ctrlPr>
                            <a:rPr lang="es-ES_tradnl"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𝑖𝑝</m:t>
                          </m:r>
                        </m:sub>
                      </m:sSub>
                      <m:r>
                        <a:rPr lang="en-US" sz="4000" b="0" i="1" smtClean="0">
                          <a:latin typeface="Cambria Math" panose="02040503050406030204" pitchFamily="18" charset="0"/>
                        </a:rPr>
                        <m:t>&lt;0   </m:t>
                      </m:r>
                      <m:r>
                        <a:rPr lang="en-US" sz="4000" b="0" i="1" smtClean="0">
                          <a:latin typeface="Cambria Math" panose="02040503050406030204" pitchFamily="18" charset="0"/>
                        </a:rPr>
                        <m:t>𝑒𝑛𝑡𝑜𝑛𝑐𝑒𝑠</m:t>
                      </m:r>
                      <m:r>
                        <a:rPr lang="en-US" sz="4000" b="0" i="1" smtClean="0">
                          <a:latin typeface="Cambria Math" panose="02040503050406030204" pitchFamily="18" charset="0"/>
                        </a:rPr>
                        <m:t> </m:t>
                      </m:r>
                      <m:acc>
                        <m:accPr>
                          <m:chr m:val="̃"/>
                          <m:ctrlPr>
                            <a:rPr lang="en-US" sz="4000" b="0" i="1" smtClean="0">
                              <a:latin typeface="Cambria Math" panose="02040503050406030204" pitchFamily="18" charset="0"/>
                            </a:rPr>
                          </m:ctrlPr>
                        </m:acc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𝑦</m:t>
                              </m:r>
                            </m:e>
                            <m:sub>
                              <m:r>
                                <a:rPr lang="en-US" sz="4000" b="0" i="1" smtClean="0">
                                  <a:latin typeface="Cambria Math" panose="02040503050406030204" pitchFamily="18" charset="0"/>
                                </a:rPr>
                                <m:t>𝑖</m:t>
                              </m:r>
                            </m:sub>
                          </m:sSub>
                        </m:e>
                      </m:acc>
                      <m:r>
                        <a:rPr lang="en-US" sz="4000" b="0" i="1" smtClean="0">
                          <a:latin typeface="Cambria Math" panose="02040503050406030204" pitchFamily="18" charset="0"/>
                        </a:rPr>
                        <m:t>=−1</m:t>
                      </m:r>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976BB875-50EA-DE95-5CB7-12423AD4D030}"/>
                  </a:ext>
                </a:extLst>
              </p:cNvPr>
              <p:cNvSpPr txBox="1">
                <a:spLocks noRot="1" noChangeAspect="1" noMove="1" noResize="1" noEditPoints="1" noAdjustHandles="1" noChangeArrowheads="1" noChangeShapeType="1" noTextEdit="1"/>
              </p:cNvSpPr>
              <p:nvPr/>
            </p:nvSpPr>
            <p:spPr>
              <a:xfrm>
                <a:off x="10073136" y="9489699"/>
                <a:ext cx="11777135" cy="633122"/>
              </a:xfrm>
              <a:prstGeom prst="rect">
                <a:avLst/>
              </a:prstGeom>
              <a:blipFill>
                <a:blip r:embed="rId4"/>
                <a:stretch>
                  <a:fillRect l="-1076" t="-35294" b="-27451"/>
                </a:stretch>
              </a:blipFill>
              <a:ln w="12700" cap="flat">
                <a:noFill/>
                <a:miter lim="400000"/>
              </a:ln>
              <a:effectLst/>
            </p:spPr>
            <p:txBody>
              <a:bodyPr/>
              <a:lstStyle/>
              <a:p>
                <a:r>
                  <a:rPr lang="es-ES_tradnl">
                    <a:noFill/>
                  </a:rPr>
                  <a:t> </a:t>
                </a:r>
              </a:p>
            </p:txBody>
          </p:sp>
        </mc:Fallback>
      </mc:AlternateContent>
      <p:sp>
        <p:nvSpPr>
          <p:cNvPr id="7" name="TextBox 6">
            <a:extLst>
              <a:ext uri="{FF2B5EF4-FFF2-40B4-BE49-F238E27FC236}">
                <a16:creationId xmlns:a16="http://schemas.microsoft.com/office/drawing/2014/main" id="{01BE6963-0D62-43CB-DB66-4C150F65AA94}"/>
              </a:ext>
            </a:extLst>
          </p:cNvPr>
          <p:cNvSpPr txBox="1"/>
          <p:nvPr/>
        </p:nvSpPr>
        <p:spPr>
          <a:xfrm>
            <a:off x="8558745" y="10482947"/>
            <a:ext cx="14699920" cy="1631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Que, además, nos permite ver la confidencia del clasificador. Es decir, cuanto más </a:t>
            </a:r>
            <a:r>
              <a:rPr kumimoji="0" lang="es-ES_tradnl" sz="4000" b="1"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grande</a:t>
            </a: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 es el valor absoluto de f(X), más </a:t>
            </a:r>
            <a:r>
              <a:rPr kumimoji="0" lang="es-ES_tradnl" sz="4000" b="1"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segura o certera </a:t>
            </a: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es la clasificación </a:t>
            </a:r>
          </a:p>
        </p:txBody>
      </p:sp>
      <p:sp>
        <p:nvSpPr>
          <p:cNvPr id="9" name="TextBox 8">
            <a:extLst>
              <a:ext uri="{FF2B5EF4-FFF2-40B4-BE49-F238E27FC236}">
                <a16:creationId xmlns:a16="http://schemas.microsoft.com/office/drawing/2014/main" id="{17937D80-AB33-DF7C-6B75-B80247E646D6}"/>
              </a:ext>
            </a:extLst>
          </p:cNvPr>
          <p:cNvSpPr txBox="1"/>
          <p:nvPr/>
        </p:nvSpPr>
        <p:spPr>
          <a:xfrm>
            <a:off x="8542678" y="6982830"/>
            <a:ext cx="14699920" cy="16825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Para ordenarnos, vamos a definir una función  f(X) que nos servirá para clasificar:</a:t>
            </a:r>
          </a:p>
          <a:p>
            <a:pPr marL="0" marR="0" indent="0" algn="l" defTabSz="821531" rtl="0" fontAlgn="auto" latinLnBrk="0" hangingPunct="0">
              <a:lnSpc>
                <a:spcPct val="80000"/>
              </a:lnSpc>
              <a:spcBef>
                <a:spcPts val="400"/>
              </a:spcBef>
              <a:spcAft>
                <a:spcPts val="0"/>
              </a:spcAft>
              <a:buClrTx/>
              <a:buSzTx/>
              <a:buFontTx/>
              <a:buNone/>
              <a:tabLst>
                <a:tab pos="812800" algn="l"/>
              </a:tabLst>
            </a:pPr>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Tree>
    <p:extLst>
      <p:ext uri="{BB962C8B-B14F-4D97-AF65-F5344CB8AC3E}">
        <p14:creationId xmlns:p14="http://schemas.microsoft.com/office/powerpoint/2010/main" val="132661818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292" name="En general si nuestra data es linealmente separable, puede existir un numero infinito de hiperplanos que van a funcionar"/>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En general si nuestra data es linealmente separable, puede existir un numero infinito de hiperplanos que van a funcionar</a:t>
            </a:r>
          </a:p>
          <a:p>
            <a:pPr>
              <a:defRPr sz="4600">
                <a:latin typeface="Graphik Compact Regular"/>
                <a:ea typeface="Graphik Compact Regular"/>
                <a:cs typeface="Graphik Compact Regular"/>
                <a:sym typeface="Graphik Compact Regular"/>
              </a:defRPr>
            </a:pPr>
            <a:r>
              <a:rPr lang="es-ES_tradnl" dirty="0"/>
              <a:t>                                                                   </a:t>
            </a:r>
          </a:p>
        </p:txBody>
      </p:sp>
      <p:pic>
        <p:nvPicPr>
          <p:cNvPr id="293" name="path3d775.png" descr="path3d775.png"/>
          <p:cNvPicPr>
            <a:picLocks noChangeAspect="1"/>
          </p:cNvPicPr>
          <p:nvPr/>
        </p:nvPicPr>
        <p:blipFill>
          <a:blip r:embed="rId2"/>
          <a:stretch>
            <a:fillRect/>
          </a:stretch>
        </p:blipFill>
        <p:spPr>
          <a:xfrm>
            <a:off x="1287171" y="5886688"/>
            <a:ext cx="7337011" cy="7342152"/>
          </a:xfrm>
          <a:prstGeom prst="rect">
            <a:avLst/>
          </a:prstGeom>
          <a:ln w="12700">
            <a:miter lim="400000"/>
          </a:ln>
        </p:spPr>
      </p:pic>
      <p:sp>
        <p:nvSpPr>
          <p:cNvPr id="294" name="Por lo que necesitamos algún criterio de selección.…"/>
          <p:cNvSpPr txBox="1"/>
          <p:nvPr/>
        </p:nvSpPr>
        <p:spPr>
          <a:xfrm>
            <a:off x="9100611" y="5729995"/>
            <a:ext cx="14426135" cy="6697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3800" spc="-38"/>
            </a:pPr>
            <a:r>
              <a:rPr lang="es-ES_tradnl" dirty="0"/>
              <a:t>Por lo que necesitamos algún criterio de selección.</a:t>
            </a:r>
          </a:p>
          <a:p>
            <a:pPr algn="l">
              <a:defRPr sz="3800" spc="-38"/>
            </a:pPr>
            <a:endParaRPr lang="es-ES_tradnl" dirty="0"/>
          </a:p>
          <a:p>
            <a:pPr algn="l">
              <a:defRPr sz="3800" spc="-38"/>
            </a:pPr>
            <a:r>
              <a:rPr lang="es-ES_tradnl" dirty="0"/>
              <a:t>El caso que aquí estamos en busca del hiperplano que más lejos se encuentra de los datos de entrenamiento.</a:t>
            </a:r>
          </a:p>
          <a:p>
            <a:pPr algn="l">
              <a:defRPr sz="3800" spc="-38"/>
            </a:pPr>
            <a:endParaRPr lang="es-ES_tradnl" dirty="0"/>
          </a:p>
          <a:p>
            <a:pPr algn="l">
              <a:defRPr sz="3800" spc="-38"/>
            </a:pPr>
            <a:r>
              <a:rPr lang="es-ES_tradnl" dirty="0"/>
              <a:t>Es decir:</a:t>
            </a:r>
          </a:p>
          <a:p>
            <a:pPr algn="l">
              <a:defRPr sz="3800" spc="-38"/>
            </a:pPr>
            <a:r>
              <a:rPr lang="es-ES_tradnl" dirty="0"/>
              <a:t>	1. Tomamos un hiperplano.</a:t>
            </a:r>
          </a:p>
          <a:p>
            <a:pPr algn="l">
              <a:defRPr sz="3800" spc="-38"/>
            </a:pPr>
            <a:r>
              <a:rPr lang="es-ES_tradnl" dirty="0"/>
              <a:t>	2. Calculamos las distancias de cada punto de entrenamiento</a:t>
            </a:r>
          </a:p>
          <a:p>
            <a:pPr algn="l">
              <a:defRPr sz="3800" spc="-38"/>
            </a:pPr>
            <a:r>
              <a:rPr lang="es-ES_tradnl" dirty="0"/>
              <a:t>	3. Obtenemos la distancia más chica de todas las distancias</a:t>
            </a:r>
          </a:p>
          <a:p>
            <a:pPr algn="l">
              <a:defRPr sz="3800" spc="-38"/>
            </a:pPr>
            <a:endParaRPr lang="es-ES_tradnl" dirty="0"/>
          </a:p>
          <a:p>
            <a:pPr algn="l">
              <a:defRPr sz="3800" spc="-38"/>
            </a:pPr>
            <a:r>
              <a:rPr lang="es-ES_tradnl" dirty="0"/>
              <a:t>Esa distancia la llamamos </a:t>
            </a:r>
            <a:r>
              <a:rPr lang="es-ES_tradnl" dirty="0">
                <a:solidFill>
                  <a:schemeClr val="accent6">
                    <a:lumOff val="-39947"/>
                  </a:schemeClr>
                </a:solidFill>
                <a:latin typeface="Graphik Compact Bold"/>
                <a:ea typeface="Graphik Compact Bold"/>
                <a:cs typeface="Graphik Compact Bold"/>
                <a:sym typeface="Graphik Compact Bold"/>
              </a:rPr>
              <a:t>margen</a:t>
            </a:r>
            <a:r>
              <a:rPr lang="es-ES_tradnl" dirty="0"/>
              <a:t>.</a:t>
            </a:r>
          </a:p>
          <a:p>
            <a:pPr algn="l">
              <a:defRPr sz="3800" spc="-38"/>
            </a:pPr>
            <a:br>
              <a:rPr lang="es-ES_tradnl" dirty="0"/>
            </a:br>
            <a:r>
              <a:rPr lang="es-ES_tradnl" dirty="0"/>
              <a:t>Cada hiperplano tendrá su margen.</a:t>
            </a:r>
          </a:p>
        </p:txBody>
      </p:sp>
      <p:sp>
        <p:nvSpPr>
          <p:cNvPr id="3" name="Slide Number Placeholder 5">
            <a:extLst>
              <a:ext uri="{FF2B5EF4-FFF2-40B4-BE49-F238E27FC236}">
                <a16:creationId xmlns:a16="http://schemas.microsoft.com/office/drawing/2014/main" id="{BA1EBE89-7A64-B505-53A1-97C2B6D5414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a:t>
            </a:fld>
            <a:endParaRPr lang="en-US" sz="2800" dirty="0"/>
          </a:p>
        </p:txBody>
      </p:sp>
    </p:spTree>
    <p:extLst>
      <p:ext uri="{BB962C8B-B14F-4D97-AF65-F5344CB8AC3E}">
        <p14:creationId xmlns:p14="http://schemas.microsoft.com/office/powerpoint/2010/main" val="321032889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297" name="En general si nuestra data es linealmente separable, puede existir un numero infinito de hiperplanos que van a funcionar"/>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En general si nuestra data es linealmente separable, puede existir un numero infinito de hiperplanos que van a funcionar</a:t>
            </a:r>
          </a:p>
          <a:p>
            <a:pPr>
              <a:defRPr sz="4600">
                <a:latin typeface="Graphik Compact Regular"/>
                <a:ea typeface="Graphik Compact Regular"/>
                <a:cs typeface="Graphik Compact Regular"/>
                <a:sym typeface="Graphik Compact Regular"/>
              </a:defRPr>
            </a:pPr>
            <a:r>
              <a:rPr lang="es-ES_tradnl" dirty="0"/>
              <a:t>                                                                   </a:t>
            </a:r>
          </a:p>
        </p:txBody>
      </p:sp>
      <p:pic>
        <p:nvPicPr>
          <p:cNvPr id="298" name="path3727dd5.png" descr="path3727dd5.png"/>
          <p:cNvPicPr>
            <a:picLocks noChangeAspect="1"/>
          </p:cNvPicPr>
          <p:nvPr/>
        </p:nvPicPr>
        <p:blipFill>
          <a:blip r:embed="rId2"/>
          <a:srcRect l="105" r="105"/>
          <a:stretch>
            <a:fillRect/>
          </a:stretch>
        </p:blipFill>
        <p:spPr>
          <a:xfrm>
            <a:off x="1287171" y="5886688"/>
            <a:ext cx="7337011" cy="7342152"/>
          </a:xfrm>
          <a:prstGeom prst="rect">
            <a:avLst/>
          </a:prstGeom>
          <a:ln w="12700">
            <a:miter lim="400000"/>
          </a:ln>
        </p:spPr>
      </p:pic>
      <p:sp>
        <p:nvSpPr>
          <p:cNvPr id="299" name="Por lo que necesitamos algún criterio de selección.…"/>
          <p:cNvSpPr txBox="1"/>
          <p:nvPr/>
        </p:nvSpPr>
        <p:spPr>
          <a:xfrm>
            <a:off x="9100611" y="6175829"/>
            <a:ext cx="14426135" cy="25442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3800" spc="-38"/>
            </a:pPr>
            <a:r>
              <a:rPr lang="es-ES_tradnl" dirty="0"/>
              <a:t>El objetivo es buscar el hiperplano que mas grande posee este margen y, el algoritmo que hace esto es el </a:t>
            </a:r>
            <a:r>
              <a:rPr lang="es-ES_tradnl" dirty="0" err="1">
                <a:latin typeface="Graphik Compact Bold"/>
                <a:ea typeface="Graphik Compact Bold"/>
                <a:cs typeface="Graphik Compact Bold"/>
                <a:sym typeface="Graphik Compact Bold"/>
              </a:rPr>
              <a:t>Maximal</a:t>
            </a:r>
            <a:r>
              <a:rPr lang="es-ES_tradnl" dirty="0">
                <a:latin typeface="Graphik Compact Bold"/>
                <a:ea typeface="Graphik Compact Bold"/>
                <a:cs typeface="Graphik Compact Bold"/>
                <a:sym typeface="Graphik Compact Bold"/>
              </a:rPr>
              <a:t> </a:t>
            </a:r>
            <a:r>
              <a:rPr lang="es-ES_tradnl" dirty="0" err="1">
                <a:latin typeface="Graphik Compact Bold"/>
                <a:ea typeface="Graphik Compact Bold"/>
                <a:cs typeface="Graphik Compact Bold"/>
                <a:sym typeface="Graphik Compact Bold"/>
              </a:rPr>
              <a:t>Margin</a:t>
            </a:r>
            <a:r>
              <a:rPr lang="es-ES_tradnl" dirty="0">
                <a:latin typeface="Graphik Compact Bold"/>
                <a:ea typeface="Graphik Compact Bold"/>
                <a:cs typeface="Graphik Compact Bold"/>
                <a:sym typeface="Graphik Compact Bold"/>
              </a:rPr>
              <a:t> </a:t>
            </a:r>
            <a:r>
              <a:rPr lang="es-ES_tradnl" dirty="0" err="1">
                <a:latin typeface="Graphik Compact Bold"/>
                <a:ea typeface="Graphik Compact Bold"/>
                <a:cs typeface="Graphik Compact Bold"/>
                <a:sym typeface="Graphik Compact Bold"/>
              </a:rPr>
              <a:t>Classifier</a:t>
            </a:r>
            <a:r>
              <a:rPr lang="es-ES_tradnl" dirty="0">
                <a:latin typeface="Graphik Compact Bold"/>
                <a:ea typeface="Graphik Compact Bold"/>
                <a:cs typeface="Graphik Compact Bold"/>
                <a:sym typeface="Graphik Compact Bold"/>
              </a:rPr>
              <a:t>.</a:t>
            </a:r>
          </a:p>
          <a:p>
            <a:pPr algn="l">
              <a:defRPr sz="3800" spc="-38"/>
            </a:pPr>
            <a:endParaRPr lang="es-ES_tradnl" dirty="0">
              <a:latin typeface="Graphik Compact Bold"/>
              <a:ea typeface="Graphik Compact Bold"/>
              <a:cs typeface="Graphik Compact Bold"/>
              <a:sym typeface="Graphik Compact Bold"/>
            </a:endParaRPr>
          </a:p>
          <a:p>
            <a:pPr algn="l">
              <a:defRPr sz="3800" spc="-38"/>
            </a:pPr>
            <a:r>
              <a:rPr lang="es-ES_tradnl" dirty="0"/>
              <a:t>Podemos pensar que el clasificador busca el máximo </a:t>
            </a:r>
            <a:r>
              <a:rPr lang="es-ES_tradnl" dirty="0">
                <a:solidFill>
                  <a:schemeClr val="accent5"/>
                </a:solidFill>
                <a:latin typeface="Graphik Compact Bold"/>
                <a:ea typeface="Graphik Compact Bold"/>
                <a:cs typeface="Graphik Compact Bold"/>
                <a:sym typeface="Graphik Compact Bold"/>
              </a:rPr>
              <a:t>grosor</a:t>
            </a:r>
            <a:r>
              <a:rPr lang="es-ES_tradnl" dirty="0"/>
              <a:t> de recta que puede pasar entre las clases</a:t>
            </a:r>
          </a:p>
        </p:txBody>
      </p:sp>
      <p:sp>
        <p:nvSpPr>
          <p:cNvPr id="3" name="Slide Number Placeholder 5">
            <a:extLst>
              <a:ext uri="{FF2B5EF4-FFF2-40B4-BE49-F238E27FC236}">
                <a16:creationId xmlns:a16="http://schemas.microsoft.com/office/drawing/2014/main" id="{66600B30-8C31-375F-234F-7A486731E9F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a:t>
            </a:fld>
            <a:endParaRPr lang="en-US" sz="2800" dirty="0"/>
          </a:p>
        </p:txBody>
      </p:sp>
    </p:spTree>
    <p:extLst>
      <p:ext uri="{BB962C8B-B14F-4D97-AF65-F5344CB8AC3E}">
        <p14:creationId xmlns:p14="http://schemas.microsoft.com/office/powerpoint/2010/main" val="115107383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302" name="En este ejemplo, vemos que hay tres observaciones que están equidistante desde el hiperplano de máximo marge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En este ejemplo, vemos que hay tres observaciones que están equidistante desde el hiperplano de máximo margen.</a:t>
            </a:r>
          </a:p>
          <a:p>
            <a:pPr>
              <a:defRPr sz="4600">
                <a:latin typeface="Graphik Compact Regular"/>
                <a:ea typeface="Graphik Compact Regular"/>
                <a:cs typeface="Graphik Compact Regular"/>
                <a:sym typeface="Graphik Compact Regular"/>
              </a:defRPr>
            </a:pPr>
            <a:r>
              <a:rPr lang="es-ES_tradnl" dirty="0"/>
              <a:t>                                                                   </a:t>
            </a:r>
          </a:p>
        </p:txBody>
      </p:sp>
      <p:pic>
        <p:nvPicPr>
          <p:cNvPr id="303" name="path3727dd5.png" descr="path3727dd5.png"/>
          <p:cNvPicPr>
            <a:picLocks noChangeAspect="1"/>
          </p:cNvPicPr>
          <p:nvPr/>
        </p:nvPicPr>
        <p:blipFill>
          <a:blip r:embed="rId2"/>
          <a:srcRect l="105" r="105"/>
          <a:stretch>
            <a:fillRect/>
          </a:stretch>
        </p:blipFill>
        <p:spPr>
          <a:xfrm>
            <a:off x="1287171" y="5886688"/>
            <a:ext cx="7337011" cy="7342152"/>
          </a:xfrm>
          <a:prstGeom prst="rect">
            <a:avLst/>
          </a:prstGeom>
          <a:ln w="12700">
            <a:miter lim="400000"/>
          </a:ln>
        </p:spPr>
      </p:pic>
      <p:sp>
        <p:nvSpPr>
          <p:cNvPr id="304" name="Estas tres observaciones son conocidas como vectores de soportes, dado que soportan el hiperplano.…"/>
          <p:cNvSpPr txBox="1"/>
          <p:nvPr/>
        </p:nvSpPr>
        <p:spPr>
          <a:xfrm>
            <a:off x="8965145" y="6194625"/>
            <a:ext cx="14426135" cy="48382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4600" spc="-45"/>
            </a:pPr>
            <a:r>
              <a:rPr lang="es-ES_tradnl" dirty="0"/>
              <a:t>Estas tres observaciones son conocidas como </a:t>
            </a:r>
            <a:r>
              <a:rPr lang="es-ES_tradnl" dirty="0">
                <a:latin typeface="Graphik Compact Bold"/>
                <a:ea typeface="Graphik Compact Bold"/>
                <a:cs typeface="Graphik Compact Bold"/>
                <a:sym typeface="Graphik Compact Bold"/>
              </a:rPr>
              <a:t>vectores de soportes</a:t>
            </a:r>
            <a:r>
              <a:rPr lang="es-ES_tradnl" dirty="0"/>
              <a:t>, dado que soportan el hiperplano.</a:t>
            </a:r>
          </a:p>
          <a:p>
            <a:pPr algn="l">
              <a:defRPr sz="4600" spc="-45"/>
            </a:pPr>
            <a:endParaRPr lang="es-ES_tradnl" dirty="0"/>
          </a:p>
          <a:p>
            <a:pPr algn="l">
              <a:defRPr sz="4600" spc="-45"/>
            </a:pPr>
            <a:r>
              <a:rPr lang="es-ES_tradnl" dirty="0"/>
              <a:t>Esto es porque si uno de estos puntos se mueve, aunque sea un poco, el hiperplano también se va a mover.</a:t>
            </a:r>
          </a:p>
          <a:p>
            <a:pPr algn="l">
              <a:defRPr sz="4600" spc="-45"/>
            </a:pPr>
            <a:endParaRPr lang="es-ES_tradnl" dirty="0"/>
          </a:p>
          <a:p>
            <a:pPr algn="l">
              <a:defRPr sz="4600" spc="-45"/>
            </a:pPr>
            <a:r>
              <a:rPr lang="es-ES_tradnl" dirty="0"/>
              <a:t>El hiperplano depende solo de esos tres puntos y no del resto de las observaciones.</a:t>
            </a:r>
          </a:p>
        </p:txBody>
      </p:sp>
      <p:sp>
        <p:nvSpPr>
          <p:cNvPr id="3" name="Slide Number Placeholder 5">
            <a:extLst>
              <a:ext uri="{FF2B5EF4-FFF2-40B4-BE49-F238E27FC236}">
                <a16:creationId xmlns:a16="http://schemas.microsoft.com/office/drawing/2014/main" id="{07F8BBE5-25FD-94EE-9182-DFE50513F992}"/>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9</a:t>
            </a:fld>
            <a:endParaRPr lang="en-US" sz="2800" dirty="0"/>
          </a:p>
        </p:txBody>
      </p:sp>
    </p:spTree>
    <p:extLst>
      <p:ext uri="{BB962C8B-B14F-4D97-AF65-F5344CB8AC3E}">
        <p14:creationId xmlns:p14="http://schemas.microsoft.com/office/powerpoint/2010/main" val="297182710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mc:AlternateContent xmlns:mc="http://schemas.openxmlformats.org/markup-compatibility/2006" xmlns:a14="http://schemas.microsoft.com/office/drawing/2010/main">
        <mc:Choice Requires="a14">
          <p:sp>
            <p:nvSpPr>
              <p:cNvPr id="307" name="Para construir este hiperplano, necesitamos resolver el problema de optimización:"/>
              <p:cNvSpPr txBox="1">
                <a:spLocks noGrp="1"/>
              </p:cNvSpPr>
              <p:nvPr>
                <p:ph type="body" idx="1"/>
              </p:nvPr>
            </p:nvSpPr>
            <p:spPr>
              <a:xfrm>
                <a:off x="1295400" y="3710394"/>
                <a:ext cx="21869400" cy="9532780"/>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Para construir este hiperplano, necesitamos resolver el problema de optimización:</a:t>
                </a:r>
              </a:p>
              <a:p>
                <a:pPr>
                  <a:defRPr sz="4600">
                    <a:latin typeface="Graphik Compact Regular"/>
                    <a:ea typeface="Graphik Compact Regular"/>
                    <a:cs typeface="Graphik Compact Regular"/>
                    <a:sym typeface="Graphik Compact Regular"/>
                  </a:defRPr>
                </a:pPr>
                <a:endParaRPr lang="es-ES_tradnl" dirty="0"/>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max</m:t>
                              </m:r>
                              <m:r>
                                <m:rPr>
                                  <m:sty m:val="p"/>
                                </m:rPr>
                                <a:rPr lang="en-US"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b="0" i="1" smtClean="0">
                              <a:latin typeface="Cambria Math" panose="02040503050406030204" pitchFamily="18" charset="0"/>
                            </a:rPr>
                            <m:t>𝑀</m:t>
                          </m:r>
                        </m:e>
                      </m:func>
                    </m:oMath>
                  </m:oMathPara>
                </a14:m>
                <a:endParaRPr lang="es-ES_tradnl" dirty="0"/>
              </a:p>
              <a:p>
                <a:pPr algn="ctr">
                  <a:defRPr sz="4600">
                    <a:latin typeface="Graphik Compact Regular"/>
                    <a:ea typeface="Graphik Compact Regular"/>
                    <a:cs typeface="Graphik Compact Regular"/>
                    <a:sym typeface="Graphik Compact Regular"/>
                  </a:defRPr>
                </a:pPr>
                <a:br>
                  <a:rPr lang="en-US"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𝑠𝑢𝑗𝑒𝑡𝑜</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Sup>
                            <m:sSubSupPr>
                              <m:ctrlPr>
                                <a:rPr lang="en-US" b="0" i="1" smtClean="0">
                                  <a:latin typeface="Cambria Math" panose="02040503050406030204" pitchFamily="18" charset="0"/>
                                </a:rPr>
                              </m:ctrlPr>
                            </m:sSubSupPr>
                            <m:e>
                              <m:r>
                                <a:rPr lang="es-ES_tradnl" sz="4800"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r>
                        <a:rPr lang="en-US" b="0" i="1" smtClean="0">
                          <a:latin typeface="Cambria Math" panose="02040503050406030204" pitchFamily="18" charset="0"/>
                        </a:rPr>
                        <m:t>=1</m:t>
                      </m:r>
                    </m:oMath>
                  </m:oMathPara>
                </a14:m>
                <a:endParaRPr lang="es-ES_tradnl" dirty="0"/>
              </a:p>
              <a:p>
                <a:pPr algn="ctr">
                  <a:defRPr sz="4600">
                    <a:latin typeface="Graphik Compact Regular"/>
                    <a:ea typeface="Graphik Compact Regular"/>
                    <a:cs typeface="Graphik Compact Regular"/>
                    <a:sym typeface="Graphik Compact Regular"/>
                  </a:defRPr>
                </a:pPr>
                <a:br>
                  <a:rPr lang="en-US" sz="4400"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𝑦</m:t>
                          </m:r>
                        </m:e>
                        <m:sub>
                          <m:r>
                            <a:rPr lang="en-US" sz="4400" b="0" i="1" smtClean="0">
                              <a:latin typeface="Cambria Math" panose="02040503050406030204" pitchFamily="18" charset="0"/>
                            </a:rPr>
                            <m:t>𝑖</m:t>
                          </m:r>
                        </m:sub>
                      </m:sSub>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b="0" i="1" smtClean="0">
                          <a:latin typeface="Cambria Math" panose="02040503050406030204" pitchFamily="18" charset="0"/>
                        </a:rPr>
                        <m:t>&gt;</m:t>
                      </m:r>
                      <m:r>
                        <a:rPr lang="en-US" sz="4400" b="0" i="1" smtClean="0">
                          <a:latin typeface="Cambria Math" panose="02040503050406030204" pitchFamily="18" charset="0"/>
                        </a:rPr>
                        <m:t>𝑀</m:t>
                      </m:r>
                      <m:r>
                        <a:rPr lang="en-US" sz="4400" b="0" i="1" smtClean="0">
                          <a:latin typeface="Cambria Math" panose="02040503050406030204" pitchFamily="18" charset="0"/>
                        </a:rPr>
                        <m:t>   ∀</m:t>
                      </m:r>
                      <m:r>
                        <a:rPr lang="en-US" sz="4400" b="0" i="1" smtClean="0">
                          <a:latin typeface="Cambria Math" panose="02040503050406030204" pitchFamily="18" charset="0"/>
                        </a:rPr>
                        <m:t>𝑖</m:t>
                      </m:r>
                      <m:r>
                        <a:rPr lang="en-US" sz="4400" b="0" i="1" smtClean="0">
                          <a:latin typeface="Cambria Math" panose="02040503050406030204" pitchFamily="18" charset="0"/>
                        </a:rPr>
                        <m:t>=1,…,</m:t>
                      </m:r>
                      <m:r>
                        <a:rPr lang="en-US" sz="4400" b="0" i="1" smtClean="0">
                          <a:latin typeface="Cambria Math" panose="02040503050406030204" pitchFamily="18" charset="0"/>
                        </a:rPr>
                        <m:t>𝑛</m:t>
                      </m:r>
                    </m:oMath>
                  </m:oMathPara>
                </a14:m>
                <a:endParaRPr lang="es-ES_tradnl" dirty="0"/>
              </a:p>
              <a:p>
                <a:pPr>
                  <a:defRPr sz="4600">
                    <a:latin typeface="Graphik Compact Regular"/>
                    <a:ea typeface="Graphik Compact Regular"/>
                    <a:cs typeface="Graphik Compact Regular"/>
                    <a:sym typeface="Graphik Compact Regular"/>
                  </a:defRPr>
                </a:pPr>
                <a:r>
                  <a:rPr lang="es-ES_tradnl" dirty="0"/>
                  <a:t>                </a:t>
                </a:r>
              </a:p>
            </p:txBody>
          </p:sp>
        </mc:Choice>
        <mc:Fallback xmlns="">
          <p:sp>
            <p:nvSpPr>
              <p:cNvPr id="307" name="Para construir este hiperplano, necesitamos resolver el problema de optimización:"/>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332" b="-133"/>
                </a:stretch>
              </a:blipFill>
            </p:spPr>
            <p:txBody>
              <a:bodyPr/>
              <a:lstStyle/>
              <a:p>
                <a:r>
                  <a:rPr lang="es-ES_tradnl">
                    <a:noFill/>
                  </a:rPr>
                  <a:t> </a:t>
                </a:r>
              </a:p>
            </p:txBody>
          </p:sp>
        </mc:Fallback>
      </mc:AlternateContent>
      <p:sp>
        <p:nvSpPr>
          <p:cNvPr id="2" name="1 Elipse"/>
          <p:cNvSpPr/>
          <p:nvPr/>
        </p:nvSpPr>
        <p:spPr>
          <a:xfrm>
            <a:off x="14401149" y="10499513"/>
            <a:ext cx="3350824" cy="1449238"/>
          </a:xfrm>
          <a:prstGeom prst="ellipse">
            <a:avLst/>
          </a:prstGeom>
          <a:noFill/>
          <a:ln w="57150" cap="flat">
            <a:solidFill>
              <a:schemeClr val="accent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s-AR"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endParaRPr>
          </a:p>
        </p:txBody>
      </p:sp>
      <p:sp>
        <p:nvSpPr>
          <p:cNvPr id="3" name="2 CuadroTexto"/>
          <p:cNvSpPr txBox="1"/>
          <p:nvPr/>
        </p:nvSpPr>
        <p:spPr>
          <a:xfrm>
            <a:off x="14155505" y="12021142"/>
            <a:ext cx="6084936" cy="4739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AR" sz="2600" b="0" i="0" u="none" strike="noStrike" cap="none" spc="-26" normalizeH="0" baseline="0" dirty="0">
                <a:ln>
                  <a:noFill/>
                </a:ln>
                <a:solidFill>
                  <a:srgbClr val="000000"/>
                </a:solidFill>
                <a:effectLst/>
                <a:uFillTx/>
                <a:sym typeface="Graphik Compact Regular"/>
              </a:rPr>
              <a:t>Para cada observación de entrenamiento</a:t>
            </a:r>
          </a:p>
        </p:txBody>
      </p:sp>
      <p:sp>
        <p:nvSpPr>
          <p:cNvPr id="5" name="Slide Number Placeholder 5">
            <a:extLst>
              <a:ext uri="{FF2B5EF4-FFF2-40B4-BE49-F238E27FC236}">
                <a16:creationId xmlns:a16="http://schemas.microsoft.com/office/drawing/2014/main" id="{4B410D72-0212-92D2-672E-2753575216F4}"/>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10</a:t>
            </a:fld>
            <a:endParaRPr lang="en-US" sz="2800" dirty="0"/>
          </a:p>
        </p:txBody>
      </p:sp>
    </p:spTree>
    <p:extLst>
      <p:ext uri="{BB962C8B-B14F-4D97-AF65-F5344CB8AC3E}">
        <p14:creationId xmlns:p14="http://schemas.microsoft.com/office/powerpoint/2010/main" val="200828707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313" name="Para construir este hiperplano, necesitamos resolver el problema de optimizació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hiperplano, necesitamos resolver el problema de optimización:</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396E10AA-6052-3657-D329-38E6BB1ED30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11</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48E7AA-2E96-36AA-EDF1-EE52313ADC6B}"/>
                  </a:ext>
                </a:extLst>
              </p:cNvPr>
              <p:cNvSpPr txBox="1"/>
              <p:nvPr/>
            </p:nvSpPr>
            <p:spPr>
              <a:xfrm>
                <a:off x="1464733" y="5210644"/>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D248E7AA-2E96-36AA-EDF1-EE52313ADC6B}"/>
                  </a:ext>
                </a:extLst>
              </p:cNvPr>
              <p:cNvSpPr txBox="1">
                <a:spLocks noRot="1" noChangeAspect="1" noMove="1" noResize="1" noEditPoints="1" noAdjustHandles="1" noChangeArrowheads="1" noChangeShapeType="1" noTextEdit="1"/>
              </p:cNvSpPr>
              <p:nvPr/>
            </p:nvSpPr>
            <p:spPr>
              <a:xfrm>
                <a:off x="1464733" y="5210644"/>
                <a:ext cx="3338093" cy="949619"/>
              </a:xfrm>
              <a:prstGeom prst="rect">
                <a:avLst/>
              </a:prstGeom>
              <a:blipFill>
                <a:blip r:embed="rId2"/>
                <a:stretch>
                  <a:fillRect l="-2273" t="-2632"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8F582E-4437-7D73-D20E-967614EE2D1B}"/>
                  </a:ext>
                </a:extLst>
              </p:cNvPr>
              <p:cNvSpPr txBox="1"/>
              <p:nvPr/>
            </p:nvSpPr>
            <p:spPr>
              <a:xfrm>
                <a:off x="8668143" y="5942642"/>
                <a:ext cx="8875764" cy="7373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0</m:t>
                            </m:r>
                          </m:sub>
                        </m:sSub>
                        <m:r>
                          <a:rPr lang="en-US" sz="4400" b="0" i="1" smtClean="0">
                            <a:latin typeface="Cambria Math" panose="02040503050406030204" pitchFamily="18" charset="0"/>
                          </a:rPr>
                          <m:t>, …,</m:t>
                        </m:r>
                        <m:sSub>
                          <m:sSubPr>
                            <m:ctrlPr>
                              <a:rPr lang="es-ES_tradnl" sz="4400" i="1" smtClean="0">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𝑝</m:t>
                            </m:r>
                          </m:sub>
                        </m:sSub>
                        <m:r>
                          <a:rPr lang="en-US" sz="4400" b="0" i="1" smtClean="0">
                            <a:latin typeface="Cambria Math" panose="02040503050406030204" pitchFamily="18" charset="0"/>
                          </a:rPr>
                          <m:t>     </m:t>
                        </m:r>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1</m:t>
                        </m:r>
                      </m:sub>
                    </m:sSub>
                  </m:oMath>
                </a14:m>
                <a:r>
                  <a:rPr kumimoji="0" lang="es-ES_tradnl" sz="4400" b="0" i="0" u="none" strike="noStrike" cap="none" spc="-26" normalizeH="0" baseline="0" dirty="0">
                    <a:ln>
                      <a:noFill/>
                    </a:ln>
                    <a:solidFill>
                      <a:srgbClr val="000000"/>
                    </a:solidFill>
                    <a:effectLst/>
                    <a:uFillTx/>
                    <a:sym typeface="Graphik Compact Regular"/>
                  </a:rPr>
                  <a:t>+</a:t>
                </a:r>
                <a:r>
                  <a:rPr lang="es-ES_tradnl" sz="4400" dirty="0"/>
                  <a:t> … +</a:t>
                </a:r>
                <a14:m>
                  <m:oMath xmlns:m="http://schemas.openxmlformats.org/officeDocument/2006/math">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𝑝</m:t>
                        </m:r>
                      </m:sub>
                    </m:sSub>
                  </m:oMath>
                </a14:m>
                <a:r>
                  <a:rPr lang="es-ES_tradnl" sz="4400" dirty="0"/>
                  <a:t> </a:t>
                </a:r>
                <a14:m>
                  <m:oMath xmlns:m="http://schemas.openxmlformats.org/officeDocument/2006/math">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𝑝</m:t>
                        </m:r>
                      </m:sub>
                    </m:sSub>
                    <m:r>
                      <a:rPr lang="en-US" sz="4400" b="0" i="1" smtClean="0">
                        <a:latin typeface="Cambria Math" panose="02040503050406030204" pitchFamily="18" charset="0"/>
                      </a:rPr>
                      <m:t>=0</m:t>
                    </m:r>
                  </m:oMath>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6" name="TextBox 5">
                <a:extLst>
                  <a:ext uri="{FF2B5EF4-FFF2-40B4-BE49-F238E27FC236}">
                    <a16:creationId xmlns:a16="http://schemas.microsoft.com/office/drawing/2014/main" id="{8F8F582E-4437-7D73-D20E-967614EE2D1B}"/>
                  </a:ext>
                </a:extLst>
              </p:cNvPr>
              <p:cNvSpPr txBox="1">
                <a:spLocks noRot="1" noChangeAspect="1" noMove="1" noResize="1" noEditPoints="1" noAdjustHandles="1" noChangeArrowheads="1" noChangeShapeType="1" noTextEdit="1"/>
              </p:cNvSpPr>
              <p:nvPr/>
            </p:nvSpPr>
            <p:spPr>
              <a:xfrm>
                <a:off x="8668143" y="5942642"/>
                <a:ext cx="8875764" cy="737381"/>
              </a:xfrm>
              <a:prstGeom prst="rect">
                <a:avLst/>
              </a:prstGeom>
              <a:blipFill>
                <a:blip r:embed="rId4"/>
                <a:stretch>
                  <a:fillRect l="-857" t="-27119" r="-1143" b="-3220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F4965B-F99A-8870-E64D-C4DA9CC3698E}"/>
                  </a:ext>
                </a:extLst>
              </p:cNvPr>
              <p:cNvSpPr txBox="1"/>
              <p:nvPr/>
            </p:nvSpPr>
            <p:spPr>
              <a:xfrm>
                <a:off x="10539874" y="6912301"/>
                <a:ext cx="992810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   </m:t>
                      </m:r>
                      <m:r>
                        <a:rPr lang="en-US" sz="4400" b="0" i="1" smtClean="0">
                          <a:latin typeface="Cambria Math" panose="02040503050406030204" pitchFamily="18" charset="0"/>
                          <a:ea typeface="Cambria Math" panose="02040503050406030204" pitchFamily="18" charset="0"/>
                        </a:rPr>
                        <m:t>𝜅</m:t>
                      </m:r>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𝑝</m:t>
                              </m:r>
                            </m:sub>
                          </m:sSub>
                        </m:e>
                      </m:d>
                      <m:r>
                        <a:rPr lang="en-US" sz="4400" b="0" i="1" smtClean="0">
                          <a:latin typeface="Cambria Math" panose="02040503050406030204" pitchFamily="18" charset="0"/>
                        </a:rPr>
                        <m:t>=0      </m:t>
                      </m:r>
                      <m:r>
                        <a:rPr lang="en-US" sz="4400" i="1">
                          <a:latin typeface="Cambria Math" panose="02040503050406030204" pitchFamily="18" charset="0"/>
                          <a:ea typeface="Cambria Math" panose="02040503050406030204" pitchFamily="18" charset="0"/>
                        </a:rPr>
                        <m:t>𝜅</m:t>
                      </m:r>
                      <m:r>
                        <a:rPr lang="en-US" sz="4400" i="1" smtClean="0">
                          <a:latin typeface="Cambria Math" panose="02040503050406030204" pitchFamily="18" charset="0"/>
                          <a:ea typeface="Cambria Math" panose="02040503050406030204" pitchFamily="18" charset="0"/>
                        </a:rPr>
                        <m:t>∈</m:t>
                      </m:r>
                      <m:r>
                        <a:rPr lang="en-US" sz="4400" i="1" smtClean="0">
                          <a:latin typeface="Cambria Math" panose="02040503050406030204" pitchFamily="18" charset="0"/>
                          <a:ea typeface="Cambria Math" panose="02040503050406030204" pitchFamily="18" charset="0"/>
                        </a:rPr>
                        <m:t>ℝ</m:t>
                      </m:r>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7" name="TextBox 6">
                <a:extLst>
                  <a:ext uri="{FF2B5EF4-FFF2-40B4-BE49-F238E27FC236}">
                    <a16:creationId xmlns:a16="http://schemas.microsoft.com/office/drawing/2014/main" id="{08F4965B-F99A-8870-E64D-C4DA9CC3698E}"/>
                  </a:ext>
                </a:extLst>
              </p:cNvPr>
              <p:cNvSpPr txBox="1">
                <a:spLocks noRot="1" noChangeAspect="1" noMove="1" noResize="1" noEditPoints="1" noAdjustHandles="1" noChangeArrowheads="1" noChangeShapeType="1" noTextEdit="1"/>
              </p:cNvSpPr>
              <p:nvPr/>
            </p:nvSpPr>
            <p:spPr>
              <a:xfrm>
                <a:off x="10539874" y="6912301"/>
                <a:ext cx="9928102" cy="724878"/>
              </a:xfrm>
              <a:prstGeom prst="rect">
                <a:avLst/>
              </a:prstGeom>
              <a:blipFill>
                <a:blip r:embed="rId5"/>
                <a:stretch>
                  <a:fillRect l="-511" t="-32759" b="-25862"/>
                </a:stretch>
              </a:blipFill>
              <a:ln w="12700" cap="flat">
                <a:noFill/>
                <a:miter lim="400000"/>
              </a:ln>
              <a:effectLst/>
            </p:spPr>
            <p:txBody>
              <a:bodyPr/>
              <a:lstStyle/>
              <a:p>
                <a:r>
                  <a:rPr lang="es-ES_tradnl">
                    <a:noFill/>
                  </a:rPr>
                  <a:t> </a:t>
                </a:r>
              </a:p>
            </p:txBody>
          </p:sp>
        </mc:Fallback>
      </mc:AlternateContent>
      <p:sp>
        <p:nvSpPr>
          <p:cNvPr id="10" name="Con esta restricción (usamos un versor) aseguramos el valor de M y ademas que:">
            <a:extLst>
              <a:ext uri="{FF2B5EF4-FFF2-40B4-BE49-F238E27FC236}">
                <a16:creationId xmlns:a16="http://schemas.microsoft.com/office/drawing/2014/main" id="{768057C4-3B7A-EF23-4919-A3D046E4169C}"/>
              </a:ext>
            </a:extLst>
          </p:cNvPr>
          <p:cNvSpPr txBox="1"/>
          <p:nvPr/>
        </p:nvSpPr>
        <p:spPr>
          <a:xfrm>
            <a:off x="8668143" y="8012031"/>
            <a:ext cx="14420457" cy="496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Hay infinitos valores que verifican esto.</a:t>
            </a:r>
          </a:p>
        </p:txBody>
      </p:sp>
      <p:sp>
        <p:nvSpPr>
          <p:cNvPr id="11" name="Oval 10">
            <a:extLst>
              <a:ext uri="{FF2B5EF4-FFF2-40B4-BE49-F238E27FC236}">
                <a16:creationId xmlns:a16="http://schemas.microsoft.com/office/drawing/2014/main" id="{F512862E-0B48-6DFA-E0EE-E42A93380F85}"/>
              </a:ext>
            </a:extLst>
          </p:cNvPr>
          <p:cNvSpPr/>
          <p:nvPr/>
        </p:nvSpPr>
        <p:spPr>
          <a:xfrm>
            <a:off x="11461531" y="6912301"/>
            <a:ext cx="730469" cy="724878"/>
          </a:xfrm>
          <a:prstGeom prst="ellipse">
            <a:avLst/>
          </a:prstGeom>
          <a:noFill/>
          <a:ln w="57150"/>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s-ES_tradnl"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endParaRPr>
          </a:p>
        </p:txBody>
      </p:sp>
    </p:spTree>
    <p:extLst>
      <p:ext uri="{BB962C8B-B14F-4D97-AF65-F5344CB8AC3E}">
        <p14:creationId xmlns:p14="http://schemas.microsoft.com/office/powerpoint/2010/main" val="21617103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313" name="Para construir este hiperplano, necesitamos resolver el problema de optimizació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hiperplano, necesitamos resolver el problema de optimización:</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16" name="Rectangle"/>
          <p:cNvSpPr/>
          <p:nvPr/>
        </p:nvSpPr>
        <p:spPr>
          <a:xfrm>
            <a:off x="1464733" y="7179354"/>
            <a:ext cx="5159384" cy="1828801"/>
          </a:xfrm>
          <a:prstGeom prst="rect">
            <a:avLst/>
          </a:prstGeom>
          <a:ln w="63500">
            <a:solidFill>
              <a:schemeClr val="accent6">
                <a:lumMod val="75000"/>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solidFill>
                <a:schemeClr val="accent6">
                  <a:lumMod val="75000"/>
                </a:schemeClr>
              </a:solidFill>
            </a:endParaRPr>
          </a:p>
        </p:txBody>
      </p:sp>
      <p:sp>
        <p:nvSpPr>
          <p:cNvPr id="317" name="Line"/>
          <p:cNvSpPr/>
          <p:nvPr/>
        </p:nvSpPr>
        <p:spPr>
          <a:xfrm>
            <a:off x="6662947" y="8111007"/>
            <a:ext cx="1782042" cy="1"/>
          </a:xfrm>
          <a:prstGeom prst="line">
            <a:avLst/>
          </a:prstGeom>
          <a:ln w="88900">
            <a:solidFill>
              <a:schemeClr val="accent6">
                <a:lumMod val="75000"/>
              </a:schemeClr>
            </a:solidFill>
            <a:miter lim="400000"/>
            <a:tailEnd type="triangle"/>
          </a:ln>
        </p:spPr>
        <p:txBody>
          <a:bodyPr lIns="50800" tIns="50800" rIns="50800" bIns="50800" anchor="ctr"/>
          <a:lstStyle/>
          <a:p>
            <a:endParaRPr lang="es-ES_tradnl">
              <a:solidFill>
                <a:schemeClr val="accent6">
                  <a:lumMod val="75000"/>
                </a:schemeClr>
              </a:solidFill>
            </a:endParaRPr>
          </a:p>
        </p:txBody>
      </p:sp>
      <p:sp>
        <p:nvSpPr>
          <p:cNvPr id="320" name="Con esta restricción (usamos un versor) aseguramos el valor de M y ademas que:"/>
          <p:cNvSpPr txBox="1"/>
          <p:nvPr/>
        </p:nvSpPr>
        <p:spPr>
          <a:xfrm>
            <a:off x="8668143" y="7815054"/>
            <a:ext cx="14420457" cy="8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Con esta restricción (usamos un </a:t>
            </a:r>
            <a:r>
              <a:rPr lang="es-ES_tradnl" dirty="0" err="1">
                <a:solidFill>
                  <a:schemeClr val="accent6">
                    <a:lumMod val="75000"/>
                  </a:schemeClr>
                </a:solidFill>
              </a:rPr>
              <a:t>versor</a:t>
            </a:r>
            <a:r>
              <a:rPr lang="es-ES_tradnl" dirty="0">
                <a:solidFill>
                  <a:schemeClr val="accent6">
                    <a:lumMod val="75000"/>
                  </a:schemeClr>
                </a:solidFill>
              </a:rPr>
              <a:t>, vector normal del hiperplano con norma = 1) aseguramos el valor de M y además que:</a:t>
            </a:r>
          </a:p>
        </p:txBody>
      </p:sp>
      <p:sp>
        <p:nvSpPr>
          <p:cNvPr id="322" name="para una observación i, es la medida de la distancia perpendicular al hiperplano"/>
          <p:cNvSpPr txBox="1"/>
          <p:nvPr/>
        </p:nvSpPr>
        <p:spPr>
          <a:xfrm>
            <a:off x="8668143" y="9785818"/>
            <a:ext cx="13072475" cy="496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para una observación i, es la medida de la distancia perpendicular al hiperplano</a:t>
            </a:r>
          </a:p>
        </p:txBody>
      </p:sp>
      <p:sp>
        <p:nvSpPr>
          <p:cNvPr id="3" name="Slide Number Placeholder 5">
            <a:extLst>
              <a:ext uri="{FF2B5EF4-FFF2-40B4-BE49-F238E27FC236}">
                <a16:creationId xmlns:a16="http://schemas.microsoft.com/office/drawing/2014/main" id="{396E10AA-6052-3657-D329-38E6BB1ED30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12</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48E7AA-2E96-36AA-EDF1-EE52313ADC6B}"/>
                  </a:ext>
                </a:extLst>
              </p:cNvPr>
              <p:cNvSpPr txBox="1"/>
              <p:nvPr/>
            </p:nvSpPr>
            <p:spPr>
              <a:xfrm>
                <a:off x="1464733" y="5210644"/>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D248E7AA-2E96-36AA-EDF1-EE52313ADC6B}"/>
                  </a:ext>
                </a:extLst>
              </p:cNvPr>
              <p:cNvSpPr txBox="1">
                <a:spLocks noRot="1" noChangeAspect="1" noMove="1" noResize="1" noEditPoints="1" noAdjustHandles="1" noChangeArrowheads="1" noChangeShapeType="1" noTextEdit="1"/>
              </p:cNvSpPr>
              <p:nvPr/>
            </p:nvSpPr>
            <p:spPr>
              <a:xfrm>
                <a:off x="1464733" y="5210644"/>
                <a:ext cx="3338093" cy="949619"/>
              </a:xfrm>
              <a:prstGeom prst="rect">
                <a:avLst/>
              </a:prstGeom>
              <a:blipFill>
                <a:blip r:embed="rId2"/>
                <a:stretch>
                  <a:fillRect l="-2273" t="-2632"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ADD36D-264F-F95D-868D-B8B025407C3E}"/>
                  </a:ext>
                </a:extLst>
              </p:cNvPr>
              <p:cNvSpPr txBox="1"/>
              <p:nvPr/>
            </p:nvSpPr>
            <p:spPr>
              <a:xfrm>
                <a:off x="1676323" y="7396449"/>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46ADD36D-264F-F95D-868D-B8B025407C3E}"/>
                  </a:ext>
                </a:extLst>
              </p:cNvPr>
              <p:cNvSpPr txBox="1">
                <a:spLocks noRot="1" noChangeAspect="1" noMove="1" noResize="1" noEditPoints="1" noAdjustHandles="1" noChangeArrowheads="1" noChangeShapeType="1" noTextEdit="1"/>
              </p:cNvSpPr>
              <p:nvPr/>
            </p:nvSpPr>
            <p:spPr>
              <a:xfrm>
                <a:off x="1676323" y="7396449"/>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8F582E-4437-7D73-D20E-967614EE2D1B}"/>
                  </a:ext>
                </a:extLst>
              </p:cNvPr>
              <p:cNvSpPr txBox="1"/>
              <p:nvPr/>
            </p:nvSpPr>
            <p:spPr>
              <a:xfrm>
                <a:off x="8668143" y="5942642"/>
                <a:ext cx="8875764" cy="7373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0</m:t>
                            </m:r>
                          </m:sub>
                        </m:sSub>
                        <m:r>
                          <a:rPr lang="en-US" sz="4400" b="0" i="1" smtClean="0">
                            <a:latin typeface="Cambria Math" panose="02040503050406030204" pitchFamily="18" charset="0"/>
                          </a:rPr>
                          <m:t>, …,</m:t>
                        </m:r>
                        <m:sSub>
                          <m:sSubPr>
                            <m:ctrlPr>
                              <a:rPr lang="es-ES_tradnl" sz="4400" i="1" smtClean="0">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𝑝</m:t>
                            </m:r>
                          </m:sub>
                        </m:sSub>
                        <m:r>
                          <a:rPr lang="en-US" sz="4400" b="0" i="1" smtClean="0">
                            <a:latin typeface="Cambria Math" panose="02040503050406030204" pitchFamily="18" charset="0"/>
                          </a:rPr>
                          <m:t>     </m:t>
                        </m:r>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1</m:t>
                        </m:r>
                      </m:sub>
                    </m:sSub>
                  </m:oMath>
                </a14:m>
                <a:r>
                  <a:rPr kumimoji="0" lang="es-ES_tradnl" sz="4400" b="0" i="0" u="none" strike="noStrike" cap="none" spc="-26" normalizeH="0" baseline="0" dirty="0">
                    <a:ln>
                      <a:noFill/>
                    </a:ln>
                    <a:solidFill>
                      <a:srgbClr val="000000"/>
                    </a:solidFill>
                    <a:effectLst/>
                    <a:uFillTx/>
                    <a:sym typeface="Graphik Compact Regular"/>
                  </a:rPr>
                  <a:t>+</a:t>
                </a:r>
                <a:r>
                  <a:rPr lang="es-ES_tradnl" sz="4400" dirty="0"/>
                  <a:t> … +</a:t>
                </a:r>
                <a14:m>
                  <m:oMath xmlns:m="http://schemas.openxmlformats.org/officeDocument/2006/math">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𝑝</m:t>
                        </m:r>
                      </m:sub>
                    </m:sSub>
                  </m:oMath>
                </a14:m>
                <a:r>
                  <a:rPr lang="es-ES_tradnl" sz="4400" dirty="0"/>
                  <a:t> </a:t>
                </a:r>
                <a14:m>
                  <m:oMath xmlns:m="http://schemas.openxmlformats.org/officeDocument/2006/math">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𝑝</m:t>
                        </m:r>
                      </m:sub>
                    </m:sSub>
                    <m:r>
                      <a:rPr lang="en-US" sz="4400" b="0" i="1" smtClean="0">
                        <a:latin typeface="Cambria Math" panose="02040503050406030204" pitchFamily="18" charset="0"/>
                      </a:rPr>
                      <m:t>=0</m:t>
                    </m:r>
                  </m:oMath>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6" name="TextBox 5">
                <a:extLst>
                  <a:ext uri="{FF2B5EF4-FFF2-40B4-BE49-F238E27FC236}">
                    <a16:creationId xmlns:a16="http://schemas.microsoft.com/office/drawing/2014/main" id="{8F8F582E-4437-7D73-D20E-967614EE2D1B}"/>
                  </a:ext>
                </a:extLst>
              </p:cNvPr>
              <p:cNvSpPr txBox="1">
                <a:spLocks noRot="1" noChangeAspect="1" noMove="1" noResize="1" noEditPoints="1" noAdjustHandles="1" noChangeArrowheads="1" noChangeShapeType="1" noTextEdit="1"/>
              </p:cNvSpPr>
              <p:nvPr/>
            </p:nvSpPr>
            <p:spPr>
              <a:xfrm>
                <a:off x="8668143" y="5942642"/>
                <a:ext cx="8875764" cy="737381"/>
              </a:xfrm>
              <a:prstGeom prst="rect">
                <a:avLst/>
              </a:prstGeom>
              <a:blipFill>
                <a:blip r:embed="rId4"/>
                <a:stretch>
                  <a:fillRect l="-857" t="-27119" r="-1143" b="-3220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F4965B-F99A-8870-E64D-C4DA9CC3698E}"/>
                  </a:ext>
                </a:extLst>
              </p:cNvPr>
              <p:cNvSpPr txBox="1"/>
              <p:nvPr/>
            </p:nvSpPr>
            <p:spPr>
              <a:xfrm>
                <a:off x="10539874" y="6912301"/>
                <a:ext cx="992810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   </m:t>
                      </m:r>
                      <m:r>
                        <a:rPr lang="en-US" sz="4400" b="0" i="1" smtClean="0">
                          <a:latin typeface="Cambria Math" panose="02040503050406030204" pitchFamily="18" charset="0"/>
                          <a:ea typeface="Cambria Math" panose="02040503050406030204" pitchFamily="18" charset="0"/>
                        </a:rPr>
                        <m:t>𝜅</m:t>
                      </m:r>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𝑝</m:t>
                              </m:r>
                            </m:sub>
                          </m:sSub>
                        </m:e>
                      </m:d>
                      <m:r>
                        <a:rPr lang="en-US" sz="4400" b="0" i="1" smtClean="0">
                          <a:latin typeface="Cambria Math" panose="02040503050406030204" pitchFamily="18" charset="0"/>
                        </a:rPr>
                        <m:t>=0      </m:t>
                      </m:r>
                      <m:r>
                        <a:rPr lang="en-US" sz="4400" i="1">
                          <a:latin typeface="Cambria Math" panose="02040503050406030204" pitchFamily="18" charset="0"/>
                          <a:ea typeface="Cambria Math" panose="02040503050406030204" pitchFamily="18" charset="0"/>
                        </a:rPr>
                        <m:t>𝜅</m:t>
                      </m:r>
                      <m:r>
                        <a:rPr lang="en-US" sz="4400" i="1" smtClean="0">
                          <a:latin typeface="Cambria Math" panose="02040503050406030204" pitchFamily="18" charset="0"/>
                          <a:ea typeface="Cambria Math" panose="02040503050406030204" pitchFamily="18" charset="0"/>
                        </a:rPr>
                        <m:t>∈</m:t>
                      </m:r>
                      <m:r>
                        <a:rPr lang="en-US" sz="4400" i="1" smtClean="0">
                          <a:latin typeface="Cambria Math" panose="02040503050406030204" pitchFamily="18" charset="0"/>
                          <a:ea typeface="Cambria Math" panose="02040503050406030204" pitchFamily="18" charset="0"/>
                        </a:rPr>
                        <m:t>ℝ</m:t>
                      </m:r>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7" name="TextBox 6">
                <a:extLst>
                  <a:ext uri="{FF2B5EF4-FFF2-40B4-BE49-F238E27FC236}">
                    <a16:creationId xmlns:a16="http://schemas.microsoft.com/office/drawing/2014/main" id="{08F4965B-F99A-8870-E64D-C4DA9CC3698E}"/>
                  </a:ext>
                </a:extLst>
              </p:cNvPr>
              <p:cNvSpPr txBox="1">
                <a:spLocks noRot="1" noChangeAspect="1" noMove="1" noResize="1" noEditPoints="1" noAdjustHandles="1" noChangeArrowheads="1" noChangeShapeType="1" noTextEdit="1"/>
              </p:cNvSpPr>
              <p:nvPr/>
            </p:nvSpPr>
            <p:spPr>
              <a:xfrm>
                <a:off x="10539874" y="6912301"/>
                <a:ext cx="9928102" cy="724878"/>
              </a:xfrm>
              <a:prstGeom prst="rect">
                <a:avLst/>
              </a:prstGeom>
              <a:blipFill>
                <a:blip r:embed="rId5"/>
                <a:stretch>
                  <a:fillRect l="-511" t="-32759" b="-258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D4F76C-8488-1DB9-AC06-86F62B05267C}"/>
                  </a:ext>
                </a:extLst>
              </p:cNvPr>
              <p:cNvSpPr txBox="1"/>
              <p:nvPr/>
            </p:nvSpPr>
            <p:spPr>
              <a:xfrm>
                <a:off x="11449515" y="8895211"/>
                <a:ext cx="621048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s-ES_tradnl" sz="4400" i="1" smtClean="0">
                              <a:latin typeface="Cambria Math" panose="02040503050406030204" pitchFamily="18" charset="0"/>
                            </a:rPr>
                          </m:ctrlPr>
                        </m:sSubPr>
                        <m:e>
                          <m:r>
                            <a:rPr lang="en-US" sz="4400" b="0" i="1" smtClean="0">
                              <a:latin typeface="Cambria Math" panose="02040503050406030204" pitchFamily="18" charset="0"/>
                            </a:rPr>
                            <m:t>𝑦</m:t>
                          </m:r>
                        </m:e>
                        <m:sub>
                          <m:r>
                            <a:rPr lang="en-US" sz="4400" b="0" i="1" smtClean="0">
                              <a:latin typeface="Cambria Math" panose="02040503050406030204" pitchFamily="18" charset="0"/>
                              <a:ea typeface="Cambria Math" panose="02040503050406030204" pitchFamily="18" charset="0"/>
                            </a:rPr>
                            <m:t>𝑖</m:t>
                          </m:r>
                        </m:sub>
                      </m:sSub>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r>
                                <a:rPr lang="en-US" sz="4400" i="1">
                                  <a:latin typeface="Cambria Math" panose="02040503050406030204" pitchFamily="18" charset="0"/>
                                </a:rPr>
                                <m:t>𝑝</m:t>
                              </m:r>
                            </m:sub>
                          </m:sSub>
                        </m:e>
                      </m:d>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8" name="TextBox 7">
                <a:extLst>
                  <a:ext uri="{FF2B5EF4-FFF2-40B4-BE49-F238E27FC236}">
                    <a16:creationId xmlns:a16="http://schemas.microsoft.com/office/drawing/2014/main" id="{C7D4F76C-8488-1DB9-AC06-86F62B05267C}"/>
                  </a:ext>
                </a:extLst>
              </p:cNvPr>
              <p:cNvSpPr txBox="1">
                <a:spLocks noRot="1" noChangeAspect="1" noMove="1" noResize="1" noEditPoints="1" noAdjustHandles="1" noChangeArrowheads="1" noChangeShapeType="1" noTextEdit="1"/>
              </p:cNvSpPr>
              <p:nvPr/>
            </p:nvSpPr>
            <p:spPr>
              <a:xfrm>
                <a:off x="11449515" y="8895211"/>
                <a:ext cx="6210482" cy="724878"/>
              </a:xfrm>
              <a:prstGeom prst="rect">
                <a:avLst/>
              </a:prstGeom>
              <a:blipFill>
                <a:blip r:embed="rId6"/>
                <a:stretch>
                  <a:fillRect l="-1837" t="-32759" b="-258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8F505D-D4D9-B346-E629-F557B22A4785}"/>
                  </a:ext>
                </a:extLst>
              </p:cNvPr>
              <p:cNvSpPr txBox="1"/>
              <p:nvPr/>
            </p:nvSpPr>
            <p:spPr>
              <a:xfrm>
                <a:off x="6214167" y="10637750"/>
                <a:ext cx="10644068"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9" name="TextBox 8">
                <a:extLst>
                  <a:ext uri="{FF2B5EF4-FFF2-40B4-BE49-F238E27FC236}">
                    <a16:creationId xmlns:a16="http://schemas.microsoft.com/office/drawing/2014/main" id="{8D8F505D-D4D9-B346-E629-F557B22A4785}"/>
                  </a:ext>
                </a:extLst>
              </p:cNvPr>
              <p:cNvSpPr txBox="1">
                <a:spLocks noRot="1" noChangeAspect="1" noMove="1" noResize="1" noEditPoints="1" noAdjustHandles="1" noChangeArrowheads="1" noChangeShapeType="1" noTextEdit="1"/>
              </p:cNvSpPr>
              <p:nvPr/>
            </p:nvSpPr>
            <p:spPr>
              <a:xfrm>
                <a:off x="6214167" y="10637750"/>
                <a:ext cx="10644068" cy="724878"/>
              </a:xfrm>
              <a:prstGeom prst="rect">
                <a:avLst/>
              </a:prstGeom>
              <a:blipFill>
                <a:blip r:embed="rId7"/>
                <a:stretch>
                  <a:fillRect l="-954" t="-32759" b="-27586"/>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02700382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313" name="Para construir este hiperplano, necesitamos resolver el problema de optimizació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hiperplano, necesitamos resolver el problema de optimización:</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16" name="Rectangle"/>
          <p:cNvSpPr/>
          <p:nvPr/>
        </p:nvSpPr>
        <p:spPr>
          <a:xfrm>
            <a:off x="1464733" y="7179354"/>
            <a:ext cx="5159384" cy="1828801"/>
          </a:xfrm>
          <a:prstGeom prst="rect">
            <a:avLst/>
          </a:prstGeom>
          <a:ln w="63500">
            <a:solidFill>
              <a:schemeClr val="accent6">
                <a:lumMod val="75000"/>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solidFill>
                <a:schemeClr val="accent6">
                  <a:lumMod val="75000"/>
                </a:schemeClr>
              </a:solidFill>
            </a:endParaRPr>
          </a:p>
        </p:txBody>
      </p:sp>
      <p:sp>
        <p:nvSpPr>
          <p:cNvPr id="317" name="Line"/>
          <p:cNvSpPr/>
          <p:nvPr/>
        </p:nvSpPr>
        <p:spPr>
          <a:xfrm>
            <a:off x="6662947" y="8111007"/>
            <a:ext cx="1782042" cy="1"/>
          </a:xfrm>
          <a:prstGeom prst="line">
            <a:avLst/>
          </a:prstGeom>
          <a:ln w="88900">
            <a:solidFill>
              <a:schemeClr val="accent6">
                <a:lumMod val="75000"/>
              </a:schemeClr>
            </a:solidFill>
            <a:miter lim="400000"/>
            <a:tailEnd type="triangle"/>
          </a:ln>
        </p:spPr>
        <p:txBody>
          <a:bodyPr lIns="50800" tIns="50800" rIns="50800" bIns="50800" anchor="ctr"/>
          <a:lstStyle/>
          <a:p>
            <a:endParaRPr lang="es-ES_tradnl">
              <a:solidFill>
                <a:schemeClr val="accent6">
                  <a:lumMod val="75000"/>
                </a:schemeClr>
              </a:solidFill>
            </a:endParaRPr>
          </a:p>
        </p:txBody>
      </p:sp>
      <p:sp>
        <p:nvSpPr>
          <p:cNvPr id="320" name="Con esta restricción (usamos un versor) aseguramos el valor de M y ademas que:"/>
          <p:cNvSpPr txBox="1"/>
          <p:nvPr/>
        </p:nvSpPr>
        <p:spPr>
          <a:xfrm>
            <a:off x="8668143" y="7815054"/>
            <a:ext cx="14420457" cy="89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Con esta restricción (usamos un </a:t>
            </a:r>
            <a:r>
              <a:rPr lang="es-ES_tradnl" dirty="0" err="1">
                <a:solidFill>
                  <a:schemeClr val="accent6">
                    <a:lumMod val="75000"/>
                  </a:schemeClr>
                </a:solidFill>
              </a:rPr>
              <a:t>versor</a:t>
            </a:r>
            <a:r>
              <a:rPr lang="es-ES_tradnl" dirty="0">
                <a:solidFill>
                  <a:schemeClr val="accent6">
                    <a:lumMod val="75000"/>
                  </a:schemeClr>
                </a:solidFill>
              </a:rPr>
              <a:t>, vector normal del hiperplano con norma = 1) aseguramos el valor de M y además que:</a:t>
            </a:r>
          </a:p>
        </p:txBody>
      </p:sp>
      <p:sp>
        <p:nvSpPr>
          <p:cNvPr id="322" name="para una observación i, es la medida de la distancia perpendicular al hiperplano"/>
          <p:cNvSpPr txBox="1"/>
          <p:nvPr/>
        </p:nvSpPr>
        <p:spPr>
          <a:xfrm>
            <a:off x="8668143" y="9785818"/>
            <a:ext cx="13072475" cy="496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para una observación i, es la medida de la distancia perpendicular al hiperplano</a:t>
            </a:r>
          </a:p>
        </p:txBody>
      </p:sp>
      <p:sp>
        <p:nvSpPr>
          <p:cNvPr id="3" name="Slide Number Placeholder 5">
            <a:extLst>
              <a:ext uri="{FF2B5EF4-FFF2-40B4-BE49-F238E27FC236}">
                <a16:creationId xmlns:a16="http://schemas.microsoft.com/office/drawing/2014/main" id="{396E10AA-6052-3657-D329-38E6BB1ED30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13</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48E7AA-2E96-36AA-EDF1-EE52313ADC6B}"/>
                  </a:ext>
                </a:extLst>
              </p:cNvPr>
              <p:cNvSpPr txBox="1"/>
              <p:nvPr/>
            </p:nvSpPr>
            <p:spPr>
              <a:xfrm>
                <a:off x="1464733" y="5210644"/>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D248E7AA-2E96-36AA-EDF1-EE52313ADC6B}"/>
                  </a:ext>
                </a:extLst>
              </p:cNvPr>
              <p:cNvSpPr txBox="1">
                <a:spLocks noRot="1" noChangeAspect="1" noMove="1" noResize="1" noEditPoints="1" noAdjustHandles="1" noChangeArrowheads="1" noChangeShapeType="1" noTextEdit="1"/>
              </p:cNvSpPr>
              <p:nvPr/>
            </p:nvSpPr>
            <p:spPr>
              <a:xfrm>
                <a:off x="1464733" y="5210644"/>
                <a:ext cx="3338093" cy="949619"/>
              </a:xfrm>
              <a:prstGeom prst="rect">
                <a:avLst/>
              </a:prstGeom>
              <a:blipFill>
                <a:blip r:embed="rId2"/>
                <a:stretch>
                  <a:fillRect l="-2273" t="-2632"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ADD36D-264F-F95D-868D-B8B025407C3E}"/>
                  </a:ext>
                </a:extLst>
              </p:cNvPr>
              <p:cNvSpPr txBox="1"/>
              <p:nvPr/>
            </p:nvSpPr>
            <p:spPr>
              <a:xfrm>
                <a:off x="1676323" y="7396449"/>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46ADD36D-264F-F95D-868D-B8B025407C3E}"/>
                  </a:ext>
                </a:extLst>
              </p:cNvPr>
              <p:cNvSpPr txBox="1">
                <a:spLocks noRot="1" noChangeAspect="1" noMove="1" noResize="1" noEditPoints="1" noAdjustHandles="1" noChangeArrowheads="1" noChangeShapeType="1" noTextEdit="1"/>
              </p:cNvSpPr>
              <p:nvPr/>
            </p:nvSpPr>
            <p:spPr>
              <a:xfrm>
                <a:off x="1676323" y="7396449"/>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8F582E-4437-7D73-D20E-967614EE2D1B}"/>
                  </a:ext>
                </a:extLst>
              </p:cNvPr>
              <p:cNvSpPr txBox="1"/>
              <p:nvPr/>
            </p:nvSpPr>
            <p:spPr>
              <a:xfrm>
                <a:off x="8668143" y="5942642"/>
                <a:ext cx="8875764" cy="7373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0</m:t>
                            </m:r>
                          </m:sub>
                        </m:sSub>
                        <m:r>
                          <a:rPr lang="en-US" sz="4400" b="0" i="1" smtClean="0">
                            <a:latin typeface="Cambria Math" panose="02040503050406030204" pitchFamily="18" charset="0"/>
                          </a:rPr>
                          <m:t>, …,</m:t>
                        </m:r>
                        <m:sSub>
                          <m:sSubPr>
                            <m:ctrlPr>
                              <a:rPr lang="es-ES_tradnl" sz="4400" i="1" smtClean="0">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𝑝</m:t>
                            </m:r>
                          </m:sub>
                        </m:sSub>
                        <m:r>
                          <a:rPr lang="en-US" sz="4400" b="0" i="1" smtClean="0">
                            <a:latin typeface="Cambria Math" panose="02040503050406030204" pitchFamily="18" charset="0"/>
                          </a:rPr>
                          <m:t>     </m:t>
                        </m:r>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1</m:t>
                        </m:r>
                      </m:sub>
                    </m:sSub>
                  </m:oMath>
                </a14:m>
                <a:r>
                  <a:rPr kumimoji="0" lang="es-ES_tradnl" sz="4400" b="0" i="0" u="none" strike="noStrike" cap="none" spc="-26" normalizeH="0" baseline="0" dirty="0">
                    <a:ln>
                      <a:noFill/>
                    </a:ln>
                    <a:solidFill>
                      <a:srgbClr val="000000"/>
                    </a:solidFill>
                    <a:effectLst/>
                    <a:uFillTx/>
                    <a:sym typeface="Graphik Compact Regular"/>
                  </a:rPr>
                  <a:t>+</a:t>
                </a:r>
                <a:r>
                  <a:rPr lang="es-ES_tradnl" sz="4400" dirty="0"/>
                  <a:t> … +</a:t>
                </a:r>
                <a14:m>
                  <m:oMath xmlns:m="http://schemas.openxmlformats.org/officeDocument/2006/math">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𝑝</m:t>
                        </m:r>
                      </m:sub>
                    </m:sSub>
                  </m:oMath>
                </a14:m>
                <a:r>
                  <a:rPr lang="es-ES_tradnl" sz="4400" dirty="0"/>
                  <a:t> </a:t>
                </a:r>
                <a14:m>
                  <m:oMath xmlns:m="http://schemas.openxmlformats.org/officeDocument/2006/math">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𝑝</m:t>
                        </m:r>
                      </m:sub>
                    </m:sSub>
                    <m:r>
                      <a:rPr lang="en-US" sz="4400" b="0" i="1" smtClean="0">
                        <a:latin typeface="Cambria Math" panose="02040503050406030204" pitchFamily="18" charset="0"/>
                      </a:rPr>
                      <m:t>=0</m:t>
                    </m:r>
                  </m:oMath>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6" name="TextBox 5">
                <a:extLst>
                  <a:ext uri="{FF2B5EF4-FFF2-40B4-BE49-F238E27FC236}">
                    <a16:creationId xmlns:a16="http://schemas.microsoft.com/office/drawing/2014/main" id="{8F8F582E-4437-7D73-D20E-967614EE2D1B}"/>
                  </a:ext>
                </a:extLst>
              </p:cNvPr>
              <p:cNvSpPr txBox="1">
                <a:spLocks noRot="1" noChangeAspect="1" noMove="1" noResize="1" noEditPoints="1" noAdjustHandles="1" noChangeArrowheads="1" noChangeShapeType="1" noTextEdit="1"/>
              </p:cNvSpPr>
              <p:nvPr/>
            </p:nvSpPr>
            <p:spPr>
              <a:xfrm>
                <a:off x="8668143" y="5942642"/>
                <a:ext cx="8875764" cy="737381"/>
              </a:xfrm>
              <a:prstGeom prst="rect">
                <a:avLst/>
              </a:prstGeom>
              <a:blipFill>
                <a:blip r:embed="rId4"/>
                <a:stretch>
                  <a:fillRect l="-857" t="-27119" r="-1143" b="-3220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F4965B-F99A-8870-E64D-C4DA9CC3698E}"/>
                  </a:ext>
                </a:extLst>
              </p:cNvPr>
              <p:cNvSpPr txBox="1"/>
              <p:nvPr/>
            </p:nvSpPr>
            <p:spPr>
              <a:xfrm>
                <a:off x="10539874" y="6912301"/>
                <a:ext cx="992810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   </m:t>
                      </m:r>
                      <m:r>
                        <a:rPr lang="en-US" sz="4400" b="0" i="1" smtClean="0">
                          <a:latin typeface="Cambria Math" panose="02040503050406030204" pitchFamily="18" charset="0"/>
                          <a:ea typeface="Cambria Math" panose="02040503050406030204" pitchFamily="18" charset="0"/>
                        </a:rPr>
                        <m:t>𝜅</m:t>
                      </m:r>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𝑝</m:t>
                              </m:r>
                            </m:sub>
                          </m:sSub>
                        </m:e>
                      </m:d>
                      <m:r>
                        <a:rPr lang="en-US" sz="4400" b="0" i="1" smtClean="0">
                          <a:latin typeface="Cambria Math" panose="02040503050406030204" pitchFamily="18" charset="0"/>
                        </a:rPr>
                        <m:t>=0      </m:t>
                      </m:r>
                      <m:r>
                        <a:rPr lang="en-US" sz="4400" i="1">
                          <a:latin typeface="Cambria Math" panose="02040503050406030204" pitchFamily="18" charset="0"/>
                          <a:ea typeface="Cambria Math" panose="02040503050406030204" pitchFamily="18" charset="0"/>
                        </a:rPr>
                        <m:t>𝜅</m:t>
                      </m:r>
                      <m:r>
                        <a:rPr lang="en-US" sz="4400" i="1" smtClean="0">
                          <a:latin typeface="Cambria Math" panose="02040503050406030204" pitchFamily="18" charset="0"/>
                          <a:ea typeface="Cambria Math" panose="02040503050406030204" pitchFamily="18" charset="0"/>
                        </a:rPr>
                        <m:t>∈</m:t>
                      </m:r>
                      <m:r>
                        <a:rPr lang="en-US" sz="4400" i="1" smtClean="0">
                          <a:latin typeface="Cambria Math" panose="02040503050406030204" pitchFamily="18" charset="0"/>
                          <a:ea typeface="Cambria Math" panose="02040503050406030204" pitchFamily="18" charset="0"/>
                        </a:rPr>
                        <m:t>ℝ</m:t>
                      </m:r>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7" name="TextBox 6">
                <a:extLst>
                  <a:ext uri="{FF2B5EF4-FFF2-40B4-BE49-F238E27FC236}">
                    <a16:creationId xmlns:a16="http://schemas.microsoft.com/office/drawing/2014/main" id="{08F4965B-F99A-8870-E64D-C4DA9CC3698E}"/>
                  </a:ext>
                </a:extLst>
              </p:cNvPr>
              <p:cNvSpPr txBox="1">
                <a:spLocks noRot="1" noChangeAspect="1" noMove="1" noResize="1" noEditPoints="1" noAdjustHandles="1" noChangeArrowheads="1" noChangeShapeType="1" noTextEdit="1"/>
              </p:cNvSpPr>
              <p:nvPr/>
            </p:nvSpPr>
            <p:spPr>
              <a:xfrm>
                <a:off x="10539874" y="6912301"/>
                <a:ext cx="9928102" cy="724878"/>
              </a:xfrm>
              <a:prstGeom prst="rect">
                <a:avLst/>
              </a:prstGeom>
              <a:blipFill>
                <a:blip r:embed="rId5"/>
                <a:stretch>
                  <a:fillRect l="-511" t="-32759" b="-258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D4F76C-8488-1DB9-AC06-86F62B05267C}"/>
                  </a:ext>
                </a:extLst>
              </p:cNvPr>
              <p:cNvSpPr txBox="1"/>
              <p:nvPr/>
            </p:nvSpPr>
            <p:spPr>
              <a:xfrm>
                <a:off x="11449515" y="8895211"/>
                <a:ext cx="621048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s-ES_tradnl" sz="4400" i="1" smtClean="0">
                              <a:latin typeface="Cambria Math" panose="02040503050406030204" pitchFamily="18" charset="0"/>
                            </a:rPr>
                          </m:ctrlPr>
                        </m:sSubPr>
                        <m:e>
                          <m:r>
                            <a:rPr lang="en-US" sz="4400" b="0" i="1" smtClean="0">
                              <a:latin typeface="Cambria Math" panose="02040503050406030204" pitchFamily="18" charset="0"/>
                            </a:rPr>
                            <m:t>𝑦</m:t>
                          </m:r>
                        </m:e>
                        <m:sub>
                          <m:r>
                            <a:rPr lang="en-US" sz="4400" b="0" i="1" smtClean="0">
                              <a:latin typeface="Cambria Math" panose="02040503050406030204" pitchFamily="18" charset="0"/>
                              <a:ea typeface="Cambria Math" panose="02040503050406030204" pitchFamily="18" charset="0"/>
                            </a:rPr>
                            <m:t>𝑖</m:t>
                          </m:r>
                        </m:sub>
                      </m:sSub>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r>
                                <a:rPr lang="en-US" sz="4400" i="1">
                                  <a:latin typeface="Cambria Math" panose="02040503050406030204" pitchFamily="18" charset="0"/>
                                </a:rPr>
                                <m:t>𝑝</m:t>
                              </m:r>
                            </m:sub>
                          </m:sSub>
                        </m:e>
                      </m:d>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8" name="TextBox 7">
                <a:extLst>
                  <a:ext uri="{FF2B5EF4-FFF2-40B4-BE49-F238E27FC236}">
                    <a16:creationId xmlns:a16="http://schemas.microsoft.com/office/drawing/2014/main" id="{C7D4F76C-8488-1DB9-AC06-86F62B05267C}"/>
                  </a:ext>
                </a:extLst>
              </p:cNvPr>
              <p:cNvSpPr txBox="1">
                <a:spLocks noRot="1" noChangeAspect="1" noMove="1" noResize="1" noEditPoints="1" noAdjustHandles="1" noChangeArrowheads="1" noChangeShapeType="1" noTextEdit="1"/>
              </p:cNvSpPr>
              <p:nvPr/>
            </p:nvSpPr>
            <p:spPr>
              <a:xfrm>
                <a:off x="11449515" y="8895211"/>
                <a:ext cx="6210482" cy="724878"/>
              </a:xfrm>
              <a:prstGeom prst="rect">
                <a:avLst/>
              </a:prstGeom>
              <a:blipFill>
                <a:blip r:embed="rId6"/>
                <a:stretch>
                  <a:fillRect l="-1837" t="-32759" b="-258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8F505D-D4D9-B346-E629-F557B22A4785}"/>
                  </a:ext>
                </a:extLst>
              </p:cNvPr>
              <p:cNvSpPr txBox="1"/>
              <p:nvPr/>
            </p:nvSpPr>
            <p:spPr>
              <a:xfrm>
                <a:off x="6214167" y="10637750"/>
                <a:ext cx="10644068"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9" name="TextBox 8">
                <a:extLst>
                  <a:ext uri="{FF2B5EF4-FFF2-40B4-BE49-F238E27FC236}">
                    <a16:creationId xmlns:a16="http://schemas.microsoft.com/office/drawing/2014/main" id="{8D8F505D-D4D9-B346-E629-F557B22A4785}"/>
                  </a:ext>
                </a:extLst>
              </p:cNvPr>
              <p:cNvSpPr txBox="1">
                <a:spLocks noRot="1" noChangeAspect="1" noMove="1" noResize="1" noEditPoints="1" noAdjustHandles="1" noChangeArrowheads="1" noChangeShapeType="1" noTextEdit="1"/>
              </p:cNvSpPr>
              <p:nvPr/>
            </p:nvSpPr>
            <p:spPr>
              <a:xfrm>
                <a:off x="6214167" y="10637750"/>
                <a:ext cx="10644068" cy="724878"/>
              </a:xfrm>
              <a:prstGeom prst="rect">
                <a:avLst/>
              </a:prstGeom>
              <a:blipFill>
                <a:blip r:embed="rId7"/>
                <a:stretch>
                  <a:fillRect l="-954" t="-32759" b="-27586"/>
                </a:stretch>
              </a:blipFill>
              <a:ln w="12700" cap="flat">
                <a:noFill/>
                <a:miter lim="400000"/>
              </a:ln>
              <a:effectLst/>
            </p:spPr>
            <p:txBody>
              <a:bodyPr/>
              <a:lstStyle/>
              <a:p>
                <a:r>
                  <a:rPr lang="es-ES_tradnl">
                    <a:noFill/>
                  </a:rPr>
                  <a:t> </a:t>
                </a:r>
              </a:p>
            </p:txBody>
          </p:sp>
        </mc:Fallback>
      </mc:AlternateContent>
      <p:sp>
        <p:nvSpPr>
          <p:cNvPr id="10" name="Con estas dos restricciones logramos que cada observación este del lado correcto y al menos a la distancia de M">
            <a:extLst>
              <a:ext uri="{FF2B5EF4-FFF2-40B4-BE49-F238E27FC236}">
                <a16:creationId xmlns:a16="http://schemas.microsoft.com/office/drawing/2014/main" id="{8C3A34B2-0F99-9390-9BE9-DB1B235A7B5C}"/>
              </a:ext>
            </a:extLst>
          </p:cNvPr>
          <p:cNvSpPr txBox="1"/>
          <p:nvPr/>
        </p:nvSpPr>
        <p:spPr>
          <a:xfrm>
            <a:off x="2039239" y="11585139"/>
            <a:ext cx="20381722" cy="5457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spc="-36">
                <a:solidFill>
                  <a:schemeClr val="accent1">
                    <a:hueOff val="1476394"/>
                    <a:lumOff val="-17455"/>
                  </a:schemeClr>
                </a:solidFill>
              </a:defRPr>
            </a:lvl1pPr>
          </a:lstStyle>
          <a:p>
            <a:r>
              <a:rPr lang="es-ES_tradnl" dirty="0"/>
              <a:t>Con estas dos restricciones logramos que cada observación este del lado correcto y al menos a la distancia de M</a:t>
            </a:r>
          </a:p>
        </p:txBody>
      </p:sp>
    </p:spTree>
    <p:extLst>
      <p:ext uri="{BB962C8B-B14F-4D97-AF65-F5344CB8AC3E}">
        <p14:creationId xmlns:p14="http://schemas.microsoft.com/office/powerpoint/2010/main" val="367358886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Maximal Margin Classifier"/>
          <p:cNvSpPr txBox="1">
            <a:spLocks noGrp="1"/>
          </p:cNvSpPr>
          <p:nvPr>
            <p:ph type="title"/>
          </p:nvPr>
        </p:nvSpPr>
        <p:spPr>
          <a:xfrm>
            <a:off x="1295400" y="1622629"/>
            <a:ext cx="21869400" cy="1778386"/>
          </a:xfrm>
          <a:prstGeom prst="rect">
            <a:avLst/>
          </a:prstGeom>
        </p:spPr>
        <p:txBody>
          <a:bodyPr/>
          <a:lstStyle/>
          <a:p>
            <a:r>
              <a:rPr lang="es-ES_tradnl"/>
              <a:t>Maximal Margin Classifier </a:t>
            </a:r>
          </a:p>
        </p:txBody>
      </p:sp>
      <p:sp>
        <p:nvSpPr>
          <p:cNvPr id="313" name="Para construir este hiperplano, necesitamos resolver el problema de optimizació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hiperplano, necesitamos resolver el problema de optimización:</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16" name="Rectangle"/>
          <p:cNvSpPr/>
          <p:nvPr/>
        </p:nvSpPr>
        <p:spPr>
          <a:xfrm>
            <a:off x="1464733" y="7179354"/>
            <a:ext cx="5159384" cy="1828801"/>
          </a:xfrm>
          <a:prstGeom prst="rect">
            <a:avLst/>
          </a:prstGeom>
          <a:ln w="63500">
            <a:solidFill>
              <a:schemeClr val="accent6">
                <a:lumMod val="75000"/>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solidFill>
                <a:schemeClr val="accent6">
                  <a:lumMod val="75000"/>
                </a:schemeClr>
              </a:solidFill>
            </a:endParaRPr>
          </a:p>
        </p:txBody>
      </p:sp>
      <p:sp>
        <p:nvSpPr>
          <p:cNvPr id="317" name="Line"/>
          <p:cNvSpPr/>
          <p:nvPr/>
        </p:nvSpPr>
        <p:spPr>
          <a:xfrm>
            <a:off x="6662947" y="8111007"/>
            <a:ext cx="1782042" cy="1"/>
          </a:xfrm>
          <a:prstGeom prst="line">
            <a:avLst/>
          </a:prstGeom>
          <a:ln w="88900">
            <a:solidFill>
              <a:schemeClr val="accent6">
                <a:lumMod val="75000"/>
              </a:schemeClr>
            </a:solidFill>
            <a:miter lim="400000"/>
            <a:tailEnd type="triangle"/>
          </a:ln>
        </p:spPr>
        <p:txBody>
          <a:bodyPr lIns="50800" tIns="50800" rIns="50800" bIns="50800" anchor="ctr"/>
          <a:lstStyle/>
          <a:p>
            <a:endParaRPr lang="es-ES_tradnl">
              <a:solidFill>
                <a:schemeClr val="accent6">
                  <a:lumMod val="75000"/>
                </a:schemeClr>
              </a:solidFill>
            </a:endParaRPr>
          </a:p>
        </p:txBody>
      </p:sp>
      <p:sp>
        <p:nvSpPr>
          <p:cNvPr id="320" name="Con esta restricción (usamos un versor) aseguramos el valor de M y ademas que:"/>
          <p:cNvSpPr txBox="1"/>
          <p:nvPr/>
        </p:nvSpPr>
        <p:spPr>
          <a:xfrm>
            <a:off x="8668143" y="7815054"/>
            <a:ext cx="14420457" cy="890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Con esta restricción (usamos un </a:t>
            </a:r>
            <a:r>
              <a:rPr lang="es-ES_tradnl" dirty="0" err="1">
                <a:solidFill>
                  <a:schemeClr val="accent6">
                    <a:lumMod val="75000"/>
                  </a:schemeClr>
                </a:solidFill>
              </a:rPr>
              <a:t>versor</a:t>
            </a:r>
            <a:r>
              <a:rPr lang="es-ES_tradnl" dirty="0">
                <a:solidFill>
                  <a:schemeClr val="accent6">
                    <a:lumMod val="75000"/>
                  </a:schemeClr>
                </a:solidFill>
              </a:rPr>
              <a:t>, vector normal del hiperplano con norma = 1) aseguramos el valor de M y además que:</a:t>
            </a:r>
          </a:p>
        </p:txBody>
      </p:sp>
      <p:sp>
        <p:nvSpPr>
          <p:cNvPr id="322" name="para una observación i, es la medida de la distancia perpendicular al hiperplano"/>
          <p:cNvSpPr txBox="1"/>
          <p:nvPr/>
        </p:nvSpPr>
        <p:spPr>
          <a:xfrm>
            <a:off x="8668143" y="9785818"/>
            <a:ext cx="13072475" cy="496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200" spc="-32">
                <a:solidFill>
                  <a:schemeClr val="accent5">
                    <a:hueOff val="129701"/>
                    <a:lumOff val="-22825"/>
                  </a:schemeClr>
                </a:solidFill>
              </a:defRPr>
            </a:lvl1pPr>
          </a:lstStyle>
          <a:p>
            <a:r>
              <a:rPr lang="es-ES_tradnl" dirty="0">
                <a:solidFill>
                  <a:schemeClr val="accent6">
                    <a:lumMod val="75000"/>
                  </a:schemeClr>
                </a:solidFill>
              </a:rPr>
              <a:t>para una observación i, es la medida de la distancia perpendicular al hiperplano</a:t>
            </a:r>
          </a:p>
        </p:txBody>
      </p:sp>
      <p:sp>
        <p:nvSpPr>
          <p:cNvPr id="3" name="Slide Number Placeholder 5">
            <a:extLst>
              <a:ext uri="{FF2B5EF4-FFF2-40B4-BE49-F238E27FC236}">
                <a16:creationId xmlns:a16="http://schemas.microsoft.com/office/drawing/2014/main" id="{396E10AA-6052-3657-D329-38E6BB1ED30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14</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48E7AA-2E96-36AA-EDF1-EE52313ADC6B}"/>
                  </a:ext>
                </a:extLst>
              </p:cNvPr>
              <p:cNvSpPr txBox="1"/>
              <p:nvPr/>
            </p:nvSpPr>
            <p:spPr>
              <a:xfrm>
                <a:off x="1464733" y="5210644"/>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D248E7AA-2E96-36AA-EDF1-EE52313ADC6B}"/>
                  </a:ext>
                </a:extLst>
              </p:cNvPr>
              <p:cNvSpPr txBox="1">
                <a:spLocks noRot="1" noChangeAspect="1" noMove="1" noResize="1" noEditPoints="1" noAdjustHandles="1" noChangeArrowheads="1" noChangeShapeType="1" noTextEdit="1"/>
              </p:cNvSpPr>
              <p:nvPr/>
            </p:nvSpPr>
            <p:spPr>
              <a:xfrm>
                <a:off x="1464733" y="5210644"/>
                <a:ext cx="3338093" cy="949619"/>
              </a:xfrm>
              <a:prstGeom prst="rect">
                <a:avLst/>
              </a:prstGeom>
              <a:blipFill>
                <a:blip r:embed="rId2"/>
                <a:stretch>
                  <a:fillRect l="-2273" t="-2632"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ADD36D-264F-F95D-868D-B8B025407C3E}"/>
                  </a:ext>
                </a:extLst>
              </p:cNvPr>
              <p:cNvSpPr txBox="1"/>
              <p:nvPr/>
            </p:nvSpPr>
            <p:spPr>
              <a:xfrm>
                <a:off x="1676323" y="7396449"/>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46ADD36D-264F-F95D-868D-B8B025407C3E}"/>
                  </a:ext>
                </a:extLst>
              </p:cNvPr>
              <p:cNvSpPr txBox="1">
                <a:spLocks noRot="1" noChangeAspect="1" noMove="1" noResize="1" noEditPoints="1" noAdjustHandles="1" noChangeArrowheads="1" noChangeShapeType="1" noTextEdit="1"/>
              </p:cNvSpPr>
              <p:nvPr/>
            </p:nvSpPr>
            <p:spPr>
              <a:xfrm>
                <a:off x="1676323" y="7396449"/>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F8F582E-4437-7D73-D20E-967614EE2D1B}"/>
                  </a:ext>
                </a:extLst>
              </p:cNvPr>
              <p:cNvSpPr txBox="1"/>
              <p:nvPr/>
            </p:nvSpPr>
            <p:spPr>
              <a:xfrm>
                <a:off x="8668143" y="5942642"/>
                <a:ext cx="8875764" cy="7373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14:m>
                  <m:oMath xmlns:m="http://schemas.openxmlformats.org/officeDocument/2006/math">
                    <m:sSub>
                      <m:sSubPr>
                        <m:ctrlPr>
                          <a:rPr kumimoji="0" lang="es-ES_tradnl"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0</m:t>
                            </m:r>
                          </m:sub>
                        </m:sSub>
                        <m:r>
                          <a:rPr lang="en-US" sz="4400" b="0" i="1" smtClean="0">
                            <a:latin typeface="Cambria Math" panose="02040503050406030204" pitchFamily="18" charset="0"/>
                          </a:rPr>
                          <m:t>, …,</m:t>
                        </m:r>
                        <m:sSub>
                          <m:sSubPr>
                            <m:ctrlPr>
                              <a:rPr lang="es-ES_tradnl" sz="4400" i="1" smtClean="0">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ea typeface="Cambria Math" panose="02040503050406030204" pitchFamily="18" charset="0"/>
                              </a:rPr>
                              <m:t>𝑝</m:t>
                            </m:r>
                          </m:sub>
                        </m:sSub>
                        <m:r>
                          <a:rPr lang="en-US" sz="4400" b="0" i="1" smtClean="0">
                            <a:latin typeface="Cambria Math" panose="02040503050406030204" pitchFamily="18" charset="0"/>
                          </a:rPr>
                          <m:t>     </m:t>
                        </m:r>
                        <m:r>
                          <a:rPr kumimoji="0" lang="es-ES_tradnl"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𝛽</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sub>
                    </m:s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1</m:t>
                        </m:r>
                      </m:sub>
                    </m:sSub>
                  </m:oMath>
                </a14:m>
                <a:r>
                  <a:rPr kumimoji="0" lang="es-ES_tradnl" sz="4400" b="0" i="0" u="none" strike="noStrike" cap="none" spc="-26" normalizeH="0" baseline="0" dirty="0">
                    <a:ln>
                      <a:noFill/>
                    </a:ln>
                    <a:solidFill>
                      <a:srgbClr val="000000"/>
                    </a:solidFill>
                    <a:effectLst/>
                    <a:uFillTx/>
                    <a:sym typeface="Graphik Compact Regular"/>
                  </a:rPr>
                  <a:t>+</a:t>
                </a:r>
                <a:r>
                  <a:rPr lang="es-ES_tradnl" sz="4400" dirty="0"/>
                  <a:t> … +</a:t>
                </a:r>
                <a14:m>
                  <m:oMath xmlns:m="http://schemas.openxmlformats.org/officeDocument/2006/math">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b="0" i="1" smtClean="0">
                            <a:latin typeface="Cambria Math" panose="02040503050406030204" pitchFamily="18" charset="0"/>
                          </a:rPr>
                          <m:t>𝑝</m:t>
                        </m:r>
                      </m:sub>
                    </m:sSub>
                  </m:oMath>
                </a14:m>
                <a:r>
                  <a:rPr lang="es-ES_tradnl" sz="4400" dirty="0"/>
                  <a:t> </a:t>
                </a:r>
                <a14:m>
                  <m:oMath xmlns:m="http://schemas.openxmlformats.org/officeDocument/2006/math">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𝑝</m:t>
                        </m:r>
                      </m:sub>
                    </m:sSub>
                    <m:r>
                      <a:rPr lang="en-US" sz="4400" b="0" i="1" smtClean="0">
                        <a:latin typeface="Cambria Math" panose="02040503050406030204" pitchFamily="18" charset="0"/>
                      </a:rPr>
                      <m:t>=0</m:t>
                    </m:r>
                  </m:oMath>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6" name="TextBox 5">
                <a:extLst>
                  <a:ext uri="{FF2B5EF4-FFF2-40B4-BE49-F238E27FC236}">
                    <a16:creationId xmlns:a16="http://schemas.microsoft.com/office/drawing/2014/main" id="{8F8F582E-4437-7D73-D20E-967614EE2D1B}"/>
                  </a:ext>
                </a:extLst>
              </p:cNvPr>
              <p:cNvSpPr txBox="1">
                <a:spLocks noRot="1" noChangeAspect="1" noMove="1" noResize="1" noEditPoints="1" noAdjustHandles="1" noChangeArrowheads="1" noChangeShapeType="1" noTextEdit="1"/>
              </p:cNvSpPr>
              <p:nvPr/>
            </p:nvSpPr>
            <p:spPr>
              <a:xfrm>
                <a:off x="8668143" y="5942642"/>
                <a:ext cx="8875764" cy="737381"/>
              </a:xfrm>
              <a:prstGeom prst="rect">
                <a:avLst/>
              </a:prstGeom>
              <a:blipFill>
                <a:blip r:embed="rId4"/>
                <a:stretch>
                  <a:fillRect l="-857" t="-27119" r="-1143" b="-3220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F4965B-F99A-8870-E64D-C4DA9CC3698E}"/>
                  </a:ext>
                </a:extLst>
              </p:cNvPr>
              <p:cNvSpPr txBox="1"/>
              <p:nvPr/>
            </p:nvSpPr>
            <p:spPr>
              <a:xfrm>
                <a:off x="10539874" y="6912301"/>
                <a:ext cx="992810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   </m:t>
                      </m:r>
                      <m:r>
                        <a:rPr lang="en-US" sz="4400" b="0" i="1" smtClean="0">
                          <a:latin typeface="Cambria Math" panose="02040503050406030204" pitchFamily="18" charset="0"/>
                          <a:ea typeface="Cambria Math" panose="02040503050406030204" pitchFamily="18" charset="0"/>
                        </a:rPr>
                        <m:t>𝜅</m:t>
                      </m:r>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𝑝</m:t>
                              </m:r>
                            </m:sub>
                          </m:sSub>
                        </m:e>
                      </m:d>
                      <m:r>
                        <a:rPr lang="en-US" sz="4400" b="0" i="1" smtClean="0">
                          <a:latin typeface="Cambria Math" panose="02040503050406030204" pitchFamily="18" charset="0"/>
                        </a:rPr>
                        <m:t>=0      </m:t>
                      </m:r>
                      <m:r>
                        <a:rPr lang="en-US" sz="4400" i="1">
                          <a:latin typeface="Cambria Math" panose="02040503050406030204" pitchFamily="18" charset="0"/>
                          <a:ea typeface="Cambria Math" panose="02040503050406030204" pitchFamily="18" charset="0"/>
                        </a:rPr>
                        <m:t>𝜅</m:t>
                      </m:r>
                      <m:r>
                        <a:rPr lang="en-US" sz="4400" i="1" smtClean="0">
                          <a:latin typeface="Cambria Math" panose="02040503050406030204" pitchFamily="18" charset="0"/>
                          <a:ea typeface="Cambria Math" panose="02040503050406030204" pitchFamily="18" charset="0"/>
                        </a:rPr>
                        <m:t>∈</m:t>
                      </m:r>
                      <m:r>
                        <a:rPr lang="en-US" sz="4400" i="1" smtClean="0">
                          <a:latin typeface="Cambria Math" panose="02040503050406030204" pitchFamily="18" charset="0"/>
                          <a:ea typeface="Cambria Math" panose="02040503050406030204" pitchFamily="18" charset="0"/>
                        </a:rPr>
                        <m:t>ℝ</m:t>
                      </m:r>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7" name="TextBox 6">
                <a:extLst>
                  <a:ext uri="{FF2B5EF4-FFF2-40B4-BE49-F238E27FC236}">
                    <a16:creationId xmlns:a16="http://schemas.microsoft.com/office/drawing/2014/main" id="{08F4965B-F99A-8870-E64D-C4DA9CC3698E}"/>
                  </a:ext>
                </a:extLst>
              </p:cNvPr>
              <p:cNvSpPr txBox="1">
                <a:spLocks noRot="1" noChangeAspect="1" noMove="1" noResize="1" noEditPoints="1" noAdjustHandles="1" noChangeArrowheads="1" noChangeShapeType="1" noTextEdit="1"/>
              </p:cNvSpPr>
              <p:nvPr/>
            </p:nvSpPr>
            <p:spPr>
              <a:xfrm>
                <a:off x="10539874" y="6912301"/>
                <a:ext cx="9928102" cy="724878"/>
              </a:xfrm>
              <a:prstGeom prst="rect">
                <a:avLst/>
              </a:prstGeom>
              <a:blipFill>
                <a:blip r:embed="rId5"/>
                <a:stretch>
                  <a:fillRect l="-511" t="-32759" b="-258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D4F76C-8488-1DB9-AC06-86F62B05267C}"/>
                  </a:ext>
                </a:extLst>
              </p:cNvPr>
              <p:cNvSpPr txBox="1"/>
              <p:nvPr/>
            </p:nvSpPr>
            <p:spPr>
              <a:xfrm>
                <a:off x="11449515" y="8895211"/>
                <a:ext cx="621048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s-ES_tradnl" sz="4400" i="1" smtClean="0">
                              <a:latin typeface="Cambria Math" panose="02040503050406030204" pitchFamily="18" charset="0"/>
                            </a:rPr>
                          </m:ctrlPr>
                        </m:sSubPr>
                        <m:e>
                          <m:r>
                            <a:rPr lang="en-US" sz="4400" b="0" i="1" smtClean="0">
                              <a:latin typeface="Cambria Math" panose="02040503050406030204" pitchFamily="18" charset="0"/>
                            </a:rPr>
                            <m:t>𝑦</m:t>
                          </m:r>
                        </m:e>
                        <m:sub>
                          <m:r>
                            <a:rPr lang="en-US" sz="4400" b="0" i="1" smtClean="0">
                              <a:latin typeface="Cambria Math" panose="02040503050406030204" pitchFamily="18" charset="0"/>
                              <a:ea typeface="Cambria Math" panose="02040503050406030204" pitchFamily="18" charset="0"/>
                            </a:rPr>
                            <m:t>𝑖</m:t>
                          </m:r>
                        </m:sub>
                      </m:sSub>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r>
                                <a:rPr lang="en-US" sz="4400" i="1">
                                  <a:latin typeface="Cambria Math" panose="02040503050406030204" pitchFamily="18" charset="0"/>
                                </a:rPr>
                                <m:t>𝑝</m:t>
                              </m:r>
                            </m:sub>
                          </m:sSub>
                        </m:e>
                      </m:d>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8" name="TextBox 7">
                <a:extLst>
                  <a:ext uri="{FF2B5EF4-FFF2-40B4-BE49-F238E27FC236}">
                    <a16:creationId xmlns:a16="http://schemas.microsoft.com/office/drawing/2014/main" id="{C7D4F76C-8488-1DB9-AC06-86F62B05267C}"/>
                  </a:ext>
                </a:extLst>
              </p:cNvPr>
              <p:cNvSpPr txBox="1">
                <a:spLocks noRot="1" noChangeAspect="1" noMove="1" noResize="1" noEditPoints="1" noAdjustHandles="1" noChangeArrowheads="1" noChangeShapeType="1" noTextEdit="1"/>
              </p:cNvSpPr>
              <p:nvPr/>
            </p:nvSpPr>
            <p:spPr>
              <a:xfrm>
                <a:off x="11449515" y="8895211"/>
                <a:ext cx="6210482" cy="724878"/>
              </a:xfrm>
              <a:prstGeom prst="rect">
                <a:avLst/>
              </a:prstGeom>
              <a:blipFill>
                <a:blip r:embed="rId6"/>
                <a:stretch>
                  <a:fillRect l="-1837" t="-32759" b="-258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8F505D-D4D9-B346-E629-F557B22A4785}"/>
                  </a:ext>
                </a:extLst>
              </p:cNvPr>
              <p:cNvSpPr txBox="1"/>
              <p:nvPr/>
            </p:nvSpPr>
            <p:spPr>
              <a:xfrm>
                <a:off x="6214167" y="10637750"/>
                <a:ext cx="10644068"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9" name="TextBox 8">
                <a:extLst>
                  <a:ext uri="{FF2B5EF4-FFF2-40B4-BE49-F238E27FC236}">
                    <a16:creationId xmlns:a16="http://schemas.microsoft.com/office/drawing/2014/main" id="{8D8F505D-D4D9-B346-E629-F557B22A4785}"/>
                  </a:ext>
                </a:extLst>
              </p:cNvPr>
              <p:cNvSpPr txBox="1">
                <a:spLocks noRot="1" noChangeAspect="1" noMove="1" noResize="1" noEditPoints="1" noAdjustHandles="1" noChangeArrowheads="1" noChangeShapeType="1" noTextEdit="1"/>
              </p:cNvSpPr>
              <p:nvPr/>
            </p:nvSpPr>
            <p:spPr>
              <a:xfrm>
                <a:off x="6214167" y="10637750"/>
                <a:ext cx="10644068" cy="724878"/>
              </a:xfrm>
              <a:prstGeom prst="rect">
                <a:avLst/>
              </a:prstGeom>
              <a:blipFill>
                <a:blip r:embed="rId7"/>
                <a:stretch>
                  <a:fillRect l="-954" t="-32759" b="-27586"/>
                </a:stretch>
              </a:blipFill>
              <a:ln w="12700" cap="flat">
                <a:noFill/>
                <a:miter lim="400000"/>
              </a:ln>
              <a:effectLst/>
            </p:spPr>
            <p:txBody>
              <a:bodyPr/>
              <a:lstStyle/>
              <a:p>
                <a:r>
                  <a:rPr lang="es-ES_tradnl">
                    <a:noFill/>
                  </a:rPr>
                  <a:t> </a:t>
                </a:r>
              </a:p>
            </p:txBody>
          </p:sp>
        </mc:Fallback>
      </mc:AlternateContent>
      <p:sp>
        <p:nvSpPr>
          <p:cNvPr id="10" name="Con estas dos restricciones logramos que cada observación este del lado correcto y al menos a la distancia de M">
            <a:extLst>
              <a:ext uri="{FF2B5EF4-FFF2-40B4-BE49-F238E27FC236}">
                <a16:creationId xmlns:a16="http://schemas.microsoft.com/office/drawing/2014/main" id="{8C3A34B2-0F99-9390-9BE9-DB1B235A7B5C}"/>
              </a:ext>
            </a:extLst>
          </p:cNvPr>
          <p:cNvSpPr txBox="1"/>
          <p:nvPr/>
        </p:nvSpPr>
        <p:spPr>
          <a:xfrm>
            <a:off x="2039239" y="11585139"/>
            <a:ext cx="20381722"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1">
                    <a:hueOff val="1476394"/>
                    <a:lumOff val="-17455"/>
                  </a:schemeClr>
                </a:solidFill>
              </a:defRPr>
            </a:lvl1pPr>
          </a:lstStyle>
          <a:p>
            <a:r>
              <a:rPr lang="es-ES_tradnl" dirty="0"/>
              <a:t>Con estas dos restricciones logramos que cada observación este del lado correcto y al menos a la distancia de M</a:t>
            </a:r>
          </a:p>
        </p:txBody>
      </p:sp>
      <p:sp>
        <p:nvSpPr>
          <p:cNvPr id="11" name="El problema es de programación cuadrática y se resuelve mediante multiplicadores de Lagrange.">
            <a:extLst>
              <a:ext uri="{FF2B5EF4-FFF2-40B4-BE49-F238E27FC236}">
                <a16:creationId xmlns:a16="http://schemas.microsoft.com/office/drawing/2014/main" id="{5207D780-49B9-4623-1DD1-620B964BAFE1}"/>
              </a:ext>
            </a:extLst>
          </p:cNvPr>
          <p:cNvSpPr txBox="1"/>
          <p:nvPr/>
        </p:nvSpPr>
        <p:spPr>
          <a:xfrm>
            <a:off x="2039239" y="12370324"/>
            <a:ext cx="20381722" cy="9889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3">
                    <a:satOff val="23024"/>
                    <a:lumOff val="-27718"/>
                  </a:schemeClr>
                </a:solidFill>
              </a:defRPr>
            </a:lvl1pPr>
          </a:lstStyle>
          <a:p>
            <a:r>
              <a:rPr lang="es-ES_tradnl" dirty="0"/>
              <a:t>Es un problema de optimización convexo  (criterio cuadrático, desigualdades de restricción lineales) y se resuelve mediante multiplicadores de Lagrange con métodos numéricos tradicionales. Ver Hastie et al. Pagina 132.</a:t>
            </a:r>
          </a:p>
        </p:txBody>
      </p:sp>
    </p:spTree>
    <p:extLst>
      <p:ext uri="{BB962C8B-B14F-4D97-AF65-F5344CB8AC3E}">
        <p14:creationId xmlns:p14="http://schemas.microsoft.com/office/powerpoint/2010/main" val="222784984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Caso no separable"/>
          <p:cNvSpPr txBox="1">
            <a:spLocks noGrp="1"/>
          </p:cNvSpPr>
          <p:nvPr>
            <p:ph type="title"/>
          </p:nvPr>
        </p:nvSpPr>
        <p:spPr>
          <a:xfrm>
            <a:off x="1295400" y="1622629"/>
            <a:ext cx="21869400" cy="1778386"/>
          </a:xfrm>
          <a:prstGeom prst="rect">
            <a:avLst/>
          </a:prstGeom>
        </p:spPr>
        <p:txBody>
          <a:bodyPr/>
          <a:lstStyle/>
          <a:p>
            <a:r>
              <a:rPr lang="es-ES_tradnl"/>
              <a:t>Caso no separable</a:t>
            </a:r>
          </a:p>
        </p:txBody>
      </p:sp>
      <p:sp>
        <p:nvSpPr>
          <p:cNvPr id="355" name="Este modelo que vimos solo funciona si es posible separar. Si el problema no es separable, no hay hiperplano que maximiza el margen. Y por consiguiente, el problema de optimización no tiene solución…"/>
          <p:cNvSpPr txBox="1">
            <a:spLocks noGrp="1"/>
          </p:cNvSpPr>
          <p:nvPr>
            <p:ph type="body" idx="1"/>
          </p:nvPr>
        </p:nvSpPr>
        <p:spPr>
          <a:xfrm>
            <a:off x="1257300" y="3676527"/>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Este modelo que vimos solo funciona si es posible separar. Si el problema no es separable, no hay hiperplano que maximiza el margen. Y, por consiguiente, el problema de optimización no tiene solución…</a:t>
            </a:r>
          </a:p>
          <a:p>
            <a:pPr>
              <a:defRPr sz="4600">
                <a:latin typeface="Graphik Compact Regular"/>
                <a:ea typeface="Graphik Compact Regular"/>
                <a:cs typeface="Graphik Compact Regular"/>
                <a:sym typeface="Graphik Compact Regular"/>
              </a:defRPr>
            </a:pPr>
            <a:r>
              <a:rPr lang="es-ES_tradnl" dirty="0"/>
              <a:t>                                                                   </a:t>
            </a:r>
          </a:p>
        </p:txBody>
      </p:sp>
      <p:pic>
        <p:nvPicPr>
          <p:cNvPr id="356" name="path3dd775.png" descr="path3dd775.png"/>
          <p:cNvPicPr>
            <a:picLocks noChangeAspect="1"/>
          </p:cNvPicPr>
          <p:nvPr/>
        </p:nvPicPr>
        <p:blipFill>
          <a:blip r:embed="rId2"/>
          <a:stretch>
            <a:fillRect/>
          </a:stretch>
        </p:blipFill>
        <p:spPr>
          <a:xfrm>
            <a:off x="8896315" y="6353570"/>
            <a:ext cx="6914062" cy="6904370"/>
          </a:xfrm>
          <a:prstGeom prst="rect">
            <a:avLst/>
          </a:prstGeom>
          <a:ln w="12700">
            <a:miter lim="400000"/>
          </a:ln>
        </p:spPr>
      </p:pic>
      <p:sp>
        <p:nvSpPr>
          <p:cNvPr id="3" name="Slide Number Placeholder 5">
            <a:extLst>
              <a:ext uri="{FF2B5EF4-FFF2-40B4-BE49-F238E27FC236}">
                <a16:creationId xmlns:a16="http://schemas.microsoft.com/office/drawing/2014/main" id="{A05634D3-FAC7-8FB8-6670-4F9DABD53543}"/>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15</a:t>
            </a:fld>
            <a:endParaRPr lang="en-US" sz="2800" dirty="0"/>
          </a:p>
        </p:txBody>
      </p:sp>
    </p:spTree>
    <p:extLst>
      <p:ext uri="{BB962C8B-B14F-4D97-AF65-F5344CB8AC3E}">
        <p14:creationId xmlns:p14="http://schemas.microsoft.com/office/powerpoint/2010/main" val="401567363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Caso no separable"/>
          <p:cNvSpPr txBox="1">
            <a:spLocks noGrp="1"/>
          </p:cNvSpPr>
          <p:nvPr>
            <p:ph type="title"/>
          </p:nvPr>
        </p:nvSpPr>
        <p:spPr>
          <a:xfrm>
            <a:off x="1295400" y="1622629"/>
            <a:ext cx="21869400" cy="1778386"/>
          </a:xfrm>
          <a:prstGeom prst="rect">
            <a:avLst/>
          </a:prstGeom>
        </p:spPr>
        <p:txBody>
          <a:bodyPr/>
          <a:lstStyle/>
          <a:p>
            <a:r>
              <a:rPr lang="es-ES_tradnl"/>
              <a:t>Caso no separable</a:t>
            </a:r>
          </a:p>
        </p:txBody>
      </p:sp>
      <p:sp>
        <p:nvSpPr>
          <p:cNvPr id="359" name="No solo eso, el modelo como está planteado es excesivamente sensible a set de entrenamiento, es decir tiene overfitting (error de varianza)… Necesitamos mejorar el modelo."/>
          <p:cNvSpPr txBox="1">
            <a:spLocks noGrp="1"/>
          </p:cNvSpPr>
          <p:nvPr>
            <p:ph type="body" idx="1"/>
          </p:nvPr>
        </p:nvSpPr>
        <p:spPr>
          <a:xfrm>
            <a:off x="1257300" y="3676527"/>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No solo eso, el modelo como está planteado es excesivamente sensible a set de entrenamiento, es decir tiene sobreajuste (error de varianza)… </a:t>
            </a:r>
            <a:r>
              <a:rPr lang="es-ES_tradnl" dirty="0">
                <a:solidFill>
                  <a:schemeClr val="accent6">
                    <a:lumMod val="75000"/>
                  </a:schemeClr>
                </a:solidFill>
                <a:latin typeface="Graphik Compact Bold"/>
                <a:ea typeface="Graphik Compact Bold"/>
                <a:cs typeface="Graphik Compact Bold"/>
                <a:sym typeface="Graphik Compact Bold"/>
              </a:rPr>
              <a:t>Necesitamos mejorar el modelo.</a:t>
            </a:r>
          </a:p>
          <a:p>
            <a:pPr>
              <a:defRPr sz="4600">
                <a:latin typeface="Graphik Compact Regular"/>
                <a:ea typeface="Graphik Compact Regular"/>
                <a:cs typeface="Graphik Compact Regular"/>
                <a:sym typeface="Graphik Compact Regular"/>
              </a:defRPr>
            </a:pPr>
            <a:endParaRPr lang="es-ES_tradnl" dirty="0">
              <a:latin typeface="Graphik Compact Bold"/>
              <a:ea typeface="Graphik Compact Bold"/>
              <a:cs typeface="Graphik Compact Bold"/>
              <a:sym typeface="Graphik Compact Bold"/>
            </a:endParaRPr>
          </a:p>
          <a:p>
            <a:pPr>
              <a:defRPr sz="4600">
                <a:latin typeface="Graphik Compact Regular"/>
                <a:ea typeface="Graphik Compact Regular"/>
                <a:cs typeface="Graphik Compact Regular"/>
                <a:sym typeface="Graphik Compact Regular"/>
              </a:defRPr>
            </a:pPr>
            <a:r>
              <a:rPr lang="es-ES_tradnl" dirty="0"/>
              <a:t>                                                                   </a:t>
            </a:r>
          </a:p>
        </p:txBody>
      </p:sp>
      <p:pic>
        <p:nvPicPr>
          <p:cNvPr id="360" name="path37xx75.png" descr="path37xx75.png"/>
          <p:cNvPicPr>
            <a:picLocks noChangeAspect="1"/>
          </p:cNvPicPr>
          <p:nvPr/>
        </p:nvPicPr>
        <p:blipFill>
          <a:blip r:embed="rId2"/>
          <a:stretch>
            <a:fillRect/>
          </a:stretch>
        </p:blipFill>
        <p:spPr>
          <a:xfrm>
            <a:off x="4643207" y="5949681"/>
            <a:ext cx="15173786" cy="7174071"/>
          </a:xfrm>
          <a:prstGeom prst="rect">
            <a:avLst/>
          </a:prstGeom>
          <a:ln w="12700">
            <a:miter lim="400000"/>
          </a:ln>
        </p:spPr>
      </p:pic>
      <p:sp>
        <p:nvSpPr>
          <p:cNvPr id="3" name="Slide Number Placeholder 5">
            <a:extLst>
              <a:ext uri="{FF2B5EF4-FFF2-40B4-BE49-F238E27FC236}">
                <a16:creationId xmlns:a16="http://schemas.microsoft.com/office/drawing/2014/main" id="{BB44439F-EFEB-A1F6-87C4-983A27BD9043}"/>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16</a:t>
            </a:fld>
            <a:endParaRPr lang="en-US" sz="2800" dirty="0"/>
          </a:p>
        </p:txBody>
      </p:sp>
    </p:spTree>
    <p:extLst>
      <p:ext uri="{BB962C8B-B14F-4D97-AF65-F5344CB8AC3E}">
        <p14:creationId xmlns:p14="http://schemas.microsoft.com/office/powerpoint/2010/main" val="327496811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Clasificador de vector de soport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pPr>
              <a:lnSpc>
                <a:spcPct val="100000"/>
              </a:lnSpc>
            </a:pPr>
            <a:r>
              <a:rPr lang="es-ES_tradnl" dirty="0">
                <a:solidFill>
                  <a:schemeClr val="tx1"/>
                </a:solidFill>
              </a:rPr>
              <a:t>Clasificador de </a:t>
            </a:r>
          </a:p>
          <a:p>
            <a:pPr>
              <a:lnSpc>
                <a:spcPct val="100000"/>
              </a:lnSpc>
            </a:pPr>
            <a:r>
              <a:rPr lang="es-ES_tradnl" dirty="0">
                <a:solidFill>
                  <a:schemeClr val="tx1"/>
                </a:solidFill>
              </a:rPr>
              <a:t>Vector de soportes </a:t>
            </a:r>
          </a:p>
        </p:txBody>
      </p:sp>
    </p:spTree>
    <p:extLst>
      <p:ext uri="{BB962C8B-B14F-4D97-AF65-F5344CB8AC3E}">
        <p14:creationId xmlns:p14="http://schemas.microsoft.com/office/powerpoint/2010/main" val="173547238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65" name="Por lo que vimos, si queremos seguir usando un hiperplano, debemos relajar las exigencias:…"/>
          <p:cNvSpPr txBox="1">
            <a:spLocks noGrp="1"/>
          </p:cNvSpPr>
          <p:nvPr>
            <p:ph type="body" idx="1"/>
          </p:nvPr>
        </p:nvSpPr>
        <p:spPr>
          <a:xfrm>
            <a:off x="1257300" y="3676527"/>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Por lo que vimos, si queremos seguir usando un hiperplano, debemos relajar las exigencias:</a:t>
            </a:r>
          </a:p>
          <a:p>
            <a:pPr marL="1392554" lvl="1" indent="-744854">
              <a:buClr>
                <a:srgbClr val="000000"/>
              </a:buClr>
              <a:buSzPct val="200000"/>
              <a:buChar char="•"/>
              <a:defRPr sz="4600">
                <a:latin typeface="Graphik Compact Regular"/>
                <a:ea typeface="Graphik Compact Regular"/>
                <a:cs typeface="Graphik Compact Regular"/>
                <a:sym typeface="Graphik Compact Regular"/>
              </a:defRPr>
            </a:pPr>
            <a:r>
              <a:rPr lang="es-ES_tradnl" dirty="0"/>
              <a:t>Mayor robustez a observaciones individuales.</a:t>
            </a:r>
          </a:p>
          <a:p>
            <a:pPr marL="1392554" lvl="1" indent="-744854">
              <a:buClr>
                <a:srgbClr val="000000"/>
              </a:buClr>
              <a:buSzPct val="200000"/>
              <a:buChar char="•"/>
              <a:defRPr sz="4600">
                <a:latin typeface="Graphik Compact Regular"/>
                <a:ea typeface="Graphik Compact Regular"/>
                <a:cs typeface="Graphik Compact Regular"/>
                <a:sym typeface="Graphik Compact Regular"/>
              </a:defRPr>
            </a:pPr>
            <a:r>
              <a:rPr lang="es-ES_tradnl" dirty="0"/>
              <a:t>Mejor clasificación de la </a:t>
            </a:r>
            <a:r>
              <a:rPr lang="es-ES_tradnl" dirty="0">
                <a:solidFill>
                  <a:schemeClr val="accent3"/>
                </a:solidFill>
                <a:latin typeface="Graphik Compact Bold"/>
                <a:ea typeface="Graphik Compact Bold"/>
                <a:cs typeface="Graphik Compact Bold"/>
                <a:sym typeface="Graphik Compact Bold"/>
              </a:rPr>
              <a:t>mayoría</a:t>
            </a:r>
            <a:r>
              <a:rPr lang="es-ES_tradnl" dirty="0"/>
              <a:t> (no todas) de las observaciones de entrenamiento.</a:t>
            </a:r>
          </a:p>
          <a:p>
            <a:pPr>
              <a:defRPr sz="4600">
                <a:latin typeface="Graphik Compact Regular"/>
                <a:ea typeface="Graphik Compact Regular"/>
                <a:cs typeface="Graphik Compact Regular"/>
                <a:sym typeface="Graphik Compact Regular"/>
              </a:defRPr>
            </a:pPr>
            <a:r>
              <a:rPr lang="es-ES_tradnl" dirty="0"/>
              <a:t>Es decir, podría valer la pena clasificar </a:t>
            </a:r>
            <a:r>
              <a:rPr lang="es-ES_tradnl" b="1" dirty="0">
                <a:solidFill>
                  <a:schemeClr val="accent2">
                    <a:lumMod val="75000"/>
                  </a:schemeClr>
                </a:solidFill>
              </a:rPr>
              <a:t>erróneamente algunas observaciones </a:t>
            </a:r>
            <a:r>
              <a:rPr lang="es-ES_tradnl" dirty="0"/>
              <a:t>de entrenamiento para poder clasificar mejor las observaciones restantes.</a:t>
            </a:r>
          </a:p>
        </p:txBody>
      </p:sp>
      <p:sp>
        <p:nvSpPr>
          <p:cNvPr id="3" name="Slide Number Placeholder 5">
            <a:extLst>
              <a:ext uri="{FF2B5EF4-FFF2-40B4-BE49-F238E27FC236}">
                <a16:creationId xmlns:a16="http://schemas.microsoft.com/office/drawing/2014/main" id="{8F40D88C-BB0D-1BB6-E556-11B82592676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18</a:t>
            </a:fld>
            <a:endParaRPr lang="en-US" sz="2800" dirty="0"/>
          </a:p>
        </p:txBody>
      </p:sp>
    </p:spTree>
    <p:extLst>
      <p:ext uri="{BB962C8B-B14F-4D97-AF65-F5344CB8AC3E}">
        <p14:creationId xmlns:p14="http://schemas.microsoft.com/office/powerpoint/2010/main" val="6354820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68" name="El modelo clasificador de vectores de soporte es el modelo apropiado para este caso. Con este modelo una observación puede estar no sólo en el lado equivocado del margen, sino también en el lado equivocado del hiperplano."/>
          <p:cNvSpPr txBox="1">
            <a:spLocks noGrp="1"/>
          </p:cNvSpPr>
          <p:nvPr>
            <p:ph type="body" idx="1"/>
          </p:nvPr>
        </p:nvSpPr>
        <p:spPr>
          <a:xfrm>
            <a:off x="1257300" y="3676527"/>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modelo clasificador de vectores de soporte es el modelo apropiado para este caso. Con este modelo una observación puede estar no sólo en el lado equivocado del </a:t>
            </a:r>
            <a:r>
              <a:rPr lang="es-ES_tradnl" dirty="0">
                <a:latin typeface="Graphik Compact Bold"/>
                <a:ea typeface="Graphik Compact Bold"/>
                <a:cs typeface="Graphik Compact Bold"/>
                <a:sym typeface="Graphik Compact Bold"/>
              </a:rPr>
              <a:t>margen</a:t>
            </a:r>
            <a:r>
              <a:rPr lang="es-ES_tradnl" dirty="0"/>
              <a:t>, sino también en el </a:t>
            </a:r>
            <a:r>
              <a:rPr lang="es-ES_tradnl" dirty="0">
                <a:latin typeface="Graphik Compact Bold"/>
                <a:ea typeface="Graphik Compact Bold"/>
                <a:cs typeface="Graphik Compact Bold"/>
                <a:sym typeface="Graphik Compact Bold"/>
              </a:rPr>
              <a:t>lado equivocado del hiperplano</a:t>
            </a:r>
            <a:r>
              <a:rPr lang="es-ES_tradnl" dirty="0"/>
              <a:t>.</a:t>
            </a:r>
          </a:p>
        </p:txBody>
      </p:sp>
      <p:pic>
        <p:nvPicPr>
          <p:cNvPr id="369" name="path37xx7x5.png" descr="path37xx7x5.png"/>
          <p:cNvPicPr>
            <a:picLocks noChangeAspect="1"/>
          </p:cNvPicPr>
          <p:nvPr/>
        </p:nvPicPr>
        <p:blipFill>
          <a:blip r:embed="rId2"/>
          <a:stretch>
            <a:fillRect/>
          </a:stretch>
        </p:blipFill>
        <p:spPr>
          <a:xfrm>
            <a:off x="4825750" y="6378116"/>
            <a:ext cx="14732500" cy="7148048"/>
          </a:xfrm>
          <a:prstGeom prst="rect">
            <a:avLst/>
          </a:prstGeom>
          <a:ln w="12700">
            <a:miter lim="400000"/>
          </a:ln>
        </p:spPr>
      </p:pic>
      <p:sp>
        <p:nvSpPr>
          <p:cNvPr id="3" name="Slide Number Placeholder 5">
            <a:extLst>
              <a:ext uri="{FF2B5EF4-FFF2-40B4-BE49-F238E27FC236}">
                <a16:creationId xmlns:a16="http://schemas.microsoft.com/office/drawing/2014/main" id="{47D8CB5B-0718-B1AB-5ED8-CDBF7C778E6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19</a:t>
            </a:fld>
            <a:endParaRPr lang="en-US" sz="2800" dirty="0"/>
          </a:p>
        </p:txBody>
      </p:sp>
    </p:spTree>
    <p:extLst>
      <p:ext uri="{BB962C8B-B14F-4D97-AF65-F5344CB8AC3E}">
        <p14:creationId xmlns:p14="http://schemas.microsoft.com/office/powerpoint/2010/main" val="304293088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20</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4AEDEE4-A7B9-BC55-73B4-B1B4CA661895}"/>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9" name="TextBox 8">
                <a:extLst>
                  <a:ext uri="{FF2B5EF4-FFF2-40B4-BE49-F238E27FC236}">
                    <a16:creationId xmlns:a16="http://schemas.microsoft.com/office/drawing/2014/main" id="{14AEDEE4-A7B9-BC55-73B4-B1B4CA661895}"/>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6"/>
                <a:stretch>
                  <a:fillRect l="-78610" t="-153043" b="-21130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7"/>
                <a:stretch>
                  <a:fillRect l="-5556" r="-5556" b="-3571"/>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07325306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21</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3"/>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4"/>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5"/>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6"/>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7"/>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D0EE5D9-4340-D517-AFE0-B5EA8A72CD99}"/>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2" name="TextBox 11">
                <a:extLst>
                  <a:ext uri="{FF2B5EF4-FFF2-40B4-BE49-F238E27FC236}">
                    <a16:creationId xmlns:a16="http://schemas.microsoft.com/office/drawing/2014/main" id="{9D0EE5D9-4340-D517-AFE0-B5EA8A72CD99}"/>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8"/>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341693666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22</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p:sp>
        <p:nvSpPr>
          <p:cNvPr id="8" name="Line">
            <a:extLst>
              <a:ext uri="{FF2B5EF4-FFF2-40B4-BE49-F238E27FC236}">
                <a16:creationId xmlns:a16="http://schemas.microsoft.com/office/drawing/2014/main" id="{FA4DAB30-DC5B-915E-28FC-AAF0C96B0F14}"/>
              </a:ext>
            </a:extLst>
          </p:cNvPr>
          <p:cNvSpPr/>
          <p:nvPr/>
        </p:nvSpPr>
        <p:spPr>
          <a:xfrm>
            <a:off x="1908648" y="11007959"/>
            <a:ext cx="1323283" cy="856885"/>
          </a:xfrm>
          <a:prstGeom prst="line">
            <a:avLst/>
          </a:prstGeom>
          <a:ln w="88900">
            <a:solidFill>
              <a:schemeClr val="accent3">
                <a:satOff val="-11207"/>
                <a:lumOff val="-11741"/>
              </a:schemeClr>
            </a:solidFill>
            <a:miter lim="400000"/>
            <a:tailEnd type="triangle"/>
          </a:ln>
        </p:spPr>
        <p:txBody>
          <a:bodyPr lIns="50800" tIns="50800" rIns="50800" bIns="50800" anchor="ctr"/>
          <a:lstStyle/>
          <a:p>
            <a:endParaRPr lang="es-ES_tradnl"/>
          </a:p>
        </p:txBody>
      </p:sp>
      <p:sp>
        <p:nvSpPr>
          <p:cNvPr id="12" name="variables que permiten que las observaciones individuales estén en el lado equivocado del margen o el hiperplano">
            <a:extLst>
              <a:ext uri="{FF2B5EF4-FFF2-40B4-BE49-F238E27FC236}">
                <a16:creationId xmlns:a16="http://schemas.microsoft.com/office/drawing/2014/main" id="{74BCDC04-3696-B193-AB0A-2B666D601DAF}"/>
              </a:ext>
            </a:extLst>
          </p:cNvPr>
          <p:cNvSpPr txBox="1"/>
          <p:nvPr/>
        </p:nvSpPr>
        <p:spPr>
          <a:xfrm>
            <a:off x="3308131" y="11571507"/>
            <a:ext cx="18186143" cy="9889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3">
                    <a:satOff val="-11207"/>
                    <a:lumOff val="-11741"/>
                  </a:schemeClr>
                </a:solidFill>
              </a:defRPr>
            </a:lvl1pPr>
          </a:lstStyle>
          <a:p>
            <a:r>
              <a:rPr lang="es-ES_tradnl" dirty="0"/>
              <a:t>Variables que permiten que las observaciones individuales estén en el lado equivocado del margen o el hiperplano</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8CEB2F3-098B-A655-203C-D39FA8440F6E}"/>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3" name="TextBox 12">
                <a:extLst>
                  <a:ext uri="{FF2B5EF4-FFF2-40B4-BE49-F238E27FC236}">
                    <a16:creationId xmlns:a16="http://schemas.microsoft.com/office/drawing/2014/main" id="{B8CEB2F3-098B-A655-203C-D39FA8440F6E}"/>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61379107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23</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p:sp>
        <p:nvSpPr>
          <p:cNvPr id="8" name="Line">
            <a:extLst>
              <a:ext uri="{FF2B5EF4-FFF2-40B4-BE49-F238E27FC236}">
                <a16:creationId xmlns:a16="http://schemas.microsoft.com/office/drawing/2014/main" id="{FA4DAB30-DC5B-915E-28FC-AAF0C96B0F14}"/>
              </a:ext>
            </a:extLst>
          </p:cNvPr>
          <p:cNvSpPr/>
          <p:nvPr/>
        </p:nvSpPr>
        <p:spPr>
          <a:xfrm>
            <a:off x="1908648" y="11007959"/>
            <a:ext cx="1323283" cy="856885"/>
          </a:xfrm>
          <a:prstGeom prst="line">
            <a:avLst/>
          </a:prstGeom>
          <a:ln w="88900">
            <a:solidFill>
              <a:schemeClr val="accent3">
                <a:satOff val="-11207"/>
                <a:lumOff val="-11741"/>
              </a:schemeClr>
            </a:solidFill>
            <a:miter lim="400000"/>
            <a:tailEnd type="triangle"/>
          </a:ln>
        </p:spPr>
        <p:txBody>
          <a:bodyPr lIns="50800" tIns="50800" rIns="50800" bIns="50800" anchor="ctr"/>
          <a:lstStyle/>
          <a:p>
            <a:endParaRPr lang="es-ES_tradnl"/>
          </a:p>
        </p:txBody>
      </p:sp>
      <p:sp>
        <p:nvSpPr>
          <p:cNvPr id="12" name="variables que permiten que las observaciones individuales estén en el lado equivocado del margen o el hiperplano">
            <a:extLst>
              <a:ext uri="{FF2B5EF4-FFF2-40B4-BE49-F238E27FC236}">
                <a16:creationId xmlns:a16="http://schemas.microsoft.com/office/drawing/2014/main" id="{74BCDC04-3696-B193-AB0A-2B666D601DAF}"/>
              </a:ext>
            </a:extLst>
          </p:cNvPr>
          <p:cNvSpPr txBox="1"/>
          <p:nvPr/>
        </p:nvSpPr>
        <p:spPr>
          <a:xfrm>
            <a:off x="3308131" y="11571507"/>
            <a:ext cx="18186143" cy="988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spc="-36">
                <a:solidFill>
                  <a:schemeClr val="accent3">
                    <a:satOff val="-11207"/>
                    <a:lumOff val="-11741"/>
                  </a:schemeClr>
                </a:solidFill>
              </a:defRPr>
            </a:lvl1pPr>
          </a:lstStyle>
          <a:p>
            <a:r>
              <a:rPr lang="es-ES_tradnl" dirty="0"/>
              <a:t>Variables que permiten que las observaciones individuales estén en el lado equivocado del margen o el hiperplano. Si para una observación i, si </a:t>
            </a:r>
            <a:r>
              <a:rPr lang="es-ES_tradnl" dirty="0" err="1"/>
              <a:t>ε</a:t>
            </a:r>
            <a:r>
              <a:rPr lang="es-ES_tradnl" baseline="-25000" dirty="0" err="1"/>
              <a:t>i</a:t>
            </a:r>
            <a:r>
              <a:rPr lang="es-ES_tradnl" dirty="0"/>
              <a:t> = 0, la observación está en el lado correcto.</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33F8168-C170-17CE-5297-60E7C1095BB1}"/>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3" name="TextBox 12">
                <a:extLst>
                  <a:ext uri="{FF2B5EF4-FFF2-40B4-BE49-F238E27FC236}">
                    <a16:creationId xmlns:a16="http://schemas.microsoft.com/office/drawing/2014/main" id="{333F8168-C170-17CE-5297-60E7C1095BB1}"/>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250312670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24</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p:sp>
        <p:nvSpPr>
          <p:cNvPr id="8" name="Line">
            <a:extLst>
              <a:ext uri="{FF2B5EF4-FFF2-40B4-BE49-F238E27FC236}">
                <a16:creationId xmlns:a16="http://schemas.microsoft.com/office/drawing/2014/main" id="{FA4DAB30-DC5B-915E-28FC-AAF0C96B0F14}"/>
              </a:ext>
            </a:extLst>
          </p:cNvPr>
          <p:cNvSpPr/>
          <p:nvPr/>
        </p:nvSpPr>
        <p:spPr>
          <a:xfrm>
            <a:off x="1908648" y="11007959"/>
            <a:ext cx="1323283" cy="856885"/>
          </a:xfrm>
          <a:prstGeom prst="line">
            <a:avLst/>
          </a:prstGeom>
          <a:ln w="88900">
            <a:solidFill>
              <a:schemeClr val="accent3">
                <a:satOff val="-11207"/>
                <a:lumOff val="-11741"/>
              </a:schemeClr>
            </a:solidFill>
            <a:miter lim="400000"/>
            <a:tailEnd type="triangle"/>
          </a:ln>
        </p:spPr>
        <p:txBody>
          <a:bodyPr lIns="50800" tIns="50800" rIns="50800" bIns="50800" anchor="ctr"/>
          <a:lstStyle/>
          <a:p>
            <a:endParaRPr lang="es-ES_tradnl"/>
          </a:p>
        </p:txBody>
      </p:sp>
      <p:sp>
        <p:nvSpPr>
          <p:cNvPr id="12" name="variables que permiten que las observaciones individuales estén en el lado equivocado del margen o el hiperplano">
            <a:extLst>
              <a:ext uri="{FF2B5EF4-FFF2-40B4-BE49-F238E27FC236}">
                <a16:creationId xmlns:a16="http://schemas.microsoft.com/office/drawing/2014/main" id="{74BCDC04-3696-B193-AB0A-2B666D601DAF}"/>
              </a:ext>
            </a:extLst>
          </p:cNvPr>
          <p:cNvSpPr txBox="1"/>
          <p:nvPr/>
        </p:nvSpPr>
        <p:spPr>
          <a:xfrm>
            <a:off x="3308131" y="11535930"/>
            <a:ext cx="18186143" cy="14321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3">
                    <a:satOff val="-11207"/>
                    <a:lumOff val="-11741"/>
                  </a:schemeClr>
                </a:solidFill>
              </a:defRPr>
            </a:lvl1pPr>
          </a:lstStyle>
          <a:p>
            <a:r>
              <a:rPr lang="es-ES_tradnl" dirty="0"/>
              <a:t>Variables que permiten que las observaciones individuales estén en el lado equivocado del margen o el hiperplano. Si para una observación i, si 0 &lt; </a:t>
            </a:r>
            <a:r>
              <a:rPr lang="es-ES_tradnl" dirty="0" err="1"/>
              <a:t>ε</a:t>
            </a:r>
            <a:r>
              <a:rPr lang="es-ES_tradnl" baseline="-5999" dirty="0" err="1"/>
              <a:t>i</a:t>
            </a:r>
            <a:r>
              <a:rPr lang="es-ES_tradnl" dirty="0"/>
              <a:t> &lt; 1, la observación está en el lado equivocado del margen.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D1712EC-30EC-2B7B-5BEC-EB6E606CF1F3}"/>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3" name="TextBox 12">
                <a:extLst>
                  <a:ext uri="{FF2B5EF4-FFF2-40B4-BE49-F238E27FC236}">
                    <a16:creationId xmlns:a16="http://schemas.microsoft.com/office/drawing/2014/main" id="{3D1712EC-30EC-2B7B-5BEC-EB6E606CF1F3}"/>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25154606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25</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p:sp>
        <p:nvSpPr>
          <p:cNvPr id="8" name="Line">
            <a:extLst>
              <a:ext uri="{FF2B5EF4-FFF2-40B4-BE49-F238E27FC236}">
                <a16:creationId xmlns:a16="http://schemas.microsoft.com/office/drawing/2014/main" id="{FA4DAB30-DC5B-915E-28FC-AAF0C96B0F14}"/>
              </a:ext>
            </a:extLst>
          </p:cNvPr>
          <p:cNvSpPr/>
          <p:nvPr/>
        </p:nvSpPr>
        <p:spPr>
          <a:xfrm>
            <a:off x="1908648" y="11007959"/>
            <a:ext cx="1323283" cy="856885"/>
          </a:xfrm>
          <a:prstGeom prst="line">
            <a:avLst/>
          </a:prstGeom>
          <a:ln w="88900">
            <a:solidFill>
              <a:schemeClr val="accent3">
                <a:satOff val="-11207"/>
                <a:lumOff val="-11741"/>
              </a:schemeClr>
            </a:solidFill>
            <a:miter lim="400000"/>
            <a:tailEnd type="triangle"/>
          </a:ln>
        </p:spPr>
        <p:txBody>
          <a:bodyPr lIns="50800" tIns="50800" rIns="50800" bIns="50800" anchor="ctr"/>
          <a:lstStyle/>
          <a:p>
            <a:endParaRPr lang="es-ES_tradnl"/>
          </a:p>
        </p:txBody>
      </p:sp>
      <p:sp>
        <p:nvSpPr>
          <p:cNvPr id="12" name="variables que permiten que las observaciones individuales estén en el lado equivocado del margen o el hiperplano">
            <a:extLst>
              <a:ext uri="{FF2B5EF4-FFF2-40B4-BE49-F238E27FC236}">
                <a16:creationId xmlns:a16="http://schemas.microsoft.com/office/drawing/2014/main" id="{74BCDC04-3696-B193-AB0A-2B666D601DAF}"/>
              </a:ext>
            </a:extLst>
          </p:cNvPr>
          <p:cNvSpPr txBox="1"/>
          <p:nvPr/>
        </p:nvSpPr>
        <p:spPr>
          <a:xfrm>
            <a:off x="3308131" y="11535930"/>
            <a:ext cx="18186143" cy="14321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spc="-36">
                <a:solidFill>
                  <a:schemeClr val="accent3">
                    <a:satOff val="-11207"/>
                    <a:lumOff val="-11741"/>
                  </a:schemeClr>
                </a:solidFill>
              </a:defRPr>
            </a:lvl1pPr>
          </a:lstStyle>
          <a:p>
            <a:r>
              <a:rPr lang="es-ES_tradnl" dirty="0"/>
              <a:t>Variables que permiten que las observaciones individuales estén en el lado equivocado del margen o el hiperplano. Si para una observación i, si </a:t>
            </a:r>
            <a:r>
              <a:rPr lang="es-ES_tradnl" dirty="0" err="1"/>
              <a:t>ε</a:t>
            </a:r>
            <a:r>
              <a:rPr lang="es-ES_tradnl" baseline="-5999" dirty="0" err="1"/>
              <a:t>i</a:t>
            </a:r>
            <a:r>
              <a:rPr lang="es-ES_tradnl" dirty="0"/>
              <a:t> &gt; 1, la observación está en el lado equivocado del hiperplano.</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2FB0051-9FE0-53E6-79C5-1D2E57687F9F}"/>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3" name="TextBox 12">
                <a:extLst>
                  <a:ext uri="{FF2B5EF4-FFF2-40B4-BE49-F238E27FC236}">
                    <a16:creationId xmlns:a16="http://schemas.microsoft.com/office/drawing/2014/main" id="{82FB0051-9FE0-53E6-79C5-1D2E57687F9F}"/>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232281152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26</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p:sp>
        <p:nvSpPr>
          <p:cNvPr id="13" name="Line">
            <a:extLst>
              <a:ext uri="{FF2B5EF4-FFF2-40B4-BE49-F238E27FC236}">
                <a16:creationId xmlns:a16="http://schemas.microsoft.com/office/drawing/2014/main" id="{66F4292F-6F7C-C844-E802-6455553B6E26}"/>
              </a:ext>
            </a:extLst>
          </p:cNvPr>
          <p:cNvSpPr/>
          <p:nvPr/>
        </p:nvSpPr>
        <p:spPr>
          <a:xfrm>
            <a:off x="5606464" y="11173645"/>
            <a:ext cx="668211" cy="546274"/>
          </a:xfrm>
          <a:prstGeom prst="line">
            <a:avLst/>
          </a:prstGeom>
          <a:ln w="88900">
            <a:solidFill>
              <a:schemeClr val="accent5">
                <a:hueOff val="129701"/>
                <a:lumOff val="-22825"/>
              </a:schemeClr>
            </a:solidFill>
            <a:miter lim="400000"/>
            <a:tailEnd type="triangle"/>
          </a:ln>
        </p:spPr>
        <p:txBody>
          <a:bodyPr lIns="50800" tIns="50800" rIns="50800" bIns="50800" anchor="ctr"/>
          <a:lstStyle/>
          <a:p>
            <a:endParaRPr lang="es-ES_tradnl"/>
          </a:p>
        </p:txBody>
      </p:sp>
      <p:sp>
        <p:nvSpPr>
          <p:cNvPr id="14" name="C limita la suma de los εi y, por tanto, determina el número y la gravedad de las violaciones del margen (y del hiperplano) que toleraremos.">
            <a:extLst>
              <a:ext uri="{FF2B5EF4-FFF2-40B4-BE49-F238E27FC236}">
                <a16:creationId xmlns:a16="http://schemas.microsoft.com/office/drawing/2014/main" id="{C82ED14D-0D83-CCC6-E59E-8C8AF91A6609}"/>
              </a:ext>
            </a:extLst>
          </p:cNvPr>
          <p:cNvSpPr txBox="1"/>
          <p:nvPr/>
        </p:nvSpPr>
        <p:spPr>
          <a:xfrm>
            <a:off x="6274675" y="11678594"/>
            <a:ext cx="18186143" cy="9889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3600" spc="-36">
                <a:solidFill>
                  <a:schemeClr val="accent5">
                    <a:hueOff val="129701"/>
                    <a:lumOff val="-22825"/>
                  </a:schemeClr>
                </a:solidFill>
              </a:defRPr>
            </a:pPr>
            <a:r>
              <a:rPr lang="es-ES_tradnl" dirty="0"/>
              <a:t>C limita la suma de los </a:t>
            </a:r>
            <a:r>
              <a:rPr lang="es-ES_tradnl" dirty="0" err="1"/>
              <a:t>ε</a:t>
            </a:r>
            <a:r>
              <a:rPr lang="es-ES_tradnl" baseline="-5999" dirty="0" err="1"/>
              <a:t>i</a:t>
            </a:r>
            <a:r>
              <a:rPr lang="es-ES_tradnl" dirty="0"/>
              <a:t> y, por tanto, determina el número y la gravedad de las violaciones del margen (y del hiperplano) que toleraremos.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433AAF0-FCC2-5C5D-2A19-8B80041360B2}"/>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5" name="TextBox 14">
                <a:extLst>
                  <a:ext uri="{FF2B5EF4-FFF2-40B4-BE49-F238E27FC236}">
                    <a16:creationId xmlns:a16="http://schemas.microsoft.com/office/drawing/2014/main" id="{0433AAF0-FCC2-5C5D-2A19-8B80041360B2}"/>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82167880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Para construir este caso, se modifica el problema de optimización de recién, agregando </a:t>
            </a:r>
            <a:r>
              <a:rPr lang="es-ES_tradnl" b="1" dirty="0">
                <a:solidFill>
                  <a:schemeClr val="accent2">
                    <a:lumMod val="75000"/>
                  </a:schemeClr>
                </a:solidFill>
              </a:rPr>
              <a:t>regularización</a:t>
            </a:r>
            <a:r>
              <a:rPr lang="es-ES_tradnl" dirty="0"/>
              <a:t>:</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27</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607881"/>
                <a:ext cx="4537844" cy="1502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𝑗</m:t>
                          </m:r>
                          <m:r>
                            <a:rPr lang="en-US" sz="4000" b="0" i="1" smtClean="0">
                              <a:latin typeface="Cambria Math" panose="02040503050406030204" pitchFamily="18" charset="0"/>
                            </a:rPr>
                            <m:t>=1</m:t>
                          </m:r>
                        </m:sub>
                        <m:sup>
                          <m:r>
                            <a:rPr lang="en-US" sz="4000" b="0" i="1" smtClean="0">
                              <a:latin typeface="Cambria Math" panose="02040503050406030204" pitchFamily="18" charset="0"/>
                            </a:rPr>
                            <m:t>𝑝</m:t>
                          </m:r>
                        </m:sup>
                        <m:e>
                          <m:sSubSup>
                            <m:sSubSupPr>
                              <m:ctrlPr>
                                <a:rPr lang="en-US" sz="4000" b="0" i="1" smtClean="0">
                                  <a:latin typeface="Cambria Math" panose="02040503050406030204" pitchFamily="18" charset="0"/>
                                </a:rPr>
                              </m:ctrlPr>
                            </m:sSubSupPr>
                            <m:e>
                              <m:r>
                                <a:rPr lang="es-ES_tradnl" sz="4400" i="1">
                                  <a:latin typeface="Cambria Math" panose="02040503050406030204" pitchFamily="18" charset="0"/>
                                  <a:ea typeface="Cambria Math" panose="02040503050406030204" pitchFamily="18" charset="0"/>
                                </a:rPr>
                                <m:t>𝛽</m:t>
                              </m:r>
                            </m:e>
                            <m:sub>
                              <m:r>
                                <a:rPr lang="en-US" sz="4000" b="0" i="1" smtClean="0">
                                  <a:latin typeface="Cambria Math" panose="02040503050406030204" pitchFamily="18" charset="0"/>
                                </a:rPr>
                                <m:t>𝑗</m:t>
                              </m:r>
                            </m:sub>
                            <m:sup>
                              <m:r>
                                <a:rPr lang="en-US" sz="4000" b="0" i="1" smtClean="0">
                                  <a:latin typeface="Cambria Math" panose="02040503050406030204" pitchFamily="18" charset="0"/>
                                </a:rPr>
                                <m:t>2</m:t>
                              </m:r>
                            </m:sup>
                          </m:sSubSup>
                        </m:e>
                      </m:nary>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607881"/>
                <a:ext cx="4537844" cy="1502591"/>
              </a:xfrm>
              <a:prstGeom prst="rect">
                <a:avLst/>
              </a:prstGeom>
              <a:blipFill>
                <a:blip r:embed="rId3"/>
                <a:stretch>
                  <a:fillRect l="-3352" t="-148739" b="-20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219200" y="8456388"/>
                <a:ext cx="12997532" cy="7248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219200" y="8456388"/>
                <a:ext cx="12997532" cy="724878"/>
              </a:xfrm>
              <a:prstGeom prst="rect">
                <a:avLst/>
              </a:prstGeom>
              <a:blipFill>
                <a:blip r:embed="rId4"/>
                <a:stretch>
                  <a:fillRect t="-31034" b="-275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p:sp>
        <p:nvSpPr>
          <p:cNvPr id="11" name="Donde C es un hiperparámetro.">
            <a:extLst>
              <a:ext uri="{FF2B5EF4-FFF2-40B4-BE49-F238E27FC236}">
                <a16:creationId xmlns:a16="http://schemas.microsoft.com/office/drawing/2014/main" id="{D523AA39-6DDD-1D23-6F37-11ED74E9E344}"/>
              </a:ext>
            </a:extLst>
          </p:cNvPr>
          <p:cNvSpPr txBox="1"/>
          <p:nvPr/>
        </p:nvSpPr>
        <p:spPr>
          <a:xfrm>
            <a:off x="8805992" y="10386348"/>
            <a:ext cx="6027547"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a:t>Donde C es un hiperparámetro.</a:t>
            </a:r>
          </a:p>
        </p:txBody>
      </p:sp>
      <p:sp>
        <p:nvSpPr>
          <p:cNvPr id="8" name="Si C&gt;0, no mas que C observaciones pueden estar en el lado equivocado del hiperplano. Si C es mas grande, mas laxos son las exigencias y los márgenes serán más grandes.">
            <a:extLst>
              <a:ext uri="{FF2B5EF4-FFF2-40B4-BE49-F238E27FC236}">
                <a16:creationId xmlns:a16="http://schemas.microsoft.com/office/drawing/2014/main" id="{55431EAF-ED63-A816-D961-99715CF1DB6D}"/>
              </a:ext>
            </a:extLst>
          </p:cNvPr>
          <p:cNvSpPr txBox="1"/>
          <p:nvPr/>
        </p:nvSpPr>
        <p:spPr>
          <a:xfrm>
            <a:off x="3452445" y="11658103"/>
            <a:ext cx="18186143" cy="9889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3600" spc="-36">
                <a:solidFill>
                  <a:schemeClr val="accent5">
                    <a:hueOff val="129701"/>
                    <a:lumOff val="-22825"/>
                  </a:schemeClr>
                </a:solidFill>
              </a:defRPr>
            </a:lvl1pPr>
          </a:lstStyle>
          <a:p>
            <a:r>
              <a:rPr lang="es-ES_tradnl" dirty="0"/>
              <a:t>Si 1/C&gt;0, no más que 1/C observaciones pueden estar en el lado equivocado del hiperplano. Si C es más chico, más laxos son las exigencias y los márgenes serán más grandes.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292554-B76F-4377-587B-97BF8904472C}"/>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2" name="TextBox 11">
                <a:extLst>
                  <a:ext uri="{FF2B5EF4-FFF2-40B4-BE49-F238E27FC236}">
                    <a16:creationId xmlns:a16="http://schemas.microsoft.com/office/drawing/2014/main" id="{57292554-B76F-4377-587B-97BF8904472C}"/>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236820360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Podemos reescribir usando el producto escalar</a:t>
            </a:r>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28</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EE0693-9A26-A2D2-958F-0E23739D4450}"/>
                  </a:ext>
                </a:extLst>
              </p:cNvPr>
              <p:cNvSpPr txBox="1"/>
              <p:nvPr/>
            </p:nvSpPr>
            <p:spPr>
              <a:xfrm>
                <a:off x="1491390" y="6980105"/>
                <a:ext cx="3963649" cy="707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𝑠𝑢𝑗𝑒𝑡𝑜</m:t>
                      </m:r>
                      <m:r>
                        <a:rPr lang="en-US" sz="4000" b="0" i="1" smtClean="0">
                          <a:latin typeface="Cambria Math" panose="02040503050406030204" pitchFamily="18" charset="0"/>
                        </a:rPr>
                        <m:t> </m:t>
                      </m:r>
                      <m:r>
                        <a:rPr lang="en-US" sz="4000" b="0" i="1" smtClean="0">
                          <a:latin typeface="Cambria Math" panose="02040503050406030204" pitchFamily="18" charset="0"/>
                        </a:rPr>
                        <m:t>𝑎</m:t>
                      </m:r>
                      <m:r>
                        <a:rPr lang="en-US" sz="4000" b="0" i="1" smtClean="0">
                          <a:latin typeface="Cambria Math" panose="02040503050406030204" pitchFamily="18" charset="0"/>
                        </a:rPr>
                        <m:t> </m:t>
                      </m:r>
                      <m:d>
                        <m:dPr>
                          <m:begChr m:val="‖"/>
                          <m:endChr m:val="‖"/>
                          <m:ctrlPr>
                            <a:rPr lang="en-US" sz="4000" b="0" i="1" smtClean="0">
                              <a:latin typeface="Cambria Math" panose="02040503050406030204" pitchFamily="18" charset="0"/>
                            </a:rPr>
                          </m:ctrlPr>
                        </m:dPr>
                        <m:e>
                          <m:acc>
                            <m:accPr>
                              <m:chr m:val="⃗"/>
                              <m:ctrlPr>
                                <a:rPr lang="en-US" sz="4000" b="0" i="1" smtClean="0">
                                  <a:latin typeface="Cambria Math" panose="02040503050406030204" pitchFamily="18" charset="0"/>
                                </a:rPr>
                              </m:ctrlPr>
                            </m:accPr>
                            <m:e>
                              <m:r>
                                <a:rPr lang="es-ES_tradnl" sz="4000" i="1">
                                  <a:latin typeface="Cambria Math" panose="02040503050406030204" pitchFamily="18" charset="0"/>
                                  <a:ea typeface="Cambria Math" panose="02040503050406030204" pitchFamily="18" charset="0"/>
                                </a:rPr>
                                <m:t>𝛽</m:t>
                              </m:r>
                            </m:e>
                          </m:acc>
                        </m:e>
                      </m:d>
                      <m:r>
                        <a:rPr lang="en-US" sz="4000" b="0" i="1" smtClean="0">
                          <a:latin typeface="Cambria Math" panose="02040503050406030204" pitchFamily="18" charset="0"/>
                        </a:rPr>
                        <m:t>=1</m:t>
                      </m:r>
                    </m:oMath>
                  </m:oMathPara>
                </a14:m>
                <a:endParaRPr lang="es-ES_tradnl" dirty="0"/>
              </a:p>
            </p:txBody>
          </p:sp>
        </mc:Choice>
        <mc:Fallback xmlns="">
          <p:sp>
            <p:nvSpPr>
              <p:cNvPr id="5" name="TextBox 4">
                <a:extLst>
                  <a:ext uri="{FF2B5EF4-FFF2-40B4-BE49-F238E27FC236}">
                    <a16:creationId xmlns:a16="http://schemas.microsoft.com/office/drawing/2014/main" id="{A7EE0693-9A26-A2D2-958F-0E23739D4450}"/>
                  </a:ext>
                </a:extLst>
              </p:cNvPr>
              <p:cNvSpPr txBox="1">
                <a:spLocks noRot="1" noChangeAspect="1" noMove="1" noResize="1" noEditPoints="1" noAdjustHandles="1" noChangeArrowheads="1" noChangeShapeType="1" noTextEdit="1"/>
              </p:cNvSpPr>
              <p:nvPr/>
            </p:nvSpPr>
            <p:spPr>
              <a:xfrm>
                <a:off x="1491390" y="6980105"/>
                <a:ext cx="3963649" cy="707501"/>
              </a:xfrm>
              <a:prstGeom prst="rect">
                <a:avLst/>
              </a:prstGeom>
              <a:blipFill>
                <a:blip r:embed="rId3"/>
                <a:stretch>
                  <a:fillRect l="-3834" t="-45614" r="-319" b="-22807"/>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2D4DBF-E9D0-6B9E-3B56-00D66E012262}"/>
                  </a:ext>
                </a:extLst>
              </p:cNvPr>
              <p:cNvSpPr txBox="1"/>
              <p:nvPr/>
            </p:nvSpPr>
            <p:spPr>
              <a:xfrm>
                <a:off x="1491390" y="8426422"/>
                <a:ext cx="10843673" cy="7680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r>
                            <a:rPr lang="en-US" sz="4400" b="0" i="1" smtClean="0">
                              <a:latin typeface="Cambria Math" panose="02040503050406030204" pitchFamily="18" charset="0"/>
                            </a:rPr>
                            <m:t>&lt;</m:t>
                          </m:r>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r>
                            <a:rPr lang="en-US" sz="4400" b="0" i="1" smtClean="0">
                              <a:latin typeface="Cambria Math" panose="02040503050406030204" pitchFamily="18" charset="0"/>
                              <a:ea typeface="Cambria Math" panose="02040503050406030204" pitchFamily="18" charset="0"/>
                            </a:rPr>
                            <m:t>, </m:t>
                          </m:r>
                          <m:sSub>
                            <m:sSubPr>
                              <m:ctrlPr>
                                <a:rPr lang="en-US" sz="4400" b="0" i="1" smtClean="0">
                                  <a:latin typeface="Cambria Math" panose="02040503050406030204" pitchFamily="18" charset="0"/>
                                  <a:ea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𝑋</m:t>
                              </m:r>
                            </m:e>
                            <m:sub>
                              <m:r>
                                <a:rPr lang="en-US" sz="4400" b="0" i="1" smtClean="0">
                                  <a:latin typeface="Cambria Math" panose="02040503050406030204" pitchFamily="18" charset="0"/>
                                  <a:ea typeface="Cambria Math" panose="02040503050406030204" pitchFamily="18" charset="0"/>
                                </a:rPr>
                                <m:t>𝑖</m:t>
                              </m:r>
                            </m:sub>
                          </m:sSub>
                          <m:r>
                            <a:rPr lang="en-US" sz="4400" b="0" i="1" smtClean="0">
                              <a:latin typeface="Cambria Math" panose="02040503050406030204" pitchFamily="18" charset="0"/>
                            </a:rPr>
                            <m:t>&gt;</m:t>
                          </m:r>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6" name="TextBox 5">
                <a:extLst>
                  <a:ext uri="{FF2B5EF4-FFF2-40B4-BE49-F238E27FC236}">
                    <a16:creationId xmlns:a16="http://schemas.microsoft.com/office/drawing/2014/main" id="{B12D4DBF-E9D0-6B9E-3B56-00D66E012262}"/>
                  </a:ext>
                </a:extLst>
              </p:cNvPr>
              <p:cNvSpPr txBox="1">
                <a:spLocks noRot="1" noChangeAspect="1" noMove="1" noResize="1" noEditPoints="1" noAdjustHandles="1" noChangeArrowheads="1" noChangeShapeType="1" noTextEdit="1"/>
              </p:cNvSpPr>
              <p:nvPr/>
            </p:nvSpPr>
            <p:spPr>
              <a:xfrm>
                <a:off x="1491390" y="8426422"/>
                <a:ext cx="10843673" cy="768031"/>
              </a:xfrm>
              <a:prstGeom prst="rect">
                <a:avLst/>
              </a:prstGeom>
              <a:blipFill>
                <a:blip r:embed="rId4"/>
                <a:stretch>
                  <a:fillRect l="-819" t="-47541" b="-2459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5"/>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6"/>
                <a:stretch>
                  <a:fillRect l="-5556" r="-5556" b="-3571"/>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F7F4D7E-5AEC-49F2-B047-2A91CDF48F14}"/>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2" name="TextBox 11">
                <a:extLst>
                  <a:ext uri="{FF2B5EF4-FFF2-40B4-BE49-F238E27FC236}">
                    <a16:creationId xmlns:a16="http://schemas.microsoft.com/office/drawing/2014/main" id="{8F7F4D7E-5AEC-49F2-B047-2A91CDF48F14}"/>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08999376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Podemos reescribir usando el producto escalar</a:t>
            </a:r>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29</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491390" y="5284492"/>
                <a:ext cx="3338093" cy="9496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s-ES_tradnl" sz="4400" i="0" smtClean="0">
                                  <a:latin typeface="Cambria Math" panose="02040503050406030204" pitchFamily="18" charset="0"/>
                                </a:rPr>
                                <m:t>max</m:t>
                              </m:r>
                              <m:r>
                                <m:rPr>
                                  <m:sty m:val="p"/>
                                </m:rPr>
                                <a:rPr lang="en-US" sz="4400" b="0" i="0" smtClean="0">
                                  <a:latin typeface="Cambria Math" panose="02040503050406030204" pitchFamily="18" charset="0"/>
                                </a:rPr>
                                <m:t>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r>
                            <a:rPr lang="en-US" sz="4400" b="0" i="1" smtClean="0">
                              <a:latin typeface="Cambria Math" panose="02040503050406030204" pitchFamily="18" charset="0"/>
                            </a:rPr>
                            <m:t>𝑀</m:t>
                          </m:r>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491390" y="5284492"/>
                <a:ext cx="3338093" cy="949619"/>
              </a:xfrm>
              <a:prstGeom prst="rect">
                <a:avLst/>
              </a:prstGeom>
              <a:blipFill>
                <a:blip r:embed="rId2"/>
                <a:stretch>
                  <a:fillRect l="-2273" t="-1316" b="-15789"/>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491390" y="10247685"/>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491390" y="10247685"/>
                <a:ext cx="1580331" cy="695575"/>
              </a:xfrm>
              <a:prstGeom prst="rect">
                <a:avLst/>
              </a:prstGeom>
              <a:blipFill>
                <a:blip r:embed="rId3"/>
                <a:stretch>
                  <a:fillRect l="-4800" r="-8800"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627447" y="10247684"/>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627447" y="10247684"/>
                <a:ext cx="1580331" cy="695575"/>
              </a:xfrm>
              <a:prstGeom prst="rect">
                <a:avLst/>
              </a:prstGeom>
              <a:blipFill>
                <a:blip r:embed="rId4"/>
                <a:stretch>
                  <a:fillRect l="-5556" r="-5556" b="-3571"/>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Si quitamos la restricción del versor, donde definimos a                                    , debemos modificar a la medida de distancia teniendo en cuenta que ya no es un versor">
                <a:extLst>
                  <a:ext uri="{FF2B5EF4-FFF2-40B4-BE49-F238E27FC236}">
                    <a16:creationId xmlns:a16="http://schemas.microsoft.com/office/drawing/2014/main" id="{44527A22-14B9-1940-838E-BA2A0B9C3549}"/>
                  </a:ext>
                </a:extLst>
              </p:cNvPr>
              <p:cNvSpPr txBox="1"/>
              <p:nvPr/>
            </p:nvSpPr>
            <p:spPr>
              <a:xfrm>
                <a:off x="658444" y="11570526"/>
                <a:ext cx="22863707" cy="1090235"/>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square" lIns="50800" tIns="50800" rIns="50800" bIns="50800" anchor="ctr">
                <a:spAutoFit/>
              </a:bodyPr>
              <a:lstStyle>
                <a:lvl1pPr algn="l">
                  <a:defRPr sz="3600" spc="-36">
                    <a:solidFill>
                      <a:schemeClr val="accent5">
                        <a:hueOff val="129701"/>
                        <a:lumOff val="-22825"/>
                      </a:schemeClr>
                    </a:solidFill>
                  </a:defRPr>
                </a:lvl1pPr>
              </a:lstStyle>
              <a:p>
                <a:r>
                  <a:rPr lang="es-ES_tradnl" dirty="0"/>
                  <a:t>Si quitamos la restricción del </a:t>
                </a:r>
                <a:r>
                  <a:rPr lang="es-ES_tradnl" dirty="0" err="1"/>
                  <a:t>versor</a:t>
                </a:r>
                <a:r>
                  <a:rPr lang="es-ES_tradnl" dirty="0"/>
                  <a:t>, donde definimos a </a:t>
                </a:r>
                <a14:m>
                  <m:oMath xmlns:m="http://schemas.openxmlformats.org/officeDocument/2006/math">
                    <m:r>
                      <m:rPr>
                        <m:sty m:val="p"/>
                      </m:rPr>
                      <a:rPr lang="en-US" sz="3600" b="0" i="0" smtClean="0">
                        <a:latin typeface="Cambria Math" panose="02040503050406030204" pitchFamily="18" charset="0"/>
                      </a:rPr>
                      <m:t>M</m:t>
                    </m:r>
                    <m:r>
                      <a:rPr lang="en-US" sz="3600" b="0" i="0" smtClean="0">
                        <a:latin typeface="Cambria Math" panose="02040503050406030204" pitchFamily="18" charset="0"/>
                      </a:rPr>
                      <m:t>=1/</m:t>
                    </m:r>
                    <m:d>
                      <m:dPr>
                        <m:begChr m:val="‖"/>
                        <m:endChr m:val="‖"/>
                        <m:ctrlPr>
                          <a:rPr lang="en-US" sz="3600" b="0" i="1" smtClean="0">
                            <a:latin typeface="Cambria Math" panose="02040503050406030204" pitchFamily="18" charset="0"/>
                          </a:rPr>
                        </m:ctrlPr>
                      </m:dPr>
                      <m:e>
                        <m:acc>
                          <m:accPr>
                            <m:chr m:val="⃗"/>
                            <m:ctrlPr>
                              <a:rPr lang="en-US" sz="3600" b="0" i="1" smtClean="0">
                                <a:latin typeface="Cambria Math" panose="02040503050406030204" pitchFamily="18" charset="0"/>
                              </a:rPr>
                            </m:ctrlPr>
                          </m:accPr>
                          <m:e>
                            <m:r>
                              <a:rPr lang="es-ES_tradnl" sz="3600" i="1">
                                <a:latin typeface="Cambria Math" panose="02040503050406030204" pitchFamily="18" charset="0"/>
                                <a:ea typeface="Cambria Math" panose="02040503050406030204" pitchFamily="18" charset="0"/>
                              </a:rPr>
                              <m:t>𝛽</m:t>
                            </m:r>
                          </m:e>
                        </m:acc>
                      </m:e>
                    </m:d>
                  </m:oMath>
                </a14:m>
                <a:r>
                  <a:rPr lang="es-ES_tradnl" dirty="0"/>
                  <a:t>, debemos modificar a la medida de distancia teniendo en cuenta que ya no es un </a:t>
                </a:r>
                <a:r>
                  <a:rPr lang="es-ES_tradnl" dirty="0" err="1"/>
                  <a:t>versor</a:t>
                </a:r>
                <a:r>
                  <a:rPr lang="es-ES_tradnl" dirty="0"/>
                  <a:t>. </a:t>
                </a:r>
              </a:p>
            </p:txBody>
          </p:sp>
        </mc:Choice>
        <mc:Fallback xmlns="">
          <p:sp>
            <p:nvSpPr>
              <p:cNvPr id="12" name="Si quitamos la restricción del versor, donde definimos a                                    , debemos modificar a la medida de distancia teniendo en cuenta que ya no es un versor">
                <a:extLst>
                  <a:ext uri="{FF2B5EF4-FFF2-40B4-BE49-F238E27FC236}">
                    <a16:creationId xmlns:a16="http://schemas.microsoft.com/office/drawing/2014/main" id="{44527A22-14B9-1940-838E-BA2A0B9C3549}"/>
                  </a:ext>
                </a:extLst>
              </p:cNvPr>
              <p:cNvSpPr txBox="1">
                <a:spLocks noRot="1" noChangeAspect="1" noMove="1" noResize="1" noEditPoints="1" noAdjustHandles="1" noChangeArrowheads="1" noChangeShapeType="1" noTextEdit="1"/>
              </p:cNvSpPr>
              <p:nvPr/>
            </p:nvSpPr>
            <p:spPr>
              <a:xfrm>
                <a:off x="658444" y="11570526"/>
                <a:ext cx="22863707" cy="1090235"/>
              </a:xfrm>
              <a:prstGeom prst="rect">
                <a:avLst/>
              </a:prstGeom>
              <a:blipFill>
                <a:blip r:embed="rId5"/>
                <a:stretch>
                  <a:fillRect l="-943" t="-25581" b="-20930"/>
                </a:stretch>
              </a:blip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C4A868-ADD2-A496-EF9F-3DB94ABF2028}"/>
                  </a:ext>
                </a:extLst>
              </p:cNvPr>
              <p:cNvSpPr txBox="1"/>
              <p:nvPr/>
            </p:nvSpPr>
            <p:spPr>
              <a:xfrm>
                <a:off x="1491390" y="8426422"/>
                <a:ext cx="10843673" cy="7680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m:t>
                          </m:r>
                          <m:r>
                            <a:rPr lang="en-US" sz="4400" b="0" i="1" smtClean="0">
                              <a:latin typeface="Cambria Math" panose="02040503050406030204" pitchFamily="18" charset="0"/>
                            </a:rPr>
                            <m:t>&lt;</m:t>
                          </m:r>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r>
                            <a:rPr lang="en-US" sz="4400" b="0" i="1" smtClean="0">
                              <a:latin typeface="Cambria Math" panose="02040503050406030204" pitchFamily="18" charset="0"/>
                              <a:ea typeface="Cambria Math" panose="02040503050406030204" pitchFamily="18" charset="0"/>
                            </a:rPr>
                            <m:t>, </m:t>
                          </m:r>
                          <m:sSub>
                            <m:sSubPr>
                              <m:ctrlPr>
                                <a:rPr lang="en-US" sz="4400" b="0" i="1" smtClean="0">
                                  <a:latin typeface="Cambria Math" panose="02040503050406030204" pitchFamily="18" charset="0"/>
                                  <a:ea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𝑋</m:t>
                              </m:r>
                            </m:e>
                            <m:sub>
                              <m:r>
                                <a:rPr lang="en-US" sz="4400" b="0" i="1" smtClean="0">
                                  <a:latin typeface="Cambria Math" panose="02040503050406030204" pitchFamily="18" charset="0"/>
                                  <a:ea typeface="Cambria Math" panose="02040503050406030204" pitchFamily="18" charset="0"/>
                                </a:rPr>
                                <m:t>𝑖</m:t>
                              </m:r>
                            </m:sub>
                          </m:sSub>
                          <m:r>
                            <a:rPr lang="en-US" sz="4400" b="0" i="1" smtClean="0">
                              <a:latin typeface="Cambria Math" panose="02040503050406030204" pitchFamily="18" charset="0"/>
                            </a:rPr>
                            <m:t>&gt;</m:t>
                          </m:r>
                        </m:e>
                      </m:d>
                      <m:r>
                        <a:rPr lang="en-US" sz="4400" i="1" smtClean="0">
                          <a:latin typeface="Cambria Math" panose="02040503050406030204" pitchFamily="18" charset="0"/>
                          <a:ea typeface="Cambria Math" panose="02040503050406030204" pitchFamily="18" charset="0"/>
                        </a:rPr>
                        <m:t>≥</m:t>
                      </m:r>
                      <m:r>
                        <a:rPr lang="en-US" sz="4400" i="1">
                          <a:latin typeface="Cambria Math" panose="02040503050406030204" pitchFamily="18" charset="0"/>
                        </a:rPr>
                        <m:t>𝑀</m:t>
                      </m:r>
                      <m:r>
                        <a:rPr lang="en-US" sz="4400" b="0" i="1" smtClean="0">
                          <a:latin typeface="Cambria Math" panose="02040503050406030204" pitchFamily="18" charset="0"/>
                        </a:rPr>
                        <m:t>(1−</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i="1">
                          <a:latin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14" name="TextBox 13">
                <a:extLst>
                  <a:ext uri="{FF2B5EF4-FFF2-40B4-BE49-F238E27FC236}">
                    <a16:creationId xmlns:a16="http://schemas.microsoft.com/office/drawing/2014/main" id="{7AC4A868-ADD2-A496-EF9F-3DB94ABF2028}"/>
                  </a:ext>
                </a:extLst>
              </p:cNvPr>
              <p:cNvSpPr txBox="1">
                <a:spLocks noRot="1" noChangeAspect="1" noMove="1" noResize="1" noEditPoints="1" noAdjustHandles="1" noChangeArrowheads="1" noChangeShapeType="1" noTextEdit="1"/>
              </p:cNvSpPr>
              <p:nvPr/>
            </p:nvSpPr>
            <p:spPr>
              <a:xfrm>
                <a:off x="1491390" y="8426422"/>
                <a:ext cx="10843673" cy="768031"/>
              </a:xfrm>
              <a:prstGeom prst="rect">
                <a:avLst/>
              </a:prstGeom>
              <a:blipFill>
                <a:blip r:embed="rId6"/>
                <a:stretch>
                  <a:fillRect l="-819" t="-47541" b="-2459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C89ACE2-8C0C-BC9A-B84F-8B51E2B9B832}"/>
                  </a:ext>
                </a:extLst>
              </p:cNvPr>
              <p:cNvSpPr txBox="1"/>
              <p:nvPr/>
            </p:nvSpPr>
            <p:spPr>
              <a:xfrm>
                <a:off x="3669934" y="993584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15" name="TextBox 14">
                <a:extLst>
                  <a:ext uri="{FF2B5EF4-FFF2-40B4-BE49-F238E27FC236}">
                    <a16:creationId xmlns:a16="http://schemas.microsoft.com/office/drawing/2014/main" id="{4C89ACE2-8C0C-BC9A-B84F-8B51E2B9B832}"/>
                  </a:ext>
                </a:extLst>
              </p:cNvPr>
              <p:cNvSpPr txBox="1">
                <a:spLocks noRot="1" noChangeAspect="1" noMove="1" noResize="1" noEditPoints="1" noAdjustHandles="1" noChangeArrowheads="1" noChangeShapeType="1" noTextEdit="1"/>
              </p:cNvSpPr>
              <p:nvPr/>
            </p:nvSpPr>
            <p:spPr>
              <a:xfrm>
                <a:off x="3669934" y="993584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16267449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Podemos reescribir usando el producto escalar</a:t>
            </a:r>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30</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597957" y="5238069"/>
                <a:ext cx="3124958" cy="10424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n-US" sz="4400" b="0" i="0" smtClean="0">
                                  <a:latin typeface="Cambria Math" panose="02040503050406030204" pitchFamily="18" charset="0"/>
                                </a:rPr>
                                <m:t>minimizar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597957" y="5238069"/>
                <a:ext cx="3124958" cy="1042465"/>
              </a:xfrm>
              <a:prstGeom prst="rect">
                <a:avLst/>
              </a:prstGeom>
              <a:blipFill>
                <a:blip r:embed="rId2"/>
                <a:stretch>
                  <a:fillRect l="-3644" t="-37349" r="-2024" b="-1325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597957" y="9501687"/>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597957" y="9501687"/>
                <a:ext cx="1580331" cy="695575"/>
              </a:xfrm>
              <a:prstGeom prst="rect">
                <a:avLst/>
              </a:prstGeom>
              <a:blipFill>
                <a:blip r:embed="rId3"/>
                <a:stretch>
                  <a:fillRect l="-4762" r="-8730" b="-1071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734014" y="9501686"/>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734014" y="9501686"/>
                <a:ext cx="1580331" cy="695575"/>
              </a:xfrm>
              <a:prstGeom prst="rect">
                <a:avLst/>
              </a:prstGeom>
              <a:blipFill>
                <a:blip r:embed="rId4"/>
                <a:stretch>
                  <a:fillRect l="-6400" r="-6400" b="-17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Si quitamos la restricción del versor, donde definimos a                                    , debemos modificar a la medida de distancia teniendo en cuenta que ya no es un versor">
                <a:extLst>
                  <a:ext uri="{FF2B5EF4-FFF2-40B4-BE49-F238E27FC236}">
                    <a16:creationId xmlns:a16="http://schemas.microsoft.com/office/drawing/2014/main" id="{44527A22-14B9-1940-838E-BA2A0B9C3549}"/>
                  </a:ext>
                </a:extLst>
              </p:cNvPr>
              <p:cNvSpPr txBox="1"/>
              <p:nvPr/>
            </p:nvSpPr>
            <p:spPr>
              <a:xfrm>
                <a:off x="658444" y="11570526"/>
                <a:ext cx="22863707" cy="1090235"/>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wrap="square" lIns="50800" tIns="50800" rIns="50800" bIns="50800" anchor="ctr">
                <a:spAutoFit/>
              </a:bodyPr>
              <a:lstStyle>
                <a:lvl1pPr algn="l">
                  <a:defRPr sz="3600" spc="-36">
                    <a:solidFill>
                      <a:schemeClr val="accent5">
                        <a:hueOff val="129701"/>
                        <a:lumOff val="-22825"/>
                      </a:schemeClr>
                    </a:solidFill>
                  </a:defRPr>
                </a:lvl1pPr>
              </a:lstStyle>
              <a:p>
                <a:r>
                  <a:rPr lang="es-ES_tradnl" dirty="0"/>
                  <a:t>Si quitamos la restricción del </a:t>
                </a:r>
                <a:r>
                  <a:rPr lang="es-ES_tradnl" dirty="0" err="1"/>
                  <a:t>versor</a:t>
                </a:r>
                <a:r>
                  <a:rPr lang="es-ES_tradnl" dirty="0"/>
                  <a:t>, donde definimos a </a:t>
                </a:r>
                <a14:m>
                  <m:oMath xmlns:m="http://schemas.openxmlformats.org/officeDocument/2006/math">
                    <m:r>
                      <m:rPr>
                        <m:sty m:val="p"/>
                      </m:rPr>
                      <a:rPr lang="en-US" sz="3600" b="0" i="0" smtClean="0">
                        <a:latin typeface="Cambria Math" panose="02040503050406030204" pitchFamily="18" charset="0"/>
                      </a:rPr>
                      <m:t>M</m:t>
                    </m:r>
                    <m:r>
                      <a:rPr lang="en-US" sz="3600" b="0" i="0" smtClean="0">
                        <a:latin typeface="Cambria Math" panose="02040503050406030204" pitchFamily="18" charset="0"/>
                      </a:rPr>
                      <m:t>=1/</m:t>
                    </m:r>
                    <m:d>
                      <m:dPr>
                        <m:begChr m:val="‖"/>
                        <m:endChr m:val="‖"/>
                        <m:ctrlPr>
                          <a:rPr lang="en-US" sz="3600" b="0" i="1" smtClean="0">
                            <a:latin typeface="Cambria Math" panose="02040503050406030204" pitchFamily="18" charset="0"/>
                          </a:rPr>
                        </m:ctrlPr>
                      </m:dPr>
                      <m:e>
                        <m:acc>
                          <m:accPr>
                            <m:chr m:val="⃗"/>
                            <m:ctrlPr>
                              <a:rPr lang="en-US" sz="3600" b="0" i="1" smtClean="0">
                                <a:latin typeface="Cambria Math" panose="02040503050406030204" pitchFamily="18" charset="0"/>
                              </a:rPr>
                            </m:ctrlPr>
                          </m:accPr>
                          <m:e>
                            <m:r>
                              <a:rPr lang="es-ES_tradnl" sz="3600" i="1">
                                <a:latin typeface="Cambria Math" panose="02040503050406030204" pitchFamily="18" charset="0"/>
                                <a:ea typeface="Cambria Math" panose="02040503050406030204" pitchFamily="18" charset="0"/>
                              </a:rPr>
                              <m:t>𝛽</m:t>
                            </m:r>
                          </m:e>
                        </m:acc>
                      </m:e>
                    </m:d>
                  </m:oMath>
                </a14:m>
                <a:r>
                  <a:rPr lang="es-ES_tradnl" dirty="0"/>
                  <a:t>, debemos modificar a la medida de distancia teniendo en cuenta que ya no es un </a:t>
                </a:r>
                <a:r>
                  <a:rPr lang="es-ES_tradnl" dirty="0" err="1"/>
                  <a:t>versor</a:t>
                </a:r>
                <a:r>
                  <a:rPr lang="es-ES_tradnl" dirty="0"/>
                  <a:t>. </a:t>
                </a:r>
              </a:p>
            </p:txBody>
          </p:sp>
        </mc:Choice>
        <mc:Fallback xmlns="">
          <p:sp>
            <p:nvSpPr>
              <p:cNvPr id="12" name="Si quitamos la restricción del versor, donde definimos a                                    , debemos modificar a la medida de distancia teniendo en cuenta que ya no es un versor">
                <a:extLst>
                  <a:ext uri="{FF2B5EF4-FFF2-40B4-BE49-F238E27FC236}">
                    <a16:creationId xmlns:a16="http://schemas.microsoft.com/office/drawing/2014/main" id="{44527A22-14B9-1940-838E-BA2A0B9C3549}"/>
                  </a:ext>
                </a:extLst>
              </p:cNvPr>
              <p:cNvSpPr txBox="1">
                <a:spLocks noRot="1" noChangeAspect="1" noMove="1" noResize="1" noEditPoints="1" noAdjustHandles="1" noChangeArrowheads="1" noChangeShapeType="1" noTextEdit="1"/>
              </p:cNvSpPr>
              <p:nvPr/>
            </p:nvSpPr>
            <p:spPr>
              <a:xfrm>
                <a:off x="658444" y="11570526"/>
                <a:ext cx="22863707" cy="1090235"/>
              </a:xfrm>
              <a:prstGeom prst="rect">
                <a:avLst/>
              </a:prstGeom>
              <a:blipFill>
                <a:blip r:embed="rId5"/>
                <a:stretch>
                  <a:fillRect l="-943" t="-25581" b="-20930"/>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C4A868-ADD2-A496-EF9F-3DB94ABF2028}"/>
                  </a:ext>
                </a:extLst>
              </p:cNvPr>
              <p:cNvSpPr txBox="1"/>
              <p:nvPr/>
            </p:nvSpPr>
            <p:spPr>
              <a:xfrm>
                <a:off x="1203031" y="7168781"/>
                <a:ext cx="11405302" cy="15111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
                        <m:fPr>
                          <m:ctrlPr>
                            <a:rPr lang="en-US" sz="4400" i="1" smtClean="0">
                              <a:latin typeface="Cambria Math" panose="02040503050406030204" pitchFamily="18" charset="0"/>
                              <a:ea typeface="Cambria Math" panose="02040503050406030204" pitchFamily="18" charset="0"/>
                            </a:rPr>
                          </m:ctrlPr>
                        </m:fPr>
                        <m:num>
                          <m:sSub>
                            <m:sSubPr>
                              <m:ctrlPr>
                                <a:rPr lang="en-US"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+&lt;</m:t>
                              </m:r>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r>
                                <a:rPr lang="en-US" sz="4400" i="1">
                                  <a:latin typeface="Cambria Math" panose="02040503050406030204" pitchFamily="18" charset="0"/>
                                  <a:ea typeface="Cambria Math" panose="02040503050406030204" pitchFamily="18" charset="0"/>
                                </a:rPr>
                                <m:t>, </m:t>
                              </m:r>
                              <m:sSub>
                                <m:sSubPr>
                                  <m:ctrlPr>
                                    <a:rPr lang="en-US" sz="4400" i="1">
                                      <a:latin typeface="Cambria Math" panose="02040503050406030204" pitchFamily="18" charset="0"/>
                                      <a:ea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𝑋</m:t>
                                  </m:r>
                                </m:e>
                                <m:sub>
                                  <m:r>
                                    <a:rPr lang="en-US" sz="4400" i="1">
                                      <a:latin typeface="Cambria Math" panose="02040503050406030204" pitchFamily="18" charset="0"/>
                                      <a:ea typeface="Cambria Math" panose="02040503050406030204" pitchFamily="18" charset="0"/>
                                    </a:rPr>
                                    <m:t>𝑖</m:t>
                                  </m:r>
                                </m:sub>
                              </m:sSub>
                              <m:r>
                                <a:rPr lang="en-US" sz="4400" i="1">
                                  <a:latin typeface="Cambria Math" panose="02040503050406030204" pitchFamily="18" charset="0"/>
                                </a:rPr>
                                <m:t>&gt;</m:t>
                              </m:r>
                            </m:e>
                          </m:d>
                        </m:num>
                        <m:den>
                          <m:d>
                            <m:dPr>
                              <m:begChr m:val="‖"/>
                              <m:endChr m:val="‖"/>
                              <m:ctrlPr>
                                <a:rPr lang="en-US" sz="4400" i="1">
                                  <a:latin typeface="Cambria Math" panose="02040503050406030204" pitchFamily="18" charset="0"/>
                                </a:rPr>
                              </m:ctrlPr>
                            </m:dPr>
                            <m:e>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e>
                          </m:d>
                        </m:den>
                      </m:f>
                      <m:r>
                        <a:rPr lang="en-US" sz="4400" i="1" smtClean="0">
                          <a:latin typeface="Cambria Math" panose="02040503050406030204" pitchFamily="18" charset="0"/>
                          <a:ea typeface="Cambria Math" panose="02040503050406030204" pitchFamily="18" charset="0"/>
                        </a:rPr>
                        <m:t>≥</m:t>
                      </m:r>
                      <m:f>
                        <m:fPr>
                          <m:ctrlPr>
                            <a:rPr lang="en-US" sz="4400" i="1" smtClean="0">
                              <a:latin typeface="Cambria Math" panose="02040503050406030204" pitchFamily="18" charset="0"/>
                              <a:ea typeface="Cambria Math" panose="02040503050406030204" pitchFamily="18" charset="0"/>
                            </a:rPr>
                          </m:ctrlPr>
                        </m:fPr>
                        <m:num>
                          <m:r>
                            <a:rPr lang="en-US" sz="4400" b="0" i="1" smtClean="0">
                              <a:latin typeface="Cambria Math" panose="02040503050406030204" pitchFamily="18" charset="0"/>
                              <a:ea typeface="Cambria Math" panose="02040503050406030204" pitchFamily="18" charset="0"/>
                            </a:rPr>
                            <m:t>1</m:t>
                          </m:r>
                        </m:num>
                        <m:den>
                          <m:d>
                            <m:dPr>
                              <m:begChr m:val="‖"/>
                              <m:endChr m:val="‖"/>
                              <m:ctrlPr>
                                <a:rPr lang="en-US" sz="4400" i="1">
                                  <a:latin typeface="Cambria Math" panose="02040503050406030204" pitchFamily="18" charset="0"/>
                                </a:rPr>
                              </m:ctrlPr>
                            </m:dPr>
                            <m:e>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e>
                          </m:d>
                        </m:den>
                      </m:f>
                      <m:r>
                        <a:rPr lang="en-US" sz="4400" b="0" i="1" smtClean="0">
                          <a:latin typeface="Cambria Math" panose="02040503050406030204" pitchFamily="18" charset="0"/>
                          <a:ea typeface="Cambria Math" panose="02040503050406030204" pitchFamily="18" charset="0"/>
                        </a:rPr>
                        <m:t> </m:t>
                      </m:r>
                      <m:d>
                        <m:dPr>
                          <m:ctrlPr>
                            <a:rPr lang="en-US" sz="4400" b="0" i="1" smtClean="0">
                              <a:latin typeface="Cambria Math" panose="02040503050406030204" pitchFamily="18" charset="0"/>
                              <a:ea typeface="Cambria Math" panose="02040503050406030204" pitchFamily="18" charset="0"/>
                            </a:rPr>
                          </m:ctrlPr>
                        </m:dPr>
                        <m:e>
                          <m:r>
                            <a:rPr lang="en-US" sz="4400" i="1">
                              <a:latin typeface="Cambria Math" panose="02040503050406030204" pitchFamily="18" charset="0"/>
                            </a:rPr>
                            <m:t>1−</m:t>
                          </m:r>
                          <m:sSub>
                            <m:sSubPr>
                              <m:ctrlPr>
                                <a:rPr lang="en-US" sz="4400" i="1">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e>
                      </m:d>
                      <m:r>
                        <a:rPr lang="en-US" sz="4400" b="0" i="1" smtClean="0">
                          <a:latin typeface="Cambria Math" panose="02040503050406030204" pitchFamily="18" charset="0"/>
                          <a:ea typeface="Cambria Math" panose="02040503050406030204" pitchFamily="18" charset="0"/>
                        </a:rPr>
                        <m:t>  </m:t>
                      </m:r>
                      <m:r>
                        <a:rPr lang="en-US" sz="4400" i="1">
                          <a:latin typeface="Cambria Math" panose="02040503050406030204" pitchFamily="18" charset="0"/>
                        </a:rPr>
                        <m:t>∀</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14" name="TextBox 13">
                <a:extLst>
                  <a:ext uri="{FF2B5EF4-FFF2-40B4-BE49-F238E27FC236}">
                    <a16:creationId xmlns:a16="http://schemas.microsoft.com/office/drawing/2014/main" id="{7AC4A868-ADD2-A496-EF9F-3DB94ABF2028}"/>
                  </a:ext>
                </a:extLst>
              </p:cNvPr>
              <p:cNvSpPr txBox="1">
                <a:spLocks noRot="1" noChangeAspect="1" noMove="1" noResize="1" noEditPoints="1" noAdjustHandles="1" noChangeArrowheads="1" noChangeShapeType="1" noTextEdit="1"/>
              </p:cNvSpPr>
              <p:nvPr/>
            </p:nvSpPr>
            <p:spPr>
              <a:xfrm>
                <a:off x="1203031" y="7168781"/>
                <a:ext cx="11405302" cy="1511183"/>
              </a:xfrm>
              <a:prstGeom prst="rect">
                <a:avLst/>
              </a:prstGeom>
              <a:blipFill>
                <a:blip r:embed="rId6"/>
                <a:stretch>
                  <a:fillRect l="-779" t="-30833" b="-15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8D18E0A-AB53-A95E-BFB5-64491BAC4471}"/>
                  </a:ext>
                </a:extLst>
              </p:cNvPr>
              <p:cNvSpPr txBox="1"/>
              <p:nvPr/>
            </p:nvSpPr>
            <p:spPr>
              <a:xfrm>
                <a:off x="3776501" y="912607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5" name="TextBox 4">
                <a:extLst>
                  <a:ext uri="{FF2B5EF4-FFF2-40B4-BE49-F238E27FC236}">
                    <a16:creationId xmlns:a16="http://schemas.microsoft.com/office/drawing/2014/main" id="{F8D18E0A-AB53-A95E-BFB5-64491BAC4471}"/>
                  </a:ext>
                </a:extLst>
              </p:cNvPr>
              <p:cNvSpPr txBox="1">
                <a:spLocks noRot="1" noChangeAspect="1" noMove="1" noResize="1" noEditPoints="1" noAdjustHandles="1" noChangeArrowheads="1" noChangeShapeType="1" noTextEdit="1"/>
              </p:cNvSpPr>
              <p:nvPr/>
            </p:nvSpPr>
            <p:spPr>
              <a:xfrm>
                <a:off x="3776501" y="912607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A12F2B5-1483-7B9C-90BB-A5424CB88719}"/>
                  </a:ext>
                </a:extLst>
              </p:cNvPr>
              <p:cNvSpPr txBox="1"/>
              <p:nvPr/>
            </p:nvSpPr>
            <p:spPr>
              <a:xfrm>
                <a:off x="8314345" y="5868563"/>
                <a:ext cx="3062451" cy="7577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4400" b="0" i="0" smtClean="0">
                          <a:solidFill>
                            <a:srgbClr val="FF0000"/>
                          </a:solidFill>
                          <a:latin typeface="Cambria Math" panose="02040503050406030204" pitchFamily="18" charset="0"/>
                        </a:rPr>
                        <m:t>M</m:t>
                      </m:r>
                      <m:r>
                        <a:rPr lang="en-US" sz="4400" b="0" i="0" smtClean="0">
                          <a:solidFill>
                            <a:srgbClr val="FF0000"/>
                          </a:solidFill>
                          <a:latin typeface="Cambria Math" panose="02040503050406030204" pitchFamily="18" charset="0"/>
                        </a:rPr>
                        <m:t>=1/</m:t>
                      </m:r>
                      <m:d>
                        <m:dPr>
                          <m:begChr m:val="‖"/>
                          <m:endChr m:val="‖"/>
                          <m:ctrlPr>
                            <a:rPr lang="en-US" sz="4400" b="0" i="1" smtClean="0">
                              <a:solidFill>
                                <a:srgbClr val="FF0000"/>
                              </a:solidFill>
                              <a:latin typeface="Cambria Math" panose="02040503050406030204" pitchFamily="18" charset="0"/>
                            </a:rPr>
                          </m:ctrlPr>
                        </m:dPr>
                        <m:e>
                          <m:acc>
                            <m:accPr>
                              <m:chr m:val="⃗"/>
                              <m:ctrlPr>
                                <a:rPr lang="en-US" sz="4400" b="0" i="1" smtClean="0">
                                  <a:solidFill>
                                    <a:srgbClr val="FF0000"/>
                                  </a:solidFill>
                                  <a:latin typeface="Cambria Math" panose="02040503050406030204" pitchFamily="18" charset="0"/>
                                </a:rPr>
                              </m:ctrlPr>
                            </m:accPr>
                            <m:e>
                              <m:r>
                                <a:rPr lang="es-ES_tradnl" sz="4400" i="1">
                                  <a:solidFill>
                                    <a:srgbClr val="FF0000"/>
                                  </a:solidFill>
                                  <a:latin typeface="Cambria Math" panose="02040503050406030204" pitchFamily="18" charset="0"/>
                                  <a:ea typeface="Cambria Math" panose="02040503050406030204" pitchFamily="18" charset="0"/>
                                </a:rPr>
                                <m:t>𝛽</m:t>
                              </m:r>
                            </m:e>
                          </m:acc>
                        </m:e>
                      </m:d>
                    </m:oMath>
                  </m:oMathPara>
                </a14:m>
                <a:endParaRPr lang="es-ES_tradnl" sz="4000" dirty="0">
                  <a:solidFill>
                    <a:srgbClr val="FF0000"/>
                  </a:solidFill>
                </a:endParaRPr>
              </a:p>
            </p:txBody>
          </p:sp>
        </mc:Choice>
        <mc:Fallback xmlns="">
          <p:sp>
            <p:nvSpPr>
              <p:cNvPr id="8" name="TextBox 7">
                <a:extLst>
                  <a:ext uri="{FF2B5EF4-FFF2-40B4-BE49-F238E27FC236}">
                    <a16:creationId xmlns:a16="http://schemas.microsoft.com/office/drawing/2014/main" id="{0A12F2B5-1483-7B9C-90BB-A5424CB88719}"/>
                  </a:ext>
                </a:extLst>
              </p:cNvPr>
              <p:cNvSpPr txBox="1">
                <a:spLocks noRot="1" noChangeAspect="1" noMove="1" noResize="1" noEditPoints="1" noAdjustHandles="1" noChangeArrowheads="1" noChangeShapeType="1" noTextEdit="1"/>
              </p:cNvSpPr>
              <p:nvPr/>
            </p:nvSpPr>
            <p:spPr>
              <a:xfrm>
                <a:off x="8314345" y="5868563"/>
                <a:ext cx="3062451" cy="757772"/>
              </a:xfrm>
              <a:prstGeom prst="rect">
                <a:avLst/>
              </a:prstGeom>
              <a:blipFill>
                <a:blip r:embed="rId8"/>
                <a:stretch>
                  <a:fillRect l="-2066" t="-50000" b="-20000"/>
                </a:stretch>
              </a:blipFill>
              <a:ln w="12700" cap="flat">
                <a:noFill/>
                <a:miter lim="400000"/>
              </a:ln>
              <a:effectLst/>
            </p:spPr>
            <p:txBody>
              <a:bodyPr/>
              <a:lstStyle/>
              <a:p>
                <a:r>
                  <a:rPr lang="es-ES_tradnl">
                    <a:noFill/>
                  </a:rPr>
                  <a:t> </a:t>
                </a:r>
              </a:p>
            </p:txBody>
          </p:sp>
        </mc:Fallback>
      </mc:AlternateContent>
      <p:cxnSp>
        <p:nvCxnSpPr>
          <p:cNvPr id="11" name="Straight Arrow Connector 10">
            <a:extLst>
              <a:ext uri="{FF2B5EF4-FFF2-40B4-BE49-F238E27FC236}">
                <a16:creationId xmlns:a16="http://schemas.microsoft.com/office/drawing/2014/main" id="{CCC1235A-AAD4-777A-37C1-9FC99A6A981D}"/>
              </a:ext>
            </a:extLst>
          </p:cNvPr>
          <p:cNvCxnSpPr/>
          <p:nvPr/>
        </p:nvCxnSpPr>
        <p:spPr>
          <a:xfrm flipH="1">
            <a:off x="7094483" y="6454991"/>
            <a:ext cx="1219862" cy="774587"/>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84741529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72" name="Para construir este caso, se modifica el problema de optimización de recién:"/>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Podemos reescribir usando el producto escalar</a:t>
            </a:r>
          </a:p>
          <a:p>
            <a:pPr>
              <a:defRPr sz="4600">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7AA9BF7D-BF1B-8CBA-824C-36D588C0D3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31</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101FF8-D6DB-AD65-15B9-E9E2F8098DB6}"/>
                  </a:ext>
                </a:extLst>
              </p:cNvPr>
              <p:cNvSpPr txBox="1"/>
              <p:nvPr/>
            </p:nvSpPr>
            <p:spPr>
              <a:xfrm>
                <a:off x="1597957" y="5238069"/>
                <a:ext cx="3124958" cy="10424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func>
                        <m:funcPr>
                          <m:ctrlPr>
                            <a:rPr lang="es-ES_tradnl" sz="4400" i="1" smtClean="0">
                              <a:latin typeface="Cambria Math" panose="02040503050406030204" pitchFamily="18" charset="0"/>
                            </a:rPr>
                          </m:ctrlPr>
                        </m:funcPr>
                        <m:fName>
                          <m:limLow>
                            <m:limLowPr>
                              <m:ctrlPr>
                                <a:rPr lang="es-ES_tradnl" sz="4400" i="1" smtClean="0">
                                  <a:latin typeface="Cambria Math" panose="02040503050406030204" pitchFamily="18" charset="0"/>
                                </a:rPr>
                              </m:ctrlPr>
                            </m:limLowPr>
                            <m:e>
                              <m:r>
                                <m:rPr>
                                  <m:sty m:val="p"/>
                                </m:rPr>
                                <a:rPr lang="en-US" sz="4400" b="0" i="0" smtClean="0">
                                  <a:latin typeface="Cambria Math" panose="02040503050406030204" pitchFamily="18" charset="0"/>
                                </a:rPr>
                                <m:t>minimizar</m:t>
                              </m:r>
                            </m:e>
                            <m:lim>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b="0" i="1" smtClean="0">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1</m:t>
                                  </m:r>
                                </m:sub>
                              </m:sSub>
                              <m:r>
                                <a:rPr lang="en-US" sz="4800" b="0" i="1" smtClean="0">
                                  <a:latin typeface="Cambria Math" panose="02040503050406030204" pitchFamily="18" charset="0"/>
                                </a:rPr>
                                <m:t>,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b="0" i="1" smtClean="0">
                                      <a:latin typeface="Cambria Math" panose="02040503050406030204" pitchFamily="18" charset="0"/>
                                      <a:ea typeface="Cambria Math" panose="02040503050406030204" pitchFamily="18" charset="0"/>
                                    </a:rPr>
                                    <m:t>𝑝</m:t>
                                  </m:r>
                                </m:sub>
                              </m:sSub>
                            </m:lim>
                          </m:limLow>
                        </m:fName>
                        <m:e>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e>
                      </m:func>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97101FF8-D6DB-AD65-15B9-E9E2F8098DB6}"/>
                  </a:ext>
                </a:extLst>
              </p:cNvPr>
              <p:cNvSpPr txBox="1">
                <a:spLocks noRot="1" noChangeAspect="1" noMove="1" noResize="1" noEditPoints="1" noAdjustHandles="1" noChangeArrowheads="1" noChangeShapeType="1" noTextEdit="1"/>
              </p:cNvSpPr>
              <p:nvPr/>
            </p:nvSpPr>
            <p:spPr>
              <a:xfrm>
                <a:off x="1597957" y="5238069"/>
                <a:ext cx="3124958" cy="1042465"/>
              </a:xfrm>
              <a:prstGeom prst="rect">
                <a:avLst/>
              </a:prstGeom>
              <a:blipFill>
                <a:blip r:embed="rId2"/>
                <a:stretch>
                  <a:fillRect l="-3644" t="-37349" r="-2024" b="-1325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83270-BC29-53DA-A20F-947B713309C5}"/>
                  </a:ext>
                </a:extLst>
              </p:cNvPr>
              <p:cNvSpPr txBox="1"/>
              <p:nvPr/>
            </p:nvSpPr>
            <p:spPr>
              <a:xfrm>
                <a:off x="1597957" y="9501687"/>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sz="4400" i="1" smtClean="0">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0</m:t>
                    </m:r>
                  </m:oMath>
                </a14:m>
                <a:r>
                  <a:rPr lang="es-ES_tradnl" sz="4400" dirty="0"/>
                  <a:t>    </a:t>
                </a:r>
              </a:p>
            </p:txBody>
          </p:sp>
        </mc:Choice>
        <mc:Fallback xmlns="">
          <p:sp>
            <p:nvSpPr>
              <p:cNvPr id="7" name="TextBox 6">
                <a:extLst>
                  <a:ext uri="{FF2B5EF4-FFF2-40B4-BE49-F238E27FC236}">
                    <a16:creationId xmlns:a16="http://schemas.microsoft.com/office/drawing/2014/main" id="{EEF83270-BC29-53DA-A20F-947B713309C5}"/>
                  </a:ext>
                </a:extLst>
              </p:cNvPr>
              <p:cNvSpPr txBox="1">
                <a:spLocks noRot="1" noChangeAspect="1" noMove="1" noResize="1" noEditPoints="1" noAdjustHandles="1" noChangeArrowheads="1" noChangeShapeType="1" noTextEdit="1"/>
              </p:cNvSpPr>
              <p:nvPr/>
            </p:nvSpPr>
            <p:spPr>
              <a:xfrm>
                <a:off x="1597957" y="9501687"/>
                <a:ext cx="1580331" cy="695575"/>
              </a:xfrm>
              <a:prstGeom prst="rect">
                <a:avLst/>
              </a:prstGeom>
              <a:blipFill>
                <a:blip r:embed="rId3"/>
                <a:stretch>
                  <a:fillRect l="-4762" r="-8730" b="-1071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4221CA-158F-6A13-1709-63498BFE086B}"/>
                  </a:ext>
                </a:extLst>
              </p:cNvPr>
              <p:cNvSpPr txBox="1"/>
              <p:nvPr/>
            </p:nvSpPr>
            <p:spPr>
              <a:xfrm>
                <a:off x="6734014" y="9501686"/>
                <a:ext cx="1580331"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 xmlns:m="http://schemas.openxmlformats.org/officeDocument/2006/math">
                    <m:r>
                      <a:rPr lang="en-US" sz="4400" b="0" i="1" smtClean="0">
                        <a:latin typeface="Cambria Math" panose="02040503050406030204" pitchFamily="18" charset="0"/>
                      </a:rPr>
                      <m:t>𝐶</m:t>
                    </m:r>
                    <m:r>
                      <a:rPr lang="en-US" sz="4400" b="0" i="1" smtClean="0">
                        <a:latin typeface="Cambria Math" panose="02040503050406030204" pitchFamily="18" charset="0"/>
                        <a:ea typeface="Cambria Math" panose="02040503050406030204" pitchFamily="18" charset="0"/>
                      </a:rPr>
                      <m:t>&gt;0</m:t>
                    </m:r>
                  </m:oMath>
                </a14:m>
                <a:r>
                  <a:rPr lang="es-ES_tradnl" sz="4400" dirty="0"/>
                  <a:t>    </a:t>
                </a:r>
              </a:p>
            </p:txBody>
          </p:sp>
        </mc:Choice>
        <mc:Fallback xmlns="">
          <p:sp>
            <p:nvSpPr>
              <p:cNvPr id="10" name="TextBox 9">
                <a:extLst>
                  <a:ext uri="{FF2B5EF4-FFF2-40B4-BE49-F238E27FC236}">
                    <a16:creationId xmlns:a16="http://schemas.microsoft.com/office/drawing/2014/main" id="{184221CA-158F-6A13-1709-63498BFE086B}"/>
                  </a:ext>
                </a:extLst>
              </p:cNvPr>
              <p:cNvSpPr txBox="1">
                <a:spLocks noRot="1" noChangeAspect="1" noMove="1" noResize="1" noEditPoints="1" noAdjustHandles="1" noChangeArrowheads="1" noChangeShapeType="1" noTextEdit="1"/>
              </p:cNvSpPr>
              <p:nvPr/>
            </p:nvSpPr>
            <p:spPr>
              <a:xfrm>
                <a:off x="6734014" y="9501686"/>
                <a:ext cx="1580331" cy="695575"/>
              </a:xfrm>
              <a:prstGeom prst="rect">
                <a:avLst/>
              </a:prstGeom>
              <a:blipFill>
                <a:blip r:embed="rId4"/>
                <a:stretch>
                  <a:fillRect l="-6400" r="-6400" b="-1786"/>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Si quitamos la restricción del versor, donde definimos a                                    , debemos modificar a la medida de distancia teniendo en cuenta que ya no es un versor">
                <a:extLst>
                  <a:ext uri="{FF2B5EF4-FFF2-40B4-BE49-F238E27FC236}">
                    <a16:creationId xmlns:a16="http://schemas.microsoft.com/office/drawing/2014/main" id="{44527A22-14B9-1940-838E-BA2A0B9C3549}"/>
                  </a:ext>
                </a:extLst>
              </p:cNvPr>
              <p:cNvSpPr txBox="1"/>
              <p:nvPr/>
            </p:nvSpPr>
            <p:spPr>
              <a:xfrm>
                <a:off x="658444" y="11570526"/>
                <a:ext cx="22863707" cy="1090235"/>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wrap="square" lIns="50800" tIns="50800" rIns="50800" bIns="50800" anchor="ctr">
                <a:spAutoFit/>
              </a:bodyPr>
              <a:lstStyle>
                <a:lvl1pPr algn="l">
                  <a:defRPr sz="3600" spc="-36">
                    <a:solidFill>
                      <a:schemeClr val="accent5">
                        <a:hueOff val="129701"/>
                        <a:lumOff val="-22825"/>
                      </a:schemeClr>
                    </a:solidFill>
                  </a:defRPr>
                </a:lvl1pPr>
              </a:lstStyle>
              <a:p>
                <a:r>
                  <a:rPr lang="es-ES_tradnl" dirty="0"/>
                  <a:t>Si quitamos la restricción del </a:t>
                </a:r>
                <a:r>
                  <a:rPr lang="es-ES_tradnl" dirty="0" err="1"/>
                  <a:t>versor</a:t>
                </a:r>
                <a:r>
                  <a:rPr lang="es-ES_tradnl" dirty="0"/>
                  <a:t>, donde definimos a </a:t>
                </a:r>
                <a14:m>
                  <m:oMath xmlns:m="http://schemas.openxmlformats.org/officeDocument/2006/math">
                    <m:r>
                      <m:rPr>
                        <m:sty m:val="p"/>
                      </m:rPr>
                      <a:rPr lang="en-US" sz="3600" b="0" i="0" smtClean="0">
                        <a:latin typeface="Cambria Math" panose="02040503050406030204" pitchFamily="18" charset="0"/>
                      </a:rPr>
                      <m:t>M</m:t>
                    </m:r>
                    <m:r>
                      <a:rPr lang="en-US" sz="3600" b="0" i="0" smtClean="0">
                        <a:latin typeface="Cambria Math" panose="02040503050406030204" pitchFamily="18" charset="0"/>
                      </a:rPr>
                      <m:t>=1/</m:t>
                    </m:r>
                    <m:d>
                      <m:dPr>
                        <m:begChr m:val="‖"/>
                        <m:endChr m:val="‖"/>
                        <m:ctrlPr>
                          <a:rPr lang="en-US" sz="3600" b="0" i="1" smtClean="0">
                            <a:latin typeface="Cambria Math" panose="02040503050406030204" pitchFamily="18" charset="0"/>
                          </a:rPr>
                        </m:ctrlPr>
                      </m:dPr>
                      <m:e>
                        <m:acc>
                          <m:accPr>
                            <m:chr m:val="⃗"/>
                            <m:ctrlPr>
                              <a:rPr lang="en-US" sz="3600" b="0" i="1" smtClean="0">
                                <a:latin typeface="Cambria Math" panose="02040503050406030204" pitchFamily="18" charset="0"/>
                              </a:rPr>
                            </m:ctrlPr>
                          </m:accPr>
                          <m:e>
                            <m:r>
                              <a:rPr lang="es-ES_tradnl" sz="3600" i="1">
                                <a:latin typeface="Cambria Math" panose="02040503050406030204" pitchFamily="18" charset="0"/>
                                <a:ea typeface="Cambria Math" panose="02040503050406030204" pitchFamily="18" charset="0"/>
                              </a:rPr>
                              <m:t>𝛽</m:t>
                            </m:r>
                          </m:e>
                        </m:acc>
                      </m:e>
                    </m:d>
                  </m:oMath>
                </a14:m>
                <a:r>
                  <a:rPr lang="es-ES_tradnl" dirty="0"/>
                  <a:t>, debemos modificar a la medida de distancia teniendo en cuenta que ya no es un </a:t>
                </a:r>
                <a:r>
                  <a:rPr lang="es-ES_tradnl" dirty="0" err="1"/>
                  <a:t>versor</a:t>
                </a:r>
                <a:r>
                  <a:rPr lang="es-ES_tradnl" dirty="0"/>
                  <a:t>. </a:t>
                </a:r>
              </a:p>
            </p:txBody>
          </p:sp>
        </mc:Choice>
        <mc:Fallback xmlns="">
          <p:sp>
            <p:nvSpPr>
              <p:cNvPr id="12" name="Si quitamos la restricción del versor, donde definimos a                                    , debemos modificar a la medida de distancia teniendo en cuenta que ya no es un versor">
                <a:extLst>
                  <a:ext uri="{FF2B5EF4-FFF2-40B4-BE49-F238E27FC236}">
                    <a16:creationId xmlns:a16="http://schemas.microsoft.com/office/drawing/2014/main" id="{44527A22-14B9-1940-838E-BA2A0B9C3549}"/>
                  </a:ext>
                </a:extLst>
              </p:cNvPr>
              <p:cNvSpPr txBox="1">
                <a:spLocks noRot="1" noChangeAspect="1" noMove="1" noResize="1" noEditPoints="1" noAdjustHandles="1" noChangeArrowheads="1" noChangeShapeType="1" noTextEdit="1"/>
              </p:cNvSpPr>
              <p:nvPr/>
            </p:nvSpPr>
            <p:spPr>
              <a:xfrm>
                <a:off x="658444" y="11570526"/>
                <a:ext cx="22863707" cy="1090235"/>
              </a:xfrm>
              <a:prstGeom prst="rect">
                <a:avLst/>
              </a:prstGeom>
              <a:blipFill>
                <a:blip r:embed="rId5"/>
                <a:stretch>
                  <a:fillRect l="-943" t="-25581" b="-20930"/>
                </a:stretch>
              </a:blipFill>
              <a:ln w="12700">
                <a:miter lim="400000"/>
              </a:ln>
              <a:extLst>
                <a:ext uri="{C572A759-6A51-4108-AA02-DFA0A04FC94B}">
                  <ma14:wrappingTextBoxFlag xmlns:a14="http://schemas.microsoft.com/office/drawing/2010/main" xmlns="" xmlns:m="http://schemas.openxmlformats.org/officeDocument/2006/math" xmlns:ma14="http://schemas.microsoft.com/office/mac/drawingml/2011/main" val="1"/>
                </a:ext>
              </a:ex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C4A868-ADD2-A496-EF9F-3DB94ABF2028}"/>
                  </a:ext>
                </a:extLst>
              </p:cNvPr>
              <p:cNvSpPr txBox="1"/>
              <p:nvPr/>
            </p:nvSpPr>
            <p:spPr>
              <a:xfrm>
                <a:off x="1726059" y="7540356"/>
                <a:ext cx="10359246" cy="7680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d>
                        <m:dPr>
                          <m:ctrlPr>
                            <a:rPr lang="en-US" sz="4400" i="1">
                              <a:latin typeface="Cambria Math" panose="02040503050406030204" pitchFamily="18" charset="0"/>
                            </a:rPr>
                          </m:ctrlPr>
                        </m:dPr>
                        <m:e>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+&lt;</m:t>
                          </m:r>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r>
                            <a:rPr lang="en-US" sz="4400" i="1">
                              <a:latin typeface="Cambria Math" panose="02040503050406030204" pitchFamily="18" charset="0"/>
                              <a:ea typeface="Cambria Math" panose="02040503050406030204" pitchFamily="18" charset="0"/>
                            </a:rPr>
                            <m:t>, </m:t>
                          </m:r>
                          <m:sSub>
                            <m:sSubPr>
                              <m:ctrlPr>
                                <a:rPr lang="en-US" sz="4400" i="1">
                                  <a:latin typeface="Cambria Math" panose="02040503050406030204" pitchFamily="18" charset="0"/>
                                  <a:ea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𝑋</m:t>
                              </m:r>
                            </m:e>
                            <m:sub>
                              <m:r>
                                <a:rPr lang="en-US" sz="4400" i="1">
                                  <a:latin typeface="Cambria Math" panose="02040503050406030204" pitchFamily="18" charset="0"/>
                                  <a:ea typeface="Cambria Math" panose="02040503050406030204" pitchFamily="18" charset="0"/>
                                </a:rPr>
                                <m:t>𝑖</m:t>
                              </m:r>
                            </m:sub>
                          </m:sSub>
                          <m:r>
                            <a:rPr lang="en-US" sz="4400" i="1">
                              <a:latin typeface="Cambria Math" panose="02040503050406030204" pitchFamily="18" charset="0"/>
                            </a:rPr>
                            <m:t>&gt;</m:t>
                          </m:r>
                        </m:e>
                      </m:d>
                      <m:r>
                        <a:rPr lang="en-US" sz="4400" i="1" smtClean="0">
                          <a:latin typeface="Cambria Math" panose="02040503050406030204" pitchFamily="18" charset="0"/>
                          <a:ea typeface="Cambria Math" panose="02040503050406030204" pitchFamily="18" charset="0"/>
                        </a:rPr>
                        <m:t>≥</m:t>
                      </m:r>
                      <m:d>
                        <m:dPr>
                          <m:ctrlPr>
                            <a:rPr lang="en-US" sz="4400" b="0" i="1" smtClean="0">
                              <a:latin typeface="Cambria Math" panose="02040503050406030204" pitchFamily="18" charset="0"/>
                              <a:ea typeface="Cambria Math" panose="02040503050406030204" pitchFamily="18" charset="0"/>
                            </a:rPr>
                          </m:ctrlPr>
                        </m:dPr>
                        <m:e>
                          <m:r>
                            <a:rPr lang="en-US" sz="4400" i="1">
                              <a:latin typeface="Cambria Math" panose="02040503050406030204" pitchFamily="18" charset="0"/>
                            </a:rPr>
                            <m:t>1−</m:t>
                          </m:r>
                          <m:sSub>
                            <m:sSubPr>
                              <m:ctrlPr>
                                <a:rPr lang="en-US" sz="4400" i="1">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Sub>
                        </m:e>
                      </m:d>
                      <m:r>
                        <a:rPr lang="en-US" sz="4400" b="0" i="1" smtClean="0">
                          <a:latin typeface="Cambria Math" panose="02040503050406030204" pitchFamily="18" charset="0"/>
                          <a:ea typeface="Cambria Math" panose="02040503050406030204" pitchFamily="18" charset="0"/>
                        </a:rPr>
                        <m:t>  </m:t>
                      </m:r>
                      <m:r>
                        <a:rPr lang="en-US" sz="4400" i="1">
                          <a:latin typeface="Cambria Math" panose="02040503050406030204" pitchFamily="18" charset="0"/>
                        </a:rPr>
                        <m:t>∀</m:t>
                      </m:r>
                      <m:r>
                        <a:rPr lang="en-US" sz="4400" i="1">
                          <a:latin typeface="Cambria Math" panose="02040503050406030204" pitchFamily="18" charset="0"/>
                        </a:rPr>
                        <m:t>𝑖</m:t>
                      </m:r>
                      <m:r>
                        <a:rPr lang="en-US" sz="4400" i="1">
                          <a:latin typeface="Cambria Math" panose="02040503050406030204" pitchFamily="18" charset="0"/>
                        </a:rPr>
                        <m:t>=1,…,</m:t>
                      </m:r>
                      <m:r>
                        <a:rPr lang="en-US" sz="4400" i="1">
                          <a:latin typeface="Cambria Math" panose="02040503050406030204" pitchFamily="18" charset="0"/>
                        </a:rPr>
                        <m:t>𝑛</m:t>
                      </m:r>
                    </m:oMath>
                  </m:oMathPara>
                </a14:m>
                <a:endParaRPr lang="es-ES_tradnl" sz="4400" dirty="0"/>
              </a:p>
            </p:txBody>
          </p:sp>
        </mc:Choice>
        <mc:Fallback xmlns="">
          <p:sp>
            <p:nvSpPr>
              <p:cNvPr id="14" name="TextBox 13">
                <a:extLst>
                  <a:ext uri="{FF2B5EF4-FFF2-40B4-BE49-F238E27FC236}">
                    <a16:creationId xmlns:a16="http://schemas.microsoft.com/office/drawing/2014/main" id="{7AC4A868-ADD2-A496-EF9F-3DB94ABF2028}"/>
                  </a:ext>
                </a:extLst>
              </p:cNvPr>
              <p:cNvSpPr txBox="1">
                <a:spLocks noRot="1" noChangeAspect="1" noMove="1" noResize="1" noEditPoints="1" noAdjustHandles="1" noChangeArrowheads="1" noChangeShapeType="1" noTextEdit="1"/>
              </p:cNvSpPr>
              <p:nvPr/>
            </p:nvSpPr>
            <p:spPr>
              <a:xfrm>
                <a:off x="1726059" y="7540356"/>
                <a:ext cx="10359246" cy="768031"/>
              </a:xfrm>
              <a:prstGeom prst="rect">
                <a:avLst/>
              </a:prstGeom>
              <a:blipFill>
                <a:blip r:embed="rId6"/>
                <a:stretch>
                  <a:fillRect l="-245" t="-46774" b="-2419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8D18E0A-AB53-A95E-BFB5-64491BAC4471}"/>
                  </a:ext>
                </a:extLst>
              </p:cNvPr>
              <p:cNvSpPr txBox="1"/>
              <p:nvPr/>
            </p:nvSpPr>
            <p:spPr>
              <a:xfrm>
                <a:off x="3776501" y="9126070"/>
                <a:ext cx="2359299"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5" name="TextBox 4">
                <a:extLst>
                  <a:ext uri="{FF2B5EF4-FFF2-40B4-BE49-F238E27FC236}">
                    <a16:creationId xmlns:a16="http://schemas.microsoft.com/office/drawing/2014/main" id="{F8D18E0A-AB53-A95E-BFB5-64491BAC4471}"/>
                  </a:ext>
                </a:extLst>
              </p:cNvPr>
              <p:cNvSpPr txBox="1">
                <a:spLocks noRot="1" noChangeAspect="1" noMove="1" noResize="1" noEditPoints="1" noAdjustHandles="1" noChangeArrowheads="1" noChangeShapeType="1" noTextEdit="1"/>
              </p:cNvSpPr>
              <p:nvPr/>
            </p:nvSpPr>
            <p:spPr>
              <a:xfrm>
                <a:off x="3776501" y="9126070"/>
                <a:ext cx="2359299" cy="1446806"/>
              </a:xfrm>
              <a:prstGeom prst="rect">
                <a:avLst/>
              </a:prstGeom>
              <a:blipFill>
                <a:blip r:embed="rId7"/>
                <a:stretch>
                  <a:fillRect l="-78610" t="-153043" b="-21130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38559477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3" name="Slide Number Placeholder 5">
            <a:extLst>
              <a:ext uri="{FF2B5EF4-FFF2-40B4-BE49-F238E27FC236}">
                <a16:creationId xmlns:a16="http://schemas.microsoft.com/office/drawing/2014/main" id="{B767CB88-909A-17BB-5A70-EAA611A20791}"/>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32</a:t>
            </a:fld>
            <a:endParaRPr lang="en-US" sz="2800" dirty="0"/>
          </a:p>
        </p:txBody>
      </p:sp>
      <p:pic>
        <p:nvPicPr>
          <p:cNvPr id="6" name="Picture 5" descr="A group of colored dots&#10;&#10;Description automatically generated with medium confidence">
            <a:extLst>
              <a:ext uri="{FF2B5EF4-FFF2-40B4-BE49-F238E27FC236}">
                <a16:creationId xmlns:a16="http://schemas.microsoft.com/office/drawing/2014/main" id="{91C0EC9D-95DD-F54A-7F73-5147964FB0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773" y="3133001"/>
            <a:ext cx="22683827" cy="6026764"/>
          </a:xfrm>
          <a:prstGeom prst="rect">
            <a:avLst/>
          </a:prstGeom>
        </p:spPr>
      </p:pic>
    </p:spTree>
    <p:extLst>
      <p:ext uri="{BB962C8B-B14F-4D97-AF65-F5344CB8AC3E}">
        <p14:creationId xmlns:p14="http://schemas.microsoft.com/office/powerpoint/2010/main" val="338424285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483" name="Hay un pequeño numero de observaciones en el margen o dentro de él, que son los que determinan el hiperplano, esto se llaman vectores de soporte.…"/>
          <p:cNvSpPr txBox="1">
            <a:spLocks noGrp="1"/>
          </p:cNvSpPr>
          <p:nvPr>
            <p:ph type="body" idx="1"/>
          </p:nvPr>
        </p:nvSpPr>
        <p:spPr>
          <a:xfrm>
            <a:off x="1295400" y="4256690"/>
            <a:ext cx="21869400" cy="8986484"/>
          </a:xfrm>
          <a:prstGeom prst="rect">
            <a:avLst/>
          </a:prstGeom>
        </p:spPr>
        <p:txBody>
          <a:bodyPr/>
          <a:lstStyle/>
          <a:p>
            <a:pPr defTabSz="490727">
              <a:spcBef>
                <a:spcPts val="2700"/>
              </a:spcBef>
              <a:defRPr sz="3864">
                <a:latin typeface="Graphik Compact Regular"/>
                <a:ea typeface="Graphik Compact Regular"/>
                <a:cs typeface="Graphik Compact Regular"/>
                <a:sym typeface="Graphik Compact Regular"/>
              </a:defRPr>
            </a:pPr>
            <a:endParaRPr lang="es-ES_tradnl" dirty="0"/>
          </a:p>
          <a:p>
            <a:pPr defTabSz="490727">
              <a:spcBef>
                <a:spcPts val="2700"/>
              </a:spcBef>
              <a:defRPr sz="3864">
                <a:latin typeface="Graphik Compact Regular"/>
                <a:ea typeface="Graphik Compact Regular"/>
                <a:cs typeface="Graphik Compact Regular"/>
                <a:sym typeface="Graphik Compact Regular"/>
              </a:defRPr>
            </a:pPr>
            <a:endParaRPr lang="es-ES_tradnl" dirty="0"/>
          </a:p>
          <a:p>
            <a:pPr defTabSz="490727">
              <a:spcBef>
                <a:spcPts val="2700"/>
              </a:spcBef>
              <a:defRPr sz="3864">
                <a:latin typeface="Graphik Compact Regular"/>
                <a:ea typeface="Graphik Compact Regular"/>
                <a:cs typeface="Graphik Compact Regular"/>
                <a:sym typeface="Graphik Compact Regular"/>
              </a:defRPr>
            </a:pPr>
            <a:endParaRPr lang="es-ES_tradnl" dirty="0"/>
          </a:p>
          <a:p>
            <a:pPr defTabSz="490727">
              <a:spcBef>
                <a:spcPts val="2700"/>
              </a:spcBef>
              <a:defRPr sz="3864">
                <a:latin typeface="Graphik Compact Regular"/>
                <a:ea typeface="Graphik Compact Regular"/>
                <a:cs typeface="Graphik Compact Regular"/>
                <a:sym typeface="Graphik Compact Regular"/>
              </a:defRPr>
            </a:pPr>
            <a:endParaRPr lang="es-ES_tradnl" dirty="0"/>
          </a:p>
          <a:p>
            <a:pPr defTabSz="490727">
              <a:spcBef>
                <a:spcPts val="2700"/>
              </a:spcBef>
              <a:defRPr sz="3864">
                <a:latin typeface="Graphik Compact Regular"/>
                <a:ea typeface="Graphik Compact Regular"/>
                <a:cs typeface="Graphik Compact Regular"/>
                <a:sym typeface="Graphik Compact Regular"/>
              </a:defRPr>
            </a:pPr>
            <a:endParaRPr lang="es-ES_tradnl" dirty="0"/>
          </a:p>
          <a:p>
            <a:pPr defTabSz="490727">
              <a:spcBef>
                <a:spcPts val="2700"/>
              </a:spcBef>
              <a:defRPr sz="3864">
                <a:latin typeface="Graphik Compact Regular"/>
                <a:ea typeface="Graphik Compact Regular"/>
                <a:cs typeface="Graphik Compact Regular"/>
                <a:sym typeface="Graphik Compact Regular"/>
              </a:defRPr>
            </a:pPr>
            <a:endParaRPr lang="es-ES_tradnl" dirty="0"/>
          </a:p>
          <a:p>
            <a:pPr defTabSz="490727">
              <a:spcBef>
                <a:spcPts val="2700"/>
              </a:spcBef>
              <a:defRPr sz="3864">
                <a:latin typeface="Graphik Compact Regular"/>
                <a:ea typeface="Graphik Compact Regular"/>
                <a:cs typeface="Graphik Compact Regular"/>
                <a:sym typeface="Graphik Compact Regular"/>
              </a:defRPr>
            </a:pPr>
            <a:r>
              <a:rPr lang="es-ES_tradnl" dirty="0"/>
              <a:t>Hay un pequeño número de observaciones en el margen o dentro de él, que son los que determinan el hiperplano, esto se llaman </a:t>
            </a:r>
            <a:r>
              <a:rPr lang="es-ES_tradnl" dirty="0">
                <a:latin typeface="Graphik Compact Bold"/>
                <a:ea typeface="Graphik Compact Bold"/>
                <a:cs typeface="Graphik Compact Bold"/>
                <a:sym typeface="Graphik Compact Bold"/>
              </a:rPr>
              <a:t>vectores de soporte</a:t>
            </a:r>
            <a:r>
              <a:rPr lang="es-ES_tradnl" dirty="0"/>
              <a:t>.</a:t>
            </a:r>
          </a:p>
          <a:p>
            <a:pPr defTabSz="490727">
              <a:spcBef>
                <a:spcPts val="2700"/>
              </a:spcBef>
              <a:defRPr sz="3864">
                <a:latin typeface="Graphik Compact Regular"/>
                <a:ea typeface="Graphik Compact Regular"/>
                <a:cs typeface="Graphik Compact Regular"/>
                <a:sym typeface="Graphik Compact Regular"/>
              </a:defRPr>
            </a:pPr>
            <a:r>
              <a:rPr lang="es-ES_tradnl" dirty="0"/>
              <a:t>Las demás observaciones no tienen importancia para el modelo.</a:t>
            </a:r>
          </a:p>
          <a:p>
            <a:pPr defTabSz="490727">
              <a:spcBef>
                <a:spcPts val="2700"/>
              </a:spcBef>
              <a:defRPr sz="3864">
                <a:latin typeface="Graphik Compact Regular"/>
                <a:ea typeface="Graphik Compact Regular"/>
                <a:cs typeface="Graphik Compact Regular"/>
                <a:sym typeface="Graphik Compact Regular"/>
              </a:defRPr>
            </a:pPr>
            <a:r>
              <a:rPr lang="es-ES_tradnl" dirty="0"/>
              <a:t>                                                                   </a:t>
            </a:r>
          </a:p>
        </p:txBody>
      </p:sp>
      <p:sp>
        <p:nvSpPr>
          <p:cNvPr id="3" name="Slide Number Placeholder 5">
            <a:extLst>
              <a:ext uri="{FF2B5EF4-FFF2-40B4-BE49-F238E27FC236}">
                <a16:creationId xmlns:a16="http://schemas.microsoft.com/office/drawing/2014/main" id="{FC513823-1999-1F53-00AC-FD53C7A941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33</a:t>
            </a:fld>
            <a:endParaRPr lang="en-US" sz="2800" dirty="0"/>
          </a:p>
        </p:txBody>
      </p:sp>
      <p:pic>
        <p:nvPicPr>
          <p:cNvPr id="5" name="Picture 4" descr="A group of colored dots&#10;&#10;Description automatically generated with medium confidence">
            <a:extLst>
              <a:ext uri="{FF2B5EF4-FFF2-40B4-BE49-F238E27FC236}">
                <a16:creationId xmlns:a16="http://schemas.microsoft.com/office/drawing/2014/main" id="{C2272597-BD8E-0DB5-C427-109CC8E0B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773" y="3133001"/>
            <a:ext cx="22683827" cy="6026764"/>
          </a:xfrm>
          <a:prstGeom prst="rect">
            <a:avLst/>
          </a:prstGeom>
        </p:spPr>
      </p:pic>
    </p:spTree>
    <p:extLst>
      <p:ext uri="{BB962C8B-B14F-4D97-AF65-F5344CB8AC3E}">
        <p14:creationId xmlns:p14="http://schemas.microsoft.com/office/powerpoint/2010/main" val="303418216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Clasificador de vector de soportes"/>
          <p:cNvSpPr txBox="1">
            <a:spLocks noGrp="1"/>
          </p:cNvSpPr>
          <p:nvPr>
            <p:ph type="title"/>
          </p:nvPr>
        </p:nvSpPr>
        <p:spPr>
          <a:xfrm>
            <a:off x="1295400" y="1622629"/>
            <a:ext cx="21869400" cy="1778386"/>
          </a:xfrm>
          <a:prstGeom prst="rect">
            <a:avLst/>
          </a:prstGeom>
        </p:spPr>
        <p:txBody>
          <a:bodyPr>
            <a:normAutofit/>
          </a:bodyPr>
          <a:lstStyle>
            <a:lvl1pPr defTabSz="508254">
              <a:defRPr sz="8700" spc="-348"/>
            </a:lvl1pPr>
          </a:lstStyle>
          <a:p>
            <a:r>
              <a:rPr lang="es-ES_tradnl"/>
              <a:t>Clasificador de vector de soportes</a:t>
            </a:r>
          </a:p>
        </p:txBody>
      </p:sp>
      <p:sp>
        <p:nvSpPr>
          <p:cNvPr id="487" name="El valor de C nos da un trade-off entre sesgo y varianza.…"/>
          <p:cNvSpPr txBox="1">
            <a:spLocks noGrp="1"/>
          </p:cNvSpPr>
          <p:nvPr>
            <p:ph type="body" idx="1"/>
          </p:nvPr>
        </p:nvSpPr>
        <p:spPr>
          <a:xfrm>
            <a:off x="1295400" y="4193628"/>
            <a:ext cx="21869400" cy="8529144"/>
          </a:xfrm>
          <a:prstGeom prst="rect">
            <a:avLst/>
          </a:prstGeom>
        </p:spPr>
        <p:txBody>
          <a:bodyPr>
            <a:normAutofit lnSpcReduction="10000"/>
          </a:bodyPr>
          <a:lstStyle/>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r>
              <a:rPr lang="es-ES_tradnl" dirty="0"/>
              <a:t>El valor de C nos da un </a:t>
            </a:r>
            <a:r>
              <a:rPr lang="es-ES_tradnl" dirty="0" err="1"/>
              <a:t>trade</a:t>
            </a:r>
            <a:r>
              <a:rPr lang="es-ES_tradnl" dirty="0"/>
              <a:t>-off (compensación) entre </a:t>
            </a:r>
            <a:r>
              <a:rPr lang="es-ES_tradnl" dirty="0">
                <a:solidFill>
                  <a:schemeClr val="accent6">
                    <a:lumOff val="-39947"/>
                  </a:schemeClr>
                </a:solidFill>
                <a:latin typeface="Graphik Compact Bold"/>
                <a:ea typeface="Graphik Compact Bold"/>
                <a:cs typeface="Graphik Compact Bold"/>
                <a:sym typeface="Graphik Compact Bold"/>
              </a:rPr>
              <a:t>sesgo</a:t>
            </a:r>
            <a:r>
              <a:rPr lang="es-ES_tradnl" dirty="0"/>
              <a:t> y </a:t>
            </a:r>
            <a:r>
              <a:rPr lang="es-ES_tradnl" dirty="0">
                <a:solidFill>
                  <a:schemeClr val="accent3">
                    <a:satOff val="23024"/>
                    <a:lumOff val="-27718"/>
                  </a:schemeClr>
                </a:solidFill>
                <a:latin typeface="Graphik Compact Bold"/>
                <a:ea typeface="Graphik Compact Bold"/>
                <a:cs typeface="Graphik Compact Bold"/>
                <a:sym typeface="Graphik Compact Bold"/>
              </a:rPr>
              <a:t>varianza</a:t>
            </a:r>
            <a:r>
              <a:rPr lang="es-ES_tradnl" dirty="0"/>
              <a:t>. </a:t>
            </a:r>
          </a:p>
          <a:p>
            <a:pPr marL="595883" indent="-595883" defTabSz="467359">
              <a:spcBef>
                <a:spcPts val="2600"/>
              </a:spcBef>
              <a:buClr>
                <a:srgbClr val="000000"/>
              </a:buClr>
              <a:buSzPct val="200000"/>
              <a:buChar char="•"/>
              <a:defRPr sz="3680">
                <a:latin typeface="Graphik Compact Regular"/>
                <a:ea typeface="Graphik Compact Regular"/>
                <a:cs typeface="Graphik Compact Regular"/>
                <a:sym typeface="Graphik Compact Regular"/>
              </a:defRPr>
            </a:pPr>
            <a:r>
              <a:rPr lang="es-ES_tradnl" dirty="0"/>
              <a:t>Si C es chico, entonces el margen es grande y hay muchos vectores de soporte. Este clasificador tiene poca varianza, pero potencialmente poca exactitud.</a:t>
            </a:r>
          </a:p>
          <a:p>
            <a:pPr marL="595883" indent="-595883" defTabSz="467359">
              <a:spcBef>
                <a:spcPts val="2600"/>
              </a:spcBef>
              <a:buClr>
                <a:srgbClr val="000000"/>
              </a:buClr>
              <a:buSzPct val="200000"/>
              <a:buChar char="•"/>
              <a:defRPr sz="3680">
                <a:latin typeface="Graphik Compact Regular"/>
                <a:ea typeface="Graphik Compact Regular"/>
                <a:cs typeface="Graphik Compact Regular"/>
                <a:sym typeface="Graphik Compact Regular"/>
              </a:defRPr>
            </a:pPr>
            <a:r>
              <a:rPr lang="es-ES_tradnl" dirty="0"/>
              <a:t>Si C es grande, hay menos vectores de soporte, y, por consiguiente, más varianza a expensa de una potencial mejor exactitud.                                         </a:t>
            </a:r>
          </a:p>
        </p:txBody>
      </p:sp>
      <p:sp>
        <p:nvSpPr>
          <p:cNvPr id="3" name="Slide Number Placeholder 5">
            <a:extLst>
              <a:ext uri="{FF2B5EF4-FFF2-40B4-BE49-F238E27FC236}">
                <a16:creationId xmlns:a16="http://schemas.microsoft.com/office/drawing/2014/main" id="{B0888120-E1CC-7307-B618-8106691DBE9F}"/>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34</a:t>
            </a:fld>
            <a:endParaRPr lang="en-US" sz="2800" dirty="0"/>
          </a:p>
        </p:txBody>
      </p:sp>
      <p:pic>
        <p:nvPicPr>
          <p:cNvPr id="4" name="Picture 3" descr="A group of colored dots&#10;&#10;Description automatically generated with medium confidence">
            <a:extLst>
              <a:ext uri="{FF2B5EF4-FFF2-40B4-BE49-F238E27FC236}">
                <a16:creationId xmlns:a16="http://schemas.microsoft.com/office/drawing/2014/main" id="{279BBC56-04E4-1907-7C05-4B6C520E1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773" y="3133001"/>
            <a:ext cx="22683827" cy="6026764"/>
          </a:xfrm>
          <a:prstGeom prst="rect">
            <a:avLst/>
          </a:prstGeom>
        </p:spPr>
      </p:pic>
    </p:spTree>
    <p:extLst>
      <p:ext uri="{BB962C8B-B14F-4D97-AF65-F5344CB8AC3E}">
        <p14:creationId xmlns:p14="http://schemas.microsoft.com/office/powerpoint/2010/main" val="15951411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Support Vector Machine"/>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pPr>
              <a:lnSpc>
                <a:spcPct val="100000"/>
              </a:lnSpc>
            </a:pPr>
            <a:r>
              <a:rPr dirty="0">
                <a:solidFill>
                  <a:schemeClr val="tx1"/>
                </a:solidFill>
              </a:rPr>
              <a:t>Support Vector</a:t>
            </a:r>
            <a:endParaRPr lang="es-ES" dirty="0">
              <a:solidFill>
                <a:schemeClr val="tx1"/>
              </a:solidFill>
            </a:endParaRPr>
          </a:p>
          <a:p>
            <a:pPr>
              <a:lnSpc>
                <a:spcPct val="100000"/>
              </a:lnSpc>
            </a:pPr>
            <a:r>
              <a:rPr dirty="0">
                <a:solidFill>
                  <a:schemeClr val="tx1"/>
                </a:solidFill>
              </a:rPr>
              <a:t>Machine</a:t>
            </a:r>
          </a:p>
        </p:txBody>
      </p:sp>
    </p:spTree>
    <p:extLst>
      <p:ext uri="{BB962C8B-B14F-4D97-AF65-F5344CB8AC3E}">
        <p14:creationId xmlns:p14="http://schemas.microsoft.com/office/powerpoint/2010/main" val="4043218740"/>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p:sp>
        <p:nvSpPr>
          <p:cNvPr id="493" name="El clasificador que hemos visto hasta ahora solo funciona para casos de separación lineal, pero en casos de fronteras no lineales es completamente inútil."/>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clasificador que hemos visto hasta ahora solo funciona para casos de separación lineal, pero en casos de fronteras no lineales es completamente inútil.</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pic>
        <p:nvPicPr>
          <p:cNvPr id="494" name="path3dd7ss75.png" descr="path3dd7ss75.png"/>
          <p:cNvPicPr>
            <a:picLocks noChangeAspect="1"/>
          </p:cNvPicPr>
          <p:nvPr/>
        </p:nvPicPr>
        <p:blipFill>
          <a:blip r:embed="rId2"/>
          <a:stretch>
            <a:fillRect/>
          </a:stretch>
        </p:blipFill>
        <p:spPr>
          <a:xfrm>
            <a:off x="8453454" y="5711491"/>
            <a:ext cx="7477092" cy="7466612"/>
          </a:xfrm>
          <a:prstGeom prst="rect">
            <a:avLst/>
          </a:prstGeom>
          <a:ln w="12700">
            <a:miter lim="400000"/>
          </a:ln>
        </p:spPr>
      </p:pic>
      <p:sp>
        <p:nvSpPr>
          <p:cNvPr id="3" name="Slide Number Placeholder 5">
            <a:extLst>
              <a:ext uri="{FF2B5EF4-FFF2-40B4-BE49-F238E27FC236}">
                <a16:creationId xmlns:a16="http://schemas.microsoft.com/office/drawing/2014/main" id="{C9D04173-674C-E2B3-6D06-B2769E56D17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36</a:t>
            </a:fld>
            <a:endParaRPr lang="en-US" sz="2800" dirty="0"/>
          </a:p>
        </p:txBody>
      </p:sp>
    </p:spTree>
    <p:extLst>
      <p:ext uri="{BB962C8B-B14F-4D97-AF65-F5344CB8AC3E}">
        <p14:creationId xmlns:p14="http://schemas.microsoft.com/office/powerpoint/2010/main" val="402183622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p:sp>
        <p:nvSpPr>
          <p:cNvPr id="497" name="El clasificador que hemos visto hasta ahora solo funciona para casos de separación lineal, pero en casos de fronteras no lineales es completamente inútil."/>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clasificador que hemos visto hasta ahora solo funciona para casos de separación lineal, pero en casos de fronteras no lineales es completamente inútil.</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                                                                   </a:t>
            </a:r>
          </a:p>
        </p:txBody>
      </p:sp>
      <p:pic>
        <p:nvPicPr>
          <p:cNvPr id="498" name="path37xxxxx275.png" descr="path37xxxxx275.png"/>
          <p:cNvPicPr>
            <a:picLocks noChangeAspect="1"/>
          </p:cNvPicPr>
          <p:nvPr/>
        </p:nvPicPr>
        <p:blipFill>
          <a:blip r:embed="rId2"/>
          <a:stretch>
            <a:fillRect/>
          </a:stretch>
        </p:blipFill>
        <p:spPr>
          <a:xfrm>
            <a:off x="8419479" y="5711491"/>
            <a:ext cx="7545042" cy="7466612"/>
          </a:xfrm>
          <a:prstGeom prst="rect">
            <a:avLst/>
          </a:prstGeom>
          <a:ln w="12700">
            <a:miter lim="400000"/>
          </a:ln>
        </p:spPr>
      </p:pic>
      <p:sp>
        <p:nvSpPr>
          <p:cNvPr id="3" name="Slide Number Placeholder 5">
            <a:extLst>
              <a:ext uri="{FF2B5EF4-FFF2-40B4-BE49-F238E27FC236}">
                <a16:creationId xmlns:a16="http://schemas.microsoft.com/office/drawing/2014/main" id="{0277D1B8-9E23-25AA-28DA-E6488013000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37</a:t>
            </a:fld>
            <a:endParaRPr lang="en-US" sz="2800" dirty="0"/>
          </a:p>
        </p:txBody>
      </p:sp>
    </p:spTree>
    <p:extLst>
      <p:ext uri="{BB962C8B-B14F-4D97-AF65-F5344CB8AC3E}">
        <p14:creationId xmlns:p14="http://schemas.microsoft.com/office/powerpoint/2010/main" val="188554090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mc:AlternateContent xmlns:mc="http://schemas.openxmlformats.org/markup-compatibility/2006" xmlns:a14="http://schemas.microsoft.com/office/drawing/2010/main">
        <mc:Choice Requires="a14">
          <p:sp>
            <p:nvSpPr>
              <p:cNvPr id="501" name="Podríamos, similar al caso de regresión lineal y polinomial, modificar a nuestros predictores, agregando la versión cuadrática, cúbica, etc.…"/>
              <p:cNvSpPr txBox="1">
                <a:spLocks noGrp="1"/>
              </p:cNvSpPr>
              <p:nvPr>
                <p:ph type="body" idx="1"/>
              </p:nvPr>
            </p:nvSpPr>
            <p:spPr>
              <a:xfrm>
                <a:off x="1295400" y="3710394"/>
                <a:ext cx="21869400" cy="9532780"/>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Podríamos, similar al caso de regresión lineal y polinomial, modificar a nuestros predictores, agregando la versión cuadrática, cúbica, etc.</a:t>
                </a:r>
              </a:p>
              <a:p>
                <a:pPr>
                  <a:defRPr sz="4600">
                    <a:latin typeface="Graphik Compact Regular"/>
                    <a:ea typeface="Graphik Compact Regular"/>
                    <a:cs typeface="Graphik Compact Regular"/>
                    <a:sym typeface="Graphik Compact Regular"/>
                  </a:defRPr>
                </a:pPr>
                <a:r>
                  <a:rPr lang="es-ES_tradnl" dirty="0"/>
                  <a:t>Es decir, en vez de para cada observación entrenar con los atributos </a:t>
                </a:r>
                <a14:m>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𝑝</m:t>
                        </m:r>
                      </m:sub>
                    </m:sSub>
                  </m:oMath>
                </a14:m>
                <a:endParaRPr lang="es-ES_tradnl" dirty="0"/>
              </a:p>
              <a:p>
                <a:pPr>
                  <a:defRPr sz="4600">
                    <a:latin typeface="Graphik Compact Regular"/>
                    <a:ea typeface="Graphik Compact Regular"/>
                    <a:cs typeface="Graphik Compact Regular"/>
                    <a:sym typeface="Graphik Compact Regular"/>
                  </a:defRPr>
                </a:pPr>
                <a:r>
                  <a:rPr lang="es-ES_tradnl" dirty="0"/>
                  <a:t>Entrenamos con </a:t>
                </a:r>
                <a14:m>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2</m:t>
                        </m:r>
                      </m:sub>
                      <m:sup>
                        <m:r>
                          <a:rPr lang="en-US" i="1">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𝑝</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𝑝</m:t>
                        </m:r>
                      </m:sub>
                      <m:sup>
                        <m:r>
                          <a:rPr lang="en-US" b="0" i="1" smtClean="0">
                            <a:latin typeface="Cambria Math" panose="02040503050406030204" pitchFamily="18" charset="0"/>
                          </a:rPr>
                          <m:t>2</m:t>
                        </m:r>
                      </m:sup>
                    </m:sSubSup>
                  </m:oMath>
                </a14:m>
                <a:endParaRPr lang="es-ES_tradnl" dirty="0"/>
              </a:p>
              <a:p>
                <a:pPr>
                  <a:defRPr sz="4600">
                    <a:latin typeface="Graphik Compact Regular"/>
                    <a:ea typeface="Graphik Compact Regular"/>
                    <a:cs typeface="Graphik Compact Regular"/>
                    <a:sym typeface="Graphik Compact Regular"/>
                  </a:defRPr>
                </a:pPr>
                <a:r>
                  <a:rPr lang="es-ES_tradnl" dirty="0"/>
                  <a:t>El modelo será lineal en el espacio extendido, pero cuando volvamos al espacio dado por </a:t>
                </a:r>
                <a14:m>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𝑝</m:t>
                        </m:r>
                      </m:sub>
                    </m:sSub>
                  </m:oMath>
                </a14:m>
                <a:r>
                  <a:rPr lang="es-ES_tradnl" dirty="0"/>
                  <a:t>, la frontera de decisión será polinómica. </a:t>
                </a:r>
              </a:p>
              <a:p>
                <a:pPr>
                  <a:defRPr sz="4600">
                    <a:latin typeface="Graphik Compact Regular"/>
                    <a:ea typeface="Graphik Compact Regular"/>
                    <a:cs typeface="Graphik Compact Regular"/>
                    <a:sym typeface="Graphik Compact Regular"/>
                  </a:defRPr>
                </a:pPr>
                <a:r>
                  <a:rPr lang="es-ES_tradnl" dirty="0"/>
                  <a:t>Esto lo podríamos llevar a otro tipo de relaciones, así podemos usar otro tipo de fronteras, pero el problema es que de ajuste se vuelve </a:t>
                </a:r>
                <a:r>
                  <a:rPr lang="es-ES_tradnl" dirty="0">
                    <a:solidFill>
                      <a:schemeClr val="accent5">
                        <a:lumMod val="75000"/>
                      </a:schemeClr>
                    </a:solidFill>
                    <a:latin typeface="Graphik Compact Bold"/>
                    <a:ea typeface="Graphik Compact Bold"/>
                    <a:cs typeface="Graphik Compact Bold"/>
                    <a:sym typeface="Graphik Compact Bold"/>
                  </a:rPr>
                  <a:t>inmanejable</a:t>
                </a:r>
                <a:r>
                  <a:rPr lang="es-ES_tradnl" dirty="0"/>
                  <a:t>.</a:t>
                </a:r>
              </a:p>
            </p:txBody>
          </p:sp>
        </mc:Choice>
        <mc:Fallback xmlns="">
          <p:sp>
            <p:nvSpPr>
              <p:cNvPr id="501" name="Podríamos, similar al caso de regresión lineal y polinomial, modificar a nuestros predictores, agregando la versión cuadrática, cúbica, etc.…"/>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332" r="-580"/>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961F3704-4F33-3325-EA62-C3395366E47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38</a:t>
            </a:fld>
            <a:endParaRPr lang="en-US" sz="2800" dirty="0"/>
          </a:p>
        </p:txBody>
      </p:sp>
    </p:spTree>
    <p:extLst>
      <p:ext uri="{BB962C8B-B14F-4D97-AF65-F5344CB8AC3E}">
        <p14:creationId xmlns:p14="http://schemas.microsoft.com/office/powerpoint/2010/main" val="3505639588"/>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p:sp>
        <p:nvSpPr>
          <p:cNvPr id="507" name="Por eso existe el modelo llamado Support Vector Machine (SVM) o maquina de vector de soportes que extienden al Clasificador de Vector de Soportes permitiendo extender el espacio de atributos, usando funciones kernels.…"/>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Por eso existe el modelo llamado </a:t>
            </a:r>
            <a:r>
              <a:rPr lang="es-ES_tradnl" dirty="0" err="1">
                <a:latin typeface="Graphik Compact Bold"/>
                <a:ea typeface="Graphik Compact Bold"/>
                <a:cs typeface="Graphik Compact Bold"/>
                <a:sym typeface="Graphik Compact Bold"/>
              </a:rPr>
              <a:t>Support</a:t>
            </a:r>
            <a:r>
              <a:rPr lang="es-ES_tradnl" dirty="0">
                <a:latin typeface="Graphik Compact Bold"/>
                <a:ea typeface="Graphik Compact Bold"/>
                <a:cs typeface="Graphik Compact Bold"/>
                <a:sym typeface="Graphik Compact Bold"/>
              </a:rPr>
              <a:t> Vector Machine (SVM)</a:t>
            </a:r>
            <a:r>
              <a:rPr lang="es-ES_tradnl" dirty="0"/>
              <a:t> o máquina de vector de soportes que extienden al Clasificador de Vector de Soportes permitiendo extender el espacio de atributos, usando funciones </a:t>
            </a:r>
            <a:r>
              <a:rPr lang="es-ES_tradnl" b="1" i="1" dirty="0" err="1">
                <a:solidFill>
                  <a:schemeClr val="accent6"/>
                </a:solidFill>
              </a:rPr>
              <a:t>kernels</a:t>
            </a:r>
            <a:r>
              <a:rPr lang="es-ES_tradnl" dirty="0"/>
              <a:t>.</a:t>
            </a:r>
          </a:p>
          <a:p>
            <a:pPr>
              <a:defRPr sz="4600">
                <a:latin typeface="Graphik Compact Regular"/>
                <a:ea typeface="Graphik Compact Regular"/>
                <a:cs typeface="Graphik Compact Regular"/>
                <a:sym typeface="Graphik Compact Regular"/>
              </a:defRPr>
            </a:pPr>
            <a:r>
              <a:rPr lang="es-ES_tradnl" dirty="0"/>
              <a:t>Este tipo de extensión es eficiente computacionalmente.</a:t>
            </a:r>
          </a:p>
          <a:p>
            <a:pPr>
              <a:defRPr sz="4600">
                <a:latin typeface="Graphik Compact Regular"/>
                <a:ea typeface="Graphik Compact Regular"/>
                <a:cs typeface="Graphik Compact Regular"/>
                <a:sym typeface="Graphik Compact Regular"/>
              </a:defRPr>
            </a:pPr>
            <a:r>
              <a:rPr lang="es-ES_tradnl" dirty="0"/>
              <a:t>Veamos como lo hace…</a:t>
            </a:r>
          </a:p>
        </p:txBody>
      </p:sp>
      <p:sp>
        <p:nvSpPr>
          <p:cNvPr id="3" name="Slide Number Placeholder 5">
            <a:extLst>
              <a:ext uri="{FF2B5EF4-FFF2-40B4-BE49-F238E27FC236}">
                <a16:creationId xmlns:a16="http://schemas.microsoft.com/office/drawing/2014/main" id="{569DE192-CD72-E4D8-A044-FCF314E0C8A6}"/>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39</a:t>
            </a:fld>
            <a:endParaRPr lang="en-US" sz="2800" dirty="0"/>
          </a:p>
        </p:txBody>
      </p:sp>
    </p:spTree>
    <p:extLst>
      <p:ext uri="{BB962C8B-B14F-4D97-AF65-F5344CB8AC3E}">
        <p14:creationId xmlns:p14="http://schemas.microsoft.com/office/powerpoint/2010/main" val="629848050"/>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p:pic>
        <p:nvPicPr>
          <p:cNvPr id="510" name="path3ddd7ss75.png" descr="path3ddd7ss75.png"/>
          <p:cNvPicPr>
            <a:picLocks noChangeAspect="1"/>
          </p:cNvPicPr>
          <p:nvPr/>
        </p:nvPicPr>
        <p:blipFill>
          <a:blip r:embed="rId2"/>
          <a:stretch>
            <a:fillRect/>
          </a:stretch>
        </p:blipFill>
        <p:spPr>
          <a:xfrm>
            <a:off x="3093875" y="4059334"/>
            <a:ext cx="18272450" cy="8042975"/>
          </a:xfrm>
          <a:prstGeom prst="rect">
            <a:avLst/>
          </a:prstGeom>
          <a:ln w="12700">
            <a:miter lim="400000"/>
          </a:ln>
        </p:spPr>
      </p:pic>
      <p:sp>
        <p:nvSpPr>
          <p:cNvPr id="3" name="Slide Number Placeholder 5">
            <a:extLst>
              <a:ext uri="{FF2B5EF4-FFF2-40B4-BE49-F238E27FC236}">
                <a16:creationId xmlns:a16="http://schemas.microsoft.com/office/drawing/2014/main" id="{AC713AE9-E50E-4A10-EC68-624BB223D46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40</a:t>
            </a:fld>
            <a:endParaRPr lang="en-US" sz="2800" dirty="0"/>
          </a:p>
        </p:txBody>
      </p:sp>
    </p:spTree>
    <p:extLst>
      <p:ext uri="{BB962C8B-B14F-4D97-AF65-F5344CB8AC3E}">
        <p14:creationId xmlns:p14="http://schemas.microsoft.com/office/powerpoint/2010/main" val="80639739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mc:AlternateContent xmlns:mc="http://schemas.openxmlformats.org/markup-compatibility/2006" xmlns:a14="http://schemas.microsoft.com/office/drawing/2010/main">
        <mc:Choice Requires="a14">
          <p:sp>
            <p:nvSpPr>
              <p:cNvPr id="513" name="La función que usábamos para clasificar usando el clasificador de vector de soportes era:…"/>
              <p:cNvSpPr txBox="1">
                <a:spLocks noGrp="1"/>
              </p:cNvSpPr>
              <p:nvPr>
                <p:ph type="body" idx="1"/>
              </p:nvPr>
            </p:nvSpPr>
            <p:spPr>
              <a:xfrm>
                <a:off x="1295400" y="3710394"/>
                <a:ext cx="21869400" cy="9532780"/>
              </a:xfrm>
              <a:prstGeom prst="rect">
                <a:avLst/>
              </a:prstGeom>
            </p:spPr>
            <p:txBody>
              <a:bodyPr>
                <a:normAutofit fontScale="92500" lnSpcReduction="10000"/>
              </a:bodyPr>
              <a:lstStyle/>
              <a:p>
                <a:pPr defTabSz="537463">
                  <a:spcBef>
                    <a:spcPts val="3000"/>
                  </a:spcBef>
                  <a:defRPr sz="4232">
                    <a:latin typeface="Graphik Compact Regular"/>
                    <a:ea typeface="Graphik Compact Regular"/>
                    <a:cs typeface="Graphik Compact Regular"/>
                    <a:sym typeface="Graphik Compact Regular"/>
                  </a:defRPr>
                </a:pPr>
                <a:r>
                  <a:rPr lang="es-ES_tradnl" dirty="0"/>
                  <a:t>La función que usábamos para clasificar usando el </a:t>
                </a:r>
                <a:r>
                  <a:rPr lang="es-ES_tradnl" dirty="0">
                    <a:latin typeface="Graphik Compact Bold"/>
                    <a:ea typeface="Graphik Compact Bold"/>
                    <a:cs typeface="Graphik Compact Bold"/>
                    <a:sym typeface="Graphik Compact Bold"/>
                  </a:rPr>
                  <a:t>clasificador de vector de soportes</a:t>
                </a:r>
                <a:r>
                  <a:rPr lang="es-ES_tradnl" dirty="0"/>
                  <a:t> era:</a:t>
                </a:r>
                <a:br>
                  <a:rPr lang="es-ES_tradnl" dirty="0"/>
                </a:br>
                <a:endParaRPr lang="es-ES_tradnl" dirty="0"/>
              </a:p>
              <a:p>
                <a:pPr defTabSz="537463">
                  <a:spcBef>
                    <a:spcPts val="3000"/>
                  </a:spcBef>
                  <a:defRPr sz="4232">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𝑋</m:t>
                          </m:r>
                        </m:e>
                      </m:d>
                      <m:r>
                        <a:rPr lang="en-US" sz="4400" b="0" i="1" smtClean="0">
                          <a:latin typeface="Cambria Math" panose="02040503050406030204" pitchFamily="18" charset="0"/>
                        </a:rPr>
                        <m:t>=</m:t>
                      </m:r>
                      <m:sSub>
                        <m:sSubPr>
                          <m:ctrlPr>
                            <a:rPr lang="es-ES_tradnl" sz="4400" i="1">
                              <a:latin typeface="Cambria Math" panose="02040503050406030204" pitchFamily="18" charset="0"/>
                            </a:rPr>
                          </m:ctrlPr>
                        </m:sSubPr>
                        <m:e>
                          <m:r>
                            <a:rPr lang="es-ES_tradnl" sz="4400" i="1">
                              <a:latin typeface="Cambria Math" panose="02040503050406030204" pitchFamily="18" charset="0"/>
                              <a:ea typeface="Cambria Math" panose="02040503050406030204" pitchFamily="18" charset="0"/>
                            </a:rPr>
                            <m:t>𝛽</m:t>
                          </m:r>
                        </m:e>
                        <m:sub>
                          <m:r>
                            <a:rPr lang="en-US" sz="4400" i="1">
                              <a:latin typeface="Cambria Math" panose="02040503050406030204" pitchFamily="18" charset="0"/>
                            </a:rPr>
                            <m:t>0</m:t>
                          </m:r>
                        </m:sub>
                      </m:sSub>
                      <m:r>
                        <a:rPr lang="en-US" sz="4400" i="1">
                          <a:latin typeface="Cambria Math" panose="02040503050406030204" pitchFamily="18" charset="0"/>
                        </a:rPr>
                        <m:t>+&lt;</m:t>
                      </m:r>
                      <m:acc>
                        <m:accPr>
                          <m:chr m:val="⃗"/>
                          <m:ctrlPr>
                            <a:rPr lang="en-US" sz="4400" i="1">
                              <a:latin typeface="Cambria Math" panose="02040503050406030204" pitchFamily="18" charset="0"/>
                            </a:rPr>
                          </m:ctrlPr>
                        </m:accPr>
                        <m:e>
                          <m:r>
                            <a:rPr lang="es-ES_tradnl" sz="4400" i="1">
                              <a:latin typeface="Cambria Math" panose="02040503050406030204" pitchFamily="18" charset="0"/>
                              <a:ea typeface="Cambria Math" panose="02040503050406030204" pitchFamily="18" charset="0"/>
                            </a:rPr>
                            <m:t>𝛽</m:t>
                          </m:r>
                        </m:e>
                      </m:acc>
                      <m:r>
                        <a:rPr lang="en-US" sz="4400" i="1">
                          <a:latin typeface="Cambria Math" panose="02040503050406030204" pitchFamily="18" charset="0"/>
                          <a:ea typeface="Cambria Math" panose="02040503050406030204" pitchFamily="18" charset="0"/>
                        </a:rPr>
                        <m:t>, </m:t>
                      </m:r>
                      <m:r>
                        <a:rPr lang="en-US" sz="4400" i="1">
                          <a:latin typeface="Cambria Math" panose="02040503050406030204" pitchFamily="18" charset="0"/>
                          <a:ea typeface="Cambria Math" panose="02040503050406030204" pitchFamily="18" charset="0"/>
                        </a:rPr>
                        <m:t>𝑋</m:t>
                      </m:r>
                      <m:r>
                        <a:rPr lang="en-US" sz="4400" b="0" i="1" smtClean="0">
                          <a:latin typeface="Cambria Math" panose="02040503050406030204" pitchFamily="18" charset="0"/>
                          <a:ea typeface="Cambria Math" panose="02040503050406030204" pitchFamily="18" charset="0"/>
                        </a:rPr>
                        <m:t>&gt;</m:t>
                      </m:r>
                    </m:oMath>
                  </m:oMathPara>
                </a14:m>
                <a:endParaRPr lang="es-ES_tradnl" sz="4400" dirty="0"/>
              </a:p>
              <a:p>
                <a:pPr defTabSz="537463">
                  <a:spcBef>
                    <a:spcPts val="3000"/>
                  </a:spcBef>
                  <a:defRPr sz="4232">
                    <a:latin typeface="Graphik Compact Regular"/>
                    <a:ea typeface="Graphik Compact Regular"/>
                    <a:cs typeface="Graphik Compact Regular"/>
                    <a:sym typeface="Graphik Compact Regular"/>
                  </a:defRPr>
                </a:pPr>
                <a:r>
                  <a:rPr lang="es-ES_tradnl" dirty="0"/>
                  <a:t>Se puede trabajar para llegar a la siguiente expresión:</a:t>
                </a:r>
                <a:br>
                  <a:rPr lang="es-ES_tradnl" dirty="0"/>
                </a:br>
                <a:endParaRPr lang="es-ES_tradnl" dirty="0"/>
              </a:p>
              <a:p>
                <a:pPr defTabSz="537463">
                  <a:spcBef>
                    <a:spcPts val="3000"/>
                  </a:spcBef>
                  <a:defRPr sz="4232">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𝑓</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𝑋</m:t>
                          </m:r>
                        </m:e>
                      </m:d>
                      <m:r>
                        <a:rPr lang="en-US" sz="4000" b="0" i="1" smtClean="0">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rPr>
                                <m:t>𝑖</m:t>
                              </m:r>
                            </m:sub>
                          </m:sSub>
                          <m:r>
                            <a:rPr lang="en-US" i="1">
                              <a:latin typeface="Cambria Math" panose="02040503050406030204" pitchFamily="18" charset="0"/>
                            </a:rPr>
                            <m:t>&lt;</m:t>
                          </m:r>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&gt;</m:t>
                          </m:r>
                          <m:r>
                            <m:rPr>
                              <m:nor/>
                            </m:rPr>
                            <a:rPr lang="es-ES_tradnl" dirty="0"/>
                            <m:t> </m:t>
                          </m:r>
                        </m:e>
                      </m:nary>
                    </m:oMath>
                  </m:oMathPara>
                </a14:m>
                <a:endParaRPr lang="es-ES_tradnl" dirty="0"/>
              </a:p>
              <a:p>
                <a:pPr marL="685266" indent="-685266" defTabSz="537463">
                  <a:spcBef>
                    <a:spcPts val="3000"/>
                  </a:spcBef>
                  <a:buClr>
                    <a:srgbClr val="000000"/>
                  </a:buClr>
                  <a:buSzPct val="200000"/>
                  <a:buChar char="•"/>
                  <a:defRPr sz="4232">
                    <a:latin typeface="Graphik Compact Regular"/>
                    <a:ea typeface="Graphik Compact Regular"/>
                    <a:cs typeface="Graphik Compact Regular"/>
                    <a:sym typeface="Graphik Compact Regular"/>
                  </a:defRPr>
                </a:pPr>
                <a:r>
                  <a:rPr lang="es-ES_tradnl" dirty="0"/>
                  <a:t> </a:t>
                </a:r>
                <a14:m>
                  <m:oMath xmlns:m="http://schemas.openxmlformats.org/officeDocument/2006/math">
                    <m:r>
                      <a:rPr lang="en-US" i="1" smtClean="0">
                        <a:latin typeface="Cambria Math" panose="02040503050406030204" pitchFamily="18" charset="0"/>
                      </a:rPr>
                      <m:t>&lt;</m:t>
                    </m:r>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&gt;</m:t>
                    </m:r>
                  </m:oMath>
                </a14:m>
                <a:r>
                  <a:rPr lang="es-ES_tradnl" dirty="0"/>
                  <a:t> es el producto interno (o producto escalar) entre la observación de entrada y la i-</a:t>
                </a:r>
                <a:r>
                  <a:rPr lang="es-ES_tradnl" dirty="0" err="1"/>
                  <a:t>esima</a:t>
                </a:r>
                <a:r>
                  <a:rPr lang="es-ES_tradnl" dirty="0"/>
                  <a:t> observación de entrenamiento.</a:t>
                </a:r>
              </a:p>
              <a:p>
                <a:pPr marL="685266" indent="-685266" defTabSz="537463">
                  <a:spcBef>
                    <a:spcPts val="3000"/>
                  </a:spcBef>
                  <a:buClr>
                    <a:srgbClr val="000000"/>
                  </a:buClr>
                  <a:buSzPct val="200000"/>
                  <a:buChar char="•"/>
                  <a:defRPr sz="4232">
                    <a:latin typeface="Graphik Compact Regular"/>
                    <a:ea typeface="Graphik Compact Regular"/>
                    <a:cs typeface="Graphik Compact Regular"/>
                    <a:sym typeface="Graphik Compact Regular"/>
                  </a:defRPr>
                </a:pPr>
                <a:r>
                  <a:rPr lang="es-ES_tradnl" dirty="0"/>
                  <a:t>Hay n parámetros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rPr>
                          <m:t>𝑖</m:t>
                        </m:r>
                      </m:sub>
                    </m:sSub>
                  </m:oMath>
                </a14:m>
                <a:r>
                  <a:rPr lang="es-ES_tradnl" dirty="0"/>
                  <a:t>, uno por observación de entrenamiento.</a:t>
                </a:r>
              </a:p>
              <a:p>
                <a:pPr marL="685266" indent="-685266" defTabSz="537463">
                  <a:spcBef>
                    <a:spcPts val="3000"/>
                  </a:spcBef>
                  <a:buClr>
                    <a:srgbClr val="000000"/>
                  </a:buClr>
                  <a:buSzPct val="200000"/>
                  <a:buChar char="•"/>
                  <a:defRPr sz="4232">
                    <a:latin typeface="Graphik Compact Regular"/>
                    <a:ea typeface="Graphik Compact Regular"/>
                    <a:cs typeface="Graphik Compact Regular"/>
                    <a:sym typeface="Graphik Compact Regular"/>
                  </a:defRPr>
                </a:pPr>
                <a:r>
                  <a:rPr lang="es-ES_tradnl" dirty="0"/>
                  <a:t>El entrenar, para estimar los parámetros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rPr>
                      <m:t>,</m:t>
                    </m:r>
                    <m:r>
                      <a:rPr lang="en-US" i="1" smtClean="0">
                        <a:latin typeface="Cambria Math" panose="02040503050406030204" pitchFamily="18" charset="0"/>
                      </a:rPr>
                      <m:t> </m:t>
                    </m:r>
                  </m:oMath>
                </a14:m>
                <a:r>
                  <a:rPr lang="es-ES_tradnl" dirty="0"/>
                  <a:t>y </a:t>
                </a:r>
                <a14:m>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0</m:t>
                        </m:r>
                      </m:sub>
                    </m:sSub>
                  </m:oMath>
                </a14:m>
                <a:r>
                  <a:rPr lang="es-ES_tradnl" dirty="0"/>
                  <a:t>, se necesita </a:t>
                </a:r>
                <a14:m>
                  <m:oMath xmlns:m="http://schemas.openxmlformats.org/officeDocument/2006/math">
                    <m:d>
                      <m:dPr>
                        <m:ctrlPr>
                          <a:rPr lang="es-ES_tradnl" i="1" smtClean="0">
                            <a:latin typeface="Cambria Math" panose="02040503050406030204" pitchFamily="18" charset="0"/>
                          </a:rPr>
                        </m:ctrlPr>
                      </m:dPr>
                      <m:e>
                        <m:m>
                          <m:mPr>
                            <m:mcs>
                              <m:mc>
                                <m:mcPr>
                                  <m:count m:val="1"/>
                                  <m:mcJc m:val="center"/>
                                </m:mcPr>
                              </m:mc>
                            </m:mcs>
                            <m:ctrlPr>
                              <a:rPr lang="es-ES_tradnl" i="1" smtClean="0">
                                <a:latin typeface="Cambria Math" panose="02040503050406030204" pitchFamily="18" charset="0"/>
                              </a:rPr>
                            </m:ctrlPr>
                          </m:mPr>
                          <m:mr>
                            <m:e>
                              <m:r>
                                <m:rPr>
                                  <m:brk m:alnAt="7"/>
                                </m:rPr>
                                <a:rPr lang="en-US" b="0" i="1" smtClean="0">
                                  <a:latin typeface="Cambria Math" panose="02040503050406030204" pitchFamily="18" charset="0"/>
                                </a:rPr>
                                <m:t>𝑛</m:t>
                              </m:r>
                            </m:e>
                          </m:mr>
                          <m:mr>
                            <m:e>
                              <m:r>
                                <a:rPr lang="en-US" b="0" i="1" smtClean="0">
                                  <a:latin typeface="Cambria Math" panose="02040503050406030204" pitchFamily="18" charset="0"/>
                                </a:rPr>
                                <m:t>2</m:t>
                              </m:r>
                            </m:e>
                          </m:mr>
                        </m:m>
                      </m:e>
                    </m:d>
                  </m:oMath>
                </a14:m>
                <a:r>
                  <a:rPr lang="es-ES_tradnl" dirty="0"/>
                  <a:t> productos internos entre todos los pares de entrenamiento.</a:t>
                </a:r>
              </a:p>
            </p:txBody>
          </p:sp>
        </mc:Choice>
        <mc:Fallback xmlns="">
          <p:sp>
            <p:nvSpPr>
              <p:cNvPr id="513" name="La función que usábamos para clasificar usando el clasificador de vector de soportes era:…"/>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2728" t="-1731"/>
                </a:stretch>
              </a:blipFill>
            </p:spPr>
            <p:txBody>
              <a:bodyPr/>
              <a:lstStyle/>
              <a:p>
                <a:r>
                  <a:rPr lang="es-ES_tradnl">
                    <a:noFill/>
                  </a:rPr>
                  <a:t> </a:t>
                </a:r>
              </a:p>
            </p:txBody>
          </p:sp>
        </mc:Fallback>
      </mc:AlternateContent>
      <p:sp>
        <p:nvSpPr>
          <p:cNvPr id="5" name="Slide Number Placeholder 5">
            <a:extLst>
              <a:ext uri="{FF2B5EF4-FFF2-40B4-BE49-F238E27FC236}">
                <a16:creationId xmlns:a16="http://schemas.microsoft.com/office/drawing/2014/main" id="{1DB1597E-DD77-03B4-C729-BCF1D8E437AF}"/>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41</a:t>
            </a:fld>
            <a:endParaRPr lang="en-US" sz="2800" dirty="0"/>
          </a:p>
        </p:txBody>
      </p:sp>
    </p:spTree>
    <p:extLst>
      <p:ext uri="{BB962C8B-B14F-4D97-AF65-F5344CB8AC3E}">
        <p14:creationId xmlns:p14="http://schemas.microsoft.com/office/powerpoint/2010/main" val="69891281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mc:AlternateContent xmlns:mc="http://schemas.openxmlformats.org/markup-compatibility/2006">
        <mc:Choice xmlns:a14="http://schemas.microsoft.com/office/drawing/2010/main" Requires="a14">
          <p:sp>
            <p:nvSpPr>
              <p:cNvPr id="521" name="Esta función para predecir, necesita de todos las observaciones del set de entrenamiento.…"/>
              <p:cNvSpPr txBox="1">
                <a:spLocks noGrp="1"/>
              </p:cNvSpPr>
              <p:nvPr>
                <p:ph type="body" idx="1"/>
              </p:nvPr>
            </p:nvSpPr>
            <p:spPr>
              <a:xfrm>
                <a:off x="1219200" y="2829861"/>
                <a:ext cx="21869400" cy="9532780"/>
              </a:xfrm>
              <a:prstGeom prst="rect">
                <a:avLst/>
              </a:prstGeom>
            </p:spPr>
            <p:txBody>
              <a:bodyPr>
                <a:normAutofit fontScale="85000" lnSpcReduction="10000"/>
              </a:bodyPr>
              <a:lstStyle/>
              <a:p>
                <a:pPr defTabSz="578358">
                  <a:spcBef>
                    <a:spcPts val="3200"/>
                  </a:spcBef>
                  <a:defRPr sz="4554">
                    <a:latin typeface="Graphik Compact Regular"/>
                    <a:ea typeface="Graphik Compact Regular"/>
                    <a:cs typeface="Graphik Compact Regular"/>
                    <a:sym typeface="Graphik Compact Regular"/>
                  </a:defRPr>
                </a:pPr>
                <a:endParaRPr lang="es-ES_tradnl" dirty="0"/>
              </a:p>
              <a:p>
                <a:pPr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𝑓</m:t>
                      </m:r>
                      <m:d>
                        <m:dPr>
                          <m:ctrlPr>
                            <a:rPr lang="en-US" sz="4800" b="0" i="1" smtClean="0">
                              <a:latin typeface="Cambria Math" panose="02040503050406030204" pitchFamily="18" charset="0"/>
                            </a:rPr>
                          </m:ctrlPr>
                        </m:dPr>
                        <m:e>
                          <m:r>
                            <a:rPr lang="en-US" sz="4800" b="0" i="1" smtClean="0">
                              <a:latin typeface="Cambria Math" panose="02040503050406030204" pitchFamily="18" charset="0"/>
                            </a:rPr>
                            <m:t>𝑋</m:t>
                          </m:r>
                        </m:e>
                      </m:d>
                      <m:r>
                        <a:rPr lang="en-US" sz="4800" b="0" i="1" smtClean="0">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rPr>
                                <m:t>𝑖</m:t>
                              </m:r>
                            </m:sub>
                          </m:sSub>
                          <m:r>
                            <a:rPr lang="en-US" i="1">
                              <a:latin typeface="Cambria Math" panose="02040503050406030204" pitchFamily="18" charset="0"/>
                            </a:rPr>
                            <m:t>&lt;</m:t>
                          </m:r>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&gt;</m:t>
                          </m:r>
                          <m:r>
                            <m:rPr>
                              <m:nor/>
                            </m:rPr>
                            <a:rPr lang="es-ES_tradnl" dirty="0"/>
                            <m:t> </m:t>
                          </m:r>
                        </m:e>
                      </m:nary>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r>
                  <a:rPr lang="es-ES_tradnl" dirty="0"/>
                  <a:t>Esta función para predecir necesita de todas las observaciones del set de entrenamiento.</a:t>
                </a:r>
              </a:p>
              <a:p>
                <a:pPr defTabSz="578358">
                  <a:spcBef>
                    <a:spcPts val="3200"/>
                  </a:spcBef>
                  <a:defRPr sz="4554">
                    <a:latin typeface="Graphik Compact Regular"/>
                    <a:ea typeface="Graphik Compact Regular"/>
                    <a:cs typeface="Graphik Compact Regular"/>
                    <a:sym typeface="Graphik Compact Regular"/>
                  </a:defRPr>
                </a:pPr>
                <a:r>
                  <a:rPr lang="es-ES_tradnl" dirty="0"/>
                  <a:t>Sin embargo, resulta que α</a:t>
                </a:r>
                <a:r>
                  <a:rPr lang="es-ES_tradnl" baseline="-5999" dirty="0"/>
                  <a:t>i </a:t>
                </a:r>
                <a:r>
                  <a:rPr lang="es-ES_tradnl" dirty="0"/>
                  <a:t>es</a:t>
                </a:r>
                <a:r>
                  <a:rPr lang="es-ES_tradnl" dirty="0">
                    <a:solidFill>
                      <a:schemeClr val="accent5">
                        <a:hueOff val="-454429"/>
                        <a:lumOff val="-36805"/>
                      </a:schemeClr>
                    </a:solidFill>
                    <a:latin typeface="Graphik Compact Bold"/>
                    <a:ea typeface="Graphik Compact Bold"/>
                    <a:cs typeface="Graphik Compact Bold"/>
                    <a:sym typeface="Graphik Compact Bold"/>
                  </a:rPr>
                  <a:t> cero para aquellas observaciones que no son vectores de soporte</a:t>
                </a:r>
                <a:r>
                  <a:rPr lang="es-ES_tradnl" dirty="0"/>
                  <a:t>. De tal forma que realmente la función se puede reescribir:</a:t>
                </a:r>
              </a:p>
              <a:p>
                <a:pPr defTabSz="578358">
                  <a:spcBef>
                    <a:spcPts val="3200"/>
                  </a:spcBef>
                  <a:defRPr sz="4554">
                    <a:latin typeface="Graphik Compact Regular"/>
                    <a:ea typeface="Graphik Compact Regular"/>
                    <a:cs typeface="Graphik Compact Regular"/>
                    <a:sym typeface="Graphik Compact Regular"/>
                  </a:defRPr>
                </a:pPr>
                <a:endParaRPr lang="es-ES_tradnl" dirty="0"/>
              </a:p>
              <a:p>
                <a:pPr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𝑓</m:t>
                      </m:r>
                      <m:d>
                        <m:dPr>
                          <m:ctrlPr>
                            <a:rPr lang="en-US" sz="4800" b="0" i="1" smtClean="0">
                              <a:latin typeface="Cambria Math" panose="02040503050406030204" pitchFamily="18" charset="0"/>
                            </a:rPr>
                          </m:ctrlPr>
                        </m:dPr>
                        <m:e>
                          <m:r>
                            <a:rPr lang="en-US" sz="4800" b="0" i="1" smtClean="0">
                              <a:latin typeface="Cambria Math" panose="02040503050406030204" pitchFamily="18" charset="0"/>
                            </a:rPr>
                            <m:t>𝑋</m:t>
                          </m:r>
                        </m:e>
                      </m:d>
                      <m:r>
                        <a:rPr lang="en-US" sz="4800" b="0" i="1" smtClean="0">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ℋ</m:t>
                          </m:r>
                        </m:sub>
                        <m:sup/>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rPr>
                                <m:t>𝑖</m:t>
                              </m:r>
                            </m:sub>
                          </m:sSub>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&gt;</m:t>
                          </m:r>
                        </m:e>
                      </m:nary>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r>
                  <a:rPr lang="es-ES_tradnl" dirty="0"/>
                  <a:t>Que normalmente involucra muchos menos términos.</a:t>
                </a:r>
              </a:p>
              <a:p>
                <a:pPr defTabSz="578358">
                  <a:spcBef>
                    <a:spcPts val="3200"/>
                  </a:spcBef>
                  <a:defRPr sz="4554">
                    <a:latin typeface="Graphik Compact Regular"/>
                    <a:ea typeface="Graphik Compact Regular"/>
                    <a:cs typeface="Graphik Compact Regular"/>
                    <a:sym typeface="Graphik Compact Regular"/>
                  </a:defRPr>
                </a:pPr>
                <a:r>
                  <a:rPr lang="es-ES_tradnl" dirty="0"/>
                  <a:t>Es decir, para usar el modelo de clasificador de vector de soportes y computar sus coeficientes, todo lo que se necesita es el </a:t>
                </a:r>
                <a:r>
                  <a:rPr lang="es-ES_tradnl" dirty="0">
                    <a:latin typeface="Graphik Compact Bold"/>
                    <a:ea typeface="Graphik Compact Bold"/>
                    <a:cs typeface="Graphik Compact Bold"/>
                    <a:sym typeface="Graphik Compact Bold"/>
                  </a:rPr>
                  <a:t>producto interno.</a:t>
                </a:r>
                <a:r>
                  <a:rPr lang="es-ES_tradnl" dirty="0"/>
                  <a:t> </a:t>
                </a:r>
              </a:p>
            </p:txBody>
          </p:sp>
        </mc:Choice>
        <mc:Fallback>
          <p:sp>
            <p:nvSpPr>
              <p:cNvPr id="521" name="Esta función para predecir, necesita de todos las observaciones del set de entrenamiento.…"/>
              <p:cNvSpPr txBox="1">
                <a:spLocks noGrp="1" noRot="1" noChangeAspect="1" noMove="1" noResize="1" noEditPoints="1" noAdjustHandles="1" noChangeArrowheads="1" noChangeShapeType="1" noTextEdit="1"/>
              </p:cNvSpPr>
              <p:nvPr>
                <p:ph type="body" idx="1"/>
              </p:nvPr>
            </p:nvSpPr>
            <p:spPr>
              <a:xfrm>
                <a:off x="1219200" y="2829861"/>
                <a:ext cx="21869400" cy="9532780"/>
              </a:xfrm>
              <a:prstGeom prst="rect">
                <a:avLst/>
              </a:prstGeom>
              <a:blipFill>
                <a:blip r:embed="rId2"/>
                <a:stretch>
                  <a:fillRect l="-1143" r="-697" b="-2621"/>
                </a:stretch>
              </a:blipFill>
            </p:spPr>
            <p:txBody>
              <a:bodyPr/>
              <a:lstStyle/>
              <a:p>
                <a:r>
                  <a:rPr lang="es-PE">
                    <a:noFill/>
                  </a:rPr>
                  <a:t> </a:t>
                </a:r>
              </a:p>
            </p:txBody>
          </p:sp>
        </mc:Fallback>
      </mc:AlternateContent>
      <p:sp>
        <p:nvSpPr>
          <p:cNvPr id="3" name="Slide Number Placeholder 5">
            <a:extLst>
              <a:ext uri="{FF2B5EF4-FFF2-40B4-BE49-F238E27FC236}">
                <a16:creationId xmlns:a16="http://schemas.microsoft.com/office/drawing/2014/main" id="{45063647-F253-CF00-49F9-A26708A4A27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42</a:t>
            </a:fld>
            <a:endParaRPr lang="en-US" sz="2800" dirty="0"/>
          </a:p>
        </p:txBody>
      </p:sp>
    </p:spTree>
    <p:extLst>
      <p:ext uri="{BB962C8B-B14F-4D97-AF65-F5344CB8AC3E}">
        <p14:creationId xmlns:p14="http://schemas.microsoft.com/office/powerpoint/2010/main" val="401881486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mc:AlternateContent xmlns:mc="http://schemas.openxmlformats.org/markup-compatibility/2006" xmlns:a14="http://schemas.microsoft.com/office/drawing/2010/main">
        <mc:Choice Requires="a14">
          <p:sp>
            <p:nvSpPr>
              <p:cNvPr id="526" name="Ahora, podemos reemplazar al producto interno por una generalización del producto interno:…"/>
              <p:cNvSpPr txBox="1">
                <a:spLocks noGrp="1"/>
              </p:cNvSpPr>
              <p:nvPr>
                <p:ph type="body" idx="1"/>
              </p:nvPr>
            </p:nvSpPr>
            <p:spPr>
              <a:xfrm>
                <a:off x="1295400" y="3710394"/>
                <a:ext cx="21869400" cy="9532780"/>
              </a:xfrm>
              <a:prstGeom prst="rect">
                <a:avLst/>
              </a:prstGeom>
            </p:spPr>
            <p:txBody>
              <a:bodyPr>
                <a:normAutofit lnSpcReduction="10000"/>
              </a:bodyPr>
              <a:lstStyle/>
              <a:p>
                <a:pPr>
                  <a:defRPr sz="4600">
                    <a:latin typeface="Graphik Compact Regular"/>
                    <a:ea typeface="Graphik Compact Regular"/>
                    <a:cs typeface="Graphik Compact Regular"/>
                    <a:sym typeface="Graphik Compact Regular"/>
                  </a:defRPr>
                </a:pPr>
                <a:r>
                  <a:rPr lang="es-ES_tradnl" dirty="0"/>
                  <a:t>Ahora, podemos reemplazar al producto interno por una generalización del producto interno:</a:t>
                </a:r>
                <a:br>
                  <a:rPr lang="es-ES_tradnl" dirty="0"/>
                </a:br>
                <a:endParaRPr lang="es-ES_tradnl" dirty="0"/>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i="1" smtClean="0">
                              <a:latin typeface="Cambria Math" panose="02040503050406030204" pitchFamily="18" charset="0"/>
                            </a:rPr>
                            <m:t>’</m:t>
                          </m:r>
                        </m:sub>
                      </m:sSub>
                      <m:r>
                        <a:rPr lang="en-US" b="0" i="1" smtClean="0">
                          <a:latin typeface="Cambria Math" panose="02040503050406030204" pitchFamily="18" charset="0"/>
                        </a:rPr>
                        <m:t>)</m:t>
                      </m:r>
                    </m:oMath>
                  </m:oMathPara>
                </a14:m>
                <a:endParaRPr lang="es-ES_tradnl" dirty="0"/>
              </a:p>
              <a:p>
                <a:pPr>
                  <a:defRPr sz="4600">
                    <a:latin typeface="Graphik Compact Regular"/>
                    <a:ea typeface="Graphik Compact Regular"/>
                    <a:cs typeface="Graphik Compact Regular"/>
                    <a:sym typeface="Graphik Compact Regular"/>
                  </a:defRPr>
                </a:pPr>
                <a:r>
                  <a:rPr lang="es-ES_tradnl" dirty="0"/>
                  <a:t>donde K es una función que llamamos </a:t>
                </a:r>
                <a:r>
                  <a:rPr lang="es-ES_tradnl" dirty="0">
                    <a:latin typeface="Graphik Compact Bold"/>
                    <a:ea typeface="Graphik Compact Bold"/>
                    <a:cs typeface="Graphik Compact Bold"/>
                    <a:sym typeface="Graphik Compact Bold"/>
                  </a:rPr>
                  <a:t>función </a:t>
                </a:r>
                <a:r>
                  <a:rPr lang="es-ES_tradnl" dirty="0" err="1">
                    <a:latin typeface="Graphik Compact Bold"/>
                    <a:ea typeface="Graphik Compact Bold"/>
                    <a:cs typeface="Graphik Compact Bold"/>
                    <a:sym typeface="Graphik Compact Bold"/>
                  </a:rPr>
                  <a:t>kernel</a:t>
                </a:r>
                <a:r>
                  <a:rPr lang="es-ES_tradnl" dirty="0"/>
                  <a:t>. Un </a:t>
                </a:r>
                <a:r>
                  <a:rPr lang="es-ES_tradnl" dirty="0" err="1"/>
                  <a:t>kernel</a:t>
                </a:r>
                <a:r>
                  <a:rPr lang="es-ES_tradnl" dirty="0"/>
                  <a:t> o núcleo es una función que cuantifica la similitud entre dos vectores. Por ejemplo, si tenemos:</a:t>
                </a:r>
                <a:br>
                  <a:rPr lang="es-ES_tradnl" dirty="0"/>
                </a:br>
                <a:endParaRPr lang="es-ES_tradnl" dirty="0"/>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i="1" smtClean="0">
                                  <a:latin typeface="Cambria Math" panose="02040503050406030204" pitchFamily="18" charset="0"/>
                                </a:rPr>
                                <m:t>’</m:t>
                              </m:r>
                            </m:sub>
                          </m:sSub>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smtClean="0">
                                  <a:latin typeface="Cambria Math" panose="02040503050406030204" pitchFamily="18" charset="0"/>
                                </a:rPr>
                                <m:t>’</m:t>
                              </m:r>
                              <m:r>
                                <a:rPr lang="en-US" b="0" i="1" smtClean="0">
                                  <a:latin typeface="Cambria Math" panose="02040503050406030204" pitchFamily="18" charset="0"/>
                                </a:rPr>
                                <m:t>𝑗</m:t>
                              </m:r>
                            </m:sub>
                          </m:sSub>
                        </m:e>
                      </m:nary>
                    </m:oMath>
                  </m:oMathPara>
                </a14:m>
                <a:endParaRPr lang="es-ES_tradnl" dirty="0"/>
              </a:p>
              <a:p>
                <a:pPr>
                  <a:defRPr sz="4600">
                    <a:latin typeface="Graphik Compact Regular"/>
                    <a:ea typeface="Graphik Compact Regular"/>
                    <a:cs typeface="Graphik Compact Regular"/>
                    <a:sym typeface="Graphik Compact Regular"/>
                  </a:defRPr>
                </a:pPr>
                <a:r>
                  <a:rPr lang="es-ES_tradnl" dirty="0"/>
                  <a:t>Volvemos al clasificador de vector de soportes con frontera lineal. Este </a:t>
                </a:r>
                <a:r>
                  <a:rPr lang="es-ES_tradnl" dirty="0" err="1"/>
                  <a:t>kernel</a:t>
                </a:r>
                <a:r>
                  <a:rPr lang="es-ES_tradnl" dirty="0"/>
                  <a:t> lineal en esencia está midiendo la similitud de las observaciones mediante una correlación de Pearson.</a:t>
                </a:r>
              </a:p>
            </p:txBody>
          </p:sp>
        </mc:Choice>
        <mc:Fallback xmlns="">
          <p:sp>
            <p:nvSpPr>
              <p:cNvPr id="526" name="Ahora, podemos reemplazar al producto interno por una generalización del producto interno:…"/>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4" t="-2047" b="-960"/>
                </a:stretch>
              </a:blipFill>
            </p:spPr>
            <p:txBody>
              <a:bodyPr/>
              <a:lstStyle/>
              <a:p>
                <a:r>
                  <a:rPr lang="es-PE">
                    <a:noFill/>
                  </a:rPr>
                  <a:t> </a:t>
                </a:r>
              </a:p>
            </p:txBody>
          </p:sp>
        </mc:Fallback>
      </mc:AlternateContent>
      <p:sp>
        <p:nvSpPr>
          <p:cNvPr id="3" name="Slide Number Placeholder 5">
            <a:extLst>
              <a:ext uri="{FF2B5EF4-FFF2-40B4-BE49-F238E27FC236}">
                <a16:creationId xmlns:a16="http://schemas.microsoft.com/office/drawing/2014/main" id="{54D4DDAA-9852-85E7-2B5E-9C800B3A2CFF}"/>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43</a:t>
            </a:fld>
            <a:endParaRPr lang="en-US" sz="2800" dirty="0"/>
          </a:p>
        </p:txBody>
      </p:sp>
    </p:spTree>
    <p:extLst>
      <p:ext uri="{BB962C8B-B14F-4D97-AF65-F5344CB8AC3E}">
        <p14:creationId xmlns:p14="http://schemas.microsoft.com/office/powerpoint/2010/main" val="4264752720"/>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mc:AlternateContent xmlns:mc="http://schemas.openxmlformats.org/markup-compatibility/2006" xmlns:a14="http://schemas.microsoft.com/office/drawing/2010/main">
        <mc:Choice Requires="a14">
          <p:sp>
            <p:nvSpPr>
              <p:cNvPr id="531" name="Pero también podemos obtener un kernel polinomial de grado d (d&gt;1):…"/>
              <p:cNvSpPr txBox="1">
                <a:spLocks noGrp="1"/>
              </p:cNvSpPr>
              <p:nvPr>
                <p:ph type="body" idx="1"/>
              </p:nvPr>
            </p:nvSpPr>
            <p:spPr>
              <a:xfrm>
                <a:off x="1295400" y="3710394"/>
                <a:ext cx="21869400" cy="9225244"/>
              </a:xfrm>
              <a:prstGeom prst="rect">
                <a:avLst/>
              </a:prstGeom>
            </p:spPr>
            <p:txBody>
              <a:bodyPr>
                <a:normAutofit lnSpcReduction="10000"/>
              </a:bodyPr>
              <a:lstStyle/>
              <a:p>
                <a:pPr defTabSz="578358">
                  <a:spcBef>
                    <a:spcPts val="3200"/>
                  </a:spcBef>
                  <a:defRPr sz="4554">
                    <a:latin typeface="Graphik Compact Regular"/>
                    <a:ea typeface="Graphik Compact Regular"/>
                    <a:cs typeface="Graphik Compact Regular"/>
                    <a:sym typeface="Graphik Compact Regular"/>
                  </a:defRPr>
                </a:pPr>
                <a:r>
                  <a:rPr lang="es-ES_tradnl" dirty="0"/>
                  <a:t>Pero también podemos obtener un </a:t>
                </a:r>
                <a:r>
                  <a:rPr lang="es-ES_tradnl" dirty="0" err="1"/>
                  <a:t>kernel</a:t>
                </a:r>
                <a:r>
                  <a:rPr lang="es-ES_tradnl" dirty="0"/>
                  <a:t> polinomial de grado d (d&gt;1):</a:t>
                </a:r>
              </a:p>
              <a:p>
                <a:pPr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i="1" smtClean="0">
                                  <a:latin typeface="Cambria Math" panose="02040503050406030204" pitchFamily="18" charset="0"/>
                                </a:rPr>
                                <m:t>’</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𝑝</m:t>
                                  </m:r>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nary>
                            </m:e>
                          </m:d>
                        </m:e>
                        <m:sup>
                          <m:r>
                            <a:rPr lang="en-US" b="0" i="1" smtClean="0">
                              <a:latin typeface="Cambria Math" panose="02040503050406030204" pitchFamily="18" charset="0"/>
                            </a:rPr>
                            <m:t>𝑑</m:t>
                          </m:r>
                        </m:sup>
                      </m:sSup>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r>
                  <a:rPr lang="es-ES_tradnl" dirty="0"/>
                  <a:t>Lo que nos generará una frontera de decisión polinomial. </a:t>
                </a:r>
              </a:p>
              <a:p>
                <a:pPr defTabSz="578358">
                  <a:spcBef>
                    <a:spcPts val="3200"/>
                  </a:spcBef>
                  <a:defRPr sz="4554">
                    <a:latin typeface="Graphik Compact Regular"/>
                    <a:ea typeface="Graphik Compact Regular"/>
                    <a:cs typeface="Graphik Compact Regular"/>
                    <a:sym typeface="Graphik Compact Regular"/>
                  </a:defRPr>
                </a:pPr>
                <a:r>
                  <a:rPr lang="es-ES_tradnl" dirty="0"/>
                  <a:t>Otro </a:t>
                </a:r>
                <a:r>
                  <a:rPr lang="es-ES_tradnl" dirty="0" err="1"/>
                  <a:t>kernel</a:t>
                </a:r>
                <a:r>
                  <a:rPr lang="es-ES_tradnl" dirty="0"/>
                  <a:t> popular es </a:t>
                </a:r>
                <a:r>
                  <a:rPr lang="es-ES_tradnl" dirty="0" err="1"/>
                  <a:t>kernel</a:t>
                </a:r>
                <a:r>
                  <a:rPr lang="es-ES_tradnl" dirty="0"/>
                  <a:t> radial definido como:</a:t>
                </a:r>
              </a:p>
              <a:p>
                <a:pPr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r>
                                <a:rPr lang="en-US" i="1" smtClean="0">
                                  <a:latin typeface="Cambria Math" panose="02040503050406030204" pitchFamily="18" charset="0"/>
                                </a:rPr>
                                <m:t>’</m:t>
                              </m:r>
                            </m:sub>
                          </m:sSub>
                        </m:e>
                      </m:d>
                      <m:r>
                        <a:rPr lang="en-US" b="0" i="1" smtClean="0">
                          <a:latin typeface="Cambria Math" panose="02040503050406030204" pitchFamily="18" charset="0"/>
                        </a:rPr>
                        <m:t>=</m:t>
                      </m:r>
                      <m:r>
                        <a:rPr lang="en-US" b="0" i="1" smtClean="0">
                          <a:latin typeface="Cambria Math" panose="02040503050406030204" pitchFamily="18" charset="0"/>
                        </a:rPr>
                        <m:t>𝑒𝑥𝑝</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𝑝</m:t>
                              </m:r>
                            </m:sup>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e>
                                <m:sup>
                                  <m:r>
                                    <a:rPr lang="en-US" b="0" i="1" smtClean="0">
                                      <a:latin typeface="Cambria Math" panose="02040503050406030204" pitchFamily="18" charset="0"/>
                                    </a:rPr>
                                    <m:t>2</m:t>
                                  </m:r>
                                </m:sup>
                              </m:sSup>
                            </m:e>
                          </m:nary>
                        </m:e>
                      </m:d>
                    </m:oMath>
                  </m:oMathPara>
                </a14:m>
                <a:br>
                  <a:rPr lang="es-ES_tradnl" dirty="0"/>
                </a:br>
                <a:endParaRPr lang="es-ES_tradnl" dirty="0"/>
              </a:p>
              <a:p>
                <a:pPr defTabSz="578358">
                  <a:spcBef>
                    <a:spcPts val="3200"/>
                  </a:spcBef>
                  <a:defRPr sz="4554">
                    <a:latin typeface="Graphik Compact Regular"/>
                    <a:ea typeface="Graphik Compact Regular"/>
                    <a:cs typeface="Graphik Compact Regular"/>
                    <a:sym typeface="Graphik Compact Regular"/>
                  </a:defRPr>
                </a:pPr>
                <a:r>
                  <a:rPr lang="es-ES_tradnl" dirty="0"/>
                  <a:t>Donde </a:t>
                </a:r>
                <a:r>
                  <a:rPr lang="es-ES_tradnl" dirty="0" err="1"/>
                  <a:t>γ</a:t>
                </a:r>
                <a:r>
                  <a:rPr lang="es-ES_tradnl" dirty="0"/>
                  <a:t> es una constante positiva. Este </a:t>
                </a:r>
                <a:r>
                  <a:rPr lang="es-ES_tradnl" dirty="0" err="1"/>
                  <a:t>kernel</a:t>
                </a:r>
                <a:r>
                  <a:rPr lang="es-ES_tradnl" dirty="0"/>
                  <a:t> nos permite obtener fronteras radiales. Este </a:t>
                </a:r>
                <a:r>
                  <a:rPr lang="es-ES_tradnl" dirty="0" err="1"/>
                  <a:t>kernel</a:t>
                </a:r>
                <a:r>
                  <a:rPr lang="es-ES_tradnl" dirty="0"/>
                  <a:t> se basa en la </a:t>
                </a:r>
                <a:r>
                  <a:rPr lang="es-ES_tradnl" dirty="0">
                    <a:latin typeface="Graphik Compact Bold"/>
                    <a:ea typeface="Graphik Compact Bold"/>
                    <a:cs typeface="Graphik Compact Bold"/>
                    <a:sym typeface="Graphik Compact Bold"/>
                  </a:rPr>
                  <a:t>distancia euclidiana</a:t>
                </a:r>
                <a:r>
                  <a:rPr lang="es-ES_tradnl" dirty="0"/>
                  <a:t>, con un efecto muy local.</a:t>
                </a:r>
              </a:p>
            </p:txBody>
          </p:sp>
        </mc:Choice>
        <mc:Fallback xmlns="">
          <p:sp>
            <p:nvSpPr>
              <p:cNvPr id="531" name="Pero también podemos obtener un kernel polinomial de grado d (d&gt;1):…"/>
              <p:cNvSpPr txBox="1">
                <a:spLocks noGrp="1" noRot="1" noChangeAspect="1" noMove="1" noResize="1" noEditPoints="1" noAdjustHandles="1" noChangeArrowheads="1" noChangeShapeType="1" noTextEdit="1"/>
              </p:cNvSpPr>
              <p:nvPr>
                <p:ph type="body" idx="1"/>
              </p:nvPr>
            </p:nvSpPr>
            <p:spPr>
              <a:xfrm>
                <a:off x="1295400" y="3710394"/>
                <a:ext cx="21869400" cy="9225244"/>
              </a:xfrm>
              <a:prstGeom prst="rect">
                <a:avLst/>
              </a:prstGeom>
              <a:blipFill>
                <a:blip r:embed="rId2"/>
                <a:stretch>
                  <a:fillRect l="-1393" t="-14993" b="-16644"/>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A287F643-E44A-57FF-8548-51C23E12941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44</a:t>
            </a:fld>
            <a:endParaRPr lang="en-US" sz="2800" dirty="0"/>
          </a:p>
        </p:txBody>
      </p:sp>
    </p:spTree>
    <p:extLst>
      <p:ext uri="{BB962C8B-B14F-4D97-AF65-F5344CB8AC3E}">
        <p14:creationId xmlns:p14="http://schemas.microsoft.com/office/powerpoint/2010/main" val="396883311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mc:AlternateContent xmlns:mc="http://schemas.openxmlformats.org/markup-compatibility/2006" xmlns:a14="http://schemas.microsoft.com/office/drawing/2010/main">
        <mc:Choice Requires="a14">
          <p:sp>
            <p:nvSpPr>
              <p:cNvPr id="536" name="Por lo que podemos a la función de decisión de la máquina de vector de soportes como:…"/>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Por lo que podemos escribir a la función de decisión de la </a:t>
                </a:r>
                <a:r>
                  <a:rPr lang="es-ES_tradnl" dirty="0">
                    <a:latin typeface="Graphik Compact Bold"/>
                    <a:ea typeface="Graphik Compact Bold"/>
                    <a:cs typeface="Graphik Compact Bold"/>
                    <a:sym typeface="Graphik Compact Bold"/>
                  </a:rPr>
                  <a:t>máquina de vector de soportes</a:t>
                </a:r>
                <a:r>
                  <a:rPr lang="es-ES_tradnl" dirty="0"/>
                  <a:t> como:</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𝑓</m:t>
                      </m:r>
                      <m:d>
                        <m:dPr>
                          <m:ctrlPr>
                            <a:rPr lang="en-US" sz="5400" b="0" i="1" smtClean="0">
                              <a:latin typeface="Cambria Math" panose="02040503050406030204" pitchFamily="18" charset="0"/>
                            </a:rPr>
                          </m:ctrlPr>
                        </m:dPr>
                        <m:e>
                          <m:r>
                            <a:rPr lang="en-US" sz="5400" b="0" i="1" smtClean="0">
                              <a:latin typeface="Cambria Math" panose="02040503050406030204" pitchFamily="18" charset="0"/>
                            </a:rPr>
                            <m:t>𝑋</m:t>
                          </m:r>
                        </m:e>
                      </m:d>
                      <m:r>
                        <a:rPr lang="en-US" sz="5400" b="0" i="1" smtClean="0">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ℋ</m:t>
                          </m:r>
                        </m:sub>
                        <m:sup/>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rPr>
                                <m:t>𝑖</m:t>
                              </m:r>
                            </m:sub>
                          </m:sSub>
                          <m:r>
                            <a:rPr lang="en-US" i="1">
                              <a:latin typeface="Cambria Math" panose="02040503050406030204" pitchFamily="18" charset="0"/>
                            </a:rPr>
                            <m:t>𝐾</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i="1">
                                  <a:latin typeface="Cambria Math" panose="02040503050406030204" pitchFamily="18" charset="0"/>
                                </a:rPr>
                                <m:t>,</m:t>
                              </m:r>
                              <m:r>
                                <a:rPr lang="en-US" b="0" i="1" smtClean="0">
                                  <a:latin typeface="Cambria Math" panose="02040503050406030204" pitchFamily="18" charset="0"/>
                                </a:rPr>
                                <m:t>𝑋</m:t>
                              </m:r>
                            </m:e>
                          </m:d>
                        </m:e>
                      </m:nary>
                    </m:oMath>
                  </m:oMathPara>
                </a14:m>
                <a:br>
                  <a:rPr lang="es-ES_tradnl" dirty="0"/>
                </a:br>
                <a:r>
                  <a:rPr lang="es-ES_tradnl" dirty="0"/>
                  <a:t>En el entrenamiento, la importancia de los vectores de soporte y el </a:t>
                </a:r>
                <a:r>
                  <a:rPr lang="es-ES_tradnl" dirty="0" err="1"/>
                  <a:t>hiperparámetro</a:t>
                </a:r>
                <a:r>
                  <a:rPr lang="es-ES_tradnl" dirty="0"/>
                  <a:t> C se mantienen. La gran diferencia es que ahora las fronteras de decisión no son necesariamente lineales y determinada por la función </a:t>
                </a:r>
                <a:r>
                  <a:rPr lang="es-ES_tradnl" dirty="0" err="1">
                    <a:latin typeface="Graphik Compact Bold"/>
                    <a:ea typeface="Graphik Compact Bold"/>
                    <a:cs typeface="Graphik Compact Bold"/>
                    <a:sym typeface="Graphik Compact Bold"/>
                  </a:rPr>
                  <a:t>kernel</a:t>
                </a:r>
                <a:r>
                  <a:rPr lang="es-ES_tradnl" dirty="0">
                    <a:latin typeface="Graphik Compact Bold"/>
                    <a:ea typeface="Graphik Compact Bold"/>
                    <a:cs typeface="Graphik Compact Bold"/>
                    <a:sym typeface="Graphik Compact Bold"/>
                  </a:rPr>
                  <a:t> elegida</a:t>
                </a:r>
                <a:r>
                  <a:rPr lang="es-ES_tradnl" dirty="0"/>
                  <a:t>. </a:t>
                </a:r>
              </a:p>
            </p:txBody>
          </p:sp>
        </mc:Choice>
        <mc:Fallback xmlns="">
          <p:sp>
            <p:nvSpPr>
              <p:cNvPr id="536" name="Por lo que podemos a la función de decisión de la máquina de vector de soportes como:…"/>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1318" r="-696"/>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F6958890-9344-35CD-A9A0-2F9CB929E7AE}"/>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45</a:t>
            </a:fld>
            <a:endParaRPr lang="en-US" sz="2800" dirty="0"/>
          </a:p>
        </p:txBody>
      </p:sp>
    </p:spTree>
    <p:extLst>
      <p:ext uri="{BB962C8B-B14F-4D97-AF65-F5344CB8AC3E}">
        <p14:creationId xmlns:p14="http://schemas.microsoft.com/office/powerpoint/2010/main" val="1504380891"/>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p:pic>
        <p:nvPicPr>
          <p:cNvPr id="540" name="path3sss7xxxxx275.png" descr="path3sss7xxxxx275.png"/>
          <p:cNvPicPr>
            <a:picLocks noChangeAspect="1"/>
          </p:cNvPicPr>
          <p:nvPr/>
        </p:nvPicPr>
        <p:blipFill>
          <a:blip r:embed="rId2"/>
          <a:stretch>
            <a:fillRect/>
          </a:stretch>
        </p:blipFill>
        <p:spPr>
          <a:xfrm>
            <a:off x="4525962" y="4384885"/>
            <a:ext cx="15408276" cy="7349512"/>
          </a:xfrm>
          <a:prstGeom prst="rect">
            <a:avLst/>
          </a:prstGeom>
          <a:ln w="12700">
            <a:miter lim="400000"/>
          </a:ln>
        </p:spPr>
      </p:pic>
      <p:sp>
        <p:nvSpPr>
          <p:cNvPr id="541" name="Kernel polinomial de orden 3"/>
          <p:cNvSpPr txBox="1"/>
          <p:nvPr/>
        </p:nvSpPr>
        <p:spPr>
          <a:xfrm>
            <a:off x="6051175" y="11952971"/>
            <a:ext cx="5271251"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600" spc="-36"/>
            </a:lvl1pPr>
          </a:lstStyle>
          <a:p>
            <a:r>
              <a:rPr lang="es-ES_tradnl" dirty="0" err="1"/>
              <a:t>Kernel</a:t>
            </a:r>
            <a:r>
              <a:rPr lang="es-ES_tradnl" dirty="0"/>
              <a:t> polinomial de orden 3</a:t>
            </a:r>
          </a:p>
        </p:txBody>
      </p:sp>
      <p:sp>
        <p:nvSpPr>
          <p:cNvPr id="542" name="Kernel radial"/>
          <p:cNvSpPr txBox="1"/>
          <p:nvPr/>
        </p:nvSpPr>
        <p:spPr>
          <a:xfrm>
            <a:off x="15424478" y="11952971"/>
            <a:ext cx="2357312" cy="5457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600" spc="-36"/>
            </a:lvl1pPr>
          </a:lstStyle>
          <a:p>
            <a:r>
              <a:rPr lang="es-ES_tradnl" dirty="0" err="1"/>
              <a:t>Kernel</a:t>
            </a:r>
            <a:r>
              <a:rPr lang="es-ES_tradnl" dirty="0"/>
              <a:t> radial</a:t>
            </a:r>
          </a:p>
        </p:txBody>
      </p:sp>
      <p:sp>
        <p:nvSpPr>
          <p:cNvPr id="3" name="Slide Number Placeholder 5">
            <a:extLst>
              <a:ext uri="{FF2B5EF4-FFF2-40B4-BE49-F238E27FC236}">
                <a16:creationId xmlns:a16="http://schemas.microsoft.com/office/drawing/2014/main" id="{88FA8A6F-243E-EC80-E960-C93292C1032B}"/>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46</a:t>
            </a:fld>
            <a:endParaRPr lang="en-US" sz="2800" dirty="0"/>
          </a:p>
        </p:txBody>
      </p:sp>
    </p:spTree>
    <p:extLst>
      <p:ext uri="{BB962C8B-B14F-4D97-AF65-F5344CB8AC3E}">
        <p14:creationId xmlns:p14="http://schemas.microsoft.com/office/powerpoint/2010/main" val="3500314708"/>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Support vector machine"/>
          <p:cNvSpPr txBox="1">
            <a:spLocks noGrp="1"/>
          </p:cNvSpPr>
          <p:nvPr>
            <p:ph type="title"/>
          </p:nvPr>
        </p:nvSpPr>
        <p:spPr>
          <a:xfrm>
            <a:off x="1295400" y="1622629"/>
            <a:ext cx="21869400" cy="1778386"/>
          </a:xfrm>
          <a:prstGeom prst="rect">
            <a:avLst/>
          </a:prstGeom>
        </p:spPr>
        <p:txBody>
          <a:bodyPr/>
          <a:lstStyle/>
          <a:p>
            <a:r>
              <a:rPr lang="es-ES_tradnl"/>
              <a:t>Support vector machine</a:t>
            </a:r>
          </a:p>
        </p:txBody>
      </p:sp>
      <p:sp>
        <p:nvSpPr>
          <p:cNvPr id="545" name="Todo lo que estuvimos viendo, este clasificador es binario. Ese es su punto fuerte y está preparado para clasificar entre dos clases.…"/>
          <p:cNvSpPr txBox="1">
            <a:spLocks noGrp="1"/>
          </p:cNvSpPr>
          <p:nvPr>
            <p:ph type="body" idx="1"/>
          </p:nvPr>
        </p:nvSpPr>
        <p:spPr>
          <a:xfrm>
            <a:off x="1295400" y="3710394"/>
            <a:ext cx="21869400" cy="9532780"/>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Todo lo que estuvimos viendo, este clasificador es binario. Ese es su punto fuerte y está preparado para clasificar entre </a:t>
            </a:r>
            <a:r>
              <a:rPr lang="es-ES_tradnl" dirty="0">
                <a:latin typeface="Graphik Compact Bold"/>
                <a:ea typeface="Graphik Compact Bold"/>
                <a:cs typeface="Graphik Compact Bold"/>
                <a:sym typeface="Graphik Compact Bold"/>
              </a:rPr>
              <a:t>dos clases</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r>
              <a:rPr lang="es-ES_tradnl" dirty="0"/>
              <a:t>Cómo hacemos para clasificar con más de dos clases:</a:t>
            </a:r>
          </a:p>
          <a:p>
            <a:pPr marL="1322927" lvl="1" indent="-707612" defTabSz="554990">
              <a:spcBef>
                <a:spcPts val="3100"/>
              </a:spcBef>
              <a:buClr>
                <a:srgbClr val="000000"/>
              </a:buClr>
              <a:buSzPct val="100000"/>
              <a:buChar char="•"/>
              <a:defRPr sz="4370">
                <a:latin typeface="Graphik Compact Regular"/>
                <a:ea typeface="Graphik Compact Regular"/>
                <a:cs typeface="Graphik Compact Regular"/>
                <a:sym typeface="Graphik Compact Regular"/>
              </a:defRPr>
            </a:pPr>
            <a:r>
              <a:rPr lang="es-ES_tradnl" dirty="0" err="1">
                <a:latin typeface="Graphik Compact Bold"/>
                <a:ea typeface="Graphik Compact Bold"/>
                <a:cs typeface="Graphik Compact Bold"/>
                <a:sym typeface="Graphik Compact Bold"/>
              </a:rPr>
              <a:t>One</a:t>
            </a:r>
            <a:r>
              <a:rPr lang="es-ES_tradnl" dirty="0">
                <a:latin typeface="Graphik Compact Bold"/>
                <a:ea typeface="Graphik Compact Bold"/>
                <a:cs typeface="Graphik Compact Bold"/>
                <a:sym typeface="Graphik Compact Bold"/>
              </a:rPr>
              <a:t>-vs-</a:t>
            </a:r>
            <a:r>
              <a:rPr lang="es-ES_tradnl" dirty="0" err="1">
                <a:latin typeface="Graphik Compact Bold"/>
                <a:ea typeface="Graphik Compact Bold"/>
                <a:cs typeface="Graphik Compact Bold"/>
                <a:sym typeface="Graphik Compact Bold"/>
              </a:rPr>
              <a:t>one</a:t>
            </a:r>
            <a:r>
              <a:rPr lang="es-ES_tradnl" dirty="0"/>
              <a:t>: En este caso es comparar a cada clase con otra, construyendo un SVM para cada par posible de clases. Una vez que tenemos entrenados los </a:t>
            </a:r>
            <a:r>
              <a:rPr lang="es-ES_tradnl" dirty="0" err="1"/>
              <a:t>SVMs</a:t>
            </a:r>
            <a:r>
              <a:rPr lang="es-ES_tradnl" dirty="0"/>
              <a:t>, la clasificación final de una predicción en una clase particular es dada por la clase que más votada por los clasificadores.</a:t>
            </a:r>
          </a:p>
          <a:p>
            <a:pPr marL="1322927" lvl="1" indent="-707612" defTabSz="554990">
              <a:spcBef>
                <a:spcPts val="3100"/>
              </a:spcBef>
              <a:buClr>
                <a:srgbClr val="000000"/>
              </a:buClr>
              <a:buSzPct val="100000"/>
              <a:buChar char="•"/>
              <a:defRPr sz="4370">
                <a:latin typeface="Graphik Compact Regular"/>
                <a:ea typeface="Graphik Compact Regular"/>
                <a:cs typeface="Graphik Compact Regular"/>
                <a:sym typeface="Graphik Compact Regular"/>
              </a:defRPr>
            </a:pPr>
            <a:r>
              <a:rPr lang="es-ES_tradnl" dirty="0" err="1">
                <a:latin typeface="Graphik Compact Bold"/>
                <a:ea typeface="Graphik Compact Bold"/>
                <a:cs typeface="Graphik Compact Bold"/>
                <a:sym typeface="Graphik Compact Bold"/>
              </a:rPr>
              <a:t>One</a:t>
            </a:r>
            <a:r>
              <a:rPr lang="es-ES_tradnl" dirty="0">
                <a:latin typeface="Graphik Compact Bold"/>
                <a:ea typeface="Graphik Compact Bold"/>
                <a:cs typeface="Graphik Compact Bold"/>
                <a:sym typeface="Graphik Compact Bold"/>
              </a:rPr>
              <a:t>-vs-</a:t>
            </a:r>
            <a:r>
              <a:rPr lang="es-ES_tradnl" dirty="0" err="1">
                <a:latin typeface="Graphik Compact Bold"/>
                <a:ea typeface="Graphik Compact Bold"/>
                <a:cs typeface="Graphik Compact Bold"/>
                <a:sym typeface="Graphik Compact Bold"/>
              </a:rPr>
              <a:t>all</a:t>
            </a:r>
            <a:r>
              <a:rPr lang="es-ES_tradnl" dirty="0"/>
              <a:t>: En este caso comparamos una clase contra el resto de las clases. Por lo que tendremos K </a:t>
            </a:r>
            <a:r>
              <a:rPr lang="es-ES_tradnl" dirty="0" err="1"/>
              <a:t>SVMs</a:t>
            </a:r>
            <a:r>
              <a:rPr lang="es-ES_tradnl" dirty="0"/>
              <a:t>, cada uno entrenado para comparar una clase en particular contra las restantes como un solo conjunto. Se asigna la clase a una predicción para el modelo que predice la clase con mayor confidencia usando los f(X) de los </a:t>
            </a:r>
            <a:r>
              <a:rPr lang="es-ES_tradnl" dirty="0" err="1"/>
              <a:t>SVMs</a:t>
            </a:r>
            <a:r>
              <a:rPr lang="es-ES_tradnl" dirty="0"/>
              <a:t>.</a:t>
            </a:r>
          </a:p>
        </p:txBody>
      </p:sp>
      <p:sp>
        <p:nvSpPr>
          <p:cNvPr id="3" name="Slide Number Placeholder 5">
            <a:extLst>
              <a:ext uri="{FF2B5EF4-FFF2-40B4-BE49-F238E27FC236}">
                <a16:creationId xmlns:a16="http://schemas.microsoft.com/office/drawing/2014/main" id="{8617B7F2-6E35-B1A5-C064-5E446DC117D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47</a:t>
            </a:fld>
            <a:endParaRPr lang="en-US" sz="2800" dirty="0"/>
          </a:p>
        </p:txBody>
      </p:sp>
    </p:spTree>
    <p:extLst>
      <p:ext uri="{BB962C8B-B14F-4D97-AF65-F5344CB8AC3E}">
        <p14:creationId xmlns:p14="http://schemas.microsoft.com/office/powerpoint/2010/main" val="4257015144"/>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Support Vector Machine en regresión"/>
          <p:cNvSpPr txBox="1">
            <a:spLocks noGrp="1"/>
          </p:cNvSpPr>
          <p:nvPr>
            <p:ph type="body" sz="half" idx="1"/>
          </p:nvPr>
        </p:nvSpPr>
        <p:spPr>
          <a:prstGeom prst="rect">
            <a:avLst/>
          </a:prstGeom>
        </p:spPr>
        <p:txBody>
          <a:bodyPr/>
          <a:lstStyle>
            <a:lvl1pPr>
              <a:defRPr>
                <a:solidFill>
                  <a:srgbClr val="FFFFFF"/>
                </a:solidFill>
              </a:defRPr>
            </a:lvl1pPr>
          </a:lstStyle>
          <a:p>
            <a:r>
              <a:rPr dirty="0">
                <a:solidFill>
                  <a:schemeClr val="tx1"/>
                </a:solidFill>
              </a:rPr>
              <a:t>Support Vector Machine </a:t>
            </a:r>
            <a:r>
              <a:rPr dirty="0" err="1">
                <a:solidFill>
                  <a:schemeClr val="tx1"/>
                </a:solidFill>
              </a:rPr>
              <a:t>en</a:t>
            </a:r>
            <a:r>
              <a:rPr dirty="0">
                <a:solidFill>
                  <a:schemeClr val="tx1"/>
                </a:solidFill>
              </a:rPr>
              <a:t> </a:t>
            </a:r>
            <a:r>
              <a:rPr dirty="0" err="1">
                <a:solidFill>
                  <a:schemeClr val="tx1"/>
                </a:solidFill>
              </a:rPr>
              <a:t>regresión</a:t>
            </a:r>
            <a:endParaRPr dirty="0">
              <a:solidFill>
                <a:schemeClr val="tx1"/>
              </a:solidFill>
            </a:endParaRPr>
          </a:p>
        </p:txBody>
      </p:sp>
    </p:spTree>
    <p:extLst>
      <p:ext uri="{BB962C8B-B14F-4D97-AF65-F5344CB8AC3E}">
        <p14:creationId xmlns:p14="http://schemas.microsoft.com/office/powerpoint/2010/main" val="3993164364"/>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Support Vector Machine en regresión"/>
          <p:cNvSpPr txBox="1">
            <a:spLocks noGrp="1"/>
          </p:cNvSpPr>
          <p:nvPr>
            <p:ph type="title"/>
          </p:nvPr>
        </p:nvSpPr>
        <p:spPr>
          <a:xfrm>
            <a:off x="1295400" y="1622629"/>
            <a:ext cx="21869400" cy="1778386"/>
          </a:xfrm>
          <a:prstGeom prst="rect">
            <a:avLst/>
          </a:prstGeom>
        </p:spPr>
        <p:txBody>
          <a:bodyPr/>
          <a:lstStyle>
            <a:lvl1pPr defTabSz="479044">
              <a:defRPr sz="8200" spc="-328"/>
            </a:lvl1pPr>
          </a:lstStyle>
          <a:p>
            <a:r>
              <a:rPr lang="es-ES_tradnl"/>
              <a:t>Support Vector Machine en regresión</a:t>
            </a:r>
          </a:p>
        </p:txBody>
      </p:sp>
      <mc:AlternateContent xmlns:mc="http://schemas.openxmlformats.org/markup-compatibility/2006" xmlns:a14="http://schemas.microsoft.com/office/drawing/2010/main">
        <mc:Choice Requires="a14">
          <p:sp>
            <p:nvSpPr>
              <p:cNvPr id="550" name="Hasta ahora vimos a los SVM como un modelo de clasificación, y son más popular como modelo de clasificación pero podemos usar esta idea para realizar regresiones.…"/>
              <p:cNvSpPr txBox="1">
                <a:spLocks noGrp="1"/>
              </p:cNvSpPr>
              <p:nvPr>
                <p:ph type="body" idx="1"/>
              </p:nvPr>
            </p:nvSpPr>
            <p:spPr>
              <a:xfrm>
                <a:off x="1295400" y="3710394"/>
                <a:ext cx="21869400" cy="9532780"/>
              </a:xfrm>
              <a:prstGeom prst="rect">
                <a:avLst/>
              </a:prstGeom>
            </p:spPr>
            <p:txBody>
              <a:bodyPr>
                <a:normAutofit/>
              </a:bodyPr>
              <a:lstStyle/>
              <a:p>
                <a:pPr defTabSz="578358">
                  <a:spcBef>
                    <a:spcPts val="3200"/>
                  </a:spcBef>
                  <a:defRPr sz="4554">
                    <a:latin typeface="Graphik Compact Regular"/>
                    <a:ea typeface="Graphik Compact Regular"/>
                    <a:cs typeface="Graphik Compact Regular"/>
                    <a:sym typeface="Graphik Compact Regular"/>
                  </a:defRPr>
                </a:pPr>
                <a:r>
                  <a:rPr lang="es-ES_tradnl" dirty="0"/>
                  <a:t>Hasta ahora vimos a los SVM como un modelo de clasificación, y son más popular como modelo de clasificación, pero podemos usar esta idea para realizar regresiones.</a:t>
                </a:r>
              </a:p>
              <a:p>
                <a:pPr defTabSz="578358">
                  <a:spcBef>
                    <a:spcPts val="3200"/>
                  </a:spcBef>
                  <a:defRPr sz="4554">
                    <a:latin typeface="Graphik Compact Regular"/>
                    <a:ea typeface="Graphik Compact Regular"/>
                    <a:cs typeface="Graphik Compact Regular"/>
                    <a:sym typeface="Graphik Compact Regular"/>
                  </a:defRPr>
                </a:pPr>
                <a:r>
                  <a:rPr lang="es-ES_tradnl" dirty="0"/>
                  <a:t>Con solo cambiar la restricción, entendiendo que ahora tenemos que predecir un target continuo. </a:t>
                </a:r>
              </a:p>
              <a:p>
                <a:pPr defTabSz="578358">
                  <a:spcBef>
                    <a:spcPts val="3200"/>
                  </a:spcBef>
                  <a:defRPr sz="4554">
                    <a:latin typeface="Graphik Compact Regular"/>
                    <a:ea typeface="Graphik Compact Regular"/>
                    <a:cs typeface="Graphik Compact Regular"/>
                    <a:sym typeface="Graphik Compact Regular"/>
                  </a:defRPr>
                </a:pPr>
                <a:r>
                  <a:rPr lang="es-ES_tradnl" dirty="0"/>
                  <a:t>Si cambiamos la restricción del </a:t>
                </a:r>
                <a:r>
                  <a:rPr lang="es-ES_tradnl" dirty="0" err="1">
                    <a:latin typeface="Graphik Compact Bold"/>
                    <a:ea typeface="Graphik Compact Bold"/>
                    <a:cs typeface="Graphik Compact Bold"/>
                    <a:sym typeface="Graphik Compact Bold"/>
                  </a:rPr>
                  <a:t>Maximal</a:t>
                </a:r>
                <a:r>
                  <a:rPr lang="es-ES_tradnl" dirty="0">
                    <a:latin typeface="Graphik Compact Bold"/>
                    <a:ea typeface="Graphik Compact Bold"/>
                    <a:cs typeface="Graphik Compact Bold"/>
                    <a:sym typeface="Graphik Compact Bold"/>
                  </a:rPr>
                  <a:t> </a:t>
                </a:r>
                <a:r>
                  <a:rPr lang="es-ES_tradnl" dirty="0" err="1">
                    <a:latin typeface="Graphik Compact Bold"/>
                    <a:ea typeface="Graphik Compact Bold"/>
                    <a:cs typeface="Graphik Compact Bold"/>
                    <a:sym typeface="Graphik Compact Bold"/>
                  </a:rPr>
                  <a:t>Margin</a:t>
                </a:r>
                <a:r>
                  <a:rPr lang="es-ES_tradnl" dirty="0">
                    <a:latin typeface="Graphik Compact Bold"/>
                    <a:ea typeface="Graphik Compact Bold"/>
                    <a:cs typeface="Graphik Compact Bold"/>
                    <a:sym typeface="Graphik Compact Bold"/>
                  </a:rPr>
                  <a:t> </a:t>
                </a:r>
                <a:r>
                  <a:rPr lang="es-ES_tradnl" dirty="0" err="1">
                    <a:latin typeface="Graphik Compact Bold"/>
                    <a:ea typeface="Graphik Compact Bold"/>
                    <a:cs typeface="Graphik Compact Bold"/>
                    <a:sym typeface="Graphik Compact Bold"/>
                  </a:rPr>
                  <a:t>Classifier</a:t>
                </a:r>
                <a:r>
                  <a:rPr lang="es-ES_tradnl" dirty="0"/>
                  <a:t>:</a:t>
                </a:r>
                <a:br>
                  <a:rPr lang="es-ES_tradnl" dirty="0"/>
                </a:br>
                <a:endParaRPr lang="es-ES_tradnl" dirty="0"/>
              </a:p>
              <a:p>
                <a:pPr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800" i="1" smtClean="0">
                              <a:latin typeface="Cambria Math" panose="02040503050406030204" pitchFamily="18" charset="0"/>
                            </a:rPr>
                          </m:ctrlPr>
                        </m:sSubPr>
                        <m:e>
                          <m:r>
                            <a:rPr lang="en-US" sz="4800" i="1">
                              <a:latin typeface="Cambria Math" panose="02040503050406030204" pitchFamily="18" charset="0"/>
                            </a:rPr>
                            <m:t>𝑦</m:t>
                          </m:r>
                        </m:e>
                        <m:sub>
                          <m:r>
                            <a:rPr lang="en-US" sz="4800" i="1">
                              <a:latin typeface="Cambria Math" panose="02040503050406030204" pitchFamily="18" charset="0"/>
                            </a:rPr>
                            <m:t>𝑖</m:t>
                          </m:r>
                        </m:sub>
                      </m:sSub>
                      <m:d>
                        <m:dPr>
                          <m:ctrlPr>
                            <a:rPr lang="en-US" sz="4800" i="1">
                              <a:latin typeface="Cambria Math" panose="02040503050406030204" pitchFamily="18" charset="0"/>
                            </a:rPr>
                          </m:ctrlPr>
                        </m:dPr>
                        <m:e>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0</m:t>
                              </m:r>
                            </m:sub>
                          </m:sSub>
                          <m:r>
                            <a:rPr lang="en-US" sz="4800" i="1">
                              <a:latin typeface="Cambria Math" panose="02040503050406030204" pitchFamily="18" charset="0"/>
                            </a:rPr>
                            <m:t>+</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1</m:t>
                              </m:r>
                            </m:sub>
                          </m:sSub>
                          <m:sSub>
                            <m:sSubPr>
                              <m:ctrlPr>
                                <a:rPr lang="es-ES_tradnl" sz="4800" i="1">
                                  <a:latin typeface="Cambria Math" panose="02040503050406030204" pitchFamily="18" charset="0"/>
                                </a:rPr>
                              </m:ctrlPr>
                            </m:sSubPr>
                            <m:e>
                              <m:r>
                                <a:rPr lang="en-US" sz="4800" i="1">
                                  <a:latin typeface="Cambria Math" panose="02040503050406030204" pitchFamily="18" charset="0"/>
                                </a:rPr>
                                <m:t>𝑥</m:t>
                              </m:r>
                            </m:e>
                            <m:sub>
                              <m:r>
                                <a:rPr lang="en-US" sz="4800" i="1">
                                  <a:latin typeface="Cambria Math" panose="02040503050406030204" pitchFamily="18" charset="0"/>
                                </a:rPr>
                                <m:t>𝑖</m:t>
                              </m:r>
                              <m:r>
                                <a:rPr lang="en-US" sz="4800" i="1">
                                  <a:latin typeface="Cambria Math" panose="02040503050406030204" pitchFamily="18" charset="0"/>
                                </a:rPr>
                                <m:t>1</m:t>
                              </m:r>
                            </m:sub>
                          </m:sSub>
                          <m:r>
                            <m:rPr>
                              <m:nor/>
                            </m:rPr>
                            <a:rPr lang="es-ES_tradnl" sz="4800" dirty="0"/>
                            <m:t>+ … +</m:t>
                          </m:r>
                          <m:sSub>
                            <m:sSubPr>
                              <m:ctrlPr>
                                <a:rPr lang="es-ES_tradnl" sz="4800" i="1">
                                  <a:latin typeface="Cambria Math" panose="02040503050406030204" pitchFamily="18" charset="0"/>
                                </a:rPr>
                              </m:ctrlPr>
                            </m:sSubPr>
                            <m:e>
                              <m:r>
                                <a:rPr lang="es-ES_tradnl" sz="4800" i="1">
                                  <a:latin typeface="Cambria Math" panose="02040503050406030204" pitchFamily="18" charset="0"/>
                                  <a:ea typeface="Cambria Math" panose="02040503050406030204" pitchFamily="18" charset="0"/>
                                </a:rPr>
                                <m:t>𝛽</m:t>
                              </m:r>
                            </m:e>
                            <m:sub>
                              <m:r>
                                <a:rPr lang="en-US" sz="4800" i="1">
                                  <a:latin typeface="Cambria Math" panose="02040503050406030204" pitchFamily="18" charset="0"/>
                                </a:rPr>
                                <m:t>𝑝</m:t>
                              </m:r>
                            </m:sub>
                          </m:sSub>
                          <m:r>
                            <m:rPr>
                              <m:nor/>
                            </m:rPr>
                            <a:rPr lang="es-ES_tradnl" sz="4800" dirty="0"/>
                            <m:t> </m:t>
                          </m:r>
                          <m:sSub>
                            <m:sSubPr>
                              <m:ctrlPr>
                                <a:rPr lang="es-ES_tradnl" sz="4800" i="1">
                                  <a:latin typeface="Cambria Math" panose="02040503050406030204" pitchFamily="18" charset="0"/>
                                </a:rPr>
                              </m:ctrlPr>
                            </m:sSubPr>
                            <m:e>
                              <m:r>
                                <a:rPr lang="en-US" sz="4800" i="1">
                                  <a:latin typeface="Cambria Math" panose="02040503050406030204" pitchFamily="18" charset="0"/>
                                </a:rPr>
                                <m:t>𝑥</m:t>
                              </m:r>
                            </m:e>
                            <m:sub>
                              <m:r>
                                <a:rPr lang="en-US" sz="4800" i="1">
                                  <a:latin typeface="Cambria Math" panose="02040503050406030204" pitchFamily="18" charset="0"/>
                                </a:rPr>
                                <m:t>𝑖𝑝</m:t>
                              </m:r>
                            </m:sub>
                          </m:sSub>
                        </m:e>
                      </m:d>
                      <m:r>
                        <a:rPr lang="en-US" sz="4800" i="1" smtClean="0">
                          <a:latin typeface="Cambria Math" panose="02040503050406030204" pitchFamily="18" charset="0"/>
                          <a:ea typeface="Cambria Math" panose="02040503050406030204" pitchFamily="18" charset="0"/>
                        </a:rPr>
                        <m:t>≥</m:t>
                      </m:r>
                      <m:r>
                        <a:rPr lang="en-US" sz="4800" i="1">
                          <a:latin typeface="Cambria Math" panose="02040503050406030204" pitchFamily="18" charset="0"/>
                        </a:rPr>
                        <m:t>𝑀</m:t>
                      </m:r>
                      <m:r>
                        <a:rPr lang="en-US" sz="4800" b="0" i="1" smtClean="0">
                          <a:latin typeface="Cambria Math" panose="02040503050406030204" pitchFamily="18" charset="0"/>
                        </a:rPr>
                        <m:t>       </m:t>
                      </m:r>
                      <m:r>
                        <a:rPr lang="en-US" sz="4800" i="1">
                          <a:latin typeface="Cambria Math" panose="02040503050406030204" pitchFamily="18" charset="0"/>
                        </a:rPr>
                        <m:t>∀</m:t>
                      </m:r>
                      <m:r>
                        <a:rPr lang="en-US" sz="4800" i="1">
                          <a:latin typeface="Cambria Math" panose="02040503050406030204" pitchFamily="18" charset="0"/>
                        </a:rPr>
                        <m:t>𝑖</m:t>
                      </m:r>
                      <m:r>
                        <a:rPr lang="en-US" sz="4800" i="1">
                          <a:latin typeface="Cambria Math" panose="02040503050406030204" pitchFamily="18" charset="0"/>
                        </a:rPr>
                        <m:t>=1, 2,…,</m:t>
                      </m:r>
                      <m:r>
                        <a:rPr lang="en-US" sz="4800" i="1">
                          <a:latin typeface="Cambria Math" panose="02040503050406030204" pitchFamily="18" charset="0"/>
                        </a:rPr>
                        <m:t>𝑛</m:t>
                      </m:r>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r>
                  <a:rPr lang="es-ES_tradnl" dirty="0"/>
                  <a:t>por </a:t>
                </a:r>
              </a:p>
              <a:p>
                <a:pPr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𝑚</m:t>
                      </m:r>
                      <m:r>
                        <a:rPr lang="en-US" sz="4400" i="1" smtClean="0">
                          <a:latin typeface="Cambria Math" panose="02040503050406030204" pitchFamily="18" charset="0"/>
                          <a:ea typeface="Cambria Math" panose="02040503050406030204" pitchFamily="18" charset="0"/>
                        </a:rPr>
                        <m:t>≤</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𝑏</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𝑏</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𝑏</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𝑖𝑝</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𝑚</m:t>
                      </m:r>
                      <m:r>
                        <a:rPr lang="en-US" sz="4400" b="0" i="1" smtClean="0">
                          <a:latin typeface="Cambria Math" panose="02040503050406030204" pitchFamily="18" charset="0"/>
                          <a:ea typeface="Cambria Math" panose="02040503050406030204" pitchFamily="18" charset="0"/>
                        </a:rPr>
                        <m:t>    ∀</m:t>
                      </m:r>
                      <m:r>
                        <a:rPr lang="en-US" sz="4400" i="1">
                          <a:latin typeface="Cambria Math" panose="02040503050406030204" pitchFamily="18" charset="0"/>
                        </a:rPr>
                        <m:t>𝑖</m:t>
                      </m:r>
                      <m:r>
                        <a:rPr lang="en-US" sz="4400" i="1">
                          <a:latin typeface="Cambria Math" panose="02040503050406030204" pitchFamily="18" charset="0"/>
                        </a:rPr>
                        <m:t>=1, 2,…,</m:t>
                      </m:r>
                      <m:r>
                        <a:rPr lang="en-US" sz="4400" i="1">
                          <a:latin typeface="Cambria Math" panose="02040503050406030204" pitchFamily="18" charset="0"/>
                        </a:rPr>
                        <m:t>𝑛</m:t>
                      </m:r>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r>
                  <a:rPr lang="es-ES_tradnl" dirty="0"/>
                  <a:t>podemos realizar regresiones.</a:t>
                </a:r>
              </a:p>
            </p:txBody>
          </p:sp>
        </mc:Choice>
        <mc:Fallback xmlns="">
          <p:sp>
            <p:nvSpPr>
              <p:cNvPr id="550" name="Hasta ahora vimos a los SVM como un modelo de clasificación, y son más popular como modelo de clasificación pero podemos usar esta idea para realizar regresiones.…"/>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332"/>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B31C2B11-2DED-34D0-D5DC-331F82A0631F}"/>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49</a:t>
            </a:fld>
            <a:endParaRPr lang="en-US" sz="2800" dirty="0"/>
          </a:p>
        </p:txBody>
      </p:sp>
    </p:spTree>
    <p:extLst>
      <p:ext uri="{BB962C8B-B14F-4D97-AF65-F5344CB8AC3E}">
        <p14:creationId xmlns:p14="http://schemas.microsoft.com/office/powerpoint/2010/main" val="3937308722"/>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 name="Support Vector Machine en regresión"/>
          <p:cNvSpPr txBox="1">
            <a:spLocks noGrp="1"/>
          </p:cNvSpPr>
          <p:nvPr>
            <p:ph type="title"/>
          </p:nvPr>
        </p:nvSpPr>
        <p:spPr>
          <a:xfrm>
            <a:off x="1295400" y="1622629"/>
            <a:ext cx="21869400" cy="1778386"/>
          </a:xfrm>
          <a:prstGeom prst="rect">
            <a:avLst/>
          </a:prstGeom>
        </p:spPr>
        <p:txBody>
          <a:bodyPr/>
          <a:lstStyle>
            <a:lvl1pPr defTabSz="479044">
              <a:defRPr sz="8200" spc="-328"/>
            </a:lvl1pPr>
          </a:lstStyle>
          <a:p>
            <a:r>
              <a:rPr lang="es-ES_tradnl"/>
              <a:t>Support Vector Machine en regresión</a:t>
            </a:r>
          </a:p>
        </p:txBody>
      </p:sp>
      <p:sp>
        <p:nvSpPr>
          <p:cNvPr id="559" name="Lo que se optimiza ahora es el hiperplano que mejor que logra meter a todos los puntos de entrenamiento dentro del margen, minimizando el valor del margen."/>
          <p:cNvSpPr txBox="1">
            <a:spLocks noGrp="1"/>
          </p:cNvSpPr>
          <p:nvPr>
            <p:ph type="body" idx="1"/>
          </p:nvPr>
        </p:nvSpPr>
        <p:spPr>
          <a:xfrm>
            <a:off x="1295400" y="3710394"/>
            <a:ext cx="21869400" cy="9532780"/>
          </a:xfrm>
          <a:prstGeom prst="rect">
            <a:avLst/>
          </a:prstGeom>
        </p:spPr>
        <p:txBody>
          <a:bodyPr/>
          <a:lstStyle>
            <a:lvl1pPr>
              <a:defRPr sz="4600">
                <a:latin typeface="Graphik Compact Regular"/>
                <a:ea typeface="Graphik Compact Regular"/>
                <a:cs typeface="Graphik Compact Regular"/>
                <a:sym typeface="Graphik Compact Regular"/>
              </a:defRPr>
            </a:lvl1pPr>
          </a:lstStyle>
          <a:p>
            <a:r>
              <a:rPr lang="es-ES_tradnl" dirty="0"/>
              <a:t>Lo que se optimiza ahora es el hiperplano que mejor que logra meter a todos los puntos de entrenamiento dentro del margen, minimizando el valor del margen. </a:t>
            </a:r>
          </a:p>
        </p:txBody>
      </p:sp>
      <p:pic>
        <p:nvPicPr>
          <p:cNvPr id="560" name="text15dsds97s0.png" descr="text15dsds97s0.png"/>
          <p:cNvPicPr>
            <a:picLocks noChangeAspect="1"/>
          </p:cNvPicPr>
          <p:nvPr/>
        </p:nvPicPr>
        <p:blipFill>
          <a:blip r:embed="rId2"/>
          <a:stretch>
            <a:fillRect/>
          </a:stretch>
        </p:blipFill>
        <p:spPr>
          <a:xfrm>
            <a:off x="1234458" y="5724702"/>
            <a:ext cx="7650707" cy="7661429"/>
          </a:xfrm>
          <a:prstGeom prst="rect">
            <a:avLst/>
          </a:prstGeom>
          <a:ln w="12700">
            <a:miter lim="400000"/>
          </a:ln>
        </p:spPr>
      </p:pic>
      <p:sp>
        <p:nvSpPr>
          <p:cNvPr id="562" name="Entonces una vez que se tiene el modelo entrenado, se puede usar para regresión con la formula:"/>
          <p:cNvSpPr txBox="1"/>
          <p:nvPr/>
        </p:nvSpPr>
        <p:spPr>
          <a:xfrm>
            <a:off x="9151412" y="5878612"/>
            <a:ext cx="14426135" cy="12352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4600" spc="-45"/>
            </a:lvl1pPr>
          </a:lstStyle>
          <a:p>
            <a:r>
              <a:rPr lang="es-ES_tradnl" dirty="0"/>
              <a:t>Entonces una vez que se tiene el modelo entrenado, se puede usar para regresión con la formula:</a:t>
            </a:r>
          </a:p>
        </p:txBody>
      </p:sp>
      <p:sp>
        <p:nvSpPr>
          <p:cNvPr id="3" name="Slide Number Placeholder 5">
            <a:extLst>
              <a:ext uri="{FF2B5EF4-FFF2-40B4-BE49-F238E27FC236}">
                <a16:creationId xmlns:a16="http://schemas.microsoft.com/office/drawing/2014/main" id="{4D87DF4E-2C9D-916D-9A2D-3714454883B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50</a:t>
            </a:fld>
            <a:endParaRPr lang="en-US" sz="2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D9F876-DC54-38FB-EC8D-E589E81136F7}"/>
                  </a:ext>
                </a:extLst>
              </p:cNvPr>
              <p:cNvSpPr txBox="1"/>
              <p:nvPr/>
            </p:nvSpPr>
            <p:spPr>
              <a:xfrm>
                <a:off x="10267166" y="7628154"/>
                <a:ext cx="12194626" cy="6758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𝑋</m:t>
                          </m:r>
                        </m:e>
                      </m:d>
                      <m:r>
                        <a:rPr lang="en-US" sz="4400" b="0" i="1" smtClean="0">
                          <a:latin typeface="Cambria Math" panose="02040503050406030204" pitchFamily="18" charset="0"/>
                        </a:rPr>
                        <m:t>=</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𝑏</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smtClean="0">
                              <a:latin typeface="Cambria Math" panose="02040503050406030204" pitchFamily="18" charset="0"/>
                            </a:rPr>
                          </m:ctrlPr>
                        </m:sSubPr>
                        <m:e>
                          <m:r>
                            <a:rPr lang="en-US" sz="4400" b="0" i="1" smtClean="0">
                              <a:latin typeface="Cambria Math" panose="02040503050406030204" pitchFamily="18" charset="0"/>
                            </a:rPr>
                            <m:t>𝑏</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𝑏</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𝑝</m:t>
                          </m:r>
                        </m:sub>
                      </m:sSub>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ECD9F876-DC54-38FB-EC8D-E589E81136F7}"/>
                  </a:ext>
                </a:extLst>
              </p:cNvPr>
              <p:cNvSpPr txBox="1">
                <a:spLocks noRot="1" noChangeAspect="1" noMove="1" noResize="1" noEditPoints="1" noAdjustHandles="1" noChangeArrowheads="1" noChangeShapeType="1" noTextEdit="1"/>
              </p:cNvSpPr>
              <p:nvPr/>
            </p:nvSpPr>
            <p:spPr>
              <a:xfrm>
                <a:off x="10267166" y="7628154"/>
                <a:ext cx="12194626" cy="675826"/>
              </a:xfrm>
              <a:prstGeom prst="rect">
                <a:avLst/>
              </a:prstGeom>
              <a:blipFill>
                <a:blip r:embed="rId3"/>
                <a:stretch>
                  <a:fillRect t="-38889" b="-29630"/>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569680276"/>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Support Vector Machine en regresión"/>
          <p:cNvSpPr txBox="1">
            <a:spLocks noGrp="1"/>
          </p:cNvSpPr>
          <p:nvPr>
            <p:ph type="title"/>
          </p:nvPr>
        </p:nvSpPr>
        <p:spPr>
          <a:xfrm>
            <a:off x="1295400" y="1622629"/>
            <a:ext cx="21869400" cy="1778386"/>
          </a:xfrm>
          <a:prstGeom prst="rect">
            <a:avLst/>
          </a:prstGeom>
        </p:spPr>
        <p:txBody>
          <a:bodyPr/>
          <a:lstStyle>
            <a:lvl1pPr defTabSz="479044">
              <a:defRPr sz="8200" spc="-328"/>
            </a:lvl1pPr>
          </a:lstStyle>
          <a:p>
            <a:r>
              <a:rPr lang="es-ES_tradnl"/>
              <a:t>Support Vector Machine en regresión</a:t>
            </a:r>
          </a:p>
        </p:txBody>
      </p:sp>
      <p:sp>
        <p:nvSpPr>
          <p:cNvPr id="565" name="Lo que se optimiza ahora es el hiperplano que mejor que logra meter a todos los puntos de entrenamiento dentro del margen, minimizando el valor del margen."/>
          <p:cNvSpPr txBox="1">
            <a:spLocks noGrp="1"/>
          </p:cNvSpPr>
          <p:nvPr>
            <p:ph type="body" idx="1"/>
          </p:nvPr>
        </p:nvSpPr>
        <p:spPr>
          <a:xfrm>
            <a:off x="1295400" y="3710394"/>
            <a:ext cx="21869400" cy="9532780"/>
          </a:xfrm>
          <a:prstGeom prst="rect">
            <a:avLst/>
          </a:prstGeom>
        </p:spPr>
        <p:txBody>
          <a:bodyPr/>
          <a:lstStyle>
            <a:lvl1pPr>
              <a:defRPr sz="4600">
                <a:latin typeface="Graphik Compact Regular"/>
                <a:ea typeface="Graphik Compact Regular"/>
                <a:cs typeface="Graphik Compact Regular"/>
                <a:sym typeface="Graphik Compact Regular"/>
              </a:defRPr>
            </a:lvl1pPr>
          </a:lstStyle>
          <a:p>
            <a:r>
              <a:rPr lang="es-ES_tradnl" dirty="0"/>
              <a:t>Lo que se optimiza ahora es el hiperplano que mejor que logra meter a todos los puntos de entrenamiento dentro del margen, minimizando el valor del margen. </a:t>
            </a:r>
          </a:p>
        </p:txBody>
      </p:sp>
      <p:pic>
        <p:nvPicPr>
          <p:cNvPr id="566" name="text15dsds972.png" descr="text15dsds972.png"/>
          <p:cNvPicPr>
            <a:picLocks noChangeAspect="1"/>
          </p:cNvPicPr>
          <p:nvPr/>
        </p:nvPicPr>
        <p:blipFill>
          <a:blip r:embed="rId2"/>
          <a:srcRect l="69" r="69"/>
          <a:stretch>
            <a:fillRect/>
          </a:stretch>
        </p:blipFill>
        <p:spPr>
          <a:xfrm>
            <a:off x="1234458" y="5724702"/>
            <a:ext cx="7650707" cy="7661429"/>
          </a:xfrm>
          <a:prstGeom prst="rect">
            <a:avLst/>
          </a:prstGeom>
          <a:ln w="12700">
            <a:miter lim="400000"/>
          </a:ln>
        </p:spPr>
      </p:pic>
      <p:sp>
        <p:nvSpPr>
          <p:cNvPr id="567" name="Entonces una vez que se tiene el modelo entrenado, se puede usar para regresión con la formula:…"/>
          <p:cNvSpPr txBox="1"/>
          <p:nvPr/>
        </p:nvSpPr>
        <p:spPr>
          <a:xfrm>
            <a:off x="9151412" y="6101336"/>
            <a:ext cx="14426135" cy="60221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algn="l">
              <a:defRPr sz="4600" spc="-45"/>
            </a:pPr>
            <a:r>
              <a:rPr lang="es-ES_tradnl" dirty="0"/>
              <a:t>Entonces una vez que se tiene el modelo entrenado, se puede usar para regresión con la formula:</a:t>
            </a:r>
          </a:p>
          <a:p>
            <a:pPr algn="l">
              <a:defRPr sz="4600" spc="-45"/>
            </a:pPr>
            <a:endParaRPr lang="es-ES_tradnl" dirty="0"/>
          </a:p>
          <a:p>
            <a:pPr algn="l">
              <a:defRPr sz="4600" spc="-45"/>
            </a:pPr>
            <a:endParaRPr lang="es-ES_tradnl" dirty="0"/>
          </a:p>
          <a:p>
            <a:pPr algn="l">
              <a:defRPr sz="4600" spc="-45"/>
            </a:pPr>
            <a:r>
              <a:rPr lang="es-ES_tradnl" dirty="0"/>
              <a:t>Igual que en el caso de clasificación, una observación de entrenamiento muy alejada del resto puede cambiar radicalmente a la regresión. </a:t>
            </a:r>
          </a:p>
          <a:p>
            <a:pPr algn="l">
              <a:defRPr sz="4600" spc="-45"/>
            </a:pPr>
            <a:endParaRPr lang="es-ES_tradnl" dirty="0"/>
          </a:p>
          <a:p>
            <a:pPr algn="l">
              <a:defRPr sz="4600" spc="-45"/>
            </a:pPr>
            <a:r>
              <a:rPr lang="es-ES_tradnl" dirty="0"/>
              <a:t>Por lo que se debe incorporar la misma idea de permitir que algunas observaciones puedan estar por fuera.</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AEF971A-B62C-AC03-35DE-2F4A6172A67F}"/>
                  </a:ext>
                </a:extLst>
              </p:cNvPr>
              <p:cNvSpPr txBox="1"/>
              <p:nvPr/>
            </p:nvSpPr>
            <p:spPr>
              <a:xfrm>
                <a:off x="10267166" y="7628154"/>
                <a:ext cx="12194626" cy="6758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𝑋</m:t>
                          </m:r>
                        </m:e>
                      </m:d>
                      <m:r>
                        <a:rPr lang="en-US" sz="4400" b="0" i="1" smtClean="0">
                          <a:latin typeface="Cambria Math" panose="02040503050406030204" pitchFamily="18" charset="0"/>
                        </a:rPr>
                        <m:t>=</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𝑏</m:t>
                          </m:r>
                        </m:e>
                        <m:sub>
                          <m:r>
                            <a:rPr lang="en-US" sz="4400" i="1">
                              <a:latin typeface="Cambria Math" panose="02040503050406030204" pitchFamily="18" charset="0"/>
                            </a:rPr>
                            <m:t>0</m:t>
                          </m:r>
                        </m:sub>
                      </m:sSub>
                      <m:r>
                        <a:rPr lang="en-US" sz="4400" i="1">
                          <a:latin typeface="Cambria Math" panose="02040503050406030204" pitchFamily="18" charset="0"/>
                        </a:rPr>
                        <m:t>+</m:t>
                      </m:r>
                      <m:sSub>
                        <m:sSubPr>
                          <m:ctrlPr>
                            <a:rPr lang="es-ES_tradnl" sz="4400" i="1" smtClean="0">
                              <a:latin typeface="Cambria Math" panose="02040503050406030204" pitchFamily="18" charset="0"/>
                            </a:rPr>
                          </m:ctrlPr>
                        </m:sSubPr>
                        <m:e>
                          <m:r>
                            <a:rPr lang="en-US" sz="4400" b="0" i="1" smtClean="0">
                              <a:latin typeface="Cambria Math" panose="02040503050406030204" pitchFamily="18" charset="0"/>
                            </a:rPr>
                            <m:t>𝑏</m:t>
                          </m:r>
                        </m:e>
                        <m:sub>
                          <m:r>
                            <a:rPr lang="en-US" sz="4400" i="1">
                              <a:latin typeface="Cambria Math" panose="02040503050406030204" pitchFamily="18" charset="0"/>
                            </a:rPr>
                            <m:t>1</m:t>
                          </m:r>
                        </m:sub>
                      </m:sSub>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1</m:t>
                          </m:r>
                        </m:sub>
                      </m:sSub>
                      <m:r>
                        <m:rPr>
                          <m:nor/>
                        </m:rPr>
                        <a:rPr lang="es-ES_tradnl" sz="4400" dirty="0"/>
                        <m:t>+ … +</m:t>
                      </m:r>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𝑏</m:t>
                          </m:r>
                        </m:e>
                        <m:sub>
                          <m:r>
                            <a:rPr lang="en-US" sz="4400" i="1">
                              <a:latin typeface="Cambria Math" panose="02040503050406030204" pitchFamily="18" charset="0"/>
                            </a:rPr>
                            <m:t>𝑝</m:t>
                          </m:r>
                        </m:sub>
                      </m:sSub>
                      <m:r>
                        <m:rPr>
                          <m:nor/>
                        </m:rPr>
                        <a:rPr lang="es-ES_tradnl" sz="4400" dirty="0"/>
                        <m:t> </m:t>
                      </m:r>
                      <m:sSub>
                        <m:sSubPr>
                          <m:ctrlPr>
                            <a:rPr lang="es-ES_tradnl"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𝑝</m:t>
                          </m:r>
                        </m:sub>
                      </m:sSub>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2" name="TextBox 1">
                <a:extLst>
                  <a:ext uri="{FF2B5EF4-FFF2-40B4-BE49-F238E27FC236}">
                    <a16:creationId xmlns:a16="http://schemas.microsoft.com/office/drawing/2014/main" id="{2AEF971A-B62C-AC03-35DE-2F4A6172A67F}"/>
                  </a:ext>
                </a:extLst>
              </p:cNvPr>
              <p:cNvSpPr txBox="1">
                <a:spLocks noRot="1" noChangeAspect="1" noMove="1" noResize="1" noEditPoints="1" noAdjustHandles="1" noChangeArrowheads="1" noChangeShapeType="1" noTextEdit="1"/>
              </p:cNvSpPr>
              <p:nvPr/>
            </p:nvSpPr>
            <p:spPr>
              <a:xfrm>
                <a:off x="10267166" y="7628154"/>
                <a:ext cx="12194626" cy="675826"/>
              </a:xfrm>
              <a:prstGeom prst="rect">
                <a:avLst/>
              </a:prstGeom>
              <a:blipFill>
                <a:blip r:embed="rId3"/>
                <a:stretch>
                  <a:fillRect t="-38889" b="-29630"/>
                </a:stretch>
              </a:blipFill>
              <a:ln w="12700" cap="flat">
                <a:noFill/>
                <a:miter lim="400000"/>
              </a:ln>
              <a:effectLst/>
            </p:spPr>
            <p:txBody>
              <a:bodyPr/>
              <a:lstStyle/>
              <a:p>
                <a:r>
                  <a:rPr lang="es-ES_tradnl">
                    <a:noFill/>
                  </a:rPr>
                  <a:t> </a:t>
                </a:r>
              </a:p>
            </p:txBody>
          </p:sp>
        </mc:Fallback>
      </mc:AlternateContent>
      <p:sp>
        <p:nvSpPr>
          <p:cNvPr id="4" name="Slide Number Placeholder 5">
            <a:extLst>
              <a:ext uri="{FF2B5EF4-FFF2-40B4-BE49-F238E27FC236}">
                <a16:creationId xmlns:a16="http://schemas.microsoft.com/office/drawing/2014/main" id="{60B88C65-86DF-7B73-FCE8-89475BE40DBE}"/>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51</a:t>
            </a:fld>
            <a:endParaRPr lang="en-US" sz="2800" dirty="0"/>
          </a:p>
        </p:txBody>
      </p:sp>
    </p:spTree>
    <p:extLst>
      <p:ext uri="{BB962C8B-B14F-4D97-AF65-F5344CB8AC3E}">
        <p14:creationId xmlns:p14="http://schemas.microsoft.com/office/powerpoint/2010/main" val="3976031639"/>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Support Vector Machine en regresión"/>
          <p:cNvSpPr txBox="1">
            <a:spLocks noGrp="1"/>
          </p:cNvSpPr>
          <p:nvPr>
            <p:ph type="title"/>
          </p:nvPr>
        </p:nvSpPr>
        <p:spPr>
          <a:xfrm>
            <a:off x="1295400" y="1622629"/>
            <a:ext cx="21869400" cy="1778386"/>
          </a:xfrm>
          <a:prstGeom prst="rect">
            <a:avLst/>
          </a:prstGeom>
        </p:spPr>
        <p:txBody>
          <a:bodyPr/>
          <a:lstStyle>
            <a:lvl1pPr defTabSz="479044">
              <a:defRPr sz="8200" spc="-328"/>
            </a:lvl1pPr>
          </a:lstStyle>
          <a:p>
            <a:r>
              <a:rPr lang="es-ES_tradnl"/>
              <a:t>Support Vector Machine en regresión</a:t>
            </a:r>
          </a:p>
        </p:txBody>
      </p:sp>
      <p:sp>
        <p:nvSpPr>
          <p:cNvPr id="571" name="Entonces para evitar esto, agregamos un hiperparámetro que nos permite tener algunas observaciones fuera de la zona de margen."/>
          <p:cNvSpPr txBox="1">
            <a:spLocks noGrp="1"/>
          </p:cNvSpPr>
          <p:nvPr>
            <p:ph type="body" idx="1"/>
          </p:nvPr>
        </p:nvSpPr>
        <p:spPr>
          <a:xfrm>
            <a:off x="1481666" y="3698327"/>
            <a:ext cx="21869401" cy="9532779"/>
          </a:xfrm>
          <a:prstGeom prst="rect">
            <a:avLst/>
          </a:prstGeom>
        </p:spPr>
        <p:txBody>
          <a:bodyPr/>
          <a:lstStyle>
            <a:lvl1pPr>
              <a:defRPr sz="4600">
                <a:latin typeface="Graphik Compact Regular"/>
                <a:ea typeface="Graphik Compact Regular"/>
                <a:cs typeface="Graphik Compact Regular"/>
                <a:sym typeface="Graphik Compact Regular"/>
              </a:defRPr>
            </a:lvl1pPr>
          </a:lstStyle>
          <a:p>
            <a:r>
              <a:rPr lang="es-ES_tradnl" dirty="0"/>
              <a:t>Entonces para evitar esto, agregamos un </a:t>
            </a:r>
            <a:r>
              <a:rPr lang="es-ES_tradnl" dirty="0" err="1"/>
              <a:t>hiperparámetro</a:t>
            </a:r>
            <a:r>
              <a:rPr lang="es-ES_tradnl" dirty="0"/>
              <a:t> que nos permite tener algunas observaciones fuera de la zona de margen. </a:t>
            </a:r>
          </a:p>
        </p:txBody>
      </p:sp>
      <p:sp>
        <p:nvSpPr>
          <p:cNvPr id="574" name="Y la restricción es:"/>
          <p:cNvSpPr txBox="1"/>
          <p:nvPr/>
        </p:nvSpPr>
        <p:spPr>
          <a:xfrm>
            <a:off x="10264647" y="8130266"/>
            <a:ext cx="13312900" cy="668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gn="l">
              <a:defRPr sz="4600" spc="-45"/>
            </a:lvl1pPr>
          </a:lstStyle>
          <a:p>
            <a:r>
              <a:rPr lang="es-ES_tradnl" dirty="0"/>
              <a:t>Y la restricción es:</a:t>
            </a:r>
          </a:p>
        </p:txBody>
      </p:sp>
      <p:pic>
        <p:nvPicPr>
          <p:cNvPr id="578" name="text15dsds973.png" descr="text15dsds973.png"/>
          <p:cNvPicPr>
            <a:picLocks noChangeAspect="1"/>
          </p:cNvPicPr>
          <p:nvPr/>
        </p:nvPicPr>
        <p:blipFill>
          <a:blip r:embed="rId2"/>
          <a:stretch>
            <a:fillRect/>
          </a:stretch>
        </p:blipFill>
        <p:spPr>
          <a:xfrm>
            <a:off x="1234458" y="5724702"/>
            <a:ext cx="7650707" cy="7661429"/>
          </a:xfrm>
          <a:prstGeom prst="rect">
            <a:avLst/>
          </a:prstGeom>
          <a:ln w="12700">
            <a:miter lim="400000"/>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D71B186-5D74-0658-93D7-8FE74C4BC651}"/>
                  </a:ext>
                </a:extLst>
              </p:cNvPr>
              <p:cNvSpPr txBox="1"/>
              <p:nvPr/>
            </p:nvSpPr>
            <p:spPr>
              <a:xfrm>
                <a:off x="10253059" y="6134597"/>
                <a:ext cx="3774174" cy="14468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4000" b="0" i="1" smtClean="0">
                              <a:latin typeface="Cambria Math" panose="02040503050406030204" pitchFamily="18" charset="0"/>
                            </a:rPr>
                          </m:ctrlPr>
                        </m:naryPr>
                        <m:sub>
                          <m:r>
                            <a:rPr lang="en-US" sz="4000" b="0" i="1" smtClean="0">
                              <a:latin typeface="Cambria Math" panose="02040503050406030204" pitchFamily="18" charset="0"/>
                            </a:rPr>
                            <m:t>𝑖</m:t>
                          </m:r>
                          <m:r>
                            <a:rPr lang="en-US" sz="4000" b="0" i="1" smtClean="0">
                              <a:latin typeface="Cambria Math" panose="02040503050406030204" pitchFamily="18" charset="0"/>
                            </a:rPr>
                            <m:t>=1</m:t>
                          </m:r>
                        </m:sub>
                        <m:sup>
                          <m:r>
                            <a:rPr lang="en-US" sz="4000" b="0" i="1" smtClean="0">
                              <a:latin typeface="Cambria Math" panose="02040503050406030204" pitchFamily="18" charset="0"/>
                            </a:rPr>
                            <m:t>𝑛</m:t>
                          </m:r>
                        </m:sup>
                        <m:e>
                          <m:d>
                            <m:dPr>
                              <m:ctrlPr>
                                <a:rPr lang="en-US" sz="4000" b="0" i="1" smtClean="0">
                                  <a:latin typeface="Cambria Math" panose="02040503050406030204" pitchFamily="18" charset="0"/>
                                </a:rPr>
                              </m:ctrlPr>
                            </m:dPr>
                            <m:e>
                              <m:sSub>
                                <m:sSubPr>
                                  <m:ctrlPr>
                                    <a:rPr lang="en-US" sz="4000" i="1">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Sup>
                                <m:sSubSupPr>
                                  <m:ctrlPr>
                                    <a:rPr lang="en-US" sz="4000" b="0" i="1" smtClean="0">
                                      <a:latin typeface="Cambria Math" panose="02040503050406030204" pitchFamily="18" charset="0"/>
                                    </a:rPr>
                                  </m:ctrlPr>
                                </m:sSubSupPr>
                                <m:e>
                                  <m:r>
                                    <a:rPr lang="en-US" sz="4000" i="1">
                                      <a:latin typeface="Cambria Math" panose="02040503050406030204" pitchFamily="18" charset="0"/>
                                      <a:ea typeface="Cambria Math" panose="02040503050406030204" pitchFamily="18" charset="0"/>
                                    </a:rPr>
                                    <m:t>𝜖</m:t>
                                  </m:r>
                                </m:e>
                                <m:sub>
                                  <m:r>
                                    <a:rPr lang="en-US" sz="4000" b="0" i="1" smtClean="0">
                                      <a:latin typeface="Cambria Math" panose="02040503050406030204" pitchFamily="18" charset="0"/>
                                    </a:rPr>
                                    <m:t>𝑖</m:t>
                                  </m:r>
                                </m:sub>
                                <m:sup>
                                  <m:r>
                                    <a:rPr lang="en-US" sz="4000" b="0" i="1" smtClean="0">
                                      <a:latin typeface="Cambria Math" panose="02040503050406030204" pitchFamily="18" charset="0"/>
                                    </a:rPr>
                                    <m:t>∗</m:t>
                                  </m:r>
                                </m:sup>
                              </m:sSubSup>
                            </m:e>
                          </m:d>
                        </m:e>
                      </m:nary>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𝐶</m:t>
                          </m:r>
                        </m:den>
                      </m:f>
                    </m:oMath>
                  </m:oMathPara>
                </a14:m>
                <a:endParaRPr lang="es-ES_tradnl" dirty="0"/>
              </a:p>
            </p:txBody>
          </p:sp>
        </mc:Choice>
        <mc:Fallback xmlns="">
          <p:sp>
            <p:nvSpPr>
              <p:cNvPr id="2" name="TextBox 1">
                <a:extLst>
                  <a:ext uri="{FF2B5EF4-FFF2-40B4-BE49-F238E27FC236}">
                    <a16:creationId xmlns:a16="http://schemas.microsoft.com/office/drawing/2014/main" id="{9D71B186-5D74-0658-93D7-8FE74C4BC651}"/>
                  </a:ext>
                </a:extLst>
              </p:cNvPr>
              <p:cNvSpPr txBox="1">
                <a:spLocks noRot="1" noChangeAspect="1" noMove="1" noResize="1" noEditPoints="1" noAdjustHandles="1" noChangeArrowheads="1" noChangeShapeType="1" noTextEdit="1"/>
              </p:cNvSpPr>
              <p:nvPr/>
            </p:nvSpPr>
            <p:spPr>
              <a:xfrm>
                <a:off x="10253059" y="6134597"/>
                <a:ext cx="3774174" cy="1446806"/>
              </a:xfrm>
              <a:prstGeom prst="rect">
                <a:avLst/>
              </a:prstGeom>
              <a:blipFill>
                <a:blip r:embed="rId3"/>
                <a:stretch>
                  <a:fillRect l="-49329" t="-150862" b="-20948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380A80-2C69-FA39-342F-02A27D013D4C}"/>
                  </a:ext>
                </a:extLst>
              </p:cNvPr>
              <p:cNvSpPr txBox="1"/>
              <p:nvPr/>
            </p:nvSpPr>
            <p:spPr>
              <a:xfrm>
                <a:off x="15695724" y="6492028"/>
                <a:ext cx="2203552" cy="595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Sup>
                        <m:sSubSupPr>
                          <m:ctrlPr>
                            <a:rPr lang="en-US" sz="4000" i="1">
                              <a:latin typeface="Cambria Math" panose="02040503050406030204" pitchFamily="18" charset="0"/>
                            </a:rPr>
                          </m:ctrlPr>
                        </m:sSubSupPr>
                        <m:e>
                          <m:r>
                            <a:rPr lang="en-US" sz="4000" i="1">
                              <a:latin typeface="Cambria Math" panose="02040503050406030204" pitchFamily="18" charset="0"/>
                              <a:ea typeface="Cambria Math" panose="02040503050406030204" pitchFamily="18" charset="0"/>
                            </a:rPr>
                            <m:t>𝜖</m:t>
                          </m:r>
                        </m:e>
                        <m:sub>
                          <m:r>
                            <a:rPr lang="en-US" sz="4000" i="1">
                              <a:latin typeface="Cambria Math" panose="02040503050406030204" pitchFamily="18" charset="0"/>
                            </a:rPr>
                            <m:t>𝑖</m:t>
                          </m:r>
                        </m:sub>
                        <m:sup>
                          <m:r>
                            <a:rPr lang="en-US" sz="4000" i="1">
                              <a:latin typeface="Cambria Math" panose="02040503050406030204" pitchFamily="18" charset="0"/>
                            </a:rPr>
                            <m:t>∗</m:t>
                          </m:r>
                        </m:sup>
                      </m:sSubSup>
                      <m:r>
                        <a:rPr lang="en-US" sz="400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3" name="TextBox 2">
                <a:extLst>
                  <a:ext uri="{FF2B5EF4-FFF2-40B4-BE49-F238E27FC236}">
                    <a16:creationId xmlns:a16="http://schemas.microsoft.com/office/drawing/2014/main" id="{C2380A80-2C69-FA39-342F-02A27D013D4C}"/>
                  </a:ext>
                </a:extLst>
              </p:cNvPr>
              <p:cNvSpPr txBox="1">
                <a:spLocks noRot="1" noChangeAspect="1" noMove="1" noResize="1" noEditPoints="1" noAdjustHandles="1" noChangeArrowheads="1" noChangeShapeType="1" noTextEdit="1"/>
              </p:cNvSpPr>
              <p:nvPr/>
            </p:nvSpPr>
            <p:spPr>
              <a:xfrm>
                <a:off x="15695724" y="6492028"/>
                <a:ext cx="2203552" cy="595419"/>
              </a:xfrm>
              <a:prstGeom prst="rect">
                <a:avLst/>
              </a:prstGeom>
              <a:blipFill>
                <a:blip r:embed="rId4"/>
                <a:stretch>
                  <a:fillRect l="-2874" t="-2083" r="-575" b="-12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39B460-76B7-B61B-AB72-1BB6F6682BE1}"/>
                  </a:ext>
                </a:extLst>
              </p:cNvPr>
              <p:cNvSpPr txBox="1"/>
              <p:nvPr/>
            </p:nvSpPr>
            <p:spPr>
              <a:xfrm>
                <a:off x="19110222" y="6492412"/>
                <a:ext cx="2787045"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𝑖</m:t>
                      </m:r>
                      <m:r>
                        <a:rPr lang="en-US" sz="4000" b="0" i="1" smtClean="0">
                          <a:latin typeface="Cambria Math" panose="02040503050406030204" pitchFamily="18" charset="0"/>
                          <a:ea typeface="Cambria Math" panose="02040503050406030204" pitchFamily="18" charset="0"/>
                        </a:rPr>
                        <m:t>=1,…,</m:t>
                      </m:r>
                      <m:r>
                        <a:rPr lang="en-US" sz="4000" b="0" i="1" smtClean="0">
                          <a:latin typeface="Cambria Math" panose="02040503050406030204" pitchFamily="18" charset="0"/>
                          <a:ea typeface="Cambria Math" panose="02040503050406030204" pitchFamily="18" charset="0"/>
                        </a:rPr>
                        <m:t>𝑛</m:t>
                      </m:r>
                    </m:oMath>
                  </m:oMathPara>
                </a14:m>
                <a:endParaRPr lang="es-ES_tradnl" dirty="0"/>
              </a:p>
            </p:txBody>
          </p:sp>
        </mc:Choice>
        <mc:Fallback xmlns="">
          <p:sp>
            <p:nvSpPr>
              <p:cNvPr id="4" name="TextBox 3">
                <a:extLst>
                  <a:ext uri="{FF2B5EF4-FFF2-40B4-BE49-F238E27FC236}">
                    <a16:creationId xmlns:a16="http://schemas.microsoft.com/office/drawing/2014/main" id="{A839B460-76B7-B61B-AB72-1BB6F6682BE1}"/>
                  </a:ext>
                </a:extLst>
              </p:cNvPr>
              <p:cNvSpPr txBox="1">
                <a:spLocks noRot="1" noChangeAspect="1" noMove="1" noResize="1" noEditPoints="1" noAdjustHandles="1" noChangeArrowheads="1" noChangeShapeType="1" noTextEdit="1"/>
              </p:cNvSpPr>
              <p:nvPr/>
            </p:nvSpPr>
            <p:spPr>
              <a:xfrm>
                <a:off x="19110222" y="6492412"/>
                <a:ext cx="2787045" cy="595035"/>
              </a:xfrm>
              <a:prstGeom prst="rect">
                <a:avLst/>
              </a:prstGeom>
              <a:blipFill>
                <a:blip r:embed="rId5"/>
                <a:stretch>
                  <a:fillRect l="-3167" b="-2083"/>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0F8367-66E7-D5BA-3271-6DBC6BECC0AF}"/>
                  </a:ext>
                </a:extLst>
              </p:cNvPr>
              <p:cNvSpPr txBox="1"/>
              <p:nvPr/>
            </p:nvSpPr>
            <p:spPr>
              <a:xfrm>
                <a:off x="10682238" y="9085543"/>
                <a:ext cx="7319824" cy="767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s-ES_tradnl" sz="4400" i="1" smtClean="0">
                              <a:latin typeface="Cambria Math" panose="02040503050406030204" pitchFamily="18" charset="0"/>
                            </a:rPr>
                          </m:ctrlPr>
                        </m:sSubPr>
                        <m:e>
                          <m:r>
                            <a:rPr lang="en-US" sz="4400" b="0" i="1" smtClean="0">
                              <a:latin typeface="Cambria Math" panose="02040503050406030204" pitchFamily="18" charset="0"/>
                            </a:rPr>
                            <m:t>𝑦</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𝑏</m:t>
                              </m:r>
                            </m:e>
                            <m:sub>
                              <m:r>
                                <a:rPr lang="en-US" sz="4400" i="1">
                                  <a:latin typeface="Cambria Math" panose="02040503050406030204" pitchFamily="18" charset="0"/>
                                </a:rPr>
                                <m:t>0</m:t>
                              </m:r>
                            </m:sub>
                          </m:sSub>
                          <m:r>
                            <a:rPr lang="en-US" sz="4400" i="1">
                              <a:latin typeface="Cambria Math" panose="02040503050406030204" pitchFamily="18" charset="0"/>
                            </a:rPr>
                            <m:t>+&lt;</m:t>
                          </m:r>
                          <m:acc>
                            <m:accPr>
                              <m:chr m:val="⃗"/>
                              <m:ctrlPr>
                                <a:rPr lang="en-US" sz="4400" i="1" smtClean="0">
                                  <a:latin typeface="Cambria Math" panose="02040503050406030204" pitchFamily="18" charset="0"/>
                                </a:rPr>
                              </m:ctrlPr>
                            </m:accPr>
                            <m:e>
                              <m:r>
                                <a:rPr lang="en-US" sz="4400" b="0" i="1" smtClean="0">
                                  <a:latin typeface="Cambria Math" panose="02040503050406030204" pitchFamily="18" charset="0"/>
                                  <a:ea typeface="Cambria Math" panose="02040503050406030204" pitchFamily="18" charset="0"/>
                                </a:rPr>
                                <m:t>𝑏</m:t>
                              </m:r>
                            </m:e>
                          </m:acc>
                          <m:r>
                            <a:rPr lang="en-US" sz="4400" i="1">
                              <a:latin typeface="Cambria Math" panose="02040503050406030204" pitchFamily="18" charset="0"/>
                              <a:ea typeface="Cambria Math" panose="02040503050406030204" pitchFamily="18" charset="0"/>
                            </a:rPr>
                            <m:t>, </m:t>
                          </m:r>
                          <m:r>
                            <a:rPr lang="en-US" sz="4400" i="1">
                              <a:latin typeface="Cambria Math" panose="02040503050406030204" pitchFamily="18" charset="0"/>
                              <a:ea typeface="Cambria Math" panose="02040503050406030204" pitchFamily="18" charset="0"/>
                            </a:rPr>
                            <m:t>𝑋</m:t>
                          </m:r>
                          <m:r>
                            <a:rPr lang="en-US" sz="4400" i="1">
                              <a:latin typeface="Cambria Math" panose="02040503050406030204" pitchFamily="18" charset="0"/>
                              <a:ea typeface="Cambria Math" panose="02040503050406030204" pitchFamily="18" charset="0"/>
                            </a:rPr>
                            <m:t>&gt;</m:t>
                          </m:r>
                        </m:e>
                      </m:d>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𝑚</m:t>
                      </m:r>
                      <m:r>
                        <a:rPr lang="en-US" sz="4400" b="0" i="1" smtClean="0">
                          <a:latin typeface="Cambria Math" panose="02040503050406030204" pitchFamily="18" charset="0"/>
                          <a:ea typeface="Cambria Math" panose="02040503050406030204" pitchFamily="18" charset="0"/>
                        </a:rPr>
                        <m:t>+</m:t>
                      </m:r>
                      <m:sSub>
                        <m:sSubPr>
                          <m:ctrlPr>
                            <a:rPr lang="en-US" sz="4400" b="0" i="1" smtClean="0">
                              <a:latin typeface="Cambria Math" panose="02040503050406030204" pitchFamily="18" charset="0"/>
                              <a:ea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𝜖</m:t>
                          </m:r>
                        </m:e>
                        <m:sub>
                          <m:r>
                            <a:rPr lang="en-US" sz="4400" b="0" i="1" smtClean="0">
                              <a:latin typeface="Cambria Math" panose="02040503050406030204" pitchFamily="18" charset="0"/>
                              <a:ea typeface="Cambria Math" panose="02040503050406030204" pitchFamily="18" charset="0"/>
                            </a:rPr>
                            <m:t>𝑖</m:t>
                          </m:r>
                        </m:sub>
                      </m:sSub>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5" name="TextBox 4">
                <a:extLst>
                  <a:ext uri="{FF2B5EF4-FFF2-40B4-BE49-F238E27FC236}">
                    <a16:creationId xmlns:a16="http://schemas.microsoft.com/office/drawing/2014/main" id="{4C0F8367-66E7-D5BA-3271-6DBC6BECC0AF}"/>
                  </a:ext>
                </a:extLst>
              </p:cNvPr>
              <p:cNvSpPr txBox="1">
                <a:spLocks noRot="1" noChangeAspect="1" noMove="1" noResize="1" noEditPoints="1" noAdjustHandles="1" noChangeArrowheads="1" noChangeShapeType="1" noTextEdit="1"/>
              </p:cNvSpPr>
              <p:nvPr/>
            </p:nvSpPr>
            <p:spPr>
              <a:xfrm>
                <a:off x="10682238" y="9085543"/>
                <a:ext cx="7319824" cy="767774"/>
              </a:xfrm>
              <a:prstGeom prst="rect">
                <a:avLst/>
              </a:prstGeom>
              <a:blipFill>
                <a:blip r:embed="rId6"/>
                <a:stretch>
                  <a:fillRect l="-1384" t="-47541" b="-11475"/>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1172647-34CE-E1B4-384A-00D0EE4E58AF}"/>
                  </a:ext>
                </a:extLst>
              </p:cNvPr>
              <p:cNvSpPr txBox="1"/>
              <p:nvPr/>
            </p:nvSpPr>
            <p:spPr>
              <a:xfrm>
                <a:off x="10529248" y="10150886"/>
                <a:ext cx="7625806" cy="767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d>
                        <m:dPr>
                          <m:ctrlPr>
                            <a:rPr lang="en-US" sz="4400" b="0" i="1" smtClean="0">
                              <a:latin typeface="Cambria Math" panose="02040503050406030204" pitchFamily="18" charset="0"/>
                            </a:rPr>
                          </m:ctrlPr>
                        </m:dPr>
                        <m:e>
                          <m:sSub>
                            <m:sSubPr>
                              <m:ctrlPr>
                                <a:rPr lang="es-ES_tradnl" sz="4400" i="1">
                                  <a:latin typeface="Cambria Math" panose="02040503050406030204" pitchFamily="18" charset="0"/>
                                </a:rPr>
                              </m:ctrlPr>
                            </m:sSubPr>
                            <m:e>
                              <m:r>
                                <a:rPr lang="en-US" sz="4400" b="0" i="1" smtClean="0">
                                  <a:latin typeface="Cambria Math" panose="02040503050406030204" pitchFamily="18" charset="0"/>
                                </a:rPr>
                                <m:t>𝑏</m:t>
                              </m:r>
                            </m:e>
                            <m:sub>
                              <m:r>
                                <a:rPr lang="en-US" sz="4400" i="1">
                                  <a:latin typeface="Cambria Math" panose="02040503050406030204" pitchFamily="18" charset="0"/>
                                </a:rPr>
                                <m:t>0</m:t>
                              </m:r>
                            </m:sub>
                          </m:sSub>
                          <m:r>
                            <a:rPr lang="en-US" sz="4400" i="1">
                              <a:latin typeface="Cambria Math" panose="02040503050406030204" pitchFamily="18" charset="0"/>
                            </a:rPr>
                            <m:t>+&lt;</m:t>
                          </m:r>
                          <m:acc>
                            <m:accPr>
                              <m:chr m:val="⃗"/>
                              <m:ctrlPr>
                                <a:rPr lang="en-US" sz="4400" i="1">
                                  <a:latin typeface="Cambria Math" panose="02040503050406030204" pitchFamily="18" charset="0"/>
                                </a:rPr>
                              </m:ctrlPr>
                            </m:accPr>
                            <m:e>
                              <m:r>
                                <a:rPr lang="en-US" sz="4400" b="0" i="1" smtClean="0">
                                  <a:latin typeface="Cambria Math" panose="02040503050406030204" pitchFamily="18" charset="0"/>
                                  <a:ea typeface="Cambria Math" panose="02040503050406030204" pitchFamily="18" charset="0"/>
                                </a:rPr>
                                <m:t>𝑏</m:t>
                              </m:r>
                            </m:e>
                          </m:acc>
                          <m:r>
                            <a:rPr lang="en-US" sz="4400" i="1">
                              <a:latin typeface="Cambria Math" panose="02040503050406030204" pitchFamily="18" charset="0"/>
                              <a:ea typeface="Cambria Math" panose="02040503050406030204" pitchFamily="18" charset="0"/>
                            </a:rPr>
                            <m:t>, </m:t>
                          </m:r>
                          <m:r>
                            <a:rPr lang="en-US" sz="4400" i="1">
                              <a:latin typeface="Cambria Math" panose="02040503050406030204" pitchFamily="18" charset="0"/>
                              <a:ea typeface="Cambria Math" panose="02040503050406030204" pitchFamily="18" charset="0"/>
                            </a:rPr>
                            <m:t>𝑋</m:t>
                          </m:r>
                          <m:r>
                            <a:rPr lang="en-US" sz="4400" i="1">
                              <a:latin typeface="Cambria Math" panose="02040503050406030204" pitchFamily="18" charset="0"/>
                              <a:ea typeface="Cambria Math" panose="02040503050406030204" pitchFamily="18" charset="0"/>
                            </a:rPr>
                            <m:t>&gt;</m:t>
                          </m:r>
                        </m:e>
                      </m:d>
                      <m:r>
                        <a:rPr lang="en-US" sz="4400" b="0" i="1" smtClean="0">
                          <a:latin typeface="Cambria Math" panose="02040503050406030204" pitchFamily="18" charset="0"/>
                        </a:rPr>
                        <m:t>−</m:t>
                      </m:r>
                      <m:sSub>
                        <m:sSubPr>
                          <m:ctrlPr>
                            <a:rPr lang="es-ES_tradnl"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r>
                        <a:rPr lang="en-US" sz="4400" i="1" smtClean="0">
                          <a:latin typeface="Cambria Math" panose="02040503050406030204" pitchFamily="18" charset="0"/>
                          <a:ea typeface="Cambria Math" panose="02040503050406030204" pitchFamily="18" charset="0"/>
                        </a:rPr>
                        <m:t>≤</m:t>
                      </m:r>
                      <m:r>
                        <a:rPr lang="en-US" sz="4400" b="0" i="1" smtClean="0">
                          <a:latin typeface="Cambria Math" panose="02040503050406030204" pitchFamily="18" charset="0"/>
                          <a:ea typeface="Cambria Math" panose="02040503050406030204" pitchFamily="18" charset="0"/>
                        </a:rPr>
                        <m:t>𝑚</m:t>
                      </m:r>
                      <m:r>
                        <a:rPr lang="en-US" sz="4400" b="0" i="1" smtClean="0">
                          <a:latin typeface="Cambria Math" panose="02040503050406030204" pitchFamily="18" charset="0"/>
                          <a:ea typeface="Cambria Math" panose="02040503050406030204" pitchFamily="18" charset="0"/>
                        </a:rPr>
                        <m:t>+</m:t>
                      </m:r>
                      <m:sSubSup>
                        <m:sSubSupPr>
                          <m:ctrlPr>
                            <a:rPr lang="en-US" sz="4400" i="1">
                              <a:latin typeface="Cambria Math" panose="02040503050406030204" pitchFamily="18" charset="0"/>
                            </a:rPr>
                          </m:ctrlPr>
                        </m:sSubSupPr>
                        <m:e>
                          <m:r>
                            <a:rPr lang="en-US" sz="4400" i="1">
                              <a:latin typeface="Cambria Math" panose="02040503050406030204" pitchFamily="18" charset="0"/>
                              <a:ea typeface="Cambria Math" panose="02040503050406030204" pitchFamily="18" charset="0"/>
                            </a:rPr>
                            <m:t>𝜖</m:t>
                          </m:r>
                        </m:e>
                        <m:sub>
                          <m:r>
                            <a:rPr lang="en-US" sz="4400" i="1">
                              <a:latin typeface="Cambria Math" panose="02040503050406030204" pitchFamily="18" charset="0"/>
                            </a:rPr>
                            <m:t>𝑖</m:t>
                          </m:r>
                        </m:sub>
                        <m:sup>
                          <m:r>
                            <a:rPr lang="en-US" sz="4400" i="1">
                              <a:latin typeface="Cambria Math" panose="02040503050406030204" pitchFamily="18" charset="0"/>
                            </a:rPr>
                            <m:t>∗</m:t>
                          </m:r>
                        </m:sup>
                      </m:sSubSup>
                    </m:oMath>
                  </m:oMathPara>
                </a14:m>
                <a:endPar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mc:Choice>
        <mc:Fallback xmlns="">
          <p:sp>
            <p:nvSpPr>
              <p:cNvPr id="6" name="TextBox 5">
                <a:extLst>
                  <a:ext uri="{FF2B5EF4-FFF2-40B4-BE49-F238E27FC236}">
                    <a16:creationId xmlns:a16="http://schemas.microsoft.com/office/drawing/2014/main" id="{E1172647-34CE-E1B4-384A-00D0EE4E58AF}"/>
                  </a:ext>
                </a:extLst>
              </p:cNvPr>
              <p:cNvSpPr txBox="1">
                <a:spLocks noRot="1" noChangeAspect="1" noMove="1" noResize="1" noEditPoints="1" noAdjustHandles="1" noChangeArrowheads="1" noChangeShapeType="1" noTextEdit="1"/>
              </p:cNvSpPr>
              <p:nvPr/>
            </p:nvSpPr>
            <p:spPr>
              <a:xfrm>
                <a:off x="10529248" y="10150886"/>
                <a:ext cx="7625806" cy="767774"/>
              </a:xfrm>
              <a:prstGeom prst="rect">
                <a:avLst/>
              </a:prstGeom>
              <a:blipFill>
                <a:blip r:embed="rId7"/>
                <a:stretch>
                  <a:fillRect t="-47541" b="-11475"/>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4292D0C-92D6-A28D-D687-CFF7C154DC03}"/>
                  </a:ext>
                </a:extLst>
              </p:cNvPr>
              <p:cNvSpPr txBox="1"/>
              <p:nvPr/>
            </p:nvSpPr>
            <p:spPr>
              <a:xfrm>
                <a:off x="19191907" y="9841986"/>
                <a:ext cx="2787045"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𝑖</m:t>
                      </m:r>
                      <m:r>
                        <a:rPr lang="en-US" sz="4000" b="0" i="1" smtClean="0">
                          <a:latin typeface="Cambria Math" panose="02040503050406030204" pitchFamily="18" charset="0"/>
                          <a:ea typeface="Cambria Math" panose="02040503050406030204" pitchFamily="18" charset="0"/>
                        </a:rPr>
                        <m:t>=1,…,</m:t>
                      </m:r>
                      <m:r>
                        <a:rPr lang="en-US" sz="4000" b="0" i="1" smtClean="0">
                          <a:latin typeface="Cambria Math" panose="02040503050406030204" pitchFamily="18" charset="0"/>
                          <a:ea typeface="Cambria Math" panose="02040503050406030204" pitchFamily="18" charset="0"/>
                        </a:rPr>
                        <m:t>𝑛</m:t>
                      </m:r>
                    </m:oMath>
                  </m:oMathPara>
                </a14:m>
                <a:endParaRPr lang="es-ES_tradnl" dirty="0"/>
              </a:p>
            </p:txBody>
          </p:sp>
        </mc:Choice>
        <mc:Fallback xmlns="">
          <p:sp>
            <p:nvSpPr>
              <p:cNvPr id="7" name="TextBox 6">
                <a:extLst>
                  <a:ext uri="{FF2B5EF4-FFF2-40B4-BE49-F238E27FC236}">
                    <a16:creationId xmlns:a16="http://schemas.microsoft.com/office/drawing/2014/main" id="{E4292D0C-92D6-A28D-D687-CFF7C154DC03}"/>
                  </a:ext>
                </a:extLst>
              </p:cNvPr>
              <p:cNvSpPr txBox="1">
                <a:spLocks noRot="1" noChangeAspect="1" noMove="1" noResize="1" noEditPoints="1" noAdjustHandles="1" noChangeArrowheads="1" noChangeShapeType="1" noTextEdit="1"/>
              </p:cNvSpPr>
              <p:nvPr/>
            </p:nvSpPr>
            <p:spPr>
              <a:xfrm>
                <a:off x="19191907" y="9841986"/>
                <a:ext cx="2787045" cy="595035"/>
              </a:xfrm>
              <a:prstGeom prst="rect">
                <a:avLst/>
              </a:prstGeom>
              <a:blipFill>
                <a:blip r:embed="rId8"/>
                <a:stretch>
                  <a:fillRect l="-3636" b="-2083"/>
                </a:stretch>
              </a:blipFill>
              <a:ln w="12700" cap="flat">
                <a:noFill/>
                <a:miter lim="400000"/>
              </a:ln>
              <a:effectLst/>
            </p:spPr>
            <p:txBody>
              <a:bodyPr/>
              <a:lstStyle/>
              <a:p>
                <a:r>
                  <a:rPr lang="es-ES_tradnl">
                    <a:noFill/>
                  </a:rPr>
                  <a:t> </a:t>
                </a:r>
              </a:p>
            </p:txBody>
          </p:sp>
        </mc:Fallback>
      </mc:AlternateContent>
      <p:sp>
        <p:nvSpPr>
          <p:cNvPr id="9" name="Slide Number Placeholder 5">
            <a:extLst>
              <a:ext uri="{FF2B5EF4-FFF2-40B4-BE49-F238E27FC236}">
                <a16:creationId xmlns:a16="http://schemas.microsoft.com/office/drawing/2014/main" id="{3CF19C07-0173-EE4D-78B0-EC3B7D25A2E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52</a:t>
            </a:fld>
            <a:endParaRPr lang="en-US" sz="2800" dirty="0"/>
          </a:p>
        </p:txBody>
      </p:sp>
    </p:spTree>
    <p:extLst>
      <p:ext uri="{BB962C8B-B14F-4D97-AF65-F5344CB8AC3E}">
        <p14:creationId xmlns:p14="http://schemas.microsoft.com/office/powerpoint/2010/main" val="2868712498"/>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Support Vector Machine en regresión"/>
          <p:cNvSpPr txBox="1">
            <a:spLocks noGrp="1"/>
          </p:cNvSpPr>
          <p:nvPr>
            <p:ph type="title"/>
          </p:nvPr>
        </p:nvSpPr>
        <p:spPr>
          <a:xfrm>
            <a:off x="1295400" y="1622629"/>
            <a:ext cx="21869400" cy="1778386"/>
          </a:xfrm>
          <a:prstGeom prst="rect">
            <a:avLst/>
          </a:prstGeom>
        </p:spPr>
        <p:txBody>
          <a:bodyPr/>
          <a:lstStyle>
            <a:lvl1pPr defTabSz="479044">
              <a:defRPr sz="8200" spc="-328"/>
            </a:lvl1pPr>
          </a:lstStyle>
          <a:p>
            <a:r>
              <a:rPr lang="es-ES_tradnl"/>
              <a:t>Support Vector Machine en regresión</a:t>
            </a:r>
          </a:p>
        </p:txBody>
      </p:sp>
      <p:sp>
        <p:nvSpPr>
          <p:cNvPr id="581" name="Y podemos extender a usar funciones kernels para extender a casos no lineales, extendiendo a un espacio dimensional mayor."/>
          <p:cNvSpPr txBox="1">
            <a:spLocks noGrp="1"/>
          </p:cNvSpPr>
          <p:nvPr>
            <p:ph type="body" idx="1"/>
          </p:nvPr>
        </p:nvSpPr>
        <p:spPr>
          <a:xfrm>
            <a:off x="1295400" y="3710394"/>
            <a:ext cx="21869400" cy="9532780"/>
          </a:xfrm>
          <a:prstGeom prst="rect">
            <a:avLst/>
          </a:prstGeom>
        </p:spPr>
        <p:txBody>
          <a:bodyPr/>
          <a:lstStyle>
            <a:lvl1pPr>
              <a:defRPr sz="4600">
                <a:latin typeface="Graphik Compact Regular"/>
                <a:ea typeface="Graphik Compact Regular"/>
                <a:cs typeface="Graphik Compact Regular"/>
                <a:sym typeface="Graphik Compact Regular"/>
              </a:defRPr>
            </a:lvl1pPr>
          </a:lstStyle>
          <a:p>
            <a:r>
              <a:rPr lang="es-ES_tradnl" dirty="0"/>
              <a:t>Y podemos extender a usar funciones </a:t>
            </a:r>
            <a:r>
              <a:rPr lang="es-ES_tradnl" dirty="0" err="1"/>
              <a:t>kernels</a:t>
            </a:r>
            <a:r>
              <a:rPr lang="es-ES_tradnl" dirty="0"/>
              <a:t> para extender a casos no lineales, extendiendo a un espacio dimensional mayor.</a:t>
            </a:r>
          </a:p>
        </p:txBody>
      </p:sp>
      <p:sp>
        <p:nvSpPr>
          <p:cNvPr id="3" name="Slide Number Placeholder 5">
            <a:extLst>
              <a:ext uri="{FF2B5EF4-FFF2-40B4-BE49-F238E27FC236}">
                <a16:creationId xmlns:a16="http://schemas.microsoft.com/office/drawing/2014/main" id="{73F917DA-5066-51EC-F870-2C34E3A5CBA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53</a:t>
            </a:fld>
            <a:endParaRPr lang="en-US" sz="2800" dirty="0"/>
          </a:p>
        </p:txBody>
      </p:sp>
    </p:spTree>
    <p:extLst>
      <p:ext uri="{BB962C8B-B14F-4D97-AF65-F5344CB8AC3E}">
        <p14:creationId xmlns:p14="http://schemas.microsoft.com/office/powerpoint/2010/main" val="3251632054"/>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360280596"/>
      </p:ext>
    </p:extLst>
  </p:cSld>
  <p:clrMapOvr>
    <a:masterClrMapping/>
  </p:clrMapOvr>
  <p:transition spd="med"/>
</p:sld>
</file>

<file path=ppt/theme/theme1.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512</TotalTime>
  <Words>3574</Words>
  <Application>Microsoft Office PowerPoint</Application>
  <PresentationFormat>Personalizado</PresentationFormat>
  <Paragraphs>432</Paragraphs>
  <Slides>54</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54</vt:i4>
      </vt:variant>
    </vt:vector>
  </HeadingPairs>
  <TitlesOfParts>
    <vt:vector size="63" baseType="lpstr">
      <vt:lpstr>Aptos</vt:lpstr>
      <vt:lpstr>Cambria Math</vt:lpstr>
      <vt:lpstr>Graphik</vt:lpstr>
      <vt:lpstr>Graphik Compact Bold</vt:lpstr>
      <vt:lpstr>Graphik Compact Regular</vt:lpstr>
      <vt:lpstr>Graphik-Medium</vt:lpstr>
      <vt:lpstr>Graphik-SemiboldItalic</vt:lpstr>
      <vt:lpstr>Helvetica Neue</vt:lpstr>
      <vt:lpstr>34_DynamicRainbow</vt:lpstr>
      <vt:lpstr>Máquinas de vectores de soporte</vt:lpstr>
      <vt:lpstr>Presentación de PowerPoint</vt:lpstr>
      <vt:lpstr>Maximal Margin Classifier </vt:lpstr>
      <vt:lpstr>Maximal Margin Classifier </vt:lpstr>
      <vt:lpstr>Maximal Margin Classifier </vt:lpstr>
      <vt:lpstr>Maximal Margin Classifier </vt:lpstr>
      <vt:lpstr>Maximal Margin Classifier </vt:lpstr>
      <vt:lpstr>Maximal Margin Classifier </vt:lpstr>
      <vt:lpstr>Maximal Margin Classifier </vt:lpstr>
      <vt:lpstr>Maximal Margin Classifier </vt:lpstr>
      <vt:lpstr>Maximal Margin Classifier </vt:lpstr>
      <vt:lpstr>Maximal Margin Classifier </vt:lpstr>
      <vt:lpstr>Maximal Margin Classifier </vt:lpstr>
      <vt:lpstr>Maximal Margin Classifier </vt:lpstr>
      <vt:lpstr>Caso no separable</vt:lpstr>
      <vt:lpstr>Caso no separable</vt:lpstr>
      <vt:lpstr>Presentación de PowerPoint</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Clasificador de vector de soportes</vt:lpstr>
      <vt:lpstr>Presentación de PowerPoint</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Support vector machine</vt:lpstr>
      <vt:lpstr>Presentación de PowerPoint</vt:lpstr>
      <vt:lpstr>Support Vector Machine en regresión</vt:lpstr>
      <vt:lpstr>Support Vector Machine en regresión</vt:lpstr>
      <vt:lpstr>Support Vector Machine en regresión</vt:lpstr>
      <vt:lpstr>Support Vector Machine en regresión</vt:lpstr>
      <vt:lpstr>Support Vector Machine en regresión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Máquinas de vectores de soporte</dc:title>
  <cp:lastModifiedBy>JAIME ANTONIO HUAYTALLA PARIONA</cp:lastModifiedBy>
  <cp:revision>33</cp:revision>
  <dcterms:modified xsi:type="dcterms:W3CDTF">2025-11-19T18:08:18Z</dcterms:modified>
</cp:coreProperties>
</file>