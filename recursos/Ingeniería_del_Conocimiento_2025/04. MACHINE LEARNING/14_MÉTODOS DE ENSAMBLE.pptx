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331" r:id="rId2"/>
    <p:sldId id="360" r:id="rId3"/>
    <p:sldId id="505" r:id="rId4"/>
    <p:sldId id="506" r:id="rId5"/>
    <p:sldId id="508" r:id="rId6"/>
    <p:sldId id="507" r:id="rId7"/>
    <p:sldId id="509" r:id="rId8"/>
    <p:sldId id="532" r:id="rId9"/>
    <p:sldId id="511" r:id="rId10"/>
    <p:sldId id="512" r:id="rId11"/>
    <p:sldId id="513" r:id="rId12"/>
    <p:sldId id="533" r:id="rId13"/>
    <p:sldId id="534" r:id="rId14"/>
    <p:sldId id="415" r:id="rId15"/>
    <p:sldId id="514" r:id="rId16"/>
    <p:sldId id="515" r:id="rId17"/>
    <p:sldId id="516" r:id="rId18"/>
    <p:sldId id="517" r:id="rId19"/>
    <p:sldId id="518" r:id="rId20"/>
    <p:sldId id="519" r:id="rId21"/>
    <p:sldId id="504" r:id="rId22"/>
    <p:sldId id="416" r:id="rId23"/>
    <p:sldId id="520" r:id="rId24"/>
    <p:sldId id="503" r:id="rId25"/>
    <p:sldId id="521" r:id="rId26"/>
    <p:sldId id="522" r:id="rId27"/>
    <p:sldId id="523" r:id="rId28"/>
    <p:sldId id="524" r:id="rId29"/>
    <p:sldId id="526" r:id="rId30"/>
    <p:sldId id="525" r:id="rId31"/>
    <p:sldId id="527" r:id="rId32"/>
    <p:sldId id="528" r:id="rId33"/>
    <p:sldId id="536" r:id="rId34"/>
    <p:sldId id="529" r:id="rId35"/>
    <p:sldId id="530" r:id="rId36"/>
    <p:sldId id="535" r:id="rId3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p:defaultTextStyle>
  <p:extLst>
    <p:ext uri="{EFAFB233-063F-42B5-8137-9DF3F51BA10A}">
      <p15:sldGuideLst xmlns:p15="http://schemas.microsoft.com/office/powerpoint/2012/main">
        <p15:guide id="1" orient="horz" pos="4320">
          <p15:clr>
            <a:srgbClr val="A4A3A4"/>
          </p15:clr>
        </p15:guide>
        <p15:guide id="2" pos="76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53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EFA07"/>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254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no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254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chemeClr val="accent4">
              <a:hueOff val="3712597"/>
              <a:satOff val="-23099"/>
              <a:lumOff val="5802"/>
            </a:schemeClr>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5E5E5E"/>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9BCEF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5E5E5E"/>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5E5E5E"/>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2871FF"/>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D1F6"/>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E7FE9"/>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D5D5D5"/>
          </a:solidFill>
        </a:fill>
      </a:tcStyle>
    </a:wholeTbl>
    <a:band2H>
      <a:tcTxStyle/>
      <a:tcStyle>
        <a:tcBdr/>
        <a:fill>
          <a:solidFill>
            <a:srgbClr val="EAEAEA"/>
          </a:solidFill>
        </a:fill>
      </a:tcStyle>
    </a:band2H>
    <a:firstCol>
      <a:tcTxStyle b="on" i="off">
        <a:font>
          <a:latin typeface="Graphik Semibold"/>
          <a:ea typeface="Graphik Semibold"/>
          <a:cs typeface="Graphik Semibold"/>
        </a:font>
        <a:srgbClr val="FFFFFF"/>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929292"/>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D5D5D5"/>
          </a:solidFill>
        </a:fill>
      </a:tcStyle>
    </a:lastRow>
    <a:firstRow>
      <a:tcTxStyle b="on" i="off">
        <a:font>
          <a:latin typeface="Graphik Semibold"/>
          <a:ea typeface="Graphik Semibold"/>
          <a:cs typeface="Graphik Semibold"/>
        </a:font>
        <a:srgbClr val="FFFFFF"/>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92929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5706" autoAdjust="0"/>
  </p:normalViewPr>
  <p:slideViewPr>
    <p:cSldViewPr snapToGrid="0">
      <p:cViewPr varScale="1">
        <p:scale>
          <a:sx n="46" d="100"/>
          <a:sy n="46" d="100"/>
        </p:scale>
        <p:origin x="710" y="53"/>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7" name="Shape 157"/>
          <p:cNvSpPr>
            <a:spLocks noGrp="1" noRot="1" noChangeAspect="1"/>
          </p:cNvSpPr>
          <p:nvPr>
            <p:ph type="sldImg"/>
          </p:nvPr>
        </p:nvSpPr>
        <p:spPr>
          <a:xfrm>
            <a:off x="1143000" y="685800"/>
            <a:ext cx="4572000" cy="3429000"/>
          </a:xfrm>
          <a:prstGeom prst="rect">
            <a:avLst/>
          </a:prstGeom>
        </p:spPr>
        <p:txBody>
          <a:bodyPr/>
          <a:lstStyle/>
          <a:p>
            <a:endParaRPr/>
          </a:p>
        </p:txBody>
      </p:sp>
      <p:sp>
        <p:nvSpPr>
          <p:cNvPr id="158" name="Shape 15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63082324"/>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143129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729900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14946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_tradnl" dirty="0"/>
              <a:t>Aclarar que esto se puede trasladar a regresión</a:t>
            </a:r>
          </a:p>
        </p:txBody>
      </p:sp>
    </p:spTree>
    <p:extLst>
      <p:ext uri="{BB962C8B-B14F-4D97-AF65-F5344CB8AC3E}">
        <p14:creationId xmlns:p14="http://schemas.microsoft.com/office/powerpoint/2010/main" val="3805118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37065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57863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378525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099924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737317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4100570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494493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17999"/>
              </a:lnSpc>
              <a:spcBef>
                <a:spcPts val="0"/>
              </a:spcBef>
              <a:spcAft>
                <a:spcPts val="0"/>
              </a:spcAft>
              <a:buClrTx/>
              <a:buSzTx/>
              <a:buFontTx/>
              <a:buNone/>
              <a:tabLst/>
              <a:defRPr/>
            </a:pPr>
            <a:r>
              <a:rPr lang="es-ES" dirty="0"/>
              <a:t>El muestreo de varios puntos en un mismo subconjunto favorece la diversidad de los modelos, reduce la varianza, y ayuda a controlar el efecto de los valores extremos.</a:t>
            </a:r>
          </a:p>
          <a:p>
            <a:endParaRPr lang="es-ES_tradnl" dirty="0"/>
          </a:p>
        </p:txBody>
      </p:sp>
    </p:spTree>
    <p:extLst>
      <p:ext uri="{BB962C8B-B14F-4D97-AF65-F5344CB8AC3E}">
        <p14:creationId xmlns:p14="http://schemas.microsoft.com/office/powerpoint/2010/main" val="4255727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17999"/>
              </a:lnSpc>
              <a:spcBef>
                <a:spcPts val="0"/>
              </a:spcBef>
              <a:spcAft>
                <a:spcPts val="0"/>
              </a:spcAft>
              <a:buClrTx/>
              <a:buSzTx/>
              <a:buFontTx/>
              <a:buNone/>
              <a:tabLst/>
              <a:defRPr/>
            </a:pPr>
            <a:r>
              <a:rPr lang="es-ES" dirty="0"/>
              <a:t>El muestreo de varios puntos en un mismo subconjunto favorece la diversidad de los modelos, reduce la varianza, y ayuda a controlar el efecto de los valores extremos.</a:t>
            </a:r>
          </a:p>
          <a:p>
            <a:endParaRPr lang="es-ES_tradnl" dirty="0"/>
          </a:p>
        </p:txBody>
      </p:sp>
    </p:spTree>
    <p:extLst>
      <p:ext uri="{BB962C8B-B14F-4D97-AF65-F5344CB8AC3E}">
        <p14:creationId xmlns:p14="http://schemas.microsoft.com/office/powerpoint/2010/main" val="3593589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505691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572434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328480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_tradnl" dirty="0"/>
              <a:t>Su ventaja principal es que no requiere hipótesis sobre el mecanismo generador de los datos </a:t>
            </a:r>
          </a:p>
        </p:txBody>
      </p:sp>
    </p:spTree>
    <p:extLst>
      <p:ext uri="{BB962C8B-B14F-4D97-AF65-F5344CB8AC3E}">
        <p14:creationId xmlns:p14="http://schemas.microsoft.com/office/powerpoint/2010/main" val="42299516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_tradnl" dirty="0"/>
              <a:t>El segundo es menos preciso, pero es mas fácil de calcular.</a:t>
            </a:r>
          </a:p>
        </p:txBody>
      </p:sp>
    </p:spTree>
    <p:extLst>
      <p:ext uri="{BB962C8B-B14F-4D97-AF65-F5344CB8AC3E}">
        <p14:creationId xmlns:p14="http://schemas.microsoft.com/office/powerpoint/2010/main" val="3494913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8466830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0421943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5435794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0941556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2926359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8995008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2811833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_tradnl" dirty="0"/>
              <a:t>Mencionar que el efecto de Alpha y lambda es similar a Lasso y Ridge en los efecto que hacen</a:t>
            </a:r>
          </a:p>
        </p:txBody>
      </p:sp>
    </p:spTree>
    <p:extLst>
      <p:ext uri="{BB962C8B-B14F-4D97-AF65-F5344CB8AC3E}">
        <p14:creationId xmlns:p14="http://schemas.microsoft.com/office/powerpoint/2010/main" val="2299814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Presentation Title"/>
          <p:cNvSpPr txBox="1">
            <a:spLocks noGrp="1"/>
          </p:cNvSpPr>
          <p:nvPr>
            <p:ph type="title" hasCustomPrompt="1"/>
          </p:nvPr>
        </p:nvSpPr>
        <p:spPr>
          <a:prstGeom prst="rect">
            <a:avLst/>
          </a:prstGeom>
        </p:spPr>
        <p:txBody>
          <a:bodyPr/>
          <a:lstStyle/>
          <a:p>
            <a:r>
              <a:t>Presentation Title</a:t>
            </a:r>
          </a:p>
        </p:txBody>
      </p:sp>
      <p:sp>
        <p:nvSpPr>
          <p:cNvPr id="12" name="Body Level One…"/>
          <p:cNvSpPr txBox="1">
            <a:spLocks noGrp="1"/>
          </p:cNvSpPr>
          <p:nvPr>
            <p:ph type="body" sz="quarter" idx="1" hasCustomPrompt="1"/>
          </p:nvPr>
        </p:nvSpPr>
        <p:spPr>
          <a:prstGeom prst="rect">
            <a:avLst/>
          </a:prstGeom>
        </p:spPr>
        <p:txBody>
          <a:bodyPr/>
          <a:lstStyle/>
          <a:p>
            <a:r>
              <a:t>Presentation Subtitle </a:t>
            </a:r>
          </a:p>
          <a:p>
            <a:pPr lvl="1"/>
            <a:endParaRPr/>
          </a:p>
          <a:p>
            <a:pPr lvl="2"/>
            <a:endParaRPr/>
          </a:p>
          <a:p>
            <a:pPr lvl="3"/>
            <a:endParaRPr/>
          </a:p>
          <a:p>
            <a:pPr lvl="4"/>
            <a:endParaRP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bg>
      <p:bgPr>
        <a:solidFill>
          <a:srgbClr val="FFFFFF"/>
        </a:solidFill>
        <a:effectLst/>
      </p:bgPr>
    </p:bg>
    <p:spTree>
      <p:nvGrpSpPr>
        <p:cNvPr id="1" name=""/>
        <p:cNvGrpSpPr/>
        <p:nvPr/>
      </p:nvGrpSpPr>
      <p:grpSpPr>
        <a:xfrm>
          <a:off x="0" y="0"/>
          <a:ext cx="0" cy="0"/>
          <a:chOff x="0" y="0"/>
          <a:chExt cx="0" cy="0"/>
        </a:xfrm>
      </p:grpSpPr>
      <p:sp>
        <p:nvSpPr>
          <p:cNvPr id="20" name="Low angle view of a building and palm trees under a bright sky"/>
          <p:cNvSpPr>
            <a:spLocks noGrp="1"/>
          </p:cNvSpPr>
          <p:nvPr>
            <p:ph type="pic" idx="21"/>
          </p:nvPr>
        </p:nvSpPr>
        <p:spPr>
          <a:xfrm>
            <a:off x="-254000" y="-3937000"/>
            <a:ext cx="24980900" cy="18739909"/>
          </a:xfrm>
          <a:prstGeom prst="rect">
            <a:avLst/>
          </a:prstGeom>
        </p:spPr>
        <p:txBody>
          <a:bodyPr lIns="91439" tIns="45719" rIns="91439" bIns="45719">
            <a:noAutofit/>
          </a:bodyPr>
          <a:lstStyle/>
          <a:p>
            <a:endParaRPr/>
          </a:p>
        </p:txBody>
      </p:sp>
      <p:sp>
        <p:nvSpPr>
          <p:cNvPr id="21" name="Presentation Title"/>
          <p:cNvSpPr txBox="1">
            <a:spLocks noGrp="1"/>
          </p:cNvSpPr>
          <p:nvPr>
            <p:ph type="title" hasCustomPrompt="1"/>
          </p:nvPr>
        </p:nvSpPr>
        <p:spPr>
          <a:xfrm>
            <a:off x="1295400" y="4384675"/>
            <a:ext cx="21869400" cy="4699000"/>
          </a:xfrm>
          <a:prstGeom prst="rect">
            <a:avLst/>
          </a:prstGeom>
        </p:spPr>
        <p:txBody>
          <a:bodyPr/>
          <a:lstStyle/>
          <a:p>
            <a:r>
              <a:t>Presentation Title</a:t>
            </a:r>
          </a:p>
        </p:txBody>
      </p:sp>
      <p:sp>
        <p:nvSpPr>
          <p:cNvPr id="22" name="Body Level One…"/>
          <p:cNvSpPr txBox="1">
            <a:spLocks noGrp="1"/>
          </p:cNvSpPr>
          <p:nvPr>
            <p:ph type="body" sz="quarter" idx="1" hasCustomPrompt="1"/>
          </p:nvPr>
        </p:nvSpPr>
        <p:spPr>
          <a:xfrm>
            <a:off x="1295400" y="9268776"/>
            <a:ext cx="21869400" cy="1422714"/>
          </a:xfrm>
          <a:prstGeom prst="rect">
            <a:avLst/>
          </a:prstGeom>
        </p:spPr>
        <p:txBody>
          <a:bodyPr/>
          <a:lstStyle/>
          <a:p>
            <a:r>
              <a:t>Presentation Subtitle</a:t>
            </a:r>
          </a:p>
          <a:p>
            <a:pPr lvl="1"/>
            <a:endParaRPr/>
          </a:p>
          <a:p>
            <a:pPr lvl="2"/>
            <a:endParaRPr/>
          </a:p>
          <a:p>
            <a:pPr lvl="3"/>
            <a:endParaRPr/>
          </a:p>
          <a:p>
            <a:pPr lvl="4"/>
            <a:endParaRP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0"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31" name="Low angle view of a palm tree with Dubai’s skyscrapers in the background"/>
          <p:cNvSpPr>
            <a:spLocks noGrp="1"/>
          </p:cNvSpPr>
          <p:nvPr>
            <p:ph type="pic" idx="21"/>
          </p:nvPr>
        </p:nvSpPr>
        <p:spPr>
          <a:xfrm>
            <a:off x="14033251" y="-897806"/>
            <a:ext cx="10349536" cy="15511609"/>
          </a:xfrm>
          <a:prstGeom prst="rect">
            <a:avLst/>
          </a:prstGeom>
        </p:spPr>
        <p:txBody>
          <a:bodyPr lIns="91439" tIns="45719" rIns="91439" bIns="45719">
            <a:noAutofit/>
          </a:bodyPr>
          <a:lstStyle/>
          <a:p>
            <a:endParaRPr/>
          </a:p>
        </p:txBody>
      </p:sp>
      <p:sp>
        <p:nvSpPr>
          <p:cNvPr id="32" name="Slide Title"/>
          <p:cNvSpPr txBox="1">
            <a:spLocks noGrp="1"/>
          </p:cNvSpPr>
          <p:nvPr>
            <p:ph type="title" hasCustomPrompt="1"/>
          </p:nvPr>
        </p:nvSpPr>
        <p:spPr>
          <a:xfrm>
            <a:off x="1295400" y="3743016"/>
            <a:ext cx="11442700" cy="5334001"/>
          </a:xfrm>
          <a:prstGeom prst="rect">
            <a:avLst/>
          </a:prstGeom>
        </p:spPr>
        <p:txBody>
          <a:bodyPr/>
          <a:lstStyle/>
          <a:p>
            <a:r>
              <a:t>Slide Title</a:t>
            </a:r>
          </a:p>
        </p:txBody>
      </p:sp>
      <p:sp>
        <p:nvSpPr>
          <p:cNvPr id="33" name="Body Level One…"/>
          <p:cNvSpPr txBox="1">
            <a:spLocks noGrp="1"/>
          </p:cNvSpPr>
          <p:nvPr>
            <p:ph type="body" sz="quarter" idx="1" hasCustomPrompt="1"/>
          </p:nvPr>
        </p:nvSpPr>
        <p:spPr>
          <a:xfrm>
            <a:off x="1295400" y="9271000"/>
            <a:ext cx="11442700" cy="3175000"/>
          </a:xfrm>
          <a:prstGeom prst="rect">
            <a:avLst/>
          </a:prstGeom>
        </p:spPr>
        <p:txBody>
          <a:bodyPr/>
          <a:lstStyle/>
          <a:p>
            <a:r>
              <a:t>Slide Subtitle</a:t>
            </a:r>
          </a:p>
          <a:p>
            <a:pPr lvl="1"/>
            <a:endParaRPr/>
          </a:p>
          <a:p>
            <a:pPr lvl="2"/>
            <a:endParaRPr/>
          </a:p>
          <a:p>
            <a:pPr lvl="3"/>
            <a:endParaRPr/>
          </a:p>
          <a:p>
            <a:pPr lvl="4"/>
            <a:endParaRP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1"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42"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43" name="Slide Subtitle"/>
          <p:cNvSpPr txBox="1">
            <a:spLocks noGrp="1"/>
          </p:cNvSpPr>
          <p:nvPr>
            <p:ph type="body" sz="quarter" idx="22" hasCustomPrompt="1"/>
          </p:nvPr>
        </p:nvSpPr>
        <p:spPr>
          <a:xfrm>
            <a:off x="1295400" y="3543455"/>
            <a:ext cx="21869400" cy="694056"/>
          </a:xfrm>
          <a:prstGeom prst="rect">
            <a:avLst/>
          </a:prstGeom>
        </p:spPr>
        <p:txBody>
          <a:bodyPr/>
          <a:lstStyle/>
          <a:p>
            <a:r>
              <a:t>Slide Subtitle</a:t>
            </a:r>
          </a:p>
        </p:txBody>
      </p:sp>
      <p:sp>
        <p:nvSpPr>
          <p:cNvPr id="44" name="Slide Title"/>
          <p:cNvSpPr txBox="1">
            <a:spLocks noGrp="1"/>
          </p:cNvSpPr>
          <p:nvPr>
            <p:ph type="title" hasCustomPrompt="1"/>
          </p:nvPr>
        </p:nvSpPr>
        <p:spPr>
          <a:xfrm>
            <a:off x="1295400" y="1620697"/>
            <a:ext cx="21869400" cy="1778386"/>
          </a:xfrm>
          <a:prstGeom prst="rect">
            <a:avLst/>
          </a:prstGeom>
        </p:spPr>
        <p:txBody>
          <a:bodyPr anchor="t"/>
          <a:lstStyle>
            <a:lvl1pPr defTabSz="584200">
              <a:defRPr sz="10000" spc="-400"/>
            </a:lvl1pPr>
          </a:lstStyle>
          <a:p>
            <a:r>
              <a:t>Slide Title</a:t>
            </a:r>
          </a:p>
        </p:txBody>
      </p:sp>
      <p:sp>
        <p:nvSpPr>
          <p:cNvPr id="45" name="Body Level One…"/>
          <p:cNvSpPr txBox="1">
            <a:spLocks noGrp="1"/>
          </p:cNvSpPr>
          <p:nvPr>
            <p:ph type="body" idx="1" hasCustomPrompt="1"/>
          </p:nvPr>
        </p:nvSpPr>
        <p:spPr>
          <a:xfrm>
            <a:off x="1295400" y="5270500"/>
            <a:ext cx="21869400" cy="7137400"/>
          </a:xfrm>
          <a:prstGeom prst="rect">
            <a:avLst/>
          </a:prstGeom>
        </p:spPr>
        <p:txBody>
          <a:bodyPr/>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46" name="Slide Number"/>
          <p:cNvSpPr txBox="1">
            <a:spLocks noGrp="1"/>
          </p:cNvSpPr>
          <p:nvPr>
            <p:ph type="sldNum" sz="quarter" idx="2"/>
          </p:nvPr>
        </p:nvSpPr>
        <p:spPr>
          <a:xfrm>
            <a:off x="22793706" y="12981031"/>
            <a:ext cx="361189" cy="404115"/>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3"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54"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55" name="Body Level One…"/>
          <p:cNvSpPr txBox="1">
            <a:spLocks noGrp="1"/>
          </p:cNvSpPr>
          <p:nvPr>
            <p:ph type="body" idx="1" hasCustomPrompt="1"/>
          </p:nvPr>
        </p:nvSpPr>
        <p:spPr>
          <a:xfrm>
            <a:off x="1295400" y="5270500"/>
            <a:ext cx="21869400" cy="7135317"/>
          </a:xfrm>
          <a:prstGeom prst="rect">
            <a:avLst/>
          </a:prstGeom>
        </p:spPr>
        <p:txBody>
          <a:bodyPr numCol="2" spcCol="1093469"/>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3"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64" name="A blue and white director’s chair beside a pool with a floating blue inflatable ring"/>
          <p:cNvSpPr>
            <a:spLocks noGrp="1"/>
          </p:cNvSpPr>
          <p:nvPr>
            <p:ph type="pic" idx="21"/>
          </p:nvPr>
        </p:nvSpPr>
        <p:spPr>
          <a:xfrm>
            <a:off x="14034290" y="-250431"/>
            <a:ext cx="10358781" cy="14229560"/>
          </a:xfrm>
          <a:prstGeom prst="rect">
            <a:avLst/>
          </a:prstGeom>
        </p:spPr>
        <p:txBody>
          <a:bodyPr lIns="91439" tIns="45719" rIns="91439" bIns="45719">
            <a:noAutofit/>
          </a:bodyPr>
          <a:lstStyle/>
          <a:p>
            <a:endParaRPr/>
          </a:p>
        </p:txBody>
      </p:sp>
      <p:sp>
        <p:nvSpPr>
          <p:cNvPr id="65" name="Body Level One…"/>
          <p:cNvSpPr txBox="1">
            <a:spLocks noGrp="1"/>
          </p:cNvSpPr>
          <p:nvPr>
            <p:ph type="body" sz="half" idx="1" hasCustomPrompt="1"/>
          </p:nvPr>
        </p:nvSpPr>
        <p:spPr>
          <a:xfrm>
            <a:off x="1295400" y="5257800"/>
            <a:ext cx="11442700" cy="6886575"/>
          </a:xfrm>
          <a:prstGeom prst="rect">
            <a:avLst/>
          </a:prstGeom>
        </p:spPr>
        <p:txBody>
          <a:bodyPr/>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66" name="Author and Date"/>
          <p:cNvSpPr txBox="1">
            <a:spLocks noGrp="1"/>
          </p:cNvSpPr>
          <p:nvPr>
            <p:ph type="body" sz="quarter" idx="22" hasCustomPrompt="1"/>
          </p:nvPr>
        </p:nvSpPr>
        <p:spPr>
          <a:xfrm>
            <a:off x="1295400" y="12955885"/>
            <a:ext cx="114427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67" name="Slide Title"/>
          <p:cNvSpPr txBox="1">
            <a:spLocks noGrp="1"/>
          </p:cNvSpPr>
          <p:nvPr>
            <p:ph type="title" hasCustomPrompt="1"/>
          </p:nvPr>
        </p:nvSpPr>
        <p:spPr>
          <a:xfrm>
            <a:off x="1295400" y="1625600"/>
            <a:ext cx="11442700" cy="2466975"/>
          </a:xfrm>
          <a:prstGeom prst="rect">
            <a:avLst/>
          </a:prstGeom>
        </p:spPr>
        <p:txBody>
          <a:bodyPr anchor="t"/>
          <a:lstStyle>
            <a:lvl1pPr defTabSz="584200">
              <a:defRPr sz="10000" spc="-400"/>
            </a:lvl1pPr>
          </a:lstStyle>
          <a:p>
            <a:r>
              <a:t>Slide Title</a:t>
            </a:r>
          </a:p>
        </p:txBody>
      </p:sp>
      <p:sp>
        <p:nvSpPr>
          <p:cNvPr id="68" name="Slide Subtitle"/>
          <p:cNvSpPr txBox="1">
            <a:spLocks noGrp="1"/>
          </p:cNvSpPr>
          <p:nvPr>
            <p:ph type="body" sz="quarter" idx="23" hasCustomPrompt="1"/>
          </p:nvPr>
        </p:nvSpPr>
        <p:spPr>
          <a:xfrm>
            <a:off x="1295400" y="4092575"/>
            <a:ext cx="11442701" cy="678372"/>
          </a:xfrm>
          <a:prstGeom prst="rect">
            <a:avLst/>
          </a:prstGeom>
        </p:spPr>
        <p:txBody>
          <a:bodyPr/>
          <a:lstStyle>
            <a:lvl1pPr defTabSz="566674">
              <a:defRPr sz="3395" spc="-101"/>
            </a:lvl1pPr>
          </a:lstStyle>
          <a:p>
            <a:r>
              <a:t>Slide Subtitle</a:t>
            </a:r>
          </a:p>
        </p:txBody>
      </p:sp>
      <p:sp>
        <p:nvSpPr>
          <p:cNvPr id="69"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76" name="Section Title"/>
          <p:cNvSpPr txBox="1">
            <a:spLocks noGrp="1"/>
          </p:cNvSpPr>
          <p:nvPr>
            <p:ph type="title" hasCustomPrompt="1"/>
          </p:nvPr>
        </p:nvSpPr>
        <p:spPr>
          <a:xfrm>
            <a:off x="1295400" y="5404408"/>
            <a:ext cx="21869400" cy="2881785"/>
          </a:xfrm>
          <a:prstGeom prst="rect">
            <a:avLst/>
          </a:prstGeom>
        </p:spPr>
        <p:txBody>
          <a:bodyPr anchor="ctr"/>
          <a:lstStyle>
            <a:lvl1pPr defTabSz="825500">
              <a:defRPr sz="10200" spc="-408"/>
            </a:lvl1pPr>
          </a:lstStyle>
          <a:p>
            <a:r>
              <a:t>Section Title</a:t>
            </a:r>
          </a:p>
        </p:txBody>
      </p:sp>
      <p:sp>
        <p:nvSpPr>
          <p:cNvPr id="77"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84" name="Rectangle"/>
          <p:cNvSpPr/>
          <p:nvPr/>
        </p:nvSpPr>
        <p:spPr>
          <a:xfrm>
            <a:off x="-1" y="1270000"/>
            <a:ext cx="24384001" cy="12446000"/>
          </a:xfrm>
          <a:prstGeom prst="rect">
            <a:avLst/>
          </a:prstGeom>
          <a:solidFill>
            <a:srgbClr val="FFFFFF">
              <a:alpha val="85000"/>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85"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86" name="Slide Subtitle"/>
          <p:cNvSpPr txBox="1">
            <a:spLocks noGrp="1"/>
          </p:cNvSpPr>
          <p:nvPr>
            <p:ph type="body" sz="quarter" idx="22" hasCustomPrompt="1"/>
          </p:nvPr>
        </p:nvSpPr>
        <p:spPr>
          <a:xfrm>
            <a:off x="1295400" y="3543455"/>
            <a:ext cx="21869400" cy="694056"/>
          </a:xfrm>
          <a:prstGeom prst="rect">
            <a:avLst/>
          </a:prstGeom>
        </p:spPr>
        <p:txBody>
          <a:bodyPr/>
          <a:lstStyle/>
          <a:p>
            <a:r>
              <a:t>Slide Subtitle </a:t>
            </a:r>
          </a:p>
        </p:txBody>
      </p:sp>
      <p:sp>
        <p:nvSpPr>
          <p:cNvPr id="87" name="Slide Title"/>
          <p:cNvSpPr txBox="1">
            <a:spLocks noGrp="1"/>
          </p:cNvSpPr>
          <p:nvPr>
            <p:ph type="title" hasCustomPrompt="1"/>
          </p:nvPr>
        </p:nvSpPr>
        <p:spPr>
          <a:xfrm>
            <a:off x="1295400" y="1620697"/>
            <a:ext cx="21869400" cy="1778001"/>
          </a:xfrm>
          <a:prstGeom prst="rect">
            <a:avLst/>
          </a:prstGeom>
        </p:spPr>
        <p:txBody>
          <a:bodyPr anchor="t"/>
          <a:lstStyle>
            <a:lvl1pPr defTabSz="584200">
              <a:defRPr sz="10000" spc="-400"/>
            </a:lvl1pPr>
          </a:lstStyle>
          <a:p>
            <a:r>
              <a:t>Slide Title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95" name="Rectangle"/>
          <p:cNvSpPr/>
          <p:nvPr/>
        </p:nvSpPr>
        <p:spPr>
          <a:xfrm>
            <a:off x="-1" y="1270000"/>
            <a:ext cx="24384001" cy="12446000"/>
          </a:xfrm>
          <a:prstGeom prst="rect">
            <a:avLst/>
          </a:prstGeom>
          <a:solidFill>
            <a:srgbClr val="FFFFFF">
              <a:alpha val="85000"/>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96"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97" name="Agenda Subtitle"/>
          <p:cNvSpPr txBox="1">
            <a:spLocks noGrp="1"/>
          </p:cNvSpPr>
          <p:nvPr>
            <p:ph type="body" sz="quarter" idx="22" hasCustomPrompt="1"/>
          </p:nvPr>
        </p:nvSpPr>
        <p:spPr>
          <a:xfrm>
            <a:off x="1295400" y="3543455"/>
            <a:ext cx="21869400" cy="694056"/>
          </a:xfrm>
          <a:prstGeom prst="rect">
            <a:avLst/>
          </a:prstGeom>
        </p:spPr>
        <p:txBody>
          <a:bodyPr/>
          <a:lstStyle/>
          <a:p>
            <a:r>
              <a:t>Agenda Subtitle</a:t>
            </a:r>
          </a:p>
        </p:txBody>
      </p:sp>
      <p:sp>
        <p:nvSpPr>
          <p:cNvPr id="98" name="Body Level One…"/>
          <p:cNvSpPr txBox="1">
            <a:spLocks noGrp="1"/>
          </p:cNvSpPr>
          <p:nvPr>
            <p:ph type="body" idx="1" hasCustomPrompt="1"/>
          </p:nvPr>
        </p:nvSpPr>
        <p:spPr>
          <a:xfrm>
            <a:off x="1295400" y="5118100"/>
            <a:ext cx="21869400" cy="7137400"/>
          </a:xfrm>
          <a:prstGeom prst="rect">
            <a:avLst/>
          </a:prstGeom>
        </p:spPr>
        <p:txBody>
          <a:bodyPr/>
          <a:lstStyle>
            <a:lvl1pPr defTabSz="825500">
              <a:spcBef>
                <a:spcPts val="3200"/>
              </a:spcBef>
              <a:defRPr sz="5400" b="1" u="sng" cap="none" spc="-53">
                <a:latin typeface="+mn-lt"/>
                <a:ea typeface="+mn-ea"/>
                <a:cs typeface="+mn-cs"/>
                <a:sym typeface="Graphik"/>
              </a:defRPr>
            </a:lvl1pPr>
            <a:lvl2pPr defTabSz="825500">
              <a:spcBef>
                <a:spcPts val="3200"/>
              </a:spcBef>
              <a:defRPr sz="5400" b="1" u="sng" cap="none" spc="-53">
                <a:latin typeface="+mn-lt"/>
                <a:ea typeface="+mn-ea"/>
                <a:cs typeface="+mn-cs"/>
                <a:sym typeface="Graphik"/>
              </a:defRPr>
            </a:lvl2pPr>
            <a:lvl3pPr defTabSz="825500">
              <a:spcBef>
                <a:spcPts val="3200"/>
              </a:spcBef>
              <a:defRPr sz="5400" b="1" u="sng" cap="none" spc="-53">
                <a:latin typeface="+mn-lt"/>
                <a:ea typeface="+mn-ea"/>
                <a:cs typeface="+mn-cs"/>
                <a:sym typeface="Graphik"/>
              </a:defRPr>
            </a:lvl3pPr>
            <a:lvl4pPr defTabSz="825500">
              <a:spcBef>
                <a:spcPts val="3200"/>
              </a:spcBef>
              <a:defRPr sz="5400" b="1" u="sng" cap="none" spc="-53">
                <a:latin typeface="+mn-lt"/>
                <a:ea typeface="+mn-ea"/>
                <a:cs typeface="+mn-cs"/>
                <a:sym typeface="Graphik"/>
              </a:defRPr>
            </a:lvl4pPr>
            <a:lvl5pPr defTabSz="825500">
              <a:spcBef>
                <a:spcPts val="3200"/>
              </a:spcBef>
              <a:defRPr sz="5400" b="1" u="sng" cap="none" spc="-53">
                <a:latin typeface="+mn-lt"/>
                <a:ea typeface="+mn-ea"/>
                <a:cs typeface="+mn-cs"/>
                <a:sym typeface="Graphik"/>
              </a:defRPr>
            </a:lvl5pPr>
          </a:lstStyle>
          <a:p>
            <a:r>
              <a:t>Agenda Topics</a:t>
            </a:r>
          </a:p>
          <a:p>
            <a:pPr lvl="1"/>
            <a:endParaRPr/>
          </a:p>
          <a:p>
            <a:pPr lvl="2"/>
            <a:endParaRPr/>
          </a:p>
          <a:p>
            <a:pPr lvl="3"/>
            <a:endParaRPr/>
          </a:p>
          <a:p>
            <a:pPr lvl="4"/>
            <a:endParaRPr/>
          </a:p>
        </p:txBody>
      </p:sp>
      <p:sp>
        <p:nvSpPr>
          <p:cNvPr id="99" name="Agenda Title"/>
          <p:cNvSpPr txBox="1">
            <a:spLocks noGrp="1"/>
          </p:cNvSpPr>
          <p:nvPr>
            <p:ph type="title" hasCustomPrompt="1"/>
          </p:nvPr>
        </p:nvSpPr>
        <p:spPr>
          <a:xfrm>
            <a:off x="1295400" y="1620697"/>
            <a:ext cx="21869400" cy="1778001"/>
          </a:xfrm>
          <a:prstGeom prst="rect">
            <a:avLst/>
          </a:prstGeom>
        </p:spPr>
        <p:txBody>
          <a:bodyPr anchor="t"/>
          <a:lstStyle>
            <a:lvl1pPr defTabSz="584200">
              <a:defRPr sz="10000" spc="-400"/>
            </a:lvl1pPr>
          </a:lstStyle>
          <a:p>
            <a:r>
              <a:t>Agenda Title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7" name="Body Level One…"/>
          <p:cNvSpPr txBox="1">
            <a:spLocks noGrp="1"/>
          </p:cNvSpPr>
          <p:nvPr>
            <p:ph type="body" sz="half" idx="1" hasCustomPrompt="1"/>
          </p:nvPr>
        </p:nvSpPr>
        <p:spPr>
          <a:xfrm>
            <a:off x="1298277" y="4927600"/>
            <a:ext cx="21863646" cy="3853767"/>
          </a:xfrm>
          <a:prstGeom prst="rect">
            <a:avLst/>
          </a:prstGeom>
        </p:spPr>
        <p:txBody>
          <a:bodyPr anchor="ctr"/>
          <a:lstStyle>
            <a:lvl1pPr algn="ctr" defTabSz="1160859">
              <a:defRPr sz="10200" b="1" spc="-408">
                <a:latin typeface="+mn-lt"/>
                <a:ea typeface="+mn-ea"/>
                <a:cs typeface="+mn-cs"/>
                <a:sym typeface="Graphik"/>
              </a:defRPr>
            </a:lvl1pPr>
            <a:lvl2pPr algn="ctr" defTabSz="1160859">
              <a:defRPr sz="10200" b="1" spc="-408">
                <a:latin typeface="+mn-lt"/>
                <a:ea typeface="+mn-ea"/>
                <a:cs typeface="+mn-cs"/>
                <a:sym typeface="Graphik"/>
              </a:defRPr>
            </a:lvl2pPr>
            <a:lvl3pPr algn="ctr" defTabSz="1160859">
              <a:defRPr sz="10200" b="1" spc="-408">
                <a:latin typeface="+mn-lt"/>
                <a:ea typeface="+mn-ea"/>
                <a:cs typeface="+mn-cs"/>
                <a:sym typeface="Graphik"/>
              </a:defRPr>
            </a:lvl3pPr>
            <a:lvl4pPr algn="ctr" defTabSz="1160859">
              <a:defRPr sz="10200" b="1" spc="-408">
                <a:latin typeface="+mn-lt"/>
                <a:ea typeface="+mn-ea"/>
                <a:cs typeface="+mn-cs"/>
                <a:sym typeface="Graphik"/>
              </a:defRPr>
            </a:lvl4pPr>
            <a:lvl5pPr algn="ctr" defTabSz="1160859">
              <a:defRPr sz="10200" b="1" spc="-408">
                <a:latin typeface="+mn-lt"/>
                <a:ea typeface="+mn-ea"/>
                <a:cs typeface="+mn-cs"/>
                <a:sym typeface="Graphik"/>
              </a:defRPr>
            </a:lvl5pPr>
          </a:lstStyle>
          <a:p>
            <a:r>
              <a:t>Statement</a:t>
            </a:r>
          </a:p>
          <a:p>
            <a:pPr lvl="1"/>
            <a:endParaRPr/>
          </a:p>
          <a:p>
            <a:pPr lvl="2"/>
            <a:endParaRPr/>
          </a:p>
          <a:p>
            <a:pPr lvl="3"/>
            <a:endParaRPr/>
          </a:p>
          <a:p>
            <a:pPr lvl="4"/>
            <a:endParaRP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5" name="Body Level One…"/>
          <p:cNvSpPr txBox="1">
            <a:spLocks noGrp="1"/>
          </p:cNvSpPr>
          <p:nvPr>
            <p:ph type="body" sz="half" idx="1" hasCustomPrompt="1"/>
          </p:nvPr>
        </p:nvSpPr>
        <p:spPr>
          <a:xfrm>
            <a:off x="1295400" y="3587043"/>
            <a:ext cx="21869400" cy="4730168"/>
          </a:xfrm>
          <a:prstGeom prst="rect">
            <a:avLst/>
          </a:prstGeom>
        </p:spPr>
        <p:txBody>
          <a:bodyPr anchor="b"/>
          <a:lstStyle>
            <a:lvl1pPr algn="ctr" defTabSz="825500">
              <a:lnSpc>
                <a:spcPct val="70000"/>
              </a:lnSpc>
              <a:defRPr sz="22400" b="1" spc="-448">
                <a:latin typeface="+mn-lt"/>
                <a:ea typeface="+mn-ea"/>
                <a:cs typeface="+mn-cs"/>
                <a:sym typeface="Graphik"/>
              </a:defRPr>
            </a:lvl1pPr>
            <a:lvl2pPr algn="ctr" defTabSz="825500">
              <a:lnSpc>
                <a:spcPct val="70000"/>
              </a:lnSpc>
              <a:defRPr sz="22400" b="1" spc="-448">
                <a:latin typeface="+mn-lt"/>
                <a:ea typeface="+mn-ea"/>
                <a:cs typeface="+mn-cs"/>
                <a:sym typeface="Graphik"/>
              </a:defRPr>
            </a:lvl2pPr>
            <a:lvl3pPr algn="ctr" defTabSz="825500">
              <a:lnSpc>
                <a:spcPct val="70000"/>
              </a:lnSpc>
              <a:defRPr sz="22400" b="1" spc="-448">
                <a:latin typeface="+mn-lt"/>
                <a:ea typeface="+mn-ea"/>
                <a:cs typeface="+mn-cs"/>
                <a:sym typeface="Graphik"/>
              </a:defRPr>
            </a:lvl3pPr>
            <a:lvl4pPr algn="ctr" defTabSz="825500">
              <a:lnSpc>
                <a:spcPct val="70000"/>
              </a:lnSpc>
              <a:defRPr sz="22400" b="1" spc="-448">
                <a:latin typeface="+mn-lt"/>
                <a:ea typeface="+mn-ea"/>
                <a:cs typeface="+mn-cs"/>
                <a:sym typeface="Graphik"/>
              </a:defRPr>
            </a:lvl4pPr>
            <a:lvl5pPr algn="ctr" defTabSz="825500">
              <a:lnSpc>
                <a:spcPct val="70000"/>
              </a:lnSpc>
              <a:defRPr sz="22400" b="1" spc="-448">
                <a:latin typeface="+mn-lt"/>
                <a:ea typeface="+mn-ea"/>
                <a:cs typeface="+mn-cs"/>
                <a:sym typeface="Graphik"/>
              </a:defRPr>
            </a:lvl5pPr>
          </a:lstStyle>
          <a:p>
            <a:r>
              <a:t>100%</a:t>
            </a:r>
          </a:p>
          <a:p>
            <a:pPr lvl="1"/>
            <a:endParaRPr/>
          </a:p>
          <a:p>
            <a:pPr lvl="2"/>
            <a:endParaRPr/>
          </a:p>
          <a:p>
            <a:pPr lvl="3"/>
            <a:endParaRPr/>
          </a:p>
          <a:p>
            <a:pPr lvl="4"/>
            <a:endParaRPr/>
          </a:p>
        </p:txBody>
      </p:sp>
      <p:sp>
        <p:nvSpPr>
          <p:cNvPr id="116" name="Fact information"/>
          <p:cNvSpPr txBox="1">
            <a:spLocks noGrp="1"/>
          </p:cNvSpPr>
          <p:nvPr>
            <p:ph type="body" sz="quarter" idx="21" hasCustomPrompt="1"/>
          </p:nvPr>
        </p:nvSpPr>
        <p:spPr>
          <a:xfrm>
            <a:off x="1295400" y="8117284"/>
            <a:ext cx="21869400" cy="592456"/>
          </a:xfrm>
          <a:prstGeom prst="rect">
            <a:avLst/>
          </a:prstGeom>
        </p:spPr>
        <p:txBody>
          <a:bodyPr/>
          <a:lstStyle>
            <a:lvl1pPr algn="ctr" defTabSz="490727">
              <a:spcBef>
                <a:spcPts val="2600"/>
              </a:spcBef>
              <a:defRPr sz="2940" spc="-88"/>
            </a:lvl1pPr>
          </a:lstStyle>
          <a:p>
            <a:r>
              <a:t>Fact information</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24" name="Attribution"/>
          <p:cNvSpPr txBox="1">
            <a:spLocks noGrp="1"/>
          </p:cNvSpPr>
          <p:nvPr>
            <p:ph type="body" sz="quarter" idx="21" hasCustomPrompt="1"/>
          </p:nvPr>
        </p:nvSpPr>
        <p:spPr>
          <a:xfrm>
            <a:off x="2252674" y="10353079"/>
            <a:ext cx="20691414" cy="567945"/>
          </a:xfrm>
          <a:prstGeom prst="rect">
            <a:avLst/>
          </a:prstGeom>
        </p:spPr>
        <p:txBody>
          <a:bodyPr/>
          <a:lstStyle>
            <a:lvl1pPr defTabSz="584200">
              <a:defRPr sz="2800" spc="-84"/>
            </a:lvl1pPr>
          </a:lstStyle>
          <a:p>
            <a:r>
              <a:t>Attribution </a:t>
            </a:r>
          </a:p>
        </p:txBody>
      </p:sp>
      <p:sp>
        <p:nvSpPr>
          <p:cNvPr id="125" name="Body Level One…"/>
          <p:cNvSpPr txBox="1">
            <a:spLocks noGrp="1"/>
          </p:cNvSpPr>
          <p:nvPr>
            <p:ph type="body" sz="half" idx="1" hasCustomPrompt="1"/>
          </p:nvPr>
        </p:nvSpPr>
        <p:spPr>
          <a:xfrm>
            <a:off x="1439912" y="4332885"/>
            <a:ext cx="21504176" cy="5497468"/>
          </a:xfrm>
          <a:prstGeom prst="rect">
            <a:avLst/>
          </a:prstGeom>
        </p:spPr>
        <p:txBody>
          <a:bodyPr anchor="b"/>
          <a:lstStyle>
            <a:lvl1pPr marL="714375" indent="-714375" defTabSz="1160859">
              <a:lnSpc>
                <a:spcPct val="70000"/>
              </a:lnSpc>
              <a:defRPr sz="13300" b="1" i="1" spc="-532">
                <a:latin typeface="+mn-lt"/>
                <a:ea typeface="+mn-ea"/>
                <a:cs typeface="+mn-cs"/>
                <a:sym typeface="Graphik"/>
              </a:defRPr>
            </a:lvl1pPr>
            <a:lvl2pPr marL="714375" indent="-257175" defTabSz="1160859">
              <a:lnSpc>
                <a:spcPct val="70000"/>
              </a:lnSpc>
              <a:defRPr sz="13300" b="1" i="1" spc="-532">
                <a:latin typeface="+mn-lt"/>
                <a:ea typeface="+mn-ea"/>
                <a:cs typeface="+mn-cs"/>
                <a:sym typeface="Graphik"/>
              </a:defRPr>
            </a:lvl2pPr>
            <a:lvl3pPr marL="714375" indent="200025" defTabSz="1160859">
              <a:lnSpc>
                <a:spcPct val="70000"/>
              </a:lnSpc>
              <a:defRPr sz="13300" b="1" i="1" spc="-532">
                <a:latin typeface="+mn-lt"/>
                <a:ea typeface="+mn-ea"/>
                <a:cs typeface="+mn-cs"/>
                <a:sym typeface="Graphik"/>
              </a:defRPr>
            </a:lvl3pPr>
            <a:lvl4pPr marL="714375" indent="657225" defTabSz="1160859">
              <a:lnSpc>
                <a:spcPct val="70000"/>
              </a:lnSpc>
              <a:defRPr sz="13300" b="1" i="1" spc="-532">
                <a:latin typeface="+mn-lt"/>
                <a:ea typeface="+mn-ea"/>
                <a:cs typeface="+mn-cs"/>
                <a:sym typeface="Graphik"/>
              </a:defRPr>
            </a:lvl4pPr>
            <a:lvl5pPr marL="714375" indent="1114425" defTabSz="1160859">
              <a:lnSpc>
                <a:spcPct val="70000"/>
              </a:lnSpc>
              <a:defRPr sz="13300" b="1" i="1" spc="-532">
                <a:latin typeface="+mn-lt"/>
                <a:ea typeface="+mn-ea"/>
                <a:cs typeface="+mn-cs"/>
                <a:sym typeface="Graphik"/>
              </a:defRPr>
            </a:lvl5pPr>
          </a:lstStyle>
          <a:p>
            <a:r>
              <a:t>“Notable Quote”</a:t>
            </a:r>
          </a:p>
          <a:p>
            <a:pPr lvl="1"/>
            <a:endParaRPr/>
          </a:p>
          <a:p>
            <a:pPr lvl="2"/>
            <a:endParaRPr/>
          </a:p>
          <a:p>
            <a:pPr lvl="3"/>
            <a:endParaRPr/>
          </a:p>
          <a:p>
            <a:pPr lvl="4"/>
            <a:endParaRPr/>
          </a:p>
        </p:txBody>
      </p:sp>
      <p:sp>
        <p:nvSpPr>
          <p:cNvPr id="12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33" name="High angle view of a pink inflatable raft in a pool"/>
          <p:cNvSpPr>
            <a:spLocks noGrp="1"/>
          </p:cNvSpPr>
          <p:nvPr>
            <p:ph type="pic" idx="21"/>
          </p:nvPr>
        </p:nvSpPr>
        <p:spPr>
          <a:xfrm>
            <a:off x="5867400" y="0"/>
            <a:ext cx="20573997" cy="13715999"/>
          </a:xfrm>
          <a:prstGeom prst="rect">
            <a:avLst/>
          </a:prstGeom>
        </p:spPr>
        <p:txBody>
          <a:bodyPr lIns="91439" tIns="45719" rIns="91439" bIns="45719">
            <a:noAutofit/>
          </a:bodyPr>
          <a:lstStyle/>
          <a:p>
            <a:endParaRPr/>
          </a:p>
        </p:txBody>
      </p:sp>
      <p:sp>
        <p:nvSpPr>
          <p:cNvPr id="134" name="Palm trees against a pink and purple sky after sunset"/>
          <p:cNvSpPr>
            <a:spLocks noGrp="1"/>
          </p:cNvSpPr>
          <p:nvPr>
            <p:ph type="pic" sz="half" idx="22"/>
          </p:nvPr>
        </p:nvSpPr>
        <p:spPr>
          <a:xfrm>
            <a:off x="-1" y="-1159934"/>
            <a:ext cx="12065001" cy="9050868"/>
          </a:xfrm>
          <a:prstGeom prst="rect">
            <a:avLst/>
          </a:prstGeom>
        </p:spPr>
        <p:txBody>
          <a:bodyPr lIns="91439" tIns="45719" rIns="91439" bIns="45719">
            <a:noAutofit/>
          </a:bodyPr>
          <a:lstStyle/>
          <a:p>
            <a:endParaRPr/>
          </a:p>
        </p:txBody>
      </p:sp>
      <p:sp>
        <p:nvSpPr>
          <p:cNvPr id="135" name="A pink inflatable ring floating in a pool"/>
          <p:cNvSpPr>
            <a:spLocks noGrp="1"/>
          </p:cNvSpPr>
          <p:nvPr>
            <p:ph type="pic" sz="half" idx="23"/>
          </p:nvPr>
        </p:nvSpPr>
        <p:spPr>
          <a:xfrm>
            <a:off x="-1" y="6326054"/>
            <a:ext cx="12065001" cy="8043335"/>
          </a:xfrm>
          <a:prstGeom prst="rect">
            <a:avLst/>
          </a:prstGeom>
        </p:spPr>
        <p:txBody>
          <a:bodyPr lIns="91439" tIns="45719" rIns="91439" bIns="45719">
            <a:noAutofit/>
          </a:bodyPr>
          <a:lstStyle/>
          <a:p>
            <a:endParaRPr/>
          </a:p>
        </p:txBody>
      </p:sp>
      <p:sp>
        <p:nvSpPr>
          <p:cNvPr id="13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bg>
      <p:bgPr>
        <a:solidFill>
          <a:srgbClr val="FFFFFF"/>
        </a:solidFill>
        <a:effectLst/>
      </p:bgPr>
    </p:bg>
    <p:spTree>
      <p:nvGrpSpPr>
        <p:cNvPr id="1" name=""/>
        <p:cNvGrpSpPr/>
        <p:nvPr/>
      </p:nvGrpSpPr>
      <p:grpSpPr>
        <a:xfrm>
          <a:off x="0" y="0"/>
          <a:ext cx="0" cy="0"/>
          <a:chOff x="0" y="0"/>
          <a:chExt cx="0" cy="0"/>
        </a:xfrm>
      </p:grpSpPr>
      <p:sp>
        <p:nvSpPr>
          <p:cNvPr id="143" name="Miami Beach palm trees against a pink sky after sunset with art deco buildings in the background"/>
          <p:cNvSpPr>
            <a:spLocks noGrp="1"/>
          </p:cNvSpPr>
          <p:nvPr>
            <p:ph type="pic" idx="21"/>
          </p:nvPr>
        </p:nvSpPr>
        <p:spPr>
          <a:xfrm>
            <a:off x="-368300" y="-482600"/>
            <a:ext cx="25133300" cy="16752711"/>
          </a:xfrm>
          <a:prstGeom prst="rect">
            <a:avLst/>
          </a:prstGeom>
        </p:spPr>
        <p:txBody>
          <a:bodyPr lIns="91439" tIns="45719" rIns="91439" bIns="45719">
            <a:noAutofit/>
          </a:bodyPr>
          <a:lstStyle/>
          <a:p>
            <a:endParaRPr/>
          </a:p>
        </p:txBody>
      </p:sp>
      <p:sp>
        <p:nvSpPr>
          <p:cNvPr id="144"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51"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srcRect/>
          <a:stretch>
            <a:fillRect/>
          </a:stretch>
        </a:blipFill>
        <a:effectLst/>
      </p:bgPr>
    </p:bg>
    <p:spTree>
      <p:nvGrpSpPr>
        <p:cNvPr id="1" name=""/>
        <p:cNvGrpSpPr/>
        <p:nvPr/>
      </p:nvGrpSpPr>
      <p:grpSpPr>
        <a:xfrm>
          <a:off x="0" y="0"/>
          <a:ext cx="0" cy="0"/>
          <a:chOff x="0" y="0"/>
          <a:chExt cx="0" cy="0"/>
        </a:xfrm>
      </p:grpSpPr>
      <p:sp>
        <p:nvSpPr>
          <p:cNvPr id="2" name="Presentation Title"/>
          <p:cNvSpPr txBox="1">
            <a:spLocks noGrp="1"/>
          </p:cNvSpPr>
          <p:nvPr>
            <p:ph type="title"/>
          </p:nvPr>
        </p:nvSpPr>
        <p:spPr>
          <a:xfrm>
            <a:off x="1298349" y="4384675"/>
            <a:ext cx="21869401" cy="4699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p>
            <a:r>
              <a:t>Presentation Title</a:t>
            </a:r>
          </a:p>
        </p:txBody>
      </p:sp>
      <p:sp>
        <p:nvSpPr>
          <p:cNvPr id="3" name="Body Level One…"/>
          <p:cNvSpPr txBox="1">
            <a:spLocks noGrp="1"/>
          </p:cNvSpPr>
          <p:nvPr>
            <p:ph type="body" idx="1"/>
          </p:nvPr>
        </p:nvSpPr>
        <p:spPr>
          <a:xfrm>
            <a:off x="1298349" y="9268776"/>
            <a:ext cx="21869401" cy="14022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Presentation Subtitle </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22797516" y="12979146"/>
            <a:ext cx="361189" cy="404115"/>
          </a:xfrm>
          <a:prstGeom prst="rect">
            <a:avLst/>
          </a:prstGeom>
          <a:ln w="12700">
            <a:miter lim="400000"/>
          </a:ln>
        </p:spPr>
        <p:txBody>
          <a:bodyPr wrap="none" lIns="50800" tIns="50800" rIns="50800" bIns="50800" anchor="b">
            <a:spAutoFit/>
          </a:bodyPr>
          <a:lstStyle>
            <a:lvl1pPr defTabSz="3428914">
              <a:lnSpc>
                <a:spcPct val="100000"/>
              </a:lnSpc>
              <a:spcBef>
                <a:spcPts val="0"/>
              </a:spcBef>
              <a:tabLst/>
              <a:defRPr sz="1800" spc="0">
                <a:latin typeface="+mn-lt"/>
                <a:ea typeface="+mn-ea"/>
                <a:cs typeface="+mn-cs"/>
                <a:sym typeface="Graphik"/>
              </a:defRPr>
            </a:lvl1p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1pPr>
      <a:lvl2pPr marL="0" marR="0" indent="4572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2pPr>
      <a:lvl3pPr marL="0" marR="0" indent="9144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3pPr>
      <a:lvl4pPr marL="0" marR="0" indent="13716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4pPr>
      <a:lvl5pPr marL="0" marR="0" indent="18288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5pPr>
      <a:lvl6pPr marL="0" marR="0" indent="22860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6pPr>
      <a:lvl7pPr marL="0" marR="0" indent="27432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7pPr>
      <a:lvl8pPr marL="0" marR="0" indent="32004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8pPr>
      <a:lvl9pPr marL="0" marR="0" indent="36576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9pPr>
    </p:titleStyle>
    <p:bodyStyle>
      <a:lvl1pPr marL="0" marR="0" indent="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1pPr>
      <a:lvl2pPr marL="0" marR="0" indent="4572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2pPr>
      <a:lvl3pPr marL="0" marR="0" indent="9144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3pPr>
      <a:lvl4pPr marL="0" marR="0" indent="13716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4pPr>
      <a:lvl5pPr marL="0" marR="0" indent="18288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5pPr>
      <a:lvl6pPr marL="0" marR="0" indent="22860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6pPr>
      <a:lvl7pPr marL="0" marR="0" indent="27432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7pPr>
      <a:lvl8pPr marL="0" marR="0" indent="32004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8pPr>
      <a:lvl9pPr marL="0" marR="0" indent="36576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9pPr>
    </p:bodyStyle>
    <p:otherStyle>
      <a:lvl1pPr marL="0" marR="0" indent="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1pPr>
      <a:lvl2pPr marL="0" marR="0" indent="4572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2pPr>
      <a:lvl3pPr marL="0" marR="0" indent="9144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3pPr>
      <a:lvl4pPr marL="0" marR="0" indent="13716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4pPr>
      <a:lvl5pPr marL="0" marR="0" indent="18288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5pPr>
      <a:lvl6pPr marL="0" marR="0" indent="22860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6pPr>
      <a:lvl7pPr marL="0" marR="0" indent="27432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7pPr>
      <a:lvl8pPr marL="0" marR="0" indent="32004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8pPr>
      <a:lvl9pPr marL="0" marR="0" indent="36576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mailto:jhuaytalla@uncp.edu.p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10.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11.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1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21.sv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3.svg"/><Relationship Id="rId11" Type="http://schemas.openxmlformats.org/officeDocument/2006/relationships/image" Target="../media/image20.png"/><Relationship Id="rId5" Type="http://schemas.openxmlformats.org/officeDocument/2006/relationships/image" Target="../media/image12.png"/><Relationship Id="rId10" Type="http://schemas.openxmlformats.org/officeDocument/2006/relationships/image" Target="../media/image19.svg"/><Relationship Id="rId4" Type="http://schemas.openxmlformats.org/officeDocument/2006/relationships/image" Target="../media/image11.svg"/><Relationship Id="rId9" Type="http://schemas.openxmlformats.org/officeDocument/2006/relationships/image" Target="../media/image18.png"/><Relationship Id="rId14" Type="http://schemas.openxmlformats.org/officeDocument/2006/relationships/image" Target="../media/image23.svg"/></Relationships>
</file>

<file path=ppt/slides/_rels/slide13.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4.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23.sv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3.svg"/><Relationship Id="rId11" Type="http://schemas.openxmlformats.org/officeDocument/2006/relationships/image" Target="../media/image22.png"/><Relationship Id="rId5" Type="http://schemas.openxmlformats.org/officeDocument/2006/relationships/image" Target="../media/image12.png"/><Relationship Id="rId10" Type="http://schemas.openxmlformats.org/officeDocument/2006/relationships/image" Target="../media/image19.svg"/><Relationship Id="rId4" Type="http://schemas.openxmlformats.org/officeDocument/2006/relationships/image" Target="../media/image11.svg"/><Relationship Id="rId9" Type="http://schemas.openxmlformats.org/officeDocument/2006/relationships/image" Target="../media/image18.png"/><Relationship Id="rId14" Type="http://schemas.openxmlformats.org/officeDocument/2006/relationships/image" Target="../media/image2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7.png"/><Relationship Id="rId7" Type="http://schemas.openxmlformats.org/officeDocument/2006/relationships/image" Target="../media/image15.sv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7.png"/><Relationship Id="rId7" Type="http://schemas.openxmlformats.org/officeDocument/2006/relationships/image" Target="../media/image15.sv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43.png"/><Relationship Id="rId17" Type="http://schemas.openxmlformats.org/officeDocument/2006/relationships/image" Target="../media/image480.png"/><Relationship Id="rId2" Type="http://schemas.openxmlformats.org/officeDocument/2006/relationships/notesSlide" Target="../notesSlides/notesSlide21.xml"/><Relationship Id="rId16" Type="http://schemas.openxmlformats.org/officeDocument/2006/relationships/image" Target="../media/image470.png"/><Relationship Id="rId1" Type="http://schemas.openxmlformats.org/officeDocument/2006/relationships/slideLayout" Target="../slideLayouts/slideLayout4.xml"/><Relationship Id="rId6" Type="http://schemas.openxmlformats.org/officeDocument/2006/relationships/image" Target="../media/image33.png"/><Relationship Id="rId11" Type="http://schemas.openxmlformats.org/officeDocument/2006/relationships/image" Target="../media/image420.png"/><Relationship Id="rId5" Type="http://schemas.openxmlformats.org/officeDocument/2006/relationships/image" Target="../media/image32.png"/><Relationship Id="rId15" Type="http://schemas.openxmlformats.org/officeDocument/2006/relationships/image" Target="../media/image460.png"/><Relationship Id="rId10" Type="http://schemas.openxmlformats.org/officeDocument/2006/relationships/image" Target="../media/image41.png"/><Relationship Id="rId4" Type="http://schemas.openxmlformats.org/officeDocument/2006/relationships/image" Target="../media/image31.png"/><Relationship Id="rId9" Type="http://schemas.openxmlformats.org/officeDocument/2006/relationships/image" Target="../media/image400.png"/><Relationship Id="rId14" Type="http://schemas.openxmlformats.org/officeDocument/2006/relationships/image" Target="../media/image45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hyperlink" Target="https://xgboost.readthedocs.io/en/stable/" TargetMode="External"/><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hyperlink" Target="https://lightgbm.readthedocs.io/en/stable/" TargetMode="External"/><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Introducción"/>
          <p:cNvSpPr txBox="1">
            <a:spLocks noGrp="1"/>
          </p:cNvSpPr>
          <p:nvPr>
            <p:ph type="title"/>
          </p:nvPr>
        </p:nvSpPr>
        <p:spPr>
          <a:xfrm>
            <a:off x="4894830" y="2546014"/>
            <a:ext cx="18326247" cy="4699001"/>
          </a:xfrm>
          <a:prstGeom prst="rect">
            <a:avLst/>
          </a:prstGeom>
        </p:spPr>
        <p:txBody>
          <a:bodyPr>
            <a:normAutofit/>
          </a:bodyPr>
          <a:lstStyle>
            <a:lvl1pPr>
              <a:defRPr>
                <a:solidFill>
                  <a:srgbClr val="FFFFFF"/>
                </a:solidFill>
              </a:defRPr>
            </a:lvl1pPr>
          </a:lstStyle>
          <a:p>
            <a:r>
              <a:rPr lang="es-ES_tradnl" dirty="0">
                <a:solidFill>
                  <a:schemeClr val="tx1"/>
                </a:solidFill>
              </a:rPr>
              <a:t>Métodos de ensamble</a:t>
            </a:r>
          </a:p>
        </p:txBody>
      </p:sp>
      <p:sp>
        <p:nvSpPr>
          <p:cNvPr id="5" name="Subtítulo 2">
            <a:extLst>
              <a:ext uri="{FF2B5EF4-FFF2-40B4-BE49-F238E27FC236}">
                <a16:creationId xmlns:a16="http://schemas.microsoft.com/office/drawing/2014/main" id="{324BAF62-1A26-A701-DECD-3CEF43439152}"/>
              </a:ext>
            </a:extLst>
          </p:cNvPr>
          <p:cNvSpPr txBox="1">
            <a:spLocks/>
          </p:cNvSpPr>
          <p:nvPr/>
        </p:nvSpPr>
        <p:spPr>
          <a:xfrm>
            <a:off x="12516188" y="9692658"/>
            <a:ext cx="10058400" cy="1477328"/>
          </a:xfrm>
          <a:prstGeom prst="rect">
            <a:avLst/>
          </a:prstGeom>
        </p:spPr>
        <p:txBody>
          <a:bodyPr wrap="square" lIns="0" tIns="0" rIns="0" bIns="0">
            <a:spAutoFit/>
          </a:bodyPr>
          <a:lstStyle>
            <a:lvl1pPr marL="0">
              <a:defRPr sz="3600" b="0" i="0">
                <a:solidFill>
                  <a:schemeClr val="tx1"/>
                </a:solidFill>
                <a:latin typeface="Tahoma"/>
                <a:ea typeface="+mn-ea"/>
                <a:cs typeface="Tahom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a:endParaRPr lang="es-PE" sz="3200" i="1" kern="0" noProof="0" dirty="0">
              <a:latin typeface="Aptos" panose="020B0004020202020204" pitchFamily="34" charset="0"/>
            </a:endParaRPr>
          </a:p>
          <a:p>
            <a:pPr algn="r"/>
            <a:r>
              <a:rPr lang="es-PE" sz="3200" i="1" kern="0" noProof="0" dirty="0" err="1">
                <a:latin typeface="Aptos" panose="020B0004020202020204" pitchFamily="34" charset="0"/>
              </a:rPr>
              <a:t>Msc</a:t>
            </a:r>
            <a:r>
              <a:rPr lang="es-PE" sz="3200" i="1" kern="0" noProof="0" dirty="0">
                <a:latin typeface="Aptos" panose="020B0004020202020204" pitchFamily="34" charset="0"/>
              </a:rPr>
              <a:t>. Jaime </a:t>
            </a:r>
            <a:r>
              <a:rPr lang="es-PE" sz="3200" i="1" kern="0" noProof="0" dirty="0" err="1">
                <a:latin typeface="Aptos" panose="020B0004020202020204" pitchFamily="34" charset="0"/>
              </a:rPr>
              <a:t>Huaytalla</a:t>
            </a:r>
            <a:r>
              <a:rPr lang="es-PE" sz="3200" i="1" kern="0" noProof="0" dirty="0">
                <a:latin typeface="Aptos" panose="020B0004020202020204" pitchFamily="34" charset="0"/>
              </a:rPr>
              <a:t> Pariona</a:t>
            </a:r>
          </a:p>
          <a:p>
            <a:pPr algn="r"/>
            <a:r>
              <a:rPr lang="es-PE" sz="3200" i="1" kern="0" noProof="0" dirty="0">
                <a:latin typeface="Aptos" panose="020B0004020202020204" pitchFamily="34" charset="0"/>
                <a:hlinkClick r:id="rId2"/>
              </a:rPr>
              <a:t>jhuaytalla@uncp.edu.pe</a:t>
            </a:r>
            <a:r>
              <a:rPr lang="es-PE" sz="3200" i="1" kern="0" noProof="0" dirty="0">
                <a:latin typeface="Aptos" panose="020B0004020202020204" pitchFamily="34" charset="0"/>
              </a:rPr>
              <a:t> </a:t>
            </a:r>
          </a:p>
        </p:txBody>
      </p:sp>
      <p:sp>
        <p:nvSpPr>
          <p:cNvPr id="6" name="CuadroTexto 5">
            <a:extLst>
              <a:ext uri="{FF2B5EF4-FFF2-40B4-BE49-F238E27FC236}">
                <a16:creationId xmlns:a16="http://schemas.microsoft.com/office/drawing/2014/main" id="{FE2A793B-81F7-7126-F806-128E0291EA5C}"/>
              </a:ext>
            </a:extLst>
          </p:cNvPr>
          <p:cNvSpPr txBox="1"/>
          <p:nvPr/>
        </p:nvSpPr>
        <p:spPr>
          <a:xfrm>
            <a:off x="4894830" y="7889947"/>
            <a:ext cx="4967385" cy="707886"/>
          </a:xfrm>
          <a:prstGeom prst="rect">
            <a:avLst/>
          </a:prstGeom>
          <a:noFill/>
        </p:spPr>
        <p:txBody>
          <a:bodyPr wrap="none" rtlCol="0">
            <a:spAutoFit/>
          </a:bodyPr>
          <a:lstStyle/>
          <a:p>
            <a:r>
              <a:rPr lang="es-PE" sz="4000" cap="all" noProof="0" dirty="0">
                <a:latin typeface="Aptos" panose="020B0004020202020204" pitchFamily="34" charset="0"/>
              </a:rPr>
              <a:t>Machine </a:t>
            </a:r>
            <a:r>
              <a:rPr lang="es-PE" sz="4000" cap="all" noProof="0" dirty="0" err="1">
                <a:latin typeface="Aptos" panose="020B0004020202020204" pitchFamily="34" charset="0"/>
              </a:rPr>
              <a:t>Learning</a:t>
            </a:r>
            <a:r>
              <a:rPr lang="es-PE" sz="4000" cap="all" noProof="0" dirty="0">
                <a:latin typeface="Aptos" panose="020B0004020202020204" pitchFamily="34" charset="0"/>
              </a:rPr>
              <a:t> </a:t>
            </a:r>
          </a:p>
        </p:txBody>
      </p:sp>
      <p:pic>
        <p:nvPicPr>
          <p:cNvPr id="7" name="Picture 2" descr="Manual de Indentidad Visual Corporativa Marca UNCP - UNCP">
            <a:extLst>
              <a:ext uri="{FF2B5EF4-FFF2-40B4-BE49-F238E27FC236}">
                <a16:creationId xmlns:a16="http://schemas.microsoft.com/office/drawing/2014/main" id="{0AAC4A6D-94E4-A43E-A652-2E59E92C31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8923" y="5354470"/>
            <a:ext cx="3444328" cy="3007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49382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Redes Neuronal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Métodos de ensamble</a:t>
            </a:r>
          </a:p>
        </p:txBody>
      </p:sp>
    </p:spTree>
    <p:extLst>
      <p:ext uri="{BB962C8B-B14F-4D97-AF65-F5344CB8AC3E}">
        <p14:creationId xmlns:p14="http://schemas.microsoft.com/office/powerpoint/2010/main" val="252142221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Métodos de ensamble</a:t>
            </a:r>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15029160" cy="9532780"/>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sz="4100" b="1" dirty="0">
                <a:solidFill>
                  <a:srgbClr val="CF53F2"/>
                </a:solidFill>
              </a:rPr>
              <a:t>¿Qué son?</a:t>
            </a:r>
          </a:p>
          <a:p>
            <a:pPr>
              <a:defRPr sz="4600">
                <a:latin typeface="Graphik Compact Regular"/>
                <a:ea typeface="Graphik Compact Regular"/>
                <a:cs typeface="Graphik Compact Regular"/>
                <a:sym typeface="Graphik Compact Regular"/>
              </a:defRPr>
            </a:pPr>
            <a:r>
              <a:rPr lang="es-ES" sz="4100" i="1" dirty="0"/>
              <a:t>En 1906, el estadístico Sir Francis Galton estaba visitando una feria del condado en Inglaterra, en la que se celebraba un concurso para adivinar el peso de un buey que se encontraba en exhibición. Hubo 800 conjeturas y, si bien las conjeturas individuales variaron ampliamente, tanto la media como la mediana estuvieron dentro del 1% del peso real del buey. </a:t>
            </a:r>
            <a:endParaRPr lang="es-ES_tradnl" sz="4100" i="1" dirty="0"/>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a:t>
            </a:fld>
            <a:endParaRPr lang="en-US" sz="2800" dirty="0"/>
          </a:p>
        </p:txBody>
      </p:sp>
      <p:sp>
        <p:nvSpPr>
          <p:cNvPr id="4" name="Las redes neuronales originalmente se plantean como algoritmos matemáticos que tratan de imitar los cálculos complejos que tienen lugar en el cerebro.…">
            <a:extLst>
              <a:ext uri="{FF2B5EF4-FFF2-40B4-BE49-F238E27FC236}">
                <a16:creationId xmlns:a16="http://schemas.microsoft.com/office/drawing/2014/main" id="{24B0C2DD-4D67-8BFD-BB70-673DEB006AAB}"/>
              </a:ext>
            </a:extLst>
          </p:cNvPr>
          <p:cNvSpPr txBox="1">
            <a:spLocks/>
          </p:cNvSpPr>
          <p:nvPr/>
        </p:nvSpPr>
        <p:spPr>
          <a:xfrm>
            <a:off x="17344918" y="5229814"/>
            <a:ext cx="6532033" cy="22332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0" marR="0" indent="0" algn="l" defTabSz="584200" rtl="0" latinLnBrk="0">
              <a:lnSpc>
                <a:spcPct val="100000"/>
              </a:lnSpc>
              <a:spcBef>
                <a:spcPts val="3300"/>
              </a:spcBef>
              <a:spcAft>
                <a:spcPts val="0"/>
              </a:spcAft>
              <a:buClrTx/>
              <a:buSzTx/>
              <a:buFontTx/>
              <a:buNone/>
              <a:tabLst/>
              <a:defRPr sz="4000" b="0" i="0" u="none" strike="noStrike" cap="none" spc="0" baseline="0">
                <a:solidFill>
                  <a:srgbClr val="000000"/>
                </a:solidFill>
                <a:uFillTx/>
                <a:latin typeface="Graphik-SemiboldItalic"/>
                <a:ea typeface="Graphik-SemiboldItalic"/>
                <a:cs typeface="Graphik-SemiboldItalic"/>
                <a:sym typeface="Graphik Semibold"/>
              </a:defRPr>
            </a:lvl1pPr>
            <a:lvl2pPr marL="0" marR="0" indent="457200" algn="l" defTabSz="584200" rtl="0" latinLnBrk="0">
              <a:lnSpc>
                <a:spcPct val="100000"/>
              </a:lnSpc>
              <a:spcBef>
                <a:spcPts val="3300"/>
              </a:spcBef>
              <a:spcAft>
                <a:spcPts val="0"/>
              </a:spcAft>
              <a:buClrTx/>
              <a:buSzTx/>
              <a:buFontTx/>
              <a:buNone/>
              <a:tabLst/>
              <a:defRPr sz="4000" b="0" i="0" u="none" strike="noStrike" cap="none" spc="0" baseline="0">
                <a:solidFill>
                  <a:srgbClr val="000000"/>
                </a:solidFill>
                <a:uFillTx/>
                <a:latin typeface="Graphik-SemiboldItalic"/>
                <a:ea typeface="Graphik-SemiboldItalic"/>
                <a:cs typeface="Graphik-SemiboldItalic"/>
                <a:sym typeface="Graphik Semibold"/>
              </a:defRPr>
            </a:lvl2pPr>
            <a:lvl3pPr marL="0" marR="0" indent="914400" algn="l" defTabSz="584200" rtl="0" latinLnBrk="0">
              <a:lnSpc>
                <a:spcPct val="100000"/>
              </a:lnSpc>
              <a:spcBef>
                <a:spcPts val="3300"/>
              </a:spcBef>
              <a:spcAft>
                <a:spcPts val="0"/>
              </a:spcAft>
              <a:buClrTx/>
              <a:buSzTx/>
              <a:buFontTx/>
              <a:buNone/>
              <a:tabLst/>
              <a:defRPr sz="4000" b="0" i="0" u="none" strike="noStrike" cap="none" spc="0" baseline="0">
                <a:solidFill>
                  <a:srgbClr val="000000"/>
                </a:solidFill>
                <a:uFillTx/>
                <a:latin typeface="Graphik-SemiboldItalic"/>
                <a:ea typeface="Graphik-SemiboldItalic"/>
                <a:cs typeface="Graphik-SemiboldItalic"/>
                <a:sym typeface="Graphik Semibold"/>
              </a:defRPr>
            </a:lvl3pPr>
            <a:lvl4pPr marL="0" marR="0" indent="1371600" algn="l" defTabSz="584200" rtl="0" latinLnBrk="0">
              <a:lnSpc>
                <a:spcPct val="100000"/>
              </a:lnSpc>
              <a:spcBef>
                <a:spcPts val="3300"/>
              </a:spcBef>
              <a:spcAft>
                <a:spcPts val="0"/>
              </a:spcAft>
              <a:buClrTx/>
              <a:buSzTx/>
              <a:buFontTx/>
              <a:buNone/>
              <a:tabLst/>
              <a:defRPr sz="4000" b="0" i="0" u="none" strike="noStrike" cap="none" spc="0" baseline="0">
                <a:solidFill>
                  <a:srgbClr val="000000"/>
                </a:solidFill>
                <a:uFillTx/>
                <a:latin typeface="Graphik-SemiboldItalic"/>
                <a:ea typeface="Graphik-SemiboldItalic"/>
                <a:cs typeface="Graphik-SemiboldItalic"/>
                <a:sym typeface="Graphik Semibold"/>
              </a:defRPr>
            </a:lvl4pPr>
            <a:lvl5pPr marL="0" marR="0" indent="1828800" algn="l" defTabSz="584200" rtl="0" latinLnBrk="0">
              <a:lnSpc>
                <a:spcPct val="100000"/>
              </a:lnSpc>
              <a:spcBef>
                <a:spcPts val="3300"/>
              </a:spcBef>
              <a:spcAft>
                <a:spcPts val="0"/>
              </a:spcAft>
              <a:buClrTx/>
              <a:buSzTx/>
              <a:buFontTx/>
              <a:buNone/>
              <a:tabLst/>
              <a:defRPr sz="4000" b="0" i="0" u="none" strike="noStrike" cap="none" spc="0" baseline="0">
                <a:solidFill>
                  <a:srgbClr val="000000"/>
                </a:solidFill>
                <a:uFillTx/>
                <a:latin typeface="Graphik-SemiboldItalic"/>
                <a:ea typeface="Graphik-SemiboldItalic"/>
                <a:cs typeface="Graphik-SemiboldItalic"/>
                <a:sym typeface="Graphik Semibold"/>
              </a:defRPr>
            </a:lvl5pPr>
            <a:lvl6pPr marL="0" marR="0" indent="22860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6pPr>
            <a:lvl7pPr marL="0" marR="0" indent="27432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7pPr>
            <a:lvl8pPr marL="0" marR="0" indent="32004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8pPr>
            <a:lvl9pPr marL="0" marR="0" indent="36576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9pPr>
          </a:lstStyle>
          <a:p>
            <a:pPr hangingPunct="1">
              <a:defRPr sz="4600">
                <a:latin typeface="Graphik Compact Regular"/>
                <a:ea typeface="Graphik Compact Regular"/>
                <a:cs typeface="Graphik Compact Regular"/>
                <a:sym typeface="Graphik Compact Regular"/>
              </a:defRPr>
            </a:pPr>
            <a:r>
              <a:rPr lang="en-US" sz="4400" b="1" dirty="0">
                <a:solidFill>
                  <a:srgbClr val="CF53F2"/>
                </a:solidFill>
                <a:latin typeface="Graphik Compact Regular"/>
                <a:ea typeface="Graphik Compact Regular"/>
                <a:cs typeface="Graphik Compact Regular"/>
                <a:sym typeface="Graphik Compact Regular"/>
              </a:rPr>
              <a:t>Wisdom of the crowd </a:t>
            </a:r>
            <a:r>
              <a:rPr lang="es-ES_tradnl" sz="4400" b="1" dirty="0">
                <a:solidFill>
                  <a:srgbClr val="CF53F2"/>
                </a:solidFill>
                <a:latin typeface="Graphik Compact Regular"/>
                <a:ea typeface="Graphik Compact Regular"/>
                <a:cs typeface="Graphik Compact Regular"/>
                <a:sym typeface="Graphik Compact Regular"/>
              </a:rPr>
              <a:t>(Sabiduría de la multitud)</a:t>
            </a:r>
          </a:p>
        </p:txBody>
      </p:sp>
      <p:cxnSp>
        <p:nvCxnSpPr>
          <p:cNvPr id="6" name="Straight Arrow Connector 5">
            <a:extLst>
              <a:ext uri="{FF2B5EF4-FFF2-40B4-BE49-F238E27FC236}">
                <a16:creationId xmlns:a16="http://schemas.microsoft.com/office/drawing/2014/main" id="{4E92C989-77A6-76B6-1158-ED2027C8AE88}"/>
              </a:ext>
            </a:extLst>
          </p:cNvPr>
          <p:cNvCxnSpPr>
            <a:cxnSpLocks/>
          </p:cNvCxnSpPr>
          <p:nvPr/>
        </p:nvCxnSpPr>
        <p:spPr>
          <a:xfrm>
            <a:off x="16533845" y="5980922"/>
            <a:ext cx="652452" cy="0"/>
          </a:xfrm>
          <a:prstGeom prst="straightConnector1">
            <a:avLst/>
          </a:prstGeom>
          <a:noFill/>
          <a:ln w="57150" cap="flat">
            <a:solidFill>
              <a:srgbClr val="CF53F2"/>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 name="Rectangle 6">
            <a:extLst>
              <a:ext uri="{FF2B5EF4-FFF2-40B4-BE49-F238E27FC236}">
                <a16:creationId xmlns:a16="http://schemas.microsoft.com/office/drawing/2014/main" id="{55E9317E-B369-544E-0816-AE1C1C03CFF9}"/>
              </a:ext>
            </a:extLst>
          </p:cNvPr>
          <p:cNvSpPr/>
          <p:nvPr/>
        </p:nvSpPr>
        <p:spPr>
          <a:xfrm>
            <a:off x="1295400" y="8776202"/>
            <a:ext cx="22030267" cy="3795911"/>
          </a:xfrm>
          <a:prstGeom prst="rect">
            <a:avLst/>
          </a:prstGeom>
          <a:solidFill>
            <a:schemeClr val="accent6">
              <a:lumMod val="60000"/>
              <a:lumOff val="4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s-ES_tradnl" sz="4000" i="0" u="none" strike="noStrike" cap="none" spc="-44" normalizeH="0" baseline="0" dirty="0">
                <a:ln>
                  <a:noFill/>
                </a:ln>
                <a:solidFill>
                  <a:schemeClr val="tx1">
                    <a:lumMod val="75000"/>
                    <a:lumOff val="25000"/>
                  </a:schemeClr>
                </a:solidFill>
                <a:effectLst/>
                <a:uFillTx/>
                <a:latin typeface="Graphik Compact" pitchFamily="2" charset="0"/>
                <a:ea typeface="Graphik-SemiboldItalic"/>
                <a:cs typeface="Graphik-SemiboldItalic"/>
                <a:sym typeface="Graphik Semibold"/>
              </a:rPr>
              <a:t>Si llevamos esta idea al campo del aprendizaje automático, al promediar la salida de un conjunto de predictores es altamente probable que obtengamos mejores métricas que considerando la salida de uno solo de ellos.</a:t>
            </a:r>
          </a:p>
          <a:p>
            <a:pPr marL="0" marR="0" indent="0" algn="ctr" defTabSz="821531" rtl="0" fontAlgn="auto" latinLnBrk="0" hangingPunct="0">
              <a:lnSpc>
                <a:spcPct val="100000"/>
              </a:lnSpc>
              <a:spcBef>
                <a:spcPts val="0"/>
              </a:spcBef>
              <a:spcAft>
                <a:spcPts val="0"/>
              </a:spcAft>
              <a:buClrTx/>
              <a:buSzTx/>
              <a:buFontTx/>
              <a:buNone/>
              <a:tabLst/>
            </a:pPr>
            <a:endParaRPr kumimoji="0" lang="es-ES_tradnl" sz="4000" i="0" u="none" strike="noStrike" cap="none" spc="-44" normalizeH="0" baseline="0" dirty="0">
              <a:ln>
                <a:noFill/>
              </a:ln>
              <a:solidFill>
                <a:schemeClr val="tx1">
                  <a:lumMod val="75000"/>
                  <a:lumOff val="25000"/>
                </a:schemeClr>
              </a:solidFill>
              <a:effectLst/>
              <a:uFillTx/>
              <a:latin typeface="Graphik Compact" pitchFamily="2" charset="0"/>
              <a:ea typeface="Graphik-SemiboldItalic"/>
              <a:cs typeface="Graphik-SemiboldItalic"/>
              <a:sym typeface="Graphik Semibold"/>
            </a:endParaRPr>
          </a:p>
          <a:p>
            <a:pPr marL="0" marR="0" indent="0" algn="ctr" defTabSz="821531" rtl="0" fontAlgn="auto" latinLnBrk="0" hangingPunct="0">
              <a:lnSpc>
                <a:spcPct val="100000"/>
              </a:lnSpc>
              <a:spcBef>
                <a:spcPts val="0"/>
              </a:spcBef>
              <a:spcAft>
                <a:spcPts val="0"/>
              </a:spcAft>
              <a:buClrTx/>
              <a:buSzTx/>
              <a:buFontTx/>
              <a:buNone/>
              <a:tabLst/>
            </a:pPr>
            <a:r>
              <a:rPr kumimoji="0" lang="es-ES_tradnl" sz="4000" i="0" u="none" strike="noStrike" cap="none" spc="-44" normalizeH="0" baseline="0" dirty="0">
                <a:ln>
                  <a:noFill/>
                </a:ln>
                <a:solidFill>
                  <a:schemeClr val="tx1">
                    <a:lumMod val="75000"/>
                    <a:lumOff val="25000"/>
                  </a:schemeClr>
                </a:solidFill>
                <a:effectLst/>
                <a:uFillTx/>
                <a:latin typeface="Graphik Compact" pitchFamily="2" charset="0"/>
                <a:ea typeface="Graphik-SemiboldItalic"/>
                <a:cs typeface="Graphik-SemiboldItalic"/>
                <a:sym typeface="Graphik Semibold"/>
              </a:rPr>
              <a:t>Dado que un conjunto de predictores se conoce como </a:t>
            </a:r>
            <a:r>
              <a:rPr kumimoji="0" lang="es-ES_tradnl" sz="4000" b="1" i="0" u="none" strike="noStrike" cap="none" spc="-44" normalizeH="0" baseline="0" dirty="0">
                <a:ln>
                  <a:noFill/>
                </a:ln>
                <a:solidFill>
                  <a:schemeClr val="tx1">
                    <a:lumMod val="75000"/>
                    <a:lumOff val="25000"/>
                  </a:schemeClr>
                </a:solidFill>
                <a:effectLst/>
                <a:uFillTx/>
                <a:latin typeface="Graphik Compact" pitchFamily="2" charset="0"/>
                <a:ea typeface="Graphik-SemiboldItalic"/>
                <a:cs typeface="Graphik-SemiboldItalic"/>
                <a:sym typeface="Graphik Semibold"/>
              </a:rPr>
              <a:t>ensamble</a:t>
            </a:r>
            <a:r>
              <a:rPr kumimoji="0" lang="es-ES_tradnl" sz="4000" i="0" u="none" strike="noStrike" cap="none" spc="-44" normalizeH="0" baseline="0" dirty="0">
                <a:ln>
                  <a:noFill/>
                </a:ln>
                <a:solidFill>
                  <a:schemeClr val="tx1">
                    <a:lumMod val="75000"/>
                    <a:lumOff val="25000"/>
                  </a:schemeClr>
                </a:solidFill>
                <a:effectLst/>
                <a:uFillTx/>
                <a:latin typeface="Graphik Compact" pitchFamily="2" charset="0"/>
                <a:ea typeface="Graphik-SemiboldItalic"/>
                <a:cs typeface="Graphik-SemiboldItalic"/>
                <a:sym typeface="Graphik Semibold"/>
              </a:rPr>
              <a:t>, estos métodos comúnmente se llaman </a:t>
            </a:r>
            <a:r>
              <a:rPr kumimoji="0" lang="es-ES_tradnl" sz="4000" b="1" i="0" u="none" strike="noStrike" cap="none" spc="-44" normalizeH="0" baseline="0" dirty="0">
                <a:ln>
                  <a:noFill/>
                </a:ln>
                <a:solidFill>
                  <a:schemeClr val="tx1">
                    <a:lumMod val="75000"/>
                    <a:lumOff val="25000"/>
                  </a:schemeClr>
                </a:solidFill>
                <a:effectLst/>
                <a:uFillTx/>
                <a:latin typeface="Graphik Compact" pitchFamily="2" charset="0"/>
                <a:ea typeface="Graphik-SemiboldItalic"/>
                <a:cs typeface="Graphik-SemiboldItalic"/>
                <a:sym typeface="Graphik Semibold"/>
              </a:rPr>
              <a:t>métodos de ensamble.</a:t>
            </a:r>
          </a:p>
        </p:txBody>
      </p:sp>
    </p:spTree>
    <p:extLst>
      <p:ext uri="{BB962C8B-B14F-4D97-AF65-F5344CB8AC3E}">
        <p14:creationId xmlns:p14="http://schemas.microsoft.com/office/powerpoint/2010/main" val="186431387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Métodos de ensamble</a:t>
            </a:r>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95399" y="6621559"/>
            <a:ext cx="22030267" cy="5826374"/>
          </a:xfrm>
          <a:prstGeom prst="rect">
            <a:avLst/>
          </a:prstGeom>
        </p:spPr>
        <p:txBody>
          <a:bodyPr>
            <a:noAutofit/>
          </a:bodyPr>
          <a:lstStyle/>
          <a:p>
            <a:pPr>
              <a:defRPr sz="4600">
                <a:latin typeface="Graphik Compact Regular"/>
                <a:ea typeface="Graphik Compact Regular"/>
                <a:cs typeface="Graphik Compact Regular"/>
                <a:sym typeface="Graphik Compact Regular"/>
              </a:defRPr>
            </a:pPr>
            <a:r>
              <a:rPr lang="es-ES_tradnl" b="1" dirty="0">
                <a:solidFill>
                  <a:srgbClr val="CF53F2"/>
                </a:solidFill>
              </a:rPr>
              <a:t>¿Cuándo usarlos?</a:t>
            </a:r>
          </a:p>
          <a:p>
            <a:pPr>
              <a:defRPr sz="4600">
                <a:latin typeface="Graphik Compact Regular"/>
                <a:ea typeface="Graphik Compact Regular"/>
                <a:cs typeface="Graphik Compact Regular"/>
                <a:sym typeface="Graphik Compact Regular"/>
              </a:defRPr>
            </a:pPr>
            <a:r>
              <a:rPr lang="es-ES" dirty="0"/>
              <a:t>Es más frecuente utilizar métodos de ensamble cuando ya probamos algunas arquitecturas más simples (</a:t>
            </a:r>
            <a:r>
              <a:rPr lang="es-ES" i="1" dirty="0" err="1"/>
              <a:t>weak</a:t>
            </a:r>
            <a:r>
              <a:rPr lang="es-ES" i="1" dirty="0"/>
              <a:t> </a:t>
            </a:r>
            <a:r>
              <a:rPr lang="es-ES" i="1" dirty="0" err="1"/>
              <a:t>learners</a:t>
            </a:r>
            <a:r>
              <a:rPr lang="es-ES" dirty="0"/>
              <a:t>) y para poder mejorar las métricas obtenidas combinamos los predictores ya desarrollados en un ensamble.</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a:t>
            </a:fld>
            <a:endParaRPr lang="en-US" sz="2800" dirty="0"/>
          </a:p>
        </p:txBody>
      </p:sp>
      <p:sp>
        <p:nvSpPr>
          <p:cNvPr id="7" name="Rectangle 6">
            <a:extLst>
              <a:ext uri="{FF2B5EF4-FFF2-40B4-BE49-F238E27FC236}">
                <a16:creationId xmlns:a16="http://schemas.microsoft.com/office/drawing/2014/main" id="{55E9317E-B369-544E-0816-AE1C1C03CFF9}"/>
              </a:ext>
            </a:extLst>
          </p:cNvPr>
          <p:cNvSpPr/>
          <p:nvPr/>
        </p:nvSpPr>
        <p:spPr>
          <a:xfrm>
            <a:off x="1295399" y="3713707"/>
            <a:ext cx="22030267" cy="2664000"/>
          </a:xfrm>
          <a:prstGeom prst="rect">
            <a:avLst/>
          </a:prstGeom>
          <a:solidFill>
            <a:schemeClr val="accent6">
              <a:lumMod val="60000"/>
              <a:lumOff val="4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s-ES_tradnl" sz="4600" i="0" u="none" strike="noStrike" cap="none" spc="-44" normalizeH="0" baseline="0" dirty="0">
                <a:ln>
                  <a:noFill/>
                </a:ln>
                <a:solidFill>
                  <a:schemeClr val="tx1">
                    <a:lumMod val="75000"/>
                    <a:lumOff val="25000"/>
                  </a:schemeClr>
                </a:solidFill>
                <a:effectLst/>
                <a:uFillTx/>
                <a:latin typeface="Graphik Compact" pitchFamily="2" charset="0"/>
                <a:ea typeface="Graphik-SemiboldItalic"/>
                <a:cs typeface="Graphik-SemiboldItalic"/>
                <a:sym typeface="Graphik Semibold"/>
              </a:rPr>
              <a:t>Por ejemplo, podríamos entrenar un grupo de árboles de decisión, cada uno en una parte diferente del conjunto de entrenamiento, generar predicciones con cada uno de los árboles individuales y luego predecir la clase que tenga mayor cantidad de votos.</a:t>
            </a:r>
          </a:p>
        </p:txBody>
      </p:sp>
    </p:spTree>
    <p:extLst>
      <p:ext uri="{BB962C8B-B14F-4D97-AF65-F5344CB8AC3E}">
        <p14:creationId xmlns:p14="http://schemas.microsoft.com/office/powerpoint/2010/main" val="216641861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Redes Neuronal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Modelos que Votan</a:t>
            </a:r>
          </a:p>
        </p:txBody>
      </p:sp>
    </p:spTree>
    <p:extLst>
      <p:ext uri="{BB962C8B-B14F-4D97-AF65-F5344CB8AC3E}">
        <p14:creationId xmlns:p14="http://schemas.microsoft.com/office/powerpoint/2010/main" val="182747256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Modelos que Votan</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a:t>
            </a:fld>
            <a:endParaRPr lang="en-US" sz="2800" dirty="0"/>
          </a:p>
        </p:txBody>
      </p:sp>
      <p:pic>
        <p:nvPicPr>
          <p:cNvPr id="9" name="Graphic 8" descr="Table outline">
            <a:extLst>
              <a:ext uri="{FF2B5EF4-FFF2-40B4-BE49-F238E27FC236}">
                <a16:creationId xmlns:a16="http://schemas.microsoft.com/office/drawing/2014/main" id="{69DA47B3-0482-7472-D29C-418B6A5F8A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1533" y="9025467"/>
            <a:ext cx="2387600" cy="2387600"/>
          </a:xfrm>
          <a:prstGeom prst="rect">
            <a:avLst/>
          </a:prstGeom>
        </p:spPr>
      </p:pic>
      <p:pic>
        <p:nvPicPr>
          <p:cNvPr id="11" name="Graphic 10" descr="User network with solid fill">
            <a:extLst>
              <a:ext uri="{FF2B5EF4-FFF2-40B4-BE49-F238E27FC236}">
                <a16:creationId xmlns:a16="http://schemas.microsoft.com/office/drawing/2014/main" id="{1519CE3C-2A8B-817A-349B-F35B63C5051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75333" y="4434855"/>
            <a:ext cx="1778386" cy="1778386"/>
          </a:xfrm>
          <a:prstGeom prst="rect">
            <a:avLst/>
          </a:prstGeom>
        </p:spPr>
      </p:pic>
      <p:pic>
        <p:nvPicPr>
          <p:cNvPr id="13" name="Graphic 12" descr="Gears with solid fill">
            <a:extLst>
              <a:ext uri="{FF2B5EF4-FFF2-40B4-BE49-F238E27FC236}">
                <a16:creationId xmlns:a16="http://schemas.microsoft.com/office/drawing/2014/main" id="{14648DB8-B3FA-DF5B-5570-858C5798834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19157" y="4409070"/>
            <a:ext cx="1778385" cy="1778385"/>
          </a:xfrm>
          <a:prstGeom prst="rect">
            <a:avLst/>
          </a:prstGeom>
        </p:spPr>
      </p:pic>
      <p:pic>
        <p:nvPicPr>
          <p:cNvPr id="17" name="Graphic 16" descr="Normal Distribution with solid fill">
            <a:extLst>
              <a:ext uri="{FF2B5EF4-FFF2-40B4-BE49-F238E27FC236}">
                <a16:creationId xmlns:a16="http://schemas.microsoft.com/office/drawing/2014/main" id="{1B09DC9D-9182-148A-64D0-D529A900D20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37343" y="4257440"/>
            <a:ext cx="1811867" cy="1811867"/>
          </a:xfrm>
          <a:prstGeom prst="rect">
            <a:avLst/>
          </a:prstGeom>
        </p:spPr>
      </p:pic>
      <p:pic>
        <p:nvPicPr>
          <p:cNvPr id="19" name="Graphic 18" descr="Withering Tree with solid fill">
            <a:extLst>
              <a:ext uri="{FF2B5EF4-FFF2-40B4-BE49-F238E27FC236}">
                <a16:creationId xmlns:a16="http://schemas.microsoft.com/office/drawing/2014/main" id="{EBAF3C1D-2B19-C2CC-2B72-620DFBFCD88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4105467" y="4535590"/>
            <a:ext cx="1778385" cy="1778385"/>
          </a:xfrm>
          <a:prstGeom prst="rect">
            <a:avLst/>
          </a:prstGeom>
        </p:spPr>
      </p:pic>
      <p:pic>
        <p:nvPicPr>
          <p:cNvPr id="21" name="Graphic 20" descr="Miscellaneous with solid fill">
            <a:extLst>
              <a:ext uri="{FF2B5EF4-FFF2-40B4-BE49-F238E27FC236}">
                <a16:creationId xmlns:a16="http://schemas.microsoft.com/office/drawing/2014/main" id="{267E272C-399F-87A0-B3EC-411DDB771ED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932400" y="5154907"/>
            <a:ext cx="914400" cy="914400"/>
          </a:xfrm>
          <a:prstGeom prst="rect">
            <a:avLst/>
          </a:prstGeom>
        </p:spPr>
      </p:pic>
      <p:cxnSp>
        <p:nvCxnSpPr>
          <p:cNvPr id="28" name="Straight Arrow Connector 27">
            <a:extLst>
              <a:ext uri="{FF2B5EF4-FFF2-40B4-BE49-F238E27FC236}">
                <a16:creationId xmlns:a16="http://schemas.microsoft.com/office/drawing/2014/main" id="{EAECA972-F135-9A8B-C890-9C07938BCB94}"/>
              </a:ext>
            </a:extLst>
          </p:cNvPr>
          <p:cNvCxnSpPr/>
          <p:nvPr/>
        </p:nvCxnSpPr>
        <p:spPr>
          <a:xfrm flipH="1" flipV="1">
            <a:off x="4293136" y="6858000"/>
            <a:ext cx="4715397" cy="2590800"/>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 name="Straight Arrow Connector 28">
            <a:extLst>
              <a:ext uri="{FF2B5EF4-FFF2-40B4-BE49-F238E27FC236}">
                <a16:creationId xmlns:a16="http://schemas.microsoft.com/office/drawing/2014/main" id="{3BADA9FA-10CD-A487-1C33-66428304CF78}"/>
              </a:ext>
            </a:extLst>
          </p:cNvPr>
          <p:cNvCxnSpPr>
            <a:cxnSpLocks/>
          </p:cNvCxnSpPr>
          <p:nvPr/>
        </p:nvCxnSpPr>
        <p:spPr>
          <a:xfrm flipH="1" flipV="1">
            <a:off x="7208349" y="6739852"/>
            <a:ext cx="2621719" cy="2708948"/>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70FC7F5E-B8B2-5C5F-823C-3960AE4B5E16}"/>
              </a:ext>
            </a:extLst>
          </p:cNvPr>
          <p:cNvCxnSpPr>
            <a:cxnSpLocks/>
          </p:cNvCxnSpPr>
          <p:nvPr/>
        </p:nvCxnSpPr>
        <p:spPr>
          <a:xfrm flipV="1">
            <a:off x="10451184" y="6687217"/>
            <a:ext cx="518944" cy="2761583"/>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A635A8A1-274C-048D-F921-BE20684FC1CE}"/>
              </a:ext>
            </a:extLst>
          </p:cNvPr>
          <p:cNvCxnSpPr>
            <a:cxnSpLocks/>
          </p:cNvCxnSpPr>
          <p:nvPr/>
        </p:nvCxnSpPr>
        <p:spPr>
          <a:xfrm flipV="1">
            <a:off x="11122528" y="6739852"/>
            <a:ext cx="3872131" cy="2708948"/>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8" name="Straight Arrow Connector 37">
            <a:extLst>
              <a:ext uri="{FF2B5EF4-FFF2-40B4-BE49-F238E27FC236}">
                <a16:creationId xmlns:a16="http://schemas.microsoft.com/office/drawing/2014/main" id="{B7271F2E-BF9F-C938-9D67-55C897EB1618}"/>
              </a:ext>
            </a:extLst>
          </p:cNvPr>
          <p:cNvCxnSpPr>
            <a:cxnSpLocks/>
          </p:cNvCxnSpPr>
          <p:nvPr/>
        </p:nvCxnSpPr>
        <p:spPr>
          <a:xfrm flipV="1">
            <a:off x="11195831" y="6739852"/>
            <a:ext cx="7099936" cy="3286202"/>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 name="TextBox 3">
            <a:extLst>
              <a:ext uri="{FF2B5EF4-FFF2-40B4-BE49-F238E27FC236}">
                <a16:creationId xmlns:a16="http://schemas.microsoft.com/office/drawing/2014/main" id="{EC155BAD-A5D0-8D75-572C-9B01AC60203A}"/>
              </a:ext>
            </a:extLst>
          </p:cNvPr>
          <p:cNvSpPr txBox="1"/>
          <p:nvPr/>
        </p:nvSpPr>
        <p:spPr>
          <a:xfrm>
            <a:off x="9323973" y="10904282"/>
            <a:ext cx="1502720"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err="1"/>
              <a:t>Dataset</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5" name="TextBox 4">
            <a:extLst>
              <a:ext uri="{FF2B5EF4-FFF2-40B4-BE49-F238E27FC236}">
                <a16:creationId xmlns:a16="http://schemas.microsoft.com/office/drawing/2014/main" id="{735933A8-B648-BD4A-A790-D1873A110C97}"/>
              </a:ext>
            </a:extLst>
          </p:cNvPr>
          <p:cNvSpPr txBox="1"/>
          <p:nvPr/>
        </p:nvSpPr>
        <p:spPr>
          <a:xfrm>
            <a:off x="1962757" y="6151686"/>
            <a:ext cx="3561039"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Regresión logística</a:t>
            </a:r>
          </a:p>
        </p:txBody>
      </p:sp>
      <p:sp>
        <p:nvSpPr>
          <p:cNvPr id="6" name="TextBox 5">
            <a:extLst>
              <a:ext uri="{FF2B5EF4-FFF2-40B4-BE49-F238E27FC236}">
                <a16:creationId xmlns:a16="http://schemas.microsoft.com/office/drawing/2014/main" id="{3C93EE40-B637-45D4-FD21-3252D7FF9AC8}"/>
              </a:ext>
            </a:extLst>
          </p:cNvPr>
          <p:cNvSpPr txBox="1"/>
          <p:nvPr/>
        </p:nvSpPr>
        <p:spPr>
          <a:xfrm>
            <a:off x="6772525" y="6151686"/>
            <a:ext cx="871649"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SVC</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8" name="TextBox 7">
            <a:extLst>
              <a:ext uri="{FF2B5EF4-FFF2-40B4-BE49-F238E27FC236}">
                <a16:creationId xmlns:a16="http://schemas.microsoft.com/office/drawing/2014/main" id="{9C573A9E-5378-160D-A6C3-8CD93E643EE7}"/>
              </a:ext>
            </a:extLst>
          </p:cNvPr>
          <p:cNvSpPr txBox="1"/>
          <p:nvPr/>
        </p:nvSpPr>
        <p:spPr>
          <a:xfrm>
            <a:off x="9714143" y="6151686"/>
            <a:ext cx="2511971"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a:t>Red neuronal</a:t>
            </a:r>
            <a:endPar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0" name="TextBox 9">
            <a:extLst>
              <a:ext uri="{FF2B5EF4-FFF2-40B4-BE49-F238E27FC236}">
                <a16:creationId xmlns:a16="http://schemas.microsoft.com/office/drawing/2014/main" id="{815254C3-EE3D-C94C-87B6-90B840CFB4C3}"/>
              </a:ext>
            </a:extLst>
          </p:cNvPr>
          <p:cNvSpPr txBox="1"/>
          <p:nvPr/>
        </p:nvSpPr>
        <p:spPr>
          <a:xfrm>
            <a:off x="13022484" y="6151686"/>
            <a:ext cx="3999878"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Árbol de clasificación</a:t>
            </a:r>
          </a:p>
        </p:txBody>
      </p:sp>
    </p:spTree>
    <p:extLst>
      <p:ext uri="{BB962C8B-B14F-4D97-AF65-F5344CB8AC3E}">
        <p14:creationId xmlns:p14="http://schemas.microsoft.com/office/powerpoint/2010/main" val="335062240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Modelos que Votan</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7</a:t>
            </a:fld>
            <a:endParaRPr lang="en-US" sz="2800" dirty="0"/>
          </a:p>
        </p:txBody>
      </p:sp>
      <p:sp>
        <p:nvSpPr>
          <p:cNvPr id="4" name="Rectangle 3">
            <a:extLst>
              <a:ext uri="{FF2B5EF4-FFF2-40B4-BE49-F238E27FC236}">
                <a16:creationId xmlns:a16="http://schemas.microsoft.com/office/drawing/2014/main" id="{B177A2D2-638E-1D01-450A-867C1F279992}"/>
              </a:ext>
            </a:extLst>
          </p:cNvPr>
          <p:cNvSpPr/>
          <p:nvPr/>
        </p:nvSpPr>
        <p:spPr>
          <a:xfrm>
            <a:off x="1295400" y="4179535"/>
            <a:ext cx="22030267" cy="2340000"/>
          </a:xfrm>
          <a:prstGeom prst="rect">
            <a:avLst/>
          </a:prstGeom>
          <a:solidFill>
            <a:schemeClr val="accent3">
              <a:lumMod val="60000"/>
              <a:lumOff val="40000"/>
            </a:schemeClr>
          </a:solidFill>
          <a:ln>
            <a:noFill/>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360000" tIns="50800" rIns="360000" bIns="50800" numCol="1" spcCol="38100" rtlCol="0" anchor="ctr">
            <a:spAutoFit/>
          </a:bodyPr>
          <a:lstStyle/>
          <a:p>
            <a:pPr marL="0" marR="0" indent="0" algn="just" defTabSz="821531" rtl="0" fontAlgn="auto" latinLnBrk="0" hangingPunct="0">
              <a:lnSpc>
                <a:spcPct val="100000"/>
              </a:lnSpc>
              <a:spcBef>
                <a:spcPts val="0"/>
              </a:spcBef>
              <a:spcAft>
                <a:spcPts val="0"/>
              </a:spcAft>
              <a:buClrTx/>
              <a:buSzTx/>
              <a:buFontTx/>
              <a:buNone/>
              <a:tabLst/>
            </a:pP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Hard</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voting</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classifiers</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Por ejem</a:t>
            </a:r>
            <a:r>
              <a:rPr lang="es-ES_tradnl" sz="4000" spc="-44" dirty="0">
                <a:solidFill>
                  <a:schemeClr val="bg2">
                    <a:lumMod val="25000"/>
                  </a:schemeClr>
                </a:solidFill>
                <a:latin typeface="Graphik Compact" pitchFamily="2" charset="0"/>
                <a:ea typeface="Graphik-SemiboldItalic"/>
                <a:cs typeface="Graphik-SemiboldItalic"/>
                <a:sym typeface="Graphik Semibold"/>
              </a:rPr>
              <a:t>plo, </a:t>
            </a:r>
            <a:r>
              <a:rPr kumimoji="0" lang="es-ES_tradnl" sz="40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podríamos entrenar un grupo de árboles de decisión, cada uno en una parte diferente del conjunto de entrenamiento, generar predicciones con cada árbol individual y luego predecir la clase que tenga mayor cantidad de votos.</a:t>
            </a:r>
          </a:p>
        </p:txBody>
      </p:sp>
      <p:sp>
        <p:nvSpPr>
          <p:cNvPr id="10" name="Rectangle 9">
            <a:extLst>
              <a:ext uri="{FF2B5EF4-FFF2-40B4-BE49-F238E27FC236}">
                <a16:creationId xmlns:a16="http://schemas.microsoft.com/office/drawing/2014/main" id="{4628746E-B6CD-7C5E-7E66-B9CA71468328}"/>
              </a:ext>
            </a:extLst>
          </p:cNvPr>
          <p:cNvSpPr/>
          <p:nvPr/>
        </p:nvSpPr>
        <p:spPr>
          <a:xfrm>
            <a:off x="1295400" y="7016327"/>
            <a:ext cx="22030267" cy="2304000"/>
          </a:xfrm>
          <a:prstGeom prst="rect">
            <a:avLst/>
          </a:prstGeom>
          <a:solidFill>
            <a:schemeClr val="accent1">
              <a:lumMod val="60000"/>
              <a:lumOff val="40000"/>
            </a:schemeClr>
          </a:solidFill>
          <a:ln>
            <a:noFill/>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360000" tIns="50800" rIns="360000" bIns="50800" numCol="1" spcCol="38100" rtlCol="0" anchor="ctr">
            <a:spAutoFit/>
          </a:bodyPr>
          <a:lstStyle/>
          <a:p>
            <a:pPr marL="0" marR="0" indent="0" algn="just" defTabSz="821531" rtl="0" fontAlgn="auto" latinLnBrk="0" hangingPunct="0">
              <a:lnSpc>
                <a:spcPct val="100000"/>
              </a:lnSpc>
              <a:spcBef>
                <a:spcPts val="0"/>
              </a:spcBef>
              <a:spcAft>
                <a:spcPts val="0"/>
              </a:spcAft>
              <a:buClrTx/>
              <a:buSzTx/>
              <a:buFontTx/>
              <a:buNone/>
              <a:tabLst/>
            </a:pP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Soft</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voting</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classifiers</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En este caso, si los modelos entrenados tienen la posibilidad de estimar la probabilidad por clase, lo que se hace es calcular la posibilidad promedio de cada clase sobre la cantidad total de modelos.</a:t>
            </a:r>
          </a:p>
        </p:txBody>
      </p:sp>
      <p:sp>
        <p:nvSpPr>
          <p:cNvPr id="11" name="Rectangle 10">
            <a:extLst>
              <a:ext uri="{FF2B5EF4-FFF2-40B4-BE49-F238E27FC236}">
                <a16:creationId xmlns:a16="http://schemas.microsoft.com/office/drawing/2014/main" id="{7AADB81C-D1E2-84AC-D710-C7E1C4405DD1}"/>
              </a:ext>
            </a:extLst>
          </p:cNvPr>
          <p:cNvSpPr/>
          <p:nvPr/>
        </p:nvSpPr>
        <p:spPr>
          <a:xfrm>
            <a:off x="1295399" y="9817118"/>
            <a:ext cx="22030267" cy="1584000"/>
          </a:xfrm>
          <a:prstGeom prst="rect">
            <a:avLst/>
          </a:prstGeom>
          <a:solidFill>
            <a:schemeClr val="accent5">
              <a:lumMod val="60000"/>
              <a:lumOff val="40000"/>
            </a:schemeClr>
          </a:solidFill>
          <a:ln>
            <a:noFill/>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360000" tIns="50800" rIns="360000" bIns="50800" numCol="1" spcCol="38100" rtlCol="0" anchor="ctr">
            <a:spAutoFit/>
          </a:bodyPr>
          <a:lstStyle/>
          <a:p>
            <a:pPr marL="0" marR="0" indent="0" algn="just" defTabSz="821531" rtl="0" fontAlgn="auto" latinLnBrk="0" hangingPunct="0">
              <a:lnSpc>
                <a:spcPct val="100000"/>
              </a:lnSpc>
              <a:spcBef>
                <a:spcPts val="0"/>
              </a:spcBef>
              <a:spcAft>
                <a:spcPts val="0"/>
              </a:spcAft>
              <a:buClrTx/>
              <a:buSzTx/>
              <a:buFontTx/>
              <a:buNone/>
              <a:tabLst/>
            </a:pP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Voting</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regressor</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En este caso,  dado que los </a:t>
            </a:r>
            <a:r>
              <a:rPr kumimoji="0" lang="es-ES_tradnl" sz="4000"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modelso</a:t>
            </a:r>
            <a:r>
              <a:rPr kumimoji="0" lang="es-ES_tradnl" sz="40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pueden dar una salida continua, se puede obtener la salida promedio (u otra medida de posición central) de los modelos.</a:t>
            </a:r>
          </a:p>
        </p:txBody>
      </p:sp>
    </p:spTree>
    <p:extLst>
      <p:ext uri="{BB962C8B-B14F-4D97-AF65-F5344CB8AC3E}">
        <p14:creationId xmlns:p14="http://schemas.microsoft.com/office/powerpoint/2010/main" val="32430071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Modelos que Votan</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a:t>
            </a:fld>
            <a:endParaRPr lang="en-US" sz="2800" dirty="0"/>
          </a:p>
        </p:txBody>
      </p:sp>
      <p:sp>
        <p:nvSpPr>
          <p:cNvPr id="4" name="Rectangle 3">
            <a:extLst>
              <a:ext uri="{FF2B5EF4-FFF2-40B4-BE49-F238E27FC236}">
                <a16:creationId xmlns:a16="http://schemas.microsoft.com/office/drawing/2014/main" id="{B177A2D2-638E-1D01-450A-867C1F279992}"/>
              </a:ext>
            </a:extLst>
          </p:cNvPr>
          <p:cNvSpPr/>
          <p:nvPr/>
        </p:nvSpPr>
        <p:spPr>
          <a:xfrm>
            <a:off x="1295400" y="4179535"/>
            <a:ext cx="22030267" cy="2340000"/>
          </a:xfrm>
          <a:prstGeom prst="rect">
            <a:avLst/>
          </a:prstGeom>
          <a:solidFill>
            <a:schemeClr val="accent3">
              <a:lumMod val="60000"/>
              <a:lumOff val="40000"/>
            </a:schemeClr>
          </a:solidFill>
          <a:ln>
            <a:noFill/>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360000" tIns="50800" rIns="360000" bIns="50800" numCol="1" spcCol="38100" rtlCol="0" anchor="ctr">
            <a:spAutoFit/>
          </a:bodyPr>
          <a:lstStyle/>
          <a:p>
            <a:pPr marL="0" marR="0" indent="0" algn="just" defTabSz="821531" rtl="0" fontAlgn="auto" latinLnBrk="0" hangingPunct="0">
              <a:lnSpc>
                <a:spcPct val="100000"/>
              </a:lnSpc>
              <a:spcBef>
                <a:spcPts val="0"/>
              </a:spcBef>
              <a:spcAft>
                <a:spcPts val="0"/>
              </a:spcAft>
              <a:buClrTx/>
              <a:buSzTx/>
              <a:buFontTx/>
              <a:buNone/>
              <a:tabLst/>
            </a:pP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Hard</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voting</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classifiers</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Por ejem</a:t>
            </a:r>
            <a:r>
              <a:rPr lang="es-ES_tradnl" sz="4000" spc="-44" dirty="0">
                <a:solidFill>
                  <a:schemeClr val="bg2">
                    <a:lumMod val="25000"/>
                  </a:schemeClr>
                </a:solidFill>
                <a:latin typeface="Graphik Compact" pitchFamily="2" charset="0"/>
                <a:ea typeface="Graphik-SemiboldItalic"/>
                <a:cs typeface="Graphik-SemiboldItalic"/>
                <a:sym typeface="Graphik Semibold"/>
              </a:rPr>
              <a:t>plo, </a:t>
            </a:r>
            <a:r>
              <a:rPr kumimoji="0" lang="es-ES_tradnl" sz="40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podríamos entrenar un grupo de árboles de decisión, cada uno en una parte diferente del conjunto de entrenamiento, generar predicciones con cada árbol individual y luego predecir la clase que tenga mayor cantidad de votos.</a:t>
            </a:r>
          </a:p>
        </p:txBody>
      </p:sp>
      <p:sp>
        <p:nvSpPr>
          <p:cNvPr id="10" name="Rectangle 9">
            <a:extLst>
              <a:ext uri="{FF2B5EF4-FFF2-40B4-BE49-F238E27FC236}">
                <a16:creationId xmlns:a16="http://schemas.microsoft.com/office/drawing/2014/main" id="{4628746E-B6CD-7C5E-7E66-B9CA71468328}"/>
              </a:ext>
            </a:extLst>
          </p:cNvPr>
          <p:cNvSpPr/>
          <p:nvPr/>
        </p:nvSpPr>
        <p:spPr>
          <a:xfrm>
            <a:off x="1295400" y="7016327"/>
            <a:ext cx="22030267" cy="2304000"/>
          </a:xfrm>
          <a:prstGeom prst="rect">
            <a:avLst/>
          </a:prstGeom>
          <a:solidFill>
            <a:schemeClr val="accent1">
              <a:lumMod val="60000"/>
              <a:lumOff val="40000"/>
            </a:schemeClr>
          </a:solidFill>
          <a:ln>
            <a:noFill/>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360000" tIns="50800" rIns="360000" bIns="50800" numCol="1" spcCol="38100" rtlCol="0" anchor="ctr">
            <a:spAutoFit/>
          </a:bodyPr>
          <a:lstStyle/>
          <a:p>
            <a:pPr marL="0" marR="0" indent="0" algn="just" defTabSz="821531" rtl="0" fontAlgn="auto" latinLnBrk="0" hangingPunct="0">
              <a:lnSpc>
                <a:spcPct val="100000"/>
              </a:lnSpc>
              <a:spcBef>
                <a:spcPts val="0"/>
              </a:spcBef>
              <a:spcAft>
                <a:spcPts val="0"/>
              </a:spcAft>
              <a:buClrTx/>
              <a:buSzTx/>
              <a:buFontTx/>
              <a:buNone/>
              <a:tabLst/>
            </a:pP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Soft</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voting</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classifiers</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En este caso, si los modelos entrenados tienen la posibilidad de estimar la probabilidad por clase, lo que se hace es calcular la posibilidad promedio de cada clase sobre la cantidad total de modelos.</a:t>
            </a:r>
          </a:p>
        </p:txBody>
      </p:sp>
      <p:sp>
        <p:nvSpPr>
          <p:cNvPr id="11" name="Rectangle 10">
            <a:extLst>
              <a:ext uri="{FF2B5EF4-FFF2-40B4-BE49-F238E27FC236}">
                <a16:creationId xmlns:a16="http://schemas.microsoft.com/office/drawing/2014/main" id="{7AADB81C-D1E2-84AC-D710-C7E1C4405DD1}"/>
              </a:ext>
            </a:extLst>
          </p:cNvPr>
          <p:cNvSpPr/>
          <p:nvPr/>
        </p:nvSpPr>
        <p:spPr>
          <a:xfrm>
            <a:off x="1295399" y="9817118"/>
            <a:ext cx="22030267" cy="1584000"/>
          </a:xfrm>
          <a:prstGeom prst="rect">
            <a:avLst/>
          </a:prstGeom>
          <a:solidFill>
            <a:schemeClr val="accent5">
              <a:lumMod val="60000"/>
              <a:lumOff val="40000"/>
            </a:schemeClr>
          </a:solidFill>
          <a:ln>
            <a:noFill/>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360000" tIns="50800" rIns="360000" bIns="50800" numCol="1" spcCol="38100" rtlCol="0" anchor="ctr">
            <a:spAutoFit/>
          </a:bodyPr>
          <a:lstStyle/>
          <a:p>
            <a:pPr marL="0" marR="0" indent="0" algn="just" defTabSz="821531" rtl="0" fontAlgn="auto" latinLnBrk="0" hangingPunct="0">
              <a:lnSpc>
                <a:spcPct val="100000"/>
              </a:lnSpc>
              <a:spcBef>
                <a:spcPts val="0"/>
              </a:spcBef>
              <a:spcAft>
                <a:spcPts val="0"/>
              </a:spcAft>
              <a:buClrTx/>
              <a:buSzTx/>
              <a:buFontTx/>
              <a:buNone/>
              <a:tabLst/>
            </a:pP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Voting</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b="1"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regressor</a:t>
            </a:r>
            <a:r>
              <a:rPr kumimoji="0" lang="es-ES_tradnl" sz="4000" b="1"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a:t>
            </a:r>
            <a:r>
              <a:rPr kumimoji="0" lang="es-ES_tradnl" sz="40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En este caso,  dado que los </a:t>
            </a:r>
            <a:r>
              <a:rPr kumimoji="0" lang="es-ES_tradnl" sz="4000" i="0" u="none" strike="noStrike" cap="none" spc="-44" normalizeH="0" baseline="0" dirty="0" err="1">
                <a:ln>
                  <a:noFill/>
                </a:ln>
                <a:solidFill>
                  <a:schemeClr val="bg2">
                    <a:lumMod val="25000"/>
                  </a:schemeClr>
                </a:solidFill>
                <a:effectLst/>
                <a:uFillTx/>
                <a:latin typeface="Graphik Compact" pitchFamily="2" charset="0"/>
                <a:ea typeface="Graphik-SemiboldItalic"/>
                <a:cs typeface="Graphik-SemiboldItalic"/>
                <a:sym typeface="Graphik Semibold"/>
              </a:rPr>
              <a:t>modelso</a:t>
            </a:r>
            <a:r>
              <a:rPr kumimoji="0" lang="es-ES_tradnl" sz="40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 pueden dar una salida continua, se puede obtener la salida promedio (u otra medida de posición central) de los modelos.</a:t>
            </a:r>
          </a:p>
        </p:txBody>
      </p:sp>
      <p:sp>
        <p:nvSpPr>
          <p:cNvPr id="5" name="Rectangle 4">
            <a:extLst>
              <a:ext uri="{FF2B5EF4-FFF2-40B4-BE49-F238E27FC236}">
                <a16:creationId xmlns:a16="http://schemas.microsoft.com/office/drawing/2014/main" id="{939D555D-5C37-B2AD-D942-86848EFB6868}"/>
              </a:ext>
            </a:extLst>
          </p:cNvPr>
          <p:cNvSpPr/>
          <p:nvPr/>
        </p:nvSpPr>
        <p:spPr>
          <a:xfrm>
            <a:off x="15517605" y="7516723"/>
            <a:ext cx="8136467" cy="2052000"/>
          </a:xfrm>
          <a:prstGeom prst="rect">
            <a:avLst/>
          </a:prstGeom>
          <a:solidFill>
            <a:schemeClr val="accent6">
              <a:lumMod val="60000"/>
              <a:lumOff val="4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s-ES_tradnl" sz="36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Una ventaja de esta manera de estimar las clases es que se le da más peso a los votos que tienen más confianza en su decisión.</a:t>
            </a:r>
          </a:p>
        </p:txBody>
      </p:sp>
    </p:spTree>
    <p:extLst>
      <p:ext uri="{BB962C8B-B14F-4D97-AF65-F5344CB8AC3E}">
        <p14:creationId xmlns:p14="http://schemas.microsoft.com/office/powerpoint/2010/main" val="226476173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Modelos que Votan</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9</a:t>
            </a:fld>
            <a:endParaRPr lang="en-US" sz="2800" dirty="0"/>
          </a:p>
        </p:txBody>
      </p:sp>
      <p:pic>
        <p:nvPicPr>
          <p:cNvPr id="9" name="Graphic 8" descr="Table outline">
            <a:extLst>
              <a:ext uri="{FF2B5EF4-FFF2-40B4-BE49-F238E27FC236}">
                <a16:creationId xmlns:a16="http://schemas.microsoft.com/office/drawing/2014/main" id="{69DA47B3-0482-7472-D29C-418B6A5F8A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1533" y="9025467"/>
            <a:ext cx="2387600" cy="2387600"/>
          </a:xfrm>
          <a:prstGeom prst="rect">
            <a:avLst/>
          </a:prstGeom>
        </p:spPr>
      </p:pic>
      <p:pic>
        <p:nvPicPr>
          <p:cNvPr id="11" name="Graphic 10" descr="User network with solid fill">
            <a:extLst>
              <a:ext uri="{FF2B5EF4-FFF2-40B4-BE49-F238E27FC236}">
                <a16:creationId xmlns:a16="http://schemas.microsoft.com/office/drawing/2014/main" id="{1519CE3C-2A8B-817A-349B-F35B63C5051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75333" y="4434855"/>
            <a:ext cx="1778386" cy="1778386"/>
          </a:xfrm>
          <a:prstGeom prst="rect">
            <a:avLst/>
          </a:prstGeom>
        </p:spPr>
      </p:pic>
      <p:pic>
        <p:nvPicPr>
          <p:cNvPr id="13" name="Graphic 12" descr="Gears with solid fill">
            <a:extLst>
              <a:ext uri="{FF2B5EF4-FFF2-40B4-BE49-F238E27FC236}">
                <a16:creationId xmlns:a16="http://schemas.microsoft.com/office/drawing/2014/main" id="{14648DB8-B3FA-DF5B-5570-858C5798834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19157" y="4409070"/>
            <a:ext cx="1778385" cy="1778385"/>
          </a:xfrm>
          <a:prstGeom prst="rect">
            <a:avLst/>
          </a:prstGeom>
        </p:spPr>
      </p:pic>
      <p:pic>
        <p:nvPicPr>
          <p:cNvPr id="17" name="Graphic 16" descr="Normal Distribution with solid fill">
            <a:extLst>
              <a:ext uri="{FF2B5EF4-FFF2-40B4-BE49-F238E27FC236}">
                <a16:creationId xmlns:a16="http://schemas.microsoft.com/office/drawing/2014/main" id="{1B09DC9D-9182-148A-64D0-D529A900D20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37343" y="4257440"/>
            <a:ext cx="1811867" cy="1811867"/>
          </a:xfrm>
          <a:prstGeom prst="rect">
            <a:avLst/>
          </a:prstGeom>
        </p:spPr>
      </p:pic>
      <p:pic>
        <p:nvPicPr>
          <p:cNvPr id="19" name="Graphic 18" descr="Withering Tree with solid fill">
            <a:extLst>
              <a:ext uri="{FF2B5EF4-FFF2-40B4-BE49-F238E27FC236}">
                <a16:creationId xmlns:a16="http://schemas.microsoft.com/office/drawing/2014/main" id="{EBAF3C1D-2B19-C2CC-2B72-620DFBFCD88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4105467" y="4535590"/>
            <a:ext cx="1778385" cy="1778385"/>
          </a:xfrm>
          <a:prstGeom prst="rect">
            <a:avLst/>
          </a:prstGeom>
        </p:spPr>
      </p:pic>
      <p:cxnSp>
        <p:nvCxnSpPr>
          <p:cNvPr id="28" name="Straight Arrow Connector 27">
            <a:extLst>
              <a:ext uri="{FF2B5EF4-FFF2-40B4-BE49-F238E27FC236}">
                <a16:creationId xmlns:a16="http://schemas.microsoft.com/office/drawing/2014/main" id="{EAECA972-F135-9A8B-C890-9C07938BCB94}"/>
              </a:ext>
            </a:extLst>
          </p:cNvPr>
          <p:cNvCxnSpPr/>
          <p:nvPr/>
        </p:nvCxnSpPr>
        <p:spPr>
          <a:xfrm flipH="1" flipV="1">
            <a:off x="4293136" y="6858000"/>
            <a:ext cx="4715397" cy="2590800"/>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 name="Straight Arrow Connector 28">
            <a:extLst>
              <a:ext uri="{FF2B5EF4-FFF2-40B4-BE49-F238E27FC236}">
                <a16:creationId xmlns:a16="http://schemas.microsoft.com/office/drawing/2014/main" id="{3BADA9FA-10CD-A487-1C33-66428304CF78}"/>
              </a:ext>
            </a:extLst>
          </p:cNvPr>
          <p:cNvCxnSpPr>
            <a:cxnSpLocks/>
          </p:cNvCxnSpPr>
          <p:nvPr/>
        </p:nvCxnSpPr>
        <p:spPr>
          <a:xfrm flipH="1" flipV="1">
            <a:off x="7208349" y="6739852"/>
            <a:ext cx="2621719" cy="2708948"/>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70FC7F5E-B8B2-5C5F-823C-3960AE4B5E16}"/>
              </a:ext>
            </a:extLst>
          </p:cNvPr>
          <p:cNvCxnSpPr>
            <a:cxnSpLocks/>
          </p:cNvCxnSpPr>
          <p:nvPr/>
        </p:nvCxnSpPr>
        <p:spPr>
          <a:xfrm flipV="1">
            <a:off x="10451184" y="6748773"/>
            <a:ext cx="518945" cy="2700027"/>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A635A8A1-274C-048D-F921-BE20684FC1CE}"/>
              </a:ext>
            </a:extLst>
          </p:cNvPr>
          <p:cNvCxnSpPr>
            <a:cxnSpLocks/>
          </p:cNvCxnSpPr>
          <p:nvPr/>
        </p:nvCxnSpPr>
        <p:spPr>
          <a:xfrm flipV="1">
            <a:off x="11122528" y="6739852"/>
            <a:ext cx="3872131" cy="2708948"/>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E28A80DE-769B-D3FC-C4B0-2C22F3E21902}"/>
              </a:ext>
            </a:extLst>
          </p:cNvPr>
          <p:cNvSpPr txBox="1"/>
          <p:nvPr/>
        </p:nvSpPr>
        <p:spPr>
          <a:xfrm>
            <a:off x="1295400" y="2944564"/>
            <a:ext cx="12192000" cy="6832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kumimoji="0" lang="es-ES_tradnl" sz="4800" b="1" i="0" u="none" strike="noStrike" cap="none" spc="-44" normalizeH="0" baseline="0" dirty="0" err="1">
                <a:ln>
                  <a:noFill/>
                </a:ln>
                <a:solidFill>
                  <a:sysClr val="windowText" lastClr="000000"/>
                </a:solidFill>
                <a:effectLst/>
                <a:uFillTx/>
                <a:latin typeface="Graphik Compact" pitchFamily="2" charset="0"/>
                <a:ea typeface="Graphik-SemiboldItalic"/>
                <a:cs typeface="Graphik-SemiboldItalic"/>
                <a:sym typeface="Graphik Semibold"/>
              </a:rPr>
              <a:t>Hard</a:t>
            </a:r>
            <a:r>
              <a:rPr kumimoji="0" lang="es-ES_tradnl" sz="4800" b="1" i="0" u="none" strike="noStrike" cap="none" spc="-44" normalizeH="0" baseline="0" dirty="0">
                <a:ln>
                  <a:noFill/>
                </a:ln>
                <a:solidFill>
                  <a:sysClr val="windowText" lastClr="000000"/>
                </a:solidFill>
                <a:effectLst/>
                <a:uFillTx/>
                <a:latin typeface="Graphik Compact" pitchFamily="2" charset="0"/>
                <a:ea typeface="Graphik-SemiboldItalic"/>
                <a:cs typeface="Graphik-SemiboldItalic"/>
                <a:sym typeface="Graphik Semibold"/>
              </a:rPr>
              <a:t> </a:t>
            </a:r>
            <a:r>
              <a:rPr kumimoji="0" lang="es-ES_tradnl" sz="4800" b="1" i="0" u="none" strike="noStrike" cap="none" spc="-44" normalizeH="0" baseline="0" dirty="0" err="1">
                <a:ln>
                  <a:noFill/>
                </a:ln>
                <a:solidFill>
                  <a:sysClr val="windowText" lastClr="000000"/>
                </a:solidFill>
                <a:effectLst/>
                <a:uFillTx/>
                <a:latin typeface="Graphik Compact" pitchFamily="2" charset="0"/>
                <a:ea typeface="Graphik-SemiboldItalic"/>
                <a:cs typeface="Graphik-SemiboldItalic"/>
                <a:sym typeface="Graphik Semibold"/>
              </a:rPr>
              <a:t>voting</a:t>
            </a:r>
            <a:r>
              <a:rPr kumimoji="0" lang="es-ES_tradnl" sz="4800" b="1" i="0" u="none" strike="noStrike" cap="none" spc="-44" normalizeH="0" baseline="0" dirty="0">
                <a:ln>
                  <a:noFill/>
                </a:ln>
                <a:solidFill>
                  <a:sysClr val="windowText" lastClr="000000"/>
                </a:solidFill>
                <a:effectLst/>
                <a:uFillTx/>
                <a:latin typeface="Graphik Compact" pitchFamily="2" charset="0"/>
                <a:ea typeface="Graphik-SemiboldItalic"/>
                <a:cs typeface="Graphik-SemiboldItalic"/>
                <a:sym typeface="Graphik Semibold"/>
              </a:rPr>
              <a:t> </a:t>
            </a:r>
            <a:r>
              <a:rPr kumimoji="0" lang="es-ES_tradnl" sz="4800" b="1" i="0" u="none" strike="noStrike" cap="none" spc="-44" normalizeH="0" baseline="0" dirty="0" err="1">
                <a:ln>
                  <a:noFill/>
                </a:ln>
                <a:solidFill>
                  <a:sysClr val="windowText" lastClr="000000"/>
                </a:solidFill>
                <a:effectLst/>
                <a:uFillTx/>
                <a:latin typeface="Graphik Compact" pitchFamily="2" charset="0"/>
                <a:ea typeface="Graphik-SemiboldItalic"/>
                <a:cs typeface="Graphik-SemiboldItalic"/>
                <a:sym typeface="Graphik Semibold"/>
              </a:rPr>
              <a:t>classifiers</a:t>
            </a:r>
            <a:endParaRPr lang="es-ES_tradnl" sz="4400" dirty="0"/>
          </a:p>
        </p:txBody>
      </p:sp>
      <p:sp>
        <p:nvSpPr>
          <p:cNvPr id="6" name="TextBox 5">
            <a:extLst>
              <a:ext uri="{FF2B5EF4-FFF2-40B4-BE49-F238E27FC236}">
                <a16:creationId xmlns:a16="http://schemas.microsoft.com/office/drawing/2014/main" id="{82643D58-D4D3-A950-62BF-41E7C2CC05DE}"/>
              </a:ext>
            </a:extLst>
          </p:cNvPr>
          <p:cNvSpPr txBox="1"/>
          <p:nvPr/>
        </p:nvSpPr>
        <p:spPr>
          <a:xfrm>
            <a:off x="3271400" y="6805365"/>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8" name="TextBox 7">
            <a:extLst>
              <a:ext uri="{FF2B5EF4-FFF2-40B4-BE49-F238E27FC236}">
                <a16:creationId xmlns:a16="http://schemas.microsoft.com/office/drawing/2014/main" id="{4A453311-1FF3-E1A5-299C-51DDEB5BA2C8}"/>
              </a:ext>
            </a:extLst>
          </p:cNvPr>
          <p:cNvSpPr txBox="1"/>
          <p:nvPr/>
        </p:nvSpPr>
        <p:spPr>
          <a:xfrm>
            <a:off x="10461687" y="6838027"/>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0" name="TextBox 9">
            <a:extLst>
              <a:ext uri="{FF2B5EF4-FFF2-40B4-BE49-F238E27FC236}">
                <a16:creationId xmlns:a16="http://schemas.microsoft.com/office/drawing/2014/main" id="{F6CCAF11-DD66-52D4-5B2C-B2163A857FBA}"/>
              </a:ext>
            </a:extLst>
          </p:cNvPr>
          <p:cNvSpPr txBox="1"/>
          <p:nvPr/>
        </p:nvSpPr>
        <p:spPr>
          <a:xfrm>
            <a:off x="14234931" y="6786666"/>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2" name="TextBox 11">
            <a:extLst>
              <a:ext uri="{FF2B5EF4-FFF2-40B4-BE49-F238E27FC236}">
                <a16:creationId xmlns:a16="http://schemas.microsoft.com/office/drawing/2014/main" id="{55DBD360-F7B7-5609-82DF-3471CFB4D674}"/>
              </a:ext>
            </a:extLst>
          </p:cNvPr>
          <p:cNvSpPr txBox="1"/>
          <p:nvPr/>
        </p:nvSpPr>
        <p:spPr>
          <a:xfrm>
            <a:off x="6677940" y="6786666"/>
            <a:ext cx="1021736" cy="646331"/>
          </a:xfrm>
          <a:prstGeom prst="rect">
            <a:avLst/>
          </a:prstGeom>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0</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4" name="TextBox 13">
            <a:extLst>
              <a:ext uri="{FF2B5EF4-FFF2-40B4-BE49-F238E27FC236}">
                <a16:creationId xmlns:a16="http://schemas.microsoft.com/office/drawing/2014/main" id="{BCCED7FF-956D-A7EC-DE2C-9E999B29387D}"/>
              </a:ext>
            </a:extLst>
          </p:cNvPr>
          <p:cNvSpPr txBox="1"/>
          <p:nvPr/>
        </p:nvSpPr>
        <p:spPr>
          <a:xfrm>
            <a:off x="11853022" y="9896101"/>
            <a:ext cx="506734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Predicción del ensamble</a:t>
            </a:r>
          </a:p>
        </p:txBody>
      </p:sp>
      <p:sp>
        <p:nvSpPr>
          <p:cNvPr id="15" name="TextBox 14">
            <a:extLst>
              <a:ext uri="{FF2B5EF4-FFF2-40B4-BE49-F238E27FC236}">
                <a16:creationId xmlns:a16="http://schemas.microsoft.com/office/drawing/2014/main" id="{F1BCE584-4CDB-92D4-EBC3-9C1426DB6F83}"/>
              </a:ext>
            </a:extLst>
          </p:cNvPr>
          <p:cNvSpPr txBox="1"/>
          <p:nvPr/>
        </p:nvSpPr>
        <p:spPr>
          <a:xfrm>
            <a:off x="16993392" y="9896100"/>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pic>
        <p:nvPicPr>
          <p:cNvPr id="16" name="Graphic 15" descr="Miscellaneous with solid fill">
            <a:extLst>
              <a:ext uri="{FF2B5EF4-FFF2-40B4-BE49-F238E27FC236}">
                <a16:creationId xmlns:a16="http://schemas.microsoft.com/office/drawing/2014/main" id="{28AE6511-1569-8777-C9E0-0E4957D7C01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932400" y="5154907"/>
            <a:ext cx="914400" cy="914400"/>
          </a:xfrm>
          <a:prstGeom prst="rect">
            <a:avLst/>
          </a:prstGeom>
        </p:spPr>
      </p:pic>
      <p:cxnSp>
        <p:nvCxnSpPr>
          <p:cNvPr id="18" name="Straight Arrow Connector 17">
            <a:extLst>
              <a:ext uri="{FF2B5EF4-FFF2-40B4-BE49-F238E27FC236}">
                <a16:creationId xmlns:a16="http://schemas.microsoft.com/office/drawing/2014/main" id="{2A8706C3-B842-06F8-2B87-4558C898BD65}"/>
              </a:ext>
            </a:extLst>
          </p:cNvPr>
          <p:cNvCxnSpPr>
            <a:cxnSpLocks/>
          </p:cNvCxnSpPr>
          <p:nvPr/>
        </p:nvCxnSpPr>
        <p:spPr>
          <a:xfrm flipV="1">
            <a:off x="11195831" y="6739852"/>
            <a:ext cx="7099936" cy="3286202"/>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7" name="TextBox 26">
            <a:extLst>
              <a:ext uri="{FF2B5EF4-FFF2-40B4-BE49-F238E27FC236}">
                <a16:creationId xmlns:a16="http://schemas.microsoft.com/office/drawing/2014/main" id="{BF29209A-8AD9-2C0A-287C-5FAA7D3C24E4}"/>
              </a:ext>
            </a:extLst>
          </p:cNvPr>
          <p:cNvSpPr txBox="1"/>
          <p:nvPr/>
        </p:nvSpPr>
        <p:spPr>
          <a:xfrm>
            <a:off x="17746805" y="6700326"/>
            <a:ext cx="1021736" cy="646331"/>
          </a:xfrm>
          <a:prstGeom prst="rect">
            <a:avLst/>
          </a:prstGeom>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0</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4" name="TextBox 3">
            <a:extLst>
              <a:ext uri="{FF2B5EF4-FFF2-40B4-BE49-F238E27FC236}">
                <a16:creationId xmlns:a16="http://schemas.microsoft.com/office/drawing/2014/main" id="{ABD88E61-2126-C362-BCC4-6043823C4A64}"/>
              </a:ext>
            </a:extLst>
          </p:cNvPr>
          <p:cNvSpPr txBox="1"/>
          <p:nvPr/>
        </p:nvSpPr>
        <p:spPr>
          <a:xfrm>
            <a:off x="9323973" y="10904282"/>
            <a:ext cx="1502720"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err="1"/>
              <a:t>Dataset</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7" name="TextBox 6">
            <a:extLst>
              <a:ext uri="{FF2B5EF4-FFF2-40B4-BE49-F238E27FC236}">
                <a16:creationId xmlns:a16="http://schemas.microsoft.com/office/drawing/2014/main" id="{79CC9242-B6E6-A127-0524-A97AEC4BE30E}"/>
              </a:ext>
            </a:extLst>
          </p:cNvPr>
          <p:cNvSpPr txBox="1"/>
          <p:nvPr/>
        </p:nvSpPr>
        <p:spPr>
          <a:xfrm>
            <a:off x="1962757" y="6151686"/>
            <a:ext cx="3561039"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Regresión logística</a:t>
            </a:r>
          </a:p>
        </p:txBody>
      </p:sp>
      <p:sp>
        <p:nvSpPr>
          <p:cNvPr id="20" name="TextBox 19">
            <a:extLst>
              <a:ext uri="{FF2B5EF4-FFF2-40B4-BE49-F238E27FC236}">
                <a16:creationId xmlns:a16="http://schemas.microsoft.com/office/drawing/2014/main" id="{66274711-C6A7-B8CB-70BF-A2C224F4E89A}"/>
              </a:ext>
            </a:extLst>
          </p:cNvPr>
          <p:cNvSpPr txBox="1"/>
          <p:nvPr/>
        </p:nvSpPr>
        <p:spPr>
          <a:xfrm>
            <a:off x="6772525" y="6151686"/>
            <a:ext cx="871649"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SVC</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21" name="TextBox 20">
            <a:extLst>
              <a:ext uri="{FF2B5EF4-FFF2-40B4-BE49-F238E27FC236}">
                <a16:creationId xmlns:a16="http://schemas.microsoft.com/office/drawing/2014/main" id="{16F8F7D2-08D7-B7E1-47CA-1FB63E1A6D90}"/>
              </a:ext>
            </a:extLst>
          </p:cNvPr>
          <p:cNvSpPr txBox="1"/>
          <p:nvPr/>
        </p:nvSpPr>
        <p:spPr>
          <a:xfrm>
            <a:off x="9714143" y="6151686"/>
            <a:ext cx="2511971"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a:t>Red neuronal</a:t>
            </a:r>
            <a:endPar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0" name="TextBox 29">
            <a:extLst>
              <a:ext uri="{FF2B5EF4-FFF2-40B4-BE49-F238E27FC236}">
                <a16:creationId xmlns:a16="http://schemas.microsoft.com/office/drawing/2014/main" id="{8C560F67-51FE-170E-D437-D78CCF5FB0AD}"/>
              </a:ext>
            </a:extLst>
          </p:cNvPr>
          <p:cNvSpPr txBox="1"/>
          <p:nvPr/>
        </p:nvSpPr>
        <p:spPr>
          <a:xfrm>
            <a:off x="13022484" y="6151686"/>
            <a:ext cx="3999878"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Árbol de clasificación</a:t>
            </a:r>
          </a:p>
        </p:txBody>
      </p:sp>
    </p:spTree>
    <p:extLst>
      <p:ext uri="{BB962C8B-B14F-4D97-AF65-F5344CB8AC3E}">
        <p14:creationId xmlns:p14="http://schemas.microsoft.com/office/powerpoint/2010/main" val="158804415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Modelos que Votan</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10</a:t>
            </a:fld>
            <a:endParaRPr lang="en-US" sz="2800" dirty="0"/>
          </a:p>
        </p:txBody>
      </p:sp>
      <p:pic>
        <p:nvPicPr>
          <p:cNvPr id="9" name="Graphic 8" descr="Table outline">
            <a:extLst>
              <a:ext uri="{FF2B5EF4-FFF2-40B4-BE49-F238E27FC236}">
                <a16:creationId xmlns:a16="http://schemas.microsoft.com/office/drawing/2014/main" id="{69DA47B3-0482-7472-D29C-418B6A5F8A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1533" y="9025467"/>
            <a:ext cx="2387600" cy="2387600"/>
          </a:xfrm>
          <a:prstGeom prst="rect">
            <a:avLst/>
          </a:prstGeom>
        </p:spPr>
      </p:pic>
      <p:pic>
        <p:nvPicPr>
          <p:cNvPr id="11" name="Graphic 10" descr="User network with solid fill">
            <a:extLst>
              <a:ext uri="{FF2B5EF4-FFF2-40B4-BE49-F238E27FC236}">
                <a16:creationId xmlns:a16="http://schemas.microsoft.com/office/drawing/2014/main" id="{1519CE3C-2A8B-817A-349B-F35B63C5051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75333" y="4434855"/>
            <a:ext cx="1778386" cy="1778386"/>
          </a:xfrm>
          <a:prstGeom prst="rect">
            <a:avLst/>
          </a:prstGeom>
        </p:spPr>
      </p:pic>
      <p:pic>
        <p:nvPicPr>
          <p:cNvPr id="13" name="Graphic 12" descr="Gears with solid fill">
            <a:extLst>
              <a:ext uri="{FF2B5EF4-FFF2-40B4-BE49-F238E27FC236}">
                <a16:creationId xmlns:a16="http://schemas.microsoft.com/office/drawing/2014/main" id="{14648DB8-B3FA-DF5B-5570-858C5798834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19157" y="4409070"/>
            <a:ext cx="1778385" cy="1778385"/>
          </a:xfrm>
          <a:prstGeom prst="rect">
            <a:avLst/>
          </a:prstGeom>
        </p:spPr>
      </p:pic>
      <p:pic>
        <p:nvPicPr>
          <p:cNvPr id="17" name="Graphic 16" descr="Normal Distribution with solid fill">
            <a:extLst>
              <a:ext uri="{FF2B5EF4-FFF2-40B4-BE49-F238E27FC236}">
                <a16:creationId xmlns:a16="http://schemas.microsoft.com/office/drawing/2014/main" id="{1B09DC9D-9182-148A-64D0-D529A900D20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37343" y="4257440"/>
            <a:ext cx="1811867" cy="1811867"/>
          </a:xfrm>
          <a:prstGeom prst="rect">
            <a:avLst/>
          </a:prstGeom>
        </p:spPr>
      </p:pic>
      <p:pic>
        <p:nvPicPr>
          <p:cNvPr id="19" name="Graphic 18" descr="Withering Tree with solid fill">
            <a:extLst>
              <a:ext uri="{FF2B5EF4-FFF2-40B4-BE49-F238E27FC236}">
                <a16:creationId xmlns:a16="http://schemas.microsoft.com/office/drawing/2014/main" id="{EBAF3C1D-2B19-C2CC-2B72-620DFBFCD88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4105467" y="4535590"/>
            <a:ext cx="1778385" cy="1778385"/>
          </a:xfrm>
          <a:prstGeom prst="rect">
            <a:avLst/>
          </a:prstGeom>
        </p:spPr>
      </p:pic>
      <p:cxnSp>
        <p:nvCxnSpPr>
          <p:cNvPr id="28" name="Straight Arrow Connector 27">
            <a:extLst>
              <a:ext uri="{FF2B5EF4-FFF2-40B4-BE49-F238E27FC236}">
                <a16:creationId xmlns:a16="http://schemas.microsoft.com/office/drawing/2014/main" id="{EAECA972-F135-9A8B-C890-9C07938BCB94}"/>
              </a:ext>
            </a:extLst>
          </p:cNvPr>
          <p:cNvCxnSpPr/>
          <p:nvPr/>
        </p:nvCxnSpPr>
        <p:spPr>
          <a:xfrm flipH="1" flipV="1">
            <a:off x="4293136" y="6858000"/>
            <a:ext cx="4715397" cy="2590800"/>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 name="Straight Arrow Connector 28">
            <a:extLst>
              <a:ext uri="{FF2B5EF4-FFF2-40B4-BE49-F238E27FC236}">
                <a16:creationId xmlns:a16="http://schemas.microsoft.com/office/drawing/2014/main" id="{3BADA9FA-10CD-A487-1C33-66428304CF78}"/>
              </a:ext>
            </a:extLst>
          </p:cNvPr>
          <p:cNvCxnSpPr>
            <a:cxnSpLocks/>
          </p:cNvCxnSpPr>
          <p:nvPr/>
        </p:nvCxnSpPr>
        <p:spPr>
          <a:xfrm flipH="1" flipV="1">
            <a:off x="7208349" y="6739852"/>
            <a:ext cx="2621719" cy="2708948"/>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70FC7F5E-B8B2-5C5F-823C-3960AE4B5E16}"/>
              </a:ext>
            </a:extLst>
          </p:cNvPr>
          <p:cNvCxnSpPr>
            <a:cxnSpLocks/>
          </p:cNvCxnSpPr>
          <p:nvPr/>
        </p:nvCxnSpPr>
        <p:spPr>
          <a:xfrm flipV="1">
            <a:off x="10451184" y="6687217"/>
            <a:ext cx="518944" cy="2761583"/>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A635A8A1-274C-048D-F921-BE20684FC1CE}"/>
              </a:ext>
            </a:extLst>
          </p:cNvPr>
          <p:cNvCxnSpPr>
            <a:cxnSpLocks/>
          </p:cNvCxnSpPr>
          <p:nvPr/>
        </p:nvCxnSpPr>
        <p:spPr>
          <a:xfrm flipV="1">
            <a:off x="11122528" y="6739852"/>
            <a:ext cx="3872131" cy="2708948"/>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E28A80DE-769B-D3FC-C4B0-2C22F3E21902}"/>
              </a:ext>
            </a:extLst>
          </p:cNvPr>
          <p:cNvSpPr txBox="1"/>
          <p:nvPr/>
        </p:nvSpPr>
        <p:spPr>
          <a:xfrm>
            <a:off x="1295400" y="2944564"/>
            <a:ext cx="12192000" cy="6832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kumimoji="0" lang="es-ES_tradnl" sz="4800" b="1" i="0" u="none" strike="noStrike" cap="none" spc="-44" normalizeH="0" baseline="0" dirty="0" err="1">
                <a:ln>
                  <a:noFill/>
                </a:ln>
                <a:solidFill>
                  <a:sysClr val="windowText" lastClr="000000"/>
                </a:solidFill>
                <a:effectLst/>
                <a:uFillTx/>
                <a:latin typeface="Graphik Compact" pitchFamily="2" charset="0"/>
                <a:ea typeface="Graphik-SemiboldItalic"/>
                <a:cs typeface="Graphik-SemiboldItalic"/>
                <a:sym typeface="Graphik Semibold"/>
              </a:rPr>
              <a:t>Hard</a:t>
            </a:r>
            <a:r>
              <a:rPr kumimoji="0" lang="es-ES_tradnl" sz="4800" b="1" i="0" u="none" strike="noStrike" cap="none" spc="-44" normalizeH="0" baseline="0" dirty="0">
                <a:ln>
                  <a:noFill/>
                </a:ln>
                <a:solidFill>
                  <a:sysClr val="windowText" lastClr="000000"/>
                </a:solidFill>
                <a:effectLst/>
                <a:uFillTx/>
                <a:latin typeface="Graphik Compact" pitchFamily="2" charset="0"/>
                <a:ea typeface="Graphik-SemiboldItalic"/>
                <a:cs typeface="Graphik-SemiboldItalic"/>
                <a:sym typeface="Graphik Semibold"/>
              </a:rPr>
              <a:t> </a:t>
            </a:r>
            <a:r>
              <a:rPr kumimoji="0" lang="es-ES_tradnl" sz="4800" b="1" i="0" u="none" strike="noStrike" cap="none" spc="-44" normalizeH="0" baseline="0" dirty="0" err="1">
                <a:ln>
                  <a:noFill/>
                </a:ln>
                <a:solidFill>
                  <a:sysClr val="windowText" lastClr="000000"/>
                </a:solidFill>
                <a:effectLst/>
                <a:uFillTx/>
                <a:latin typeface="Graphik Compact" pitchFamily="2" charset="0"/>
                <a:ea typeface="Graphik-SemiboldItalic"/>
                <a:cs typeface="Graphik-SemiboldItalic"/>
                <a:sym typeface="Graphik Semibold"/>
              </a:rPr>
              <a:t>voting</a:t>
            </a:r>
            <a:r>
              <a:rPr kumimoji="0" lang="es-ES_tradnl" sz="4800" b="1" i="0" u="none" strike="noStrike" cap="none" spc="-44" normalizeH="0" baseline="0" dirty="0">
                <a:ln>
                  <a:noFill/>
                </a:ln>
                <a:solidFill>
                  <a:sysClr val="windowText" lastClr="000000"/>
                </a:solidFill>
                <a:effectLst/>
                <a:uFillTx/>
                <a:latin typeface="Graphik Compact" pitchFamily="2" charset="0"/>
                <a:ea typeface="Graphik-SemiboldItalic"/>
                <a:cs typeface="Graphik-SemiboldItalic"/>
                <a:sym typeface="Graphik Semibold"/>
              </a:rPr>
              <a:t> </a:t>
            </a:r>
            <a:r>
              <a:rPr kumimoji="0" lang="es-ES_tradnl" sz="4800" b="1" i="0" u="none" strike="noStrike" cap="none" spc="-44" normalizeH="0" baseline="0" dirty="0" err="1">
                <a:ln>
                  <a:noFill/>
                </a:ln>
                <a:solidFill>
                  <a:sysClr val="windowText" lastClr="000000"/>
                </a:solidFill>
                <a:effectLst/>
                <a:uFillTx/>
                <a:latin typeface="Graphik Compact" pitchFamily="2" charset="0"/>
                <a:ea typeface="Graphik-SemiboldItalic"/>
                <a:cs typeface="Graphik-SemiboldItalic"/>
                <a:sym typeface="Graphik Semibold"/>
              </a:rPr>
              <a:t>classifiers</a:t>
            </a:r>
            <a:endParaRPr lang="es-ES_tradnl" sz="4400" dirty="0"/>
          </a:p>
        </p:txBody>
      </p:sp>
      <p:sp>
        <p:nvSpPr>
          <p:cNvPr id="6" name="TextBox 5">
            <a:extLst>
              <a:ext uri="{FF2B5EF4-FFF2-40B4-BE49-F238E27FC236}">
                <a16:creationId xmlns:a16="http://schemas.microsoft.com/office/drawing/2014/main" id="{82643D58-D4D3-A950-62BF-41E7C2CC05DE}"/>
              </a:ext>
            </a:extLst>
          </p:cNvPr>
          <p:cNvSpPr txBox="1"/>
          <p:nvPr/>
        </p:nvSpPr>
        <p:spPr>
          <a:xfrm>
            <a:off x="3271400" y="6805365"/>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8" name="TextBox 7">
            <a:extLst>
              <a:ext uri="{FF2B5EF4-FFF2-40B4-BE49-F238E27FC236}">
                <a16:creationId xmlns:a16="http://schemas.microsoft.com/office/drawing/2014/main" id="{4A453311-1FF3-E1A5-299C-51DDEB5BA2C8}"/>
              </a:ext>
            </a:extLst>
          </p:cNvPr>
          <p:cNvSpPr txBox="1"/>
          <p:nvPr/>
        </p:nvSpPr>
        <p:spPr>
          <a:xfrm>
            <a:off x="10461687" y="6838027"/>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0" name="TextBox 9">
            <a:extLst>
              <a:ext uri="{FF2B5EF4-FFF2-40B4-BE49-F238E27FC236}">
                <a16:creationId xmlns:a16="http://schemas.microsoft.com/office/drawing/2014/main" id="{F6CCAF11-DD66-52D4-5B2C-B2163A857FBA}"/>
              </a:ext>
            </a:extLst>
          </p:cNvPr>
          <p:cNvSpPr txBox="1"/>
          <p:nvPr/>
        </p:nvSpPr>
        <p:spPr>
          <a:xfrm>
            <a:off x="14234931" y="6786666"/>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2" name="TextBox 11">
            <a:extLst>
              <a:ext uri="{FF2B5EF4-FFF2-40B4-BE49-F238E27FC236}">
                <a16:creationId xmlns:a16="http://schemas.microsoft.com/office/drawing/2014/main" id="{55DBD360-F7B7-5609-82DF-3471CFB4D674}"/>
              </a:ext>
            </a:extLst>
          </p:cNvPr>
          <p:cNvSpPr txBox="1"/>
          <p:nvPr/>
        </p:nvSpPr>
        <p:spPr>
          <a:xfrm>
            <a:off x="6677940" y="6786666"/>
            <a:ext cx="1021736" cy="646331"/>
          </a:xfrm>
          <a:prstGeom prst="rect">
            <a:avLst/>
          </a:prstGeom>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0</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4" name="TextBox 13">
            <a:extLst>
              <a:ext uri="{FF2B5EF4-FFF2-40B4-BE49-F238E27FC236}">
                <a16:creationId xmlns:a16="http://schemas.microsoft.com/office/drawing/2014/main" id="{BCCED7FF-956D-A7EC-DE2C-9E999B29387D}"/>
              </a:ext>
            </a:extLst>
          </p:cNvPr>
          <p:cNvSpPr txBox="1"/>
          <p:nvPr/>
        </p:nvSpPr>
        <p:spPr>
          <a:xfrm>
            <a:off x="11853022" y="9896101"/>
            <a:ext cx="506734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Predicción del ensamble</a:t>
            </a:r>
          </a:p>
        </p:txBody>
      </p:sp>
      <p:sp>
        <p:nvSpPr>
          <p:cNvPr id="15" name="TextBox 14">
            <a:extLst>
              <a:ext uri="{FF2B5EF4-FFF2-40B4-BE49-F238E27FC236}">
                <a16:creationId xmlns:a16="http://schemas.microsoft.com/office/drawing/2014/main" id="{F1BCE584-4CDB-92D4-EBC3-9C1426DB6F83}"/>
              </a:ext>
            </a:extLst>
          </p:cNvPr>
          <p:cNvSpPr txBox="1"/>
          <p:nvPr/>
        </p:nvSpPr>
        <p:spPr>
          <a:xfrm>
            <a:off x="16993392" y="9896100"/>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4" name="Rectangle 3">
            <a:extLst>
              <a:ext uri="{FF2B5EF4-FFF2-40B4-BE49-F238E27FC236}">
                <a16:creationId xmlns:a16="http://schemas.microsoft.com/office/drawing/2014/main" id="{57702215-6487-9D65-C6CE-80998EADF227}"/>
              </a:ext>
            </a:extLst>
          </p:cNvPr>
          <p:cNvSpPr/>
          <p:nvPr/>
        </p:nvSpPr>
        <p:spPr>
          <a:xfrm>
            <a:off x="580976" y="9678656"/>
            <a:ext cx="8136467" cy="2872581"/>
          </a:xfrm>
          <a:prstGeom prst="rect">
            <a:avLst/>
          </a:prstGeom>
          <a:solidFill>
            <a:schemeClr val="accent6">
              <a:lumMod val="60000"/>
              <a:lumOff val="4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ot="0" spcFirstLastPara="1" vertOverflow="overflow" horzOverflow="overflow" vert="horz" wrap="square" lIns="108000" tIns="50800" rIns="108000" bIns="50800"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s-ES_tradnl" sz="36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Los métodos de ensamble funcionan mejor mientras mayor independencia exista entre los predictores.</a:t>
            </a:r>
            <a:br>
              <a:rPr kumimoji="0" lang="es-ES_tradnl" sz="36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br>
            <a:r>
              <a:rPr kumimoji="0" lang="es-ES_tradnl" sz="36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Por ej.: utilizando arquitecturas distintas para cada predictor.</a:t>
            </a:r>
          </a:p>
        </p:txBody>
      </p:sp>
      <p:pic>
        <p:nvPicPr>
          <p:cNvPr id="7" name="Graphic 6" descr="Miscellaneous with solid fill">
            <a:extLst>
              <a:ext uri="{FF2B5EF4-FFF2-40B4-BE49-F238E27FC236}">
                <a16:creationId xmlns:a16="http://schemas.microsoft.com/office/drawing/2014/main" id="{60DD682C-049E-99C9-24A9-C84FE3FD08B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932400" y="5154907"/>
            <a:ext cx="914400" cy="914400"/>
          </a:xfrm>
          <a:prstGeom prst="rect">
            <a:avLst/>
          </a:prstGeom>
        </p:spPr>
      </p:pic>
      <p:cxnSp>
        <p:nvCxnSpPr>
          <p:cNvPr id="16" name="Straight Arrow Connector 15">
            <a:extLst>
              <a:ext uri="{FF2B5EF4-FFF2-40B4-BE49-F238E27FC236}">
                <a16:creationId xmlns:a16="http://schemas.microsoft.com/office/drawing/2014/main" id="{FBFFD21D-7116-4CEF-1527-5B5ACA2353B6}"/>
              </a:ext>
            </a:extLst>
          </p:cNvPr>
          <p:cNvCxnSpPr>
            <a:cxnSpLocks/>
          </p:cNvCxnSpPr>
          <p:nvPr/>
        </p:nvCxnSpPr>
        <p:spPr>
          <a:xfrm flipV="1">
            <a:off x="11195831" y="6739852"/>
            <a:ext cx="7099936" cy="3286202"/>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0" name="TextBox 19">
            <a:extLst>
              <a:ext uri="{FF2B5EF4-FFF2-40B4-BE49-F238E27FC236}">
                <a16:creationId xmlns:a16="http://schemas.microsoft.com/office/drawing/2014/main" id="{0D1FE3F2-88E3-4BEA-8660-94D439EE23BE}"/>
              </a:ext>
            </a:extLst>
          </p:cNvPr>
          <p:cNvSpPr txBox="1"/>
          <p:nvPr/>
        </p:nvSpPr>
        <p:spPr>
          <a:xfrm>
            <a:off x="17746805" y="6700326"/>
            <a:ext cx="1021736" cy="646331"/>
          </a:xfrm>
          <a:prstGeom prst="rect">
            <a:avLst/>
          </a:prstGeom>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0</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8" name="TextBox 17">
            <a:extLst>
              <a:ext uri="{FF2B5EF4-FFF2-40B4-BE49-F238E27FC236}">
                <a16:creationId xmlns:a16="http://schemas.microsoft.com/office/drawing/2014/main" id="{A2E30DC4-BE97-12CB-7D80-B4100E2A84CD}"/>
              </a:ext>
            </a:extLst>
          </p:cNvPr>
          <p:cNvSpPr txBox="1"/>
          <p:nvPr/>
        </p:nvSpPr>
        <p:spPr>
          <a:xfrm>
            <a:off x="9323973" y="10904282"/>
            <a:ext cx="1502720"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err="1"/>
              <a:t>Dataset</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21" name="TextBox 20">
            <a:extLst>
              <a:ext uri="{FF2B5EF4-FFF2-40B4-BE49-F238E27FC236}">
                <a16:creationId xmlns:a16="http://schemas.microsoft.com/office/drawing/2014/main" id="{C5E4B7F1-D1D3-DEB3-5E86-F195E6D4C624}"/>
              </a:ext>
            </a:extLst>
          </p:cNvPr>
          <p:cNvSpPr txBox="1"/>
          <p:nvPr/>
        </p:nvSpPr>
        <p:spPr>
          <a:xfrm>
            <a:off x="1962757" y="6151686"/>
            <a:ext cx="3561039"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Regresión logística</a:t>
            </a:r>
          </a:p>
        </p:txBody>
      </p:sp>
      <p:sp>
        <p:nvSpPr>
          <p:cNvPr id="27" name="TextBox 26">
            <a:extLst>
              <a:ext uri="{FF2B5EF4-FFF2-40B4-BE49-F238E27FC236}">
                <a16:creationId xmlns:a16="http://schemas.microsoft.com/office/drawing/2014/main" id="{AFE8E6EC-CE8C-F43A-6A99-38D2C648A84E}"/>
              </a:ext>
            </a:extLst>
          </p:cNvPr>
          <p:cNvSpPr txBox="1"/>
          <p:nvPr/>
        </p:nvSpPr>
        <p:spPr>
          <a:xfrm>
            <a:off x="6772525" y="6151686"/>
            <a:ext cx="871649"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SVC</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0" name="TextBox 29">
            <a:extLst>
              <a:ext uri="{FF2B5EF4-FFF2-40B4-BE49-F238E27FC236}">
                <a16:creationId xmlns:a16="http://schemas.microsoft.com/office/drawing/2014/main" id="{901F12FA-6BEB-5ACA-3A43-030ED6E52AEB}"/>
              </a:ext>
            </a:extLst>
          </p:cNvPr>
          <p:cNvSpPr txBox="1"/>
          <p:nvPr/>
        </p:nvSpPr>
        <p:spPr>
          <a:xfrm>
            <a:off x="9714143" y="6151686"/>
            <a:ext cx="2511971"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a:t>Red neuronal</a:t>
            </a:r>
            <a:endPar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1" name="TextBox 30">
            <a:extLst>
              <a:ext uri="{FF2B5EF4-FFF2-40B4-BE49-F238E27FC236}">
                <a16:creationId xmlns:a16="http://schemas.microsoft.com/office/drawing/2014/main" id="{E83CC6C7-D523-2432-3484-8CFBE6FA00AC}"/>
              </a:ext>
            </a:extLst>
          </p:cNvPr>
          <p:cNvSpPr txBox="1"/>
          <p:nvPr/>
        </p:nvSpPr>
        <p:spPr>
          <a:xfrm>
            <a:off x="13022484" y="6151686"/>
            <a:ext cx="3999878"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Árbol de clasificación</a:t>
            </a:r>
          </a:p>
        </p:txBody>
      </p:sp>
    </p:spTree>
    <p:extLst>
      <p:ext uri="{BB962C8B-B14F-4D97-AF65-F5344CB8AC3E}">
        <p14:creationId xmlns:p14="http://schemas.microsoft.com/office/powerpoint/2010/main" val="264728866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Modelos que Votan</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11</a:t>
            </a:fld>
            <a:endParaRPr lang="en-US" sz="2800" dirty="0"/>
          </a:p>
        </p:txBody>
      </p:sp>
      <p:pic>
        <p:nvPicPr>
          <p:cNvPr id="9" name="Graphic 8" descr="Table outline">
            <a:extLst>
              <a:ext uri="{FF2B5EF4-FFF2-40B4-BE49-F238E27FC236}">
                <a16:creationId xmlns:a16="http://schemas.microsoft.com/office/drawing/2014/main" id="{69DA47B3-0482-7472-D29C-418B6A5F8A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1533" y="9025467"/>
            <a:ext cx="2387600" cy="2387600"/>
          </a:xfrm>
          <a:prstGeom prst="rect">
            <a:avLst/>
          </a:prstGeom>
        </p:spPr>
      </p:pic>
      <p:pic>
        <p:nvPicPr>
          <p:cNvPr id="11" name="Graphic 10" descr="User network with solid fill">
            <a:extLst>
              <a:ext uri="{FF2B5EF4-FFF2-40B4-BE49-F238E27FC236}">
                <a16:creationId xmlns:a16="http://schemas.microsoft.com/office/drawing/2014/main" id="{1519CE3C-2A8B-817A-349B-F35B63C5051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75333" y="4434855"/>
            <a:ext cx="1778386" cy="1778386"/>
          </a:xfrm>
          <a:prstGeom prst="rect">
            <a:avLst/>
          </a:prstGeom>
        </p:spPr>
      </p:pic>
      <p:pic>
        <p:nvPicPr>
          <p:cNvPr id="13" name="Graphic 12" descr="Gears with solid fill">
            <a:extLst>
              <a:ext uri="{FF2B5EF4-FFF2-40B4-BE49-F238E27FC236}">
                <a16:creationId xmlns:a16="http://schemas.microsoft.com/office/drawing/2014/main" id="{14648DB8-B3FA-DF5B-5570-858C5798834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19157" y="4409070"/>
            <a:ext cx="1778385" cy="1778385"/>
          </a:xfrm>
          <a:prstGeom prst="rect">
            <a:avLst/>
          </a:prstGeom>
        </p:spPr>
      </p:pic>
      <p:pic>
        <p:nvPicPr>
          <p:cNvPr id="17" name="Graphic 16" descr="Normal Distribution with solid fill">
            <a:extLst>
              <a:ext uri="{FF2B5EF4-FFF2-40B4-BE49-F238E27FC236}">
                <a16:creationId xmlns:a16="http://schemas.microsoft.com/office/drawing/2014/main" id="{1B09DC9D-9182-148A-64D0-D529A900D20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37343" y="4257440"/>
            <a:ext cx="1811867" cy="1811867"/>
          </a:xfrm>
          <a:prstGeom prst="rect">
            <a:avLst/>
          </a:prstGeom>
        </p:spPr>
      </p:pic>
      <p:pic>
        <p:nvPicPr>
          <p:cNvPr id="19" name="Graphic 18" descr="Withering Tree with solid fill">
            <a:extLst>
              <a:ext uri="{FF2B5EF4-FFF2-40B4-BE49-F238E27FC236}">
                <a16:creationId xmlns:a16="http://schemas.microsoft.com/office/drawing/2014/main" id="{EBAF3C1D-2B19-C2CC-2B72-620DFBFCD88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4105467" y="4535590"/>
            <a:ext cx="1778385" cy="1778385"/>
          </a:xfrm>
          <a:prstGeom prst="rect">
            <a:avLst/>
          </a:prstGeom>
        </p:spPr>
      </p:pic>
      <p:cxnSp>
        <p:nvCxnSpPr>
          <p:cNvPr id="28" name="Straight Arrow Connector 27">
            <a:extLst>
              <a:ext uri="{FF2B5EF4-FFF2-40B4-BE49-F238E27FC236}">
                <a16:creationId xmlns:a16="http://schemas.microsoft.com/office/drawing/2014/main" id="{EAECA972-F135-9A8B-C890-9C07938BCB94}"/>
              </a:ext>
            </a:extLst>
          </p:cNvPr>
          <p:cNvCxnSpPr/>
          <p:nvPr/>
        </p:nvCxnSpPr>
        <p:spPr>
          <a:xfrm flipH="1" flipV="1">
            <a:off x="4293136" y="6858000"/>
            <a:ext cx="4715397" cy="2590800"/>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 name="Straight Arrow Connector 28">
            <a:extLst>
              <a:ext uri="{FF2B5EF4-FFF2-40B4-BE49-F238E27FC236}">
                <a16:creationId xmlns:a16="http://schemas.microsoft.com/office/drawing/2014/main" id="{3BADA9FA-10CD-A487-1C33-66428304CF78}"/>
              </a:ext>
            </a:extLst>
          </p:cNvPr>
          <p:cNvCxnSpPr>
            <a:cxnSpLocks/>
          </p:cNvCxnSpPr>
          <p:nvPr/>
        </p:nvCxnSpPr>
        <p:spPr>
          <a:xfrm flipH="1" flipV="1">
            <a:off x="7208349" y="6739852"/>
            <a:ext cx="2621719" cy="2708948"/>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70FC7F5E-B8B2-5C5F-823C-3960AE4B5E16}"/>
              </a:ext>
            </a:extLst>
          </p:cNvPr>
          <p:cNvCxnSpPr>
            <a:cxnSpLocks/>
          </p:cNvCxnSpPr>
          <p:nvPr/>
        </p:nvCxnSpPr>
        <p:spPr>
          <a:xfrm flipV="1">
            <a:off x="10451184" y="6687217"/>
            <a:ext cx="518944" cy="2761583"/>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A635A8A1-274C-048D-F921-BE20684FC1CE}"/>
              </a:ext>
            </a:extLst>
          </p:cNvPr>
          <p:cNvCxnSpPr>
            <a:cxnSpLocks/>
          </p:cNvCxnSpPr>
          <p:nvPr/>
        </p:nvCxnSpPr>
        <p:spPr>
          <a:xfrm flipV="1">
            <a:off x="11122528" y="6739852"/>
            <a:ext cx="3872131" cy="2708948"/>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E28A80DE-769B-D3FC-C4B0-2C22F3E21902}"/>
              </a:ext>
            </a:extLst>
          </p:cNvPr>
          <p:cNvSpPr txBox="1"/>
          <p:nvPr/>
        </p:nvSpPr>
        <p:spPr>
          <a:xfrm>
            <a:off x="1295400" y="2944564"/>
            <a:ext cx="12192000" cy="6832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kumimoji="0" lang="es-ES_tradnl" sz="4800" b="1" i="0" u="none" strike="noStrike" cap="none" spc="-44" normalizeH="0" baseline="0" dirty="0" err="1">
                <a:ln>
                  <a:noFill/>
                </a:ln>
                <a:solidFill>
                  <a:sysClr val="windowText" lastClr="000000"/>
                </a:solidFill>
                <a:effectLst/>
                <a:uFillTx/>
                <a:latin typeface="Graphik Compact" pitchFamily="2" charset="0"/>
                <a:ea typeface="Graphik-SemiboldItalic"/>
                <a:cs typeface="Graphik-SemiboldItalic"/>
                <a:sym typeface="Graphik Semibold"/>
              </a:rPr>
              <a:t>Soft</a:t>
            </a:r>
            <a:r>
              <a:rPr kumimoji="0" lang="es-ES_tradnl" sz="4800" b="1" i="0" u="none" strike="noStrike" cap="none" spc="-44" normalizeH="0" baseline="0" dirty="0">
                <a:ln>
                  <a:noFill/>
                </a:ln>
                <a:solidFill>
                  <a:sysClr val="windowText" lastClr="000000"/>
                </a:solidFill>
                <a:effectLst/>
                <a:uFillTx/>
                <a:latin typeface="Graphik Compact" pitchFamily="2" charset="0"/>
                <a:ea typeface="Graphik-SemiboldItalic"/>
                <a:cs typeface="Graphik-SemiboldItalic"/>
                <a:sym typeface="Graphik Semibold"/>
              </a:rPr>
              <a:t> </a:t>
            </a:r>
            <a:r>
              <a:rPr kumimoji="0" lang="es-ES_tradnl" sz="4800" b="1" i="0" u="none" strike="noStrike" cap="none" spc="-44" normalizeH="0" baseline="0" dirty="0" err="1">
                <a:ln>
                  <a:noFill/>
                </a:ln>
                <a:solidFill>
                  <a:sysClr val="windowText" lastClr="000000"/>
                </a:solidFill>
                <a:effectLst/>
                <a:uFillTx/>
                <a:latin typeface="Graphik Compact" pitchFamily="2" charset="0"/>
                <a:ea typeface="Graphik-SemiboldItalic"/>
                <a:cs typeface="Graphik-SemiboldItalic"/>
                <a:sym typeface="Graphik Semibold"/>
              </a:rPr>
              <a:t>voting</a:t>
            </a:r>
            <a:r>
              <a:rPr kumimoji="0" lang="es-ES_tradnl" sz="4800" b="1" i="0" u="none" strike="noStrike" cap="none" spc="-44" normalizeH="0" baseline="0" dirty="0">
                <a:ln>
                  <a:noFill/>
                </a:ln>
                <a:solidFill>
                  <a:sysClr val="windowText" lastClr="000000"/>
                </a:solidFill>
                <a:effectLst/>
                <a:uFillTx/>
                <a:latin typeface="Graphik Compact" pitchFamily="2" charset="0"/>
                <a:ea typeface="Graphik-SemiboldItalic"/>
                <a:cs typeface="Graphik-SemiboldItalic"/>
                <a:sym typeface="Graphik Semibold"/>
              </a:rPr>
              <a:t> </a:t>
            </a:r>
            <a:r>
              <a:rPr kumimoji="0" lang="es-ES_tradnl" sz="4800" b="1" i="0" u="none" strike="noStrike" cap="none" spc="-44" normalizeH="0" baseline="0" dirty="0" err="1">
                <a:ln>
                  <a:noFill/>
                </a:ln>
                <a:solidFill>
                  <a:sysClr val="windowText" lastClr="000000"/>
                </a:solidFill>
                <a:effectLst/>
                <a:uFillTx/>
                <a:latin typeface="Graphik Compact" pitchFamily="2" charset="0"/>
                <a:ea typeface="Graphik-SemiboldItalic"/>
                <a:cs typeface="Graphik-SemiboldItalic"/>
                <a:sym typeface="Graphik Semibold"/>
              </a:rPr>
              <a:t>classifiers</a:t>
            </a:r>
            <a:endParaRPr lang="es-ES_tradnl" sz="4400" dirty="0"/>
          </a:p>
        </p:txBody>
      </p:sp>
      <p:sp>
        <p:nvSpPr>
          <p:cNvPr id="6" name="TextBox 5">
            <a:extLst>
              <a:ext uri="{FF2B5EF4-FFF2-40B4-BE49-F238E27FC236}">
                <a16:creationId xmlns:a16="http://schemas.microsoft.com/office/drawing/2014/main" id="{82643D58-D4D3-A950-62BF-41E7C2CC05DE}"/>
              </a:ext>
            </a:extLst>
          </p:cNvPr>
          <p:cNvSpPr txBox="1"/>
          <p:nvPr/>
        </p:nvSpPr>
        <p:spPr>
          <a:xfrm>
            <a:off x="3271400" y="6805365"/>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8" name="TextBox 7">
            <a:extLst>
              <a:ext uri="{FF2B5EF4-FFF2-40B4-BE49-F238E27FC236}">
                <a16:creationId xmlns:a16="http://schemas.microsoft.com/office/drawing/2014/main" id="{4A453311-1FF3-E1A5-299C-51DDEB5BA2C8}"/>
              </a:ext>
            </a:extLst>
          </p:cNvPr>
          <p:cNvSpPr txBox="1"/>
          <p:nvPr/>
        </p:nvSpPr>
        <p:spPr>
          <a:xfrm>
            <a:off x="10461687" y="6838027"/>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0" name="TextBox 9">
            <a:extLst>
              <a:ext uri="{FF2B5EF4-FFF2-40B4-BE49-F238E27FC236}">
                <a16:creationId xmlns:a16="http://schemas.microsoft.com/office/drawing/2014/main" id="{F6CCAF11-DD66-52D4-5B2C-B2163A857FBA}"/>
              </a:ext>
            </a:extLst>
          </p:cNvPr>
          <p:cNvSpPr txBox="1"/>
          <p:nvPr/>
        </p:nvSpPr>
        <p:spPr>
          <a:xfrm>
            <a:off x="14234931" y="6786666"/>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2" name="TextBox 11">
            <a:extLst>
              <a:ext uri="{FF2B5EF4-FFF2-40B4-BE49-F238E27FC236}">
                <a16:creationId xmlns:a16="http://schemas.microsoft.com/office/drawing/2014/main" id="{55DBD360-F7B7-5609-82DF-3471CFB4D674}"/>
              </a:ext>
            </a:extLst>
          </p:cNvPr>
          <p:cNvSpPr txBox="1"/>
          <p:nvPr/>
        </p:nvSpPr>
        <p:spPr>
          <a:xfrm>
            <a:off x="6677940" y="6786666"/>
            <a:ext cx="1021736" cy="646331"/>
          </a:xfrm>
          <a:prstGeom prst="rect">
            <a:avLst/>
          </a:prstGeom>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0</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4" name="TextBox 13">
            <a:extLst>
              <a:ext uri="{FF2B5EF4-FFF2-40B4-BE49-F238E27FC236}">
                <a16:creationId xmlns:a16="http://schemas.microsoft.com/office/drawing/2014/main" id="{BCCED7FF-956D-A7EC-DE2C-9E999B29387D}"/>
              </a:ext>
            </a:extLst>
          </p:cNvPr>
          <p:cNvSpPr txBox="1"/>
          <p:nvPr/>
        </p:nvSpPr>
        <p:spPr>
          <a:xfrm>
            <a:off x="11853022" y="9896101"/>
            <a:ext cx="506734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Predicción del ensamble</a:t>
            </a:r>
          </a:p>
        </p:txBody>
      </p:sp>
      <p:sp>
        <p:nvSpPr>
          <p:cNvPr id="7" name="TextBox 6">
            <a:extLst>
              <a:ext uri="{FF2B5EF4-FFF2-40B4-BE49-F238E27FC236}">
                <a16:creationId xmlns:a16="http://schemas.microsoft.com/office/drawing/2014/main" id="{9D461AFE-696E-77CE-B56B-53B3772BA0F8}"/>
              </a:ext>
            </a:extLst>
          </p:cNvPr>
          <p:cNvSpPr txBox="1"/>
          <p:nvPr/>
        </p:nvSpPr>
        <p:spPr>
          <a:xfrm>
            <a:off x="3114886" y="7586596"/>
            <a:ext cx="1334764"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0.52</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6" name="TextBox 15">
            <a:extLst>
              <a:ext uri="{FF2B5EF4-FFF2-40B4-BE49-F238E27FC236}">
                <a16:creationId xmlns:a16="http://schemas.microsoft.com/office/drawing/2014/main" id="{8D43458A-31F3-9ECD-C5DF-C2E9FEDC0182}"/>
              </a:ext>
            </a:extLst>
          </p:cNvPr>
          <p:cNvSpPr txBox="1"/>
          <p:nvPr/>
        </p:nvSpPr>
        <p:spPr>
          <a:xfrm>
            <a:off x="6540967" y="7605940"/>
            <a:ext cx="1334764" cy="646331"/>
          </a:xfrm>
          <a:prstGeom prst="rect">
            <a:avLst/>
          </a:prstGeom>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0.98</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8" name="TextBox 17">
            <a:extLst>
              <a:ext uri="{FF2B5EF4-FFF2-40B4-BE49-F238E27FC236}">
                <a16:creationId xmlns:a16="http://schemas.microsoft.com/office/drawing/2014/main" id="{3CCD52C2-EF48-9525-CA41-210AAA16C853}"/>
              </a:ext>
            </a:extLst>
          </p:cNvPr>
          <p:cNvSpPr txBox="1"/>
          <p:nvPr/>
        </p:nvSpPr>
        <p:spPr>
          <a:xfrm>
            <a:off x="10297144" y="7618568"/>
            <a:ext cx="1334764"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0.53</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pic>
        <p:nvPicPr>
          <p:cNvPr id="20" name="Graphic 19" descr="Miscellaneous with solid fill">
            <a:extLst>
              <a:ext uri="{FF2B5EF4-FFF2-40B4-BE49-F238E27FC236}">
                <a16:creationId xmlns:a16="http://schemas.microsoft.com/office/drawing/2014/main" id="{925BB225-5150-3E43-9798-94223D91B98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932400" y="5154907"/>
            <a:ext cx="914400" cy="914400"/>
          </a:xfrm>
          <a:prstGeom prst="rect">
            <a:avLst/>
          </a:prstGeom>
        </p:spPr>
      </p:pic>
      <p:cxnSp>
        <p:nvCxnSpPr>
          <p:cNvPr id="21" name="Straight Arrow Connector 20">
            <a:extLst>
              <a:ext uri="{FF2B5EF4-FFF2-40B4-BE49-F238E27FC236}">
                <a16:creationId xmlns:a16="http://schemas.microsoft.com/office/drawing/2014/main" id="{3F8527AC-6E3E-8F6E-3E4F-CEEF9A4D12C3}"/>
              </a:ext>
            </a:extLst>
          </p:cNvPr>
          <p:cNvCxnSpPr>
            <a:cxnSpLocks/>
          </p:cNvCxnSpPr>
          <p:nvPr/>
        </p:nvCxnSpPr>
        <p:spPr>
          <a:xfrm flipV="1">
            <a:off x="11195831" y="6739852"/>
            <a:ext cx="7099936" cy="3286202"/>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0" name="TextBox 29">
            <a:extLst>
              <a:ext uri="{FF2B5EF4-FFF2-40B4-BE49-F238E27FC236}">
                <a16:creationId xmlns:a16="http://schemas.microsoft.com/office/drawing/2014/main" id="{EC5E3042-CA9A-6D9D-E4BB-8E4FD6FB4B12}"/>
              </a:ext>
            </a:extLst>
          </p:cNvPr>
          <p:cNvSpPr txBox="1"/>
          <p:nvPr/>
        </p:nvSpPr>
        <p:spPr>
          <a:xfrm>
            <a:off x="14074223" y="7586596"/>
            <a:ext cx="1334764"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0.51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1" name="TextBox 30">
            <a:extLst>
              <a:ext uri="{FF2B5EF4-FFF2-40B4-BE49-F238E27FC236}">
                <a16:creationId xmlns:a16="http://schemas.microsoft.com/office/drawing/2014/main" id="{666D4B88-5CCF-56DA-21B0-19E2BFB691D5}"/>
              </a:ext>
            </a:extLst>
          </p:cNvPr>
          <p:cNvSpPr txBox="1"/>
          <p:nvPr/>
        </p:nvSpPr>
        <p:spPr>
          <a:xfrm>
            <a:off x="17589653" y="7580350"/>
            <a:ext cx="1334764" cy="646331"/>
          </a:xfrm>
          <a:prstGeom prst="rect">
            <a:avLst/>
          </a:prstGeom>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0.97</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3" name="TextBox 32">
            <a:extLst>
              <a:ext uri="{FF2B5EF4-FFF2-40B4-BE49-F238E27FC236}">
                <a16:creationId xmlns:a16="http://schemas.microsoft.com/office/drawing/2014/main" id="{F956F66B-0868-E7D8-6733-3059D2474ADC}"/>
              </a:ext>
            </a:extLst>
          </p:cNvPr>
          <p:cNvSpPr txBox="1"/>
          <p:nvPr/>
        </p:nvSpPr>
        <p:spPr>
          <a:xfrm>
            <a:off x="17746805" y="6700326"/>
            <a:ext cx="1021736" cy="646331"/>
          </a:xfrm>
          <a:prstGeom prst="rect">
            <a:avLst/>
          </a:prstGeom>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0</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4" name="TextBox 33">
            <a:extLst>
              <a:ext uri="{FF2B5EF4-FFF2-40B4-BE49-F238E27FC236}">
                <a16:creationId xmlns:a16="http://schemas.microsoft.com/office/drawing/2014/main" id="{7B1D2031-0622-5A42-1870-F18912DECC5C}"/>
              </a:ext>
            </a:extLst>
          </p:cNvPr>
          <p:cNvSpPr txBox="1"/>
          <p:nvPr/>
        </p:nvSpPr>
        <p:spPr>
          <a:xfrm>
            <a:off x="17097201" y="9896101"/>
            <a:ext cx="1021736" cy="646331"/>
          </a:xfrm>
          <a:prstGeom prst="rect">
            <a:avLst/>
          </a:prstGeom>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0</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6" name="TextBox 35">
            <a:extLst>
              <a:ext uri="{FF2B5EF4-FFF2-40B4-BE49-F238E27FC236}">
                <a16:creationId xmlns:a16="http://schemas.microsoft.com/office/drawing/2014/main" id="{7550EC54-2DC0-2A97-3B7E-A09BD697F0D4}"/>
              </a:ext>
            </a:extLst>
          </p:cNvPr>
          <p:cNvSpPr txBox="1"/>
          <p:nvPr/>
        </p:nvSpPr>
        <p:spPr>
          <a:xfrm>
            <a:off x="13130643" y="10879661"/>
            <a:ext cx="891801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(0.52 + 0.02 + 0.53 + 0.51 + 0.03) / 5 = 0.312</a:t>
            </a:r>
          </a:p>
        </p:txBody>
      </p:sp>
      <p:sp>
        <p:nvSpPr>
          <p:cNvPr id="37" name="TextBox 36">
            <a:extLst>
              <a:ext uri="{FF2B5EF4-FFF2-40B4-BE49-F238E27FC236}">
                <a16:creationId xmlns:a16="http://schemas.microsoft.com/office/drawing/2014/main" id="{3CF554E9-16E9-55E9-3A24-CF9E71A482D3}"/>
              </a:ext>
            </a:extLst>
          </p:cNvPr>
          <p:cNvSpPr txBox="1"/>
          <p:nvPr/>
        </p:nvSpPr>
        <p:spPr>
          <a:xfrm>
            <a:off x="11950493" y="10866552"/>
            <a:ext cx="1021736" cy="646331"/>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8" name="TextBox 37">
            <a:extLst>
              <a:ext uri="{FF2B5EF4-FFF2-40B4-BE49-F238E27FC236}">
                <a16:creationId xmlns:a16="http://schemas.microsoft.com/office/drawing/2014/main" id="{14DA6B48-F48C-1C9A-D727-FD96E3438C8B}"/>
              </a:ext>
            </a:extLst>
          </p:cNvPr>
          <p:cNvSpPr txBox="1"/>
          <p:nvPr/>
        </p:nvSpPr>
        <p:spPr>
          <a:xfrm>
            <a:off x="12935141" y="11720159"/>
            <a:ext cx="9309023"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(0.48 + 0.98 + 0.47 + 0.49 + 0.97) / 5 = 0.678</a:t>
            </a:r>
          </a:p>
        </p:txBody>
      </p:sp>
      <p:sp>
        <p:nvSpPr>
          <p:cNvPr id="40" name="TextBox 39">
            <a:extLst>
              <a:ext uri="{FF2B5EF4-FFF2-40B4-BE49-F238E27FC236}">
                <a16:creationId xmlns:a16="http://schemas.microsoft.com/office/drawing/2014/main" id="{F5FE00BF-A8A0-E1B3-F3DE-FDFBC2330019}"/>
              </a:ext>
            </a:extLst>
          </p:cNvPr>
          <p:cNvSpPr txBox="1"/>
          <p:nvPr/>
        </p:nvSpPr>
        <p:spPr>
          <a:xfrm>
            <a:off x="11950493" y="11720159"/>
            <a:ext cx="1021736" cy="646331"/>
          </a:xfrm>
          <a:prstGeom prst="rect">
            <a:avLst/>
          </a:prstGeom>
          <a:ln/>
        </p:spPr>
        <p:style>
          <a:lnRef idx="2">
            <a:schemeClr val="accent3"/>
          </a:lnRef>
          <a:fillRef idx="1">
            <a:schemeClr val="lt1"/>
          </a:fillRef>
          <a:effectRef idx="0">
            <a:schemeClr val="accent3"/>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0</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4" name="TextBox 3">
            <a:extLst>
              <a:ext uri="{FF2B5EF4-FFF2-40B4-BE49-F238E27FC236}">
                <a16:creationId xmlns:a16="http://schemas.microsoft.com/office/drawing/2014/main" id="{8813ACAB-DC72-9245-0BE8-4A0FED473D2E}"/>
              </a:ext>
            </a:extLst>
          </p:cNvPr>
          <p:cNvSpPr txBox="1"/>
          <p:nvPr/>
        </p:nvSpPr>
        <p:spPr>
          <a:xfrm>
            <a:off x="9323973" y="10904282"/>
            <a:ext cx="1502720"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err="1"/>
              <a:t>Dataset</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5" name="TextBox 14">
            <a:extLst>
              <a:ext uri="{FF2B5EF4-FFF2-40B4-BE49-F238E27FC236}">
                <a16:creationId xmlns:a16="http://schemas.microsoft.com/office/drawing/2014/main" id="{0526518D-0E9B-BB29-7382-F8B9E3066A23}"/>
              </a:ext>
            </a:extLst>
          </p:cNvPr>
          <p:cNvSpPr txBox="1"/>
          <p:nvPr/>
        </p:nvSpPr>
        <p:spPr>
          <a:xfrm>
            <a:off x="1962757" y="6151686"/>
            <a:ext cx="3561039"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Regresión logística</a:t>
            </a:r>
          </a:p>
        </p:txBody>
      </p:sp>
      <p:sp>
        <p:nvSpPr>
          <p:cNvPr id="27" name="TextBox 26">
            <a:extLst>
              <a:ext uri="{FF2B5EF4-FFF2-40B4-BE49-F238E27FC236}">
                <a16:creationId xmlns:a16="http://schemas.microsoft.com/office/drawing/2014/main" id="{B0B0C395-3B10-B790-ABBF-49FE7720E7ED}"/>
              </a:ext>
            </a:extLst>
          </p:cNvPr>
          <p:cNvSpPr txBox="1"/>
          <p:nvPr/>
        </p:nvSpPr>
        <p:spPr>
          <a:xfrm>
            <a:off x="6772525" y="6151686"/>
            <a:ext cx="871649"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SVC</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9" name="TextBox 38">
            <a:extLst>
              <a:ext uri="{FF2B5EF4-FFF2-40B4-BE49-F238E27FC236}">
                <a16:creationId xmlns:a16="http://schemas.microsoft.com/office/drawing/2014/main" id="{F55F5A52-78CF-A831-4876-FAE6EDD87A5D}"/>
              </a:ext>
            </a:extLst>
          </p:cNvPr>
          <p:cNvSpPr txBox="1"/>
          <p:nvPr/>
        </p:nvSpPr>
        <p:spPr>
          <a:xfrm>
            <a:off x="9714143" y="6151686"/>
            <a:ext cx="2511971"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a:t>Red neuronal</a:t>
            </a:r>
            <a:endPar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41" name="TextBox 40">
            <a:extLst>
              <a:ext uri="{FF2B5EF4-FFF2-40B4-BE49-F238E27FC236}">
                <a16:creationId xmlns:a16="http://schemas.microsoft.com/office/drawing/2014/main" id="{0CA65DAA-14A8-72EA-1C9D-524D54542ECD}"/>
              </a:ext>
            </a:extLst>
          </p:cNvPr>
          <p:cNvSpPr txBox="1"/>
          <p:nvPr/>
        </p:nvSpPr>
        <p:spPr>
          <a:xfrm>
            <a:off x="13022484" y="6151686"/>
            <a:ext cx="3999878"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Árbol de clasificación</a:t>
            </a:r>
          </a:p>
        </p:txBody>
      </p:sp>
    </p:spTree>
    <p:extLst>
      <p:ext uri="{BB962C8B-B14F-4D97-AF65-F5344CB8AC3E}">
        <p14:creationId xmlns:p14="http://schemas.microsoft.com/office/powerpoint/2010/main" val="215046282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Modelos que Votan</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12</a:t>
            </a:fld>
            <a:endParaRPr lang="en-US" sz="2800" dirty="0"/>
          </a:p>
        </p:txBody>
      </p:sp>
      <p:pic>
        <p:nvPicPr>
          <p:cNvPr id="9" name="Graphic 8" descr="Table outline">
            <a:extLst>
              <a:ext uri="{FF2B5EF4-FFF2-40B4-BE49-F238E27FC236}">
                <a16:creationId xmlns:a16="http://schemas.microsoft.com/office/drawing/2014/main" id="{69DA47B3-0482-7472-D29C-418B6A5F8A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1533" y="9025467"/>
            <a:ext cx="2387600" cy="2387600"/>
          </a:xfrm>
          <a:prstGeom prst="rect">
            <a:avLst/>
          </a:prstGeom>
        </p:spPr>
      </p:pic>
      <p:pic>
        <p:nvPicPr>
          <p:cNvPr id="11" name="Graphic 10" descr="User network with solid fill">
            <a:extLst>
              <a:ext uri="{FF2B5EF4-FFF2-40B4-BE49-F238E27FC236}">
                <a16:creationId xmlns:a16="http://schemas.microsoft.com/office/drawing/2014/main" id="{1519CE3C-2A8B-817A-349B-F35B63C5051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75333" y="4434855"/>
            <a:ext cx="1778386" cy="1778386"/>
          </a:xfrm>
          <a:prstGeom prst="rect">
            <a:avLst/>
          </a:prstGeom>
        </p:spPr>
      </p:pic>
      <p:pic>
        <p:nvPicPr>
          <p:cNvPr id="13" name="Graphic 12" descr="Gears with solid fill">
            <a:extLst>
              <a:ext uri="{FF2B5EF4-FFF2-40B4-BE49-F238E27FC236}">
                <a16:creationId xmlns:a16="http://schemas.microsoft.com/office/drawing/2014/main" id="{14648DB8-B3FA-DF5B-5570-858C5798834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19157" y="4409070"/>
            <a:ext cx="1778385" cy="1778385"/>
          </a:xfrm>
          <a:prstGeom prst="rect">
            <a:avLst/>
          </a:prstGeom>
        </p:spPr>
      </p:pic>
      <p:pic>
        <p:nvPicPr>
          <p:cNvPr id="19" name="Graphic 18" descr="Withering Tree with solid fill">
            <a:extLst>
              <a:ext uri="{FF2B5EF4-FFF2-40B4-BE49-F238E27FC236}">
                <a16:creationId xmlns:a16="http://schemas.microsoft.com/office/drawing/2014/main" id="{EBAF3C1D-2B19-C2CC-2B72-620DFBFCD88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4105467" y="4535590"/>
            <a:ext cx="1778385" cy="1778385"/>
          </a:xfrm>
          <a:prstGeom prst="rect">
            <a:avLst/>
          </a:prstGeom>
        </p:spPr>
      </p:pic>
      <p:sp>
        <p:nvSpPr>
          <p:cNvPr id="26" name="TextBox 25">
            <a:extLst>
              <a:ext uri="{FF2B5EF4-FFF2-40B4-BE49-F238E27FC236}">
                <a16:creationId xmlns:a16="http://schemas.microsoft.com/office/drawing/2014/main" id="{3D670865-2FC5-0E71-DC36-BD233C5FA34B}"/>
              </a:ext>
            </a:extLst>
          </p:cNvPr>
          <p:cNvSpPr txBox="1"/>
          <p:nvPr/>
        </p:nvSpPr>
        <p:spPr>
          <a:xfrm>
            <a:off x="9323973" y="10904282"/>
            <a:ext cx="1502720"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err="1"/>
              <a:t>Dataset</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cxnSp>
        <p:nvCxnSpPr>
          <p:cNvPr id="28" name="Straight Arrow Connector 27">
            <a:extLst>
              <a:ext uri="{FF2B5EF4-FFF2-40B4-BE49-F238E27FC236}">
                <a16:creationId xmlns:a16="http://schemas.microsoft.com/office/drawing/2014/main" id="{EAECA972-F135-9A8B-C890-9C07938BCB94}"/>
              </a:ext>
            </a:extLst>
          </p:cNvPr>
          <p:cNvCxnSpPr/>
          <p:nvPr/>
        </p:nvCxnSpPr>
        <p:spPr>
          <a:xfrm flipH="1" flipV="1">
            <a:off x="4293136" y="6858000"/>
            <a:ext cx="4715397" cy="2590800"/>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 name="Straight Arrow Connector 28">
            <a:extLst>
              <a:ext uri="{FF2B5EF4-FFF2-40B4-BE49-F238E27FC236}">
                <a16:creationId xmlns:a16="http://schemas.microsoft.com/office/drawing/2014/main" id="{3BADA9FA-10CD-A487-1C33-66428304CF78}"/>
              </a:ext>
            </a:extLst>
          </p:cNvPr>
          <p:cNvCxnSpPr>
            <a:cxnSpLocks/>
          </p:cNvCxnSpPr>
          <p:nvPr/>
        </p:nvCxnSpPr>
        <p:spPr>
          <a:xfrm flipH="1" flipV="1">
            <a:off x="7208349" y="6739852"/>
            <a:ext cx="2621719" cy="2708948"/>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70FC7F5E-B8B2-5C5F-823C-3960AE4B5E16}"/>
              </a:ext>
            </a:extLst>
          </p:cNvPr>
          <p:cNvCxnSpPr>
            <a:cxnSpLocks/>
          </p:cNvCxnSpPr>
          <p:nvPr/>
        </p:nvCxnSpPr>
        <p:spPr>
          <a:xfrm flipV="1">
            <a:off x="10451184" y="6687217"/>
            <a:ext cx="518944" cy="2761583"/>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A635A8A1-274C-048D-F921-BE20684FC1CE}"/>
              </a:ext>
            </a:extLst>
          </p:cNvPr>
          <p:cNvCxnSpPr>
            <a:cxnSpLocks/>
          </p:cNvCxnSpPr>
          <p:nvPr/>
        </p:nvCxnSpPr>
        <p:spPr>
          <a:xfrm flipV="1">
            <a:off x="11122528" y="6739852"/>
            <a:ext cx="3872131" cy="2708948"/>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E28A80DE-769B-D3FC-C4B0-2C22F3E21902}"/>
              </a:ext>
            </a:extLst>
          </p:cNvPr>
          <p:cNvSpPr txBox="1"/>
          <p:nvPr/>
        </p:nvSpPr>
        <p:spPr>
          <a:xfrm>
            <a:off x="1295400" y="2944564"/>
            <a:ext cx="12192000" cy="6832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kumimoji="0" lang="es-ES_tradnl" sz="4800" b="1" i="0" u="none" strike="noStrike" cap="none" spc="-44" normalizeH="0" baseline="0" dirty="0" err="1">
                <a:ln>
                  <a:noFill/>
                </a:ln>
                <a:solidFill>
                  <a:sysClr val="windowText" lastClr="000000"/>
                </a:solidFill>
                <a:effectLst/>
                <a:uFillTx/>
                <a:latin typeface="Graphik Compact" pitchFamily="2" charset="0"/>
                <a:ea typeface="Graphik-SemiboldItalic"/>
                <a:cs typeface="Graphik-SemiboldItalic"/>
                <a:sym typeface="Graphik Semibold"/>
              </a:rPr>
              <a:t>Voting</a:t>
            </a:r>
            <a:r>
              <a:rPr kumimoji="0" lang="es-ES_tradnl" sz="4800" b="1" i="0" u="none" strike="noStrike" cap="none" spc="-44" normalizeH="0" baseline="0" dirty="0">
                <a:ln>
                  <a:noFill/>
                </a:ln>
                <a:solidFill>
                  <a:sysClr val="windowText" lastClr="000000"/>
                </a:solidFill>
                <a:effectLst/>
                <a:uFillTx/>
                <a:latin typeface="Graphik Compact" pitchFamily="2" charset="0"/>
                <a:ea typeface="Graphik-SemiboldItalic"/>
                <a:cs typeface="Graphik-SemiboldItalic"/>
                <a:sym typeface="Graphik Semibold"/>
              </a:rPr>
              <a:t> </a:t>
            </a:r>
            <a:r>
              <a:rPr kumimoji="0" lang="es-ES_tradnl" sz="4800" b="1" i="0" u="none" strike="noStrike" cap="none" spc="-44" normalizeH="0" baseline="0" dirty="0" err="1">
                <a:ln>
                  <a:noFill/>
                </a:ln>
                <a:solidFill>
                  <a:sysClr val="windowText" lastClr="000000"/>
                </a:solidFill>
                <a:effectLst/>
                <a:uFillTx/>
                <a:latin typeface="Graphik Compact" pitchFamily="2" charset="0"/>
                <a:ea typeface="Graphik-SemiboldItalic"/>
                <a:cs typeface="Graphik-SemiboldItalic"/>
                <a:sym typeface="Graphik Semibold"/>
              </a:rPr>
              <a:t>regression</a:t>
            </a:r>
            <a:endParaRPr lang="es-ES_tradnl" sz="4400" dirty="0"/>
          </a:p>
        </p:txBody>
      </p:sp>
      <p:sp>
        <p:nvSpPr>
          <p:cNvPr id="14" name="TextBox 13">
            <a:extLst>
              <a:ext uri="{FF2B5EF4-FFF2-40B4-BE49-F238E27FC236}">
                <a16:creationId xmlns:a16="http://schemas.microsoft.com/office/drawing/2014/main" id="{BCCED7FF-956D-A7EC-DE2C-9E999B29387D}"/>
              </a:ext>
            </a:extLst>
          </p:cNvPr>
          <p:cNvSpPr txBox="1"/>
          <p:nvPr/>
        </p:nvSpPr>
        <p:spPr>
          <a:xfrm>
            <a:off x="11853022" y="9896101"/>
            <a:ext cx="506734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Predicción del ensamble</a:t>
            </a:r>
          </a:p>
        </p:txBody>
      </p:sp>
      <p:sp>
        <p:nvSpPr>
          <p:cNvPr id="7" name="TextBox 6">
            <a:extLst>
              <a:ext uri="{FF2B5EF4-FFF2-40B4-BE49-F238E27FC236}">
                <a16:creationId xmlns:a16="http://schemas.microsoft.com/office/drawing/2014/main" id="{9D461AFE-696E-77CE-B56B-53B3772BA0F8}"/>
              </a:ext>
            </a:extLst>
          </p:cNvPr>
          <p:cNvSpPr txBox="1"/>
          <p:nvPr/>
        </p:nvSpPr>
        <p:spPr>
          <a:xfrm>
            <a:off x="3170870" y="6746098"/>
            <a:ext cx="1334764" cy="646331"/>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0.50</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6" name="TextBox 15">
            <a:extLst>
              <a:ext uri="{FF2B5EF4-FFF2-40B4-BE49-F238E27FC236}">
                <a16:creationId xmlns:a16="http://schemas.microsoft.com/office/drawing/2014/main" id="{8D43458A-31F3-9ECD-C5DF-C2E9FEDC0182}"/>
              </a:ext>
            </a:extLst>
          </p:cNvPr>
          <p:cNvSpPr txBox="1"/>
          <p:nvPr/>
        </p:nvSpPr>
        <p:spPr>
          <a:xfrm>
            <a:off x="6596951" y="6765442"/>
            <a:ext cx="1334764" cy="646331"/>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0.31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8" name="TextBox 17">
            <a:extLst>
              <a:ext uri="{FF2B5EF4-FFF2-40B4-BE49-F238E27FC236}">
                <a16:creationId xmlns:a16="http://schemas.microsoft.com/office/drawing/2014/main" id="{3CCD52C2-EF48-9525-CA41-210AAA16C853}"/>
              </a:ext>
            </a:extLst>
          </p:cNvPr>
          <p:cNvSpPr txBox="1"/>
          <p:nvPr/>
        </p:nvSpPr>
        <p:spPr>
          <a:xfrm>
            <a:off x="10353128" y="6778070"/>
            <a:ext cx="1334764" cy="646331"/>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0.57</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pic>
        <p:nvPicPr>
          <p:cNvPr id="20" name="Graphic 19" descr="Miscellaneous with solid fill">
            <a:extLst>
              <a:ext uri="{FF2B5EF4-FFF2-40B4-BE49-F238E27FC236}">
                <a16:creationId xmlns:a16="http://schemas.microsoft.com/office/drawing/2014/main" id="{925BB225-5150-3E43-9798-94223D91B98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932400" y="5154907"/>
            <a:ext cx="914400" cy="914400"/>
          </a:xfrm>
          <a:prstGeom prst="rect">
            <a:avLst/>
          </a:prstGeom>
        </p:spPr>
      </p:pic>
      <p:cxnSp>
        <p:nvCxnSpPr>
          <p:cNvPr id="21" name="Straight Arrow Connector 20">
            <a:extLst>
              <a:ext uri="{FF2B5EF4-FFF2-40B4-BE49-F238E27FC236}">
                <a16:creationId xmlns:a16="http://schemas.microsoft.com/office/drawing/2014/main" id="{3F8527AC-6E3E-8F6E-3E4F-CEEF9A4D12C3}"/>
              </a:ext>
            </a:extLst>
          </p:cNvPr>
          <p:cNvCxnSpPr>
            <a:cxnSpLocks/>
          </p:cNvCxnSpPr>
          <p:nvPr/>
        </p:nvCxnSpPr>
        <p:spPr>
          <a:xfrm flipV="1">
            <a:off x="11195831" y="6739852"/>
            <a:ext cx="7099936" cy="3286202"/>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0" name="TextBox 29">
            <a:extLst>
              <a:ext uri="{FF2B5EF4-FFF2-40B4-BE49-F238E27FC236}">
                <a16:creationId xmlns:a16="http://schemas.microsoft.com/office/drawing/2014/main" id="{EC5E3042-CA9A-6D9D-E4BB-8E4FD6FB4B12}"/>
              </a:ext>
            </a:extLst>
          </p:cNvPr>
          <p:cNvSpPr txBox="1"/>
          <p:nvPr/>
        </p:nvSpPr>
        <p:spPr>
          <a:xfrm>
            <a:off x="14130207" y="6746098"/>
            <a:ext cx="1334764" cy="646331"/>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0.42</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1" name="TextBox 30">
            <a:extLst>
              <a:ext uri="{FF2B5EF4-FFF2-40B4-BE49-F238E27FC236}">
                <a16:creationId xmlns:a16="http://schemas.microsoft.com/office/drawing/2014/main" id="{666D4B88-5CCF-56DA-21B0-19E2BFB691D5}"/>
              </a:ext>
            </a:extLst>
          </p:cNvPr>
          <p:cNvSpPr txBox="1"/>
          <p:nvPr/>
        </p:nvSpPr>
        <p:spPr>
          <a:xfrm>
            <a:off x="17645637" y="6739852"/>
            <a:ext cx="1334764" cy="646331"/>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0.98</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6" name="TextBox 35">
            <a:extLst>
              <a:ext uri="{FF2B5EF4-FFF2-40B4-BE49-F238E27FC236}">
                <a16:creationId xmlns:a16="http://schemas.microsoft.com/office/drawing/2014/main" id="{7550EC54-2DC0-2A97-3B7E-A09BD697F0D4}"/>
              </a:ext>
            </a:extLst>
          </p:cNvPr>
          <p:cNvSpPr txBox="1"/>
          <p:nvPr/>
        </p:nvSpPr>
        <p:spPr>
          <a:xfrm>
            <a:off x="12925591" y="10925297"/>
            <a:ext cx="7794955"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(0.50 + 0.31 + 0.57 + 0.42 + 0.98) / 5 = </a:t>
            </a:r>
          </a:p>
        </p:txBody>
      </p:sp>
      <p:sp>
        <p:nvSpPr>
          <p:cNvPr id="4" name="TextBox 3">
            <a:extLst>
              <a:ext uri="{FF2B5EF4-FFF2-40B4-BE49-F238E27FC236}">
                <a16:creationId xmlns:a16="http://schemas.microsoft.com/office/drawing/2014/main" id="{CA33FAC6-84A2-3E14-7D45-E24C0ED5304A}"/>
              </a:ext>
            </a:extLst>
          </p:cNvPr>
          <p:cNvSpPr txBox="1"/>
          <p:nvPr/>
        </p:nvSpPr>
        <p:spPr>
          <a:xfrm>
            <a:off x="20796310" y="10912862"/>
            <a:ext cx="1334764" cy="646331"/>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0.56</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15" name="TextBox 14">
            <a:extLst>
              <a:ext uri="{FF2B5EF4-FFF2-40B4-BE49-F238E27FC236}">
                <a16:creationId xmlns:a16="http://schemas.microsoft.com/office/drawing/2014/main" id="{447F23A8-FA7E-7F14-BDB2-F1ED02B19B93}"/>
              </a:ext>
            </a:extLst>
          </p:cNvPr>
          <p:cNvSpPr txBox="1"/>
          <p:nvPr/>
        </p:nvSpPr>
        <p:spPr>
          <a:xfrm>
            <a:off x="2247900" y="6151686"/>
            <a:ext cx="2990755"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Regresión lineal</a:t>
            </a:r>
          </a:p>
        </p:txBody>
      </p:sp>
      <p:sp>
        <p:nvSpPr>
          <p:cNvPr id="27" name="TextBox 26">
            <a:extLst>
              <a:ext uri="{FF2B5EF4-FFF2-40B4-BE49-F238E27FC236}">
                <a16:creationId xmlns:a16="http://schemas.microsoft.com/office/drawing/2014/main" id="{FFCD4490-8B34-173C-3C12-73500A324726}"/>
              </a:ext>
            </a:extLst>
          </p:cNvPr>
          <p:cNvSpPr txBox="1"/>
          <p:nvPr/>
        </p:nvSpPr>
        <p:spPr>
          <a:xfrm>
            <a:off x="6772525" y="6151686"/>
            <a:ext cx="871649"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SVC</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39" name="TextBox 38">
            <a:extLst>
              <a:ext uri="{FF2B5EF4-FFF2-40B4-BE49-F238E27FC236}">
                <a16:creationId xmlns:a16="http://schemas.microsoft.com/office/drawing/2014/main" id="{C53987BF-E6EC-14CD-A75A-863D9275A646}"/>
              </a:ext>
            </a:extLst>
          </p:cNvPr>
          <p:cNvSpPr txBox="1"/>
          <p:nvPr/>
        </p:nvSpPr>
        <p:spPr>
          <a:xfrm>
            <a:off x="9714143" y="6151686"/>
            <a:ext cx="2511971"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a:t>Red neuronal</a:t>
            </a:r>
            <a:endPar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41" name="TextBox 40">
            <a:extLst>
              <a:ext uri="{FF2B5EF4-FFF2-40B4-BE49-F238E27FC236}">
                <a16:creationId xmlns:a16="http://schemas.microsoft.com/office/drawing/2014/main" id="{6EEB8302-5E8F-641E-EB41-6E46754A6BEB}"/>
              </a:ext>
            </a:extLst>
          </p:cNvPr>
          <p:cNvSpPr txBox="1"/>
          <p:nvPr/>
        </p:nvSpPr>
        <p:spPr>
          <a:xfrm>
            <a:off x="13022484" y="6151686"/>
            <a:ext cx="3999878"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Árbol de clasificación</a:t>
            </a:r>
          </a:p>
        </p:txBody>
      </p:sp>
      <p:pic>
        <p:nvPicPr>
          <p:cNvPr id="43" name="Graphic 42" descr="Scatterplot with solid fill">
            <a:extLst>
              <a:ext uri="{FF2B5EF4-FFF2-40B4-BE49-F238E27FC236}">
                <a16:creationId xmlns:a16="http://schemas.microsoft.com/office/drawing/2014/main" id="{B0420E2A-3048-F46C-5D0F-E24FE91A06E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700281" y="4381594"/>
            <a:ext cx="1964069" cy="1964069"/>
          </a:xfrm>
          <a:prstGeom prst="rect">
            <a:avLst/>
          </a:prstGeom>
        </p:spPr>
      </p:pic>
      <p:sp>
        <p:nvSpPr>
          <p:cNvPr id="44" name="TextBox 43">
            <a:extLst>
              <a:ext uri="{FF2B5EF4-FFF2-40B4-BE49-F238E27FC236}">
                <a16:creationId xmlns:a16="http://schemas.microsoft.com/office/drawing/2014/main" id="{AA273F79-599E-862A-7BC8-21501615C960}"/>
              </a:ext>
            </a:extLst>
          </p:cNvPr>
          <p:cNvSpPr txBox="1"/>
          <p:nvPr/>
        </p:nvSpPr>
        <p:spPr>
          <a:xfrm>
            <a:off x="17186706" y="9896100"/>
            <a:ext cx="1334764" cy="646331"/>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4000" dirty="0">
                <a:solidFill>
                  <a:srgbClr val="000000"/>
                </a:solidFill>
                <a:latin typeface="Graphik Compact Regular"/>
                <a:ea typeface="Graphik Compact Regular"/>
                <a:cs typeface="Graphik Compact Regular"/>
              </a:rPr>
              <a:t>0.56</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Tree>
    <p:extLst>
      <p:ext uri="{BB962C8B-B14F-4D97-AF65-F5344CB8AC3E}">
        <p14:creationId xmlns:p14="http://schemas.microsoft.com/office/powerpoint/2010/main" val="32368563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Modelos que Votan</a:t>
            </a:r>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95399" y="3209731"/>
            <a:ext cx="22030267" cy="9238202"/>
          </a:xfrm>
          <a:prstGeom prst="rect">
            <a:avLst/>
          </a:prstGeom>
        </p:spPr>
        <p:txBody>
          <a:bodyPr>
            <a:noAutofit/>
          </a:bodyPr>
          <a:lstStyle/>
          <a:p>
            <a:pPr>
              <a:defRPr sz="4600">
                <a:latin typeface="Graphik Compact Regular"/>
                <a:ea typeface="Graphik Compact Regular"/>
                <a:cs typeface="Graphik Compact Regular"/>
                <a:sym typeface="Graphik Compact Regular"/>
              </a:defRPr>
            </a:pPr>
            <a:r>
              <a:rPr lang="es-ES" b="1" dirty="0">
                <a:solidFill>
                  <a:schemeClr val="accent3">
                    <a:lumMod val="75000"/>
                  </a:schemeClr>
                </a:solidFill>
              </a:rPr>
              <a:t>¿Y si reemplazamos el voto por algo más inteligente? </a:t>
            </a:r>
          </a:p>
          <a:p>
            <a:pPr>
              <a:defRPr sz="4600">
                <a:latin typeface="Graphik Compact Regular"/>
                <a:ea typeface="Graphik Compact Regular"/>
                <a:cs typeface="Graphik Compact Regular"/>
                <a:sym typeface="Graphik Compact Regular"/>
              </a:defRPr>
            </a:pPr>
            <a:r>
              <a:rPr lang="es-ES" dirty="0"/>
              <a:t>Una técnica un poco más avanzada es reemplazar el voto de los modelos, por un nuevo modelo que se entrena con la salida de los modelos.</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13</a:t>
            </a:fld>
            <a:endParaRPr lang="en-US" sz="2800" dirty="0"/>
          </a:p>
        </p:txBody>
      </p:sp>
      <p:pic>
        <p:nvPicPr>
          <p:cNvPr id="4" name="Graphic 3" descr="Table outline">
            <a:extLst>
              <a:ext uri="{FF2B5EF4-FFF2-40B4-BE49-F238E27FC236}">
                <a16:creationId xmlns:a16="http://schemas.microsoft.com/office/drawing/2014/main" id="{6CE1C5E7-D8D1-B4E0-D257-8E66B25418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99336" y="8456007"/>
            <a:ext cx="2387600" cy="2387600"/>
          </a:xfrm>
          <a:prstGeom prst="rect">
            <a:avLst/>
          </a:prstGeom>
        </p:spPr>
      </p:pic>
      <p:pic>
        <p:nvPicPr>
          <p:cNvPr id="5" name="Graphic 4" descr="User network with solid fill">
            <a:extLst>
              <a:ext uri="{FF2B5EF4-FFF2-40B4-BE49-F238E27FC236}">
                <a16:creationId xmlns:a16="http://schemas.microsoft.com/office/drawing/2014/main" id="{357F5FA6-3A72-5827-C550-0A190C8C841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97179" y="9162183"/>
            <a:ext cx="1580316" cy="1580316"/>
          </a:xfrm>
          <a:prstGeom prst="rect">
            <a:avLst/>
          </a:prstGeom>
        </p:spPr>
      </p:pic>
      <p:pic>
        <p:nvPicPr>
          <p:cNvPr id="6" name="Graphic 5" descr="Gears with solid fill">
            <a:extLst>
              <a:ext uri="{FF2B5EF4-FFF2-40B4-BE49-F238E27FC236}">
                <a16:creationId xmlns:a16="http://schemas.microsoft.com/office/drawing/2014/main" id="{5C51CB72-EC12-86C7-3CC1-388E2562F9F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88982" y="7575081"/>
            <a:ext cx="1580316" cy="1580316"/>
          </a:xfrm>
          <a:prstGeom prst="rect">
            <a:avLst/>
          </a:prstGeom>
        </p:spPr>
      </p:pic>
      <p:pic>
        <p:nvPicPr>
          <p:cNvPr id="8" name="Graphic 7" descr="Withering Tree with solid fill">
            <a:extLst>
              <a:ext uri="{FF2B5EF4-FFF2-40B4-BE49-F238E27FC236}">
                <a16:creationId xmlns:a16="http://schemas.microsoft.com/office/drawing/2014/main" id="{42FD1904-0D11-88C6-B098-1EF7EFB5337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097179" y="10742499"/>
            <a:ext cx="1502721" cy="1502721"/>
          </a:xfrm>
          <a:prstGeom prst="rect">
            <a:avLst/>
          </a:prstGeom>
        </p:spPr>
      </p:pic>
      <p:sp>
        <p:nvSpPr>
          <p:cNvPr id="9" name="TextBox 8">
            <a:extLst>
              <a:ext uri="{FF2B5EF4-FFF2-40B4-BE49-F238E27FC236}">
                <a16:creationId xmlns:a16="http://schemas.microsoft.com/office/drawing/2014/main" id="{AC97C415-1AED-76D0-A93B-43C29077802D}"/>
              </a:ext>
            </a:extLst>
          </p:cNvPr>
          <p:cNvSpPr txBox="1"/>
          <p:nvPr/>
        </p:nvSpPr>
        <p:spPr>
          <a:xfrm>
            <a:off x="3541776" y="10437379"/>
            <a:ext cx="1502720"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err="1"/>
              <a:t>Dataset</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cxnSp>
        <p:nvCxnSpPr>
          <p:cNvPr id="10" name="Straight Arrow Connector 9">
            <a:extLst>
              <a:ext uri="{FF2B5EF4-FFF2-40B4-BE49-F238E27FC236}">
                <a16:creationId xmlns:a16="http://schemas.microsoft.com/office/drawing/2014/main" id="{53E8EE39-69FC-1658-30D8-530ABF613F1D}"/>
              </a:ext>
            </a:extLst>
          </p:cNvPr>
          <p:cNvCxnSpPr>
            <a:cxnSpLocks/>
          </p:cNvCxnSpPr>
          <p:nvPr/>
        </p:nvCxnSpPr>
        <p:spPr>
          <a:xfrm flipV="1">
            <a:off x="5549336" y="8365238"/>
            <a:ext cx="3602046" cy="1082248"/>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 name="Straight Arrow Connector 11">
            <a:extLst>
              <a:ext uri="{FF2B5EF4-FFF2-40B4-BE49-F238E27FC236}">
                <a16:creationId xmlns:a16="http://schemas.microsoft.com/office/drawing/2014/main" id="{0E189AD2-4990-E21A-253B-91EE3F7BE386}"/>
              </a:ext>
            </a:extLst>
          </p:cNvPr>
          <p:cNvCxnSpPr>
            <a:cxnSpLocks/>
          </p:cNvCxnSpPr>
          <p:nvPr/>
        </p:nvCxnSpPr>
        <p:spPr>
          <a:xfrm flipV="1">
            <a:off x="5549337" y="6911037"/>
            <a:ext cx="3602045" cy="2536449"/>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4" name="TextBox 23">
            <a:extLst>
              <a:ext uri="{FF2B5EF4-FFF2-40B4-BE49-F238E27FC236}">
                <a16:creationId xmlns:a16="http://schemas.microsoft.com/office/drawing/2014/main" id="{DECF56EB-FE52-2169-5623-D323DEAD79D4}"/>
              </a:ext>
            </a:extLst>
          </p:cNvPr>
          <p:cNvSpPr txBox="1"/>
          <p:nvPr/>
        </p:nvSpPr>
        <p:spPr>
          <a:xfrm>
            <a:off x="10794100" y="6535192"/>
            <a:ext cx="2990755"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Regresión lineal</a:t>
            </a:r>
          </a:p>
        </p:txBody>
      </p:sp>
      <p:sp>
        <p:nvSpPr>
          <p:cNvPr id="25" name="TextBox 24">
            <a:extLst>
              <a:ext uri="{FF2B5EF4-FFF2-40B4-BE49-F238E27FC236}">
                <a16:creationId xmlns:a16="http://schemas.microsoft.com/office/drawing/2014/main" id="{B8AA83B2-B5F2-79DC-D90E-DAC4365C068A}"/>
              </a:ext>
            </a:extLst>
          </p:cNvPr>
          <p:cNvSpPr txBox="1"/>
          <p:nvPr/>
        </p:nvSpPr>
        <p:spPr>
          <a:xfrm>
            <a:off x="10794100" y="8066695"/>
            <a:ext cx="871649"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SVC</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26" name="TextBox 25">
            <a:extLst>
              <a:ext uri="{FF2B5EF4-FFF2-40B4-BE49-F238E27FC236}">
                <a16:creationId xmlns:a16="http://schemas.microsoft.com/office/drawing/2014/main" id="{172CE128-42FA-EF27-EC5A-0D961A748DB6}"/>
              </a:ext>
            </a:extLst>
          </p:cNvPr>
          <p:cNvSpPr txBox="1"/>
          <p:nvPr/>
        </p:nvSpPr>
        <p:spPr>
          <a:xfrm>
            <a:off x="10735648" y="9606194"/>
            <a:ext cx="2511971"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a:t>Red neuronal</a:t>
            </a:r>
            <a:endPar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27" name="TextBox 26">
            <a:extLst>
              <a:ext uri="{FF2B5EF4-FFF2-40B4-BE49-F238E27FC236}">
                <a16:creationId xmlns:a16="http://schemas.microsoft.com/office/drawing/2014/main" id="{37121603-8590-3B09-FEBF-58A0461C3F46}"/>
              </a:ext>
            </a:extLst>
          </p:cNvPr>
          <p:cNvSpPr txBox="1"/>
          <p:nvPr/>
        </p:nvSpPr>
        <p:spPr>
          <a:xfrm>
            <a:off x="10599900" y="11193296"/>
            <a:ext cx="3999878"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Árbol de clasificación</a:t>
            </a:r>
          </a:p>
        </p:txBody>
      </p:sp>
      <p:pic>
        <p:nvPicPr>
          <p:cNvPr id="28" name="Graphic 27" descr="Scatterplot with solid fill">
            <a:extLst>
              <a:ext uri="{FF2B5EF4-FFF2-40B4-BE49-F238E27FC236}">
                <a16:creationId xmlns:a16="http://schemas.microsoft.com/office/drawing/2014/main" id="{6403DE7A-0A43-2A0A-BA1D-403F7ADDA95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151383" y="6043578"/>
            <a:ext cx="1580316" cy="1580316"/>
          </a:xfrm>
          <a:prstGeom prst="rect">
            <a:avLst/>
          </a:prstGeom>
        </p:spPr>
      </p:pic>
      <p:cxnSp>
        <p:nvCxnSpPr>
          <p:cNvPr id="34" name="Straight Arrow Connector 33">
            <a:extLst>
              <a:ext uri="{FF2B5EF4-FFF2-40B4-BE49-F238E27FC236}">
                <a16:creationId xmlns:a16="http://schemas.microsoft.com/office/drawing/2014/main" id="{377B7740-6812-DF11-CE8A-8A52375FB0AD}"/>
              </a:ext>
            </a:extLst>
          </p:cNvPr>
          <p:cNvCxnSpPr>
            <a:cxnSpLocks/>
            <a:endCxn id="5" idx="1"/>
          </p:cNvCxnSpPr>
          <p:nvPr/>
        </p:nvCxnSpPr>
        <p:spPr>
          <a:xfrm>
            <a:off x="5611738" y="9447486"/>
            <a:ext cx="3485441" cy="504855"/>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 name="Straight Arrow Connector 36">
            <a:extLst>
              <a:ext uri="{FF2B5EF4-FFF2-40B4-BE49-F238E27FC236}">
                <a16:creationId xmlns:a16="http://schemas.microsoft.com/office/drawing/2014/main" id="{96367399-D668-2D51-F504-622F78900204}"/>
              </a:ext>
            </a:extLst>
          </p:cNvPr>
          <p:cNvCxnSpPr>
            <a:cxnSpLocks/>
          </p:cNvCxnSpPr>
          <p:nvPr/>
        </p:nvCxnSpPr>
        <p:spPr>
          <a:xfrm>
            <a:off x="5545089" y="9420457"/>
            <a:ext cx="3427288" cy="2071382"/>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41" name="Graphic 40" descr="Circles with lines with solid fill">
            <a:extLst>
              <a:ext uri="{FF2B5EF4-FFF2-40B4-BE49-F238E27FC236}">
                <a16:creationId xmlns:a16="http://schemas.microsoft.com/office/drawing/2014/main" id="{B6053FD0-F6E4-F6BF-1012-E18D890D868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003634" y="8372025"/>
            <a:ext cx="1580316" cy="1580316"/>
          </a:xfrm>
          <a:prstGeom prst="rect">
            <a:avLst/>
          </a:prstGeom>
        </p:spPr>
      </p:pic>
      <p:cxnSp>
        <p:nvCxnSpPr>
          <p:cNvPr id="42" name="Straight Arrow Connector 41">
            <a:extLst>
              <a:ext uri="{FF2B5EF4-FFF2-40B4-BE49-F238E27FC236}">
                <a16:creationId xmlns:a16="http://schemas.microsoft.com/office/drawing/2014/main" id="{0CAE1536-8844-37C8-852E-00F4299B0BCC}"/>
              </a:ext>
            </a:extLst>
          </p:cNvPr>
          <p:cNvCxnSpPr>
            <a:cxnSpLocks/>
            <a:stCxn id="24" idx="3"/>
          </p:cNvCxnSpPr>
          <p:nvPr/>
        </p:nvCxnSpPr>
        <p:spPr>
          <a:xfrm>
            <a:off x="13784855" y="6833736"/>
            <a:ext cx="3626067" cy="1830046"/>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5" name="Straight Arrow Connector 44">
            <a:extLst>
              <a:ext uri="{FF2B5EF4-FFF2-40B4-BE49-F238E27FC236}">
                <a16:creationId xmlns:a16="http://schemas.microsoft.com/office/drawing/2014/main" id="{1AD31F12-EF26-7B4F-5EF4-38864DC0CB98}"/>
              </a:ext>
            </a:extLst>
          </p:cNvPr>
          <p:cNvCxnSpPr>
            <a:cxnSpLocks/>
            <a:stCxn id="25" idx="3"/>
          </p:cNvCxnSpPr>
          <p:nvPr/>
        </p:nvCxnSpPr>
        <p:spPr>
          <a:xfrm>
            <a:off x="11665749" y="8365239"/>
            <a:ext cx="5337884" cy="635566"/>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8" name="Straight Arrow Connector 47">
            <a:extLst>
              <a:ext uri="{FF2B5EF4-FFF2-40B4-BE49-F238E27FC236}">
                <a16:creationId xmlns:a16="http://schemas.microsoft.com/office/drawing/2014/main" id="{C9139DA6-F067-5737-1277-D4D96A149FA3}"/>
              </a:ext>
            </a:extLst>
          </p:cNvPr>
          <p:cNvCxnSpPr>
            <a:cxnSpLocks/>
            <a:stCxn id="26" idx="3"/>
          </p:cNvCxnSpPr>
          <p:nvPr/>
        </p:nvCxnSpPr>
        <p:spPr>
          <a:xfrm flipV="1">
            <a:off x="13247619" y="9447486"/>
            <a:ext cx="3902046" cy="457252"/>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 name="Straight Arrow Connector 50">
            <a:extLst>
              <a:ext uri="{FF2B5EF4-FFF2-40B4-BE49-F238E27FC236}">
                <a16:creationId xmlns:a16="http://schemas.microsoft.com/office/drawing/2014/main" id="{B08FFE2A-7C10-B381-0DA1-5824803CDBE4}"/>
              </a:ext>
            </a:extLst>
          </p:cNvPr>
          <p:cNvCxnSpPr>
            <a:cxnSpLocks/>
            <a:stCxn id="27" idx="3"/>
          </p:cNvCxnSpPr>
          <p:nvPr/>
        </p:nvCxnSpPr>
        <p:spPr>
          <a:xfrm flipV="1">
            <a:off x="14599778" y="9784509"/>
            <a:ext cx="2811144" cy="1707331"/>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4" name="Straight Arrow Connector 53">
            <a:extLst>
              <a:ext uri="{FF2B5EF4-FFF2-40B4-BE49-F238E27FC236}">
                <a16:creationId xmlns:a16="http://schemas.microsoft.com/office/drawing/2014/main" id="{B213E9A3-0846-1290-99E0-341431BDB22E}"/>
              </a:ext>
            </a:extLst>
          </p:cNvPr>
          <p:cNvCxnSpPr>
            <a:cxnSpLocks/>
          </p:cNvCxnSpPr>
          <p:nvPr/>
        </p:nvCxnSpPr>
        <p:spPr>
          <a:xfrm flipV="1">
            <a:off x="18437919" y="9155397"/>
            <a:ext cx="2549887" cy="9259"/>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6" name="TextBox 55">
            <a:extLst>
              <a:ext uri="{FF2B5EF4-FFF2-40B4-BE49-F238E27FC236}">
                <a16:creationId xmlns:a16="http://schemas.microsoft.com/office/drawing/2014/main" id="{A0B85080-83A8-4E31-876E-4305A2467732}"/>
              </a:ext>
            </a:extLst>
          </p:cNvPr>
          <p:cNvSpPr txBox="1"/>
          <p:nvPr/>
        </p:nvSpPr>
        <p:spPr>
          <a:xfrm>
            <a:off x="17673510" y="9800393"/>
            <a:ext cx="2108270" cy="10915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Modelo de </a:t>
            </a:r>
          </a:p>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sz="3600" dirty="0"/>
              <a:t>salida</a:t>
            </a:r>
            <a:endPar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Tree>
    <p:extLst>
      <p:ext uri="{BB962C8B-B14F-4D97-AF65-F5344CB8AC3E}">
        <p14:creationId xmlns:p14="http://schemas.microsoft.com/office/powerpoint/2010/main" val="317418532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VAMOS A PRÁCTICAR UN POCO…"/>
          <p:cNvSpPr txBox="1">
            <a:spLocks noGrp="1"/>
          </p:cNvSpPr>
          <p:nvPr>
            <p:ph type="body" sz="half" idx="1"/>
          </p:nvPr>
        </p:nvSpPr>
        <p:spPr>
          <a:prstGeom prst="rect">
            <a:avLst/>
          </a:prstGeom>
        </p:spPr>
        <p:txBody>
          <a:bodyPr/>
          <a:lstStyle>
            <a:lvl1pPr>
              <a:defRPr sz="5400" b="0" spc="-215">
                <a:solidFill>
                  <a:srgbClr val="FFFFFF"/>
                </a:solidFill>
                <a:latin typeface="Graphik Compact Bold"/>
                <a:ea typeface="Graphik Compact Bold"/>
                <a:cs typeface="Graphik Compact Bold"/>
                <a:sym typeface="Graphik Compact Bold"/>
              </a:defRPr>
            </a:lvl1pPr>
          </a:lstStyle>
          <a:p>
            <a:r>
              <a:rPr dirty="0">
                <a:solidFill>
                  <a:schemeClr val="tx1"/>
                </a:solidFill>
              </a:rPr>
              <a:t>VAMOS A PRÁCTICAR UN POCO…</a:t>
            </a:r>
          </a:p>
        </p:txBody>
      </p:sp>
    </p:spTree>
    <p:extLst>
      <p:ext uri="{BB962C8B-B14F-4D97-AF65-F5344CB8AC3E}">
        <p14:creationId xmlns:p14="http://schemas.microsoft.com/office/powerpoint/2010/main" val="296926094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Redes Neuronal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err="1">
                <a:solidFill>
                  <a:schemeClr val="tx1"/>
                </a:solidFill>
              </a:rPr>
              <a:t>Bagging</a:t>
            </a:r>
            <a:endParaRPr lang="es-ES_tradnl" dirty="0">
              <a:solidFill>
                <a:schemeClr val="tx1"/>
              </a:solidFill>
            </a:endParaRPr>
          </a:p>
        </p:txBody>
      </p:sp>
    </p:spTree>
    <p:extLst>
      <p:ext uri="{BB962C8B-B14F-4D97-AF65-F5344CB8AC3E}">
        <p14:creationId xmlns:p14="http://schemas.microsoft.com/office/powerpoint/2010/main" val="31046446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2580600" cy="9028144"/>
          </a:xfrm>
          <a:prstGeom prst="rect">
            <a:avLst/>
          </a:prstGeom>
        </p:spPr>
        <p:txBody>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¿Cómo logramos diversidad en nuestros predictores?</a:t>
            </a:r>
          </a:p>
          <a:p>
            <a:pPr defTabSz="554990">
              <a:spcBef>
                <a:spcPts val="3100"/>
              </a:spcBef>
              <a:defRPr sz="4370">
                <a:latin typeface="Graphik Compact Regular"/>
                <a:ea typeface="Graphik Compact Regular"/>
                <a:cs typeface="Graphik Compact Regular"/>
                <a:sym typeface="Graphik Compact Regular"/>
              </a:defRPr>
            </a:pPr>
            <a:r>
              <a:rPr lang="es-ES_tradnl" dirty="0"/>
              <a:t>Una manera de lograr diversidad en nuestro ensamble es utilizando arquitecturas diferentes para cada predictor. </a:t>
            </a:r>
          </a:p>
          <a:p>
            <a:pPr defTabSz="554990">
              <a:spcBef>
                <a:spcPts val="3100"/>
              </a:spcBef>
              <a:defRPr sz="4370">
                <a:latin typeface="Graphik Compact Regular"/>
                <a:ea typeface="Graphik Compact Regular"/>
                <a:cs typeface="Graphik Compact Regular"/>
                <a:sym typeface="Graphik Compact Regular"/>
              </a:defRPr>
            </a:pPr>
            <a:r>
              <a:rPr lang="es-ES_tradnl" b="1" dirty="0"/>
              <a:t>Otra manera de lograr esto es utilizando la misma arquitectura, pero entrenándola en distintos subconjuntos de nuestro set de entrenamiento.</a:t>
            </a:r>
          </a:p>
          <a:p>
            <a:pPr defTabSz="554990">
              <a:spcBef>
                <a:spcPts val="3100"/>
              </a:spcBef>
              <a:defRPr sz="4370">
                <a:latin typeface="Graphik Compact Regular"/>
                <a:ea typeface="Graphik Compact Regular"/>
                <a:cs typeface="Graphik Compact Regular"/>
                <a:sym typeface="Graphik Compact Regular"/>
              </a:defRPr>
            </a:pPr>
            <a:r>
              <a:rPr lang="es-ES_tradnl" dirty="0"/>
              <a:t>Cuando el muestreo es </a:t>
            </a:r>
            <a:r>
              <a:rPr lang="es-ES_tradnl" b="1" dirty="0">
                <a:solidFill>
                  <a:schemeClr val="accent6"/>
                </a:solidFill>
              </a:rPr>
              <a:t>con reposición</a:t>
            </a:r>
            <a:r>
              <a:rPr lang="es-ES_tradnl" dirty="0"/>
              <a:t>, el método se llama </a:t>
            </a:r>
            <a:r>
              <a:rPr lang="es-ES_tradnl" b="1" dirty="0" err="1">
                <a:solidFill>
                  <a:schemeClr val="accent6"/>
                </a:solidFill>
              </a:rPr>
              <a:t>Bagging</a:t>
            </a:r>
            <a:r>
              <a:rPr lang="es-ES_tradnl" dirty="0"/>
              <a:t>. Cuando es </a:t>
            </a:r>
            <a:r>
              <a:rPr lang="es-ES_tradnl" b="1" dirty="0">
                <a:solidFill>
                  <a:schemeClr val="accent3">
                    <a:lumMod val="75000"/>
                  </a:schemeClr>
                </a:solidFill>
              </a:rPr>
              <a:t>sin</a:t>
            </a:r>
            <a:r>
              <a:rPr lang="es-ES_tradnl" dirty="0">
                <a:solidFill>
                  <a:schemeClr val="accent3">
                    <a:lumMod val="75000"/>
                  </a:schemeClr>
                </a:solidFill>
              </a:rPr>
              <a:t> </a:t>
            </a:r>
            <a:r>
              <a:rPr lang="es-ES_tradnl" b="1" dirty="0">
                <a:solidFill>
                  <a:schemeClr val="accent3">
                    <a:lumMod val="75000"/>
                  </a:schemeClr>
                </a:solidFill>
              </a:rPr>
              <a:t>reposición</a:t>
            </a:r>
            <a:r>
              <a:rPr lang="es-ES_tradnl" dirty="0"/>
              <a:t>, se llama </a:t>
            </a:r>
            <a:r>
              <a:rPr lang="es-ES_tradnl" b="1" dirty="0" err="1">
                <a:solidFill>
                  <a:schemeClr val="accent3">
                    <a:lumMod val="75000"/>
                  </a:schemeClr>
                </a:solidFill>
              </a:rPr>
              <a:t>Pasting</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r>
              <a:rPr lang="es-AR" dirty="0"/>
              <a:t>Cada una de las filas del </a:t>
            </a:r>
            <a:r>
              <a:rPr lang="es-AR" dirty="0" err="1"/>
              <a:t>dataset</a:t>
            </a:r>
            <a:r>
              <a:rPr lang="es-AR" dirty="0"/>
              <a:t> puede ser muestreada por múltiples predictores. Pero solo </a:t>
            </a:r>
            <a:r>
              <a:rPr lang="es-ES_tradnl" b="1" dirty="0" err="1">
                <a:solidFill>
                  <a:schemeClr val="accent6"/>
                </a:solidFill>
              </a:rPr>
              <a:t>Bagging</a:t>
            </a:r>
            <a:r>
              <a:rPr lang="es-AR" dirty="0"/>
              <a:t> permite que una fila pueda ser muestreada más de una vez por el mismo predictor.</a:t>
            </a: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lstStyle/>
          <a:p>
            <a:r>
              <a:rPr lang="es-ES_tradnl" dirty="0" err="1"/>
              <a:t>Bagging</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16</a:t>
            </a:fld>
            <a:endParaRPr lang="en-US" sz="2800" dirty="0"/>
          </a:p>
        </p:txBody>
      </p:sp>
    </p:spTree>
    <p:extLst>
      <p:ext uri="{BB962C8B-B14F-4D97-AF65-F5344CB8AC3E}">
        <p14:creationId xmlns:p14="http://schemas.microsoft.com/office/powerpoint/2010/main" val="332199958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2580600" cy="9028144"/>
          </a:xfrm>
          <a:prstGeom prst="rect">
            <a:avLst/>
          </a:prstGeom>
        </p:spPr>
        <p:txBody>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En estadística el muestreo con reemplazo se llama </a:t>
            </a:r>
            <a:r>
              <a:rPr lang="es-ES_tradnl" b="1" dirty="0" err="1">
                <a:solidFill>
                  <a:schemeClr val="accent3">
                    <a:lumMod val="75000"/>
                  </a:schemeClr>
                </a:solidFill>
              </a:rPr>
              <a:t>Bootstrapping</a:t>
            </a: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lstStyle/>
          <a:p>
            <a:r>
              <a:rPr lang="es-ES_tradnl" dirty="0" err="1"/>
              <a:t>Bagging</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17</a:t>
            </a:fld>
            <a:endParaRPr lang="en-US" sz="2800" dirty="0"/>
          </a:p>
        </p:txBody>
      </p:sp>
      <p:pic>
        <p:nvPicPr>
          <p:cNvPr id="4" name="Illustration_bootstrap.png" descr="Illustration_bootstrap.png">
            <a:extLst>
              <a:ext uri="{FF2B5EF4-FFF2-40B4-BE49-F238E27FC236}">
                <a16:creationId xmlns:a16="http://schemas.microsoft.com/office/drawing/2014/main" id="{ED9AFE23-938C-5073-444B-8A006ACB0703}"/>
              </a:ext>
            </a:extLst>
          </p:cNvPr>
          <p:cNvPicPr>
            <a:picLocks noChangeAspect="1"/>
          </p:cNvPicPr>
          <p:nvPr/>
        </p:nvPicPr>
        <p:blipFill>
          <a:blip r:embed="rId3"/>
          <a:srcRect t="6344" b="6344"/>
          <a:stretch>
            <a:fillRect/>
          </a:stretch>
        </p:blipFill>
        <p:spPr>
          <a:xfrm>
            <a:off x="488731" y="5349684"/>
            <a:ext cx="23365615" cy="6208332"/>
          </a:xfrm>
          <a:prstGeom prst="rect">
            <a:avLst/>
          </a:prstGeom>
          <a:ln w="12700">
            <a:miter lim="400000"/>
          </a:ln>
        </p:spPr>
      </p:pic>
    </p:spTree>
    <p:extLst>
      <p:ext uri="{BB962C8B-B14F-4D97-AF65-F5344CB8AC3E}">
        <p14:creationId xmlns:p14="http://schemas.microsoft.com/office/powerpoint/2010/main" val="390246537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335820"/>
            <a:ext cx="22580600" cy="9028144"/>
          </a:xfrm>
          <a:prstGeom prst="rect">
            <a:avLst/>
          </a:prstGeom>
        </p:spPr>
        <p:txBody>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Para realizar </a:t>
            </a:r>
            <a:r>
              <a:rPr lang="es-ES_tradnl" b="1" dirty="0" err="1">
                <a:solidFill>
                  <a:schemeClr val="accent6"/>
                </a:solidFill>
              </a:rPr>
              <a:t>Bagging</a:t>
            </a:r>
            <a:r>
              <a:rPr lang="es-ES_tradnl" b="1" dirty="0">
                <a:solidFill>
                  <a:schemeClr val="accent6"/>
                </a:solidFill>
              </a:rPr>
              <a:t> (</a:t>
            </a:r>
            <a:r>
              <a:rPr lang="es-ES_tradnl" b="1" dirty="0" err="1">
                <a:solidFill>
                  <a:schemeClr val="accent6"/>
                </a:solidFill>
              </a:rPr>
              <a:t>bootstrap</a:t>
            </a:r>
            <a:r>
              <a:rPr lang="es-ES_tradnl" b="1" dirty="0">
                <a:solidFill>
                  <a:schemeClr val="accent6"/>
                </a:solidFill>
              </a:rPr>
              <a:t> </a:t>
            </a:r>
            <a:r>
              <a:rPr lang="es-ES_tradnl" b="1" dirty="0" err="1">
                <a:solidFill>
                  <a:schemeClr val="accent6"/>
                </a:solidFill>
              </a:rPr>
              <a:t>aggregating</a:t>
            </a:r>
            <a:r>
              <a:rPr lang="es-ES_tradnl" b="1" dirty="0">
                <a:solidFill>
                  <a:schemeClr val="accent6"/>
                </a:solidFill>
              </a:rPr>
              <a:t>),</a:t>
            </a:r>
            <a:r>
              <a:rPr lang="es-ES_tradnl" b="1" dirty="0">
                <a:solidFill>
                  <a:schemeClr val="accent3">
                    <a:lumMod val="75000"/>
                  </a:schemeClr>
                </a:solidFill>
              </a:rPr>
              <a:t> </a:t>
            </a:r>
            <a:r>
              <a:rPr lang="es-ES_tradnl" dirty="0"/>
              <a:t>buscamos modelos que tengan mucha varianza y poco sesgo.</a:t>
            </a:r>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lstStyle/>
          <a:p>
            <a:r>
              <a:rPr lang="es-ES_tradnl" dirty="0" err="1"/>
              <a:t>Bagging</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18</a:t>
            </a:fld>
            <a:endParaRPr lang="en-US" sz="2800" dirty="0"/>
          </a:p>
        </p:txBody>
      </p:sp>
      <p:pic>
        <p:nvPicPr>
          <p:cNvPr id="6" name="Picture 5" descr="A screenshot of a game&#10;&#10;Description automatically generated">
            <a:extLst>
              <a:ext uri="{FF2B5EF4-FFF2-40B4-BE49-F238E27FC236}">
                <a16:creationId xmlns:a16="http://schemas.microsoft.com/office/drawing/2014/main" id="{C8B1022F-AA60-AD88-8F2D-F153F3885349}"/>
              </a:ext>
            </a:extLst>
          </p:cNvPr>
          <p:cNvPicPr>
            <a:picLocks noChangeAspect="1"/>
          </p:cNvPicPr>
          <p:nvPr/>
        </p:nvPicPr>
        <p:blipFill rotWithShape="1">
          <a:blip r:embed="rId3">
            <a:extLst>
              <a:ext uri="{28A0092B-C50C-407E-A947-70E740481C1C}">
                <a14:useLocalDpi xmlns:a14="http://schemas.microsoft.com/office/drawing/2010/main" val="0"/>
              </a:ext>
            </a:extLst>
          </a:blip>
          <a:srcRect l="36732" t="35275" r="38340" b="48361"/>
          <a:stretch/>
        </p:blipFill>
        <p:spPr>
          <a:xfrm>
            <a:off x="11209581" y="10380180"/>
            <a:ext cx="2626875" cy="2437307"/>
          </a:xfrm>
          <a:prstGeom prst="rect">
            <a:avLst/>
          </a:prstGeom>
        </p:spPr>
      </p:pic>
      <p:sp>
        <p:nvSpPr>
          <p:cNvPr id="7" name="TextBox 6">
            <a:extLst>
              <a:ext uri="{FF2B5EF4-FFF2-40B4-BE49-F238E27FC236}">
                <a16:creationId xmlns:a16="http://schemas.microsoft.com/office/drawing/2014/main" id="{0DFEFCA7-A4E8-5DFC-2E48-1899A203C828}"/>
              </a:ext>
            </a:extLst>
          </p:cNvPr>
          <p:cNvSpPr txBox="1"/>
          <p:nvPr/>
        </p:nvSpPr>
        <p:spPr>
          <a:xfrm>
            <a:off x="11206377" y="12739441"/>
            <a:ext cx="2630079" cy="5478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200" b="0" i="0" u="none" strike="noStrike" cap="none" spc="-26" normalizeH="0" baseline="0" dirty="0" err="1">
                <a:ln>
                  <a:noFill/>
                </a:ln>
                <a:solidFill>
                  <a:srgbClr val="000000"/>
                </a:solidFill>
                <a:effectLst/>
                <a:uFillTx/>
                <a:latin typeface="Graphik Compact Regular"/>
                <a:ea typeface="Graphik Compact Regular"/>
                <a:cs typeface="Graphik Compact Regular"/>
                <a:sym typeface="Graphik Compact Regular"/>
              </a:rPr>
              <a:t>Dataset</a:t>
            </a:r>
            <a:r>
              <a:rPr kumimoji="0" lang="es-ES_tradnl" sz="32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 original</a:t>
            </a:r>
          </a:p>
        </p:txBody>
      </p:sp>
      <p:pic>
        <p:nvPicPr>
          <p:cNvPr id="9" name="Picture 8" descr="A screenshot of a game&#10;&#10;Description automatically generated">
            <a:extLst>
              <a:ext uri="{FF2B5EF4-FFF2-40B4-BE49-F238E27FC236}">
                <a16:creationId xmlns:a16="http://schemas.microsoft.com/office/drawing/2014/main" id="{705098C8-BD07-0D6A-9B4A-21DFDAFE065E}"/>
              </a:ext>
            </a:extLst>
          </p:cNvPr>
          <p:cNvPicPr>
            <a:picLocks noChangeAspect="1"/>
          </p:cNvPicPr>
          <p:nvPr/>
        </p:nvPicPr>
        <p:blipFill rotWithShape="1">
          <a:blip r:embed="rId3">
            <a:extLst>
              <a:ext uri="{28A0092B-C50C-407E-A947-70E740481C1C}">
                <a14:useLocalDpi xmlns:a14="http://schemas.microsoft.com/office/drawing/2010/main" val="0"/>
              </a:ext>
            </a:extLst>
          </a:blip>
          <a:srcRect l="2938" t="13484" r="70747" b="70152"/>
          <a:stretch/>
        </p:blipFill>
        <p:spPr>
          <a:xfrm>
            <a:off x="6275978" y="7341087"/>
            <a:ext cx="2773060" cy="2437308"/>
          </a:xfrm>
          <a:prstGeom prst="rect">
            <a:avLst/>
          </a:prstGeom>
        </p:spPr>
      </p:pic>
      <p:pic>
        <p:nvPicPr>
          <p:cNvPr id="10" name="Picture 9" descr="A screenshot of a game&#10;&#10;Description automatically generated">
            <a:extLst>
              <a:ext uri="{FF2B5EF4-FFF2-40B4-BE49-F238E27FC236}">
                <a16:creationId xmlns:a16="http://schemas.microsoft.com/office/drawing/2014/main" id="{76966288-DA6A-00A0-CFB9-EBDD49772374}"/>
              </a:ext>
            </a:extLst>
          </p:cNvPr>
          <p:cNvPicPr>
            <a:picLocks noChangeAspect="1"/>
          </p:cNvPicPr>
          <p:nvPr/>
        </p:nvPicPr>
        <p:blipFill rotWithShape="1">
          <a:blip r:embed="rId3">
            <a:extLst>
              <a:ext uri="{28A0092B-C50C-407E-A947-70E740481C1C}">
                <a14:useLocalDpi xmlns:a14="http://schemas.microsoft.com/office/drawing/2010/main" val="0"/>
              </a:ext>
            </a:extLst>
          </a:blip>
          <a:srcRect l="33295" t="13432" r="40390" b="70204"/>
          <a:stretch/>
        </p:blipFill>
        <p:spPr>
          <a:xfrm>
            <a:off x="11096416" y="7341087"/>
            <a:ext cx="2773060" cy="2437308"/>
          </a:xfrm>
          <a:prstGeom prst="rect">
            <a:avLst/>
          </a:prstGeom>
        </p:spPr>
      </p:pic>
      <p:pic>
        <p:nvPicPr>
          <p:cNvPr id="11" name="Picture 10" descr="A screenshot of a game&#10;&#10;Description automatically generated">
            <a:extLst>
              <a:ext uri="{FF2B5EF4-FFF2-40B4-BE49-F238E27FC236}">
                <a16:creationId xmlns:a16="http://schemas.microsoft.com/office/drawing/2014/main" id="{F976DBFB-D6E9-71E8-7382-371DD9430939}"/>
              </a:ext>
            </a:extLst>
          </p:cNvPr>
          <p:cNvPicPr>
            <a:picLocks noChangeAspect="1"/>
          </p:cNvPicPr>
          <p:nvPr/>
        </p:nvPicPr>
        <p:blipFill rotWithShape="1">
          <a:blip r:embed="rId3">
            <a:extLst>
              <a:ext uri="{28A0092B-C50C-407E-A947-70E740481C1C}">
                <a14:useLocalDpi xmlns:a14="http://schemas.microsoft.com/office/drawing/2010/main" val="0"/>
              </a:ext>
            </a:extLst>
          </a:blip>
          <a:srcRect l="62548" t="13775" r="11137" b="69861"/>
          <a:stretch/>
        </p:blipFill>
        <p:spPr>
          <a:xfrm>
            <a:off x="15916854" y="7341087"/>
            <a:ext cx="2773060" cy="2437308"/>
          </a:xfrm>
          <a:prstGeom prst="rect">
            <a:avLst/>
          </a:prstGeom>
        </p:spPr>
      </p:pic>
      <p:sp>
        <p:nvSpPr>
          <p:cNvPr id="12" name="TextBox 11">
            <a:extLst>
              <a:ext uri="{FF2B5EF4-FFF2-40B4-BE49-F238E27FC236}">
                <a16:creationId xmlns:a16="http://schemas.microsoft.com/office/drawing/2014/main" id="{985A3771-0337-4658-DFFE-2365AB808710}"/>
              </a:ext>
            </a:extLst>
          </p:cNvPr>
          <p:cNvSpPr txBox="1"/>
          <p:nvPr/>
        </p:nvSpPr>
        <p:spPr>
          <a:xfrm>
            <a:off x="19120651" y="8285820"/>
            <a:ext cx="4533421" cy="5478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200" b="0" i="0" u="none" strike="noStrike" cap="none" spc="-26" normalizeH="0" baseline="0" dirty="0" err="1">
                <a:ln>
                  <a:noFill/>
                </a:ln>
                <a:solidFill>
                  <a:srgbClr val="000000"/>
                </a:solidFill>
                <a:effectLst/>
                <a:uFillTx/>
                <a:latin typeface="Graphik Compact Regular"/>
                <a:ea typeface="Graphik Compact Regular"/>
                <a:cs typeface="Graphik Compact Regular"/>
                <a:sym typeface="Graphik Compact Regular"/>
              </a:rPr>
              <a:t>Remuestreo</a:t>
            </a:r>
            <a:r>
              <a:rPr kumimoji="0" lang="es-ES_tradnl" sz="32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 con reemplazo</a:t>
            </a:r>
          </a:p>
        </p:txBody>
      </p:sp>
      <p:pic>
        <p:nvPicPr>
          <p:cNvPr id="13" name="Graphic 12" descr="User network with solid fill">
            <a:extLst>
              <a:ext uri="{FF2B5EF4-FFF2-40B4-BE49-F238E27FC236}">
                <a16:creationId xmlns:a16="http://schemas.microsoft.com/office/drawing/2014/main" id="{33A081CA-0A72-8E38-F3FB-4D4FD86BE3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414191" y="5079614"/>
            <a:ext cx="1778386" cy="1778386"/>
          </a:xfrm>
          <a:prstGeom prst="rect">
            <a:avLst/>
          </a:prstGeom>
        </p:spPr>
      </p:pic>
      <p:pic>
        <p:nvPicPr>
          <p:cNvPr id="14" name="Graphic 13" descr="Gears with solid fill">
            <a:extLst>
              <a:ext uri="{FF2B5EF4-FFF2-40B4-BE49-F238E27FC236}">
                <a16:creationId xmlns:a16="http://schemas.microsoft.com/office/drawing/2014/main" id="{4E46D625-F32D-9988-60B2-D3C4FB03119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32223" y="5072606"/>
            <a:ext cx="1778385" cy="1778385"/>
          </a:xfrm>
          <a:prstGeom prst="rect">
            <a:avLst/>
          </a:prstGeom>
        </p:spPr>
      </p:pic>
      <p:pic>
        <p:nvPicPr>
          <p:cNvPr id="15" name="Graphic 14" descr="Normal Distribution with solid fill">
            <a:extLst>
              <a:ext uri="{FF2B5EF4-FFF2-40B4-BE49-F238E27FC236}">
                <a16:creationId xmlns:a16="http://schemas.microsoft.com/office/drawing/2014/main" id="{E9BA23B5-0935-9F63-F6FE-9B6A8AD096F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21330" y="5079614"/>
            <a:ext cx="1811867" cy="1811867"/>
          </a:xfrm>
          <a:prstGeom prst="rect">
            <a:avLst/>
          </a:prstGeom>
        </p:spPr>
      </p:pic>
      <p:sp>
        <p:nvSpPr>
          <p:cNvPr id="16" name="TextBox 15">
            <a:extLst>
              <a:ext uri="{FF2B5EF4-FFF2-40B4-BE49-F238E27FC236}">
                <a16:creationId xmlns:a16="http://schemas.microsoft.com/office/drawing/2014/main" id="{BED658F5-D126-44FD-07D9-D64C04A1417A}"/>
              </a:ext>
            </a:extLst>
          </p:cNvPr>
          <p:cNvSpPr txBox="1"/>
          <p:nvPr/>
        </p:nvSpPr>
        <p:spPr>
          <a:xfrm>
            <a:off x="6628023" y="4744076"/>
            <a:ext cx="2586414" cy="4739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Regresión logística</a:t>
            </a:r>
          </a:p>
        </p:txBody>
      </p:sp>
      <p:sp>
        <p:nvSpPr>
          <p:cNvPr id="17" name="TextBox 16">
            <a:extLst>
              <a:ext uri="{FF2B5EF4-FFF2-40B4-BE49-F238E27FC236}">
                <a16:creationId xmlns:a16="http://schemas.microsoft.com/office/drawing/2014/main" id="{964FFB5C-E82E-C50D-D1D6-088EB244C9B2}"/>
              </a:ext>
            </a:extLst>
          </p:cNvPr>
          <p:cNvSpPr txBox="1"/>
          <p:nvPr/>
        </p:nvSpPr>
        <p:spPr>
          <a:xfrm>
            <a:off x="12258078" y="4710318"/>
            <a:ext cx="655244" cy="4739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SVC</a:t>
            </a:r>
          </a:p>
        </p:txBody>
      </p:sp>
      <p:sp>
        <p:nvSpPr>
          <p:cNvPr id="18" name="TextBox 17">
            <a:extLst>
              <a:ext uri="{FF2B5EF4-FFF2-40B4-BE49-F238E27FC236}">
                <a16:creationId xmlns:a16="http://schemas.microsoft.com/office/drawing/2014/main" id="{8D18A821-8A1E-720F-CDB7-C97F4A6A06D5}"/>
              </a:ext>
            </a:extLst>
          </p:cNvPr>
          <p:cNvSpPr txBox="1"/>
          <p:nvPr/>
        </p:nvSpPr>
        <p:spPr>
          <a:xfrm>
            <a:off x="16414191" y="4689397"/>
            <a:ext cx="1833900" cy="4739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dirty="0"/>
              <a:t>Red neuronal</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cxnSp>
        <p:nvCxnSpPr>
          <p:cNvPr id="19" name="Straight Arrow Connector 18">
            <a:extLst>
              <a:ext uri="{FF2B5EF4-FFF2-40B4-BE49-F238E27FC236}">
                <a16:creationId xmlns:a16="http://schemas.microsoft.com/office/drawing/2014/main" id="{3AB0E80F-BEAC-7EBB-8D3F-D9055340A990}"/>
              </a:ext>
            </a:extLst>
          </p:cNvPr>
          <p:cNvCxnSpPr>
            <a:cxnSpLocks/>
            <a:stCxn id="6" idx="1"/>
          </p:cNvCxnSpPr>
          <p:nvPr/>
        </p:nvCxnSpPr>
        <p:spPr>
          <a:xfrm flipH="1" flipV="1">
            <a:off x="7827264" y="9778395"/>
            <a:ext cx="3382317" cy="1820439"/>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2" name="Straight Arrow Connector 21">
            <a:extLst>
              <a:ext uri="{FF2B5EF4-FFF2-40B4-BE49-F238E27FC236}">
                <a16:creationId xmlns:a16="http://schemas.microsoft.com/office/drawing/2014/main" id="{FECD7C9C-DB19-D06C-3D74-5B56D0999B98}"/>
              </a:ext>
            </a:extLst>
          </p:cNvPr>
          <p:cNvCxnSpPr>
            <a:cxnSpLocks/>
            <a:stCxn id="6" idx="3"/>
            <a:endCxn id="11" idx="2"/>
          </p:cNvCxnSpPr>
          <p:nvPr/>
        </p:nvCxnSpPr>
        <p:spPr>
          <a:xfrm flipV="1">
            <a:off x="13836456" y="9778395"/>
            <a:ext cx="3466928" cy="1820439"/>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5" name="Straight Arrow Connector 24">
            <a:extLst>
              <a:ext uri="{FF2B5EF4-FFF2-40B4-BE49-F238E27FC236}">
                <a16:creationId xmlns:a16="http://schemas.microsoft.com/office/drawing/2014/main" id="{63280D82-117A-5315-436D-9A7733086DEF}"/>
              </a:ext>
            </a:extLst>
          </p:cNvPr>
          <p:cNvCxnSpPr>
            <a:cxnSpLocks/>
            <a:stCxn id="6" idx="0"/>
          </p:cNvCxnSpPr>
          <p:nvPr/>
        </p:nvCxnSpPr>
        <p:spPr>
          <a:xfrm flipV="1">
            <a:off x="12523019" y="9778395"/>
            <a:ext cx="0" cy="601785"/>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 name="Straight Arrow Connector 27">
            <a:extLst>
              <a:ext uri="{FF2B5EF4-FFF2-40B4-BE49-F238E27FC236}">
                <a16:creationId xmlns:a16="http://schemas.microsoft.com/office/drawing/2014/main" id="{99BC09E1-6FFC-F369-DB73-069924A383AA}"/>
              </a:ext>
            </a:extLst>
          </p:cNvPr>
          <p:cNvCxnSpPr>
            <a:cxnSpLocks/>
          </p:cNvCxnSpPr>
          <p:nvPr/>
        </p:nvCxnSpPr>
        <p:spPr>
          <a:xfrm flipV="1">
            <a:off x="7827264" y="6739302"/>
            <a:ext cx="0" cy="601785"/>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 name="Straight Arrow Connector 28">
            <a:extLst>
              <a:ext uri="{FF2B5EF4-FFF2-40B4-BE49-F238E27FC236}">
                <a16:creationId xmlns:a16="http://schemas.microsoft.com/office/drawing/2014/main" id="{279C14D5-590E-21FE-41FA-C1DFA4D0C292}"/>
              </a:ext>
            </a:extLst>
          </p:cNvPr>
          <p:cNvCxnSpPr>
            <a:cxnSpLocks/>
          </p:cNvCxnSpPr>
          <p:nvPr/>
        </p:nvCxnSpPr>
        <p:spPr>
          <a:xfrm flipV="1">
            <a:off x="12509223" y="6739302"/>
            <a:ext cx="0" cy="601785"/>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 name="Straight Arrow Connector 29">
            <a:extLst>
              <a:ext uri="{FF2B5EF4-FFF2-40B4-BE49-F238E27FC236}">
                <a16:creationId xmlns:a16="http://schemas.microsoft.com/office/drawing/2014/main" id="{30A06A05-7346-2D79-1B04-0437CE366D20}"/>
              </a:ext>
            </a:extLst>
          </p:cNvPr>
          <p:cNvCxnSpPr>
            <a:cxnSpLocks/>
          </p:cNvCxnSpPr>
          <p:nvPr/>
        </p:nvCxnSpPr>
        <p:spPr>
          <a:xfrm flipV="1">
            <a:off x="17303384" y="6681305"/>
            <a:ext cx="0" cy="601785"/>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1149749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335820"/>
            <a:ext cx="22580600" cy="9028144"/>
          </a:xfrm>
          <a:prstGeom prst="rect">
            <a:avLst/>
          </a:prstGeom>
        </p:spPr>
        <p:txBody>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Para realizar </a:t>
            </a:r>
            <a:r>
              <a:rPr lang="es-ES_tradnl" b="1" dirty="0" err="1">
                <a:solidFill>
                  <a:schemeClr val="accent6"/>
                </a:solidFill>
              </a:rPr>
              <a:t>Bagging</a:t>
            </a:r>
            <a:r>
              <a:rPr lang="es-ES_tradnl" b="1" dirty="0">
                <a:solidFill>
                  <a:schemeClr val="accent6"/>
                </a:solidFill>
              </a:rPr>
              <a:t> (</a:t>
            </a:r>
            <a:r>
              <a:rPr lang="es-ES_tradnl" b="1" dirty="0" err="1">
                <a:solidFill>
                  <a:schemeClr val="accent6"/>
                </a:solidFill>
              </a:rPr>
              <a:t>bootstrap</a:t>
            </a:r>
            <a:r>
              <a:rPr lang="es-ES_tradnl" b="1" dirty="0">
                <a:solidFill>
                  <a:schemeClr val="accent6"/>
                </a:solidFill>
              </a:rPr>
              <a:t> </a:t>
            </a:r>
            <a:r>
              <a:rPr lang="es-ES_tradnl" b="1" dirty="0" err="1">
                <a:solidFill>
                  <a:schemeClr val="accent6"/>
                </a:solidFill>
              </a:rPr>
              <a:t>aggregating</a:t>
            </a:r>
            <a:r>
              <a:rPr lang="es-ES_tradnl" b="1" dirty="0">
                <a:solidFill>
                  <a:schemeClr val="accent6"/>
                </a:solidFill>
              </a:rPr>
              <a:t>),</a:t>
            </a:r>
            <a:r>
              <a:rPr lang="es-ES_tradnl" b="1" dirty="0">
                <a:solidFill>
                  <a:schemeClr val="accent3">
                    <a:lumMod val="75000"/>
                  </a:schemeClr>
                </a:solidFill>
              </a:rPr>
              <a:t> </a:t>
            </a:r>
            <a:r>
              <a:rPr lang="es-ES_tradnl" dirty="0"/>
              <a:t>buscamos modelos que tengan mucha varianza y poco sesgo.</a:t>
            </a:r>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lstStyle/>
          <a:p>
            <a:r>
              <a:rPr lang="es-ES_tradnl" dirty="0" err="1"/>
              <a:t>Bagging</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19</a:t>
            </a:fld>
            <a:endParaRPr lang="en-US" sz="2800" dirty="0"/>
          </a:p>
        </p:txBody>
      </p:sp>
      <p:pic>
        <p:nvPicPr>
          <p:cNvPr id="6" name="Picture 5" descr="A screenshot of a game&#10;&#10;Description automatically generated">
            <a:extLst>
              <a:ext uri="{FF2B5EF4-FFF2-40B4-BE49-F238E27FC236}">
                <a16:creationId xmlns:a16="http://schemas.microsoft.com/office/drawing/2014/main" id="{C8B1022F-AA60-AD88-8F2D-F153F3885349}"/>
              </a:ext>
            </a:extLst>
          </p:cNvPr>
          <p:cNvPicPr>
            <a:picLocks noChangeAspect="1"/>
          </p:cNvPicPr>
          <p:nvPr/>
        </p:nvPicPr>
        <p:blipFill rotWithShape="1">
          <a:blip r:embed="rId3">
            <a:extLst>
              <a:ext uri="{28A0092B-C50C-407E-A947-70E740481C1C}">
                <a14:useLocalDpi xmlns:a14="http://schemas.microsoft.com/office/drawing/2010/main" val="0"/>
              </a:ext>
            </a:extLst>
          </a:blip>
          <a:srcRect l="36732" t="35275" r="38340" b="48361"/>
          <a:stretch/>
        </p:blipFill>
        <p:spPr>
          <a:xfrm>
            <a:off x="11209581" y="10380180"/>
            <a:ext cx="2626875" cy="2437307"/>
          </a:xfrm>
          <a:prstGeom prst="rect">
            <a:avLst/>
          </a:prstGeom>
        </p:spPr>
      </p:pic>
      <p:sp>
        <p:nvSpPr>
          <p:cNvPr id="7" name="TextBox 6">
            <a:extLst>
              <a:ext uri="{FF2B5EF4-FFF2-40B4-BE49-F238E27FC236}">
                <a16:creationId xmlns:a16="http://schemas.microsoft.com/office/drawing/2014/main" id="{0DFEFCA7-A4E8-5DFC-2E48-1899A203C828}"/>
              </a:ext>
            </a:extLst>
          </p:cNvPr>
          <p:cNvSpPr txBox="1"/>
          <p:nvPr/>
        </p:nvSpPr>
        <p:spPr>
          <a:xfrm>
            <a:off x="11206377" y="12739441"/>
            <a:ext cx="2630079" cy="5478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200" b="0" i="0" u="none" strike="noStrike" cap="none" spc="-26" normalizeH="0" baseline="0" dirty="0" err="1">
                <a:ln>
                  <a:noFill/>
                </a:ln>
                <a:solidFill>
                  <a:srgbClr val="000000"/>
                </a:solidFill>
                <a:effectLst/>
                <a:uFillTx/>
                <a:latin typeface="Graphik Compact Regular"/>
                <a:ea typeface="Graphik Compact Regular"/>
                <a:cs typeface="Graphik Compact Regular"/>
                <a:sym typeface="Graphik Compact Regular"/>
              </a:rPr>
              <a:t>Dataset</a:t>
            </a:r>
            <a:r>
              <a:rPr kumimoji="0" lang="es-ES_tradnl" sz="32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 original</a:t>
            </a:r>
          </a:p>
        </p:txBody>
      </p:sp>
      <p:pic>
        <p:nvPicPr>
          <p:cNvPr id="9" name="Picture 8" descr="A screenshot of a game&#10;&#10;Description automatically generated">
            <a:extLst>
              <a:ext uri="{FF2B5EF4-FFF2-40B4-BE49-F238E27FC236}">
                <a16:creationId xmlns:a16="http://schemas.microsoft.com/office/drawing/2014/main" id="{705098C8-BD07-0D6A-9B4A-21DFDAFE065E}"/>
              </a:ext>
            </a:extLst>
          </p:cNvPr>
          <p:cNvPicPr>
            <a:picLocks noChangeAspect="1"/>
          </p:cNvPicPr>
          <p:nvPr/>
        </p:nvPicPr>
        <p:blipFill rotWithShape="1">
          <a:blip r:embed="rId3">
            <a:extLst>
              <a:ext uri="{28A0092B-C50C-407E-A947-70E740481C1C}">
                <a14:useLocalDpi xmlns:a14="http://schemas.microsoft.com/office/drawing/2010/main" val="0"/>
              </a:ext>
            </a:extLst>
          </a:blip>
          <a:srcRect l="2938" t="13484" r="70747" b="70152"/>
          <a:stretch/>
        </p:blipFill>
        <p:spPr>
          <a:xfrm>
            <a:off x="6275978" y="7341087"/>
            <a:ext cx="2773060" cy="2437308"/>
          </a:xfrm>
          <a:prstGeom prst="rect">
            <a:avLst/>
          </a:prstGeom>
        </p:spPr>
      </p:pic>
      <p:pic>
        <p:nvPicPr>
          <p:cNvPr id="10" name="Picture 9" descr="A screenshot of a game&#10;&#10;Description automatically generated">
            <a:extLst>
              <a:ext uri="{FF2B5EF4-FFF2-40B4-BE49-F238E27FC236}">
                <a16:creationId xmlns:a16="http://schemas.microsoft.com/office/drawing/2014/main" id="{76966288-DA6A-00A0-CFB9-EBDD49772374}"/>
              </a:ext>
            </a:extLst>
          </p:cNvPr>
          <p:cNvPicPr>
            <a:picLocks noChangeAspect="1"/>
          </p:cNvPicPr>
          <p:nvPr/>
        </p:nvPicPr>
        <p:blipFill rotWithShape="1">
          <a:blip r:embed="rId3">
            <a:extLst>
              <a:ext uri="{28A0092B-C50C-407E-A947-70E740481C1C}">
                <a14:useLocalDpi xmlns:a14="http://schemas.microsoft.com/office/drawing/2010/main" val="0"/>
              </a:ext>
            </a:extLst>
          </a:blip>
          <a:srcRect l="33295" t="13432" r="40390" b="70204"/>
          <a:stretch/>
        </p:blipFill>
        <p:spPr>
          <a:xfrm>
            <a:off x="11096416" y="7341087"/>
            <a:ext cx="2773060" cy="2437308"/>
          </a:xfrm>
          <a:prstGeom prst="rect">
            <a:avLst/>
          </a:prstGeom>
        </p:spPr>
      </p:pic>
      <p:pic>
        <p:nvPicPr>
          <p:cNvPr id="11" name="Picture 10" descr="A screenshot of a game&#10;&#10;Description automatically generated">
            <a:extLst>
              <a:ext uri="{FF2B5EF4-FFF2-40B4-BE49-F238E27FC236}">
                <a16:creationId xmlns:a16="http://schemas.microsoft.com/office/drawing/2014/main" id="{F976DBFB-D6E9-71E8-7382-371DD9430939}"/>
              </a:ext>
            </a:extLst>
          </p:cNvPr>
          <p:cNvPicPr>
            <a:picLocks noChangeAspect="1"/>
          </p:cNvPicPr>
          <p:nvPr/>
        </p:nvPicPr>
        <p:blipFill rotWithShape="1">
          <a:blip r:embed="rId3">
            <a:extLst>
              <a:ext uri="{28A0092B-C50C-407E-A947-70E740481C1C}">
                <a14:useLocalDpi xmlns:a14="http://schemas.microsoft.com/office/drawing/2010/main" val="0"/>
              </a:ext>
            </a:extLst>
          </a:blip>
          <a:srcRect l="62548" t="13775" r="11137" b="69861"/>
          <a:stretch/>
        </p:blipFill>
        <p:spPr>
          <a:xfrm>
            <a:off x="15916854" y="7341087"/>
            <a:ext cx="2773060" cy="2437308"/>
          </a:xfrm>
          <a:prstGeom prst="rect">
            <a:avLst/>
          </a:prstGeom>
        </p:spPr>
      </p:pic>
      <p:sp>
        <p:nvSpPr>
          <p:cNvPr id="12" name="TextBox 11">
            <a:extLst>
              <a:ext uri="{FF2B5EF4-FFF2-40B4-BE49-F238E27FC236}">
                <a16:creationId xmlns:a16="http://schemas.microsoft.com/office/drawing/2014/main" id="{985A3771-0337-4658-DFFE-2365AB808710}"/>
              </a:ext>
            </a:extLst>
          </p:cNvPr>
          <p:cNvSpPr txBox="1"/>
          <p:nvPr/>
        </p:nvSpPr>
        <p:spPr>
          <a:xfrm>
            <a:off x="19120651" y="8285820"/>
            <a:ext cx="4533421" cy="5478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200" b="0" i="0" u="none" strike="noStrike" cap="none" spc="-26" normalizeH="0" baseline="0" dirty="0" err="1">
                <a:ln>
                  <a:noFill/>
                </a:ln>
                <a:solidFill>
                  <a:srgbClr val="000000"/>
                </a:solidFill>
                <a:effectLst/>
                <a:uFillTx/>
                <a:latin typeface="Graphik Compact Regular"/>
                <a:ea typeface="Graphik Compact Regular"/>
                <a:cs typeface="Graphik Compact Regular"/>
                <a:sym typeface="Graphik Compact Regular"/>
              </a:rPr>
              <a:t>Remuestreo</a:t>
            </a:r>
            <a:r>
              <a:rPr kumimoji="0" lang="es-ES_tradnl" sz="32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 con reemplazo</a:t>
            </a:r>
          </a:p>
        </p:txBody>
      </p:sp>
      <p:pic>
        <p:nvPicPr>
          <p:cNvPr id="13" name="Graphic 12" descr="User network with solid fill">
            <a:extLst>
              <a:ext uri="{FF2B5EF4-FFF2-40B4-BE49-F238E27FC236}">
                <a16:creationId xmlns:a16="http://schemas.microsoft.com/office/drawing/2014/main" id="{33A081CA-0A72-8E38-F3FB-4D4FD86BE3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414191" y="5079614"/>
            <a:ext cx="1778386" cy="1778386"/>
          </a:xfrm>
          <a:prstGeom prst="rect">
            <a:avLst/>
          </a:prstGeom>
        </p:spPr>
      </p:pic>
      <p:pic>
        <p:nvPicPr>
          <p:cNvPr id="14" name="Graphic 13" descr="Gears with solid fill">
            <a:extLst>
              <a:ext uri="{FF2B5EF4-FFF2-40B4-BE49-F238E27FC236}">
                <a16:creationId xmlns:a16="http://schemas.microsoft.com/office/drawing/2014/main" id="{4E46D625-F32D-9988-60B2-D3C4FB03119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32223" y="5072606"/>
            <a:ext cx="1778385" cy="1778385"/>
          </a:xfrm>
          <a:prstGeom prst="rect">
            <a:avLst/>
          </a:prstGeom>
        </p:spPr>
      </p:pic>
      <p:pic>
        <p:nvPicPr>
          <p:cNvPr id="15" name="Graphic 14" descr="Normal Distribution with solid fill">
            <a:extLst>
              <a:ext uri="{FF2B5EF4-FFF2-40B4-BE49-F238E27FC236}">
                <a16:creationId xmlns:a16="http://schemas.microsoft.com/office/drawing/2014/main" id="{E9BA23B5-0935-9F63-F6FE-9B6A8AD096F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21330" y="5079614"/>
            <a:ext cx="1811867" cy="1811867"/>
          </a:xfrm>
          <a:prstGeom prst="rect">
            <a:avLst/>
          </a:prstGeom>
        </p:spPr>
      </p:pic>
      <p:sp>
        <p:nvSpPr>
          <p:cNvPr id="16" name="TextBox 15">
            <a:extLst>
              <a:ext uri="{FF2B5EF4-FFF2-40B4-BE49-F238E27FC236}">
                <a16:creationId xmlns:a16="http://schemas.microsoft.com/office/drawing/2014/main" id="{BED658F5-D126-44FD-07D9-D64C04A1417A}"/>
              </a:ext>
            </a:extLst>
          </p:cNvPr>
          <p:cNvSpPr txBox="1"/>
          <p:nvPr/>
        </p:nvSpPr>
        <p:spPr>
          <a:xfrm>
            <a:off x="6628023" y="4744076"/>
            <a:ext cx="2586414" cy="4739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Regresión logística</a:t>
            </a:r>
          </a:p>
        </p:txBody>
      </p:sp>
      <p:sp>
        <p:nvSpPr>
          <p:cNvPr id="17" name="TextBox 16">
            <a:extLst>
              <a:ext uri="{FF2B5EF4-FFF2-40B4-BE49-F238E27FC236}">
                <a16:creationId xmlns:a16="http://schemas.microsoft.com/office/drawing/2014/main" id="{964FFB5C-E82E-C50D-D1D6-088EB244C9B2}"/>
              </a:ext>
            </a:extLst>
          </p:cNvPr>
          <p:cNvSpPr txBox="1"/>
          <p:nvPr/>
        </p:nvSpPr>
        <p:spPr>
          <a:xfrm>
            <a:off x="12258078" y="4710318"/>
            <a:ext cx="655244" cy="4739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SVC</a:t>
            </a:r>
          </a:p>
        </p:txBody>
      </p:sp>
      <p:sp>
        <p:nvSpPr>
          <p:cNvPr id="18" name="TextBox 17">
            <a:extLst>
              <a:ext uri="{FF2B5EF4-FFF2-40B4-BE49-F238E27FC236}">
                <a16:creationId xmlns:a16="http://schemas.microsoft.com/office/drawing/2014/main" id="{8D18A821-8A1E-720F-CDB7-C97F4A6A06D5}"/>
              </a:ext>
            </a:extLst>
          </p:cNvPr>
          <p:cNvSpPr txBox="1"/>
          <p:nvPr/>
        </p:nvSpPr>
        <p:spPr>
          <a:xfrm>
            <a:off x="16414191" y="4689397"/>
            <a:ext cx="1833900" cy="4739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lang="es-ES_tradnl" dirty="0"/>
              <a:t>Red neuronal</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cxnSp>
        <p:nvCxnSpPr>
          <p:cNvPr id="19" name="Straight Arrow Connector 18">
            <a:extLst>
              <a:ext uri="{FF2B5EF4-FFF2-40B4-BE49-F238E27FC236}">
                <a16:creationId xmlns:a16="http://schemas.microsoft.com/office/drawing/2014/main" id="{3AB0E80F-BEAC-7EBB-8D3F-D9055340A990}"/>
              </a:ext>
            </a:extLst>
          </p:cNvPr>
          <p:cNvCxnSpPr>
            <a:cxnSpLocks/>
            <a:stCxn id="6" idx="1"/>
          </p:cNvCxnSpPr>
          <p:nvPr/>
        </p:nvCxnSpPr>
        <p:spPr>
          <a:xfrm flipH="1" flipV="1">
            <a:off x="7827264" y="9778395"/>
            <a:ext cx="3382317" cy="1820439"/>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2" name="Straight Arrow Connector 21">
            <a:extLst>
              <a:ext uri="{FF2B5EF4-FFF2-40B4-BE49-F238E27FC236}">
                <a16:creationId xmlns:a16="http://schemas.microsoft.com/office/drawing/2014/main" id="{FECD7C9C-DB19-D06C-3D74-5B56D0999B98}"/>
              </a:ext>
            </a:extLst>
          </p:cNvPr>
          <p:cNvCxnSpPr>
            <a:cxnSpLocks/>
            <a:stCxn id="6" idx="3"/>
            <a:endCxn id="11" idx="2"/>
          </p:cNvCxnSpPr>
          <p:nvPr/>
        </p:nvCxnSpPr>
        <p:spPr>
          <a:xfrm flipV="1">
            <a:off x="13836456" y="9778395"/>
            <a:ext cx="3466928" cy="1820439"/>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5" name="Straight Arrow Connector 24">
            <a:extLst>
              <a:ext uri="{FF2B5EF4-FFF2-40B4-BE49-F238E27FC236}">
                <a16:creationId xmlns:a16="http://schemas.microsoft.com/office/drawing/2014/main" id="{63280D82-117A-5315-436D-9A7733086DEF}"/>
              </a:ext>
            </a:extLst>
          </p:cNvPr>
          <p:cNvCxnSpPr>
            <a:cxnSpLocks/>
            <a:stCxn id="6" idx="0"/>
          </p:cNvCxnSpPr>
          <p:nvPr/>
        </p:nvCxnSpPr>
        <p:spPr>
          <a:xfrm flipV="1">
            <a:off x="12523019" y="9778395"/>
            <a:ext cx="0" cy="601785"/>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 name="Straight Arrow Connector 27">
            <a:extLst>
              <a:ext uri="{FF2B5EF4-FFF2-40B4-BE49-F238E27FC236}">
                <a16:creationId xmlns:a16="http://schemas.microsoft.com/office/drawing/2014/main" id="{99BC09E1-6FFC-F369-DB73-069924A383AA}"/>
              </a:ext>
            </a:extLst>
          </p:cNvPr>
          <p:cNvCxnSpPr>
            <a:cxnSpLocks/>
          </p:cNvCxnSpPr>
          <p:nvPr/>
        </p:nvCxnSpPr>
        <p:spPr>
          <a:xfrm flipV="1">
            <a:off x="7827264" y="6739302"/>
            <a:ext cx="0" cy="601785"/>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 name="Straight Arrow Connector 28">
            <a:extLst>
              <a:ext uri="{FF2B5EF4-FFF2-40B4-BE49-F238E27FC236}">
                <a16:creationId xmlns:a16="http://schemas.microsoft.com/office/drawing/2014/main" id="{279C14D5-590E-21FE-41FA-C1DFA4D0C292}"/>
              </a:ext>
            </a:extLst>
          </p:cNvPr>
          <p:cNvCxnSpPr>
            <a:cxnSpLocks/>
          </p:cNvCxnSpPr>
          <p:nvPr/>
        </p:nvCxnSpPr>
        <p:spPr>
          <a:xfrm flipV="1">
            <a:off x="12509223" y="6739302"/>
            <a:ext cx="0" cy="601785"/>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 name="Straight Arrow Connector 29">
            <a:extLst>
              <a:ext uri="{FF2B5EF4-FFF2-40B4-BE49-F238E27FC236}">
                <a16:creationId xmlns:a16="http://schemas.microsoft.com/office/drawing/2014/main" id="{30A06A05-7346-2D79-1B04-0437CE366D20}"/>
              </a:ext>
            </a:extLst>
          </p:cNvPr>
          <p:cNvCxnSpPr>
            <a:cxnSpLocks/>
          </p:cNvCxnSpPr>
          <p:nvPr/>
        </p:nvCxnSpPr>
        <p:spPr>
          <a:xfrm flipV="1">
            <a:off x="17303384" y="6681305"/>
            <a:ext cx="0" cy="601785"/>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1A467548-46D5-CA70-3CF8-45DE0109793D}"/>
              </a:ext>
            </a:extLst>
          </p:cNvPr>
          <p:cNvSpPr txBox="1"/>
          <p:nvPr/>
        </p:nvSpPr>
        <p:spPr>
          <a:xfrm>
            <a:off x="1308951" y="7551741"/>
            <a:ext cx="4385135" cy="2016000"/>
          </a:xfrm>
          <a:prstGeom prst="rect">
            <a:avLst/>
          </a:prstGeom>
          <a:solidFill>
            <a:schemeClr val="accent2">
              <a:lumMod val="40000"/>
              <a:lumOff val="60000"/>
            </a:schemeClr>
          </a:solidFill>
          <a:ln>
            <a:noFill/>
          </a:ln>
        </p:spPr>
        <p:style>
          <a:lnRef idx="2">
            <a:schemeClr val="accent2"/>
          </a:lnRef>
          <a:fillRef idx="1">
            <a:schemeClr val="lt1"/>
          </a:fillRef>
          <a:effectRef idx="0">
            <a:schemeClr val="accent2"/>
          </a:effectRef>
          <a:fontRef idx="minor">
            <a:schemeClr val="dk1"/>
          </a:fontRef>
        </p:style>
        <p:txBody>
          <a:bodyPr wrap="square" anchor="ctr" anchorCtr="0">
            <a:noAutofit/>
          </a:bodyPr>
          <a:lstStyle/>
          <a:p>
            <a:pPr algn="ctr"/>
            <a:r>
              <a:rPr lang="es-AR" sz="2800" dirty="0">
                <a:solidFill>
                  <a:schemeClr val="bg2">
                    <a:lumMod val="25000"/>
                  </a:schemeClr>
                </a:solidFill>
              </a:rPr>
              <a:t>Cada uno de los modelos del ensamble puede ser entrenado en paralelo, lo que permite escalar la solución.</a:t>
            </a:r>
          </a:p>
        </p:txBody>
      </p:sp>
    </p:spTree>
    <p:extLst>
      <p:ext uri="{BB962C8B-B14F-4D97-AF65-F5344CB8AC3E}">
        <p14:creationId xmlns:p14="http://schemas.microsoft.com/office/powerpoint/2010/main" val="220633985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14944344"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Lo más común es usar un solo tipo de modelo, particularmente el </a:t>
            </a:r>
            <a:r>
              <a:rPr lang="es-ES_tradnl" b="1" dirty="0">
                <a:solidFill>
                  <a:schemeClr val="accent3">
                    <a:lumMod val="75000"/>
                  </a:schemeClr>
                </a:solidFill>
              </a:rPr>
              <a:t>árbol de decisión</a:t>
            </a:r>
            <a:r>
              <a:rPr lang="es-ES_tradnl" dirty="0"/>
              <a:t>.</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_tradnl" dirty="0"/>
              <a:t>Si son de clasificación, estos árboles votan la clase.</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_tradnl" dirty="0"/>
              <a:t>Si son de regresión, se promedia las predicciones.</a:t>
            </a:r>
          </a:p>
          <a:p>
            <a:pPr defTabSz="554990">
              <a:spcBef>
                <a:spcPts val="3100"/>
              </a:spcBef>
              <a:defRPr sz="4370">
                <a:latin typeface="Graphik Compact Regular"/>
                <a:ea typeface="Graphik Compact Regular"/>
                <a:cs typeface="Graphik Compact Regular"/>
                <a:sym typeface="Graphik Compact Regular"/>
              </a:defRPr>
            </a:pPr>
            <a:r>
              <a:rPr lang="es-ES_tradnl" dirty="0"/>
              <a:t>Dado que cada árbol es entrenado diferente, va a ser diferente de los demás árboles.</a:t>
            </a:r>
          </a:p>
          <a:p>
            <a:pPr defTabSz="554990">
              <a:spcBef>
                <a:spcPts val="3100"/>
              </a:spcBef>
              <a:defRPr sz="4370">
                <a:latin typeface="Graphik Compact Regular"/>
                <a:ea typeface="Graphik Compact Regular"/>
                <a:cs typeface="Graphik Compact Regular"/>
                <a:sym typeface="Graphik Compact Regular"/>
              </a:defRPr>
            </a:pPr>
            <a:r>
              <a:rPr lang="es-ES_tradnl" dirty="0"/>
              <a:t>En general estos </a:t>
            </a:r>
            <a:r>
              <a:rPr lang="es-ES_tradnl" b="1" dirty="0">
                <a:solidFill>
                  <a:schemeClr val="accent6"/>
                </a:solidFill>
              </a:rPr>
              <a:t>árboles son profundos</a:t>
            </a:r>
            <a:r>
              <a:rPr lang="es-ES_tradnl" dirty="0"/>
              <a:t>, es decir gran </a:t>
            </a:r>
            <a:r>
              <a:rPr lang="es-ES_tradnl" b="1" dirty="0">
                <a:solidFill>
                  <a:schemeClr val="accent3">
                    <a:lumMod val="75000"/>
                  </a:schemeClr>
                </a:solidFill>
              </a:rPr>
              <a:t>varianza</a:t>
            </a:r>
            <a:r>
              <a:rPr lang="es-ES_tradnl" dirty="0"/>
              <a:t>, pero poco </a:t>
            </a:r>
            <a:r>
              <a:rPr lang="es-ES_tradnl" b="1" dirty="0">
                <a:solidFill>
                  <a:schemeClr val="accent2">
                    <a:lumMod val="75000"/>
                  </a:schemeClr>
                </a:solidFill>
              </a:rPr>
              <a:t>sesgo</a:t>
            </a:r>
            <a:r>
              <a:rPr lang="es-ES_tradnl" dirty="0"/>
              <a:t>.  Al promediar las salidas reducimos la varianza.</a:t>
            </a:r>
          </a:p>
          <a:p>
            <a:pPr defTabSz="554990">
              <a:spcBef>
                <a:spcPts val="3100"/>
              </a:spcBef>
              <a:defRPr sz="4370">
                <a:latin typeface="Graphik Compact Regular"/>
                <a:ea typeface="Graphik Compact Regular"/>
                <a:cs typeface="Graphik Compact Regular"/>
                <a:sym typeface="Graphik Compact Regular"/>
              </a:defRPr>
            </a:pPr>
            <a:r>
              <a:rPr lang="es-ES_tradnl" dirty="0" err="1"/>
              <a:t>Bagging</a:t>
            </a:r>
            <a:r>
              <a:rPr lang="es-ES_tradnl" dirty="0"/>
              <a:t> mejora sustancialmente los resultados cuando se lleva a cientos o miles de árboles.</a:t>
            </a:r>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lstStyle/>
          <a:p>
            <a:r>
              <a:rPr lang="es-ES_tradnl" dirty="0" err="1"/>
              <a:t>Bagging</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20</a:t>
            </a:fld>
            <a:endParaRPr lang="en-US" sz="2800" dirty="0"/>
          </a:p>
        </p:txBody>
      </p:sp>
      <p:pic>
        <p:nvPicPr>
          <p:cNvPr id="4" name="rect23432dsddllldd1.png" descr="rect23432dsddllldd1.png">
            <a:extLst>
              <a:ext uri="{FF2B5EF4-FFF2-40B4-BE49-F238E27FC236}">
                <a16:creationId xmlns:a16="http://schemas.microsoft.com/office/drawing/2014/main" id="{079C2A9B-77DD-CB95-ECC7-BCA0357E3617}"/>
              </a:ext>
            </a:extLst>
          </p:cNvPr>
          <p:cNvPicPr>
            <a:picLocks noChangeAspect="1"/>
          </p:cNvPicPr>
          <p:nvPr/>
        </p:nvPicPr>
        <p:blipFill rotWithShape="1">
          <a:blip r:embed="rId3"/>
          <a:srcRect l="44985"/>
          <a:stretch/>
        </p:blipFill>
        <p:spPr>
          <a:xfrm>
            <a:off x="15973481" y="4781376"/>
            <a:ext cx="7895327" cy="5039280"/>
          </a:xfrm>
          <a:prstGeom prst="rect">
            <a:avLst/>
          </a:prstGeom>
          <a:ln w="12700">
            <a:miter lim="400000"/>
          </a:ln>
        </p:spPr>
      </p:pic>
    </p:spTree>
    <p:extLst>
      <p:ext uri="{BB962C8B-B14F-4D97-AF65-F5344CB8AC3E}">
        <p14:creationId xmlns:p14="http://schemas.microsoft.com/office/powerpoint/2010/main" val="111322577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Redes Neuronal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Bosques aleatorios</a:t>
            </a:r>
          </a:p>
        </p:txBody>
      </p:sp>
    </p:spTree>
    <p:extLst>
      <p:ext uri="{BB962C8B-B14F-4D97-AF65-F5344CB8AC3E}">
        <p14:creationId xmlns:p14="http://schemas.microsoft.com/office/powerpoint/2010/main" val="233207647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lstStyle/>
          <a:p>
            <a:r>
              <a:rPr lang="es-ES_tradnl" dirty="0">
                <a:solidFill>
                  <a:schemeClr val="tx1"/>
                </a:solidFill>
              </a:rPr>
              <a:t>Bosques aleatorios</a:t>
            </a:r>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2590252" cy="9226673"/>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Los </a:t>
            </a:r>
            <a:r>
              <a:rPr lang="es-ES_tradnl" b="1" dirty="0">
                <a:solidFill>
                  <a:schemeClr val="accent6"/>
                </a:solidFill>
              </a:rPr>
              <a:t>bosques aleatorios </a:t>
            </a:r>
            <a:r>
              <a:rPr lang="es-ES_tradnl" dirty="0"/>
              <a:t>son una mejora de los obtenidos mediante </a:t>
            </a:r>
            <a:r>
              <a:rPr lang="es-ES_tradnl" b="1" dirty="0" err="1">
                <a:solidFill>
                  <a:schemeClr val="accent3">
                    <a:lumMod val="75000"/>
                  </a:schemeClr>
                </a:solidFill>
              </a:rPr>
              <a:t>bagging</a:t>
            </a:r>
            <a:r>
              <a:rPr lang="es-ES_tradnl" dirty="0"/>
              <a:t> únicamente. </a:t>
            </a:r>
          </a:p>
          <a:p>
            <a:pPr>
              <a:defRPr sz="4600">
                <a:latin typeface="Graphik Compact Regular"/>
                <a:ea typeface="Graphik Compact Regular"/>
                <a:cs typeface="Graphik Compact Regular"/>
                <a:sym typeface="Graphik Compact Regular"/>
              </a:defRPr>
            </a:pPr>
            <a:r>
              <a:rPr lang="es-ES_tradnl" dirty="0"/>
              <a:t>Los bosques aleatorios hacen lo mismo que mediante </a:t>
            </a:r>
            <a:r>
              <a:rPr lang="es-ES_tradnl" dirty="0" err="1"/>
              <a:t>bagging</a:t>
            </a:r>
            <a:r>
              <a:rPr lang="es-ES_tradnl" dirty="0"/>
              <a:t>, pero además se usa una </a:t>
            </a:r>
            <a:r>
              <a:rPr lang="es-ES_tradnl" b="1" dirty="0">
                <a:solidFill>
                  <a:schemeClr val="accent5"/>
                </a:solidFill>
              </a:rPr>
              <a:t>cantidad aleatoria de atributos</a:t>
            </a:r>
            <a:r>
              <a:rPr lang="es-ES_tradnl" dirty="0"/>
              <a:t>. El valor de cuantos atributos a usar se elige aproximadamente la raíz cuadrada de la cantidad de atributos totales.</a:t>
            </a:r>
          </a:p>
          <a:p>
            <a:pPr>
              <a:defRPr sz="4600">
                <a:latin typeface="Graphik Compact Regular"/>
                <a:ea typeface="Graphik Compact Regular"/>
                <a:cs typeface="Graphik Compact Regular"/>
                <a:sym typeface="Graphik Compact Regular"/>
              </a:defRPr>
            </a:pPr>
            <a:r>
              <a:rPr lang="es-ES_tradnl" dirty="0"/>
              <a:t>Por ejemplo, si tenemos p=13 atributos, se usarán m=4, y en cada árbol será una combinación al azar diferente.</a:t>
            </a:r>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22</a:t>
            </a:fld>
            <a:endParaRPr lang="en-US" sz="2800" dirty="0"/>
          </a:p>
        </p:txBody>
      </p:sp>
    </p:spTree>
    <p:extLst>
      <p:ext uri="{BB962C8B-B14F-4D97-AF65-F5344CB8AC3E}">
        <p14:creationId xmlns:p14="http://schemas.microsoft.com/office/powerpoint/2010/main" val="232874388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lstStyle/>
          <a:p>
            <a:r>
              <a:rPr lang="es-ES_tradnl" dirty="0">
                <a:solidFill>
                  <a:schemeClr val="tx1"/>
                </a:solidFill>
              </a:rPr>
              <a:t>Bosques aleatorios</a:t>
            </a:r>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2590252" cy="9226673"/>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El razonamiento de esto es: </a:t>
            </a:r>
          </a:p>
          <a:p>
            <a:pPr>
              <a:defRPr sz="4600">
                <a:latin typeface="Graphik Compact Regular"/>
                <a:ea typeface="Graphik Compact Regular"/>
                <a:cs typeface="Graphik Compact Regular"/>
                <a:sym typeface="Graphik Compact Regular"/>
              </a:defRPr>
            </a:pPr>
            <a:r>
              <a:rPr lang="es-ES_tradnl" dirty="0"/>
              <a:t>Supongamos que hay un atributo que es muy </a:t>
            </a:r>
            <a:r>
              <a:rPr lang="es-ES_tradnl" b="1" dirty="0">
                <a:solidFill>
                  <a:schemeClr val="accent5"/>
                </a:solidFill>
              </a:rPr>
              <a:t>fuerte predictor</a:t>
            </a:r>
            <a:r>
              <a:rPr lang="es-ES_tradnl" dirty="0"/>
              <a:t>, junto a otros atributos moderadamente fuertes. Si aplicamos </a:t>
            </a:r>
            <a:r>
              <a:rPr lang="es-ES_tradnl" b="1" dirty="0" err="1">
                <a:solidFill>
                  <a:schemeClr val="accent3">
                    <a:lumMod val="75000"/>
                  </a:schemeClr>
                </a:solidFill>
              </a:rPr>
              <a:t>bagging</a:t>
            </a:r>
            <a:r>
              <a:rPr lang="es-ES_tradnl" dirty="0"/>
              <a:t>, todos estos árboles siempre tenderán a usar el </a:t>
            </a:r>
            <a:r>
              <a:rPr lang="es-ES_tradnl" b="1" dirty="0">
                <a:solidFill>
                  <a:schemeClr val="accent5"/>
                </a:solidFill>
              </a:rPr>
              <a:t>atributo fuerte </a:t>
            </a:r>
            <a:r>
              <a:rPr lang="es-ES_tradnl" dirty="0"/>
              <a:t>en la bifurcación inicial. Por consiguiente, todos serán parecidos y habrá una fuerte correlación entre árboles, </a:t>
            </a:r>
            <a:r>
              <a:rPr lang="es-ES_tradnl" b="1" dirty="0">
                <a:solidFill>
                  <a:schemeClr val="accent5"/>
                </a:solidFill>
              </a:rPr>
              <a:t>quitando la posibilidad de reducir la varianza</a:t>
            </a:r>
            <a:r>
              <a:rPr lang="es-ES_tradnl" dirty="0"/>
              <a:t>.</a:t>
            </a:r>
          </a:p>
          <a:p>
            <a:pPr>
              <a:defRPr sz="4600">
                <a:latin typeface="Graphik Compact Regular"/>
                <a:ea typeface="Graphik Compact Regular"/>
                <a:cs typeface="Graphik Compact Regular"/>
                <a:sym typeface="Graphik Compact Regular"/>
              </a:defRPr>
            </a:pPr>
            <a:r>
              <a:rPr lang="es-ES_tradnl" dirty="0"/>
              <a:t>Bosques aleatorios, al separar los atributos, en promedio (p-m)/p de las particiones no van a considerar al atributo fuerte, quitando la correlación.</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23</a:t>
            </a:fld>
            <a:endParaRPr lang="en-US" sz="2800" dirty="0"/>
          </a:p>
        </p:txBody>
      </p:sp>
    </p:spTree>
    <p:extLst>
      <p:ext uri="{BB962C8B-B14F-4D97-AF65-F5344CB8AC3E}">
        <p14:creationId xmlns:p14="http://schemas.microsoft.com/office/powerpoint/2010/main" val="144329672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Bosques aleatorios</a:t>
            </a:r>
            <a:endParaRPr lang="es-ES_tradnl" dirty="0"/>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299" y="3507194"/>
            <a:ext cx="12477361"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El poder de bosques aleatorios se muestra cuando se crean modelos predictivos para datos con muchos atributos. </a:t>
            </a:r>
          </a:p>
          <a:p>
            <a:pPr>
              <a:defRPr sz="4600">
                <a:latin typeface="Graphik Compact Regular"/>
                <a:ea typeface="Graphik Compact Regular"/>
                <a:cs typeface="Graphik Compact Regular"/>
                <a:sym typeface="Graphik Compact Regular"/>
              </a:defRPr>
            </a:pPr>
            <a:r>
              <a:rPr lang="es-ES_tradnl" dirty="0"/>
              <a:t>Este tiene la capacidad de determinar automáticamente qué predictores son importantes y descubrir relaciones complejas entre los predictores correspondientes a términos de interacción.</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24</a:t>
            </a:fld>
            <a:endParaRPr lang="en-US" sz="2800" dirty="0"/>
          </a:p>
        </p:txBody>
      </p:sp>
      <p:pic>
        <p:nvPicPr>
          <p:cNvPr id="6" name="Picture 5" descr="A graph with blue squares&#10;&#10;Description automatically generated">
            <a:extLst>
              <a:ext uri="{FF2B5EF4-FFF2-40B4-BE49-F238E27FC236}">
                <a16:creationId xmlns:a16="http://schemas.microsoft.com/office/drawing/2014/main" id="{ABB0C5C2-30DF-EDCD-81D7-3AD60923E8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53806" y="3401015"/>
            <a:ext cx="8910994" cy="9494304"/>
          </a:xfrm>
          <a:prstGeom prst="rect">
            <a:avLst/>
          </a:prstGeom>
        </p:spPr>
      </p:pic>
    </p:spTree>
    <p:extLst>
      <p:ext uri="{BB962C8B-B14F-4D97-AF65-F5344CB8AC3E}">
        <p14:creationId xmlns:p14="http://schemas.microsoft.com/office/powerpoint/2010/main" val="143925031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solidFill>
                  <a:schemeClr val="tx1"/>
                </a:solidFill>
              </a:rPr>
              <a:t>Bosques aleatorios</a:t>
            </a:r>
            <a:endParaRPr lang="es-ES_tradnl" dirty="0"/>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 dirty="0"/>
              <a:t>Hay dos formas de medir la importancia de un atributo:</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 dirty="0"/>
              <a:t> Por la disminución de la precisión del modelo si los valores de un atributo se permutan aleatoriamente. Permutar aleatoriamente los valores tiene el efecto de eliminar todo poder predictivo de esa variable. </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 dirty="0"/>
              <a:t>Por la disminución media en la puntuación de impureza (de Gini, entropía, etc.) para todos los nodos que fueron divididos por el atributo. Esto mide cuánto mejora la pureza de los nodos al incluir ese atributo. </a:t>
            </a:r>
            <a:endParaRPr lang="es-ES_tradnl" dirty="0"/>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25</a:t>
            </a:fld>
            <a:endParaRPr lang="en-US" sz="2800" dirty="0"/>
          </a:p>
        </p:txBody>
      </p:sp>
    </p:spTree>
    <p:extLst>
      <p:ext uri="{BB962C8B-B14F-4D97-AF65-F5344CB8AC3E}">
        <p14:creationId xmlns:p14="http://schemas.microsoft.com/office/powerpoint/2010/main" val="255553413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Redes Neuronal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Bo0sting</a:t>
            </a:r>
          </a:p>
        </p:txBody>
      </p:sp>
    </p:spTree>
    <p:extLst>
      <p:ext uri="{BB962C8B-B14F-4D97-AF65-F5344CB8AC3E}">
        <p14:creationId xmlns:p14="http://schemas.microsoft.com/office/powerpoint/2010/main" val="3941594936"/>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err="1">
                <a:solidFill>
                  <a:schemeClr val="tx1"/>
                </a:solidFill>
              </a:rPr>
              <a:t>Boosting</a:t>
            </a:r>
            <a:endParaRPr lang="es-ES_tradnl" dirty="0"/>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 dirty="0"/>
              <a:t>Este tipo de arquitecturas son ensambles que al igual que los vistos anteriormente, combinan varios predictores para hacer una mejor predicción. La principal diferencia es que en las arquitecturas que aplican </a:t>
            </a:r>
            <a:r>
              <a:rPr lang="es-ES" b="1" dirty="0" err="1">
                <a:solidFill>
                  <a:schemeClr val="accent1"/>
                </a:solidFill>
              </a:rPr>
              <a:t>Boosting</a:t>
            </a:r>
            <a:r>
              <a:rPr lang="es-ES" dirty="0"/>
              <a:t>, el entrenamiento de los predictores se da de forma secuencial. </a:t>
            </a:r>
          </a:p>
          <a:p>
            <a:pPr>
              <a:defRPr sz="4600">
                <a:latin typeface="Graphik Compact Regular"/>
                <a:ea typeface="Graphik Compact Regular"/>
                <a:cs typeface="Graphik Compact Regular"/>
                <a:sym typeface="Graphik Compact Regular"/>
              </a:defRPr>
            </a:pPr>
            <a:endParaRPr lang="es-ES" dirty="0"/>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27</a:t>
            </a:fld>
            <a:endParaRPr lang="en-US" sz="2800" dirty="0"/>
          </a:p>
        </p:txBody>
      </p:sp>
      <p:sp>
        <p:nvSpPr>
          <p:cNvPr id="4" name="Rectangle 3">
            <a:extLst>
              <a:ext uri="{FF2B5EF4-FFF2-40B4-BE49-F238E27FC236}">
                <a16:creationId xmlns:a16="http://schemas.microsoft.com/office/drawing/2014/main" id="{CE3CCFB2-B3CF-D207-ABA4-E277EB3227E5}"/>
              </a:ext>
            </a:extLst>
          </p:cNvPr>
          <p:cNvSpPr/>
          <p:nvPr/>
        </p:nvSpPr>
        <p:spPr>
          <a:xfrm>
            <a:off x="4421654" y="9131281"/>
            <a:ext cx="3675888" cy="1579920"/>
          </a:xfrm>
          <a:prstGeom prst="rect">
            <a:avLst/>
          </a:prstGeom>
          <a:solidFill>
            <a:schemeClr val="accent2">
              <a:lumMod val="40000"/>
              <a:lumOff val="60000"/>
            </a:schemeClr>
          </a:solidFill>
          <a:ln>
            <a:no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norm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s-ES_tradnl" sz="32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Entrenar un predictor sobre un conjunto de entrenamiento</a:t>
            </a:r>
          </a:p>
        </p:txBody>
      </p:sp>
      <p:sp>
        <p:nvSpPr>
          <p:cNvPr id="5" name="Rectangle 4">
            <a:extLst>
              <a:ext uri="{FF2B5EF4-FFF2-40B4-BE49-F238E27FC236}">
                <a16:creationId xmlns:a16="http://schemas.microsoft.com/office/drawing/2014/main" id="{CEA7FAAC-B32B-527D-F37B-B29BF39CC7C2}"/>
              </a:ext>
            </a:extLst>
          </p:cNvPr>
          <p:cNvSpPr/>
          <p:nvPr/>
        </p:nvSpPr>
        <p:spPr>
          <a:xfrm>
            <a:off x="10354056" y="9131281"/>
            <a:ext cx="3675888" cy="1579920"/>
          </a:xfrm>
          <a:prstGeom prst="rect">
            <a:avLst/>
          </a:prstGeom>
          <a:solidFill>
            <a:schemeClr val="accent2">
              <a:lumMod val="40000"/>
              <a:lumOff val="60000"/>
            </a:schemeClr>
          </a:solidFill>
          <a:ln>
            <a:no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norm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s-ES_tradnl" sz="32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Calcular los residuos</a:t>
            </a:r>
          </a:p>
        </p:txBody>
      </p:sp>
      <p:sp>
        <p:nvSpPr>
          <p:cNvPr id="6" name="Rectangle 5">
            <a:extLst>
              <a:ext uri="{FF2B5EF4-FFF2-40B4-BE49-F238E27FC236}">
                <a16:creationId xmlns:a16="http://schemas.microsoft.com/office/drawing/2014/main" id="{AF13415F-9B74-B05E-2610-5C23A29715A7}"/>
              </a:ext>
            </a:extLst>
          </p:cNvPr>
          <p:cNvSpPr/>
          <p:nvPr/>
        </p:nvSpPr>
        <p:spPr>
          <a:xfrm>
            <a:off x="16286458" y="9131281"/>
            <a:ext cx="3675888" cy="1579920"/>
          </a:xfrm>
          <a:prstGeom prst="rect">
            <a:avLst/>
          </a:prstGeom>
          <a:solidFill>
            <a:schemeClr val="accent2">
              <a:lumMod val="40000"/>
              <a:lumOff val="60000"/>
            </a:schemeClr>
          </a:solidFill>
          <a:ln>
            <a:no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norm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s-ES_tradnl" sz="3200" i="0"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Entrenar un predictor sobre los residuos del modelo previo</a:t>
            </a:r>
          </a:p>
        </p:txBody>
      </p:sp>
      <p:cxnSp>
        <p:nvCxnSpPr>
          <p:cNvPr id="8" name="Straight Arrow Connector 7">
            <a:extLst>
              <a:ext uri="{FF2B5EF4-FFF2-40B4-BE49-F238E27FC236}">
                <a16:creationId xmlns:a16="http://schemas.microsoft.com/office/drawing/2014/main" id="{16B55C3B-0ABF-23BF-AD14-8B95193ED369}"/>
              </a:ext>
            </a:extLst>
          </p:cNvPr>
          <p:cNvCxnSpPr>
            <a:cxnSpLocks/>
            <a:stCxn id="4" idx="3"/>
            <a:endCxn id="5" idx="1"/>
          </p:cNvCxnSpPr>
          <p:nvPr/>
        </p:nvCxnSpPr>
        <p:spPr>
          <a:xfrm>
            <a:off x="8097542" y="9921241"/>
            <a:ext cx="2256514" cy="0"/>
          </a:xfrm>
          <a:prstGeom prst="straightConnector1">
            <a:avLst/>
          </a:prstGeom>
          <a:ln w="57150">
            <a:solidFill>
              <a:schemeClr val="accent2">
                <a:lumMod val="50000"/>
              </a:schemeClr>
            </a:solidFill>
            <a:tailEnd type="triangle"/>
          </a:ln>
        </p:spPr>
        <p:style>
          <a:lnRef idx="1">
            <a:schemeClr val="accent5"/>
          </a:lnRef>
          <a:fillRef idx="0">
            <a:schemeClr val="accent5"/>
          </a:fillRef>
          <a:effectRef idx="0">
            <a:schemeClr val="accent5"/>
          </a:effectRef>
          <a:fontRef idx="minor">
            <a:schemeClr val="tx1"/>
          </a:fontRef>
        </p:style>
      </p:cxnSp>
      <p:cxnSp>
        <p:nvCxnSpPr>
          <p:cNvPr id="9" name="Straight Arrow Connector 8">
            <a:extLst>
              <a:ext uri="{FF2B5EF4-FFF2-40B4-BE49-F238E27FC236}">
                <a16:creationId xmlns:a16="http://schemas.microsoft.com/office/drawing/2014/main" id="{7EC3FE20-5F85-0997-523D-7D8943EBCB34}"/>
              </a:ext>
            </a:extLst>
          </p:cNvPr>
          <p:cNvCxnSpPr/>
          <p:nvPr/>
        </p:nvCxnSpPr>
        <p:spPr>
          <a:xfrm>
            <a:off x="14029944" y="9899905"/>
            <a:ext cx="2256514" cy="0"/>
          </a:xfrm>
          <a:prstGeom prst="straightConnector1">
            <a:avLst/>
          </a:prstGeom>
          <a:ln w="57150">
            <a:solidFill>
              <a:schemeClr val="accent2">
                <a:lumMod val="50000"/>
              </a:schemeClr>
            </a:solidFill>
            <a:tailEnd type="triangle"/>
          </a:ln>
        </p:spPr>
        <p:style>
          <a:lnRef idx="1">
            <a:schemeClr val="accent5"/>
          </a:lnRef>
          <a:fillRef idx="0">
            <a:schemeClr val="accent5"/>
          </a:fillRef>
          <a:effectRef idx="0">
            <a:schemeClr val="accent5"/>
          </a:effectRef>
          <a:fontRef idx="minor">
            <a:schemeClr val="tx1"/>
          </a:fontRef>
        </p:style>
      </p:cxnSp>
      <p:cxnSp>
        <p:nvCxnSpPr>
          <p:cNvPr id="11" name="Elbow Connector 10">
            <a:extLst>
              <a:ext uri="{FF2B5EF4-FFF2-40B4-BE49-F238E27FC236}">
                <a16:creationId xmlns:a16="http://schemas.microsoft.com/office/drawing/2014/main" id="{A3EA23A1-1708-D540-6CB3-A04B84325886}"/>
              </a:ext>
            </a:extLst>
          </p:cNvPr>
          <p:cNvCxnSpPr>
            <a:cxnSpLocks/>
            <a:stCxn id="6" idx="2"/>
            <a:endCxn id="5" idx="2"/>
          </p:cNvCxnSpPr>
          <p:nvPr/>
        </p:nvCxnSpPr>
        <p:spPr>
          <a:xfrm rot="5400000">
            <a:off x="15158201" y="7745000"/>
            <a:ext cx="12700" cy="5932402"/>
          </a:xfrm>
          <a:prstGeom prst="bentConnector3">
            <a:avLst>
              <a:gd name="adj1" fmla="val 8559181"/>
            </a:avLst>
          </a:prstGeom>
          <a:ln w="57150">
            <a:solidFill>
              <a:schemeClr val="accent2">
                <a:lumMod val="50000"/>
              </a:schemeClr>
            </a:solidFill>
            <a:tailEnd type="triangle"/>
          </a:ln>
        </p:spPr>
        <p:style>
          <a:lnRef idx="1">
            <a:schemeClr val="accent5"/>
          </a:lnRef>
          <a:fillRef idx="0">
            <a:schemeClr val="accent5"/>
          </a:fillRef>
          <a:effectRef idx="0">
            <a:schemeClr val="accent5"/>
          </a:effectRef>
          <a:fontRef idx="minor">
            <a:schemeClr val="tx1"/>
          </a:fontRef>
        </p:style>
      </p:cxnSp>
      <p:sp>
        <p:nvSpPr>
          <p:cNvPr id="18" name="Rectangle 17">
            <a:extLst>
              <a:ext uri="{FF2B5EF4-FFF2-40B4-BE49-F238E27FC236}">
                <a16:creationId xmlns:a16="http://schemas.microsoft.com/office/drawing/2014/main" id="{D907291F-7AA8-ED4F-2DCC-1FB4E0750CE0}"/>
              </a:ext>
            </a:extLst>
          </p:cNvPr>
          <p:cNvSpPr/>
          <p:nvPr/>
        </p:nvSpPr>
        <p:spPr>
          <a:xfrm>
            <a:off x="8680704" y="6123357"/>
            <a:ext cx="7022592" cy="2221139"/>
          </a:xfrm>
          <a:prstGeom prst="rect">
            <a:avLst/>
          </a:prstGeom>
          <a:solidFill>
            <a:schemeClr val="accent3">
              <a:lumMod val="60000"/>
              <a:lumOff val="40000"/>
            </a:schemeClr>
          </a:solidFill>
          <a:ln>
            <a:no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norm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s-ES_tradnl" sz="4000" i="1" u="none" strike="noStrike" cap="none" spc="-44" normalizeH="0" baseline="0" dirty="0">
                <a:ln>
                  <a:noFill/>
                </a:ln>
                <a:solidFill>
                  <a:schemeClr val="bg2">
                    <a:lumMod val="25000"/>
                  </a:schemeClr>
                </a:solidFill>
                <a:effectLst/>
                <a:uFillTx/>
                <a:latin typeface="Graphik Compact" pitchFamily="2" charset="0"/>
                <a:ea typeface="Graphik-SemiboldItalic"/>
                <a:cs typeface="Graphik-SemiboldItalic"/>
                <a:sym typeface="Graphik Semibold"/>
              </a:rPr>
              <a:t>Cada nuevo predictor que se agrega al ensamble intenta corregir a su predecesor.</a:t>
            </a:r>
          </a:p>
        </p:txBody>
      </p:sp>
    </p:spTree>
    <p:extLst>
      <p:ext uri="{BB962C8B-B14F-4D97-AF65-F5344CB8AC3E}">
        <p14:creationId xmlns:p14="http://schemas.microsoft.com/office/powerpoint/2010/main" val="59315794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err="1">
                <a:solidFill>
                  <a:schemeClr val="tx1"/>
                </a:solidFill>
              </a:rPr>
              <a:t>Boosting</a:t>
            </a:r>
            <a:endParaRPr lang="es-ES_tradnl" dirty="0"/>
          </a:p>
        </p:txBody>
      </p:sp>
      <mc:AlternateContent xmlns:mc="http://schemas.openxmlformats.org/markup-compatibility/2006" xmlns:a14="http://schemas.microsoft.com/office/drawing/2010/main">
        <mc:Choice Requires="a14">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2817845"/>
                <a:ext cx="21869400" cy="10222129"/>
              </a:xfrm>
              <a:prstGeom prst="rect">
                <a:avLst/>
              </a:prstGeom>
            </p:spPr>
            <p:txBody>
              <a:bodyPr>
                <a:normAutofit fontScale="77500" lnSpcReduction="20000"/>
              </a:bodyPr>
              <a:lstStyle/>
              <a:p>
                <a:pPr>
                  <a:defRPr sz="4600">
                    <a:latin typeface="Graphik Compact Regular"/>
                    <a:ea typeface="Graphik Compact Regular"/>
                    <a:cs typeface="Graphik Compact Regular"/>
                    <a:sym typeface="Graphik Compact Regular"/>
                  </a:defRPr>
                </a:pPr>
                <a:r>
                  <a:rPr lang="es-ES" dirty="0"/>
                  <a:t>Hay varios algoritmos de complejidad variable. El más sencillo de entender es </a:t>
                </a:r>
                <a:r>
                  <a:rPr lang="es-ES" b="1" dirty="0" err="1">
                    <a:solidFill>
                      <a:schemeClr val="accent5"/>
                    </a:solidFill>
                  </a:rPr>
                  <a:t>Adaboost</a:t>
                </a:r>
                <a:r>
                  <a:rPr lang="es-ES" dirty="0"/>
                  <a:t>.  El algoritmo de entrenamiento se puede simplificar a:</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 dirty="0"/>
                  <a:t>Se comienza con un conjunto de datos de entrenamiento y se asigna pesos iguales a todas las muestras de entrenamiento.</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 dirty="0"/>
                  <a:t>Se entrena un modelo (</a:t>
                </a:r>
                <a:r>
                  <a:rPr lang="es-ES" dirty="0" err="1"/>
                  <a:t>weak</a:t>
                </a:r>
                <a:r>
                  <a:rPr lang="es-ES" dirty="0"/>
                  <a:t> </a:t>
                </a:r>
                <a:r>
                  <a:rPr lang="es-ES" dirty="0" err="1"/>
                  <a:t>learner</a:t>
                </a:r>
                <a:r>
                  <a:rPr lang="es-ES" dirty="0"/>
                  <a:t>) utilizando el conjunto de datos de entrenamiento.</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 dirty="0"/>
                  <a:t>Se calcula el error del modelo débil al predecir el conjunto de entrenamiento. Las observaciones que fueron mal clasificadas por el modelo débil se ponderan más en el siguiente paso. </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 dirty="0"/>
                  <a:t>Se calcula un peso para el modelo débil en función de su precisión. Los modelos que hacen predicciones más precisas tienen un mayor peso en la predicción final.</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 dirty="0"/>
                  <a:t>Se actualizan los pesos de las instancias de entrenamiento. Las observaciones que fueron mal clasificadas por el modelo débil anterior reciben un peso mayor para que el siguiente modelo débil se enfoque más en ellas.</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 dirty="0"/>
                  <a:t>Se repiten los pasos 2-5 varias veces (generalmente de 50 a 100 iteraciones), cada vez construyendo un nuevo modelo débil y ajustando los pesos de las instancias.</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 dirty="0"/>
                  <a:t>Finalmente, se combinan las predicciones de todos los modelos débiles, ponderadas por sus pesos respectivos, para obtener la predicción final del modelo:</a:t>
                </a:r>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acc>
                        <m:accPr>
                          <m:chr m:val="̂"/>
                          <m:ctrlPr>
                            <a:rPr lang="es-ES" i="1">
                              <a:latin typeface="Cambria Math" panose="02040503050406030204" pitchFamily="18" charset="0"/>
                            </a:rPr>
                          </m:ctrlPr>
                        </m:accPr>
                        <m:e>
                          <m:r>
                            <a:rPr lang="en-US" i="1">
                              <a:latin typeface="Cambria Math" panose="02040503050406030204" pitchFamily="18" charset="0"/>
                            </a:rPr>
                            <m:t>𝐹</m:t>
                          </m:r>
                        </m:e>
                      </m:acc>
                      <m:r>
                        <a:rPr lang="en-US" b="0" i="1" smtClean="0">
                          <a:latin typeface="Cambria Math" panose="02040503050406030204" pitchFamily="18" charset="0"/>
                        </a:rPr>
                        <m:t>=</m:t>
                      </m:r>
                      <m:sSub>
                        <m:sSubPr>
                          <m:ctrlPr>
                            <a:rPr lang="es-ES" i="1">
                              <a:latin typeface="Cambria Math" panose="02040503050406030204" pitchFamily="18" charset="0"/>
                            </a:rPr>
                          </m:ctrlPr>
                        </m:sSub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1</m:t>
                              </m:r>
                            </m:sub>
                          </m:sSub>
                          <m:acc>
                            <m:accPr>
                              <m:chr m:val="̂"/>
                              <m:ctrlPr>
                                <a:rPr lang="es-ES" i="1">
                                  <a:latin typeface="Cambria Math" panose="02040503050406030204" pitchFamily="18" charset="0"/>
                                </a:rPr>
                              </m:ctrlPr>
                            </m:accPr>
                            <m:e>
                              <m:r>
                                <a:rPr lang="en-US" i="1">
                                  <a:latin typeface="Cambria Math" panose="02040503050406030204" pitchFamily="18" charset="0"/>
                                </a:rPr>
                                <m:t>𝑓</m:t>
                              </m:r>
                            </m:e>
                          </m:acc>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s-ES" i="1">
                              <a:latin typeface="Cambria Math" panose="02040503050406030204" pitchFamily="18" charset="0"/>
                            </a:rPr>
                          </m:ctrlPr>
                        </m:sSub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2</m:t>
                              </m:r>
                            </m:sub>
                          </m:sSub>
                          <m:acc>
                            <m:accPr>
                              <m:chr m:val="̂"/>
                              <m:ctrlPr>
                                <a:rPr lang="es-ES" i="1">
                                  <a:latin typeface="Cambria Math" panose="02040503050406030204" pitchFamily="18" charset="0"/>
                                </a:rPr>
                              </m:ctrlPr>
                            </m:accPr>
                            <m:e>
                              <m:r>
                                <a:rPr lang="en-US" i="1">
                                  <a:latin typeface="Cambria Math" panose="02040503050406030204" pitchFamily="18" charset="0"/>
                                </a:rPr>
                                <m:t>𝑓</m:t>
                              </m:r>
                            </m:e>
                          </m:acc>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s-ES" i="1">
                              <a:latin typeface="Cambria Math" panose="02040503050406030204" pitchFamily="18" charset="0"/>
                            </a:rPr>
                          </m:ctrlPr>
                        </m:sSub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𝑀</m:t>
                              </m:r>
                            </m:sub>
                          </m:sSub>
                          <m:acc>
                            <m:accPr>
                              <m:chr m:val="̂"/>
                              <m:ctrlPr>
                                <a:rPr lang="es-ES" i="1">
                                  <a:latin typeface="Cambria Math" panose="02040503050406030204" pitchFamily="18" charset="0"/>
                                </a:rPr>
                              </m:ctrlPr>
                            </m:accPr>
                            <m:e>
                              <m:r>
                                <a:rPr lang="en-US" i="1">
                                  <a:latin typeface="Cambria Math" panose="02040503050406030204" pitchFamily="18" charset="0"/>
                                </a:rPr>
                                <m:t>𝑓</m:t>
                              </m:r>
                            </m:e>
                          </m:acc>
                        </m:e>
                        <m:sub>
                          <m:r>
                            <a:rPr lang="en-US" b="0" i="1" smtClean="0">
                              <a:latin typeface="Cambria Math" panose="02040503050406030204" pitchFamily="18" charset="0"/>
                            </a:rPr>
                            <m:t>𝑀</m:t>
                          </m:r>
                        </m:sub>
                      </m:sSub>
                    </m:oMath>
                  </m:oMathPara>
                </a14:m>
                <a:endParaRPr lang="es-ES" dirty="0"/>
              </a:p>
              <a:p>
                <a:pPr>
                  <a:defRPr sz="4600">
                    <a:latin typeface="Graphik Compact Regular"/>
                    <a:ea typeface="Graphik Compact Regular"/>
                    <a:cs typeface="Graphik Compact Regular"/>
                    <a:sym typeface="Graphik Compact Regular"/>
                  </a:defRPr>
                </a:pPr>
                <a:endParaRPr lang="es-ES" dirty="0"/>
              </a:p>
            </p:txBody>
          </p:sp>
        </mc:Choice>
        <mc:Fallback xmlns="">
          <p:sp>
            <p:nvSpPr>
              <p:cNvPr id="212" name="Las redes neuronales originalmente se plantean como algoritmos matemáticos que tratan de imitar los cálculos complejos que tienen lugar en el cerebro.…"/>
              <p:cNvSpPr txBox="1">
                <a:spLocks noGrp="1" noRot="1" noChangeAspect="1" noMove="1" noResize="1" noEditPoints="1" noAdjustHandles="1" noChangeArrowheads="1" noChangeShapeType="1" noTextEdit="1"/>
              </p:cNvSpPr>
              <p:nvPr>
                <p:ph type="body" idx="1"/>
              </p:nvPr>
            </p:nvSpPr>
            <p:spPr>
              <a:xfrm>
                <a:off x="1257300" y="2817845"/>
                <a:ext cx="21869400" cy="10222129"/>
              </a:xfrm>
              <a:prstGeom prst="rect">
                <a:avLst/>
              </a:prstGeom>
              <a:blipFill>
                <a:blip r:embed="rId3"/>
                <a:stretch>
                  <a:fillRect l="-1102" t="-2109" b="-1613"/>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28</a:t>
            </a:fld>
            <a:endParaRPr lang="en-US" sz="2800" dirty="0"/>
          </a:p>
        </p:txBody>
      </p:sp>
    </p:spTree>
    <p:extLst>
      <p:ext uri="{BB962C8B-B14F-4D97-AF65-F5344CB8AC3E}">
        <p14:creationId xmlns:p14="http://schemas.microsoft.com/office/powerpoint/2010/main" val="243621053"/>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err="1">
                <a:solidFill>
                  <a:schemeClr val="tx1"/>
                </a:solidFill>
              </a:rPr>
              <a:t>Boosting</a:t>
            </a:r>
            <a:endParaRPr lang="es-ES_tradnl" dirty="0"/>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29</a:t>
            </a:fld>
            <a:endParaRPr lang="en-US" sz="2800" dirty="0"/>
          </a:p>
        </p:txBody>
      </p:sp>
      <p:pic>
        <p:nvPicPr>
          <p:cNvPr id="5" name="Picture 4" descr="A line with blue dots&#10;&#10;Description automatically generated">
            <a:extLst>
              <a:ext uri="{FF2B5EF4-FFF2-40B4-BE49-F238E27FC236}">
                <a16:creationId xmlns:a16="http://schemas.microsoft.com/office/drawing/2014/main" id="{E5B48135-8E58-B48B-89AF-CE06CA240C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473" y="3913512"/>
            <a:ext cx="6559288" cy="4099555"/>
          </a:xfrm>
          <a:prstGeom prst="rect">
            <a:avLst/>
          </a:prstGeom>
        </p:spPr>
      </p:pic>
      <p:pic>
        <p:nvPicPr>
          <p:cNvPr id="15" name="Picture 14" descr="A line of blue dots&#10;&#10;Description automatically generated">
            <a:extLst>
              <a:ext uri="{FF2B5EF4-FFF2-40B4-BE49-F238E27FC236}">
                <a16:creationId xmlns:a16="http://schemas.microsoft.com/office/drawing/2014/main" id="{0986516F-A831-F1EF-0CB9-4808C2E32C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6595" y="3891488"/>
            <a:ext cx="6559288" cy="4099555"/>
          </a:xfrm>
          <a:prstGeom prst="rect">
            <a:avLst/>
          </a:prstGeom>
        </p:spPr>
      </p:pic>
      <p:pic>
        <p:nvPicPr>
          <p:cNvPr id="18" name="Picture 17" descr="A blue and pink line with dots&#10;&#10;Description automatically generated">
            <a:extLst>
              <a:ext uri="{FF2B5EF4-FFF2-40B4-BE49-F238E27FC236}">
                <a16:creationId xmlns:a16="http://schemas.microsoft.com/office/drawing/2014/main" id="{AD54CD18-242F-52AE-F3B2-845245FE87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61024" y="3860205"/>
            <a:ext cx="6559288" cy="4099555"/>
          </a:xfrm>
          <a:prstGeom prst="rect">
            <a:avLst/>
          </a:prstGeom>
        </p:spPr>
      </p:pic>
      <p:pic>
        <p:nvPicPr>
          <p:cNvPr id="20" name="Picture 19" descr="A green dots on a black background&#10;&#10;Description automatically generated">
            <a:extLst>
              <a:ext uri="{FF2B5EF4-FFF2-40B4-BE49-F238E27FC236}">
                <a16:creationId xmlns:a16="http://schemas.microsoft.com/office/drawing/2014/main" id="{7D038EA3-D6C3-1926-F1B6-EA87ECA7E8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7461" y="7959760"/>
            <a:ext cx="6559288" cy="4099555"/>
          </a:xfrm>
          <a:prstGeom prst="rect">
            <a:avLst/>
          </a:prstGeom>
        </p:spPr>
      </p:pic>
      <p:pic>
        <p:nvPicPr>
          <p:cNvPr id="22" name="Picture 21" descr="A green and pink dotted line&#10;&#10;Description automatically generated">
            <a:extLst>
              <a:ext uri="{FF2B5EF4-FFF2-40B4-BE49-F238E27FC236}">
                <a16:creationId xmlns:a16="http://schemas.microsoft.com/office/drawing/2014/main" id="{ECB3735A-5F54-E764-FB04-7EB242D18C1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50503" y="7991043"/>
            <a:ext cx="6559288" cy="4099555"/>
          </a:xfrm>
          <a:prstGeom prst="rect">
            <a:avLst/>
          </a:prstGeom>
        </p:spPr>
      </p:pic>
      <p:pic>
        <p:nvPicPr>
          <p:cNvPr id="24" name="Picture 23" descr="A green and pink line with dots&#10;&#10;Description automatically generated">
            <a:extLst>
              <a:ext uri="{FF2B5EF4-FFF2-40B4-BE49-F238E27FC236}">
                <a16:creationId xmlns:a16="http://schemas.microsoft.com/office/drawing/2014/main" id="{CDA5D716-C81B-3ADE-45DF-9A47F07E118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461024" y="8013067"/>
            <a:ext cx="6559287" cy="4099555"/>
          </a:xfrm>
          <a:prstGeom prst="rect">
            <a:avLst/>
          </a:prstGeom>
        </p:spPr>
      </p:pic>
      <p:sp>
        <p:nvSpPr>
          <p:cNvPr id="25" name="TextBox 24">
            <a:extLst>
              <a:ext uri="{FF2B5EF4-FFF2-40B4-BE49-F238E27FC236}">
                <a16:creationId xmlns:a16="http://schemas.microsoft.com/office/drawing/2014/main" id="{6D0C601E-8C8D-EF52-8036-37BF7A96E393}"/>
              </a:ext>
            </a:extLst>
          </p:cNvPr>
          <p:cNvSpPr txBox="1"/>
          <p:nvPr/>
        </p:nvSpPr>
        <p:spPr>
          <a:xfrm>
            <a:off x="3525306" y="3395670"/>
            <a:ext cx="1963871"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Iteración 1</a:t>
            </a:r>
          </a:p>
        </p:txBody>
      </p:sp>
      <p:sp>
        <p:nvSpPr>
          <p:cNvPr id="26" name="TextBox 25">
            <a:extLst>
              <a:ext uri="{FF2B5EF4-FFF2-40B4-BE49-F238E27FC236}">
                <a16:creationId xmlns:a16="http://schemas.microsoft.com/office/drawing/2014/main" id="{CFCDD937-B926-D7F3-B5E6-40A40BC00637}"/>
              </a:ext>
            </a:extLst>
          </p:cNvPr>
          <p:cNvSpPr txBox="1"/>
          <p:nvPr/>
        </p:nvSpPr>
        <p:spPr>
          <a:xfrm>
            <a:off x="11358835" y="3401015"/>
            <a:ext cx="2027991"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Iteración 2</a:t>
            </a:r>
          </a:p>
        </p:txBody>
      </p:sp>
      <p:sp>
        <p:nvSpPr>
          <p:cNvPr id="27" name="TextBox 26">
            <a:extLst>
              <a:ext uri="{FF2B5EF4-FFF2-40B4-BE49-F238E27FC236}">
                <a16:creationId xmlns:a16="http://schemas.microsoft.com/office/drawing/2014/main" id="{EB7F1F8B-6CBB-D979-386A-A93B3932B4DF}"/>
              </a:ext>
            </a:extLst>
          </p:cNvPr>
          <p:cNvSpPr txBox="1"/>
          <p:nvPr/>
        </p:nvSpPr>
        <p:spPr>
          <a:xfrm>
            <a:off x="19256483" y="3401015"/>
            <a:ext cx="2044021" cy="5970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Iteración 3</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11AEEC1-2A42-B1E9-74CA-2B15AD509D03}"/>
                  </a:ext>
                </a:extLst>
              </p:cNvPr>
              <p:cNvSpPr txBox="1"/>
              <p:nvPr/>
            </p:nvSpPr>
            <p:spPr>
              <a:xfrm>
                <a:off x="2290972" y="11965276"/>
                <a:ext cx="4967258" cy="5478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200" b="0" i="0" u="none" strike="noStrike" cap="none" spc="-26" normalizeH="0" baseline="0" dirty="0">
                    <a:ln>
                      <a:noFill/>
                    </a:ln>
                    <a:solidFill>
                      <a:srgbClr val="000000"/>
                    </a:solidFill>
                    <a:effectLst/>
                    <a:uFillTx/>
                    <a:sym typeface="Graphik Compact Regular"/>
                  </a:rPr>
                  <a:t>Salida de ensamble: </a:t>
                </a:r>
                <a14:m>
                  <m:oMath xmlns:m="http://schemas.openxmlformats.org/officeDocument/2006/math">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𝐹</m:t>
                    </m:r>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2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𝛼</m:t>
                        </m:r>
                      </m:e>
                      <m:sub>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Sub>
                    <m:sSub>
                      <m:sSubPr>
                        <m:ctrlP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e>
                      <m:sub>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Sub>
                  </m:oMath>
                </a14:m>
                <a:endParaRPr kumimoji="0" lang="es-ES_tradnl" sz="3200" b="0" i="0" u="none" strike="noStrike" cap="none" spc="-26" normalizeH="0" baseline="0" dirty="0">
                  <a:ln>
                    <a:noFill/>
                  </a:ln>
                  <a:solidFill>
                    <a:srgbClr val="000000"/>
                  </a:solidFill>
                  <a:effectLst/>
                  <a:uFillTx/>
                  <a:sym typeface="Graphik Compact Regular"/>
                </a:endParaRPr>
              </a:p>
            </p:txBody>
          </p:sp>
        </mc:Choice>
        <mc:Fallback xmlns="">
          <p:sp>
            <p:nvSpPr>
              <p:cNvPr id="28" name="TextBox 27">
                <a:extLst>
                  <a:ext uri="{FF2B5EF4-FFF2-40B4-BE49-F238E27FC236}">
                    <a16:creationId xmlns:a16="http://schemas.microsoft.com/office/drawing/2014/main" id="{311AEEC1-2A42-B1E9-74CA-2B15AD509D03}"/>
                  </a:ext>
                </a:extLst>
              </p:cNvPr>
              <p:cNvSpPr txBox="1">
                <a:spLocks noRot="1" noChangeAspect="1" noMove="1" noResize="1" noEditPoints="1" noAdjustHandles="1" noChangeArrowheads="1" noChangeShapeType="1" noTextEdit="1"/>
              </p:cNvSpPr>
              <p:nvPr/>
            </p:nvSpPr>
            <p:spPr>
              <a:xfrm>
                <a:off x="2290972" y="11965276"/>
                <a:ext cx="4967258" cy="547842"/>
              </a:xfrm>
              <a:prstGeom prst="rect">
                <a:avLst/>
              </a:prstGeom>
              <a:blipFill>
                <a:blip r:embed="rId9"/>
                <a:stretch>
                  <a:fillRect l="-3316" t="-22727" b="-31818"/>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37C56ED-1332-10CA-C125-40E971209FDD}"/>
                  </a:ext>
                </a:extLst>
              </p:cNvPr>
              <p:cNvSpPr txBox="1"/>
              <p:nvPr/>
            </p:nvSpPr>
            <p:spPr>
              <a:xfrm>
                <a:off x="9315102" y="11965276"/>
                <a:ext cx="6387262" cy="5478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kumimoji="0" lang="es-ES_tradnl" sz="3200" b="0" i="0" u="none" strike="noStrike" cap="none" spc="-26" normalizeH="0" baseline="0" dirty="0">
                    <a:ln>
                      <a:noFill/>
                    </a:ln>
                    <a:solidFill>
                      <a:srgbClr val="000000"/>
                    </a:solidFill>
                    <a:effectLst/>
                    <a:uFillTx/>
                    <a:sym typeface="Graphik Compact Regular"/>
                  </a:rPr>
                  <a:t>Salida de ensamble: </a:t>
                </a:r>
                <a14:m>
                  <m:oMath xmlns:m="http://schemas.openxmlformats.org/officeDocument/2006/math">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𝐹</m:t>
                    </m:r>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2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𝛼</m:t>
                        </m:r>
                      </m:e>
                      <m:sub>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Sub>
                    <m:sSub>
                      <m:sSubPr>
                        <m:ctrlP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e>
                      <m:sub>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Sub>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n-US" sz="3200" i="1">
                            <a:latin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𝛼</m:t>
                        </m:r>
                      </m:e>
                      <m:sub>
                        <m:r>
                          <a:rPr lang="en-US" sz="3200" b="0" i="1" smtClean="0">
                            <a:latin typeface="Cambria Math" panose="02040503050406030204" pitchFamily="18" charset="0"/>
                            <a:ea typeface="Cambria Math" panose="02040503050406030204" pitchFamily="18" charset="0"/>
                          </a:rPr>
                          <m:t>2</m:t>
                        </m:r>
                      </m:sub>
                    </m:sSub>
                    <m:sSub>
                      <m:sSubPr>
                        <m:ctrlPr>
                          <a:rPr lang="en-US" sz="3200" i="1">
                            <a:latin typeface="Cambria Math" panose="02040503050406030204" pitchFamily="18" charset="0"/>
                          </a:rPr>
                        </m:ctrlPr>
                      </m:sSubPr>
                      <m:e>
                        <m:r>
                          <a:rPr lang="en-US" sz="3200" i="1">
                            <a:latin typeface="Cambria Math" panose="02040503050406030204" pitchFamily="18" charset="0"/>
                          </a:rPr>
                          <m:t>𝑓</m:t>
                        </m:r>
                      </m:e>
                      <m:sub>
                        <m:r>
                          <a:rPr lang="en-US" sz="3200" b="0" i="1" smtClean="0">
                            <a:latin typeface="Cambria Math" panose="02040503050406030204" pitchFamily="18" charset="0"/>
                          </a:rPr>
                          <m:t>2</m:t>
                        </m:r>
                      </m:sub>
                    </m:sSub>
                  </m:oMath>
                </a14:m>
                <a:endParaRPr kumimoji="0" lang="es-ES_tradnl" sz="3200" b="0" i="0" u="none" strike="noStrike" cap="none" spc="-26" normalizeH="0" baseline="0" dirty="0">
                  <a:ln>
                    <a:noFill/>
                  </a:ln>
                  <a:solidFill>
                    <a:srgbClr val="000000"/>
                  </a:solidFill>
                  <a:effectLst/>
                  <a:uFillTx/>
                  <a:sym typeface="Graphik Compact Regular"/>
                </a:endParaRPr>
              </a:p>
            </p:txBody>
          </p:sp>
        </mc:Choice>
        <mc:Fallback xmlns="">
          <p:sp>
            <p:nvSpPr>
              <p:cNvPr id="29" name="TextBox 28">
                <a:extLst>
                  <a:ext uri="{FF2B5EF4-FFF2-40B4-BE49-F238E27FC236}">
                    <a16:creationId xmlns:a16="http://schemas.microsoft.com/office/drawing/2014/main" id="{837C56ED-1332-10CA-C125-40E971209FDD}"/>
                  </a:ext>
                </a:extLst>
              </p:cNvPr>
              <p:cNvSpPr txBox="1">
                <a:spLocks noRot="1" noChangeAspect="1" noMove="1" noResize="1" noEditPoints="1" noAdjustHandles="1" noChangeArrowheads="1" noChangeShapeType="1" noTextEdit="1"/>
              </p:cNvSpPr>
              <p:nvPr/>
            </p:nvSpPr>
            <p:spPr>
              <a:xfrm>
                <a:off x="9315102" y="11965276"/>
                <a:ext cx="6387262" cy="547842"/>
              </a:xfrm>
              <a:prstGeom prst="rect">
                <a:avLst/>
              </a:prstGeom>
              <a:blipFill>
                <a:blip r:embed="rId10"/>
                <a:stretch>
                  <a:fillRect l="-1389" t="-22727" b="-31818"/>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4CA24BE-8BFE-8C96-621A-D7BACE10825E}"/>
                  </a:ext>
                </a:extLst>
              </p:cNvPr>
              <p:cNvSpPr txBox="1"/>
              <p:nvPr/>
            </p:nvSpPr>
            <p:spPr>
              <a:xfrm>
                <a:off x="16229712" y="12006008"/>
                <a:ext cx="7492820" cy="5478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kumimoji="0" lang="es-ES_tradnl" sz="3200" b="0" i="0" u="none" strike="noStrike" cap="none" spc="-26" normalizeH="0" baseline="0" dirty="0">
                    <a:ln>
                      <a:noFill/>
                    </a:ln>
                    <a:solidFill>
                      <a:srgbClr val="000000"/>
                    </a:solidFill>
                    <a:effectLst/>
                    <a:uFillTx/>
                    <a:sym typeface="Graphik Compact Regular"/>
                  </a:rPr>
                  <a:t>Salida de ensamble: </a:t>
                </a:r>
                <a14:m>
                  <m:oMath xmlns:m="http://schemas.openxmlformats.org/officeDocument/2006/math">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𝐹</m:t>
                    </m:r>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2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𝛼</m:t>
                        </m:r>
                      </m:e>
                      <m:sub>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Sub>
                    <m:sSub>
                      <m:sSubPr>
                        <m:ctrlP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e>
                      <m:sub>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Sub>
                    <m:r>
                      <a:rPr kumimoji="0" lang="en-US" sz="32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n-US" sz="3200" i="1">
                            <a:latin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𝛼</m:t>
                        </m:r>
                      </m:e>
                      <m:sub>
                        <m:r>
                          <a:rPr lang="en-US" sz="3200" b="0" i="1" smtClean="0">
                            <a:latin typeface="Cambria Math" panose="02040503050406030204" pitchFamily="18" charset="0"/>
                            <a:ea typeface="Cambria Math" panose="02040503050406030204" pitchFamily="18" charset="0"/>
                          </a:rPr>
                          <m:t>2</m:t>
                        </m:r>
                      </m:sub>
                    </m:sSub>
                    <m:sSub>
                      <m:sSubPr>
                        <m:ctrlPr>
                          <a:rPr lang="en-US" sz="3200" i="1">
                            <a:latin typeface="Cambria Math" panose="02040503050406030204" pitchFamily="18" charset="0"/>
                          </a:rPr>
                        </m:ctrlPr>
                      </m:sSubPr>
                      <m:e>
                        <m:r>
                          <a:rPr lang="en-US" sz="3200" i="1">
                            <a:latin typeface="Cambria Math" panose="02040503050406030204" pitchFamily="18" charset="0"/>
                          </a:rPr>
                          <m:t>𝑓</m:t>
                        </m:r>
                      </m:e>
                      <m:sub>
                        <m:r>
                          <a:rPr lang="en-US" sz="3200" b="0" i="1" smtClean="0">
                            <a:latin typeface="Cambria Math" panose="02040503050406030204" pitchFamily="18" charset="0"/>
                          </a:rPr>
                          <m:t>2</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𝛼</m:t>
                        </m:r>
                      </m:e>
                      <m:sub>
                        <m:r>
                          <a:rPr lang="en-US" sz="3200" b="0" i="1" smtClean="0">
                            <a:latin typeface="Cambria Math" panose="02040503050406030204" pitchFamily="18" charset="0"/>
                            <a:ea typeface="Cambria Math" panose="02040503050406030204" pitchFamily="18" charset="0"/>
                          </a:rPr>
                          <m:t>3</m:t>
                        </m:r>
                      </m:sub>
                    </m:sSub>
                    <m:sSub>
                      <m:sSubPr>
                        <m:ctrlPr>
                          <a:rPr lang="en-US" sz="3200" i="1">
                            <a:latin typeface="Cambria Math" panose="02040503050406030204" pitchFamily="18" charset="0"/>
                          </a:rPr>
                        </m:ctrlPr>
                      </m:sSubPr>
                      <m:e>
                        <m:r>
                          <a:rPr lang="en-US" sz="3200" i="1">
                            <a:latin typeface="Cambria Math" panose="02040503050406030204" pitchFamily="18" charset="0"/>
                          </a:rPr>
                          <m:t>𝑓</m:t>
                        </m:r>
                      </m:e>
                      <m:sub>
                        <m:r>
                          <a:rPr lang="en-US" sz="3200" b="0" i="1" smtClean="0">
                            <a:latin typeface="Cambria Math" panose="02040503050406030204" pitchFamily="18" charset="0"/>
                          </a:rPr>
                          <m:t>3</m:t>
                        </m:r>
                      </m:sub>
                    </m:sSub>
                  </m:oMath>
                </a14:m>
                <a:endParaRPr kumimoji="0" lang="es-ES_tradnl" sz="3200" b="0" i="0" u="none" strike="noStrike" cap="none" spc="-26" normalizeH="0" baseline="0" dirty="0">
                  <a:ln>
                    <a:noFill/>
                  </a:ln>
                  <a:solidFill>
                    <a:srgbClr val="000000"/>
                  </a:solidFill>
                  <a:effectLst/>
                  <a:uFillTx/>
                  <a:sym typeface="Graphik Compact Regular"/>
                </a:endParaRPr>
              </a:p>
            </p:txBody>
          </p:sp>
        </mc:Choice>
        <mc:Fallback xmlns="">
          <p:sp>
            <p:nvSpPr>
              <p:cNvPr id="30" name="TextBox 29">
                <a:extLst>
                  <a:ext uri="{FF2B5EF4-FFF2-40B4-BE49-F238E27FC236}">
                    <a16:creationId xmlns:a16="http://schemas.microsoft.com/office/drawing/2014/main" id="{34CA24BE-8BFE-8C96-621A-D7BACE10825E}"/>
                  </a:ext>
                </a:extLst>
              </p:cNvPr>
              <p:cNvSpPr txBox="1">
                <a:spLocks noRot="1" noChangeAspect="1" noMove="1" noResize="1" noEditPoints="1" noAdjustHandles="1" noChangeArrowheads="1" noChangeShapeType="1" noTextEdit="1"/>
              </p:cNvSpPr>
              <p:nvPr/>
            </p:nvSpPr>
            <p:spPr>
              <a:xfrm>
                <a:off x="16229712" y="12006008"/>
                <a:ext cx="7492820" cy="547842"/>
              </a:xfrm>
              <a:prstGeom prst="rect">
                <a:avLst/>
              </a:prstGeom>
              <a:blipFill>
                <a:blip r:embed="rId11"/>
                <a:stretch>
                  <a:fillRect l="-2030" t="-20455" b="-31818"/>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03E2238-7484-B872-C26C-E9B565ACFD1D}"/>
                  </a:ext>
                </a:extLst>
              </p:cNvPr>
              <p:cNvSpPr txBox="1"/>
              <p:nvPr/>
            </p:nvSpPr>
            <p:spPr>
              <a:xfrm>
                <a:off x="6395148" y="4277338"/>
                <a:ext cx="863082"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sz="4000" b="0" i="1" u="none" strike="noStrike" cap="none" spc="-26" normalizeH="0" baseline="0" smtClean="0">
                              <a:ln>
                                <a:noFill/>
                              </a:ln>
                              <a:solidFill>
                                <a:schemeClr val="accent6"/>
                              </a:solidFill>
                              <a:effectLst/>
                              <a:uFillTx/>
                              <a:latin typeface="Cambria Math" panose="02040503050406030204" pitchFamily="18" charset="0"/>
                              <a:sym typeface="Graphik Compact Regular"/>
                            </a:rPr>
                          </m:ctrlPr>
                        </m:sSubPr>
                        <m:e>
                          <m:r>
                            <a:rPr kumimoji="0" lang="en-US" sz="4000" b="0" i="1" u="none" strike="noStrike" cap="none" spc="-26" normalizeH="0" baseline="0" smtClean="0">
                              <a:ln>
                                <a:noFill/>
                              </a:ln>
                              <a:solidFill>
                                <a:schemeClr val="accent6"/>
                              </a:solidFill>
                              <a:effectLst/>
                              <a:uFillTx/>
                              <a:latin typeface="Cambria Math" panose="02040503050406030204" pitchFamily="18" charset="0"/>
                              <a:sym typeface="Graphik Compact Regular"/>
                            </a:rPr>
                            <m:t>𝑓</m:t>
                          </m:r>
                        </m:e>
                        <m:sub>
                          <m:r>
                            <a:rPr kumimoji="0" lang="en-US" sz="4000" b="0" i="1" u="none" strike="noStrike" cap="none" spc="-26" normalizeH="0" baseline="0" smtClean="0">
                              <a:ln>
                                <a:noFill/>
                              </a:ln>
                              <a:solidFill>
                                <a:schemeClr val="accent6"/>
                              </a:solidFill>
                              <a:effectLst/>
                              <a:uFillTx/>
                              <a:latin typeface="Cambria Math" panose="02040503050406030204" pitchFamily="18" charset="0"/>
                              <a:sym typeface="Graphik Compact Regular"/>
                            </a:rPr>
                            <m:t>1</m:t>
                          </m:r>
                        </m:sub>
                      </m:sSub>
                    </m:oMath>
                  </m:oMathPara>
                </a14:m>
                <a:endParaRPr lang="es-ES_tradnl" sz="3600" dirty="0">
                  <a:solidFill>
                    <a:schemeClr val="accent6"/>
                  </a:solidFill>
                </a:endParaRPr>
              </a:p>
            </p:txBody>
          </p:sp>
        </mc:Choice>
        <mc:Fallback xmlns="">
          <p:sp>
            <p:nvSpPr>
              <p:cNvPr id="34" name="TextBox 33">
                <a:extLst>
                  <a:ext uri="{FF2B5EF4-FFF2-40B4-BE49-F238E27FC236}">
                    <a16:creationId xmlns:a16="http://schemas.microsoft.com/office/drawing/2014/main" id="{803E2238-7484-B872-C26C-E9B565ACFD1D}"/>
                  </a:ext>
                </a:extLst>
              </p:cNvPr>
              <p:cNvSpPr txBox="1">
                <a:spLocks noRot="1" noChangeAspect="1" noMove="1" noResize="1" noEditPoints="1" noAdjustHandles="1" noChangeArrowheads="1" noChangeShapeType="1" noTextEdit="1"/>
              </p:cNvSpPr>
              <p:nvPr/>
            </p:nvSpPr>
            <p:spPr>
              <a:xfrm>
                <a:off x="6395148" y="4277338"/>
                <a:ext cx="863082" cy="584775"/>
              </a:xfrm>
              <a:prstGeom prst="rect">
                <a:avLst/>
              </a:prstGeom>
              <a:blipFill>
                <a:blip r:embed="rId12"/>
                <a:stretch>
                  <a:fillRect l="-7246" t="-6250" b="-29167"/>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9097074-055F-23FB-F21C-68705702593E}"/>
                  </a:ext>
                </a:extLst>
              </p:cNvPr>
              <p:cNvSpPr txBox="1"/>
              <p:nvPr/>
            </p:nvSpPr>
            <p:spPr>
              <a:xfrm>
                <a:off x="14291957" y="4277337"/>
                <a:ext cx="863082"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sz="4000" b="0" i="1" u="none" strike="noStrike" cap="none" spc="-26" normalizeH="0" baseline="0" smtClean="0">
                              <a:ln>
                                <a:noFill/>
                              </a:ln>
                              <a:solidFill>
                                <a:schemeClr val="accent6"/>
                              </a:solidFill>
                              <a:effectLst/>
                              <a:uFillTx/>
                              <a:latin typeface="Cambria Math" panose="02040503050406030204" pitchFamily="18" charset="0"/>
                              <a:sym typeface="Graphik Compact Regular"/>
                            </a:rPr>
                          </m:ctrlPr>
                        </m:sSubPr>
                        <m:e>
                          <m:r>
                            <a:rPr kumimoji="0" lang="en-US" sz="4000" b="0" i="1" u="none" strike="noStrike" cap="none" spc="-26" normalizeH="0" baseline="0" smtClean="0">
                              <a:ln>
                                <a:noFill/>
                              </a:ln>
                              <a:solidFill>
                                <a:schemeClr val="accent6"/>
                              </a:solidFill>
                              <a:effectLst/>
                              <a:uFillTx/>
                              <a:latin typeface="Cambria Math" panose="02040503050406030204" pitchFamily="18" charset="0"/>
                              <a:sym typeface="Graphik Compact Regular"/>
                            </a:rPr>
                            <m:t>𝑓</m:t>
                          </m:r>
                        </m:e>
                        <m:sub>
                          <m:r>
                            <a:rPr kumimoji="0" lang="en-US" sz="4000" b="0" i="1" u="none" strike="noStrike" cap="none" spc="-26" normalizeH="0" baseline="0" smtClean="0">
                              <a:ln>
                                <a:noFill/>
                              </a:ln>
                              <a:solidFill>
                                <a:schemeClr val="accent6"/>
                              </a:solidFill>
                              <a:effectLst/>
                              <a:uFillTx/>
                              <a:latin typeface="Cambria Math" panose="02040503050406030204" pitchFamily="18" charset="0"/>
                              <a:sym typeface="Graphik Compact Regular"/>
                            </a:rPr>
                            <m:t>2</m:t>
                          </m:r>
                        </m:sub>
                      </m:sSub>
                    </m:oMath>
                  </m:oMathPara>
                </a14:m>
                <a:endParaRPr lang="es-ES_tradnl" sz="3600" dirty="0">
                  <a:solidFill>
                    <a:schemeClr val="accent6"/>
                  </a:solidFill>
                </a:endParaRPr>
              </a:p>
            </p:txBody>
          </p:sp>
        </mc:Choice>
        <mc:Fallback xmlns="">
          <p:sp>
            <p:nvSpPr>
              <p:cNvPr id="35" name="TextBox 34">
                <a:extLst>
                  <a:ext uri="{FF2B5EF4-FFF2-40B4-BE49-F238E27FC236}">
                    <a16:creationId xmlns:a16="http://schemas.microsoft.com/office/drawing/2014/main" id="{09097074-055F-23FB-F21C-68705702593E}"/>
                  </a:ext>
                </a:extLst>
              </p:cNvPr>
              <p:cNvSpPr txBox="1">
                <a:spLocks noRot="1" noChangeAspect="1" noMove="1" noResize="1" noEditPoints="1" noAdjustHandles="1" noChangeArrowheads="1" noChangeShapeType="1" noTextEdit="1"/>
              </p:cNvSpPr>
              <p:nvPr/>
            </p:nvSpPr>
            <p:spPr>
              <a:xfrm>
                <a:off x="14291957" y="4277337"/>
                <a:ext cx="863082" cy="584775"/>
              </a:xfrm>
              <a:prstGeom prst="rect">
                <a:avLst/>
              </a:prstGeom>
              <a:blipFill>
                <a:blip r:embed="rId13"/>
                <a:stretch>
                  <a:fillRect l="-8696" t="-6250" b="-29167"/>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3D4D01E-0F12-B250-C917-28B80E039884}"/>
                  </a:ext>
                </a:extLst>
              </p:cNvPr>
              <p:cNvSpPr txBox="1"/>
              <p:nvPr/>
            </p:nvSpPr>
            <p:spPr>
              <a:xfrm>
                <a:off x="17797696" y="4277336"/>
                <a:ext cx="863082"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sz="4000" b="0" i="1" u="none" strike="noStrike" cap="none" spc="-26" normalizeH="0" baseline="0" smtClean="0">
                              <a:ln>
                                <a:noFill/>
                              </a:ln>
                              <a:solidFill>
                                <a:schemeClr val="accent6"/>
                              </a:solidFill>
                              <a:effectLst/>
                              <a:uFillTx/>
                              <a:latin typeface="Cambria Math" panose="02040503050406030204" pitchFamily="18" charset="0"/>
                              <a:sym typeface="Graphik Compact Regular"/>
                            </a:rPr>
                          </m:ctrlPr>
                        </m:sSubPr>
                        <m:e>
                          <m:r>
                            <a:rPr kumimoji="0" lang="en-US" sz="4000" b="0" i="1" u="none" strike="noStrike" cap="none" spc="-26" normalizeH="0" baseline="0" smtClean="0">
                              <a:ln>
                                <a:noFill/>
                              </a:ln>
                              <a:solidFill>
                                <a:schemeClr val="accent6"/>
                              </a:solidFill>
                              <a:effectLst/>
                              <a:uFillTx/>
                              <a:latin typeface="Cambria Math" panose="02040503050406030204" pitchFamily="18" charset="0"/>
                              <a:sym typeface="Graphik Compact Regular"/>
                            </a:rPr>
                            <m:t>𝑓</m:t>
                          </m:r>
                        </m:e>
                        <m:sub>
                          <m:r>
                            <a:rPr kumimoji="0" lang="en-US" sz="4000" b="0" i="1" u="none" strike="noStrike" cap="none" spc="-26" normalizeH="0" baseline="0" smtClean="0">
                              <a:ln>
                                <a:noFill/>
                              </a:ln>
                              <a:solidFill>
                                <a:schemeClr val="accent6"/>
                              </a:solidFill>
                              <a:effectLst/>
                              <a:uFillTx/>
                              <a:latin typeface="Cambria Math" panose="02040503050406030204" pitchFamily="18" charset="0"/>
                              <a:sym typeface="Graphik Compact Regular"/>
                            </a:rPr>
                            <m:t>3</m:t>
                          </m:r>
                        </m:sub>
                      </m:sSub>
                    </m:oMath>
                  </m:oMathPara>
                </a14:m>
                <a:endParaRPr lang="es-ES_tradnl" sz="3600" dirty="0">
                  <a:solidFill>
                    <a:schemeClr val="accent6"/>
                  </a:solidFill>
                </a:endParaRPr>
              </a:p>
            </p:txBody>
          </p:sp>
        </mc:Choice>
        <mc:Fallback xmlns="">
          <p:sp>
            <p:nvSpPr>
              <p:cNvPr id="36" name="TextBox 35">
                <a:extLst>
                  <a:ext uri="{FF2B5EF4-FFF2-40B4-BE49-F238E27FC236}">
                    <a16:creationId xmlns:a16="http://schemas.microsoft.com/office/drawing/2014/main" id="{43D4D01E-0F12-B250-C917-28B80E039884}"/>
                  </a:ext>
                </a:extLst>
              </p:cNvPr>
              <p:cNvSpPr txBox="1">
                <a:spLocks noRot="1" noChangeAspect="1" noMove="1" noResize="1" noEditPoints="1" noAdjustHandles="1" noChangeArrowheads="1" noChangeShapeType="1" noTextEdit="1"/>
              </p:cNvSpPr>
              <p:nvPr/>
            </p:nvSpPr>
            <p:spPr>
              <a:xfrm>
                <a:off x="17797696" y="4277336"/>
                <a:ext cx="863082" cy="584775"/>
              </a:xfrm>
              <a:prstGeom prst="rect">
                <a:avLst/>
              </a:prstGeom>
              <a:blipFill>
                <a:blip r:embed="rId14"/>
                <a:stretch>
                  <a:fillRect l="-8696" t="-6250" b="-29167"/>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8CB77A5-76FB-7AC4-8F42-81007B06207B}"/>
                  </a:ext>
                </a:extLst>
              </p:cNvPr>
              <p:cNvSpPr txBox="1"/>
              <p:nvPr/>
            </p:nvSpPr>
            <p:spPr>
              <a:xfrm>
                <a:off x="4277105" y="10255831"/>
                <a:ext cx="863082" cy="4370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𝛼</m:t>
                          </m:r>
                        </m:e>
                        <m:sub>
                          <m:r>
                            <a:rPr lang="en-US" sz="2800" i="1">
                              <a:solidFill>
                                <a:schemeClr val="accent6"/>
                              </a:solidFill>
                              <a:latin typeface="Cambria Math" panose="02040503050406030204" pitchFamily="18" charset="0"/>
                            </a:rPr>
                            <m:t>1</m:t>
                          </m:r>
                        </m:sub>
                      </m:sSub>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𝑓</m:t>
                          </m:r>
                        </m:e>
                        <m:sub>
                          <m:r>
                            <a:rPr lang="en-US" sz="2800" i="1">
                              <a:solidFill>
                                <a:schemeClr val="accent6"/>
                              </a:solidFill>
                              <a:latin typeface="Cambria Math" panose="02040503050406030204" pitchFamily="18" charset="0"/>
                            </a:rPr>
                            <m:t>1</m:t>
                          </m:r>
                        </m:sub>
                      </m:sSub>
                    </m:oMath>
                  </m:oMathPara>
                </a14:m>
                <a:endParaRPr lang="es-ES_tradnl" sz="2400" dirty="0">
                  <a:solidFill>
                    <a:schemeClr val="accent6"/>
                  </a:solidFill>
                </a:endParaRPr>
              </a:p>
            </p:txBody>
          </p:sp>
        </mc:Choice>
        <mc:Fallback xmlns="">
          <p:sp>
            <p:nvSpPr>
              <p:cNvPr id="37" name="TextBox 36">
                <a:extLst>
                  <a:ext uri="{FF2B5EF4-FFF2-40B4-BE49-F238E27FC236}">
                    <a16:creationId xmlns:a16="http://schemas.microsoft.com/office/drawing/2014/main" id="{A8CB77A5-76FB-7AC4-8F42-81007B06207B}"/>
                  </a:ext>
                </a:extLst>
              </p:cNvPr>
              <p:cNvSpPr txBox="1">
                <a:spLocks noRot="1" noChangeAspect="1" noMove="1" noResize="1" noEditPoints="1" noAdjustHandles="1" noChangeArrowheads="1" noChangeShapeType="1" noTextEdit="1"/>
              </p:cNvSpPr>
              <p:nvPr/>
            </p:nvSpPr>
            <p:spPr>
              <a:xfrm>
                <a:off x="4277105" y="10255831"/>
                <a:ext cx="863082" cy="437043"/>
              </a:xfrm>
              <a:prstGeom prst="rect">
                <a:avLst/>
              </a:prstGeom>
              <a:blipFill>
                <a:blip r:embed="rId15"/>
                <a:stretch>
                  <a:fillRect l="-1449" t="-5714" b="-28571"/>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D73C424-A91C-CD34-062D-EC45069B4D20}"/>
                  </a:ext>
                </a:extLst>
              </p:cNvPr>
              <p:cNvSpPr txBox="1"/>
              <p:nvPr/>
            </p:nvSpPr>
            <p:spPr>
              <a:xfrm>
                <a:off x="11100334" y="10314985"/>
                <a:ext cx="2816798" cy="4370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𝛼</m:t>
                          </m:r>
                        </m:e>
                        <m:sub>
                          <m:r>
                            <a:rPr lang="en-US" sz="2800" i="1">
                              <a:solidFill>
                                <a:schemeClr val="accent6"/>
                              </a:solidFill>
                              <a:latin typeface="Cambria Math" panose="02040503050406030204" pitchFamily="18" charset="0"/>
                            </a:rPr>
                            <m:t>1</m:t>
                          </m:r>
                        </m:sub>
                      </m:sSub>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𝑓</m:t>
                          </m:r>
                        </m:e>
                        <m:sub>
                          <m:r>
                            <a:rPr lang="en-US" sz="2800" i="1">
                              <a:solidFill>
                                <a:schemeClr val="accent6"/>
                              </a:solidFill>
                              <a:latin typeface="Cambria Math" panose="02040503050406030204" pitchFamily="18" charset="0"/>
                            </a:rPr>
                            <m:t>1</m:t>
                          </m:r>
                        </m:sub>
                      </m:sSub>
                      <m:r>
                        <a:rPr lang="en-US" sz="2800" b="0" i="1" smtClean="0">
                          <a:solidFill>
                            <a:schemeClr val="accent6"/>
                          </a:solidFill>
                          <a:latin typeface="Cambria Math" panose="02040503050406030204" pitchFamily="18" charset="0"/>
                        </a:rPr>
                        <m:t>+</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𝛼</m:t>
                          </m:r>
                        </m:e>
                        <m:sub>
                          <m:r>
                            <a:rPr lang="en-US" sz="2800" b="0" i="1" smtClean="0">
                              <a:solidFill>
                                <a:schemeClr val="accent6"/>
                              </a:solidFill>
                              <a:latin typeface="Cambria Math" panose="02040503050406030204" pitchFamily="18" charset="0"/>
                              <a:ea typeface="Cambria Math" panose="02040503050406030204" pitchFamily="18" charset="0"/>
                            </a:rPr>
                            <m:t>2</m:t>
                          </m:r>
                        </m:sub>
                      </m:sSub>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𝑓</m:t>
                          </m:r>
                        </m:e>
                        <m:sub>
                          <m:r>
                            <a:rPr lang="en-US" sz="2800" b="0" i="1" smtClean="0">
                              <a:solidFill>
                                <a:schemeClr val="accent6"/>
                              </a:solidFill>
                              <a:latin typeface="Cambria Math" panose="02040503050406030204" pitchFamily="18" charset="0"/>
                            </a:rPr>
                            <m:t>2</m:t>
                          </m:r>
                        </m:sub>
                      </m:sSub>
                    </m:oMath>
                  </m:oMathPara>
                </a14:m>
                <a:endParaRPr lang="es-ES_tradnl" sz="2400" dirty="0">
                  <a:solidFill>
                    <a:schemeClr val="accent6"/>
                  </a:solidFill>
                </a:endParaRPr>
              </a:p>
            </p:txBody>
          </p:sp>
        </mc:Choice>
        <mc:Fallback xmlns="">
          <p:sp>
            <p:nvSpPr>
              <p:cNvPr id="38" name="TextBox 37">
                <a:extLst>
                  <a:ext uri="{FF2B5EF4-FFF2-40B4-BE49-F238E27FC236}">
                    <a16:creationId xmlns:a16="http://schemas.microsoft.com/office/drawing/2014/main" id="{9D73C424-A91C-CD34-062D-EC45069B4D20}"/>
                  </a:ext>
                </a:extLst>
              </p:cNvPr>
              <p:cNvSpPr txBox="1">
                <a:spLocks noRot="1" noChangeAspect="1" noMove="1" noResize="1" noEditPoints="1" noAdjustHandles="1" noChangeArrowheads="1" noChangeShapeType="1" noTextEdit="1"/>
              </p:cNvSpPr>
              <p:nvPr/>
            </p:nvSpPr>
            <p:spPr>
              <a:xfrm>
                <a:off x="11100334" y="10314985"/>
                <a:ext cx="2816798" cy="437043"/>
              </a:xfrm>
              <a:prstGeom prst="rect">
                <a:avLst/>
              </a:prstGeom>
              <a:blipFill>
                <a:blip r:embed="rId16"/>
                <a:stretch>
                  <a:fillRect t="-5714" b="-25714"/>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5930AB7-180F-A966-68F4-4B7F6009721B}"/>
                  </a:ext>
                </a:extLst>
              </p:cNvPr>
              <p:cNvSpPr txBox="1"/>
              <p:nvPr/>
            </p:nvSpPr>
            <p:spPr>
              <a:xfrm>
                <a:off x="18512643" y="10344760"/>
                <a:ext cx="3531699" cy="429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14:m>
                  <m:oMath xmlns:m="http://schemas.openxmlformats.org/officeDocument/2006/math">
                    <m:sSub>
                      <m:sSubPr>
                        <m:ctrlPr>
                          <a:rPr lang="en-US" sz="2800" i="1" smtClean="0">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𝛼</m:t>
                        </m:r>
                      </m:e>
                      <m:sub>
                        <m:r>
                          <a:rPr lang="en-US" sz="2800" i="1">
                            <a:solidFill>
                              <a:schemeClr val="accent6"/>
                            </a:solidFill>
                            <a:latin typeface="Cambria Math" panose="02040503050406030204" pitchFamily="18" charset="0"/>
                          </a:rPr>
                          <m:t>1</m:t>
                        </m:r>
                      </m:sub>
                    </m:sSub>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𝑓</m:t>
                        </m:r>
                      </m:e>
                      <m:sub>
                        <m:r>
                          <a:rPr lang="en-US" sz="2800" i="1">
                            <a:solidFill>
                              <a:schemeClr val="accent6"/>
                            </a:solidFill>
                            <a:latin typeface="Cambria Math" panose="02040503050406030204" pitchFamily="18" charset="0"/>
                          </a:rPr>
                          <m:t>1</m:t>
                        </m:r>
                      </m:sub>
                    </m:sSub>
                    <m:r>
                      <a:rPr lang="en-US" sz="2800" b="0" i="1" smtClean="0">
                        <a:solidFill>
                          <a:schemeClr val="accent6"/>
                        </a:solidFill>
                        <a:latin typeface="Cambria Math" panose="02040503050406030204" pitchFamily="18" charset="0"/>
                      </a:rPr>
                      <m:t>+</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𝛼</m:t>
                        </m:r>
                      </m:e>
                      <m:sub>
                        <m:r>
                          <a:rPr lang="en-US" sz="2800" b="0" i="1" smtClean="0">
                            <a:solidFill>
                              <a:schemeClr val="accent6"/>
                            </a:solidFill>
                            <a:latin typeface="Cambria Math" panose="02040503050406030204" pitchFamily="18" charset="0"/>
                            <a:ea typeface="Cambria Math" panose="02040503050406030204" pitchFamily="18" charset="0"/>
                          </a:rPr>
                          <m:t>2</m:t>
                        </m:r>
                      </m:sub>
                    </m:sSub>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𝑓</m:t>
                        </m:r>
                      </m:e>
                      <m:sub>
                        <m:r>
                          <a:rPr lang="en-US" sz="2800" b="0" i="1" smtClean="0">
                            <a:solidFill>
                              <a:schemeClr val="accent6"/>
                            </a:solidFill>
                            <a:latin typeface="Cambria Math" panose="02040503050406030204" pitchFamily="18" charset="0"/>
                          </a:rPr>
                          <m:t>2</m:t>
                        </m:r>
                      </m:sub>
                    </m:sSub>
                  </m:oMath>
                </a14:m>
                <a:r>
                  <a:rPr lang="en-US" sz="2400" dirty="0">
                    <a:solidFill>
                      <a:schemeClr val="accent6"/>
                    </a:solidFill>
                  </a:rPr>
                  <a:t> </a:t>
                </a:r>
                <a14:m>
                  <m:oMath xmlns:m="http://schemas.openxmlformats.org/officeDocument/2006/math">
                    <m:r>
                      <a:rPr lang="en-US" sz="2400" i="1">
                        <a:solidFill>
                          <a:schemeClr val="accent6"/>
                        </a:solidFill>
                        <a:latin typeface="Cambria Math" panose="02040503050406030204" pitchFamily="18" charset="0"/>
                      </a:rPr>
                      <m:t>+</m:t>
                    </m:r>
                    <m:sSub>
                      <m:sSubPr>
                        <m:ctrlPr>
                          <a:rPr lang="en-US" sz="2400" i="1">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ea typeface="Cambria Math" panose="02040503050406030204" pitchFamily="18" charset="0"/>
                          </a:rPr>
                          <m:t>𝛼</m:t>
                        </m:r>
                      </m:e>
                      <m:sub>
                        <m:r>
                          <a:rPr lang="en-US" sz="2400" b="0" i="1" smtClean="0">
                            <a:solidFill>
                              <a:schemeClr val="accent6"/>
                            </a:solidFill>
                            <a:latin typeface="Cambria Math" panose="02040503050406030204" pitchFamily="18" charset="0"/>
                            <a:ea typeface="Cambria Math" panose="02040503050406030204" pitchFamily="18" charset="0"/>
                          </a:rPr>
                          <m:t>3</m:t>
                        </m:r>
                      </m:sub>
                    </m:sSub>
                    <m:sSub>
                      <m:sSubPr>
                        <m:ctrlPr>
                          <a:rPr lang="en-US" sz="2400" i="1">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𝑓</m:t>
                        </m:r>
                      </m:e>
                      <m:sub>
                        <m:r>
                          <a:rPr lang="en-US" sz="2400" b="0" i="1" smtClean="0">
                            <a:solidFill>
                              <a:schemeClr val="accent6"/>
                            </a:solidFill>
                            <a:latin typeface="Cambria Math" panose="02040503050406030204" pitchFamily="18" charset="0"/>
                          </a:rPr>
                          <m:t>3</m:t>
                        </m:r>
                      </m:sub>
                    </m:sSub>
                  </m:oMath>
                </a14:m>
                <a:endParaRPr lang="es-ES_tradnl" sz="2400" dirty="0">
                  <a:solidFill>
                    <a:schemeClr val="accent6"/>
                  </a:solidFill>
                </a:endParaRPr>
              </a:p>
            </p:txBody>
          </p:sp>
        </mc:Choice>
        <mc:Fallback xmlns="">
          <p:sp>
            <p:nvSpPr>
              <p:cNvPr id="39" name="TextBox 38">
                <a:extLst>
                  <a:ext uri="{FF2B5EF4-FFF2-40B4-BE49-F238E27FC236}">
                    <a16:creationId xmlns:a16="http://schemas.microsoft.com/office/drawing/2014/main" id="{05930AB7-180F-A966-68F4-4B7F6009721B}"/>
                  </a:ext>
                </a:extLst>
              </p:cNvPr>
              <p:cNvSpPr txBox="1">
                <a:spLocks noRot="1" noChangeAspect="1" noMove="1" noResize="1" noEditPoints="1" noAdjustHandles="1" noChangeArrowheads="1" noChangeShapeType="1" noTextEdit="1"/>
              </p:cNvSpPr>
              <p:nvPr/>
            </p:nvSpPr>
            <p:spPr>
              <a:xfrm>
                <a:off x="18512643" y="10344760"/>
                <a:ext cx="3531699" cy="429092"/>
              </a:xfrm>
              <a:prstGeom prst="rect">
                <a:avLst/>
              </a:prstGeom>
              <a:blipFill>
                <a:blip r:embed="rId17"/>
                <a:stretch>
                  <a:fillRect t="-8571" b="-2571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63181712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err="1">
                <a:solidFill>
                  <a:schemeClr val="tx1"/>
                </a:solidFill>
              </a:rPr>
              <a:t>Boosting</a:t>
            </a:r>
            <a:endParaRPr lang="es-ES_tradnl" dirty="0"/>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 dirty="0"/>
              <a:t>La principal diferencia es que en las arquitecturas que aplican </a:t>
            </a:r>
            <a:r>
              <a:rPr lang="es-ES" b="1" dirty="0" err="1">
                <a:solidFill>
                  <a:schemeClr val="accent1"/>
                </a:solidFill>
              </a:rPr>
              <a:t>Boosting</a:t>
            </a:r>
            <a:r>
              <a:rPr lang="es-ES" dirty="0"/>
              <a:t>, el entrenamiento de los predictores se da de forma secuencial. </a:t>
            </a:r>
          </a:p>
          <a:p>
            <a:pPr>
              <a:defRPr sz="4600">
                <a:latin typeface="Graphik Compact Regular"/>
                <a:ea typeface="Graphik Compact Regular"/>
                <a:cs typeface="Graphik Compact Regular"/>
                <a:sym typeface="Graphik Compact Regular"/>
              </a:defRPr>
            </a:pPr>
            <a:r>
              <a:rPr lang="es-ES" dirty="0"/>
              <a:t>Lo más común es usar árboles. En este caso se utilizan arboles con pocos nodos.</a:t>
            </a:r>
          </a:p>
          <a:p>
            <a:pPr>
              <a:defRPr sz="4600">
                <a:latin typeface="Graphik Compact Regular"/>
                <a:ea typeface="Graphik Compact Regular"/>
                <a:cs typeface="Graphik Compact Regular"/>
                <a:sym typeface="Graphik Compact Regular"/>
              </a:defRPr>
            </a:pPr>
            <a:r>
              <a:rPr lang="es-ES_tradnl" dirty="0"/>
              <a:t>Esto es un proceso de aprendizaje lento que depende de árboles anteriores. Un proceso lento de aprendizaje estadísticamente lleva a buenos entrenamiento. </a:t>
            </a:r>
            <a:endParaRPr lang="es-ES" dirty="0"/>
          </a:p>
          <a:p>
            <a:pPr>
              <a:defRPr sz="4600">
                <a:latin typeface="Graphik Compact Regular"/>
                <a:ea typeface="Graphik Compact Regular"/>
                <a:cs typeface="Graphik Compact Regular"/>
                <a:sym typeface="Graphik Compact Regular"/>
              </a:defRPr>
            </a:pPr>
            <a:endParaRPr lang="es-ES" dirty="0"/>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30</a:t>
            </a:fld>
            <a:endParaRPr lang="en-US" sz="2800" dirty="0"/>
          </a:p>
        </p:txBody>
      </p:sp>
    </p:spTree>
    <p:extLst>
      <p:ext uri="{BB962C8B-B14F-4D97-AF65-F5344CB8AC3E}">
        <p14:creationId xmlns:p14="http://schemas.microsoft.com/office/powerpoint/2010/main" val="3833228463"/>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err="1">
                <a:solidFill>
                  <a:schemeClr val="tx1"/>
                </a:solidFill>
              </a:rPr>
              <a:t>Boosting</a:t>
            </a:r>
            <a:r>
              <a:rPr lang="es-ES_tradnl" dirty="0">
                <a:solidFill>
                  <a:schemeClr val="tx1"/>
                </a:solidFill>
              </a:rPr>
              <a:t> Vs. </a:t>
            </a:r>
            <a:r>
              <a:rPr lang="es-ES_tradnl" dirty="0" err="1">
                <a:solidFill>
                  <a:schemeClr val="tx1"/>
                </a:solidFill>
              </a:rPr>
              <a:t>Bagging</a:t>
            </a:r>
            <a:endParaRPr lang="es-ES_tradnl" dirty="0"/>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31</a:t>
            </a:fld>
            <a:endParaRPr lang="en-US" sz="2800" dirty="0"/>
          </a:p>
        </p:txBody>
      </p:sp>
      <p:graphicFrame>
        <p:nvGraphicFramePr>
          <p:cNvPr id="6" name="Table 5">
            <a:extLst>
              <a:ext uri="{FF2B5EF4-FFF2-40B4-BE49-F238E27FC236}">
                <a16:creationId xmlns:a16="http://schemas.microsoft.com/office/drawing/2014/main" id="{46F18862-4CC1-4D6A-B8D9-FC1960DBF14B}"/>
              </a:ext>
            </a:extLst>
          </p:cNvPr>
          <p:cNvGraphicFramePr>
            <a:graphicFrameLocks noGrp="1"/>
          </p:cNvGraphicFramePr>
          <p:nvPr>
            <p:extLst>
              <p:ext uri="{D42A27DB-BD31-4B8C-83A1-F6EECF244321}">
                <p14:modId xmlns:p14="http://schemas.microsoft.com/office/powerpoint/2010/main" val="1743214024"/>
              </p:ext>
            </p:extLst>
          </p:nvPr>
        </p:nvGraphicFramePr>
        <p:xfrm>
          <a:off x="593989" y="3127682"/>
          <a:ext cx="23196021" cy="9536641"/>
        </p:xfrm>
        <a:graphic>
          <a:graphicData uri="http://schemas.openxmlformats.org/drawingml/2006/table">
            <a:tbl>
              <a:tblPr firstRow="1" bandRow="1">
                <a:tableStyleId>{284E427A-3D55-4303-BF80-6455036E1DE7}</a:tableStyleId>
              </a:tblPr>
              <a:tblGrid>
                <a:gridCol w="4800523">
                  <a:extLst>
                    <a:ext uri="{9D8B030D-6E8A-4147-A177-3AD203B41FA5}">
                      <a16:colId xmlns:a16="http://schemas.microsoft.com/office/drawing/2014/main" val="117368909"/>
                    </a:ext>
                  </a:extLst>
                </a:gridCol>
                <a:gridCol w="8892988">
                  <a:extLst>
                    <a:ext uri="{9D8B030D-6E8A-4147-A177-3AD203B41FA5}">
                      <a16:colId xmlns:a16="http://schemas.microsoft.com/office/drawing/2014/main" val="3854418887"/>
                    </a:ext>
                  </a:extLst>
                </a:gridCol>
                <a:gridCol w="9502510">
                  <a:extLst>
                    <a:ext uri="{9D8B030D-6E8A-4147-A177-3AD203B41FA5}">
                      <a16:colId xmlns:a16="http://schemas.microsoft.com/office/drawing/2014/main" val="119271167"/>
                    </a:ext>
                  </a:extLst>
                </a:gridCol>
              </a:tblGrid>
              <a:tr h="977787">
                <a:tc>
                  <a:txBody>
                    <a:bodyPr/>
                    <a:lstStyle/>
                    <a:p>
                      <a:endParaRPr lang="es-ES_tradnl" sz="2800" dirty="0">
                        <a:solidFill>
                          <a:schemeClr val="bg2">
                            <a:lumMod val="25000"/>
                          </a:schemeClr>
                        </a:solidFill>
                      </a:endParaRPr>
                    </a:p>
                  </a:txBody>
                  <a:tcPr anchor="ctr">
                    <a:lnL w="9525" cap="flat" cmpd="sng" algn="ctr">
                      <a:noFill/>
                      <a:prstDash val="solid"/>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chemeClr val="accent1">
                        <a:lumMod val="60000"/>
                        <a:lumOff val="40000"/>
                      </a:schemeClr>
                    </a:solidFill>
                  </a:tcPr>
                </a:tc>
                <a:tc>
                  <a:txBody>
                    <a:bodyPr/>
                    <a:lstStyle/>
                    <a:p>
                      <a:r>
                        <a:rPr lang="es-ES_tradnl" sz="2800" b="1" dirty="0" err="1">
                          <a:solidFill>
                            <a:schemeClr val="bg2">
                              <a:lumMod val="25000"/>
                            </a:schemeClr>
                          </a:solidFill>
                        </a:rPr>
                        <a:t>Bagging</a:t>
                      </a:r>
                      <a:endParaRPr lang="es-ES_tradnl" sz="2800" b="1" dirty="0">
                        <a:solidFill>
                          <a:schemeClr val="bg2">
                            <a:lumMod val="25000"/>
                          </a:schemeClr>
                        </a:solidFill>
                      </a:endParaRPr>
                    </a:p>
                  </a:txBody>
                  <a:tcPr anchor="ctr">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chemeClr val="accent1">
                        <a:lumMod val="60000"/>
                        <a:lumOff val="40000"/>
                      </a:schemeClr>
                    </a:solidFill>
                  </a:tcPr>
                </a:tc>
                <a:tc>
                  <a:txBody>
                    <a:bodyPr/>
                    <a:lstStyle/>
                    <a:p>
                      <a:r>
                        <a:rPr lang="es-ES_tradnl" sz="2800" b="1" dirty="0" err="1">
                          <a:solidFill>
                            <a:schemeClr val="bg2">
                              <a:lumMod val="25000"/>
                            </a:schemeClr>
                          </a:solidFill>
                        </a:rPr>
                        <a:t>Boosting</a:t>
                      </a:r>
                      <a:endParaRPr lang="es-ES_tradnl" sz="2800" b="1" dirty="0">
                        <a:solidFill>
                          <a:schemeClr val="bg2">
                            <a:lumMod val="25000"/>
                          </a:schemeClr>
                        </a:solidFill>
                      </a:endParaRPr>
                    </a:p>
                  </a:txBody>
                  <a:tcPr anchor="ctr">
                    <a:lnL>
                      <a:noFill/>
                    </a:lnL>
                    <a:lnR w="9525" cap="flat" cmpd="sng" algn="ctr">
                      <a:noFill/>
                      <a:prstDash val="solid"/>
                    </a:lnR>
                    <a:lnT w="9525" cap="flat" cmpd="sng" algn="ctr">
                      <a:noFill/>
                      <a:prstDash val="solid"/>
                    </a:lnT>
                    <a:lnB w="25400" cap="flat" cmpd="sng" algn="ctr">
                      <a:noFill/>
                      <a:prstDash val="soli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1147747298"/>
                  </a:ext>
                </a:extLst>
              </a:tr>
              <a:tr h="1667309">
                <a:tc>
                  <a:txBody>
                    <a:bodyPr/>
                    <a:lstStyle/>
                    <a:p>
                      <a:r>
                        <a:rPr lang="es-ES_tradnl" sz="2800" b="0" i="1">
                          <a:solidFill>
                            <a:schemeClr val="bg2">
                              <a:lumMod val="25000"/>
                            </a:schemeClr>
                          </a:solidFill>
                        </a:rPr>
                        <a:t>Método de construcción del conjunto de modelos</a:t>
                      </a:r>
                      <a:endParaRPr lang="es-ES_tradnl" sz="2800" b="0" i="1" dirty="0">
                        <a:solidFill>
                          <a:schemeClr val="bg2">
                            <a:lumMod val="25000"/>
                          </a:schemeClr>
                        </a:solidFill>
                      </a:endParaRPr>
                    </a:p>
                  </a:txBody>
                  <a:tcPr anchor="ct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tc>
                  <a:txBody>
                    <a:bodyPr/>
                    <a:lstStyle/>
                    <a:p>
                      <a:pPr algn="just"/>
                      <a:r>
                        <a:rPr lang="es-ES_tradnl" sz="2800" dirty="0">
                          <a:solidFill>
                            <a:schemeClr val="bg2">
                              <a:lumMod val="25000"/>
                            </a:schemeClr>
                          </a:solidFill>
                        </a:rPr>
                        <a:t>Múltiples modelos de aprendizaje automático independientes entrenados en subconjuntos aleatorios de datos de entrenamiento</a:t>
                      </a:r>
                    </a:p>
                  </a:txBody>
                  <a:tcPr marL="251999" anchor="ct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tc>
                  <a:txBody>
                    <a:bodyPr/>
                    <a:lstStyle/>
                    <a:p>
                      <a:pPr algn="just"/>
                      <a:r>
                        <a:rPr lang="es-ES_tradnl" sz="2800" dirty="0">
                          <a:solidFill>
                            <a:schemeClr val="bg2">
                              <a:lumMod val="25000"/>
                            </a:schemeClr>
                          </a:solidFill>
                        </a:rPr>
                        <a:t>Construye modelos secuencialmente, centrándose en corregir los errores del modelo anterior</a:t>
                      </a:r>
                    </a:p>
                  </a:txBody>
                  <a:tcPr marL="216000" anchor="ct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extLst>
                  <a:ext uri="{0D108BD9-81ED-4DB2-BD59-A6C34878D82A}">
                    <a16:rowId xmlns:a16="http://schemas.microsoft.com/office/drawing/2014/main" val="2883266241"/>
                  </a:ext>
                </a:extLst>
              </a:tr>
              <a:tr h="1148591">
                <a:tc>
                  <a:txBody>
                    <a:bodyPr/>
                    <a:lstStyle/>
                    <a:p>
                      <a:r>
                        <a:rPr lang="es-ES_tradnl" sz="2800" b="0" i="1">
                          <a:solidFill>
                            <a:schemeClr val="bg2">
                              <a:lumMod val="25000"/>
                            </a:schemeClr>
                          </a:solidFill>
                        </a:rPr>
                        <a:t>Tipo de modelos</a:t>
                      </a:r>
                      <a:endParaRPr lang="es-ES_tradnl" sz="2800" b="0" i="1" dirty="0">
                        <a:solidFill>
                          <a:schemeClr val="bg2">
                            <a:lumMod val="25000"/>
                          </a:schemeClr>
                        </a:solidFill>
                      </a:endParaRPr>
                    </a:p>
                  </a:txBody>
                  <a:tcPr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just"/>
                      <a:r>
                        <a:rPr lang="es-ES_tradnl" sz="2800" dirty="0">
                          <a:solidFill>
                            <a:schemeClr val="bg2">
                              <a:lumMod val="25000"/>
                            </a:schemeClr>
                          </a:solidFill>
                        </a:rPr>
                        <a:t>Adecuado para cualquier modelo de aprendizaje automático</a:t>
                      </a:r>
                    </a:p>
                  </a:txBody>
                  <a:tcPr marL="251999"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just"/>
                      <a:r>
                        <a:rPr lang="es-ES_tradnl" sz="2800" dirty="0">
                          <a:solidFill>
                            <a:schemeClr val="bg2">
                              <a:lumMod val="25000"/>
                            </a:schemeClr>
                          </a:solidFill>
                        </a:rPr>
                        <a:t>Se enfoca en modelos débiles y mejora su precisión al combinar modelos débiles</a:t>
                      </a:r>
                    </a:p>
                  </a:txBody>
                  <a:tcPr marL="216000"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050201814"/>
                  </a:ext>
                </a:extLst>
              </a:tr>
              <a:tr h="1148591">
                <a:tc>
                  <a:txBody>
                    <a:bodyPr/>
                    <a:lstStyle/>
                    <a:p>
                      <a:r>
                        <a:rPr lang="es-ES_tradnl" sz="2800" b="0" i="1">
                          <a:solidFill>
                            <a:schemeClr val="bg2">
                              <a:lumMod val="25000"/>
                            </a:schemeClr>
                          </a:solidFill>
                        </a:rPr>
                        <a:t>Proceso de predicción</a:t>
                      </a:r>
                      <a:endParaRPr lang="es-ES_tradnl" sz="2800" b="0" i="1" dirty="0">
                        <a:solidFill>
                          <a:schemeClr val="bg2">
                            <a:lumMod val="25000"/>
                          </a:schemeClr>
                        </a:solidFill>
                      </a:endParaRPr>
                    </a:p>
                  </a:txBody>
                  <a:tcPr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tc>
                  <a:txBody>
                    <a:bodyPr/>
                    <a:lstStyle/>
                    <a:p>
                      <a:pPr algn="just"/>
                      <a:r>
                        <a:rPr lang="es-ES_tradnl" sz="2800" dirty="0">
                          <a:solidFill>
                            <a:schemeClr val="bg2">
                              <a:lumMod val="25000"/>
                            </a:schemeClr>
                          </a:solidFill>
                        </a:rPr>
                        <a:t>Promedio de las predicciones de todos los modelos del conjunto</a:t>
                      </a:r>
                    </a:p>
                  </a:txBody>
                  <a:tcPr marL="251999"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tc>
                  <a:txBody>
                    <a:bodyPr/>
                    <a:lstStyle/>
                    <a:p>
                      <a:pPr algn="just"/>
                      <a:r>
                        <a:rPr lang="es-ES_tradnl" sz="2800" dirty="0">
                          <a:solidFill>
                            <a:schemeClr val="bg2">
                              <a:lumMod val="25000"/>
                            </a:schemeClr>
                          </a:solidFill>
                        </a:rPr>
                        <a:t>Asigna diferentes pesos a cada modelo y los combina para hacer una predicción final</a:t>
                      </a:r>
                    </a:p>
                  </a:txBody>
                  <a:tcPr marL="216000"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extLst>
                  <a:ext uri="{0D108BD9-81ED-4DB2-BD59-A6C34878D82A}">
                    <a16:rowId xmlns:a16="http://schemas.microsoft.com/office/drawing/2014/main" val="1098562595"/>
                  </a:ext>
                </a:extLst>
              </a:tr>
              <a:tr h="629872">
                <a:tc>
                  <a:txBody>
                    <a:bodyPr/>
                    <a:lstStyle/>
                    <a:p>
                      <a:r>
                        <a:rPr lang="es-ES_tradnl" sz="2800" b="0" i="1">
                          <a:solidFill>
                            <a:schemeClr val="bg2">
                              <a:lumMod val="25000"/>
                            </a:schemeClr>
                          </a:solidFill>
                        </a:rPr>
                        <a:t>Sensibilidad al ruido</a:t>
                      </a:r>
                      <a:endParaRPr lang="es-ES_tradnl" sz="2800" b="0" i="1" dirty="0">
                        <a:solidFill>
                          <a:schemeClr val="bg2">
                            <a:lumMod val="25000"/>
                          </a:schemeClr>
                        </a:solidFill>
                      </a:endParaRPr>
                    </a:p>
                  </a:txBody>
                  <a:tcPr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just"/>
                      <a:r>
                        <a:rPr lang="es-ES_tradnl" sz="2800" dirty="0">
                          <a:solidFill>
                            <a:schemeClr val="bg2">
                              <a:lumMod val="25000"/>
                            </a:schemeClr>
                          </a:solidFill>
                        </a:rPr>
                        <a:t>Menos sensible al ruido y a los valores atípicos</a:t>
                      </a:r>
                    </a:p>
                  </a:txBody>
                  <a:tcPr marL="251999"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just" defTabSz="3428914" rtl="0" eaLnBrk="1" fontAlgn="auto" latinLnBrk="0" hangingPunct="1">
                        <a:lnSpc>
                          <a:spcPct val="100000"/>
                        </a:lnSpc>
                        <a:spcBef>
                          <a:spcPts val="0"/>
                        </a:spcBef>
                        <a:spcAft>
                          <a:spcPts val="0"/>
                        </a:spcAft>
                        <a:buClrTx/>
                        <a:buSzTx/>
                        <a:buFontTx/>
                        <a:buNone/>
                        <a:tabLst/>
                        <a:defRPr/>
                      </a:pPr>
                      <a:r>
                        <a:rPr lang="es-ES" sz="2800" dirty="0">
                          <a:solidFill>
                            <a:schemeClr val="bg2">
                              <a:lumMod val="25000"/>
                            </a:schemeClr>
                          </a:solidFill>
                          <a:effectLst/>
                        </a:rPr>
                        <a:t>Puede ser más sensible al ruido y a los valores atípicos</a:t>
                      </a:r>
                    </a:p>
                  </a:txBody>
                  <a:tcPr marL="216000"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518888026"/>
                  </a:ext>
                </a:extLst>
              </a:tr>
              <a:tr h="1148591">
                <a:tc>
                  <a:txBody>
                    <a:bodyPr/>
                    <a:lstStyle/>
                    <a:p>
                      <a:r>
                        <a:rPr lang="es-ES_tradnl" sz="2800" b="0" i="1">
                          <a:solidFill>
                            <a:schemeClr val="bg2">
                              <a:lumMod val="25000"/>
                            </a:schemeClr>
                          </a:solidFill>
                        </a:rPr>
                        <a:t>Tiempo de entrenamiento</a:t>
                      </a:r>
                      <a:endParaRPr lang="es-ES_tradnl" sz="2800" b="0" i="1" dirty="0">
                        <a:solidFill>
                          <a:schemeClr val="bg2">
                            <a:lumMod val="25000"/>
                          </a:schemeClr>
                        </a:solidFill>
                      </a:endParaRPr>
                    </a:p>
                  </a:txBody>
                  <a:tcPr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tc>
                  <a:txBody>
                    <a:bodyPr/>
                    <a:lstStyle/>
                    <a:p>
                      <a:pPr algn="just"/>
                      <a:r>
                        <a:rPr lang="es-ES_tradnl" sz="2800" dirty="0">
                          <a:solidFill>
                            <a:schemeClr val="bg2">
                              <a:lumMod val="25000"/>
                            </a:schemeClr>
                          </a:solidFill>
                        </a:rPr>
                        <a:t>Puede ser más rápido ya que los modelos se construyen de forma independiente</a:t>
                      </a:r>
                    </a:p>
                  </a:txBody>
                  <a:tcPr marL="251999"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tc>
                  <a:txBody>
                    <a:bodyPr/>
                    <a:lstStyle/>
                    <a:p>
                      <a:pPr algn="just"/>
                      <a:r>
                        <a:rPr lang="es-ES_tradnl" sz="2800" dirty="0">
                          <a:solidFill>
                            <a:schemeClr val="bg2">
                              <a:lumMod val="25000"/>
                            </a:schemeClr>
                          </a:solidFill>
                        </a:rPr>
                        <a:t>Puede requerir más tiempo de entrenamiento ya que cada modelo se entrena secuencialmente</a:t>
                      </a:r>
                    </a:p>
                  </a:txBody>
                  <a:tcPr marL="216000"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extLst>
                  <a:ext uri="{0D108BD9-81ED-4DB2-BD59-A6C34878D82A}">
                    <a16:rowId xmlns:a16="http://schemas.microsoft.com/office/drawing/2014/main" val="127683455"/>
                  </a:ext>
                </a:extLst>
              </a:tr>
              <a:tr h="1667309">
                <a:tc>
                  <a:txBody>
                    <a:bodyPr/>
                    <a:lstStyle/>
                    <a:p>
                      <a:r>
                        <a:rPr lang="es-ES_tradnl" sz="2800" b="0" i="1">
                          <a:solidFill>
                            <a:schemeClr val="bg2">
                              <a:lumMod val="25000"/>
                            </a:schemeClr>
                          </a:solidFill>
                        </a:rPr>
                        <a:t>Ventajas</a:t>
                      </a:r>
                      <a:endParaRPr lang="es-ES_tradnl" sz="2800" b="0" i="1" dirty="0">
                        <a:solidFill>
                          <a:schemeClr val="bg2">
                            <a:lumMod val="25000"/>
                          </a:schemeClr>
                        </a:solidFill>
                      </a:endParaRPr>
                    </a:p>
                  </a:txBody>
                  <a:tcPr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just"/>
                      <a:r>
                        <a:rPr lang="es-ES_tradnl" sz="2800" dirty="0">
                          <a:solidFill>
                            <a:schemeClr val="bg2">
                              <a:lumMod val="25000"/>
                            </a:schemeClr>
                          </a:solidFill>
                        </a:rPr>
                        <a:t>Reduce la varianza, mejora la precisión y puede manejar grandes conjuntos de datos</a:t>
                      </a:r>
                    </a:p>
                  </a:txBody>
                  <a:tcPr marL="251999"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just"/>
                      <a:r>
                        <a:rPr lang="es-ES_tradnl" sz="2800" dirty="0">
                          <a:solidFill>
                            <a:schemeClr val="bg2">
                              <a:lumMod val="25000"/>
                            </a:schemeClr>
                          </a:solidFill>
                        </a:rPr>
                        <a:t>Mejora la precisión y el rendimiento del modelo mediante la corrección de errores y la creación de modelos más precisos</a:t>
                      </a:r>
                    </a:p>
                  </a:txBody>
                  <a:tcPr marL="216000"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632194339"/>
                  </a:ext>
                </a:extLst>
              </a:tr>
              <a:tr h="1148591">
                <a:tc>
                  <a:txBody>
                    <a:bodyPr/>
                    <a:lstStyle/>
                    <a:p>
                      <a:r>
                        <a:rPr lang="es-ES_tradnl" sz="2800" b="0" i="1" dirty="0">
                          <a:solidFill>
                            <a:schemeClr val="bg2">
                              <a:lumMod val="25000"/>
                            </a:schemeClr>
                          </a:solidFill>
                        </a:rPr>
                        <a:t>Desventajas</a:t>
                      </a:r>
                    </a:p>
                  </a:txBody>
                  <a:tcPr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tc>
                  <a:txBody>
                    <a:bodyPr/>
                    <a:lstStyle/>
                    <a:p>
                      <a:pPr algn="just"/>
                      <a:r>
                        <a:rPr lang="es-ES_tradnl" sz="2800" dirty="0">
                          <a:solidFill>
                            <a:schemeClr val="bg2">
                              <a:lumMod val="25000"/>
                            </a:schemeClr>
                          </a:solidFill>
                        </a:rPr>
                        <a:t>Puede aumentar el sesgo y no mejorar la precisión si los modelos del conjunto son similares</a:t>
                      </a:r>
                    </a:p>
                  </a:txBody>
                  <a:tcPr marL="251999"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tc>
                  <a:txBody>
                    <a:bodyPr/>
                    <a:lstStyle/>
                    <a:p>
                      <a:pPr algn="just"/>
                      <a:r>
                        <a:rPr lang="es-ES_tradnl" sz="2800" dirty="0">
                          <a:solidFill>
                            <a:schemeClr val="bg2">
                              <a:lumMod val="25000"/>
                            </a:schemeClr>
                          </a:solidFill>
                        </a:rPr>
                        <a:t>Puede ser más propenso al sobreajuste y al ruido si se usa un modelo débil o ruidoso</a:t>
                      </a:r>
                    </a:p>
                  </a:txBody>
                  <a:tcPr marL="216000" anchor="ct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1">
                        <a:lumMod val="60000"/>
                        <a:lumOff val="40000"/>
                        <a:alpha val="40000"/>
                      </a:schemeClr>
                    </a:solidFill>
                  </a:tcPr>
                </a:tc>
                <a:extLst>
                  <a:ext uri="{0D108BD9-81ED-4DB2-BD59-A6C34878D82A}">
                    <a16:rowId xmlns:a16="http://schemas.microsoft.com/office/drawing/2014/main" val="2581608309"/>
                  </a:ext>
                </a:extLst>
              </a:tr>
            </a:tbl>
          </a:graphicData>
        </a:graphic>
      </p:graphicFrame>
    </p:spTree>
    <p:extLst>
      <p:ext uri="{BB962C8B-B14F-4D97-AF65-F5344CB8AC3E}">
        <p14:creationId xmlns:p14="http://schemas.microsoft.com/office/powerpoint/2010/main" val="2874233040"/>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Redes Neuronal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err="1">
                <a:solidFill>
                  <a:schemeClr val="tx1"/>
                </a:solidFill>
              </a:rPr>
              <a:t>XGBoost</a:t>
            </a:r>
            <a:endParaRPr lang="es-ES_tradnl" dirty="0">
              <a:solidFill>
                <a:schemeClr val="tx1"/>
              </a:solidFill>
            </a:endParaRPr>
          </a:p>
        </p:txBody>
      </p:sp>
    </p:spTree>
    <p:extLst>
      <p:ext uri="{BB962C8B-B14F-4D97-AF65-F5344CB8AC3E}">
        <p14:creationId xmlns:p14="http://schemas.microsoft.com/office/powerpoint/2010/main" val="1432889347"/>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err="1">
                <a:solidFill>
                  <a:schemeClr val="tx1"/>
                </a:solidFill>
              </a:rPr>
              <a:t>XGBoost</a:t>
            </a:r>
            <a:endParaRPr lang="es-ES_tradnl" dirty="0"/>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1869400" cy="9532780"/>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El software más utilizado en </a:t>
            </a:r>
            <a:r>
              <a:rPr lang="es-ES_tradnl" dirty="0" err="1"/>
              <a:t>Boosting</a:t>
            </a:r>
            <a:r>
              <a:rPr lang="es-ES_tradnl" dirty="0"/>
              <a:t> es </a:t>
            </a:r>
            <a:r>
              <a:rPr lang="es-ES_tradnl" b="1" dirty="0">
                <a:hlinkClick r:id="rId3"/>
              </a:rPr>
              <a:t>XGBoost</a:t>
            </a:r>
            <a:r>
              <a:rPr lang="es-ES_tradnl" dirty="0"/>
              <a:t>, una implementación del </a:t>
            </a:r>
            <a:r>
              <a:rPr lang="es-ES_tradnl" dirty="0" err="1"/>
              <a:t>Boosting</a:t>
            </a:r>
            <a:r>
              <a:rPr lang="es-ES_tradnl" dirty="0"/>
              <a:t> de gradiente estocástico desarrollado por </a:t>
            </a:r>
            <a:r>
              <a:rPr lang="es-ES_tradnl" dirty="0" err="1"/>
              <a:t>Tianqi</a:t>
            </a:r>
            <a:r>
              <a:rPr lang="es-ES_tradnl" dirty="0"/>
              <a:t> Chen y Carlos </a:t>
            </a:r>
            <a:r>
              <a:rPr lang="es-ES_tradnl" dirty="0" err="1"/>
              <a:t>Guestrin</a:t>
            </a:r>
            <a:r>
              <a:rPr lang="es-ES_tradnl" dirty="0"/>
              <a:t> en la Universidad de Washington. </a:t>
            </a:r>
          </a:p>
          <a:p>
            <a:pPr>
              <a:defRPr sz="4600">
                <a:latin typeface="Graphik Compact Regular"/>
                <a:ea typeface="Graphik Compact Regular"/>
                <a:cs typeface="Graphik Compact Regular"/>
                <a:sym typeface="Graphik Compact Regular"/>
              </a:defRPr>
            </a:pPr>
            <a:r>
              <a:rPr lang="es-ES_tradnl" dirty="0"/>
              <a:t>En </a:t>
            </a:r>
            <a:r>
              <a:rPr lang="es-ES_tradnl" dirty="0" err="1"/>
              <a:t>AdaBoost</a:t>
            </a:r>
            <a:r>
              <a:rPr lang="es-ES_tradnl" dirty="0"/>
              <a:t> se usa una función exponencial para ponderar cada residuo, con </a:t>
            </a:r>
            <a:r>
              <a:rPr lang="es-ES_tradnl" dirty="0" err="1"/>
              <a:t>XGBoost</a:t>
            </a:r>
            <a:r>
              <a:rPr lang="es-ES_tradnl" dirty="0"/>
              <a:t> se utiliza al gradiente de la función de costo y con ello se pondera a los residuos y los </a:t>
            </a:r>
            <a:r>
              <a:rPr lang="es-ES_tradnl" dirty="0" err="1"/>
              <a:t>weak</a:t>
            </a:r>
            <a:r>
              <a:rPr lang="es-ES_tradnl" dirty="0"/>
              <a:t> </a:t>
            </a:r>
            <a:r>
              <a:rPr lang="es-ES_tradnl" dirty="0" err="1"/>
              <a:t>learners</a:t>
            </a:r>
            <a:r>
              <a:rPr lang="es-ES_tradnl" dirty="0"/>
              <a:t>. </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33</a:t>
            </a:fld>
            <a:endParaRPr lang="en-US" sz="2800" dirty="0"/>
          </a:p>
        </p:txBody>
      </p:sp>
    </p:spTree>
    <p:extLst>
      <p:ext uri="{BB962C8B-B14F-4D97-AF65-F5344CB8AC3E}">
        <p14:creationId xmlns:p14="http://schemas.microsoft.com/office/powerpoint/2010/main" val="2962265375"/>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err="1">
                <a:solidFill>
                  <a:schemeClr val="tx1"/>
                </a:solidFill>
              </a:rPr>
              <a:t>XGBoost</a:t>
            </a:r>
            <a:endParaRPr lang="es-ES_tradnl" dirty="0"/>
          </a:p>
        </p:txBody>
      </p:sp>
      <mc:AlternateContent xmlns:mc="http://schemas.openxmlformats.org/markup-compatibility/2006" xmlns:a14="http://schemas.microsoft.com/office/drawing/2010/main">
        <mc:Choice Requires="a14">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1869400" cy="9532780"/>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El modelo </a:t>
                </a:r>
                <a:r>
                  <a:rPr lang="es-ES_tradnl" dirty="0" err="1"/>
                  <a:t>XGBoost</a:t>
                </a:r>
                <a:r>
                  <a:rPr lang="es-ES_tradnl" dirty="0"/>
                  <a:t> tiene muchísimos </a:t>
                </a:r>
                <a:r>
                  <a:rPr lang="es-ES_tradnl" dirty="0" err="1"/>
                  <a:t>hiperparámetros</a:t>
                </a:r>
                <a:r>
                  <a:rPr lang="es-ES_tradnl" dirty="0"/>
                  <a:t>. Dos parámetros muy importantes son:</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_tradnl" b="1" dirty="0" err="1">
                    <a:solidFill>
                      <a:schemeClr val="accent3">
                        <a:lumMod val="75000"/>
                      </a:schemeClr>
                    </a:solidFill>
                  </a:rPr>
                  <a:t>subsample</a:t>
                </a:r>
                <a:r>
                  <a:rPr lang="es-ES_tradnl" dirty="0"/>
                  <a:t>: Controla la fracción de observaciones que se deben muestrear en cada iteración. El uso de submuestra hace que actúe como un bosque aleatorio excepto que el muestreo se realiza sin reemplazo (</a:t>
                </a:r>
                <a:r>
                  <a:rPr lang="es-ES_tradnl" b="1" dirty="0" err="1">
                    <a:solidFill>
                      <a:schemeClr val="accent3">
                        <a:lumMod val="75000"/>
                      </a:schemeClr>
                    </a:solidFill>
                  </a:rPr>
                  <a:t>Pasting</a:t>
                </a:r>
                <a:r>
                  <a:rPr lang="es-ES_tradnl" dirty="0"/>
                  <a:t>).</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_tradnl" b="1" dirty="0">
                    <a:solidFill>
                      <a:schemeClr val="accent1"/>
                    </a:solidFill>
                  </a:rPr>
                  <a:t>eta</a:t>
                </a:r>
                <a:r>
                  <a:rPr lang="es-ES_tradnl" dirty="0"/>
                  <a:t>: Un factor de contracción aplicado a cada </a:t>
                </a:r>
                <a14:m>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𝑚</m:t>
                        </m:r>
                      </m:sub>
                    </m:sSub>
                    <m:r>
                      <a:rPr lang="en-US" b="0" i="1" smtClean="0">
                        <a:latin typeface="Cambria Math" panose="02040503050406030204" pitchFamily="18" charset="0"/>
                        <a:ea typeface="Cambria Math" panose="02040503050406030204" pitchFamily="18" charset="0"/>
                      </a:rPr>
                      <m:t> </m:t>
                    </m:r>
                  </m:oMath>
                </a14:m>
                <a:r>
                  <a:rPr lang="es-ES_tradnl" dirty="0"/>
                  <a:t>de cada nuevo árbol que se va a agregando, el cual reduce el peso a las muestras mal clasificadas o con más error. El parámetro de contracción eta es útil para evitar el sobreajuste.</a:t>
                </a:r>
              </a:p>
            </p:txBody>
          </p:sp>
        </mc:Choice>
        <mc:Fallback xmlns="">
          <p:sp>
            <p:nvSpPr>
              <p:cNvPr id="212" name="Las redes neuronales originalmente se plantean como algoritmos matemáticos que tratan de imitar los cálculos complejos que tienen lugar en el cerebro.…"/>
              <p:cNvSpPr txBox="1">
                <a:spLocks noGrp="1" noRot="1" noChangeAspect="1" noMove="1" noResize="1" noEditPoints="1" noAdjustHandles="1" noChangeArrowheads="1" noChangeShapeType="1" noTextEdit="1"/>
              </p:cNvSpPr>
              <p:nvPr>
                <p:ph type="body" idx="1"/>
              </p:nvPr>
            </p:nvSpPr>
            <p:spPr>
              <a:xfrm>
                <a:off x="1257300" y="3507194"/>
                <a:ext cx="21869400" cy="9532780"/>
              </a:xfrm>
              <a:prstGeom prst="rect">
                <a:avLst/>
              </a:prstGeom>
              <a:blipFill>
                <a:blip r:embed="rId3"/>
                <a:stretch>
                  <a:fillRect l="-1334" t="-1332" r="-638"/>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34</a:t>
            </a:fld>
            <a:endParaRPr lang="en-US" sz="2800" dirty="0"/>
          </a:p>
        </p:txBody>
      </p:sp>
    </p:spTree>
    <p:extLst>
      <p:ext uri="{BB962C8B-B14F-4D97-AF65-F5344CB8AC3E}">
        <p14:creationId xmlns:p14="http://schemas.microsoft.com/office/powerpoint/2010/main" val="2962031366"/>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err="1">
                <a:solidFill>
                  <a:schemeClr val="tx1"/>
                </a:solidFill>
              </a:rPr>
              <a:t>XGBoost</a:t>
            </a:r>
            <a:endParaRPr lang="es-ES_tradnl" dirty="0"/>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1869400" cy="9428444"/>
          </a:xfrm>
          <a:prstGeom prst="rect">
            <a:avLst/>
          </a:prstGeom>
        </p:spPr>
        <p:txBody>
          <a:bodyPr>
            <a:normAutofit fontScale="92500" lnSpcReduction="10000"/>
          </a:bodyPr>
          <a:lstStyle/>
          <a:p>
            <a:pPr>
              <a:defRPr sz="4600">
                <a:latin typeface="Graphik Compact Regular"/>
                <a:ea typeface="Graphik Compact Regular"/>
                <a:cs typeface="Graphik Compact Regular"/>
                <a:sym typeface="Graphik Compact Regular"/>
              </a:defRPr>
            </a:pPr>
            <a:r>
              <a:rPr lang="es-ES_tradnl" dirty="0"/>
              <a:t>En Python, </a:t>
            </a:r>
            <a:r>
              <a:rPr lang="es-ES_tradnl" b="1" dirty="0" err="1">
                <a:solidFill>
                  <a:schemeClr val="accent1"/>
                </a:solidFill>
              </a:rPr>
              <a:t>XGBoost</a:t>
            </a:r>
            <a:r>
              <a:rPr lang="es-ES_tradnl" b="1" dirty="0"/>
              <a:t> </a:t>
            </a:r>
            <a:r>
              <a:rPr lang="es-ES_tradnl" dirty="0"/>
              <a:t>tiene dos interfaces:</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_tradnl" dirty="0"/>
              <a:t>Una propia más cercana al paradigma funcional (cercana a R).</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_tradnl" dirty="0"/>
              <a:t>Una que imita al API de </a:t>
            </a:r>
            <a:r>
              <a:rPr lang="es-ES_tradnl" dirty="0" err="1"/>
              <a:t>Scikit-Learn</a:t>
            </a:r>
            <a:r>
              <a:rPr lang="es-ES_tradnl" dirty="0"/>
              <a:t>. Para ser consistente con otros métodos de </a:t>
            </a:r>
            <a:r>
              <a:rPr lang="es-ES_tradnl" dirty="0" err="1"/>
              <a:t>Scikit-Learn</a:t>
            </a:r>
            <a:r>
              <a:rPr lang="es-ES_tradnl" dirty="0"/>
              <a:t>, algunos parámetros son renombrados, como por ejemplo eta se llama </a:t>
            </a:r>
            <a:r>
              <a:rPr lang="es-ES_tradnl" i="1" dirty="0" err="1"/>
              <a:t>learning_rate</a:t>
            </a:r>
            <a:r>
              <a:rPr lang="es-ES_tradnl" dirty="0"/>
              <a:t>.</a:t>
            </a:r>
          </a:p>
          <a:p>
            <a:pPr>
              <a:defRPr sz="4600">
                <a:latin typeface="Graphik Compact Regular"/>
                <a:ea typeface="Graphik Compact Regular"/>
                <a:cs typeface="Graphik Compact Regular"/>
                <a:sym typeface="Graphik Compact Regular"/>
              </a:defRPr>
            </a:pPr>
            <a:r>
              <a:rPr lang="es-ES_tradnl" dirty="0"/>
              <a:t>Otra capacidad que presenta</a:t>
            </a:r>
            <a:r>
              <a:rPr lang="es-ES_tradnl" b="1" dirty="0"/>
              <a:t> </a:t>
            </a:r>
            <a:r>
              <a:rPr lang="es-ES_tradnl" b="1" dirty="0" err="1">
                <a:solidFill>
                  <a:schemeClr val="accent1"/>
                </a:solidFill>
              </a:rPr>
              <a:t>XGBoost</a:t>
            </a:r>
            <a:r>
              <a:rPr lang="es-ES_tradnl" dirty="0">
                <a:solidFill>
                  <a:schemeClr val="tx1"/>
                </a:solidFill>
              </a:rPr>
              <a:t>, dado su facilidad de tener </a:t>
            </a:r>
            <a:r>
              <a:rPr lang="es-ES_tradnl" dirty="0" err="1">
                <a:solidFill>
                  <a:schemeClr val="tx1"/>
                </a:solidFill>
              </a:rPr>
              <a:t>overfitting</a:t>
            </a:r>
            <a:r>
              <a:rPr lang="es-ES_tradnl" dirty="0">
                <a:solidFill>
                  <a:schemeClr val="tx1"/>
                </a:solidFill>
              </a:rPr>
              <a:t> es </a:t>
            </a:r>
            <a:r>
              <a:rPr lang="es-ES_tradnl" b="1" dirty="0">
                <a:solidFill>
                  <a:schemeClr val="accent5"/>
                </a:solidFill>
              </a:rPr>
              <a:t>regularización</a:t>
            </a:r>
            <a:r>
              <a:rPr lang="es-ES_tradnl" dirty="0">
                <a:solidFill>
                  <a:schemeClr val="tx1"/>
                </a:solidFill>
              </a:rPr>
              <a:t>.  Para ello se presenta dos parámetros que controlan dos partes:</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_tradnl" dirty="0" err="1">
                <a:solidFill>
                  <a:schemeClr val="tx1"/>
                </a:solidFill>
              </a:rPr>
              <a:t>reg_alpha</a:t>
            </a:r>
            <a:r>
              <a:rPr lang="es-ES_tradnl" dirty="0">
                <a:solidFill>
                  <a:schemeClr val="tx1"/>
                </a:solidFill>
              </a:rPr>
              <a:t>: El cual corresponde a una regularización L1 (Lasso)</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_tradnl" dirty="0" err="1">
                <a:solidFill>
                  <a:schemeClr val="tx1"/>
                </a:solidFill>
              </a:rPr>
              <a:t>reg_lambda</a:t>
            </a:r>
            <a:r>
              <a:rPr lang="es-ES_tradnl" dirty="0">
                <a:solidFill>
                  <a:schemeClr val="tx1"/>
                </a:solidFill>
              </a:rPr>
              <a:t>: El cual corresponde a una regularización L2 (Ridge)</a:t>
            </a:r>
          </a:p>
          <a:p>
            <a:pPr>
              <a:defRPr sz="4600">
                <a:latin typeface="Graphik Compact Regular"/>
                <a:ea typeface="Graphik Compact Regular"/>
                <a:cs typeface="Graphik Compact Regular"/>
                <a:sym typeface="Graphik Compact Regular"/>
              </a:defRPr>
            </a:pPr>
            <a:r>
              <a:rPr lang="es-ES_tradnl" dirty="0">
                <a:solidFill>
                  <a:schemeClr val="tx1"/>
                </a:solidFill>
              </a:rPr>
              <a:t>Incrementar estos parámetros, penalizarán modelos y reducirán el tamaño de los árboles.</a:t>
            </a:r>
          </a:p>
          <a:p>
            <a:pPr>
              <a:defRPr sz="4600">
                <a:latin typeface="Graphik Compact Regular"/>
                <a:ea typeface="Graphik Compact Regular"/>
                <a:cs typeface="Graphik Compact Regular"/>
                <a:sym typeface="Graphik Compact Regular"/>
              </a:defRPr>
            </a:pPr>
            <a:r>
              <a:rPr lang="es-ES_tradnl" dirty="0">
                <a:solidFill>
                  <a:schemeClr val="tx1"/>
                </a:solidFill>
              </a:rPr>
              <a:t>Otra implementación de este tipo de modelos muy popular es </a:t>
            </a:r>
            <a:r>
              <a:rPr lang="en-US" dirty="0" err="1">
                <a:hlinkClick r:id="rId3"/>
              </a:rPr>
              <a:t>LightGBM</a:t>
            </a:r>
            <a:r>
              <a:rPr lang="en-US" dirty="0"/>
              <a:t>.</a:t>
            </a:r>
            <a:endParaRPr lang="es-ES_tradnl" dirty="0">
              <a:solidFill>
                <a:schemeClr val="tx1"/>
              </a:solidFill>
            </a:endParaRP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endParaRPr lang="es-ES_tradnl" dirty="0">
              <a:solidFill>
                <a:schemeClr val="tx1"/>
              </a:solidFill>
            </a:endParaRP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35</a:t>
            </a:fld>
            <a:endParaRPr lang="en-US" sz="2800" dirty="0"/>
          </a:p>
        </p:txBody>
      </p:sp>
    </p:spTree>
    <p:extLst>
      <p:ext uri="{BB962C8B-B14F-4D97-AF65-F5344CB8AC3E}">
        <p14:creationId xmlns:p14="http://schemas.microsoft.com/office/powerpoint/2010/main" val="2852857676"/>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VAMOS A PRÁCTICAR UN POCO…"/>
          <p:cNvSpPr txBox="1">
            <a:spLocks noGrp="1"/>
          </p:cNvSpPr>
          <p:nvPr>
            <p:ph type="body" sz="half" idx="1"/>
          </p:nvPr>
        </p:nvSpPr>
        <p:spPr>
          <a:prstGeom prst="rect">
            <a:avLst/>
          </a:prstGeom>
        </p:spPr>
        <p:txBody>
          <a:bodyPr/>
          <a:lstStyle>
            <a:lvl1pPr>
              <a:defRPr sz="5400" b="0" spc="-215">
                <a:solidFill>
                  <a:srgbClr val="FFFFFF"/>
                </a:solidFill>
                <a:latin typeface="Graphik Compact Bold"/>
                <a:ea typeface="Graphik Compact Bold"/>
                <a:cs typeface="Graphik Compact Bold"/>
                <a:sym typeface="Graphik Compact Bold"/>
              </a:defRPr>
            </a:lvl1pPr>
          </a:lstStyle>
          <a:p>
            <a:r>
              <a:rPr dirty="0">
                <a:solidFill>
                  <a:schemeClr val="tx1"/>
                </a:solidFill>
              </a:rPr>
              <a:t>VAMOS A PRÁCTICAR UN POCO…</a:t>
            </a:r>
          </a:p>
        </p:txBody>
      </p:sp>
    </p:spTree>
    <p:extLst>
      <p:ext uri="{BB962C8B-B14F-4D97-AF65-F5344CB8AC3E}">
        <p14:creationId xmlns:p14="http://schemas.microsoft.com/office/powerpoint/2010/main" val="3090711589"/>
      </p:ext>
    </p:extLst>
  </p:cSld>
  <p:clrMapOvr>
    <a:masterClrMapping/>
  </p:clrMapOvr>
  <p:transition spd="med"/>
</p:sld>
</file>

<file path=ppt/theme/theme1.xml><?xml version="1.0" encoding="utf-8"?>
<a:theme xmlns:a="http://schemas.openxmlformats.org/drawingml/2006/main" name="34_DynamicRainbow">
  <a:themeElements>
    <a:clrScheme name="34_DynamicRainbow">
      <a:dk1>
        <a:srgbClr val="000000"/>
      </a:dk1>
      <a:lt1>
        <a:srgbClr val="FFFFFF"/>
      </a:lt1>
      <a:dk2>
        <a:srgbClr val="5E5E5E"/>
      </a:dk2>
      <a:lt2>
        <a:srgbClr val="D5D5D5"/>
      </a:lt2>
      <a:accent1>
        <a:srgbClr val="599DFF"/>
      </a:accent1>
      <a:accent2>
        <a:srgbClr val="00D4D2"/>
      </a:accent2>
      <a:accent3>
        <a:srgbClr val="38E53A"/>
      </a:accent3>
      <a:accent4>
        <a:srgbClr val="FFFA00"/>
      </a:accent4>
      <a:accent5>
        <a:srgbClr val="FF7D74"/>
      </a:accent5>
      <a:accent6>
        <a:srgbClr val="FF80E9"/>
      </a:accent6>
      <a:hlink>
        <a:srgbClr val="0000FF"/>
      </a:hlink>
      <a:folHlink>
        <a:srgbClr val="FF00FF"/>
      </a:folHlink>
    </a:clrScheme>
    <a:fontScheme name="34_DynamicRainbow">
      <a:majorFont>
        <a:latin typeface="Graphik"/>
        <a:ea typeface="Graphik"/>
        <a:cs typeface="Graphik"/>
      </a:majorFont>
      <a:minorFont>
        <a:latin typeface="Graphik"/>
        <a:ea typeface="Graphik"/>
        <a:cs typeface="Graphik"/>
      </a:minorFont>
    </a:fontScheme>
    <a:fmtScheme name="34_DynamicRainb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2200" b="0" i="0" u="none" strike="noStrike" cap="none" spc="-44" normalizeH="0" baseline="0">
            <a:ln>
              <a:noFill/>
            </a:ln>
            <a:solidFill>
              <a:srgbClr val="FFFFFF"/>
            </a:solidFill>
            <a:effectLst/>
            <a:uFillTx/>
            <a:latin typeface="Graphik-SemiboldItalic"/>
            <a:ea typeface="Graphik-SemiboldItalic"/>
            <a:cs typeface="Graphik-SemiboldItalic"/>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4_DynamicRainbow">
  <a:themeElements>
    <a:clrScheme name="34_DynamicRainbow">
      <a:dk1>
        <a:srgbClr val="000000"/>
      </a:dk1>
      <a:lt1>
        <a:srgbClr val="FFFFFF"/>
      </a:lt1>
      <a:dk2>
        <a:srgbClr val="5E5E5E"/>
      </a:dk2>
      <a:lt2>
        <a:srgbClr val="D5D5D5"/>
      </a:lt2>
      <a:accent1>
        <a:srgbClr val="599DFF"/>
      </a:accent1>
      <a:accent2>
        <a:srgbClr val="00D4D2"/>
      </a:accent2>
      <a:accent3>
        <a:srgbClr val="38E53A"/>
      </a:accent3>
      <a:accent4>
        <a:srgbClr val="FFFA00"/>
      </a:accent4>
      <a:accent5>
        <a:srgbClr val="FF7D74"/>
      </a:accent5>
      <a:accent6>
        <a:srgbClr val="FF80E9"/>
      </a:accent6>
      <a:hlink>
        <a:srgbClr val="0000FF"/>
      </a:hlink>
      <a:folHlink>
        <a:srgbClr val="FF00FF"/>
      </a:folHlink>
    </a:clrScheme>
    <a:fontScheme name="34_DynamicRainbow">
      <a:majorFont>
        <a:latin typeface="Graphik"/>
        <a:ea typeface="Graphik"/>
        <a:cs typeface="Graphik"/>
      </a:majorFont>
      <a:minorFont>
        <a:latin typeface="Graphik"/>
        <a:ea typeface="Graphik"/>
        <a:cs typeface="Graphik"/>
      </a:minorFont>
    </a:fontScheme>
    <a:fmtScheme name="34_DynamicRainb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2200" b="0" i="0" u="none" strike="noStrike" cap="none" spc="-44" normalizeH="0" baseline="0">
            <a:ln>
              <a:noFill/>
            </a:ln>
            <a:solidFill>
              <a:srgbClr val="FFFFFF"/>
            </a:solidFill>
            <a:effectLst/>
            <a:uFillTx/>
            <a:latin typeface="Graphik-SemiboldItalic"/>
            <a:ea typeface="Graphik-SemiboldItalic"/>
            <a:cs typeface="Graphik-SemiboldItalic"/>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6958</TotalTime>
  <Words>2453</Words>
  <Application>Microsoft Office PowerPoint</Application>
  <PresentationFormat>Personalizado</PresentationFormat>
  <Paragraphs>268</Paragraphs>
  <Slides>36</Slides>
  <Notes>26</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36</vt:i4>
      </vt:variant>
    </vt:vector>
  </HeadingPairs>
  <TitlesOfParts>
    <vt:vector size="46" baseType="lpstr">
      <vt:lpstr>Aptos</vt:lpstr>
      <vt:lpstr>Arial</vt:lpstr>
      <vt:lpstr>Cambria Math</vt:lpstr>
      <vt:lpstr>Graphik</vt:lpstr>
      <vt:lpstr>Graphik Compact</vt:lpstr>
      <vt:lpstr>Graphik Compact Regular</vt:lpstr>
      <vt:lpstr>Graphik-Medium</vt:lpstr>
      <vt:lpstr>Graphik-SemiboldItalic</vt:lpstr>
      <vt:lpstr>Helvetica Neue</vt:lpstr>
      <vt:lpstr>34_DynamicRainbow</vt:lpstr>
      <vt:lpstr>Métodos de ensamble</vt:lpstr>
      <vt:lpstr>Presentación de PowerPoint</vt:lpstr>
      <vt:lpstr>Métodos de ensamble</vt:lpstr>
      <vt:lpstr>Métodos de ensamble</vt:lpstr>
      <vt:lpstr>Presentación de PowerPoint</vt:lpstr>
      <vt:lpstr>Modelos que Votan</vt:lpstr>
      <vt:lpstr>Modelos que Votan</vt:lpstr>
      <vt:lpstr>Modelos que Votan</vt:lpstr>
      <vt:lpstr>Modelos que Votan</vt:lpstr>
      <vt:lpstr>Modelos que Votan</vt:lpstr>
      <vt:lpstr>Modelos que Votan</vt:lpstr>
      <vt:lpstr>Modelos que Votan</vt:lpstr>
      <vt:lpstr>Modelos que Votan</vt:lpstr>
      <vt:lpstr>Presentación de PowerPoint</vt:lpstr>
      <vt:lpstr>Presentación de PowerPoint</vt:lpstr>
      <vt:lpstr>Bagging</vt:lpstr>
      <vt:lpstr>Bagging</vt:lpstr>
      <vt:lpstr>Bagging</vt:lpstr>
      <vt:lpstr>Bagging</vt:lpstr>
      <vt:lpstr>Bagging</vt:lpstr>
      <vt:lpstr>Presentación de PowerPoint</vt:lpstr>
      <vt:lpstr>Bosques aleatorios</vt:lpstr>
      <vt:lpstr>Bosques aleatorios</vt:lpstr>
      <vt:lpstr>Bosques aleatorios</vt:lpstr>
      <vt:lpstr>Bosques aleatorios</vt:lpstr>
      <vt:lpstr>Presentación de PowerPoint</vt:lpstr>
      <vt:lpstr>Boosting</vt:lpstr>
      <vt:lpstr>Boosting</vt:lpstr>
      <vt:lpstr>Boosting</vt:lpstr>
      <vt:lpstr>Boosting</vt:lpstr>
      <vt:lpstr>Boosting Vs. Bagging</vt:lpstr>
      <vt:lpstr>Presentación de PowerPoint</vt:lpstr>
      <vt:lpstr>XGBoost</vt:lpstr>
      <vt:lpstr>XGBoost</vt:lpstr>
      <vt:lpstr>XGBoost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Neuronales</dc:title>
  <cp:lastModifiedBy>JAIME ANTONIO HUAYTALLA PARIONA</cp:lastModifiedBy>
  <cp:revision>111</cp:revision>
  <dcterms:modified xsi:type="dcterms:W3CDTF">2025-12-03T18:04:13Z</dcterms:modified>
</cp:coreProperties>
</file>