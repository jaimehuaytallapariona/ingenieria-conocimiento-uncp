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86200" y="2399741"/>
            <a:ext cx="5419598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570" y="1717039"/>
            <a:ext cx="10182860" cy="2626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@uni.edu.pe" TargetMode="External"/><Relationship Id="rId2" Type="http://schemas.openxmlformats.org/officeDocument/2006/relationships/hyperlink" Target="mailto:Wzelam@uni.edu.p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roomes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b.pe/institucion/pcm/informes-publicaciones/1929011-estrategia-nacional-de-inteligencia-artificia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gob.pe/institucion/pcm/informes-publicaciones/1929011-estrategia-nacional-de-inteligencia-artificial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atbots.org/ai_zone" TargetMode="External"/><Relationship Id="rId2" Type="http://schemas.openxmlformats.org/officeDocument/2006/relationships/hyperlink" Target="https://en.wikipedia.org/wiki/Loebner_Priz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aikato.github.io/weka-wiki/downloading_wek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loudera.com/downloads/hortonworks-sandbox/hdp.html" TargetMode="External"/><Relationship Id="rId5" Type="http://schemas.openxmlformats.org/officeDocument/2006/relationships/hyperlink" Target="https://www.edureka.co/blog/keras-vs-tensorflow-vs-pytorch/" TargetMode="External"/><Relationship Id="rId4" Type="http://schemas.openxmlformats.org/officeDocument/2006/relationships/hyperlink" Target="https://keras.io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ialogflow.com/" TargetMode="External"/><Relationship Id="rId2" Type="http://schemas.openxmlformats.org/officeDocument/2006/relationships/hyperlink" Target="https://ras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t.ai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sking/dlib/blob/master/python_examples/face_recognition.py" TargetMode="External"/><Relationship Id="rId2" Type="http://schemas.openxmlformats.org/officeDocument/2006/relationships/hyperlink" Target="https://docs.opencv.org/3.0-beta/modules/face/doc/facerec/facerec_tutorial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musatyalab.github.io/openface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ymnasium.farama.org/" TargetMode="External"/><Relationship Id="rId2" Type="http://schemas.openxmlformats.org/officeDocument/2006/relationships/hyperlink" Target="https://docs.opencv.org/3.0-beta/modules/objdetect/doc/cascade_classification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jeElectronics/TensorFlow-Lite-Object-Detection-on-Android-and-Raspberry-Pi/blob/master/Raspberry_Pi_Guide.md" TargetMode="External"/><Relationship Id="rId2" Type="http://schemas.openxmlformats.org/officeDocument/2006/relationships/hyperlink" Target="https://www.raspberrypi.org/documentation/computers/o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roomes.com/viewforum.php?f=46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q-learning-54b841f3f9e4" TargetMode="External"/><Relationship Id="rId2" Type="http://schemas.openxmlformats.org/officeDocument/2006/relationships/hyperlink" Target="https://www.youtube.com/watch?v=VMp6pq6_QjI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7" Type="http://schemas.openxmlformats.org/officeDocument/2006/relationships/image" Target="../media/image16.jpg"/><Relationship Id="rId2" Type="http://schemas.openxmlformats.org/officeDocument/2006/relationships/hyperlink" Target="https://gym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orch.org/" TargetMode="External"/><Relationship Id="rId5" Type="http://schemas.openxmlformats.org/officeDocument/2006/relationships/hyperlink" Target="https://github.com/deepmind/lab" TargetMode="External"/><Relationship Id="rId4" Type="http://schemas.openxmlformats.org/officeDocument/2006/relationships/hyperlink" Target="https://keras.io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youtube.com/watch?v=LqUFJhkIqn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oomes.com/viewtopic.php?f=37&amp;t=7460" TargetMode="External"/><Relationship Id="rId2" Type="http://schemas.openxmlformats.org/officeDocument/2006/relationships/hyperlink" Target="https://www.troomes.com/viewtopic.php?f=37&amp;t=746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roomes.com/viewtopic.php?f=37&amp;t=7330" TargetMode="External"/><Relationship Id="rId5" Type="http://schemas.openxmlformats.org/officeDocument/2006/relationships/hyperlink" Target="https://www.troomes.com/viewtopic.php?f=37&amp;t=7319" TargetMode="External"/><Relationship Id="rId4" Type="http://schemas.openxmlformats.org/officeDocument/2006/relationships/hyperlink" Target="https://www.troomes.com/viewtopic.php?f=37&amp;t=7318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Machine</a:t>
            </a:r>
            <a:r>
              <a:rPr spc="-180" dirty="0"/>
              <a:t> </a:t>
            </a:r>
            <a:r>
              <a:rPr spc="-4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4973" y="3589699"/>
            <a:ext cx="2703830" cy="2280285"/>
          </a:xfrm>
          <a:prstGeom prst="rect">
            <a:avLst/>
          </a:prstGeom>
        </p:spPr>
        <p:txBody>
          <a:bodyPr vert="horz" wrap="square" lIns="0" tIns="2114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5"/>
              </a:spcBef>
            </a:pPr>
            <a:r>
              <a:rPr sz="4400" spc="-40" dirty="0">
                <a:latin typeface="Calibri"/>
                <a:cs typeface="Calibri"/>
              </a:rPr>
              <a:t>Wester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spc="-20" dirty="0">
                <a:latin typeface="Calibri"/>
                <a:cs typeface="Calibri"/>
              </a:rPr>
              <a:t>Zela</a:t>
            </a:r>
            <a:endParaRPr sz="4400">
              <a:latin typeface="Calibri"/>
              <a:cs typeface="Calibri"/>
            </a:endParaRPr>
          </a:p>
          <a:p>
            <a:pPr marL="52069" marR="44450" indent="-1905" algn="ctr">
              <a:lnSpc>
                <a:spcPct val="124600"/>
              </a:lnSpc>
              <a:spcBef>
                <a:spcPts val="140"/>
              </a:spcBef>
            </a:pPr>
            <a:r>
              <a:rPr sz="2400" spc="-5" dirty="0">
                <a:latin typeface="Calibri"/>
                <a:cs typeface="Calibri"/>
              </a:rPr>
              <a:t>Sesion </a:t>
            </a:r>
            <a:r>
              <a:rPr sz="2400" dirty="0">
                <a:latin typeface="Calibri"/>
                <a:cs typeface="Calibri"/>
              </a:rPr>
              <a:t>1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  <a:hlinkClick r:id="rId2"/>
              </a:rPr>
              <a:t>W</a:t>
            </a:r>
            <a:r>
              <a:rPr sz="2400" spc="-50" dirty="0">
                <a:latin typeface="Calibri"/>
                <a:cs typeface="Calibri"/>
                <a:hlinkClick r:id="rId2"/>
              </a:rPr>
              <a:t>z</a:t>
            </a:r>
            <a:r>
              <a:rPr sz="2400" dirty="0">
                <a:latin typeface="Calibri"/>
                <a:cs typeface="Calibri"/>
                <a:hlinkClick r:id="rId2"/>
              </a:rPr>
              <a:t>el</a:t>
            </a:r>
            <a:r>
              <a:rPr sz="2400" spc="5" dirty="0">
                <a:latin typeface="Calibri"/>
                <a:cs typeface="Calibri"/>
                <a:hlinkClick r:id="rId2"/>
              </a:rPr>
              <a:t>a</a:t>
            </a:r>
            <a:r>
              <a:rPr sz="2400" dirty="0">
                <a:latin typeface="Calibri"/>
                <a:cs typeface="Calibri"/>
                <a:hlinkClick r:id="rId3"/>
              </a:rPr>
              <a:t>m@uni.edu.pe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  <a:hlinkClick r:id="rId4"/>
              </a:rPr>
              <a:t>www.troomes.com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1450" y="6441135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89372" y="2075180"/>
            <a:ext cx="5956300" cy="2586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MT"/>
                <a:cs typeface="Arial MT"/>
              </a:rPr>
              <a:t>PhD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Computer</a:t>
            </a:r>
            <a:r>
              <a:rPr sz="1400" spc="-5" dirty="0">
                <a:latin typeface="Arial MT"/>
                <a:cs typeface="Arial MT"/>
              </a:rPr>
              <a:t> Science</a:t>
            </a:r>
            <a:r>
              <a:rPr sz="1400" dirty="0">
                <a:latin typeface="Arial MT"/>
                <a:cs typeface="Arial MT"/>
              </a:rPr>
              <a:t> –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Inteligencia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Artificial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por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la</a:t>
            </a:r>
            <a:r>
              <a:rPr sz="1400" spc="-5" dirty="0">
                <a:latin typeface="Arial MT"/>
                <a:cs typeface="Arial MT"/>
              </a:rPr>
              <a:t> Universidad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Politécnica de Madrid. </a:t>
            </a:r>
            <a:r>
              <a:rPr sz="1400" spc="-10" dirty="0">
                <a:latin typeface="Arial MT"/>
                <a:cs typeface="Arial MT"/>
              </a:rPr>
              <a:t>Master </a:t>
            </a:r>
            <a:r>
              <a:rPr sz="1400" spc="-5" dirty="0">
                <a:latin typeface="Arial MT"/>
                <a:cs typeface="Arial MT"/>
              </a:rPr>
              <a:t>en Ingeniería de Software por la Universidad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 Oxford. </a:t>
            </a:r>
            <a:r>
              <a:rPr sz="1400" spc="-10" dirty="0">
                <a:latin typeface="Arial MT"/>
                <a:cs typeface="Arial MT"/>
              </a:rPr>
              <a:t>Master </a:t>
            </a:r>
            <a:r>
              <a:rPr sz="1400" spc="-5" dirty="0">
                <a:latin typeface="Arial MT"/>
                <a:cs typeface="Arial MT"/>
              </a:rPr>
              <a:t>en Análisis Financiero </a:t>
            </a:r>
            <a:r>
              <a:rPr sz="1400" dirty="0">
                <a:latin typeface="Arial MT"/>
                <a:cs typeface="Arial MT"/>
              </a:rPr>
              <a:t>y </a:t>
            </a:r>
            <a:r>
              <a:rPr sz="1400" spc="-5" dirty="0">
                <a:latin typeface="Arial MT"/>
                <a:cs typeface="Arial MT"/>
              </a:rPr>
              <a:t>Económico por </a:t>
            </a:r>
            <a:r>
              <a:rPr sz="1400" dirty="0">
                <a:latin typeface="Arial MT"/>
                <a:cs typeface="Arial MT"/>
              </a:rPr>
              <a:t>la </a:t>
            </a:r>
            <a:r>
              <a:rPr sz="1400" spc="-5" dirty="0">
                <a:latin typeface="Arial MT"/>
                <a:cs typeface="Arial MT"/>
              </a:rPr>
              <a:t>Universidad </a:t>
            </a:r>
            <a:r>
              <a:rPr sz="1400" dirty="0">
                <a:latin typeface="Arial MT"/>
                <a:cs typeface="Arial MT"/>
              </a:rPr>
              <a:t> Complutense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Madrid.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Ingeniero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Sistemas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UNI.</a:t>
            </a:r>
            <a:endParaRPr sz="1400">
              <a:latin typeface="Arial MT"/>
              <a:cs typeface="Arial MT"/>
            </a:endParaRPr>
          </a:p>
          <a:p>
            <a:pPr marL="12700" marR="6350" algn="just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Amplia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experiencia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profesional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Transformación</a:t>
            </a:r>
            <a:r>
              <a:rPr sz="1400" spc="-5" dirty="0">
                <a:latin typeface="Arial MT"/>
                <a:cs typeface="Arial MT"/>
              </a:rPr>
              <a:t> Digital,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Machine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Learning,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RPAs,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Data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Science,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Metodologías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Ágiles,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Microservices,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gestión económica </a:t>
            </a:r>
            <a:r>
              <a:rPr sz="1400" spc="-10" dirty="0">
                <a:latin typeface="Arial MT"/>
                <a:cs typeface="Arial MT"/>
              </a:rPr>
              <a:t>de </a:t>
            </a:r>
            <a:r>
              <a:rPr sz="1400" spc="-5" dirty="0">
                <a:latin typeface="Arial MT"/>
                <a:cs typeface="Arial MT"/>
              </a:rPr>
              <a:t>proyectos. </a:t>
            </a:r>
            <a:r>
              <a:rPr sz="1400" spc="-10" dirty="0">
                <a:latin typeface="Arial MT"/>
                <a:cs typeface="Arial MT"/>
              </a:rPr>
              <a:t>Docente </a:t>
            </a:r>
            <a:r>
              <a:rPr sz="1400" spc="-5" dirty="0">
                <a:latin typeface="Arial MT"/>
                <a:cs typeface="Arial MT"/>
              </a:rPr>
              <a:t>de Inteligencia Artificial </a:t>
            </a:r>
            <a:r>
              <a:rPr sz="1400" spc="-10" dirty="0">
                <a:latin typeface="Arial MT"/>
                <a:cs typeface="Arial MT"/>
              </a:rPr>
              <a:t>en </a:t>
            </a:r>
            <a:r>
              <a:rPr sz="1400" spc="-15" dirty="0">
                <a:latin typeface="Arial MT"/>
                <a:cs typeface="Arial MT"/>
              </a:rPr>
              <a:t>la 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Universidad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Nacional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Ingeniería.</a:t>
            </a:r>
            <a:endParaRPr sz="1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Director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empresas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Peru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Europa</a:t>
            </a:r>
            <a:endParaRPr sz="1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Consultor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IA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Datos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SGTD</a:t>
            </a:r>
            <a:r>
              <a:rPr sz="1400" spc="-5" dirty="0">
                <a:latin typeface="Arial MT"/>
                <a:cs typeface="Arial MT"/>
              </a:rPr>
              <a:t> 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PCM</a:t>
            </a:r>
            <a:endParaRPr sz="1400">
              <a:latin typeface="Arial MT"/>
              <a:cs typeface="Arial MT"/>
            </a:endParaRPr>
          </a:p>
          <a:p>
            <a:pPr marL="12700" marR="52006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Miembro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del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AI </a:t>
            </a:r>
            <a:r>
              <a:rPr sz="1400" dirty="0">
                <a:latin typeface="Arial MT"/>
                <a:cs typeface="Arial MT"/>
              </a:rPr>
              <a:t>Connect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Program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(US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Department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Atlantic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Council)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Creador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Troomes.com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89372" y="1384808"/>
            <a:ext cx="30257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01F5F"/>
                </a:solidFill>
                <a:latin typeface="Arial"/>
                <a:cs typeface="Arial"/>
              </a:rPr>
              <a:t>PhD</a:t>
            </a:r>
            <a:r>
              <a:rPr sz="30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001F5F"/>
                </a:solidFill>
                <a:latin typeface="Arial"/>
                <a:cs typeface="Arial"/>
              </a:rPr>
              <a:t>Wester</a:t>
            </a:r>
            <a:r>
              <a:rPr sz="3000" b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01F5F"/>
                </a:solidFill>
                <a:latin typeface="Arial"/>
                <a:cs typeface="Arial"/>
              </a:rPr>
              <a:t>Zela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1449324"/>
            <a:ext cx="2936748" cy="33421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3105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Agenda:</a:t>
            </a:r>
            <a:r>
              <a:rPr sz="3600" spc="-114" dirty="0"/>
              <a:t> </a:t>
            </a:r>
            <a:r>
              <a:rPr sz="3600" spc="-20" dirty="0"/>
              <a:t>Sesion</a:t>
            </a:r>
            <a:r>
              <a:rPr sz="3600" spc="-114" dirty="0"/>
              <a:t> </a:t>
            </a:r>
            <a:r>
              <a:rPr sz="3600" dirty="0"/>
              <a:t>1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4123690" cy="26231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-10" dirty="0">
                <a:latin typeface="Calibri"/>
                <a:cs typeface="Calibri"/>
              </a:rPr>
              <a:t> Learning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Tipos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-10" dirty="0">
                <a:latin typeface="Calibri"/>
                <a:cs typeface="Calibri"/>
              </a:rPr>
              <a:t> Learning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Supervised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Unsupervised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Reinforcement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Evolutionary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20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Los</a:t>
            </a:r>
            <a:r>
              <a:rPr sz="4400" spc="-5" dirty="0"/>
              <a:t> ciclos</a:t>
            </a:r>
            <a:r>
              <a:rPr sz="4400" spc="10" dirty="0"/>
              <a:t> </a:t>
            </a:r>
            <a:r>
              <a:rPr sz="4400" dirty="0"/>
              <a:t>de</a:t>
            </a:r>
            <a:r>
              <a:rPr sz="4400" spc="5" dirty="0"/>
              <a:t> </a:t>
            </a:r>
            <a:r>
              <a:rPr sz="4400" dirty="0"/>
              <a:t>la</a:t>
            </a:r>
            <a:r>
              <a:rPr sz="4400" spc="10" dirty="0"/>
              <a:t> </a:t>
            </a:r>
            <a:r>
              <a:rPr sz="4400" spc="-15" dirty="0"/>
              <a:t>Inteligencia</a:t>
            </a:r>
            <a:r>
              <a:rPr sz="4400" spc="15" dirty="0"/>
              <a:t> </a:t>
            </a:r>
            <a:r>
              <a:rPr sz="4400" dirty="0"/>
              <a:t>Artificial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4076" y="1789176"/>
            <a:ext cx="6038087" cy="4070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6579" y="330149"/>
            <a:ext cx="81349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Artificial</a:t>
            </a:r>
            <a:r>
              <a:rPr sz="4000" spc="-55" dirty="0"/>
              <a:t> </a:t>
            </a:r>
            <a:r>
              <a:rPr sz="4000" spc="-40" dirty="0"/>
              <a:t>Intelligence</a:t>
            </a:r>
            <a:r>
              <a:rPr sz="4000" spc="-60" dirty="0"/>
              <a:t> </a:t>
            </a:r>
            <a:r>
              <a:rPr sz="4000" spc="-5" dirty="0"/>
              <a:t>in</a:t>
            </a:r>
            <a:r>
              <a:rPr sz="4000" spc="-60" dirty="0"/>
              <a:t> </a:t>
            </a:r>
            <a:r>
              <a:rPr sz="4000" spc="-50" dirty="0"/>
              <a:t>Economy/Society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990598"/>
            <a:ext cx="8656319" cy="58094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491" y="368046"/>
            <a:ext cx="4892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Inteligencia</a:t>
            </a:r>
            <a:r>
              <a:rPr sz="3600" spc="-90" dirty="0"/>
              <a:t> </a:t>
            </a:r>
            <a:r>
              <a:rPr sz="3600" spc="-25" dirty="0"/>
              <a:t>Artificial</a:t>
            </a:r>
            <a:r>
              <a:rPr sz="3600" spc="-65" dirty="0"/>
              <a:t> </a:t>
            </a:r>
            <a:r>
              <a:rPr sz="3600" dirty="0"/>
              <a:t>-</a:t>
            </a:r>
            <a:r>
              <a:rPr sz="3600" spc="-30" dirty="0"/>
              <a:t> </a:t>
            </a:r>
            <a:r>
              <a:rPr sz="3600" spc="-20" dirty="0"/>
              <a:t>ENIA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159763"/>
            <a:ext cx="8961119" cy="49027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9591" y="6117742"/>
            <a:ext cx="958723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Fuente:</a:t>
            </a:r>
            <a:r>
              <a:rPr sz="1800" u="heavy" spc="1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https://www.gob.pe/institucion/pcm/informes-publicaciones/1929011-estrategia-nacional-de-</a:t>
            </a:r>
            <a:endParaRPr sz="1800">
              <a:latin typeface="Calibri"/>
              <a:cs typeface="Calibri"/>
            </a:endParaRPr>
          </a:p>
          <a:p>
            <a:pPr marL="86995">
              <a:lnSpc>
                <a:spcPts val="2050"/>
              </a:lnSpc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inteligencia-artificial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491" y="368046"/>
            <a:ext cx="8539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Índice</a:t>
            </a:r>
            <a:r>
              <a:rPr sz="3600" spc="-80" dirty="0"/>
              <a:t> </a:t>
            </a:r>
            <a:r>
              <a:rPr sz="3600" spc="-35" dirty="0"/>
              <a:t>Latinoamericano</a:t>
            </a:r>
            <a:r>
              <a:rPr sz="3600" spc="-85" dirty="0"/>
              <a:t> </a:t>
            </a:r>
            <a:r>
              <a:rPr sz="3600" spc="-15" dirty="0"/>
              <a:t>de</a:t>
            </a:r>
            <a:r>
              <a:rPr sz="3600" spc="-45" dirty="0"/>
              <a:t> </a:t>
            </a:r>
            <a:r>
              <a:rPr sz="3600" spc="-35" dirty="0"/>
              <a:t>Inteligencia</a:t>
            </a:r>
            <a:r>
              <a:rPr sz="3600" spc="-80" dirty="0"/>
              <a:t> </a:t>
            </a:r>
            <a:r>
              <a:rPr sz="3600" spc="-25" dirty="0"/>
              <a:t>Artificial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99591" y="6117742"/>
            <a:ext cx="2875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Fuente:</a:t>
            </a:r>
            <a:r>
              <a:rPr sz="1800" spc="5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1800" spc="-10" dirty="0">
                <a:latin typeface="Calibri"/>
                <a:cs typeface="Calibri"/>
              </a:rPr>
              <a:t>https://indicelatam.cl/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345691"/>
            <a:ext cx="8709660" cy="3852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75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Machine</a:t>
            </a:r>
            <a:r>
              <a:rPr sz="4400" spc="-14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3092" y="1573784"/>
            <a:ext cx="6879590" cy="4284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122555" indent="-228600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campo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estudio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brinda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computadoras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capacidad de aprender sin ser </a:t>
            </a:r>
            <a:r>
              <a:rPr sz="2400" spc="-15" dirty="0">
                <a:latin typeface="Calibri"/>
                <a:cs typeface="Calibri"/>
              </a:rPr>
              <a:t>programadas </a:t>
            </a:r>
            <a:r>
              <a:rPr sz="2400" spc="-10" dirty="0">
                <a:latin typeface="Calibri"/>
                <a:cs typeface="Calibri"/>
              </a:rPr>
              <a:t> explícitamente.</a:t>
            </a: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Se </a:t>
            </a:r>
            <a:r>
              <a:rPr sz="2400" b="1" spc="-5" dirty="0">
                <a:latin typeface="Calibri"/>
                <a:cs typeface="Calibri"/>
              </a:rPr>
              <a:t>dice que </a:t>
            </a:r>
            <a:r>
              <a:rPr sz="2400" b="1" dirty="0">
                <a:latin typeface="Calibri"/>
                <a:cs typeface="Calibri"/>
              </a:rPr>
              <a:t>un </a:t>
            </a:r>
            <a:r>
              <a:rPr sz="2400" b="1" spc="-10" dirty="0">
                <a:latin typeface="Calibri"/>
                <a:cs typeface="Calibri"/>
              </a:rPr>
              <a:t>programa </a:t>
            </a:r>
            <a:r>
              <a:rPr sz="2400" b="1" dirty="0">
                <a:latin typeface="Calibri"/>
                <a:cs typeface="Calibri"/>
              </a:rPr>
              <a:t>de </a:t>
            </a:r>
            <a:r>
              <a:rPr sz="2400" b="1" spc="-10" dirty="0">
                <a:latin typeface="Calibri"/>
                <a:cs typeface="Calibri"/>
              </a:rPr>
              <a:t>computadora aprende 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 la </a:t>
            </a:r>
            <a:r>
              <a:rPr sz="2400" b="1" spc="-10" dirty="0">
                <a:latin typeface="Calibri"/>
                <a:cs typeface="Calibri"/>
              </a:rPr>
              <a:t>experiencia </a:t>
            </a:r>
            <a:r>
              <a:rPr sz="2400" b="1" dirty="0">
                <a:latin typeface="Calibri"/>
                <a:cs typeface="Calibri"/>
              </a:rPr>
              <a:t>E </a:t>
            </a:r>
            <a:r>
              <a:rPr sz="2400" b="1" spc="-5" dirty="0">
                <a:latin typeface="Calibri"/>
                <a:cs typeface="Calibri"/>
              </a:rPr>
              <a:t>con </a:t>
            </a:r>
            <a:r>
              <a:rPr sz="2400" b="1" spc="-10" dirty="0">
                <a:latin typeface="Calibri"/>
                <a:cs typeface="Calibri"/>
              </a:rPr>
              <a:t>respecto </a:t>
            </a:r>
            <a:r>
              <a:rPr sz="2400" b="1" dirty="0">
                <a:latin typeface="Calibri"/>
                <a:cs typeface="Calibri"/>
              </a:rPr>
              <a:t>a alguna </a:t>
            </a:r>
            <a:r>
              <a:rPr sz="2400" b="1" spc="-5" dirty="0">
                <a:latin typeface="Calibri"/>
                <a:cs typeface="Calibri"/>
              </a:rPr>
              <a:t>clase </a:t>
            </a:r>
            <a:r>
              <a:rPr sz="2400" b="1" dirty="0">
                <a:latin typeface="Calibri"/>
                <a:cs typeface="Calibri"/>
              </a:rPr>
              <a:t>de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tareas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 </a:t>
            </a:r>
            <a:r>
              <a:rPr sz="2400" b="1" spc="-5" dirty="0">
                <a:latin typeface="Calibri"/>
                <a:cs typeface="Calibri"/>
              </a:rPr>
              <a:t>medida de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desempeño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35" dirty="0">
                <a:latin typeface="Calibri"/>
                <a:cs typeface="Calibri"/>
              </a:rPr>
              <a:t>P,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desempeño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n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las </a:t>
            </a:r>
            <a:r>
              <a:rPr sz="2400" b="1" spc="-35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r</a:t>
            </a:r>
            <a:r>
              <a:rPr sz="2400" b="1" spc="-5" dirty="0">
                <a:latin typeface="Calibri"/>
                <a:cs typeface="Calibri"/>
              </a:rPr>
              <a:t>e</a:t>
            </a:r>
            <a:r>
              <a:rPr sz="2400" b="1" dirty="0">
                <a:latin typeface="Calibri"/>
                <a:cs typeface="Calibri"/>
              </a:rPr>
              <a:t>as de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229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, m</a:t>
            </a:r>
            <a:r>
              <a:rPr sz="2400" b="1" spc="-5" dirty="0">
                <a:latin typeface="Calibri"/>
                <a:cs typeface="Calibri"/>
              </a:rPr>
              <a:t>edi</a:t>
            </a:r>
            <a:r>
              <a:rPr sz="2400" b="1" spc="-10" dirty="0">
                <a:latin typeface="Calibri"/>
                <a:cs typeface="Calibri"/>
              </a:rPr>
              <a:t>d</a:t>
            </a:r>
            <a:r>
              <a:rPr sz="2400" b="1" dirty="0">
                <a:latin typeface="Calibri"/>
                <a:cs typeface="Calibri"/>
              </a:rPr>
              <a:t>o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por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70" dirty="0">
                <a:latin typeface="Calibri"/>
                <a:cs typeface="Calibri"/>
              </a:rPr>
              <a:t>P</a:t>
            </a:r>
            <a:r>
              <a:rPr sz="2400" b="1" dirty="0">
                <a:latin typeface="Calibri"/>
                <a:cs typeface="Calibri"/>
              </a:rPr>
              <a:t>, m</a:t>
            </a:r>
            <a:r>
              <a:rPr sz="2400" b="1" spc="-5" dirty="0">
                <a:latin typeface="Calibri"/>
                <a:cs typeface="Calibri"/>
              </a:rPr>
              <a:t>ej</a:t>
            </a:r>
            <a:r>
              <a:rPr sz="2400" b="1" spc="5" dirty="0">
                <a:latin typeface="Calibri"/>
                <a:cs typeface="Calibri"/>
              </a:rPr>
              <a:t>o</a:t>
            </a:r>
            <a:r>
              <a:rPr sz="2400" b="1" spc="-50" dirty="0">
                <a:latin typeface="Calibri"/>
                <a:cs typeface="Calibri"/>
              </a:rPr>
              <a:t>r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  </a:t>
            </a:r>
            <a:r>
              <a:rPr sz="2400" b="1" spc="-10" dirty="0">
                <a:latin typeface="Calibri"/>
                <a:cs typeface="Calibri"/>
              </a:rPr>
              <a:t>experiencia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 </a:t>
            </a:r>
            <a:r>
              <a:rPr sz="2400" b="1" spc="-55" dirty="0">
                <a:latin typeface="Calibri"/>
                <a:cs typeface="Calibri"/>
              </a:rPr>
              <a:t>(Tom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M.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Mitchell).</a:t>
            </a:r>
            <a:endParaRPr sz="2400">
              <a:latin typeface="Calibri"/>
              <a:cs typeface="Calibri"/>
            </a:endParaRPr>
          </a:p>
          <a:p>
            <a:pPr marL="241300" marR="127635" indent="-228600">
              <a:lnSpc>
                <a:spcPct val="8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El </a:t>
            </a:r>
            <a:r>
              <a:rPr sz="2400" spc="-10" dirty="0">
                <a:latin typeface="Calibri"/>
                <a:cs typeface="Calibri"/>
              </a:rPr>
              <a:t>aprendizaje automático </a:t>
            </a:r>
            <a:r>
              <a:rPr sz="2400" spc="-5" dirty="0">
                <a:latin typeface="Calibri"/>
                <a:cs typeface="Calibri"/>
              </a:rPr>
              <a:t>se </a:t>
            </a:r>
            <a:r>
              <a:rPr sz="2400" spc="-10" dirty="0">
                <a:latin typeface="Calibri"/>
                <a:cs typeface="Calibri"/>
              </a:rPr>
              <a:t>encuentra </a:t>
            </a:r>
            <a:r>
              <a:rPr sz="2400" dirty="0">
                <a:latin typeface="Calibri"/>
                <a:cs typeface="Calibri"/>
              </a:rPr>
              <a:t>en la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intersección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15" dirty="0">
                <a:latin typeface="Calibri"/>
                <a:cs typeface="Calibri"/>
              </a:rPr>
              <a:t>informática,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ingeniería </a:t>
            </a:r>
            <a:r>
              <a:rPr sz="2400" dirty="0">
                <a:latin typeface="Calibri"/>
                <a:cs typeface="Calibri"/>
              </a:rPr>
              <a:t>y la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estadística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menudo,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aparece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otras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disciplinas.</a:t>
            </a:r>
            <a:endParaRPr sz="2400">
              <a:latin typeface="Calibri"/>
              <a:cs typeface="Calibri"/>
            </a:endParaRPr>
          </a:p>
          <a:p>
            <a:pPr marL="241300" marR="169545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Se puede aplicar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muchos campos, desde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política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hasta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Medicina.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9019" y="1322832"/>
            <a:ext cx="4792980" cy="4454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75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Machine</a:t>
            </a:r>
            <a:r>
              <a:rPr sz="4400" spc="-14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8055" y="1333500"/>
            <a:ext cx="4524756" cy="5158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75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Machine</a:t>
            </a:r>
            <a:r>
              <a:rPr sz="4400" spc="-14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968230" cy="22428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Started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Turing</a:t>
            </a:r>
            <a:r>
              <a:rPr sz="2800" spc="-5" dirty="0">
                <a:latin typeface="Calibri"/>
                <a:cs typeface="Calibri"/>
              </a:rPr>
              <a:t> 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1950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… </a:t>
            </a:r>
            <a:r>
              <a:rPr sz="2800" spc="25" dirty="0">
                <a:latin typeface="Calibri"/>
                <a:cs typeface="Calibri"/>
              </a:rPr>
              <a:t>“The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imitation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game”,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Can </a:t>
            </a:r>
            <a:r>
              <a:rPr sz="2800" b="1" spc="-5" dirty="0">
                <a:latin typeface="Calibri"/>
                <a:cs typeface="Calibri"/>
              </a:rPr>
              <a:t> machines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think?.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(Computing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machinery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intelligence.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Mind,59,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433-560).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Loebner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Prize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https://en.wikipedia.org/wiki/Loebner_Prize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pos="241935" algn="l"/>
              </a:tabLst>
            </a:pPr>
            <a:r>
              <a:rPr sz="28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https://www.chatbots.org/ai_zone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45832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spc="-20" dirty="0"/>
              <a:t>3.</a:t>
            </a:r>
            <a:r>
              <a:rPr sz="4400" spc="-50" dirty="0"/>
              <a:t> </a:t>
            </a:r>
            <a:r>
              <a:rPr sz="4400" spc="-35" dirty="0"/>
              <a:t>Languages</a:t>
            </a:r>
            <a:r>
              <a:rPr sz="4400" spc="-95" dirty="0"/>
              <a:t> </a:t>
            </a:r>
            <a:r>
              <a:rPr sz="4400" spc="-20" dirty="0"/>
              <a:t>and</a:t>
            </a:r>
            <a:r>
              <a:rPr sz="4400" spc="-90" dirty="0"/>
              <a:t> </a:t>
            </a:r>
            <a:r>
              <a:rPr sz="4400" spc="-105" dirty="0"/>
              <a:t>Tools</a:t>
            </a:r>
            <a:r>
              <a:rPr sz="4400" spc="-80" dirty="0"/>
              <a:t> </a:t>
            </a:r>
            <a:r>
              <a:rPr sz="4400" spc="-10" dirty="0"/>
              <a:t>in</a:t>
            </a:r>
            <a:r>
              <a:rPr sz="4400" spc="-80" dirty="0"/>
              <a:t> </a:t>
            </a:r>
            <a:r>
              <a:rPr sz="4400" spc="-20" dirty="0"/>
              <a:t>ML,</a:t>
            </a:r>
            <a:r>
              <a:rPr sz="4400" spc="-60" dirty="0"/>
              <a:t> </a:t>
            </a:r>
            <a:r>
              <a:rPr sz="4400" spc="-15" dirty="0"/>
              <a:t>Big</a:t>
            </a:r>
            <a:r>
              <a:rPr sz="4400" spc="-80" dirty="0"/>
              <a:t> </a:t>
            </a:r>
            <a:r>
              <a:rPr sz="4400" spc="-50" dirty="0"/>
              <a:t>Data</a:t>
            </a:r>
            <a:r>
              <a:rPr sz="4400" spc="-80" dirty="0"/>
              <a:t> </a:t>
            </a:r>
            <a:r>
              <a:rPr sz="4400" spc="-20" dirty="0"/>
              <a:t>and </a:t>
            </a:r>
            <a:r>
              <a:rPr sz="4400" spc="-980" dirty="0"/>
              <a:t> </a:t>
            </a:r>
            <a:r>
              <a:rPr sz="4400" spc="-50" dirty="0"/>
              <a:t>Data</a:t>
            </a:r>
            <a:r>
              <a:rPr sz="4400" spc="-85" dirty="0"/>
              <a:t> </a:t>
            </a:r>
            <a:r>
              <a:rPr sz="4400" spc="-30" dirty="0"/>
              <a:t>Science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9632315" cy="43726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C++</a:t>
            </a:r>
            <a:endParaRPr sz="2800">
              <a:latin typeface="Calibri"/>
              <a:cs typeface="Calibri"/>
            </a:endParaRPr>
          </a:p>
          <a:p>
            <a:pPr marL="241300" marR="906144" indent="-229235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.NET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check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book: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Machine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Learning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Projects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for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.NET </a:t>
            </a:r>
            <a:r>
              <a:rPr sz="2800" b="1" spc="-6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developers</a:t>
            </a:r>
            <a:r>
              <a:rPr sz="2800" spc="-15" dirty="0">
                <a:latin typeface="Calibri"/>
                <a:cs typeface="Calibri"/>
              </a:rPr>
              <a:t>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Mathias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Brandewinder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Apress)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Java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R,</a:t>
            </a:r>
            <a:r>
              <a:rPr sz="2800" spc="-10" dirty="0">
                <a:latin typeface="Calibri"/>
                <a:cs typeface="Calibri"/>
              </a:rPr>
              <a:t> Visual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45" dirty="0">
                <a:latin typeface="Calibri"/>
                <a:cs typeface="Calibri"/>
              </a:rPr>
              <a:t>Weka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https://waikato.github.io/weka-wiki/downloading_weka/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Matlab</a:t>
            </a:r>
            <a:endParaRPr sz="2800">
              <a:latin typeface="Calibri"/>
              <a:cs typeface="Calibri"/>
            </a:endParaRPr>
          </a:p>
          <a:p>
            <a:pPr marL="241300" marR="966469" indent="-229235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935" algn="l"/>
                <a:tab pos="1526540" algn="l"/>
              </a:tabLst>
            </a:pPr>
            <a:r>
              <a:rPr sz="2800" spc="-5" dirty="0">
                <a:latin typeface="Calibri"/>
                <a:cs typeface="Calibri"/>
              </a:rPr>
              <a:t>Python:	(check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book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Machine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Learning,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Hands-On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for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Developers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andTechnical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Professionals,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Jason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Bell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Willey)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991" y="427177"/>
            <a:ext cx="6393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Python</a:t>
            </a:r>
            <a:r>
              <a:rPr sz="4400" spc="-140" dirty="0"/>
              <a:t> </a:t>
            </a:r>
            <a:r>
              <a:rPr sz="4400" spc="-50" dirty="0"/>
              <a:t>for</a:t>
            </a:r>
            <a:r>
              <a:rPr sz="4400" spc="-114" dirty="0"/>
              <a:t> </a:t>
            </a:r>
            <a:r>
              <a:rPr sz="4400" spc="-35" dirty="0"/>
              <a:t>Machine</a:t>
            </a:r>
            <a:r>
              <a:rPr sz="4400" spc="-114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0211" y="1336547"/>
            <a:ext cx="5571744" cy="53019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568" y="126949"/>
            <a:ext cx="1019619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  <a:tabLst>
                <a:tab pos="4879975" algn="l"/>
              </a:tabLst>
            </a:pPr>
            <a:r>
              <a:rPr sz="4400" spc="-35" dirty="0"/>
              <a:t>Some</a:t>
            </a:r>
            <a:r>
              <a:rPr sz="4400" spc="-80" dirty="0"/>
              <a:t> </a:t>
            </a:r>
            <a:r>
              <a:rPr sz="4400" spc="-40" dirty="0"/>
              <a:t>Libraries</a:t>
            </a:r>
            <a:r>
              <a:rPr sz="4400" spc="-75" dirty="0"/>
              <a:t> </a:t>
            </a:r>
            <a:r>
              <a:rPr sz="4400" spc="-10" dirty="0"/>
              <a:t>in</a:t>
            </a:r>
            <a:r>
              <a:rPr sz="4400" spc="-70" dirty="0"/>
              <a:t> </a:t>
            </a:r>
            <a:r>
              <a:rPr sz="4400" spc="-20" dirty="0"/>
              <a:t>the	</a:t>
            </a:r>
            <a:r>
              <a:rPr sz="4400" spc="-45" dirty="0"/>
              <a:t>Applications</a:t>
            </a:r>
            <a:r>
              <a:rPr sz="4400" spc="-110" dirty="0"/>
              <a:t> </a:t>
            </a:r>
            <a:r>
              <a:rPr sz="4400" spc="-15" dirty="0"/>
              <a:t>of</a:t>
            </a:r>
            <a:r>
              <a:rPr sz="4400" spc="-95" dirty="0"/>
              <a:t> </a:t>
            </a:r>
            <a:r>
              <a:rPr sz="4400" spc="-35" dirty="0"/>
              <a:t>Machine </a:t>
            </a:r>
            <a:r>
              <a:rPr sz="4400" spc="-98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07568" y="1644889"/>
            <a:ext cx="9611360" cy="33604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DeepLearning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DataScience</a:t>
            </a:r>
            <a:endParaRPr sz="28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https://www.tensorflow.org/</a:t>
            </a:r>
            <a:endParaRPr sz="24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20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https://pytorch.org/</a:t>
            </a:r>
            <a:endParaRPr sz="24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https://keras.io/</a:t>
            </a:r>
            <a:endParaRPr sz="24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https://www.edureka.co/blog/keras-vs-tensorflow-vs-pytorch/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Big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https://www.cloudera.com/downloads/hortonworks-sandbox/hdp.html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568" y="126949"/>
            <a:ext cx="1019619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  <a:tabLst>
                <a:tab pos="4879975" algn="l"/>
              </a:tabLst>
            </a:pPr>
            <a:r>
              <a:rPr sz="4400" spc="-35" dirty="0"/>
              <a:t>Some</a:t>
            </a:r>
            <a:r>
              <a:rPr sz="4400" spc="-80" dirty="0"/>
              <a:t> </a:t>
            </a:r>
            <a:r>
              <a:rPr sz="4400" spc="-40" dirty="0"/>
              <a:t>Libraries</a:t>
            </a:r>
            <a:r>
              <a:rPr sz="4400" spc="-75" dirty="0"/>
              <a:t> </a:t>
            </a:r>
            <a:r>
              <a:rPr sz="4400" spc="-10" dirty="0"/>
              <a:t>in</a:t>
            </a:r>
            <a:r>
              <a:rPr sz="4400" spc="-70" dirty="0"/>
              <a:t> </a:t>
            </a:r>
            <a:r>
              <a:rPr sz="4400" spc="-20" dirty="0"/>
              <a:t>the	</a:t>
            </a:r>
            <a:r>
              <a:rPr sz="4400" spc="-45" dirty="0"/>
              <a:t>Applications</a:t>
            </a:r>
            <a:r>
              <a:rPr sz="4400" spc="-110" dirty="0"/>
              <a:t> </a:t>
            </a:r>
            <a:r>
              <a:rPr sz="4400" spc="-15" dirty="0"/>
              <a:t>of</a:t>
            </a:r>
            <a:r>
              <a:rPr sz="4400" spc="-95" dirty="0"/>
              <a:t> </a:t>
            </a:r>
            <a:r>
              <a:rPr sz="4400" spc="-35" dirty="0"/>
              <a:t>Machine </a:t>
            </a:r>
            <a:r>
              <a:rPr sz="4400" spc="-98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07568" y="1644889"/>
            <a:ext cx="5026660" cy="206311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ChatBots</a:t>
            </a:r>
            <a:endParaRPr sz="28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https://rasa.com/</a:t>
            </a:r>
            <a:endParaRPr sz="24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20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https://dialogflow.com/</a:t>
            </a:r>
            <a:endParaRPr sz="24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https://wit.ai/</a:t>
            </a:r>
            <a:endParaRPr sz="2400">
              <a:latin typeface="Calibri"/>
              <a:cs typeface="Calibri"/>
            </a:endParaRPr>
          </a:p>
          <a:p>
            <a:pPr marL="709930" lvl="1" indent="-240665">
              <a:lnSpc>
                <a:spcPct val="100000"/>
              </a:lnSpc>
              <a:spcBef>
                <a:spcPts val="215"/>
              </a:spcBef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spc="-5" dirty="0">
                <a:latin typeface="Calibri"/>
                <a:cs typeface="Calibri"/>
              </a:rPr>
              <a:t>LLMs: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GPT,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LLama3,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Alpaca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otros.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115" y="1766238"/>
            <a:ext cx="11146790" cy="23933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Biometric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recognition</a:t>
            </a:r>
            <a:endParaRPr sz="28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https://docs.opencv.org/3.0-beta/modules/face/doc/facerec/facerec_tutorial.html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http://openbiometrics.org/docs/index.html</a:t>
            </a:r>
            <a:endParaRPr sz="2400">
              <a:latin typeface="Calibri"/>
              <a:cs typeface="Calibri"/>
            </a:endParaRPr>
          </a:p>
          <a:p>
            <a:pPr marL="698500" marR="5080" lvl="1" indent="-229235">
              <a:lnSpc>
                <a:spcPts val="2590"/>
              </a:lnSpc>
              <a:spcBef>
                <a:spcPts val="53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https://github.com/davisking/dlib/blob/master/python_examples/face_recognition. </a:t>
            </a:r>
            <a:r>
              <a:rPr sz="2400" spc="-53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py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https://cmusatyalab.github.io/openface/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20635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4884420" algn="l"/>
              </a:tabLst>
            </a:pPr>
            <a:r>
              <a:rPr sz="4400" spc="-35" dirty="0"/>
              <a:t>Some</a:t>
            </a:r>
            <a:r>
              <a:rPr sz="4400" spc="-80" dirty="0"/>
              <a:t> </a:t>
            </a:r>
            <a:r>
              <a:rPr sz="4400" spc="-35" dirty="0"/>
              <a:t>Libraries</a:t>
            </a:r>
            <a:r>
              <a:rPr sz="4400" spc="-75" dirty="0"/>
              <a:t> </a:t>
            </a:r>
            <a:r>
              <a:rPr sz="4400" spc="-10" dirty="0"/>
              <a:t>in</a:t>
            </a:r>
            <a:r>
              <a:rPr sz="4400" spc="-75" dirty="0"/>
              <a:t> </a:t>
            </a:r>
            <a:r>
              <a:rPr sz="4400" spc="-15" dirty="0"/>
              <a:t>the	</a:t>
            </a:r>
            <a:r>
              <a:rPr sz="4400" spc="-40" dirty="0"/>
              <a:t>Applications</a:t>
            </a:r>
            <a:r>
              <a:rPr sz="4400" spc="-114" dirty="0"/>
              <a:t> </a:t>
            </a:r>
            <a:r>
              <a:rPr sz="4400" spc="-15" dirty="0"/>
              <a:t>of</a:t>
            </a:r>
            <a:r>
              <a:rPr sz="4400" spc="-100" dirty="0"/>
              <a:t> </a:t>
            </a:r>
            <a:r>
              <a:rPr sz="4400" spc="-35" dirty="0"/>
              <a:t>Machine </a:t>
            </a:r>
            <a:r>
              <a:rPr sz="4400" spc="-980" dirty="0"/>
              <a:t> </a:t>
            </a:r>
            <a:r>
              <a:rPr sz="4400" spc="-30" dirty="0"/>
              <a:t>Learning</a:t>
            </a:r>
            <a:endParaRPr sz="4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666" y="1854303"/>
            <a:ext cx="7929880" cy="44748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Object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recognition</a:t>
            </a:r>
            <a:endParaRPr sz="2800">
              <a:latin typeface="Calibri"/>
              <a:cs typeface="Calibri"/>
            </a:endParaRPr>
          </a:p>
          <a:p>
            <a:pPr marL="697865" marR="149860" lvl="1" indent="-228600">
              <a:lnSpc>
                <a:spcPts val="2590"/>
              </a:lnSpc>
              <a:spcBef>
                <a:spcPts val="570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https://docs.opencv.org/3.0- </a:t>
            </a:r>
            <a:r>
              <a:rPr sz="24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beta/modules/objdetect/doc/cascade_classification.html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18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https://github.com/thtrieu/darkflow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https://mmdetection.readthedocs.io/en/latest/index.html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https://imageai.readthedocs.io/en/latest/#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https://cv.gluon.ai/</a:t>
            </a:r>
            <a:endParaRPr sz="2400">
              <a:latin typeface="Calibri"/>
              <a:cs typeface="Calibri"/>
            </a:endParaRPr>
          </a:p>
          <a:p>
            <a:pPr marL="709930" lvl="1" indent="-241300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SzPct val="95833"/>
              <a:buFont typeface="Wingdings"/>
              <a:buChar char=""/>
              <a:tabLst>
                <a:tab pos="71056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https://github.com/wizyoung/YOLOv3_TensorFlow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Reinforcement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Learning: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Games</a:t>
            </a:r>
            <a:endParaRPr sz="28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245"/>
              </a:spcBef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https://gymnasium.farama.org/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20635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4884420" algn="l"/>
              </a:tabLst>
            </a:pPr>
            <a:r>
              <a:rPr sz="4400" spc="-35" dirty="0"/>
              <a:t>Some</a:t>
            </a:r>
            <a:r>
              <a:rPr sz="4400" spc="-80" dirty="0"/>
              <a:t> </a:t>
            </a:r>
            <a:r>
              <a:rPr sz="4400" spc="-35" dirty="0"/>
              <a:t>Libraries</a:t>
            </a:r>
            <a:r>
              <a:rPr sz="4400" spc="-75" dirty="0"/>
              <a:t> </a:t>
            </a:r>
            <a:r>
              <a:rPr sz="4400" spc="-10" dirty="0"/>
              <a:t>in</a:t>
            </a:r>
            <a:r>
              <a:rPr sz="4400" spc="-75" dirty="0"/>
              <a:t> </a:t>
            </a:r>
            <a:r>
              <a:rPr sz="4400" spc="-15" dirty="0"/>
              <a:t>the	</a:t>
            </a:r>
            <a:r>
              <a:rPr sz="4400" spc="-40" dirty="0"/>
              <a:t>Applications</a:t>
            </a:r>
            <a:r>
              <a:rPr sz="4400" spc="-114" dirty="0"/>
              <a:t> </a:t>
            </a:r>
            <a:r>
              <a:rPr sz="4400" spc="-15" dirty="0"/>
              <a:t>of</a:t>
            </a:r>
            <a:r>
              <a:rPr sz="4400" spc="-100" dirty="0"/>
              <a:t> </a:t>
            </a:r>
            <a:r>
              <a:rPr sz="4400" spc="-35" dirty="0"/>
              <a:t>Machine </a:t>
            </a:r>
            <a:r>
              <a:rPr sz="4400" spc="-980" dirty="0"/>
              <a:t> </a:t>
            </a:r>
            <a:r>
              <a:rPr sz="4400" spc="-30" dirty="0"/>
              <a:t>Learning</a:t>
            </a:r>
            <a:endParaRPr sz="4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20635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4884420" algn="l"/>
              </a:tabLst>
            </a:pPr>
            <a:r>
              <a:rPr sz="4400" spc="-35" dirty="0"/>
              <a:t>Some</a:t>
            </a:r>
            <a:r>
              <a:rPr sz="4400" spc="-80" dirty="0"/>
              <a:t> </a:t>
            </a:r>
            <a:r>
              <a:rPr sz="4400" spc="-35" dirty="0"/>
              <a:t>Libraries</a:t>
            </a:r>
            <a:r>
              <a:rPr sz="4400" spc="-75" dirty="0"/>
              <a:t> </a:t>
            </a:r>
            <a:r>
              <a:rPr sz="4400" spc="-10" dirty="0"/>
              <a:t>in</a:t>
            </a:r>
            <a:r>
              <a:rPr sz="4400" spc="-75" dirty="0"/>
              <a:t> </a:t>
            </a:r>
            <a:r>
              <a:rPr sz="4400" spc="-15" dirty="0"/>
              <a:t>the	</a:t>
            </a:r>
            <a:r>
              <a:rPr sz="4400" spc="-40" dirty="0"/>
              <a:t>Applications</a:t>
            </a:r>
            <a:r>
              <a:rPr sz="4400" spc="-114" dirty="0"/>
              <a:t> </a:t>
            </a:r>
            <a:r>
              <a:rPr sz="4400" spc="-15" dirty="0"/>
              <a:t>of</a:t>
            </a:r>
            <a:r>
              <a:rPr sz="4400" spc="-100" dirty="0"/>
              <a:t> </a:t>
            </a:r>
            <a:r>
              <a:rPr sz="4400" spc="-35" dirty="0"/>
              <a:t>Machine </a:t>
            </a:r>
            <a:r>
              <a:rPr sz="4400" spc="-98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57665"/>
            <a:ext cx="10161905" cy="25679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Internet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things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Raspberry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</a:t>
            </a:r>
            <a:r>
              <a:rPr sz="2400" spc="-25" dirty="0">
                <a:latin typeface="Calibri"/>
                <a:cs typeface="Calibri"/>
              </a:rPr>
              <a:t> (TensorFlow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Lite)</a:t>
            </a:r>
            <a:endParaRPr sz="24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https://www.raspberrypi.org/documentation/computers/os.html</a:t>
            </a:r>
            <a:endParaRPr sz="2000">
              <a:latin typeface="Calibri"/>
              <a:cs typeface="Calibri"/>
            </a:endParaRPr>
          </a:p>
          <a:p>
            <a:pPr marL="1155700" marR="5080" lvl="2" indent="-228600">
              <a:lnSpc>
                <a:spcPts val="2160"/>
              </a:lnSpc>
              <a:spcBef>
                <a:spcPts val="535"/>
              </a:spcBef>
              <a:buClr>
                <a:srgbClr val="000000"/>
              </a:buClr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https://github.com/EdjeElectronics/TensorFlow-Lite-Object-Detection-on-Android-and- </a:t>
            </a:r>
            <a:r>
              <a:rPr sz="2000" spc="-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00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Raspberry-Pi/blob/master/Raspberry_Pi_Guide.md</a:t>
            </a:r>
            <a:endParaRPr sz="20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Arduino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Projects</a:t>
            </a:r>
            <a:endParaRPr sz="24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Clr>
                <a:srgbClr val="000000"/>
              </a:buClr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https://www.troomes.com/viewforum.php?f=46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017" y="395732"/>
            <a:ext cx="7372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Aprendizaje</a:t>
            </a:r>
            <a:r>
              <a:rPr sz="4400" spc="-110" dirty="0"/>
              <a:t> </a:t>
            </a:r>
            <a:r>
              <a:rPr sz="4400" spc="-15" dirty="0"/>
              <a:t>en</a:t>
            </a:r>
            <a:r>
              <a:rPr sz="4400" spc="-90" dirty="0"/>
              <a:t> </a:t>
            </a:r>
            <a:r>
              <a:rPr sz="4400" spc="-35" dirty="0"/>
              <a:t>Machine</a:t>
            </a:r>
            <a:r>
              <a:rPr sz="4400" spc="-90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5416" y="1493824"/>
            <a:ext cx="10300335" cy="31902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Aprendizaje</a:t>
            </a:r>
            <a:r>
              <a:rPr sz="2400" spc="-5" dirty="0">
                <a:latin typeface="Calibri"/>
                <a:cs typeface="Calibri"/>
              </a:rPr>
              <a:t> Supervisado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ts val="2415"/>
              </a:lnSpc>
              <a:spcBef>
                <a:spcPts val="300"/>
              </a:spcBef>
            </a:pPr>
            <a:r>
              <a:rPr sz="2100" spc="10" dirty="0">
                <a:latin typeface="Calibri"/>
                <a:cs typeface="Calibri"/>
              </a:rPr>
              <a:t>Los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agentes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tienen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acceso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a ejemplos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20" dirty="0">
                <a:latin typeface="Calibri"/>
                <a:cs typeface="Calibri"/>
              </a:rPr>
              <a:t>que</a:t>
            </a:r>
            <a:r>
              <a:rPr sz="2100" spc="15" dirty="0">
                <a:latin typeface="Calibri"/>
                <a:cs typeface="Calibri"/>
              </a:rPr>
              <a:t> necesitan</a:t>
            </a:r>
            <a:r>
              <a:rPr sz="2100" spc="-10" dirty="0">
                <a:latin typeface="Calibri"/>
                <a:cs typeface="Calibri"/>
              </a:rPr>
              <a:t> aprender.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Los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agentes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20" dirty="0">
                <a:latin typeface="Calibri"/>
                <a:cs typeface="Calibri"/>
              </a:rPr>
              <a:t>pueden</a:t>
            </a:r>
            <a:endParaRPr sz="2100">
              <a:latin typeface="Calibri"/>
              <a:cs typeface="Calibri"/>
            </a:endParaRPr>
          </a:p>
          <a:p>
            <a:pPr marL="469900">
              <a:lnSpc>
                <a:spcPts val="2415"/>
              </a:lnSpc>
            </a:pPr>
            <a:r>
              <a:rPr sz="2100" spc="15" dirty="0">
                <a:latin typeface="Calibri"/>
                <a:cs typeface="Calibri"/>
              </a:rPr>
              <a:t>aprender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20" dirty="0">
                <a:latin typeface="Calibri"/>
                <a:cs typeface="Calibri"/>
              </a:rPr>
              <a:t>de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los</a:t>
            </a:r>
            <a:r>
              <a:rPr sz="2100" spc="5" dirty="0">
                <a:latin typeface="Calibri"/>
                <a:cs typeface="Calibri"/>
              </a:rPr>
              <a:t> errores </a:t>
            </a:r>
            <a:r>
              <a:rPr sz="2100" dirty="0">
                <a:latin typeface="Calibri"/>
                <a:cs typeface="Calibri"/>
              </a:rPr>
              <a:t>entre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sus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decisiones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las </a:t>
            </a:r>
            <a:r>
              <a:rPr sz="2100" spc="15" dirty="0">
                <a:latin typeface="Calibri"/>
                <a:cs typeface="Calibri"/>
              </a:rPr>
              <a:t>decisiones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correctas.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Aprendizaje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Supervisado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ts val="2415"/>
              </a:lnSpc>
              <a:spcBef>
                <a:spcPts val="29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100" spc="15" dirty="0">
                <a:latin typeface="Calibri"/>
                <a:cs typeface="Calibri"/>
              </a:rPr>
              <a:t>En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el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aprendizaje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no</a:t>
            </a:r>
            <a:r>
              <a:rPr sz="2100" spc="10" dirty="0">
                <a:latin typeface="Calibri"/>
                <a:cs typeface="Calibri"/>
              </a:rPr>
              <a:t> supervisado,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no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hay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una</a:t>
            </a:r>
            <a:r>
              <a:rPr sz="2100" spc="10" dirty="0">
                <a:latin typeface="Calibri"/>
                <a:cs typeface="Calibri"/>
              </a:rPr>
              <a:t> etiqueta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ni </a:t>
            </a:r>
            <a:r>
              <a:rPr sz="2100" spc="20" dirty="0">
                <a:latin typeface="Calibri"/>
                <a:cs typeface="Calibri"/>
              </a:rPr>
              <a:t>un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valor </a:t>
            </a:r>
            <a:r>
              <a:rPr sz="2100" spc="10" dirty="0">
                <a:latin typeface="Calibri"/>
                <a:cs typeface="Calibri"/>
              </a:rPr>
              <a:t>objetivo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para</a:t>
            </a:r>
            <a:r>
              <a:rPr sz="2100" spc="10" dirty="0">
                <a:latin typeface="Calibri"/>
                <a:cs typeface="Calibri"/>
              </a:rPr>
              <a:t> los</a:t>
            </a:r>
            <a:endParaRPr sz="2100">
              <a:latin typeface="Calibri"/>
              <a:cs typeface="Calibri"/>
            </a:endParaRPr>
          </a:p>
          <a:p>
            <a:pPr marL="698500">
              <a:lnSpc>
                <a:spcPts val="2415"/>
              </a:lnSpc>
            </a:pPr>
            <a:r>
              <a:rPr sz="2100" spc="5" dirty="0">
                <a:latin typeface="Calibri"/>
                <a:cs typeface="Calibri"/>
              </a:rPr>
              <a:t>datos.</a:t>
            </a:r>
            <a:endParaRPr sz="2100">
              <a:latin typeface="Calibri"/>
              <a:cs typeface="Calibri"/>
            </a:endParaRPr>
          </a:p>
          <a:p>
            <a:pPr marL="698500" marR="5080" lvl="1" indent="-229235">
              <a:lnSpc>
                <a:spcPts val="230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100" spc="10" dirty="0">
                <a:latin typeface="Calibri"/>
                <a:cs typeface="Calibri"/>
              </a:rPr>
              <a:t>El problema </a:t>
            </a:r>
            <a:r>
              <a:rPr sz="2100" spc="15" dirty="0">
                <a:latin typeface="Calibri"/>
                <a:cs typeface="Calibri"/>
              </a:rPr>
              <a:t>del </a:t>
            </a:r>
            <a:r>
              <a:rPr sz="2100" spc="10" dirty="0">
                <a:latin typeface="Calibri"/>
                <a:cs typeface="Calibri"/>
              </a:rPr>
              <a:t>aprendizaje </a:t>
            </a:r>
            <a:r>
              <a:rPr sz="2100" spc="15" dirty="0">
                <a:latin typeface="Calibri"/>
                <a:cs typeface="Calibri"/>
              </a:rPr>
              <a:t>no supervisado es </a:t>
            </a:r>
            <a:r>
              <a:rPr sz="2100" spc="5" dirty="0">
                <a:latin typeface="Calibri"/>
                <a:cs typeface="Calibri"/>
              </a:rPr>
              <a:t>intentar encontrar </a:t>
            </a:r>
            <a:r>
              <a:rPr sz="2100" spc="15" dirty="0">
                <a:latin typeface="Calibri"/>
                <a:cs typeface="Calibri"/>
              </a:rPr>
              <a:t>una </a:t>
            </a:r>
            <a:r>
              <a:rPr sz="2100" spc="5" dirty="0">
                <a:latin typeface="Calibri"/>
                <a:cs typeface="Calibri"/>
              </a:rPr>
              <a:t>estructura oculta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en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datos</a:t>
            </a:r>
            <a:r>
              <a:rPr sz="2100" spc="10" dirty="0">
                <a:latin typeface="Calibri"/>
                <a:cs typeface="Calibri"/>
              </a:rPr>
              <a:t> sin etiquetar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48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Aprendizaje</a:t>
            </a:r>
            <a:r>
              <a:rPr sz="4400" spc="-135" dirty="0"/>
              <a:t> </a:t>
            </a:r>
            <a:r>
              <a:rPr sz="4400" spc="-30" dirty="0"/>
              <a:t>Supervisado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620139"/>
            <a:ext cx="10266680" cy="33013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170815" indent="-22923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Es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tarea</a:t>
            </a:r>
            <a:r>
              <a:rPr sz="2400" spc="-5" dirty="0">
                <a:latin typeface="Calibri"/>
                <a:cs typeface="Calibri"/>
              </a:rPr>
              <a:t> de </a:t>
            </a:r>
            <a:r>
              <a:rPr sz="2400" spc="-10" dirty="0">
                <a:latin typeface="Calibri"/>
                <a:cs typeface="Calibri"/>
              </a:rPr>
              <a:t>aprendizaje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automático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inferir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una función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-5" dirty="0">
                <a:latin typeface="Calibri"/>
                <a:cs typeface="Calibri"/>
              </a:rPr>
              <a:t> partir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5" dirty="0">
                <a:latin typeface="Calibri"/>
                <a:cs typeface="Calibri"/>
              </a:rPr>
              <a:t>datos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entrenamiento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etiquetados.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 decimos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qué </a:t>
            </a:r>
            <a:r>
              <a:rPr sz="2400" spc="-30" dirty="0">
                <a:latin typeface="Calibri"/>
                <a:cs typeface="Calibri"/>
              </a:rPr>
              <a:t>predecir.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5" dirty="0">
                <a:latin typeface="Calibri"/>
                <a:cs typeface="Calibri"/>
              </a:rPr>
              <a:t>Estrategia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Entrenamiento: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Datos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entrenamiento:</a:t>
            </a:r>
            <a:endParaRPr sz="2000">
              <a:latin typeface="Calibri"/>
              <a:cs typeface="Calibri"/>
            </a:endParaRPr>
          </a:p>
          <a:p>
            <a:pPr marL="1155700" marR="5080" lvl="2" indent="-228600">
              <a:lnSpc>
                <a:spcPts val="1860"/>
              </a:lnSpc>
              <a:spcBef>
                <a:spcPts val="56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700" spc="5" dirty="0">
                <a:latin typeface="Calibri"/>
                <a:cs typeface="Calibri"/>
              </a:rPr>
              <a:t>El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conjunto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de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entrenamiento</a:t>
            </a:r>
            <a:r>
              <a:rPr sz="1700" spc="10" dirty="0">
                <a:latin typeface="Calibri"/>
                <a:cs typeface="Calibri"/>
              </a:rPr>
              <a:t> es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un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conjunto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de ejemplos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de </a:t>
            </a:r>
            <a:r>
              <a:rPr sz="1700" spc="5" dirty="0">
                <a:latin typeface="Calibri"/>
                <a:cs typeface="Calibri"/>
              </a:rPr>
              <a:t>entrenamiento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para </a:t>
            </a:r>
            <a:r>
              <a:rPr sz="1700" spc="5" dirty="0">
                <a:latin typeface="Calibri"/>
                <a:cs typeface="Calibri"/>
              </a:rPr>
              <a:t>entrenar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algoritmos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de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aprendizaje automático.</a:t>
            </a:r>
            <a:endParaRPr sz="17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700" spc="10" dirty="0">
                <a:latin typeface="Calibri"/>
                <a:cs typeface="Calibri"/>
              </a:rPr>
              <a:t>Se</a:t>
            </a:r>
            <a:r>
              <a:rPr sz="1700" spc="5" dirty="0">
                <a:latin typeface="Calibri"/>
                <a:cs typeface="Calibri"/>
              </a:rPr>
              <a:t> conocen </a:t>
            </a:r>
            <a:r>
              <a:rPr sz="1700" spc="10" dirty="0">
                <a:latin typeface="Calibri"/>
                <a:cs typeface="Calibri"/>
              </a:rPr>
              <a:t>las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variables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objetivo</a:t>
            </a:r>
            <a:endParaRPr sz="17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700" spc="5" dirty="0">
                <a:latin typeface="Calibri"/>
                <a:cs typeface="Calibri"/>
              </a:rPr>
              <a:t>Aprende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encontrando</a:t>
            </a:r>
            <a:r>
              <a:rPr sz="1700" spc="10" dirty="0">
                <a:latin typeface="Calibri"/>
                <a:cs typeface="Calibri"/>
              </a:rPr>
              <a:t> alguna</a:t>
            </a:r>
            <a:r>
              <a:rPr sz="1700" spc="5" dirty="0">
                <a:latin typeface="Calibri"/>
                <a:cs typeface="Calibri"/>
              </a:rPr>
              <a:t> relación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entre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las</a:t>
            </a:r>
            <a:r>
              <a:rPr sz="1700" dirty="0">
                <a:latin typeface="Calibri"/>
                <a:cs typeface="Calibri"/>
              </a:rPr>
              <a:t> características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y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la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variable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objetivo.</a:t>
            </a:r>
            <a:endParaRPr sz="17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Datos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prueba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700" spc="5" dirty="0">
                <a:latin typeface="Calibri"/>
                <a:cs typeface="Calibri"/>
              </a:rPr>
              <a:t>Datos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utilizados</a:t>
            </a:r>
            <a:r>
              <a:rPr sz="1700" dirty="0">
                <a:latin typeface="Calibri"/>
                <a:cs typeface="Calibri"/>
              </a:rPr>
              <a:t> para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validar </a:t>
            </a:r>
            <a:r>
              <a:rPr sz="1700" spc="10" dirty="0">
                <a:latin typeface="Calibri"/>
                <a:cs typeface="Calibri"/>
              </a:rPr>
              <a:t>el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algoritmo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48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Aprendizaje</a:t>
            </a:r>
            <a:r>
              <a:rPr sz="4400" spc="-135" dirty="0"/>
              <a:t> </a:t>
            </a:r>
            <a:r>
              <a:rPr sz="4400" spc="-30" dirty="0"/>
              <a:t>Supervisado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09066" y="1806701"/>
            <a:ext cx="9366885" cy="139573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dirty="0">
                <a:latin typeface="Calibri"/>
                <a:cs typeface="Calibri"/>
              </a:rPr>
              <a:t>Algunas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tareas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 </a:t>
            </a:r>
            <a:r>
              <a:rPr sz="2400" spc="-10" dirty="0">
                <a:latin typeface="Calibri"/>
                <a:cs typeface="Calibri"/>
              </a:rPr>
              <a:t>aprendizaje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supervisado: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5" dirty="0">
                <a:latin typeface="Calibri"/>
                <a:cs typeface="Calibri"/>
              </a:rPr>
              <a:t>Clasificación: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predice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qué </a:t>
            </a:r>
            <a:r>
              <a:rPr sz="2400" dirty="0">
                <a:latin typeface="Calibri"/>
                <a:cs typeface="Calibri"/>
              </a:rPr>
              <a:t>clase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debe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pertenecer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instancia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5" dirty="0">
                <a:latin typeface="Calibri"/>
                <a:cs typeface="Calibri"/>
              </a:rPr>
              <a:t>datos.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alibri"/>
                <a:cs typeface="Calibri"/>
              </a:rPr>
              <a:t>Regresión: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 la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predicción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numérico.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09676"/>
            <a:ext cx="5448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>
                <a:latin typeface="Calibri Light"/>
                <a:cs typeface="Calibri Light"/>
              </a:rPr>
              <a:t>Aprendizaje</a:t>
            </a:r>
            <a:r>
              <a:rPr sz="4400" spc="-135" dirty="0">
                <a:latin typeface="Calibri Light"/>
                <a:cs typeface="Calibri Light"/>
              </a:rPr>
              <a:t> </a:t>
            </a:r>
            <a:r>
              <a:rPr sz="4400" spc="-30" dirty="0">
                <a:latin typeface="Calibri Light"/>
                <a:cs typeface="Calibri Light"/>
              </a:rPr>
              <a:t>Supervisado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76" y="2022348"/>
            <a:ext cx="6609588" cy="2438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6227" y="4636008"/>
            <a:ext cx="6617208" cy="16428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5470" y="1582039"/>
            <a:ext cx="9097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Roboto"/>
                <a:cs typeface="Roboto"/>
              </a:rPr>
              <a:t>Clasificación</a:t>
            </a:r>
            <a:r>
              <a:rPr sz="2400" dirty="0">
                <a:latin typeface="Roboto"/>
                <a:cs typeface="Roboto"/>
              </a:rPr>
              <a:t> de </a:t>
            </a:r>
            <a:r>
              <a:rPr sz="2400" spc="-10" dirty="0">
                <a:latin typeface="Roboto"/>
                <a:cs typeface="Roboto"/>
              </a:rPr>
              <a:t>especies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dirty="0">
                <a:latin typeface="Roboto"/>
                <a:cs typeface="Roboto"/>
              </a:rPr>
              <a:t>de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15" dirty="0">
                <a:latin typeface="Roboto"/>
                <a:cs typeface="Roboto"/>
              </a:rPr>
              <a:t>aves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15" dirty="0">
                <a:latin typeface="Roboto"/>
                <a:cs typeface="Roboto"/>
              </a:rPr>
              <a:t>basada </a:t>
            </a:r>
            <a:r>
              <a:rPr sz="2400" spc="-15" dirty="0" err="1">
                <a:latin typeface="Roboto"/>
                <a:cs typeface="Roboto"/>
              </a:rPr>
              <a:t>en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15" dirty="0" err="1">
                <a:latin typeface="Roboto"/>
                <a:cs typeface="Roboto"/>
              </a:rPr>
              <a:t>cuat</a:t>
            </a:r>
            <a:r>
              <a:rPr lang="es-PE" sz="2400" spc="15" dirty="0">
                <a:latin typeface="Roboto"/>
                <a:cs typeface="Roboto"/>
              </a:rPr>
              <a:t>r</a:t>
            </a:r>
            <a:r>
              <a:rPr sz="2400" spc="15" dirty="0">
                <a:latin typeface="Roboto"/>
                <a:cs typeface="Roboto"/>
              </a:rPr>
              <a:t>o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15" dirty="0">
                <a:latin typeface="Roboto"/>
                <a:cs typeface="Roboto"/>
              </a:rPr>
              <a:t>ca</a:t>
            </a:r>
            <a:r>
              <a:rPr lang="es-PE" sz="2400" spc="15" dirty="0">
                <a:latin typeface="Roboto"/>
                <a:cs typeface="Roboto"/>
              </a:rPr>
              <a:t>r</a:t>
            </a:r>
            <a:r>
              <a:rPr sz="2400" spc="15" dirty="0" err="1">
                <a:latin typeface="Roboto"/>
                <a:cs typeface="Roboto"/>
              </a:rPr>
              <a:t>acte</a:t>
            </a:r>
            <a:r>
              <a:rPr lang="es-PE" sz="2400" spc="15" dirty="0">
                <a:latin typeface="Roboto"/>
                <a:cs typeface="Roboto"/>
              </a:rPr>
              <a:t>r</a:t>
            </a:r>
            <a:r>
              <a:rPr sz="2400" spc="15" dirty="0" err="1">
                <a:latin typeface="Roboto"/>
                <a:cs typeface="Roboto"/>
              </a:rPr>
              <a:t>ísticas</a:t>
            </a:r>
            <a:endParaRPr sz="2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166" y="650494"/>
            <a:ext cx="8638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Algoritmos</a:t>
            </a:r>
            <a:r>
              <a:rPr sz="4400" spc="-100" dirty="0"/>
              <a:t> </a:t>
            </a:r>
            <a:r>
              <a:rPr sz="4400" spc="-20" dirty="0"/>
              <a:t>de</a:t>
            </a:r>
            <a:r>
              <a:rPr sz="4400" spc="-80" dirty="0"/>
              <a:t> </a:t>
            </a:r>
            <a:r>
              <a:rPr sz="4400" spc="-50" dirty="0"/>
              <a:t>Aprendizaje</a:t>
            </a:r>
            <a:r>
              <a:rPr sz="4400" spc="-90" dirty="0"/>
              <a:t> </a:t>
            </a:r>
            <a:r>
              <a:rPr sz="4400" spc="-30" dirty="0"/>
              <a:t>Supervisado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350644" y="1870709"/>
            <a:ext cx="8350250" cy="27749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Calibri"/>
                <a:cs typeface="Calibri"/>
              </a:rPr>
              <a:t>Algunos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 el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aprendizaje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supervisado: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Arboles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Decisión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Random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Forest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Máquinas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vectores</a:t>
            </a:r>
            <a:r>
              <a:rPr sz="2400" spc="-5" dirty="0">
                <a:latin typeface="Calibri"/>
                <a:cs typeface="Calibri"/>
              </a:rPr>
              <a:t> de</a:t>
            </a:r>
            <a:r>
              <a:rPr sz="2400" spc="-10" dirty="0">
                <a:latin typeface="Calibri"/>
                <a:cs typeface="Calibri"/>
              </a:rPr>
              <a:t> soporte</a:t>
            </a:r>
            <a:r>
              <a:rPr sz="2400" spc="-5" dirty="0">
                <a:latin typeface="Calibri"/>
                <a:cs typeface="Calibri"/>
              </a:rPr>
              <a:t> (SVM)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Redes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bayesianas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Red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neuronal</a:t>
            </a:r>
            <a:r>
              <a:rPr sz="2400" dirty="0">
                <a:latin typeface="Calibri"/>
                <a:cs typeface="Calibri"/>
              </a:rPr>
              <a:t> artificial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(Simple </a:t>
            </a:r>
            <a:r>
              <a:rPr sz="2400" spc="-15" dirty="0">
                <a:latin typeface="Calibri"/>
                <a:cs typeface="Calibri"/>
              </a:rPr>
              <a:t>Perceptron,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Multilayer </a:t>
            </a:r>
            <a:r>
              <a:rPr sz="2400" spc="-15" dirty="0">
                <a:latin typeface="Calibri"/>
                <a:cs typeface="Calibri"/>
              </a:rPr>
              <a:t>Perceptron)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Aprendizaje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profundo</a:t>
            </a:r>
            <a:r>
              <a:rPr sz="2400" spc="-5" dirty="0">
                <a:latin typeface="Calibri"/>
                <a:cs typeface="Calibri"/>
              </a:rPr>
              <a:t> (Deep Learning)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70357"/>
            <a:ext cx="6208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Aprendizaje</a:t>
            </a:r>
            <a:r>
              <a:rPr sz="4400" spc="-114" dirty="0"/>
              <a:t> </a:t>
            </a:r>
            <a:r>
              <a:rPr sz="4400" spc="-20" dirty="0"/>
              <a:t>No</a:t>
            </a:r>
            <a:r>
              <a:rPr sz="4400" spc="-100" dirty="0"/>
              <a:t> </a:t>
            </a:r>
            <a:r>
              <a:rPr sz="4400" spc="-30" dirty="0"/>
              <a:t>Supervisado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606677"/>
            <a:ext cx="9734550" cy="268351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1300" marR="190500" indent="-229235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En el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aprendizaje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supervisado,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etiqueta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ni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 objetivo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para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datos.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ts val="2375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</a:t>
            </a:r>
            <a:r>
              <a:rPr sz="2200" spc="-5" dirty="0">
                <a:latin typeface="Calibri"/>
                <a:cs typeface="Calibri"/>
              </a:rPr>
              <a:t> del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aprendizaje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supervisado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intentar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encontrar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una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estructura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spc="-10" dirty="0">
                <a:latin typeface="Calibri"/>
                <a:cs typeface="Calibri"/>
              </a:rPr>
              <a:t>oculta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</a:t>
            </a:r>
            <a:r>
              <a:rPr sz="2200" spc="-15" dirty="0">
                <a:latin typeface="Calibri"/>
                <a:cs typeface="Calibri"/>
              </a:rPr>
              <a:t> datos</a:t>
            </a:r>
            <a:r>
              <a:rPr sz="2200" spc="-5" dirty="0">
                <a:latin typeface="Calibri"/>
                <a:cs typeface="Calibri"/>
              </a:rPr>
              <a:t> sin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etiquetar.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señal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error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recompensa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para</a:t>
            </a:r>
            <a:r>
              <a:rPr sz="2200" spc="-10" dirty="0">
                <a:latin typeface="Calibri"/>
                <a:cs typeface="Calibri"/>
              </a:rPr>
              <a:t> evaluar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una</a:t>
            </a:r>
            <a:r>
              <a:rPr sz="2200" spc="-5" dirty="0">
                <a:latin typeface="Calibri"/>
                <a:cs typeface="Calibri"/>
              </a:rPr>
              <a:t> posible solución.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ts val="26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Algunas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tareas:</a:t>
            </a:r>
            <a:endParaRPr sz="2200">
              <a:latin typeface="Calibri"/>
              <a:cs typeface="Calibri"/>
            </a:endParaRPr>
          </a:p>
          <a:p>
            <a:pPr marL="698500" marR="5080" lvl="1" indent="-228600">
              <a:lnSpc>
                <a:spcPts val="211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b="1" spc="-5" dirty="0">
                <a:latin typeface="Calibri"/>
                <a:cs typeface="Calibri"/>
              </a:rPr>
              <a:t>Agrupación: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tarea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agrupamos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similares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dividimos un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gran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datos</a:t>
            </a:r>
            <a:r>
              <a:rPr sz="2200" spc="-5" dirty="0">
                <a:latin typeface="Calibri"/>
                <a:cs typeface="Calibri"/>
              </a:rPr>
              <a:t> en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datos</a:t>
            </a:r>
            <a:r>
              <a:rPr sz="2200" spc="-5" dirty="0">
                <a:latin typeface="Calibri"/>
                <a:cs typeface="Calibri"/>
              </a:rPr>
              <a:t> más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pequeños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cierta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similitud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118" y="343281"/>
            <a:ext cx="9765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0" dirty="0"/>
              <a:t>Aprendizaje</a:t>
            </a:r>
            <a:r>
              <a:rPr sz="4400" spc="-100" dirty="0"/>
              <a:t> </a:t>
            </a:r>
            <a:r>
              <a:rPr sz="4400" spc="-25" dirty="0"/>
              <a:t>No</a:t>
            </a:r>
            <a:r>
              <a:rPr sz="4400" spc="-85" dirty="0"/>
              <a:t> </a:t>
            </a:r>
            <a:r>
              <a:rPr sz="4400" spc="-30" dirty="0"/>
              <a:t>Supervisado</a:t>
            </a:r>
            <a:r>
              <a:rPr sz="4400" spc="-105" dirty="0"/>
              <a:t> </a:t>
            </a:r>
            <a:r>
              <a:rPr sz="4400" dirty="0"/>
              <a:t>-</a:t>
            </a:r>
            <a:r>
              <a:rPr sz="4400" spc="-40" dirty="0"/>
              <a:t> </a:t>
            </a:r>
            <a:r>
              <a:rPr sz="4400" spc="-45" dirty="0"/>
              <a:t>Agrupamiento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409191" y="1448815"/>
            <a:ext cx="31680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Algoritmos:</a:t>
            </a:r>
            <a:endParaRPr sz="24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K-Means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Clustering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8572" y="2284476"/>
            <a:ext cx="9525000" cy="42382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17" y="294589"/>
            <a:ext cx="6951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Supervisado</a:t>
            </a:r>
            <a:r>
              <a:rPr sz="4400" spc="-120" dirty="0"/>
              <a:t> </a:t>
            </a:r>
            <a:r>
              <a:rPr sz="4400" dirty="0"/>
              <a:t>o</a:t>
            </a:r>
            <a:r>
              <a:rPr sz="4400" spc="-80" dirty="0"/>
              <a:t> </a:t>
            </a:r>
            <a:r>
              <a:rPr sz="4400" spc="-20" dirty="0"/>
              <a:t>No</a:t>
            </a:r>
            <a:r>
              <a:rPr sz="4400" spc="-105" dirty="0"/>
              <a:t> </a:t>
            </a:r>
            <a:r>
              <a:rPr sz="4400" spc="-35" dirty="0"/>
              <a:t>Supervisado?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344" y="2857500"/>
            <a:ext cx="6484620" cy="36697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3139" y="1258062"/>
            <a:ext cx="9952355" cy="1327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100" spc="10" dirty="0">
                <a:latin typeface="Calibri"/>
                <a:cs typeface="Calibri"/>
              </a:rPr>
              <a:t>La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cantidad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contaminación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en</a:t>
            </a:r>
            <a:r>
              <a:rPr sz="2100" spc="3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ciertos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lugares,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bajo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diferentes </a:t>
            </a:r>
            <a:r>
              <a:rPr sz="2100" spc="10" dirty="0">
                <a:latin typeface="Calibri"/>
                <a:cs typeface="Calibri"/>
              </a:rPr>
              <a:t>condiciones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climáticas,</a:t>
            </a:r>
            <a:endParaRPr sz="2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45"/>
              </a:spcBef>
            </a:pPr>
            <a:r>
              <a:rPr sz="2100" dirty="0">
                <a:latin typeface="Calibri"/>
                <a:cs typeface="Calibri"/>
              </a:rPr>
              <a:t>diferentes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momentos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de </a:t>
            </a:r>
            <a:r>
              <a:rPr sz="2100" spc="10" dirty="0">
                <a:latin typeface="Calibri"/>
                <a:cs typeface="Calibri"/>
              </a:rPr>
              <a:t>los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días</a:t>
            </a:r>
            <a:r>
              <a:rPr sz="2100" spc="15" dirty="0">
                <a:latin typeface="Calibri"/>
                <a:cs typeface="Calibri"/>
              </a:rPr>
              <a:t> y </a:t>
            </a:r>
            <a:r>
              <a:rPr sz="2100" dirty="0">
                <a:latin typeface="Calibri"/>
                <a:cs typeface="Calibri"/>
              </a:rPr>
              <a:t>diferentes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días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de</a:t>
            </a:r>
            <a:r>
              <a:rPr sz="2100" spc="20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la semana.</a:t>
            </a:r>
            <a:endParaRPr sz="2100">
              <a:latin typeface="Calibri"/>
              <a:cs typeface="Calibri"/>
            </a:endParaRPr>
          </a:p>
          <a:p>
            <a:pPr marL="299085" marR="182880" indent="-287020">
              <a:lnSpc>
                <a:spcPct val="1014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100" spc="10" dirty="0">
                <a:latin typeface="Calibri"/>
                <a:cs typeface="Calibri"/>
              </a:rPr>
              <a:t>Predecir la </a:t>
            </a:r>
            <a:r>
              <a:rPr sz="2100" spc="5" dirty="0">
                <a:latin typeface="Calibri"/>
                <a:cs typeface="Calibri"/>
              </a:rPr>
              <a:t>concentración </a:t>
            </a:r>
            <a:r>
              <a:rPr sz="2100" spc="15" dirty="0">
                <a:latin typeface="Calibri"/>
                <a:cs typeface="Calibri"/>
              </a:rPr>
              <a:t>de </a:t>
            </a:r>
            <a:r>
              <a:rPr sz="2100" spc="10" dirty="0">
                <a:latin typeface="Calibri"/>
                <a:cs typeface="Calibri"/>
              </a:rPr>
              <a:t>contaminación </a:t>
            </a:r>
            <a:r>
              <a:rPr sz="2100" spc="15" dirty="0">
                <a:latin typeface="Calibri"/>
                <a:cs typeface="Calibri"/>
              </a:rPr>
              <a:t>del </a:t>
            </a:r>
            <a:r>
              <a:rPr sz="2100" spc="5" dirty="0">
                <a:latin typeface="Calibri"/>
                <a:cs typeface="Calibri"/>
              </a:rPr>
              <a:t>aire </a:t>
            </a:r>
            <a:r>
              <a:rPr sz="2100" spc="15" dirty="0">
                <a:latin typeface="Calibri"/>
                <a:cs typeface="Calibri"/>
              </a:rPr>
              <a:t>en una </a:t>
            </a:r>
            <a:r>
              <a:rPr sz="2100" spc="5" dirty="0">
                <a:latin typeface="Calibri"/>
                <a:cs typeface="Calibri"/>
              </a:rPr>
              <a:t>nueva </a:t>
            </a:r>
            <a:r>
              <a:rPr sz="2100" spc="10" dirty="0">
                <a:latin typeface="Calibri"/>
                <a:cs typeface="Calibri"/>
              </a:rPr>
              <a:t>ubicación con clima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conocido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spc="15" dirty="0">
                <a:latin typeface="Calibri"/>
                <a:cs typeface="Calibri"/>
              </a:rPr>
              <a:t>y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fecha </a:t>
            </a:r>
            <a:r>
              <a:rPr sz="2100" spc="15" dirty="0">
                <a:latin typeface="Calibri"/>
                <a:cs typeface="Calibri"/>
              </a:rPr>
              <a:t>y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hora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conocidas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0117" y="390270"/>
            <a:ext cx="69532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Supervisado</a:t>
            </a:r>
            <a:r>
              <a:rPr sz="4400" spc="-110" dirty="0"/>
              <a:t> </a:t>
            </a:r>
            <a:r>
              <a:rPr sz="4400" dirty="0"/>
              <a:t>o</a:t>
            </a:r>
            <a:r>
              <a:rPr sz="4400" spc="-70" dirty="0"/>
              <a:t> </a:t>
            </a:r>
            <a:r>
              <a:rPr sz="4400" spc="-25" dirty="0"/>
              <a:t>No</a:t>
            </a:r>
            <a:r>
              <a:rPr sz="4400" spc="-100" dirty="0"/>
              <a:t> </a:t>
            </a:r>
            <a:r>
              <a:rPr sz="4400" spc="-35" dirty="0"/>
              <a:t>Supervisado?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764405" indent="-34353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4764405" algn="l"/>
                <a:tab pos="4765040" algn="l"/>
              </a:tabLst>
            </a:pPr>
            <a:r>
              <a:rPr spc="10" dirty="0"/>
              <a:t>Detección</a:t>
            </a:r>
            <a:r>
              <a:rPr spc="-20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/>
              <a:t>comunidades</a:t>
            </a:r>
            <a:r>
              <a:rPr spc="-20" dirty="0"/>
              <a:t> </a:t>
            </a:r>
            <a:r>
              <a:rPr spc="15" dirty="0"/>
              <a:t>en </a:t>
            </a:r>
            <a:r>
              <a:rPr spc="10" dirty="0"/>
              <a:t>redes</a:t>
            </a:r>
            <a:r>
              <a:rPr spc="-20" dirty="0"/>
              <a:t> </a:t>
            </a:r>
            <a:r>
              <a:rPr spc="10" dirty="0"/>
              <a:t>sociales</a:t>
            </a:r>
          </a:p>
          <a:p>
            <a:pPr marL="4764405" marR="533400" indent="-343535">
              <a:lnSpc>
                <a:spcPct val="101400"/>
              </a:lnSpc>
              <a:spcBef>
                <a:spcPts val="10"/>
              </a:spcBef>
              <a:buFont typeface="Arial MT"/>
              <a:buChar char="•"/>
              <a:tabLst>
                <a:tab pos="4764405" algn="l"/>
                <a:tab pos="4765040" algn="l"/>
              </a:tabLst>
            </a:pPr>
            <a:r>
              <a:rPr spc="-5" dirty="0"/>
              <a:t>Tuvimos</a:t>
            </a:r>
            <a:r>
              <a:rPr spc="-15" dirty="0"/>
              <a:t> </a:t>
            </a:r>
            <a:r>
              <a:rPr spc="15" dirty="0"/>
              <a:t>que</a:t>
            </a:r>
            <a:r>
              <a:rPr spc="-10" dirty="0"/>
              <a:t> </a:t>
            </a:r>
            <a:r>
              <a:rPr spc="15" dirty="0"/>
              <a:t>idear</a:t>
            </a:r>
            <a:r>
              <a:rPr spc="-5" dirty="0"/>
              <a:t> </a:t>
            </a:r>
            <a:r>
              <a:rPr spc="15" dirty="0"/>
              <a:t>un</a:t>
            </a:r>
            <a:r>
              <a:rPr spc="10" dirty="0"/>
              <a:t> algoritmo</a:t>
            </a:r>
            <a:r>
              <a:rPr spc="-35" dirty="0"/>
              <a:t> </a:t>
            </a:r>
            <a:r>
              <a:rPr spc="15" dirty="0"/>
              <a:t>que</a:t>
            </a:r>
            <a:r>
              <a:rPr spc="-5" dirty="0"/>
              <a:t> </a:t>
            </a:r>
            <a:r>
              <a:rPr spc="10" dirty="0"/>
              <a:t>pudiera </a:t>
            </a:r>
            <a:r>
              <a:rPr spc="-459" dirty="0"/>
              <a:t> </a:t>
            </a:r>
            <a:r>
              <a:rPr spc="10" dirty="0"/>
              <a:t>dividir</a:t>
            </a:r>
            <a:r>
              <a:rPr spc="-10" dirty="0"/>
              <a:t> </a:t>
            </a:r>
            <a:r>
              <a:rPr spc="10" dirty="0"/>
              <a:t>la </a:t>
            </a:r>
            <a:r>
              <a:rPr spc="5" dirty="0"/>
              <a:t>red</a:t>
            </a:r>
            <a:r>
              <a:rPr dirty="0"/>
              <a:t> </a:t>
            </a:r>
            <a:r>
              <a:rPr spc="10" dirty="0"/>
              <a:t>social</a:t>
            </a:r>
            <a:r>
              <a:rPr dirty="0"/>
              <a:t> </a:t>
            </a:r>
            <a:r>
              <a:rPr spc="15" dirty="0"/>
              <a:t>en</a:t>
            </a:r>
            <a:r>
              <a:rPr spc="10" dirty="0"/>
              <a:t> </a:t>
            </a:r>
            <a:r>
              <a:rPr spc="15" dirty="0"/>
              <a:t>grupos</a:t>
            </a:r>
          </a:p>
          <a:p>
            <a:pPr marL="4764405" marR="323850" indent="-343535">
              <a:lnSpc>
                <a:spcPts val="2570"/>
              </a:lnSpc>
              <a:spcBef>
                <a:spcPts val="80"/>
              </a:spcBef>
              <a:buFont typeface="Arial MT"/>
              <a:buChar char="•"/>
              <a:tabLst>
                <a:tab pos="4764405" algn="l"/>
                <a:tab pos="4765040" algn="l"/>
              </a:tabLst>
            </a:pPr>
            <a:r>
              <a:rPr dirty="0"/>
              <a:t>Este</a:t>
            </a:r>
            <a:r>
              <a:rPr spc="-15" dirty="0"/>
              <a:t> </a:t>
            </a:r>
            <a:r>
              <a:rPr spc="10" dirty="0"/>
              <a:t>algoritmo</a:t>
            </a:r>
            <a:r>
              <a:rPr spc="-30" dirty="0"/>
              <a:t> </a:t>
            </a:r>
            <a:r>
              <a:rPr spc="15" dirty="0"/>
              <a:t>debería</a:t>
            </a:r>
            <a:r>
              <a:rPr spc="-15" dirty="0"/>
              <a:t> </a:t>
            </a:r>
            <a:r>
              <a:rPr spc="10" dirty="0"/>
              <a:t>ampliarse</a:t>
            </a:r>
            <a:r>
              <a:rPr spc="-10" dirty="0"/>
              <a:t> </a:t>
            </a:r>
            <a:r>
              <a:rPr dirty="0"/>
              <a:t>para</a:t>
            </a:r>
            <a:r>
              <a:rPr spc="-5" dirty="0"/>
              <a:t> </a:t>
            </a:r>
            <a:r>
              <a:rPr dirty="0"/>
              <a:t>gráficos </a:t>
            </a:r>
            <a:r>
              <a:rPr spc="-455" dirty="0"/>
              <a:t> </a:t>
            </a:r>
            <a:r>
              <a:rPr spc="15" dirty="0"/>
              <a:t>que</a:t>
            </a:r>
            <a:r>
              <a:rPr dirty="0"/>
              <a:t> </a:t>
            </a:r>
            <a:r>
              <a:rPr spc="10" dirty="0"/>
              <a:t>contienen</a:t>
            </a:r>
            <a:r>
              <a:rPr spc="-25" dirty="0"/>
              <a:t> </a:t>
            </a:r>
            <a:r>
              <a:rPr spc="15" dirty="0"/>
              <a:t>millones</a:t>
            </a:r>
            <a:r>
              <a:rPr spc="-15" dirty="0"/>
              <a:t> </a:t>
            </a:r>
            <a:r>
              <a:rPr spc="15" dirty="0"/>
              <a:t>de</a:t>
            </a:r>
            <a:r>
              <a:rPr dirty="0"/>
              <a:t> </a:t>
            </a:r>
            <a:r>
              <a:rPr spc="15" dirty="0"/>
              <a:t>nodos</a:t>
            </a:r>
          </a:p>
          <a:p>
            <a:pPr marL="4764405" indent="-343535">
              <a:lnSpc>
                <a:spcPts val="2460"/>
              </a:lnSpc>
              <a:buFont typeface="Arial MT"/>
              <a:buChar char="•"/>
              <a:tabLst>
                <a:tab pos="4764405" algn="l"/>
                <a:tab pos="4765040" algn="l"/>
              </a:tabLst>
            </a:pPr>
            <a:r>
              <a:rPr spc="10" dirty="0"/>
              <a:t>La</a:t>
            </a:r>
            <a:r>
              <a:rPr spc="5" dirty="0"/>
              <a:t> </a:t>
            </a:r>
            <a:r>
              <a:rPr spc="20" dirty="0"/>
              <a:t>medida</a:t>
            </a:r>
            <a:r>
              <a:rPr spc="-10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0" dirty="0"/>
              <a:t>calidad </a:t>
            </a:r>
            <a:r>
              <a:rPr spc="15" dirty="0"/>
              <a:t>debe</a:t>
            </a:r>
            <a:r>
              <a:rPr spc="-5" dirty="0"/>
              <a:t> </a:t>
            </a:r>
            <a:r>
              <a:rPr spc="10" dirty="0"/>
              <a:t>ser</a:t>
            </a:r>
            <a:r>
              <a:rPr spc="5" dirty="0"/>
              <a:t> </a:t>
            </a:r>
            <a:r>
              <a:rPr dirty="0"/>
              <a:t>tal</a:t>
            </a:r>
            <a:r>
              <a:rPr spc="5" dirty="0"/>
              <a:t> </a:t>
            </a:r>
            <a:r>
              <a:rPr spc="15" dirty="0"/>
              <a:t>que</a:t>
            </a:r>
            <a:r>
              <a:rPr spc="-5" dirty="0"/>
              <a:t> </a:t>
            </a:r>
            <a:r>
              <a:rPr spc="10" dirty="0"/>
              <a:t>ayude</a:t>
            </a:r>
            <a:r>
              <a:rPr spc="-5" dirty="0"/>
              <a:t> </a:t>
            </a:r>
            <a:r>
              <a:rPr spc="10" dirty="0"/>
              <a:t>al</a:t>
            </a:r>
          </a:p>
          <a:p>
            <a:pPr marL="4764405" marR="5080">
              <a:lnSpc>
                <a:spcPct val="101400"/>
              </a:lnSpc>
              <a:spcBef>
                <a:spcPts val="5"/>
              </a:spcBef>
            </a:pPr>
            <a:r>
              <a:rPr spc="10" dirty="0"/>
              <a:t>análisis </a:t>
            </a:r>
            <a:r>
              <a:rPr spc="20" dirty="0"/>
              <a:t>de </a:t>
            </a:r>
            <a:r>
              <a:rPr spc="10" dirty="0"/>
              <a:t>la </a:t>
            </a:r>
            <a:r>
              <a:rPr spc="5" dirty="0"/>
              <a:t>propagación </a:t>
            </a:r>
            <a:r>
              <a:rPr spc="15" dirty="0"/>
              <a:t>de </a:t>
            </a:r>
            <a:r>
              <a:rPr spc="10" dirty="0"/>
              <a:t>enfermedades </a:t>
            </a:r>
            <a:r>
              <a:rPr spc="15" dirty="0"/>
              <a:t>en </a:t>
            </a:r>
            <a:r>
              <a:rPr spc="10" dirty="0"/>
              <a:t>la </a:t>
            </a:r>
            <a:r>
              <a:rPr spc="-459" dirty="0"/>
              <a:t> </a:t>
            </a:r>
            <a:r>
              <a:rPr spc="5" dirty="0"/>
              <a:t>red.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1953767"/>
            <a:ext cx="3291840" cy="298856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00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0" dirty="0"/>
              <a:t>Reinforcement</a:t>
            </a:r>
            <a:r>
              <a:rPr sz="4400" spc="-145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14940" cy="4034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ts val="3190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Concerned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how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software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agents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should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take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i="1" spc="-10" dirty="0">
                <a:latin typeface="Calibri"/>
                <a:cs typeface="Calibri"/>
              </a:rPr>
              <a:t>environment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maximize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cumulative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reward</a:t>
            </a:r>
            <a:r>
              <a:rPr sz="2800" i="1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1300" marR="321945" indent="-22923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Reinforcement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learning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differs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standard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supervised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learning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correct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input/output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pairs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never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presented.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There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focus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on-line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performance,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involves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finding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balance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exploration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uncharted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territory)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exploitation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knowledge)</a:t>
            </a:r>
            <a:endParaRPr sz="2800">
              <a:latin typeface="Calibri"/>
              <a:cs typeface="Calibri"/>
            </a:endParaRPr>
          </a:p>
          <a:p>
            <a:pPr marL="12700" marR="1865630">
              <a:lnSpc>
                <a:spcPts val="4029"/>
              </a:lnSpc>
              <a:spcBef>
                <a:spcPts val="35"/>
              </a:spcBef>
            </a:pPr>
            <a:r>
              <a:rPr sz="28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https://www.youtube.com/watch?v=VMp6pq6_QjI </a:t>
            </a:r>
            <a:r>
              <a:rPr sz="2800" spc="-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https://towardsdatascience.com/q-learning-54b841f3f9e4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00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0" dirty="0"/>
              <a:t>Reinforcement</a:t>
            </a:r>
            <a:r>
              <a:rPr sz="4400" spc="-145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34618" y="1356436"/>
            <a:ext cx="10298430" cy="403732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140970">
              <a:lnSpc>
                <a:spcPct val="88500"/>
              </a:lnSpc>
              <a:spcBef>
                <a:spcPts val="484"/>
              </a:spcBef>
            </a:pPr>
            <a:r>
              <a:rPr sz="2800" spc="-20" dirty="0">
                <a:latin typeface="Calibri"/>
                <a:cs typeface="Calibri"/>
              </a:rPr>
              <a:t>Reinforcement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learning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involves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agent,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-5" dirty="0">
                <a:latin typeface="Calibri"/>
                <a:cs typeface="Calibri"/>
              </a:rPr>
              <a:t> of </a:t>
            </a:r>
            <a:r>
              <a:rPr sz="2800" spc="-25" dirty="0">
                <a:latin typeface="Calibri"/>
                <a:cs typeface="Calibri"/>
              </a:rPr>
              <a:t>states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A </a:t>
            </a:r>
            <a:r>
              <a:rPr sz="2800" b="1" i="1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actions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state.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performing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a</a:t>
            </a:r>
            <a:r>
              <a:rPr sz="2800" b="1" i="1" dirty="0">
                <a:latin typeface="Calibri"/>
                <a:cs typeface="Calibri"/>
              </a:rPr>
              <a:t> </a:t>
            </a:r>
            <a:r>
              <a:rPr sz="2950" spc="-100" dirty="0">
                <a:latin typeface="Cambria Math"/>
                <a:cs typeface="Cambria Math"/>
              </a:rPr>
              <a:t>∈</a:t>
            </a:r>
            <a:r>
              <a:rPr sz="2950" spc="-55" dirty="0">
                <a:latin typeface="Cambria Math"/>
                <a:cs typeface="Cambria Math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agent </a:t>
            </a:r>
            <a:r>
              <a:rPr sz="2800" spc="-10" dirty="0">
                <a:latin typeface="Calibri"/>
                <a:cs typeface="Calibri"/>
              </a:rPr>
              <a:t> transitions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state.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Executing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 in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specific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 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agent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</a:t>
            </a:r>
            <a:r>
              <a:rPr sz="2800" spc="-5" dirty="0">
                <a:latin typeface="Calibri"/>
                <a:cs typeface="Calibri"/>
              </a:rPr>
              <a:t> (a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numerical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score).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0"/>
              </a:spcBef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agent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maximize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total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reward.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10" dirty="0">
                <a:latin typeface="Calibri"/>
                <a:cs typeface="Calibri"/>
              </a:rPr>
              <a:t> adding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maximum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attainable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future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achieving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state,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effectively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influencing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potential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future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reward.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potential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weighted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expected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rewards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all</a:t>
            </a:r>
            <a:r>
              <a:rPr sz="2800" spc="-15" dirty="0">
                <a:latin typeface="Calibri"/>
                <a:cs typeface="Calibri"/>
              </a:rPr>
              <a:t> future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steps </a:t>
            </a:r>
            <a:r>
              <a:rPr sz="2800" spc="-15" dirty="0">
                <a:latin typeface="Calibri"/>
                <a:cs typeface="Calibri"/>
              </a:rPr>
              <a:t> starting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0423" y="5405628"/>
            <a:ext cx="6982968" cy="12207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00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0" dirty="0"/>
              <a:t>Reinforcement</a:t>
            </a:r>
            <a:r>
              <a:rPr sz="4400" spc="-145" dirty="0"/>
              <a:t> </a:t>
            </a:r>
            <a:r>
              <a:rPr sz="4400" spc="-30" dirty="0"/>
              <a:t>Learning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57665"/>
            <a:ext cx="5066665" cy="375157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Some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35" dirty="0">
                <a:latin typeface="Calibri"/>
                <a:cs typeface="Calibri"/>
              </a:rPr>
              <a:t>Temporal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Difference</a:t>
            </a:r>
            <a:r>
              <a:rPr sz="2400" spc="-5" dirty="0">
                <a:latin typeface="Calibri"/>
                <a:cs typeface="Calibri"/>
              </a:rPr>
              <a:t> Learning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(TDL)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Q-Learning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Some tools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frameworks: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Font typeface="Arial MT"/>
              <a:buChar char="•"/>
              <a:tabLst>
                <a:tab pos="69913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https://gym.openai.com/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Font typeface="Arial MT"/>
              <a:buChar char="•"/>
              <a:tabLst>
                <a:tab pos="699135" algn="l"/>
              </a:tabLst>
            </a:pPr>
            <a:r>
              <a:rPr sz="24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https://www.tensorflow.org/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Clr>
                <a:srgbClr val="000000"/>
              </a:buClr>
              <a:buFont typeface="Arial MT"/>
              <a:buChar char="•"/>
              <a:tabLst>
                <a:tab pos="699135" algn="l"/>
              </a:tabLst>
            </a:pPr>
            <a:r>
              <a:rPr sz="24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https://keras.io/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 MT"/>
              <a:buChar char="•"/>
              <a:tabLst>
                <a:tab pos="69913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https://github.com/deepmind/lab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Clr>
                <a:srgbClr val="000000"/>
              </a:buClr>
              <a:buFont typeface="Arial MT"/>
              <a:buChar char="•"/>
              <a:tabLst>
                <a:tab pos="699135" algn="l"/>
              </a:tabLst>
            </a:pPr>
            <a:r>
              <a:rPr sz="24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https://pytorch.org/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61504" y="1711451"/>
            <a:ext cx="3855720" cy="38740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99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/>
              <a:t>Evolutionary</a:t>
            </a:r>
            <a:r>
              <a:rPr sz="4400" spc="-160" dirty="0"/>
              <a:t> </a:t>
            </a:r>
            <a:r>
              <a:rPr sz="4400" spc="-35" dirty="0"/>
              <a:t>Algorithms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04417" y="1577262"/>
            <a:ext cx="6830059" cy="16706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Neuro-evolution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SANE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ESP</a:t>
            </a:r>
            <a:r>
              <a:rPr sz="2400" spc="-15" dirty="0">
                <a:latin typeface="Calibri"/>
                <a:cs typeface="Calibri"/>
              </a:rPr>
              <a:t> (Enforced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Sub-Population)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5" dirty="0">
                <a:latin typeface="Calibri"/>
                <a:cs typeface="Calibri"/>
              </a:rPr>
              <a:t>NEAT</a:t>
            </a:r>
            <a:r>
              <a:rPr sz="2400" spc="-10" dirty="0">
                <a:latin typeface="Calibri"/>
                <a:cs typeface="Calibri"/>
              </a:rPr>
              <a:t> (Neuroevolution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Augmenting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Topologies)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2484" y="4009644"/>
            <a:ext cx="3742944" cy="12298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99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0" dirty="0"/>
              <a:t>Evolutionary</a:t>
            </a:r>
            <a:r>
              <a:rPr sz="4400" spc="-160" dirty="0"/>
              <a:t> </a:t>
            </a:r>
            <a:r>
              <a:rPr sz="4400" spc="-35" dirty="0"/>
              <a:t>Algorithms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63269" y="1446124"/>
            <a:ext cx="5995670" cy="16154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Co-Evolution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Competitive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Evolution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80"/>
              </a:spcBef>
            </a:pPr>
            <a:r>
              <a:rPr sz="20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https://www.youtube.com/watch?v=LqUFJhkIqnI</a:t>
            </a:r>
            <a:endParaRPr sz="20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Cooperative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Evolution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2668" y="2726435"/>
            <a:ext cx="2956560" cy="35341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5484" y="3811523"/>
            <a:ext cx="2516123" cy="245973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61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70" dirty="0"/>
              <a:t>Vector</a:t>
            </a:r>
            <a:r>
              <a:rPr sz="4400" spc="-100" dirty="0"/>
              <a:t> </a:t>
            </a:r>
            <a:r>
              <a:rPr sz="4400" spc="-15" dirty="0"/>
              <a:t>de</a:t>
            </a:r>
            <a:r>
              <a:rPr sz="4400" spc="-75" dirty="0"/>
              <a:t> </a:t>
            </a:r>
            <a:r>
              <a:rPr sz="4400" spc="-45" dirty="0"/>
              <a:t>Características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77187" y="2378773"/>
            <a:ext cx="1708785" cy="1553210"/>
            <a:chOff x="1277187" y="2378773"/>
            <a:chExt cx="1708785" cy="1553210"/>
          </a:xfrm>
        </p:grpSpPr>
        <p:sp>
          <p:nvSpPr>
            <p:cNvPr id="4" name="object 4"/>
            <p:cNvSpPr/>
            <p:nvPr/>
          </p:nvSpPr>
          <p:spPr>
            <a:xfrm>
              <a:off x="1281949" y="2383535"/>
              <a:ext cx="1699260" cy="1543685"/>
            </a:xfrm>
            <a:custGeom>
              <a:avLst/>
              <a:gdLst/>
              <a:ahLst/>
              <a:cxnLst/>
              <a:rect l="l" t="t" r="r" b="b"/>
              <a:pathLst>
                <a:path w="1699260" h="1543685">
                  <a:moveTo>
                    <a:pt x="605270" y="0"/>
                  </a:moveTo>
                  <a:lnTo>
                    <a:pt x="561292" y="17633"/>
                  </a:lnTo>
                  <a:lnTo>
                    <a:pt x="524910" y="41243"/>
                  </a:lnTo>
                  <a:lnTo>
                    <a:pt x="496577" y="73187"/>
                  </a:lnTo>
                  <a:lnTo>
                    <a:pt x="476746" y="115824"/>
                  </a:lnTo>
                  <a:lnTo>
                    <a:pt x="446557" y="148159"/>
                  </a:lnTo>
                  <a:lnTo>
                    <a:pt x="420977" y="182864"/>
                  </a:lnTo>
                  <a:lnTo>
                    <a:pt x="397468" y="219354"/>
                  </a:lnTo>
                  <a:lnTo>
                    <a:pt x="373495" y="257048"/>
                  </a:lnTo>
                  <a:lnTo>
                    <a:pt x="360259" y="291078"/>
                  </a:lnTo>
                  <a:lnTo>
                    <a:pt x="330664" y="296116"/>
                  </a:lnTo>
                  <a:lnTo>
                    <a:pt x="283071" y="307848"/>
                  </a:lnTo>
                  <a:lnTo>
                    <a:pt x="276944" y="354768"/>
                  </a:lnTo>
                  <a:lnTo>
                    <a:pt x="273767" y="401903"/>
                  </a:lnTo>
                  <a:lnTo>
                    <a:pt x="272530" y="449214"/>
                  </a:lnTo>
                  <a:lnTo>
                    <a:pt x="271841" y="544212"/>
                  </a:lnTo>
                  <a:lnTo>
                    <a:pt x="270371" y="591819"/>
                  </a:lnTo>
                  <a:lnTo>
                    <a:pt x="243351" y="631888"/>
                  </a:lnTo>
                  <a:lnTo>
                    <a:pt x="218078" y="665436"/>
                  </a:lnTo>
                  <a:lnTo>
                    <a:pt x="151356" y="710763"/>
                  </a:lnTo>
                  <a:lnTo>
                    <a:pt x="95142" y="738949"/>
                  </a:lnTo>
                  <a:lnTo>
                    <a:pt x="42787" y="770088"/>
                  </a:lnTo>
                  <a:lnTo>
                    <a:pt x="13196" y="796416"/>
                  </a:lnTo>
                  <a:lnTo>
                    <a:pt x="0" y="838997"/>
                  </a:lnTo>
                  <a:lnTo>
                    <a:pt x="2877" y="881126"/>
                  </a:lnTo>
                  <a:lnTo>
                    <a:pt x="14089" y="922968"/>
                  </a:lnTo>
                  <a:lnTo>
                    <a:pt x="25896" y="964691"/>
                  </a:lnTo>
                  <a:lnTo>
                    <a:pt x="65013" y="1002258"/>
                  </a:lnTo>
                  <a:lnTo>
                    <a:pt x="104684" y="1037234"/>
                  </a:lnTo>
                  <a:lnTo>
                    <a:pt x="145435" y="1070076"/>
                  </a:lnTo>
                  <a:lnTo>
                    <a:pt x="187789" y="1101242"/>
                  </a:lnTo>
                  <a:lnTo>
                    <a:pt x="232271" y="1131189"/>
                  </a:lnTo>
                  <a:lnTo>
                    <a:pt x="279024" y="1141162"/>
                  </a:lnTo>
                  <a:lnTo>
                    <a:pt x="323123" y="1153636"/>
                  </a:lnTo>
                  <a:lnTo>
                    <a:pt x="428043" y="1187110"/>
                  </a:lnTo>
                  <a:lnTo>
                    <a:pt x="465655" y="1206831"/>
                  </a:lnTo>
                  <a:lnTo>
                    <a:pt x="488568" y="1275792"/>
                  </a:lnTo>
                  <a:lnTo>
                    <a:pt x="489223" y="1330594"/>
                  </a:lnTo>
                  <a:lnTo>
                    <a:pt x="483639" y="1385706"/>
                  </a:lnTo>
                  <a:lnTo>
                    <a:pt x="476746" y="1440688"/>
                  </a:lnTo>
                  <a:lnTo>
                    <a:pt x="495201" y="1485641"/>
                  </a:lnTo>
                  <a:lnTo>
                    <a:pt x="515754" y="1515425"/>
                  </a:lnTo>
                  <a:lnTo>
                    <a:pt x="539767" y="1533014"/>
                  </a:lnTo>
                  <a:lnTo>
                    <a:pt x="568598" y="1541383"/>
                  </a:lnTo>
                  <a:lnTo>
                    <a:pt x="603609" y="1543507"/>
                  </a:lnTo>
                  <a:lnTo>
                    <a:pt x="697610" y="1540921"/>
                  </a:lnTo>
                  <a:lnTo>
                    <a:pt x="759321" y="1542161"/>
                  </a:lnTo>
                  <a:lnTo>
                    <a:pt x="807171" y="1523098"/>
                  </a:lnTo>
                  <a:lnTo>
                    <a:pt x="853921" y="1498623"/>
                  </a:lnTo>
                  <a:lnTo>
                    <a:pt x="899529" y="1470183"/>
                  </a:lnTo>
                  <a:lnTo>
                    <a:pt x="943950" y="1439225"/>
                  </a:lnTo>
                  <a:lnTo>
                    <a:pt x="987144" y="1407194"/>
                  </a:lnTo>
                  <a:lnTo>
                    <a:pt x="1029069" y="1375537"/>
                  </a:lnTo>
                  <a:lnTo>
                    <a:pt x="1058072" y="1348438"/>
                  </a:lnTo>
                  <a:lnTo>
                    <a:pt x="1068413" y="1339264"/>
                  </a:lnTo>
                  <a:lnTo>
                    <a:pt x="1094220" y="1324864"/>
                  </a:lnTo>
                  <a:lnTo>
                    <a:pt x="1125017" y="1313922"/>
                  </a:lnTo>
                  <a:lnTo>
                    <a:pt x="1160863" y="1306576"/>
                  </a:lnTo>
                  <a:lnTo>
                    <a:pt x="1222744" y="1297813"/>
                  </a:lnTo>
                  <a:lnTo>
                    <a:pt x="1253876" y="1311975"/>
                  </a:lnTo>
                  <a:lnTo>
                    <a:pt x="1294663" y="1348015"/>
                  </a:lnTo>
                  <a:lnTo>
                    <a:pt x="1324554" y="1396845"/>
                  </a:lnTo>
                  <a:lnTo>
                    <a:pt x="1334504" y="1419796"/>
                  </a:lnTo>
                  <a:lnTo>
                    <a:pt x="1346549" y="1440080"/>
                  </a:lnTo>
                  <a:lnTo>
                    <a:pt x="1364095" y="1453388"/>
                  </a:lnTo>
                  <a:lnTo>
                    <a:pt x="1404639" y="1464016"/>
                  </a:lnTo>
                  <a:lnTo>
                    <a:pt x="1446994" y="1466214"/>
                  </a:lnTo>
                  <a:lnTo>
                    <a:pt x="1489967" y="1465175"/>
                  </a:lnTo>
                  <a:lnTo>
                    <a:pt x="1532370" y="1466088"/>
                  </a:lnTo>
                  <a:lnTo>
                    <a:pt x="1569888" y="1436645"/>
                  </a:lnTo>
                  <a:lnTo>
                    <a:pt x="1593441" y="1406763"/>
                  </a:lnTo>
                  <a:lnTo>
                    <a:pt x="1608683" y="1371236"/>
                  </a:lnTo>
                  <a:lnTo>
                    <a:pt x="1621270" y="1324864"/>
                  </a:lnTo>
                  <a:lnTo>
                    <a:pt x="1630769" y="1308377"/>
                  </a:lnTo>
                  <a:lnTo>
                    <a:pt x="1652019" y="1267936"/>
                  </a:lnTo>
                  <a:lnTo>
                    <a:pt x="1674151" y="1217064"/>
                  </a:lnTo>
                  <a:lnTo>
                    <a:pt x="1686294" y="1169289"/>
                  </a:lnTo>
                  <a:lnTo>
                    <a:pt x="1689113" y="1122376"/>
                  </a:lnTo>
                  <a:lnTo>
                    <a:pt x="1691364" y="1075294"/>
                  </a:lnTo>
                  <a:lnTo>
                    <a:pt x="1696862" y="933880"/>
                  </a:lnTo>
                  <a:lnTo>
                    <a:pt x="1698994" y="886967"/>
                  </a:lnTo>
                  <a:lnTo>
                    <a:pt x="1676594" y="815689"/>
                  </a:lnTo>
                  <a:lnTo>
                    <a:pt x="1663971" y="780919"/>
                  </a:lnTo>
                  <a:lnTo>
                    <a:pt x="1648194" y="745743"/>
                  </a:lnTo>
                  <a:lnTo>
                    <a:pt x="1623796" y="720665"/>
                  </a:lnTo>
                  <a:lnTo>
                    <a:pt x="1601791" y="695325"/>
                  </a:lnTo>
                  <a:lnTo>
                    <a:pt x="1580382" y="669413"/>
                  </a:lnTo>
                  <a:lnTo>
                    <a:pt x="1557770" y="642619"/>
                  </a:lnTo>
                  <a:lnTo>
                    <a:pt x="1547762" y="633059"/>
                  </a:lnTo>
                  <a:lnTo>
                    <a:pt x="1536291" y="624712"/>
                  </a:lnTo>
                  <a:lnTo>
                    <a:pt x="1526033" y="615795"/>
                  </a:lnTo>
                  <a:lnTo>
                    <a:pt x="1519670" y="604519"/>
                  </a:lnTo>
                  <a:lnTo>
                    <a:pt x="1512748" y="569497"/>
                  </a:lnTo>
                  <a:lnTo>
                    <a:pt x="1509541" y="533701"/>
                  </a:lnTo>
                  <a:lnTo>
                    <a:pt x="1507811" y="497595"/>
                  </a:lnTo>
                  <a:lnTo>
                    <a:pt x="1505319" y="461644"/>
                  </a:lnTo>
                  <a:lnTo>
                    <a:pt x="1515564" y="424487"/>
                  </a:lnTo>
                  <a:lnTo>
                    <a:pt x="1525369" y="385365"/>
                  </a:lnTo>
                  <a:lnTo>
                    <a:pt x="1531911" y="345934"/>
                  </a:lnTo>
                  <a:lnTo>
                    <a:pt x="1532370" y="307848"/>
                  </a:lnTo>
                  <a:lnTo>
                    <a:pt x="1528572" y="299860"/>
                  </a:lnTo>
                  <a:lnTo>
                    <a:pt x="1521225" y="293957"/>
                  </a:lnTo>
                  <a:lnTo>
                    <a:pt x="1512689" y="288649"/>
                  </a:lnTo>
                  <a:lnTo>
                    <a:pt x="1505319" y="282448"/>
                  </a:lnTo>
                  <a:lnTo>
                    <a:pt x="1498457" y="273565"/>
                  </a:lnTo>
                  <a:lnTo>
                    <a:pt x="1492047" y="263969"/>
                  </a:lnTo>
                  <a:lnTo>
                    <a:pt x="1479919" y="244348"/>
                  </a:lnTo>
                  <a:lnTo>
                    <a:pt x="1436083" y="217867"/>
                  </a:lnTo>
                  <a:lnTo>
                    <a:pt x="1395765" y="202898"/>
                  </a:lnTo>
                  <a:lnTo>
                    <a:pt x="1355347" y="196135"/>
                  </a:lnTo>
                  <a:lnTo>
                    <a:pt x="1311216" y="194272"/>
                  </a:lnTo>
                  <a:lnTo>
                    <a:pt x="1259753" y="194003"/>
                  </a:lnTo>
                  <a:lnTo>
                    <a:pt x="1197344" y="192024"/>
                  </a:lnTo>
                  <a:lnTo>
                    <a:pt x="1150257" y="203708"/>
                  </a:lnTo>
                  <a:lnTo>
                    <a:pt x="1105060" y="215452"/>
                  </a:lnTo>
                  <a:lnTo>
                    <a:pt x="1060229" y="226588"/>
                  </a:lnTo>
                  <a:lnTo>
                    <a:pt x="1014240" y="236443"/>
                  </a:lnTo>
                  <a:lnTo>
                    <a:pt x="965569" y="244348"/>
                  </a:lnTo>
                  <a:lnTo>
                    <a:pt x="934264" y="234911"/>
                  </a:lnTo>
                  <a:lnTo>
                    <a:pt x="922393" y="230028"/>
                  </a:lnTo>
                  <a:lnTo>
                    <a:pt x="900577" y="203492"/>
                  </a:lnTo>
                  <a:lnTo>
                    <a:pt x="862445" y="166624"/>
                  </a:lnTo>
                  <a:lnTo>
                    <a:pt x="834862" y="145266"/>
                  </a:lnTo>
                  <a:lnTo>
                    <a:pt x="825138" y="141208"/>
                  </a:lnTo>
                  <a:lnTo>
                    <a:pt x="821368" y="133602"/>
                  </a:lnTo>
                  <a:lnTo>
                    <a:pt x="811645" y="101600"/>
                  </a:lnTo>
                  <a:lnTo>
                    <a:pt x="791265" y="77636"/>
                  </a:lnTo>
                  <a:lnTo>
                    <a:pt x="771195" y="50577"/>
                  </a:lnTo>
                  <a:lnTo>
                    <a:pt x="721221" y="12700"/>
                  </a:lnTo>
                  <a:lnTo>
                    <a:pt x="663245" y="4540"/>
                  </a:lnTo>
                  <a:lnTo>
                    <a:pt x="634103" y="2627"/>
                  </a:lnTo>
                  <a:lnTo>
                    <a:pt x="60527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1949" y="2383535"/>
              <a:ext cx="1699260" cy="1543685"/>
            </a:xfrm>
            <a:custGeom>
              <a:avLst/>
              <a:gdLst/>
              <a:ahLst/>
              <a:cxnLst/>
              <a:rect l="l" t="t" r="r" b="b"/>
              <a:pathLst>
                <a:path w="1699260" h="1543685">
                  <a:moveTo>
                    <a:pt x="373495" y="257048"/>
                  </a:moveTo>
                  <a:lnTo>
                    <a:pt x="397468" y="219354"/>
                  </a:lnTo>
                  <a:lnTo>
                    <a:pt x="420977" y="182864"/>
                  </a:lnTo>
                  <a:lnTo>
                    <a:pt x="446557" y="148159"/>
                  </a:lnTo>
                  <a:lnTo>
                    <a:pt x="476746" y="115824"/>
                  </a:lnTo>
                  <a:lnTo>
                    <a:pt x="496577" y="73187"/>
                  </a:lnTo>
                  <a:lnTo>
                    <a:pt x="524910" y="41243"/>
                  </a:lnTo>
                  <a:lnTo>
                    <a:pt x="561292" y="17633"/>
                  </a:lnTo>
                  <a:lnTo>
                    <a:pt x="605270" y="0"/>
                  </a:lnTo>
                  <a:lnTo>
                    <a:pt x="634103" y="2627"/>
                  </a:lnTo>
                  <a:lnTo>
                    <a:pt x="663245" y="4540"/>
                  </a:lnTo>
                  <a:lnTo>
                    <a:pt x="721221" y="12700"/>
                  </a:lnTo>
                  <a:lnTo>
                    <a:pt x="771195" y="50577"/>
                  </a:lnTo>
                  <a:lnTo>
                    <a:pt x="791265" y="77636"/>
                  </a:lnTo>
                  <a:lnTo>
                    <a:pt x="811645" y="101600"/>
                  </a:lnTo>
                  <a:lnTo>
                    <a:pt x="821368" y="133602"/>
                  </a:lnTo>
                  <a:lnTo>
                    <a:pt x="825138" y="141208"/>
                  </a:lnTo>
                  <a:lnTo>
                    <a:pt x="834862" y="145266"/>
                  </a:lnTo>
                  <a:lnTo>
                    <a:pt x="862445" y="166624"/>
                  </a:lnTo>
                  <a:lnTo>
                    <a:pt x="900577" y="203492"/>
                  </a:lnTo>
                  <a:lnTo>
                    <a:pt x="915862" y="222091"/>
                  </a:lnTo>
                  <a:lnTo>
                    <a:pt x="922393" y="230028"/>
                  </a:lnTo>
                  <a:lnTo>
                    <a:pt x="934264" y="234911"/>
                  </a:lnTo>
                  <a:lnTo>
                    <a:pt x="965569" y="244348"/>
                  </a:lnTo>
                  <a:lnTo>
                    <a:pt x="1014240" y="236443"/>
                  </a:lnTo>
                  <a:lnTo>
                    <a:pt x="1060229" y="226588"/>
                  </a:lnTo>
                  <a:lnTo>
                    <a:pt x="1105060" y="215452"/>
                  </a:lnTo>
                  <a:lnTo>
                    <a:pt x="1150257" y="203708"/>
                  </a:lnTo>
                  <a:lnTo>
                    <a:pt x="1197344" y="192024"/>
                  </a:lnTo>
                  <a:lnTo>
                    <a:pt x="1259753" y="194003"/>
                  </a:lnTo>
                  <a:lnTo>
                    <a:pt x="1311216" y="194272"/>
                  </a:lnTo>
                  <a:lnTo>
                    <a:pt x="1355347" y="196135"/>
                  </a:lnTo>
                  <a:lnTo>
                    <a:pt x="1395765" y="202898"/>
                  </a:lnTo>
                  <a:lnTo>
                    <a:pt x="1436083" y="217867"/>
                  </a:lnTo>
                  <a:lnTo>
                    <a:pt x="1479919" y="244348"/>
                  </a:lnTo>
                  <a:lnTo>
                    <a:pt x="1485923" y="254087"/>
                  </a:lnTo>
                  <a:lnTo>
                    <a:pt x="1492047" y="263969"/>
                  </a:lnTo>
                  <a:lnTo>
                    <a:pt x="1498457" y="273565"/>
                  </a:lnTo>
                  <a:lnTo>
                    <a:pt x="1505319" y="282448"/>
                  </a:lnTo>
                  <a:lnTo>
                    <a:pt x="1512689" y="288649"/>
                  </a:lnTo>
                  <a:lnTo>
                    <a:pt x="1521225" y="293957"/>
                  </a:lnTo>
                  <a:lnTo>
                    <a:pt x="1528572" y="299860"/>
                  </a:lnTo>
                  <a:lnTo>
                    <a:pt x="1532370" y="307848"/>
                  </a:lnTo>
                  <a:lnTo>
                    <a:pt x="1531911" y="345934"/>
                  </a:lnTo>
                  <a:lnTo>
                    <a:pt x="1525369" y="385365"/>
                  </a:lnTo>
                  <a:lnTo>
                    <a:pt x="1515564" y="424487"/>
                  </a:lnTo>
                  <a:lnTo>
                    <a:pt x="1505319" y="461644"/>
                  </a:lnTo>
                  <a:lnTo>
                    <a:pt x="1507811" y="497595"/>
                  </a:lnTo>
                  <a:lnTo>
                    <a:pt x="1512748" y="569497"/>
                  </a:lnTo>
                  <a:lnTo>
                    <a:pt x="1526033" y="615795"/>
                  </a:lnTo>
                  <a:lnTo>
                    <a:pt x="1547762" y="633059"/>
                  </a:lnTo>
                  <a:lnTo>
                    <a:pt x="1557770" y="642619"/>
                  </a:lnTo>
                  <a:lnTo>
                    <a:pt x="1580382" y="669413"/>
                  </a:lnTo>
                  <a:lnTo>
                    <a:pt x="1601791" y="695325"/>
                  </a:lnTo>
                  <a:lnTo>
                    <a:pt x="1623796" y="720665"/>
                  </a:lnTo>
                  <a:lnTo>
                    <a:pt x="1663971" y="780919"/>
                  </a:lnTo>
                  <a:lnTo>
                    <a:pt x="1687716" y="850792"/>
                  </a:lnTo>
                  <a:lnTo>
                    <a:pt x="1698994" y="886967"/>
                  </a:lnTo>
                  <a:lnTo>
                    <a:pt x="1696862" y="933880"/>
                  </a:lnTo>
                  <a:lnTo>
                    <a:pt x="1695024" y="980962"/>
                  </a:lnTo>
                  <a:lnTo>
                    <a:pt x="1693263" y="1028128"/>
                  </a:lnTo>
                  <a:lnTo>
                    <a:pt x="1691364" y="1075294"/>
                  </a:lnTo>
                  <a:lnTo>
                    <a:pt x="1689113" y="1122376"/>
                  </a:lnTo>
                  <a:lnTo>
                    <a:pt x="1686294" y="1169289"/>
                  </a:lnTo>
                  <a:lnTo>
                    <a:pt x="1674151" y="1217064"/>
                  </a:lnTo>
                  <a:lnTo>
                    <a:pt x="1652019" y="1267936"/>
                  </a:lnTo>
                  <a:lnTo>
                    <a:pt x="1630769" y="1308377"/>
                  </a:lnTo>
                  <a:lnTo>
                    <a:pt x="1621270" y="1324864"/>
                  </a:lnTo>
                  <a:lnTo>
                    <a:pt x="1608683" y="1371236"/>
                  </a:lnTo>
                  <a:lnTo>
                    <a:pt x="1593441" y="1406763"/>
                  </a:lnTo>
                  <a:lnTo>
                    <a:pt x="1569888" y="1436645"/>
                  </a:lnTo>
                  <a:lnTo>
                    <a:pt x="1532370" y="1466088"/>
                  </a:lnTo>
                  <a:lnTo>
                    <a:pt x="1489967" y="1465175"/>
                  </a:lnTo>
                  <a:lnTo>
                    <a:pt x="1446994" y="1466214"/>
                  </a:lnTo>
                  <a:lnTo>
                    <a:pt x="1404639" y="1464016"/>
                  </a:lnTo>
                  <a:lnTo>
                    <a:pt x="1364095" y="1453388"/>
                  </a:lnTo>
                  <a:lnTo>
                    <a:pt x="1334504" y="1419796"/>
                  </a:lnTo>
                  <a:lnTo>
                    <a:pt x="1324554" y="1396845"/>
                  </a:lnTo>
                  <a:lnTo>
                    <a:pt x="1313295" y="1375537"/>
                  </a:lnTo>
                  <a:lnTo>
                    <a:pt x="1294663" y="1348015"/>
                  </a:lnTo>
                  <a:lnTo>
                    <a:pt x="1276353" y="1327769"/>
                  </a:lnTo>
                  <a:lnTo>
                    <a:pt x="1253876" y="1311975"/>
                  </a:lnTo>
                  <a:lnTo>
                    <a:pt x="1222744" y="1297813"/>
                  </a:lnTo>
                  <a:lnTo>
                    <a:pt x="1195518" y="1301611"/>
                  </a:lnTo>
                  <a:lnTo>
                    <a:pt x="1125017" y="1313922"/>
                  </a:lnTo>
                  <a:lnTo>
                    <a:pt x="1068413" y="1339264"/>
                  </a:lnTo>
                  <a:lnTo>
                    <a:pt x="1049518" y="1358493"/>
                  </a:lnTo>
                  <a:lnTo>
                    <a:pt x="1029069" y="1375537"/>
                  </a:lnTo>
                  <a:lnTo>
                    <a:pt x="987144" y="1407194"/>
                  </a:lnTo>
                  <a:lnTo>
                    <a:pt x="943950" y="1439225"/>
                  </a:lnTo>
                  <a:lnTo>
                    <a:pt x="899529" y="1470183"/>
                  </a:lnTo>
                  <a:lnTo>
                    <a:pt x="853921" y="1498623"/>
                  </a:lnTo>
                  <a:lnTo>
                    <a:pt x="807171" y="1523098"/>
                  </a:lnTo>
                  <a:lnTo>
                    <a:pt x="759321" y="1542161"/>
                  </a:lnTo>
                  <a:lnTo>
                    <a:pt x="697610" y="1540921"/>
                  </a:lnTo>
                  <a:lnTo>
                    <a:pt x="646160" y="1542361"/>
                  </a:lnTo>
                  <a:lnTo>
                    <a:pt x="603609" y="1543507"/>
                  </a:lnTo>
                  <a:lnTo>
                    <a:pt x="539767" y="1533014"/>
                  </a:lnTo>
                  <a:lnTo>
                    <a:pt x="495201" y="1485641"/>
                  </a:lnTo>
                  <a:lnTo>
                    <a:pt x="476746" y="1440688"/>
                  </a:lnTo>
                  <a:lnTo>
                    <a:pt x="483639" y="1385706"/>
                  </a:lnTo>
                  <a:lnTo>
                    <a:pt x="489223" y="1330594"/>
                  </a:lnTo>
                  <a:lnTo>
                    <a:pt x="488568" y="1275792"/>
                  </a:lnTo>
                  <a:lnTo>
                    <a:pt x="476746" y="1221739"/>
                  </a:lnTo>
                  <a:lnTo>
                    <a:pt x="447742" y="1195339"/>
                  </a:lnTo>
                  <a:lnTo>
                    <a:pt x="411595" y="1181989"/>
                  </a:lnTo>
                  <a:lnTo>
                    <a:pt x="366627" y="1167586"/>
                  </a:lnTo>
                  <a:lnTo>
                    <a:pt x="323123" y="1153636"/>
                  </a:lnTo>
                  <a:lnTo>
                    <a:pt x="279024" y="1141162"/>
                  </a:lnTo>
                  <a:lnTo>
                    <a:pt x="232271" y="1131189"/>
                  </a:lnTo>
                  <a:lnTo>
                    <a:pt x="187789" y="1101242"/>
                  </a:lnTo>
                  <a:lnTo>
                    <a:pt x="145435" y="1070076"/>
                  </a:lnTo>
                  <a:lnTo>
                    <a:pt x="104684" y="1037234"/>
                  </a:lnTo>
                  <a:lnTo>
                    <a:pt x="65013" y="1002258"/>
                  </a:lnTo>
                  <a:lnTo>
                    <a:pt x="25896" y="964691"/>
                  </a:lnTo>
                  <a:lnTo>
                    <a:pt x="14089" y="922968"/>
                  </a:lnTo>
                  <a:lnTo>
                    <a:pt x="2877" y="881126"/>
                  </a:lnTo>
                  <a:lnTo>
                    <a:pt x="0" y="838997"/>
                  </a:lnTo>
                  <a:lnTo>
                    <a:pt x="13196" y="796416"/>
                  </a:lnTo>
                  <a:lnTo>
                    <a:pt x="42787" y="770088"/>
                  </a:lnTo>
                  <a:lnTo>
                    <a:pt x="95142" y="738949"/>
                  </a:lnTo>
                  <a:lnTo>
                    <a:pt x="151356" y="710763"/>
                  </a:lnTo>
                  <a:lnTo>
                    <a:pt x="192520" y="693292"/>
                  </a:lnTo>
                  <a:lnTo>
                    <a:pt x="218078" y="665436"/>
                  </a:lnTo>
                  <a:lnTo>
                    <a:pt x="243351" y="631888"/>
                  </a:lnTo>
                  <a:lnTo>
                    <a:pt x="270371" y="591819"/>
                  </a:lnTo>
                  <a:lnTo>
                    <a:pt x="271841" y="544212"/>
                  </a:lnTo>
                  <a:lnTo>
                    <a:pt x="272224" y="496664"/>
                  </a:lnTo>
                  <a:lnTo>
                    <a:pt x="272530" y="449214"/>
                  </a:lnTo>
                  <a:lnTo>
                    <a:pt x="273767" y="401903"/>
                  </a:lnTo>
                  <a:lnTo>
                    <a:pt x="276944" y="354768"/>
                  </a:lnTo>
                  <a:lnTo>
                    <a:pt x="283071" y="307848"/>
                  </a:lnTo>
                  <a:lnTo>
                    <a:pt x="299878" y="294320"/>
                  </a:lnTo>
                  <a:lnTo>
                    <a:pt x="330664" y="296116"/>
                  </a:lnTo>
                  <a:lnTo>
                    <a:pt x="360259" y="291078"/>
                  </a:lnTo>
                  <a:lnTo>
                    <a:pt x="373495" y="2570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16546" y="2707428"/>
            <a:ext cx="141605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10" dirty="0">
                <a:latin typeface="Symbol"/>
                <a:cs typeface="Symbol"/>
              </a:rPr>
              <a:t>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6546" y="3562987"/>
            <a:ext cx="55372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1465" algn="l"/>
              </a:tabLst>
            </a:pPr>
            <a:r>
              <a:rPr sz="2400" spc="-10" dirty="0">
                <a:latin typeface="Symbol"/>
                <a:cs typeface="Symbol"/>
              </a:rPr>
              <a:t>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2100" i="1" spc="-7" baseline="1984" dirty="0">
                <a:latin typeface="Times New Roman"/>
                <a:cs typeface="Times New Roman"/>
              </a:rPr>
              <a:t>n</a:t>
            </a:r>
            <a:r>
              <a:rPr sz="2100" i="1" spc="-120" baseline="198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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1146" y="2411667"/>
            <a:ext cx="60452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49580" algn="l"/>
              </a:tabLst>
            </a:pPr>
            <a:r>
              <a:rPr sz="2400" spc="90" dirty="0">
                <a:latin typeface="Symbol"/>
                <a:cs typeface="Symbol"/>
              </a:rPr>
              <a:t></a:t>
            </a:r>
            <a:r>
              <a:rPr sz="3600" i="1" spc="135" baseline="-26620" dirty="0">
                <a:latin typeface="Times New Roman"/>
                <a:cs typeface="Times New Roman"/>
              </a:rPr>
              <a:t>x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1146" y="3002548"/>
            <a:ext cx="604520" cy="6902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ts val="2605"/>
              </a:lnSpc>
              <a:spcBef>
                <a:spcPts val="120"/>
              </a:spcBef>
            </a:pPr>
            <a:r>
              <a:rPr sz="2400" spc="-10" dirty="0">
                <a:latin typeface="Symbol"/>
                <a:cs typeface="Symbol"/>
              </a:rPr>
              <a:t>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3600" spc="-675" baseline="-3472" dirty="0">
                <a:latin typeface="Microsoft Sans Serif"/>
                <a:cs typeface="Microsoft Sans Serif"/>
              </a:rPr>
              <a:t>⁝</a:t>
            </a:r>
            <a:r>
              <a:rPr sz="3600" spc="217" baseline="-3472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  <a:p>
            <a:pPr marL="38100">
              <a:lnSpc>
                <a:spcPts val="2605"/>
              </a:lnSpc>
              <a:tabLst>
                <a:tab pos="449580" algn="l"/>
              </a:tabLst>
            </a:pPr>
            <a:r>
              <a:rPr sz="2400" spc="85" dirty="0">
                <a:latin typeface="Symbol"/>
                <a:cs typeface="Symbol"/>
              </a:rPr>
              <a:t></a:t>
            </a:r>
            <a:r>
              <a:rPr sz="3600" i="1" spc="127" baseline="-33564" dirty="0">
                <a:latin typeface="Times New Roman"/>
                <a:cs typeface="Times New Roman"/>
              </a:rPr>
              <a:t>x	</a:t>
            </a:r>
            <a:r>
              <a:rPr sz="2400" spc="-10" dirty="0">
                <a:latin typeface="Symbol"/>
                <a:cs typeface="Symbol"/>
              </a:rPr>
              <a:t>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2423" y="2786967"/>
            <a:ext cx="79756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00" spc="-7" baseline="47619" dirty="0">
                <a:latin typeface="Times New Roman"/>
                <a:cs typeface="Times New Roman"/>
              </a:rPr>
              <a:t>2</a:t>
            </a:r>
            <a:r>
              <a:rPr sz="2100" spc="-60" baseline="47619" dirty="0">
                <a:latin typeface="Times New Roman"/>
                <a:cs typeface="Times New Roman"/>
              </a:rPr>
              <a:t> </a:t>
            </a:r>
            <a:r>
              <a:rPr sz="3600" spc="-15" baseline="15046" dirty="0">
                <a:latin typeface="Symbol"/>
                <a:cs typeface="Symbol"/>
              </a:rPr>
              <a:t></a:t>
            </a:r>
            <a:r>
              <a:rPr sz="3600" spc="22" baseline="15046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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1146" y="2115932"/>
            <a:ext cx="60452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400" spc="-10" dirty="0">
                <a:latin typeface="Symbol"/>
                <a:cs typeface="Symbol"/>
              </a:rPr>
              <a:t>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3600" i="1" spc="-202" baseline="3472" dirty="0">
                <a:latin typeface="Times New Roman"/>
                <a:cs typeface="Times New Roman"/>
              </a:rPr>
              <a:t>x</a:t>
            </a:r>
            <a:r>
              <a:rPr sz="2100" spc="-7" baseline="-17857" dirty="0">
                <a:latin typeface="Times New Roman"/>
                <a:cs typeface="Times New Roman"/>
              </a:rPr>
              <a:t>1</a:t>
            </a:r>
            <a:r>
              <a:rPr sz="2100" spc="15" baseline="-1785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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7403" y="1733753"/>
            <a:ext cx="49301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Lucida Sans Unicode"/>
                <a:cs typeface="Lucida Sans Unicode"/>
              </a:rPr>
              <a:t>-</a:t>
            </a:r>
            <a:r>
              <a:rPr sz="2000" spc="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5" dirty="0">
                <a:latin typeface="Lucida Sans Unicode"/>
                <a:cs typeface="Lucida Sans Unicode"/>
              </a:rPr>
              <a:t> vector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</a:t>
            </a:r>
            <a:r>
              <a:rPr sz="2000" spc="-5" dirty="0">
                <a:latin typeface="Lucida Sans Unicode"/>
                <a:cs typeface="Lucida Sans Unicode"/>
              </a:rPr>
              <a:t> observaciones(medidas).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7403" y="2066671"/>
            <a:ext cx="3069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-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un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punto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en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el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5" dirty="0">
                <a:latin typeface="Lucida Sans Unicode"/>
                <a:cs typeface="Lucida Sans Unicode"/>
              </a:rPr>
              <a:t>espacio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85618" y="2367787"/>
            <a:ext cx="1068705" cy="1405890"/>
          </a:xfrm>
          <a:custGeom>
            <a:avLst/>
            <a:gdLst/>
            <a:ahLst/>
            <a:cxnLst/>
            <a:rect l="l" t="t" r="r" b="b"/>
            <a:pathLst>
              <a:path w="1068704" h="1405889">
                <a:moveTo>
                  <a:pt x="1068578" y="1387348"/>
                </a:moveTo>
                <a:lnTo>
                  <a:pt x="1057770" y="1378077"/>
                </a:lnTo>
                <a:lnTo>
                  <a:pt x="1003935" y="1331849"/>
                </a:lnTo>
                <a:lnTo>
                  <a:pt x="996200" y="1362684"/>
                </a:lnTo>
                <a:lnTo>
                  <a:pt x="155702" y="1152525"/>
                </a:lnTo>
                <a:lnTo>
                  <a:pt x="152654" y="1164983"/>
                </a:lnTo>
                <a:lnTo>
                  <a:pt x="993127" y="1375003"/>
                </a:lnTo>
                <a:lnTo>
                  <a:pt x="985393" y="1405890"/>
                </a:lnTo>
                <a:lnTo>
                  <a:pt x="1068578" y="1387348"/>
                </a:lnTo>
                <a:close/>
              </a:path>
              <a:path w="1068704" h="1405889">
                <a:moveTo>
                  <a:pt x="1068578" y="472948"/>
                </a:moveTo>
                <a:lnTo>
                  <a:pt x="1064260" y="471170"/>
                </a:lnTo>
                <a:lnTo>
                  <a:pt x="989838" y="440436"/>
                </a:lnTo>
                <a:lnTo>
                  <a:pt x="992111" y="472084"/>
                </a:lnTo>
                <a:lnTo>
                  <a:pt x="1270" y="542798"/>
                </a:lnTo>
                <a:lnTo>
                  <a:pt x="2286" y="555498"/>
                </a:lnTo>
                <a:lnTo>
                  <a:pt x="993013" y="484657"/>
                </a:lnTo>
                <a:lnTo>
                  <a:pt x="995299" y="516382"/>
                </a:lnTo>
                <a:lnTo>
                  <a:pt x="1068578" y="472948"/>
                </a:lnTo>
                <a:close/>
              </a:path>
              <a:path w="1068704" h="1405889">
                <a:moveTo>
                  <a:pt x="1068578" y="15748"/>
                </a:moveTo>
                <a:lnTo>
                  <a:pt x="984885" y="0"/>
                </a:lnTo>
                <a:lnTo>
                  <a:pt x="993559" y="30568"/>
                </a:lnTo>
                <a:lnTo>
                  <a:pt x="0" y="314452"/>
                </a:lnTo>
                <a:lnTo>
                  <a:pt x="3556" y="326644"/>
                </a:lnTo>
                <a:lnTo>
                  <a:pt x="997026" y="42748"/>
                </a:lnTo>
                <a:lnTo>
                  <a:pt x="1005713" y="73279"/>
                </a:lnTo>
                <a:lnTo>
                  <a:pt x="1056220" y="27051"/>
                </a:lnTo>
                <a:lnTo>
                  <a:pt x="1068578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534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¿Que</a:t>
            </a:r>
            <a:r>
              <a:rPr sz="4400" spc="-130" dirty="0"/>
              <a:t> </a:t>
            </a:r>
            <a:r>
              <a:rPr sz="4400" spc="-15" dirty="0"/>
              <a:t>es</a:t>
            </a:r>
            <a:r>
              <a:rPr sz="4400" spc="-80" dirty="0"/>
              <a:t> </a:t>
            </a:r>
            <a:r>
              <a:rPr sz="4400" spc="-25" dirty="0"/>
              <a:t>una</a:t>
            </a:r>
            <a:r>
              <a:rPr sz="4400" spc="-114" dirty="0"/>
              <a:t> </a:t>
            </a:r>
            <a:r>
              <a:rPr sz="4400" spc="-45" dirty="0"/>
              <a:t>característica?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59993" y="1457959"/>
            <a:ext cx="977963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  <a:tab pos="299720" algn="l"/>
              </a:tabLst>
            </a:pPr>
            <a:r>
              <a:rPr sz="1800" spc="-15" dirty="0">
                <a:latin typeface="Calibri"/>
                <a:cs typeface="Calibri"/>
              </a:rPr>
              <a:t>Característica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Char char="-"/>
              <a:tabLst>
                <a:tab pos="756285" algn="l"/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Una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cualquier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aspecto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distintivo,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calidad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tabLst>
                <a:tab pos="1213485" algn="l"/>
              </a:tabLst>
            </a:pPr>
            <a:r>
              <a:rPr sz="1800" dirty="0">
                <a:latin typeface="Calibri"/>
                <a:cs typeface="Calibri"/>
              </a:rPr>
              <a:t>-	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</a:t>
            </a:r>
            <a:r>
              <a:rPr sz="1800" spc="-10" dirty="0">
                <a:latin typeface="Calibri"/>
                <a:cs typeface="Calibri"/>
              </a:rPr>
              <a:t> simbólicas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(color)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5" dirty="0">
                <a:latin typeface="Calibri"/>
                <a:cs typeface="Calibri"/>
              </a:rPr>
              <a:t>numéricas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(altura)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Definiciones</a:t>
            </a:r>
            <a:endParaRPr sz="1800">
              <a:latin typeface="Calibri"/>
              <a:cs typeface="Calibri"/>
            </a:endParaRPr>
          </a:p>
          <a:p>
            <a:pPr marL="756285" marR="40640" lvl="1" indent="-287020">
              <a:lnSpc>
                <a:spcPct val="100000"/>
              </a:lnSpc>
              <a:buChar char="-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combinación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representada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columna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dimensiones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llamada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-5" dirty="0">
                <a:latin typeface="Calibri"/>
                <a:cs typeface="Calibri"/>
              </a:rPr>
              <a:t> de </a:t>
            </a:r>
            <a:r>
              <a:rPr sz="1800" spc="-10" dirty="0">
                <a:latin typeface="Calibri"/>
                <a:cs typeface="Calibri"/>
              </a:rPr>
              <a:t>características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Char char="-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espacio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dimensional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definida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5" dirty="0">
                <a:latin typeface="Calibri"/>
                <a:cs typeface="Calibri"/>
              </a:rPr>
              <a:t> llamado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espacio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características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Char char="-"/>
              <a:tabLst>
                <a:tab pos="756285" algn="l"/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representados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puntos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espacio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características.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grafico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llamado</a:t>
            </a:r>
            <a:endParaRPr sz="18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latin typeface="Calibri"/>
                <a:cs typeface="Calibri"/>
              </a:rPr>
              <a:t>gráfico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dispersión.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34740" y="3857244"/>
            <a:ext cx="5492750" cy="2490470"/>
            <a:chOff x="3634740" y="3857244"/>
            <a:chExt cx="5492750" cy="24904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4740" y="3857244"/>
              <a:ext cx="5492496" cy="24825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28996" y="6337985"/>
              <a:ext cx="1010285" cy="0"/>
            </a:xfrm>
            <a:custGeom>
              <a:avLst/>
              <a:gdLst/>
              <a:ahLst/>
              <a:cxnLst/>
              <a:rect l="l" t="t" r="r" b="b"/>
              <a:pathLst>
                <a:path w="1010285">
                  <a:moveTo>
                    <a:pt x="0" y="0"/>
                  </a:moveTo>
                  <a:lnTo>
                    <a:pt x="0" y="0"/>
                  </a:lnTo>
                  <a:lnTo>
                    <a:pt x="1003300" y="0"/>
                  </a:lnTo>
                  <a:lnTo>
                    <a:pt x="1009776" y="0"/>
                  </a:lnTo>
                </a:path>
              </a:pathLst>
            </a:custGeom>
            <a:ln w="19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94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Espacio</a:t>
            </a:r>
            <a:r>
              <a:rPr sz="4400" spc="-110" dirty="0"/>
              <a:t> </a:t>
            </a:r>
            <a:r>
              <a:rPr sz="4400" spc="-15" dirty="0"/>
              <a:t>de</a:t>
            </a:r>
            <a:r>
              <a:rPr sz="4400" spc="-80" dirty="0"/>
              <a:t> </a:t>
            </a:r>
            <a:r>
              <a:rPr sz="4400" spc="-45" dirty="0"/>
              <a:t>Características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455" y="1528572"/>
            <a:ext cx="8095488" cy="474878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58492"/>
            <a:ext cx="10273665" cy="26269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692785" indent="-229235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spc="-10" dirty="0">
                <a:latin typeface="Calibri"/>
                <a:cs typeface="Calibri"/>
              </a:rPr>
              <a:t>calidad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 un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vector</a:t>
            </a:r>
            <a:r>
              <a:rPr sz="2800" spc="-5" dirty="0">
                <a:latin typeface="Calibri"/>
                <a:cs typeface="Calibri"/>
              </a:rPr>
              <a:t> 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está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relacionada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capacidad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para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discriminar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ejemplos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diferentes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clases.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Los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ejemplos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misma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clase </a:t>
            </a:r>
            <a:r>
              <a:rPr sz="2800" spc="-10" dirty="0">
                <a:latin typeface="Calibri"/>
                <a:cs typeface="Calibri"/>
              </a:rPr>
              <a:t>deben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tener </a:t>
            </a:r>
            <a:r>
              <a:rPr sz="2800" spc="-15" dirty="0">
                <a:latin typeface="Calibri"/>
                <a:cs typeface="Calibri"/>
              </a:rPr>
              <a:t>valores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similares</a:t>
            </a:r>
            <a:endParaRPr sz="2800">
              <a:latin typeface="Calibri"/>
              <a:cs typeface="Calibri"/>
            </a:endParaRPr>
          </a:p>
          <a:p>
            <a:pPr marL="241300" marR="1134745" indent="-229235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Los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ejemplos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diferentes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tienen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diferentes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valores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12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“Buena”</a:t>
            </a:r>
            <a:r>
              <a:rPr sz="4400" spc="-130" dirty="0"/>
              <a:t> </a:t>
            </a:r>
            <a:r>
              <a:rPr sz="4400" spc="-45" dirty="0"/>
              <a:t>caracteristica</a:t>
            </a:r>
            <a:endParaRPr sz="4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36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863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Un</a:t>
            </a:r>
            <a:r>
              <a:rPr sz="4400" spc="-155" dirty="0"/>
              <a:t> </a:t>
            </a:r>
            <a:r>
              <a:rPr sz="4400" spc="-30" dirty="0"/>
              <a:t>Ejemplo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107744" y="1457071"/>
            <a:ext cx="9319895" cy="2881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“Clasificación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pescado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entrante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cinta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transportadora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según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especie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mediante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detección óptica”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Calibri"/>
              <a:cs typeface="Calibri"/>
            </a:endParaRPr>
          </a:p>
          <a:p>
            <a:pPr marL="5371465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Lubina</a:t>
            </a:r>
            <a:endParaRPr sz="28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latin typeface="Calibri"/>
                <a:cs typeface="Calibri"/>
              </a:rPr>
              <a:t>Especie</a:t>
            </a:r>
            <a:endParaRPr sz="2800">
              <a:latin typeface="Calibri"/>
              <a:cs typeface="Calibri"/>
            </a:endParaRPr>
          </a:p>
          <a:p>
            <a:pPr marL="547497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Calibri"/>
                <a:cs typeface="Calibri"/>
              </a:rPr>
              <a:t>Salmon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14521" y="3167633"/>
            <a:ext cx="1958339" cy="399415"/>
          </a:xfrm>
          <a:custGeom>
            <a:avLst/>
            <a:gdLst/>
            <a:ahLst/>
            <a:cxnLst/>
            <a:rect l="l" t="t" r="r" b="b"/>
            <a:pathLst>
              <a:path w="1958339" h="399414">
                <a:moveTo>
                  <a:pt x="0" y="399288"/>
                </a:moveTo>
                <a:lnTo>
                  <a:pt x="1958339" y="0"/>
                </a:lnTo>
              </a:path>
            </a:pathLst>
          </a:custGeom>
          <a:ln w="38099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10890" y="3877817"/>
            <a:ext cx="2164080" cy="337185"/>
          </a:xfrm>
          <a:custGeom>
            <a:avLst/>
            <a:gdLst/>
            <a:ahLst/>
            <a:cxnLst/>
            <a:rect l="l" t="t" r="r" b="b"/>
            <a:pathLst>
              <a:path w="2164079" h="337185">
                <a:moveTo>
                  <a:pt x="0" y="0"/>
                </a:moveTo>
                <a:lnTo>
                  <a:pt x="2164080" y="336803"/>
                </a:lnTo>
              </a:path>
            </a:pathLst>
          </a:custGeom>
          <a:ln w="38099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641" y="1823465"/>
            <a:ext cx="9465945" cy="485203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41300" marR="772795" indent="-228600">
              <a:lnSpc>
                <a:spcPts val="274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spc="5" dirty="0">
                <a:latin typeface="Calibri"/>
                <a:cs typeface="Calibri"/>
              </a:rPr>
              <a:t>Configure </a:t>
            </a:r>
            <a:r>
              <a:rPr sz="2500" spc="10" dirty="0">
                <a:latin typeface="Calibri"/>
                <a:cs typeface="Calibri"/>
              </a:rPr>
              <a:t>una </a:t>
            </a:r>
            <a:r>
              <a:rPr sz="2500" dirty="0">
                <a:latin typeface="Calibri"/>
                <a:cs typeface="Calibri"/>
              </a:rPr>
              <a:t>cámara </a:t>
            </a:r>
            <a:r>
              <a:rPr sz="2500" spc="10" dirty="0">
                <a:latin typeface="Calibri"/>
                <a:cs typeface="Calibri"/>
              </a:rPr>
              <a:t>y </a:t>
            </a:r>
            <a:r>
              <a:rPr sz="2500" spc="5" dirty="0">
                <a:latin typeface="Calibri"/>
                <a:cs typeface="Calibri"/>
              </a:rPr>
              <a:t>tome </a:t>
            </a:r>
            <a:r>
              <a:rPr sz="2500" spc="10" dirty="0">
                <a:latin typeface="Calibri"/>
                <a:cs typeface="Calibri"/>
              </a:rPr>
              <a:t>algunas imágenes de </a:t>
            </a:r>
            <a:r>
              <a:rPr sz="2500" spc="5" dirty="0">
                <a:latin typeface="Calibri"/>
                <a:cs typeface="Calibri"/>
              </a:rPr>
              <a:t>muestra </a:t>
            </a:r>
            <a:r>
              <a:rPr sz="2500" dirty="0">
                <a:latin typeface="Calibri"/>
                <a:cs typeface="Calibri"/>
              </a:rPr>
              <a:t>para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extraer características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  <a:tab pos="699135" algn="l"/>
              </a:tabLst>
            </a:pPr>
            <a:r>
              <a:rPr sz="2250" dirty="0">
                <a:latin typeface="Calibri"/>
                <a:cs typeface="Calibri"/>
              </a:rPr>
              <a:t>Longitud</a:t>
            </a:r>
            <a:endParaRPr sz="225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7865" algn="l"/>
                <a:tab pos="699135" algn="l"/>
              </a:tabLst>
            </a:pPr>
            <a:r>
              <a:rPr sz="2250" dirty="0">
                <a:latin typeface="Calibri"/>
                <a:cs typeface="Calibri"/>
              </a:rPr>
              <a:t>Luminucidad</a:t>
            </a:r>
            <a:endParaRPr sz="225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  <a:tab pos="699135" algn="l"/>
              </a:tabLst>
            </a:pPr>
            <a:r>
              <a:rPr sz="2250" spc="5" dirty="0">
                <a:latin typeface="Calibri"/>
                <a:cs typeface="Calibri"/>
              </a:rPr>
              <a:t>Ancho</a:t>
            </a:r>
            <a:endParaRPr sz="225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7865" algn="l"/>
                <a:tab pos="699135" algn="l"/>
              </a:tabLst>
            </a:pPr>
            <a:r>
              <a:rPr sz="2250" dirty="0">
                <a:latin typeface="Calibri"/>
                <a:cs typeface="Calibri"/>
              </a:rPr>
              <a:t>Número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y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5" dirty="0">
                <a:latin typeface="Calibri"/>
                <a:cs typeface="Calibri"/>
              </a:rPr>
              <a:t>forma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de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las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aletas.</a:t>
            </a:r>
            <a:endParaRPr sz="225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7865" algn="l"/>
                <a:tab pos="699135" algn="l"/>
              </a:tabLst>
            </a:pPr>
            <a:r>
              <a:rPr sz="2250" spc="-5" dirty="0">
                <a:latin typeface="Calibri"/>
                <a:cs typeface="Calibri"/>
              </a:rPr>
              <a:t>Posición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de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spc="5" dirty="0">
                <a:latin typeface="Calibri"/>
                <a:cs typeface="Calibri"/>
              </a:rPr>
              <a:t>la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boca,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spc="-5" dirty="0">
                <a:latin typeface="Calibri"/>
                <a:cs typeface="Calibri"/>
              </a:rPr>
              <a:t>etc…</a:t>
            </a:r>
            <a:endParaRPr sz="22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740"/>
              </a:lnSpc>
              <a:spcBef>
                <a:spcPts val="1590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spc="5" dirty="0">
                <a:latin typeface="Calibri"/>
                <a:cs typeface="Calibri"/>
              </a:rPr>
              <a:t>¡Este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10" dirty="0">
                <a:latin typeface="Calibri"/>
                <a:cs typeface="Calibri"/>
              </a:rPr>
              <a:t>es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10" dirty="0">
                <a:latin typeface="Calibri"/>
                <a:cs typeface="Calibri"/>
              </a:rPr>
              <a:t>el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conjunto</a:t>
            </a:r>
            <a:r>
              <a:rPr sz="2500" spc="10" dirty="0">
                <a:latin typeface="Calibri"/>
                <a:cs typeface="Calibri"/>
              </a:rPr>
              <a:t> de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5" dirty="0">
                <a:latin typeface="Calibri"/>
                <a:cs typeface="Calibri"/>
              </a:rPr>
              <a:t>todas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5" dirty="0">
                <a:latin typeface="Calibri"/>
                <a:cs typeface="Calibri"/>
              </a:rPr>
              <a:t>las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características</a:t>
            </a:r>
            <a:r>
              <a:rPr sz="2500" spc="45" dirty="0">
                <a:latin typeface="Calibri"/>
                <a:cs typeface="Calibri"/>
              </a:rPr>
              <a:t> </a:t>
            </a:r>
            <a:r>
              <a:rPr sz="2500" spc="5" dirty="0">
                <a:latin typeface="Calibri"/>
                <a:cs typeface="Calibri"/>
              </a:rPr>
              <a:t>sugeridas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para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explorar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10" dirty="0">
                <a:latin typeface="Calibri"/>
                <a:cs typeface="Calibri"/>
              </a:rPr>
              <a:t>y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10" dirty="0">
                <a:latin typeface="Calibri"/>
                <a:cs typeface="Calibri"/>
              </a:rPr>
              <a:t>usar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15" dirty="0">
                <a:latin typeface="Calibri"/>
                <a:cs typeface="Calibri"/>
              </a:rPr>
              <a:t>en</a:t>
            </a:r>
            <a:r>
              <a:rPr sz="2500" spc="5" dirty="0">
                <a:latin typeface="Calibri"/>
                <a:cs typeface="Calibri"/>
              </a:rPr>
              <a:t> nuestro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5" dirty="0">
                <a:latin typeface="Calibri"/>
                <a:cs typeface="Calibri"/>
              </a:rPr>
              <a:t>clasificador!</a:t>
            </a:r>
            <a:endParaRPr sz="2500">
              <a:latin typeface="Calibri"/>
              <a:cs typeface="Calibri"/>
            </a:endParaRPr>
          </a:p>
          <a:p>
            <a:pPr marR="2186305" algn="r">
              <a:lnSpc>
                <a:spcPct val="100000"/>
              </a:lnSpc>
              <a:spcBef>
                <a:spcPts val="2045"/>
              </a:spcBef>
            </a:pPr>
            <a:r>
              <a:rPr sz="1200" spc="-5" dirty="0">
                <a:latin typeface="Lucida Sans Unicode"/>
                <a:cs typeface="Lucida Sans Unicode"/>
              </a:rPr>
              <a:t>37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07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Analisis</a:t>
            </a:r>
            <a:r>
              <a:rPr sz="4400" spc="-120" dirty="0"/>
              <a:t> </a:t>
            </a:r>
            <a:r>
              <a:rPr sz="4400" spc="-20" dirty="0"/>
              <a:t>del</a:t>
            </a:r>
            <a:r>
              <a:rPr sz="4400" spc="-105" dirty="0"/>
              <a:t> </a:t>
            </a:r>
            <a:r>
              <a:rPr sz="4400" spc="-50" dirty="0"/>
              <a:t>Problema</a:t>
            </a:r>
            <a:endParaRPr sz="4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38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3691" y="958342"/>
            <a:ext cx="2910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Calibri"/>
                <a:cs typeface="Calibri"/>
              </a:rPr>
              <a:t>Pre-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procesamiento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691" y="1470405"/>
            <a:ext cx="9664065" cy="26257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5" dirty="0">
                <a:latin typeface="Calibri"/>
                <a:cs typeface="Calibri"/>
              </a:rPr>
              <a:t>Use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una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operación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segmentación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para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aislar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peces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entre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sí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fondo</a:t>
            </a:r>
            <a:endParaRPr sz="2800">
              <a:latin typeface="Calibri"/>
              <a:cs typeface="Calibri"/>
            </a:endParaRPr>
          </a:p>
          <a:p>
            <a:pPr marL="12700" marR="6350">
              <a:lnSpc>
                <a:spcPts val="3020"/>
              </a:lnSpc>
              <a:spcBef>
                <a:spcPts val="994"/>
              </a:spcBef>
            </a:pPr>
            <a:r>
              <a:rPr sz="2800" spc="-5" dirty="0">
                <a:latin typeface="Calibri"/>
                <a:cs typeface="Calibri"/>
              </a:rPr>
              <a:t>La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información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pez</a:t>
            </a:r>
            <a:r>
              <a:rPr sz="2800" spc="-5" dirty="0">
                <a:latin typeface="Calibri"/>
                <a:cs typeface="Calibri"/>
              </a:rPr>
              <a:t> se </a:t>
            </a:r>
            <a:r>
              <a:rPr sz="2800" spc="-15" dirty="0">
                <a:latin typeface="Calibri"/>
                <a:cs typeface="Calibri"/>
              </a:rPr>
              <a:t>envía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un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extractor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cuyo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propósito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reducir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datos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midiendo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ciertas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características.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800" spc="-10" dirty="0">
                <a:latin typeface="Calibri"/>
                <a:cs typeface="Calibri"/>
              </a:rPr>
              <a:t>Las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0" dirty="0">
                <a:latin typeface="Calibri"/>
                <a:cs typeface="Calibri"/>
              </a:rPr>
              <a:t>pasan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un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clasificador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(targeting)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7476" y="1316736"/>
            <a:ext cx="2990087" cy="37810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007" y="2202179"/>
            <a:ext cx="3951732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93493"/>
            <a:ext cx="1844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Clasificación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394" y="2761615"/>
            <a:ext cx="822198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Seleccione la </a:t>
            </a:r>
            <a:r>
              <a:rPr sz="2400" spc="-5" dirty="0">
                <a:latin typeface="Calibri"/>
                <a:cs typeface="Calibri"/>
              </a:rPr>
              <a:t>longitud del </a:t>
            </a:r>
            <a:r>
              <a:rPr sz="2400" spc="-10" dirty="0">
                <a:latin typeface="Calibri"/>
                <a:cs typeface="Calibri"/>
              </a:rPr>
              <a:t>pez como </a:t>
            </a:r>
            <a:r>
              <a:rPr sz="2400" spc="-5" dirty="0">
                <a:latin typeface="Calibri"/>
                <a:cs typeface="Calibri"/>
              </a:rPr>
              <a:t>posible </a:t>
            </a:r>
            <a:r>
              <a:rPr sz="2400" spc="-10" dirty="0">
                <a:latin typeface="Calibri"/>
                <a:cs typeface="Calibri"/>
              </a:rPr>
              <a:t>característica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discriminación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41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371600"/>
            <a:ext cx="8897112" cy="413613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42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9122" y="1643837"/>
            <a:ext cx="7813040" cy="1475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¡La longitud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pobre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sola!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Selecciona</a:t>
            </a:r>
            <a:r>
              <a:rPr sz="2800" spc="-5" dirty="0">
                <a:latin typeface="Calibri"/>
                <a:cs typeface="Calibri"/>
              </a:rPr>
              <a:t> la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luminosidad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posible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43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371600"/>
            <a:ext cx="8897112" cy="41361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44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948967"/>
            <a:ext cx="8486775" cy="18180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Límite</a:t>
            </a:r>
            <a:r>
              <a:rPr sz="2800" spc="-5" dirty="0">
                <a:latin typeface="Calibri"/>
                <a:cs typeface="Calibri"/>
              </a:rPr>
              <a:t> 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decisión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umbral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relación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costo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Mueva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nuestro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límite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decisión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hacia </a:t>
            </a:r>
            <a:r>
              <a:rPr sz="2800" spc="-15" dirty="0">
                <a:latin typeface="Calibri"/>
                <a:cs typeface="Calibri"/>
              </a:rPr>
              <a:t>valores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más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pequeños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ligereza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para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minimizar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costo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(¡reduzca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cantidad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lubinas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 </a:t>
            </a:r>
            <a:r>
              <a:rPr sz="2800" spc="-5" dirty="0">
                <a:latin typeface="Calibri"/>
                <a:cs typeface="Calibri"/>
              </a:rPr>
              <a:t>se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clasifican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salmón!)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0578" y="4716856"/>
            <a:ext cx="22542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latin typeface="Calibri"/>
                <a:cs typeface="Calibri"/>
              </a:rPr>
              <a:t>Teoria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decisión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84850" y="2813050"/>
            <a:ext cx="622300" cy="1231900"/>
            <a:chOff x="5784850" y="2813050"/>
            <a:chExt cx="622300" cy="1231900"/>
          </a:xfrm>
        </p:grpSpPr>
        <p:sp>
          <p:nvSpPr>
            <p:cNvPr id="6" name="object 6"/>
            <p:cNvSpPr/>
            <p:nvPr/>
          </p:nvSpPr>
          <p:spPr>
            <a:xfrm>
              <a:off x="5791200" y="2819400"/>
              <a:ext cx="609600" cy="1219200"/>
            </a:xfrm>
            <a:custGeom>
              <a:avLst/>
              <a:gdLst/>
              <a:ahLst/>
              <a:cxnLst/>
              <a:rect l="l" t="t" r="r" b="b"/>
              <a:pathLst>
                <a:path w="609600" h="1219200">
                  <a:moveTo>
                    <a:pt x="457200" y="0"/>
                  </a:moveTo>
                  <a:lnTo>
                    <a:pt x="152400" y="0"/>
                  </a:lnTo>
                  <a:lnTo>
                    <a:pt x="152400" y="914400"/>
                  </a:lnTo>
                  <a:lnTo>
                    <a:pt x="0" y="914400"/>
                  </a:lnTo>
                  <a:lnTo>
                    <a:pt x="304800" y="1219200"/>
                  </a:lnTo>
                  <a:lnTo>
                    <a:pt x="609600" y="914400"/>
                  </a:lnTo>
                  <a:lnTo>
                    <a:pt x="457200" y="9144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91200" y="2819400"/>
              <a:ext cx="609600" cy="1219200"/>
            </a:xfrm>
            <a:custGeom>
              <a:avLst/>
              <a:gdLst/>
              <a:ahLst/>
              <a:cxnLst/>
              <a:rect l="l" t="t" r="r" b="b"/>
              <a:pathLst>
                <a:path w="609600" h="1219200">
                  <a:moveTo>
                    <a:pt x="0" y="914400"/>
                  </a:moveTo>
                  <a:lnTo>
                    <a:pt x="152400" y="914400"/>
                  </a:lnTo>
                  <a:lnTo>
                    <a:pt x="152400" y="0"/>
                  </a:lnTo>
                  <a:lnTo>
                    <a:pt x="457200" y="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304800" y="121920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9131045" y="1746630"/>
            <a:ext cx="565785" cy="57150"/>
          </a:xfrm>
          <a:custGeom>
            <a:avLst/>
            <a:gdLst/>
            <a:ahLst/>
            <a:cxnLst/>
            <a:rect l="l" t="t" r="r" b="b"/>
            <a:pathLst>
              <a:path w="565784" h="57150">
                <a:moveTo>
                  <a:pt x="0" y="57150"/>
                </a:moveTo>
                <a:lnTo>
                  <a:pt x="19176" y="57150"/>
                </a:lnTo>
                <a:lnTo>
                  <a:pt x="50800" y="50673"/>
                </a:lnTo>
                <a:lnTo>
                  <a:pt x="76326" y="50673"/>
                </a:lnTo>
                <a:lnTo>
                  <a:pt x="108076" y="31623"/>
                </a:lnTo>
                <a:lnTo>
                  <a:pt x="165226" y="31623"/>
                </a:lnTo>
                <a:lnTo>
                  <a:pt x="228600" y="25527"/>
                </a:lnTo>
                <a:lnTo>
                  <a:pt x="298450" y="12573"/>
                </a:lnTo>
                <a:lnTo>
                  <a:pt x="317500" y="12573"/>
                </a:lnTo>
                <a:lnTo>
                  <a:pt x="361823" y="0"/>
                </a:lnTo>
                <a:lnTo>
                  <a:pt x="552576" y="0"/>
                </a:lnTo>
                <a:lnTo>
                  <a:pt x="565276" y="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45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4794" y="1567637"/>
            <a:ext cx="7157720" cy="1475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66700" algn="l"/>
              </a:tabLst>
            </a:pPr>
            <a:r>
              <a:rPr sz="2800" spc="-15" dirty="0">
                <a:latin typeface="Calibri"/>
                <a:cs typeface="Calibri"/>
              </a:rPr>
              <a:t>Adopta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luminicidad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añade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 ancho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del </a:t>
            </a:r>
            <a:r>
              <a:rPr sz="2800" spc="-15" dirty="0">
                <a:latin typeface="Calibri"/>
                <a:cs typeface="Calibri"/>
              </a:rPr>
              <a:t>pez.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00">
              <a:latin typeface="Calibri"/>
              <a:cs typeface="Calibri"/>
            </a:endParaRPr>
          </a:p>
          <a:p>
            <a:pPr marL="2118360">
              <a:lnSpc>
                <a:spcPct val="100000"/>
              </a:lnSpc>
              <a:spcBef>
                <a:spcPts val="5"/>
              </a:spcBef>
              <a:tabLst>
                <a:tab pos="4594860" algn="l"/>
              </a:tabLst>
            </a:pPr>
            <a:r>
              <a:rPr sz="2800" spc="-10" dirty="0">
                <a:latin typeface="Calibri"/>
                <a:cs typeface="Calibri"/>
              </a:rPr>
              <a:t>Fish	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775" i="1" baseline="25525" dirty="0">
                <a:latin typeface="Calibri"/>
                <a:cs typeface="Calibri"/>
              </a:rPr>
              <a:t>T</a:t>
            </a:r>
            <a:r>
              <a:rPr sz="2775" i="1" spc="284" baseline="2552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= </a:t>
            </a:r>
            <a:r>
              <a:rPr sz="2800" b="1" i="1" dirty="0">
                <a:latin typeface="Calibri"/>
                <a:cs typeface="Calibri"/>
              </a:rPr>
              <a:t>[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775" i="1" baseline="-21021" dirty="0">
                <a:latin typeface="Calibri"/>
                <a:cs typeface="Calibri"/>
              </a:rPr>
              <a:t>1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775" i="1" baseline="-21021" dirty="0">
                <a:latin typeface="Calibri"/>
                <a:cs typeface="Calibri"/>
              </a:rPr>
              <a:t>2</a:t>
            </a:r>
            <a:r>
              <a:rPr sz="2800" b="1" i="1" dirty="0">
                <a:latin typeface="Calibri"/>
                <a:cs typeface="Calibri"/>
              </a:rPr>
              <a:t>]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70450" y="2736850"/>
            <a:ext cx="1612900" cy="393700"/>
            <a:chOff x="4870450" y="2736850"/>
            <a:chExt cx="1612900" cy="393700"/>
          </a:xfrm>
        </p:grpSpPr>
        <p:sp>
          <p:nvSpPr>
            <p:cNvPr id="5" name="object 5"/>
            <p:cNvSpPr/>
            <p:nvPr/>
          </p:nvSpPr>
          <p:spPr>
            <a:xfrm>
              <a:off x="4876800" y="2743200"/>
              <a:ext cx="1600200" cy="381000"/>
            </a:xfrm>
            <a:custGeom>
              <a:avLst/>
              <a:gdLst/>
              <a:ahLst/>
              <a:cxnLst/>
              <a:rect l="l" t="t" r="r" b="b"/>
              <a:pathLst>
                <a:path w="1600200" h="381000">
                  <a:moveTo>
                    <a:pt x="1200150" y="0"/>
                  </a:moveTo>
                  <a:lnTo>
                    <a:pt x="1200150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1200150" y="285750"/>
                  </a:lnTo>
                  <a:lnTo>
                    <a:pt x="1200150" y="381000"/>
                  </a:lnTo>
                  <a:lnTo>
                    <a:pt x="1600200" y="190500"/>
                  </a:lnTo>
                  <a:lnTo>
                    <a:pt x="12001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76800" y="2743200"/>
              <a:ext cx="1600200" cy="381000"/>
            </a:xfrm>
            <a:custGeom>
              <a:avLst/>
              <a:gdLst/>
              <a:ahLst/>
              <a:cxnLst/>
              <a:rect l="l" t="t" r="r" b="b"/>
              <a:pathLst>
                <a:path w="1600200" h="381000">
                  <a:moveTo>
                    <a:pt x="0" y="95250"/>
                  </a:moveTo>
                  <a:lnTo>
                    <a:pt x="1200150" y="95250"/>
                  </a:lnTo>
                  <a:lnTo>
                    <a:pt x="1200150" y="0"/>
                  </a:lnTo>
                  <a:lnTo>
                    <a:pt x="1600200" y="190500"/>
                  </a:lnTo>
                  <a:lnTo>
                    <a:pt x="1200150" y="381000"/>
                  </a:lnTo>
                  <a:lnTo>
                    <a:pt x="1200150" y="285750"/>
                  </a:lnTo>
                  <a:lnTo>
                    <a:pt x="0" y="285750"/>
                  </a:lnTo>
                  <a:lnTo>
                    <a:pt x="0" y="952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51828" y="4217289"/>
            <a:ext cx="1922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Luminucidad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8209" y="4293489"/>
            <a:ext cx="817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Ancho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24293" y="3404234"/>
            <a:ext cx="340995" cy="635635"/>
          </a:xfrm>
          <a:custGeom>
            <a:avLst/>
            <a:gdLst/>
            <a:ahLst/>
            <a:cxnLst/>
            <a:rect l="l" t="t" r="r" b="b"/>
            <a:pathLst>
              <a:path w="340995" h="635635">
                <a:moveTo>
                  <a:pt x="17779" y="450341"/>
                </a:moveTo>
                <a:lnTo>
                  <a:pt x="10465" y="452300"/>
                </a:lnTo>
                <a:lnTo>
                  <a:pt x="4699" y="456771"/>
                </a:lnTo>
                <a:lnTo>
                  <a:pt x="1027" y="463075"/>
                </a:lnTo>
                <a:lnTo>
                  <a:pt x="0" y="470534"/>
                </a:lnTo>
                <a:lnTo>
                  <a:pt x="10667" y="635253"/>
                </a:lnTo>
                <a:lnTo>
                  <a:pt x="49500" y="609853"/>
                </a:lnTo>
                <a:lnTo>
                  <a:pt x="44576" y="609853"/>
                </a:lnTo>
                <a:lnTo>
                  <a:pt x="10540" y="592835"/>
                </a:lnTo>
                <a:lnTo>
                  <a:pt x="42011" y="529894"/>
                </a:lnTo>
                <a:lnTo>
                  <a:pt x="37973" y="468121"/>
                </a:lnTo>
                <a:lnTo>
                  <a:pt x="36032" y="460807"/>
                </a:lnTo>
                <a:lnTo>
                  <a:pt x="31591" y="455041"/>
                </a:lnTo>
                <a:lnTo>
                  <a:pt x="25292" y="451369"/>
                </a:lnTo>
                <a:lnTo>
                  <a:pt x="17779" y="450341"/>
                </a:lnTo>
                <a:close/>
              </a:path>
              <a:path w="340995" h="635635">
                <a:moveTo>
                  <a:pt x="42011" y="529894"/>
                </a:moveTo>
                <a:lnTo>
                  <a:pt x="10540" y="592835"/>
                </a:lnTo>
                <a:lnTo>
                  <a:pt x="44576" y="609853"/>
                </a:lnTo>
                <a:lnTo>
                  <a:pt x="49402" y="600201"/>
                </a:lnTo>
                <a:lnTo>
                  <a:pt x="46608" y="600201"/>
                </a:lnTo>
                <a:lnTo>
                  <a:pt x="17145" y="585469"/>
                </a:lnTo>
                <a:lnTo>
                  <a:pt x="44477" y="567603"/>
                </a:lnTo>
                <a:lnTo>
                  <a:pt x="42011" y="529894"/>
                </a:lnTo>
                <a:close/>
              </a:path>
              <a:path w="340995" h="635635">
                <a:moveTo>
                  <a:pt x="134889" y="510236"/>
                </a:moveTo>
                <a:lnTo>
                  <a:pt x="127888" y="513079"/>
                </a:lnTo>
                <a:lnTo>
                  <a:pt x="76007" y="546993"/>
                </a:lnTo>
                <a:lnTo>
                  <a:pt x="44576" y="609853"/>
                </a:lnTo>
                <a:lnTo>
                  <a:pt x="49500" y="609853"/>
                </a:lnTo>
                <a:lnTo>
                  <a:pt x="148716" y="544957"/>
                </a:lnTo>
                <a:lnTo>
                  <a:pt x="154088" y="539597"/>
                </a:lnTo>
                <a:lnTo>
                  <a:pt x="156924" y="532844"/>
                </a:lnTo>
                <a:lnTo>
                  <a:pt x="157021" y="525543"/>
                </a:lnTo>
                <a:lnTo>
                  <a:pt x="154177" y="518540"/>
                </a:lnTo>
                <a:lnTo>
                  <a:pt x="148891" y="513169"/>
                </a:lnTo>
                <a:lnTo>
                  <a:pt x="142176" y="510333"/>
                </a:lnTo>
                <a:lnTo>
                  <a:pt x="134889" y="510236"/>
                </a:lnTo>
                <a:close/>
              </a:path>
              <a:path w="340995" h="635635">
                <a:moveTo>
                  <a:pt x="44477" y="567603"/>
                </a:moveTo>
                <a:lnTo>
                  <a:pt x="17145" y="585469"/>
                </a:lnTo>
                <a:lnTo>
                  <a:pt x="46608" y="600201"/>
                </a:lnTo>
                <a:lnTo>
                  <a:pt x="44477" y="567603"/>
                </a:lnTo>
                <a:close/>
              </a:path>
              <a:path w="340995" h="635635">
                <a:moveTo>
                  <a:pt x="76007" y="546993"/>
                </a:moveTo>
                <a:lnTo>
                  <a:pt x="44477" y="567603"/>
                </a:lnTo>
                <a:lnTo>
                  <a:pt x="46608" y="600201"/>
                </a:lnTo>
                <a:lnTo>
                  <a:pt x="49402" y="600201"/>
                </a:lnTo>
                <a:lnTo>
                  <a:pt x="76007" y="546993"/>
                </a:lnTo>
                <a:close/>
              </a:path>
              <a:path w="340995" h="635635">
                <a:moveTo>
                  <a:pt x="306958" y="0"/>
                </a:moveTo>
                <a:lnTo>
                  <a:pt x="42011" y="529894"/>
                </a:lnTo>
                <a:lnTo>
                  <a:pt x="44477" y="567603"/>
                </a:lnTo>
                <a:lnTo>
                  <a:pt x="76007" y="546993"/>
                </a:lnTo>
                <a:lnTo>
                  <a:pt x="340995" y="17017"/>
                </a:lnTo>
                <a:lnTo>
                  <a:pt x="306958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75092" y="3479291"/>
            <a:ext cx="483870" cy="636905"/>
          </a:xfrm>
          <a:custGeom>
            <a:avLst/>
            <a:gdLst/>
            <a:ahLst/>
            <a:cxnLst/>
            <a:rect l="l" t="t" r="r" b="b"/>
            <a:pathLst>
              <a:path w="483870" h="636904">
                <a:moveTo>
                  <a:pt x="339320" y="535598"/>
                </a:moveTo>
                <a:lnTo>
                  <a:pt x="332168" y="537019"/>
                </a:lnTo>
                <a:lnTo>
                  <a:pt x="326064" y="541012"/>
                </a:lnTo>
                <a:lnTo>
                  <a:pt x="321817" y="547243"/>
                </a:lnTo>
                <a:lnTo>
                  <a:pt x="320260" y="554634"/>
                </a:lnTo>
                <a:lnTo>
                  <a:pt x="321643" y="561800"/>
                </a:lnTo>
                <a:lnTo>
                  <a:pt x="325622" y="567942"/>
                </a:lnTo>
                <a:lnTo>
                  <a:pt x="331850" y="572262"/>
                </a:lnTo>
                <a:lnTo>
                  <a:pt x="483869" y="636397"/>
                </a:lnTo>
                <a:lnTo>
                  <a:pt x="481686" y="617474"/>
                </a:lnTo>
                <a:lnTo>
                  <a:pt x="446024" y="617474"/>
                </a:lnTo>
                <a:lnTo>
                  <a:pt x="403782" y="561160"/>
                </a:lnTo>
                <a:lnTo>
                  <a:pt x="346709" y="537083"/>
                </a:lnTo>
                <a:lnTo>
                  <a:pt x="339320" y="535598"/>
                </a:lnTo>
                <a:close/>
              </a:path>
              <a:path w="483870" h="636904">
                <a:moveTo>
                  <a:pt x="403782" y="561160"/>
                </a:moveTo>
                <a:lnTo>
                  <a:pt x="446024" y="617474"/>
                </a:lnTo>
                <a:lnTo>
                  <a:pt x="458216" y="608330"/>
                </a:lnTo>
                <a:lnTo>
                  <a:pt x="442340" y="608330"/>
                </a:lnTo>
                <a:lnTo>
                  <a:pt x="438573" y="575838"/>
                </a:lnTo>
                <a:lnTo>
                  <a:pt x="403782" y="561160"/>
                </a:lnTo>
                <a:close/>
              </a:path>
              <a:path w="483870" h="636904">
                <a:moveTo>
                  <a:pt x="443737" y="455676"/>
                </a:moveTo>
                <a:lnTo>
                  <a:pt x="436566" y="458043"/>
                </a:lnTo>
                <a:lnTo>
                  <a:pt x="431037" y="462803"/>
                </a:lnTo>
                <a:lnTo>
                  <a:pt x="427700" y="469302"/>
                </a:lnTo>
                <a:lnTo>
                  <a:pt x="427100" y="476885"/>
                </a:lnTo>
                <a:lnTo>
                  <a:pt x="434214" y="538235"/>
                </a:lnTo>
                <a:lnTo>
                  <a:pt x="476503" y="594614"/>
                </a:lnTo>
                <a:lnTo>
                  <a:pt x="446024" y="617474"/>
                </a:lnTo>
                <a:lnTo>
                  <a:pt x="481686" y="617474"/>
                </a:lnTo>
                <a:lnTo>
                  <a:pt x="464947" y="472440"/>
                </a:lnTo>
                <a:lnTo>
                  <a:pt x="462579" y="465266"/>
                </a:lnTo>
                <a:lnTo>
                  <a:pt x="457819" y="459724"/>
                </a:lnTo>
                <a:lnTo>
                  <a:pt x="451320" y="456348"/>
                </a:lnTo>
                <a:lnTo>
                  <a:pt x="443737" y="455676"/>
                </a:lnTo>
                <a:close/>
              </a:path>
              <a:path w="483870" h="636904">
                <a:moveTo>
                  <a:pt x="438573" y="575838"/>
                </a:moveTo>
                <a:lnTo>
                  <a:pt x="442340" y="608330"/>
                </a:lnTo>
                <a:lnTo>
                  <a:pt x="468629" y="588518"/>
                </a:lnTo>
                <a:lnTo>
                  <a:pt x="438573" y="575838"/>
                </a:lnTo>
                <a:close/>
              </a:path>
              <a:path w="483870" h="636904">
                <a:moveTo>
                  <a:pt x="434214" y="538235"/>
                </a:moveTo>
                <a:lnTo>
                  <a:pt x="438573" y="575838"/>
                </a:lnTo>
                <a:lnTo>
                  <a:pt x="468629" y="588518"/>
                </a:lnTo>
                <a:lnTo>
                  <a:pt x="442340" y="608330"/>
                </a:lnTo>
                <a:lnTo>
                  <a:pt x="458216" y="608330"/>
                </a:lnTo>
                <a:lnTo>
                  <a:pt x="476503" y="594614"/>
                </a:lnTo>
                <a:lnTo>
                  <a:pt x="434214" y="538235"/>
                </a:lnTo>
                <a:close/>
              </a:path>
              <a:path w="483870" h="636904">
                <a:moveTo>
                  <a:pt x="30479" y="0"/>
                </a:moveTo>
                <a:lnTo>
                  <a:pt x="0" y="22860"/>
                </a:lnTo>
                <a:lnTo>
                  <a:pt x="403782" y="561160"/>
                </a:lnTo>
                <a:lnTo>
                  <a:pt x="438573" y="575838"/>
                </a:lnTo>
                <a:lnTo>
                  <a:pt x="434214" y="538235"/>
                </a:lnTo>
                <a:lnTo>
                  <a:pt x="30479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46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411" y="1447800"/>
            <a:ext cx="8895588" cy="413613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47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1034542"/>
            <a:ext cx="8604885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Podríamos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agregar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otras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características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</a:t>
            </a:r>
            <a:r>
              <a:rPr sz="2800" spc="-5" dirty="0">
                <a:latin typeface="Calibri"/>
                <a:cs typeface="Calibri"/>
              </a:rPr>
              <a:t> no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están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correlacionadas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ya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tenemos.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tomar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precaución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reducir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 </a:t>
            </a:r>
            <a:r>
              <a:rPr sz="2800" spc="-15" dirty="0">
                <a:latin typeface="Calibri"/>
                <a:cs typeface="Calibri"/>
              </a:rPr>
              <a:t>rendimiento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agregando </a:t>
            </a:r>
            <a:r>
              <a:rPr sz="2800" spc="-10" dirty="0">
                <a:latin typeface="Calibri"/>
                <a:cs typeface="Calibri"/>
              </a:rPr>
              <a:t>tales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"características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ruidosas"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4150">
              <a:latin typeface="Calibri"/>
              <a:cs typeface="Calibri"/>
            </a:endParaRPr>
          </a:p>
          <a:p>
            <a:pPr marL="241300" marR="152400" indent="-228600">
              <a:lnSpc>
                <a:spcPts val="303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Idealmente,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mejor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límite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decisión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debería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 aquel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proporcione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rendimiento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óptimo,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siguiente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figura: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48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524000"/>
            <a:ext cx="7162800" cy="414223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49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9117" y="1567637"/>
            <a:ext cx="8121650" cy="1220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Sin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embargo,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nuestra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satisfacción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prematura </a:t>
            </a:r>
            <a:r>
              <a:rPr sz="2800" spc="-15" dirty="0">
                <a:latin typeface="Calibri"/>
                <a:cs typeface="Calibri"/>
              </a:rPr>
              <a:t> porque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objetivo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central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diseñar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 clasificador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clasificar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correctamente</a:t>
            </a:r>
            <a:r>
              <a:rPr sz="2800" spc="-5" dirty="0">
                <a:latin typeface="Calibri"/>
                <a:cs typeface="Calibri"/>
              </a:rPr>
              <a:t> la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entrada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nueva.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7273" y="5150358"/>
            <a:ext cx="4091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Problema </a:t>
            </a:r>
            <a:r>
              <a:rPr sz="2800" b="1" spc="-5" dirty="0">
                <a:latin typeface="Calibri"/>
                <a:cs typeface="Calibri"/>
              </a:rPr>
              <a:t>de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generalización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61050" y="3041650"/>
            <a:ext cx="469900" cy="1384300"/>
            <a:chOff x="5861050" y="3041650"/>
            <a:chExt cx="469900" cy="1384300"/>
          </a:xfrm>
        </p:grpSpPr>
        <p:sp>
          <p:nvSpPr>
            <p:cNvPr id="6" name="object 6"/>
            <p:cNvSpPr/>
            <p:nvPr/>
          </p:nvSpPr>
          <p:spPr>
            <a:xfrm>
              <a:off x="5867400" y="3048000"/>
              <a:ext cx="457200" cy="1371600"/>
            </a:xfrm>
            <a:custGeom>
              <a:avLst/>
              <a:gdLst/>
              <a:ahLst/>
              <a:cxnLst/>
              <a:rect l="l" t="t" r="r" b="b"/>
              <a:pathLst>
                <a:path w="457200" h="1371600">
                  <a:moveTo>
                    <a:pt x="342900" y="0"/>
                  </a:moveTo>
                  <a:lnTo>
                    <a:pt x="114300" y="0"/>
                  </a:lnTo>
                  <a:lnTo>
                    <a:pt x="114300" y="1028700"/>
                  </a:lnTo>
                  <a:lnTo>
                    <a:pt x="0" y="1028700"/>
                  </a:lnTo>
                  <a:lnTo>
                    <a:pt x="228600" y="1371600"/>
                  </a:lnTo>
                  <a:lnTo>
                    <a:pt x="457200" y="1028700"/>
                  </a:lnTo>
                  <a:lnTo>
                    <a:pt x="342900" y="10287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400" y="3048000"/>
              <a:ext cx="457200" cy="1371600"/>
            </a:xfrm>
            <a:custGeom>
              <a:avLst/>
              <a:gdLst/>
              <a:ahLst/>
              <a:cxnLst/>
              <a:rect l="l" t="t" r="r" b="b"/>
              <a:pathLst>
                <a:path w="457200" h="1371600">
                  <a:moveTo>
                    <a:pt x="0" y="1028700"/>
                  </a:moveTo>
                  <a:lnTo>
                    <a:pt x="114300" y="102870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028700"/>
                  </a:lnTo>
                  <a:lnTo>
                    <a:pt x="457200" y="1028700"/>
                  </a:lnTo>
                  <a:lnTo>
                    <a:pt x="228600" y="1371600"/>
                  </a:lnTo>
                  <a:lnTo>
                    <a:pt x="0" y="1028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708" y="6466738"/>
            <a:ext cx="21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Lucida Sans Unicode"/>
                <a:cs typeface="Lucida Sans Unicode"/>
              </a:rPr>
              <a:t>50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6211" y="1219200"/>
            <a:ext cx="8895588" cy="413613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45237"/>
            <a:ext cx="7994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Algunos</a:t>
            </a:r>
            <a:r>
              <a:rPr sz="4400" spc="-95" dirty="0"/>
              <a:t> </a:t>
            </a:r>
            <a:r>
              <a:rPr sz="4400" spc="-35" dirty="0"/>
              <a:t>trabajos</a:t>
            </a:r>
            <a:r>
              <a:rPr sz="4400" spc="-90" dirty="0"/>
              <a:t> </a:t>
            </a:r>
            <a:r>
              <a:rPr sz="4400" spc="-15" dirty="0"/>
              <a:t>de</a:t>
            </a:r>
            <a:r>
              <a:rPr sz="4400" spc="-100" dirty="0"/>
              <a:t> </a:t>
            </a:r>
            <a:r>
              <a:rPr sz="4400" spc="-30" dirty="0"/>
              <a:t>ML</a:t>
            </a:r>
            <a:r>
              <a:rPr sz="4400" spc="-65" dirty="0"/>
              <a:t> </a:t>
            </a:r>
            <a:r>
              <a:rPr sz="4400" spc="-45" dirty="0"/>
              <a:t>para</a:t>
            </a:r>
            <a:r>
              <a:rPr sz="4400" spc="-100" dirty="0"/>
              <a:t> </a:t>
            </a:r>
            <a:r>
              <a:rPr sz="4400" spc="-45" dirty="0"/>
              <a:t>Revisar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39241" y="1271287"/>
            <a:ext cx="10665460" cy="33712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151351"/>
              <a:buFont typeface="Arial MT"/>
              <a:buChar char="•"/>
              <a:tabLst>
                <a:tab pos="241300" algn="l"/>
              </a:tabLst>
            </a:pP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Aplicacion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de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Machine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Learning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para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la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prediccion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de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sismos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en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Lima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e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Ica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–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 </a:t>
            </a:r>
            <a:r>
              <a:rPr sz="185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2"/>
              </a:rPr>
              <a:t>Troomes</a:t>
            </a:r>
            <a:endParaRPr sz="1850">
              <a:latin typeface="Segoe UI"/>
              <a:cs typeface="Segoe UI"/>
            </a:endParaRPr>
          </a:p>
          <a:p>
            <a:pPr marL="241300" indent="-228600">
              <a:lnSpc>
                <a:spcPts val="2120"/>
              </a:lnSpc>
              <a:spcBef>
                <a:spcPts val="1814"/>
              </a:spcBef>
              <a:buClr>
                <a:srgbClr val="000000"/>
              </a:buClr>
              <a:buSzPct val="151351"/>
              <a:buFont typeface="Arial MT"/>
              <a:buChar char="•"/>
              <a:tabLst>
                <a:tab pos="241300" algn="l"/>
              </a:tabLst>
            </a:pP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IA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para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predecir</a:t>
            </a:r>
            <a:r>
              <a:rPr sz="1850" u="heavy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si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un</a:t>
            </a:r>
            <a:r>
              <a:rPr sz="185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titular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de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una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tarjeta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de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crédito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pagará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o no</a:t>
            </a:r>
            <a:r>
              <a:rPr sz="185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el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saldo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en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mora</a:t>
            </a:r>
            <a:r>
              <a:rPr sz="185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del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“pago</a:t>
            </a:r>
            <a:endParaRPr sz="1850">
              <a:latin typeface="Segoe UI"/>
              <a:cs typeface="Segoe UI"/>
            </a:endParaRPr>
          </a:p>
          <a:p>
            <a:pPr marL="241300">
              <a:lnSpc>
                <a:spcPts val="2120"/>
              </a:lnSpc>
            </a:pP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mínimo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facturado".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–</a:t>
            </a:r>
            <a:r>
              <a:rPr sz="185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3"/>
              </a:rPr>
              <a:t> Troomes</a:t>
            </a:r>
            <a:endParaRPr sz="1850">
              <a:latin typeface="Segoe UI"/>
              <a:cs typeface="Segoe UI"/>
            </a:endParaRPr>
          </a:p>
          <a:p>
            <a:pPr marL="241300" marR="548005" indent="-228600">
              <a:lnSpc>
                <a:spcPts val="2020"/>
              </a:lnSpc>
              <a:spcBef>
                <a:spcPts val="2050"/>
              </a:spcBef>
              <a:buClr>
                <a:srgbClr val="000000"/>
              </a:buClr>
              <a:buSzPct val="151351"/>
              <a:buFont typeface="Arial MT"/>
              <a:buChar char="•"/>
              <a:tabLst>
                <a:tab pos="241300" algn="l"/>
              </a:tabLst>
            </a:pP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Implementación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Sistema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Predicción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de 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Reclamos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mediante</a:t>
            </a:r>
            <a:r>
              <a:rPr sz="185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el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uso</a:t>
            </a:r>
            <a:r>
              <a:rPr sz="1850" u="heavy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de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machine</a:t>
            </a:r>
            <a:r>
              <a:rPr sz="1850" u="heavy" spc="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Learning</a:t>
            </a:r>
            <a:r>
              <a:rPr sz="1850" u="heavy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en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una </a:t>
            </a:r>
            <a:r>
              <a:rPr sz="1850" spc="-490" dirty="0">
                <a:solidFill>
                  <a:srgbClr val="0462C1"/>
                </a:solidFill>
                <a:latin typeface="Segoe UI"/>
                <a:cs typeface="Segoe UI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empresa</a:t>
            </a:r>
            <a:r>
              <a:rPr sz="1850" u="heavy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de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telecomunicaciones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–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 </a:t>
            </a:r>
            <a:r>
              <a:rPr sz="185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4"/>
              </a:rPr>
              <a:t>Troomes</a:t>
            </a:r>
            <a:endParaRPr sz="1850">
              <a:latin typeface="Segoe UI"/>
              <a:cs typeface="Segoe UI"/>
            </a:endParaRPr>
          </a:p>
          <a:p>
            <a:pPr marL="241300" marR="5080" indent="-228600">
              <a:lnSpc>
                <a:spcPts val="2020"/>
              </a:lnSpc>
              <a:spcBef>
                <a:spcPts val="2005"/>
              </a:spcBef>
              <a:buClr>
                <a:srgbClr val="000000"/>
              </a:buClr>
              <a:buSzPct val="151351"/>
              <a:buFont typeface="Arial MT"/>
              <a:buChar char="•"/>
              <a:tabLst>
                <a:tab pos="241300" algn="l"/>
              </a:tabLst>
            </a:pP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Uso de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Inteligencia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Artificial 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para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la identificación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de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zonas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con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mayor índice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de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tráfico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de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Animales </a:t>
            </a:r>
            <a:r>
              <a:rPr sz="1850" spc="-495" dirty="0">
                <a:solidFill>
                  <a:srgbClr val="0462C1"/>
                </a:solidFill>
                <a:latin typeface="Segoe UI"/>
                <a:cs typeface="Segoe UI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Silvestres</a:t>
            </a:r>
            <a:r>
              <a:rPr sz="1850" u="heavy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-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Caso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–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 </a:t>
            </a:r>
            <a:r>
              <a:rPr sz="185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5"/>
              </a:rPr>
              <a:t>Troomes</a:t>
            </a:r>
            <a:endParaRPr sz="18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20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151351"/>
              <a:buFont typeface="Arial MT"/>
              <a:buChar char="•"/>
              <a:tabLst>
                <a:tab pos="241300" algn="l"/>
              </a:tabLst>
            </a:pP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Prediccion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del</a:t>
            </a:r>
            <a:r>
              <a:rPr sz="185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Indice General</a:t>
            </a:r>
            <a:r>
              <a:rPr sz="1850" u="heavy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de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la</a:t>
            </a:r>
            <a:r>
              <a:rPr sz="185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Bolsa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de</a:t>
            </a:r>
            <a:r>
              <a:rPr sz="185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Valores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de</a:t>
            </a:r>
            <a:r>
              <a:rPr sz="185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</a:t>
            </a:r>
            <a:r>
              <a:rPr sz="1850" u="heavy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Lima</a:t>
            </a:r>
            <a:r>
              <a:rPr sz="1850" u="heavy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 – </a:t>
            </a:r>
            <a:r>
              <a:rPr sz="185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Segoe UI"/>
                <a:cs typeface="Segoe UI"/>
                <a:hlinkClick r:id="rId6"/>
              </a:rPr>
              <a:t>Troomes</a:t>
            </a:r>
            <a:endParaRPr sz="18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60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Preparación </a:t>
            </a:r>
            <a:r>
              <a:rPr sz="4400" dirty="0"/>
              <a:t>del</a:t>
            </a:r>
            <a:r>
              <a:rPr sz="4400" spc="-10" dirty="0"/>
              <a:t> </a:t>
            </a:r>
            <a:r>
              <a:rPr sz="4400" spc="-15" dirty="0"/>
              <a:t>Entorno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363470" y="3259963"/>
            <a:ext cx="567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https://docs.anaconda.com/free/anaconda/install/windows/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2092" y="2137359"/>
            <a:ext cx="3123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Instalación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Anaconda: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2136</Words>
  <Application>Microsoft Office PowerPoint</Application>
  <PresentationFormat>Panorámica</PresentationFormat>
  <Paragraphs>249</Paragraphs>
  <Slides>52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66" baseType="lpstr">
      <vt:lpstr>Arial</vt:lpstr>
      <vt:lpstr>Arial Black</vt:lpstr>
      <vt:lpstr>Arial MT</vt:lpstr>
      <vt:lpstr>Calibri</vt:lpstr>
      <vt:lpstr>Calibri Light</vt:lpstr>
      <vt:lpstr>Cambria Math</vt:lpstr>
      <vt:lpstr>Lucida Sans Unicode</vt:lpstr>
      <vt:lpstr>Microsoft Sans Serif</vt:lpstr>
      <vt:lpstr>Roboto</vt:lpstr>
      <vt:lpstr>Segoe UI</vt:lpstr>
      <vt:lpstr>Symbol</vt:lpstr>
      <vt:lpstr>Times New Roman</vt:lpstr>
      <vt:lpstr>Wingdings</vt:lpstr>
      <vt:lpstr>Office Theme</vt:lpstr>
      <vt:lpstr>Machine Learning</vt:lpstr>
      <vt:lpstr>PhD Wester Zela</vt:lpstr>
      <vt:lpstr>Agenda: Sesion 1</vt:lpstr>
      <vt:lpstr>Los ciclos de la Inteligencia Artificial</vt:lpstr>
      <vt:lpstr>Artificial Intelligence in Economy/Society</vt:lpstr>
      <vt:lpstr>Inteligencia Artificial - ENIA</vt:lpstr>
      <vt:lpstr>Índice Latinoamericano de Inteligencia Artificial</vt:lpstr>
      <vt:lpstr>Machine Learning</vt:lpstr>
      <vt:lpstr>Machine Learning</vt:lpstr>
      <vt:lpstr>Machine Learning</vt:lpstr>
      <vt:lpstr>3. Languages and Tools in ML, Big Data and  Data Science</vt:lpstr>
      <vt:lpstr>Python for Machine Learning</vt:lpstr>
      <vt:lpstr>Some Libraries in the Applications of Machine  Learning</vt:lpstr>
      <vt:lpstr>Some Libraries in the Applications of Machine  Learning</vt:lpstr>
      <vt:lpstr>Some Libraries in the Applications of Machine  Learning</vt:lpstr>
      <vt:lpstr>Some Libraries in the Applications of Machine  Learning</vt:lpstr>
      <vt:lpstr>Some Libraries in the Applications of Machine  Learning</vt:lpstr>
      <vt:lpstr>Aprendizaje en Machine Learning</vt:lpstr>
      <vt:lpstr>Aprendizaje Supervisado</vt:lpstr>
      <vt:lpstr>Aprendizaje Supervisado</vt:lpstr>
      <vt:lpstr>Presentación de PowerPoint</vt:lpstr>
      <vt:lpstr>Algoritmos de Aprendizaje Supervisado</vt:lpstr>
      <vt:lpstr>Aprendizaje No Supervisado</vt:lpstr>
      <vt:lpstr>Aprendizaje No Supervisado - Agrupamiento</vt:lpstr>
      <vt:lpstr>Supervisado o No Supervisado?</vt:lpstr>
      <vt:lpstr>Supervisado o No Supervisado?</vt:lpstr>
      <vt:lpstr>Reinforcement Learning</vt:lpstr>
      <vt:lpstr>Reinforcement Learning</vt:lpstr>
      <vt:lpstr>Reinforcement Learning</vt:lpstr>
      <vt:lpstr>Evolutionary Algorithms</vt:lpstr>
      <vt:lpstr>Evolutionary Algorithms</vt:lpstr>
      <vt:lpstr>Vector de Características</vt:lpstr>
      <vt:lpstr>¿Que es una característica?</vt:lpstr>
      <vt:lpstr>Espacio de Características</vt:lpstr>
      <vt:lpstr>“Buena” caracteristica</vt:lpstr>
      <vt:lpstr>Un Ejemplo</vt:lpstr>
      <vt:lpstr>Analisis del Problema</vt:lpstr>
      <vt:lpstr>Pre- procesamiento</vt:lpstr>
      <vt:lpstr>Presentación de PowerPoint</vt:lpstr>
      <vt:lpstr>Clasificación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Algunos trabajos de ML para Revisar</vt:lpstr>
      <vt:lpstr>Preparación del Entorno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Wester Zela</dc:creator>
  <cp:lastModifiedBy>JAIME ANTONIO HUAYTALLA PARIONA</cp:lastModifiedBy>
  <cp:revision>1</cp:revision>
  <dcterms:created xsi:type="dcterms:W3CDTF">2024-11-06T14:31:48Z</dcterms:created>
  <dcterms:modified xsi:type="dcterms:W3CDTF">2024-11-09T12:17:29Z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2024-06-13T00:00:00Z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2024-11-06T00:00:00Z</vt:filetime>
  </property>
</Properties>
</file>