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38" r:id="rId69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56816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5493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426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379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1916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6518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0425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812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4383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0643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30166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1457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00980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9621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4730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806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1985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864"/>
              </a:lnSpc>
            </a:pPr>
            <a:r>
              <a:rPr spc="-10" dirty="0"/>
              <a:t>Inteligencia</a:t>
            </a:r>
            <a:r>
              <a:rPr spc="-105" dirty="0"/>
              <a:t> </a:t>
            </a:r>
            <a:r>
              <a:rPr dirty="0"/>
              <a:t>Artificial</a:t>
            </a:r>
            <a:r>
              <a:rPr spc="40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20" dirty="0"/>
              <a:t>2018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44450">
              <a:lnSpc>
                <a:spcPts val="1864"/>
              </a:lnSpc>
            </a:pPr>
            <a:r>
              <a:rPr dirty="0"/>
              <a:t>Prof.</a:t>
            </a:r>
            <a:r>
              <a:rPr spc="-15" dirty="0"/>
              <a:t> </a:t>
            </a:r>
            <a:r>
              <a:rPr dirty="0"/>
              <a:t>Dra.</a:t>
            </a:r>
            <a:r>
              <a:rPr spc="-5" dirty="0"/>
              <a:t> </a:t>
            </a:r>
            <a:r>
              <a:rPr dirty="0"/>
              <a:t>Silvia</a:t>
            </a:r>
            <a:r>
              <a:rPr spc="-40" dirty="0"/>
              <a:t> </a:t>
            </a:r>
            <a:r>
              <a:rPr spc="-10" dirty="0"/>
              <a:t>Schiaffino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1427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marL="44450">
              <a:lnSpc>
                <a:spcPts val="1864"/>
              </a:lnSpc>
            </a:pPr>
            <a:r>
              <a:rPr lang="es-PE"/>
              <a:t>Prof.</a:t>
            </a:r>
            <a:r>
              <a:rPr lang="es-PE" spc="-15"/>
              <a:t> </a:t>
            </a:r>
            <a:r>
              <a:rPr lang="es-PE"/>
              <a:t>Dra.</a:t>
            </a:r>
            <a:r>
              <a:rPr lang="es-PE" spc="-5"/>
              <a:t> </a:t>
            </a:r>
            <a:r>
              <a:rPr lang="es-PE"/>
              <a:t>Silvia</a:t>
            </a:r>
            <a:r>
              <a:rPr lang="es-PE" spc="-40"/>
              <a:t> </a:t>
            </a:r>
            <a:r>
              <a:rPr lang="es-PE" spc="-10"/>
              <a:t>Schiaffino</a:t>
            </a:r>
            <a:endParaRPr lang="es-PE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marL="12700">
              <a:lnSpc>
                <a:spcPts val="1864"/>
              </a:lnSpc>
            </a:pPr>
            <a:r>
              <a:rPr lang="es-PE" spc="-10"/>
              <a:t>Inteligencia</a:t>
            </a:r>
            <a:r>
              <a:rPr lang="es-PE" spc="-105"/>
              <a:t> </a:t>
            </a:r>
            <a:r>
              <a:rPr lang="es-PE"/>
              <a:t>Artificial</a:t>
            </a:r>
            <a:r>
              <a:rPr lang="es-PE" spc="405"/>
              <a:t> </a:t>
            </a:r>
            <a:r>
              <a:rPr lang="es-PE"/>
              <a:t>-</a:t>
            </a:r>
            <a:r>
              <a:rPr lang="es-PE" spc="5"/>
              <a:t> </a:t>
            </a:r>
            <a:r>
              <a:rPr lang="es-PE" spc="-20"/>
              <a:t>2018</a:t>
            </a:r>
            <a:endParaRPr lang="es-PE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6F15528-21DE-4FAA-801E-634DDDAF4B2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9582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waikato.ac.nz/~ihw" TargetMode="External"/><Relationship Id="rId2" Type="http://schemas.openxmlformats.org/officeDocument/2006/relationships/hyperlink" Target="http://www.cs.waikato.ac.nz/~ml/weka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g"/><Relationship Id="rId4" Type="http://schemas.openxmlformats.org/officeDocument/2006/relationships/hyperlink" Target="http://www.cs.waikato.ac.nz/~eibe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hyperlink" Target="http://www.knime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00200" y="3084354"/>
            <a:ext cx="66294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Técnicas</a:t>
            </a:r>
            <a:r>
              <a:rPr sz="4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4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44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4018" y="5218431"/>
            <a:ext cx="396176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 marR="5080" indent="-303530">
              <a:lnSpc>
                <a:spcPct val="100000"/>
              </a:lnSpc>
              <a:spcBef>
                <a:spcPts val="100"/>
              </a:spcBef>
            </a:pPr>
            <a:r>
              <a:rPr lang="es-ES"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Jaime Huaytalla Pariona, </a:t>
            </a:r>
            <a:r>
              <a:rPr lang="es-ES" sz="200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Msc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9625" y="228600"/>
            <a:ext cx="7886700" cy="720016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marL="4332605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Clasificación:</a:t>
            </a:r>
            <a:r>
              <a:rPr sz="3200" spc="-145" dirty="0"/>
              <a:t> </a:t>
            </a:r>
            <a:r>
              <a:rPr sz="3200" spc="-10" dirty="0"/>
              <a:t>Agenda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382891"/>
            <a:ext cx="3988435" cy="47555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59"/>
              </a:spcBef>
              <a:buChar char="•"/>
              <a:tabLst>
                <a:tab pos="35369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Concepto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7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Evaluación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Árboles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7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Construcción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Uso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Poda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</a:t>
            </a:r>
            <a:r>
              <a:rPr sz="28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Bayesiano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59"/>
              </a:spcBef>
              <a:buChar char="•"/>
              <a:tabLst>
                <a:tab pos="35369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Supervisado</a:t>
            </a:r>
            <a:r>
              <a:rPr spc="-35" dirty="0"/>
              <a:t> </a:t>
            </a:r>
            <a:r>
              <a:rPr dirty="0"/>
              <a:t>vs.</a:t>
            </a:r>
            <a:r>
              <a:rPr spc="-65" dirty="0"/>
              <a:t> </a:t>
            </a:r>
            <a:r>
              <a:rPr dirty="0"/>
              <a:t>No</a:t>
            </a:r>
            <a:r>
              <a:rPr spc="-25" dirty="0"/>
              <a:t> </a:t>
            </a:r>
            <a:r>
              <a:rPr spc="-10" dirty="0"/>
              <a:t>Supervisado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8650" y="2209800"/>
            <a:ext cx="7404100" cy="275272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Aprendizaje</a:t>
            </a:r>
            <a:r>
              <a:rPr sz="28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Supervisado:</a:t>
            </a:r>
            <a:r>
              <a:rPr sz="28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Clasificación</a:t>
            </a:r>
            <a:endParaRPr sz="2800" dirty="0">
              <a:latin typeface="Microsoft Sans Serif"/>
              <a:cs typeface="Microsoft Sans Serif"/>
            </a:endParaRPr>
          </a:p>
          <a:p>
            <a:pPr marL="754380" lvl="1" indent="-284480">
              <a:lnSpc>
                <a:spcPct val="100000"/>
              </a:lnSpc>
              <a:spcBef>
                <a:spcPts val="615"/>
              </a:spcBef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Conocemos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número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endParaRPr sz="24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445"/>
              </a:spcBef>
              <a:buClr>
                <a:srgbClr val="FFFFFF"/>
              </a:buClr>
              <a:buFont typeface="Microsoft Sans Serif"/>
              <a:buChar char="–"/>
            </a:pPr>
            <a:endParaRPr sz="24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Aprendizaje</a:t>
            </a:r>
            <a:r>
              <a:rPr sz="28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8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Supervisado:</a:t>
            </a:r>
            <a:r>
              <a:rPr sz="28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Clustering</a:t>
            </a:r>
            <a:endParaRPr sz="2800" dirty="0">
              <a:latin typeface="Microsoft Sans Serif"/>
              <a:cs typeface="Microsoft Sans Serif"/>
            </a:endParaRPr>
          </a:p>
          <a:p>
            <a:pPr marL="754380" lvl="1" indent="-284480">
              <a:lnSpc>
                <a:spcPct val="100000"/>
              </a:lnSpc>
              <a:spcBef>
                <a:spcPts val="620"/>
              </a:spcBef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conocemos las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podemos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conocer</a:t>
            </a:r>
            <a:endParaRPr sz="2400" dirty="0">
              <a:latin typeface="Microsoft Sans Serif"/>
              <a:cs typeface="Microsoft Sans Serif"/>
            </a:endParaRPr>
          </a:p>
          <a:p>
            <a:pPr marL="755015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número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Concepto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3819" y="1905000"/>
            <a:ext cx="7510780" cy="378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33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objetivo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organizar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y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categorizar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diferentes</a:t>
            </a:r>
            <a:endParaRPr sz="2400" dirty="0">
              <a:latin typeface="Microsoft Sans Serif"/>
              <a:cs typeface="Microsoft Sans Serif"/>
            </a:endParaRPr>
          </a:p>
          <a:p>
            <a:pPr marL="755015" marR="579120" lvl="1" indent="-285115">
              <a:lnSpc>
                <a:spcPct val="100000"/>
              </a:lnSpc>
              <a:spcBef>
                <a:spcPts val="509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crea</a:t>
            </a:r>
            <a:r>
              <a:rPr sz="2000" spc="-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un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modelo</a:t>
            </a:r>
            <a:r>
              <a:rPr sz="2000" spc="-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basándose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distribución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los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490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modelo</a:t>
            </a:r>
            <a:r>
              <a:rPr sz="20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es luego</a:t>
            </a:r>
            <a:r>
              <a:rPr sz="2000" spc="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usado</a:t>
            </a:r>
            <a:r>
              <a:rPr sz="2000" spc="-4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clasificar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nuevos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endParaRPr sz="2000" dirty="0">
              <a:latin typeface="Microsoft Sans Serif"/>
              <a:cs typeface="Microsoft Sans Serif"/>
            </a:endParaRPr>
          </a:p>
          <a:p>
            <a:pPr marL="471170" marR="389890" lvl="1" indent="-1905">
              <a:lnSpc>
                <a:spcPts val="2910"/>
              </a:lnSpc>
              <a:spcBef>
                <a:spcPts val="180"/>
              </a:spcBef>
              <a:buChar char="–"/>
              <a:tabLst>
                <a:tab pos="471170" algn="l"/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Dado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modelo,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puede predecir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un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nuevo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</a:t>
            </a:r>
            <a:endParaRPr sz="20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610"/>
              </a:spcBef>
              <a:buClr>
                <a:srgbClr val="FFFFFF"/>
              </a:buClr>
              <a:buFont typeface="Microsoft Sans Serif"/>
              <a:buChar char="–"/>
            </a:pPr>
            <a:endParaRPr sz="2000" dirty="0">
              <a:latin typeface="Microsoft Sans Serif"/>
              <a:cs typeface="Microsoft Sans Serif"/>
            </a:endParaRPr>
          </a:p>
          <a:p>
            <a:pPr marL="354330" marR="384810" indent="-342265">
              <a:lnSpc>
                <a:spcPct val="100000"/>
              </a:lnSpc>
              <a:buChar char="•"/>
              <a:tabLst>
                <a:tab pos="35433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predicción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valores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discretos</a:t>
            </a:r>
            <a:r>
              <a:rPr sz="24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y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nominales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Predicción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6376" y="2166623"/>
            <a:ext cx="7410450" cy="194563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330" marR="5080" indent="-342265">
              <a:lnSpc>
                <a:spcPts val="2590"/>
              </a:lnSpc>
              <a:spcBef>
                <a:spcPts val="425"/>
              </a:spcBef>
              <a:buChar char="•"/>
              <a:tabLst>
                <a:tab pos="35433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objetivo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predicción es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deducir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basándose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valores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otros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</a:t>
            </a:r>
            <a:endParaRPr sz="2400" dirty="0">
              <a:latin typeface="Microsoft Sans Serif"/>
              <a:cs typeface="Microsoft Sans Serif"/>
            </a:endParaRPr>
          </a:p>
          <a:p>
            <a:pPr marL="755015" marR="476884" lvl="1" indent="-285115">
              <a:lnSpc>
                <a:spcPts val="2160"/>
              </a:lnSpc>
              <a:spcBef>
                <a:spcPts val="509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crea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basándose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distribución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los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endParaRPr sz="2000" dirty="0">
              <a:latin typeface="Microsoft Sans Serif"/>
              <a:cs typeface="Microsoft Sans Serif"/>
            </a:endParaRPr>
          </a:p>
          <a:p>
            <a:pPr marL="755015" marR="1186180" lvl="1" indent="-285115">
              <a:lnSpc>
                <a:spcPts val="2160"/>
              </a:lnSpc>
              <a:spcBef>
                <a:spcPts val="490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 se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usa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predecir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valores futuros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o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desconocidos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6063" y="4656298"/>
            <a:ext cx="6289040" cy="116713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deduce un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discreto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Clasificación</a:t>
            </a:r>
            <a:endParaRPr sz="2400">
              <a:latin typeface="Microsoft Sans Serif"/>
              <a:cs typeface="Microsoft Sans Serif"/>
            </a:endParaRPr>
          </a:p>
          <a:p>
            <a:pPr marL="354330" marR="191770" indent="-342265">
              <a:lnSpc>
                <a:spcPts val="2600"/>
              </a:lnSpc>
              <a:spcBef>
                <a:spcPts val="63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deduce un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continuo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Predicción (Regresión)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606638"/>
            <a:ext cx="7886700" cy="842538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Definición</a:t>
            </a:r>
            <a:r>
              <a:rPr sz="4000" spc="-60" dirty="0"/>
              <a:t> </a:t>
            </a:r>
            <a:r>
              <a:rPr sz="4000" dirty="0"/>
              <a:t>de</a:t>
            </a:r>
            <a:r>
              <a:rPr sz="4000" spc="-60" dirty="0"/>
              <a:t> </a:t>
            </a:r>
            <a:r>
              <a:rPr sz="4000" spc="-10" dirty="0"/>
              <a:t>clasificación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2718" y="1905000"/>
            <a:ext cx="7557134" cy="3642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Dada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base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datos</a:t>
            </a:r>
            <a:r>
              <a:rPr sz="28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𝐷</a:t>
            </a:r>
            <a:r>
              <a:rPr sz="2800" spc="1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{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𝑡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𝑡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1205" dirty="0">
                <a:solidFill>
                  <a:srgbClr val="FFFFFF"/>
                </a:solidFill>
                <a:latin typeface="Microsoft Sans Serif"/>
                <a:cs typeface="Microsoft Sans Serif"/>
              </a:rPr>
              <a:t>…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𝑡𝑛</a:t>
            </a:r>
            <a:r>
              <a:rPr sz="2800" spc="14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}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tuplas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registros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(individuos)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2800" spc="13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{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8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1205" dirty="0">
                <a:solidFill>
                  <a:srgbClr val="FFFFFF"/>
                </a:solidFill>
                <a:latin typeface="Microsoft Sans Serif"/>
                <a:cs typeface="Microsoft Sans Serif"/>
              </a:rPr>
              <a:t>…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 ,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𝐶𝑚</a:t>
            </a:r>
            <a:r>
              <a:rPr sz="2800" spc="14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},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problema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encontrar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función</a:t>
            </a:r>
            <a:endParaRPr sz="2800" dirty="0">
              <a:latin typeface="Microsoft Sans Serif"/>
              <a:cs typeface="Microsoft Sans Serif"/>
            </a:endParaRPr>
          </a:p>
          <a:p>
            <a:pPr marL="109855">
              <a:lnSpc>
                <a:spcPct val="100000"/>
              </a:lnSpc>
              <a:spcBef>
                <a:spcPts val="805"/>
              </a:spcBef>
            </a:pP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𝑓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𝐷</a:t>
            </a:r>
            <a:r>
              <a:rPr sz="2800" spc="11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2800" spc="1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tal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2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𝑡𝑖</a:t>
            </a:r>
            <a:r>
              <a:rPr sz="2800" spc="1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asignada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clase</a:t>
            </a:r>
            <a:endParaRPr sz="2800" dirty="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𝐶𝑗</a:t>
            </a:r>
            <a:r>
              <a:rPr sz="2800" spc="13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endParaRPr sz="2800" dirty="0">
              <a:latin typeface="Microsoft Sans Serif"/>
              <a:cs typeface="Microsoft Sans Serif"/>
            </a:endParaRPr>
          </a:p>
          <a:p>
            <a:pPr marL="355600" marR="19050" indent="-342900">
              <a:lnSpc>
                <a:spcPct val="100000"/>
              </a:lnSpc>
              <a:spcBef>
                <a:spcPts val="790"/>
              </a:spcBef>
            </a:pP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𝑓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𝐷</a:t>
            </a:r>
            <a:r>
              <a:rPr sz="2800" spc="114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Cambria Math"/>
                <a:cs typeface="Cambria Math"/>
              </a:rPr>
              <a:t>𝐶</a:t>
            </a:r>
            <a:r>
              <a:rPr sz="2800" spc="1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podría ser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 Red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Neuronal,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Decisión,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Bayesiano...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Aplicaciones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535291"/>
            <a:ext cx="6544945" cy="41935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59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Aprobación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créditos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5"/>
              </a:spcBef>
              <a:buChar char="•"/>
              <a:tabLst>
                <a:tab pos="35369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Marketing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Diagnóstico</a:t>
            </a:r>
            <a:r>
              <a:rPr sz="28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médico</a:t>
            </a:r>
            <a:endParaRPr sz="2800">
              <a:latin typeface="Microsoft Sans Serif"/>
              <a:cs typeface="Microsoft Sans Serif"/>
            </a:endParaRPr>
          </a:p>
          <a:p>
            <a:pPr marL="354330" marR="5080" indent="-342265">
              <a:lnSpc>
                <a:spcPts val="3030"/>
              </a:lnSpc>
              <a:spcBef>
                <a:spcPts val="735"/>
              </a:spcBef>
              <a:buChar char="•"/>
              <a:tabLst>
                <a:tab pos="354330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Identificación</a:t>
            </a:r>
            <a:r>
              <a:rPr sz="28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partes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defectuosas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en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manufactura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Zonificación</a:t>
            </a:r>
            <a:r>
              <a:rPr sz="28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(crímenes)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8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e-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mail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documentos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...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8924" y="256557"/>
            <a:ext cx="7886700" cy="658461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</a:rPr>
              <a:t>Proceso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de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clasificación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50" y="1412938"/>
            <a:ext cx="8351774" cy="48592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5405" y="561659"/>
            <a:ext cx="701206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Etapas:</a:t>
            </a:r>
            <a:r>
              <a:rPr spc="-125" dirty="0"/>
              <a:t> </a:t>
            </a:r>
            <a:r>
              <a:rPr spc="-10" dirty="0"/>
              <a:t>Terminología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14400" y="3652951"/>
            <a:ext cx="1308100" cy="927100"/>
            <a:chOff x="908099" y="3270299"/>
            <a:chExt cx="1308100" cy="927100"/>
          </a:xfrm>
        </p:grpSpPr>
        <p:sp>
          <p:nvSpPr>
            <p:cNvPr id="5" name="object 5"/>
            <p:cNvSpPr/>
            <p:nvPr/>
          </p:nvSpPr>
          <p:spPr>
            <a:xfrm>
              <a:off x="914400" y="3390900"/>
              <a:ext cx="1295400" cy="800100"/>
            </a:xfrm>
            <a:custGeom>
              <a:avLst/>
              <a:gdLst/>
              <a:ahLst/>
              <a:cxnLst/>
              <a:rect l="l" t="t" r="r" b="b"/>
              <a:pathLst>
                <a:path w="1295400" h="800100">
                  <a:moveTo>
                    <a:pt x="0" y="0"/>
                  </a:moveTo>
                  <a:lnTo>
                    <a:pt x="0" y="685800"/>
                  </a:lnTo>
                  <a:lnTo>
                    <a:pt x="4357" y="699128"/>
                  </a:lnTo>
                  <a:lnTo>
                    <a:pt x="37759" y="724345"/>
                  </a:lnTo>
                  <a:lnTo>
                    <a:pt x="100837" y="747071"/>
                  </a:lnTo>
                  <a:lnTo>
                    <a:pt x="142290" y="757285"/>
                  </a:lnTo>
                  <a:lnTo>
                    <a:pt x="189704" y="766619"/>
                  </a:lnTo>
                  <a:lnTo>
                    <a:pt x="242594" y="774987"/>
                  </a:lnTo>
                  <a:lnTo>
                    <a:pt x="300472" y="782303"/>
                  </a:lnTo>
                  <a:lnTo>
                    <a:pt x="362855" y="788481"/>
                  </a:lnTo>
                  <a:lnTo>
                    <a:pt x="429255" y="793435"/>
                  </a:lnTo>
                  <a:lnTo>
                    <a:pt x="499186" y="797080"/>
                  </a:lnTo>
                  <a:lnTo>
                    <a:pt x="572163" y="799330"/>
                  </a:lnTo>
                  <a:lnTo>
                    <a:pt x="647700" y="800100"/>
                  </a:lnTo>
                  <a:lnTo>
                    <a:pt x="723243" y="799330"/>
                  </a:lnTo>
                  <a:lnTo>
                    <a:pt x="796225" y="797080"/>
                  </a:lnTo>
                  <a:lnTo>
                    <a:pt x="866160" y="793435"/>
                  </a:lnTo>
                  <a:lnTo>
                    <a:pt x="932561" y="788481"/>
                  </a:lnTo>
                  <a:lnTo>
                    <a:pt x="994943" y="782303"/>
                  </a:lnTo>
                  <a:lnTo>
                    <a:pt x="1052821" y="774987"/>
                  </a:lnTo>
                  <a:lnTo>
                    <a:pt x="1105709" y="766619"/>
                  </a:lnTo>
                  <a:lnTo>
                    <a:pt x="1153121" y="757285"/>
                  </a:lnTo>
                  <a:lnTo>
                    <a:pt x="1194571" y="747071"/>
                  </a:lnTo>
                  <a:lnTo>
                    <a:pt x="1257644" y="724345"/>
                  </a:lnTo>
                  <a:lnTo>
                    <a:pt x="1291043" y="699128"/>
                  </a:lnTo>
                  <a:lnTo>
                    <a:pt x="1295400" y="685800"/>
                  </a:lnTo>
                  <a:lnTo>
                    <a:pt x="1295400" y="114300"/>
                  </a:lnTo>
                  <a:lnTo>
                    <a:pt x="647700" y="114300"/>
                  </a:lnTo>
                  <a:lnTo>
                    <a:pt x="572163" y="113530"/>
                  </a:lnTo>
                  <a:lnTo>
                    <a:pt x="499186" y="111280"/>
                  </a:lnTo>
                  <a:lnTo>
                    <a:pt x="429255" y="107635"/>
                  </a:lnTo>
                  <a:lnTo>
                    <a:pt x="362855" y="102681"/>
                  </a:lnTo>
                  <a:lnTo>
                    <a:pt x="300472" y="96503"/>
                  </a:lnTo>
                  <a:lnTo>
                    <a:pt x="242594" y="89187"/>
                  </a:lnTo>
                  <a:lnTo>
                    <a:pt x="189704" y="80819"/>
                  </a:lnTo>
                  <a:lnTo>
                    <a:pt x="142290" y="71485"/>
                  </a:lnTo>
                  <a:lnTo>
                    <a:pt x="100837" y="61271"/>
                  </a:lnTo>
                  <a:lnTo>
                    <a:pt x="37759" y="38545"/>
                  </a:lnTo>
                  <a:lnTo>
                    <a:pt x="4357" y="13328"/>
                  </a:lnTo>
                  <a:lnTo>
                    <a:pt x="0" y="0"/>
                  </a:lnTo>
                  <a:close/>
                </a:path>
                <a:path w="1295400" h="800100">
                  <a:moveTo>
                    <a:pt x="1295400" y="0"/>
                  </a:moveTo>
                  <a:lnTo>
                    <a:pt x="1257644" y="38545"/>
                  </a:lnTo>
                  <a:lnTo>
                    <a:pt x="1194571" y="61271"/>
                  </a:lnTo>
                  <a:lnTo>
                    <a:pt x="1153121" y="71485"/>
                  </a:lnTo>
                  <a:lnTo>
                    <a:pt x="1105709" y="80819"/>
                  </a:lnTo>
                  <a:lnTo>
                    <a:pt x="1052821" y="89187"/>
                  </a:lnTo>
                  <a:lnTo>
                    <a:pt x="994943" y="96503"/>
                  </a:lnTo>
                  <a:lnTo>
                    <a:pt x="932561" y="102681"/>
                  </a:lnTo>
                  <a:lnTo>
                    <a:pt x="866160" y="107635"/>
                  </a:lnTo>
                  <a:lnTo>
                    <a:pt x="796225" y="111280"/>
                  </a:lnTo>
                  <a:lnTo>
                    <a:pt x="723243" y="113530"/>
                  </a:lnTo>
                  <a:lnTo>
                    <a:pt x="647700" y="114300"/>
                  </a:lnTo>
                  <a:lnTo>
                    <a:pt x="1295400" y="1143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4400" y="3276600"/>
              <a:ext cx="1295400" cy="228600"/>
            </a:xfrm>
            <a:custGeom>
              <a:avLst/>
              <a:gdLst/>
              <a:ahLst/>
              <a:cxnLst/>
              <a:rect l="l" t="t" r="r" b="b"/>
              <a:pathLst>
                <a:path w="1295400" h="228600">
                  <a:moveTo>
                    <a:pt x="647700" y="0"/>
                  </a:moveTo>
                  <a:lnTo>
                    <a:pt x="572165" y="769"/>
                  </a:lnTo>
                  <a:lnTo>
                    <a:pt x="499190" y="3019"/>
                  </a:lnTo>
                  <a:lnTo>
                    <a:pt x="429260" y="6664"/>
                  </a:lnTo>
                  <a:lnTo>
                    <a:pt x="362860" y="11618"/>
                  </a:lnTo>
                  <a:lnTo>
                    <a:pt x="300478" y="17796"/>
                  </a:lnTo>
                  <a:lnTo>
                    <a:pt x="242599" y="25112"/>
                  </a:lnTo>
                  <a:lnTo>
                    <a:pt x="189709" y="33480"/>
                  </a:lnTo>
                  <a:lnTo>
                    <a:pt x="142294" y="42814"/>
                  </a:lnTo>
                  <a:lnTo>
                    <a:pt x="100840" y="53028"/>
                  </a:lnTo>
                  <a:lnTo>
                    <a:pt x="37760" y="75754"/>
                  </a:lnTo>
                  <a:lnTo>
                    <a:pt x="4357" y="100971"/>
                  </a:lnTo>
                  <a:lnTo>
                    <a:pt x="0" y="114300"/>
                  </a:lnTo>
                  <a:lnTo>
                    <a:pt x="4357" y="127628"/>
                  </a:lnTo>
                  <a:lnTo>
                    <a:pt x="37759" y="152845"/>
                  </a:lnTo>
                  <a:lnTo>
                    <a:pt x="100837" y="175571"/>
                  </a:lnTo>
                  <a:lnTo>
                    <a:pt x="142290" y="185785"/>
                  </a:lnTo>
                  <a:lnTo>
                    <a:pt x="189704" y="195119"/>
                  </a:lnTo>
                  <a:lnTo>
                    <a:pt x="242594" y="203487"/>
                  </a:lnTo>
                  <a:lnTo>
                    <a:pt x="300472" y="210803"/>
                  </a:lnTo>
                  <a:lnTo>
                    <a:pt x="362855" y="216981"/>
                  </a:lnTo>
                  <a:lnTo>
                    <a:pt x="429255" y="221935"/>
                  </a:lnTo>
                  <a:lnTo>
                    <a:pt x="499186" y="225580"/>
                  </a:lnTo>
                  <a:lnTo>
                    <a:pt x="572163" y="227830"/>
                  </a:lnTo>
                  <a:lnTo>
                    <a:pt x="647700" y="228600"/>
                  </a:lnTo>
                  <a:lnTo>
                    <a:pt x="723243" y="227830"/>
                  </a:lnTo>
                  <a:lnTo>
                    <a:pt x="796225" y="225580"/>
                  </a:lnTo>
                  <a:lnTo>
                    <a:pt x="866160" y="221935"/>
                  </a:lnTo>
                  <a:lnTo>
                    <a:pt x="932561" y="216981"/>
                  </a:lnTo>
                  <a:lnTo>
                    <a:pt x="994943" y="210803"/>
                  </a:lnTo>
                  <a:lnTo>
                    <a:pt x="1052821" y="203487"/>
                  </a:lnTo>
                  <a:lnTo>
                    <a:pt x="1105709" y="195119"/>
                  </a:lnTo>
                  <a:lnTo>
                    <a:pt x="1153121" y="185785"/>
                  </a:lnTo>
                  <a:lnTo>
                    <a:pt x="1194571" y="175571"/>
                  </a:lnTo>
                  <a:lnTo>
                    <a:pt x="1257644" y="152845"/>
                  </a:lnTo>
                  <a:lnTo>
                    <a:pt x="1291043" y="127628"/>
                  </a:lnTo>
                  <a:lnTo>
                    <a:pt x="1295400" y="114300"/>
                  </a:lnTo>
                  <a:lnTo>
                    <a:pt x="1291043" y="100971"/>
                  </a:lnTo>
                  <a:lnTo>
                    <a:pt x="1257644" y="75754"/>
                  </a:lnTo>
                  <a:lnTo>
                    <a:pt x="1194571" y="53028"/>
                  </a:lnTo>
                  <a:lnTo>
                    <a:pt x="1153121" y="42814"/>
                  </a:lnTo>
                  <a:lnTo>
                    <a:pt x="1105709" y="33480"/>
                  </a:lnTo>
                  <a:lnTo>
                    <a:pt x="1052821" y="25112"/>
                  </a:lnTo>
                  <a:lnTo>
                    <a:pt x="994943" y="17796"/>
                  </a:lnTo>
                  <a:lnTo>
                    <a:pt x="932561" y="11618"/>
                  </a:lnTo>
                  <a:lnTo>
                    <a:pt x="866160" y="6664"/>
                  </a:lnTo>
                  <a:lnTo>
                    <a:pt x="796225" y="3019"/>
                  </a:lnTo>
                  <a:lnTo>
                    <a:pt x="723243" y="769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400" y="3276600"/>
              <a:ext cx="1295400" cy="914400"/>
            </a:xfrm>
            <a:custGeom>
              <a:avLst/>
              <a:gdLst/>
              <a:ahLst/>
              <a:cxnLst/>
              <a:rect l="l" t="t" r="r" b="b"/>
              <a:pathLst>
                <a:path w="1295400" h="914400">
                  <a:moveTo>
                    <a:pt x="1295400" y="114300"/>
                  </a:moveTo>
                  <a:lnTo>
                    <a:pt x="1257644" y="152845"/>
                  </a:lnTo>
                  <a:lnTo>
                    <a:pt x="1194571" y="175571"/>
                  </a:lnTo>
                  <a:lnTo>
                    <a:pt x="1153121" y="185785"/>
                  </a:lnTo>
                  <a:lnTo>
                    <a:pt x="1105709" y="195119"/>
                  </a:lnTo>
                  <a:lnTo>
                    <a:pt x="1052821" y="203487"/>
                  </a:lnTo>
                  <a:lnTo>
                    <a:pt x="994943" y="210803"/>
                  </a:lnTo>
                  <a:lnTo>
                    <a:pt x="932561" y="216981"/>
                  </a:lnTo>
                  <a:lnTo>
                    <a:pt x="866160" y="221935"/>
                  </a:lnTo>
                  <a:lnTo>
                    <a:pt x="796225" y="225580"/>
                  </a:lnTo>
                  <a:lnTo>
                    <a:pt x="723243" y="227830"/>
                  </a:lnTo>
                  <a:lnTo>
                    <a:pt x="647700" y="228600"/>
                  </a:lnTo>
                  <a:lnTo>
                    <a:pt x="572163" y="227830"/>
                  </a:lnTo>
                  <a:lnTo>
                    <a:pt x="499186" y="225580"/>
                  </a:lnTo>
                  <a:lnTo>
                    <a:pt x="429255" y="221935"/>
                  </a:lnTo>
                  <a:lnTo>
                    <a:pt x="362855" y="216981"/>
                  </a:lnTo>
                  <a:lnTo>
                    <a:pt x="300472" y="210803"/>
                  </a:lnTo>
                  <a:lnTo>
                    <a:pt x="242594" y="203487"/>
                  </a:lnTo>
                  <a:lnTo>
                    <a:pt x="189704" y="195119"/>
                  </a:lnTo>
                  <a:lnTo>
                    <a:pt x="142290" y="185785"/>
                  </a:lnTo>
                  <a:lnTo>
                    <a:pt x="100837" y="175571"/>
                  </a:lnTo>
                  <a:lnTo>
                    <a:pt x="37759" y="152845"/>
                  </a:lnTo>
                  <a:lnTo>
                    <a:pt x="4357" y="127628"/>
                  </a:lnTo>
                  <a:lnTo>
                    <a:pt x="0" y="114300"/>
                  </a:lnTo>
                  <a:lnTo>
                    <a:pt x="4357" y="100971"/>
                  </a:lnTo>
                  <a:lnTo>
                    <a:pt x="17106" y="88094"/>
                  </a:lnTo>
                  <a:lnTo>
                    <a:pt x="65834" y="64036"/>
                  </a:lnTo>
                  <a:lnTo>
                    <a:pt x="142294" y="42814"/>
                  </a:lnTo>
                  <a:lnTo>
                    <a:pt x="189709" y="33480"/>
                  </a:lnTo>
                  <a:lnTo>
                    <a:pt x="242599" y="25112"/>
                  </a:lnTo>
                  <a:lnTo>
                    <a:pt x="300478" y="17796"/>
                  </a:lnTo>
                  <a:lnTo>
                    <a:pt x="362860" y="11618"/>
                  </a:lnTo>
                  <a:lnTo>
                    <a:pt x="429260" y="6664"/>
                  </a:lnTo>
                  <a:lnTo>
                    <a:pt x="499190" y="3019"/>
                  </a:lnTo>
                  <a:lnTo>
                    <a:pt x="572165" y="769"/>
                  </a:lnTo>
                  <a:lnTo>
                    <a:pt x="647700" y="0"/>
                  </a:lnTo>
                  <a:lnTo>
                    <a:pt x="723243" y="769"/>
                  </a:lnTo>
                  <a:lnTo>
                    <a:pt x="796225" y="3019"/>
                  </a:lnTo>
                  <a:lnTo>
                    <a:pt x="866160" y="6664"/>
                  </a:lnTo>
                  <a:lnTo>
                    <a:pt x="932561" y="11618"/>
                  </a:lnTo>
                  <a:lnTo>
                    <a:pt x="994943" y="17796"/>
                  </a:lnTo>
                  <a:lnTo>
                    <a:pt x="1052821" y="25112"/>
                  </a:lnTo>
                  <a:lnTo>
                    <a:pt x="1105709" y="33480"/>
                  </a:lnTo>
                  <a:lnTo>
                    <a:pt x="1153121" y="42814"/>
                  </a:lnTo>
                  <a:lnTo>
                    <a:pt x="1194571" y="53028"/>
                  </a:lnTo>
                  <a:lnTo>
                    <a:pt x="1257644" y="75754"/>
                  </a:lnTo>
                  <a:lnTo>
                    <a:pt x="1291043" y="100971"/>
                  </a:lnTo>
                  <a:lnTo>
                    <a:pt x="1295400" y="114300"/>
                  </a:lnTo>
                  <a:lnTo>
                    <a:pt x="1295400" y="800100"/>
                  </a:lnTo>
                  <a:lnTo>
                    <a:pt x="1291043" y="813428"/>
                  </a:lnTo>
                  <a:lnTo>
                    <a:pt x="1278296" y="826305"/>
                  </a:lnTo>
                  <a:lnTo>
                    <a:pt x="1229574" y="850363"/>
                  </a:lnTo>
                  <a:lnTo>
                    <a:pt x="1153121" y="871585"/>
                  </a:lnTo>
                  <a:lnTo>
                    <a:pt x="1105709" y="880919"/>
                  </a:lnTo>
                  <a:lnTo>
                    <a:pt x="1052821" y="889287"/>
                  </a:lnTo>
                  <a:lnTo>
                    <a:pt x="994943" y="896603"/>
                  </a:lnTo>
                  <a:lnTo>
                    <a:pt x="932561" y="902781"/>
                  </a:lnTo>
                  <a:lnTo>
                    <a:pt x="866160" y="907735"/>
                  </a:lnTo>
                  <a:lnTo>
                    <a:pt x="796225" y="911380"/>
                  </a:lnTo>
                  <a:lnTo>
                    <a:pt x="723243" y="913630"/>
                  </a:lnTo>
                  <a:lnTo>
                    <a:pt x="647700" y="914400"/>
                  </a:lnTo>
                  <a:lnTo>
                    <a:pt x="572163" y="913630"/>
                  </a:lnTo>
                  <a:lnTo>
                    <a:pt x="499186" y="911380"/>
                  </a:lnTo>
                  <a:lnTo>
                    <a:pt x="429255" y="907735"/>
                  </a:lnTo>
                  <a:lnTo>
                    <a:pt x="362855" y="902781"/>
                  </a:lnTo>
                  <a:lnTo>
                    <a:pt x="300472" y="896603"/>
                  </a:lnTo>
                  <a:lnTo>
                    <a:pt x="242594" y="889287"/>
                  </a:lnTo>
                  <a:lnTo>
                    <a:pt x="189704" y="880919"/>
                  </a:lnTo>
                  <a:lnTo>
                    <a:pt x="142290" y="871585"/>
                  </a:lnTo>
                  <a:lnTo>
                    <a:pt x="100837" y="861371"/>
                  </a:lnTo>
                  <a:lnTo>
                    <a:pt x="37759" y="838645"/>
                  </a:lnTo>
                  <a:lnTo>
                    <a:pt x="4357" y="813428"/>
                  </a:lnTo>
                  <a:lnTo>
                    <a:pt x="0" y="800100"/>
                  </a:lnTo>
                  <a:lnTo>
                    <a:pt x="0" y="11430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3601212"/>
              <a:ext cx="708660" cy="3413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41706" y="4035172"/>
            <a:ext cx="45339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chemeClr val="bg1"/>
                </a:solidFill>
                <a:latin typeface="Microsoft Sans Serif"/>
                <a:cs typeface="Microsoft Sans Serif"/>
              </a:rPr>
              <a:t>Data</a:t>
            </a:r>
            <a:endParaRPr sz="160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43151" y="2205102"/>
            <a:ext cx="1308100" cy="927100"/>
            <a:chOff x="2736850" y="1822450"/>
            <a:chExt cx="1308100" cy="927100"/>
          </a:xfrm>
        </p:grpSpPr>
        <p:sp>
          <p:nvSpPr>
            <p:cNvPr id="11" name="object 11"/>
            <p:cNvSpPr/>
            <p:nvPr/>
          </p:nvSpPr>
          <p:spPr>
            <a:xfrm>
              <a:off x="2743200" y="1943100"/>
              <a:ext cx="1295400" cy="800100"/>
            </a:xfrm>
            <a:custGeom>
              <a:avLst/>
              <a:gdLst/>
              <a:ahLst/>
              <a:cxnLst/>
              <a:rect l="l" t="t" r="r" b="b"/>
              <a:pathLst>
                <a:path w="1295400" h="800100">
                  <a:moveTo>
                    <a:pt x="0" y="0"/>
                  </a:moveTo>
                  <a:lnTo>
                    <a:pt x="0" y="685800"/>
                  </a:lnTo>
                  <a:lnTo>
                    <a:pt x="4356" y="699128"/>
                  </a:lnTo>
                  <a:lnTo>
                    <a:pt x="37755" y="724345"/>
                  </a:lnTo>
                  <a:lnTo>
                    <a:pt x="100828" y="747071"/>
                  </a:lnTo>
                  <a:lnTo>
                    <a:pt x="142278" y="757285"/>
                  </a:lnTo>
                  <a:lnTo>
                    <a:pt x="189690" y="766619"/>
                  </a:lnTo>
                  <a:lnTo>
                    <a:pt x="242578" y="774987"/>
                  </a:lnTo>
                  <a:lnTo>
                    <a:pt x="300456" y="782303"/>
                  </a:lnTo>
                  <a:lnTo>
                    <a:pt x="362838" y="788481"/>
                  </a:lnTo>
                  <a:lnTo>
                    <a:pt x="429239" y="793435"/>
                  </a:lnTo>
                  <a:lnTo>
                    <a:pt x="499174" y="797080"/>
                  </a:lnTo>
                  <a:lnTo>
                    <a:pt x="572156" y="799330"/>
                  </a:lnTo>
                  <a:lnTo>
                    <a:pt x="647700" y="800100"/>
                  </a:lnTo>
                  <a:lnTo>
                    <a:pt x="723243" y="799330"/>
                  </a:lnTo>
                  <a:lnTo>
                    <a:pt x="796225" y="797080"/>
                  </a:lnTo>
                  <a:lnTo>
                    <a:pt x="866160" y="793435"/>
                  </a:lnTo>
                  <a:lnTo>
                    <a:pt x="932561" y="788481"/>
                  </a:lnTo>
                  <a:lnTo>
                    <a:pt x="994943" y="782303"/>
                  </a:lnTo>
                  <a:lnTo>
                    <a:pt x="1052821" y="774987"/>
                  </a:lnTo>
                  <a:lnTo>
                    <a:pt x="1105709" y="766619"/>
                  </a:lnTo>
                  <a:lnTo>
                    <a:pt x="1153121" y="757285"/>
                  </a:lnTo>
                  <a:lnTo>
                    <a:pt x="1194571" y="747071"/>
                  </a:lnTo>
                  <a:lnTo>
                    <a:pt x="1257644" y="724345"/>
                  </a:lnTo>
                  <a:lnTo>
                    <a:pt x="1291043" y="699128"/>
                  </a:lnTo>
                  <a:lnTo>
                    <a:pt x="1295400" y="685800"/>
                  </a:lnTo>
                  <a:lnTo>
                    <a:pt x="1295400" y="114300"/>
                  </a:lnTo>
                  <a:lnTo>
                    <a:pt x="647700" y="114300"/>
                  </a:lnTo>
                  <a:lnTo>
                    <a:pt x="572156" y="113530"/>
                  </a:lnTo>
                  <a:lnTo>
                    <a:pt x="499174" y="111280"/>
                  </a:lnTo>
                  <a:lnTo>
                    <a:pt x="429239" y="107635"/>
                  </a:lnTo>
                  <a:lnTo>
                    <a:pt x="362838" y="102681"/>
                  </a:lnTo>
                  <a:lnTo>
                    <a:pt x="300456" y="96503"/>
                  </a:lnTo>
                  <a:lnTo>
                    <a:pt x="242578" y="89187"/>
                  </a:lnTo>
                  <a:lnTo>
                    <a:pt x="189690" y="80819"/>
                  </a:lnTo>
                  <a:lnTo>
                    <a:pt x="142278" y="71485"/>
                  </a:lnTo>
                  <a:lnTo>
                    <a:pt x="100828" y="61271"/>
                  </a:lnTo>
                  <a:lnTo>
                    <a:pt x="37755" y="38545"/>
                  </a:lnTo>
                  <a:lnTo>
                    <a:pt x="4356" y="13328"/>
                  </a:lnTo>
                  <a:lnTo>
                    <a:pt x="0" y="0"/>
                  </a:lnTo>
                  <a:close/>
                </a:path>
                <a:path w="1295400" h="800100">
                  <a:moveTo>
                    <a:pt x="1295400" y="0"/>
                  </a:moveTo>
                  <a:lnTo>
                    <a:pt x="1257644" y="38545"/>
                  </a:lnTo>
                  <a:lnTo>
                    <a:pt x="1194571" y="61271"/>
                  </a:lnTo>
                  <a:lnTo>
                    <a:pt x="1153121" y="71485"/>
                  </a:lnTo>
                  <a:lnTo>
                    <a:pt x="1105709" y="80819"/>
                  </a:lnTo>
                  <a:lnTo>
                    <a:pt x="1052821" y="89187"/>
                  </a:lnTo>
                  <a:lnTo>
                    <a:pt x="994943" y="96503"/>
                  </a:lnTo>
                  <a:lnTo>
                    <a:pt x="932561" y="102681"/>
                  </a:lnTo>
                  <a:lnTo>
                    <a:pt x="866160" y="107635"/>
                  </a:lnTo>
                  <a:lnTo>
                    <a:pt x="796225" y="111280"/>
                  </a:lnTo>
                  <a:lnTo>
                    <a:pt x="723243" y="113530"/>
                  </a:lnTo>
                  <a:lnTo>
                    <a:pt x="647700" y="114300"/>
                  </a:lnTo>
                  <a:lnTo>
                    <a:pt x="1295400" y="1143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0" y="1828800"/>
              <a:ext cx="1295400" cy="228600"/>
            </a:xfrm>
            <a:custGeom>
              <a:avLst/>
              <a:gdLst/>
              <a:ahLst/>
              <a:cxnLst/>
              <a:rect l="l" t="t" r="r" b="b"/>
              <a:pathLst>
                <a:path w="1295400" h="228600">
                  <a:moveTo>
                    <a:pt x="647700" y="0"/>
                  </a:moveTo>
                  <a:lnTo>
                    <a:pt x="572156" y="769"/>
                  </a:lnTo>
                  <a:lnTo>
                    <a:pt x="499174" y="3019"/>
                  </a:lnTo>
                  <a:lnTo>
                    <a:pt x="429239" y="6664"/>
                  </a:lnTo>
                  <a:lnTo>
                    <a:pt x="362838" y="11618"/>
                  </a:lnTo>
                  <a:lnTo>
                    <a:pt x="300456" y="17796"/>
                  </a:lnTo>
                  <a:lnTo>
                    <a:pt x="242578" y="25112"/>
                  </a:lnTo>
                  <a:lnTo>
                    <a:pt x="189690" y="33480"/>
                  </a:lnTo>
                  <a:lnTo>
                    <a:pt x="142278" y="42814"/>
                  </a:lnTo>
                  <a:lnTo>
                    <a:pt x="100828" y="53028"/>
                  </a:lnTo>
                  <a:lnTo>
                    <a:pt x="37755" y="75754"/>
                  </a:lnTo>
                  <a:lnTo>
                    <a:pt x="4356" y="100971"/>
                  </a:lnTo>
                  <a:lnTo>
                    <a:pt x="0" y="114300"/>
                  </a:lnTo>
                  <a:lnTo>
                    <a:pt x="4356" y="127628"/>
                  </a:lnTo>
                  <a:lnTo>
                    <a:pt x="37755" y="152845"/>
                  </a:lnTo>
                  <a:lnTo>
                    <a:pt x="100828" y="175571"/>
                  </a:lnTo>
                  <a:lnTo>
                    <a:pt x="142278" y="185785"/>
                  </a:lnTo>
                  <a:lnTo>
                    <a:pt x="189690" y="195119"/>
                  </a:lnTo>
                  <a:lnTo>
                    <a:pt x="242578" y="203487"/>
                  </a:lnTo>
                  <a:lnTo>
                    <a:pt x="300456" y="210803"/>
                  </a:lnTo>
                  <a:lnTo>
                    <a:pt x="362838" y="216981"/>
                  </a:lnTo>
                  <a:lnTo>
                    <a:pt x="429239" y="221935"/>
                  </a:lnTo>
                  <a:lnTo>
                    <a:pt x="499174" y="225580"/>
                  </a:lnTo>
                  <a:lnTo>
                    <a:pt x="572156" y="227830"/>
                  </a:lnTo>
                  <a:lnTo>
                    <a:pt x="647700" y="228600"/>
                  </a:lnTo>
                  <a:lnTo>
                    <a:pt x="723243" y="227830"/>
                  </a:lnTo>
                  <a:lnTo>
                    <a:pt x="796225" y="225580"/>
                  </a:lnTo>
                  <a:lnTo>
                    <a:pt x="866160" y="221935"/>
                  </a:lnTo>
                  <a:lnTo>
                    <a:pt x="932561" y="216981"/>
                  </a:lnTo>
                  <a:lnTo>
                    <a:pt x="994943" y="210803"/>
                  </a:lnTo>
                  <a:lnTo>
                    <a:pt x="1052821" y="203487"/>
                  </a:lnTo>
                  <a:lnTo>
                    <a:pt x="1105709" y="195119"/>
                  </a:lnTo>
                  <a:lnTo>
                    <a:pt x="1153121" y="185785"/>
                  </a:lnTo>
                  <a:lnTo>
                    <a:pt x="1194571" y="175571"/>
                  </a:lnTo>
                  <a:lnTo>
                    <a:pt x="1257644" y="152845"/>
                  </a:lnTo>
                  <a:lnTo>
                    <a:pt x="1291043" y="127628"/>
                  </a:lnTo>
                  <a:lnTo>
                    <a:pt x="1295400" y="114300"/>
                  </a:lnTo>
                  <a:lnTo>
                    <a:pt x="1291043" y="100971"/>
                  </a:lnTo>
                  <a:lnTo>
                    <a:pt x="1257644" y="75754"/>
                  </a:lnTo>
                  <a:lnTo>
                    <a:pt x="1194571" y="53028"/>
                  </a:lnTo>
                  <a:lnTo>
                    <a:pt x="1153121" y="42814"/>
                  </a:lnTo>
                  <a:lnTo>
                    <a:pt x="1105709" y="33480"/>
                  </a:lnTo>
                  <a:lnTo>
                    <a:pt x="1052821" y="25112"/>
                  </a:lnTo>
                  <a:lnTo>
                    <a:pt x="994943" y="17796"/>
                  </a:lnTo>
                  <a:lnTo>
                    <a:pt x="932561" y="11618"/>
                  </a:lnTo>
                  <a:lnTo>
                    <a:pt x="866160" y="6664"/>
                  </a:lnTo>
                  <a:lnTo>
                    <a:pt x="796225" y="3019"/>
                  </a:lnTo>
                  <a:lnTo>
                    <a:pt x="723243" y="769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0" y="1828800"/>
              <a:ext cx="1295400" cy="914400"/>
            </a:xfrm>
            <a:custGeom>
              <a:avLst/>
              <a:gdLst/>
              <a:ahLst/>
              <a:cxnLst/>
              <a:rect l="l" t="t" r="r" b="b"/>
              <a:pathLst>
                <a:path w="1295400" h="914400">
                  <a:moveTo>
                    <a:pt x="1295400" y="114300"/>
                  </a:moveTo>
                  <a:lnTo>
                    <a:pt x="1257644" y="152845"/>
                  </a:lnTo>
                  <a:lnTo>
                    <a:pt x="1194571" y="175571"/>
                  </a:lnTo>
                  <a:lnTo>
                    <a:pt x="1153121" y="185785"/>
                  </a:lnTo>
                  <a:lnTo>
                    <a:pt x="1105709" y="195119"/>
                  </a:lnTo>
                  <a:lnTo>
                    <a:pt x="1052821" y="203487"/>
                  </a:lnTo>
                  <a:lnTo>
                    <a:pt x="994943" y="210803"/>
                  </a:lnTo>
                  <a:lnTo>
                    <a:pt x="932561" y="216981"/>
                  </a:lnTo>
                  <a:lnTo>
                    <a:pt x="866160" y="221935"/>
                  </a:lnTo>
                  <a:lnTo>
                    <a:pt x="796225" y="225580"/>
                  </a:lnTo>
                  <a:lnTo>
                    <a:pt x="723243" y="227830"/>
                  </a:lnTo>
                  <a:lnTo>
                    <a:pt x="647700" y="228600"/>
                  </a:lnTo>
                  <a:lnTo>
                    <a:pt x="572156" y="227830"/>
                  </a:lnTo>
                  <a:lnTo>
                    <a:pt x="499174" y="225580"/>
                  </a:lnTo>
                  <a:lnTo>
                    <a:pt x="429239" y="221935"/>
                  </a:lnTo>
                  <a:lnTo>
                    <a:pt x="362838" y="216981"/>
                  </a:lnTo>
                  <a:lnTo>
                    <a:pt x="300456" y="210803"/>
                  </a:lnTo>
                  <a:lnTo>
                    <a:pt x="242578" y="203487"/>
                  </a:lnTo>
                  <a:lnTo>
                    <a:pt x="189690" y="195119"/>
                  </a:lnTo>
                  <a:lnTo>
                    <a:pt x="142278" y="185785"/>
                  </a:lnTo>
                  <a:lnTo>
                    <a:pt x="100828" y="175571"/>
                  </a:lnTo>
                  <a:lnTo>
                    <a:pt x="37755" y="152845"/>
                  </a:lnTo>
                  <a:lnTo>
                    <a:pt x="4356" y="127628"/>
                  </a:lnTo>
                  <a:lnTo>
                    <a:pt x="0" y="114300"/>
                  </a:lnTo>
                  <a:lnTo>
                    <a:pt x="4356" y="100971"/>
                  </a:lnTo>
                  <a:lnTo>
                    <a:pt x="17103" y="88094"/>
                  </a:lnTo>
                  <a:lnTo>
                    <a:pt x="65825" y="64036"/>
                  </a:lnTo>
                  <a:lnTo>
                    <a:pt x="142278" y="42814"/>
                  </a:lnTo>
                  <a:lnTo>
                    <a:pt x="189690" y="33480"/>
                  </a:lnTo>
                  <a:lnTo>
                    <a:pt x="242578" y="25112"/>
                  </a:lnTo>
                  <a:lnTo>
                    <a:pt x="300456" y="17796"/>
                  </a:lnTo>
                  <a:lnTo>
                    <a:pt x="362838" y="11618"/>
                  </a:lnTo>
                  <a:lnTo>
                    <a:pt x="429239" y="6664"/>
                  </a:lnTo>
                  <a:lnTo>
                    <a:pt x="499174" y="3019"/>
                  </a:lnTo>
                  <a:lnTo>
                    <a:pt x="572156" y="769"/>
                  </a:lnTo>
                  <a:lnTo>
                    <a:pt x="647700" y="0"/>
                  </a:lnTo>
                  <a:lnTo>
                    <a:pt x="723243" y="769"/>
                  </a:lnTo>
                  <a:lnTo>
                    <a:pt x="796225" y="3019"/>
                  </a:lnTo>
                  <a:lnTo>
                    <a:pt x="866160" y="6664"/>
                  </a:lnTo>
                  <a:lnTo>
                    <a:pt x="932561" y="11618"/>
                  </a:lnTo>
                  <a:lnTo>
                    <a:pt x="994943" y="17796"/>
                  </a:lnTo>
                  <a:lnTo>
                    <a:pt x="1052821" y="25112"/>
                  </a:lnTo>
                  <a:lnTo>
                    <a:pt x="1105709" y="33480"/>
                  </a:lnTo>
                  <a:lnTo>
                    <a:pt x="1153121" y="42814"/>
                  </a:lnTo>
                  <a:lnTo>
                    <a:pt x="1194571" y="53028"/>
                  </a:lnTo>
                  <a:lnTo>
                    <a:pt x="1257644" y="75754"/>
                  </a:lnTo>
                  <a:lnTo>
                    <a:pt x="1291043" y="100971"/>
                  </a:lnTo>
                  <a:lnTo>
                    <a:pt x="1295400" y="114300"/>
                  </a:lnTo>
                  <a:lnTo>
                    <a:pt x="1295400" y="800100"/>
                  </a:lnTo>
                  <a:lnTo>
                    <a:pt x="1291043" y="813428"/>
                  </a:lnTo>
                  <a:lnTo>
                    <a:pt x="1278296" y="826305"/>
                  </a:lnTo>
                  <a:lnTo>
                    <a:pt x="1229574" y="850363"/>
                  </a:lnTo>
                  <a:lnTo>
                    <a:pt x="1153121" y="871585"/>
                  </a:lnTo>
                  <a:lnTo>
                    <a:pt x="1105709" y="880919"/>
                  </a:lnTo>
                  <a:lnTo>
                    <a:pt x="1052821" y="889287"/>
                  </a:lnTo>
                  <a:lnTo>
                    <a:pt x="994943" y="896603"/>
                  </a:lnTo>
                  <a:lnTo>
                    <a:pt x="932561" y="902781"/>
                  </a:lnTo>
                  <a:lnTo>
                    <a:pt x="866160" y="907735"/>
                  </a:lnTo>
                  <a:lnTo>
                    <a:pt x="796225" y="911380"/>
                  </a:lnTo>
                  <a:lnTo>
                    <a:pt x="723243" y="913630"/>
                  </a:lnTo>
                  <a:lnTo>
                    <a:pt x="647700" y="914400"/>
                  </a:lnTo>
                  <a:lnTo>
                    <a:pt x="572156" y="913630"/>
                  </a:lnTo>
                  <a:lnTo>
                    <a:pt x="499174" y="911380"/>
                  </a:lnTo>
                  <a:lnTo>
                    <a:pt x="429239" y="907735"/>
                  </a:lnTo>
                  <a:lnTo>
                    <a:pt x="362838" y="902781"/>
                  </a:lnTo>
                  <a:lnTo>
                    <a:pt x="300456" y="896603"/>
                  </a:lnTo>
                  <a:lnTo>
                    <a:pt x="242578" y="889287"/>
                  </a:lnTo>
                  <a:lnTo>
                    <a:pt x="189690" y="880919"/>
                  </a:lnTo>
                  <a:lnTo>
                    <a:pt x="142278" y="871585"/>
                  </a:lnTo>
                  <a:lnTo>
                    <a:pt x="100828" y="861371"/>
                  </a:lnTo>
                  <a:lnTo>
                    <a:pt x="37755" y="838645"/>
                  </a:lnTo>
                  <a:lnTo>
                    <a:pt x="4356" y="813428"/>
                  </a:lnTo>
                  <a:lnTo>
                    <a:pt x="0" y="800100"/>
                  </a:lnTo>
                  <a:lnTo>
                    <a:pt x="0" y="11430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8647" y="2031491"/>
              <a:ext cx="1005839" cy="3413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0" y="2275331"/>
              <a:ext cx="708660" cy="34137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021153" y="2465197"/>
            <a:ext cx="7505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1925" marR="5080" indent="-14986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chemeClr val="bg1"/>
                </a:solidFill>
                <a:latin typeface="Microsoft Sans Serif"/>
                <a:cs typeface="Microsoft Sans Serif"/>
              </a:rPr>
              <a:t>Training Data</a:t>
            </a:r>
            <a:endParaRPr sz="1600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43151" y="4491102"/>
            <a:ext cx="1308100" cy="927100"/>
            <a:chOff x="2736850" y="4108450"/>
            <a:chExt cx="1308100" cy="927100"/>
          </a:xfrm>
        </p:grpSpPr>
        <p:sp>
          <p:nvSpPr>
            <p:cNvPr id="18" name="object 18"/>
            <p:cNvSpPr/>
            <p:nvPr/>
          </p:nvSpPr>
          <p:spPr>
            <a:xfrm>
              <a:off x="2743200" y="4229100"/>
              <a:ext cx="1295400" cy="800100"/>
            </a:xfrm>
            <a:custGeom>
              <a:avLst/>
              <a:gdLst/>
              <a:ahLst/>
              <a:cxnLst/>
              <a:rect l="l" t="t" r="r" b="b"/>
              <a:pathLst>
                <a:path w="1295400" h="800100">
                  <a:moveTo>
                    <a:pt x="0" y="0"/>
                  </a:moveTo>
                  <a:lnTo>
                    <a:pt x="0" y="685800"/>
                  </a:lnTo>
                  <a:lnTo>
                    <a:pt x="4356" y="699128"/>
                  </a:lnTo>
                  <a:lnTo>
                    <a:pt x="37755" y="724345"/>
                  </a:lnTo>
                  <a:lnTo>
                    <a:pt x="100828" y="747071"/>
                  </a:lnTo>
                  <a:lnTo>
                    <a:pt x="142278" y="757285"/>
                  </a:lnTo>
                  <a:lnTo>
                    <a:pt x="189690" y="766619"/>
                  </a:lnTo>
                  <a:lnTo>
                    <a:pt x="242578" y="774987"/>
                  </a:lnTo>
                  <a:lnTo>
                    <a:pt x="300456" y="782303"/>
                  </a:lnTo>
                  <a:lnTo>
                    <a:pt x="362838" y="788481"/>
                  </a:lnTo>
                  <a:lnTo>
                    <a:pt x="429239" y="793435"/>
                  </a:lnTo>
                  <a:lnTo>
                    <a:pt x="499174" y="797080"/>
                  </a:lnTo>
                  <a:lnTo>
                    <a:pt x="572156" y="799330"/>
                  </a:lnTo>
                  <a:lnTo>
                    <a:pt x="647700" y="800100"/>
                  </a:lnTo>
                  <a:lnTo>
                    <a:pt x="723243" y="799330"/>
                  </a:lnTo>
                  <a:lnTo>
                    <a:pt x="796225" y="797080"/>
                  </a:lnTo>
                  <a:lnTo>
                    <a:pt x="866160" y="793435"/>
                  </a:lnTo>
                  <a:lnTo>
                    <a:pt x="932561" y="788481"/>
                  </a:lnTo>
                  <a:lnTo>
                    <a:pt x="994943" y="782303"/>
                  </a:lnTo>
                  <a:lnTo>
                    <a:pt x="1052821" y="774987"/>
                  </a:lnTo>
                  <a:lnTo>
                    <a:pt x="1105709" y="766619"/>
                  </a:lnTo>
                  <a:lnTo>
                    <a:pt x="1153121" y="757285"/>
                  </a:lnTo>
                  <a:lnTo>
                    <a:pt x="1194571" y="747071"/>
                  </a:lnTo>
                  <a:lnTo>
                    <a:pt x="1257644" y="724345"/>
                  </a:lnTo>
                  <a:lnTo>
                    <a:pt x="1291043" y="699128"/>
                  </a:lnTo>
                  <a:lnTo>
                    <a:pt x="1295400" y="685800"/>
                  </a:lnTo>
                  <a:lnTo>
                    <a:pt x="1295400" y="114300"/>
                  </a:lnTo>
                  <a:lnTo>
                    <a:pt x="647700" y="114300"/>
                  </a:lnTo>
                  <a:lnTo>
                    <a:pt x="572156" y="113530"/>
                  </a:lnTo>
                  <a:lnTo>
                    <a:pt x="499174" y="111280"/>
                  </a:lnTo>
                  <a:lnTo>
                    <a:pt x="429239" y="107635"/>
                  </a:lnTo>
                  <a:lnTo>
                    <a:pt x="362838" y="102681"/>
                  </a:lnTo>
                  <a:lnTo>
                    <a:pt x="300456" y="96503"/>
                  </a:lnTo>
                  <a:lnTo>
                    <a:pt x="242578" y="89187"/>
                  </a:lnTo>
                  <a:lnTo>
                    <a:pt x="189690" y="80819"/>
                  </a:lnTo>
                  <a:lnTo>
                    <a:pt x="142278" y="71485"/>
                  </a:lnTo>
                  <a:lnTo>
                    <a:pt x="100828" y="61271"/>
                  </a:lnTo>
                  <a:lnTo>
                    <a:pt x="37755" y="38545"/>
                  </a:lnTo>
                  <a:lnTo>
                    <a:pt x="4356" y="13328"/>
                  </a:lnTo>
                  <a:lnTo>
                    <a:pt x="0" y="0"/>
                  </a:lnTo>
                  <a:close/>
                </a:path>
                <a:path w="1295400" h="800100">
                  <a:moveTo>
                    <a:pt x="1295400" y="0"/>
                  </a:moveTo>
                  <a:lnTo>
                    <a:pt x="1257644" y="38545"/>
                  </a:lnTo>
                  <a:lnTo>
                    <a:pt x="1194571" y="61271"/>
                  </a:lnTo>
                  <a:lnTo>
                    <a:pt x="1153121" y="71485"/>
                  </a:lnTo>
                  <a:lnTo>
                    <a:pt x="1105709" y="80819"/>
                  </a:lnTo>
                  <a:lnTo>
                    <a:pt x="1052821" y="89187"/>
                  </a:lnTo>
                  <a:lnTo>
                    <a:pt x="994943" y="96503"/>
                  </a:lnTo>
                  <a:lnTo>
                    <a:pt x="932561" y="102681"/>
                  </a:lnTo>
                  <a:lnTo>
                    <a:pt x="866160" y="107635"/>
                  </a:lnTo>
                  <a:lnTo>
                    <a:pt x="796225" y="111280"/>
                  </a:lnTo>
                  <a:lnTo>
                    <a:pt x="723243" y="113530"/>
                  </a:lnTo>
                  <a:lnTo>
                    <a:pt x="647700" y="114300"/>
                  </a:lnTo>
                  <a:lnTo>
                    <a:pt x="1295400" y="1143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200" y="4114800"/>
              <a:ext cx="1295400" cy="228600"/>
            </a:xfrm>
            <a:custGeom>
              <a:avLst/>
              <a:gdLst/>
              <a:ahLst/>
              <a:cxnLst/>
              <a:rect l="l" t="t" r="r" b="b"/>
              <a:pathLst>
                <a:path w="1295400" h="228600">
                  <a:moveTo>
                    <a:pt x="647700" y="0"/>
                  </a:moveTo>
                  <a:lnTo>
                    <a:pt x="572156" y="769"/>
                  </a:lnTo>
                  <a:lnTo>
                    <a:pt x="499174" y="3019"/>
                  </a:lnTo>
                  <a:lnTo>
                    <a:pt x="429239" y="6664"/>
                  </a:lnTo>
                  <a:lnTo>
                    <a:pt x="362838" y="11618"/>
                  </a:lnTo>
                  <a:lnTo>
                    <a:pt x="300456" y="17796"/>
                  </a:lnTo>
                  <a:lnTo>
                    <a:pt x="242578" y="25112"/>
                  </a:lnTo>
                  <a:lnTo>
                    <a:pt x="189690" y="33480"/>
                  </a:lnTo>
                  <a:lnTo>
                    <a:pt x="142278" y="42814"/>
                  </a:lnTo>
                  <a:lnTo>
                    <a:pt x="100828" y="53028"/>
                  </a:lnTo>
                  <a:lnTo>
                    <a:pt x="37755" y="75754"/>
                  </a:lnTo>
                  <a:lnTo>
                    <a:pt x="4356" y="100971"/>
                  </a:lnTo>
                  <a:lnTo>
                    <a:pt x="0" y="114300"/>
                  </a:lnTo>
                  <a:lnTo>
                    <a:pt x="4356" y="127628"/>
                  </a:lnTo>
                  <a:lnTo>
                    <a:pt x="37755" y="152845"/>
                  </a:lnTo>
                  <a:lnTo>
                    <a:pt x="100828" y="175571"/>
                  </a:lnTo>
                  <a:lnTo>
                    <a:pt x="142278" y="185785"/>
                  </a:lnTo>
                  <a:lnTo>
                    <a:pt x="189690" y="195119"/>
                  </a:lnTo>
                  <a:lnTo>
                    <a:pt x="242578" y="203487"/>
                  </a:lnTo>
                  <a:lnTo>
                    <a:pt x="300456" y="210803"/>
                  </a:lnTo>
                  <a:lnTo>
                    <a:pt x="362838" y="216981"/>
                  </a:lnTo>
                  <a:lnTo>
                    <a:pt x="429239" y="221935"/>
                  </a:lnTo>
                  <a:lnTo>
                    <a:pt x="499174" y="225580"/>
                  </a:lnTo>
                  <a:lnTo>
                    <a:pt x="572156" y="227830"/>
                  </a:lnTo>
                  <a:lnTo>
                    <a:pt x="647700" y="228600"/>
                  </a:lnTo>
                  <a:lnTo>
                    <a:pt x="723243" y="227830"/>
                  </a:lnTo>
                  <a:lnTo>
                    <a:pt x="796225" y="225580"/>
                  </a:lnTo>
                  <a:lnTo>
                    <a:pt x="866160" y="221935"/>
                  </a:lnTo>
                  <a:lnTo>
                    <a:pt x="932561" y="216981"/>
                  </a:lnTo>
                  <a:lnTo>
                    <a:pt x="994943" y="210803"/>
                  </a:lnTo>
                  <a:lnTo>
                    <a:pt x="1052821" y="203487"/>
                  </a:lnTo>
                  <a:lnTo>
                    <a:pt x="1105709" y="195119"/>
                  </a:lnTo>
                  <a:lnTo>
                    <a:pt x="1153121" y="185785"/>
                  </a:lnTo>
                  <a:lnTo>
                    <a:pt x="1194571" y="175571"/>
                  </a:lnTo>
                  <a:lnTo>
                    <a:pt x="1257644" y="152845"/>
                  </a:lnTo>
                  <a:lnTo>
                    <a:pt x="1291043" y="127628"/>
                  </a:lnTo>
                  <a:lnTo>
                    <a:pt x="1295400" y="114300"/>
                  </a:lnTo>
                  <a:lnTo>
                    <a:pt x="1291043" y="100971"/>
                  </a:lnTo>
                  <a:lnTo>
                    <a:pt x="1257644" y="75754"/>
                  </a:lnTo>
                  <a:lnTo>
                    <a:pt x="1194571" y="53028"/>
                  </a:lnTo>
                  <a:lnTo>
                    <a:pt x="1153121" y="42814"/>
                  </a:lnTo>
                  <a:lnTo>
                    <a:pt x="1105709" y="33480"/>
                  </a:lnTo>
                  <a:lnTo>
                    <a:pt x="1052821" y="25112"/>
                  </a:lnTo>
                  <a:lnTo>
                    <a:pt x="994943" y="17796"/>
                  </a:lnTo>
                  <a:lnTo>
                    <a:pt x="932561" y="11618"/>
                  </a:lnTo>
                  <a:lnTo>
                    <a:pt x="866160" y="6664"/>
                  </a:lnTo>
                  <a:lnTo>
                    <a:pt x="796225" y="3019"/>
                  </a:lnTo>
                  <a:lnTo>
                    <a:pt x="723243" y="769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3200" y="4114800"/>
              <a:ext cx="1295400" cy="914400"/>
            </a:xfrm>
            <a:custGeom>
              <a:avLst/>
              <a:gdLst/>
              <a:ahLst/>
              <a:cxnLst/>
              <a:rect l="l" t="t" r="r" b="b"/>
              <a:pathLst>
                <a:path w="1295400" h="914400">
                  <a:moveTo>
                    <a:pt x="1295400" y="114300"/>
                  </a:moveTo>
                  <a:lnTo>
                    <a:pt x="1257644" y="152845"/>
                  </a:lnTo>
                  <a:lnTo>
                    <a:pt x="1194571" y="175571"/>
                  </a:lnTo>
                  <a:lnTo>
                    <a:pt x="1153121" y="185785"/>
                  </a:lnTo>
                  <a:lnTo>
                    <a:pt x="1105709" y="195119"/>
                  </a:lnTo>
                  <a:lnTo>
                    <a:pt x="1052821" y="203487"/>
                  </a:lnTo>
                  <a:lnTo>
                    <a:pt x="994943" y="210803"/>
                  </a:lnTo>
                  <a:lnTo>
                    <a:pt x="932561" y="216981"/>
                  </a:lnTo>
                  <a:lnTo>
                    <a:pt x="866160" y="221935"/>
                  </a:lnTo>
                  <a:lnTo>
                    <a:pt x="796225" y="225580"/>
                  </a:lnTo>
                  <a:lnTo>
                    <a:pt x="723243" y="227830"/>
                  </a:lnTo>
                  <a:lnTo>
                    <a:pt x="647700" y="228600"/>
                  </a:lnTo>
                  <a:lnTo>
                    <a:pt x="572156" y="227830"/>
                  </a:lnTo>
                  <a:lnTo>
                    <a:pt x="499174" y="225580"/>
                  </a:lnTo>
                  <a:lnTo>
                    <a:pt x="429239" y="221935"/>
                  </a:lnTo>
                  <a:lnTo>
                    <a:pt x="362838" y="216981"/>
                  </a:lnTo>
                  <a:lnTo>
                    <a:pt x="300456" y="210803"/>
                  </a:lnTo>
                  <a:lnTo>
                    <a:pt x="242578" y="203487"/>
                  </a:lnTo>
                  <a:lnTo>
                    <a:pt x="189690" y="195119"/>
                  </a:lnTo>
                  <a:lnTo>
                    <a:pt x="142278" y="185785"/>
                  </a:lnTo>
                  <a:lnTo>
                    <a:pt x="100828" y="175571"/>
                  </a:lnTo>
                  <a:lnTo>
                    <a:pt x="37755" y="152845"/>
                  </a:lnTo>
                  <a:lnTo>
                    <a:pt x="4356" y="127628"/>
                  </a:lnTo>
                  <a:lnTo>
                    <a:pt x="0" y="114300"/>
                  </a:lnTo>
                  <a:lnTo>
                    <a:pt x="4356" y="100971"/>
                  </a:lnTo>
                  <a:lnTo>
                    <a:pt x="17103" y="88094"/>
                  </a:lnTo>
                  <a:lnTo>
                    <a:pt x="65825" y="64036"/>
                  </a:lnTo>
                  <a:lnTo>
                    <a:pt x="142278" y="42814"/>
                  </a:lnTo>
                  <a:lnTo>
                    <a:pt x="189690" y="33480"/>
                  </a:lnTo>
                  <a:lnTo>
                    <a:pt x="242578" y="25112"/>
                  </a:lnTo>
                  <a:lnTo>
                    <a:pt x="300456" y="17796"/>
                  </a:lnTo>
                  <a:lnTo>
                    <a:pt x="362838" y="11618"/>
                  </a:lnTo>
                  <a:lnTo>
                    <a:pt x="429239" y="6664"/>
                  </a:lnTo>
                  <a:lnTo>
                    <a:pt x="499174" y="3019"/>
                  </a:lnTo>
                  <a:lnTo>
                    <a:pt x="572156" y="769"/>
                  </a:lnTo>
                  <a:lnTo>
                    <a:pt x="647700" y="0"/>
                  </a:lnTo>
                  <a:lnTo>
                    <a:pt x="723243" y="769"/>
                  </a:lnTo>
                  <a:lnTo>
                    <a:pt x="796225" y="3019"/>
                  </a:lnTo>
                  <a:lnTo>
                    <a:pt x="866160" y="6664"/>
                  </a:lnTo>
                  <a:lnTo>
                    <a:pt x="932561" y="11618"/>
                  </a:lnTo>
                  <a:lnTo>
                    <a:pt x="994943" y="17796"/>
                  </a:lnTo>
                  <a:lnTo>
                    <a:pt x="1052821" y="25112"/>
                  </a:lnTo>
                  <a:lnTo>
                    <a:pt x="1105709" y="33480"/>
                  </a:lnTo>
                  <a:lnTo>
                    <a:pt x="1153121" y="42814"/>
                  </a:lnTo>
                  <a:lnTo>
                    <a:pt x="1194571" y="53028"/>
                  </a:lnTo>
                  <a:lnTo>
                    <a:pt x="1257644" y="75754"/>
                  </a:lnTo>
                  <a:lnTo>
                    <a:pt x="1291043" y="100971"/>
                  </a:lnTo>
                  <a:lnTo>
                    <a:pt x="1295400" y="114300"/>
                  </a:lnTo>
                  <a:lnTo>
                    <a:pt x="1295400" y="800100"/>
                  </a:lnTo>
                  <a:lnTo>
                    <a:pt x="1291043" y="813428"/>
                  </a:lnTo>
                  <a:lnTo>
                    <a:pt x="1278296" y="826305"/>
                  </a:lnTo>
                  <a:lnTo>
                    <a:pt x="1229574" y="850363"/>
                  </a:lnTo>
                  <a:lnTo>
                    <a:pt x="1153121" y="871585"/>
                  </a:lnTo>
                  <a:lnTo>
                    <a:pt x="1105709" y="880919"/>
                  </a:lnTo>
                  <a:lnTo>
                    <a:pt x="1052821" y="889287"/>
                  </a:lnTo>
                  <a:lnTo>
                    <a:pt x="994943" y="896603"/>
                  </a:lnTo>
                  <a:lnTo>
                    <a:pt x="932561" y="902781"/>
                  </a:lnTo>
                  <a:lnTo>
                    <a:pt x="866160" y="907735"/>
                  </a:lnTo>
                  <a:lnTo>
                    <a:pt x="796225" y="911380"/>
                  </a:lnTo>
                  <a:lnTo>
                    <a:pt x="723243" y="913630"/>
                  </a:lnTo>
                  <a:lnTo>
                    <a:pt x="647700" y="914400"/>
                  </a:lnTo>
                  <a:lnTo>
                    <a:pt x="572156" y="913630"/>
                  </a:lnTo>
                  <a:lnTo>
                    <a:pt x="499174" y="911380"/>
                  </a:lnTo>
                  <a:lnTo>
                    <a:pt x="429239" y="907735"/>
                  </a:lnTo>
                  <a:lnTo>
                    <a:pt x="362838" y="902781"/>
                  </a:lnTo>
                  <a:lnTo>
                    <a:pt x="300456" y="896603"/>
                  </a:lnTo>
                  <a:lnTo>
                    <a:pt x="242578" y="889287"/>
                  </a:lnTo>
                  <a:lnTo>
                    <a:pt x="189690" y="880919"/>
                  </a:lnTo>
                  <a:lnTo>
                    <a:pt x="142278" y="871585"/>
                  </a:lnTo>
                  <a:lnTo>
                    <a:pt x="100828" y="861371"/>
                  </a:lnTo>
                  <a:lnTo>
                    <a:pt x="37755" y="838645"/>
                  </a:lnTo>
                  <a:lnTo>
                    <a:pt x="4356" y="813428"/>
                  </a:lnTo>
                  <a:lnTo>
                    <a:pt x="0" y="800100"/>
                  </a:lnTo>
                  <a:lnTo>
                    <a:pt x="0" y="11430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9795" y="4317491"/>
              <a:ext cx="923544" cy="3413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0" y="4561331"/>
              <a:ext cx="708660" cy="34137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062683" y="4751705"/>
            <a:ext cx="6680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0" marR="5080" indent="-108585">
              <a:lnSpc>
                <a:spcPct val="100000"/>
              </a:lnSpc>
              <a:spcBef>
                <a:spcPts val="95"/>
              </a:spcBef>
            </a:pPr>
            <a:r>
              <a:rPr sz="1600" spc="-40" dirty="0">
                <a:solidFill>
                  <a:schemeClr val="bg1"/>
                </a:solidFill>
                <a:latin typeface="Microsoft Sans Serif"/>
                <a:cs typeface="Microsoft Sans Serif"/>
              </a:rPr>
              <a:t>Testing </a:t>
            </a:r>
            <a:r>
              <a:rPr sz="1600" spc="-20" dirty="0">
                <a:solidFill>
                  <a:schemeClr val="bg1"/>
                </a:solidFill>
                <a:latin typeface="Microsoft Sans Serif"/>
                <a:cs typeface="Microsoft Sans Serif"/>
              </a:rPr>
              <a:t>Data</a:t>
            </a:r>
            <a:endParaRPr sz="160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97611" y="2743200"/>
            <a:ext cx="1151890" cy="850265"/>
          </a:xfrm>
          <a:custGeom>
            <a:avLst/>
            <a:gdLst/>
            <a:ahLst/>
            <a:cxnLst/>
            <a:rect l="l" t="t" r="r" b="b"/>
            <a:pathLst>
              <a:path w="1151889" h="850264">
                <a:moveTo>
                  <a:pt x="1086788" y="40174"/>
                </a:moveTo>
                <a:lnTo>
                  <a:pt x="0" y="840104"/>
                </a:lnTo>
                <a:lnTo>
                  <a:pt x="7493" y="850264"/>
                </a:lnTo>
                <a:lnTo>
                  <a:pt x="1094279" y="50336"/>
                </a:lnTo>
                <a:lnTo>
                  <a:pt x="1086788" y="40174"/>
                </a:lnTo>
                <a:close/>
              </a:path>
              <a:path w="1151889" h="850264">
                <a:moveTo>
                  <a:pt x="1135243" y="32638"/>
                </a:moveTo>
                <a:lnTo>
                  <a:pt x="1097026" y="32638"/>
                </a:lnTo>
                <a:lnTo>
                  <a:pt x="1104519" y="42799"/>
                </a:lnTo>
                <a:lnTo>
                  <a:pt x="1094279" y="50336"/>
                </a:lnTo>
                <a:lnTo>
                  <a:pt x="1113155" y="75946"/>
                </a:lnTo>
                <a:lnTo>
                  <a:pt x="1135243" y="32638"/>
                </a:lnTo>
                <a:close/>
              </a:path>
              <a:path w="1151889" h="850264">
                <a:moveTo>
                  <a:pt x="1097026" y="32638"/>
                </a:moveTo>
                <a:lnTo>
                  <a:pt x="1086788" y="40174"/>
                </a:lnTo>
                <a:lnTo>
                  <a:pt x="1094279" y="50336"/>
                </a:lnTo>
                <a:lnTo>
                  <a:pt x="1104519" y="42799"/>
                </a:lnTo>
                <a:lnTo>
                  <a:pt x="1097026" y="32638"/>
                </a:lnTo>
                <a:close/>
              </a:path>
              <a:path w="1151889" h="850264">
                <a:moveTo>
                  <a:pt x="1151890" y="0"/>
                </a:moveTo>
                <a:lnTo>
                  <a:pt x="1067942" y="14604"/>
                </a:lnTo>
                <a:lnTo>
                  <a:pt x="1086788" y="40174"/>
                </a:lnTo>
                <a:lnTo>
                  <a:pt x="1097026" y="32638"/>
                </a:lnTo>
                <a:lnTo>
                  <a:pt x="1135243" y="32638"/>
                </a:lnTo>
                <a:lnTo>
                  <a:pt x="11518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445973" y="4641723"/>
            <a:ext cx="1227455" cy="474345"/>
          </a:xfrm>
          <a:custGeom>
            <a:avLst/>
            <a:gdLst/>
            <a:ahLst/>
            <a:cxnLst/>
            <a:rect l="l" t="t" r="r" b="b"/>
            <a:pathLst>
              <a:path w="1227455" h="474345">
                <a:moveTo>
                  <a:pt x="1153773" y="444507"/>
                </a:moveTo>
                <a:lnTo>
                  <a:pt x="1142619" y="474217"/>
                </a:lnTo>
                <a:lnTo>
                  <a:pt x="1227328" y="465327"/>
                </a:lnTo>
                <a:lnTo>
                  <a:pt x="1212143" y="448944"/>
                </a:lnTo>
                <a:lnTo>
                  <a:pt x="1165605" y="448944"/>
                </a:lnTo>
                <a:lnTo>
                  <a:pt x="1153773" y="444507"/>
                </a:lnTo>
                <a:close/>
              </a:path>
              <a:path w="1227455" h="474345">
                <a:moveTo>
                  <a:pt x="1158209" y="432693"/>
                </a:moveTo>
                <a:lnTo>
                  <a:pt x="1153773" y="444507"/>
                </a:lnTo>
                <a:lnTo>
                  <a:pt x="1165605" y="448944"/>
                </a:lnTo>
                <a:lnTo>
                  <a:pt x="1170051" y="437133"/>
                </a:lnTo>
                <a:lnTo>
                  <a:pt x="1158209" y="432693"/>
                </a:lnTo>
                <a:close/>
              </a:path>
              <a:path w="1227455" h="474345">
                <a:moveTo>
                  <a:pt x="1169416" y="402844"/>
                </a:moveTo>
                <a:lnTo>
                  <a:pt x="1158209" y="432693"/>
                </a:lnTo>
                <a:lnTo>
                  <a:pt x="1170051" y="437133"/>
                </a:lnTo>
                <a:lnTo>
                  <a:pt x="1165605" y="448944"/>
                </a:lnTo>
                <a:lnTo>
                  <a:pt x="1212143" y="448944"/>
                </a:lnTo>
                <a:lnTo>
                  <a:pt x="1169416" y="402844"/>
                </a:lnTo>
                <a:close/>
              </a:path>
              <a:path w="1227455" h="474345">
                <a:moveTo>
                  <a:pt x="4444" y="0"/>
                </a:moveTo>
                <a:lnTo>
                  <a:pt x="0" y="11810"/>
                </a:lnTo>
                <a:lnTo>
                  <a:pt x="1153773" y="444507"/>
                </a:lnTo>
                <a:lnTo>
                  <a:pt x="1158209" y="432693"/>
                </a:lnTo>
                <a:lnTo>
                  <a:pt x="44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5340301" y="2052702"/>
            <a:ext cx="1394460" cy="1079500"/>
            <a:chOff x="5334000" y="1670050"/>
            <a:chExt cx="1394460" cy="1079500"/>
          </a:xfrm>
        </p:grpSpPr>
        <p:sp>
          <p:nvSpPr>
            <p:cNvPr id="27" name="object 27"/>
            <p:cNvSpPr/>
            <p:nvPr/>
          </p:nvSpPr>
          <p:spPr>
            <a:xfrm>
              <a:off x="5410200" y="1676400"/>
              <a:ext cx="1219200" cy="1066800"/>
            </a:xfrm>
            <a:custGeom>
              <a:avLst/>
              <a:gdLst/>
              <a:ahLst/>
              <a:cxnLst/>
              <a:rect l="l" t="t" r="r" b="b"/>
              <a:pathLst>
                <a:path w="1219200" h="1066800">
                  <a:moveTo>
                    <a:pt x="12192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1219200" y="10668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10200" y="1676400"/>
              <a:ext cx="1219200" cy="1066800"/>
            </a:xfrm>
            <a:custGeom>
              <a:avLst/>
              <a:gdLst/>
              <a:ahLst/>
              <a:cxnLst/>
              <a:rect l="l" t="t" r="r" b="b"/>
              <a:pathLst>
                <a:path w="1219200" h="1066800">
                  <a:moveTo>
                    <a:pt x="0" y="1066800"/>
                  </a:moveTo>
                  <a:lnTo>
                    <a:pt x="1219200" y="10668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35168" y="1776984"/>
              <a:ext cx="990599" cy="3413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34000" y="2020824"/>
              <a:ext cx="1394459" cy="3413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90971" y="2264663"/>
              <a:ext cx="1080516" cy="34137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422801" y="2209674"/>
            <a:ext cx="120713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" marR="90170" indent="-5715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chemeClr val="bg1"/>
                </a:solidFill>
                <a:latin typeface="Microsoft Sans Serif"/>
                <a:cs typeface="Microsoft Sans Serif"/>
              </a:rPr>
              <a:t>Derivar Clasificador (Modelo)</a:t>
            </a:r>
            <a:endParaRPr sz="1600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016701" y="3506852"/>
            <a:ext cx="1219200" cy="1066800"/>
            <a:chOff x="7010400" y="3124200"/>
            <a:chExt cx="1219200" cy="1066800"/>
          </a:xfrm>
        </p:grpSpPr>
        <p:sp>
          <p:nvSpPr>
            <p:cNvPr id="34" name="object 34"/>
            <p:cNvSpPr/>
            <p:nvPr/>
          </p:nvSpPr>
          <p:spPr>
            <a:xfrm>
              <a:off x="7010400" y="3124200"/>
              <a:ext cx="1219200" cy="1066800"/>
            </a:xfrm>
            <a:custGeom>
              <a:avLst/>
              <a:gdLst/>
              <a:ahLst/>
              <a:cxnLst/>
              <a:rect l="l" t="t" r="r" b="b"/>
              <a:pathLst>
                <a:path w="1219200" h="1066800">
                  <a:moveTo>
                    <a:pt x="12192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1219200" y="10668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18604" y="3346704"/>
              <a:ext cx="1025651" cy="34137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72884" y="3590544"/>
              <a:ext cx="1115568" cy="341376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7016701" y="3506852"/>
            <a:ext cx="1219200" cy="790601"/>
          </a:xfrm>
          <a:prstGeom prst="rect">
            <a:avLst/>
          </a:prstGeom>
          <a:ln w="12600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</a:pPr>
            <a:r>
              <a:rPr sz="1600" spc="-10" dirty="0">
                <a:solidFill>
                  <a:schemeClr val="bg1"/>
                </a:solidFill>
                <a:latin typeface="Microsoft Sans Serif"/>
                <a:cs typeface="Microsoft Sans Serif"/>
              </a:rPr>
              <a:t>Estimar</a:t>
            </a:r>
            <a:endParaRPr sz="1600">
              <a:solidFill>
                <a:schemeClr val="bg1"/>
              </a:solidFill>
              <a:latin typeface="Microsoft Sans Serif"/>
              <a:cs typeface="Microsoft Sans Serif"/>
            </a:endParaRPr>
          </a:p>
          <a:p>
            <a:pPr marL="191770">
              <a:lnSpc>
                <a:spcPct val="100000"/>
              </a:lnSpc>
            </a:pPr>
            <a:r>
              <a:rPr sz="1600" spc="-10" dirty="0">
                <a:solidFill>
                  <a:schemeClr val="bg1"/>
                </a:solidFill>
                <a:latin typeface="Microsoft Sans Serif"/>
                <a:cs typeface="Microsoft Sans Serif"/>
              </a:rPr>
              <a:t>Exactitud</a:t>
            </a:r>
            <a:endParaRPr sz="160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038600" y="4648200"/>
            <a:ext cx="3627120" cy="391160"/>
            <a:chOff x="4032299" y="4265548"/>
            <a:chExt cx="3627120" cy="391160"/>
          </a:xfrm>
        </p:grpSpPr>
        <p:sp>
          <p:nvSpPr>
            <p:cNvPr id="39" name="object 39"/>
            <p:cNvSpPr/>
            <p:nvPr/>
          </p:nvSpPr>
          <p:spPr>
            <a:xfrm>
              <a:off x="4038600" y="4648199"/>
              <a:ext cx="3581400" cy="1905"/>
            </a:xfrm>
            <a:custGeom>
              <a:avLst/>
              <a:gdLst/>
              <a:ahLst/>
              <a:cxnLst/>
              <a:rect l="l" t="t" r="r" b="b"/>
              <a:pathLst>
                <a:path w="3581400" h="1904">
                  <a:moveTo>
                    <a:pt x="0" y="0"/>
                  </a:moveTo>
                  <a:lnTo>
                    <a:pt x="3581400" y="1524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83170" y="4265548"/>
              <a:ext cx="76200" cy="391160"/>
            </a:xfrm>
            <a:custGeom>
              <a:avLst/>
              <a:gdLst/>
              <a:ahLst/>
              <a:cxnLst/>
              <a:rect l="l" t="t" r="r" b="b"/>
              <a:pathLst>
                <a:path w="76200" h="391160">
                  <a:moveTo>
                    <a:pt x="31700" y="76231"/>
                  </a:moveTo>
                  <a:lnTo>
                    <a:pt x="30479" y="390525"/>
                  </a:lnTo>
                  <a:lnTo>
                    <a:pt x="43179" y="390651"/>
                  </a:lnTo>
                  <a:lnTo>
                    <a:pt x="44400" y="76295"/>
                  </a:lnTo>
                  <a:lnTo>
                    <a:pt x="31700" y="76231"/>
                  </a:lnTo>
                  <a:close/>
                </a:path>
                <a:path w="76200" h="391160">
                  <a:moveTo>
                    <a:pt x="69787" y="63500"/>
                  </a:moveTo>
                  <a:lnTo>
                    <a:pt x="31750" y="63500"/>
                  </a:lnTo>
                  <a:lnTo>
                    <a:pt x="44450" y="63626"/>
                  </a:lnTo>
                  <a:lnTo>
                    <a:pt x="44400" y="76295"/>
                  </a:lnTo>
                  <a:lnTo>
                    <a:pt x="76200" y="76453"/>
                  </a:lnTo>
                  <a:lnTo>
                    <a:pt x="69787" y="63500"/>
                  </a:lnTo>
                  <a:close/>
                </a:path>
                <a:path w="76200" h="391160">
                  <a:moveTo>
                    <a:pt x="31750" y="63500"/>
                  </a:moveTo>
                  <a:lnTo>
                    <a:pt x="31700" y="76231"/>
                  </a:lnTo>
                  <a:lnTo>
                    <a:pt x="44400" y="76295"/>
                  </a:lnTo>
                  <a:lnTo>
                    <a:pt x="44450" y="63626"/>
                  </a:lnTo>
                  <a:lnTo>
                    <a:pt x="31750" y="63500"/>
                  </a:lnTo>
                  <a:close/>
                </a:path>
                <a:path w="76200" h="391160">
                  <a:moveTo>
                    <a:pt x="38353" y="0"/>
                  </a:moveTo>
                  <a:lnTo>
                    <a:pt x="0" y="76073"/>
                  </a:lnTo>
                  <a:lnTo>
                    <a:pt x="31700" y="76231"/>
                  </a:lnTo>
                  <a:lnTo>
                    <a:pt x="31750" y="63500"/>
                  </a:lnTo>
                  <a:lnTo>
                    <a:pt x="69787" y="63500"/>
                  </a:lnTo>
                  <a:lnTo>
                    <a:pt x="383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4114751" y="2586102"/>
            <a:ext cx="3551554" cy="920750"/>
            <a:chOff x="4108450" y="2203450"/>
            <a:chExt cx="3551554" cy="920750"/>
          </a:xfrm>
        </p:grpSpPr>
        <p:sp>
          <p:nvSpPr>
            <p:cNvPr id="42" name="object 42"/>
            <p:cNvSpPr/>
            <p:nvPr/>
          </p:nvSpPr>
          <p:spPr>
            <a:xfrm>
              <a:off x="4108450" y="2249423"/>
              <a:ext cx="1225550" cy="76200"/>
            </a:xfrm>
            <a:custGeom>
              <a:avLst/>
              <a:gdLst/>
              <a:ahLst/>
              <a:cxnLst/>
              <a:rect l="l" t="t" r="r" b="b"/>
              <a:pathLst>
                <a:path w="1225550" h="76200">
                  <a:moveTo>
                    <a:pt x="1149350" y="44433"/>
                  </a:moveTo>
                  <a:lnTo>
                    <a:pt x="1149350" y="76200"/>
                  </a:lnTo>
                  <a:lnTo>
                    <a:pt x="1212850" y="44450"/>
                  </a:lnTo>
                  <a:lnTo>
                    <a:pt x="1162050" y="44450"/>
                  </a:lnTo>
                  <a:lnTo>
                    <a:pt x="1149350" y="44433"/>
                  </a:lnTo>
                  <a:close/>
                </a:path>
                <a:path w="1225550" h="76200">
                  <a:moveTo>
                    <a:pt x="1149350" y="31733"/>
                  </a:moveTo>
                  <a:lnTo>
                    <a:pt x="1149350" y="44433"/>
                  </a:lnTo>
                  <a:lnTo>
                    <a:pt x="1162050" y="44450"/>
                  </a:lnTo>
                  <a:lnTo>
                    <a:pt x="1162050" y="31750"/>
                  </a:lnTo>
                  <a:lnTo>
                    <a:pt x="1149350" y="31733"/>
                  </a:lnTo>
                  <a:close/>
                </a:path>
                <a:path w="1225550" h="76200">
                  <a:moveTo>
                    <a:pt x="1149350" y="0"/>
                  </a:moveTo>
                  <a:lnTo>
                    <a:pt x="1149350" y="31733"/>
                  </a:lnTo>
                  <a:lnTo>
                    <a:pt x="1162050" y="31750"/>
                  </a:lnTo>
                  <a:lnTo>
                    <a:pt x="1162050" y="44450"/>
                  </a:lnTo>
                  <a:lnTo>
                    <a:pt x="1212850" y="44450"/>
                  </a:lnTo>
                  <a:lnTo>
                    <a:pt x="1225550" y="38100"/>
                  </a:lnTo>
                  <a:lnTo>
                    <a:pt x="1149350" y="0"/>
                  </a:lnTo>
                  <a:close/>
                </a:path>
                <a:path w="1225550" h="76200">
                  <a:moveTo>
                    <a:pt x="0" y="30225"/>
                  </a:moveTo>
                  <a:lnTo>
                    <a:pt x="0" y="42925"/>
                  </a:lnTo>
                  <a:lnTo>
                    <a:pt x="1149350" y="44433"/>
                  </a:lnTo>
                  <a:lnTo>
                    <a:pt x="1149350" y="31733"/>
                  </a:lnTo>
                  <a:lnTo>
                    <a:pt x="0" y="302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29400" y="2209800"/>
              <a:ext cx="990600" cy="1905"/>
            </a:xfrm>
            <a:custGeom>
              <a:avLst/>
              <a:gdLst/>
              <a:ahLst/>
              <a:cxnLst/>
              <a:rect l="l" t="t" r="r" b="b"/>
              <a:pathLst>
                <a:path w="990600" h="1905">
                  <a:moveTo>
                    <a:pt x="0" y="0"/>
                  </a:moveTo>
                  <a:lnTo>
                    <a:pt x="990600" y="1650"/>
                  </a:lnTo>
                </a:path>
              </a:pathLst>
            </a:custGeom>
            <a:ln w="12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583296" y="2203450"/>
              <a:ext cx="76200" cy="920750"/>
            </a:xfrm>
            <a:custGeom>
              <a:avLst/>
              <a:gdLst/>
              <a:ahLst/>
              <a:cxnLst/>
              <a:rect l="l" t="t" r="r" b="b"/>
              <a:pathLst>
                <a:path w="76200" h="920750">
                  <a:moveTo>
                    <a:pt x="31854" y="844570"/>
                  </a:moveTo>
                  <a:lnTo>
                    <a:pt x="0" y="844676"/>
                  </a:lnTo>
                  <a:lnTo>
                    <a:pt x="38226" y="920750"/>
                  </a:lnTo>
                  <a:lnTo>
                    <a:pt x="69818" y="857250"/>
                  </a:lnTo>
                  <a:lnTo>
                    <a:pt x="31876" y="857250"/>
                  </a:lnTo>
                  <a:lnTo>
                    <a:pt x="31854" y="844570"/>
                  </a:lnTo>
                  <a:close/>
                </a:path>
                <a:path w="76200" h="920750">
                  <a:moveTo>
                    <a:pt x="44554" y="844528"/>
                  </a:moveTo>
                  <a:lnTo>
                    <a:pt x="31854" y="844570"/>
                  </a:lnTo>
                  <a:lnTo>
                    <a:pt x="31876" y="857250"/>
                  </a:lnTo>
                  <a:lnTo>
                    <a:pt x="44576" y="857250"/>
                  </a:lnTo>
                  <a:lnTo>
                    <a:pt x="44554" y="844528"/>
                  </a:lnTo>
                  <a:close/>
                </a:path>
                <a:path w="76200" h="920750">
                  <a:moveTo>
                    <a:pt x="76200" y="844423"/>
                  </a:moveTo>
                  <a:lnTo>
                    <a:pt x="44554" y="844528"/>
                  </a:lnTo>
                  <a:lnTo>
                    <a:pt x="44576" y="857250"/>
                  </a:lnTo>
                  <a:lnTo>
                    <a:pt x="69818" y="857250"/>
                  </a:lnTo>
                  <a:lnTo>
                    <a:pt x="76200" y="844423"/>
                  </a:lnTo>
                  <a:close/>
                </a:path>
                <a:path w="76200" h="920750">
                  <a:moveTo>
                    <a:pt x="43052" y="0"/>
                  </a:moveTo>
                  <a:lnTo>
                    <a:pt x="30352" y="0"/>
                  </a:lnTo>
                  <a:lnTo>
                    <a:pt x="31854" y="844570"/>
                  </a:lnTo>
                  <a:lnTo>
                    <a:pt x="44554" y="844528"/>
                  </a:lnTo>
                  <a:lnTo>
                    <a:pt x="430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274708"/>
            <a:ext cx="7886700" cy="1335570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marL="330835" algn="ctr">
              <a:lnSpc>
                <a:spcPct val="100000"/>
              </a:lnSpc>
              <a:spcBef>
                <a:spcPts val="95"/>
              </a:spcBef>
            </a:pPr>
            <a:r>
              <a:rPr sz="3600" dirty="0"/>
              <a:t>Etapas:</a:t>
            </a:r>
            <a:r>
              <a:rPr sz="3600" spc="-70" dirty="0"/>
              <a:t> </a:t>
            </a:r>
            <a:r>
              <a:rPr sz="3600" dirty="0"/>
              <a:t>Construcción</a:t>
            </a:r>
            <a:r>
              <a:rPr sz="3600" spc="-50" dirty="0"/>
              <a:t> </a:t>
            </a:r>
            <a:r>
              <a:rPr sz="3600" dirty="0"/>
              <a:t>del</a:t>
            </a:r>
            <a:r>
              <a:rPr sz="3600" spc="-40" dirty="0"/>
              <a:t> </a:t>
            </a:r>
            <a:r>
              <a:rPr sz="3600" dirty="0"/>
              <a:t>modelo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185" dirty="0"/>
              <a:t> </a:t>
            </a:r>
            <a:r>
              <a:rPr sz="3600" spc="-10" dirty="0"/>
              <a:t>Aprendizaje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2783" y="2057400"/>
            <a:ext cx="7798434" cy="38581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tupla</a:t>
            </a:r>
            <a:r>
              <a:rPr sz="20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supone</a:t>
            </a:r>
            <a:r>
              <a:rPr sz="200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</a:t>
            </a:r>
            <a:r>
              <a:rPr sz="20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0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predefinida,</a:t>
            </a:r>
            <a:r>
              <a:rPr sz="20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dada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atributos,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llamada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etiqueta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clase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376555" algn="l"/>
                <a:tab pos="1477010" algn="l"/>
                <a:tab pos="1899285" algn="l"/>
                <a:tab pos="2660015" algn="l"/>
                <a:tab pos="3121660" algn="l"/>
                <a:tab pos="3940175" algn="l"/>
                <a:tab pos="4897755" algn="l"/>
                <a:tab pos="5543550" algn="l"/>
                <a:tab pos="5880735" algn="l"/>
                <a:tab pos="7444740" algn="l"/>
              </a:tabLst>
            </a:pP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todas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tuplas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usadas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construcción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llama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conjunto</a:t>
            </a:r>
            <a:r>
              <a:rPr sz="2000" spc="-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entrenamiento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 modelo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representa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mediante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alguna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siguientes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formas: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CCCC00"/>
                </a:solidFill>
                <a:latin typeface="Microsoft Sans Serif"/>
                <a:cs typeface="Microsoft Sans Serif"/>
              </a:rPr>
              <a:t>Reglas</a:t>
            </a:r>
            <a:r>
              <a:rPr sz="1800" spc="-5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1800" spc="-4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CCCC00"/>
                </a:solidFill>
                <a:latin typeface="Microsoft Sans Serif"/>
                <a:cs typeface="Microsoft Sans Serif"/>
              </a:rPr>
              <a:t>clasificación</a:t>
            </a:r>
            <a:r>
              <a:rPr sz="18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(sentencias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IF-THEN)</a:t>
            </a:r>
            <a:endParaRPr sz="1800" dirty="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spcBef>
                <a:spcPts val="500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CCCC00"/>
                </a:solidFill>
                <a:latin typeface="Microsoft Sans Serif"/>
                <a:cs typeface="Microsoft Sans Serif"/>
              </a:rPr>
              <a:t>Árbol</a:t>
            </a:r>
            <a:r>
              <a:rPr sz="18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18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decisión</a:t>
            </a:r>
            <a:endParaRPr sz="1800" dirty="0">
              <a:latin typeface="Microsoft Sans Serif"/>
              <a:cs typeface="Microsoft Sans Serif"/>
            </a:endParaRPr>
          </a:p>
          <a:p>
            <a:pPr marL="755015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</a:tabLst>
            </a:pPr>
            <a:r>
              <a:rPr sz="1800" dirty="0" err="1">
                <a:solidFill>
                  <a:srgbClr val="CCCC00"/>
                </a:solidFill>
                <a:latin typeface="Microsoft Sans Serif"/>
                <a:cs typeface="Microsoft Sans Serif"/>
              </a:rPr>
              <a:t>Fórmulas</a:t>
            </a:r>
            <a:r>
              <a:rPr sz="1800" spc="-7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 err="1">
                <a:solidFill>
                  <a:srgbClr val="CCCC00"/>
                </a:solidFill>
                <a:latin typeface="Microsoft Sans Serif"/>
                <a:cs typeface="Microsoft Sans Serif"/>
              </a:rPr>
              <a:t>matemáticas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637122"/>
            <a:ext cx="7886700" cy="78157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600" spc="-10" dirty="0">
                <a:solidFill>
                  <a:schemeClr val="tx1"/>
                </a:solidFill>
              </a:rPr>
              <a:t>Aprendizaje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875" y="1785873"/>
            <a:ext cx="6969125" cy="3622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Etapas:</a:t>
            </a:r>
            <a:r>
              <a:rPr spc="-80" dirty="0"/>
              <a:t> </a:t>
            </a:r>
            <a:r>
              <a:rPr dirty="0"/>
              <a:t>Evaluación</a:t>
            </a:r>
            <a:r>
              <a:rPr spc="-5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modelo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0265" y="1905000"/>
            <a:ext cx="7443470" cy="3956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90170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33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estima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exactitud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basándose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FFFFFF"/>
              </a:buClr>
              <a:buFont typeface="Microsoft Sans Serif"/>
              <a:buChar char="•"/>
            </a:pPr>
            <a:endParaRPr sz="2400" dirty="0">
              <a:latin typeface="Microsoft Sans Serif"/>
              <a:cs typeface="Microsoft Sans Serif"/>
            </a:endParaRPr>
          </a:p>
          <a:p>
            <a:pPr marL="755015" marR="30480" lvl="1" indent="-285115">
              <a:lnSpc>
                <a:spcPct val="100000"/>
              </a:lnSpc>
              <a:spcBef>
                <a:spcPts val="5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compara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conocida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una muestra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testeo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resultado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aplicar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0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130"/>
              </a:spcBef>
              <a:buFont typeface="Microsoft Sans Serif"/>
              <a:buChar char="–"/>
            </a:pPr>
            <a:endParaRPr sz="2000" dirty="0">
              <a:latin typeface="Microsoft Sans Serif"/>
              <a:cs typeface="Microsoft Sans Serif"/>
            </a:endParaRPr>
          </a:p>
          <a:p>
            <a:pPr marL="755015" marR="5080" lvl="1" indent="-285115">
              <a:lnSpc>
                <a:spcPct val="100000"/>
              </a:lnSpc>
              <a:buFont typeface="Microsoft Sans Serif"/>
              <a:buChar char="–"/>
              <a:tabLst>
                <a:tab pos="755015" algn="l"/>
              </a:tabLst>
            </a:pPr>
            <a:r>
              <a:rPr sz="2000" i="1" dirty="0">
                <a:solidFill>
                  <a:srgbClr val="CCCC00"/>
                </a:solidFill>
                <a:latin typeface="Arial"/>
                <a:cs typeface="Arial"/>
              </a:rPr>
              <a:t>Accuracy</a:t>
            </a:r>
            <a:r>
              <a:rPr sz="2000" i="1" spc="-65" dirty="0">
                <a:solidFill>
                  <a:srgbClr val="CCCC0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CCCC00"/>
                </a:solidFill>
                <a:latin typeface="Arial"/>
                <a:cs typeface="Arial"/>
              </a:rPr>
              <a:t>rate</a:t>
            </a:r>
            <a:r>
              <a:rPr sz="2000" i="1" spc="-30" dirty="0">
                <a:solidFill>
                  <a:srgbClr val="CCCC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 el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porcentaje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muestras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son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correctamente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clasificadas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endParaRPr sz="20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135"/>
              </a:spcBef>
              <a:buFont typeface="Microsoft Sans Serif"/>
              <a:buChar char="–"/>
            </a:pP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5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 independiente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endParaRPr sz="2000" dirty="0">
              <a:latin typeface="Microsoft Sans Serif"/>
              <a:cs typeface="Microsoft Sans Serif"/>
            </a:endParaRPr>
          </a:p>
          <a:p>
            <a:pPr marL="75501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r>
              <a:rPr sz="20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(método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holdout)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698677"/>
            <a:ext cx="7886700" cy="658461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</a:rPr>
              <a:t>Evaluación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de</a:t>
            </a:r>
            <a:r>
              <a:rPr spc="-5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Exactitud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" y="1757362"/>
            <a:ext cx="7753350" cy="39576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Etapas:</a:t>
            </a:r>
            <a:r>
              <a:rPr spc="-80" dirty="0"/>
              <a:t> </a:t>
            </a:r>
            <a:r>
              <a:rPr dirty="0"/>
              <a:t>Evaluación</a:t>
            </a:r>
            <a:r>
              <a:rPr spc="-5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modelo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365" y="1870166"/>
            <a:ext cx="7621270" cy="366839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500"/>
              </a:spcBef>
              <a:buChar char="•"/>
              <a:tabLst>
                <a:tab pos="353695" algn="l"/>
              </a:tabLst>
            </a:pP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Holdout</a:t>
            </a:r>
            <a:endParaRPr sz="2400" dirty="0">
              <a:latin typeface="Microsoft Sans Serif"/>
              <a:cs typeface="Microsoft Sans Serif"/>
            </a:endParaRPr>
          </a:p>
          <a:p>
            <a:pPr marL="755015" marR="120014" lvl="1" indent="-285115">
              <a:lnSpc>
                <a:spcPts val="1939"/>
              </a:lnSpc>
              <a:spcBef>
                <a:spcPts val="550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particionan aleatoriamente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conjuntos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independientes:</a:t>
            </a:r>
            <a:r>
              <a:rPr sz="18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training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set (2/3 de los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datos) y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 set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(1/3 de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los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datos)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70"/>
              </a:spcBef>
              <a:buChar char="•"/>
              <a:tabLst>
                <a:tab pos="353695" algn="l"/>
              </a:tabLst>
            </a:pP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K-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fold</a:t>
            </a:r>
            <a:r>
              <a:rPr sz="2400" spc="-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cross</a:t>
            </a:r>
            <a:r>
              <a:rPr sz="24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validation</a:t>
            </a:r>
            <a:endParaRPr sz="2400" dirty="0">
              <a:latin typeface="Microsoft Sans Serif"/>
              <a:cs typeface="Microsoft Sans Serif"/>
            </a:endParaRPr>
          </a:p>
          <a:p>
            <a:pPr marL="755015" marR="46990" lvl="1" indent="-285115">
              <a:lnSpc>
                <a:spcPts val="1939"/>
              </a:lnSpc>
              <a:spcBef>
                <a:spcPts val="54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iniciales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particionados en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subconjuntos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mutuamente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excluyentes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aproximadamente igual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tamaño.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hace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training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y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testing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veces,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calcula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exactitud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promediando los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resultados.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84"/>
              </a:spcBef>
              <a:buChar char="•"/>
              <a:tabLst>
                <a:tab pos="353695" algn="l"/>
              </a:tabLst>
            </a:pP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Stratisfied</a:t>
            </a: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cross-</a:t>
            </a: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validation</a:t>
            </a:r>
            <a:endParaRPr sz="2400" dirty="0">
              <a:latin typeface="Microsoft Sans Serif"/>
              <a:cs typeface="Microsoft Sans Serif"/>
            </a:endParaRPr>
          </a:p>
          <a:p>
            <a:pPr marL="755015" marR="5080" lvl="1" indent="-285115">
              <a:lnSpc>
                <a:spcPct val="90100"/>
              </a:lnSpc>
              <a:spcBef>
                <a:spcPts val="509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subconjuntos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son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armados de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tal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manera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distribución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uno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aproximadamente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igual 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tienen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iniciales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336997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Evaluación</a:t>
            </a:r>
            <a:r>
              <a:rPr spc="-75" dirty="0"/>
              <a:t> </a:t>
            </a:r>
            <a:r>
              <a:rPr dirty="0"/>
              <a:t>del</a:t>
            </a:r>
            <a:r>
              <a:rPr spc="-65" dirty="0"/>
              <a:t> </a:t>
            </a:r>
            <a:r>
              <a:rPr spc="-10" dirty="0"/>
              <a:t>modelo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621282"/>
            <a:ext cx="49523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5"/>
              </a:spcBef>
              <a:buChar char="•"/>
              <a:tabLst>
                <a:tab pos="353695" algn="l"/>
              </a:tabLst>
            </a:pPr>
            <a:r>
              <a:rPr sz="3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Tasa/Coeficiente</a:t>
            </a:r>
            <a:r>
              <a:rPr sz="32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32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Error</a:t>
            </a:r>
            <a:endParaRPr sz="3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3979545"/>
            <a:ext cx="60813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Precisión/Coeficiente</a:t>
            </a:r>
            <a:r>
              <a:rPr sz="32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3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acierto</a:t>
            </a:r>
            <a:endParaRPr sz="32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2514600"/>
            <a:ext cx="3524250" cy="10255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600" y="4648200"/>
            <a:ext cx="3581400" cy="8540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8770" y="273524"/>
            <a:ext cx="7886700" cy="1212459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marL="786765" algn="ctr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Evaluación</a:t>
            </a:r>
            <a:r>
              <a:rPr sz="3200" spc="-55" dirty="0"/>
              <a:t> </a:t>
            </a:r>
            <a:r>
              <a:rPr sz="3200" dirty="0"/>
              <a:t>del</a:t>
            </a:r>
            <a:r>
              <a:rPr sz="3200" spc="-45" dirty="0"/>
              <a:t> </a:t>
            </a:r>
            <a:r>
              <a:rPr sz="3200" dirty="0"/>
              <a:t>modelo:</a:t>
            </a:r>
            <a:r>
              <a:rPr sz="3200" spc="-35" dirty="0"/>
              <a:t> </a:t>
            </a:r>
            <a:r>
              <a:rPr sz="3200" dirty="0"/>
              <a:t>Matriz</a:t>
            </a:r>
            <a:r>
              <a:rPr sz="3200" spc="-50" dirty="0"/>
              <a:t> </a:t>
            </a:r>
            <a:r>
              <a:rPr sz="3200" dirty="0"/>
              <a:t>de</a:t>
            </a:r>
            <a:r>
              <a:rPr sz="3200" spc="-45" dirty="0"/>
              <a:t> </a:t>
            </a:r>
            <a:r>
              <a:rPr sz="3200" spc="-10" dirty="0"/>
              <a:t>Confusión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43520" y="1586520"/>
          <a:ext cx="8077200" cy="3462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6445">
                <a:tc>
                  <a:txBody>
                    <a:bodyPr/>
                    <a:lstStyle/>
                    <a:p>
                      <a:pPr marL="90170" marR="791845">
                        <a:lnSpc>
                          <a:spcPts val="2740"/>
                        </a:lnSpc>
                        <a:spcBef>
                          <a:spcPts val="95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Etiqueta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clase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Predicciones</a:t>
                      </a:r>
                      <a:r>
                        <a:rPr sz="2000" spc="-6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C1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Predicciones</a:t>
                      </a:r>
                      <a:r>
                        <a:rPr sz="2000" spc="-6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C2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34620">
                        <a:lnSpc>
                          <a:spcPts val="2230"/>
                        </a:lnSpc>
                        <a:spcBef>
                          <a:spcPts val="5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Predicciones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Ck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marL="90170" marR="433705">
                        <a:lnSpc>
                          <a:spcPts val="2230"/>
                        </a:lnSpc>
                        <a:spcBef>
                          <a:spcPts val="505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Verdaderos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C1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1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M(C1,C1)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M(C1,C2)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M(C1,Ck)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445">
                <a:tc>
                  <a:txBody>
                    <a:bodyPr/>
                    <a:lstStyle/>
                    <a:p>
                      <a:pPr marL="90170" marR="433705">
                        <a:lnSpc>
                          <a:spcPts val="2740"/>
                        </a:lnSpc>
                        <a:spcBef>
                          <a:spcPts val="95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Verdaderos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C2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M(C2,C1)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M(C2,C2)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M(C2,Ck)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644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Verdaderos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Ck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M(Ck,C1)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M(Ck,C2)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M(Ck,Ck)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953000" y="5943600"/>
            <a:ext cx="2214880" cy="309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50" spc="254" dirty="0">
                <a:latin typeface="Times New Roman"/>
                <a:cs typeface="Times New Roman"/>
              </a:rPr>
              <a:t>{</a:t>
            </a:r>
            <a:r>
              <a:rPr sz="1850" spc="254" dirty="0">
                <a:latin typeface="Symbol"/>
                <a:cs typeface="Symbol"/>
              </a:rPr>
              <a:t></a:t>
            </a:r>
            <a:r>
              <a:rPr sz="1850" spc="254" dirty="0">
                <a:latin typeface="Times New Roman"/>
                <a:cs typeface="Times New Roman"/>
              </a:rPr>
              <a:t>(</a:t>
            </a:r>
            <a:r>
              <a:rPr sz="1850" i="1" spc="254" dirty="0">
                <a:latin typeface="Times New Roman"/>
                <a:cs typeface="Times New Roman"/>
              </a:rPr>
              <a:t>x</a:t>
            </a:r>
            <a:r>
              <a:rPr sz="1850" spc="254" dirty="0">
                <a:latin typeface="Times New Roman"/>
                <a:cs typeface="Times New Roman"/>
              </a:rPr>
              <a:t>,</a:t>
            </a:r>
            <a:r>
              <a:rPr sz="1850" i="1" spc="254" dirty="0">
                <a:latin typeface="Times New Roman"/>
                <a:cs typeface="Times New Roman"/>
              </a:rPr>
              <a:t>y</a:t>
            </a:r>
            <a:r>
              <a:rPr sz="1850" spc="254" dirty="0">
                <a:latin typeface="Times New Roman"/>
                <a:cs typeface="Times New Roman"/>
              </a:rPr>
              <a:t>)</a:t>
            </a:r>
            <a:r>
              <a:rPr sz="1850" spc="254" dirty="0">
                <a:latin typeface="Symbol"/>
                <a:cs typeface="Symbol"/>
              </a:rPr>
              <a:t></a:t>
            </a:r>
            <a:r>
              <a:rPr sz="1850" i="1" spc="254" dirty="0">
                <a:latin typeface="Times New Roman"/>
                <a:cs typeface="Times New Roman"/>
              </a:rPr>
              <a:t>T</a:t>
            </a:r>
            <a:r>
              <a:rPr sz="1850" spc="254" dirty="0">
                <a:latin typeface="Times New Roman"/>
                <a:cs typeface="Times New Roman"/>
              </a:rPr>
              <a:t>:</a:t>
            </a:r>
            <a:r>
              <a:rPr sz="1850" i="1" spc="254" dirty="0">
                <a:latin typeface="Times New Roman"/>
                <a:cs typeface="Times New Roman"/>
              </a:rPr>
              <a:t>y</a:t>
            </a:r>
            <a:r>
              <a:rPr sz="1850" spc="254" dirty="0">
                <a:latin typeface="Symbol"/>
                <a:cs typeface="Symbol"/>
              </a:rPr>
              <a:t></a:t>
            </a:r>
            <a:r>
              <a:rPr sz="1850" i="1" spc="254" dirty="0">
                <a:latin typeface="Times New Roman"/>
                <a:cs typeface="Times New Roman"/>
              </a:rPr>
              <a:t>C</a:t>
            </a:r>
            <a:r>
              <a:rPr sz="1950" i="1" spc="382" baseline="-19230" dirty="0">
                <a:latin typeface="Times New Roman"/>
                <a:cs typeface="Times New Roman"/>
              </a:rPr>
              <a:t>i</a:t>
            </a:r>
            <a:r>
              <a:rPr sz="1850" spc="254" dirty="0">
                <a:latin typeface="Times New Roman"/>
                <a:cs typeface="Times New Roman"/>
              </a:rPr>
              <a:t>}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3270" y="5049175"/>
            <a:ext cx="6172200" cy="755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200" i="1" spc="869" dirty="0">
                <a:latin typeface="Times New Roman"/>
                <a:cs typeface="Times New Roman"/>
              </a:rPr>
              <a:t>M</a:t>
            </a:r>
            <a:r>
              <a:rPr sz="3200" spc="869" dirty="0">
                <a:latin typeface="Times New Roman"/>
                <a:cs typeface="Times New Roman"/>
              </a:rPr>
              <a:t>(</a:t>
            </a:r>
            <a:r>
              <a:rPr sz="3200" i="1" spc="869" dirty="0">
                <a:latin typeface="Times New Roman"/>
                <a:cs typeface="Times New Roman"/>
              </a:rPr>
              <a:t>C</a:t>
            </a:r>
            <a:r>
              <a:rPr sz="2775" i="1" spc="1305" baseline="-24024" dirty="0">
                <a:latin typeface="Times New Roman"/>
                <a:cs typeface="Times New Roman"/>
              </a:rPr>
              <a:t>i</a:t>
            </a:r>
            <a:r>
              <a:rPr sz="3200" spc="869" dirty="0">
                <a:latin typeface="Times New Roman"/>
                <a:cs typeface="Times New Roman"/>
              </a:rPr>
              <a:t>,</a:t>
            </a:r>
            <a:r>
              <a:rPr sz="3200" i="1" spc="869" dirty="0">
                <a:latin typeface="Times New Roman"/>
                <a:cs typeface="Times New Roman"/>
              </a:rPr>
              <a:t>C</a:t>
            </a:r>
            <a:r>
              <a:rPr sz="2775" i="1" spc="1305" baseline="-24024" dirty="0">
                <a:latin typeface="Times New Roman"/>
                <a:cs typeface="Times New Roman"/>
              </a:rPr>
              <a:t>j</a:t>
            </a:r>
            <a:r>
              <a:rPr sz="3200" spc="869" dirty="0">
                <a:latin typeface="Times New Roman"/>
                <a:cs typeface="Times New Roman"/>
              </a:rPr>
              <a:t>)</a:t>
            </a:r>
            <a:r>
              <a:rPr sz="3200" spc="869" dirty="0">
                <a:latin typeface="Symbol"/>
                <a:cs typeface="Symbol"/>
              </a:rPr>
              <a:t>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7200" spc="885" baseline="-8680" dirty="0">
                <a:latin typeface="Symbol"/>
                <a:cs typeface="Symbol"/>
              </a:rPr>
              <a:t></a:t>
            </a:r>
            <a:r>
              <a:rPr sz="3200" i="1" spc="590" dirty="0">
                <a:latin typeface="Times New Roman"/>
                <a:cs typeface="Times New Roman"/>
              </a:rPr>
              <a:t>h</a:t>
            </a:r>
            <a:r>
              <a:rPr sz="3200" spc="590" dirty="0">
                <a:latin typeface="Times New Roman"/>
                <a:cs typeface="Times New Roman"/>
              </a:rPr>
              <a:t>(</a:t>
            </a:r>
            <a:r>
              <a:rPr sz="3200" i="1" spc="590" dirty="0">
                <a:latin typeface="Times New Roman"/>
                <a:cs typeface="Times New Roman"/>
              </a:rPr>
              <a:t>x</a:t>
            </a:r>
            <a:r>
              <a:rPr sz="3200" spc="590" dirty="0">
                <a:latin typeface="Times New Roman"/>
                <a:cs typeface="Times New Roman"/>
              </a:rPr>
              <a:t>)</a:t>
            </a:r>
            <a:r>
              <a:rPr sz="3200" spc="590" dirty="0">
                <a:latin typeface="Symbol"/>
                <a:cs typeface="Symbol"/>
              </a:rPr>
              <a:t></a:t>
            </a:r>
            <a:r>
              <a:rPr sz="3200" i="1" spc="590" dirty="0">
                <a:latin typeface="Times New Roman"/>
                <a:cs typeface="Times New Roman"/>
              </a:rPr>
              <a:t>C</a:t>
            </a:r>
            <a:r>
              <a:rPr sz="2775" i="1" spc="885" baseline="-24024" dirty="0">
                <a:latin typeface="Times New Roman"/>
                <a:cs typeface="Times New Roman"/>
              </a:rPr>
              <a:t>j</a:t>
            </a:r>
            <a:endParaRPr sz="2775" baseline="-24024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419528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Clasificador</a:t>
            </a:r>
            <a:r>
              <a:rPr spc="-114" dirty="0"/>
              <a:t> </a:t>
            </a:r>
            <a:r>
              <a:rPr spc="-10" dirty="0"/>
              <a:t>ideal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49653"/>
            <a:ext cx="6207760" cy="9099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700"/>
              </a:spcBef>
              <a:buChar char="•"/>
              <a:tabLst>
                <a:tab pos="35369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M(Ci,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Ci)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Casos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correctamente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clasificados</a:t>
            </a:r>
            <a:endParaRPr sz="24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Char char="•"/>
              <a:tabLst>
                <a:tab pos="35369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M(Ci,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Cj)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i&lt;&gt;j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Errores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400">
              <a:latin typeface="Microsoft Sans Serif"/>
              <a:cs typeface="Microsoft Sans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4632" y="2910495"/>
          <a:ext cx="8189595" cy="3234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4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2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C2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Ck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M(C1,C1)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C2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M(C2,C2)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Ck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...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M(Ck,Ck)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237012"/>
            <a:ext cx="7886700" cy="1581791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Evaluación</a:t>
            </a:r>
            <a:r>
              <a:rPr spc="-75" dirty="0"/>
              <a:t> </a:t>
            </a:r>
            <a:r>
              <a:rPr dirty="0"/>
              <a:t>del</a:t>
            </a:r>
            <a:r>
              <a:rPr spc="-65" dirty="0"/>
              <a:t> </a:t>
            </a:r>
            <a:r>
              <a:rPr dirty="0"/>
              <a:t>Modelo</a:t>
            </a:r>
            <a:r>
              <a:rPr spc="-45" dirty="0"/>
              <a:t> </a:t>
            </a:r>
            <a:r>
              <a:rPr spc="-10" dirty="0"/>
              <a:t>(Documentos)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0572" y="2133600"/>
            <a:ext cx="7602855" cy="3684904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2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Precision</a:t>
            </a:r>
            <a:endParaRPr sz="3200" dirty="0">
              <a:latin typeface="Microsoft Sans Serif"/>
              <a:cs typeface="Microsoft Sans Serif"/>
            </a:endParaRPr>
          </a:p>
          <a:p>
            <a:pPr marL="755015" marR="5080" lvl="1" indent="-285115">
              <a:lnSpc>
                <a:spcPct val="100000"/>
              </a:lnSpc>
              <a:spcBef>
                <a:spcPts val="715"/>
              </a:spcBef>
              <a:buChar char="–"/>
              <a:tabLst>
                <a:tab pos="75501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cantidad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veces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predijo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una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clase,</a:t>
            </a:r>
            <a:r>
              <a:rPr sz="28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cuántas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fueron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correctas?</a:t>
            </a:r>
            <a:endParaRPr sz="28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265"/>
              </a:spcBef>
              <a:buClr>
                <a:srgbClr val="FFFFFF"/>
              </a:buClr>
              <a:buFont typeface="Microsoft Sans Serif"/>
              <a:buChar char="–"/>
            </a:pP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Recall</a:t>
            </a:r>
            <a:endParaRPr sz="3200" dirty="0">
              <a:latin typeface="Microsoft Sans Serif"/>
              <a:cs typeface="Microsoft Sans Serif"/>
            </a:endParaRPr>
          </a:p>
          <a:p>
            <a:pPr marL="755015" marR="660400" lvl="1" indent="-285115">
              <a:lnSpc>
                <a:spcPct val="100000"/>
              </a:lnSpc>
              <a:spcBef>
                <a:spcPts val="710"/>
              </a:spcBef>
              <a:buChar char="–"/>
              <a:tabLst>
                <a:tab pos="75501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encontraron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todos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que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pertenecen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clase?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8650" y="392824"/>
            <a:ext cx="7886700" cy="843127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Etapas:</a:t>
            </a:r>
            <a:r>
              <a:rPr sz="4000" spc="-45" dirty="0"/>
              <a:t> </a:t>
            </a:r>
            <a:r>
              <a:rPr sz="4000" dirty="0"/>
              <a:t>Uso</a:t>
            </a:r>
            <a:r>
              <a:rPr sz="4000" spc="-25" dirty="0"/>
              <a:t> </a:t>
            </a:r>
            <a:r>
              <a:rPr sz="4000" dirty="0"/>
              <a:t>del</a:t>
            </a:r>
            <a:r>
              <a:rPr sz="4000" spc="-15" dirty="0"/>
              <a:t> </a:t>
            </a:r>
            <a:r>
              <a:rPr sz="4000" dirty="0"/>
              <a:t>modelo -</a:t>
            </a:r>
            <a:r>
              <a:rPr sz="4000" spc="-20" dirty="0"/>
              <a:t> </a:t>
            </a:r>
            <a:r>
              <a:rPr sz="4000" spc="-10" dirty="0"/>
              <a:t>Clasificación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4540" y="1625853"/>
            <a:ext cx="7103745" cy="157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•"/>
              <a:tabLst>
                <a:tab pos="35369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utiliza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clasificar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nuevos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objetos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FFFFFF"/>
              </a:buClr>
              <a:buFont typeface="Microsoft Sans Serif"/>
              <a:buChar char="•"/>
            </a:pPr>
            <a:endParaRPr sz="24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5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Dar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 etiqueta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clase 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 nueva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tupla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490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Predecir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 de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3352736"/>
            <a:ext cx="6221349" cy="26908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Métodos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/>
              <a:t>clasificación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0600" y="1600200"/>
            <a:ext cx="5912485" cy="4347343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59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Inducción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árboles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decisión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5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Redes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Neuronales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</a:t>
            </a:r>
            <a:r>
              <a:rPr sz="28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Bayesiano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8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basada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asociación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Vecinos</a:t>
            </a:r>
            <a:r>
              <a:rPr sz="28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cercanos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Razonamiento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Basado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Casos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Algoritmos</a:t>
            </a:r>
            <a:r>
              <a:rPr sz="28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Genéticos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Conjuntos</a:t>
            </a:r>
            <a:r>
              <a:rPr sz="28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difusos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Support</a:t>
            </a:r>
            <a:r>
              <a:rPr sz="28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Vector</a:t>
            </a:r>
            <a:r>
              <a:rPr sz="28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Machine</a:t>
            </a:r>
            <a:r>
              <a:rPr lang="es-PE"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8650" y="228600"/>
            <a:ext cx="7886700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95"/>
              </a:spcBef>
            </a:pPr>
            <a:r>
              <a:rPr sz="3600" dirty="0"/>
              <a:t>Evaluación</a:t>
            </a:r>
            <a:r>
              <a:rPr sz="3600" spc="-75" dirty="0"/>
              <a:t> </a:t>
            </a:r>
            <a:r>
              <a:rPr sz="3600" dirty="0"/>
              <a:t>y</a:t>
            </a:r>
            <a:r>
              <a:rPr sz="3600" spc="-70" dirty="0"/>
              <a:t> </a:t>
            </a:r>
            <a:r>
              <a:rPr sz="3600" dirty="0"/>
              <a:t>comparación</a:t>
            </a:r>
            <a:r>
              <a:rPr sz="3600" spc="-60" dirty="0"/>
              <a:t> </a:t>
            </a:r>
            <a:r>
              <a:rPr sz="3600" dirty="0"/>
              <a:t>de</a:t>
            </a:r>
            <a:r>
              <a:rPr sz="3600" spc="-60" dirty="0"/>
              <a:t> </a:t>
            </a:r>
            <a:r>
              <a:rPr sz="3600" dirty="0"/>
              <a:t>métodos</a:t>
            </a:r>
            <a:r>
              <a:rPr sz="3600" spc="-65" dirty="0"/>
              <a:t> </a:t>
            </a:r>
            <a:r>
              <a:rPr sz="3600" spc="-25" dirty="0"/>
              <a:t>de</a:t>
            </a:r>
          </a:p>
          <a:p>
            <a:pPr marR="5080" algn="ctr">
              <a:lnSpc>
                <a:spcPct val="100000"/>
              </a:lnSpc>
            </a:pPr>
            <a:r>
              <a:rPr sz="3600" spc="-10" dirty="0"/>
              <a:t>clasificación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5081" y="1564463"/>
            <a:ext cx="7074534" cy="479425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30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Exactitud</a:t>
            </a:r>
            <a:r>
              <a:rPr sz="2000" spc="-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predicción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ts val="2055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Habilidad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predecir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correctamente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de</a:t>
            </a:r>
            <a:endParaRPr sz="1800" dirty="0">
              <a:latin typeface="Microsoft Sans Serif"/>
              <a:cs typeface="Microsoft Sans Serif"/>
            </a:endParaRPr>
          </a:p>
          <a:p>
            <a:pPr marL="755015">
              <a:lnSpc>
                <a:spcPts val="2055"/>
              </a:lnSpc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nuevos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45"/>
              </a:spcBef>
              <a:buChar char="•"/>
              <a:tabLst>
                <a:tab pos="353695" algn="l"/>
              </a:tabLst>
            </a:pP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Velocidad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Tiempo</a:t>
            </a:r>
            <a:r>
              <a:rPr sz="1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construir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endParaRPr sz="1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0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Tiempo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usar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45"/>
              </a:spcBef>
              <a:buChar char="•"/>
              <a:tabLst>
                <a:tab pos="353695" algn="l"/>
              </a:tabLst>
            </a:pP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Robustez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Manejo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valores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faltantes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ruido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(predicciones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correctas)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59"/>
              </a:spcBef>
              <a:buChar char="•"/>
              <a:tabLst>
                <a:tab pos="353695" algn="l"/>
              </a:tabLst>
            </a:pP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Escalabilidad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80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Eficiencia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grandes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bases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59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Facilidad</a:t>
            </a:r>
            <a:r>
              <a:rPr sz="20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-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interpretación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Nivel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entendimiento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provisto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45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Forma</a:t>
            </a:r>
            <a:r>
              <a:rPr sz="20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las</a:t>
            </a:r>
            <a:r>
              <a:rPr sz="2000" spc="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reglas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Tamaño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decisión</a:t>
            </a:r>
            <a:endParaRPr sz="1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0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Qué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tan compactas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son las reglas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2859" y="378908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Clasificación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814209" y="1447800"/>
            <a:ext cx="7675350" cy="435133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59"/>
              </a:spcBef>
              <a:buChar char="•"/>
              <a:tabLst>
                <a:tab pos="353695" algn="l"/>
              </a:tabLst>
            </a:pPr>
            <a:r>
              <a:rPr spc="-10" dirty="0"/>
              <a:t>Concepto</a:t>
            </a:r>
          </a:p>
          <a:p>
            <a:pPr marL="755015" lvl="1" indent="-285115">
              <a:lnSpc>
                <a:spcPct val="100000"/>
              </a:lnSpc>
              <a:spcBef>
                <a:spcPts val="36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7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Predicción</a:t>
            </a:r>
            <a:endParaRPr sz="2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Evaluación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dirty="0">
                <a:solidFill>
                  <a:srgbClr val="CCCC00"/>
                </a:solidFill>
              </a:rPr>
              <a:t>Árboles</a:t>
            </a:r>
            <a:r>
              <a:rPr spc="-40" dirty="0">
                <a:solidFill>
                  <a:srgbClr val="CCCC00"/>
                </a:solidFill>
              </a:rPr>
              <a:t> </a:t>
            </a:r>
            <a:r>
              <a:rPr dirty="0">
                <a:solidFill>
                  <a:srgbClr val="CCCC00"/>
                </a:solidFill>
              </a:rPr>
              <a:t>de</a:t>
            </a:r>
            <a:r>
              <a:rPr spc="-25" dirty="0">
                <a:solidFill>
                  <a:srgbClr val="CCCC00"/>
                </a:solidFill>
              </a:rPr>
              <a:t> </a:t>
            </a:r>
            <a:r>
              <a:rPr spc="-10" dirty="0">
                <a:solidFill>
                  <a:srgbClr val="CCCC00"/>
                </a:solidFill>
              </a:rPr>
              <a:t>Decisión</a:t>
            </a:r>
          </a:p>
          <a:p>
            <a:pPr marL="755015" lvl="1" indent="-285115">
              <a:lnSpc>
                <a:spcPct val="100000"/>
              </a:lnSpc>
              <a:spcBef>
                <a:spcPts val="37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Construcción</a:t>
            </a:r>
            <a:endParaRPr sz="2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Uso</a:t>
            </a:r>
            <a:endParaRPr sz="2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Poda</a:t>
            </a:r>
            <a:endParaRPr sz="2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dirty="0"/>
              <a:t>Clasificador</a:t>
            </a:r>
            <a:r>
              <a:rPr spc="-130" dirty="0"/>
              <a:t> </a:t>
            </a:r>
            <a:r>
              <a:rPr spc="-10" dirty="0"/>
              <a:t>Bayesiano</a:t>
            </a:r>
          </a:p>
          <a:p>
            <a:pPr marL="353695" indent="-340995">
              <a:lnSpc>
                <a:spcPct val="100000"/>
              </a:lnSpc>
              <a:spcBef>
                <a:spcPts val="359"/>
              </a:spcBef>
              <a:buChar char="•"/>
              <a:tabLst>
                <a:tab pos="353695" algn="l"/>
              </a:tabLst>
            </a:pPr>
            <a:r>
              <a:rPr spc="-10" dirty="0"/>
              <a:t>Ejemplos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5937" y="272694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Árboles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/>
              <a:t>Decisión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1475" y="1500854"/>
            <a:ext cx="7566025" cy="241744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decisión consta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de:</a:t>
            </a:r>
            <a:endParaRPr sz="2000">
              <a:latin typeface="Microsoft Sans Serif"/>
              <a:cs typeface="Microsoft Sans Serif"/>
            </a:endParaRPr>
          </a:p>
          <a:p>
            <a:pPr marL="352425" indent="-339725">
              <a:lnSpc>
                <a:spcPct val="100000"/>
              </a:lnSpc>
              <a:spcBef>
                <a:spcPts val="509"/>
              </a:spcBef>
              <a:buChar char="-"/>
              <a:tabLst>
                <a:tab pos="35242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nodos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internos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 denotan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(comprobación)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sobre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endParaRPr sz="2000">
              <a:latin typeface="Microsoft Sans Serif"/>
              <a:cs typeface="Microsoft Sans Serif"/>
            </a:endParaRPr>
          </a:p>
          <a:p>
            <a:pPr marL="352425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endParaRPr sz="2000">
              <a:latin typeface="Microsoft Sans Serif"/>
              <a:cs typeface="Microsoft Sans Serif"/>
            </a:endParaRPr>
          </a:p>
          <a:p>
            <a:pPr marL="352425" indent="-339725">
              <a:lnSpc>
                <a:spcPct val="100000"/>
              </a:lnSpc>
              <a:spcBef>
                <a:spcPts val="490"/>
              </a:spcBef>
              <a:buChar char="-"/>
              <a:tabLst>
                <a:tab pos="35242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Ramas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 representan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 salida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endParaRPr sz="2000">
              <a:latin typeface="Microsoft Sans Serif"/>
              <a:cs typeface="Microsoft Sans Serif"/>
            </a:endParaRPr>
          </a:p>
          <a:p>
            <a:pPr marL="468630">
              <a:lnSpc>
                <a:spcPct val="100000"/>
              </a:lnSpc>
              <a:spcBef>
                <a:spcPts val="515"/>
              </a:spcBef>
              <a:tabLst>
                <a:tab pos="753110" algn="l"/>
              </a:tabLst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Todas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tuplas en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tienen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mismo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endParaRPr sz="1800">
              <a:latin typeface="Microsoft Sans Serif"/>
              <a:cs typeface="Microsoft Sans Serif"/>
            </a:endParaRPr>
          </a:p>
          <a:p>
            <a:pPr marL="75311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evaluado</a:t>
            </a:r>
            <a:endParaRPr sz="1800">
              <a:latin typeface="Microsoft Sans Serif"/>
              <a:cs typeface="Microsoft Sans Serif"/>
            </a:endParaRPr>
          </a:p>
          <a:p>
            <a:pPr marL="352425" indent="-339725">
              <a:lnSpc>
                <a:spcPct val="100000"/>
              </a:lnSpc>
              <a:spcBef>
                <a:spcPts val="495"/>
              </a:spcBef>
              <a:buChar char="-"/>
              <a:tabLst>
                <a:tab pos="35242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Nodos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hojas que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representan</a:t>
            </a:r>
            <a:r>
              <a:rPr sz="20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4419663"/>
            <a:ext cx="4389374" cy="16175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185366"/>
            <a:ext cx="7886700" cy="843127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b="1" spc="-10" dirty="0"/>
              <a:t>Ejemplo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728912" y="1366837"/>
            <a:ext cx="1758950" cy="1014730"/>
            <a:chOff x="2728912" y="1366837"/>
            <a:chExt cx="1758950" cy="1014730"/>
          </a:xfrm>
        </p:grpSpPr>
        <p:sp>
          <p:nvSpPr>
            <p:cNvPr id="5" name="object 5"/>
            <p:cNvSpPr/>
            <p:nvPr/>
          </p:nvSpPr>
          <p:spPr>
            <a:xfrm>
              <a:off x="2733675" y="1371600"/>
              <a:ext cx="1749425" cy="1005205"/>
            </a:xfrm>
            <a:custGeom>
              <a:avLst/>
              <a:gdLst/>
              <a:ahLst/>
              <a:cxnLst/>
              <a:rect l="l" t="t" r="r" b="b"/>
              <a:pathLst>
                <a:path w="1749425" h="1005205">
                  <a:moveTo>
                    <a:pt x="874776" y="0"/>
                  </a:moveTo>
                  <a:lnTo>
                    <a:pt x="814885" y="1158"/>
                  </a:lnTo>
                  <a:lnTo>
                    <a:pt x="756077" y="4586"/>
                  </a:lnTo>
                  <a:lnTo>
                    <a:pt x="698483" y="10206"/>
                  </a:lnTo>
                  <a:lnTo>
                    <a:pt x="642231" y="17945"/>
                  </a:lnTo>
                  <a:lnTo>
                    <a:pt x="587454" y="27727"/>
                  </a:lnTo>
                  <a:lnTo>
                    <a:pt x="534281" y="39479"/>
                  </a:lnTo>
                  <a:lnTo>
                    <a:pt x="482841" y="53124"/>
                  </a:lnTo>
                  <a:lnTo>
                    <a:pt x="433267" y="68589"/>
                  </a:lnTo>
                  <a:lnTo>
                    <a:pt x="385688" y="85798"/>
                  </a:lnTo>
                  <a:lnTo>
                    <a:pt x="340233" y="104677"/>
                  </a:lnTo>
                  <a:lnTo>
                    <a:pt x="297035" y="125151"/>
                  </a:lnTo>
                  <a:lnTo>
                    <a:pt x="256222" y="147145"/>
                  </a:lnTo>
                  <a:lnTo>
                    <a:pt x="217925" y="170584"/>
                  </a:lnTo>
                  <a:lnTo>
                    <a:pt x="182275" y="195394"/>
                  </a:lnTo>
                  <a:lnTo>
                    <a:pt x="149402" y="221499"/>
                  </a:lnTo>
                  <a:lnTo>
                    <a:pt x="119436" y="248825"/>
                  </a:lnTo>
                  <a:lnTo>
                    <a:pt x="92507" y="277298"/>
                  </a:lnTo>
                  <a:lnTo>
                    <a:pt x="48283" y="337382"/>
                  </a:lnTo>
                  <a:lnTo>
                    <a:pt x="17773" y="401152"/>
                  </a:lnTo>
                  <a:lnTo>
                    <a:pt x="2018" y="468011"/>
                  </a:lnTo>
                  <a:lnTo>
                    <a:pt x="0" y="502412"/>
                  </a:lnTo>
                  <a:lnTo>
                    <a:pt x="2018" y="536813"/>
                  </a:lnTo>
                  <a:lnTo>
                    <a:pt x="17773" y="603676"/>
                  </a:lnTo>
                  <a:lnTo>
                    <a:pt x="48283" y="667456"/>
                  </a:lnTo>
                  <a:lnTo>
                    <a:pt x="92507" y="727551"/>
                  </a:lnTo>
                  <a:lnTo>
                    <a:pt x="119436" y="756030"/>
                  </a:lnTo>
                  <a:lnTo>
                    <a:pt x="149402" y="783364"/>
                  </a:lnTo>
                  <a:lnTo>
                    <a:pt x="182275" y="809477"/>
                  </a:lnTo>
                  <a:lnTo>
                    <a:pt x="217925" y="834294"/>
                  </a:lnTo>
                  <a:lnTo>
                    <a:pt x="256222" y="857742"/>
                  </a:lnTo>
                  <a:lnTo>
                    <a:pt x="297035" y="879743"/>
                  </a:lnTo>
                  <a:lnTo>
                    <a:pt x="340233" y="900225"/>
                  </a:lnTo>
                  <a:lnTo>
                    <a:pt x="385688" y="919112"/>
                  </a:lnTo>
                  <a:lnTo>
                    <a:pt x="433267" y="936328"/>
                  </a:lnTo>
                  <a:lnTo>
                    <a:pt x="482841" y="951800"/>
                  </a:lnTo>
                  <a:lnTo>
                    <a:pt x="534281" y="965452"/>
                  </a:lnTo>
                  <a:lnTo>
                    <a:pt x="587454" y="977209"/>
                  </a:lnTo>
                  <a:lnTo>
                    <a:pt x="642231" y="986996"/>
                  </a:lnTo>
                  <a:lnTo>
                    <a:pt x="698483" y="994739"/>
                  </a:lnTo>
                  <a:lnTo>
                    <a:pt x="756077" y="1000362"/>
                  </a:lnTo>
                  <a:lnTo>
                    <a:pt x="814885" y="1003791"/>
                  </a:lnTo>
                  <a:lnTo>
                    <a:pt x="874776" y="1004951"/>
                  </a:lnTo>
                  <a:lnTo>
                    <a:pt x="934651" y="1003791"/>
                  </a:lnTo>
                  <a:lnTo>
                    <a:pt x="993445" y="1000362"/>
                  </a:lnTo>
                  <a:lnTo>
                    <a:pt x="1051026" y="994739"/>
                  </a:lnTo>
                  <a:lnTo>
                    <a:pt x="1107266" y="986996"/>
                  </a:lnTo>
                  <a:lnTo>
                    <a:pt x="1162033" y="977209"/>
                  </a:lnTo>
                  <a:lnTo>
                    <a:pt x="1215197" y="965452"/>
                  </a:lnTo>
                  <a:lnTo>
                    <a:pt x="1266628" y="951800"/>
                  </a:lnTo>
                  <a:lnTo>
                    <a:pt x="1316195" y="936328"/>
                  </a:lnTo>
                  <a:lnTo>
                    <a:pt x="1363767" y="919112"/>
                  </a:lnTo>
                  <a:lnTo>
                    <a:pt x="1409216" y="900225"/>
                  </a:lnTo>
                  <a:lnTo>
                    <a:pt x="1452409" y="879743"/>
                  </a:lnTo>
                  <a:lnTo>
                    <a:pt x="1493218" y="857742"/>
                  </a:lnTo>
                  <a:lnTo>
                    <a:pt x="1531511" y="834294"/>
                  </a:lnTo>
                  <a:lnTo>
                    <a:pt x="1567158" y="809477"/>
                  </a:lnTo>
                  <a:lnTo>
                    <a:pt x="1600029" y="783364"/>
                  </a:lnTo>
                  <a:lnTo>
                    <a:pt x="1629993" y="756030"/>
                  </a:lnTo>
                  <a:lnTo>
                    <a:pt x="1656920" y="727551"/>
                  </a:lnTo>
                  <a:lnTo>
                    <a:pt x="1701142" y="667456"/>
                  </a:lnTo>
                  <a:lnTo>
                    <a:pt x="1731652" y="603676"/>
                  </a:lnTo>
                  <a:lnTo>
                    <a:pt x="1747406" y="536813"/>
                  </a:lnTo>
                  <a:lnTo>
                    <a:pt x="1749425" y="502412"/>
                  </a:lnTo>
                  <a:lnTo>
                    <a:pt x="1747406" y="468011"/>
                  </a:lnTo>
                  <a:lnTo>
                    <a:pt x="1731652" y="401152"/>
                  </a:lnTo>
                  <a:lnTo>
                    <a:pt x="1701142" y="337382"/>
                  </a:lnTo>
                  <a:lnTo>
                    <a:pt x="1656920" y="277298"/>
                  </a:lnTo>
                  <a:lnTo>
                    <a:pt x="1629993" y="248825"/>
                  </a:lnTo>
                  <a:lnTo>
                    <a:pt x="1600029" y="221499"/>
                  </a:lnTo>
                  <a:lnTo>
                    <a:pt x="1567158" y="195394"/>
                  </a:lnTo>
                  <a:lnTo>
                    <a:pt x="1531511" y="170584"/>
                  </a:lnTo>
                  <a:lnTo>
                    <a:pt x="1493218" y="147145"/>
                  </a:lnTo>
                  <a:lnTo>
                    <a:pt x="1452409" y="125151"/>
                  </a:lnTo>
                  <a:lnTo>
                    <a:pt x="1409216" y="104677"/>
                  </a:lnTo>
                  <a:lnTo>
                    <a:pt x="1363767" y="85798"/>
                  </a:lnTo>
                  <a:lnTo>
                    <a:pt x="1316195" y="68589"/>
                  </a:lnTo>
                  <a:lnTo>
                    <a:pt x="1266628" y="53124"/>
                  </a:lnTo>
                  <a:lnTo>
                    <a:pt x="1215197" y="39479"/>
                  </a:lnTo>
                  <a:lnTo>
                    <a:pt x="1162033" y="27727"/>
                  </a:lnTo>
                  <a:lnTo>
                    <a:pt x="1107266" y="17945"/>
                  </a:lnTo>
                  <a:lnTo>
                    <a:pt x="1051026" y="10206"/>
                  </a:lnTo>
                  <a:lnTo>
                    <a:pt x="993445" y="4586"/>
                  </a:lnTo>
                  <a:lnTo>
                    <a:pt x="934651" y="1158"/>
                  </a:lnTo>
                  <a:lnTo>
                    <a:pt x="874776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33675" y="1371600"/>
              <a:ext cx="1749425" cy="1005205"/>
            </a:xfrm>
            <a:custGeom>
              <a:avLst/>
              <a:gdLst/>
              <a:ahLst/>
              <a:cxnLst/>
              <a:rect l="l" t="t" r="r" b="b"/>
              <a:pathLst>
                <a:path w="1749425" h="1005205">
                  <a:moveTo>
                    <a:pt x="0" y="502412"/>
                  </a:moveTo>
                  <a:lnTo>
                    <a:pt x="7986" y="434233"/>
                  </a:lnTo>
                  <a:lnTo>
                    <a:pt x="31249" y="368843"/>
                  </a:lnTo>
                  <a:lnTo>
                    <a:pt x="68746" y="306841"/>
                  </a:lnTo>
                  <a:lnTo>
                    <a:pt x="119436" y="248825"/>
                  </a:lnTo>
                  <a:lnTo>
                    <a:pt x="149402" y="221499"/>
                  </a:lnTo>
                  <a:lnTo>
                    <a:pt x="182275" y="195394"/>
                  </a:lnTo>
                  <a:lnTo>
                    <a:pt x="217925" y="170584"/>
                  </a:lnTo>
                  <a:lnTo>
                    <a:pt x="256222" y="147145"/>
                  </a:lnTo>
                  <a:lnTo>
                    <a:pt x="297035" y="125151"/>
                  </a:lnTo>
                  <a:lnTo>
                    <a:pt x="340233" y="104677"/>
                  </a:lnTo>
                  <a:lnTo>
                    <a:pt x="385688" y="85798"/>
                  </a:lnTo>
                  <a:lnTo>
                    <a:pt x="433267" y="68589"/>
                  </a:lnTo>
                  <a:lnTo>
                    <a:pt x="482841" y="53124"/>
                  </a:lnTo>
                  <a:lnTo>
                    <a:pt x="534281" y="39479"/>
                  </a:lnTo>
                  <a:lnTo>
                    <a:pt x="587454" y="27727"/>
                  </a:lnTo>
                  <a:lnTo>
                    <a:pt x="642231" y="17945"/>
                  </a:lnTo>
                  <a:lnTo>
                    <a:pt x="698483" y="10206"/>
                  </a:lnTo>
                  <a:lnTo>
                    <a:pt x="756077" y="4586"/>
                  </a:lnTo>
                  <a:lnTo>
                    <a:pt x="814885" y="1158"/>
                  </a:lnTo>
                  <a:lnTo>
                    <a:pt x="874776" y="0"/>
                  </a:lnTo>
                  <a:lnTo>
                    <a:pt x="934651" y="1158"/>
                  </a:lnTo>
                  <a:lnTo>
                    <a:pt x="993445" y="4586"/>
                  </a:lnTo>
                  <a:lnTo>
                    <a:pt x="1051026" y="10206"/>
                  </a:lnTo>
                  <a:lnTo>
                    <a:pt x="1107266" y="17945"/>
                  </a:lnTo>
                  <a:lnTo>
                    <a:pt x="1162033" y="27727"/>
                  </a:lnTo>
                  <a:lnTo>
                    <a:pt x="1215197" y="39479"/>
                  </a:lnTo>
                  <a:lnTo>
                    <a:pt x="1266628" y="53124"/>
                  </a:lnTo>
                  <a:lnTo>
                    <a:pt x="1316195" y="68589"/>
                  </a:lnTo>
                  <a:lnTo>
                    <a:pt x="1363767" y="85798"/>
                  </a:lnTo>
                  <a:lnTo>
                    <a:pt x="1409216" y="104677"/>
                  </a:lnTo>
                  <a:lnTo>
                    <a:pt x="1452409" y="125151"/>
                  </a:lnTo>
                  <a:lnTo>
                    <a:pt x="1493218" y="147145"/>
                  </a:lnTo>
                  <a:lnTo>
                    <a:pt x="1531511" y="170584"/>
                  </a:lnTo>
                  <a:lnTo>
                    <a:pt x="1567158" y="195394"/>
                  </a:lnTo>
                  <a:lnTo>
                    <a:pt x="1600029" y="221499"/>
                  </a:lnTo>
                  <a:lnTo>
                    <a:pt x="1629993" y="248825"/>
                  </a:lnTo>
                  <a:lnTo>
                    <a:pt x="1656920" y="277298"/>
                  </a:lnTo>
                  <a:lnTo>
                    <a:pt x="1701142" y="337382"/>
                  </a:lnTo>
                  <a:lnTo>
                    <a:pt x="1731652" y="401152"/>
                  </a:lnTo>
                  <a:lnTo>
                    <a:pt x="1747406" y="468011"/>
                  </a:lnTo>
                  <a:lnTo>
                    <a:pt x="1749425" y="502412"/>
                  </a:lnTo>
                  <a:lnTo>
                    <a:pt x="1747406" y="536813"/>
                  </a:lnTo>
                  <a:lnTo>
                    <a:pt x="1741439" y="570593"/>
                  </a:lnTo>
                  <a:lnTo>
                    <a:pt x="1718176" y="635989"/>
                  </a:lnTo>
                  <a:lnTo>
                    <a:pt x="1680680" y="698001"/>
                  </a:lnTo>
                  <a:lnTo>
                    <a:pt x="1629993" y="756030"/>
                  </a:lnTo>
                  <a:lnTo>
                    <a:pt x="1600029" y="783364"/>
                  </a:lnTo>
                  <a:lnTo>
                    <a:pt x="1567158" y="809477"/>
                  </a:lnTo>
                  <a:lnTo>
                    <a:pt x="1531511" y="834294"/>
                  </a:lnTo>
                  <a:lnTo>
                    <a:pt x="1493218" y="857742"/>
                  </a:lnTo>
                  <a:lnTo>
                    <a:pt x="1452409" y="879743"/>
                  </a:lnTo>
                  <a:lnTo>
                    <a:pt x="1409216" y="900225"/>
                  </a:lnTo>
                  <a:lnTo>
                    <a:pt x="1363767" y="919112"/>
                  </a:lnTo>
                  <a:lnTo>
                    <a:pt x="1316195" y="936328"/>
                  </a:lnTo>
                  <a:lnTo>
                    <a:pt x="1266628" y="951800"/>
                  </a:lnTo>
                  <a:lnTo>
                    <a:pt x="1215197" y="965452"/>
                  </a:lnTo>
                  <a:lnTo>
                    <a:pt x="1162033" y="977209"/>
                  </a:lnTo>
                  <a:lnTo>
                    <a:pt x="1107266" y="986996"/>
                  </a:lnTo>
                  <a:lnTo>
                    <a:pt x="1051026" y="994739"/>
                  </a:lnTo>
                  <a:lnTo>
                    <a:pt x="993445" y="1000362"/>
                  </a:lnTo>
                  <a:lnTo>
                    <a:pt x="934651" y="1003791"/>
                  </a:lnTo>
                  <a:lnTo>
                    <a:pt x="874776" y="1004951"/>
                  </a:lnTo>
                  <a:lnTo>
                    <a:pt x="814885" y="1003791"/>
                  </a:lnTo>
                  <a:lnTo>
                    <a:pt x="756077" y="1000362"/>
                  </a:lnTo>
                  <a:lnTo>
                    <a:pt x="698483" y="994739"/>
                  </a:lnTo>
                  <a:lnTo>
                    <a:pt x="642231" y="986996"/>
                  </a:lnTo>
                  <a:lnTo>
                    <a:pt x="587454" y="977209"/>
                  </a:lnTo>
                  <a:lnTo>
                    <a:pt x="534281" y="965452"/>
                  </a:lnTo>
                  <a:lnTo>
                    <a:pt x="482841" y="951800"/>
                  </a:lnTo>
                  <a:lnTo>
                    <a:pt x="433267" y="936328"/>
                  </a:lnTo>
                  <a:lnTo>
                    <a:pt x="385688" y="919112"/>
                  </a:lnTo>
                  <a:lnTo>
                    <a:pt x="340233" y="900225"/>
                  </a:lnTo>
                  <a:lnTo>
                    <a:pt x="297035" y="879743"/>
                  </a:lnTo>
                  <a:lnTo>
                    <a:pt x="256222" y="857742"/>
                  </a:lnTo>
                  <a:lnTo>
                    <a:pt x="217925" y="834294"/>
                  </a:lnTo>
                  <a:lnTo>
                    <a:pt x="182275" y="809477"/>
                  </a:lnTo>
                  <a:lnTo>
                    <a:pt x="149402" y="783364"/>
                  </a:lnTo>
                  <a:lnTo>
                    <a:pt x="119436" y="756030"/>
                  </a:lnTo>
                  <a:lnTo>
                    <a:pt x="92507" y="727551"/>
                  </a:lnTo>
                  <a:lnTo>
                    <a:pt x="48283" y="667456"/>
                  </a:lnTo>
                  <a:lnTo>
                    <a:pt x="17773" y="603676"/>
                  </a:lnTo>
                  <a:lnTo>
                    <a:pt x="2018" y="536813"/>
                  </a:lnTo>
                  <a:lnTo>
                    <a:pt x="0" y="502412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99969" y="1585976"/>
            <a:ext cx="16173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635"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El</a:t>
            </a:r>
            <a:r>
              <a:rPr sz="1600" spc="-2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paciente 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se</a:t>
            </a:r>
            <a:r>
              <a:rPr sz="1600" spc="-6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siente</a:t>
            </a:r>
            <a:r>
              <a:rPr sz="1600" spc="-4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chemeClr val="bg1"/>
                </a:solidFill>
                <a:latin typeface="Verdana"/>
                <a:cs typeface="Verdana"/>
              </a:rPr>
              <a:t>bien</a:t>
            </a:r>
            <a:endParaRPr sz="1600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73663" y="2574988"/>
            <a:ext cx="1758950" cy="1014730"/>
            <a:chOff x="4673663" y="2574988"/>
            <a:chExt cx="1758950" cy="1014730"/>
          </a:xfrm>
        </p:grpSpPr>
        <p:sp>
          <p:nvSpPr>
            <p:cNvPr id="9" name="object 9"/>
            <p:cNvSpPr/>
            <p:nvPr/>
          </p:nvSpPr>
          <p:spPr>
            <a:xfrm>
              <a:off x="4678426" y="2579751"/>
              <a:ext cx="1749425" cy="1005205"/>
            </a:xfrm>
            <a:custGeom>
              <a:avLst/>
              <a:gdLst/>
              <a:ahLst/>
              <a:cxnLst/>
              <a:rect l="l" t="t" r="r" b="b"/>
              <a:pathLst>
                <a:path w="1749425" h="1005204">
                  <a:moveTo>
                    <a:pt x="874649" y="0"/>
                  </a:moveTo>
                  <a:lnTo>
                    <a:pt x="814759" y="1158"/>
                  </a:lnTo>
                  <a:lnTo>
                    <a:pt x="755953" y="4586"/>
                  </a:lnTo>
                  <a:lnTo>
                    <a:pt x="698361" y="10206"/>
                  </a:lnTo>
                  <a:lnTo>
                    <a:pt x="642114" y="17945"/>
                  </a:lnTo>
                  <a:lnTo>
                    <a:pt x="587341" y="27727"/>
                  </a:lnTo>
                  <a:lnTo>
                    <a:pt x="534173" y="39479"/>
                  </a:lnTo>
                  <a:lnTo>
                    <a:pt x="482741" y="53124"/>
                  </a:lnTo>
                  <a:lnTo>
                    <a:pt x="433173" y="68589"/>
                  </a:lnTo>
                  <a:lnTo>
                    <a:pt x="385601" y="85798"/>
                  </a:lnTo>
                  <a:lnTo>
                    <a:pt x="340154" y="104677"/>
                  </a:lnTo>
                  <a:lnTo>
                    <a:pt x="296963" y="125151"/>
                  </a:lnTo>
                  <a:lnTo>
                    <a:pt x="256159" y="147145"/>
                  </a:lnTo>
                  <a:lnTo>
                    <a:pt x="217870" y="170584"/>
                  </a:lnTo>
                  <a:lnTo>
                    <a:pt x="182228" y="195394"/>
                  </a:lnTo>
                  <a:lnTo>
                    <a:pt x="149362" y="221499"/>
                  </a:lnTo>
                  <a:lnTo>
                    <a:pt x="119403" y="248825"/>
                  </a:lnTo>
                  <a:lnTo>
                    <a:pt x="92481" y="277298"/>
                  </a:lnTo>
                  <a:lnTo>
                    <a:pt x="48269" y="337382"/>
                  </a:lnTo>
                  <a:lnTo>
                    <a:pt x="17767" y="401152"/>
                  </a:lnTo>
                  <a:lnTo>
                    <a:pt x="2017" y="468011"/>
                  </a:lnTo>
                  <a:lnTo>
                    <a:pt x="0" y="502412"/>
                  </a:lnTo>
                  <a:lnTo>
                    <a:pt x="2017" y="536812"/>
                  </a:lnTo>
                  <a:lnTo>
                    <a:pt x="17767" y="603671"/>
                  </a:lnTo>
                  <a:lnTo>
                    <a:pt x="48269" y="667441"/>
                  </a:lnTo>
                  <a:lnTo>
                    <a:pt x="92481" y="727525"/>
                  </a:lnTo>
                  <a:lnTo>
                    <a:pt x="119403" y="755998"/>
                  </a:lnTo>
                  <a:lnTo>
                    <a:pt x="149362" y="783324"/>
                  </a:lnTo>
                  <a:lnTo>
                    <a:pt x="182228" y="809429"/>
                  </a:lnTo>
                  <a:lnTo>
                    <a:pt x="217870" y="834239"/>
                  </a:lnTo>
                  <a:lnTo>
                    <a:pt x="256159" y="857678"/>
                  </a:lnTo>
                  <a:lnTo>
                    <a:pt x="296963" y="879672"/>
                  </a:lnTo>
                  <a:lnTo>
                    <a:pt x="340154" y="900146"/>
                  </a:lnTo>
                  <a:lnTo>
                    <a:pt x="385601" y="919025"/>
                  </a:lnTo>
                  <a:lnTo>
                    <a:pt x="433173" y="936234"/>
                  </a:lnTo>
                  <a:lnTo>
                    <a:pt x="482741" y="951699"/>
                  </a:lnTo>
                  <a:lnTo>
                    <a:pt x="534173" y="965344"/>
                  </a:lnTo>
                  <a:lnTo>
                    <a:pt x="587341" y="977096"/>
                  </a:lnTo>
                  <a:lnTo>
                    <a:pt x="642114" y="986878"/>
                  </a:lnTo>
                  <a:lnTo>
                    <a:pt x="698361" y="994617"/>
                  </a:lnTo>
                  <a:lnTo>
                    <a:pt x="755953" y="1000237"/>
                  </a:lnTo>
                  <a:lnTo>
                    <a:pt x="814759" y="1003665"/>
                  </a:lnTo>
                  <a:lnTo>
                    <a:pt x="874649" y="1004824"/>
                  </a:lnTo>
                  <a:lnTo>
                    <a:pt x="934539" y="1003665"/>
                  </a:lnTo>
                  <a:lnTo>
                    <a:pt x="993347" y="1000237"/>
                  </a:lnTo>
                  <a:lnTo>
                    <a:pt x="1050941" y="994617"/>
                  </a:lnTo>
                  <a:lnTo>
                    <a:pt x="1107193" y="986878"/>
                  </a:lnTo>
                  <a:lnTo>
                    <a:pt x="1161970" y="977096"/>
                  </a:lnTo>
                  <a:lnTo>
                    <a:pt x="1215143" y="965344"/>
                  </a:lnTo>
                  <a:lnTo>
                    <a:pt x="1266583" y="951699"/>
                  </a:lnTo>
                  <a:lnTo>
                    <a:pt x="1316157" y="936234"/>
                  </a:lnTo>
                  <a:lnTo>
                    <a:pt x="1363736" y="919025"/>
                  </a:lnTo>
                  <a:lnTo>
                    <a:pt x="1409191" y="900146"/>
                  </a:lnTo>
                  <a:lnTo>
                    <a:pt x="1452389" y="879672"/>
                  </a:lnTo>
                  <a:lnTo>
                    <a:pt x="1493202" y="857678"/>
                  </a:lnTo>
                  <a:lnTo>
                    <a:pt x="1531499" y="834239"/>
                  </a:lnTo>
                  <a:lnTo>
                    <a:pt x="1567149" y="809429"/>
                  </a:lnTo>
                  <a:lnTo>
                    <a:pt x="1600022" y="783324"/>
                  </a:lnTo>
                  <a:lnTo>
                    <a:pt x="1629988" y="755998"/>
                  </a:lnTo>
                  <a:lnTo>
                    <a:pt x="1656917" y="727525"/>
                  </a:lnTo>
                  <a:lnTo>
                    <a:pt x="1701141" y="667441"/>
                  </a:lnTo>
                  <a:lnTo>
                    <a:pt x="1731651" y="603671"/>
                  </a:lnTo>
                  <a:lnTo>
                    <a:pt x="1747406" y="536812"/>
                  </a:lnTo>
                  <a:lnTo>
                    <a:pt x="1749425" y="502412"/>
                  </a:lnTo>
                  <a:lnTo>
                    <a:pt x="1747406" y="468011"/>
                  </a:lnTo>
                  <a:lnTo>
                    <a:pt x="1731651" y="401152"/>
                  </a:lnTo>
                  <a:lnTo>
                    <a:pt x="1701141" y="337382"/>
                  </a:lnTo>
                  <a:lnTo>
                    <a:pt x="1656917" y="277298"/>
                  </a:lnTo>
                  <a:lnTo>
                    <a:pt x="1629988" y="248825"/>
                  </a:lnTo>
                  <a:lnTo>
                    <a:pt x="1600022" y="221499"/>
                  </a:lnTo>
                  <a:lnTo>
                    <a:pt x="1567149" y="195394"/>
                  </a:lnTo>
                  <a:lnTo>
                    <a:pt x="1531499" y="170584"/>
                  </a:lnTo>
                  <a:lnTo>
                    <a:pt x="1493202" y="147145"/>
                  </a:lnTo>
                  <a:lnTo>
                    <a:pt x="1452389" y="125151"/>
                  </a:lnTo>
                  <a:lnTo>
                    <a:pt x="1409191" y="104677"/>
                  </a:lnTo>
                  <a:lnTo>
                    <a:pt x="1363736" y="85798"/>
                  </a:lnTo>
                  <a:lnTo>
                    <a:pt x="1316157" y="68589"/>
                  </a:lnTo>
                  <a:lnTo>
                    <a:pt x="1266583" y="53124"/>
                  </a:lnTo>
                  <a:lnTo>
                    <a:pt x="1215143" y="39479"/>
                  </a:lnTo>
                  <a:lnTo>
                    <a:pt x="1161970" y="27727"/>
                  </a:lnTo>
                  <a:lnTo>
                    <a:pt x="1107193" y="17945"/>
                  </a:lnTo>
                  <a:lnTo>
                    <a:pt x="1050941" y="10206"/>
                  </a:lnTo>
                  <a:lnTo>
                    <a:pt x="993347" y="4586"/>
                  </a:lnTo>
                  <a:lnTo>
                    <a:pt x="934539" y="1158"/>
                  </a:lnTo>
                  <a:lnTo>
                    <a:pt x="87464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78426" y="2579751"/>
              <a:ext cx="1749425" cy="1005205"/>
            </a:xfrm>
            <a:custGeom>
              <a:avLst/>
              <a:gdLst/>
              <a:ahLst/>
              <a:cxnLst/>
              <a:rect l="l" t="t" r="r" b="b"/>
              <a:pathLst>
                <a:path w="1749425" h="1005204">
                  <a:moveTo>
                    <a:pt x="0" y="502412"/>
                  </a:moveTo>
                  <a:lnTo>
                    <a:pt x="7983" y="434233"/>
                  </a:lnTo>
                  <a:lnTo>
                    <a:pt x="31239" y="368843"/>
                  </a:lnTo>
                  <a:lnTo>
                    <a:pt x="68726" y="306841"/>
                  </a:lnTo>
                  <a:lnTo>
                    <a:pt x="119403" y="248825"/>
                  </a:lnTo>
                  <a:lnTo>
                    <a:pt x="149362" y="221499"/>
                  </a:lnTo>
                  <a:lnTo>
                    <a:pt x="182228" y="195394"/>
                  </a:lnTo>
                  <a:lnTo>
                    <a:pt x="217870" y="170584"/>
                  </a:lnTo>
                  <a:lnTo>
                    <a:pt x="256159" y="147145"/>
                  </a:lnTo>
                  <a:lnTo>
                    <a:pt x="296963" y="125151"/>
                  </a:lnTo>
                  <a:lnTo>
                    <a:pt x="340154" y="104677"/>
                  </a:lnTo>
                  <a:lnTo>
                    <a:pt x="385601" y="85798"/>
                  </a:lnTo>
                  <a:lnTo>
                    <a:pt x="433173" y="68589"/>
                  </a:lnTo>
                  <a:lnTo>
                    <a:pt x="482741" y="53124"/>
                  </a:lnTo>
                  <a:lnTo>
                    <a:pt x="534173" y="39479"/>
                  </a:lnTo>
                  <a:lnTo>
                    <a:pt x="587341" y="27727"/>
                  </a:lnTo>
                  <a:lnTo>
                    <a:pt x="642114" y="17945"/>
                  </a:lnTo>
                  <a:lnTo>
                    <a:pt x="698361" y="10206"/>
                  </a:lnTo>
                  <a:lnTo>
                    <a:pt x="755953" y="4586"/>
                  </a:lnTo>
                  <a:lnTo>
                    <a:pt x="814759" y="1158"/>
                  </a:lnTo>
                  <a:lnTo>
                    <a:pt x="874649" y="0"/>
                  </a:lnTo>
                  <a:lnTo>
                    <a:pt x="934539" y="1158"/>
                  </a:lnTo>
                  <a:lnTo>
                    <a:pt x="993347" y="4586"/>
                  </a:lnTo>
                  <a:lnTo>
                    <a:pt x="1050941" y="10206"/>
                  </a:lnTo>
                  <a:lnTo>
                    <a:pt x="1107193" y="17945"/>
                  </a:lnTo>
                  <a:lnTo>
                    <a:pt x="1161970" y="27727"/>
                  </a:lnTo>
                  <a:lnTo>
                    <a:pt x="1215143" y="39479"/>
                  </a:lnTo>
                  <a:lnTo>
                    <a:pt x="1266583" y="53124"/>
                  </a:lnTo>
                  <a:lnTo>
                    <a:pt x="1316157" y="68589"/>
                  </a:lnTo>
                  <a:lnTo>
                    <a:pt x="1363736" y="85798"/>
                  </a:lnTo>
                  <a:lnTo>
                    <a:pt x="1409191" y="104677"/>
                  </a:lnTo>
                  <a:lnTo>
                    <a:pt x="1452389" y="125151"/>
                  </a:lnTo>
                  <a:lnTo>
                    <a:pt x="1493202" y="147145"/>
                  </a:lnTo>
                  <a:lnTo>
                    <a:pt x="1531499" y="170584"/>
                  </a:lnTo>
                  <a:lnTo>
                    <a:pt x="1567149" y="195394"/>
                  </a:lnTo>
                  <a:lnTo>
                    <a:pt x="1600022" y="221499"/>
                  </a:lnTo>
                  <a:lnTo>
                    <a:pt x="1629988" y="248825"/>
                  </a:lnTo>
                  <a:lnTo>
                    <a:pt x="1656917" y="277298"/>
                  </a:lnTo>
                  <a:lnTo>
                    <a:pt x="1701141" y="337382"/>
                  </a:lnTo>
                  <a:lnTo>
                    <a:pt x="1731651" y="401152"/>
                  </a:lnTo>
                  <a:lnTo>
                    <a:pt x="1747406" y="468011"/>
                  </a:lnTo>
                  <a:lnTo>
                    <a:pt x="1749425" y="502412"/>
                  </a:lnTo>
                  <a:lnTo>
                    <a:pt x="1747406" y="536812"/>
                  </a:lnTo>
                  <a:lnTo>
                    <a:pt x="1741438" y="570590"/>
                  </a:lnTo>
                  <a:lnTo>
                    <a:pt x="1718175" y="635980"/>
                  </a:lnTo>
                  <a:lnTo>
                    <a:pt x="1680678" y="697982"/>
                  </a:lnTo>
                  <a:lnTo>
                    <a:pt x="1629988" y="755998"/>
                  </a:lnTo>
                  <a:lnTo>
                    <a:pt x="1600022" y="783324"/>
                  </a:lnTo>
                  <a:lnTo>
                    <a:pt x="1567149" y="809429"/>
                  </a:lnTo>
                  <a:lnTo>
                    <a:pt x="1531499" y="834239"/>
                  </a:lnTo>
                  <a:lnTo>
                    <a:pt x="1493202" y="857678"/>
                  </a:lnTo>
                  <a:lnTo>
                    <a:pt x="1452389" y="879672"/>
                  </a:lnTo>
                  <a:lnTo>
                    <a:pt x="1409191" y="900146"/>
                  </a:lnTo>
                  <a:lnTo>
                    <a:pt x="1363736" y="919025"/>
                  </a:lnTo>
                  <a:lnTo>
                    <a:pt x="1316157" y="936234"/>
                  </a:lnTo>
                  <a:lnTo>
                    <a:pt x="1266583" y="951699"/>
                  </a:lnTo>
                  <a:lnTo>
                    <a:pt x="1215143" y="965344"/>
                  </a:lnTo>
                  <a:lnTo>
                    <a:pt x="1161970" y="977096"/>
                  </a:lnTo>
                  <a:lnTo>
                    <a:pt x="1107193" y="986878"/>
                  </a:lnTo>
                  <a:lnTo>
                    <a:pt x="1050941" y="994617"/>
                  </a:lnTo>
                  <a:lnTo>
                    <a:pt x="993347" y="1000237"/>
                  </a:lnTo>
                  <a:lnTo>
                    <a:pt x="934539" y="1003665"/>
                  </a:lnTo>
                  <a:lnTo>
                    <a:pt x="874649" y="1004824"/>
                  </a:lnTo>
                  <a:lnTo>
                    <a:pt x="814759" y="1003665"/>
                  </a:lnTo>
                  <a:lnTo>
                    <a:pt x="755953" y="1000237"/>
                  </a:lnTo>
                  <a:lnTo>
                    <a:pt x="698361" y="994617"/>
                  </a:lnTo>
                  <a:lnTo>
                    <a:pt x="642114" y="986878"/>
                  </a:lnTo>
                  <a:lnTo>
                    <a:pt x="587341" y="977096"/>
                  </a:lnTo>
                  <a:lnTo>
                    <a:pt x="534173" y="965344"/>
                  </a:lnTo>
                  <a:lnTo>
                    <a:pt x="482741" y="951699"/>
                  </a:lnTo>
                  <a:lnTo>
                    <a:pt x="433173" y="936234"/>
                  </a:lnTo>
                  <a:lnTo>
                    <a:pt x="385601" y="919025"/>
                  </a:lnTo>
                  <a:lnTo>
                    <a:pt x="340154" y="900146"/>
                  </a:lnTo>
                  <a:lnTo>
                    <a:pt x="296963" y="879672"/>
                  </a:lnTo>
                  <a:lnTo>
                    <a:pt x="256159" y="857678"/>
                  </a:lnTo>
                  <a:lnTo>
                    <a:pt x="217870" y="834239"/>
                  </a:lnTo>
                  <a:lnTo>
                    <a:pt x="182228" y="809429"/>
                  </a:lnTo>
                  <a:lnTo>
                    <a:pt x="149362" y="783324"/>
                  </a:lnTo>
                  <a:lnTo>
                    <a:pt x="119403" y="755998"/>
                  </a:lnTo>
                  <a:lnTo>
                    <a:pt x="92481" y="727525"/>
                  </a:lnTo>
                  <a:lnTo>
                    <a:pt x="48269" y="667441"/>
                  </a:lnTo>
                  <a:lnTo>
                    <a:pt x="17767" y="603671"/>
                  </a:lnTo>
                  <a:lnTo>
                    <a:pt x="2017" y="536812"/>
                  </a:lnTo>
                  <a:lnTo>
                    <a:pt x="0" y="502412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72990" y="2794253"/>
            <a:ext cx="13087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marR="5080" indent="-53340"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El</a:t>
            </a:r>
            <a:r>
              <a:rPr sz="1600" spc="-2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paciente 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tiene</a:t>
            </a:r>
            <a:r>
              <a:rPr sz="1600" spc="-5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dolor</a:t>
            </a:r>
            <a:endParaRPr sz="1600">
              <a:solidFill>
                <a:schemeClr val="bg1"/>
              </a:solidFill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87738" y="3983037"/>
            <a:ext cx="1758950" cy="1014730"/>
            <a:chOff x="2987738" y="3983037"/>
            <a:chExt cx="1758950" cy="1014730"/>
          </a:xfrm>
        </p:grpSpPr>
        <p:sp>
          <p:nvSpPr>
            <p:cNvPr id="13" name="object 13"/>
            <p:cNvSpPr/>
            <p:nvPr/>
          </p:nvSpPr>
          <p:spPr>
            <a:xfrm>
              <a:off x="2992501" y="3987800"/>
              <a:ext cx="1749425" cy="1005205"/>
            </a:xfrm>
            <a:custGeom>
              <a:avLst/>
              <a:gdLst/>
              <a:ahLst/>
              <a:cxnLst/>
              <a:rect l="l" t="t" r="r" b="b"/>
              <a:pathLst>
                <a:path w="1749425" h="1005204">
                  <a:moveTo>
                    <a:pt x="874649" y="0"/>
                  </a:moveTo>
                  <a:lnTo>
                    <a:pt x="814759" y="1158"/>
                  </a:lnTo>
                  <a:lnTo>
                    <a:pt x="755953" y="4586"/>
                  </a:lnTo>
                  <a:lnTo>
                    <a:pt x="698361" y="10206"/>
                  </a:lnTo>
                  <a:lnTo>
                    <a:pt x="642114" y="17945"/>
                  </a:lnTo>
                  <a:lnTo>
                    <a:pt x="587341" y="27727"/>
                  </a:lnTo>
                  <a:lnTo>
                    <a:pt x="534173" y="39479"/>
                  </a:lnTo>
                  <a:lnTo>
                    <a:pt x="482741" y="53124"/>
                  </a:lnTo>
                  <a:lnTo>
                    <a:pt x="433173" y="68589"/>
                  </a:lnTo>
                  <a:lnTo>
                    <a:pt x="385601" y="85798"/>
                  </a:lnTo>
                  <a:lnTo>
                    <a:pt x="340154" y="104677"/>
                  </a:lnTo>
                  <a:lnTo>
                    <a:pt x="296963" y="125151"/>
                  </a:lnTo>
                  <a:lnTo>
                    <a:pt x="256158" y="147145"/>
                  </a:lnTo>
                  <a:lnTo>
                    <a:pt x="217870" y="170584"/>
                  </a:lnTo>
                  <a:lnTo>
                    <a:pt x="182228" y="195394"/>
                  </a:lnTo>
                  <a:lnTo>
                    <a:pt x="149362" y="221499"/>
                  </a:lnTo>
                  <a:lnTo>
                    <a:pt x="119403" y="248825"/>
                  </a:lnTo>
                  <a:lnTo>
                    <a:pt x="92481" y="277298"/>
                  </a:lnTo>
                  <a:lnTo>
                    <a:pt x="48269" y="337382"/>
                  </a:lnTo>
                  <a:lnTo>
                    <a:pt x="17767" y="401152"/>
                  </a:lnTo>
                  <a:lnTo>
                    <a:pt x="2017" y="468011"/>
                  </a:lnTo>
                  <a:lnTo>
                    <a:pt x="0" y="502412"/>
                  </a:lnTo>
                  <a:lnTo>
                    <a:pt x="2017" y="536813"/>
                  </a:lnTo>
                  <a:lnTo>
                    <a:pt x="17767" y="603676"/>
                  </a:lnTo>
                  <a:lnTo>
                    <a:pt x="48269" y="667456"/>
                  </a:lnTo>
                  <a:lnTo>
                    <a:pt x="92481" y="727551"/>
                  </a:lnTo>
                  <a:lnTo>
                    <a:pt x="119403" y="756031"/>
                  </a:lnTo>
                  <a:lnTo>
                    <a:pt x="149362" y="783364"/>
                  </a:lnTo>
                  <a:lnTo>
                    <a:pt x="182228" y="809477"/>
                  </a:lnTo>
                  <a:lnTo>
                    <a:pt x="217870" y="834294"/>
                  </a:lnTo>
                  <a:lnTo>
                    <a:pt x="256159" y="857742"/>
                  </a:lnTo>
                  <a:lnTo>
                    <a:pt x="296963" y="879743"/>
                  </a:lnTo>
                  <a:lnTo>
                    <a:pt x="340154" y="900225"/>
                  </a:lnTo>
                  <a:lnTo>
                    <a:pt x="385601" y="919112"/>
                  </a:lnTo>
                  <a:lnTo>
                    <a:pt x="433173" y="936328"/>
                  </a:lnTo>
                  <a:lnTo>
                    <a:pt x="482741" y="951800"/>
                  </a:lnTo>
                  <a:lnTo>
                    <a:pt x="534173" y="965452"/>
                  </a:lnTo>
                  <a:lnTo>
                    <a:pt x="587341" y="977209"/>
                  </a:lnTo>
                  <a:lnTo>
                    <a:pt x="642114" y="986996"/>
                  </a:lnTo>
                  <a:lnTo>
                    <a:pt x="698361" y="994739"/>
                  </a:lnTo>
                  <a:lnTo>
                    <a:pt x="755953" y="1000362"/>
                  </a:lnTo>
                  <a:lnTo>
                    <a:pt x="814759" y="1003791"/>
                  </a:lnTo>
                  <a:lnTo>
                    <a:pt x="874649" y="1004951"/>
                  </a:lnTo>
                  <a:lnTo>
                    <a:pt x="934539" y="1003791"/>
                  </a:lnTo>
                  <a:lnTo>
                    <a:pt x="993347" y="1000362"/>
                  </a:lnTo>
                  <a:lnTo>
                    <a:pt x="1050941" y="994739"/>
                  </a:lnTo>
                  <a:lnTo>
                    <a:pt x="1107193" y="986996"/>
                  </a:lnTo>
                  <a:lnTo>
                    <a:pt x="1161970" y="977209"/>
                  </a:lnTo>
                  <a:lnTo>
                    <a:pt x="1215143" y="965452"/>
                  </a:lnTo>
                  <a:lnTo>
                    <a:pt x="1266583" y="951800"/>
                  </a:lnTo>
                  <a:lnTo>
                    <a:pt x="1316157" y="936328"/>
                  </a:lnTo>
                  <a:lnTo>
                    <a:pt x="1363736" y="919112"/>
                  </a:lnTo>
                  <a:lnTo>
                    <a:pt x="1409191" y="900225"/>
                  </a:lnTo>
                  <a:lnTo>
                    <a:pt x="1452389" y="879743"/>
                  </a:lnTo>
                  <a:lnTo>
                    <a:pt x="1493202" y="857742"/>
                  </a:lnTo>
                  <a:lnTo>
                    <a:pt x="1531499" y="834294"/>
                  </a:lnTo>
                  <a:lnTo>
                    <a:pt x="1567149" y="809477"/>
                  </a:lnTo>
                  <a:lnTo>
                    <a:pt x="1600022" y="783364"/>
                  </a:lnTo>
                  <a:lnTo>
                    <a:pt x="1629988" y="756031"/>
                  </a:lnTo>
                  <a:lnTo>
                    <a:pt x="1656917" y="727551"/>
                  </a:lnTo>
                  <a:lnTo>
                    <a:pt x="1701141" y="667456"/>
                  </a:lnTo>
                  <a:lnTo>
                    <a:pt x="1731651" y="603676"/>
                  </a:lnTo>
                  <a:lnTo>
                    <a:pt x="1747406" y="536813"/>
                  </a:lnTo>
                  <a:lnTo>
                    <a:pt x="1749425" y="502412"/>
                  </a:lnTo>
                  <a:lnTo>
                    <a:pt x="1747406" y="468011"/>
                  </a:lnTo>
                  <a:lnTo>
                    <a:pt x="1731651" y="401152"/>
                  </a:lnTo>
                  <a:lnTo>
                    <a:pt x="1701141" y="337382"/>
                  </a:lnTo>
                  <a:lnTo>
                    <a:pt x="1656917" y="277298"/>
                  </a:lnTo>
                  <a:lnTo>
                    <a:pt x="1629988" y="248825"/>
                  </a:lnTo>
                  <a:lnTo>
                    <a:pt x="1600022" y="221499"/>
                  </a:lnTo>
                  <a:lnTo>
                    <a:pt x="1567149" y="195394"/>
                  </a:lnTo>
                  <a:lnTo>
                    <a:pt x="1531499" y="170584"/>
                  </a:lnTo>
                  <a:lnTo>
                    <a:pt x="1493202" y="147145"/>
                  </a:lnTo>
                  <a:lnTo>
                    <a:pt x="1452389" y="125151"/>
                  </a:lnTo>
                  <a:lnTo>
                    <a:pt x="1409191" y="104677"/>
                  </a:lnTo>
                  <a:lnTo>
                    <a:pt x="1363736" y="85798"/>
                  </a:lnTo>
                  <a:lnTo>
                    <a:pt x="1316157" y="68589"/>
                  </a:lnTo>
                  <a:lnTo>
                    <a:pt x="1266583" y="53124"/>
                  </a:lnTo>
                  <a:lnTo>
                    <a:pt x="1215143" y="39479"/>
                  </a:lnTo>
                  <a:lnTo>
                    <a:pt x="1161970" y="27727"/>
                  </a:lnTo>
                  <a:lnTo>
                    <a:pt x="1107193" y="17945"/>
                  </a:lnTo>
                  <a:lnTo>
                    <a:pt x="1050941" y="10206"/>
                  </a:lnTo>
                  <a:lnTo>
                    <a:pt x="993347" y="4586"/>
                  </a:lnTo>
                  <a:lnTo>
                    <a:pt x="934539" y="1158"/>
                  </a:lnTo>
                  <a:lnTo>
                    <a:pt x="87464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92501" y="3987800"/>
              <a:ext cx="1749425" cy="1005205"/>
            </a:xfrm>
            <a:custGeom>
              <a:avLst/>
              <a:gdLst/>
              <a:ahLst/>
              <a:cxnLst/>
              <a:rect l="l" t="t" r="r" b="b"/>
              <a:pathLst>
                <a:path w="1749425" h="1005204">
                  <a:moveTo>
                    <a:pt x="0" y="502412"/>
                  </a:moveTo>
                  <a:lnTo>
                    <a:pt x="7983" y="434233"/>
                  </a:lnTo>
                  <a:lnTo>
                    <a:pt x="31239" y="368843"/>
                  </a:lnTo>
                  <a:lnTo>
                    <a:pt x="68726" y="306841"/>
                  </a:lnTo>
                  <a:lnTo>
                    <a:pt x="119403" y="248825"/>
                  </a:lnTo>
                  <a:lnTo>
                    <a:pt x="149362" y="221499"/>
                  </a:lnTo>
                  <a:lnTo>
                    <a:pt x="182228" y="195394"/>
                  </a:lnTo>
                  <a:lnTo>
                    <a:pt x="217870" y="170584"/>
                  </a:lnTo>
                  <a:lnTo>
                    <a:pt x="256158" y="147145"/>
                  </a:lnTo>
                  <a:lnTo>
                    <a:pt x="296963" y="125151"/>
                  </a:lnTo>
                  <a:lnTo>
                    <a:pt x="340154" y="104677"/>
                  </a:lnTo>
                  <a:lnTo>
                    <a:pt x="385601" y="85798"/>
                  </a:lnTo>
                  <a:lnTo>
                    <a:pt x="433173" y="68589"/>
                  </a:lnTo>
                  <a:lnTo>
                    <a:pt x="482741" y="53124"/>
                  </a:lnTo>
                  <a:lnTo>
                    <a:pt x="534173" y="39479"/>
                  </a:lnTo>
                  <a:lnTo>
                    <a:pt x="587341" y="27727"/>
                  </a:lnTo>
                  <a:lnTo>
                    <a:pt x="642114" y="17945"/>
                  </a:lnTo>
                  <a:lnTo>
                    <a:pt x="698361" y="10206"/>
                  </a:lnTo>
                  <a:lnTo>
                    <a:pt x="755953" y="4586"/>
                  </a:lnTo>
                  <a:lnTo>
                    <a:pt x="814759" y="1158"/>
                  </a:lnTo>
                  <a:lnTo>
                    <a:pt x="874649" y="0"/>
                  </a:lnTo>
                  <a:lnTo>
                    <a:pt x="934539" y="1158"/>
                  </a:lnTo>
                  <a:lnTo>
                    <a:pt x="993347" y="4586"/>
                  </a:lnTo>
                  <a:lnTo>
                    <a:pt x="1050941" y="10206"/>
                  </a:lnTo>
                  <a:lnTo>
                    <a:pt x="1107193" y="17945"/>
                  </a:lnTo>
                  <a:lnTo>
                    <a:pt x="1161970" y="27727"/>
                  </a:lnTo>
                  <a:lnTo>
                    <a:pt x="1215143" y="39479"/>
                  </a:lnTo>
                  <a:lnTo>
                    <a:pt x="1266583" y="53124"/>
                  </a:lnTo>
                  <a:lnTo>
                    <a:pt x="1316157" y="68589"/>
                  </a:lnTo>
                  <a:lnTo>
                    <a:pt x="1363736" y="85798"/>
                  </a:lnTo>
                  <a:lnTo>
                    <a:pt x="1409191" y="104677"/>
                  </a:lnTo>
                  <a:lnTo>
                    <a:pt x="1452389" y="125151"/>
                  </a:lnTo>
                  <a:lnTo>
                    <a:pt x="1493202" y="147145"/>
                  </a:lnTo>
                  <a:lnTo>
                    <a:pt x="1531499" y="170584"/>
                  </a:lnTo>
                  <a:lnTo>
                    <a:pt x="1567149" y="195394"/>
                  </a:lnTo>
                  <a:lnTo>
                    <a:pt x="1600022" y="221499"/>
                  </a:lnTo>
                  <a:lnTo>
                    <a:pt x="1629988" y="248825"/>
                  </a:lnTo>
                  <a:lnTo>
                    <a:pt x="1656917" y="277298"/>
                  </a:lnTo>
                  <a:lnTo>
                    <a:pt x="1701141" y="337382"/>
                  </a:lnTo>
                  <a:lnTo>
                    <a:pt x="1731651" y="401152"/>
                  </a:lnTo>
                  <a:lnTo>
                    <a:pt x="1747406" y="468011"/>
                  </a:lnTo>
                  <a:lnTo>
                    <a:pt x="1749425" y="502412"/>
                  </a:lnTo>
                  <a:lnTo>
                    <a:pt x="1747406" y="536813"/>
                  </a:lnTo>
                  <a:lnTo>
                    <a:pt x="1741438" y="570593"/>
                  </a:lnTo>
                  <a:lnTo>
                    <a:pt x="1718175" y="635989"/>
                  </a:lnTo>
                  <a:lnTo>
                    <a:pt x="1680678" y="698001"/>
                  </a:lnTo>
                  <a:lnTo>
                    <a:pt x="1629988" y="756031"/>
                  </a:lnTo>
                  <a:lnTo>
                    <a:pt x="1600022" y="783364"/>
                  </a:lnTo>
                  <a:lnTo>
                    <a:pt x="1567149" y="809477"/>
                  </a:lnTo>
                  <a:lnTo>
                    <a:pt x="1531499" y="834294"/>
                  </a:lnTo>
                  <a:lnTo>
                    <a:pt x="1493202" y="857742"/>
                  </a:lnTo>
                  <a:lnTo>
                    <a:pt x="1452389" y="879743"/>
                  </a:lnTo>
                  <a:lnTo>
                    <a:pt x="1409191" y="900225"/>
                  </a:lnTo>
                  <a:lnTo>
                    <a:pt x="1363736" y="919112"/>
                  </a:lnTo>
                  <a:lnTo>
                    <a:pt x="1316157" y="936328"/>
                  </a:lnTo>
                  <a:lnTo>
                    <a:pt x="1266583" y="951800"/>
                  </a:lnTo>
                  <a:lnTo>
                    <a:pt x="1215143" y="965452"/>
                  </a:lnTo>
                  <a:lnTo>
                    <a:pt x="1161970" y="977209"/>
                  </a:lnTo>
                  <a:lnTo>
                    <a:pt x="1107193" y="986996"/>
                  </a:lnTo>
                  <a:lnTo>
                    <a:pt x="1050941" y="994739"/>
                  </a:lnTo>
                  <a:lnTo>
                    <a:pt x="993347" y="1000362"/>
                  </a:lnTo>
                  <a:lnTo>
                    <a:pt x="934539" y="1003791"/>
                  </a:lnTo>
                  <a:lnTo>
                    <a:pt x="874649" y="1004951"/>
                  </a:lnTo>
                  <a:lnTo>
                    <a:pt x="814759" y="1003791"/>
                  </a:lnTo>
                  <a:lnTo>
                    <a:pt x="755953" y="1000362"/>
                  </a:lnTo>
                  <a:lnTo>
                    <a:pt x="698361" y="994739"/>
                  </a:lnTo>
                  <a:lnTo>
                    <a:pt x="642114" y="986996"/>
                  </a:lnTo>
                  <a:lnTo>
                    <a:pt x="587341" y="977209"/>
                  </a:lnTo>
                  <a:lnTo>
                    <a:pt x="534173" y="965452"/>
                  </a:lnTo>
                  <a:lnTo>
                    <a:pt x="482741" y="951800"/>
                  </a:lnTo>
                  <a:lnTo>
                    <a:pt x="433173" y="936328"/>
                  </a:lnTo>
                  <a:lnTo>
                    <a:pt x="385601" y="919112"/>
                  </a:lnTo>
                  <a:lnTo>
                    <a:pt x="340154" y="900225"/>
                  </a:lnTo>
                  <a:lnTo>
                    <a:pt x="296963" y="879743"/>
                  </a:lnTo>
                  <a:lnTo>
                    <a:pt x="256159" y="857742"/>
                  </a:lnTo>
                  <a:lnTo>
                    <a:pt x="217870" y="834294"/>
                  </a:lnTo>
                  <a:lnTo>
                    <a:pt x="182228" y="809477"/>
                  </a:lnTo>
                  <a:lnTo>
                    <a:pt x="149362" y="783364"/>
                  </a:lnTo>
                  <a:lnTo>
                    <a:pt x="119403" y="756031"/>
                  </a:lnTo>
                  <a:lnTo>
                    <a:pt x="92481" y="727551"/>
                  </a:lnTo>
                  <a:lnTo>
                    <a:pt x="48269" y="667456"/>
                  </a:lnTo>
                  <a:lnTo>
                    <a:pt x="17767" y="603676"/>
                  </a:lnTo>
                  <a:lnTo>
                    <a:pt x="2017" y="536813"/>
                  </a:lnTo>
                  <a:lnTo>
                    <a:pt x="0" y="502412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131947" y="4202683"/>
            <a:ext cx="14719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 algn="ctr">
              <a:lnSpc>
                <a:spcPct val="100000"/>
              </a:lnSpc>
              <a:spcBef>
                <a:spcPts val="100"/>
              </a:spcBef>
            </a:pPr>
            <a:r>
              <a:rPr sz="1600" spc="-35" dirty="0">
                <a:solidFill>
                  <a:schemeClr val="bg1"/>
                </a:solidFill>
                <a:latin typeface="Verdana"/>
                <a:cs typeface="Verdana"/>
              </a:rPr>
              <a:t>Temperatura </a:t>
            </a:r>
            <a:r>
              <a:rPr sz="1600" dirty="0">
                <a:solidFill>
                  <a:schemeClr val="bg1"/>
                </a:solidFill>
                <a:latin typeface="Verdana"/>
                <a:cs typeface="Verdana"/>
              </a:rPr>
              <a:t>del</a:t>
            </a:r>
            <a:r>
              <a:rPr sz="1600" spc="-4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paciente</a:t>
            </a:r>
            <a:endParaRPr sz="1600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03800" y="5599112"/>
            <a:ext cx="971550" cy="343043"/>
          </a:xfrm>
          <a:prstGeom prst="rect">
            <a:avLst/>
          </a:prstGeom>
          <a:solidFill>
            <a:srgbClr val="CCCCFF"/>
          </a:solidFill>
          <a:ln w="9360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755"/>
              </a:spcBef>
            </a:pP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Enfermo</a:t>
            </a:r>
            <a:endParaRPr sz="1600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54876" y="4122673"/>
            <a:ext cx="971550" cy="343043"/>
          </a:xfrm>
          <a:prstGeom prst="rect">
            <a:avLst/>
          </a:prstGeom>
          <a:solidFill>
            <a:srgbClr val="CCCCFF"/>
          </a:solidFill>
          <a:ln w="9360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755"/>
              </a:spcBef>
            </a:pPr>
            <a:r>
              <a:rPr sz="1600" spc="-10" dirty="0">
                <a:solidFill>
                  <a:schemeClr val="bg1"/>
                </a:solidFill>
                <a:latin typeface="Verdana"/>
                <a:cs typeface="Verdana"/>
              </a:rPr>
              <a:t>Enfermo</a:t>
            </a:r>
            <a:endParaRPr sz="1600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90776" y="5599112"/>
            <a:ext cx="971550" cy="343043"/>
          </a:xfrm>
          <a:prstGeom prst="rect">
            <a:avLst/>
          </a:prstGeom>
          <a:solidFill>
            <a:srgbClr val="CCCCFF"/>
          </a:solidFill>
          <a:ln w="9360">
            <a:solidFill>
              <a:srgbClr val="000000"/>
            </a:solidFill>
          </a:ln>
        </p:spPr>
        <p:txBody>
          <a:bodyPr vert="horz" wrap="square" lIns="0" tIns="95885" rIns="0" bIns="0" rtlCol="0">
            <a:spAutoFit/>
          </a:bodyPr>
          <a:lstStyle/>
          <a:p>
            <a:pPr marL="196850" algn="ctr">
              <a:lnSpc>
                <a:spcPct val="100000"/>
              </a:lnSpc>
              <a:spcBef>
                <a:spcPts val="755"/>
              </a:spcBef>
            </a:pPr>
            <a:r>
              <a:rPr sz="1600" spc="-20" dirty="0">
                <a:solidFill>
                  <a:schemeClr val="bg1"/>
                </a:solidFill>
                <a:latin typeface="Verdana"/>
                <a:cs typeface="Verdana"/>
              </a:rPr>
              <a:t>Sano</a:t>
            </a:r>
            <a:endParaRPr sz="1600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71600" y="2712973"/>
            <a:ext cx="971550" cy="342401"/>
          </a:xfrm>
          <a:prstGeom prst="rect">
            <a:avLst/>
          </a:prstGeom>
          <a:solidFill>
            <a:srgbClr val="CCCCFF"/>
          </a:solidFill>
          <a:ln w="9360">
            <a:solidFill>
              <a:srgbClr val="000000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196850" algn="ctr">
              <a:lnSpc>
                <a:spcPct val="100000"/>
              </a:lnSpc>
              <a:spcBef>
                <a:spcPts val="750"/>
              </a:spcBef>
            </a:pPr>
            <a:r>
              <a:rPr sz="1600" spc="-20" dirty="0">
                <a:solidFill>
                  <a:schemeClr val="bg1"/>
                </a:solidFill>
                <a:latin typeface="Verdana"/>
                <a:cs typeface="Verdana"/>
              </a:rPr>
              <a:t>Sano</a:t>
            </a:r>
            <a:endParaRPr sz="1600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57375" y="2223642"/>
            <a:ext cx="1139190" cy="494665"/>
          </a:xfrm>
          <a:custGeom>
            <a:avLst/>
            <a:gdLst/>
            <a:ahLst/>
            <a:cxnLst/>
            <a:rect l="l" t="t" r="r" b="b"/>
            <a:pathLst>
              <a:path w="1139189" h="494664">
                <a:moveTo>
                  <a:pt x="55244" y="424561"/>
                </a:moveTo>
                <a:lnTo>
                  <a:pt x="0" y="489331"/>
                </a:lnTo>
                <a:lnTo>
                  <a:pt x="85089" y="494665"/>
                </a:lnTo>
                <a:lnTo>
                  <a:pt x="74763" y="470408"/>
                </a:lnTo>
                <a:lnTo>
                  <a:pt x="60960" y="470408"/>
                </a:lnTo>
                <a:lnTo>
                  <a:pt x="55880" y="458724"/>
                </a:lnTo>
                <a:lnTo>
                  <a:pt x="67655" y="453711"/>
                </a:lnTo>
                <a:lnTo>
                  <a:pt x="55244" y="424561"/>
                </a:lnTo>
                <a:close/>
              </a:path>
              <a:path w="1139189" h="494664">
                <a:moveTo>
                  <a:pt x="67655" y="453711"/>
                </a:moveTo>
                <a:lnTo>
                  <a:pt x="55880" y="458724"/>
                </a:lnTo>
                <a:lnTo>
                  <a:pt x="60960" y="470408"/>
                </a:lnTo>
                <a:lnTo>
                  <a:pt x="72645" y="465434"/>
                </a:lnTo>
                <a:lnTo>
                  <a:pt x="67655" y="453711"/>
                </a:lnTo>
                <a:close/>
              </a:path>
              <a:path w="1139189" h="494664">
                <a:moveTo>
                  <a:pt x="72645" y="465434"/>
                </a:moveTo>
                <a:lnTo>
                  <a:pt x="60960" y="470408"/>
                </a:lnTo>
                <a:lnTo>
                  <a:pt x="74763" y="470408"/>
                </a:lnTo>
                <a:lnTo>
                  <a:pt x="72645" y="465434"/>
                </a:lnTo>
                <a:close/>
              </a:path>
              <a:path w="1139189" h="494664">
                <a:moveTo>
                  <a:pt x="1133602" y="0"/>
                </a:moveTo>
                <a:lnTo>
                  <a:pt x="67655" y="453711"/>
                </a:lnTo>
                <a:lnTo>
                  <a:pt x="72645" y="465434"/>
                </a:lnTo>
                <a:lnTo>
                  <a:pt x="1138682" y="11684"/>
                </a:lnTo>
                <a:lnTo>
                  <a:pt x="11336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162048" y="2211070"/>
            <a:ext cx="245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Si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64960" y="3431285"/>
            <a:ext cx="1074420" cy="690245"/>
          </a:xfrm>
          <a:custGeom>
            <a:avLst/>
            <a:gdLst/>
            <a:ahLst/>
            <a:cxnLst/>
            <a:rect l="l" t="t" r="r" b="b"/>
            <a:pathLst>
              <a:path w="1074420" h="690245">
                <a:moveTo>
                  <a:pt x="1006429" y="654186"/>
                </a:moveTo>
                <a:lnTo>
                  <a:pt x="989330" y="680974"/>
                </a:lnTo>
                <a:lnTo>
                  <a:pt x="1074039" y="689863"/>
                </a:lnTo>
                <a:lnTo>
                  <a:pt x="1056821" y="661034"/>
                </a:lnTo>
                <a:lnTo>
                  <a:pt x="1017142" y="661034"/>
                </a:lnTo>
                <a:lnTo>
                  <a:pt x="1006429" y="654186"/>
                </a:lnTo>
                <a:close/>
              </a:path>
              <a:path w="1074420" h="690245">
                <a:moveTo>
                  <a:pt x="1013254" y="643495"/>
                </a:moveTo>
                <a:lnTo>
                  <a:pt x="1006429" y="654186"/>
                </a:lnTo>
                <a:lnTo>
                  <a:pt x="1017142" y="661034"/>
                </a:lnTo>
                <a:lnTo>
                  <a:pt x="1024000" y="650366"/>
                </a:lnTo>
                <a:lnTo>
                  <a:pt x="1013254" y="643495"/>
                </a:lnTo>
                <a:close/>
              </a:path>
              <a:path w="1074420" h="690245">
                <a:moveTo>
                  <a:pt x="1030350" y="616712"/>
                </a:moveTo>
                <a:lnTo>
                  <a:pt x="1013254" y="643495"/>
                </a:lnTo>
                <a:lnTo>
                  <a:pt x="1024000" y="650366"/>
                </a:lnTo>
                <a:lnTo>
                  <a:pt x="1017142" y="661034"/>
                </a:lnTo>
                <a:lnTo>
                  <a:pt x="1056821" y="661034"/>
                </a:lnTo>
                <a:lnTo>
                  <a:pt x="1030350" y="616712"/>
                </a:lnTo>
                <a:close/>
              </a:path>
              <a:path w="1074420" h="690245">
                <a:moveTo>
                  <a:pt x="6858" y="0"/>
                </a:moveTo>
                <a:lnTo>
                  <a:pt x="0" y="10794"/>
                </a:lnTo>
                <a:lnTo>
                  <a:pt x="1006429" y="654186"/>
                </a:lnTo>
                <a:lnTo>
                  <a:pt x="1013254" y="643495"/>
                </a:lnTo>
                <a:lnTo>
                  <a:pt x="68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704838" y="3483102"/>
            <a:ext cx="245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Si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221353" y="2224277"/>
            <a:ext cx="1332230" cy="373380"/>
          </a:xfrm>
          <a:custGeom>
            <a:avLst/>
            <a:gdLst/>
            <a:ahLst/>
            <a:cxnLst/>
            <a:rect l="l" t="t" r="r" b="b"/>
            <a:pathLst>
              <a:path w="1332229" h="373380">
                <a:moveTo>
                  <a:pt x="1256375" y="342196"/>
                </a:moveTo>
                <a:lnTo>
                  <a:pt x="1248283" y="372872"/>
                </a:lnTo>
                <a:lnTo>
                  <a:pt x="1331722" y="355473"/>
                </a:lnTo>
                <a:lnTo>
                  <a:pt x="1320307" y="345439"/>
                </a:lnTo>
                <a:lnTo>
                  <a:pt x="1268730" y="345439"/>
                </a:lnTo>
                <a:lnTo>
                  <a:pt x="1256375" y="342196"/>
                </a:lnTo>
                <a:close/>
              </a:path>
              <a:path w="1332229" h="373380">
                <a:moveTo>
                  <a:pt x="1259619" y="329895"/>
                </a:moveTo>
                <a:lnTo>
                  <a:pt x="1256375" y="342196"/>
                </a:lnTo>
                <a:lnTo>
                  <a:pt x="1268730" y="345439"/>
                </a:lnTo>
                <a:lnTo>
                  <a:pt x="1271905" y="333121"/>
                </a:lnTo>
                <a:lnTo>
                  <a:pt x="1259619" y="329895"/>
                </a:lnTo>
                <a:close/>
              </a:path>
              <a:path w="1332229" h="373380">
                <a:moveTo>
                  <a:pt x="1267714" y="299212"/>
                </a:moveTo>
                <a:lnTo>
                  <a:pt x="1259619" y="329895"/>
                </a:lnTo>
                <a:lnTo>
                  <a:pt x="1271905" y="333121"/>
                </a:lnTo>
                <a:lnTo>
                  <a:pt x="1268730" y="345439"/>
                </a:lnTo>
                <a:lnTo>
                  <a:pt x="1320307" y="345439"/>
                </a:lnTo>
                <a:lnTo>
                  <a:pt x="1267714" y="299212"/>
                </a:lnTo>
                <a:close/>
              </a:path>
              <a:path w="1332229" h="373380">
                <a:moveTo>
                  <a:pt x="3175" y="0"/>
                </a:moveTo>
                <a:lnTo>
                  <a:pt x="0" y="12319"/>
                </a:lnTo>
                <a:lnTo>
                  <a:pt x="1256375" y="342196"/>
                </a:lnTo>
                <a:lnTo>
                  <a:pt x="1259619" y="329895"/>
                </a:lnTo>
                <a:lnTo>
                  <a:pt x="3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823205" y="2142871"/>
            <a:ext cx="334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No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68673" y="3431540"/>
            <a:ext cx="1072515" cy="556260"/>
          </a:xfrm>
          <a:custGeom>
            <a:avLst/>
            <a:gdLst/>
            <a:ahLst/>
            <a:cxnLst/>
            <a:rect l="l" t="t" r="r" b="b"/>
            <a:pathLst>
              <a:path w="1072514" h="556260">
                <a:moveTo>
                  <a:pt x="50418" y="487553"/>
                </a:moveTo>
                <a:lnTo>
                  <a:pt x="0" y="556260"/>
                </a:lnTo>
                <a:lnTo>
                  <a:pt x="85216" y="555244"/>
                </a:lnTo>
                <a:lnTo>
                  <a:pt x="73726" y="532892"/>
                </a:lnTo>
                <a:lnTo>
                  <a:pt x="59436" y="532892"/>
                </a:lnTo>
                <a:lnTo>
                  <a:pt x="53593" y="521589"/>
                </a:lnTo>
                <a:lnTo>
                  <a:pt x="64918" y="515757"/>
                </a:lnTo>
                <a:lnTo>
                  <a:pt x="50418" y="487553"/>
                </a:lnTo>
                <a:close/>
              </a:path>
              <a:path w="1072514" h="556260">
                <a:moveTo>
                  <a:pt x="64918" y="515757"/>
                </a:moveTo>
                <a:lnTo>
                  <a:pt x="53593" y="521589"/>
                </a:lnTo>
                <a:lnTo>
                  <a:pt x="59436" y="532892"/>
                </a:lnTo>
                <a:lnTo>
                  <a:pt x="70735" y="527073"/>
                </a:lnTo>
                <a:lnTo>
                  <a:pt x="64918" y="515757"/>
                </a:lnTo>
                <a:close/>
              </a:path>
              <a:path w="1072514" h="556260">
                <a:moveTo>
                  <a:pt x="70735" y="527073"/>
                </a:moveTo>
                <a:lnTo>
                  <a:pt x="59436" y="532892"/>
                </a:lnTo>
                <a:lnTo>
                  <a:pt x="73726" y="532892"/>
                </a:lnTo>
                <a:lnTo>
                  <a:pt x="70735" y="527073"/>
                </a:lnTo>
                <a:close/>
              </a:path>
              <a:path w="1072514" h="556260">
                <a:moveTo>
                  <a:pt x="1066418" y="0"/>
                </a:moveTo>
                <a:lnTo>
                  <a:pt x="64918" y="515757"/>
                </a:lnTo>
                <a:lnTo>
                  <a:pt x="70735" y="527073"/>
                </a:lnTo>
                <a:lnTo>
                  <a:pt x="1072261" y="11302"/>
                </a:lnTo>
                <a:lnTo>
                  <a:pt x="10664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980179" y="3483102"/>
            <a:ext cx="334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No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376423" y="4837684"/>
            <a:ext cx="879475" cy="758825"/>
          </a:xfrm>
          <a:custGeom>
            <a:avLst/>
            <a:gdLst/>
            <a:ahLst/>
            <a:cxnLst/>
            <a:rect l="l" t="t" r="r" b="b"/>
            <a:pathLst>
              <a:path w="879475" h="758825">
                <a:moveTo>
                  <a:pt x="32893" y="679704"/>
                </a:moveTo>
                <a:lnTo>
                  <a:pt x="0" y="758253"/>
                </a:lnTo>
                <a:lnTo>
                  <a:pt x="82676" y="737362"/>
                </a:lnTo>
                <a:lnTo>
                  <a:pt x="69079" y="721614"/>
                </a:lnTo>
                <a:lnTo>
                  <a:pt x="52324" y="721614"/>
                </a:lnTo>
                <a:lnTo>
                  <a:pt x="44068" y="711962"/>
                </a:lnTo>
                <a:lnTo>
                  <a:pt x="53633" y="703724"/>
                </a:lnTo>
                <a:lnTo>
                  <a:pt x="32893" y="679704"/>
                </a:lnTo>
                <a:close/>
              </a:path>
              <a:path w="879475" h="758825">
                <a:moveTo>
                  <a:pt x="53633" y="703724"/>
                </a:moveTo>
                <a:lnTo>
                  <a:pt x="44068" y="711962"/>
                </a:lnTo>
                <a:lnTo>
                  <a:pt x="52324" y="721614"/>
                </a:lnTo>
                <a:lnTo>
                  <a:pt x="61933" y="713337"/>
                </a:lnTo>
                <a:lnTo>
                  <a:pt x="53633" y="703724"/>
                </a:lnTo>
                <a:close/>
              </a:path>
              <a:path w="879475" h="758825">
                <a:moveTo>
                  <a:pt x="61933" y="713337"/>
                </a:moveTo>
                <a:lnTo>
                  <a:pt x="52324" y="721614"/>
                </a:lnTo>
                <a:lnTo>
                  <a:pt x="69079" y="721614"/>
                </a:lnTo>
                <a:lnTo>
                  <a:pt x="61933" y="713337"/>
                </a:lnTo>
                <a:close/>
              </a:path>
              <a:path w="879475" h="758825">
                <a:moveTo>
                  <a:pt x="870712" y="0"/>
                </a:moveTo>
                <a:lnTo>
                  <a:pt x="53633" y="703724"/>
                </a:lnTo>
                <a:lnTo>
                  <a:pt x="61933" y="713337"/>
                </a:lnTo>
                <a:lnTo>
                  <a:pt x="878966" y="9652"/>
                </a:lnTo>
                <a:lnTo>
                  <a:pt x="870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227326" y="5026278"/>
            <a:ext cx="690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Verdana"/>
                <a:cs typeface="Verdana"/>
              </a:rPr>
              <a:t>&lt;=37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78909" y="4837684"/>
            <a:ext cx="1009015" cy="758825"/>
          </a:xfrm>
          <a:custGeom>
            <a:avLst/>
            <a:gdLst/>
            <a:ahLst/>
            <a:cxnLst/>
            <a:rect l="l" t="t" r="r" b="b"/>
            <a:pathLst>
              <a:path w="1009014" h="758825">
                <a:moveTo>
                  <a:pt x="944240" y="717682"/>
                </a:moveTo>
                <a:lnTo>
                  <a:pt x="925194" y="743077"/>
                </a:lnTo>
                <a:lnTo>
                  <a:pt x="1009014" y="758253"/>
                </a:lnTo>
                <a:lnTo>
                  <a:pt x="992523" y="725297"/>
                </a:lnTo>
                <a:lnTo>
                  <a:pt x="954404" y="725297"/>
                </a:lnTo>
                <a:lnTo>
                  <a:pt x="944240" y="717682"/>
                </a:lnTo>
                <a:close/>
              </a:path>
              <a:path w="1009014" h="758825">
                <a:moveTo>
                  <a:pt x="951861" y="707521"/>
                </a:moveTo>
                <a:lnTo>
                  <a:pt x="944240" y="717682"/>
                </a:lnTo>
                <a:lnTo>
                  <a:pt x="954404" y="725297"/>
                </a:lnTo>
                <a:lnTo>
                  <a:pt x="962025" y="715137"/>
                </a:lnTo>
                <a:lnTo>
                  <a:pt x="951861" y="707521"/>
                </a:lnTo>
                <a:close/>
              </a:path>
              <a:path w="1009014" h="758825">
                <a:moveTo>
                  <a:pt x="970914" y="682117"/>
                </a:moveTo>
                <a:lnTo>
                  <a:pt x="951861" y="707521"/>
                </a:lnTo>
                <a:lnTo>
                  <a:pt x="962025" y="715137"/>
                </a:lnTo>
                <a:lnTo>
                  <a:pt x="954404" y="725297"/>
                </a:lnTo>
                <a:lnTo>
                  <a:pt x="992523" y="725297"/>
                </a:lnTo>
                <a:lnTo>
                  <a:pt x="970914" y="682117"/>
                </a:lnTo>
                <a:close/>
              </a:path>
              <a:path w="1009014" h="758825">
                <a:moveTo>
                  <a:pt x="7619" y="0"/>
                </a:moveTo>
                <a:lnTo>
                  <a:pt x="0" y="10287"/>
                </a:lnTo>
                <a:lnTo>
                  <a:pt x="944240" y="717682"/>
                </a:lnTo>
                <a:lnTo>
                  <a:pt x="951861" y="707521"/>
                </a:lnTo>
                <a:lnTo>
                  <a:pt x="7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018278" y="5026278"/>
            <a:ext cx="503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&gt;37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478863"/>
            <a:ext cx="7886700" cy="78157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600" b="1" dirty="0"/>
              <a:t>Equivalente</a:t>
            </a:r>
            <a:r>
              <a:rPr sz="3600" b="1" spc="-50" dirty="0"/>
              <a:t> </a:t>
            </a:r>
            <a:r>
              <a:rPr sz="3600" b="1" dirty="0"/>
              <a:t>en</a:t>
            </a:r>
            <a:r>
              <a:rPr sz="3600" b="1" spc="-35" dirty="0"/>
              <a:t> </a:t>
            </a:r>
            <a:r>
              <a:rPr sz="3600" b="1" dirty="0"/>
              <a:t>reglas</a:t>
            </a:r>
            <a:r>
              <a:rPr sz="3600" b="1" spc="-30" dirty="0"/>
              <a:t> </a:t>
            </a:r>
            <a:r>
              <a:rPr sz="3600" b="1" dirty="0"/>
              <a:t>de</a:t>
            </a:r>
            <a:r>
              <a:rPr sz="3600" b="1" spc="-40" dirty="0"/>
              <a:t> </a:t>
            </a:r>
            <a:r>
              <a:rPr sz="3600" b="1" spc="-10" dirty="0"/>
              <a:t>clasificación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0600" y="1905000"/>
            <a:ext cx="6247765" cy="3710304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09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Sano</a:t>
            </a:r>
            <a:endParaRPr sz="20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Sino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Font typeface="Microsoft Sans Serif"/>
              <a:buChar char="–"/>
              <a:tabLst>
                <a:tab pos="75501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dolor = No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Microsoft Sans Serif"/>
              <a:buChar char="•"/>
              <a:tabLst>
                <a:tab pos="11557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Temperatura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 paciente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&lt;=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37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161290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61290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Sano</a:t>
            </a:r>
            <a:endParaRPr sz="2000" dirty="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Font typeface="Microsoft Sans Serif"/>
              <a:buChar char="•"/>
              <a:tabLst>
                <a:tab pos="11557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Sino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Temperatura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37)</a:t>
            </a:r>
            <a:endParaRPr sz="2000" dirty="0">
              <a:latin typeface="Microsoft Sans Serif"/>
              <a:cs typeface="Microsoft Sans Serif"/>
            </a:endParaRPr>
          </a:p>
          <a:p>
            <a:pPr marL="1612900" lvl="3" indent="-228600">
              <a:lnSpc>
                <a:spcPct val="100000"/>
              </a:lnSpc>
              <a:spcBef>
                <a:spcPts val="505"/>
              </a:spcBef>
              <a:buChar char="–"/>
              <a:tabLst>
                <a:tab pos="161290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Enfermo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495"/>
              </a:spcBef>
              <a:buFont typeface="Microsoft Sans Serif"/>
              <a:buChar char="–"/>
              <a:tabLst>
                <a:tab pos="75501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Sino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(El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 dolor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Si)</a:t>
            </a:r>
            <a:endParaRPr sz="2000" dirty="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Microsoft Sans Serif"/>
              <a:buChar char="•"/>
              <a:tabLst>
                <a:tab pos="115570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Clase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Enfermo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606344"/>
            <a:ext cx="7886700" cy="843127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Equivalente</a:t>
            </a:r>
            <a:r>
              <a:rPr sz="4000" spc="-50" dirty="0"/>
              <a:t> </a:t>
            </a:r>
            <a:r>
              <a:rPr sz="4000" dirty="0"/>
              <a:t>en</a:t>
            </a:r>
            <a:r>
              <a:rPr sz="4000" spc="-35" dirty="0"/>
              <a:t> </a:t>
            </a:r>
            <a:r>
              <a:rPr sz="4000" dirty="0"/>
              <a:t>reglas</a:t>
            </a:r>
            <a:r>
              <a:rPr sz="4000" spc="-30" dirty="0"/>
              <a:t> </a:t>
            </a:r>
            <a:r>
              <a:rPr sz="4000" dirty="0"/>
              <a:t>de</a:t>
            </a:r>
            <a:r>
              <a:rPr sz="4000" spc="-40" dirty="0"/>
              <a:t> </a:t>
            </a:r>
            <a:r>
              <a:rPr sz="4000" spc="-10" dirty="0"/>
              <a:t>clasificación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6927" y="1752600"/>
            <a:ext cx="7510145" cy="379793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60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09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Sano</a:t>
            </a:r>
            <a:endParaRPr sz="20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490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dolor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endParaRPr sz="2000" dirty="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Temperatura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&lt;=37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15"/>
              </a:spcBef>
              <a:buFont typeface="Microsoft Sans Serif"/>
              <a:buChar char="–"/>
              <a:tabLst>
                <a:tab pos="75501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Clase =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Sano</a:t>
            </a:r>
            <a:endParaRPr sz="1800" dirty="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4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 siente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 No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 dolor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endParaRPr sz="2000" dirty="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Temperatura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&gt;37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00"/>
              </a:spcBef>
              <a:buFont typeface="Microsoft Sans Serif"/>
              <a:buChar char="–"/>
              <a:tabLst>
                <a:tab pos="75501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Clase =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Enfermo</a:t>
            </a:r>
            <a:endParaRPr sz="1800" dirty="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49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paciente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dolor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endParaRPr sz="2000" dirty="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entonces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15"/>
              </a:spcBef>
              <a:buFont typeface="Microsoft Sans Serif"/>
              <a:buChar char="–"/>
              <a:tabLst>
                <a:tab pos="75501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Clase =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Enfermo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473427"/>
            <a:ext cx="7886700" cy="658461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</a:rPr>
              <a:t>Ejemplo: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Datos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de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entrenamiento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447800"/>
            <a:ext cx="4765675" cy="42021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320685"/>
            <a:ext cx="7886700" cy="658461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</a:rPr>
              <a:t>Ejemplo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árbol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de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decisión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371536"/>
            <a:ext cx="7486650" cy="450380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360123"/>
            <a:ext cx="7886700" cy="1335570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3600" dirty="0"/>
              <a:t>Métodos</a:t>
            </a:r>
            <a:r>
              <a:rPr sz="3600" spc="-60" dirty="0"/>
              <a:t> </a:t>
            </a:r>
            <a:r>
              <a:rPr sz="3600" dirty="0"/>
              <a:t>de</a:t>
            </a:r>
            <a:r>
              <a:rPr sz="3600" spc="-45" dirty="0"/>
              <a:t> </a:t>
            </a:r>
            <a:r>
              <a:rPr sz="3600" dirty="0"/>
              <a:t>clasificación</a:t>
            </a:r>
            <a:r>
              <a:rPr sz="3600" spc="-55" dirty="0"/>
              <a:t> </a:t>
            </a:r>
            <a:r>
              <a:rPr sz="3600" dirty="0"/>
              <a:t>con</a:t>
            </a:r>
            <a:r>
              <a:rPr sz="3600" spc="-50" dirty="0"/>
              <a:t> </a:t>
            </a:r>
            <a:r>
              <a:rPr sz="3600" dirty="0"/>
              <a:t>árboles</a:t>
            </a:r>
            <a:r>
              <a:rPr sz="3600" spc="-55" dirty="0"/>
              <a:t> </a:t>
            </a:r>
            <a:r>
              <a:rPr sz="3600" dirty="0"/>
              <a:t>de</a:t>
            </a:r>
            <a:r>
              <a:rPr sz="3600" spc="-50" dirty="0"/>
              <a:t> </a:t>
            </a:r>
            <a:r>
              <a:rPr sz="3600" spc="-10" dirty="0"/>
              <a:t>decisión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8579" y="2003400"/>
            <a:ext cx="7613650" cy="397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0395" marR="789305" indent="-608330">
              <a:lnSpc>
                <a:spcPct val="100000"/>
              </a:lnSpc>
              <a:spcBef>
                <a:spcPts val="100"/>
              </a:spcBef>
              <a:buChar char="•"/>
              <a:tabLst>
                <a:tab pos="62039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generación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básica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arriba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hacia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abajo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consiste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dos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fases: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Clr>
                <a:srgbClr val="FFFFFF"/>
              </a:buClr>
              <a:buFont typeface="Microsoft Sans Serif"/>
              <a:buChar char="•"/>
            </a:pPr>
            <a:endParaRPr sz="2400" dirty="0">
              <a:latin typeface="Microsoft Sans Serif"/>
              <a:cs typeface="Microsoft Sans Serif"/>
            </a:endParaRPr>
          </a:p>
          <a:p>
            <a:pPr marL="1001394" lvl="1" indent="-5314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001394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Construcción</a:t>
            </a:r>
            <a:r>
              <a:rPr sz="20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del</a:t>
            </a:r>
            <a:r>
              <a:rPr sz="2000" spc="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árbol</a:t>
            </a:r>
            <a:endParaRPr sz="2000" dirty="0">
              <a:latin typeface="Microsoft Sans Serif"/>
              <a:cs typeface="Microsoft Sans Serif"/>
            </a:endParaRPr>
          </a:p>
          <a:p>
            <a:pPr marL="1384300" lvl="2" indent="-457200">
              <a:lnSpc>
                <a:spcPct val="100000"/>
              </a:lnSpc>
              <a:spcBef>
                <a:spcPts val="500"/>
              </a:spcBef>
              <a:buChar char="•"/>
              <a:tabLst>
                <a:tab pos="138430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Al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inicio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todos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 de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están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raíz</a:t>
            </a:r>
            <a:endParaRPr sz="1800" dirty="0">
              <a:latin typeface="Microsoft Sans Serif"/>
              <a:cs typeface="Microsoft Sans Serif"/>
            </a:endParaRPr>
          </a:p>
          <a:p>
            <a:pPr marL="1384300" lvl="2" indent="-457200">
              <a:lnSpc>
                <a:spcPct val="100000"/>
              </a:lnSpc>
              <a:spcBef>
                <a:spcPts val="505"/>
              </a:spcBef>
              <a:buChar char="•"/>
              <a:tabLst>
                <a:tab pos="138430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partición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 se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realiza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recursivamente</a:t>
            </a:r>
            <a:endParaRPr sz="1800" dirty="0">
              <a:latin typeface="Microsoft Sans Serif"/>
              <a:cs typeface="Microsoft Sans Serif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basándose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selección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</a:t>
            </a:r>
            <a:endParaRPr sz="1800" dirty="0">
              <a:latin typeface="Microsoft Sans Serif"/>
              <a:cs typeface="Microsoft Sans Serif"/>
            </a:endParaRPr>
          </a:p>
          <a:p>
            <a:pPr marL="1001394" lvl="1" indent="-531495">
              <a:lnSpc>
                <a:spcPct val="100000"/>
              </a:lnSpc>
              <a:spcBef>
                <a:spcPts val="495"/>
              </a:spcBef>
              <a:buAutoNum type="arabicPeriod" startAt="2"/>
              <a:tabLst>
                <a:tab pos="1001394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Podado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del</a:t>
            </a:r>
            <a:r>
              <a:rPr sz="2000" spc="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árbol</a:t>
            </a:r>
            <a:endParaRPr sz="2000" dirty="0">
              <a:latin typeface="Microsoft Sans Serif"/>
              <a:cs typeface="Microsoft Sans Serif"/>
            </a:endParaRPr>
          </a:p>
          <a:p>
            <a:pPr marL="1384300" marR="77470" lvl="2" indent="-457200">
              <a:lnSpc>
                <a:spcPct val="100000"/>
              </a:lnSpc>
              <a:spcBef>
                <a:spcPts val="500"/>
              </a:spcBef>
              <a:buChar char="•"/>
              <a:tabLst>
                <a:tab pos="138430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objetivo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eliminar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ramas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reflejen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ruido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lleven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errores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cuando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se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clasifiquen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r>
              <a:rPr sz="1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mejorar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exactitud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¿Cómo</a:t>
            </a:r>
            <a:r>
              <a:rPr spc="15" dirty="0"/>
              <a:t> </a:t>
            </a:r>
            <a:r>
              <a:rPr dirty="0"/>
              <a:t>construir</a:t>
            </a:r>
            <a:r>
              <a:rPr spc="5" dirty="0"/>
              <a:t> </a:t>
            </a:r>
            <a:r>
              <a:rPr dirty="0"/>
              <a:t>un</a:t>
            </a:r>
            <a:r>
              <a:rPr spc="10" dirty="0"/>
              <a:t> </a:t>
            </a:r>
            <a:r>
              <a:rPr spc="-10" dirty="0"/>
              <a:t>árbol?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9942" y="1981200"/>
            <a:ext cx="7524115" cy="357632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15"/>
              </a:spcBef>
              <a:buChar char="•"/>
              <a:tabLst>
                <a:tab pos="35369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Algoritmo</a:t>
            </a:r>
            <a:endParaRPr sz="2800" dirty="0">
              <a:latin typeface="Microsoft Sans Serif"/>
              <a:cs typeface="Microsoft Sans Serif"/>
            </a:endParaRPr>
          </a:p>
          <a:p>
            <a:pPr marL="754380" lvl="1" indent="-284480">
              <a:lnSpc>
                <a:spcPct val="100000"/>
              </a:lnSpc>
              <a:spcBef>
                <a:spcPts val="615"/>
              </a:spcBef>
              <a:buChar char="–"/>
              <a:tabLst>
                <a:tab pos="754380" algn="l"/>
              </a:tabLst>
            </a:pP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Greedy</a:t>
            </a:r>
            <a:endParaRPr sz="2400" dirty="0">
              <a:latin typeface="Microsoft Sans Serif"/>
              <a:cs typeface="Microsoft Sans Serif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09"/>
              </a:spcBef>
              <a:buChar char="•"/>
              <a:tabLst>
                <a:tab pos="115570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Hacer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elección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optimal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paso: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seleccionar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el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mejor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 para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 del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endParaRPr sz="2000" dirty="0">
              <a:latin typeface="Microsoft Sans Serif"/>
              <a:cs typeface="Microsoft Sans Serif"/>
            </a:endParaRPr>
          </a:p>
          <a:p>
            <a:pPr lvl="2">
              <a:lnSpc>
                <a:spcPct val="100000"/>
              </a:lnSpc>
              <a:spcBef>
                <a:spcPts val="1225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754380" lvl="1" indent="-284480">
              <a:lnSpc>
                <a:spcPct val="100000"/>
              </a:lnSpc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Divide</a:t>
            </a:r>
            <a:r>
              <a:rPr sz="2400" spc="-4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y</a:t>
            </a:r>
            <a:r>
              <a:rPr sz="2400" spc="-4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conquista</a:t>
            </a:r>
            <a:r>
              <a:rPr sz="24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recursivo</a:t>
            </a:r>
            <a:r>
              <a:rPr sz="24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top-</a:t>
            </a:r>
            <a:r>
              <a:rPr sz="24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down</a:t>
            </a:r>
            <a:endParaRPr sz="2400" dirty="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ct val="100000"/>
              </a:lnSpc>
              <a:spcBef>
                <a:spcPts val="509"/>
              </a:spcBef>
              <a:buChar char="•"/>
              <a:tabLst>
                <a:tab pos="115570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raíz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hojas</a:t>
            </a:r>
            <a:endParaRPr sz="2000" dirty="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Char char="•"/>
              <a:tabLst>
                <a:tab pos="115570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Partir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varias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ramas</a:t>
            </a:r>
            <a:endParaRPr sz="2000" dirty="0">
              <a:latin typeface="Microsoft Sans Serif"/>
              <a:cs typeface="Microsoft Sans Serif"/>
            </a:endParaRPr>
          </a:p>
          <a:p>
            <a:pPr marL="1155700" lvl="2" indent="-228600">
              <a:lnSpc>
                <a:spcPct val="100000"/>
              </a:lnSpc>
              <a:spcBef>
                <a:spcPts val="495"/>
              </a:spcBef>
              <a:buChar char="•"/>
              <a:tabLst>
                <a:tab pos="115570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rama,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correr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recursivamente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algoritmo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3703" y="440595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Construcción</a:t>
            </a:r>
            <a:r>
              <a:rPr spc="-50" dirty="0"/>
              <a:t> </a:t>
            </a:r>
            <a:r>
              <a:rPr dirty="0"/>
              <a:t>del</a:t>
            </a:r>
            <a:r>
              <a:rPr spc="-40" dirty="0"/>
              <a:t> </a:t>
            </a:r>
            <a:r>
              <a:rPr dirty="0"/>
              <a:t>árbol</a:t>
            </a:r>
            <a:r>
              <a:rPr spc="-3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decisión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8958" y="1600200"/>
            <a:ext cx="7616190" cy="4490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71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33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comienza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180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solo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representa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todos</a:t>
            </a:r>
            <a:r>
              <a:rPr sz="180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18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505"/>
              </a:spcBef>
              <a:buChar char="•"/>
              <a:tabLst>
                <a:tab pos="35369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1800" spc="4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4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1800" spc="4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tienen</a:t>
            </a:r>
            <a:r>
              <a:rPr sz="1800" spc="43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todos</a:t>
            </a:r>
            <a:r>
              <a:rPr sz="1800" spc="459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4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misma</a:t>
            </a:r>
            <a:r>
              <a:rPr sz="1800" spc="4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clase,</a:t>
            </a:r>
            <a:r>
              <a:rPr sz="1800" spc="4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entonces</a:t>
            </a:r>
            <a:r>
              <a:rPr sz="1800" spc="4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4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1800" spc="43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endParaRPr sz="1800" dirty="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convierte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 hoja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endParaRPr sz="1800" dirty="0">
              <a:latin typeface="Microsoft Sans Serif"/>
              <a:cs typeface="Microsoft Sans Serif"/>
            </a:endParaRPr>
          </a:p>
          <a:p>
            <a:pPr marL="354330" marR="6350" indent="-342265">
              <a:lnSpc>
                <a:spcPct val="100000"/>
              </a:lnSpc>
              <a:spcBef>
                <a:spcPts val="490"/>
              </a:spcBef>
              <a:buChar char="•"/>
              <a:tabLst>
                <a:tab pos="35433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18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no,</a:t>
            </a:r>
            <a:r>
              <a:rPr sz="18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9900"/>
                </a:solidFill>
                <a:latin typeface="Microsoft Sans Serif"/>
                <a:cs typeface="Microsoft Sans Serif"/>
              </a:rPr>
              <a:t>selecciona</a:t>
            </a:r>
            <a:r>
              <a:rPr sz="1800" spc="35" dirty="0">
                <a:solidFill>
                  <a:srgbClr val="FF99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9900"/>
                </a:solidFill>
                <a:latin typeface="Microsoft Sans Serif"/>
                <a:cs typeface="Microsoft Sans Serif"/>
              </a:rPr>
              <a:t>un</a:t>
            </a:r>
            <a:r>
              <a:rPr sz="1800" spc="40" dirty="0">
                <a:solidFill>
                  <a:srgbClr val="FF99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9900"/>
                </a:solidFill>
                <a:latin typeface="Microsoft Sans Serif"/>
                <a:cs typeface="Microsoft Sans Serif"/>
              </a:rPr>
              <a:t>atributo</a:t>
            </a:r>
            <a:r>
              <a:rPr sz="1800" spc="40" dirty="0">
                <a:solidFill>
                  <a:srgbClr val="FF99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18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mejor</a:t>
            </a:r>
            <a:r>
              <a:rPr sz="18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separe</a:t>
            </a:r>
            <a:r>
              <a:rPr sz="18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muestra</a:t>
            </a:r>
            <a:r>
              <a:rPr sz="18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individuales.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Este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convierte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test.</a:t>
            </a:r>
            <a:endParaRPr sz="1800" dirty="0">
              <a:latin typeface="Microsoft Sans Serif"/>
              <a:cs typeface="Microsoft Sans Serif"/>
            </a:endParaRPr>
          </a:p>
          <a:p>
            <a:pPr marL="354330" marR="6985" indent="-342265">
              <a:lnSpc>
                <a:spcPct val="100000"/>
              </a:lnSpc>
              <a:spcBef>
                <a:spcPts val="509"/>
              </a:spcBef>
              <a:buChar char="•"/>
              <a:tabLst>
                <a:tab pos="35433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2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crea</a:t>
            </a:r>
            <a:r>
              <a:rPr sz="1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1800" spc="2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</a:t>
            </a:r>
            <a:r>
              <a:rPr sz="1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1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180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1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conocido</a:t>
            </a:r>
            <a:r>
              <a:rPr sz="1800" spc="2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1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1800" spc="2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test,</a:t>
            </a:r>
            <a:r>
              <a:rPr sz="1800" spc="2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1800" spc="2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se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particionan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acuerdo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estas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ramas</a:t>
            </a:r>
            <a:endParaRPr sz="1800" dirty="0">
              <a:latin typeface="Microsoft Sans Serif"/>
              <a:cs typeface="Microsoft Sans Serif"/>
            </a:endParaRPr>
          </a:p>
          <a:p>
            <a:pPr marL="354330" marR="7620" indent="-342265">
              <a:lnSpc>
                <a:spcPct val="100000"/>
              </a:lnSpc>
              <a:spcBef>
                <a:spcPts val="500"/>
              </a:spcBef>
              <a:buChar char="•"/>
              <a:tabLst>
                <a:tab pos="354330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800" spc="3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aplica</a:t>
            </a:r>
            <a:r>
              <a:rPr sz="1800" spc="3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3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proceso</a:t>
            </a:r>
            <a:r>
              <a:rPr sz="1800" spc="3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recursivamente,</a:t>
            </a:r>
            <a:r>
              <a:rPr sz="1800" spc="3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3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formar</a:t>
            </a:r>
            <a:r>
              <a:rPr sz="1800" spc="3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1800" spc="3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1800" spc="3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3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los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partición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495"/>
              </a:spcBef>
              <a:buChar char="•"/>
              <a:tabLst>
                <a:tab pos="35369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recursión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termina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cuando:</a:t>
            </a:r>
            <a:endParaRPr sz="1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405"/>
              </a:spcBef>
              <a:buChar char="–"/>
              <a:tabLst>
                <a:tab pos="755015" algn="l"/>
              </a:tabLst>
            </a:pP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16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6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6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16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corresponden a la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misma 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endParaRPr sz="1600" dirty="0">
              <a:latin typeface="Microsoft Sans Serif"/>
              <a:cs typeface="Microsoft Sans Serif"/>
            </a:endParaRPr>
          </a:p>
          <a:p>
            <a:pPr marL="755015" marR="5080" lvl="1" indent="-285115">
              <a:lnSpc>
                <a:spcPct val="100000"/>
              </a:lnSpc>
              <a:spcBef>
                <a:spcPts val="409"/>
              </a:spcBef>
              <a:buChar char="–"/>
              <a:tabLst>
                <a:tab pos="755015" algn="l"/>
                <a:tab pos="1158875" algn="l"/>
                <a:tab pos="1979930" algn="l"/>
                <a:tab pos="2510790" algn="l"/>
                <a:tab pos="3434079" algn="l"/>
                <a:tab pos="4088129" algn="l"/>
                <a:tab pos="4493895" algn="l"/>
                <a:tab pos="5225415" algn="l"/>
                <a:tab pos="6059170" algn="l"/>
                <a:tab pos="6655434" algn="l"/>
                <a:tab pos="7129145" algn="l"/>
              </a:tabLst>
            </a:pP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quedan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sobre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cuales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separar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(hoja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 mayoritaria)</a:t>
            </a:r>
            <a:endParaRPr sz="16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95"/>
              </a:spcBef>
              <a:buChar char="–"/>
              <a:tabLst>
                <a:tab pos="755015" algn="l"/>
              </a:tabLst>
            </a:pP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1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hay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16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16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1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 (para</a:t>
            </a:r>
            <a:r>
              <a:rPr sz="1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rama)</a:t>
            </a:r>
            <a:endParaRPr sz="1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8600" y="307766"/>
            <a:ext cx="868680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95"/>
              </a:spcBef>
            </a:pPr>
            <a:r>
              <a:rPr sz="4000" b="1" dirty="0"/>
              <a:t>Cuestiones</a:t>
            </a:r>
            <a:r>
              <a:rPr sz="4000" b="1" spc="-90" dirty="0"/>
              <a:t> </a:t>
            </a:r>
            <a:r>
              <a:rPr sz="4000" b="1" dirty="0"/>
              <a:t>principales</a:t>
            </a:r>
            <a:r>
              <a:rPr sz="4000" b="1" spc="-70" dirty="0"/>
              <a:t> </a:t>
            </a:r>
            <a:r>
              <a:rPr sz="4000" b="1" dirty="0"/>
              <a:t>en</a:t>
            </a:r>
            <a:r>
              <a:rPr sz="4000" b="1" spc="-80" dirty="0"/>
              <a:t> </a:t>
            </a:r>
            <a:r>
              <a:rPr sz="4000" b="1" dirty="0"/>
              <a:t>la</a:t>
            </a:r>
            <a:r>
              <a:rPr sz="4000" b="1" spc="-75" dirty="0"/>
              <a:t> </a:t>
            </a:r>
            <a:r>
              <a:rPr sz="4000" b="1" dirty="0" err="1"/>
              <a:t>construcción</a:t>
            </a:r>
            <a:r>
              <a:rPr sz="4000" b="1" spc="-90" dirty="0"/>
              <a:t> </a:t>
            </a:r>
            <a:r>
              <a:rPr sz="4000" b="1" spc="-25" dirty="0"/>
              <a:t>de</a:t>
            </a:r>
            <a:r>
              <a:rPr lang="es-ES" sz="4000" b="1" spc="-25" dirty="0"/>
              <a:t> </a:t>
            </a:r>
            <a:r>
              <a:rPr sz="4000" b="1" spc="-10" dirty="0" err="1"/>
              <a:t>árboles</a:t>
            </a:r>
            <a:endParaRPr sz="4000" b="1"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764540" y="1669447"/>
            <a:ext cx="7616825" cy="26936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30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Criterio</a:t>
            </a:r>
            <a:r>
              <a:rPr sz="20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separación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ts val="2055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Usado</a:t>
            </a:r>
            <a:r>
              <a:rPr sz="1800" spc="3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3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seleccionar</a:t>
            </a:r>
            <a:r>
              <a:rPr sz="1800" spc="3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1800" spc="3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1800" spc="3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1800" spc="3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separar</a:t>
            </a:r>
            <a:r>
              <a:rPr sz="1800" spc="3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1800" spc="3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1800" spc="3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1800" spc="3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endParaRPr sz="1800" dirty="0">
              <a:latin typeface="Microsoft Sans Serif"/>
              <a:cs typeface="Microsoft Sans Serif"/>
            </a:endParaRPr>
          </a:p>
          <a:p>
            <a:pPr marL="755015">
              <a:lnSpc>
                <a:spcPts val="2055"/>
              </a:lnSpc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durante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fase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generación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árbol</a:t>
            </a:r>
            <a:endParaRPr sz="1800" dirty="0">
              <a:latin typeface="Microsoft Sans Serif"/>
              <a:cs typeface="Microsoft Sans Serif"/>
            </a:endParaRPr>
          </a:p>
          <a:p>
            <a:pPr marL="755015" marR="7620" lvl="1" indent="-285115">
              <a:lnSpc>
                <a:spcPts val="1939"/>
              </a:lnSpc>
              <a:spcBef>
                <a:spcPts val="52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Diferentes algoritmos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pueden usar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distintas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funciones: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ganancia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información,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gini,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etc.</a:t>
            </a:r>
            <a:endParaRPr sz="18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34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Esquema</a:t>
            </a:r>
            <a:r>
              <a:rPr sz="20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ramificado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29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Determinará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rama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cual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 una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muestra</a:t>
            </a:r>
            <a:endParaRPr sz="18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ts val="2050"/>
              </a:lnSpc>
              <a:spcBef>
                <a:spcPts val="275"/>
              </a:spcBef>
              <a:buChar char="–"/>
              <a:tabLst>
                <a:tab pos="75501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Separación</a:t>
            </a:r>
            <a:r>
              <a:rPr sz="180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binaria</a:t>
            </a:r>
            <a:r>
              <a:rPr sz="180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(gini)</a:t>
            </a:r>
            <a:r>
              <a:rPr sz="180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versus</a:t>
            </a:r>
            <a:r>
              <a:rPr sz="180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separación</a:t>
            </a:r>
            <a:r>
              <a:rPr sz="180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múltiple</a:t>
            </a:r>
            <a:r>
              <a:rPr sz="180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(ganancia</a:t>
            </a:r>
            <a:r>
              <a:rPr sz="180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endParaRPr sz="1800" dirty="0">
              <a:latin typeface="Microsoft Sans Serif"/>
              <a:cs typeface="Microsoft Sans Serif"/>
            </a:endParaRPr>
          </a:p>
          <a:p>
            <a:pPr marL="755015">
              <a:lnSpc>
                <a:spcPts val="2050"/>
              </a:lnSpc>
            </a:pP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información)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8769" y="4747757"/>
            <a:ext cx="3749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245" algn="l"/>
                <a:tab pos="1382395" algn="l"/>
                <a:tab pos="1805939" algn="l"/>
                <a:tab pos="2484755" algn="l"/>
                <a:tab pos="3482975" algn="l"/>
              </a:tabLst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separar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(medida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4363117"/>
            <a:ext cx="3718560" cy="93154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30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Decisiones</a:t>
            </a:r>
            <a:r>
              <a:rPr sz="2000" spc="-5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terminación</a:t>
            </a:r>
            <a:endParaRPr sz="2000" dirty="0">
              <a:latin typeface="Microsoft Sans Serif"/>
              <a:cs typeface="Microsoft Sans Serif"/>
            </a:endParaRPr>
          </a:p>
          <a:p>
            <a:pPr marL="755015" marR="5080" indent="-285115">
              <a:lnSpc>
                <a:spcPts val="1939"/>
              </a:lnSpc>
              <a:spcBef>
                <a:spcPts val="545"/>
              </a:spcBef>
              <a:tabLst>
                <a:tab pos="755015" algn="l"/>
                <a:tab pos="1724025" algn="l"/>
                <a:tab pos="2913380" algn="l"/>
                <a:tab pos="3196590" algn="l"/>
              </a:tabLst>
            </a:pPr>
            <a:r>
              <a:rPr sz="1800" spc="420" dirty="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Cuando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detenerse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dejar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impureza)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Poda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5257800"/>
            <a:ext cx="7614920" cy="93154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34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Reglas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etiquetado</a:t>
            </a:r>
            <a:endParaRPr sz="2000" dirty="0">
              <a:latin typeface="Microsoft Sans Serif"/>
              <a:cs typeface="Microsoft Sans Serif"/>
            </a:endParaRPr>
          </a:p>
          <a:p>
            <a:pPr marL="755015" marR="5080" indent="-285115">
              <a:lnSpc>
                <a:spcPts val="1939"/>
              </a:lnSpc>
              <a:spcBef>
                <a:spcPts val="540"/>
              </a:spcBef>
              <a:tabLst>
                <a:tab pos="755015" algn="l"/>
                <a:tab pos="1175385" algn="l"/>
                <a:tab pos="1812289" algn="l"/>
                <a:tab pos="2183130" algn="l"/>
                <a:tab pos="3379470" algn="l"/>
                <a:tab pos="4068445" algn="l"/>
                <a:tab pos="4375150" algn="l"/>
                <a:tab pos="5038090" algn="l"/>
                <a:tab pos="5293995" algn="l"/>
                <a:tab pos="5601970" algn="l"/>
                <a:tab pos="6149340" algn="l"/>
                <a:tab pos="7421880" algn="l"/>
              </a:tabLst>
            </a:pPr>
            <a:r>
              <a:rPr sz="1800" spc="420" dirty="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etiquetado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como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cual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pertenecen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mayoría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 ejemplos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pertenecen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él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5204" y="200085"/>
            <a:ext cx="7886700" cy="1458680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Elección</a:t>
            </a:r>
            <a:r>
              <a:rPr sz="4000" spc="-50" dirty="0"/>
              <a:t> </a:t>
            </a:r>
            <a:r>
              <a:rPr sz="4000" dirty="0"/>
              <a:t>del</a:t>
            </a:r>
            <a:r>
              <a:rPr sz="4000" spc="-40" dirty="0"/>
              <a:t> </a:t>
            </a:r>
            <a:r>
              <a:rPr sz="4000" dirty="0"/>
              <a:t>mejor</a:t>
            </a:r>
            <a:r>
              <a:rPr sz="4000" spc="-35" dirty="0"/>
              <a:t> </a:t>
            </a:r>
            <a:r>
              <a:rPr sz="4000" dirty="0"/>
              <a:t>atributo</a:t>
            </a:r>
            <a:r>
              <a:rPr sz="4000" spc="-50" dirty="0"/>
              <a:t> </a:t>
            </a:r>
            <a:r>
              <a:rPr sz="4000" dirty="0"/>
              <a:t>para</a:t>
            </a:r>
            <a:r>
              <a:rPr sz="4000" spc="-40" dirty="0"/>
              <a:t> </a:t>
            </a:r>
            <a:r>
              <a:rPr sz="4000" spc="-10" dirty="0"/>
              <a:t>clasificar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4400" y="1905000"/>
            <a:ext cx="6687820" cy="415226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05"/>
              </a:spcBef>
              <a:buChar char="•"/>
              <a:tabLst>
                <a:tab pos="353695" algn="l"/>
              </a:tabLst>
            </a:pP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Aleatoria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Menos</a:t>
            </a:r>
            <a:r>
              <a:rPr sz="3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valores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32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valores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Ganancia</a:t>
            </a:r>
            <a:r>
              <a:rPr sz="32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32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</a:t>
            </a:r>
            <a:r>
              <a:rPr sz="3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(máxima)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Índice</a:t>
            </a:r>
            <a:r>
              <a:rPr sz="3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Gini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Razón de</a:t>
            </a:r>
            <a:r>
              <a:rPr sz="32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ganancia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...</a:t>
            </a:r>
            <a:endParaRPr sz="32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349" y="195739"/>
            <a:ext cx="7886700" cy="1325563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1323340">
              <a:lnSpc>
                <a:spcPct val="100000"/>
              </a:lnSpc>
              <a:spcBef>
                <a:spcPts val="95"/>
              </a:spcBef>
            </a:pPr>
            <a:r>
              <a:rPr dirty="0"/>
              <a:t>Algoritmo</a:t>
            </a:r>
            <a:r>
              <a:rPr spc="-70" dirty="0"/>
              <a:t> </a:t>
            </a:r>
            <a:r>
              <a:rPr dirty="0"/>
              <a:t>ID3</a:t>
            </a:r>
            <a:r>
              <a:rPr spc="-65" dirty="0"/>
              <a:t> </a:t>
            </a:r>
            <a:r>
              <a:rPr dirty="0"/>
              <a:t>(Induction</a:t>
            </a:r>
            <a:r>
              <a:rPr spc="-70" dirty="0"/>
              <a:t> </a:t>
            </a:r>
            <a:r>
              <a:rPr dirty="0"/>
              <a:t>Decision</a:t>
            </a:r>
            <a:r>
              <a:rPr spc="-60" dirty="0"/>
              <a:t> </a:t>
            </a:r>
            <a:r>
              <a:rPr spc="-10" dirty="0"/>
              <a:t>Trees)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3319" y="1905000"/>
            <a:ext cx="7350759" cy="4373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chemeClr val="tx1"/>
              </a:buClr>
              <a:buChar char="•"/>
              <a:tabLst>
                <a:tab pos="355600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Algoritmo</a:t>
            </a:r>
            <a:r>
              <a:rPr sz="28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matemático</a:t>
            </a:r>
            <a:r>
              <a:rPr sz="28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8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construir</a:t>
            </a:r>
            <a:r>
              <a:rPr sz="28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árboles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decisión</a:t>
            </a:r>
            <a:endParaRPr sz="2800"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Clr>
                <a:schemeClr val="tx1"/>
              </a:buClr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Desarrollado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R.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Quinlan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1979</a:t>
            </a:r>
            <a:endParaRPr sz="2800" dirty="0">
              <a:latin typeface="Microsoft Sans Serif"/>
              <a:cs typeface="Microsoft Sans Serif"/>
            </a:endParaRPr>
          </a:p>
          <a:p>
            <a:pPr marL="355600" marR="1033144" indent="-342900">
              <a:lnSpc>
                <a:spcPct val="100000"/>
              </a:lnSpc>
              <a:spcBef>
                <a:spcPts val="790"/>
              </a:spcBef>
              <a:buClr>
                <a:schemeClr val="tx1"/>
              </a:buClr>
              <a:buChar char="•"/>
              <a:tabLst>
                <a:tab pos="355600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Hace</a:t>
            </a:r>
            <a:r>
              <a:rPr sz="2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uso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Teoría</a:t>
            </a:r>
            <a:r>
              <a:rPr sz="28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desarrollada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Shannon</a:t>
            </a:r>
            <a:endParaRPr sz="2800"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810"/>
              </a:spcBef>
              <a:buClr>
                <a:schemeClr val="tx1"/>
              </a:buClr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Construye</a:t>
            </a:r>
            <a:r>
              <a:rPr sz="2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arriba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hacia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abajo</a:t>
            </a:r>
            <a:endParaRPr sz="2800" dirty="0">
              <a:latin typeface="Microsoft Sans Serif"/>
              <a:cs typeface="Microsoft Sans Serif"/>
            </a:endParaRPr>
          </a:p>
          <a:p>
            <a:pPr marL="355600" marR="1189990" indent="-342900">
              <a:lnSpc>
                <a:spcPct val="100000"/>
              </a:lnSpc>
              <a:spcBef>
                <a:spcPts val="805"/>
              </a:spcBef>
              <a:buClr>
                <a:schemeClr val="tx1"/>
              </a:buClr>
              <a:buChar char="•"/>
              <a:tabLst>
                <a:tab pos="355600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Usa</a:t>
            </a:r>
            <a:r>
              <a:rPr sz="28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ganancia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seleccionar</a:t>
            </a:r>
            <a:r>
              <a:rPr sz="28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8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8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particionar</a:t>
            </a:r>
            <a:endParaRPr sz="2800" dirty="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Clr>
                <a:schemeClr val="tx1"/>
              </a:buClr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ID3,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C4.5,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J48…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170" y="365367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Ganancia</a:t>
            </a:r>
            <a:r>
              <a:rPr spc="-5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Información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8525" y="1669587"/>
            <a:ext cx="7616825" cy="4370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6350" indent="-342265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433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El</a:t>
            </a:r>
            <a:r>
              <a:rPr sz="200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00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2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</a:t>
            </a:r>
            <a:r>
              <a:rPr sz="2000" spc="2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mayor</a:t>
            </a:r>
            <a:r>
              <a:rPr sz="2000" spc="27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ganancia</a:t>
            </a:r>
            <a:r>
              <a:rPr sz="2000" spc="26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27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información</a:t>
            </a:r>
            <a:r>
              <a:rPr sz="2000" spc="27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utiliza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particionar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354330" marR="5080" indent="-342265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35433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Minimizar</a:t>
            </a:r>
            <a:r>
              <a:rPr sz="2000" spc="30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31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</a:t>
            </a:r>
            <a:r>
              <a:rPr sz="2000" spc="30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31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30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necesita</a:t>
            </a:r>
            <a:r>
              <a:rPr sz="2000" spc="31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31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clasificar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particiones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resultantes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354330" marR="5080" indent="-342265" algn="just">
              <a:lnSpc>
                <a:spcPct val="100000"/>
              </a:lnSpc>
              <a:buChar char="•"/>
              <a:tabLst>
                <a:tab pos="35433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Mide</a:t>
            </a:r>
            <a:r>
              <a:rPr sz="20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qué</a:t>
            </a:r>
            <a:r>
              <a:rPr sz="200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tan</a:t>
            </a:r>
            <a:r>
              <a:rPr sz="200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separa</a:t>
            </a:r>
            <a:r>
              <a:rPr sz="2000" spc="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00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200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r>
              <a:rPr sz="200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dado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acuerdo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su</a:t>
            </a:r>
            <a:r>
              <a:rPr sz="200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 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objetivo (impurezas)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354330" marR="5080" indent="-342265" algn="just">
              <a:lnSpc>
                <a:spcPct val="100000"/>
              </a:lnSpc>
              <a:buChar char="•"/>
              <a:tabLst>
                <a:tab pos="354330" algn="l"/>
                <a:tab pos="35623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	Minimiza</a:t>
            </a:r>
            <a:r>
              <a:rPr sz="2000" spc="3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el</a:t>
            </a:r>
            <a:r>
              <a:rPr sz="2000" spc="3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número</a:t>
            </a:r>
            <a:r>
              <a:rPr sz="2000" spc="3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esperado</a:t>
            </a:r>
            <a:r>
              <a:rPr sz="2000" spc="3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3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tests</a:t>
            </a:r>
            <a:r>
              <a:rPr sz="2000" spc="3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3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3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necesitan</a:t>
            </a:r>
            <a:r>
              <a:rPr sz="2000" spc="3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clasificar</a:t>
            </a:r>
            <a:r>
              <a:rPr sz="20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objeto</a:t>
            </a:r>
            <a:r>
              <a:rPr sz="20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0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garantiza</a:t>
            </a:r>
            <a:r>
              <a:rPr sz="20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construcción</a:t>
            </a:r>
            <a:r>
              <a:rPr sz="2000" spc="50" dirty="0">
                <a:solidFill>
                  <a:srgbClr val="CCCC00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50" dirty="0">
                <a:solidFill>
                  <a:srgbClr val="CCCC00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un</a:t>
            </a:r>
            <a:r>
              <a:rPr sz="2000" spc="50" dirty="0">
                <a:solidFill>
                  <a:srgbClr val="CCCC00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árbol simple.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249334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Entropía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5155" y="1371600"/>
            <a:ext cx="793369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34645" indent="156845">
              <a:lnSpc>
                <a:spcPct val="100000"/>
              </a:lnSpc>
              <a:spcBef>
                <a:spcPts val="105"/>
              </a:spcBef>
              <a:buSzPct val="97500"/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grado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incertidumbre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asociado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 una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distribución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probabilidad.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12700" marR="379095" indent="156845">
              <a:lnSpc>
                <a:spcPct val="100000"/>
              </a:lnSpc>
              <a:buSzPct val="97500"/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 una distribución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uniforme,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todos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 valores son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igualmente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probables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Pi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 1/N y por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tanto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entropía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 máxima,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lo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cual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indica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máxima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incertidumbre.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12700" marR="27305" indent="-12700">
              <a:lnSpc>
                <a:spcPct val="100000"/>
              </a:lnSpc>
              <a:buSzPct val="97500"/>
              <a:buChar char="•"/>
              <a:tabLst>
                <a:tab pos="10033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	Por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contrario,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distribución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pico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Pi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y Pj=0,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j≠i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entropía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mínima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lo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cual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indica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mínima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incertidumbre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o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máxima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información.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solidFill>
                  <a:srgbClr val="FFFF00"/>
                </a:solidFill>
                <a:latin typeface="Microsoft Sans Serif"/>
                <a:cs typeface="Microsoft Sans Serif"/>
              </a:rPr>
              <a:t>Entropía:</a:t>
            </a:r>
            <a:r>
              <a:rPr sz="2000" spc="-15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mínimo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teórico de</a:t>
            </a:r>
            <a:r>
              <a:rPr sz="20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bits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promedio necesarios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trasmitir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mensajes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sobre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{x1,x2,…,xn}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distribución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probabilidades</a:t>
            </a:r>
            <a:r>
              <a:rPr sz="20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P(X=xi)=pi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Entropy(P)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-(p1*log(p1)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+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p2*log(p2)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+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..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+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pn*log(pn))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02640" y="1690689"/>
            <a:ext cx="7538720" cy="363347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590"/>
              </a:spcBef>
              <a:buChar char="•"/>
              <a:tabLst>
                <a:tab pos="35369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Supongamos que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hay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clases,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endParaRPr sz="2400">
              <a:latin typeface="Microsoft Sans Serif"/>
              <a:cs typeface="Microsoft Sans Serif"/>
            </a:endParaRPr>
          </a:p>
          <a:p>
            <a:pPr marL="755015" marR="17780" lvl="1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Sea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contiene</a:t>
            </a:r>
            <a:r>
              <a:rPr sz="24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4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icrosoft Sans Serif"/>
                <a:cs typeface="Microsoft Sans Serif"/>
              </a:rPr>
              <a:t>x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elementos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icrosoft Sans Serif"/>
                <a:cs typeface="Microsoft Sans Serif"/>
              </a:rPr>
              <a:t>y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elementos de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endParaRPr sz="2400">
              <a:latin typeface="Microsoft Sans Serif"/>
              <a:cs typeface="Microsoft Sans Serif"/>
            </a:endParaRPr>
          </a:p>
          <a:p>
            <a:pPr marL="755015" marR="5080" lvl="1" indent="-285115">
              <a:lnSpc>
                <a:spcPct val="100000"/>
              </a:lnSpc>
              <a:spcBef>
                <a:spcPts val="505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cantidad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necesita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decidir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arbitrario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P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define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como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845185" algn="ctr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gral.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4775520"/>
            <a:ext cx="3736975" cy="6953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6900" y="4851656"/>
            <a:ext cx="2057400" cy="617537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AD4543BA-82DC-49B9-BBF0-AA626186CD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49334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Entropía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232" y="341462"/>
            <a:ext cx="7886700" cy="780983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600" spc="-10" dirty="0">
                <a:solidFill>
                  <a:schemeClr val="tx1"/>
                </a:solidFill>
              </a:rPr>
              <a:t>Ejemplo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5300" y="1447800"/>
            <a:ext cx="8153400" cy="4547235"/>
            <a:chOff x="990600" y="1371472"/>
            <a:chExt cx="8153400" cy="4547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5200" y="3657599"/>
              <a:ext cx="5638799" cy="2260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600" y="1371599"/>
              <a:ext cx="3952875" cy="23050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8800" y="1371472"/>
              <a:ext cx="3055874" cy="21701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276481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Ganancia</a:t>
            </a:r>
            <a:r>
              <a:rPr spc="-5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información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8751" y="1676400"/>
            <a:ext cx="769239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12800" indent="156845">
              <a:lnSpc>
                <a:spcPct val="100000"/>
              </a:lnSpc>
              <a:spcBef>
                <a:spcPts val="105"/>
              </a:spcBef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Criterio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elegir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split: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seleccionar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split con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mayor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ganancia</a:t>
            </a:r>
            <a:r>
              <a:rPr sz="20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(Gain)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169545" indent="-156845">
              <a:lnSpc>
                <a:spcPct val="100000"/>
              </a:lnSpc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Equivalente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seleccionar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split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 la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menor</a:t>
            </a:r>
            <a:r>
              <a:rPr sz="2000" spc="-1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entropía</a:t>
            </a:r>
            <a:r>
              <a:rPr sz="2000" spc="-2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C000"/>
                </a:solidFill>
                <a:latin typeface="Microsoft Sans Serif"/>
                <a:cs typeface="Microsoft Sans Serif"/>
              </a:rPr>
              <a:t>ponderada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75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12700" marR="728345" indent="226695">
              <a:lnSpc>
                <a:spcPct val="100000"/>
              </a:lnSpc>
              <a:buChar char="•"/>
              <a:tabLst>
                <a:tab pos="23939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cuanto</a:t>
            </a:r>
            <a:r>
              <a:rPr sz="2000" spc="-2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ayuda</a:t>
            </a:r>
            <a:r>
              <a:rPr sz="2000" spc="-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conocer</a:t>
            </a:r>
            <a:r>
              <a:rPr sz="2000" spc="-3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valor</a:t>
            </a:r>
            <a:r>
              <a:rPr sz="2000" spc="-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de</a:t>
            </a:r>
            <a:r>
              <a:rPr sz="2000" spc="1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una</a:t>
            </a:r>
            <a:r>
              <a:rPr sz="2000" spc="-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C000"/>
                </a:solidFill>
                <a:latin typeface="Microsoft Sans Serif"/>
                <a:cs typeface="Microsoft Sans Serif"/>
              </a:rPr>
              <a:t>variable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aleatoria</a:t>
            </a:r>
            <a:r>
              <a:rPr sz="2000" spc="-3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X</a:t>
            </a:r>
            <a:r>
              <a:rPr sz="2000" spc="1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para</a:t>
            </a:r>
            <a:r>
              <a:rPr sz="2000" spc="-2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conocer</a:t>
            </a:r>
            <a:r>
              <a:rPr sz="2000" spc="-3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verdadero</a:t>
            </a:r>
            <a:r>
              <a:rPr sz="2000" spc="-2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valor</a:t>
            </a:r>
            <a:r>
              <a:rPr sz="2000" spc="1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otra</a:t>
            </a:r>
            <a:r>
              <a:rPr sz="2000" spc="-5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C000"/>
                </a:solidFill>
                <a:latin typeface="Microsoft Sans Serif"/>
                <a:cs typeface="Microsoft Sans Serif"/>
              </a:rPr>
              <a:t>Y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12700" marR="421005" indent="156845">
              <a:lnSpc>
                <a:spcPct val="100000"/>
              </a:lnSpc>
              <a:spcBef>
                <a:spcPts val="5"/>
              </a:spcBef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nuestro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caso,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X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 un atributo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un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 dado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mientras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ejemplo.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Microsoft Sans Serif"/>
              <a:buChar char="•"/>
            </a:pPr>
            <a:endParaRPr sz="2000" dirty="0">
              <a:latin typeface="Microsoft Sans Serif"/>
              <a:cs typeface="Microsoft Sans Serif"/>
            </a:endParaRPr>
          </a:p>
          <a:p>
            <a:pPr marL="169545" indent="-156845">
              <a:lnSpc>
                <a:spcPct val="100000"/>
              </a:lnSpc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alta</a:t>
            </a:r>
            <a:r>
              <a:rPr sz="2000" spc="-2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ganancia</a:t>
            </a:r>
            <a:r>
              <a:rPr sz="2000" spc="-2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implica que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atributo</a:t>
            </a:r>
            <a:r>
              <a:rPr sz="2000" spc="-3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X</a:t>
            </a:r>
            <a:r>
              <a:rPr sz="2000" spc="-1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permite</a:t>
            </a:r>
            <a:r>
              <a:rPr sz="2000" spc="-3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reducir</a:t>
            </a:r>
            <a:r>
              <a:rPr sz="2000" spc="-3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C000"/>
                </a:solidFill>
                <a:latin typeface="Microsoft Sans Serif"/>
                <a:cs typeface="Microsoft Sans Serif"/>
              </a:rPr>
              <a:t>la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incertidumbre</a:t>
            </a:r>
            <a:r>
              <a:rPr sz="2000" spc="-65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de</a:t>
            </a:r>
            <a:r>
              <a:rPr sz="2000" spc="-1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la clasificación</a:t>
            </a:r>
            <a:r>
              <a:rPr sz="2000" spc="-20" dirty="0">
                <a:solidFill>
                  <a:srgbClr val="FFC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entrada.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457200"/>
            <a:ext cx="7886700" cy="843127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Ganancia</a:t>
            </a:r>
            <a:r>
              <a:rPr sz="4000" spc="-75" dirty="0"/>
              <a:t> </a:t>
            </a:r>
            <a:r>
              <a:rPr sz="4000" dirty="0"/>
              <a:t>de</a:t>
            </a:r>
            <a:r>
              <a:rPr sz="4000" spc="-70" dirty="0"/>
              <a:t> </a:t>
            </a:r>
            <a:r>
              <a:rPr sz="4000" dirty="0"/>
              <a:t>Información:</a:t>
            </a:r>
            <a:r>
              <a:rPr sz="4000" spc="-75" dirty="0"/>
              <a:t> </a:t>
            </a:r>
            <a:r>
              <a:rPr sz="4000" spc="-10" dirty="0"/>
              <a:t>Ejemplo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5485" y="1710722"/>
            <a:ext cx="7733030" cy="45034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417195" indent="-340995">
              <a:lnSpc>
                <a:spcPct val="100000"/>
              </a:lnSpc>
              <a:spcBef>
                <a:spcPts val="600"/>
              </a:spcBef>
              <a:buChar char="•"/>
              <a:tabLst>
                <a:tab pos="41719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0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 seleccionado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tal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 la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ganancia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información</a:t>
            </a:r>
            <a:endParaRPr sz="2000" dirty="0">
              <a:latin typeface="Microsoft Sans Serif"/>
              <a:cs typeface="Microsoft Sans Serif"/>
            </a:endParaRPr>
          </a:p>
          <a:p>
            <a:pPr marL="9525" algn="ctr">
              <a:lnSpc>
                <a:spcPct val="100000"/>
              </a:lnSpc>
              <a:spcBef>
                <a:spcPts val="509"/>
              </a:spcBef>
            </a:pPr>
            <a:r>
              <a:rPr sz="2000" b="1" spc="-10" dirty="0">
                <a:solidFill>
                  <a:srgbClr val="CCCC00"/>
                </a:solidFill>
                <a:latin typeface="Arial"/>
                <a:cs typeface="Arial"/>
              </a:rPr>
              <a:t>Gain(A)=I(S</a:t>
            </a:r>
            <a:r>
              <a:rPr sz="1950" b="1" spc="-15" baseline="-21367" dirty="0">
                <a:solidFill>
                  <a:srgbClr val="CCCC00"/>
                </a:solidFill>
                <a:latin typeface="Arial"/>
                <a:cs typeface="Arial"/>
              </a:rPr>
              <a:t>P</a:t>
            </a:r>
            <a:r>
              <a:rPr sz="2000" b="1" spc="-10" dirty="0">
                <a:solidFill>
                  <a:srgbClr val="CCCC00"/>
                </a:solidFill>
                <a:latin typeface="Arial"/>
                <a:cs typeface="Arial"/>
              </a:rPr>
              <a:t>,</a:t>
            </a:r>
            <a:r>
              <a:rPr sz="2000" b="1" spc="-75" dirty="0">
                <a:solidFill>
                  <a:srgbClr val="CCCC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CCC00"/>
                </a:solidFill>
                <a:latin typeface="Arial"/>
                <a:cs typeface="Arial"/>
              </a:rPr>
              <a:t>S</a:t>
            </a:r>
            <a:r>
              <a:rPr sz="1950" b="1" baseline="-21367" dirty="0">
                <a:solidFill>
                  <a:srgbClr val="CCCC00"/>
                </a:solidFill>
                <a:latin typeface="Arial"/>
                <a:cs typeface="Arial"/>
              </a:rPr>
              <a:t>N</a:t>
            </a:r>
            <a:r>
              <a:rPr sz="2000" b="1" dirty="0">
                <a:solidFill>
                  <a:srgbClr val="CCCC00"/>
                </a:solidFill>
                <a:latin typeface="Arial"/>
                <a:cs typeface="Arial"/>
              </a:rPr>
              <a:t>)</a:t>
            </a:r>
            <a:r>
              <a:rPr sz="2000" b="1" spc="-30" dirty="0">
                <a:solidFill>
                  <a:srgbClr val="CCCC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CCC00"/>
                </a:solidFill>
                <a:latin typeface="Arial"/>
                <a:cs typeface="Arial"/>
              </a:rPr>
              <a:t>–</a:t>
            </a:r>
            <a:r>
              <a:rPr sz="2000" b="1" spc="-15" dirty="0">
                <a:solidFill>
                  <a:srgbClr val="CCCC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CCCC00"/>
                </a:solidFill>
                <a:latin typeface="Arial"/>
                <a:cs typeface="Arial"/>
              </a:rPr>
              <a:t>E(A)</a:t>
            </a:r>
            <a:endParaRPr sz="2000" dirty="0">
              <a:latin typeface="Arial"/>
              <a:cs typeface="Arial"/>
            </a:endParaRPr>
          </a:p>
          <a:p>
            <a:pPr marL="419100" marR="68580" indent="-342265">
              <a:lnSpc>
                <a:spcPct val="100000"/>
              </a:lnSpc>
              <a:spcBef>
                <a:spcPts val="490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sea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maximal,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decir,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E(A)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minimal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dado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I(S</a:t>
            </a:r>
            <a:r>
              <a:rPr sz="1950" spc="-15" baseline="-21367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1950" baseline="-21367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) es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misma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 todos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reducción</a:t>
            </a:r>
            <a:r>
              <a:rPr sz="20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esperada</a:t>
            </a:r>
            <a:r>
              <a:rPr sz="2000" spc="-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en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la</a:t>
            </a:r>
            <a:r>
              <a:rPr sz="2000" spc="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entropía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causada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por</a:t>
            </a:r>
            <a:r>
              <a:rPr sz="2000" spc="2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conocer</a:t>
            </a:r>
            <a:r>
              <a:rPr sz="2000" spc="-1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el</a:t>
            </a:r>
            <a:r>
              <a:rPr sz="2000" spc="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valor</a:t>
            </a:r>
            <a:r>
              <a:rPr sz="2000" spc="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del</a:t>
            </a:r>
            <a:r>
              <a:rPr sz="2000" spc="2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atributo</a:t>
            </a:r>
            <a:r>
              <a:rPr sz="2000" spc="-10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417830" marR="246379" indent="-342265">
              <a:lnSpc>
                <a:spcPct val="100000"/>
              </a:lnSpc>
              <a:buChar char="•"/>
              <a:tabLst>
                <a:tab pos="41783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dado,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outlook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elegido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separar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raíz: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53467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Gain(outlook)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0.247</a:t>
            </a:r>
            <a:endParaRPr sz="1800" dirty="0">
              <a:latin typeface="Microsoft Sans Serif"/>
              <a:cs typeface="Microsoft Sans Serif"/>
            </a:endParaRPr>
          </a:p>
          <a:p>
            <a:pPr marL="534670" marR="4427855">
              <a:lnSpc>
                <a:spcPct val="123000"/>
              </a:lnSpc>
              <a:spcBef>
                <a:spcPts val="10"/>
              </a:spcBef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Gain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(temperature) =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0.029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Gain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(humidity)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0.151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Gain(windy)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18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0.048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97683"/>
            <a:ext cx="7886700" cy="904094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b="1" spc="-10" dirty="0"/>
              <a:t>Ejemplo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2263" y="1283588"/>
            <a:ext cx="8035290" cy="457263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E(PlayGolf,</a:t>
            </a:r>
            <a:r>
              <a:rPr sz="2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Outlook</a:t>
            </a:r>
            <a:r>
              <a:rPr sz="24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endParaRPr sz="2400">
              <a:latin typeface="Microsoft Sans Serif"/>
              <a:cs typeface="Microsoft Sans Serif"/>
            </a:endParaRPr>
          </a:p>
          <a:p>
            <a:pPr marL="12700" marR="710565">
              <a:lnSpc>
                <a:spcPts val="3579"/>
              </a:lnSpc>
              <a:spcBef>
                <a:spcPts val="229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=p(sunny)*E(3,2)+p(overcast)*E(4,0)+p(rainy)*E(3,2)= (5/14)*0.971+(9/14)*0.971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0.693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12700" marR="5080">
              <a:lnSpc>
                <a:spcPct val="124200"/>
              </a:lnSpc>
              <a:tabLst>
                <a:tab pos="325374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G(PlayGolf,</a:t>
            </a:r>
            <a:r>
              <a:rPr sz="24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Outlook)</a:t>
            </a:r>
            <a:r>
              <a:rPr sz="2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E(PlayGolf)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E(PlayGolf,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Outllok)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=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0.940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630" dirty="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0.693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0.247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12700" marR="3948429">
              <a:lnSpc>
                <a:spcPct val="124400"/>
              </a:lnSpc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Lo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mismo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hace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los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demás</a:t>
            </a:r>
            <a:r>
              <a:rPr sz="2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atributos:</a:t>
            </a:r>
            <a:r>
              <a:rPr sz="24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temperature,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humidity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windy.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81600" y="4114736"/>
            <a:ext cx="3257550" cy="1818005"/>
            <a:chOff x="5181600" y="4114736"/>
            <a:chExt cx="3257550" cy="18180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600" y="4114736"/>
              <a:ext cx="3257550" cy="18177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705600" y="41909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b="1" dirty="0"/>
              <a:t>Algoritmo</a:t>
            </a:r>
            <a:r>
              <a:rPr b="1" spc="-90" dirty="0"/>
              <a:t> </a:t>
            </a:r>
            <a:r>
              <a:rPr b="1" spc="-25" dirty="0"/>
              <a:t>ID3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4077" y="1804481"/>
            <a:ext cx="7395845" cy="3973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795" marR="1712595" indent="-341630">
              <a:lnSpc>
                <a:spcPct val="120800"/>
              </a:lnSpc>
              <a:spcBef>
                <a:spcPts val="95"/>
              </a:spcBef>
              <a:buChar char="•"/>
              <a:tabLst>
                <a:tab pos="962025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calcula la entropía del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 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N 	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H(E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i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)=p</a:t>
            </a:r>
            <a:r>
              <a:rPr sz="2775" spc="-15" baseline="25525" dirty="0">
                <a:solidFill>
                  <a:srgbClr val="CCCCFF"/>
                </a:solidFill>
                <a:latin typeface="Microsoft Sans Serif"/>
                <a:cs typeface="Microsoft Sans Serif"/>
              </a:rPr>
              <a:t>+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log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2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(1/p</a:t>
            </a:r>
            <a:r>
              <a:rPr sz="2775" spc="-15" baseline="25525" dirty="0">
                <a:solidFill>
                  <a:srgbClr val="CCCCFF"/>
                </a:solidFill>
                <a:latin typeface="Microsoft Sans Serif"/>
                <a:cs typeface="Microsoft Sans Serif"/>
              </a:rPr>
              <a:t>+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)+p</a:t>
            </a:r>
            <a:r>
              <a:rPr sz="2775" spc="-15" baseline="25525" dirty="0">
                <a:solidFill>
                  <a:srgbClr val="CCCCFF"/>
                </a:solidFill>
                <a:latin typeface="Microsoft Sans Serif"/>
                <a:cs typeface="Microsoft Sans Serif"/>
              </a:rPr>
              <a:t>-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log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2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(1/p</a:t>
            </a:r>
            <a:r>
              <a:rPr sz="2775" spc="-15" baseline="25525" dirty="0">
                <a:solidFill>
                  <a:srgbClr val="CCCCFF"/>
                </a:solidFill>
                <a:latin typeface="Microsoft Sans Serif"/>
                <a:cs typeface="Microsoft Sans Serif"/>
              </a:rPr>
              <a:t>-</a:t>
            </a:r>
            <a:r>
              <a:rPr sz="2800" spc="-50" dirty="0">
                <a:solidFill>
                  <a:srgbClr val="CCCCFF"/>
                </a:solidFill>
                <a:latin typeface="Microsoft Sans Serif"/>
                <a:cs typeface="Microsoft Sans Serif"/>
              </a:rPr>
              <a:t>)</a:t>
            </a:r>
            <a:endParaRPr sz="2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95"/>
              </a:spcBef>
              <a:buClr>
                <a:srgbClr val="FFFFFF"/>
              </a:buClr>
              <a:buFont typeface="Microsoft Sans Serif"/>
              <a:buChar char="•"/>
            </a:pPr>
            <a:endParaRPr sz="2800" dirty="0">
              <a:latin typeface="Microsoft Sans Serif"/>
              <a:cs typeface="Microsoft Sans Serif"/>
            </a:endParaRPr>
          </a:p>
          <a:p>
            <a:pPr marL="392430" marR="43180" indent="-342265">
              <a:lnSpc>
                <a:spcPct val="100000"/>
              </a:lnSpc>
              <a:buChar char="•"/>
              <a:tabLst>
                <a:tab pos="392430" algn="l"/>
              </a:tabLst>
            </a:pP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calcula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medio</a:t>
            </a:r>
            <a:r>
              <a:rPr sz="2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entropía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del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nivel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siguiente,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generado</a:t>
            </a:r>
            <a:r>
              <a:rPr sz="2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X</a:t>
            </a:r>
            <a:r>
              <a:rPr sz="2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al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está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aplicando</a:t>
            </a: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endParaRPr sz="2800" dirty="0">
              <a:latin typeface="Microsoft Sans Serif"/>
              <a:cs typeface="Microsoft Sans Serif"/>
            </a:endParaRPr>
          </a:p>
          <a:p>
            <a:pPr marL="794385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solidFill>
                  <a:srgbClr val="CCCCFF"/>
                </a:solidFill>
                <a:latin typeface="Microsoft Sans Serif"/>
                <a:cs typeface="Microsoft Sans Serif"/>
              </a:rPr>
              <a:t>H(X,</a:t>
            </a:r>
            <a:r>
              <a:rPr sz="2800" spc="-40" dirty="0">
                <a:solidFill>
                  <a:srgbClr val="CCCCF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E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i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)=p(X=v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1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/E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i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)H(E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i1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)+...+</a:t>
            </a:r>
            <a:endParaRPr sz="2800" dirty="0">
              <a:latin typeface="Microsoft Sans Serif"/>
              <a:cs typeface="Microsoft Sans Serif"/>
            </a:endParaRPr>
          </a:p>
          <a:p>
            <a:pPr marL="2082800">
              <a:lnSpc>
                <a:spcPct val="100000"/>
              </a:lnSpc>
              <a:spcBef>
                <a:spcPts val="710"/>
              </a:spcBef>
            </a:pP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p(X=v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n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/E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i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)H(E</a:t>
            </a:r>
            <a:r>
              <a:rPr sz="2775" spc="-15" baseline="-21021" dirty="0">
                <a:solidFill>
                  <a:srgbClr val="CCCCFF"/>
                </a:solidFill>
                <a:latin typeface="Microsoft Sans Serif"/>
                <a:cs typeface="Microsoft Sans Serif"/>
              </a:rPr>
              <a:t>in</a:t>
            </a:r>
            <a:r>
              <a:rPr sz="2800" spc="-10" dirty="0">
                <a:solidFill>
                  <a:srgbClr val="CCCCFF"/>
                </a:solidFill>
                <a:latin typeface="Microsoft Sans Serif"/>
                <a:cs typeface="Microsoft Sans Serif"/>
              </a:rPr>
              <a:t>)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Utilización</a:t>
            </a:r>
            <a:r>
              <a:rPr spc="-5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árbol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2970" y="2057400"/>
            <a:ext cx="7338059" cy="37312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700"/>
              </a:spcBef>
              <a:buChar char="•"/>
              <a:tabLst>
                <a:tab pos="353695" algn="l"/>
              </a:tabLst>
            </a:pP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Directamente</a:t>
            </a:r>
            <a:endParaRPr sz="24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515"/>
              </a:spcBef>
              <a:buChar char="–"/>
              <a:tabLst>
                <a:tab pos="755015" algn="l"/>
              </a:tabLst>
            </a:pP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Verificar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conocido</a:t>
            </a:r>
            <a:endParaRPr sz="2000" dirty="0">
              <a:latin typeface="Microsoft Sans Serif"/>
              <a:cs typeface="Microsoft Sans Serif"/>
            </a:endParaRPr>
          </a:p>
          <a:p>
            <a:pPr marL="75501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endParaRPr sz="2000" dirty="0">
              <a:latin typeface="Microsoft Sans Serif"/>
              <a:cs typeface="Microsoft Sans Serif"/>
            </a:endParaRPr>
          </a:p>
          <a:p>
            <a:pPr marL="755015" marR="347980" lvl="1" indent="-285115">
              <a:lnSpc>
                <a:spcPct val="100000"/>
              </a:lnSpc>
              <a:spcBef>
                <a:spcPts val="490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 sigue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camino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desde la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raíz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hoja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posea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</a:t>
            </a:r>
            <a:endParaRPr sz="2000" dirty="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235"/>
              </a:spcBef>
              <a:buClr>
                <a:srgbClr val="FFFFFF"/>
              </a:buClr>
              <a:buFont typeface="Microsoft Sans Serif"/>
              <a:buChar char="–"/>
            </a:pPr>
            <a:endParaRPr sz="20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5"/>
              </a:spcBef>
              <a:buChar char="•"/>
              <a:tabLst>
                <a:tab pos="353695" algn="l"/>
              </a:tabLst>
            </a:pP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Indirectamente</a:t>
            </a:r>
            <a:endParaRPr sz="24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 árbol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decisión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 convierte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reglas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crea una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regla por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 camino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raíz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hojas</a:t>
            </a:r>
            <a:endParaRPr sz="2000" dirty="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Char char="–"/>
              <a:tabLst>
                <a:tab pos="75501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reglas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IF-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THEN son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fáciles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entender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2425" y="211901"/>
            <a:ext cx="843915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Clasificación</a:t>
            </a:r>
            <a:r>
              <a:rPr spc="-65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nuevos</a:t>
            </a:r>
            <a:r>
              <a:rPr spc="-60" dirty="0"/>
              <a:t> </a:t>
            </a:r>
            <a:r>
              <a:rPr spc="-10" dirty="0"/>
              <a:t>ejemplos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549653"/>
            <a:ext cx="7099300" cy="20840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700"/>
              </a:spcBef>
              <a:buChar char="•"/>
              <a:tabLst>
                <a:tab pos="35369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Partir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desde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raíz</a:t>
            </a:r>
            <a:endParaRPr sz="24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600"/>
              </a:spcBef>
              <a:buChar char="•"/>
              <a:tabLst>
                <a:tab pos="35369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Avanzar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decisión hasta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alcanzar</a:t>
            </a:r>
            <a:endParaRPr sz="240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hoja</a:t>
            </a:r>
            <a:endParaRPr sz="2400">
              <a:latin typeface="Microsoft Sans Serif"/>
              <a:cs typeface="Microsoft Sans Serif"/>
            </a:endParaRPr>
          </a:p>
          <a:p>
            <a:pPr marL="354330" marR="91630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33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nuevo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que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representa</a:t>
            </a:r>
            <a:r>
              <a:rPr sz="2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hoja.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06938" y="4837112"/>
            <a:ext cx="297180" cy="297180"/>
            <a:chOff x="4206938" y="4837112"/>
            <a:chExt cx="297180" cy="297180"/>
          </a:xfrm>
        </p:grpSpPr>
        <p:sp>
          <p:nvSpPr>
            <p:cNvPr id="6" name="object 6"/>
            <p:cNvSpPr/>
            <p:nvPr/>
          </p:nvSpPr>
          <p:spPr>
            <a:xfrm>
              <a:off x="4211701" y="484187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143637" y="0"/>
                  </a:moveTo>
                  <a:lnTo>
                    <a:pt x="98218" y="7318"/>
                  </a:lnTo>
                  <a:lnTo>
                    <a:pt x="58786" y="27700"/>
                  </a:lnTo>
                  <a:lnTo>
                    <a:pt x="27700" y="58786"/>
                  </a:lnTo>
                  <a:lnTo>
                    <a:pt x="7318" y="98218"/>
                  </a:lnTo>
                  <a:lnTo>
                    <a:pt x="0" y="143637"/>
                  </a:lnTo>
                  <a:lnTo>
                    <a:pt x="7318" y="189068"/>
                  </a:lnTo>
                  <a:lnTo>
                    <a:pt x="27700" y="228531"/>
                  </a:lnTo>
                  <a:lnTo>
                    <a:pt x="58786" y="259656"/>
                  </a:lnTo>
                  <a:lnTo>
                    <a:pt x="98218" y="280069"/>
                  </a:lnTo>
                  <a:lnTo>
                    <a:pt x="143637" y="287400"/>
                  </a:lnTo>
                  <a:lnTo>
                    <a:pt x="189055" y="280069"/>
                  </a:lnTo>
                  <a:lnTo>
                    <a:pt x="228487" y="259656"/>
                  </a:lnTo>
                  <a:lnTo>
                    <a:pt x="259573" y="228531"/>
                  </a:lnTo>
                  <a:lnTo>
                    <a:pt x="279955" y="189068"/>
                  </a:lnTo>
                  <a:lnTo>
                    <a:pt x="287274" y="143637"/>
                  </a:lnTo>
                  <a:lnTo>
                    <a:pt x="279955" y="98218"/>
                  </a:lnTo>
                  <a:lnTo>
                    <a:pt x="259573" y="58786"/>
                  </a:lnTo>
                  <a:lnTo>
                    <a:pt x="228487" y="27700"/>
                  </a:lnTo>
                  <a:lnTo>
                    <a:pt x="189055" y="7318"/>
                  </a:lnTo>
                  <a:lnTo>
                    <a:pt x="14363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11701" y="484187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0" y="143637"/>
                  </a:moveTo>
                  <a:lnTo>
                    <a:pt x="7318" y="98218"/>
                  </a:lnTo>
                  <a:lnTo>
                    <a:pt x="27700" y="58786"/>
                  </a:lnTo>
                  <a:lnTo>
                    <a:pt x="58786" y="27700"/>
                  </a:lnTo>
                  <a:lnTo>
                    <a:pt x="98218" y="7318"/>
                  </a:lnTo>
                  <a:lnTo>
                    <a:pt x="143637" y="0"/>
                  </a:lnTo>
                  <a:lnTo>
                    <a:pt x="189055" y="7318"/>
                  </a:lnTo>
                  <a:lnTo>
                    <a:pt x="228487" y="27700"/>
                  </a:lnTo>
                  <a:lnTo>
                    <a:pt x="259573" y="58786"/>
                  </a:lnTo>
                  <a:lnTo>
                    <a:pt x="279955" y="98218"/>
                  </a:lnTo>
                  <a:lnTo>
                    <a:pt x="287274" y="143637"/>
                  </a:lnTo>
                  <a:lnTo>
                    <a:pt x="279955" y="189068"/>
                  </a:lnTo>
                  <a:lnTo>
                    <a:pt x="259573" y="228531"/>
                  </a:lnTo>
                  <a:lnTo>
                    <a:pt x="228487" y="259656"/>
                  </a:lnTo>
                  <a:lnTo>
                    <a:pt x="189055" y="280069"/>
                  </a:lnTo>
                  <a:lnTo>
                    <a:pt x="143637" y="287400"/>
                  </a:lnTo>
                  <a:lnTo>
                    <a:pt x="98218" y="280069"/>
                  </a:lnTo>
                  <a:lnTo>
                    <a:pt x="58786" y="259656"/>
                  </a:lnTo>
                  <a:lnTo>
                    <a:pt x="27700" y="228531"/>
                  </a:lnTo>
                  <a:lnTo>
                    <a:pt x="7318" y="189068"/>
                  </a:lnTo>
                  <a:lnTo>
                    <a:pt x="0" y="143637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265167" y="4835144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51413" y="4751387"/>
            <a:ext cx="916305" cy="741680"/>
            <a:chOff x="4451413" y="4751387"/>
            <a:chExt cx="916305" cy="741680"/>
          </a:xfrm>
        </p:grpSpPr>
        <p:sp>
          <p:nvSpPr>
            <p:cNvPr id="10" name="object 10"/>
            <p:cNvSpPr/>
            <p:nvPr/>
          </p:nvSpPr>
          <p:spPr>
            <a:xfrm>
              <a:off x="4787900" y="484187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143637" y="0"/>
                  </a:moveTo>
                  <a:lnTo>
                    <a:pt x="98218" y="7318"/>
                  </a:lnTo>
                  <a:lnTo>
                    <a:pt x="58786" y="27700"/>
                  </a:lnTo>
                  <a:lnTo>
                    <a:pt x="27700" y="58786"/>
                  </a:lnTo>
                  <a:lnTo>
                    <a:pt x="7318" y="98218"/>
                  </a:lnTo>
                  <a:lnTo>
                    <a:pt x="0" y="143637"/>
                  </a:lnTo>
                  <a:lnTo>
                    <a:pt x="7318" y="189068"/>
                  </a:lnTo>
                  <a:lnTo>
                    <a:pt x="27700" y="228531"/>
                  </a:lnTo>
                  <a:lnTo>
                    <a:pt x="58786" y="259656"/>
                  </a:lnTo>
                  <a:lnTo>
                    <a:pt x="98218" y="280069"/>
                  </a:lnTo>
                  <a:lnTo>
                    <a:pt x="143637" y="287400"/>
                  </a:lnTo>
                  <a:lnTo>
                    <a:pt x="189068" y="280069"/>
                  </a:lnTo>
                  <a:lnTo>
                    <a:pt x="228531" y="259656"/>
                  </a:lnTo>
                  <a:lnTo>
                    <a:pt x="259656" y="228531"/>
                  </a:lnTo>
                  <a:lnTo>
                    <a:pt x="280069" y="189068"/>
                  </a:lnTo>
                  <a:lnTo>
                    <a:pt x="287400" y="143637"/>
                  </a:lnTo>
                  <a:lnTo>
                    <a:pt x="280069" y="98218"/>
                  </a:lnTo>
                  <a:lnTo>
                    <a:pt x="259656" y="58786"/>
                  </a:lnTo>
                  <a:lnTo>
                    <a:pt x="228531" y="27700"/>
                  </a:lnTo>
                  <a:lnTo>
                    <a:pt x="189068" y="7318"/>
                  </a:lnTo>
                  <a:lnTo>
                    <a:pt x="14363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56176" y="4756150"/>
              <a:ext cx="619125" cy="373380"/>
            </a:xfrm>
            <a:custGeom>
              <a:avLst/>
              <a:gdLst/>
              <a:ahLst/>
              <a:cxnLst/>
              <a:rect l="l" t="t" r="r" b="b"/>
              <a:pathLst>
                <a:path w="619125" h="373379">
                  <a:moveTo>
                    <a:pt x="331724" y="229362"/>
                  </a:moveTo>
                  <a:lnTo>
                    <a:pt x="339042" y="183943"/>
                  </a:lnTo>
                  <a:lnTo>
                    <a:pt x="359424" y="144511"/>
                  </a:lnTo>
                  <a:lnTo>
                    <a:pt x="390510" y="113425"/>
                  </a:lnTo>
                  <a:lnTo>
                    <a:pt x="429942" y="93043"/>
                  </a:lnTo>
                  <a:lnTo>
                    <a:pt x="475361" y="85725"/>
                  </a:lnTo>
                  <a:lnTo>
                    <a:pt x="520792" y="93043"/>
                  </a:lnTo>
                  <a:lnTo>
                    <a:pt x="560255" y="113425"/>
                  </a:lnTo>
                  <a:lnTo>
                    <a:pt x="591380" y="144511"/>
                  </a:lnTo>
                  <a:lnTo>
                    <a:pt x="611793" y="183943"/>
                  </a:lnTo>
                  <a:lnTo>
                    <a:pt x="619125" y="229362"/>
                  </a:lnTo>
                  <a:lnTo>
                    <a:pt x="611793" y="274793"/>
                  </a:lnTo>
                  <a:lnTo>
                    <a:pt x="591380" y="314256"/>
                  </a:lnTo>
                  <a:lnTo>
                    <a:pt x="560255" y="345381"/>
                  </a:lnTo>
                  <a:lnTo>
                    <a:pt x="520792" y="365794"/>
                  </a:lnTo>
                  <a:lnTo>
                    <a:pt x="475361" y="373125"/>
                  </a:lnTo>
                  <a:lnTo>
                    <a:pt x="429942" y="365794"/>
                  </a:lnTo>
                  <a:lnTo>
                    <a:pt x="390510" y="345381"/>
                  </a:lnTo>
                  <a:lnTo>
                    <a:pt x="359424" y="314256"/>
                  </a:lnTo>
                  <a:lnTo>
                    <a:pt x="339042" y="274793"/>
                  </a:lnTo>
                  <a:lnTo>
                    <a:pt x="331724" y="229362"/>
                  </a:lnTo>
                  <a:close/>
                </a:path>
                <a:path w="619125" h="373379">
                  <a:moveTo>
                    <a:pt x="84074" y="0"/>
                  </a:moveTo>
                  <a:lnTo>
                    <a:pt x="0" y="128524"/>
                  </a:lnTo>
                </a:path>
                <a:path w="619125" h="373379">
                  <a:moveTo>
                    <a:pt x="287274" y="0"/>
                  </a:moveTo>
                  <a:lnTo>
                    <a:pt x="374650" y="128524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98975" y="5200650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143637" y="0"/>
                  </a:moveTo>
                  <a:lnTo>
                    <a:pt x="98218" y="7318"/>
                  </a:lnTo>
                  <a:lnTo>
                    <a:pt x="58786" y="27700"/>
                  </a:lnTo>
                  <a:lnTo>
                    <a:pt x="27700" y="58786"/>
                  </a:lnTo>
                  <a:lnTo>
                    <a:pt x="7318" y="98218"/>
                  </a:lnTo>
                  <a:lnTo>
                    <a:pt x="0" y="143637"/>
                  </a:lnTo>
                  <a:lnTo>
                    <a:pt x="7318" y="189068"/>
                  </a:lnTo>
                  <a:lnTo>
                    <a:pt x="27700" y="228531"/>
                  </a:lnTo>
                  <a:lnTo>
                    <a:pt x="58786" y="259656"/>
                  </a:lnTo>
                  <a:lnTo>
                    <a:pt x="98218" y="280069"/>
                  </a:lnTo>
                  <a:lnTo>
                    <a:pt x="143637" y="287400"/>
                  </a:lnTo>
                  <a:lnTo>
                    <a:pt x="189068" y="280069"/>
                  </a:lnTo>
                  <a:lnTo>
                    <a:pt x="228531" y="259656"/>
                  </a:lnTo>
                  <a:lnTo>
                    <a:pt x="259656" y="228531"/>
                  </a:lnTo>
                  <a:lnTo>
                    <a:pt x="280069" y="189068"/>
                  </a:lnTo>
                  <a:lnTo>
                    <a:pt x="287400" y="143637"/>
                  </a:lnTo>
                  <a:lnTo>
                    <a:pt x="280069" y="98218"/>
                  </a:lnTo>
                  <a:lnTo>
                    <a:pt x="259656" y="58786"/>
                  </a:lnTo>
                  <a:lnTo>
                    <a:pt x="228531" y="27700"/>
                  </a:lnTo>
                  <a:lnTo>
                    <a:pt x="189068" y="7318"/>
                  </a:lnTo>
                  <a:lnTo>
                    <a:pt x="14363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98975" y="5200650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0" y="143637"/>
                  </a:moveTo>
                  <a:lnTo>
                    <a:pt x="7318" y="98218"/>
                  </a:lnTo>
                  <a:lnTo>
                    <a:pt x="27700" y="58786"/>
                  </a:lnTo>
                  <a:lnTo>
                    <a:pt x="58786" y="27700"/>
                  </a:lnTo>
                  <a:lnTo>
                    <a:pt x="98218" y="7318"/>
                  </a:lnTo>
                  <a:lnTo>
                    <a:pt x="143637" y="0"/>
                  </a:lnTo>
                  <a:lnTo>
                    <a:pt x="189068" y="7318"/>
                  </a:lnTo>
                  <a:lnTo>
                    <a:pt x="228531" y="27700"/>
                  </a:lnTo>
                  <a:lnTo>
                    <a:pt x="259656" y="58786"/>
                  </a:lnTo>
                  <a:lnTo>
                    <a:pt x="280069" y="98218"/>
                  </a:lnTo>
                  <a:lnTo>
                    <a:pt x="287400" y="143637"/>
                  </a:lnTo>
                  <a:lnTo>
                    <a:pt x="280069" y="189068"/>
                  </a:lnTo>
                  <a:lnTo>
                    <a:pt x="259656" y="228531"/>
                  </a:lnTo>
                  <a:lnTo>
                    <a:pt x="228531" y="259656"/>
                  </a:lnTo>
                  <a:lnTo>
                    <a:pt x="189068" y="280069"/>
                  </a:lnTo>
                  <a:lnTo>
                    <a:pt x="143637" y="287400"/>
                  </a:lnTo>
                  <a:lnTo>
                    <a:pt x="98218" y="280069"/>
                  </a:lnTo>
                  <a:lnTo>
                    <a:pt x="58786" y="259656"/>
                  </a:lnTo>
                  <a:lnTo>
                    <a:pt x="27700" y="228531"/>
                  </a:lnTo>
                  <a:lnTo>
                    <a:pt x="7318" y="189068"/>
                  </a:lnTo>
                  <a:lnTo>
                    <a:pt x="0" y="143637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5301" y="5200650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143637" y="0"/>
                  </a:moveTo>
                  <a:lnTo>
                    <a:pt x="98218" y="7318"/>
                  </a:lnTo>
                  <a:lnTo>
                    <a:pt x="58786" y="27700"/>
                  </a:lnTo>
                  <a:lnTo>
                    <a:pt x="27700" y="58786"/>
                  </a:lnTo>
                  <a:lnTo>
                    <a:pt x="7318" y="98218"/>
                  </a:lnTo>
                  <a:lnTo>
                    <a:pt x="0" y="143637"/>
                  </a:lnTo>
                  <a:lnTo>
                    <a:pt x="7318" y="189068"/>
                  </a:lnTo>
                  <a:lnTo>
                    <a:pt x="27700" y="228531"/>
                  </a:lnTo>
                  <a:lnTo>
                    <a:pt x="58786" y="259656"/>
                  </a:lnTo>
                  <a:lnTo>
                    <a:pt x="98218" y="280069"/>
                  </a:lnTo>
                  <a:lnTo>
                    <a:pt x="143637" y="287400"/>
                  </a:lnTo>
                  <a:lnTo>
                    <a:pt x="189055" y="280069"/>
                  </a:lnTo>
                  <a:lnTo>
                    <a:pt x="228487" y="259656"/>
                  </a:lnTo>
                  <a:lnTo>
                    <a:pt x="259573" y="228531"/>
                  </a:lnTo>
                  <a:lnTo>
                    <a:pt x="279955" y="189068"/>
                  </a:lnTo>
                  <a:lnTo>
                    <a:pt x="287274" y="143637"/>
                  </a:lnTo>
                  <a:lnTo>
                    <a:pt x="279955" y="98218"/>
                  </a:lnTo>
                  <a:lnTo>
                    <a:pt x="259573" y="58786"/>
                  </a:lnTo>
                  <a:lnTo>
                    <a:pt x="228487" y="27700"/>
                  </a:lnTo>
                  <a:lnTo>
                    <a:pt x="189055" y="7318"/>
                  </a:lnTo>
                  <a:lnTo>
                    <a:pt x="14363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75301" y="5200650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0" y="143637"/>
                  </a:moveTo>
                  <a:lnTo>
                    <a:pt x="7318" y="98218"/>
                  </a:lnTo>
                  <a:lnTo>
                    <a:pt x="27700" y="58786"/>
                  </a:lnTo>
                  <a:lnTo>
                    <a:pt x="58786" y="27700"/>
                  </a:lnTo>
                  <a:lnTo>
                    <a:pt x="98218" y="7318"/>
                  </a:lnTo>
                  <a:lnTo>
                    <a:pt x="143637" y="0"/>
                  </a:lnTo>
                  <a:lnTo>
                    <a:pt x="189055" y="7318"/>
                  </a:lnTo>
                  <a:lnTo>
                    <a:pt x="228487" y="27700"/>
                  </a:lnTo>
                  <a:lnTo>
                    <a:pt x="259573" y="58786"/>
                  </a:lnTo>
                  <a:lnTo>
                    <a:pt x="279955" y="98218"/>
                  </a:lnTo>
                  <a:lnTo>
                    <a:pt x="287274" y="143637"/>
                  </a:lnTo>
                  <a:lnTo>
                    <a:pt x="279955" y="189068"/>
                  </a:lnTo>
                  <a:lnTo>
                    <a:pt x="259573" y="228531"/>
                  </a:lnTo>
                  <a:lnTo>
                    <a:pt x="228487" y="259656"/>
                  </a:lnTo>
                  <a:lnTo>
                    <a:pt x="189055" y="280069"/>
                  </a:lnTo>
                  <a:lnTo>
                    <a:pt x="143637" y="287400"/>
                  </a:lnTo>
                  <a:lnTo>
                    <a:pt x="98218" y="280069"/>
                  </a:lnTo>
                  <a:lnTo>
                    <a:pt x="58786" y="259656"/>
                  </a:lnTo>
                  <a:lnTo>
                    <a:pt x="27700" y="228531"/>
                  </a:lnTo>
                  <a:lnTo>
                    <a:pt x="7318" y="189068"/>
                  </a:lnTo>
                  <a:lnTo>
                    <a:pt x="0" y="143637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27497" y="5194172"/>
            <a:ext cx="18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C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06938" y="5083111"/>
            <a:ext cx="914400" cy="770255"/>
            <a:chOff x="4206938" y="5083111"/>
            <a:chExt cx="914400" cy="770255"/>
          </a:xfrm>
        </p:grpSpPr>
        <p:sp>
          <p:nvSpPr>
            <p:cNvPr id="18" name="object 18"/>
            <p:cNvSpPr/>
            <p:nvPr/>
          </p:nvSpPr>
          <p:spPr>
            <a:xfrm>
              <a:off x="4743450" y="5087873"/>
              <a:ext cx="373380" cy="156210"/>
            </a:xfrm>
            <a:custGeom>
              <a:avLst/>
              <a:gdLst/>
              <a:ahLst/>
              <a:cxnLst/>
              <a:rect l="l" t="t" r="r" b="b"/>
              <a:pathLst>
                <a:path w="373379" h="156210">
                  <a:moveTo>
                    <a:pt x="85725" y="0"/>
                  </a:moveTo>
                  <a:lnTo>
                    <a:pt x="0" y="155701"/>
                  </a:lnTo>
                </a:path>
                <a:path w="373379" h="156210">
                  <a:moveTo>
                    <a:pt x="288925" y="0"/>
                  </a:moveTo>
                  <a:lnTo>
                    <a:pt x="373125" y="15570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11701" y="556107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143637" y="0"/>
                  </a:moveTo>
                  <a:lnTo>
                    <a:pt x="98218" y="7318"/>
                  </a:lnTo>
                  <a:lnTo>
                    <a:pt x="58786" y="27698"/>
                  </a:lnTo>
                  <a:lnTo>
                    <a:pt x="27700" y="58781"/>
                  </a:lnTo>
                  <a:lnTo>
                    <a:pt x="7318" y="98205"/>
                  </a:lnTo>
                  <a:lnTo>
                    <a:pt x="0" y="143611"/>
                  </a:lnTo>
                  <a:lnTo>
                    <a:pt x="7318" y="189017"/>
                  </a:lnTo>
                  <a:lnTo>
                    <a:pt x="27700" y="228454"/>
                  </a:lnTo>
                  <a:lnTo>
                    <a:pt x="58786" y="259553"/>
                  </a:lnTo>
                  <a:lnTo>
                    <a:pt x="98218" y="279949"/>
                  </a:lnTo>
                  <a:lnTo>
                    <a:pt x="143637" y="287274"/>
                  </a:lnTo>
                  <a:lnTo>
                    <a:pt x="189055" y="279949"/>
                  </a:lnTo>
                  <a:lnTo>
                    <a:pt x="228487" y="259553"/>
                  </a:lnTo>
                  <a:lnTo>
                    <a:pt x="259573" y="228454"/>
                  </a:lnTo>
                  <a:lnTo>
                    <a:pt x="279955" y="189017"/>
                  </a:lnTo>
                  <a:lnTo>
                    <a:pt x="287274" y="143611"/>
                  </a:lnTo>
                  <a:lnTo>
                    <a:pt x="279955" y="98205"/>
                  </a:lnTo>
                  <a:lnTo>
                    <a:pt x="259573" y="58781"/>
                  </a:lnTo>
                  <a:lnTo>
                    <a:pt x="228487" y="27698"/>
                  </a:lnTo>
                  <a:lnTo>
                    <a:pt x="189055" y="7318"/>
                  </a:lnTo>
                  <a:lnTo>
                    <a:pt x="14363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11701" y="556107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0" y="143611"/>
                  </a:moveTo>
                  <a:lnTo>
                    <a:pt x="7318" y="98205"/>
                  </a:lnTo>
                  <a:lnTo>
                    <a:pt x="27700" y="58781"/>
                  </a:lnTo>
                  <a:lnTo>
                    <a:pt x="58786" y="27698"/>
                  </a:lnTo>
                  <a:lnTo>
                    <a:pt x="98218" y="7318"/>
                  </a:lnTo>
                  <a:lnTo>
                    <a:pt x="143637" y="0"/>
                  </a:lnTo>
                  <a:lnTo>
                    <a:pt x="189055" y="7318"/>
                  </a:lnTo>
                  <a:lnTo>
                    <a:pt x="228487" y="27698"/>
                  </a:lnTo>
                  <a:lnTo>
                    <a:pt x="259573" y="58781"/>
                  </a:lnTo>
                  <a:lnTo>
                    <a:pt x="279955" y="98205"/>
                  </a:lnTo>
                  <a:lnTo>
                    <a:pt x="287274" y="143611"/>
                  </a:lnTo>
                  <a:lnTo>
                    <a:pt x="279955" y="189017"/>
                  </a:lnTo>
                  <a:lnTo>
                    <a:pt x="259573" y="228454"/>
                  </a:lnTo>
                  <a:lnTo>
                    <a:pt x="228487" y="259553"/>
                  </a:lnTo>
                  <a:lnTo>
                    <a:pt x="189055" y="279949"/>
                  </a:lnTo>
                  <a:lnTo>
                    <a:pt x="143637" y="287274"/>
                  </a:lnTo>
                  <a:lnTo>
                    <a:pt x="98218" y="279949"/>
                  </a:lnTo>
                  <a:lnTo>
                    <a:pt x="58786" y="259553"/>
                  </a:lnTo>
                  <a:lnTo>
                    <a:pt x="27700" y="228454"/>
                  </a:lnTo>
                  <a:lnTo>
                    <a:pt x="7318" y="189017"/>
                  </a:lnTo>
                  <a:lnTo>
                    <a:pt x="0" y="143611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74311" y="5569711"/>
            <a:ext cx="1644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Verdana"/>
                <a:cs typeface="Verdana"/>
              </a:rPr>
              <a:t>A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451413" y="5440362"/>
            <a:ext cx="916305" cy="773430"/>
            <a:chOff x="4451413" y="5440362"/>
            <a:chExt cx="916305" cy="773430"/>
          </a:xfrm>
        </p:grpSpPr>
        <p:sp>
          <p:nvSpPr>
            <p:cNvPr id="23" name="object 23"/>
            <p:cNvSpPr/>
            <p:nvPr/>
          </p:nvSpPr>
          <p:spPr>
            <a:xfrm>
              <a:off x="4787900" y="5561076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143637" y="0"/>
                  </a:moveTo>
                  <a:lnTo>
                    <a:pt x="98218" y="7318"/>
                  </a:lnTo>
                  <a:lnTo>
                    <a:pt x="58786" y="27698"/>
                  </a:lnTo>
                  <a:lnTo>
                    <a:pt x="27700" y="58781"/>
                  </a:lnTo>
                  <a:lnTo>
                    <a:pt x="7318" y="98205"/>
                  </a:lnTo>
                  <a:lnTo>
                    <a:pt x="0" y="143611"/>
                  </a:lnTo>
                  <a:lnTo>
                    <a:pt x="7318" y="189017"/>
                  </a:lnTo>
                  <a:lnTo>
                    <a:pt x="27700" y="228454"/>
                  </a:lnTo>
                  <a:lnTo>
                    <a:pt x="58786" y="259553"/>
                  </a:lnTo>
                  <a:lnTo>
                    <a:pt x="98218" y="279949"/>
                  </a:lnTo>
                  <a:lnTo>
                    <a:pt x="143637" y="287274"/>
                  </a:lnTo>
                  <a:lnTo>
                    <a:pt x="189068" y="279949"/>
                  </a:lnTo>
                  <a:lnTo>
                    <a:pt x="228531" y="259553"/>
                  </a:lnTo>
                  <a:lnTo>
                    <a:pt x="259656" y="228454"/>
                  </a:lnTo>
                  <a:lnTo>
                    <a:pt x="280069" y="189017"/>
                  </a:lnTo>
                  <a:lnTo>
                    <a:pt x="287400" y="143611"/>
                  </a:lnTo>
                  <a:lnTo>
                    <a:pt x="280069" y="98205"/>
                  </a:lnTo>
                  <a:lnTo>
                    <a:pt x="259656" y="58781"/>
                  </a:lnTo>
                  <a:lnTo>
                    <a:pt x="228531" y="27698"/>
                  </a:lnTo>
                  <a:lnTo>
                    <a:pt x="189068" y="7318"/>
                  </a:lnTo>
                  <a:lnTo>
                    <a:pt x="14363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56176" y="5445125"/>
              <a:ext cx="619125" cy="403225"/>
            </a:xfrm>
            <a:custGeom>
              <a:avLst/>
              <a:gdLst/>
              <a:ahLst/>
              <a:cxnLst/>
              <a:rect l="l" t="t" r="r" b="b"/>
              <a:pathLst>
                <a:path w="619125" h="403225">
                  <a:moveTo>
                    <a:pt x="331724" y="259562"/>
                  </a:moveTo>
                  <a:lnTo>
                    <a:pt x="339042" y="214156"/>
                  </a:lnTo>
                  <a:lnTo>
                    <a:pt x="359424" y="174732"/>
                  </a:lnTo>
                  <a:lnTo>
                    <a:pt x="390510" y="143649"/>
                  </a:lnTo>
                  <a:lnTo>
                    <a:pt x="429942" y="123269"/>
                  </a:lnTo>
                  <a:lnTo>
                    <a:pt x="475361" y="115950"/>
                  </a:lnTo>
                  <a:lnTo>
                    <a:pt x="520792" y="123269"/>
                  </a:lnTo>
                  <a:lnTo>
                    <a:pt x="560255" y="143649"/>
                  </a:lnTo>
                  <a:lnTo>
                    <a:pt x="591380" y="174732"/>
                  </a:lnTo>
                  <a:lnTo>
                    <a:pt x="611793" y="214156"/>
                  </a:lnTo>
                  <a:lnTo>
                    <a:pt x="619125" y="259562"/>
                  </a:lnTo>
                  <a:lnTo>
                    <a:pt x="611793" y="304968"/>
                  </a:lnTo>
                  <a:lnTo>
                    <a:pt x="591380" y="344405"/>
                  </a:lnTo>
                  <a:lnTo>
                    <a:pt x="560255" y="375504"/>
                  </a:lnTo>
                  <a:lnTo>
                    <a:pt x="520792" y="395900"/>
                  </a:lnTo>
                  <a:lnTo>
                    <a:pt x="475361" y="403225"/>
                  </a:lnTo>
                  <a:lnTo>
                    <a:pt x="429942" y="395900"/>
                  </a:lnTo>
                  <a:lnTo>
                    <a:pt x="390510" y="375504"/>
                  </a:lnTo>
                  <a:lnTo>
                    <a:pt x="359424" y="344405"/>
                  </a:lnTo>
                  <a:lnTo>
                    <a:pt x="339042" y="304968"/>
                  </a:lnTo>
                  <a:lnTo>
                    <a:pt x="331724" y="259562"/>
                  </a:lnTo>
                  <a:close/>
                </a:path>
                <a:path w="619125" h="403225">
                  <a:moveTo>
                    <a:pt x="84074" y="0"/>
                  </a:moveTo>
                  <a:lnTo>
                    <a:pt x="0" y="157162"/>
                  </a:lnTo>
                </a:path>
                <a:path w="619125" h="403225">
                  <a:moveTo>
                    <a:pt x="287274" y="0"/>
                  </a:moveTo>
                  <a:lnTo>
                    <a:pt x="372999" y="157162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98975" y="592137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143637" y="0"/>
                  </a:moveTo>
                  <a:lnTo>
                    <a:pt x="98218" y="7324"/>
                  </a:lnTo>
                  <a:lnTo>
                    <a:pt x="58786" y="27720"/>
                  </a:lnTo>
                  <a:lnTo>
                    <a:pt x="27700" y="58819"/>
                  </a:lnTo>
                  <a:lnTo>
                    <a:pt x="7318" y="98256"/>
                  </a:lnTo>
                  <a:lnTo>
                    <a:pt x="0" y="143662"/>
                  </a:lnTo>
                  <a:lnTo>
                    <a:pt x="7318" y="189081"/>
                  </a:lnTo>
                  <a:lnTo>
                    <a:pt x="27700" y="228517"/>
                  </a:lnTo>
                  <a:lnTo>
                    <a:pt x="58786" y="259617"/>
                  </a:lnTo>
                  <a:lnTo>
                    <a:pt x="98218" y="280012"/>
                  </a:lnTo>
                  <a:lnTo>
                    <a:pt x="143637" y="287337"/>
                  </a:lnTo>
                  <a:lnTo>
                    <a:pt x="189068" y="280012"/>
                  </a:lnTo>
                  <a:lnTo>
                    <a:pt x="228531" y="259617"/>
                  </a:lnTo>
                  <a:lnTo>
                    <a:pt x="259656" y="228517"/>
                  </a:lnTo>
                  <a:lnTo>
                    <a:pt x="280069" y="189081"/>
                  </a:lnTo>
                  <a:lnTo>
                    <a:pt x="287400" y="143662"/>
                  </a:lnTo>
                  <a:lnTo>
                    <a:pt x="280069" y="98256"/>
                  </a:lnTo>
                  <a:lnTo>
                    <a:pt x="259656" y="58819"/>
                  </a:lnTo>
                  <a:lnTo>
                    <a:pt x="228531" y="27720"/>
                  </a:lnTo>
                  <a:lnTo>
                    <a:pt x="189068" y="7324"/>
                  </a:lnTo>
                  <a:lnTo>
                    <a:pt x="14363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98975" y="592137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0" y="143662"/>
                  </a:moveTo>
                  <a:lnTo>
                    <a:pt x="7318" y="98256"/>
                  </a:lnTo>
                  <a:lnTo>
                    <a:pt x="27700" y="58819"/>
                  </a:lnTo>
                  <a:lnTo>
                    <a:pt x="58786" y="27720"/>
                  </a:lnTo>
                  <a:lnTo>
                    <a:pt x="98218" y="7324"/>
                  </a:lnTo>
                  <a:lnTo>
                    <a:pt x="143637" y="0"/>
                  </a:lnTo>
                  <a:lnTo>
                    <a:pt x="189068" y="7324"/>
                  </a:lnTo>
                  <a:lnTo>
                    <a:pt x="228531" y="27720"/>
                  </a:lnTo>
                  <a:lnTo>
                    <a:pt x="259656" y="58819"/>
                  </a:lnTo>
                  <a:lnTo>
                    <a:pt x="280069" y="98256"/>
                  </a:lnTo>
                  <a:lnTo>
                    <a:pt x="287400" y="143662"/>
                  </a:lnTo>
                  <a:lnTo>
                    <a:pt x="280069" y="189081"/>
                  </a:lnTo>
                  <a:lnTo>
                    <a:pt x="259656" y="228517"/>
                  </a:lnTo>
                  <a:lnTo>
                    <a:pt x="228531" y="259617"/>
                  </a:lnTo>
                  <a:lnTo>
                    <a:pt x="189068" y="280012"/>
                  </a:lnTo>
                  <a:lnTo>
                    <a:pt x="143637" y="287337"/>
                  </a:lnTo>
                  <a:lnTo>
                    <a:pt x="98218" y="280012"/>
                  </a:lnTo>
                  <a:lnTo>
                    <a:pt x="58786" y="259617"/>
                  </a:lnTo>
                  <a:lnTo>
                    <a:pt x="27700" y="228517"/>
                  </a:lnTo>
                  <a:lnTo>
                    <a:pt x="7318" y="189081"/>
                  </a:lnTo>
                  <a:lnTo>
                    <a:pt x="0" y="143675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75301" y="592137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143637" y="0"/>
                  </a:moveTo>
                  <a:lnTo>
                    <a:pt x="98218" y="7324"/>
                  </a:lnTo>
                  <a:lnTo>
                    <a:pt x="58786" y="27720"/>
                  </a:lnTo>
                  <a:lnTo>
                    <a:pt x="27700" y="58819"/>
                  </a:lnTo>
                  <a:lnTo>
                    <a:pt x="7318" y="98256"/>
                  </a:lnTo>
                  <a:lnTo>
                    <a:pt x="0" y="143662"/>
                  </a:lnTo>
                  <a:lnTo>
                    <a:pt x="7318" y="189081"/>
                  </a:lnTo>
                  <a:lnTo>
                    <a:pt x="27700" y="228517"/>
                  </a:lnTo>
                  <a:lnTo>
                    <a:pt x="58786" y="259617"/>
                  </a:lnTo>
                  <a:lnTo>
                    <a:pt x="98218" y="280012"/>
                  </a:lnTo>
                  <a:lnTo>
                    <a:pt x="143637" y="287337"/>
                  </a:lnTo>
                  <a:lnTo>
                    <a:pt x="189055" y="280012"/>
                  </a:lnTo>
                  <a:lnTo>
                    <a:pt x="228487" y="259617"/>
                  </a:lnTo>
                  <a:lnTo>
                    <a:pt x="259573" y="228517"/>
                  </a:lnTo>
                  <a:lnTo>
                    <a:pt x="279955" y="189081"/>
                  </a:lnTo>
                  <a:lnTo>
                    <a:pt x="287274" y="143662"/>
                  </a:lnTo>
                  <a:lnTo>
                    <a:pt x="279955" y="98256"/>
                  </a:lnTo>
                  <a:lnTo>
                    <a:pt x="259573" y="58819"/>
                  </a:lnTo>
                  <a:lnTo>
                    <a:pt x="228487" y="27720"/>
                  </a:lnTo>
                  <a:lnTo>
                    <a:pt x="189055" y="7324"/>
                  </a:lnTo>
                  <a:lnTo>
                    <a:pt x="14363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75301" y="5921375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0" y="143662"/>
                  </a:moveTo>
                  <a:lnTo>
                    <a:pt x="7318" y="98256"/>
                  </a:lnTo>
                  <a:lnTo>
                    <a:pt x="27700" y="58819"/>
                  </a:lnTo>
                  <a:lnTo>
                    <a:pt x="58786" y="27720"/>
                  </a:lnTo>
                  <a:lnTo>
                    <a:pt x="98218" y="7324"/>
                  </a:lnTo>
                  <a:lnTo>
                    <a:pt x="143637" y="0"/>
                  </a:lnTo>
                  <a:lnTo>
                    <a:pt x="189055" y="7324"/>
                  </a:lnTo>
                  <a:lnTo>
                    <a:pt x="228487" y="27720"/>
                  </a:lnTo>
                  <a:lnTo>
                    <a:pt x="259573" y="58819"/>
                  </a:lnTo>
                  <a:lnTo>
                    <a:pt x="279955" y="98256"/>
                  </a:lnTo>
                  <a:lnTo>
                    <a:pt x="287274" y="143662"/>
                  </a:lnTo>
                  <a:lnTo>
                    <a:pt x="279955" y="189081"/>
                  </a:lnTo>
                  <a:lnTo>
                    <a:pt x="259573" y="228517"/>
                  </a:lnTo>
                  <a:lnTo>
                    <a:pt x="228487" y="259617"/>
                  </a:lnTo>
                  <a:lnTo>
                    <a:pt x="189055" y="280012"/>
                  </a:lnTo>
                  <a:lnTo>
                    <a:pt x="143637" y="287337"/>
                  </a:lnTo>
                  <a:lnTo>
                    <a:pt x="98218" y="280012"/>
                  </a:lnTo>
                  <a:lnTo>
                    <a:pt x="58786" y="259617"/>
                  </a:lnTo>
                  <a:lnTo>
                    <a:pt x="27700" y="228517"/>
                  </a:lnTo>
                  <a:lnTo>
                    <a:pt x="7318" y="189081"/>
                  </a:lnTo>
                  <a:lnTo>
                    <a:pt x="0" y="143675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52569" y="5915050"/>
            <a:ext cx="758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8645" algn="l"/>
              </a:tabLst>
            </a:pPr>
            <a:r>
              <a:rPr sz="1800" spc="-50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B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494295" y="4503820"/>
            <a:ext cx="627380" cy="1463675"/>
            <a:chOff x="4494295" y="4503820"/>
            <a:chExt cx="627380" cy="1463675"/>
          </a:xfrm>
        </p:grpSpPr>
        <p:sp>
          <p:nvSpPr>
            <p:cNvPr id="31" name="object 31"/>
            <p:cNvSpPr/>
            <p:nvPr/>
          </p:nvSpPr>
          <p:spPr>
            <a:xfrm>
              <a:off x="4743450" y="5805487"/>
              <a:ext cx="373380" cy="157480"/>
            </a:xfrm>
            <a:custGeom>
              <a:avLst/>
              <a:gdLst/>
              <a:ahLst/>
              <a:cxnLst/>
              <a:rect l="l" t="t" r="r" b="b"/>
              <a:pathLst>
                <a:path w="373379" h="157479">
                  <a:moveTo>
                    <a:pt x="85725" y="0"/>
                  </a:moveTo>
                  <a:lnTo>
                    <a:pt x="0" y="157162"/>
                  </a:lnTo>
                </a:path>
                <a:path w="373379" h="157479">
                  <a:moveTo>
                    <a:pt x="288925" y="0"/>
                  </a:moveTo>
                  <a:lnTo>
                    <a:pt x="373125" y="157162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98975" y="4508500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143637" y="0"/>
                  </a:moveTo>
                  <a:lnTo>
                    <a:pt x="98218" y="7318"/>
                  </a:lnTo>
                  <a:lnTo>
                    <a:pt x="58786" y="27700"/>
                  </a:lnTo>
                  <a:lnTo>
                    <a:pt x="27700" y="58786"/>
                  </a:lnTo>
                  <a:lnTo>
                    <a:pt x="7318" y="98218"/>
                  </a:lnTo>
                  <a:lnTo>
                    <a:pt x="0" y="143637"/>
                  </a:lnTo>
                  <a:lnTo>
                    <a:pt x="7318" y="189068"/>
                  </a:lnTo>
                  <a:lnTo>
                    <a:pt x="27700" y="228531"/>
                  </a:lnTo>
                  <a:lnTo>
                    <a:pt x="58786" y="259656"/>
                  </a:lnTo>
                  <a:lnTo>
                    <a:pt x="98218" y="280069"/>
                  </a:lnTo>
                  <a:lnTo>
                    <a:pt x="143637" y="287400"/>
                  </a:lnTo>
                  <a:lnTo>
                    <a:pt x="189068" y="280069"/>
                  </a:lnTo>
                  <a:lnTo>
                    <a:pt x="228531" y="259656"/>
                  </a:lnTo>
                  <a:lnTo>
                    <a:pt x="259656" y="228531"/>
                  </a:lnTo>
                  <a:lnTo>
                    <a:pt x="280069" y="189068"/>
                  </a:lnTo>
                  <a:lnTo>
                    <a:pt x="287400" y="143637"/>
                  </a:lnTo>
                  <a:lnTo>
                    <a:pt x="280069" y="98218"/>
                  </a:lnTo>
                  <a:lnTo>
                    <a:pt x="259656" y="58786"/>
                  </a:lnTo>
                  <a:lnTo>
                    <a:pt x="228531" y="27700"/>
                  </a:lnTo>
                  <a:lnTo>
                    <a:pt x="189068" y="7318"/>
                  </a:lnTo>
                  <a:lnTo>
                    <a:pt x="14363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98975" y="4508500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4">
                  <a:moveTo>
                    <a:pt x="0" y="143637"/>
                  </a:moveTo>
                  <a:lnTo>
                    <a:pt x="7318" y="98218"/>
                  </a:lnTo>
                  <a:lnTo>
                    <a:pt x="27700" y="58786"/>
                  </a:lnTo>
                  <a:lnTo>
                    <a:pt x="58786" y="27700"/>
                  </a:lnTo>
                  <a:lnTo>
                    <a:pt x="98218" y="7318"/>
                  </a:lnTo>
                  <a:lnTo>
                    <a:pt x="143637" y="0"/>
                  </a:lnTo>
                  <a:lnTo>
                    <a:pt x="189068" y="7318"/>
                  </a:lnTo>
                  <a:lnTo>
                    <a:pt x="228531" y="27700"/>
                  </a:lnTo>
                  <a:lnTo>
                    <a:pt x="259656" y="58786"/>
                  </a:lnTo>
                  <a:lnTo>
                    <a:pt x="280069" y="98218"/>
                  </a:lnTo>
                  <a:lnTo>
                    <a:pt x="287400" y="143637"/>
                  </a:lnTo>
                  <a:lnTo>
                    <a:pt x="280069" y="189068"/>
                  </a:lnTo>
                  <a:lnTo>
                    <a:pt x="259656" y="228531"/>
                  </a:lnTo>
                  <a:lnTo>
                    <a:pt x="228531" y="259656"/>
                  </a:lnTo>
                  <a:lnTo>
                    <a:pt x="189068" y="280069"/>
                  </a:lnTo>
                  <a:lnTo>
                    <a:pt x="143637" y="287400"/>
                  </a:lnTo>
                  <a:lnTo>
                    <a:pt x="98218" y="280069"/>
                  </a:lnTo>
                  <a:lnTo>
                    <a:pt x="58786" y="259656"/>
                  </a:lnTo>
                  <a:lnTo>
                    <a:pt x="27700" y="228531"/>
                  </a:lnTo>
                  <a:lnTo>
                    <a:pt x="7318" y="189068"/>
                  </a:lnTo>
                  <a:lnTo>
                    <a:pt x="0" y="143637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705101" y="5407558"/>
            <a:ext cx="1171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987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CCCFF"/>
                </a:solidFill>
                <a:latin typeface="Verdana"/>
                <a:cs typeface="Verdana"/>
              </a:rPr>
              <a:t>Clase Asociada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43276" y="5589587"/>
            <a:ext cx="1295400" cy="214629"/>
          </a:xfrm>
          <a:custGeom>
            <a:avLst/>
            <a:gdLst/>
            <a:ahLst/>
            <a:cxnLst/>
            <a:rect l="l" t="t" r="r" b="b"/>
            <a:pathLst>
              <a:path w="1295400" h="214629">
                <a:moveTo>
                  <a:pt x="971423" y="0"/>
                </a:moveTo>
                <a:lnTo>
                  <a:pt x="971423" y="53581"/>
                </a:lnTo>
                <a:lnTo>
                  <a:pt x="0" y="53581"/>
                </a:lnTo>
                <a:lnTo>
                  <a:pt x="0" y="160731"/>
                </a:lnTo>
                <a:lnTo>
                  <a:pt x="971423" y="160731"/>
                </a:lnTo>
                <a:lnTo>
                  <a:pt x="971423" y="214312"/>
                </a:lnTo>
                <a:lnTo>
                  <a:pt x="1295400" y="107162"/>
                </a:lnTo>
                <a:lnTo>
                  <a:pt x="971423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796026" y="4581588"/>
            <a:ext cx="1729105" cy="791845"/>
          </a:xfrm>
          <a:prstGeom prst="rect">
            <a:avLst/>
          </a:prstGeom>
          <a:solidFill>
            <a:srgbClr val="00CC99"/>
          </a:solidFill>
          <a:ln w="9360">
            <a:solidFill>
              <a:srgbClr val="B1B1B1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229"/>
              </a:spcBef>
            </a:pPr>
            <a:r>
              <a:rPr sz="1600" b="1" dirty="0">
                <a:solidFill>
                  <a:srgbClr val="FFFFFF"/>
                </a:solidFill>
                <a:latin typeface="Verdana"/>
                <a:cs typeface="Verdana"/>
              </a:rPr>
              <a:t>Nuevo</a:t>
            </a:r>
            <a:r>
              <a:rPr sz="1600" b="1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Verdana"/>
                <a:cs typeface="Verdana"/>
              </a:rPr>
              <a:t>Ejemplo</a:t>
            </a:r>
            <a:endParaRPr sz="1600">
              <a:latin typeface="Verdana"/>
              <a:cs typeface="Verdana"/>
            </a:endParaRPr>
          </a:p>
          <a:p>
            <a:pPr marL="235585" marR="226060" algn="ctr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Atributo1=.. Atributo2=..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796026" y="5372925"/>
            <a:ext cx="1729105" cy="288290"/>
          </a:xfrm>
          <a:prstGeom prst="rect">
            <a:avLst/>
          </a:prstGeom>
          <a:solidFill>
            <a:srgbClr val="00CC99"/>
          </a:solidFill>
          <a:ln w="9360">
            <a:solidFill>
              <a:srgbClr val="B1B1B1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368300">
              <a:lnSpc>
                <a:spcPct val="100000"/>
              </a:lnSpc>
              <a:spcBef>
                <a:spcPts val="16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Clase</a:t>
            </a:r>
            <a:r>
              <a:rPr sz="16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=</a:t>
            </a:r>
            <a:r>
              <a:rPr sz="16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121359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Overfitting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6063" y="1321053"/>
            <a:ext cx="7613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3735" algn="l"/>
                <a:tab pos="1626235" algn="l"/>
                <a:tab pos="3188970" algn="l"/>
                <a:tab pos="4311015" algn="l"/>
                <a:tab pos="6633845" algn="l"/>
              </a:tabLst>
            </a:pP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generado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puede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sobre-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clasificar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(super-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2989" y="1686814"/>
            <a:ext cx="415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9254" y="1686814"/>
            <a:ext cx="1247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7744" y="1686814"/>
            <a:ext cx="12560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73150" algn="l"/>
              </a:tabLst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ajustar) ruido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18561" y="2052650"/>
            <a:ext cx="10439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tamaño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9498" y="2052650"/>
            <a:ext cx="12147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pequeño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7744" y="2418715"/>
            <a:ext cx="4116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88870" algn="l"/>
                <a:tab pos="3760470" algn="l"/>
              </a:tabLst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entrenamiento.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Resulta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35548" y="2052650"/>
            <a:ext cx="21640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  <a:tabLst>
                <a:tab pos="954405" algn="l"/>
              </a:tabLst>
            </a:pP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928369" algn="l"/>
              </a:tabLst>
            </a:pP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baja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exactitud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57242" y="1686814"/>
            <a:ext cx="402145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100"/>
              </a:spcBef>
              <a:tabLst>
                <a:tab pos="545465" algn="l"/>
                <a:tab pos="2702560" algn="l"/>
                <a:tab pos="3823970" algn="l"/>
              </a:tabLst>
            </a:pP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debido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endParaRPr sz="240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</a:pP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endParaRPr sz="240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</a:pP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6063" y="2784475"/>
            <a:ext cx="7614920" cy="323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24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nuevos</a:t>
            </a:r>
            <a:r>
              <a:rPr sz="24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ejemplos.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352425" indent="-339725" algn="just">
              <a:lnSpc>
                <a:spcPct val="100000"/>
              </a:lnSpc>
              <a:buChar char="•"/>
              <a:tabLst>
                <a:tab pos="352425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Existen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enfoques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evitar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overfitting</a:t>
            </a:r>
            <a:endParaRPr sz="2400">
              <a:latin typeface="Microsoft Sans Serif"/>
              <a:cs typeface="Microsoft Sans Serif"/>
            </a:endParaRPr>
          </a:p>
          <a:p>
            <a:pPr marL="753110" marR="5080" lvl="1" indent="-285115" algn="just">
              <a:lnSpc>
                <a:spcPct val="100000"/>
              </a:lnSpc>
              <a:spcBef>
                <a:spcPts val="505"/>
              </a:spcBef>
              <a:buChar char="–"/>
              <a:tabLst>
                <a:tab pos="753110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Parar</a:t>
            </a:r>
            <a:r>
              <a:rPr sz="2000" spc="50" dirty="0">
                <a:solidFill>
                  <a:srgbClr val="CCCC00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antes</a:t>
            </a:r>
            <a:r>
              <a:rPr sz="2000" spc="50" dirty="0">
                <a:solidFill>
                  <a:srgbClr val="CCCC00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(Pre-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poda)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0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detener</a:t>
            </a:r>
            <a:r>
              <a:rPr sz="20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crecimiento</a:t>
            </a:r>
            <a:r>
              <a:rPr sz="20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antes</a:t>
            </a:r>
            <a:r>
              <a:rPr sz="20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produzca,</a:t>
            </a:r>
            <a:r>
              <a:rPr sz="20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decidiendo</a:t>
            </a:r>
            <a:r>
              <a:rPr sz="20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0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particionar</a:t>
            </a:r>
            <a:r>
              <a:rPr sz="20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uno</a:t>
            </a:r>
            <a:r>
              <a:rPr sz="20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0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más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nodos</a:t>
            </a:r>
            <a:endParaRPr sz="2000">
              <a:latin typeface="Microsoft Sans Serif"/>
              <a:cs typeface="Microsoft Sans Serif"/>
            </a:endParaRPr>
          </a:p>
          <a:p>
            <a:pPr marL="753110" marR="5715" lvl="1" indent="-285115" algn="just">
              <a:lnSpc>
                <a:spcPct val="100000"/>
              </a:lnSpc>
              <a:spcBef>
                <a:spcPts val="495"/>
              </a:spcBef>
              <a:buChar char="–"/>
              <a:tabLst>
                <a:tab pos="753110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Podado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000" spc="1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construye</a:t>
            </a:r>
            <a:r>
              <a:rPr sz="200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todo</a:t>
            </a:r>
            <a:r>
              <a:rPr sz="200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árbol,</a:t>
            </a:r>
            <a:r>
              <a:rPr sz="200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permite</a:t>
            </a:r>
            <a:r>
              <a:rPr sz="200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overfitting</a:t>
            </a:r>
            <a:r>
              <a:rPr sz="200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y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luego</a:t>
            </a:r>
            <a:r>
              <a:rPr sz="200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poda</a:t>
            </a:r>
            <a:r>
              <a:rPr sz="200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árbol.</a:t>
            </a:r>
            <a:r>
              <a:rPr sz="200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00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elige</a:t>
            </a:r>
            <a:r>
              <a:rPr sz="200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</a:t>
            </a:r>
            <a:r>
              <a:rPr sz="200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200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menor</a:t>
            </a:r>
            <a:r>
              <a:rPr sz="200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tasa</a:t>
            </a:r>
            <a:r>
              <a:rPr sz="200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error.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304800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Podado</a:t>
            </a:r>
            <a:r>
              <a:rPr spc="-45" dirty="0"/>
              <a:t> </a:t>
            </a:r>
            <a:r>
              <a:rPr dirty="0"/>
              <a:t>del</a:t>
            </a:r>
            <a:r>
              <a:rPr spc="-40" dirty="0"/>
              <a:t> </a:t>
            </a:r>
            <a:r>
              <a:rPr spc="-20" dirty="0"/>
              <a:t>árbol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3568" y="1900250"/>
            <a:ext cx="7127875" cy="3623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Podar</a:t>
            </a:r>
            <a:r>
              <a:rPr sz="24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el</a:t>
            </a:r>
            <a:r>
              <a:rPr sz="2400" spc="-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árbol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transformar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subárbol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hoja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294640" marR="104775" indent="-282575">
              <a:lnSpc>
                <a:spcPct val="100000"/>
              </a:lnSpc>
              <a:buChar char="–"/>
              <a:tabLst>
                <a:tab pos="29591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Usar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diferentes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 	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(conjunto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poda)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65"/>
              </a:spcBef>
              <a:buClr>
                <a:srgbClr val="FFFFFF"/>
              </a:buClr>
              <a:buFont typeface="Microsoft Sans Serif"/>
              <a:buChar char="–"/>
            </a:pPr>
            <a:endParaRPr sz="2400">
              <a:latin typeface="Microsoft Sans Serif"/>
              <a:cs typeface="Microsoft Sans Serif"/>
            </a:endParaRPr>
          </a:p>
          <a:p>
            <a:pPr marL="294640" marR="5080" indent="-282575">
              <a:lnSpc>
                <a:spcPct val="100000"/>
              </a:lnSpc>
              <a:buChar char="–"/>
              <a:tabLst>
                <a:tab pos="29591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árbol,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exactitud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sin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particionar 	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alta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exactitud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particionando 	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nodo,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reemplazar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subárbol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por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hoja, 	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etiquetándolo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2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mayoritaria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Clasificación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59"/>
              </a:spcBef>
              <a:buChar char="•"/>
              <a:tabLst>
                <a:tab pos="353695" algn="l"/>
              </a:tabLst>
            </a:pPr>
            <a:r>
              <a:rPr spc="-10" dirty="0"/>
              <a:t>Concepto</a:t>
            </a:r>
          </a:p>
          <a:p>
            <a:pPr marL="755015" lvl="1" indent="-285115">
              <a:lnSpc>
                <a:spcPct val="100000"/>
              </a:lnSpc>
              <a:spcBef>
                <a:spcPts val="36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7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Evaluación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dirty="0"/>
              <a:t>Árboles</a:t>
            </a:r>
            <a:r>
              <a:rPr spc="-4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Decisión</a:t>
            </a:r>
          </a:p>
          <a:p>
            <a:pPr marL="755015" lvl="1" indent="-285115">
              <a:lnSpc>
                <a:spcPct val="100000"/>
              </a:lnSpc>
              <a:spcBef>
                <a:spcPts val="37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Construcción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Uso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Poda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dirty="0">
                <a:solidFill>
                  <a:srgbClr val="CCCC00"/>
                </a:solidFill>
              </a:rPr>
              <a:t>Clasificador</a:t>
            </a:r>
            <a:r>
              <a:rPr spc="-130" dirty="0">
                <a:solidFill>
                  <a:srgbClr val="CCCC00"/>
                </a:solidFill>
              </a:rPr>
              <a:t> </a:t>
            </a:r>
            <a:r>
              <a:rPr spc="-10" dirty="0">
                <a:solidFill>
                  <a:srgbClr val="CCCC00"/>
                </a:solidFill>
              </a:rPr>
              <a:t>Bayesiano</a:t>
            </a:r>
          </a:p>
          <a:p>
            <a:pPr marL="353695" indent="-340995">
              <a:lnSpc>
                <a:spcPct val="100000"/>
              </a:lnSpc>
              <a:spcBef>
                <a:spcPts val="359"/>
              </a:spcBef>
              <a:buChar char="•"/>
              <a:tabLst>
                <a:tab pos="353695" algn="l"/>
              </a:tabLst>
            </a:pPr>
            <a:r>
              <a:rPr spc="-10" dirty="0"/>
              <a:t>Ejemplos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0183" y="152465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Clasificador</a:t>
            </a:r>
            <a:r>
              <a:rPr spc="-114" dirty="0"/>
              <a:t> </a:t>
            </a:r>
            <a:r>
              <a:rPr spc="-10" dirty="0"/>
              <a:t>Bayesiano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0739" y="1366774"/>
            <a:ext cx="7517765" cy="4679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5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 un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estadístico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basado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Teorema</a:t>
            </a:r>
            <a:r>
              <a:rPr sz="20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de</a:t>
            </a:r>
            <a:r>
              <a:rPr sz="2000" spc="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Bayes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Clr>
                <a:srgbClr val="FFFFFF"/>
              </a:buClr>
              <a:buFont typeface="Microsoft Sans Serif"/>
              <a:buChar char="•"/>
            </a:pPr>
            <a:endParaRPr sz="2000">
              <a:latin typeface="Microsoft Sans Serif"/>
              <a:cs typeface="Microsoft Sans Serif"/>
            </a:endParaRPr>
          </a:p>
          <a:p>
            <a:pPr marL="353695" indent="-340995">
              <a:lnSpc>
                <a:spcPts val="2280"/>
              </a:lnSpc>
              <a:spcBef>
                <a:spcPts val="5"/>
              </a:spcBef>
              <a:buChar char="•"/>
              <a:tabLst>
                <a:tab pos="353695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Usa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aprendizaje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probabilístico para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calcular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explícitamente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endParaRPr sz="2000">
              <a:latin typeface="Microsoft Sans Serif"/>
              <a:cs typeface="Microsoft Sans Serif"/>
            </a:endParaRPr>
          </a:p>
          <a:p>
            <a:pPr marL="354330">
              <a:lnSpc>
                <a:spcPts val="228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probabilidades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hipótesis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354330" marR="5080" indent="-342265">
              <a:lnSpc>
                <a:spcPts val="2160"/>
              </a:lnSpc>
              <a:buChar char="•"/>
              <a:tabLst>
                <a:tab pos="35433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bayesiano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simple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naive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asume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independencia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total</a:t>
            </a:r>
            <a:r>
              <a:rPr sz="2000" spc="-3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entre</a:t>
            </a:r>
            <a:r>
              <a:rPr sz="2000" spc="-2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atributos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Clr>
                <a:srgbClr val="FFFFFF"/>
              </a:buClr>
              <a:buFont typeface="Microsoft Sans Serif"/>
              <a:buChar char="•"/>
            </a:pPr>
            <a:endParaRPr sz="2000">
              <a:latin typeface="Microsoft Sans Serif"/>
              <a:cs typeface="Microsoft Sans Serif"/>
            </a:endParaRPr>
          </a:p>
          <a:p>
            <a:pPr marL="354330" marR="589915" indent="-342265">
              <a:lnSpc>
                <a:spcPts val="2160"/>
              </a:lnSpc>
              <a:buChar char="•"/>
              <a:tabLst>
                <a:tab pos="35433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Funciona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bien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grandes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 datos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alta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precisión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clasificación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Clr>
                <a:srgbClr val="FFFFFF"/>
              </a:buClr>
              <a:buFont typeface="Microsoft Sans Serif"/>
              <a:buChar char="•"/>
            </a:pPr>
            <a:endParaRPr sz="2000">
              <a:latin typeface="Microsoft Sans Serif"/>
              <a:cs typeface="Microsoft Sans Serif"/>
            </a:endParaRPr>
          </a:p>
          <a:p>
            <a:pPr marL="354330" marR="233679" indent="-342265">
              <a:lnSpc>
                <a:spcPts val="2160"/>
              </a:lnSpc>
              <a:buChar char="•"/>
              <a:tabLst>
                <a:tab pos="35433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incremental</a:t>
            </a:r>
            <a:r>
              <a:rPr sz="20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 el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sentido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</a:t>
            </a:r>
            <a:r>
              <a:rPr sz="20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puede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aumentar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disminuir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 probabilidad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hipótesis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correcta.</a:t>
            </a:r>
            <a:r>
              <a:rPr sz="20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Conocimiento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previo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puede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combinarse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observados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15263" y="1363725"/>
            <a:ext cx="7717155" cy="458914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05130" marR="55244" indent="-342265" algn="just">
              <a:lnSpc>
                <a:spcPts val="2380"/>
              </a:lnSpc>
              <a:spcBef>
                <a:spcPts val="390"/>
              </a:spcBef>
            </a:pP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20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objetivo</a:t>
            </a:r>
            <a:r>
              <a:rPr sz="220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20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20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</a:t>
            </a:r>
            <a:r>
              <a:rPr sz="220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20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identificar</a:t>
            </a:r>
            <a:r>
              <a:rPr sz="220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20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qué</a:t>
            </a:r>
            <a:r>
              <a:rPr sz="220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</a:t>
            </a:r>
            <a:r>
              <a:rPr sz="2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objeto,</a:t>
            </a:r>
            <a:r>
              <a:rPr sz="2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basándose</a:t>
            </a:r>
            <a:r>
              <a:rPr sz="2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ciertos</a:t>
            </a:r>
            <a:r>
              <a:rPr sz="2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atributos.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2200">
              <a:latin typeface="Microsoft Sans Serif"/>
              <a:cs typeface="Microsoft Sans Serif"/>
            </a:endParaRPr>
          </a:p>
          <a:p>
            <a:pPr marL="405130" marR="57785" indent="-342265" algn="just">
              <a:lnSpc>
                <a:spcPts val="2380"/>
              </a:lnSpc>
            </a:pP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Consideremos</a:t>
            </a:r>
            <a:r>
              <a:rPr sz="22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2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objeto</a:t>
            </a:r>
            <a:r>
              <a:rPr sz="22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X,</a:t>
            </a:r>
            <a:r>
              <a:rPr sz="22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cuyos</a:t>
            </a:r>
            <a:r>
              <a:rPr sz="220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</a:t>
            </a:r>
            <a:r>
              <a:rPr sz="22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son</a:t>
            </a:r>
            <a:r>
              <a:rPr sz="22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(a</a:t>
            </a:r>
            <a:r>
              <a:rPr sz="2175" baseline="-24904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,a</a:t>
            </a:r>
            <a:r>
              <a:rPr sz="2175" baseline="-24904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...a</a:t>
            </a:r>
            <a:r>
              <a:rPr sz="2175" baseline="-24904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),</a:t>
            </a:r>
            <a:r>
              <a:rPr sz="22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y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queremos</a:t>
            </a:r>
            <a:r>
              <a:rPr sz="2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clasificarlo</a:t>
            </a:r>
            <a:r>
              <a:rPr sz="2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dentro</a:t>
            </a:r>
            <a:r>
              <a:rPr sz="2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conjunto</a:t>
            </a:r>
            <a:r>
              <a:rPr sz="2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r>
              <a:rPr sz="2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S.</a:t>
            </a:r>
            <a:endParaRPr sz="2200">
              <a:latin typeface="Microsoft Sans Serif"/>
              <a:cs typeface="Microsoft Sans Serif"/>
            </a:endParaRPr>
          </a:p>
          <a:p>
            <a:pPr marL="405130" marR="55880" indent="-342265" algn="just">
              <a:lnSpc>
                <a:spcPts val="2380"/>
              </a:lnSpc>
              <a:spcBef>
                <a:spcPts val="595"/>
              </a:spcBef>
            </a:pP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Sea</a:t>
            </a:r>
            <a:r>
              <a:rPr sz="2200" spc="5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200" spc="4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200" spc="5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clase,</a:t>
            </a:r>
            <a:r>
              <a:rPr sz="2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uno</a:t>
            </a:r>
            <a:r>
              <a:rPr sz="2200" spc="5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200" spc="5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elementos</a:t>
            </a:r>
            <a:r>
              <a:rPr sz="2200" spc="5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S.</a:t>
            </a:r>
            <a:r>
              <a:rPr sz="2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Entonces,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trataremos</a:t>
            </a:r>
            <a:r>
              <a:rPr sz="2200" spc="37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200" spc="37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encontrar</a:t>
            </a:r>
            <a:r>
              <a:rPr sz="2200" spc="36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200" spc="37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200" spc="305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200" spc="37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maximice</a:t>
            </a:r>
            <a:r>
              <a:rPr sz="2200" spc="370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2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P(A|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175" baseline="-24904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,a</a:t>
            </a:r>
            <a:r>
              <a:rPr sz="2175" baseline="-24904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...a</a:t>
            </a:r>
            <a:r>
              <a:rPr sz="2175" baseline="-24904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).</a:t>
            </a:r>
            <a:r>
              <a:rPr sz="22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Podemos</a:t>
            </a:r>
            <a:r>
              <a:rPr sz="2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decir</a:t>
            </a:r>
            <a:r>
              <a:rPr sz="2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entonces: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200">
              <a:latin typeface="Microsoft Sans Serif"/>
              <a:cs typeface="Microsoft Sans Serif"/>
            </a:endParaRPr>
          </a:p>
          <a:p>
            <a:pPr marL="405130" marR="55880" algn="just">
              <a:lnSpc>
                <a:spcPts val="2380"/>
              </a:lnSpc>
              <a:spcBef>
                <a:spcPts val="5"/>
              </a:spcBef>
            </a:pP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“Es</a:t>
            </a:r>
            <a:r>
              <a:rPr sz="2200" spc="250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muy</a:t>
            </a:r>
            <a:r>
              <a:rPr sz="2200" spc="24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probable</a:t>
            </a:r>
            <a:r>
              <a:rPr sz="2200" spc="24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que</a:t>
            </a:r>
            <a:r>
              <a:rPr sz="2200" spc="250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X</a:t>
            </a:r>
            <a:r>
              <a:rPr sz="2200" spc="229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pertenezca</a:t>
            </a:r>
            <a:r>
              <a:rPr sz="2200" spc="240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a</a:t>
            </a:r>
            <a:r>
              <a:rPr sz="2200" spc="24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la</a:t>
            </a:r>
            <a:r>
              <a:rPr sz="2200" spc="24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clase</a:t>
            </a:r>
            <a:r>
              <a:rPr sz="2200" spc="24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A</a:t>
            </a:r>
            <a:r>
              <a:rPr sz="2200" spc="12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FFCC00"/>
                </a:solidFill>
                <a:latin typeface="Microsoft Sans Serif"/>
                <a:cs typeface="Microsoft Sans Serif"/>
              </a:rPr>
              <a:t>porque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para</a:t>
            </a:r>
            <a:r>
              <a:rPr sz="2200" spc="36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un</a:t>
            </a:r>
            <a:r>
              <a:rPr sz="2200" spc="36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objeto,</a:t>
            </a:r>
            <a:r>
              <a:rPr sz="2200" spc="36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dada</a:t>
            </a:r>
            <a:r>
              <a:rPr sz="2200" spc="360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la</a:t>
            </a:r>
            <a:r>
              <a:rPr sz="2200" spc="36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condición</a:t>
            </a:r>
            <a:r>
              <a:rPr sz="2200" spc="360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de</a:t>
            </a:r>
            <a:r>
              <a:rPr sz="2200" spc="36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tener</a:t>
            </a:r>
            <a:r>
              <a:rPr sz="2200" spc="36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los</a:t>
            </a:r>
            <a:r>
              <a:rPr sz="2200" spc="370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FFCC00"/>
                </a:solidFill>
                <a:latin typeface="Microsoft Sans Serif"/>
                <a:cs typeface="Microsoft Sans Serif"/>
              </a:rPr>
              <a:t>atributos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(a</a:t>
            </a:r>
            <a:r>
              <a:rPr sz="2175" baseline="-24904" dirty="0">
                <a:solidFill>
                  <a:srgbClr val="FFCC00"/>
                </a:solidFill>
                <a:latin typeface="Microsoft Sans Serif"/>
                <a:cs typeface="Microsoft Sans Serif"/>
              </a:rPr>
              <a:t>1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,a</a:t>
            </a:r>
            <a:r>
              <a:rPr sz="2175" baseline="-24904" dirty="0">
                <a:solidFill>
                  <a:srgbClr val="FFCC00"/>
                </a:solidFill>
                <a:latin typeface="Microsoft Sans Serif"/>
                <a:cs typeface="Microsoft Sans Serif"/>
              </a:rPr>
              <a:t>2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...a</a:t>
            </a:r>
            <a:r>
              <a:rPr sz="2175" baseline="-24904" dirty="0">
                <a:solidFill>
                  <a:srgbClr val="FFCC00"/>
                </a:solidFill>
                <a:latin typeface="Microsoft Sans Serif"/>
                <a:cs typeface="Microsoft Sans Serif"/>
              </a:rPr>
              <a:t>n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),</a:t>
            </a:r>
            <a:r>
              <a:rPr sz="2200" spc="85" dirty="0">
                <a:solidFill>
                  <a:srgbClr val="FFCC00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la</a:t>
            </a:r>
            <a:r>
              <a:rPr sz="2200" spc="90" dirty="0">
                <a:solidFill>
                  <a:srgbClr val="FFCC00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probabilidad</a:t>
            </a:r>
            <a:r>
              <a:rPr sz="2200" spc="85" dirty="0">
                <a:solidFill>
                  <a:srgbClr val="FFCC00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de</a:t>
            </a:r>
            <a:r>
              <a:rPr sz="2200" spc="90" dirty="0">
                <a:solidFill>
                  <a:srgbClr val="FFCC00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que</a:t>
            </a:r>
            <a:r>
              <a:rPr sz="2200" spc="85" dirty="0">
                <a:solidFill>
                  <a:srgbClr val="FFCC00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la</a:t>
            </a:r>
            <a:r>
              <a:rPr sz="2200" spc="90" dirty="0">
                <a:solidFill>
                  <a:srgbClr val="FFCC00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clase</a:t>
            </a:r>
            <a:r>
              <a:rPr sz="2200" spc="85" dirty="0">
                <a:solidFill>
                  <a:srgbClr val="FFCC00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sea</a:t>
            </a:r>
            <a:r>
              <a:rPr sz="2200" spc="90" dirty="0">
                <a:solidFill>
                  <a:srgbClr val="FFCC00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FFCC00"/>
                </a:solidFill>
                <a:latin typeface="Microsoft Sans Serif"/>
                <a:cs typeface="Microsoft Sans Serif"/>
              </a:rPr>
              <a:t>A</a:t>
            </a:r>
            <a:r>
              <a:rPr sz="2200" spc="30" dirty="0">
                <a:solidFill>
                  <a:srgbClr val="FFCC00"/>
                </a:solidFill>
                <a:latin typeface="Microsoft Sans Serif"/>
                <a:cs typeface="Microsoft Sans Serif"/>
              </a:rPr>
              <a:t>  </a:t>
            </a:r>
            <a:r>
              <a:rPr sz="2200" spc="-25" dirty="0">
                <a:solidFill>
                  <a:srgbClr val="FFCC00"/>
                </a:solidFill>
                <a:latin typeface="Microsoft Sans Serif"/>
                <a:cs typeface="Microsoft Sans Serif"/>
              </a:rPr>
              <a:t>es </a:t>
            </a:r>
            <a:r>
              <a:rPr sz="2200" spc="-10" dirty="0">
                <a:solidFill>
                  <a:srgbClr val="FFCC00"/>
                </a:solidFill>
                <a:latin typeface="Microsoft Sans Serif"/>
                <a:cs typeface="Microsoft Sans Serif"/>
              </a:rPr>
              <a:t>máxima."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07E22C6A-8741-4814-2ADB-E1D214A4E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183" y="152465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Clasificador</a:t>
            </a:r>
            <a:r>
              <a:rPr spc="-114" dirty="0"/>
              <a:t> </a:t>
            </a:r>
            <a:r>
              <a:rPr spc="-10" dirty="0"/>
              <a:t>Bayesiano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100" y="228600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Teorema</a:t>
            </a:r>
            <a:r>
              <a:rPr spc="-6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spc="-10" dirty="0"/>
              <a:t>Bayes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6063" y="1397253"/>
            <a:ext cx="7470775" cy="4497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17780" indent="-3422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 objeto X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(descripción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clima) con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etiqueta de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desconocida,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H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hipótesis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X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 (apto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jugar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golf)</a:t>
            </a:r>
            <a:endParaRPr sz="2000">
              <a:latin typeface="Microsoft Sans Serif"/>
              <a:cs typeface="Microsoft Sans Serif"/>
            </a:endParaRPr>
          </a:p>
          <a:p>
            <a:pPr marL="354330" marR="5080" indent="-34226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probabilidad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posteriori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hipótesis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H,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P(H/X),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probabilidad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condicional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H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X,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sigue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teorema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Bayes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P(H/X)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icrosoft Sans Serif"/>
                <a:cs typeface="Microsoft Sans Serif"/>
              </a:rPr>
              <a:t>P(X/H)</a:t>
            </a:r>
            <a:r>
              <a:rPr sz="20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icrosoft Sans Serif"/>
                <a:cs typeface="Microsoft Sans Serif"/>
              </a:rPr>
              <a:t>P(H)</a:t>
            </a:r>
            <a:endParaRPr sz="2000">
              <a:latin typeface="Microsoft Sans Serif"/>
              <a:cs typeface="Microsoft Sans Serif"/>
            </a:endParaRPr>
          </a:p>
          <a:p>
            <a:pPr marL="1411605">
              <a:lnSpc>
                <a:spcPct val="100000"/>
              </a:lnSpc>
              <a:spcBef>
                <a:spcPts val="505"/>
              </a:spcBef>
            </a:pP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P(X)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P(H/X)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probabilidad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posteriori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P(H),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P(X)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probabilidad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 priori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(datos)</a:t>
            </a:r>
            <a:endParaRPr sz="2000">
              <a:latin typeface="Microsoft Sans Serif"/>
              <a:cs typeface="Microsoft Sans Serif"/>
            </a:endParaRPr>
          </a:p>
          <a:p>
            <a:pPr marL="354330" marR="81915" indent="-342265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P(X/H)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probabilidad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posteriori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(que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clima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esté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cierta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forma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juego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golf)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3276600"/>
            <a:ext cx="33147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5400" y="533400"/>
            <a:ext cx="64770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  <a:tabLst>
                <a:tab pos="2069464" algn="l"/>
              </a:tabLst>
            </a:pPr>
            <a:r>
              <a:rPr spc="-10" dirty="0"/>
              <a:t>Clasificador</a:t>
            </a:r>
            <a:r>
              <a:rPr dirty="0"/>
              <a:t>	Naive</a:t>
            </a:r>
            <a:r>
              <a:rPr spc="-45" dirty="0"/>
              <a:t> </a:t>
            </a:r>
            <a:r>
              <a:rPr spc="-10" dirty="0"/>
              <a:t>Bayes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3740" y="1625853"/>
            <a:ext cx="7823834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130" marR="13525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405130" algn="l"/>
              </a:tabLst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Supongamos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tenemos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,...,</a:t>
            </a:r>
            <a:r>
              <a:rPr sz="2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spc="-37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.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Dado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un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ejemplo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desconocido</a:t>
            </a:r>
            <a:r>
              <a:rPr sz="24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A,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predecirá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A=(a</a:t>
            </a:r>
            <a:r>
              <a:rPr sz="2400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,...,a</a:t>
            </a:r>
            <a:r>
              <a:rPr sz="2400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r>
              <a:rPr sz="2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pertenece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la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mayor</a:t>
            </a:r>
            <a:r>
              <a:rPr sz="2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probabilidad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posteriori: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64769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sz="24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400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337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P(C</a:t>
            </a:r>
            <a:r>
              <a:rPr sz="2400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/A)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&gt;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P(C</a:t>
            </a:r>
            <a:r>
              <a:rPr sz="2400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j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/A)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Symbol"/>
                <a:cs typeface="Symbol"/>
              </a:rPr>
              <a:t></a:t>
            </a:r>
            <a:r>
              <a:rPr sz="24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j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Symbol"/>
                <a:cs typeface="Symbol"/>
              </a:rPr>
              <a:t>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n,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j </a:t>
            </a:r>
            <a:r>
              <a:rPr sz="2400" dirty="0">
                <a:solidFill>
                  <a:srgbClr val="FFFFFF"/>
                </a:solidFill>
                <a:latin typeface="Symbol"/>
                <a:cs typeface="Symbol"/>
              </a:rPr>
              <a:t></a:t>
            </a:r>
            <a:r>
              <a:rPr sz="24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2400" dirty="0">
              <a:latin typeface="Microsoft Sans Serif"/>
              <a:cs typeface="Microsoft Sans Serif"/>
            </a:endParaRPr>
          </a:p>
          <a:p>
            <a:pPr marL="64769" marR="43180">
              <a:lnSpc>
                <a:spcPct val="121400"/>
              </a:lnSpc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Maximizar P(A/C</a:t>
            </a:r>
            <a:r>
              <a:rPr sz="2400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P(C</a:t>
            </a:r>
            <a:r>
              <a:rPr sz="2400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P(A)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Maximizar P(A/C</a:t>
            </a:r>
            <a:r>
              <a:rPr sz="2400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P(C</a:t>
            </a:r>
            <a:r>
              <a:rPr sz="2400" spc="-15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)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P(C</a:t>
            </a:r>
            <a:r>
              <a:rPr sz="2400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= 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2400" spc="-30" baseline="-20833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/s</a:t>
            </a:r>
            <a:endParaRPr sz="2400" dirty="0">
              <a:latin typeface="Microsoft Sans Serif"/>
              <a:cs typeface="Microsoft Sans Serif"/>
            </a:endParaRPr>
          </a:p>
          <a:p>
            <a:pPr marL="64769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P(A/C</a:t>
            </a:r>
            <a:r>
              <a:rPr sz="2400" baseline="-20833" dirty="0">
                <a:solidFill>
                  <a:srgbClr val="CCCC00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)</a:t>
            </a:r>
            <a:r>
              <a:rPr sz="2400" spc="-3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=</a:t>
            </a: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P(a</a:t>
            </a:r>
            <a:r>
              <a:rPr sz="2400" baseline="-20833" dirty="0">
                <a:solidFill>
                  <a:srgbClr val="CCCC00"/>
                </a:solidFill>
                <a:latin typeface="Microsoft Sans Serif"/>
                <a:cs typeface="Microsoft Sans Serif"/>
              </a:rPr>
              <a:t>1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,...,a</a:t>
            </a:r>
            <a:r>
              <a:rPr sz="2400" baseline="-20833" dirty="0">
                <a:solidFill>
                  <a:srgbClr val="CCCC00"/>
                </a:solidFill>
                <a:latin typeface="Microsoft Sans Serif"/>
                <a:cs typeface="Microsoft Sans Serif"/>
              </a:rPr>
              <a:t>m</a:t>
            </a:r>
            <a:r>
              <a:rPr sz="2400" spc="270" baseline="-20833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/C</a:t>
            </a:r>
            <a:r>
              <a:rPr sz="2400" spc="-30" baseline="-20833" dirty="0">
                <a:solidFill>
                  <a:srgbClr val="CCCC00"/>
                </a:solidFill>
                <a:latin typeface="Microsoft Sans Serif"/>
                <a:cs typeface="Microsoft Sans Serif"/>
              </a:rPr>
              <a:t>i</a:t>
            </a:r>
            <a:r>
              <a:rPr sz="2400" spc="-20" dirty="0">
                <a:solidFill>
                  <a:srgbClr val="CCCC00"/>
                </a:solidFill>
                <a:latin typeface="Microsoft Sans Serif"/>
                <a:cs typeface="Microsoft Sans Serif"/>
              </a:rPr>
              <a:t>)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5263" y="287213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Suposición</a:t>
            </a:r>
            <a:r>
              <a:rPr spc="-6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Naive</a:t>
            </a:r>
            <a:r>
              <a:rPr spc="-45" dirty="0"/>
              <a:t> </a:t>
            </a:r>
            <a:r>
              <a:rPr spc="-10" dirty="0"/>
              <a:t>Bayes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0663" y="2510154"/>
            <a:ext cx="7510780" cy="1931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" marR="1061085" indent="-3422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Siempre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(a</a:t>
            </a:r>
            <a:r>
              <a:rPr sz="2400" baseline="-24305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,a</a:t>
            </a:r>
            <a:r>
              <a:rPr sz="2400" baseline="-24305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...a</a:t>
            </a:r>
            <a:r>
              <a:rPr sz="2400" baseline="-2430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r>
              <a:rPr sz="24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sean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CCCC00"/>
                </a:solidFill>
                <a:latin typeface="Microsoft Sans Serif"/>
                <a:cs typeface="Microsoft Sans Serif"/>
              </a:rPr>
              <a:t>condicionalmente </a:t>
            </a:r>
            <a:r>
              <a:rPr sz="2400" dirty="0">
                <a:solidFill>
                  <a:srgbClr val="CCCC00"/>
                </a:solidFill>
                <a:latin typeface="Microsoft Sans Serif"/>
                <a:cs typeface="Microsoft Sans Serif"/>
              </a:rPr>
              <a:t>independientes</a:t>
            </a:r>
            <a:r>
              <a:rPr sz="2400" spc="-40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unas</a:t>
            </a:r>
            <a:r>
              <a:rPr sz="2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otras.</a:t>
            </a:r>
            <a:endParaRPr sz="2400">
              <a:latin typeface="Microsoft Sans Serif"/>
              <a:cs typeface="Microsoft Sans Serif"/>
            </a:endParaRPr>
          </a:p>
          <a:p>
            <a:pPr marL="379730" marR="30480" indent="-342265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Dado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P(a</a:t>
            </a:r>
            <a:r>
              <a:rPr sz="2400" baseline="-2430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|A)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obtiene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fácilmente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de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entrenamiento,</a:t>
            </a:r>
            <a:r>
              <a:rPr sz="24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tiene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encontrar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una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400" spc="-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maximice la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expresión: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1447800"/>
            <a:ext cx="3441700" cy="711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4200" y="4953000"/>
            <a:ext cx="25146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100812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Ejemplo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70639" y="1365839"/>
          <a:ext cx="6097904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5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CC00"/>
                          </a:solidFill>
                          <a:latin typeface="Microsoft Sans Serif"/>
                          <a:cs typeface="Microsoft Sans Serif"/>
                        </a:rPr>
                        <a:t>Tamaño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CC00"/>
                          </a:solidFill>
                          <a:latin typeface="Microsoft Sans Serif"/>
                          <a:cs typeface="Microsoft Sans Serif"/>
                        </a:rPr>
                        <a:t>Precio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0" dirty="0">
                          <a:solidFill>
                            <a:srgbClr val="FFCC00"/>
                          </a:solidFill>
                          <a:latin typeface="Microsoft Sans Serif"/>
                          <a:cs typeface="Microsoft Sans Serif"/>
                        </a:rPr>
                        <a:t>Peso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CC00"/>
                          </a:solidFill>
                          <a:latin typeface="Microsoft Sans Serif"/>
                          <a:cs typeface="Microsoft Sans Serif"/>
                        </a:rPr>
                        <a:t>Color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CC00"/>
                          </a:solidFill>
                          <a:latin typeface="Microsoft Sans Serif"/>
                          <a:cs typeface="Microsoft Sans Serif"/>
                        </a:rPr>
                        <a:t>Compro?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Grande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Barato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Pesado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azul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Si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Grande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Caro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Medio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Azul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Chico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Caro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Medio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Verde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Si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Chico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Barato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Liviano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Azul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Chico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Caro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pesado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Verde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906270" y="5513933"/>
            <a:ext cx="51435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C00"/>
                </a:solidFill>
                <a:latin typeface="Microsoft Sans Serif"/>
                <a:cs typeface="Microsoft Sans Serif"/>
              </a:rPr>
              <a:t>(chico,</a:t>
            </a:r>
            <a:r>
              <a:rPr sz="2400" spc="-50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CC00"/>
                </a:solidFill>
                <a:latin typeface="Microsoft Sans Serif"/>
                <a:cs typeface="Microsoft Sans Serif"/>
              </a:rPr>
              <a:t>barato,</a:t>
            </a:r>
            <a:r>
              <a:rPr sz="2400" spc="-35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CC00"/>
                </a:solidFill>
                <a:latin typeface="Microsoft Sans Serif"/>
                <a:cs typeface="Microsoft Sans Serif"/>
              </a:rPr>
              <a:t>pesado,</a:t>
            </a:r>
            <a:r>
              <a:rPr sz="2400" spc="-30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CC00"/>
                </a:solidFill>
                <a:latin typeface="Microsoft Sans Serif"/>
                <a:cs typeface="Microsoft Sans Serif"/>
              </a:rPr>
              <a:t>azul)</a:t>
            </a:r>
            <a:r>
              <a:rPr sz="2400" spc="-30" dirty="0">
                <a:solidFill>
                  <a:srgbClr val="FFCC0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CC00"/>
                </a:solidFill>
                <a:latin typeface="Microsoft Sans Serif"/>
                <a:cs typeface="Microsoft Sans Serif"/>
              </a:rPr>
              <a:t>compro?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6063" y="1562455"/>
            <a:ext cx="6954520" cy="43199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P(C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|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 Chico,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 Barato,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Pesado,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Azul)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P(C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|T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Chico,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Pr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Barato,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Pesado,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Azul)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Equivalente</a:t>
            </a:r>
            <a:r>
              <a:rPr sz="20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a:</a:t>
            </a:r>
            <a:endParaRPr sz="2000">
              <a:latin typeface="Microsoft Sans Serif"/>
              <a:cs typeface="Microsoft Sans Serif"/>
            </a:endParaRPr>
          </a:p>
          <a:p>
            <a:pPr marL="323850" indent="-311150">
              <a:lnSpc>
                <a:spcPct val="100000"/>
              </a:lnSpc>
              <a:spcBef>
                <a:spcPts val="505"/>
              </a:spcBef>
              <a:buSzPct val="95000"/>
              <a:buAutoNum type="arabicParenBoth"/>
              <a:tabLst>
                <a:tab pos="32385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P(C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S) P(T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 Chico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|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 S)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P(Pr = Barato|C = S) P(P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endParaRPr sz="200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Pesado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|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S)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P(C =</a:t>
            </a:r>
            <a:r>
              <a:rPr sz="20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Azul|C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S)</a:t>
            </a:r>
            <a:endParaRPr sz="2000">
              <a:latin typeface="Microsoft Sans Serif"/>
              <a:cs typeface="Microsoft Sans Serif"/>
            </a:endParaRPr>
          </a:p>
          <a:p>
            <a:pPr marL="323850" indent="-311150">
              <a:lnSpc>
                <a:spcPct val="100000"/>
              </a:lnSpc>
              <a:spcBef>
                <a:spcPts val="495"/>
              </a:spcBef>
              <a:buSzPct val="95000"/>
              <a:buAutoNum type="arabicParenBoth" startAt="2"/>
              <a:tabLst>
                <a:tab pos="323850" algn="l"/>
              </a:tabLst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P(C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N)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P(T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 Chico |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N) P(Pr =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Barato|C =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N) P(P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endParaRPr sz="200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Pesado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|</a:t>
            </a:r>
            <a:r>
              <a:rPr sz="20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20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N)</a:t>
            </a:r>
            <a:r>
              <a:rPr sz="20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P(C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Azul|C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N)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Resultados: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(1):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(2/5)(1/2)(1/2)(1/2)(1/2)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0.025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(2):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(3/5)(2/3)(1/2)(1/3)(2/3)</a:t>
            </a:r>
            <a:r>
              <a:rPr sz="2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CC00"/>
                </a:solidFill>
                <a:latin typeface="Microsoft Sans Serif"/>
                <a:cs typeface="Microsoft Sans Serif"/>
              </a:rPr>
              <a:t>0.044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92DB9260-1D2A-3626-6558-06621D3FAE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0812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Ejemplo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Clasificación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59"/>
              </a:spcBef>
              <a:buChar char="•"/>
              <a:tabLst>
                <a:tab pos="353695" algn="l"/>
              </a:tabLst>
            </a:pPr>
            <a:r>
              <a:rPr spc="-10" dirty="0"/>
              <a:t>Concepto</a:t>
            </a:r>
          </a:p>
          <a:p>
            <a:pPr marL="755015" lvl="1" indent="-285115">
              <a:lnSpc>
                <a:spcPct val="100000"/>
              </a:lnSpc>
              <a:spcBef>
                <a:spcPts val="36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7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Evaluación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dirty="0"/>
              <a:t>Árboles</a:t>
            </a:r>
            <a:r>
              <a:rPr spc="-4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Decisión</a:t>
            </a:r>
          </a:p>
          <a:p>
            <a:pPr marL="755015" lvl="1" indent="-285115">
              <a:lnSpc>
                <a:spcPct val="100000"/>
              </a:lnSpc>
              <a:spcBef>
                <a:spcPts val="37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Construcción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Uso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Poda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dirty="0"/>
              <a:t>Clasificador</a:t>
            </a:r>
            <a:r>
              <a:rPr spc="-130" dirty="0"/>
              <a:t> </a:t>
            </a:r>
            <a:r>
              <a:rPr spc="-10" dirty="0"/>
              <a:t>Bayesiano</a:t>
            </a:r>
          </a:p>
          <a:p>
            <a:pPr marL="353695" indent="-340995">
              <a:lnSpc>
                <a:spcPct val="100000"/>
              </a:lnSpc>
              <a:spcBef>
                <a:spcPts val="359"/>
              </a:spcBef>
              <a:buChar char="•"/>
              <a:tabLst>
                <a:tab pos="353695" algn="l"/>
              </a:tabLst>
            </a:pPr>
            <a:r>
              <a:rPr spc="-10" dirty="0">
                <a:solidFill>
                  <a:srgbClr val="FFFF00"/>
                </a:solidFill>
              </a:rPr>
              <a:t>Vecinos</a:t>
            </a:r>
            <a:r>
              <a:rPr spc="-8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más</a:t>
            </a:r>
            <a:r>
              <a:rPr spc="-85" dirty="0">
                <a:solidFill>
                  <a:srgbClr val="FFFF00"/>
                </a:solidFill>
              </a:rPr>
              <a:t> </a:t>
            </a:r>
            <a:r>
              <a:rPr spc="-10" dirty="0">
                <a:solidFill>
                  <a:srgbClr val="FFFF00"/>
                </a:solidFill>
              </a:rPr>
              <a:t>cercanos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669" y="5030570"/>
            <a:ext cx="1220826" cy="99842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83161"/>
            <a:ext cx="7886700" cy="904094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Vecinos</a:t>
            </a:r>
            <a:r>
              <a:rPr spc="-55" dirty="0"/>
              <a:t> </a:t>
            </a:r>
            <a:r>
              <a:rPr dirty="0"/>
              <a:t>más</a:t>
            </a:r>
            <a:r>
              <a:rPr spc="-45" dirty="0"/>
              <a:t> </a:t>
            </a:r>
            <a:r>
              <a:rPr spc="-10" dirty="0"/>
              <a:t>cercanos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645" y="1345565"/>
            <a:ext cx="7458709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K=1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(círculo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pequeño), la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nueva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instancia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sería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1,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ya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su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vecino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cercano,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mientras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4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K=3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nueva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instancia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sería</a:t>
            </a:r>
            <a:r>
              <a:rPr sz="2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pues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habrían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dos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vecinos de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 2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solo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3657600"/>
            <a:ext cx="4267200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575861"/>
            <a:ext cx="7886700" cy="904094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cs typeface="+mj-cs"/>
              </a:rPr>
              <a:t>Algoritmo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133600"/>
            <a:ext cx="7429500" cy="32893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824" y="454557"/>
            <a:ext cx="7886700" cy="657872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</a:rPr>
              <a:t>Cómo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elegir</a:t>
            </a:r>
            <a:r>
              <a:rPr spc="-60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K?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512" y="1446275"/>
            <a:ext cx="8307324" cy="397192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147" y="161924"/>
            <a:ext cx="7886700" cy="904094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Cómo</a:t>
            </a:r>
            <a:r>
              <a:rPr spc="-50" dirty="0"/>
              <a:t> </a:t>
            </a:r>
            <a:r>
              <a:rPr dirty="0"/>
              <a:t>elegir</a:t>
            </a:r>
            <a:r>
              <a:rPr spc="-60" dirty="0"/>
              <a:t> </a:t>
            </a:r>
            <a:r>
              <a:rPr spc="-25" dirty="0"/>
              <a:t>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120" y="1393951"/>
            <a:ext cx="7564755" cy="4232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Escogiendo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32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K:</a:t>
            </a:r>
            <a:endParaRPr sz="3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25"/>
              </a:spcBef>
            </a:pPr>
            <a:endParaRPr sz="320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buClr>
                <a:srgbClr val="000000"/>
              </a:buClr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3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r>
              <a:rPr sz="32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muy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pequeño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el modelo </a:t>
            </a:r>
            <a:r>
              <a:rPr sz="3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será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muy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sensitivo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puntos</a:t>
            </a:r>
            <a:r>
              <a:rPr sz="32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son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atípicos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32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son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ruido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(datos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corruptos, outliers)</a:t>
            </a:r>
            <a:endParaRPr sz="3200">
              <a:latin typeface="Microsoft Sans Serif"/>
              <a:cs typeface="Microsoft Sans Serif"/>
            </a:endParaRPr>
          </a:p>
          <a:p>
            <a:pPr marL="355600" marR="118110" indent="-342900">
              <a:lnSpc>
                <a:spcPct val="100000"/>
              </a:lnSpc>
              <a:spcBef>
                <a:spcPts val="795"/>
              </a:spcBef>
              <a:buClr>
                <a:srgbClr val="000000"/>
              </a:buClr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Si</a:t>
            </a:r>
            <a:r>
              <a:rPr sz="3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muy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grande,</a:t>
            </a:r>
            <a:r>
              <a:rPr sz="3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tiende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a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asignar</a:t>
            </a:r>
            <a:r>
              <a:rPr sz="3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siempre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32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grande.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3320" y="1622551"/>
            <a:ext cx="6659880" cy="3644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3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algunos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algoritmos,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32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modelo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escogerá</a:t>
            </a:r>
            <a:r>
              <a:rPr sz="3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valor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32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r>
              <a:rPr sz="32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32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mejor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r>
              <a:rPr sz="32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logre</a:t>
            </a:r>
            <a:r>
              <a:rPr sz="3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32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esta</a:t>
            </a:r>
            <a:r>
              <a:rPr sz="32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tabla,</a:t>
            </a:r>
            <a:r>
              <a:rPr sz="3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es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decir,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prueba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K=1,</a:t>
            </a:r>
            <a:r>
              <a:rPr sz="32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K=2,</a:t>
            </a:r>
            <a:r>
              <a:rPr sz="32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660" dirty="0">
                <a:solidFill>
                  <a:srgbClr val="FFFFFF"/>
                </a:solidFill>
                <a:latin typeface="Microsoft Sans Serif"/>
                <a:cs typeface="Microsoft Sans Serif"/>
              </a:rPr>
              <a:t>….</a:t>
            </a:r>
            <a:endParaRPr sz="3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3200">
              <a:latin typeface="Microsoft Sans Serif"/>
              <a:cs typeface="Microsoft Sans Serif"/>
            </a:endParaRPr>
          </a:p>
          <a:p>
            <a:pPr marL="355600" marR="2126615" indent="-34290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Esto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puede</a:t>
            </a:r>
            <a:r>
              <a:rPr sz="32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ser</a:t>
            </a:r>
            <a:r>
              <a:rPr sz="32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muy</a:t>
            </a:r>
            <a:r>
              <a:rPr sz="32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caro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computacionalmente.</a:t>
            </a:r>
            <a:endParaRPr sz="3200">
              <a:latin typeface="Microsoft Sans Serif"/>
              <a:cs typeface="Microsoft Sans Serif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E22B2571-9B8E-6E0A-52A1-7009E1CDAC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6147" y="161924"/>
            <a:ext cx="7886700" cy="904094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Cómo</a:t>
            </a:r>
            <a:r>
              <a:rPr spc="-50" dirty="0"/>
              <a:t> </a:t>
            </a:r>
            <a:r>
              <a:rPr dirty="0"/>
              <a:t>elegir</a:t>
            </a:r>
            <a:r>
              <a:rPr spc="-60" dirty="0"/>
              <a:t> </a:t>
            </a:r>
            <a:r>
              <a:rPr spc="-25" dirty="0"/>
              <a:t>K?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443852"/>
            <a:ext cx="7886700" cy="657872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</a:rPr>
              <a:t>Cómo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elegir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la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distancia?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524000"/>
            <a:ext cx="5981700" cy="441007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600200"/>
            <a:ext cx="6373749" cy="4273550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9CABEF9A-6C01-CD5C-A339-B58715D7E2B7}"/>
              </a:ext>
            </a:extLst>
          </p:cNvPr>
          <p:cNvSpPr txBox="1">
            <a:spLocks/>
          </p:cNvSpPr>
          <p:nvPr/>
        </p:nvSpPr>
        <p:spPr>
          <a:xfrm>
            <a:off x="628650" y="443852"/>
            <a:ext cx="7886700" cy="657872"/>
          </a:xfrm>
          <a:prstGeom prst="rect">
            <a:avLst/>
          </a:prstGeom>
        </p:spPr>
        <p:txBody>
          <a:bodyPr vert="horz" wrap="square" lIns="0" tIns="224790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bg1"/>
                </a:solidFill>
                <a:latin typeface="Microsoft Sans Serif"/>
                <a:ea typeface="+mj-ea"/>
                <a:cs typeface="Microsoft Sans Serif"/>
              </a:defRPr>
            </a:lvl1pPr>
          </a:lstStyle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es-PE">
                <a:solidFill>
                  <a:schemeClr val="tx1"/>
                </a:solidFill>
              </a:rPr>
              <a:t>Cómo</a:t>
            </a:r>
            <a:r>
              <a:rPr lang="es-PE" spc="-35">
                <a:solidFill>
                  <a:schemeClr val="tx1"/>
                </a:solidFill>
              </a:rPr>
              <a:t> </a:t>
            </a:r>
            <a:r>
              <a:rPr lang="es-PE">
                <a:solidFill>
                  <a:schemeClr val="tx1"/>
                </a:solidFill>
              </a:rPr>
              <a:t>elegir</a:t>
            </a:r>
            <a:r>
              <a:rPr lang="es-PE" spc="-40">
                <a:solidFill>
                  <a:schemeClr val="tx1"/>
                </a:solidFill>
              </a:rPr>
              <a:t> </a:t>
            </a:r>
            <a:r>
              <a:rPr lang="es-PE">
                <a:solidFill>
                  <a:schemeClr val="tx1"/>
                </a:solidFill>
              </a:rPr>
              <a:t>la</a:t>
            </a:r>
            <a:r>
              <a:rPr lang="es-PE" spc="-50">
                <a:solidFill>
                  <a:schemeClr val="tx1"/>
                </a:solidFill>
              </a:rPr>
              <a:t> </a:t>
            </a:r>
            <a:r>
              <a:rPr lang="es-PE" spc="-10">
                <a:solidFill>
                  <a:schemeClr val="tx1"/>
                </a:solidFill>
              </a:rPr>
              <a:t>distancia?</a:t>
            </a:r>
            <a:endParaRPr lang="es-PE" spc="-1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752600"/>
            <a:ext cx="5440299" cy="3838575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E2198498-7460-7EB9-05F6-E8CBEE951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443852"/>
            <a:ext cx="7886700" cy="657872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</a:rPr>
              <a:t>Cómo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elegir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la</a:t>
            </a:r>
            <a:r>
              <a:rPr spc="-5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distancia?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136524"/>
            <a:ext cx="7886700" cy="1335570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marL="410209" algn="ctr">
              <a:lnSpc>
                <a:spcPct val="100000"/>
              </a:lnSpc>
              <a:spcBef>
                <a:spcPts val="95"/>
              </a:spcBef>
            </a:pPr>
            <a:r>
              <a:rPr sz="3600" b="1" dirty="0"/>
              <a:t>Áreas</a:t>
            </a:r>
            <a:r>
              <a:rPr sz="3600" b="1" spc="-50" dirty="0"/>
              <a:t> </a:t>
            </a:r>
            <a:r>
              <a:rPr sz="3600" b="1" dirty="0"/>
              <a:t>de</a:t>
            </a:r>
            <a:r>
              <a:rPr sz="3600" b="1" spc="-40" dirty="0"/>
              <a:t> </a:t>
            </a:r>
            <a:r>
              <a:rPr sz="3600" b="1" dirty="0"/>
              <a:t>investigación</a:t>
            </a:r>
            <a:r>
              <a:rPr sz="3600" b="1" spc="-35" dirty="0"/>
              <a:t> </a:t>
            </a:r>
            <a:r>
              <a:rPr sz="3600" b="1" dirty="0"/>
              <a:t>en</a:t>
            </a:r>
            <a:r>
              <a:rPr sz="3600" b="1" spc="-180" dirty="0"/>
              <a:t> </a:t>
            </a:r>
            <a:r>
              <a:rPr sz="3600" b="1" dirty="0"/>
              <a:t>Arboles</a:t>
            </a:r>
            <a:r>
              <a:rPr sz="3600" b="1" spc="-45" dirty="0"/>
              <a:t> </a:t>
            </a:r>
            <a:r>
              <a:rPr sz="3600" b="1" dirty="0"/>
              <a:t>de</a:t>
            </a:r>
            <a:r>
              <a:rPr sz="3600" b="1" spc="-35" dirty="0"/>
              <a:t> </a:t>
            </a:r>
            <a:r>
              <a:rPr sz="3600" b="1" spc="-10" dirty="0"/>
              <a:t>Decisión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2132095"/>
            <a:ext cx="5878830" cy="3564254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9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Clases</a:t>
            </a:r>
            <a:r>
              <a:rPr sz="32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desbalanceadas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Clasificadores</a:t>
            </a:r>
            <a:r>
              <a:rPr sz="320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multi-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clase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Aprendizaje</a:t>
            </a:r>
            <a:r>
              <a:rPr sz="3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semi-supervisado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79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Combinación</a:t>
            </a:r>
            <a:r>
              <a:rPr sz="32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clasificadores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Selección</a:t>
            </a:r>
            <a:r>
              <a:rPr sz="32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32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atributos</a:t>
            </a:r>
            <a:endParaRPr sz="3200" dirty="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805"/>
              </a:spcBef>
              <a:buChar char="•"/>
              <a:tabLst>
                <a:tab pos="353695" algn="l"/>
              </a:tabLst>
            </a:pPr>
            <a:r>
              <a:rPr sz="3200" spc="1325" dirty="0">
                <a:solidFill>
                  <a:srgbClr val="FFFFFF"/>
                </a:solidFill>
                <a:latin typeface="Microsoft Sans Serif"/>
                <a:cs typeface="Microsoft Sans Serif"/>
              </a:rPr>
              <a:t>…</a:t>
            </a:r>
            <a:endParaRPr sz="32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5325" y="-48279"/>
            <a:ext cx="7886700" cy="1335570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marL="172720" algn="ctr">
              <a:lnSpc>
                <a:spcPct val="100000"/>
              </a:lnSpc>
              <a:spcBef>
                <a:spcPts val="95"/>
              </a:spcBef>
            </a:pPr>
            <a:r>
              <a:rPr sz="3600" dirty="0"/>
              <a:t>Mejorar</a:t>
            </a:r>
            <a:r>
              <a:rPr sz="3600" spc="-75" dirty="0"/>
              <a:t> </a:t>
            </a:r>
            <a:r>
              <a:rPr sz="3600" dirty="0"/>
              <a:t>la</a:t>
            </a:r>
            <a:r>
              <a:rPr sz="3600" spc="-75" dirty="0"/>
              <a:t> </a:t>
            </a:r>
            <a:r>
              <a:rPr sz="3600" dirty="0"/>
              <a:t>exactitud:</a:t>
            </a:r>
            <a:r>
              <a:rPr sz="3600" spc="-80" dirty="0"/>
              <a:t> </a:t>
            </a:r>
            <a:r>
              <a:rPr sz="3600" dirty="0"/>
              <a:t>Clasificadores</a:t>
            </a:r>
            <a:r>
              <a:rPr sz="3600" spc="-65" dirty="0"/>
              <a:t> </a:t>
            </a:r>
            <a:r>
              <a:rPr sz="3600" spc="-10" dirty="0"/>
              <a:t>compuestos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447800"/>
            <a:ext cx="5924550" cy="32369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5720" y="4828159"/>
            <a:ext cx="7362825" cy="141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6845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Bagging:</a:t>
            </a:r>
            <a:r>
              <a:rPr sz="2000" spc="-5" dirty="0">
                <a:solidFill>
                  <a:srgbClr val="CCCC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ej.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consulto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varios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doctores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20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me quedo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con la</a:t>
            </a:r>
            <a:r>
              <a:rPr sz="20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opinión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mayoritaria</a:t>
            </a:r>
            <a:r>
              <a:rPr sz="20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(la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tenga</a:t>
            </a:r>
            <a:r>
              <a:rPr sz="20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más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votos)</a:t>
            </a:r>
            <a:endParaRPr sz="2000">
              <a:latin typeface="Microsoft Sans Serif"/>
              <a:cs typeface="Microsoft Sans Serif"/>
            </a:endParaRPr>
          </a:p>
          <a:p>
            <a:pPr marL="169545" indent="-156845">
              <a:lnSpc>
                <a:spcPct val="100000"/>
              </a:lnSpc>
              <a:spcBef>
                <a:spcPts val="1300"/>
              </a:spcBef>
              <a:buClr>
                <a:srgbClr val="FFFFFF"/>
              </a:buClr>
              <a:buChar char="•"/>
              <a:tabLst>
                <a:tab pos="169545" algn="l"/>
              </a:tabLst>
            </a:pPr>
            <a:r>
              <a:rPr sz="2000" dirty="0">
                <a:solidFill>
                  <a:srgbClr val="CCCC00"/>
                </a:solidFill>
                <a:latin typeface="Microsoft Sans Serif"/>
                <a:cs typeface="Microsoft Sans Serif"/>
              </a:rPr>
              <a:t>Boosting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ej.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pondero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cada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diagnóstico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según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exactitud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médico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(del</a:t>
            </a: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clasificador)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575566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Clasificación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59"/>
              </a:spcBef>
              <a:buChar char="•"/>
              <a:tabLst>
                <a:tab pos="353695" algn="l"/>
              </a:tabLst>
            </a:pPr>
            <a:r>
              <a:rPr spc="-10" dirty="0"/>
              <a:t>Concepto</a:t>
            </a:r>
          </a:p>
          <a:p>
            <a:pPr marL="755015" lvl="1" indent="-285115">
              <a:lnSpc>
                <a:spcPct val="100000"/>
              </a:lnSpc>
              <a:spcBef>
                <a:spcPts val="36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Clasificación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7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Evaluación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60"/>
              </a:spcBef>
              <a:buChar char="•"/>
              <a:tabLst>
                <a:tab pos="353695" algn="l"/>
              </a:tabLst>
            </a:pPr>
            <a:r>
              <a:rPr dirty="0"/>
              <a:t>Árboles</a:t>
            </a:r>
            <a:r>
              <a:rPr spc="-4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Decisión</a:t>
            </a:r>
          </a:p>
          <a:p>
            <a:pPr marL="755015" lvl="1" indent="-285115">
              <a:lnSpc>
                <a:spcPct val="100000"/>
              </a:lnSpc>
              <a:spcBef>
                <a:spcPts val="375"/>
              </a:spcBef>
              <a:buChar char="–"/>
              <a:tabLst>
                <a:tab pos="755015" algn="l"/>
              </a:tabLst>
            </a:pPr>
            <a:r>
              <a:rPr sz="2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Construcción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Uso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360"/>
              </a:spcBef>
              <a:buChar char="–"/>
              <a:tabLst>
                <a:tab pos="755015" algn="l"/>
              </a:tabLst>
            </a:pPr>
            <a:r>
              <a:rPr sz="2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Poda</a:t>
            </a:r>
            <a:endParaRPr sz="2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75"/>
              </a:spcBef>
              <a:buChar char="•"/>
              <a:tabLst>
                <a:tab pos="353695" algn="l"/>
              </a:tabLst>
            </a:pPr>
            <a:r>
              <a:rPr dirty="0"/>
              <a:t>Clasificador</a:t>
            </a:r>
            <a:r>
              <a:rPr spc="-130" dirty="0"/>
              <a:t> </a:t>
            </a:r>
            <a:r>
              <a:rPr spc="-10" dirty="0"/>
              <a:t>Bayesiano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669" y="5030570"/>
            <a:ext cx="1220826" cy="9984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64540" y="5872791"/>
            <a:ext cx="149860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z="2800" spc="-50" dirty="0">
                <a:solidFill>
                  <a:srgbClr val="FFFF00"/>
                </a:solidFill>
                <a:latin typeface="Microsoft Sans Serif"/>
                <a:cs typeface="Microsoft Sans Serif"/>
              </a:rPr>
              <a:t>•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6220" y="5872791"/>
            <a:ext cx="3265170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z="2800" dirty="0">
                <a:solidFill>
                  <a:srgbClr val="FFFF00"/>
                </a:solidFill>
                <a:latin typeface="Microsoft Sans Serif"/>
                <a:cs typeface="Microsoft Sans Serif"/>
              </a:rPr>
              <a:t>Herramientas:</a:t>
            </a:r>
            <a:r>
              <a:rPr sz="2800" spc="-114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FFFF00"/>
                </a:solidFill>
                <a:latin typeface="Microsoft Sans Serif"/>
                <a:cs typeface="Microsoft Sans Serif"/>
              </a:rPr>
              <a:t>Weka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402021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Software:</a:t>
            </a:r>
            <a:r>
              <a:rPr spc="-85" dirty="0"/>
              <a:t> </a:t>
            </a:r>
            <a:r>
              <a:rPr spc="-20" dirty="0"/>
              <a:t>WEKA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627378"/>
            <a:ext cx="7534275" cy="11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•"/>
              <a:tabLst>
                <a:tab pos="35369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Machine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Learning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Software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1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Java</a:t>
            </a:r>
            <a:endParaRPr sz="180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</a:pPr>
            <a:r>
              <a:rPr sz="1800" u="sng" spc="-10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Microsoft Sans Serif"/>
                <a:cs typeface="Microsoft Sans Serif"/>
                <a:hlinkClick r:id="rId2"/>
              </a:rPr>
              <a:t>http://www.cs.waikato.ac.nz/~ml/weka/</a:t>
            </a:r>
            <a:endParaRPr sz="1800">
              <a:latin typeface="Microsoft Sans Serif"/>
              <a:cs typeface="Microsoft Sans Serif"/>
            </a:endParaRPr>
          </a:p>
          <a:p>
            <a:pPr marL="354330" marR="5080" indent="-342265">
              <a:lnSpc>
                <a:spcPct val="100000"/>
              </a:lnSpc>
              <a:spcBef>
                <a:spcPts val="505"/>
              </a:spcBef>
              <a:buChar char="•"/>
              <a:tabLst>
                <a:tab pos="354330" algn="l"/>
                <a:tab pos="4951095" algn="l"/>
              </a:tabLst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Mining: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Practical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Machine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Learning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Tools</a:t>
            </a: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Techniques</a:t>
            </a:r>
            <a:r>
              <a:rPr sz="18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Microsoft Sans Serif"/>
                <a:cs typeface="Microsoft Sans Serif"/>
                <a:hlinkClick r:id="rId3"/>
              </a:rPr>
              <a:t>Ian</a:t>
            </a:r>
            <a:r>
              <a:rPr sz="1800" u="sng" spc="-30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u="sng" spc="-25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Microsoft Sans Serif"/>
                <a:cs typeface="Microsoft Sans Serif"/>
                <a:hlinkClick r:id="rId3"/>
              </a:rPr>
              <a:t>H.</a:t>
            </a:r>
            <a:r>
              <a:rPr sz="1800" spc="-25" dirty="0">
                <a:solidFill>
                  <a:srgbClr val="CCCCFF"/>
                </a:solidFill>
                <a:latin typeface="Microsoft Sans Serif"/>
                <a:cs typeface="Microsoft Sans Serif"/>
              </a:rPr>
              <a:t> </a:t>
            </a:r>
            <a:r>
              <a:rPr sz="1800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Microsoft Sans Serif"/>
                <a:cs typeface="Microsoft Sans Serif"/>
                <a:hlinkClick r:id="rId3"/>
              </a:rPr>
              <a:t>Witten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Microsoft Sans Serif"/>
                <a:cs typeface="Microsoft Sans Serif"/>
                <a:hlinkClick r:id="rId4"/>
              </a:rPr>
              <a:t>Eibe</a:t>
            </a:r>
            <a:r>
              <a:rPr sz="1800" u="sng" spc="-10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1800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Microsoft Sans Serif"/>
                <a:cs typeface="Microsoft Sans Serif"/>
                <a:hlinkClick r:id="rId4"/>
              </a:rPr>
              <a:t>Frank</a:t>
            </a:r>
            <a:r>
              <a:rPr sz="1800" spc="440" dirty="0">
                <a:solidFill>
                  <a:srgbClr val="CCCC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(Third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Edition)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470" dirty="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Morgan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	Kaufmann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800" spc="48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2011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5600" y="3352800"/>
            <a:ext cx="3438525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750" y="119591"/>
            <a:ext cx="7886700" cy="904682"/>
          </a:xfrm>
          <a:prstGeom prst="rect">
            <a:avLst/>
          </a:prstGeom>
        </p:spPr>
        <p:txBody>
          <a:bodyPr vert="horz" wrap="square" lIns="0" tIns="22537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/>
              <a:t>Otras</a:t>
            </a:r>
            <a:r>
              <a:rPr spc="-50" dirty="0"/>
              <a:t> </a:t>
            </a:r>
            <a:r>
              <a:rPr spc="-10" dirty="0"/>
              <a:t>herramientas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621282"/>
            <a:ext cx="56273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5"/>
              </a:spcBef>
              <a:buChar char="•"/>
              <a:tabLst>
                <a:tab pos="353695" algn="l"/>
              </a:tabLst>
            </a:pPr>
            <a:r>
              <a:rPr sz="3200" dirty="0">
                <a:solidFill>
                  <a:srgbClr val="FFFFFF"/>
                </a:solidFill>
                <a:latin typeface="Microsoft Sans Serif"/>
                <a:cs typeface="Microsoft Sans Serif"/>
              </a:rPr>
              <a:t>Knime:</a:t>
            </a:r>
            <a:r>
              <a:rPr sz="32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3200" u="sng" spc="-10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Microsoft Sans Serif"/>
                <a:cs typeface="Microsoft Sans Serif"/>
                <a:hlinkClick r:id="rId2"/>
              </a:rPr>
              <a:t>http://www.knime.org/</a:t>
            </a:r>
            <a:endParaRPr sz="32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600" y="2590800"/>
            <a:ext cx="4191000" cy="3282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fundidad">
  <a:themeElements>
    <a:clrScheme name="Profundidad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Profundidad</Template>
  <TotalTime>193</TotalTime>
  <Words>3672</Words>
  <Application>Microsoft Office PowerPoint</Application>
  <PresentationFormat>Presentación en pantalla (4:3)</PresentationFormat>
  <Paragraphs>555</Paragraphs>
  <Slides>68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68</vt:i4>
      </vt:variant>
    </vt:vector>
  </HeadingPairs>
  <TitlesOfParts>
    <vt:vector size="77" baseType="lpstr">
      <vt:lpstr>Arial</vt:lpstr>
      <vt:lpstr>Cambria Math</vt:lpstr>
      <vt:lpstr>Corbel</vt:lpstr>
      <vt:lpstr>Microsoft Sans Serif</vt:lpstr>
      <vt:lpstr>Symbol</vt:lpstr>
      <vt:lpstr>Times New Roman</vt:lpstr>
      <vt:lpstr>Verdana</vt:lpstr>
      <vt:lpstr>Wingdings</vt:lpstr>
      <vt:lpstr>Profundidad</vt:lpstr>
      <vt:lpstr>Presentación de PowerPoint</vt:lpstr>
      <vt:lpstr>Clasificación: Agenda</vt:lpstr>
      <vt:lpstr>Supervisado vs. No Supervisado</vt:lpstr>
      <vt:lpstr>Concepto</vt:lpstr>
      <vt:lpstr>Predicción</vt:lpstr>
      <vt:lpstr>Definición de clasificación</vt:lpstr>
      <vt:lpstr>Aplicaciones</vt:lpstr>
      <vt:lpstr>Proceso de clasificación</vt:lpstr>
      <vt:lpstr>Etapas: Terminología</vt:lpstr>
      <vt:lpstr>Etapas: Construcción del modelo - Aprendizaje</vt:lpstr>
      <vt:lpstr>Aprendizaje</vt:lpstr>
      <vt:lpstr>Etapas: Evaluación del modelo</vt:lpstr>
      <vt:lpstr>Evaluación de Exactitud</vt:lpstr>
      <vt:lpstr>Etapas: Evaluación del modelo</vt:lpstr>
      <vt:lpstr>Evaluación del modelo</vt:lpstr>
      <vt:lpstr>Evaluación del modelo: Matriz de Confusión</vt:lpstr>
      <vt:lpstr>Clasificador ideal</vt:lpstr>
      <vt:lpstr>Evaluación del Modelo (Documentos)</vt:lpstr>
      <vt:lpstr>Etapas: Uso del modelo - Clasificación</vt:lpstr>
      <vt:lpstr>Métodos de clasificación</vt:lpstr>
      <vt:lpstr>Evaluación y comparación de métodos de clasificación</vt:lpstr>
      <vt:lpstr>Clasificación</vt:lpstr>
      <vt:lpstr>Árboles de Decisión</vt:lpstr>
      <vt:lpstr>Ejemplo</vt:lpstr>
      <vt:lpstr>Equivalente en reglas de clasificación</vt:lpstr>
      <vt:lpstr>Equivalente en reglas de clasificación</vt:lpstr>
      <vt:lpstr>Ejemplo: Datos de entrenamiento</vt:lpstr>
      <vt:lpstr>Ejemplo árbol de decisión</vt:lpstr>
      <vt:lpstr>Métodos de clasificación con árboles de decisión</vt:lpstr>
      <vt:lpstr>¿Cómo construir un árbol?</vt:lpstr>
      <vt:lpstr>Construcción del árbol de decisión</vt:lpstr>
      <vt:lpstr>Cuestiones principales en la construcción de árboles</vt:lpstr>
      <vt:lpstr>Elección del mejor atributo para clasificar</vt:lpstr>
      <vt:lpstr>Algoritmo ID3 (Induction Decision Trees)</vt:lpstr>
      <vt:lpstr>Ganancia de Información</vt:lpstr>
      <vt:lpstr>Entropía</vt:lpstr>
      <vt:lpstr>Entropía</vt:lpstr>
      <vt:lpstr>Ejemplo</vt:lpstr>
      <vt:lpstr>Ganancia de información</vt:lpstr>
      <vt:lpstr>Ganancia de Información: Ejemplo</vt:lpstr>
      <vt:lpstr>Ejemplo</vt:lpstr>
      <vt:lpstr>Algoritmo ID3</vt:lpstr>
      <vt:lpstr>Utilización del árbol</vt:lpstr>
      <vt:lpstr>Clasificación de nuevos ejemplos</vt:lpstr>
      <vt:lpstr>Overfitting</vt:lpstr>
      <vt:lpstr>Podado del árbol</vt:lpstr>
      <vt:lpstr>Clasificación</vt:lpstr>
      <vt:lpstr>Clasificador Bayesiano</vt:lpstr>
      <vt:lpstr>Clasificador Bayesiano</vt:lpstr>
      <vt:lpstr>Teorema de Bayes</vt:lpstr>
      <vt:lpstr>Clasificador Naive Bayes</vt:lpstr>
      <vt:lpstr>Suposición de Naive Bayes</vt:lpstr>
      <vt:lpstr>Ejemplo</vt:lpstr>
      <vt:lpstr>Ejemplo</vt:lpstr>
      <vt:lpstr>Clasificación</vt:lpstr>
      <vt:lpstr>Vecinos más cercanos</vt:lpstr>
      <vt:lpstr>Algoritmo</vt:lpstr>
      <vt:lpstr>Cómo elegir K?</vt:lpstr>
      <vt:lpstr>Cómo elegir K?</vt:lpstr>
      <vt:lpstr>Cómo elegir K?</vt:lpstr>
      <vt:lpstr>Cómo elegir la distancia?</vt:lpstr>
      <vt:lpstr>Presentación de PowerPoint</vt:lpstr>
      <vt:lpstr>Cómo elegir la distancia?</vt:lpstr>
      <vt:lpstr>Áreas de investigación en Arboles de Decisión</vt:lpstr>
      <vt:lpstr>Mejorar la exactitud: Clasificadores compuestos</vt:lpstr>
      <vt:lpstr>Clasificación</vt:lpstr>
      <vt:lpstr>Software: WEKA</vt:lpstr>
      <vt:lpstr>Otras herramientas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Silvia Schiaffino</dc:creator>
  <cp:lastModifiedBy>JAIME ANTONIO HUAYTALLA PARIONA</cp:lastModifiedBy>
  <cp:revision>6</cp:revision>
  <dcterms:created xsi:type="dcterms:W3CDTF">2024-06-16T12:43:08Z</dcterms:created>
  <dcterms:modified xsi:type="dcterms:W3CDTF">2025-07-02T18:04:00Z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2018-04-24T00:00:00Z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2024-06-16T00:00:00Z</vt:filetime>
  </property>
  <property fmtid="{D5CDD505-2E9C-101B-9397-08002B2CF9AE}" pid="5" name="Producer">
    <vt:lpwstr>Microsoft® Office PowerPoint® 2007</vt:lpwstr>
  </property>
</Properties>
</file>