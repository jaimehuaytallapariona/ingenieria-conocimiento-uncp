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9144000" cy="6858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3">
              <a:lumMod val="5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42130" y="6513986"/>
            <a:ext cx="1201868" cy="34401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806" y="119992"/>
            <a:ext cx="1042303" cy="49610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72817" y="307593"/>
            <a:ext cx="419836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5A9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3603" y="1138471"/>
            <a:ext cx="8076793" cy="2129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15705" y="6649742"/>
            <a:ext cx="216534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85858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jhuaytalla@uncp.edu.pe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8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13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8.png"/><Relationship Id="rId4" Type="http://schemas.openxmlformats.org/officeDocument/2006/relationships/image" Target="../media/image37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7" Type="http://schemas.openxmlformats.org/officeDocument/2006/relationships/image" Target="../media/image8.pn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49.jpg"/><Relationship Id="rId4" Type="http://schemas.openxmlformats.org/officeDocument/2006/relationships/image" Target="../media/image4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5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aftaliharris.com/blog/visualizing-dbscan-clustering/" TargetMode="Externa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5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object 18"/>
          <p:cNvGrpSpPr/>
          <p:nvPr/>
        </p:nvGrpSpPr>
        <p:grpSpPr>
          <a:xfrm>
            <a:off x="2331720" y="2656332"/>
            <a:ext cx="4670425" cy="1614805"/>
            <a:chOff x="2331720" y="2656332"/>
            <a:chExt cx="4670425" cy="161480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31720" y="2656332"/>
              <a:ext cx="4670298" cy="122910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77540" y="3371088"/>
              <a:ext cx="669798" cy="89992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13176" y="3371088"/>
              <a:ext cx="2544318" cy="89992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3332" y="3371088"/>
              <a:ext cx="669798" cy="899922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2664714" y="2804871"/>
            <a:ext cx="3814445" cy="11880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</a:rPr>
              <a:t>Agrupamiento</a:t>
            </a:r>
            <a:endParaRPr sz="4400"/>
          </a:p>
          <a:p>
            <a:pPr marL="1905" algn="ctr">
              <a:lnSpc>
                <a:spcPct val="100000"/>
              </a:lnSpc>
              <a:spcBef>
                <a:spcPts val="25"/>
              </a:spcBef>
            </a:pPr>
            <a:r>
              <a:rPr sz="3200" dirty="0">
                <a:solidFill>
                  <a:srgbClr val="000000"/>
                </a:solidFill>
              </a:rPr>
              <a:t>(Clustering)</a:t>
            </a:r>
            <a:endParaRPr sz="320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2FEA497-10BA-4E45-7BB3-7BE2706C7F89}"/>
              </a:ext>
            </a:extLst>
          </p:cNvPr>
          <p:cNvSpPr txBox="1"/>
          <p:nvPr/>
        </p:nvSpPr>
        <p:spPr>
          <a:xfrm>
            <a:off x="2362200" y="4343400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/>
              <a:t>Ing. Jaime Antonio </a:t>
            </a:r>
            <a:r>
              <a:rPr lang="es-PE" dirty="0" err="1"/>
              <a:t>Huaytalla</a:t>
            </a:r>
            <a:r>
              <a:rPr lang="es-PE" dirty="0"/>
              <a:t> Pariona</a:t>
            </a:r>
          </a:p>
          <a:p>
            <a:pPr algn="ctr"/>
            <a:r>
              <a:rPr lang="es-PE" dirty="0">
                <a:hlinkClick r:id="rId6"/>
              </a:rPr>
              <a:t>jhuaytalla@uncp.edu.pe</a:t>
            </a:r>
            <a:r>
              <a:rPr lang="es-PE" dirty="0"/>
              <a:t> 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839A2BE2-14C2-92A6-FBB5-37462D148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"/>
            <a:ext cx="1447800" cy="123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Ingeniería de Sistemas - UNCP">
            <a:extLst>
              <a:ext uri="{FF2B5EF4-FFF2-40B4-BE49-F238E27FC236}">
                <a16:creationId xmlns:a16="http://schemas.microsoft.com/office/drawing/2014/main" id="{4BD85C75-8E3E-01C0-398F-744C8A69B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28599"/>
            <a:ext cx="1226735" cy="123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1221" y="307593"/>
            <a:ext cx="1782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70965"/>
            <a:ext cx="7640955" cy="121602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300"/>
              </a:spcBef>
              <a:buChar char="•"/>
              <a:tabLst>
                <a:tab pos="209550" algn="l"/>
              </a:tabLst>
            </a:pPr>
            <a:r>
              <a:rPr sz="2000" spc="-5" dirty="0">
                <a:latin typeface="Arial MT"/>
                <a:cs typeface="Arial MT"/>
              </a:rPr>
              <a:t>Llamado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“agrupamiento”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“análisis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de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grupos”</a:t>
            </a:r>
            <a:endParaRPr sz="2000">
              <a:latin typeface="Arial MT"/>
              <a:cs typeface="Arial MT"/>
            </a:endParaRPr>
          </a:p>
          <a:p>
            <a:pPr marL="208915" marR="5080" indent="-196850">
              <a:lnSpc>
                <a:spcPct val="100000"/>
              </a:lnSpc>
              <a:spcBef>
                <a:spcPts val="1200"/>
              </a:spcBef>
              <a:buChar char="•"/>
              <a:tabLst>
                <a:tab pos="209550" algn="l"/>
              </a:tabLst>
            </a:pPr>
            <a:r>
              <a:rPr sz="2000" dirty="0">
                <a:latin typeface="Arial MT"/>
                <a:cs typeface="Arial MT"/>
              </a:rPr>
              <a:t>Consiste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agrupar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los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datos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 instancias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85858"/>
                </a:solidFill>
                <a:latin typeface="Arial MT"/>
                <a:cs typeface="Arial MT"/>
              </a:rPr>
              <a:t>(según</a:t>
            </a:r>
            <a:r>
              <a:rPr sz="1800" spc="1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85858"/>
                </a:solidFill>
                <a:latin typeface="Arial MT"/>
                <a:cs typeface="Arial MT"/>
              </a:rPr>
              <a:t>cuán</a:t>
            </a:r>
            <a:r>
              <a:rPr sz="1800" spc="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85858"/>
                </a:solidFill>
                <a:latin typeface="Arial MT"/>
                <a:cs typeface="Arial MT"/>
              </a:rPr>
              <a:t>“similares”</a:t>
            </a:r>
            <a:r>
              <a:rPr sz="1800" spc="1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85858"/>
                </a:solidFill>
                <a:latin typeface="Arial MT"/>
                <a:cs typeface="Arial MT"/>
              </a:rPr>
              <a:t>o </a:t>
            </a:r>
            <a:r>
              <a:rPr sz="1800" spc="-484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85858"/>
                </a:solidFill>
                <a:latin typeface="Arial MT"/>
                <a:cs typeface="Arial MT"/>
              </a:rPr>
              <a:t>“diferentes”</a:t>
            </a:r>
            <a:r>
              <a:rPr sz="1800" spc="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85858"/>
                </a:solidFill>
                <a:latin typeface="Arial MT"/>
                <a:cs typeface="Arial MT"/>
              </a:rPr>
              <a:t>son)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393842"/>
            <a:ext cx="717740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marR="5080" indent="-196850">
              <a:lnSpc>
                <a:spcPct val="100000"/>
              </a:lnSpc>
              <a:spcBef>
                <a:spcPts val="100"/>
              </a:spcBef>
              <a:buChar char="•"/>
              <a:tabLst>
                <a:tab pos="209550" algn="l"/>
              </a:tabLst>
            </a:pPr>
            <a:r>
              <a:rPr sz="2000" spc="-5" dirty="0">
                <a:latin typeface="Arial MT"/>
                <a:cs typeface="Arial MT"/>
              </a:rPr>
              <a:t>Los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conjuntos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similares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denominan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“clusters”,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“clústeres”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“grupos”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1016" y="2709782"/>
            <a:ext cx="2717281" cy="19231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48071" y="2636520"/>
            <a:ext cx="2735579" cy="2016221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390499" y="3404415"/>
            <a:ext cx="351155" cy="344805"/>
            <a:chOff x="4390499" y="3404415"/>
            <a:chExt cx="351155" cy="34480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0499" y="3404415"/>
              <a:ext cx="350967" cy="34476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28743" y="3410711"/>
              <a:ext cx="286511" cy="28803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428743" y="3410711"/>
              <a:ext cx="287020" cy="288290"/>
            </a:xfrm>
            <a:custGeom>
              <a:avLst/>
              <a:gdLst/>
              <a:ahLst/>
              <a:cxnLst/>
              <a:rect l="l" t="t" r="r" b="b"/>
              <a:pathLst>
                <a:path w="287020" h="288289">
                  <a:moveTo>
                    <a:pt x="0" y="72009"/>
                  </a:moveTo>
                  <a:lnTo>
                    <a:pt x="143255" y="72009"/>
                  </a:lnTo>
                  <a:lnTo>
                    <a:pt x="143255" y="0"/>
                  </a:lnTo>
                  <a:lnTo>
                    <a:pt x="286511" y="144017"/>
                  </a:lnTo>
                  <a:lnTo>
                    <a:pt x="143255" y="288036"/>
                  </a:lnTo>
                  <a:lnTo>
                    <a:pt x="143255" y="216026"/>
                  </a:lnTo>
                  <a:lnTo>
                    <a:pt x="0" y="216026"/>
                  </a:lnTo>
                  <a:lnTo>
                    <a:pt x="0" y="7200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815705" y="6649742"/>
            <a:ext cx="14732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585858"/>
                </a:solidFill>
                <a:latin typeface="Arial MT"/>
                <a:cs typeface="Arial MT"/>
              </a:rPr>
              <a:t>2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5B7F31F5-76A7-0BFA-D602-0D4548024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Ingeniería de Sistemas - UNCP">
            <a:extLst>
              <a:ext uri="{FF2B5EF4-FFF2-40B4-BE49-F238E27FC236}">
                <a16:creationId xmlns:a16="http://schemas.microsoft.com/office/drawing/2014/main" id="{BF10D32F-D054-2BC5-D278-0B933740F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161331"/>
            <a:ext cx="7623809" cy="207645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Char char="•"/>
              <a:tabLst>
                <a:tab pos="209550" algn="l"/>
              </a:tabLst>
            </a:pPr>
            <a:r>
              <a:rPr sz="2000" dirty="0">
                <a:latin typeface="Arial MT"/>
                <a:cs typeface="Arial MT"/>
              </a:rPr>
              <a:t>Es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más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común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aprendizaje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 supervisado</a:t>
            </a:r>
            <a:endParaRPr sz="20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39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Arial MT"/>
                <a:cs typeface="Arial MT"/>
              </a:rPr>
              <a:t>Aprender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datos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que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no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tienen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“etiquetas”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(no</a:t>
            </a:r>
            <a:r>
              <a:rPr sz="1600" spc="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hay</a:t>
            </a:r>
            <a:r>
              <a:rPr sz="1600" spc="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respuestas</a:t>
            </a:r>
            <a:r>
              <a:rPr sz="1600" spc="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correctas)</a:t>
            </a:r>
            <a:endParaRPr sz="16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Arial MT"/>
                <a:cs typeface="Arial MT"/>
              </a:rPr>
              <a:t>La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respuesta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basa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parámetros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escogidos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Font typeface="Arial MT"/>
              <a:buChar char="-"/>
            </a:pPr>
            <a:endParaRPr sz="2600">
              <a:latin typeface="Arial MT"/>
              <a:cs typeface="Arial MT"/>
            </a:endParaRPr>
          </a:p>
          <a:p>
            <a:pPr marL="208915" indent="-1968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09550" algn="l"/>
              </a:tabLst>
            </a:pPr>
            <a:r>
              <a:rPr sz="2000" spc="-5" dirty="0">
                <a:solidFill>
                  <a:srgbClr val="6F2F9F"/>
                </a:solidFill>
                <a:latin typeface="Comic Sans MS"/>
                <a:cs typeface="Comic Sans MS"/>
              </a:rPr>
              <a:t>Ejemplo</a:t>
            </a:r>
            <a:endParaRPr sz="2000">
              <a:latin typeface="Comic Sans MS"/>
              <a:cs typeface="Comic Sans MS"/>
            </a:endParaRPr>
          </a:p>
          <a:p>
            <a:pPr marL="388620" lvl="1" indent="-160655">
              <a:lnSpc>
                <a:spcPct val="100000"/>
              </a:lnSpc>
              <a:spcBef>
                <a:spcPts val="489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Arial MT"/>
                <a:cs typeface="Arial MT"/>
              </a:rPr>
              <a:t>¿Cuántos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“clústeres”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hay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el siguiente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conjunto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puntos?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2348" y="4584319"/>
            <a:ext cx="1339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-</a:t>
            </a:r>
            <a:r>
              <a:rPr sz="1800" spc="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Respuesta: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81221" y="307593"/>
            <a:ext cx="1782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Clustering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455920" y="4099559"/>
            <a:ext cx="437515" cy="277495"/>
            <a:chOff x="5455920" y="4099559"/>
            <a:chExt cx="437515" cy="2774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5960" y="4099559"/>
              <a:ext cx="117348" cy="1173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0992" y="4258055"/>
              <a:ext cx="118872" cy="1188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460492" y="4245863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54102" y="0"/>
                  </a:moveTo>
                  <a:lnTo>
                    <a:pt x="33057" y="4256"/>
                  </a:lnTo>
                  <a:lnTo>
                    <a:pt x="15859" y="15859"/>
                  </a:lnTo>
                  <a:lnTo>
                    <a:pt x="4256" y="33057"/>
                  </a:lnTo>
                  <a:lnTo>
                    <a:pt x="0" y="54102"/>
                  </a:lnTo>
                  <a:lnTo>
                    <a:pt x="4256" y="75146"/>
                  </a:lnTo>
                  <a:lnTo>
                    <a:pt x="15859" y="92344"/>
                  </a:lnTo>
                  <a:lnTo>
                    <a:pt x="33057" y="103947"/>
                  </a:lnTo>
                  <a:lnTo>
                    <a:pt x="54102" y="108204"/>
                  </a:lnTo>
                  <a:lnTo>
                    <a:pt x="75146" y="103947"/>
                  </a:lnTo>
                  <a:lnTo>
                    <a:pt x="92344" y="92344"/>
                  </a:lnTo>
                  <a:lnTo>
                    <a:pt x="103947" y="75146"/>
                  </a:lnTo>
                  <a:lnTo>
                    <a:pt x="108204" y="54102"/>
                  </a:lnTo>
                  <a:lnTo>
                    <a:pt x="103947" y="33057"/>
                  </a:lnTo>
                  <a:lnTo>
                    <a:pt x="92344" y="15859"/>
                  </a:lnTo>
                  <a:lnTo>
                    <a:pt x="75146" y="4256"/>
                  </a:lnTo>
                  <a:lnTo>
                    <a:pt x="5410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60492" y="4245863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54102"/>
                  </a:moveTo>
                  <a:lnTo>
                    <a:pt x="4256" y="33057"/>
                  </a:lnTo>
                  <a:lnTo>
                    <a:pt x="15859" y="15859"/>
                  </a:lnTo>
                  <a:lnTo>
                    <a:pt x="33057" y="4256"/>
                  </a:lnTo>
                  <a:lnTo>
                    <a:pt x="54102" y="0"/>
                  </a:lnTo>
                  <a:lnTo>
                    <a:pt x="75146" y="4256"/>
                  </a:lnTo>
                  <a:lnTo>
                    <a:pt x="92344" y="15859"/>
                  </a:lnTo>
                  <a:lnTo>
                    <a:pt x="103947" y="33057"/>
                  </a:lnTo>
                  <a:lnTo>
                    <a:pt x="108204" y="54102"/>
                  </a:lnTo>
                  <a:lnTo>
                    <a:pt x="103947" y="75146"/>
                  </a:lnTo>
                  <a:lnTo>
                    <a:pt x="92344" y="92344"/>
                  </a:lnTo>
                  <a:lnTo>
                    <a:pt x="75146" y="103947"/>
                  </a:lnTo>
                  <a:lnTo>
                    <a:pt x="54102" y="108204"/>
                  </a:lnTo>
                  <a:lnTo>
                    <a:pt x="33057" y="103947"/>
                  </a:lnTo>
                  <a:lnTo>
                    <a:pt x="15859" y="92344"/>
                  </a:lnTo>
                  <a:lnTo>
                    <a:pt x="4256" y="75146"/>
                  </a:lnTo>
                  <a:lnTo>
                    <a:pt x="0" y="5410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83936" y="4120895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4" h="109854">
                  <a:moveTo>
                    <a:pt x="54863" y="0"/>
                  </a:move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4304" y="76241"/>
                  </a:lnTo>
                  <a:lnTo>
                    <a:pt x="16049" y="93678"/>
                  </a:lnTo>
                  <a:lnTo>
                    <a:pt x="33486" y="105423"/>
                  </a:lnTo>
                  <a:lnTo>
                    <a:pt x="54863" y="109727"/>
                  </a:lnTo>
                  <a:lnTo>
                    <a:pt x="76241" y="105423"/>
                  </a:lnTo>
                  <a:lnTo>
                    <a:pt x="93678" y="93678"/>
                  </a:lnTo>
                  <a:lnTo>
                    <a:pt x="105423" y="76241"/>
                  </a:lnTo>
                  <a:lnTo>
                    <a:pt x="109727" y="54863"/>
                  </a:lnTo>
                  <a:lnTo>
                    <a:pt x="105423" y="33486"/>
                  </a:lnTo>
                  <a:lnTo>
                    <a:pt x="93678" y="16049"/>
                  </a:lnTo>
                  <a:lnTo>
                    <a:pt x="76241" y="4304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83936" y="4120895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4" h="109854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76241" y="4304"/>
                  </a:lnTo>
                  <a:lnTo>
                    <a:pt x="93678" y="16049"/>
                  </a:lnTo>
                  <a:lnTo>
                    <a:pt x="105423" y="33486"/>
                  </a:lnTo>
                  <a:lnTo>
                    <a:pt x="109727" y="54863"/>
                  </a:lnTo>
                  <a:lnTo>
                    <a:pt x="105423" y="76241"/>
                  </a:lnTo>
                  <a:lnTo>
                    <a:pt x="93678" y="93678"/>
                  </a:lnTo>
                  <a:lnTo>
                    <a:pt x="76241" y="105423"/>
                  </a:lnTo>
                  <a:lnTo>
                    <a:pt x="54863" y="109727"/>
                  </a:lnTo>
                  <a:lnTo>
                    <a:pt x="33486" y="105423"/>
                  </a:lnTo>
                  <a:lnTo>
                    <a:pt x="16049" y="93678"/>
                  </a:lnTo>
                  <a:lnTo>
                    <a:pt x="4304" y="76241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72684" y="3779520"/>
            <a:ext cx="118872" cy="117348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5259323" y="3547871"/>
            <a:ext cx="226060" cy="279400"/>
            <a:chOff x="5259323" y="3547871"/>
            <a:chExt cx="226060" cy="27940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323" y="3707891"/>
              <a:ext cx="118872" cy="1188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66003" y="3547871"/>
              <a:ext cx="118872" cy="118872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59423" y="4081271"/>
            <a:ext cx="118872" cy="117348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4411" y="3956303"/>
            <a:ext cx="118872" cy="11887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59423" y="3849623"/>
            <a:ext cx="118872" cy="118872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3304032" y="3547871"/>
            <a:ext cx="439420" cy="279400"/>
            <a:chOff x="3304032" y="3547871"/>
            <a:chExt cx="439420" cy="27940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4072" y="3707891"/>
              <a:ext cx="118872" cy="11887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00628" y="3547871"/>
              <a:ext cx="117348" cy="11887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308604" y="3570731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4" h="109854">
                  <a:moveTo>
                    <a:pt x="54863" y="0"/>
                  </a:move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4304" y="76241"/>
                  </a:lnTo>
                  <a:lnTo>
                    <a:pt x="16049" y="93678"/>
                  </a:lnTo>
                  <a:lnTo>
                    <a:pt x="33486" y="105423"/>
                  </a:lnTo>
                  <a:lnTo>
                    <a:pt x="54863" y="109727"/>
                  </a:lnTo>
                  <a:lnTo>
                    <a:pt x="76241" y="105423"/>
                  </a:lnTo>
                  <a:lnTo>
                    <a:pt x="93678" y="93678"/>
                  </a:lnTo>
                  <a:lnTo>
                    <a:pt x="105423" y="76241"/>
                  </a:lnTo>
                  <a:lnTo>
                    <a:pt x="109728" y="54863"/>
                  </a:lnTo>
                  <a:lnTo>
                    <a:pt x="105423" y="33486"/>
                  </a:lnTo>
                  <a:lnTo>
                    <a:pt x="93678" y="16049"/>
                  </a:lnTo>
                  <a:lnTo>
                    <a:pt x="76241" y="4304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08604" y="3570731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4" h="109854">
                  <a:moveTo>
                    <a:pt x="0" y="54863"/>
                  </a:moveTo>
                  <a:lnTo>
                    <a:pt x="4304" y="76241"/>
                  </a:lnTo>
                  <a:lnTo>
                    <a:pt x="16049" y="93678"/>
                  </a:lnTo>
                  <a:lnTo>
                    <a:pt x="33486" y="105423"/>
                  </a:lnTo>
                  <a:lnTo>
                    <a:pt x="54863" y="109727"/>
                  </a:lnTo>
                  <a:lnTo>
                    <a:pt x="76241" y="105423"/>
                  </a:lnTo>
                  <a:lnTo>
                    <a:pt x="93678" y="93678"/>
                  </a:lnTo>
                  <a:lnTo>
                    <a:pt x="105423" y="76241"/>
                  </a:lnTo>
                  <a:lnTo>
                    <a:pt x="109728" y="54863"/>
                  </a:lnTo>
                  <a:lnTo>
                    <a:pt x="105423" y="33486"/>
                  </a:lnTo>
                  <a:lnTo>
                    <a:pt x="93678" y="16049"/>
                  </a:lnTo>
                  <a:lnTo>
                    <a:pt x="76241" y="4304"/>
                  </a:ln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433572" y="3695699"/>
              <a:ext cx="109855" cy="108585"/>
            </a:xfrm>
            <a:custGeom>
              <a:avLst/>
              <a:gdLst/>
              <a:ahLst/>
              <a:cxnLst/>
              <a:rect l="l" t="t" r="r" b="b"/>
              <a:pathLst>
                <a:path w="109854" h="108585">
                  <a:moveTo>
                    <a:pt x="54863" y="0"/>
                  </a:moveTo>
                  <a:lnTo>
                    <a:pt x="33486" y="4256"/>
                  </a:lnTo>
                  <a:lnTo>
                    <a:pt x="16049" y="15859"/>
                  </a:lnTo>
                  <a:lnTo>
                    <a:pt x="4304" y="33057"/>
                  </a:lnTo>
                  <a:lnTo>
                    <a:pt x="0" y="54101"/>
                  </a:lnTo>
                  <a:lnTo>
                    <a:pt x="4304" y="75146"/>
                  </a:lnTo>
                  <a:lnTo>
                    <a:pt x="16049" y="92344"/>
                  </a:lnTo>
                  <a:lnTo>
                    <a:pt x="33486" y="103947"/>
                  </a:lnTo>
                  <a:lnTo>
                    <a:pt x="54863" y="108204"/>
                  </a:lnTo>
                  <a:lnTo>
                    <a:pt x="76241" y="103947"/>
                  </a:lnTo>
                  <a:lnTo>
                    <a:pt x="93678" y="92344"/>
                  </a:lnTo>
                  <a:lnTo>
                    <a:pt x="105423" y="75146"/>
                  </a:lnTo>
                  <a:lnTo>
                    <a:pt x="109727" y="54101"/>
                  </a:lnTo>
                  <a:lnTo>
                    <a:pt x="105423" y="33057"/>
                  </a:lnTo>
                  <a:lnTo>
                    <a:pt x="93678" y="15859"/>
                  </a:lnTo>
                  <a:lnTo>
                    <a:pt x="76241" y="4256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33572" y="3695699"/>
              <a:ext cx="109855" cy="108585"/>
            </a:xfrm>
            <a:custGeom>
              <a:avLst/>
              <a:gdLst/>
              <a:ahLst/>
              <a:cxnLst/>
              <a:rect l="l" t="t" r="r" b="b"/>
              <a:pathLst>
                <a:path w="109854" h="108585">
                  <a:moveTo>
                    <a:pt x="0" y="54101"/>
                  </a:moveTo>
                  <a:lnTo>
                    <a:pt x="4304" y="75146"/>
                  </a:lnTo>
                  <a:lnTo>
                    <a:pt x="16049" y="92344"/>
                  </a:lnTo>
                  <a:lnTo>
                    <a:pt x="33486" y="103947"/>
                  </a:lnTo>
                  <a:lnTo>
                    <a:pt x="54863" y="108204"/>
                  </a:lnTo>
                  <a:lnTo>
                    <a:pt x="76241" y="103947"/>
                  </a:lnTo>
                  <a:lnTo>
                    <a:pt x="93678" y="92344"/>
                  </a:lnTo>
                  <a:lnTo>
                    <a:pt x="105423" y="75146"/>
                  </a:lnTo>
                  <a:lnTo>
                    <a:pt x="109727" y="54101"/>
                  </a:lnTo>
                  <a:lnTo>
                    <a:pt x="105423" y="33057"/>
                  </a:lnTo>
                  <a:lnTo>
                    <a:pt x="93678" y="15859"/>
                  </a:lnTo>
                  <a:lnTo>
                    <a:pt x="76241" y="4256"/>
                  </a:lnTo>
                  <a:lnTo>
                    <a:pt x="54863" y="0"/>
                  </a:lnTo>
                  <a:lnTo>
                    <a:pt x="33486" y="4256"/>
                  </a:lnTo>
                  <a:lnTo>
                    <a:pt x="16049" y="15859"/>
                  </a:lnTo>
                  <a:lnTo>
                    <a:pt x="4304" y="33057"/>
                  </a:lnTo>
                  <a:lnTo>
                    <a:pt x="0" y="54101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22320" y="4027932"/>
            <a:ext cx="118872" cy="117348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3108960" y="4099559"/>
            <a:ext cx="226060" cy="277495"/>
            <a:chOff x="3108960" y="4099559"/>
            <a:chExt cx="226060" cy="277495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08960" y="4099559"/>
              <a:ext cx="118872" cy="11734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5640" y="4258055"/>
              <a:ext cx="118872" cy="118872"/>
            </a:xfrm>
            <a:prstGeom prst="rect">
              <a:avLst/>
            </a:prstGeom>
          </p:spPr>
        </p:pic>
      </p:grpSp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09059" y="3726179"/>
            <a:ext cx="118872" cy="11734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194047" y="3849623"/>
            <a:ext cx="117348" cy="11887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09059" y="3956303"/>
            <a:ext cx="118872" cy="118872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7705343" y="5747003"/>
            <a:ext cx="440690" cy="279400"/>
            <a:chOff x="7705343" y="5747003"/>
            <a:chExt cx="440690" cy="279400"/>
          </a:xfrm>
        </p:grpSpPr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26907" y="5747003"/>
              <a:ext cx="118872" cy="11887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00415" y="5907023"/>
              <a:ext cx="118872" cy="11887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709915" y="5894831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4" h="109854">
                  <a:moveTo>
                    <a:pt x="54863" y="0"/>
                  </a:moveTo>
                  <a:lnTo>
                    <a:pt x="0" y="54864"/>
                  </a:lnTo>
                  <a:lnTo>
                    <a:pt x="54863" y="109728"/>
                  </a:lnTo>
                  <a:lnTo>
                    <a:pt x="109727" y="54864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709915" y="5894831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4" h="109854">
                  <a:moveTo>
                    <a:pt x="0" y="54864"/>
                  </a:moveTo>
                  <a:lnTo>
                    <a:pt x="54863" y="0"/>
                  </a:lnTo>
                  <a:lnTo>
                    <a:pt x="109727" y="54864"/>
                  </a:lnTo>
                  <a:lnTo>
                    <a:pt x="54863" y="109728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836407" y="5768339"/>
              <a:ext cx="106680" cy="109855"/>
            </a:xfrm>
            <a:custGeom>
              <a:avLst/>
              <a:gdLst/>
              <a:ahLst/>
              <a:cxnLst/>
              <a:rect l="l" t="t" r="r" b="b"/>
              <a:pathLst>
                <a:path w="106679" h="109854">
                  <a:moveTo>
                    <a:pt x="53340" y="0"/>
                  </a:moveTo>
                  <a:lnTo>
                    <a:pt x="0" y="54864"/>
                  </a:lnTo>
                  <a:lnTo>
                    <a:pt x="53340" y="109728"/>
                  </a:lnTo>
                  <a:lnTo>
                    <a:pt x="106680" y="54864"/>
                  </a:lnTo>
                  <a:lnTo>
                    <a:pt x="5334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836407" y="5768339"/>
              <a:ext cx="106680" cy="109855"/>
            </a:xfrm>
            <a:custGeom>
              <a:avLst/>
              <a:gdLst/>
              <a:ahLst/>
              <a:cxnLst/>
              <a:rect l="l" t="t" r="r" b="b"/>
              <a:pathLst>
                <a:path w="106679" h="109854">
                  <a:moveTo>
                    <a:pt x="0" y="54864"/>
                  </a:moveTo>
                  <a:lnTo>
                    <a:pt x="53340" y="0"/>
                  </a:lnTo>
                  <a:lnTo>
                    <a:pt x="106680" y="54864"/>
                  </a:lnTo>
                  <a:lnTo>
                    <a:pt x="53340" y="109728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0" name="object 4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23631" y="5425440"/>
            <a:ext cx="118872" cy="118872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7510271" y="5193791"/>
            <a:ext cx="226060" cy="279400"/>
            <a:chOff x="7510271" y="5193791"/>
            <a:chExt cx="226060" cy="279400"/>
          </a:xfrm>
        </p:grpSpPr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510271" y="5355335"/>
              <a:ext cx="118872" cy="11734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16951" y="5193791"/>
              <a:ext cx="118872" cy="118872"/>
            </a:xfrm>
            <a:prstGeom prst="rect">
              <a:avLst/>
            </a:prstGeom>
          </p:spPr>
        </p:pic>
      </p:grpSp>
      <p:pic>
        <p:nvPicPr>
          <p:cNvPr id="44" name="object 4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10371" y="5728715"/>
            <a:ext cx="118872" cy="118872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95359" y="5603747"/>
            <a:ext cx="118872" cy="118872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10371" y="5497067"/>
            <a:ext cx="118872" cy="118872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5554979" y="5193791"/>
            <a:ext cx="439420" cy="279400"/>
            <a:chOff x="5554979" y="5193791"/>
            <a:chExt cx="439420" cy="279400"/>
          </a:xfrm>
        </p:grpSpPr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75019" y="5355335"/>
              <a:ext cx="118872" cy="11734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50051" y="5193791"/>
              <a:ext cx="118872" cy="11887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559551" y="5216651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4" h="109854">
                  <a:moveTo>
                    <a:pt x="54863" y="0"/>
                  </a:moveTo>
                  <a:lnTo>
                    <a:pt x="45212" y="45212"/>
                  </a:lnTo>
                  <a:lnTo>
                    <a:pt x="0" y="54864"/>
                  </a:lnTo>
                  <a:lnTo>
                    <a:pt x="45212" y="64516"/>
                  </a:lnTo>
                  <a:lnTo>
                    <a:pt x="54863" y="109728"/>
                  </a:lnTo>
                  <a:lnTo>
                    <a:pt x="64515" y="64516"/>
                  </a:lnTo>
                  <a:lnTo>
                    <a:pt x="109727" y="54864"/>
                  </a:lnTo>
                  <a:lnTo>
                    <a:pt x="64515" y="45212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559551" y="5216651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4" h="109854">
                  <a:moveTo>
                    <a:pt x="0" y="54864"/>
                  </a:moveTo>
                  <a:lnTo>
                    <a:pt x="45212" y="64516"/>
                  </a:lnTo>
                  <a:lnTo>
                    <a:pt x="54863" y="109728"/>
                  </a:lnTo>
                  <a:lnTo>
                    <a:pt x="64515" y="64516"/>
                  </a:lnTo>
                  <a:lnTo>
                    <a:pt x="109727" y="54864"/>
                  </a:lnTo>
                  <a:lnTo>
                    <a:pt x="64515" y="45212"/>
                  </a:lnTo>
                  <a:lnTo>
                    <a:pt x="54863" y="0"/>
                  </a:lnTo>
                  <a:lnTo>
                    <a:pt x="45212" y="45212"/>
                  </a:lnTo>
                  <a:lnTo>
                    <a:pt x="0" y="5486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684519" y="5341619"/>
              <a:ext cx="108585" cy="109855"/>
            </a:xfrm>
            <a:custGeom>
              <a:avLst/>
              <a:gdLst/>
              <a:ahLst/>
              <a:cxnLst/>
              <a:rect l="l" t="t" r="r" b="b"/>
              <a:pathLst>
                <a:path w="108585" h="109854">
                  <a:moveTo>
                    <a:pt x="54101" y="0"/>
                  </a:moveTo>
                  <a:lnTo>
                    <a:pt x="44576" y="45211"/>
                  </a:lnTo>
                  <a:lnTo>
                    <a:pt x="0" y="54863"/>
                  </a:lnTo>
                  <a:lnTo>
                    <a:pt x="44576" y="64515"/>
                  </a:lnTo>
                  <a:lnTo>
                    <a:pt x="54101" y="109727"/>
                  </a:lnTo>
                  <a:lnTo>
                    <a:pt x="63626" y="64515"/>
                  </a:lnTo>
                  <a:lnTo>
                    <a:pt x="108203" y="54863"/>
                  </a:lnTo>
                  <a:lnTo>
                    <a:pt x="63626" y="45211"/>
                  </a:lnTo>
                  <a:lnTo>
                    <a:pt x="54101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684519" y="5341619"/>
              <a:ext cx="108585" cy="109855"/>
            </a:xfrm>
            <a:custGeom>
              <a:avLst/>
              <a:gdLst/>
              <a:ahLst/>
              <a:cxnLst/>
              <a:rect l="l" t="t" r="r" b="b"/>
              <a:pathLst>
                <a:path w="108585" h="109854">
                  <a:moveTo>
                    <a:pt x="0" y="54863"/>
                  </a:moveTo>
                  <a:lnTo>
                    <a:pt x="44576" y="64515"/>
                  </a:lnTo>
                  <a:lnTo>
                    <a:pt x="54101" y="109727"/>
                  </a:lnTo>
                  <a:lnTo>
                    <a:pt x="63626" y="64515"/>
                  </a:lnTo>
                  <a:lnTo>
                    <a:pt x="108203" y="54863"/>
                  </a:lnTo>
                  <a:lnTo>
                    <a:pt x="63626" y="45211"/>
                  </a:lnTo>
                  <a:lnTo>
                    <a:pt x="54101" y="0"/>
                  </a:lnTo>
                  <a:lnTo>
                    <a:pt x="44576" y="45211"/>
                  </a:lnTo>
                  <a:lnTo>
                    <a:pt x="0" y="5486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4" name="object 5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71744" y="5675376"/>
            <a:ext cx="118872" cy="118872"/>
          </a:xfrm>
          <a:prstGeom prst="rect">
            <a:avLst/>
          </a:prstGeom>
        </p:spPr>
      </p:pic>
      <p:grpSp>
        <p:nvGrpSpPr>
          <p:cNvPr id="55" name="object 55"/>
          <p:cNvGrpSpPr/>
          <p:nvPr/>
        </p:nvGrpSpPr>
        <p:grpSpPr>
          <a:xfrm>
            <a:off x="5359908" y="5747003"/>
            <a:ext cx="224154" cy="279400"/>
            <a:chOff x="5359908" y="5747003"/>
            <a:chExt cx="224154" cy="279400"/>
          </a:xfrm>
        </p:grpSpPr>
        <p:pic>
          <p:nvPicPr>
            <p:cNvPr id="56" name="object 5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59908" y="5747003"/>
              <a:ext cx="118872" cy="11887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66588" y="5907023"/>
              <a:ext cx="117348" cy="118872"/>
            </a:xfrm>
            <a:prstGeom prst="rect">
              <a:avLst/>
            </a:prstGeom>
          </p:spPr>
        </p:pic>
      </p:grpSp>
      <p:pic>
        <p:nvPicPr>
          <p:cNvPr id="58" name="object 5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160008" y="5372100"/>
            <a:ext cx="118872" cy="118872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43471" y="5497067"/>
            <a:ext cx="118872" cy="118872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160008" y="5603747"/>
            <a:ext cx="118872" cy="118872"/>
          </a:xfrm>
          <a:prstGeom prst="rect">
            <a:avLst/>
          </a:prstGeom>
        </p:spPr>
      </p:pic>
      <p:grpSp>
        <p:nvGrpSpPr>
          <p:cNvPr id="61" name="object 61"/>
          <p:cNvGrpSpPr/>
          <p:nvPr/>
        </p:nvGrpSpPr>
        <p:grpSpPr>
          <a:xfrm>
            <a:off x="3393947" y="5748528"/>
            <a:ext cx="439420" cy="277495"/>
            <a:chOff x="3393947" y="5748528"/>
            <a:chExt cx="439420" cy="277495"/>
          </a:xfrm>
        </p:grpSpPr>
        <p:pic>
          <p:nvPicPr>
            <p:cNvPr id="62" name="object 6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13987" y="5748528"/>
              <a:ext cx="118872" cy="117347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89019" y="5907024"/>
              <a:ext cx="118872" cy="118872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3398519" y="5894832"/>
              <a:ext cx="108585" cy="109855"/>
            </a:xfrm>
            <a:custGeom>
              <a:avLst/>
              <a:gdLst/>
              <a:ahLst/>
              <a:cxnLst/>
              <a:rect l="l" t="t" r="r" b="b"/>
              <a:pathLst>
                <a:path w="108585" h="109854">
                  <a:moveTo>
                    <a:pt x="54101" y="0"/>
                  </a:moveTo>
                  <a:lnTo>
                    <a:pt x="0" y="109728"/>
                  </a:lnTo>
                  <a:lnTo>
                    <a:pt x="108203" y="109728"/>
                  </a:lnTo>
                  <a:lnTo>
                    <a:pt x="54101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398519" y="5894832"/>
              <a:ext cx="108585" cy="109855"/>
            </a:xfrm>
            <a:custGeom>
              <a:avLst/>
              <a:gdLst/>
              <a:ahLst/>
              <a:cxnLst/>
              <a:rect l="l" t="t" r="r" b="b"/>
              <a:pathLst>
                <a:path w="108585" h="109854">
                  <a:moveTo>
                    <a:pt x="0" y="109728"/>
                  </a:moveTo>
                  <a:lnTo>
                    <a:pt x="54101" y="0"/>
                  </a:lnTo>
                  <a:lnTo>
                    <a:pt x="108203" y="109728"/>
                  </a:lnTo>
                  <a:lnTo>
                    <a:pt x="0" y="10972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523487" y="5769864"/>
              <a:ext cx="108585" cy="109855"/>
            </a:xfrm>
            <a:custGeom>
              <a:avLst/>
              <a:gdLst/>
              <a:ahLst/>
              <a:cxnLst/>
              <a:rect l="l" t="t" r="r" b="b"/>
              <a:pathLst>
                <a:path w="108585" h="109854">
                  <a:moveTo>
                    <a:pt x="54101" y="0"/>
                  </a:moveTo>
                  <a:lnTo>
                    <a:pt x="0" y="109728"/>
                  </a:lnTo>
                  <a:lnTo>
                    <a:pt x="108203" y="109728"/>
                  </a:lnTo>
                  <a:lnTo>
                    <a:pt x="54101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3523487" y="5769864"/>
              <a:ext cx="108585" cy="109855"/>
            </a:xfrm>
            <a:custGeom>
              <a:avLst/>
              <a:gdLst/>
              <a:ahLst/>
              <a:cxnLst/>
              <a:rect l="l" t="t" r="r" b="b"/>
              <a:pathLst>
                <a:path w="108585" h="109854">
                  <a:moveTo>
                    <a:pt x="0" y="109728"/>
                  </a:moveTo>
                  <a:lnTo>
                    <a:pt x="54101" y="0"/>
                  </a:lnTo>
                  <a:lnTo>
                    <a:pt x="108203" y="109728"/>
                  </a:lnTo>
                  <a:lnTo>
                    <a:pt x="0" y="10972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8" name="object 6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410711" y="5428488"/>
            <a:ext cx="118872" cy="117347"/>
          </a:xfrm>
          <a:prstGeom prst="rect">
            <a:avLst/>
          </a:prstGeom>
        </p:spPr>
      </p:pic>
      <p:grpSp>
        <p:nvGrpSpPr>
          <p:cNvPr id="69" name="object 69"/>
          <p:cNvGrpSpPr/>
          <p:nvPr/>
        </p:nvGrpSpPr>
        <p:grpSpPr>
          <a:xfrm>
            <a:off x="3197351" y="5196840"/>
            <a:ext cx="226060" cy="279400"/>
            <a:chOff x="3197351" y="5196840"/>
            <a:chExt cx="226060" cy="279400"/>
          </a:xfrm>
        </p:grpSpPr>
        <p:pic>
          <p:nvPicPr>
            <p:cNvPr id="70" name="object 7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97351" y="5358384"/>
              <a:ext cx="118872" cy="117347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304031" y="5196840"/>
              <a:ext cx="118872" cy="118872"/>
            </a:xfrm>
            <a:prstGeom prst="rect">
              <a:avLst/>
            </a:prstGeom>
          </p:spPr>
        </p:pic>
      </p:grpSp>
      <p:pic>
        <p:nvPicPr>
          <p:cNvPr id="72" name="object 7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997452" y="5728715"/>
            <a:ext cx="118872" cy="118872"/>
          </a:xfrm>
          <a:prstGeom prst="rect">
            <a:avLst/>
          </a:prstGeom>
        </p:spPr>
      </p:pic>
      <p:pic>
        <p:nvPicPr>
          <p:cNvPr id="73" name="object 7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282440" y="5605271"/>
            <a:ext cx="118872" cy="118872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997452" y="5498591"/>
            <a:ext cx="118872" cy="118872"/>
          </a:xfrm>
          <a:prstGeom prst="rect">
            <a:avLst/>
          </a:prstGeom>
        </p:spPr>
      </p:pic>
      <p:grpSp>
        <p:nvGrpSpPr>
          <p:cNvPr id="75" name="object 75"/>
          <p:cNvGrpSpPr/>
          <p:nvPr/>
        </p:nvGrpSpPr>
        <p:grpSpPr>
          <a:xfrm>
            <a:off x="1242060" y="5196840"/>
            <a:ext cx="439420" cy="279400"/>
            <a:chOff x="1242060" y="5196840"/>
            <a:chExt cx="439420" cy="279400"/>
          </a:xfrm>
        </p:grpSpPr>
        <p:sp>
          <p:nvSpPr>
            <p:cNvPr id="76" name="object 76"/>
            <p:cNvSpPr/>
            <p:nvPr/>
          </p:nvSpPr>
          <p:spPr>
            <a:xfrm>
              <a:off x="1568196" y="5362956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108203" y="0"/>
                  </a:moveTo>
                  <a:lnTo>
                    <a:pt x="0" y="0"/>
                  </a:lnTo>
                  <a:lnTo>
                    <a:pt x="0" y="108204"/>
                  </a:lnTo>
                  <a:lnTo>
                    <a:pt x="108203" y="108204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568196" y="5362956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5" h="108585">
                  <a:moveTo>
                    <a:pt x="0" y="108204"/>
                  </a:moveTo>
                  <a:lnTo>
                    <a:pt x="108203" y="108204"/>
                  </a:lnTo>
                  <a:lnTo>
                    <a:pt x="108203" y="0"/>
                  </a:lnTo>
                  <a:lnTo>
                    <a:pt x="0" y="0"/>
                  </a:lnTo>
                  <a:lnTo>
                    <a:pt x="0" y="10820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441704" y="5201412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5" h="109854">
                  <a:moveTo>
                    <a:pt x="109728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09728" y="109728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441704" y="5201412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5" h="109854">
                  <a:moveTo>
                    <a:pt x="0" y="109728"/>
                  </a:moveTo>
                  <a:lnTo>
                    <a:pt x="109728" y="109728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0972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246632" y="5219700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5" h="109854">
                  <a:moveTo>
                    <a:pt x="109728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09728" y="109728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246632" y="5219700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5" h="109854">
                  <a:moveTo>
                    <a:pt x="0" y="109728"/>
                  </a:moveTo>
                  <a:lnTo>
                    <a:pt x="109728" y="109728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0972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371600" y="5343144"/>
              <a:ext cx="108585" cy="109855"/>
            </a:xfrm>
            <a:custGeom>
              <a:avLst/>
              <a:gdLst/>
              <a:ahLst/>
              <a:cxnLst/>
              <a:rect l="l" t="t" r="r" b="b"/>
              <a:pathLst>
                <a:path w="108584" h="109854">
                  <a:moveTo>
                    <a:pt x="108203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08203" y="109727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371600" y="5343144"/>
              <a:ext cx="108585" cy="109855"/>
            </a:xfrm>
            <a:custGeom>
              <a:avLst/>
              <a:gdLst/>
              <a:ahLst/>
              <a:cxnLst/>
              <a:rect l="l" t="t" r="r" b="b"/>
              <a:pathLst>
                <a:path w="108584" h="109854">
                  <a:moveTo>
                    <a:pt x="0" y="109727"/>
                  </a:moveTo>
                  <a:lnTo>
                    <a:pt x="108203" y="109727"/>
                  </a:lnTo>
                  <a:lnTo>
                    <a:pt x="108203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4" name="object 84"/>
          <p:cNvGrpSpPr/>
          <p:nvPr/>
        </p:nvGrpSpPr>
        <p:grpSpPr>
          <a:xfrm>
            <a:off x="1260347" y="5676900"/>
            <a:ext cx="117475" cy="119380"/>
            <a:chOff x="1260347" y="5676900"/>
            <a:chExt cx="117475" cy="119380"/>
          </a:xfrm>
        </p:grpSpPr>
        <p:sp>
          <p:nvSpPr>
            <p:cNvPr id="85" name="object 85"/>
            <p:cNvSpPr/>
            <p:nvPr/>
          </p:nvSpPr>
          <p:spPr>
            <a:xfrm>
              <a:off x="1264919" y="5681472"/>
              <a:ext cx="108585" cy="109855"/>
            </a:xfrm>
            <a:custGeom>
              <a:avLst/>
              <a:gdLst/>
              <a:ahLst/>
              <a:cxnLst/>
              <a:rect l="l" t="t" r="r" b="b"/>
              <a:pathLst>
                <a:path w="108584" h="109854">
                  <a:moveTo>
                    <a:pt x="108203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08203" y="109727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264919" y="5681472"/>
              <a:ext cx="108585" cy="109855"/>
            </a:xfrm>
            <a:custGeom>
              <a:avLst/>
              <a:gdLst/>
              <a:ahLst/>
              <a:cxnLst/>
              <a:rect l="l" t="t" r="r" b="b"/>
              <a:pathLst>
                <a:path w="108584" h="109854">
                  <a:moveTo>
                    <a:pt x="0" y="109727"/>
                  </a:moveTo>
                  <a:lnTo>
                    <a:pt x="108203" y="109727"/>
                  </a:lnTo>
                  <a:lnTo>
                    <a:pt x="108203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7" name="object 87"/>
          <p:cNvGrpSpPr/>
          <p:nvPr/>
        </p:nvGrpSpPr>
        <p:grpSpPr>
          <a:xfrm>
            <a:off x="1046988" y="5748528"/>
            <a:ext cx="226060" cy="277495"/>
            <a:chOff x="1046988" y="5748528"/>
            <a:chExt cx="226060" cy="277495"/>
          </a:xfrm>
        </p:grpSpPr>
        <p:sp>
          <p:nvSpPr>
            <p:cNvPr id="88" name="object 88"/>
            <p:cNvSpPr/>
            <p:nvPr/>
          </p:nvSpPr>
          <p:spPr>
            <a:xfrm>
              <a:off x="1051560" y="5753100"/>
              <a:ext cx="109855" cy="108585"/>
            </a:xfrm>
            <a:custGeom>
              <a:avLst/>
              <a:gdLst/>
              <a:ahLst/>
              <a:cxnLst/>
              <a:rect l="l" t="t" r="r" b="b"/>
              <a:pathLst>
                <a:path w="109855" h="108585">
                  <a:moveTo>
                    <a:pt x="109728" y="0"/>
                  </a:moveTo>
                  <a:lnTo>
                    <a:pt x="0" y="0"/>
                  </a:lnTo>
                  <a:lnTo>
                    <a:pt x="0" y="108203"/>
                  </a:lnTo>
                  <a:lnTo>
                    <a:pt x="109728" y="108203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051560" y="5753100"/>
              <a:ext cx="109855" cy="108585"/>
            </a:xfrm>
            <a:custGeom>
              <a:avLst/>
              <a:gdLst/>
              <a:ahLst/>
              <a:cxnLst/>
              <a:rect l="l" t="t" r="r" b="b"/>
              <a:pathLst>
                <a:path w="109855" h="108585">
                  <a:moveTo>
                    <a:pt x="0" y="108203"/>
                  </a:moveTo>
                  <a:lnTo>
                    <a:pt x="109728" y="108203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0820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158240" y="5911596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5" h="109854">
                  <a:moveTo>
                    <a:pt x="109728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09728" y="109727"/>
                  </a:lnTo>
                  <a:lnTo>
                    <a:pt x="10972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158240" y="5911596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5" h="109854">
                  <a:moveTo>
                    <a:pt x="0" y="109727"/>
                  </a:moveTo>
                  <a:lnTo>
                    <a:pt x="109728" y="109727"/>
                  </a:lnTo>
                  <a:lnTo>
                    <a:pt x="109728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2" name="object 92"/>
          <p:cNvGrpSpPr/>
          <p:nvPr/>
        </p:nvGrpSpPr>
        <p:grpSpPr>
          <a:xfrm>
            <a:off x="1847088" y="5375147"/>
            <a:ext cx="119380" cy="119380"/>
            <a:chOff x="1847088" y="5375147"/>
            <a:chExt cx="119380" cy="119380"/>
          </a:xfrm>
        </p:grpSpPr>
        <p:sp>
          <p:nvSpPr>
            <p:cNvPr id="93" name="object 93"/>
            <p:cNvSpPr/>
            <p:nvPr/>
          </p:nvSpPr>
          <p:spPr>
            <a:xfrm>
              <a:off x="1851660" y="5379719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5" h="109854">
                  <a:moveTo>
                    <a:pt x="109727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09727" y="109727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851660" y="5379719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5" h="109854">
                  <a:moveTo>
                    <a:pt x="0" y="109727"/>
                  </a:moveTo>
                  <a:lnTo>
                    <a:pt x="109727" y="109727"/>
                  </a:lnTo>
                  <a:lnTo>
                    <a:pt x="109727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5" name="object 95"/>
          <p:cNvGrpSpPr/>
          <p:nvPr/>
        </p:nvGrpSpPr>
        <p:grpSpPr>
          <a:xfrm>
            <a:off x="2130551" y="5498591"/>
            <a:ext cx="119380" cy="119380"/>
            <a:chOff x="2130551" y="5498591"/>
            <a:chExt cx="119380" cy="119380"/>
          </a:xfrm>
        </p:grpSpPr>
        <p:sp>
          <p:nvSpPr>
            <p:cNvPr id="96" name="object 96"/>
            <p:cNvSpPr/>
            <p:nvPr/>
          </p:nvSpPr>
          <p:spPr>
            <a:xfrm>
              <a:off x="2135123" y="5503163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5" h="109854">
                  <a:moveTo>
                    <a:pt x="109727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09727" y="109728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2135123" y="5503163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5" h="109854">
                  <a:moveTo>
                    <a:pt x="0" y="109728"/>
                  </a:moveTo>
                  <a:lnTo>
                    <a:pt x="109727" y="109728"/>
                  </a:lnTo>
                  <a:lnTo>
                    <a:pt x="109727" y="0"/>
                  </a:lnTo>
                  <a:lnTo>
                    <a:pt x="0" y="0"/>
                  </a:lnTo>
                  <a:lnTo>
                    <a:pt x="0" y="10972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8" name="object 98"/>
          <p:cNvGrpSpPr/>
          <p:nvPr/>
        </p:nvGrpSpPr>
        <p:grpSpPr>
          <a:xfrm>
            <a:off x="1847088" y="5605271"/>
            <a:ext cx="119380" cy="119380"/>
            <a:chOff x="1847088" y="5605271"/>
            <a:chExt cx="119380" cy="119380"/>
          </a:xfrm>
        </p:grpSpPr>
        <p:sp>
          <p:nvSpPr>
            <p:cNvPr id="99" name="object 99"/>
            <p:cNvSpPr/>
            <p:nvPr/>
          </p:nvSpPr>
          <p:spPr>
            <a:xfrm>
              <a:off x="1851660" y="5609843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5" h="109854">
                  <a:moveTo>
                    <a:pt x="109727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09727" y="109727"/>
                  </a:lnTo>
                  <a:lnTo>
                    <a:pt x="10972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851660" y="5609843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5" h="109854">
                  <a:moveTo>
                    <a:pt x="0" y="109727"/>
                  </a:moveTo>
                  <a:lnTo>
                    <a:pt x="109727" y="109727"/>
                  </a:lnTo>
                  <a:lnTo>
                    <a:pt x="109727" y="0"/>
                  </a:lnTo>
                  <a:lnTo>
                    <a:pt x="0" y="0"/>
                  </a:lnTo>
                  <a:lnTo>
                    <a:pt x="0" y="109727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/>
          <p:nvPr/>
        </p:nvSpPr>
        <p:spPr>
          <a:xfrm>
            <a:off x="4860035" y="4940808"/>
            <a:ext cx="0" cy="1224280"/>
          </a:xfrm>
          <a:custGeom>
            <a:avLst/>
            <a:gdLst/>
            <a:ahLst/>
            <a:cxnLst/>
            <a:rect l="l" t="t" r="r" b="b"/>
            <a:pathLst>
              <a:path h="1224279">
                <a:moveTo>
                  <a:pt x="0" y="0"/>
                </a:moveTo>
                <a:lnTo>
                  <a:pt x="0" y="122414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2207514" y="6236004"/>
            <a:ext cx="1228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¿2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clústeres?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8815705" y="6649742"/>
            <a:ext cx="14732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585858"/>
                </a:solidFill>
                <a:latin typeface="Arial MT"/>
                <a:cs typeface="Arial MT"/>
              </a:rPr>
              <a:t>3</a:t>
            </a:fld>
            <a:endParaRPr sz="1000">
              <a:latin typeface="Arial MT"/>
              <a:cs typeface="Arial MT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6190869" y="6183579"/>
            <a:ext cx="1228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¿4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clústeres?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05" name="Picture 4">
            <a:extLst>
              <a:ext uri="{FF2B5EF4-FFF2-40B4-BE49-F238E27FC236}">
                <a16:creationId xmlns:a16="http://schemas.microsoft.com/office/drawing/2014/main" id="{405AC712-E556-3FE9-1786-A11D714EA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6" descr="Ingeniería de Sistemas - UNCP">
            <a:extLst>
              <a:ext uri="{FF2B5EF4-FFF2-40B4-BE49-F238E27FC236}">
                <a16:creationId xmlns:a16="http://schemas.microsoft.com/office/drawing/2014/main" id="{4ACDA095-38E2-46EF-4E8C-B424FB225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2769" y="307593"/>
            <a:ext cx="44608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Clasificación</a:t>
            </a:r>
            <a:r>
              <a:rPr spc="-25" dirty="0"/>
              <a:t> </a:t>
            </a:r>
            <a:r>
              <a:rPr spc="-5" dirty="0"/>
              <a:t>de</a:t>
            </a:r>
            <a:r>
              <a:rPr spc="-20" dirty="0"/>
              <a:t> </a:t>
            </a:r>
            <a:r>
              <a:rPr dirty="0"/>
              <a:t>Clústeres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61331"/>
            <a:ext cx="5029835" cy="101663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Char char="•"/>
              <a:tabLst>
                <a:tab pos="20955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Según</a:t>
            </a:r>
            <a:r>
              <a:rPr sz="2000" spc="-4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su</a:t>
            </a:r>
            <a:r>
              <a:rPr sz="2000" spc="-3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estructura</a:t>
            </a:r>
            <a:endParaRPr sz="20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39"/>
              </a:spcBef>
              <a:buFont typeface="Arial MT"/>
              <a:buChar char="-"/>
              <a:tabLst>
                <a:tab pos="389255" algn="l"/>
              </a:tabLst>
            </a:pPr>
            <a:r>
              <a:rPr sz="1800" i="1" spc="-5" dirty="0">
                <a:solidFill>
                  <a:srgbClr val="6F2F9F"/>
                </a:solidFill>
                <a:latin typeface="Arial"/>
                <a:cs typeface="Arial"/>
              </a:rPr>
              <a:t>Clústeres</a:t>
            </a:r>
            <a:r>
              <a:rPr sz="1800" i="1" spc="-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6F2F9F"/>
                </a:solidFill>
                <a:latin typeface="Arial"/>
                <a:cs typeface="Arial"/>
              </a:rPr>
              <a:t>jerárquicos</a:t>
            </a:r>
            <a:endParaRPr sz="1800">
              <a:latin typeface="Arial"/>
              <a:cs typeface="Arial"/>
            </a:endParaRPr>
          </a:p>
          <a:p>
            <a:pPr marL="611505" lvl="2" indent="-226695">
              <a:lnSpc>
                <a:spcPct val="100000"/>
              </a:lnSpc>
              <a:spcBef>
                <a:spcPts val="390"/>
              </a:spcBef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Arial MT"/>
                <a:cs typeface="Arial MT"/>
              </a:rPr>
              <a:t>Hay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clústeres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dentro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otros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clústeres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(jerarquía)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44293" y="2441455"/>
            <a:ext cx="2410460" cy="1486535"/>
            <a:chOff x="2144293" y="2441455"/>
            <a:chExt cx="2410460" cy="1486535"/>
          </a:xfrm>
        </p:grpSpPr>
        <p:sp>
          <p:nvSpPr>
            <p:cNvPr id="5" name="object 5"/>
            <p:cNvSpPr/>
            <p:nvPr/>
          </p:nvSpPr>
          <p:spPr>
            <a:xfrm>
              <a:off x="2400398" y="2932460"/>
              <a:ext cx="55880" cy="57150"/>
            </a:xfrm>
            <a:custGeom>
              <a:avLst/>
              <a:gdLst/>
              <a:ahLst/>
              <a:cxnLst/>
              <a:rect l="l" t="t" r="r" b="b"/>
              <a:pathLst>
                <a:path w="55880" h="57150">
                  <a:moveTo>
                    <a:pt x="27021" y="0"/>
                  </a:moveTo>
                  <a:lnTo>
                    <a:pt x="16525" y="2143"/>
                  </a:lnTo>
                  <a:lnTo>
                    <a:pt x="7933" y="8063"/>
                  </a:lnTo>
                  <a:lnTo>
                    <a:pt x="2130" y="16994"/>
                  </a:lnTo>
                  <a:lnTo>
                    <a:pt x="0" y="28170"/>
                  </a:lnTo>
                  <a:lnTo>
                    <a:pt x="2130" y="39496"/>
                  </a:lnTo>
                  <a:lnTo>
                    <a:pt x="7933" y="48504"/>
                  </a:lnTo>
                  <a:lnTo>
                    <a:pt x="16525" y="54452"/>
                  </a:lnTo>
                  <a:lnTo>
                    <a:pt x="27021" y="56600"/>
                  </a:lnTo>
                  <a:lnTo>
                    <a:pt x="38382" y="54452"/>
                  </a:lnTo>
                  <a:lnTo>
                    <a:pt x="47418" y="48504"/>
                  </a:lnTo>
                  <a:lnTo>
                    <a:pt x="53385" y="39496"/>
                  </a:lnTo>
                  <a:lnTo>
                    <a:pt x="55539" y="28170"/>
                  </a:lnTo>
                  <a:lnTo>
                    <a:pt x="53385" y="16994"/>
                  </a:lnTo>
                  <a:lnTo>
                    <a:pt x="47418" y="8063"/>
                  </a:lnTo>
                  <a:lnTo>
                    <a:pt x="38382" y="2143"/>
                  </a:lnTo>
                  <a:lnTo>
                    <a:pt x="270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00398" y="2932460"/>
              <a:ext cx="55880" cy="57150"/>
            </a:xfrm>
            <a:custGeom>
              <a:avLst/>
              <a:gdLst/>
              <a:ahLst/>
              <a:cxnLst/>
              <a:rect l="l" t="t" r="r" b="b"/>
              <a:pathLst>
                <a:path w="55880" h="57150">
                  <a:moveTo>
                    <a:pt x="0" y="28170"/>
                  </a:moveTo>
                  <a:lnTo>
                    <a:pt x="2130" y="39496"/>
                  </a:lnTo>
                  <a:lnTo>
                    <a:pt x="7933" y="48504"/>
                  </a:lnTo>
                  <a:lnTo>
                    <a:pt x="16525" y="54452"/>
                  </a:lnTo>
                  <a:lnTo>
                    <a:pt x="27021" y="56600"/>
                  </a:lnTo>
                  <a:lnTo>
                    <a:pt x="38382" y="54452"/>
                  </a:lnTo>
                  <a:lnTo>
                    <a:pt x="47418" y="48504"/>
                  </a:lnTo>
                  <a:lnTo>
                    <a:pt x="53385" y="39496"/>
                  </a:lnTo>
                  <a:lnTo>
                    <a:pt x="55539" y="28170"/>
                  </a:lnTo>
                  <a:lnTo>
                    <a:pt x="53385" y="16994"/>
                  </a:lnTo>
                  <a:lnTo>
                    <a:pt x="47418" y="8063"/>
                  </a:lnTo>
                  <a:lnTo>
                    <a:pt x="38382" y="2143"/>
                  </a:lnTo>
                  <a:lnTo>
                    <a:pt x="27021" y="0"/>
                  </a:lnTo>
                  <a:lnTo>
                    <a:pt x="16525" y="2143"/>
                  </a:lnTo>
                  <a:lnTo>
                    <a:pt x="7933" y="8063"/>
                  </a:lnTo>
                  <a:lnTo>
                    <a:pt x="2130" y="16994"/>
                  </a:lnTo>
                  <a:lnTo>
                    <a:pt x="0" y="28170"/>
                  </a:lnTo>
                  <a:close/>
                </a:path>
              </a:pathLst>
            </a:custGeom>
            <a:ln w="39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24935" y="3624169"/>
              <a:ext cx="55880" cy="57150"/>
            </a:xfrm>
            <a:custGeom>
              <a:avLst/>
              <a:gdLst/>
              <a:ahLst/>
              <a:cxnLst/>
              <a:rect l="l" t="t" r="r" b="b"/>
              <a:pathLst>
                <a:path w="55880" h="57150">
                  <a:moveTo>
                    <a:pt x="27021" y="0"/>
                  </a:moveTo>
                  <a:lnTo>
                    <a:pt x="16520" y="2147"/>
                  </a:lnTo>
                  <a:lnTo>
                    <a:pt x="7929" y="8094"/>
                  </a:lnTo>
                  <a:lnTo>
                    <a:pt x="2129" y="17099"/>
                  </a:lnTo>
                  <a:lnTo>
                    <a:pt x="0" y="28418"/>
                  </a:lnTo>
                  <a:lnTo>
                    <a:pt x="2129" y="39637"/>
                  </a:lnTo>
                  <a:lnTo>
                    <a:pt x="7929" y="48652"/>
                  </a:lnTo>
                  <a:lnTo>
                    <a:pt x="16520" y="54655"/>
                  </a:lnTo>
                  <a:lnTo>
                    <a:pt x="27021" y="56836"/>
                  </a:lnTo>
                  <a:lnTo>
                    <a:pt x="38376" y="54655"/>
                  </a:lnTo>
                  <a:lnTo>
                    <a:pt x="47408" y="48652"/>
                  </a:lnTo>
                  <a:lnTo>
                    <a:pt x="53374" y="39637"/>
                  </a:lnTo>
                  <a:lnTo>
                    <a:pt x="55528" y="28418"/>
                  </a:lnTo>
                  <a:lnTo>
                    <a:pt x="53374" y="17099"/>
                  </a:lnTo>
                  <a:lnTo>
                    <a:pt x="47408" y="8094"/>
                  </a:lnTo>
                  <a:lnTo>
                    <a:pt x="38376" y="2147"/>
                  </a:lnTo>
                  <a:lnTo>
                    <a:pt x="270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24935" y="3624169"/>
              <a:ext cx="55880" cy="57150"/>
            </a:xfrm>
            <a:custGeom>
              <a:avLst/>
              <a:gdLst/>
              <a:ahLst/>
              <a:cxnLst/>
              <a:rect l="l" t="t" r="r" b="b"/>
              <a:pathLst>
                <a:path w="55880" h="57150">
                  <a:moveTo>
                    <a:pt x="0" y="28418"/>
                  </a:moveTo>
                  <a:lnTo>
                    <a:pt x="2129" y="39637"/>
                  </a:lnTo>
                  <a:lnTo>
                    <a:pt x="7929" y="48652"/>
                  </a:lnTo>
                  <a:lnTo>
                    <a:pt x="16520" y="54655"/>
                  </a:lnTo>
                  <a:lnTo>
                    <a:pt x="27021" y="56836"/>
                  </a:lnTo>
                  <a:lnTo>
                    <a:pt x="38376" y="54655"/>
                  </a:lnTo>
                  <a:lnTo>
                    <a:pt x="47408" y="48652"/>
                  </a:lnTo>
                  <a:lnTo>
                    <a:pt x="53374" y="39637"/>
                  </a:lnTo>
                  <a:lnTo>
                    <a:pt x="55528" y="28418"/>
                  </a:lnTo>
                  <a:lnTo>
                    <a:pt x="53374" y="17099"/>
                  </a:lnTo>
                  <a:lnTo>
                    <a:pt x="47408" y="8094"/>
                  </a:lnTo>
                  <a:lnTo>
                    <a:pt x="38376" y="2147"/>
                  </a:lnTo>
                  <a:lnTo>
                    <a:pt x="27021" y="0"/>
                  </a:lnTo>
                  <a:lnTo>
                    <a:pt x="16520" y="2147"/>
                  </a:lnTo>
                  <a:lnTo>
                    <a:pt x="7929" y="8094"/>
                  </a:lnTo>
                  <a:lnTo>
                    <a:pt x="2129" y="17099"/>
                  </a:lnTo>
                  <a:lnTo>
                    <a:pt x="0" y="28418"/>
                  </a:lnTo>
                  <a:close/>
                </a:path>
              </a:pathLst>
            </a:custGeom>
            <a:ln w="39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09495" y="3276219"/>
              <a:ext cx="55880" cy="57150"/>
            </a:xfrm>
            <a:custGeom>
              <a:avLst/>
              <a:gdLst/>
              <a:ahLst/>
              <a:cxnLst/>
              <a:rect l="l" t="t" r="r" b="b"/>
              <a:pathLst>
                <a:path w="55879" h="57150">
                  <a:moveTo>
                    <a:pt x="27111" y="0"/>
                  </a:moveTo>
                  <a:lnTo>
                    <a:pt x="16563" y="2145"/>
                  </a:lnTo>
                  <a:lnTo>
                    <a:pt x="7945" y="8090"/>
                  </a:lnTo>
                  <a:lnTo>
                    <a:pt x="2132" y="17094"/>
                  </a:lnTo>
                  <a:lnTo>
                    <a:pt x="0" y="28418"/>
                  </a:lnTo>
                  <a:lnTo>
                    <a:pt x="2132" y="39594"/>
                  </a:lnTo>
                  <a:lnTo>
                    <a:pt x="7945" y="48525"/>
                  </a:lnTo>
                  <a:lnTo>
                    <a:pt x="16563" y="54445"/>
                  </a:lnTo>
                  <a:lnTo>
                    <a:pt x="27111" y="56588"/>
                  </a:lnTo>
                  <a:lnTo>
                    <a:pt x="38440" y="54445"/>
                  </a:lnTo>
                  <a:lnTo>
                    <a:pt x="47459" y="48525"/>
                  </a:lnTo>
                  <a:lnTo>
                    <a:pt x="53420" y="39594"/>
                  </a:lnTo>
                  <a:lnTo>
                    <a:pt x="55573" y="28418"/>
                  </a:lnTo>
                  <a:lnTo>
                    <a:pt x="53420" y="17094"/>
                  </a:lnTo>
                  <a:lnTo>
                    <a:pt x="47459" y="8090"/>
                  </a:lnTo>
                  <a:lnTo>
                    <a:pt x="38440" y="2145"/>
                  </a:lnTo>
                  <a:lnTo>
                    <a:pt x="271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309495" y="3276219"/>
              <a:ext cx="55880" cy="57150"/>
            </a:xfrm>
            <a:custGeom>
              <a:avLst/>
              <a:gdLst/>
              <a:ahLst/>
              <a:cxnLst/>
              <a:rect l="l" t="t" r="r" b="b"/>
              <a:pathLst>
                <a:path w="55879" h="57150">
                  <a:moveTo>
                    <a:pt x="0" y="28418"/>
                  </a:moveTo>
                  <a:lnTo>
                    <a:pt x="2132" y="39594"/>
                  </a:lnTo>
                  <a:lnTo>
                    <a:pt x="7945" y="48525"/>
                  </a:lnTo>
                  <a:lnTo>
                    <a:pt x="16563" y="54445"/>
                  </a:lnTo>
                  <a:lnTo>
                    <a:pt x="27111" y="56588"/>
                  </a:lnTo>
                  <a:lnTo>
                    <a:pt x="38440" y="54445"/>
                  </a:lnTo>
                  <a:lnTo>
                    <a:pt x="47459" y="48525"/>
                  </a:lnTo>
                  <a:lnTo>
                    <a:pt x="53420" y="39594"/>
                  </a:lnTo>
                  <a:lnTo>
                    <a:pt x="55573" y="28418"/>
                  </a:lnTo>
                  <a:lnTo>
                    <a:pt x="53420" y="17094"/>
                  </a:lnTo>
                  <a:lnTo>
                    <a:pt x="47459" y="8090"/>
                  </a:lnTo>
                  <a:lnTo>
                    <a:pt x="38440" y="2145"/>
                  </a:lnTo>
                  <a:lnTo>
                    <a:pt x="27111" y="0"/>
                  </a:lnTo>
                  <a:lnTo>
                    <a:pt x="16563" y="2145"/>
                  </a:lnTo>
                  <a:lnTo>
                    <a:pt x="7945" y="8090"/>
                  </a:lnTo>
                  <a:lnTo>
                    <a:pt x="2132" y="17094"/>
                  </a:lnTo>
                  <a:lnTo>
                    <a:pt x="0" y="28418"/>
                  </a:lnTo>
                  <a:close/>
                </a:path>
              </a:pathLst>
            </a:custGeom>
            <a:ln w="39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24565" y="3066716"/>
              <a:ext cx="726440" cy="700405"/>
            </a:xfrm>
            <a:custGeom>
              <a:avLst/>
              <a:gdLst/>
              <a:ahLst/>
              <a:cxnLst/>
              <a:rect l="l" t="t" r="r" b="b"/>
              <a:pathLst>
                <a:path w="726439" h="700404">
                  <a:moveTo>
                    <a:pt x="48633" y="642460"/>
                  </a:moveTo>
                  <a:lnTo>
                    <a:pt x="75831" y="665962"/>
                  </a:lnTo>
                  <a:lnTo>
                    <a:pt x="107566" y="683289"/>
                  </a:lnTo>
                  <a:lnTo>
                    <a:pt x="143242" y="694558"/>
                  </a:lnTo>
                  <a:lnTo>
                    <a:pt x="182262" y="699886"/>
                  </a:lnTo>
                  <a:lnTo>
                    <a:pt x="224030" y="699388"/>
                  </a:lnTo>
                  <a:lnTo>
                    <a:pt x="267948" y="693183"/>
                  </a:lnTo>
                  <a:lnTo>
                    <a:pt x="313421" y="681386"/>
                  </a:lnTo>
                  <a:lnTo>
                    <a:pt x="359850" y="664115"/>
                  </a:lnTo>
                  <a:lnTo>
                    <a:pt x="406640" y="641486"/>
                  </a:lnTo>
                  <a:lnTo>
                    <a:pt x="453193" y="613616"/>
                  </a:lnTo>
                  <a:lnTo>
                    <a:pt x="498913" y="580622"/>
                  </a:lnTo>
                  <a:lnTo>
                    <a:pt x="543202" y="542620"/>
                  </a:lnTo>
                  <a:lnTo>
                    <a:pt x="584479" y="501101"/>
                  </a:lnTo>
                  <a:lnTo>
                    <a:pt x="620798" y="457861"/>
                  </a:lnTo>
                  <a:lnTo>
                    <a:pt x="652004" y="413474"/>
                  </a:lnTo>
                  <a:lnTo>
                    <a:pt x="677944" y="368516"/>
                  </a:lnTo>
                  <a:lnTo>
                    <a:pt x="698464" y="323561"/>
                  </a:lnTo>
                  <a:lnTo>
                    <a:pt x="713410" y="279185"/>
                  </a:lnTo>
                  <a:lnTo>
                    <a:pt x="722628" y="235962"/>
                  </a:lnTo>
                  <a:lnTo>
                    <a:pt x="725964" y="194467"/>
                  </a:lnTo>
                  <a:lnTo>
                    <a:pt x="723264" y="155275"/>
                  </a:lnTo>
                  <a:lnTo>
                    <a:pt x="699141" y="86099"/>
                  </a:lnTo>
                  <a:lnTo>
                    <a:pt x="649888" y="33736"/>
                  </a:lnTo>
                  <a:lnTo>
                    <a:pt x="582127" y="5237"/>
                  </a:lnTo>
                  <a:lnTo>
                    <a:pt x="543041" y="0"/>
                  </a:lnTo>
                  <a:lnTo>
                    <a:pt x="501253" y="593"/>
                  </a:lnTo>
                  <a:lnTo>
                    <a:pt x="457341" y="6886"/>
                  </a:lnTo>
                  <a:lnTo>
                    <a:pt x="411880" y="18743"/>
                  </a:lnTo>
                  <a:lnTo>
                    <a:pt x="365447" y="36033"/>
                  </a:lnTo>
                  <a:lnTo>
                    <a:pt x="318618" y="58622"/>
                  </a:lnTo>
                  <a:lnTo>
                    <a:pt x="271971" y="86378"/>
                  </a:lnTo>
                  <a:lnTo>
                    <a:pt x="226081" y="119167"/>
                  </a:lnTo>
                  <a:lnTo>
                    <a:pt x="181526" y="156857"/>
                  </a:lnTo>
                  <a:lnTo>
                    <a:pt x="140538" y="198382"/>
                  </a:lnTo>
                  <a:lnTo>
                    <a:pt x="104462" y="241636"/>
                  </a:lnTo>
                  <a:lnTo>
                    <a:pt x="73455" y="286044"/>
                  </a:lnTo>
                  <a:lnTo>
                    <a:pt x="47675" y="331028"/>
                  </a:lnTo>
                  <a:lnTo>
                    <a:pt x="27281" y="376012"/>
                  </a:lnTo>
                  <a:lnTo>
                    <a:pt x="12432" y="420420"/>
                  </a:lnTo>
                  <a:lnTo>
                    <a:pt x="3285" y="463674"/>
                  </a:lnTo>
                  <a:lnTo>
                    <a:pt x="0" y="505199"/>
                  </a:lnTo>
                  <a:lnTo>
                    <a:pt x="2733" y="544416"/>
                  </a:lnTo>
                  <a:lnTo>
                    <a:pt x="11644" y="580750"/>
                  </a:lnTo>
                  <a:lnTo>
                    <a:pt x="26892" y="613623"/>
                  </a:lnTo>
                  <a:lnTo>
                    <a:pt x="48633" y="642460"/>
                  </a:lnTo>
                  <a:close/>
                </a:path>
              </a:pathLst>
            </a:custGeom>
            <a:ln w="79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97627" y="3303153"/>
              <a:ext cx="54610" cy="57150"/>
            </a:xfrm>
            <a:custGeom>
              <a:avLst/>
              <a:gdLst/>
              <a:ahLst/>
              <a:cxnLst/>
              <a:rect l="l" t="t" r="r" b="b"/>
              <a:pathLst>
                <a:path w="54610" h="57150">
                  <a:moveTo>
                    <a:pt x="26999" y="0"/>
                  </a:moveTo>
                  <a:lnTo>
                    <a:pt x="16515" y="2180"/>
                  </a:lnTo>
                  <a:lnTo>
                    <a:pt x="7931" y="8183"/>
                  </a:lnTo>
                  <a:lnTo>
                    <a:pt x="2130" y="17198"/>
                  </a:lnTo>
                  <a:lnTo>
                    <a:pt x="0" y="28418"/>
                  </a:lnTo>
                  <a:lnTo>
                    <a:pt x="2130" y="39736"/>
                  </a:lnTo>
                  <a:lnTo>
                    <a:pt x="7931" y="48741"/>
                  </a:lnTo>
                  <a:lnTo>
                    <a:pt x="16515" y="54688"/>
                  </a:lnTo>
                  <a:lnTo>
                    <a:pt x="26999" y="56836"/>
                  </a:lnTo>
                  <a:lnTo>
                    <a:pt x="37547" y="54688"/>
                  </a:lnTo>
                  <a:lnTo>
                    <a:pt x="46165" y="48741"/>
                  </a:lnTo>
                  <a:lnTo>
                    <a:pt x="51978" y="39736"/>
                  </a:lnTo>
                  <a:lnTo>
                    <a:pt x="54110" y="28418"/>
                  </a:lnTo>
                  <a:lnTo>
                    <a:pt x="51978" y="17198"/>
                  </a:lnTo>
                  <a:lnTo>
                    <a:pt x="46165" y="8183"/>
                  </a:lnTo>
                  <a:lnTo>
                    <a:pt x="37547" y="2180"/>
                  </a:lnTo>
                  <a:lnTo>
                    <a:pt x="269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97627" y="3303153"/>
              <a:ext cx="54610" cy="57150"/>
            </a:xfrm>
            <a:custGeom>
              <a:avLst/>
              <a:gdLst/>
              <a:ahLst/>
              <a:cxnLst/>
              <a:rect l="l" t="t" r="r" b="b"/>
              <a:pathLst>
                <a:path w="54610" h="57150">
                  <a:moveTo>
                    <a:pt x="0" y="28418"/>
                  </a:moveTo>
                  <a:lnTo>
                    <a:pt x="2130" y="39736"/>
                  </a:lnTo>
                  <a:lnTo>
                    <a:pt x="7931" y="48741"/>
                  </a:lnTo>
                  <a:lnTo>
                    <a:pt x="16515" y="54688"/>
                  </a:lnTo>
                  <a:lnTo>
                    <a:pt x="26999" y="56836"/>
                  </a:lnTo>
                  <a:lnTo>
                    <a:pt x="37547" y="54688"/>
                  </a:lnTo>
                  <a:lnTo>
                    <a:pt x="46165" y="48741"/>
                  </a:lnTo>
                  <a:lnTo>
                    <a:pt x="51978" y="39736"/>
                  </a:lnTo>
                  <a:lnTo>
                    <a:pt x="54110" y="28418"/>
                  </a:lnTo>
                  <a:lnTo>
                    <a:pt x="51978" y="17198"/>
                  </a:lnTo>
                  <a:lnTo>
                    <a:pt x="46165" y="8183"/>
                  </a:lnTo>
                  <a:lnTo>
                    <a:pt x="37547" y="2180"/>
                  </a:lnTo>
                  <a:lnTo>
                    <a:pt x="26999" y="0"/>
                  </a:lnTo>
                  <a:lnTo>
                    <a:pt x="16515" y="2180"/>
                  </a:lnTo>
                  <a:lnTo>
                    <a:pt x="7931" y="8183"/>
                  </a:lnTo>
                  <a:lnTo>
                    <a:pt x="2130" y="17198"/>
                  </a:lnTo>
                  <a:lnTo>
                    <a:pt x="0" y="28418"/>
                  </a:lnTo>
                  <a:close/>
                </a:path>
              </a:pathLst>
            </a:custGeom>
            <a:ln w="39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14556" y="2925013"/>
              <a:ext cx="1372870" cy="956310"/>
            </a:xfrm>
            <a:custGeom>
              <a:avLst/>
              <a:gdLst/>
              <a:ahLst/>
              <a:cxnLst/>
              <a:rect l="l" t="t" r="r" b="b"/>
              <a:pathLst>
                <a:path w="1372870" h="956310">
                  <a:moveTo>
                    <a:pt x="4185" y="592641"/>
                  </a:moveTo>
                  <a:lnTo>
                    <a:pt x="12896" y="630317"/>
                  </a:lnTo>
                  <a:lnTo>
                    <a:pt x="25880" y="666406"/>
                  </a:lnTo>
                  <a:lnTo>
                    <a:pt x="42939" y="700818"/>
                  </a:lnTo>
                  <a:lnTo>
                    <a:pt x="63878" y="733463"/>
                  </a:lnTo>
                  <a:lnTo>
                    <a:pt x="88498" y="764250"/>
                  </a:lnTo>
                  <a:lnTo>
                    <a:pt x="116602" y="793091"/>
                  </a:lnTo>
                  <a:lnTo>
                    <a:pt x="147995" y="819894"/>
                  </a:lnTo>
                  <a:lnTo>
                    <a:pt x="182478" y="844571"/>
                  </a:lnTo>
                  <a:lnTo>
                    <a:pt x="219854" y="867031"/>
                  </a:lnTo>
                  <a:lnTo>
                    <a:pt x="259927" y="887184"/>
                  </a:lnTo>
                  <a:lnTo>
                    <a:pt x="302499" y="904941"/>
                  </a:lnTo>
                  <a:lnTo>
                    <a:pt x="347373" y="920211"/>
                  </a:lnTo>
                  <a:lnTo>
                    <a:pt x="394352" y="932905"/>
                  </a:lnTo>
                  <a:lnTo>
                    <a:pt x="443240" y="942933"/>
                  </a:lnTo>
                  <a:lnTo>
                    <a:pt x="493838" y="950205"/>
                  </a:lnTo>
                  <a:lnTo>
                    <a:pt x="545950" y="954631"/>
                  </a:lnTo>
                  <a:lnTo>
                    <a:pt x="599379" y="956120"/>
                  </a:lnTo>
                  <a:lnTo>
                    <a:pt x="653928" y="954584"/>
                  </a:lnTo>
                  <a:lnTo>
                    <a:pt x="709399" y="949932"/>
                  </a:lnTo>
                  <a:lnTo>
                    <a:pt x="765596" y="942074"/>
                  </a:lnTo>
                  <a:lnTo>
                    <a:pt x="821294" y="930930"/>
                  </a:lnTo>
                  <a:lnTo>
                    <a:pt x="875227" y="917021"/>
                  </a:lnTo>
                  <a:lnTo>
                    <a:pt x="927240" y="900496"/>
                  </a:lnTo>
                  <a:lnTo>
                    <a:pt x="977180" y="881503"/>
                  </a:lnTo>
                  <a:lnTo>
                    <a:pt x="1024892" y="860191"/>
                  </a:lnTo>
                  <a:lnTo>
                    <a:pt x="1070223" y="836708"/>
                  </a:lnTo>
                  <a:lnTo>
                    <a:pt x="1113019" y="811204"/>
                  </a:lnTo>
                  <a:lnTo>
                    <a:pt x="1153125" y="783827"/>
                  </a:lnTo>
                  <a:lnTo>
                    <a:pt x="1190387" y="754725"/>
                  </a:lnTo>
                  <a:lnTo>
                    <a:pt x="1224653" y="724048"/>
                  </a:lnTo>
                  <a:lnTo>
                    <a:pt x="1255767" y="691943"/>
                  </a:lnTo>
                  <a:lnTo>
                    <a:pt x="1283576" y="658560"/>
                  </a:lnTo>
                  <a:lnTo>
                    <a:pt x="1307925" y="624047"/>
                  </a:lnTo>
                  <a:lnTo>
                    <a:pt x="1328662" y="588553"/>
                  </a:lnTo>
                  <a:lnTo>
                    <a:pt x="1345631" y="552226"/>
                  </a:lnTo>
                  <a:lnTo>
                    <a:pt x="1358679" y="515216"/>
                  </a:lnTo>
                  <a:lnTo>
                    <a:pt x="1367651" y="477670"/>
                  </a:lnTo>
                  <a:lnTo>
                    <a:pt x="1372395" y="439737"/>
                  </a:lnTo>
                  <a:lnTo>
                    <a:pt x="1372755" y="401567"/>
                  </a:lnTo>
                  <a:lnTo>
                    <a:pt x="1368578" y="363307"/>
                  </a:lnTo>
                  <a:lnTo>
                    <a:pt x="1359695" y="325631"/>
                  </a:lnTo>
                  <a:lnTo>
                    <a:pt x="1346573" y="289543"/>
                  </a:lnTo>
                  <a:lnTo>
                    <a:pt x="1329407" y="255134"/>
                  </a:lnTo>
                  <a:lnTo>
                    <a:pt x="1308391" y="222493"/>
                  </a:lnTo>
                  <a:lnTo>
                    <a:pt x="1283719" y="191710"/>
                  </a:lnTo>
                  <a:lnTo>
                    <a:pt x="1255586" y="162875"/>
                  </a:lnTo>
                  <a:lnTo>
                    <a:pt x="1224185" y="136079"/>
                  </a:lnTo>
                  <a:lnTo>
                    <a:pt x="1189712" y="111410"/>
                  </a:lnTo>
                  <a:lnTo>
                    <a:pt x="1152361" y="88960"/>
                  </a:lnTo>
                  <a:lnTo>
                    <a:pt x="1112325" y="68818"/>
                  </a:lnTo>
                  <a:lnTo>
                    <a:pt x="1069799" y="51073"/>
                  </a:lnTo>
                  <a:lnTo>
                    <a:pt x="1024978" y="35816"/>
                  </a:lnTo>
                  <a:lnTo>
                    <a:pt x="978056" y="23138"/>
                  </a:lnTo>
                  <a:lnTo>
                    <a:pt x="929227" y="13127"/>
                  </a:lnTo>
                  <a:lnTo>
                    <a:pt x="878685" y="5873"/>
                  </a:lnTo>
                  <a:lnTo>
                    <a:pt x="826625" y="1468"/>
                  </a:lnTo>
                  <a:lnTo>
                    <a:pt x="773241" y="0"/>
                  </a:lnTo>
                  <a:lnTo>
                    <a:pt x="718728" y="1559"/>
                  </a:lnTo>
                  <a:lnTo>
                    <a:pt x="663279" y="6236"/>
                  </a:lnTo>
                  <a:lnTo>
                    <a:pt x="607088" y="14121"/>
                  </a:lnTo>
                  <a:lnTo>
                    <a:pt x="551433" y="25265"/>
                  </a:lnTo>
                  <a:lnTo>
                    <a:pt x="497534" y="39173"/>
                  </a:lnTo>
                  <a:lnTo>
                    <a:pt x="445547" y="55698"/>
                  </a:lnTo>
                  <a:lnTo>
                    <a:pt x="395626" y="74690"/>
                  </a:lnTo>
                  <a:lnTo>
                    <a:pt x="347927" y="96000"/>
                  </a:lnTo>
                  <a:lnTo>
                    <a:pt x="302603" y="119480"/>
                  </a:lnTo>
                  <a:lnTo>
                    <a:pt x="259809" y="144980"/>
                  </a:lnTo>
                  <a:lnTo>
                    <a:pt x="219701" y="172352"/>
                  </a:lnTo>
                  <a:lnTo>
                    <a:pt x="182433" y="201447"/>
                  </a:lnTo>
                  <a:lnTo>
                    <a:pt x="148160" y="232116"/>
                  </a:lnTo>
                  <a:lnTo>
                    <a:pt x="117036" y="264211"/>
                  </a:lnTo>
                  <a:lnTo>
                    <a:pt x="89217" y="297582"/>
                  </a:lnTo>
                  <a:lnTo>
                    <a:pt x="64856" y="332080"/>
                  </a:lnTo>
                  <a:lnTo>
                    <a:pt x="44110" y="367557"/>
                  </a:lnTo>
                  <a:lnTo>
                    <a:pt x="27132" y="403864"/>
                  </a:lnTo>
                  <a:lnTo>
                    <a:pt x="14077" y="440853"/>
                  </a:lnTo>
                  <a:lnTo>
                    <a:pt x="5100" y="478373"/>
                  </a:lnTo>
                  <a:lnTo>
                    <a:pt x="356" y="516278"/>
                  </a:lnTo>
                  <a:lnTo>
                    <a:pt x="0" y="554416"/>
                  </a:lnTo>
                  <a:lnTo>
                    <a:pt x="4185" y="592641"/>
                  </a:lnTo>
                  <a:close/>
                </a:path>
              </a:pathLst>
            </a:custGeom>
            <a:ln w="79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48256" y="2445419"/>
              <a:ext cx="2402840" cy="1478280"/>
            </a:xfrm>
            <a:custGeom>
              <a:avLst/>
              <a:gdLst/>
              <a:ahLst/>
              <a:cxnLst/>
              <a:rect l="l" t="t" r="r" b="b"/>
              <a:pathLst>
                <a:path w="2402840" h="1478279">
                  <a:moveTo>
                    <a:pt x="0" y="739106"/>
                  </a:moveTo>
                  <a:lnTo>
                    <a:pt x="5500" y="810374"/>
                  </a:lnTo>
                  <a:lnTo>
                    <a:pt x="21666" y="879708"/>
                  </a:lnTo>
                  <a:lnTo>
                    <a:pt x="47991" y="946800"/>
                  </a:lnTo>
                  <a:lnTo>
                    <a:pt x="83970" y="1011342"/>
                  </a:lnTo>
                  <a:lnTo>
                    <a:pt x="129100" y="1073025"/>
                  </a:lnTo>
                  <a:lnTo>
                    <a:pt x="154938" y="1102699"/>
                  </a:lnTo>
                  <a:lnTo>
                    <a:pt x="182874" y="1131543"/>
                  </a:lnTo>
                  <a:lnTo>
                    <a:pt x="212845" y="1159519"/>
                  </a:lnTo>
                  <a:lnTo>
                    <a:pt x="244787" y="1186588"/>
                  </a:lnTo>
                  <a:lnTo>
                    <a:pt x="278639" y="1212711"/>
                  </a:lnTo>
                  <a:lnTo>
                    <a:pt x="314336" y="1237851"/>
                  </a:lnTo>
                  <a:lnTo>
                    <a:pt x="351815" y="1261968"/>
                  </a:lnTo>
                  <a:lnTo>
                    <a:pt x="391013" y="1285025"/>
                  </a:lnTo>
                  <a:lnTo>
                    <a:pt x="431868" y="1306982"/>
                  </a:lnTo>
                  <a:lnTo>
                    <a:pt x="474316" y="1327802"/>
                  </a:lnTo>
                  <a:lnTo>
                    <a:pt x="518293" y="1347445"/>
                  </a:lnTo>
                  <a:lnTo>
                    <a:pt x="563738" y="1365874"/>
                  </a:lnTo>
                  <a:lnTo>
                    <a:pt x="610586" y="1383049"/>
                  </a:lnTo>
                  <a:lnTo>
                    <a:pt x="658774" y="1398933"/>
                  </a:lnTo>
                  <a:lnTo>
                    <a:pt x="708240" y="1413487"/>
                  </a:lnTo>
                  <a:lnTo>
                    <a:pt x="758920" y="1426672"/>
                  </a:lnTo>
                  <a:lnTo>
                    <a:pt x="810752" y="1438450"/>
                  </a:lnTo>
                  <a:lnTo>
                    <a:pt x="863671" y="1448782"/>
                  </a:lnTo>
                  <a:lnTo>
                    <a:pt x="917615" y="1457631"/>
                  </a:lnTo>
                  <a:lnTo>
                    <a:pt x="972521" y="1464957"/>
                  </a:lnTo>
                  <a:lnTo>
                    <a:pt x="1028325" y="1470722"/>
                  </a:lnTo>
                  <a:lnTo>
                    <a:pt x="1084966" y="1474887"/>
                  </a:lnTo>
                  <a:lnTo>
                    <a:pt x="1142378" y="1477415"/>
                  </a:lnTo>
                  <a:lnTo>
                    <a:pt x="1200500" y="1478266"/>
                  </a:lnTo>
                  <a:lnTo>
                    <a:pt x="1258746" y="1477415"/>
                  </a:lnTo>
                  <a:lnTo>
                    <a:pt x="1316276" y="1474887"/>
                  </a:lnTo>
                  <a:lnTo>
                    <a:pt x="1373027" y="1470722"/>
                  </a:lnTo>
                  <a:lnTo>
                    <a:pt x="1428934" y="1464957"/>
                  </a:lnTo>
                  <a:lnTo>
                    <a:pt x="1483936" y="1457631"/>
                  </a:lnTo>
                  <a:lnTo>
                    <a:pt x="1537970" y="1448782"/>
                  </a:lnTo>
                  <a:lnTo>
                    <a:pt x="1590972" y="1438450"/>
                  </a:lnTo>
                  <a:lnTo>
                    <a:pt x="1642881" y="1426672"/>
                  </a:lnTo>
                  <a:lnTo>
                    <a:pt x="1693632" y="1413487"/>
                  </a:lnTo>
                  <a:lnTo>
                    <a:pt x="1743163" y="1398933"/>
                  </a:lnTo>
                  <a:lnTo>
                    <a:pt x="1791411" y="1383049"/>
                  </a:lnTo>
                  <a:lnTo>
                    <a:pt x="1838314" y="1365874"/>
                  </a:lnTo>
                  <a:lnTo>
                    <a:pt x="1883808" y="1347445"/>
                  </a:lnTo>
                  <a:lnTo>
                    <a:pt x="1927830" y="1327802"/>
                  </a:lnTo>
                  <a:lnTo>
                    <a:pt x="1970318" y="1306982"/>
                  </a:lnTo>
                  <a:lnTo>
                    <a:pt x="2011209" y="1285025"/>
                  </a:lnTo>
                  <a:lnTo>
                    <a:pt x="2050440" y="1261968"/>
                  </a:lnTo>
                  <a:lnTo>
                    <a:pt x="2087947" y="1237851"/>
                  </a:lnTo>
                  <a:lnTo>
                    <a:pt x="2123669" y="1212711"/>
                  </a:lnTo>
                  <a:lnTo>
                    <a:pt x="2157542" y="1186588"/>
                  </a:lnTo>
                  <a:lnTo>
                    <a:pt x="2189503" y="1159519"/>
                  </a:lnTo>
                  <a:lnTo>
                    <a:pt x="2219489" y="1131543"/>
                  </a:lnTo>
                  <a:lnTo>
                    <a:pt x="2247438" y="1102699"/>
                  </a:lnTo>
                  <a:lnTo>
                    <a:pt x="2273286" y="1073025"/>
                  </a:lnTo>
                  <a:lnTo>
                    <a:pt x="2296972" y="1042560"/>
                  </a:lnTo>
                  <a:lnTo>
                    <a:pt x="2337600" y="979409"/>
                  </a:lnTo>
                  <a:lnTo>
                    <a:pt x="2368822" y="913554"/>
                  </a:lnTo>
                  <a:lnTo>
                    <a:pt x="2390132" y="845302"/>
                  </a:lnTo>
                  <a:lnTo>
                    <a:pt x="2401028" y="774963"/>
                  </a:lnTo>
                  <a:lnTo>
                    <a:pt x="2402414" y="739106"/>
                  </a:lnTo>
                  <a:lnTo>
                    <a:pt x="2401028" y="703269"/>
                  </a:lnTo>
                  <a:lnTo>
                    <a:pt x="2390132" y="632963"/>
                  </a:lnTo>
                  <a:lnTo>
                    <a:pt x="2368822" y="564737"/>
                  </a:lnTo>
                  <a:lnTo>
                    <a:pt x="2337600" y="498901"/>
                  </a:lnTo>
                  <a:lnTo>
                    <a:pt x="2296971" y="435763"/>
                  </a:lnTo>
                  <a:lnTo>
                    <a:pt x="2273286" y="405302"/>
                  </a:lnTo>
                  <a:lnTo>
                    <a:pt x="2247438" y="375631"/>
                  </a:lnTo>
                  <a:lnTo>
                    <a:pt x="2219489" y="346789"/>
                  </a:lnTo>
                  <a:lnTo>
                    <a:pt x="2189503" y="318814"/>
                  </a:lnTo>
                  <a:lnTo>
                    <a:pt x="2157542" y="291745"/>
                  </a:lnTo>
                  <a:lnTo>
                    <a:pt x="2123669" y="265620"/>
                  </a:lnTo>
                  <a:lnTo>
                    <a:pt x="2087947" y="240479"/>
                  </a:lnTo>
                  <a:lnTo>
                    <a:pt x="2050440" y="216359"/>
                  </a:lnTo>
                  <a:lnTo>
                    <a:pt x="2011209" y="193299"/>
                  </a:lnTo>
                  <a:lnTo>
                    <a:pt x="1970318" y="171338"/>
                  </a:lnTo>
                  <a:lnTo>
                    <a:pt x="1927830" y="150514"/>
                  </a:lnTo>
                  <a:lnTo>
                    <a:pt x="1883808" y="130867"/>
                  </a:lnTo>
                  <a:lnTo>
                    <a:pt x="1838314" y="112433"/>
                  </a:lnTo>
                  <a:lnTo>
                    <a:pt x="1791411" y="95253"/>
                  </a:lnTo>
                  <a:lnTo>
                    <a:pt x="1743163" y="79364"/>
                  </a:lnTo>
                  <a:lnTo>
                    <a:pt x="1693632" y="64806"/>
                  </a:lnTo>
                  <a:lnTo>
                    <a:pt x="1642880" y="51616"/>
                  </a:lnTo>
                  <a:lnTo>
                    <a:pt x="1590972" y="39833"/>
                  </a:lnTo>
                  <a:lnTo>
                    <a:pt x="1537970" y="29496"/>
                  </a:lnTo>
                  <a:lnTo>
                    <a:pt x="1483936" y="20644"/>
                  </a:lnTo>
                  <a:lnTo>
                    <a:pt x="1428934" y="13315"/>
                  </a:lnTo>
                  <a:lnTo>
                    <a:pt x="1373026" y="7547"/>
                  </a:lnTo>
                  <a:lnTo>
                    <a:pt x="1316276" y="3380"/>
                  </a:lnTo>
                  <a:lnTo>
                    <a:pt x="1258746" y="851"/>
                  </a:lnTo>
                  <a:lnTo>
                    <a:pt x="1200499" y="0"/>
                  </a:lnTo>
                  <a:lnTo>
                    <a:pt x="1142378" y="851"/>
                  </a:lnTo>
                  <a:lnTo>
                    <a:pt x="1084965" y="3380"/>
                  </a:lnTo>
                  <a:lnTo>
                    <a:pt x="1028325" y="7547"/>
                  </a:lnTo>
                  <a:lnTo>
                    <a:pt x="972521" y="13315"/>
                  </a:lnTo>
                  <a:lnTo>
                    <a:pt x="917615" y="20644"/>
                  </a:lnTo>
                  <a:lnTo>
                    <a:pt x="863671" y="29496"/>
                  </a:lnTo>
                  <a:lnTo>
                    <a:pt x="810751" y="39833"/>
                  </a:lnTo>
                  <a:lnTo>
                    <a:pt x="758920" y="51616"/>
                  </a:lnTo>
                  <a:lnTo>
                    <a:pt x="708240" y="64806"/>
                  </a:lnTo>
                  <a:lnTo>
                    <a:pt x="658774" y="79364"/>
                  </a:lnTo>
                  <a:lnTo>
                    <a:pt x="610586" y="95253"/>
                  </a:lnTo>
                  <a:lnTo>
                    <a:pt x="563738" y="112433"/>
                  </a:lnTo>
                  <a:lnTo>
                    <a:pt x="518293" y="130867"/>
                  </a:lnTo>
                  <a:lnTo>
                    <a:pt x="474316" y="150514"/>
                  </a:lnTo>
                  <a:lnTo>
                    <a:pt x="431868" y="171338"/>
                  </a:lnTo>
                  <a:lnTo>
                    <a:pt x="391013" y="193299"/>
                  </a:lnTo>
                  <a:lnTo>
                    <a:pt x="351815" y="216359"/>
                  </a:lnTo>
                  <a:lnTo>
                    <a:pt x="314335" y="240479"/>
                  </a:lnTo>
                  <a:lnTo>
                    <a:pt x="278639" y="265620"/>
                  </a:lnTo>
                  <a:lnTo>
                    <a:pt x="244787" y="291745"/>
                  </a:lnTo>
                  <a:lnTo>
                    <a:pt x="212845" y="318814"/>
                  </a:lnTo>
                  <a:lnTo>
                    <a:pt x="182874" y="346789"/>
                  </a:lnTo>
                  <a:lnTo>
                    <a:pt x="154938" y="375631"/>
                  </a:lnTo>
                  <a:lnTo>
                    <a:pt x="129100" y="405302"/>
                  </a:lnTo>
                  <a:lnTo>
                    <a:pt x="105423" y="435763"/>
                  </a:lnTo>
                  <a:lnTo>
                    <a:pt x="64805" y="498901"/>
                  </a:lnTo>
                  <a:lnTo>
                    <a:pt x="33590" y="564737"/>
                  </a:lnTo>
                  <a:lnTo>
                    <a:pt x="12281" y="632963"/>
                  </a:lnTo>
                  <a:lnTo>
                    <a:pt x="1385" y="703269"/>
                  </a:lnTo>
                  <a:lnTo>
                    <a:pt x="0" y="739106"/>
                  </a:lnTo>
                  <a:close/>
                </a:path>
              </a:pathLst>
            </a:custGeom>
            <a:ln w="79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710108" y="3120338"/>
            <a:ext cx="185420" cy="215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latin typeface="Times New Roman"/>
                <a:cs typeface="Times New Roman"/>
              </a:rPr>
              <a:t>p4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69022" y="2931536"/>
            <a:ext cx="185420" cy="215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latin typeface="Times New Roman"/>
                <a:cs typeface="Times New Roman"/>
              </a:rPr>
              <a:t>p1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78130" y="3105517"/>
            <a:ext cx="185420" cy="215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latin typeface="Times New Roman"/>
                <a:cs typeface="Times New Roman"/>
              </a:rPr>
              <a:t>p3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65955" y="3390203"/>
            <a:ext cx="184785" cy="215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latin typeface="Times New Roman"/>
                <a:cs typeface="Times New Roman"/>
              </a:rPr>
              <a:t>p</a:t>
            </a:r>
            <a:r>
              <a:rPr sz="1250" spc="-5" dirty="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41915" y="2272816"/>
            <a:ext cx="935990" cy="1290320"/>
          </a:xfrm>
          <a:custGeom>
            <a:avLst/>
            <a:gdLst/>
            <a:ahLst/>
            <a:cxnLst/>
            <a:rect l="l" t="t" r="r" b="b"/>
            <a:pathLst>
              <a:path w="935990" h="1290320">
                <a:moveTo>
                  <a:pt x="0" y="526130"/>
                </a:moveTo>
                <a:lnTo>
                  <a:pt x="0" y="451336"/>
                </a:lnTo>
              </a:path>
              <a:path w="935990" h="1290320">
                <a:moveTo>
                  <a:pt x="0" y="301599"/>
                </a:moveTo>
                <a:lnTo>
                  <a:pt x="752575" y="301599"/>
                </a:lnTo>
              </a:path>
              <a:path w="935990" h="1290320">
                <a:moveTo>
                  <a:pt x="558517" y="680054"/>
                </a:moveTo>
                <a:lnTo>
                  <a:pt x="558517" y="603086"/>
                </a:lnTo>
              </a:path>
              <a:path w="935990" h="1290320">
                <a:moveTo>
                  <a:pt x="558517" y="904635"/>
                </a:moveTo>
                <a:lnTo>
                  <a:pt x="558517" y="680054"/>
                </a:lnTo>
              </a:path>
              <a:path w="935990" h="1290320">
                <a:moveTo>
                  <a:pt x="333347" y="1279028"/>
                </a:moveTo>
                <a:lnTo>
                  <a:pt x="333347" y="904635"/>
                </a:lnTo>
              </a:path>
              <a:path w="935990" h="1290320">
                <a:moveTo>
                  <a:pt x="710733" y="904635"/>
                </a:moveTo>
                <a:lnTo>
                  <a:pt x="333347" y="904635"/>
                </a:lnTo>
              </a:path>
              <a:path w="935990" h="1290320">
                <a:moveTo>
                  <a:pt x="710733" y="904635"/>
                </a:moveTo>
                <a:lnTo>
                  <a:pt x="710734" y="1279028"/>
                </a:lnTo>
              </a:path>
              <a:path w="935990" h="1290320">
                <a:moveTo>
                  <a:pt x="935629" y="1279028"/>
                </a:moveTo>
                <a:lnTo>
                  <a:pt x="935629" y="603086"/>
                </a:lnTo>
              </a:path>
              <a:path w="935990" h="1290320">
                <a:moveTo>
                  <a:pt x="935629" y="603086"/>
                </a:moveTo>
                <a:lnTo>
                  <a:pt x="558517" y="603086"/>
                </a:lnTo>
              </a:path>
              <a:path w="935990" h="1290320">
                <a:moveTo>
                  <a:pt x="752575" y="600898"/>
                </a:moveTo>
                <a:lnTo>
                  <a:pt x="752575" y="301599"/>
                </a:lnTo>
              </a:path>
              <a:path w="935990" h="1290320">
                <a:moveTo>
                  <a:pt x="0" y="301599"/>
                </a:moveTo>
                <a:lnTo>
                  <a:pt x="0" y="1290014"/>
                </a:lnTo>
              </a:path>
              <a:path w="935990" h="1290320">
                <a:moveTo>
                  <a:pt x="375188" y="301599"/>
                </a:moveTo>
                <a:lnTo>
                  <a:pt x="375188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52348" y="3552781"/>
            <a:ext cx="6156325" cy="1223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0"/>
              </a:spcBef>
              <a:tabLst>
                <a:tab pos="332740" algn="l"/>
                <a:tab pos="709930" algn="l"/>
              </a:tabLst>
            </a:pPr>
            <a:r>
              <a:rPr sz="1400" spc="-10" dirty="0">
                <a:latin typeface="Times New Roman"/>
                <a:cs typeface="Times New Roman"/>
              </a:rPr>
              <a:t>p1	p2	p3</a:t>
            </a:r>
            <a:r>
              <a:rPr sz="1400" spc="160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p4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350">
              <a:latin typeface="Times New Roman"/>
              <a:cs typeface="Times New Roman"/>
            </a:endParaRPr>
          </a:p>
          <a:p>
            <a:pPr marL="172720" indent="-160020">
              <a:lnSpc>
                <a:spcPct val="100000"/>
              </a:lnSpc>
              <a:buFont typeface="Arial MT"/>
              <a:buChar char="-"/>
              <a:tabLst>
                <a:tab pos="172720" algn="l"/>
              </a:tabLst>
            </a:pPr>
            <a:r>
              <a:rPr sz="1800" i="1" spc="-5" dirty="0">
                <a:solidFill>
                  <a:srgbClr val="6F2F9F"/>
                </a:solidFill>
                <a:latin typeface="Arial"/>
                <a:cs typeface="Arial"/>
              </a:rPr>
              <a:t>Clústeres</a:t>
            </a:r>
            <a:r>
              <a:rPr sz="1800" i="1" spc="-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6F2F9F"/>
                </a:solidFill>
                <a:latin typeface="Arial"/>
                <a:cs typeface="Arial"/>
              </a:rPr>
              <a:t>planos</a:t>
            </a:r>
            <a:endParaRPr sz="1800">
              <a:latin typeface="Arial"/>
              <a:cs typeface="Arial"/>
            </a:endParaRPr>
          </a:p>
          <a:p>
            <a:pPr marL="394970" lvl="1" indent="-226060">
              <a:lnSpc>
                <a:spcPct val="100000"/>
              </a:lnSpc>
              <a:spcBef>
                <a:spcPts val="395"/>
              </a:spcBef>
              <a:buChar char="•"/>
              <a:tabLst>
                <a:tab pos="394970" algn="l"/>
                <a:tab pos="395605" algn="l"/>
              </a:tabLst>
            </a:pPr>
            <a:r>
              <a:rPr sz="1600" spc="-5" dirty="0">
                <a:latin typeface="Arial MT"/>
                <a:cs typeface="Arial MT"/>
              </a:rPr>
              <a:t>No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existe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dependencias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entre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clústeres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8691" y="5069506"/>
            <a:ext cx="2486348" cy="136970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65005" y="4965260"/>
            <a:ext cx="1891075" cy="1385641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8815705" y="6649742"/>
            <a:ext cx="14732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585858"/>
                </a:solidFill>
                <a:latin typeface="Arial MT"/>
                <a:cs typeface="Arial MT"/>
              </a:rPr>
              <a:t>4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0AC87591-CD39-B630-A4A8-123EDC8C6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" descr="Ingeniería de Sistemas - UNCP">
            <a:extLst>
              <a:ext uri="{FF2B5EF4-FFF2-40B4-BE49-F238E27FC236}">
                <a16:creationId xmlns:a16="http://schemas.microsoft.com/office/drawing/2014/main" id="{C2D9CC83-A3B0-9A07-1F6E-75670FAD8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2769" y="307593"/>
            <a:ext cx="44564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Clasificación</a:t>
            </a:r>
            <a:r>
              <a:rPr spc="-25" dirty="0"/>
              <a:t> </a:t>
            </a:r>
            <a:r>
              <a:rPr spc="-5" dirty="0"/>
              <a:t>de</a:t>
            </a:r>
            <a:r>
              <a:rPr spc="-15" dirty="0"/>
              <a:t> </a:t>
            </a:r>
            <a:r>
              <a:rPr spc="-5" dirty="0"/>
              <a:t>Clústeres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52037"/>
            <a:ext cx="6641465" cy="2235835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450"/>
              </a:spcBef>
              <a:buChar char="•"/>
              <a:tabLst>
                <a:tab pos="20955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Según</a:t>
            </a:r>
            <a:r>
              <a:rPr sz="20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el grado</a:t>
            </a:r>
            <a:r>
              <a:rPr sz="2000" spc="-3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de</a:t>
            </a:r>
            <a:r>
              <a:rPr sz="2000" spc="-1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pertenencia</a:t>
            </a:r>
            <a:r>
              <a:rPr sz="2000" spc="-4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de</a:t>
            </a:r>
            <a:r>
              <a:rPr sz="2000" spc="-2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sus</a:t>
            </a:r>
            <a:r>
              <a:rPr sz="20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elementos</a:t>
            </a:r>
            <a:endParaRPr sz="20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1210"/>
              </a:spcBef>
              <a:buFont typeface="Arial MT"/>
              <a:buChar char="-"/>
              <a:tabLst>
                <a:tab pos="389255" algn="l"/>
              </a:tabLst>
            </a:pPr>
            <a:r>
              <a:rPr sz="1800" i="1" spc="-5" dirty="0">
                <a:solidFill>
                  <a:srgbClr val="6F2F9F"/>
                </a:solidFill>
                <a:latin typeface="Arial"/>
                <a:cs typeface="Arial"/>
              </a:rPr>
              <a:t>Clústeres</a:t>
            </a:r>
            <a:r>
              <a:rPr sz="1800" i="1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6F2F9F"/>
                </a:solidFill>
                <a:latin typeface="Arial"/>
                <a:cs typeface="Arial"/>
              </a:rPr>
              <a:t>duros</a:t>
            </a:r>
            <a:r>
              <a:rPr sz="1800" i="1" spc="1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(“hard</a:t>
            </a:r>
            <a:r>
              <a:rPr sz="1600" spc="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clustering”)</a:t>
            </a:r>
            <a:endParaRPr sz="1600">
              <a:latin typeface="Arial MT"/>
              <a:cs typeface="Arial MT"/>
            </a:endParaRPr>
          </a:p>
          <a:p>
            <a:pPr marL="611505" lvl="2" indent="-226695">
              <a:lnSpc>
                <a:spcPct val="100000"/>
              </a:lnSpc>
              <a:spcBef>
                <a:spcPts val="390"/>
              </a:spcBef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Arial MT"/>
                <a:cs typeface="Arial MT"/>
              </a:rPr>
              <a:t>Cada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instancia pertenece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un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solo</a:t>
            </a:r>
            <a:r>
              <a:rPr sz="1600" spc="-5" dirty="0">
                <a:latin typeface="Arial MT"/>
                <a:cs typeface="Arial MT"/>
              </a:rPr>
              <a:t> clúster</a:t>
            </a:r>
            <a:endParaRPr sz="16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1195"/>
              </a:spcBef>
              <a:buChar char="-"/>
              <a:tabLst>
                <a:tab pos="389255" algn="l"/>
              </a:tabLst>
            </a:pPr>
            <a:r>
              <a:rPr sz="1800" spc="-5" dirty="0">
                <a:solidFill>
                  <a:srgbClr val="6F2F9F"/>
                </a:solidFill>
                <a:latin typeface="Arial MT"/>
                <a:cs typeface="Arial MT"/>
              </a:rPr>
              <a:t>Clústeres blandos</a:t>
            </a:r>
            <a:r>
              <a:rPr sz="1800" spc="25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(“soft</a:t>
            </a:r>
            <a:r>
              <a:rPr sz="1600" spc="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clustering”)</a:t>
            </a:r>
            <a:endParaRPr sz="1600">
              <a:latin typeface="Arial MT"/>
              <a:cs typeface="Arial MT"/>
            </a:endParaRPr>
          </a:p>
          <a:p>
            <a:pPr marL="611505" lvl="2" indent="-226695">
              <a:lnSpc>
                <a:spcPct val="100000"/>
              </a:lnSpc>
              <a:spcBef>
                <a:spcPts val="390"/>
              </a:spcBef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Arial MT"/>
                <a:cs typeface="Arial MT"/>
              </a:rPr>
              <a:t>Las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instancias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tienen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un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“grado</a:t>
            </a:r>
            <a:r>
              <a:rPr sz="1600" spc="3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pertenencia”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(a </a:t>
            </a:r>
            <a:r>
              <a:rPr sz="1400" spc="-5" dirty="0">
                <a:solidFill>
                  <a:srgbClr val="7E7E7E"/>
                </a:solidFill>
                <a:latin typeface="Arial MT"/>
                <a:cs typeface="Arial MT"/>
              </a:rPr>
              <a:t>más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de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un </a:t>
            </a:r>
            <a:r>
              <a:rPr sz="1400" spc="-5" dirty="0">
                <a:solidFill>
                  <a:srgbClr val="7E7E7E"/>
                </a:solidFill>
                <a:latin typeface="Arial MT"/>
                <a:cs typeface="Arial MT"/>
              </a:rPr>
              <a:t>clúster)</a:t>
            </a:r>
            <a:endParaRPr sz="1400">
              <a:latin typeface="Arial MT"/>
              <a:cs typeface="Arial MT"/>
            </a:endParaRPr>
          </a:p>
          <a:p>
            <a:pPr marL="611505" lvl="2" indent="-226695">
              <a:lnSpc>
                <a:spcPct val="100000"/>
              </a:lnSpc>
              <a:spcBef>
                <a:spcPts val="385"/>
              </a:spcBef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Arial MT"/>
                <a:cs typeface="Arial MT"/>
              </a:rPr>
              <a:t>Existe un </a:t>
            </a:r>
            <a:r>
              <a:rPr sz="1600" dirty="0">
                <a:latin typeface="Arial MT"/>
                <a:cs typeface="Arial MT"/>
              </a:rPr>
              <a:t>valor</a:t>
            </a:r>
            <a:r>
              <a:rPr sz="1600" spc="-5" dirty="0">
                <a:latin typeface="Arial MT"/>
                <a:cs typeface="Arial MT"/>
              </a:rPr>
              <a:t> de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membresía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(similar</a:t>
            </a:r>
            <a:r>
              <a:rPr sz="14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14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conjuntos</a:t>
            </a:r>
            <a:r>
              <a:rPr sz="14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difusos)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5497" y="3793235"/>
            <a:ext cx="2736311" cy="25494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7097" y="3537203"/>
            <a:ext cx="2565490" cy="281330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815705" y="6649742"/>
            <a:ext cx="14732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585858"/>
                </a:solidFill>
                <a:latin typeface="Arial MT"/>
                <a:cs typeface="Arial MT"/>
              </a:rPr>
              <a:t>5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3124546-5150-4903-15CC-C00CBC889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066B3846-A6D4-9281-27FD-C3D173409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2892" y="307593"/>
            <a:ext cx="40024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Medidas</a:t>
            </a:r>
            <a:r>
              <a:rPr spc="15" dirty="0"/>
              <a:t> </a:t>
            </a:r>
            <a:r>
              <a:rPr spc="-5" dirty="0"/>
              <a:t>de</a:t>
            </a:r>
            <a:r>
              <a:rPr dirty="0"/>
              <a:t> </a:t>
            </a:r>
            <a:r>
              <a:rPr spc="-5" dirty="0"/>
              <a:t>Proximidad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63035"/>
            <a:ext cx="6897370" cy="196596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75"/>
              </a:spcBef>
              <a:buChar char="•"/>
              <a:tabLst>
                <a:tab pos="209550" algn="l"/>
              </a:tabLst>
            </a:pPr>
            <a:r>
              <a:rPr sz="2000" dirty="0">
                <a:latin typeface="Arial MT"/>
                <a:cs typeface="Arial MT"/>
              </a:rPr>
              <a:t>Estima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cuán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cercanas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lejanas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encuentran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 instancias</a:t>
            </a:r>
            <a:endParaRPr sz="2000">
              <a:latin typeface="Arial MT"/>
              <a:cs typeface="Arial MT"/>
            </a:endParaRPr>
          </a:p>
          <a:p>
            <a:pPr marL="208915" indent="-196850">
              <a:lnSpc>
                <a:spcPct val="100000"/>
              </a:lnSpc>
              <a:spcBef>
                <a:spcPts val="480"/>
              </a:spcBef>
              <a:buChar char="•"/>
              <a:tabLst>
                <a:tab pos="209550" algn="l"/>
              </a:tabLst>
            </a:pPr>
            <a:r>
              <a:rPr sz="2000" spc="-15" dirty="0">
                <a:solidFill>
                  <a:srgbClr val="00AF50"/>
                </a:solidFill>
                <a:latin typeface="Arial MT"/>
                <a:cs typeface="Arial MT"/>
              </a:rPr>
              <a:t>Tipos</a:t>
            </a:r>
            <a:endParaRPr sz="20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Font typeface="Arial MT"/>
              <a:buChar char="-"/>
              <a:tabLst>
                <a:tab pos="389255" algn="l"/>
              </a:tabLst>
            </a:pPr>
            <a:r>
              <a:rPr sz="1800" i="1" spc="-5" dirty="0">
                <a:solidFill>
                  <a:srgbClr val="6F2F9F"/>
                </a:solidFill>
                <a:latin typeface="Arial"/>
                <a:cs typeface="Arial"/>
              </a:rPr>
              <a:t>Medida de</a:t>
            </a:r>
            <a:r>
              <a:rPr sz="1800" i="1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6F2F9F"/>
                </a:solidFill>
                <a:latin typeface="Arial"/>
                <a:cs typeface="Arial"/>
              </a:rPr>
              <a:t>similaridad</a:t>
            </a:r>
            <a:r>
              <a:rPr sz="1800" i="1" spc="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6F2F9F"/>
                </a:solidFill>
                <a:latin typeface="Times New Roman"/>
                <a:cs typeface="Times New Roman"/>
              </a:rPr>
              <a:t>s</a:t>
            </a:r>
            <a:r>
              <a:rPr sz="1800" i="1" spc="40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(homogeneidad)</a:t>
            </a:r>
            <a:endParaRPr sz="1600">
              <a:latin typeface="Arial MT"/>
              <a:cs typeface="Arial MT"/>
            </a:endParaRPr>
          </a:p>
          <a:p>
            <a:pPr marL="611505" lvl="2" indent="-226695">
              <a:lnSpc>
                <a:spcPct val="100000"/>
              </a:lnSpc>
              <a:spcBef>
                <a:spcPts val="405"/>
              </a:spcBef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Arial MT"/>
                <a:cs typeface="Arial MT"/>
              </a:rPr>
              <a:t>Determina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cuánto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 </a:t>
            </a:r>
            <a:r>
              <a:rPr sz="1600" spc="-5" dirty="0">
                <a:latin typeface="Arial MT"/>
                <a:cs typeface="Arial MT"/>
              </a:rPr>
              <a:t>parecen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2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instancias</a:t>
            </a:r>
            <a:endParaRPr sz="1600">
              <a:latin typeface="Arial MT"/>
              <a:cs typeface="Arial MT"/>
            </a:endParaRPr>
          </a:p>
          <a:p>
            <a:pPr marL="611505" lvl="2" indent="-226695">
              <a:lnSpc>
                <a:spcPct val="100000"/>
              </a:lnSpc>
              <a:spcBef>
                <a:spcPts val="370"/>
              </a:spcBef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Arial MT"/>
                <a:cs typeface="Arial MT"/>
              </a:rPr>
              <a:t>Mientras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más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alto</a:t>
            </a:r>
            <a:r>
              <a:rPr sz="1600" dirty="0">
                <a:latin typeface="Arial MT"/>
                <a:cs typeface="Arial MT"/>
              </a:rPr>
              <a:t> sea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s</a:t>
            </a:r>
            <a:r>
              <a:rPr sz="1600" spc="-5" dirty="0">
                <a:latin typeface="Arial MT"/>
                <a:cs typeface="Arial MT"/>
              </a:rPr>
              <a:t>,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más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parecido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existe</a:t>
            </a:r>
            <a:endParaRPr sz="1600">
              <a:latin typeface="Arial MT"/>
              <a:cs typeface="Arial MT"/>
            </a:endParaRPr>
          </a:p>
          <a:p>
            <a:pPr marL="611505" lvl="2" indent="-226695">
              <a:lnSpc>
                <a:spcPct val="100000"/>
              </a:lnSpc>
              <a:spcBef>
                <a:spcPts val="395"/>
              </a:spcBef>
              <a:buChar char="•"/>
              <a:tabLst>
                <a:tab pos="611505" algn="l"/>
                <a:tab pos="612140" algn="l"/>
              </a:tabLst>
            </a:pPr>
            <a:r>
              <a:rPr sz="1600" dirty="0">
                <a:latin typeface="Arial MT"/>
                <a:cs typeface="Arial MT"/>
              </a:rPr>
              <a:t>Ejemplos: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2348" y="4143882"/>
            <a:ext cx="3764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6F2F9F"/>
                </a:solidFill>
                <a:latin typeface="Arial MT"/>
                <a:cs typeface="Arial MT"/>
              </a:rPr>
              <a:t>-</a:t>
            </a:r>
            <a:r>
              <a:rPr sz="1800" spc="150" dirty="0">
                <a:solidFill>
                  <a:srgbClr val="6F2F9F"/>
                </a:solidFill>
                <a:latin typeface="Arial MT"/>
                <a:cs typeface="Arial MT"/>
              </a:rPr>
              <a:t> </a:t>
            </a:r>
            <a:r>
              <a:rPr sz="1800" i="1" spc="-5" dirty="0">
                <a:solidFill>
                  <a:srgbClr val="6F2F9F"/>
                </a:solidFill>
                <a:latin typeface="Arial"/>
                <a:cs typeface="Arial"/>
              </a:rPr>
              <a:t>Medida</a:t>
            </a:r>
            <a:r>
              <a:rPr sz="1800" i="1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6F2F9F"/>
                </a:solidFill>
                <a:latin typeface="Arial"/>
                <a:cs typeface="Arial"/>
              </a:rPr>
              <a:t>de</a:t>
            </a:r>
            <a:r>
              <a:rPr sz="1800" i="1" spc="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6F2F9F"/>
                </a:solidFill>
                <a:latin typeface="Arial"/>
                <a:cs typeface="Arial"/>
              </a:rPr>
              <a:t>disimilaridad</a:t>
            </a:r>
            <a:r>
              <a:rPr sz="1800" i="1" spc="4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6F2F9F"/>
                </a:solidFill>
                <a:latin typeface="Times New Roman"/>
                <a:cs typeface="Times New Roman"/>
              </a:rPr>
              <a:t>d</a:t>
            </a:r>
            <a:r>
              <a:rPr sz="1800" i="1" spc="35" dirty="0">
                <a:solidFill>
                  <a:srgbClr val="6F2F9F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(distancia)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9319" y="4422164"/>
            <a:ext cx="4545330" cy="90170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38125" indent="-226060">
              <a:lnSpc>
                <a:spcPct val="100000"/>
              </a:lnSpc>
              <a:spcBef>
                <a:spcPts val="470"/>
              </a:spcBef>
              <a:buChar char="•"/>
              <a:tabLst>
                <a:tab pos="238125" algn="l"/>
                <a:tab pos="238760" algn="l"/>
              </a:tabLst>
            </a:pPr>
            <a:r>
              <a:rPr sz="1600" spc="-5" dirty="0">
                <a:latin typeface="Arial MT"/>
                <a:cs typeface="Arial MT"/>
              </a:rPr>
              <a:t>Indica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-5" dirty="0">
                <a:latin typeface="Arial MT"/>
                <a:cs typeface="Arial MT"/>
              </a:rPr>
              <a:t> distancia </a:t>
            </a:r>
            <a:r>
              <a:rPr sz="1600" dirty="0">
                <a:latin typeface="Arial MT"/>
                <a:cs typeface="Arial MT"/>
              </a:rPr>
              <a:t>relativa </a:t>
            </a:r>
            <a:r>
              <a:rPr sz="1600" spc="-5" dirty="0">
                <a:latin typeface="Arial MT"/>
                <a:cs typeface="Arial MT"/>
              </a:rPr>
              <a:t>entre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2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instancias</a:t>
            </a:r>
            <a:endParaRPr sz="1600">
              <a:latin typeface="Arial MT"/>
              <a:cs typeface="Arial MT"/>
            </a:endParaRPr>
          </a:p>
          <a:p>
            <a:pPr marL="238125" indent="-226060">
              <a:lnSpc>
                <a:spcPct val="100000"/>
              </a:lnSpc>
              <a:spcBef>
                <a:spcPts val="375"/>
              </a:spcBef>
              <a:buChar char="•"/>
              <a:tabLst>
                <a:tab pos="238125" algn="l"/>
                <a:tab pos="238760" algn="l"/>
              </a:tabLst>
            </a:pPr>
            <a:r>
              <a:rPr sz="1600" spc="-5" dirty="0">
                <a:latin typeface="Arial MT"/>
                <a:cs typeface="Arial MT"/>
              </a:rPr>
              <a:t>Mientras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más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alto </a:t>
            </a:r>
            <a:r>
              <a:rPr sz="1600" dirty="0">
                <a:latin typeface="Arial MT"/>
                <a:cs typeface="Arial MT"/>
              </a:rPr>
              <a:t>sea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d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5" dirty="0">
                <a:latin typeface="Arial MT"/>
                <a:cs typeface="Arial MT"/>
              </a:rPr>
              <a:t> menos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parecido existe</a:t>
            </a:r>
            <a:endParaRPr sz="1600">
              <a:latin typeface="Arial MT"/>
              <a:cs typeface="Arial MT"/>
            </a:endParaRPr>
          </a:p>
          <a:p>
            <a:pPr marL="238125" indent="-226060">
              <a:lnSpc>
                <a:spcPct val="100000"/>
              </a:lnSpc>
              <a:spcBef>
                <a:spcPts val="395"/>
              </a:spcBef>
              <a:buChar char="•"/>
              <a:tabLst>
                <a:tab pos="238125" algn="l"/>
                <a:tab pos="238760" algn="l"/>
              </a:tabLst>
            </a:pPr>
            <a:r>
              <a:rPr sz="1600" spc="-5" dirty="0">
                <a:latin typeface="Arial MT"/>
                <a:cs typeface="Arial MT"/>
              </a:rPr>
              <a:t>Ejemplos: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40478" y="5489854"/>
            <a:ext cx="9207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i="1" spc="15" dirty="0">
                <a:solidFill>
                  <a:srgbClr val="7E7E7E"/>
                </a:solidFill>
                <a:latin typeface="Arial"/>
                <a:cs typeface="Arial"/>
              </a:rPr>
              <a:t>p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06804" y="5367684"/>
            <a:ext cx="412432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dirty="0">
                <a:latin typeface="Arial MT"/>
                <a:cs typeface="Arial MT"/>
              </a:rPr>
              <a:t>–</a:t>
            </a:r>
            <a:r>
              <a:rPr sz="1500" spc="5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Distancia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 </a:t>
            </a:r>
            <a:r>
              <a:rPr sz="1500" spc="-5" dirty="0">
                <a:latin typeface="Arial MT"/>
                <a:cs typeface="Arial MT"/>
              </a:rPr>
              <a:t>Minkownsky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(norma</a:t>
            </a:r>
            <a:r>
              <a:rPr sz="14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i="1" dirty="0">
                <a:solidFill>
                  <a:srgbClr val="7E7E7E"/>
                </a:solidFill>
                <a:latin typeface="Times New Roman"/>
                <a:cs typeface="Times New Roman"/>
              </a:rPr>
              <a:t>L</a:t>
            </a:r>
            <a:r>
              <a:rPr sz="1400" i="1" spc="160" dirty="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Arial MT"/>
                <a:cs typeface="Arial MT"/>
              </a:rPr>
              <a:t>)</a:t>
            </a:r>
            <a:r>
              <a:rPr sz="1500" spc="-5" dirty="0">
                <a:latin typeface="Arial MT"/>
                <a:cs typeface="Arial MT"/>
              </a:rPr>
              <a:t>:</a:t>
            </a:r>
            <a:r>
              <a:rPr sz="1500" spc="350" dirty="0">
                <a:latin typeface="Arial MT"/>
                <a:cs typeface="Arial MT"/>
              </a:rPr>
              <a:t> </a:t>
            </a:r>
            <a:r>
              <a:rPr sz="1550" i="1" spc="15" dirty="0">
                <a:latin typeface="Times New Roman"/>
                <a:cs typeface="Times New Roman"/>
              </a:rPr>
              <a:t>d</a:t>
            </a:r>
            <a:r>
              <a:rPr sz="1550" i="1" spc="-22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Times New Roman"/>
                <a:cs typeface="Times New Roman"/>
              </a:rPr>
              <a:t>(</a:t>
            </a:r>
            <a:r>
              <a:rPr sz="1550" b="1" spc="20" dirty="0">
                <a:latin typeface="Times New Roman"/>
                <a:cs typeface="Times New Roman"/>
              </a:rPr>
              <a:t>x</a:t>
            </a:r>
            <a:r>
              <a:rPr sz="1550" spc="20" dirty="0">
                <a:latin typeface="Times New Roman"/>
                <a:cs typeface="Times New Roman"/>
              </a:rPr>
              <a:t>,</a:t>
            </a:r>
            <a:r>
              <a:rPr sz="1550" spc="-195" dirty="0">
                <a:latin typeface="Times New Roman"/>
                <a:cs typeface="Times New Roman"/>
              </a:rPr>
              <a:t> </a:t>
            </a:r>
            <a:r>
              <a:rPr sz="1550" b="1" spc="40" dirty="0">
                <a:latin typeface="Times New Roman"/>
                <a:cs typeface="Times New Roman"/>
              </a:rPr>
              <a:t>z</a:t>
            </a:r>
            <a:r>
              <a:rPr sz="1550" spc="40" dirty="0">
                <a:latin typeface="Times New Roman"/>
                <a:cs typeface="Times New Roman"/>
              </a:rPr>
              <a:t>)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Symbol"/>
                <a:cs typeface="Symbol"/>
              </a:rPr>
              <a:t>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1404" y="5786563"/>
            <a:ext cx="3796029" cy="264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00" dirty="0">
                <a:latin typeface="Arial MT"/>
                <a:cs typeface="Arial MT"/>
              </a:rPr>
              <a:t>– </a:t>
            </a:r>
            <a:r>
              <a:rPr sz="1500" spc="130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Dis</a:t>
            </a:r>
            <a:r>
              <a:rPr sz="1500" dirty="0">
                <a:latin typeface="Arial MT"/>
                <a:cs typeface="Arial MT"/>
              </a:rPr>
              <a:t>t</a:t>
            </a:r>
            <a:r>
              <a:rPr sz="1500" spc="5" dirty="0">
                <a:latin typeface="Arial MT"/>
                <a:cs typeface="Arial MT"/>
              </a:rPr>
              <a:t>a</a:t>
            </a:r>
            <a:r>
              <a:rPr sz="1500" spc="-5" dirty="0">
                <a:latin typeface="Arial MT"/>
                <a:cs typeface="Arial MT"/>
              </a:rPr>
              <a:t>n</a:t>
            </a:r>
            <a:r>
              <a:rPr sz="1500" dirty="0">
                <a:latin typeface="Arial MT"/>
                <a:cs typeface="Arial MT"/>
              </a:rPr>
              <a:t>c</a:t>
            </a:r>
            <a:r>
              <a:rPr sz="1500" spc="-5" dirty="0">
                <a:latin typeface="Arial MT"/>
                <a:cs typeface="Arial MT"/>
              </a:rPr>
              <a:t>ia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Eu</a:t>
            </a:r>
            <a:r>
              <a:rPr sz="1500" dirty="0">
                <a:latin typeface="Arial MT"/>
                <a:cs typeface="Arial MT"/>
              </a:rPr>
              <a:t>c</a:t>
            </a:r>
            <a:r>
              <a:rPr sz="1500" spc="-5" dirty="0">
                <a:latin typeface="Arial MT"/>
                <a:cs typeface="Arial MT"/>
              </a:rPr>
              <a:t>lideana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(nor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m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a</a:t>
            </a:r>
            <a:r>
              <a:rPr sz="14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i="1" spc="-5" dirty="0">
                <a:solidFill>
                  <a:srgbClr val="7E7E7E"/>
                </a:solidFill>
                <a:latin typeface="Times New Roman"/>
                <a:cs typeface="Times New Roman"/>
              </a:rPr>
              <a:t>L</a:t>
            </a:r>
            <a:r>
              <a:rPr sz="1350" spc="15" baseline="-21604" dirty="0">
                <a:solidFill>
                  <a:srgbClr val="7E7E7E"/>
                </a:solidFill>
                <a:latin typeface="Arial MT"/>
                <a:cs typeface="Arial MT"/>
              </a:rPr>
              <a:t>2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)</a:t>
            </a:r>
            <a:r>
              <a:rPr sz="1500" dirty="0">
                <a:latin typeface="Arial MT"/>
                <a:cs typeface="Arial MT"/>
              </a:rPr>
              <a:t>: </a:t>
            </a:r>
            <a:r>
              <a:rPr sz="1500" spc="-160" dirty="0">
                <a:latin typeface="Arial MT"/>
                <a:cs typeface="Arial MT"/>
              </a:rPr>
              <a:t> </a:t>
            </a:r>
            <a:r>
              <a:rPr sz="2325" i="1" spc="7" baseline="-3584" dirty="0">
                <a:latin typeface="Times New Roman"/>
                <a:cs typeface="Times New Roman"/>
              </a:rPr>
              <a:t>d</a:t>
            </a:r>
            <a:r>
              <a:rPr sz="2325" i="1" spc="-330" baseline="-3584" dirty="0">
                <a:latin typeface="Times New Roman"/>
                <a:cs typeface="Times New Roman"/>
              </a:rPr>
              <a:t> </a:t>
            </a:r>
            <a:r>
              <a:rPr sz="2325" spc="52" baseline="-3584" dirty="0">
                <a:latin typeface="Times New Roman"/>
                <a:cs typeface="Times New Roman"/>
              </a:rPr>
              <a:t>(</a:t>
            </a:r>
            <a:r>
              <a:rPr sz="2325" b="1" baseline="-3584" dirty="0">
                <a:latin typeface="Times New Roman"/>
                <a:cs typeface="Times New Roman"/>
              </a:rPr>
              <a:t>x</a:t>
            </a:r>
            <a:r>
              <a:rPr sz="2325" baseline="-3584" dirty="0">
                <a:latin typeface="Times New Roman"/>
                <a:cs typeface="Times New Roman"/>
              </a:rPr>
              <a:t>,</a:t>
            </a:r>
            <a:r>
              <a:rPr sz="2325" spc="-292" baseline="-3584" dirty="0">
                <a:latin typeface="Times New Roman"/>
                <a:cs typeface="Times New Roman"/>
              </a:rPr>
              <a:t> </a:t>
            </a:r>
            <a:r>
              <a:rPr sz="2325" b="1" spc="97" baseline="-3584" dirty="0">
                <a:latin typeface="Times New Roman"/>
                <a:cs typeface="Times New Roman"/>
              </a:rPr>
              <a:t>z</a:t>
            </a:r>
            <a:r>
              <a:rPr sz="2325" baseline="-3584" dirty="0">
                <a:latin typeface="Times New Roman"/>
                <a:cs typeface="Times New Roman"/>
              </a:rPr>
              <a:t>)</a:t>
            </a:r>
            <a:r>
              <a:rPr sz="2325" spc="-52" baseline="-3584" dirty="0">
                <a:latin typeface="Times New Roman"/>
                <a:cs typeface="Times New Roman"/>
              </a:rPr>
              <a:t> </a:t>
            </a:r>
            <a:r>
              <a:rPr sz="2325" spc="7" baseline="-3584" dirty="0">
                <a:latin typeface="Symbol"/>
                <a:cs typeface="Symbol"/>
              </a:rPr>
              <a:t></a:t>
            </a:r>
            <a:endParaRPr sz="2325" baseline="-3584">
              <a:latin typeface="Symbol"/>
              <a:cs typeface="Symbo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988036" y="5793399"/>
            <a:ext cx="1061720" cy="308610"/>
            <a:chOff x="4988036" y="5793399"/>
            <a:chExt cx="1061720" cy="308610"/>
          </a:xfrm>
        </p:grpSpPr>
        <p:sp>
          <p:nvSpPr>
            <p:cNvPr id="10" name="object 10"/>
            <p:cNvSpPr/>
            <p:nvPr/>
          </p:nvSpPr>
          <p:spPr>
            <a:xfrm>
              <a:off x="4989834" y="5798304"/>
              <a:ext cx="1059180" cy="303530"/>
            </a:xfrm>
            <a:custGeom>
              <a:avLst/>
              <a:gdLst/>
              <a:ahLst/>
              <a:cxnLst/>
              <a:rect l="l" t="t" r="r" b="b"/>
              <a:pathLst>
                <a:path w="1059179" h="303529">
                  <a:moveTo>
                    <a:pt x="0" y="204272"/>
                  </a:moveTo>
                  <a:lnTo>
                    <a:pt x="19611" y="188810"/>
                  </a:lnTo>
                </a:path>
                <a:path w="1059179" h="303529">
                  <a:moveTo>
                    <a:pt x="20126" y="188295"/>
                  </a:moveTo>
                  <a:lnTo>
                    <a:pt x="68095" y="302798"/>
                  </a:lnTo>
                </a:path>
                <a:path w="1059179" h="303529">
                  <a:moveTo>
                    <a:pt x="68095" y="303334"/>
                  </a:moveTo>
                  <a:lnTo>
                    <a:pt x="120719" y="514"/>
                  </a:lnTo>
                </a:path>
                <a:path w="1059179" h="303529">
                  <a:moveTo>
                    <a:pt x="120719" y="0"/>
                  </a:moveTo>
                  <a:lnTo>
                    <a:pt x="1059159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88036" y="5793399"/>
              <a:ext cx="1061720" cy="308610"/>
            </a:xfrm>
            <a:custGeom>
              <a:avLst/>
              <a:gdLst/>
              <a:ahLst/>
              <a:cxnLst/>
              <a:rect l="l" t="t" r="r" b="b"/>
              <a:pathLst>
                <a:path w="1061720" h="308610">
                  <a:moveTo>
                    <a:pt x="1061239" y="0"/>
                  </a:moveTo>
                  <a:lnTo>
                    <a:pt x="118649" y="0"/>
                  </a:lnTo>
                  <a:lnTo>
                    <a:pt x="69630" y="281153"/>
                  </a:lnTo>
                  <a:lnTo>
                    <a:pt x="27327" y="185207"/>
                  </a:lnTo>
                  <a:lnTo>
                    <a:pt x="0" y="206362"/>
                  </a:lnTo>
                  <a:lnTo>
                    <a:pt x="3615" y="211499"/>
                  </a:lnTo>
                  <a:lnTo>
                    <a:pt x="16511" y="201204"/>
                  </a:lnTo>
                  <a:lnTo>
                    <a:pt x="64995" y="307983"/>
                  </a:lnTo>
                  <a:lnTo>
                    <a:pt x="74811" y="307983"/>
                  </a:lnTo>
                  <a:lnTo>
                    <a:pt x="126394" y="9810"/>
                  </a:lnTo>
                  <a:lnTo>
                    <a:pt x="1061239" y="9810"/>
                  </a:lnTo>
                  <a:lnTo>
                    <a:pt x="10612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950919" y="5796403"/>
            <a:ext cx="83185" cy="163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Times New Roman"/>
                <a:cs typeface="Times New Roman"/>
              </a:rPr>
              <a:t>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14670" y="5801349"/>
            <a:ext cx="680720" cy="264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550" spc="25" dirty="0">
                <a:latin typeface="Times New Roman"/>
                <a:cs typeface="Times New Roman"/>
              </a:rPr>
              <a:t>(</a:t>
            </a:r>
            <a:r>
              <a:rPr sz="1550" i="1" spc="25" dirty="0">
                <a:latin typeface="Times New Roman"/>
                <a:cs typeface="Times New Roman"/>
              </a:rPr>
              <a:t>x</a:t>
            </a:r>
            <a:r>
              <a:rPr sz="1350" i="1" spc="37" baseline="-24691" dirty="0">
                <a:latin typeface="Times New Roman"/>
                <a:cs typeface="Times New Roman"/>
              </a:rPr>
              <a:t>i</a:t>
            </a:r>
            <a:r>
              <a:rPr sz="1350" i="1" spc="277" baseline="-24691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Symbol"/>
                <a:cs typeface="Symbol"/>
              </a:rPr>
              <a:t>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i="1" dirty="0">
                <a:latin typeface="Times New Roman"/>
                <a:cs typeface="Times New Roman"/>
              </a:rPr>
              <a:t>z</a:t>
            </a:r>
            <a:r>
              <a:rPr sz="1350" i="1" baseline="-24691" dirty="0">
                <a:latin typeface="Times New Roman"/>
                <a:cs typeface="Times New Roman"/>
              </a:rPr>
              <a:t>i</a:t>
            </a:r>
            <a:r>
              <a:rPr sz="1350" i="1" spc="-60" baseline="-24691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04831" y="5747449"/>
            <a:ext cx="238125" cy="382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50" spc="-5" dirty="0">
                <a:latin typeface="Symbol"/>
                <a:cs typeface="Symbol"/>
              </a:rPr>
              <a:t>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419182" y="6273728"/>
            <a:ext cx="0" cy="231775"/>
          </a:xfrm>
          <a:custGeom>
            <a:avLst/>
            <a:gdLst/>
            <a:ahLst/>
            <a:cxnLst/>
            <a:rect l="l" t="t" r="r" b="b"/>
            <a:pathLst>
              <a:path h="231775">
                <a:moveTo>
                  <a:pt x="0" y="0"/>
                </a:moveTo>
                <a:lnTo>
                  <a:pt x="0" y="231215"/>
                </a:lnTo>
              </a:path>
            </a:pathLst>
          </a:custGeom>
          <a:ln w="96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15645" y="6273728"/>
            <a:ext cx="0" cy="231775"/>
          </a:xfrm>
          <a:custGeom>
            <a:avLst/>
            <a:gdLst/>
            <a:ahLst/>
            <a:cxnLst/>
            <a:rect l="l" t="t" r="r" b="b"/>
            <a:pathLst>
              <a:path h="231775">
                <a:moveTo>
                  <a:pt x="0" y="0"/>
                </a:moveTo>
                <a:lnTo>
                  <a:pt x="0" y="231215"/>
                </a:lnTo>
              </a:path>
            </a:pathLst>
          </a:custGeom>
          <a:ln w="961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81404" y="6111407"/>
            <a:ext cx="4732655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500" dirty="0">
                <a:latin typeface="Arial MT"/>
                <a:cs typeface="Arial MT"/>
              </a:rPr>
              <a:t>–</a:t>
            </a:r>
            <a:r>
              <a:rPr sz="1500" spc="5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Distancia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de Manhattan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(norma</a:t>
            </a:r>
            <a:r>
              <a:rPr sz="14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i="1" dirty="0">
                <a:solidFill>
                  <a:srgbClr val="7E7E7E"/>
                </a:solidFill>
                <a:latin typeface="Times New Roman"/>
                <a:cs typeface="Times New Roman"/>
              </a:rPr>
              <a:t>L</a:t>
            </a:r>
            <a:r>
              <a:rPr sz="1350" baseline="-21604" dirty="0">
                <a:solidFill>
                  <a:srgbClr val="7E7E7E"/>
                </a:solidFill>
                <a:latin typeface="Arial MT"/>
                <a:cs typeface="Arial MT"/>
              </a:rPr>
              <a:t>1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)</a:t>
            </a:r>
            <a:r>
              <a:rPr sz="1500" dirty="0">
                <a:latin typeface="Arial MT"/>
                <a:cs typeface="Arial MT"/>
              </a:rPr>
              <a:t>:</a:t>
            </a:r>
            <a:r>
              <a:rPr sz="1500" spc="160" dirty="0">
                <a:latin typeface="Arial MT"/>
                <a:cs typeface="Arial MT"/>
              </a:rPr>
              <a:t> </a:t>
            </a:r>
            <a:r>
              <a:rPr sz="2250" i="1" spc="22" baseline="-5555" dirty="0">
                <a:latin typeface="Times New Roman"/>
                <a:cs typeface="Times New Roman"/>
              </a:rPr>
              <a:t>d</a:t>
            </a:r>
            <a:r>
              <a:rPr sz="2250" i="1" spc="-322" baseline="-5555" dirty="0">
                <a:latin typeface="Times New Roman"/>
                <a:cs typeface="Times New Roman"/>
              </a:rPr>
              <a:t> </a:t>
            </a:r>
            <a:r>
              <a:rPr sz="2250" spc="30" baseline="-5555" dirty="0">
                <a:latin typeface="Times New Roman"/>
                <a:cs typeface="Times New Roman"/>
              </a:rPr>
              <a:t>(</a:t>
            </a:r>
            <a:r>
              <a:rPr sz="2250" b="1" spc="30" baseline="-5555" dirty="0">
                <a:latin typeface="Times New Roman"/>
                <a:cs typeface="Times New Roman"/>
              </a:rPr>
              <a:t>x</a:t>
            </a:r>
            <a:r>
              <a:rPr sz="2250" spc="30" baseline="-5555" dirty="0">
                <a:latin typeface="Times New Roman"/>
                <a:cs typeface="Times New Roman"/>
              </a:rPr>
              <a:t>,</a:t>
            </a:r>
            <a:r>
              <a:rPr sz="2250" spc="-284" baseline="-5555" dirty="0">
                <a:latin typeface="Times New Roman"/>
                <a:cs typeface="Times New Roman"/>
              </a:rPr>
              <a:t> </a:t>
            </a:r>
            <a:r>
              <a:rPr sz="2250" b="1" spc="60" baseline="-5555" dirty="0">
                <a:latin typeface="Times New Roman"/>
                <a:cs typeface="Times New Roman"/>
              </a:rPr>
              <a:t>z</a:t>
            </a:r>
            <a:r>
              <a:rPr sz="2250" spc="60" baseline="-5555" dirty="0">
                <a:latin typeface="Times New Roman"/>
                <a:cs typeface="Times New Roman"/>
              </a:rPr>
              <a:t>)</a:t>
            </a:r>
            <a:r>
              <a:rPr sz="2250" spc="-44" baseline="-5555" dirty="0">
                <a:latin typeface="Times New Roman"/>
                <a:cs typeface="Times New Roman"/>
              </a:rPr>
              <a:t> </a:t>
            </a:r>
            <a:r>
              <a:rPr sz="2250" spc="22" baseline="-5555" dirty="0">
                <a:latin typeface="Symbol"/>
                <a:cs typeface="Symbol"/>
              </a:rPr>
              <a:t></a:t>
            </a:r>
            <a:r>
              <a:rPr sz="2250" spc="-52" baseline="-5555" dirty="0">
                <a:latin typeface="Times New Roman"/>
                <a:cs typeface="Times New Roman"/>
              </a:rPr>
              <a:t> </a:t>
            </a:r>
            <a:r>
              <a:rPr sz="3450" baseline="-12077" dirty="0">
                <a:latin typeface="Symbol"/>
                <a:cs typeface="Symbol"/>
              </a:rPr>
              <a:t></a:t>
            </a:r>
            <a:r>
              <a:rPr sz="3450" spc="-89" baseline="-12077" dirty="0">
                <a:latin typeface="Times New Roman"/>
                <a:cs typeface="Times New Roman"/>
              </a:rPr>
              <a:t> </a:t>
            </a:r>
            <a:r>
              <a:rPr sz="2250" i="1" spc="-15" baseline="-5555" dirty="0">
                <a:latin typeface="Times New Roman"/>
                <a:cs typeface="Times New Roman"/>
              </a:rPr>
              <a:t>x</a:t>
            </a:r>
            <a:r>
              <a:rPr sz="1275" i="1" spc="-15" baseline="-35947" dirty="0">
                <a:latin typeface="Times New Roman"/>
                <a:cs typeface="Times New Roman"/>
              </a:rPr>
              <a:t>i</a:t>
            </a:r>
            <a:r>
              <a:rPr sz="1275" i="1" spc="337" baseline="-35947" dirty="0">
                <a:latin typeface="Times New Roman"/>
                <a:cs typeface="Times New Roman"/>
              </a:rPr>
              <a:t> </a:t>
            </a:r>
            <a:r>
              <a:rPr sz="2250" spc="22" baseline="-5555" dirty="0">
                <a:latin typeface="Symbol"/>
                <a:cs typeface="Symbol"/>
              </a:rPr>
              <a:t></a:t>
            </a:r>
            <a:r>
              <a:rPr sz="2250" spc="-75" baseline="-5555" dirty="0">
                <a:latin typeface="Times New Roman"/>
                <a:cs typeface="Times New Roman"/>
              </a:rPr>
              <a:t> </a:t>
            </a:r>
            <a:r>
              <a:rPr sz="2250" i="1" spc="7" baseline="-5555" dirty="0">
                <a:latin typeface="Times New Roman"/>
                <a:cs typeface="Times New Roman"/>
              </a:rPr>
              <a:t>z</a:t>
            </a:r>
            <a:r>
              <a:rPr sz="1275" i="1" spc="7" baseline="-35947" dirty="0">
                <a:latin typeface="Times New Roman"/>
                <a:cs typeface="Times New Roman"/>
              </a:rPr>
              <a:t>i</a:t>
            </a:r>
            <a:endParaRPr sz="1275" baseline="-35947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688463" y="5412210"/>
            <a:ext cx="0" cy="238125"/>
          </a:xfrm>
          <a:custGeom>
            <a:avLst/>
            <a:gdLst/>
            <a:ahLst/>
            <a:cxnLst/>
            <a:rect l="l" t="t" r="r" b="b"/>
            <a:pathLst>
              <a:path h="238125">
                <a:moveTo>
                  <a:pt x="0" y="0"/>
                </a:moveTo>
                <a:lnTo>
                  <a:pt x="0" y="238079"/>
                </a:lnTo>
              </a:path>
            </a:pathLst>
          </a:custGeom>
          <a:ln w="99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200816" y="5412210"/>
            <a:ext cx="0" cy="238125"/>
          </a:xfrm>
          <a:custGeom>
            <a:avLst/>
            <a:gdLst/>
            <a:ahLst/>
            <a:cxnLst/>
            <a:rect l="l" t="t" r="r" b="b"/>
            <a:pathLst>
              <a:path h="238125">
                <a:moveTo>
                  <a:pt x="0" y="0"/>
                </a:moveTo>
                <a:lnTo>
                  <a:pt x="0" y="238079"/>
                </a:lnTo>
              </a:path>
            </a:pathLst>
          </a:custGeom>
          <a:ln w="991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198769" y="5006447"/>
            <a:ext cx="400685" cy="488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350" i="1" spc="7" baseline="-27777" dirty="0">
                <a:latin typeface="Times New Roman"/>
                <a:cs typeface="Times New Roman"/>
              </a:rPr>
              <a:t>p</a:t>
            </a:r>
            <a:r>
              <a:rPr sz="1350" i="1" spc="89" baseline="-27777" dirty="0">
                <a:latin typeface="Times New Roman"/>
                <a:cs typeface="Times New Roman"/>
              </a:rPr>
              <a:t> </a:t>
            </a:r>
            <a:r>
              <a:rPr sz="4500" spc="-817" baseline="-32407" dirty="0">
                <a:latin typeface="Symbol"/>
                <a:cs typeface="Symbol"/>
              </a:rPr>
              <a:t></a:t>
            </a:r>
            <a:r>
              <a:rPr sz="900" spc="-15" dirty="0">
                <a:latin typeface="Times New Roman"/>
                <a:cs typeface="Times New Roman"/>
              </a:rPr>
              <a:t>1</a:t>
            </a:r>
            <a:r>
              <a:rPr sz="900" dirty="0">
                <a:latin typeface="Times New Roman"/>
                <a:cs typeface="Times New Roman"/>
              </a:rPr>
              <a:t>/</a:t>
            </a:r>
            <a:r>
              <a:rPr sz="900" spc="-30" dirty="0">
                <a:latin typeface="Times New Roman"/>
                <a:cs typeface="Times New Roman"/>
              </a:rPr>
              <a:t> </a:t>
            </a:r>
            <a:r>
              <a:rPr sz="900" i="1" spc="5" dirty="0">
                <a:latin typeface="Times New Roman"/>
                <a:cs typeface="Times New Roman"/>
              </a:rPr>
              <a:t>p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09716" y="5367684"/>
            <a:ext cx="43116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i="1" spc="15" dirty="0">
                <a:latin typeface="Times New Roman"/>
                <a:cs typeface="Times New Roman"/>
              </a:rPr>
              <a:t>x</a:t>
            </a:r>
            <a:r>
              <a:rPr sz="1550" i="1" spc="21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Symbol"/>
                <a:cs typeface="Symbol"/>
              </a:rPr>
              <a:t></a:t>
            </a:r>
            <a:r>
              <a:rPr sz="1550" spc="-80" dirty="0">
                <a:latin typeface="Times New Roman"/>
                <a:cs typeface="Times New Roman"/>
              </a:rPr>
              <a:t> </a:t>
            </a:r>
            <a:r>
              <a:rPr sz="1550" i="1" spc="10" dirty="0">
                <a:latin typeface="Times New Roman"/>
                <a:cs typeface="Times New Roman"/>
              </a:rPr>
              <a:t>z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45659" y="5234595"/>
            <a:ext cx="826769" cy="4889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59740" algn="l"/>
                <a:tab pos="781050" algn="l"/>
              </a:tabLst>
            </a:pPr>
            <a:r>
              <a:rPr sz="3000" spc="-365" dirty="0">
                <a:latin typeface="Symbol"/>
                <a:cs typeface="Symbol"/>
              </a:rPr>
              <a:t></a:t>
            </a:r>
            <a:r>
              <a:rPr sz="3525" spc="22" baseline="1182" dirty="0">
                <a:latin typeface="Symbol"/>
                <a:cs typeface="Symbol"/>
              </a:rPr>
              <a:t></a:t>
            </a:r>
            <a:r>
              <a:rPr sz="3525" baseline="1182" dirty="0">
                <a:latin typeface="Times New Roman"/>
                <a:cs typeface="Times New Roman"/>
              </a:rPr>
              <a:t>	</a:t>
            </a:r>
            <a:r>
              <a:rPr sz="900" i="1" dirty="0">
                <a:latin typeface="Times New Roman"/>
                <a:cs typeface="Times New Roman"/>
              </a:rPr>
              <a:t>i	i</a:t>
            </a:r>
            <a:endParaRPr sz="9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312173" y="3494344"/>
            <a:ext cx="1021080" cy="342265"/>
            <a:chOff x="2312173" y="3494344"/>
            <a:chExt cx="1021080" cy="342265"/>
          </a:xfrm>
        </p:grpSpPr>
        <p:sp>
          <p:nvSpPr>
            <p:cNvPr id="24" name="object 24"/>
            <p:cNvSpPr/>
            <p:nvPr/>
          </p:nvSpPr>
          <p:spPr>
            <a:xfrm>
              <a:off x="2329617" y="3529289"/>
              <a:ext cx="988060" cy="307340"/>
            </a:xfrm>
            <a:custGeom>
              <a:avLst/>
              <a:gdLst/>
              <a:ahLst/>
              <a:cxnLst/>
              <a:rect l="l" t="t" r="r" b="b"/>
              <a:pathLst>
                <a:path w="988060" h="307339">
                  <a:moveTo>
                    <a:pt x="0" y="206579"/>
                  </a:moveTo>
                  <a:lnTo>
                    <a:pt x="19778" y="190923"/>
                  </a:lnTo>
                </a:path>
                <a:path w="988060" h="307339">
                  <a:moveTo>
                    <a:pt x="20319" y="190403"/>
                  </a:moveTo>
                  <a:lnTo>
                    <a:pt x="68746" y="306213"/>
                  </a:lnTo>
                </a:path>
                <a:path w="988060" h="307339">
                  <a:moveTo>
                    <a:pt x="68746" y="306755"/>
                  </a:moveTo>
                  <a:lnTo>
                    <a:pt x="121873" y="520"/>
                  </a:lnTo>
                </a:path>
                <a:path w="988060" h="307339">
                  <a:moveTo>
                    <a:pt x="121873" y="0"/>
                  </a:moveTo>
                  <a:lnTo>
                    <a:pt x="98744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327782" y="3524329"/>
              <a:ext cx="989965" cy="311785"/>
            </a:xfrm>
            <a:custGeom>
              <a:avLst/>
              <a:gdLst/>
              <a:ahLst/>
              <a:cxnLst/>
              <a:rect l="l" t="t" r="r" b="b"/>
              <a:pathLst>
                <a:path w="989964" h="311785">
                  <a:moveTo>
                    <a:pt x="989565" y="0"/>
                  </a:moveTo>
                  <a:lnTo>
                    <a:pt x="119803" y="0"/>
                  </a:lnTo>
                  <a:lnTo>
                    <a:pt x="70316" y="284326"/>
                  </a:lnTo>
                  <a:lnTo>
                    <a:pt x="27618" y="187280"/>
                  </a:lnTo>
                  <a:lnTo>
                    <a:pt x="0" y="208672"/>
                  </a:lnTo>
                  <a:lnTo>
                    <a:pt x="3649" y="213887"/>
                  </a:lnTo>
                  <a:lnTo>
                    <a:pt x="16669" y="203456"/>
                  </a:lnTo>
                  <a:lnTo>
                    <a:pt x="65636" y="311456"/>
                  </a:lnTo>
                  <a:lnTo>
                    <a:pt x="75526" y="311456"/>
                  </a:lnTo>
                  <a:lnTo>
                    <a:pt x="127623" y="9920"/>
                  </a:lnTo>
                  <a:lnTo>
                    <a:pt x="989565" y="9920"/>
                  </a:lnTo>
                  <a:lnTo>
                    <a:pt x="9895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12173" y="3499293"/>
              <a:ext cx="1021080" cy="0"/>
            </a:xfrm>
            <a:custGeom>
              <a:avLst/>
              <a:gdLst/>
              <a:ahLst/>
              <a:cxnLst/>
              <a:rect l="l" t="t" r="r" b="b"/>
              <a:pathLst>
                <a:path w="1021079">
                  <a:moveTo>
                    <a:pt x="0" y="0"/>
                  </a:moveTo>
                  <a:lnTo>
                    <a:pt x="1020783" y="0"/>
                  </a:lnTo>
                </a:path>
              </a:pathLst>
            </a:custGeom>
            <a:ln w="98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670401" y="3442768"/>
            <a:ext cx="65659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467995" algn="l"/>
              </a:tabLst>
            </a:pPr>
            <a:r>
              <a:rPr sz="2325" i="1" spc="60" baseline="-25089" dirty="0">
                <a:latin typeface="Times New Roman"/>
                <a:cs typeface="Times New Roman"/>
              </a:rPr>
              <a:t>x</a:t>
            </a:r>
            <a:r>
              <a:rPr sz="900" spc="40" dirty="0">
                <a:latin typeface="Times New Roman"/>
                <a:cs typeface="Times New Roman"/>
              </a:rPr>
              <a:t>2	</a:t>
            </a:r>
            <a:r>
              <a:rPr sz="2325" i="1" spc="89" baseline="-25089" dirty="0">
                <a:latin typeface="Times New Roman"/>
                <a:cs typeface="Times New Roman"/>
              </a:rPr>
              <a:t>z</a:t>
            </a:r>
            <a:r>
              <a:rPr sz="900" spc="60" dirty="0">
                <a:latin typeface="Times New Roman"/>
                <a:cs typeface="Times New Roman"/>
              </a:rPr>
              <a:t>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99499" y="3335820"/>
            <a:ext cx="67627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i="1" spc="55" dirty="0">
                <a:latin typeface="Times New Roman"/>
                <a:cs typeface="Times New Roman"/>
              </a:rPr>
              <a:t>s</a:t>
            </a:r>
            <a:r>
              <a:rPr sz="1550" spc="40" dirty="0">
                <a:latin typeface="Times New Roman"/>
                <a:cs typeface="Times New Roman"/>
              </a:rPr>
              <a:t>(</a:t>
            </a:r>
            <a:r>
              <a:rPr sz="1550" b="1" spc="5" dirty="0">
                <a:latin typeface="Times New Roman"/>
                <a:cs typeface="Times New Roman"/>
              </a:rPr>
              <a:t>x</a:t>
            </a:r>
            <a:r>
              <a:rPr sz="1550" spc="5" dirty="0">
                <a:latin typeface="Times New Roman"/>
                <a:cs typeface="Times New Roman"/>
              </a:rPr>
              <a:t>,</a:t>
            </a:r>
            <a:r>
              <a:rPr sz="1550" spc="-195" dirty="0">
                <a:latin typeface="Times New Roman"/>
                <a:cs typeface="Times New Roman"/>
              </a:rPr>
              <a:t> </a:t>
            </a:r>
            <a:r>
              <a:rPr sz="1550" b="1" spc="70" dirty="0">
                <a:latin typeface="Times New Roman"/>
                <a:cs typeface="Times New Roman"/>
              </a:rPr>
              <a:t>z</a:t>
            </a:r>
            <a:r>
              <a:rPr sz="1550" spc="5" dirty="0">
                <a:latin typeface="Times New Roman"/>
                <a:cs typeface="Times New Roman"/>
              </a:rPr>
              <a:t>)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Symbol"/>
                <a:cs typeface="Symbol"/>
              </a:rPr>
              <a:t>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24579" y="3137823"/>
            <a:ext cx="574675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525" spc="15" baseline="1182" dirty="0">
                <a:latin typeface="Symbol"/>
                <a:cs typeface="Symbol"/>
              </a:rPr>
              <a:t></a:t>
            </a:r>
            <a:r>
              <a:rPr sz="3525" spc="-465" baseline="1182" dirty="0">
                <a:latin typeface="Times New Roman"/>
                <a:cs typeface="Times New Roman"/>
              </a:rPr>
              <a:t> </a:t>
            </a:r>
            <a:r>
              <a:rPr sz="2325" i="1" spc="-60" baseline="14336" dirty="0">
                <a:latin typeface="Times New Roman"/>
                <a:cs typeface="Times New Roman"/>
              </a:rPr>
              <a:t>x</a:t>
            </a:r>
            <a:r>
              <a:rPr sz="900" i="1" dirty="0">
                <a:latin typeface="Times New Roman"/>
                <a:cs typeface="Times New Roman"/>
              </a:rPr>
              <a:t>i</a:t>
            </a:r>
            <a:r>
              <a:rPr sz="900" i="1" spc="-45" dirty="0">
                <a:latin typeface="Times New Roman"/>
                <a:cs typeface="Times New Roman"/>
              </a:rPr>
              <a:t> </a:t>
            </a:r>
            <a:r>
              <a:rPr sz="2325" i="1" spc="7" baseline="14336" dirty="0">
                <a:latin typeface="Times New Roman"/>
                <a:cs typeface="Times New Roman"/>
              </a:rPr>
              <a:t>z</a:t>
            </a:r>
            <a:r>
              <a:rPr sz="900" i="1" dirty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45815" y="3483718"/>
            <a:ext cx="815975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25" spc="15" baseline="1182" dirty="0">
                <a:latin typeface="Symbol"/>
                <a:cs typeface="Symbol"/>
              </a:rPr>
              <a:t></a:t>
            </a:r>
            <a:r>
              <a:rPr sz="3525" spc="472" baseline="1182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i</a:t>
            </a:r>
            <a:r>
              <a:rPr sz="900" i="1" spc="260" dirty="0">
                <a:latin typeface="Times New Roman"/>
                <a:cs typeface="Times New Roman"/>
              </a:rPr>
              <a:t> </a:t>
            </a:r>
            <a:r>
              <a:rPr sz="3525" spc="15" baseline="1182" dirty="0">
                <a:latin typeface="Symbol"/>
                <a:cs typeface="Symbol"/>
              </a:rPr>
              <a:t></a:t>
            </a:r>
            <a:r>
              <a:rPr sz="3525" spc="405" baseline="1182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915170" y="3506780"/>
            <a:ext cx="1743710" cy="0"/>
          </a:xfrm>
          <a:custGeom>
            <a:avLst/>
            <a:gdLst/>
            <a:ahLst/>
            <a:cxnLst/>
            <a:rect l="l" t="t" r="r" b="b"/>
            <a:pathLst>
              <a:path w="1743709">
                <a:moveTo>
                  <a:pt x="0" y="0"/>
                </a:moveTo>
                <a:lnTo>
                  <a:pt x="1743237" y="0"/>
                </a:lnTo>
              </a:path>
            </a:pathLst>
          </a:custGeom>
          <a:ln w="98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261956" y="3494814"/>
            <a:ext cx="682625" cy="165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611505" algn="l"/>
              </a:tabLst>
            </a:pPr>
            <a:r>
              <a:rPr sz="900" spc="5" dirty="0">
                <a:latin typeface="Times New Roman"/>
                <a:cs typeface="Times New Roman"/>
              </a:rPr>
              <a:t>2	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815705" y="6649742"/>
            <a:ext cx="14732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585858"/>
                </a:solidFill>
                <a:latin typeface="Arial MT"/>
                <a:cs typeface="Arial MT"/>
              </a:rPr>
              <a:t>6</a:t>
            </a:fld>
            <a:endParaRPr sz="10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202232" y="3343405"/>
            <a:ext cx="67691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i="1" spc="55" dirty="0">
                <a:latin typeface="Times New Roman"/>
                <a:cs typeface="Times New Roman"/>
              </a:rPr>
              <a:t>s</a:t>
            </a:r>
            <a:r>
              <a:rPr sz="1550" spc="45" dirty="0">
                <a:latin typeface="Times New Roman"/>
                <a:cs typeface="Times New Roman"/>
              </a:rPr>
              <a:t>(</a:t>
            </a:r>
            <a:r>
              <a:rPr sz="1550" b="1" spc="10" dirty="0">
                <a:latin typeface="Times New Roman"/>
                <a:cs typeface="Times New Roman"/>
              </a:rPr>
              <a:t>x</a:t>
            </a:r>
            <a:r>
              <a:rPr sz="1550" spc="5" dirty="0">
                <a:latin typeface="Times New Roman"/>
                <a:cs typeface="Times New Roman"/>
              </a:rPr>
              <a:t>,</a:t>
            </a:r>
            <a:r>
              <a:rPr sz="1550" spc="-195" dirty="0">
                <a:latin typeface="Times New Roman"/>
                <a:cs typeface="Times New Roman"/>
              </a:rPr>
              <a:t> </a:t>
            </a:r>
            <a:r>
              <a:rPr sz="1550" b="1" spc="70" dirty="0">
                <a:latin typeface="Times New Roman"/>
                <a:cs typeface="Times New Roman"/>
              </a:rPr>
              <a:t>z</a:t>
            </a:r>
            <a:r>
              <a:rPr sz="1550" spc="10" dirty="0">
                <a:latin typeface="Times New Roman"/>
                <a:cs typeface="Times New Roman"/>
              </a:rPr>
              <a:t>)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Symbol"/>
                <a:cs typeface="Symbol"/>
              </a:rPr>
              <a:t></a:t>
            </a:r>
            <a:endParaRPr sz="1550">
              <a:latin typeface="Symbol"/>
              <a:cs typeface="Symbo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163487" y="3499843"/>
            <a:ext cx="144272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17220" algn="l"/>
                <a:tab pos="1213485" algn="l"/>
              </a:tabLst>
            </a:pPr>
            <a:r>
              <a:rPr sz="1550" i="1" spc="10" dirty="0">
                <a:latin typeface="Times New Roman"/>
                <a:cs typeface="Times New Roman"/>
              </a:rPr>
              <a:t>x </a:t>
            </a:r>
            <a:r>
              <a:rPr sz="1550" i="1" spc="16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Symbol"/>
                <a:cs typeface="Symbol"/>
              </a:rPr>
              <a:t></a:t>
            </a:r>
            <a:r>
              <a:rPr sz="1550" spc="15" dirty="0">
                <a:latin typeface="Times New Roman"/>
                <a:cs typeface="Times New Roman"/>
              </a:rPr>
              <a:t>	</a:t>
            </a:r>
            <a:r>
              <a:rPr sz="1550" i="1" spc="10" dirty="0">
                <a:latin typeface="Times New Roman"/>
                <a:cs typeface="Times New Roman"/>
              </a:rPr>
              <a:t>z </a:t>
            </a:r>
            <a:r>
              <a:rPr sz="1550" i="1" spc="204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Symbol"/>
                <a:cs typeface="Symbol"/>
              </a:rPr>
              <a:t></a:t>
            </a:r>
            <a:r>
              <a:rPr sz="1550" spc="15" dirty="0">
                <a:latin typeface="Times New Roman"/>
                <a:cs typeface="Times New Roman"/>
              </a:rPr>
              <a:t>	</a:t>
            </a:r>
            <a:r>
              <a:rPr sz="1550" i="1" spc="10" dirty="0">
                <a:latin typeface="Times New Roman"/>
                <a:cs typeface="Times New Roman"/>
              </a:rPr>
              <a:t>x</a:t>
            </a:r>
            <a:r>
              <a:rPr sz="1550" i="1" spc="-75" dirty="0">
                <a:latin typeface="Times New Roman"/>
                <a:cs typeface="Times New Roman"/>
              </a:rPr>
              <a:t> </a:t>
            </a:r>
            <a:r>
              <a:rPr sz="1550" i="1" spc="10" dirty="0">
                <a:latin typeface="Times New Roman"/>
                <a:cs typeface="Times New Roman"/>
              </a:rPr>
              <a:t>z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88717" y="3145473"/>
            <a:ext cx="575310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3525" spc="22" baseline="1182" dirty="0">
                <a:latin typeface="Symbol"/>
                <a:cs typeface="Symbol"/>
              </a:rPr>
              <a:t></a:t>
            </a:r>
            <a:r>
              <a:rPr sz="3525" spc="-465" baseline="1182" dirty="0">
                <a:latin typeface="Times New Roman"/>
                <a:cs typeface="Times New Roman"/>
              </a:rPr>
              <a:t> </a:t>
            </a:r>
            <a:r>
              <a:rPr sz="2325" i="1" spc="-60" baseline="14336" dirty="0">
                <a:latin typeface="Times New Roman"/>
                <a:cs typeface="Times New Roman"/>
              </a:rPr>
              <a:t>x</a:t>
            </a:r>
            <a:r>
              <a:rPr sz="900" i="1" dirty="0">
                <a:latin typeface="Times New Roman"/>
                <a:cs typeface="Times New Roman"/>
              </a:rPr>
              <a:t>i</a:t>
            </a:r>
            <a:r>
              <a:rPr sz="900" i="1" spc="-45" dirty="0">
                <a:latin typeface="Times New Roman"/>
                <a:cs typeface="Times New Roman"/>
              </a:rPr>
              <a:t> </a:t>
            </a:r>
            <a:r>
              <a:rPr sz="2325" i="1" spc="7" baseline="14336" dirty="0">
                <a:latin typeface="Times New Roman"/>
                <a:cs typeface="Times New Roman"/>
              </a:rPr>
              <a:t>z</a:t>
            </a:r>
            <a:r>
              <a:rPr sz="900" i="1" dirty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913407" y="3451064"/>
            <a:ext cx="1725295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17220" algn="l"/>
                <a:tab pos="1213485" algn="l"/>
              </a:tabLst>
            </a:pPr>
            <a:r>
              <a:rPr sz="3525" spc="22" baseline="1182" dirty="0">
                <a:latin typeface="Symbol"/>
                <a:cs typeface="Symbol"/>
              </a:rPr>
              <a:t></a:t>
            </a:r>
            <a:r>
              <a:rPr sz="3525" spc="509" baseline="1182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i	</a:t>
            </a:r>
            <a:r>
              <a:rPr sz="3525" spc="22" baseline="1182" dirty="0">
                <a:latin typeface="Symbol"/>
                <a:cs typeface="Symbol"/>
              </a:rPr>
              <a:t></a:t>
            </a:r>
            <a:r>
              <a:rPr sz="3525" spc="457" baseline="1182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i	</a:t>
            </a:r>
            <a:r>
              <a:rPr sz="3525" spc="22" baseline="1182" dirty="0">
                <a:latin typeface="Symbol"/>
                <a:cs typeface="Symbol"/>
              </a:rPr>
              <a:t></a:t>
            </a:r>
            <a:r>
              <a:rPr sz="3525" spc="450" baseline="1182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i  </a:t>
            </a:r>
            <a:r>
              <a:rPr sz="900" i="1" spc="75" dirty="0">
                <a:latin typeface="Times New Roman"/>
                <a:cs typeface="Times New Roman"/>
              </a:rPr>
              <a:t> </a:t>
            </a:r>
            <a:r>
              <a:rPr sz="900" i="1" dirty="0">
                <a:latin typeface="Times New Roman"/>
                <a:cs typeface="Times New Roman"/>
              </a:rPr>
              <a:t>i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538854" y="3227070"/>
            <a:ext cx="83375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Similaridad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solidFill>
                  <a:srgbClr val="585858"/>
                </a:solidFill>
                <a:latin typeface="Calibri"/>
                <a:cs typeface="Calibri"/>
              </a:rPr>
              <a:t>d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e </a:t>
            </a:r>
            <a:r>
              <a:rPr sz="1400" spc="-20" dirty="0">
                <a:solidFill>
                  <a:srgbClr val="585858"/>
                </a:solidFill>
                <a:latin typeface="Calibri"/>
                <a:cs typeface="Calibri"/>
              </a:rPr>
              <a:t>c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o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s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1400" spc="-10" dirty="0">
                <a:solidFill>
                  <a:srgbClr val="585858"/>
                </a:solidFill>
                <a:latin typeface="Calibri"/>
                <a:cs typeface="Calibri"/>
              </a:rPr>
              <a:t>n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os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879842" y="3267201"/>
            <a:ext cx="839469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0" marR="5080" indent="-32384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Co</a:t>
            </a:r>
            <a:r>
              <a:rPr sz="1400" spc="-15" dirty="0">
                <a:solidFill>
                  <a:srgbClr val="585858"/>
                </a:solidFill>
                <a:latin typeface="Calibri"/>
                <a:cs typeface="Calibri"/>
              </a:rPr>
              <a:t>e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f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i</a:t>
            </a:r>
            <a:r>
              <a:rPr sz="1400" spc="-10" dirty="0">
                <a:solidFill>
                  <a:srgbClr val="585858"/>
                </a:solidFill>
                <a:latin typeface="Calibri"/>
                <a:cs typeface="Calibri"/>
              </a:rPr>
              <a:t>c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ie</a:t>
            </a:r>
            <a:r>
              <a:rPr sz="1400" spc="-20" dirty="0">
                <a:solidFill>
                  <a:srgbClr val="585858"/>
                </a:solidFill>
                <a:latin typeface="Calibri"/>
                <a:cs typeface="Calibri"/>
              </a:rPr>
              <a:t>n</a:t>
            </a:r>
            <a:r>
              <a:rPr sz="1400" spc="-15" dirty="0">
                <a:solidFill>
                  <a:srgbClr val="585858"/>
                </a:solidFill>
                <a:latin typeface="Calibri"/>
                <a:cs typeface="Calibri"/>
              </a:rPr>
              <a:t>t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e  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de</a:t>
            </a:r>
            <a:r>
              <a:rPr sz="1400" spc="-3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85858"/>
                </a:solidFill>
                <a:latin typeface="Calibri"/>
                <a:cs typeface="Calibri"/>
              </a:rPr>
              <a:t>Jaccard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0" name="Picture 4">
            <a:extLst>
              <a:ext uri="{FF2B5EF4-FFF2-40B4-BE49-F238E27FC236}">
                <a16:creationId xmlns:a16="http://schemas.microsoft.com/office/drawing/2014/main" id="{22CF9B5E-FB11-2BDB-2271-8A118FAAD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6" descr="Ingeniería de Sistemas - UNCP">
            <a:extLst>
              <a:ext uri="{FF2B5EF4-FFF2-40B4-BE49-F238E27FC236}">
                <a16:creationId xmlns:a16="http://schemas.microsoft.com/office/drawing/2014/main" id="{D02F7AE4-C678-B314-2D2E-2986428F0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001" y="307593"/>
            <a:ext cx="3778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Criterio</a:t>
            </a:r>
            <a:r>
              <a:rPr spc="-20" dirty="0"/>
              <a:t> </a:t>
            </a:r>
            <a:r>
              <a:rPr spc="-5" dirty="0"/>
              <a:t>de</a:t>
            </a:r>
            <a:r>
              <a:rPr spc="-15" dirty="0"/>
              <a:t> </a:t>
            </a:r>
            <a:r>
              <a:rPr spc="-5" dirty="0"/>
              <a:t>Evaluación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61331"/>
            <a:ext cx="6243320" cy="249745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Char char="•"/>
              <a:tabLst>
                <a:tab pos="20955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Cohesión</a:t>
            </a:r>
            <a:r>
              <a:rPr sz="2000" spc="-5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intragrupal</a:t>
            </a:r>
            <a:endParaRPr sz="20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39"/>
              </a:spcBef>
              <a:buChar char="-"/>
              <a:tabLst>
                <a:tab pos="389255" algn="l"/>
              </a:tabLst>
            </a:pPr>
            <a:r>
              <a:rPr sz="1800" spc="-10" dirty="0">
                <a:latin typeface="Arial MT"/>
                <a:cs typeface="Arial MT"/>
              </a:rPr>
              <a:t>Llamado: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medida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compacidad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compactibilidad</a:t>
            </a:r>
            <a:endParaRPr sz="18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Arial MT"/>
                <a:cs typeface="Arial MT"/>
              </a:rPr>
              <a:t>Cercanía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 las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instancias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al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centroide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del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clúster</a:t>
            </a:r>
            <a:endParaRPr sz="18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Arial MT"/>
                <a:cs typeface="Arial MT"/>
              </a:rPr>
              <a:t>Ejemplo: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suma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errores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cuadráticos</a:t>
            </a:r>
            <a:endParaRPr sz="1800">
              <a:latin typeface="Arial MT"/>
              <a:cs typeface="Arial MT"/>
            </a:endParaRPr>
          </a:p>
          <a:p>
            <a:pPr marL="208915" indent="-196850">
              <a:lnSpc>
                <a:spcPct val="100000"/>
              </a:lnSpc>
              <a:spcBef>
                <a:spcPts val="1190"/>
              </a:spcBef>
              <a:buChar char="•"/>
              <a:tabLst>
                <a:tab pos="20955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Separación</a:t>
            </a:r>
            <a:r>
              <a:rPr sz="2000" spc="-5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intergrupal</a:t>
            </a:r>
            <a:endParaRPr sz="20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45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Arial MT"/>
                <a:cs typeface="Arial MT"/>
              </a:rPr>
              <a:t>Medida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aislamiento</a:t>
            </a:r>
            <a:endParaRPr sz="18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Arial MT"/>
                <a:cs typeface="Arial MT"/>
              </a:rPr>
              <a:t>Grado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separación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entre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los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centroides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 los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clústeres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52508" y="4212145"/>
            <a:ext cx="2976880" cy="2343150"/>
            <a:chOff x="3052508" y="4212145"/>
            <a:chExt cx="2976880" cy="2343150"/>
          </a:xfrm>
        </p:grpSpPr>
        <p:sp>
          <p:nvSpPr>
            <p:cNvPr id="5" name="object 5"/>
            <p:cNvSpPr/>
            <p:nvPr/>
          </p:nvSpPr>
          <p:spPr>
            <a:xfrm>
              <a:off x="3459479" y="4216908"/>
              <a:ext cx="2565400" cy="2333625"/>
            </a:xfrm>
            <a:custGeom>
              <a:avLst/>
              <a:gdLst/>
              <a:ahLst/>
              <a:cxnLst/>
              <a:rect l="l" t="t" r="r" b="b"/>
              <a:pathLst>
                <a:path w="2565400" h="2333625">
                  <a:moveTo>
                    <a:pt x="705612" y="0"/>
                  </a:moveTo>
                  <a:lnTo>
                    <a:pt x="705612" y="1592580"/>
                  </a:lnTo>
                </a:path>
                <a:path w="2565400" h="2333625">
                  <a:moveTo>
                    <a:pt x="705612" y="1592580"/>
                  </a:moveTo>
                  <a:lnTo>
                    <a:pt x="2564892" y="1592580"/>
                  </a:lnTo>
                </a:path>
                <a:path w="2565400" h="2333625">
                  <a:moveTo>
                    <a:pt x="705612" y="1592580"/>
                  </a:moveTo>
                  <a:lnTo>
                    <a:pt x="0" y="233324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95088" y="4681728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93725" y="0"/>
                  </a:moveTo>
                  <a:lnTo>
                    <a:pt x="38862" y="0"/>
                  </a:lnTo>
                  <a:lnTo>
                    <a:pt x="0" y="38862"/>
                  </a:lnTo>
                  <a:lnTo>
                    <a:pt x="0" y="93726"/>
                  </a:lnTo>
                  <a:lnTo>
                    <a:pt x="38862" y="132588"/>
                  </a:lnTo>
                  <a:lnTo>
                    <a:pt x="93725" y="132588"/>
                  </a:lnTo>
                  <a:lnTo>
                    <a:pt x="132587" y="93726"/>
                  </a:lnTo>
                  <a:lnTo>
                    <a:pt x="132587" y="38862"/>
                  </a:lnTo>
                  <a:lnTo>
                    <a:pt x="9372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95088" y="4681728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38862"/>
                  </a:moveTo>
                  <a:lnTo>
                    <a:pt x="38862" y="0"/>
                  </a:lnTo>
                  <a:lnTo>
                    <a:pt x="93725" y="0"/>
                  </a:lnTo>
                  <a:lnTo>
                    <a:pt x="132587" y="38862"/>
                  </a:lnTo>
                  <a:lnTo>
                    <a:pt x="132587" y="93726"/>
                  </a:lnTo>
                  <a:lnTo>
                    <a:pt x="93725" y="132588"/>
                  </a:lnTo>
                  <a:lnTo>
                    <a:pt x="38862" y="132588"/>
                  </a:lnTo>
                  <a:lnTo>
                    <a:pt x="0" y="93726"/>
                  </a:lnTo>
                  <a:lnTo>
                    <a:pt x="0" y="3886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94731" y="4681728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93725" y="0"/>
                  </a:moveTo>
                  <a:lnTo>
                    <a:pt x="38862" y="0"/>
                  </a:lnTo>
                  <a:lnTo>
                    <a:pt x="0" y="38862"/>
                  </a:lnTo>
                  <a:lnTo>
                    <a:pt x="0" y="93726"/>
                  </a:lnTo>
                  <a:lnTo>
                    <a:pt x="38862" y="132588"/>
                  </a:lnTo>
                  <a:lnTo>
                    <a:pt x="93725" y="132588"/>
                  </a:lnTo>
                  <a:lnTo>
                    <a:pt x="132587" y="93726"/>
                  </a:lnTo>
                  <a:lnTo>
                    <a:pt x="132587" y="38862"/>
                  </a:lnTo>
                  <a:lnTo>
                    <a:pt x="9372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94731" y="4681728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38862"/>
                  </a:moveTo>
                  <a:lnTo>
                    <a:pt x="38862" y="0"/>
                  </a:lnTo>
                  <a:lnTo>
                    <a:pt x="93725" y="0"/>
                  </a:lnTo>
                  <a:lnTo>
                    <a:pt x="132587" y="38862"/>
                  </a:lnTo>
                  <a:lnTo>
                    <a:pt x="132587" y="93726"/>
                  </a:lnTo>
                  <a:lnTo>
                    <a:pt x="93725" y="132588"/>
                  </a:lnTo>
                  <a:lnTo>
                    <a:pt x="38862" y="132588"/>
                  </a:lnTo>
                  <a:lnTo>
                    <a:pt x="0" y="93726"/>
                  </a:lnTo>
                  <a:lnTo>
                    <a:pt x="0" y="3886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3103" y="4477512"/>
              <a:ext cx="141732" cy="14173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3103" y="4876800"/>
              <a:ext cx="141732" cy="14173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59907" y="4681728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93725" y="0"/>
                  </a:moveTo>
                  <a:lnTo>
                    <a:pt x="38862" y="0"/>
                  </a:lnTo>
                  <a:lnTo>
                    <a:pt x="0" y="38862"/>
                  </a:lnTo>
                  <a:lnTo>
                    <a:pt x="0" y="93726"/>
                  </a:lnTo>
                  <a:lnTo>
                    <a:pt x="38862" y="132588"/>
                  </a:lnTo>
                  <a:lnTo>
                    <a:pt x="93725" y="132588"/>
                  </a:lnTo>
                  <a:lnTo>
                    <a:pt x="132587" y="93726"/>
                  </a:lnTo>
                  <a:lnTo>
                    <a:pt x="132587" y="38862"/>
                  </a:lnTo>
                  <a:lnTo>
                    <a:pt x="9372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59907" y="4681728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38862"/>
                  </a:moveTo>
                  <a:lnTo>
                    <a:pt x="38862" y="0"/>
                  </a:lnTo>
                  <a:lnTo>
                    <a:pt x="93725" y="0"/>
                  </a:lnTo>
                  <a:lnTo>
                    <a:pt x="132587" y="38862"/>
                  </a:lnTo>
                  <a:lnTo>
                    <a:pt x="132587" y="93726"/>
                  </a:lnTo>
                  <a:lnTo>
                    <a:pt x="93725" y="132588"/>
                  </a:lnTo>
                  <a:lnTo>
                    <a:pt x="38862" y="132588"/>
                  </a:lnTo>
                  <a:lnTo>
                    <a:pt x="0" y="93726"/>
                  </a:lnTo>
                  <a:lnTo>
                    <a:pt x="0" y="3886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227319" y="4549140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93725" y="0"/>
                  </a:moveTo>
                  <a:lnTo>
                    <a:pt x="38862" y="0"/>
                  </a:lnTo>
                  <a:lnTo>
                    <a:pt x="0" y="38862"/>
                  </a:lnTo>
                  <a:lnTo>
                    <a:pt x="0" y="93726"/>
                  </a:lnTo>
                  <a:lnTo>
                    <a:pt x="38862" y="132587"/>
                  </a:lnTo>
                  <a:lnTo>
                    <a:pt x="93725" y="132587"/>
                  </a:lnTo>
                  <a:lnTo>
                    <a:pt x="132587" y="93726"/>
                  </a:lnTo>
                  <a:lnTo>
                    <a:pt x="132587" y="38862"/>
                  </a:lnTo>
                  <a:lnTo>
                    <a:pt x="9372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227319" y="4549140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38862"/>
                  </a:moveTo>
                  <a:lnTo>
                    <a:pt x="38862" y="0"/>
                  </a:lnTo>
                  <a:lnTo>
                    <a:pt x="93725" y="0"/>
                  </a:lnTo>
                  <a:lnTo>
                    <a:pt x="132587" y="38862"/>
                  </a:lnTo>
                  <a:lnTo>
                    <a:pt x="132587" y="93726"/>
                  </a:lnTo>
                  <a:lnTo>
                    <a:pt x="93725" y="132587"/>
                  </a:lnTo>
                  <a:lnTo>
                    <a:pt x="38862" y="132587"/>
                  </a:lnTo>
                  <a:lnTo>
                    <a:pt x="0" y="93726"/>
                  </a:lnTo>
                  <a:lnTo>
                    <a:pt x="0" y="3886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57927" y="4477512"/>
              <a:ext cx="141732" cy="14173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27319" y="4814316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93725" y="0"/>
                  </a:moveTo>
                  <a:lnTo>
                    <a:pt x="38862" y="0"/>
                  </a:lnTo>
                  <a:lnTo>
                    <a:pt x="0" y="38861"/>
                  </a:lnTo>
                  <a:lnTo>
                    <a:pt x="0" y="93725"/>
                  </a:lnTo>
                  <a:lnTo>
                    <a:pt x="38862" y="132587"/>
                  </a:lnTo>
                  <a:lnTo>
                    <a:pt x="93725" y="132587"/>
                  </a:lnTo>
                  <a:lnTo>
                    <a:pt x="132587" y="93725"/>
                  </a:lnTo>
                  <a:lnTo>
                    <a:pt x="132587" y="38861"/>
                  </a:lnTo>
                  <a:lnTo>
                    <a:pt x="9372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27319" y="4814316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38861"/>
                  </a:moveTo>
                  <a:lnTo>
                    <a:pt x="38862" y="0"/>
                  </a:lnTo>
                  <a:lnTo>
                    <a:pt x="93725" y="0"/>
                  </a:lnTo>
                  <a:lnTo>
                    <a:pt x="132587" y="38861"/>
                  </a:lnTo>
                  <a:lnTo>
                    <a:pt x="132587" y="93725"/>
                  </a:lnTo>
                  <a:lnTo>
                    <a:pt x="93725" y="132587"/>
                  </a:lnTo>
                  <a:lnTo>
                    <a:pt x="38862" y="132587"/>
                  </a:lnTo>
                  <a:lnTo>
                    <a:pt x="0" y="93725"/>
                  </a:lnTo>
                  <a:lnTo>
                    <a:pt x="0" y="3886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62500" y="4814316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93725" y="0"/>
                  </a:moveTo>
                  <a:lnTo>
                    <a:pt x="38862" y="0"/>
                  </a:lnTo>
                  <a:lnTo>
                    <a:pt x="0" y="38861"/>
                  </a:lnTo>
                  <a:lnTo>
                    <a:pt x="0" y="93725"/>
                  </a:lnTo>
                  <a:lnTo>
                    <a:pt x="38862" y="132587"/>
                  </a:lnTo>
                  <a:lnTo>
                    <a:pt x="93725" y="132587"/>
                  </a:lnTo>
                  <a:lnTo>
                    <a:pt x="132587" y="93725"/>
                  </a:lnTo>
                  <a:lnTo>
                    <a:pt x="132587" y="38861"/>
                  </a:lnTo>
                  <a:lnTo>
                    <a:pt x="9372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62500" y="4814316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38861"/>
                  </a:moveTo>
                  <a:lnTo>
                    <a:pt x="38862" y="0"/>
                  </a:lnTo>
                  <a:lnTo>
                    <a:pt x="93725" y="0"/>
                  </a:lnTo>
                  <a:lnTo>
                    <a:pt x="132587" y="38861"/>
                  </a:lnTo>
                  <a:lnTo>
                    <a:pt x="132587" y="93725"/>
                  </a:lnTo>
                  <a:lnTo>
                    <a:pt x="93725" y="132587"/>
                  </a:lnTo>
                  <a:lnTo>
                    <a:pt x="38862" y="132587"/>
                  </a:lnTo>
                  <a:lnTo>
                    <a:pt x="0" y="93725"/>
                  </a:lnTo>
                  <a:lnTo>
                    <a:pt x="0" y="3886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64991" y="5207508"/>
              <a:ext cx="141732" cy="14325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63111" y="5274564"/>
              <a:ext cx="141732" cy="14173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63111" y="5474208"/>
              <a:ext cx="141732" cy="14173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62755" y="5274564"/>
              <a:ext cx="141732" cy="14173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30167" y="5074920"/>
              <a:ext cx="141732" cy="14173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62755" y="5474208"/>
              <a:ext cx="141732" cy="14173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64991" y="5407152"/>
              <a:ext cx="141732" cy="14173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227319" y="5611368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93725" y="0"/>
                  </a:moveTo>
                  <a:lnTo>
                    <a:pt x="38862" y="0"/>
                  </a:lnTo>
                  <a:lnTo>
                    <a:pt x="0" y="38836"/>
                  </a:lnTo>
                  <a:lnTo>
                    <a:pt x="0" y="93751"/>
                  </a:lnTo>
                  <a:lnTo>
                    <a:pt x="38862" y="132587"/>
                  </a:lnTo>
                  <a:lnTo>
                    <a:pt x="93725" y="132587"/>
                  </a:lnTo>
                  <a:lnTo>
                    <a:pt x="132587" y="93751"/>
                  </a:lnTo>
                  <a:lnTo>
                    <a:pt x="132587" y="38836"/>
                  </a:lnTo>
                  <a:lnTo>
                    <a:pt x="9372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227319" y="5611368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38836"/>
                  </a:moveTo>
                  <a:lnTo>
                    <a:pt x="38862" y="0"/>
                  </a:lnTo>
                  <a:lnTo>
                    <a:pt x="93725" y="0"/>
                  </a:lnTo>
                  <a:lnTo>
                    <a:pt x="132587" y="38836"/>
                  </a:lnTo>
                  <a:lnTo>
                    <a:pt x="132587" y="93751"/>
                  </a:lnTo>
                  <a:lnTo>
                    <a:pt x="93725" y="132587"/>
                  </a:lnTo>
                  <a:lnTo>
                    <a:pt x="38862" y="132587"/>
                  </a:lnTo>
                  <a:lnTo>
                    <a:pt x="0" y="93751"/>
                  </a:lnTo>
                  <a:lnTo>
                    <a:pt x="0" y="388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625083" y="5676900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93725" y="0"/>
                  </a:moveTo>
                  <a:lnTo>
                    <a:pt x="38862" y="0"/>
                  </a:lnTo>
                  <a:lnTo>
                    <a:pt x="0" y="38836"/>
                  </a:lnTo>
                  <a:lnTo>
                    <a:pt x="0" y="93751"/>
                  </a:lnTo>
                  <a:lnTo>
                    <a:pt x="38862" y="132587"/>
                  </a:lnTo>
                  <a:lnTo>
                    <a:pt x="93725" y="132587"/>
                  </a:lnTo>
                  <a:lnTo>
                    <a:pt x="132587" y="93751"/>
                  </a:lnTo>
                  <a:lnTo>
                    <a:pt x="132587" y="38836"/>
                  </a:lnTo>
                  <a:lnTo>
                    <a:pt x="9372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625083" y="5676900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38836"/>
                  </a:moveTo>
                  <a:lnTo>
                    <a:pt x="38862" y="0"/>
                  </a:lnTo>
                  <a:lnTo>
                    <a:pt x="93725" y="0"/>
                  </a:lnTo>
                  <a:lnTo>
                    <a:pt x="132587" y="38836"/>
                  </a:lnTo>
                  <a:lnTo>
                    <a:pt x="132587" y="93751"/>
                  </a:lnTo>
                  <a:lnTo>
                    <a:pt x="93725" y="132587"/>
                  </a:lnTo>
                  <a:lnTo>
                    <a:pt x="38862" y="132587"/>
                  </a:lnTo>
                  <a:lnTo>
                    <a:pt x="0" y="93751"/>
                  </a:lnTo>
                  <a:lnTo>
                    <a:pt x="0" y="388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426963" y="5809488"/>
              <a:ext cx="132715" cy="134620"/>
            </a:xfrm>
            <a:custGeom>
              <a:avLst/>
              <a:gdLst/>
              <a:ahLst/>
              <a:cxnLst/>
              <a:rect l="l" t="t" r="r" b="b"/>
              <a:pathLst>
                <a:path w="132714" h="134620">
                  <a:moveTo>
                    <a:pt x="93725" y="0"/>
                  </a:moveTo>
                  <a:lnTo>
                    <a:pt x="38862" y="0"/>
                  </a:lnTo>
                  <a:lnTo>
                    <a:pt x="0" y="38836"/>
                  </a:lnTo>
                  <a:lnTo>
                    <a:pt x="0" y="95275"/>
                  </a:lnTo>
                  <a:lnTo>
                    <a:pt x="38862" y="134112"/>
                  </a:lnTo>
                  <a:lnTo>
                    <a:pt x="93725" y="134112"/>
                  </a:lnTo>
                  <a:lnTo>
                    <a:pt x="132587" y="95275"/>
                  </a:lnTo>
                  <a:lnTo>
                    <a:pt x="132587" y="38836"/>
                  </a:lnTo>
                  <a:lnTo>
                    <a:pt x="9372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26963" y="5809488"/>
              <a:ext cx="132715" cy="134620"/>
            </a:xfrm>
            <a:custGeom>
              <a:avLst/>
              <a:gdLst/>
              <a:ahLst/>
              <a:cxnLst/>
              <a:rect l="l" t="t" r="r" b="b"/>
              <a:pathLst>
                <a:path w="132714" h="134620">
                  <a:moveTo>
                    <a:pt x="0" y="38836"/>
                  </a:moveTo>
                  <a:lnTo>
                    <a:pt x="38862" y="0"/>
                  </a:lnTo>
                  <a:lnTo>
                    <a:pt x="93725" y="0"/>
                  </a:lnTo>
                  <a:lnTo>
                    <a:pt x="132587" y="38836"/>
                  </a:lnTo>
                  <a:lnTo>
                    <a:pt x="132587" y="95275"/>
                  </a:lnTo>
                  <a:lnTo>
                    <a:pt x="93725" y="134112"/>
                  </a:lnTo>
                  <a:lnTo>
                    <a:pt x="38862" y="134112"/>
                  </a:lnTo>
                  <a:lnTo>
                    <a:pt x="0" y="95275"/>
                  </a:lnTo>
                  <a:lnTo>
                    <a:pt x="0" y="388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22747" y="5939028"/>
              <a:ext cx="141732" cy="14173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492495" y="5943600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93725" y="0"/>
                  </a:moveTo>
                  <a:lnTo>
                    <a:pt x="38862" y="0"/>
                  </a:lnTo>
                  <a:lnTo>
                    <a:pt x="0" y="38836"/>
                  </a:lnTo>
                  <a:lnTo>
                    <a:pt x="0" y="93751"/>
                  </a:lnTo>
                  <a:lnTo>
                    <a:pt x="38862" y="132587"/>
                  </a:lnTo>
                  <a:lnTo>
                    <a:pt x="93725" y="132587"/>
                  </a:lnTo>
                  <a:lnTo>
                    <a:pt x="132587" y="93751"/>
                  </a:lnTo>
                  <a:lnTo>
                    <a:pt x="132587" y="38836"/>
                  </a:lnTo>
                  <a:lnTo>
                    <a:pt x="9372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492495" y="5943600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38836"/>
                  </a:moveTo>
                  <a:lnTo>
                    <a:pt x="38862" y="0"/>
                  </a:lnTo>
                  <a:lnTo>
                    <a:pt x="93725" y="0"/>
                  </a:lnTo>
                  <a:lnTo>
                    <a:pt x="132587" y="38836"/>
                  </a:lnTo>
                  <a:lnTo>
                    <a:pt x="132587" y="93751"/>
                  </a:lnTo>
                  <a:lnTo>
                    <a:pt x="93725" y="132587"/>
                  </a:lnTo>
                  <a:lnTo>
                    <a:pt x="38862" y="132587"/>
                  </a:lnTo>
                  <a:lnTo>
                    <a:pt x="0" y="93751"/>
                  </a:lnTo>
                  <a:lnTo>
                    <a:pt x="0" y="38836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227319" y="5743956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93725" y="0"/>
                  </a:moveTo>
                  <a:lnTo>
                    <a:pt x="38862" y="0"/>
                  </a:lnTo>
                  <a:lnTo>
                    <a:pt x="0" y="38836"/>
                  </a:lnTo>
                  <a:lnTo>
                    <a:pt x="0" y="93751"/>
                  </a:lnTo>
                  <a:lnTo>
                    <a:pt x="38862" y="132588"/>
                  </a:lnTo>
                  <a:lnTo>
                    <a:pt x="93725" y="132588"/>
                  </a:lnTo>
                  <a:lnTo>
                    <a:pt x="132587" y="93751"/>
                  </a:lnTo>
                  <a:lnTo>
                    <a:pt x="132587" y="38836"/>
                  </a:lnTo>
                  <a:lnTo>
                    <a:pt x="9372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27319" y="5743956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93751"/>
                  </a:moveTo>
                  <a:lnTo>
                    <a:pt x="38862" y="132588"/>
                  </a:lnTo>
                  <a:lnTo>
                    <a:pt x="93725" y="132588"/>
                  </a:lnTo>
                  <a:lnTo>
                    <a:pt x="132587" y="93751"/>
                  </a:lnTo>
                  <a:lnTo>
                    <a:pt x="132587" y="38836"/>
                  </a:lnTo>
                  <a:lnTo>
                    <a:pt x="93725" y="0"/>
                  </a:lnTo>
                  <a:lnTo>
                    <a:pt x="38862" y="0"/>
                  </a:lnTo>
                  <a:lnTo>
                    <a:pt x="0" y="38836"/>
                  </a:lnTo>
                  <a:lnTo>
                    <a:pt x="0" y="9375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492495" y="5544312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93725" y="0"/>
                  </a:moveTo>
                  <a:lnTo>
                    <a:pt x="38862" y="0"/>
                  </a:lnTo>
                  <a:lnTo>
                    <a:pt x="0" y="38862"/>
                  </a:lnTo>
                  <a:lnTo>
                    <a:pt x="0" y="93751"/>
                  </a:lnTo>
                  <a:lnTo>
                    <a:pt x="38862" y="132587"/>
                  </a:lnTo>
                  <a:lnTo>
                    <a:pt x="93725" y="132587"/>
                  </a:lnTo>
                  <a:lnTo>
                    <a:pt x="132587" y="93751"/>
                  </a:lnTo>
                  <a:lnTo>
                    <a:pt x="132587" y="38862"/>
                  </a:lnTo>
                  <a:lnTo>
                    <a:pt x="93725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492495" y="5544312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38862"/>
                  </a:moveTo>
                  <a:lnTo>
                    <a:pt x="38862" y="0"/>
                  </a:lnTo>
                  <a:lnTo>
                    <a:pt x="93725" y="0"/>
                  </a:lnTo>
                  <a:lnTo>
                    <a:pt x="132587" y="38862"/>
                  </a:lnTo>
                  <a:lnTo>
                    <a:pt x="132587" y="93751"/>
                  </a:lnTo>
                  <a:lnTo>
                    <a:pt x="93725" y="132587"/>
                  </a:lnTo>
                  <a:lnTo>
                    <a:pt x="38862" y="132587"/>
                  </a:lnTo>
                  <a:lnTo>
                    <a:pt x="0" y="93751"/>
                  </a:lnTo>
                  <a:lnTo>
                    <a:pt x="0" y="38862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385053" y="4879086"/>
              <a:ext cx="224154" cy="597535"/>
            </a:xfrm>
            <a:custGeom>
              <a:avLst/>
              <a:gdLst/>
              <a:ahLst/>
              <a:cxnLst/>
              <a:rect l="l" t="t" r="r" b="b"/>
              <a:pathLst>
                <a:path w="224154" h="597535">
                  <a:moveTo>
                    <a:pt x="174962" y="527840"/>
                  </a:moveTo>
                  <a:lnTo>
                    <a:pt x="150368" y="536066"/>
                  </a:lnTo>
                  <a:lnTo>
                    <a:pt x="211836" y="597407"/>
                  </a:lnTo>
                  <a:lnTo>
                    <a:pt x="219957" y="540130"/>
                  </a:lnTo>
                  <a:lnTo>
                    <a:pt x="179070" y="540130"/>
                  </a:lnTo>
                  <a:lnTo>
                    <a:pt x="174962" y="527840"/>
                  </a:lnTo>
                  <a:close/>
                </a:path>
                <a:path w="224154" h="597535">
                  <a:moveTo>
                    <a:pt x="199490" y="519636"/>
                  </a:moveTo>
                  <a:lnTo>
                    <a:pt x="174962" y="527840"/>
                  </a:lnTo>
                  <a:lnTo>
                    <a:pt x="179070" y="540130"/>
                  </a:lnTo>
                  <a:lnTo>
                    <a:pt x="203581" y="531876"/>
                  </a:lnTo>
                  <a:lnTo>
                    <a:pt x="199490" y="519636"/>
                  </a:lnTo>
                  <a:close/>
                </a:path>
                <a:path w="224154" h="597535">
                  <a:moveTo>
                    <a:pt x="224028" y="511428"/>
                  </a:moveTo>
                  <a:lnTo>
                    <a:pt x="199490" y="519636"/>
                  </a:lnTo>
                  <a:lnTo>
                    <a:pt x="203581" y="531876"/>
                  </a:lnTo>
                  <a:lnTo>
                    <a:pt x="179070" y="540130"/>
                  </a:lnTo>
                  <a:lnTo>
                    <a:pt x="219957" y="540130"/>
                  </a:lnTo>
                  <a:lnTo>
                    <a:pt x="224028" y="511428"/>
                  </a:lnTo>
                  <a:close/>
                </a:path>
                <a:path w="224154" h="597535">
                  <a:moveTo>
                    <a:pt x="49065" y="69567"/>
                  </a:moveTo>
                  <a:lnTo>
                    <a:pt x="24537" y="77771"/>
                  </a:lnTo>
                  <a:lnTo>
                    <a:pt x="174962" y="527840"/>
                  </a:lnTo>
                  <a:lnTo>
                    <a:pt x="199490" y="519636"/>
                  </a:lnTo>
                  <a:lnTo>
                    <a:pt x="49065" y="69567"/>
                  </a:lnTo>
                  <a:close/>
                </a:path>
                <a:path w="224154" h="597535">
                  <a:moveTo>
                    <a:pt x="12192" y="0"/>
                  </a:moveTo>
                  <a:lnTo>
                    <a:pt x="0" y="85978"/>
                  </a:lnTo>
                  <a:lnTo>
                    <a:pt x="24537" y="77771"/>
                  </a:lnTo>
                  <a:lnTo>
                    <a:pt x="20447" y="65531"/>
                  </a:lnTo>
                  <a:lnTo>
                    <a:pt x="44958" y="57276"/>
                  </a:lnTo>
                  <a:lnTo>
                    <a:pt x="69587" y="57276"/>
                  </a:lnTo>
                  <a:lnTo>
                    <a:pt x="12192" y="0"/>
                  </a:lnTo>
                  <a:close/>
                </a:path>
                <a:path w="224154" h="597535">
                  <a:moveTo>
                    <a:pt x="44958" y="57276"/>
                  </a:moveTo>
                  <a:lnTo>
                    <a:pt x="20447" y="65531"/>
                  </a:lnTo>
                  <a:lnTo>
                    <a:pt x="24537" y="77771"/>
                  </a:lnTo>
                  <a:lnTo>
                    <a:pt x="49065" y="69567"/>
                  </a:lnTo>
                  <a:lnTo>
                    <a:pt x="44958" y="57276"/>
                  </a:lnTo>
                  <a:close/>
                </a:path>
                <a:path w="224154" h="597535">
                  <a:moveTo>
                    <a:pt x="69587" y="57276"/>
                  </a:moveTo>
                  <a:lnTo>
                    <a:pt x="44958" y="57276"/>
                  </a:lnTo>
                  <a:lnTo>
                    <a:pt x="49065" y="69567"/>
                  </a:lnTo>
                  <a:lnTo>
                    <a:pt x="73660" y="61340"/>
                  </a:lnTo>
                  <a:lnTo>
                    <a:pt x="69587" y="572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65525" y="4293870"/>
              <a:ext cx="2848610" cy="1958339"/>
            </a:xfrm>
            <a:custGeom>
              <a:avLst/>
              <a:gdLst/>
              <a:ahLst/>
              <a:cxnLst/>
              <a:rect l="l" t="t" r="r" b="b"/>
              <a:pathLst>
                <a:path w="2848610" h="1958339">
                  <a:moveTo>
                    <a:pt x="0" y="1096517"/>
                  </a:moveTo>
                  <a:lnTo>
                    <a:pt x="2308" y="1051224"/>
                  </a:lnTo>
                  <a:lnTo>
                    <a:pt x="9099" y="1007071"/>
                  </a:lnTo>
                  <a:lnTo>
                    <a:pt x="20173" y="964233"/>
                  </a:lnTo>
                  <a:lnTo>
                    <a:pt x="35332" y="922886"/>
                  </a:lnTo>
                  <a:lnTo>
                    <a:pt x="54375" y="883206"/>
                  </a:lnTo>
                  <a:lnTo>
                    <a:pt x="77103" y="845368"/>
                  </a:lnTo>
                  <a:lnTo>
                    <a:pt x="103316" y="809548"/>
                  </a:lnTo>
                  <a:lnTo>
                    <a:pt x="132815" y="775921"/>
                  </a:lnTo>
                  <a:lnTo>
                    <a:pt x="165401" y="744664"/>
                  </a:lnTo>
                  <a:lnTo>
                    <a:pt x="200874" y="715951"/>
                  </a:lnTo>
                  <a:lnTo>
                    <a:pt x="239034" y="689959"/>
                  </a:lnTo>
                  <a:lnTo>
                    <a:pt x="279682" y="666862"/>
                  </a:lnTo>
                  <a:lnTo>
                    <a:pt x="322618" y="646837"/>
                  </a:lnTo>
                  <a:lnTo>
                    <a:pt x="367643" y="630060"/>
                  </a:lnTo>
                  <a:lnTo>
                    <a:pt x="414557" y="616704"/>
                  </a:lnTo>
                  <a:lnTo>
                    <a:pt x="463162" y="606948"/>
                  </a:lnTo>
                  <a:lnTo>
                    <a:pt x="513256" y="600965"/>
                  </a:lnTo>
                  <a:lnTo>
                    <a:pt x="564641" y="598931"/>
                  </a:lnTo>
                  <a:lnTo>
                    <a:pt x="616027" y="600965"/>
                  </a:lnTo>
                  <a:lnTo>
                    <a:pt x="666121" y="606948"/>
                  </a:lnTo>
                  <a:lnTo>
                    <a:pt x="714726" y="616704"/>
                  </a:lnTo>
                  <a:lnTo>
                    <a:pt x="761640" y="630060"/>
                  </a:lnTo>
                  <a:lnTo>
                    <a:pt x="806665" y="646837"/>
                  </a:lnTo>
                  <a:lnTo>
                    <a:pt x="849601" y="666862"/>
                  </a:lnTo>
                  <a:lnTo>
                    <a:pt x="890249" y="689959"/>
                  </a:lnTo>
                  <a:lnTo>
                    <a:pt x="928409" y="715951"/>
                  </a:lnTo>
                  <a:lnTo>
                    <a:pt x="963882" y="744664"/>
                  </a:lnTo>
                  <a:lnTo>
                    <a:pt x="996468" y="775921"/>
                  </a:lnTo>
                  <a:lnTo>
                    <a:pt x="1025967" y="809548"/>
                  </a:lnTo>
                  <a:lnTo>
                    <a:pt x="1052180" y="845368"/>
                  </a:lnTo>
                  <a:lnTo>
                    <a:pt x="1074908" y="883206"/>
                  </a:lnTo>
                  <a:lnTo>
                    <a:pt x="1093951" y="922886"/>
                  </a:lnTo>
                  <a:lnTo>
                    <a:pt x="1109110" y="964233"/>
                  </a:lnTo>
                  <a:lnTo>
                    <a:pt x="1120184" y="1007071"/>
                  </a:lnTo>
                  <a:lnTo>
                    <a:pt x="1126975" y="1051224"/>
                  </a:lnTo>
                  <a:lnTo>
                    <a:pt x="1129284" y="1096517"/>
                  </a:lnTo>
                  <a:lnTo>
                    <a:pt x="1126975" y="1141807"/>
                  </a:lnTo>
                  <a:lnTo>
                    <a:pt x="1120184" y="1185957"/>
                  </a:lnTo>
                  <a:lnTo>
                    <a:pt x="1109110" y="1228793"/>
                  </a:lnTo>
                  <a:lnTo>
                    <a:pt x="1093951" y="1270139"/>
                  </a:lnTo>
                  <a:lnTo>
                    <a:pt x="1074908" y="1309818"/>
                  </a:lnTo>
                  <a:lnTo>
                    <a:pt x="1052180" y="1347656"/>
                  </a:lnTo>
                  <a:lnTo>
                    <a:pt x="1025967" y="1383476"/>
                  </a:lnTo>
                  <a:lnTo>
                    <a:pt x="996468" y="1417103"/>
                  </a:lnTo>
                  <a:lnTo>
                    <a:pt x="963882" y="1448361"/>
                  </a:lnTo>
                  <a:lnTo>
                    <a:pt x="928409" y="1477075"/>
                  </a:lnTo>
                  <a:lnTo>
                    <a:pt x="890249" y="1503069"/>
                  </a:lnTo>
                  <a:lnTo>
                    <a:pt x="849601" y="1526167"/>
                  </a:lnTo>
                  <a:lnTo>
                    <a:pt x="806665" y="1546193"/>
                  </a:lnTo>
                  <a:lnTo>
                    <a:pt x="761640" y="1562973"/>
                  </a:lnTo>
                  <a:lnTo>
                    <a:pt x="714726" y="1576329"/>
                  </a:lnTo>
                  <a:lnTo>
                    <a:pt x="666121" y="1586087"/>
                  </a:lnTo>
                  <a:lnTo>
                    <a:pt x="616027" y="1592070"/>
                  </a:lnTo>
                  <a:lnTo>
                    <a:pt x="564641" y="1594103"/>
                  </a:lnTo>
                  <a:lnTo>
                    <a:pt x="513256" y="1592070"/>
                  </a:lnTo>
                  <a:lnTo>
                    <a:pt x="463162" y="1586087"/>
                  </a:lnTo>
                  <a:lnTo>
                    <a:pt x="414557" y="1576329"/>
                  </a:lnTo>
                  <a:lnTo>
                    <a:pt x="367643" y="1562973"/>
                  </a:lnTo>
                  <a:lnTo>
                    <a:pt x="322618" y="1546193"/>
                  </a:lnTo>
                  <a:lnTo>
                    <a:pt x="279682" y="1526167"/>
                  </a:lnTo>
                  <a:lnTo>
                    <a:pt x="239034" y="1503069"/>
                  </a:lnTo>
                  <a:lnTo>
                    <a:pt x="200874" y="1477075"/>
                  </a:lnTo>
                  <a:lnTo>
                    <a:pt x="165401" y="1448361"/>
                  </a:lnTo>
                  <a:lnTo>
                    <a:pt x="132815" y="1417103"/>
                  </a:lnTo>
                  <a:lnTo>
                    <a:pt x="103316" y="1383476"/>
                  </a:lnTo>
                  <a:lnTo>
                    <a:pt x="77103" y="1347656"/>
                  </a:lnTo>
                  <a:lnTo>
                    <a:pt x="54375" y="1309818"/>
                  </a:lnTo>
                  <a:lnTo>
                    <a:pt x="35332" y="1270139"/>
                  </a:lnTo>
                  <a:lnTo>
                    <a:pt x="20173" y="1228793"/>
                  </a:lnTo>
                  <a:lnTo>
                    <a:pt x="9099" y="1185957"/>
                  </a:lnTo>
                  <a:lnTo>
                    <a:pt x="2308" y="1141807"/>
                  </a:lnTo>
                  <a:lnTo>
                    <a:pt x="0" y="1096517"/>
                  </a:lnTo>
                  <a:close/>
                </a:path>
                <a:path w="2848610" h="1958339">
                  <a:moveTo>
                    <a:pt x="1527048" y="431291"/>
                  </a:moveTo>
                  <a:lnTo>
                    <a:pt x="1529616" y="387185"/>
                  </a:lnTo>
                  <a:lnTo>
                    <a:pt x="1537156" y="344355"/>
                  </a:lnTo>
                  <a:lnTo>
                    <a:pt x="1549416" y="303018"/>
                  </a:lnTo>
                  <a:lnTo>
                    <a:pt x="1566148" y="263390"/>
                  </a:lnTo>
                  <a:lnTo>
                    <a:pt x="1587100" y="225687"/>
                  </a:lnTo>
                  <a:lnTo>
                    <a:pt x="1612022" y="190127"/>
                  </a:lnTo>
                  <a:lnTo>
                    <a:pt x="1640666" y="156926"/>
                  </a:lnTo>
                  <a:lnTo>
                    <a:pt x="1672780" y="126301"/>
                  </a:lnTo>
                  <a:lnTo>
                    <a:pt x="1708115" y="98468"/>
                  </a:lnTo>
                  <a:lnTo>
                    <a:pt x="1746420" y="73643"/>
                  </a:lnTo>
                  <a:lnTo>
                    <a:pt x="1787446" y="52043"/>
                  </a:lnTo>
                  <a:lnTo>
                    <a:pt x="1830943" y="33885"/>
                  </a:lnTo>
                  <a:lnTo>
                    <a:pt x="1876660" y="19385"/>
                  </a:lnTo>
                  <a:lnTo>
                    <a:pt x="1924347" y="8760"/>
                  </a:lnTo>
                  <a:lnTo>
                    <a:pt x="1973755" y="2226"/>
                  </a:lnTo>
                  <a:lnTo>
                    <a:pt x="2024634" y="0"/>
                  </a:lnTo>
                  <a:lnTo>
                    <a:pt x="2075512" y="2226"/>
                  </a:lnTo>
                  <a:lnTo>
                    <a:pt x="2124920" y="8760"/>
                  </a:lnTo>
                  <a:lnTo>
                    <a:pt x="2172607" y="19385"/>
                  </a:lnTo>
                  <a:lnTo>
                    <a:pt x="2218324" y="33885"/>
                  </a:lnTo>
                  <a:lnTo>
                    <a:pt x="2261821" y="52043"/>
                  </a:lnTo>
                  <a:lnTo>
                    <a:pt x="2302847" y="73643"/>
                  </a:lnTo>
                  <a:lnTo>
                    <a:pt x="2341152" y="98468"/>
                  </a:lnTo>
                  <a:lnTo>
                    <a:pt x="2376487" y="126301"/>
                  </a:lnTo>
                  <a:lnTo>
                    <a:pt x="2408601" y="156926"/>
                  </a:lnTo>
                  <a:lnTo>
                    <a:pt x="2437245" y="190127"/>
                  </a:lnTo>
                  <a:lnTo>
                    <a:pt x="2462167" y="225687"/>
                  </a:lnTo>
                  <a:lnTo>
                    <a:pt x="2483119" y="263390"/>
                  </a:lnTo>
                  <a:lnTo>
                    <a:pt x="2499851" y="303018"/>
                  </a:lnTo>
                  <a:lnTo>
                    <a:pt x="2512111" y="344355"/>
                  </a:lnTo>
                  <a:lnTo>
                    <a:pt x="2519651" y="387185"/>
                  </a:lnTo>
                  <a:lnTo>
                    <a:pt x="2522220" y="431291"/>
                  </a:lnTo>
                  <a:lnTo>
                    <a:pt x="2519651" y="475398"/>
                  </a:lnTo>
                  <a:lnTo>
                    <a:pt x="2512111" y="518228"/>
                  </a:lnTo>
                  <a:lnTo>
                    <a:pt x="2499851" y="559565"/>
                  </a:lnTo>
                  <a:lnTo>
                    <a:pt x="2483119" y="599193"/>
                  </a:lnTo>
                  <a:lnTo>
                    <a:pt x="2462167" y="636896"/>
                  </a:lnTo>
                  <a:lnTo>
                    <a:pt x="2437245" y="672456"/>
                  </a:lnTo>
                  <a:lnTo>
                    <a:pt x="2408601" y="705657"/>
                  </a:lnTo>
                  <a:lnTo>
                    <a:pt x="2376487" y="736282"/>
                  </a:lnTo>
                  <a:lnTo>
                    <a:pt x="2341152" y="764115"/>
                  </a:lnTo>
                  <a:lnTo>
                    <a:pt x="2302847" y="788940"/>
                  </a:lnTo>
                  <a:lnTo>
                    <a:pt x="2261821" y="810540"/>
                  </a:lnTo>
                  <a:lnTo>
                    <a:pt x="2218324" y="828698"/>
                  </a:lnTo>
                  <a:lnTo>
                    <a:pt x="2172607" y="843198"/>
                  </a:lnTo>
                  <a:lnTo>
                    <a:pt x="2124920" y="853823"/>
                  </a:lnTo>
                  <a:lnTo>
                    <a:pt x="2075512" y="860357"/>
                  </a:lnTo>
                  <a:lnTo>
                    <a:pt x="2024634" y="862583"/>
                  </a:lnTo>
                  <a:lnTo>
                    <a:pt x="1973755" y="860357"/>
                  </a:lnTo>
                  <a:lnTo>
                    <a:pt x="1924347" y="853823"/>
                  </a:lnTo>
                  <a:lnTo>
                    <a:pt x="1876660" y="843198"/>
                  </a:lnTo>
                  <a:lnTo>
                    <a:pt x="1830943" y="828698"/>
                  </a:lnTo>
                  <a:lnTo>
                    <a:pt x="1787446" y="810540"/>
                  </a:lnTo>
                  <a:lnTo>
                    <a:pt x="1746420" y="788940"/>
                  </a:lnTo>
                  <a:lnTo>
                    <a:pt x="1708115" y="764115"/>
                  </a:lnTo>
                  <a:lnTo>
                    <a:pt x="1672780" y="736282"/>
                  </a:lnTo>
                  <a:lnTo>
                    <a:pt x="1640666" y="705657"/>
                  </a:lnTo>
                  <a:lnTo>
                    <a:pt x="1612022" y="672456"/>
                  </a:lnTo>
                  <a:lnTo>
                    <a:pt x="1587100" y="636896"/>
                  </a:lnTo>
                  <a:lnTo>
                    <a:pt x="1566148" y="599193"/>
                  </a:lnTo>
                  <a:lnTo>
                    <a:pt x="1549416" y="559565"/>
                  </a:lnTo>
                  <a:lnTo>
                    <a:pt x="1537156" y="518228"/>
                  </a:lnTo>
                  <a:lnTo>
                    <a:pt x="1529616" y="475398"/>
                  </a:lnTo>
                  <a:lnTo>
                    <a:pt x="1527048" y="431291"/>
                  </a:lnTo>
                  <a:close/>
                </a:path>
                <a:path w="2848610" h="1958339">
                  <a:moveTo>
                    <a:pt x="1918715" y="1527047"/>
                  </a:moveTo>
                  <a:lnTo>
                    <a:pt x="1921444" y="1480044"/>
                  </a:lnTo>
                  <a:lnTo>
                    <a:pt x="1929439" y="1434508"/>
                  </a:lnTo>
                  <a:lnTo>
                    <a:pt x="1942417" y="1390704"/>
                  </a:lnTo>
                  <a:lnTo>
                    <a:pt x="1960094" y="1348894"/>
                  </a:lnTo>
                  <a:lnTo>
                    <a:pt x="1982187" y="1309341"/>
                  </a:lnTo>
                  <a:lnTo>
                    <a:pt x="2008412" y="1272308"/>
                  </a:lnTo>
                  <a:lnTo>
                    <a:pt x="2038485" y="1238057"/>
                  </a:lnTo>
                  <a:lnTo>
                    <a:pt x="2072122" y="1206851"/>
                  </a:lnTo>
                  <a:lnTo>
                    <a:pt x="2109039" y="1178954"/>
                  </a:lnTo>
                  <a:lnTo>
                    <a:pt x="2148952" y="1154627"/>
                  </a:lnTo>
                  <a:lnTo>
                    <a:pt x="2191579" y="1134134"/>
                  </a:lnTo>
                  <a:lnTo>
                    <a:pt x="2236634" y="1117738"/>
                  </a:lnTo>
                  <a:lnTo>
                    <a:pt x="2283835" y="1105701"/>
                  </a:lnTo>
                  <a:lnTo>
                    <a:pt x="2332896" y="1098286"/>
                  </a:lnTo>
                  <a:lnTo>
                    <a:pt x="2383536" y="1095755"/>
                  </a:lnTo>
                  <a:lnTo>
                    <a:pt x="2434175" y="1098286"/>
                  </a:lnTo>
                  <a:lnTo>
                    <a:pt x="2483236" y="1105701"/>
                  </a:lnTo>
                  <a:lnTo>
                    <a:pt x="2530437" y="1117738"/>
                  </a:lnTo>
                  <a:lnTo>
                    <a:pt x="2575492" y="1134134"/>
                  </a:lnTo>
                  <a:lnTo>
                    <a:pt x="2618119" y="1154627"/>
                  </a:lnTo>
                  <a:lnTo>
                    <a:pt x="2658032" y="1178954"/>
                  </a:lnTo>
                  <a:lnTo>
                    <a:pt x="2694949" y="1206851"/>
                  </a:lnTo>
                  <a:lnTo>
                    <a:pt x="2728586" y="1238057"/>
                  </a:lnTo>
                  <a:lnTo>
                    <a:pt x="2758659" y="1272308"/>
                  </a:lnTo>
                  <a:lnTo>
                    <a:pt x="2784884" y="1309341"/>
                  </a:lnTo>
                  <a:lnTo>
                    <a:pt x="2806977" y="1348894"/>
                  </a:lnTo>
                  <a:lnTo>
                    <a:pt x="2824654" y="1390704"/>
                  </a:lnTo>
                  <a:lnTo>
                    <a:pt x="2837632" y="1434508"/>
                  </a:lnTo>
                  <a:lnTo>
                    <a:pt x="2845627" y="1480044"/>
                  </a:lnTo>
                  <a:lnTo>
                    <a:pt x="2848356" y="1527047"/>
                  </a:lnTo>
                  <a:lnTo>
                    <a:pt x="2845627" y="1574042"/>
                  </a:lnTo>
                  <a:lnTo>
                    <a:pt x="2837632" y="1619571"/>
                  </a:lnTo>
                  <a:lnTo>
                    <a:pt x="2824654" y="1663371"/>
                  </a:lnTo>
                  <a:lnTo>
                    <a:pt x="2806977" y="1705179"/>
                  </a:lnTo>
                  <a:lnTo>
                    <a:pt x="2784884" y="1744731"/>
                  </a:lnTo>
                  <a:lnTo>
                    <a:pt x="2758659" y="1781765"/>
                  </a:lnTo>
                  <a:lnTo>
                    <a:pt x="2728586" y="1816018"/>
                  </a:lnTo>
                  <a:lnTo>
                    <a:pt x="2694949" y="1847226"/>
                  </a:lnTo>
                  <a:lnTo>
                    <a:pt x="2658032" y="1875127"/>
                  </a:lnTo>
                  <a:lnTo>
                    <a:pt x="2618119" y="1899457"/>
                  </a:lnTo>
                  <a:lnTo>
                    <a:pt x="2575492" y="1919953"/>
                  </a:lnTo>
                  <a:lnTo>
                    <a:pt x="2530437" y="1936352"/>
                  </a:lnTo>
                  <a:lnTo>
                    <a:pt x="2483236" y="1948392"/>
                  </a:lnTo>
                  <a:lnTo>
                    <a:pt x="2434175" y="1955809"/>
                  </a:lnTo>
                  <a:lnTo>
                    <a:pt x="2383536" y="1958339"/>
                  </a:lnTo>
                  <a:lnTo>
                    <a:pt x="2332896" y="1955809"/>
                  </a:lnTo>
                  <a:lnTo>
                    <a:pt x="2283835" y="1948392"/>
                  </a:lnTo>
                  <a:lnTo>
                    <a:pt x="2236634" y="1936352"/>
                  </a:lnTo>
                  <a:lnTo>
                    <a:pt x="2191579" y="1919953"/>
                  </a:lnTo>
                  <a:lnTo>
                    <a:pt x="2148952" y="1899457"/>
                  </a:lnTo>
                  <a:lnTo>
                    <a:pt x="2109039" y="1875127"/>
                  </a:lnTo>
                  <a:lnTo>
                    <a:pt x="2072122" y="1847226"/>
                  </a:lnTo>
                  <a:lnTo>
                    <a:pt x="2038485" y="1816018"/>
                  </a:lnTo>
                  <a:lnTo>
                    <a:pt x="2008412" y="1781765"/>
                  </a:lnTo>
                  <a:lnTo>
                    <a:pt x="1982187" y="1744731"/>
                  </a:lnTo>
                  <a:lnTo>
                    <a:pt x="1960094" y="1705179"/>
                  </a:lnTo>
                  <a:lnTo>
                    <a:pt x="1942417" y="1663371"/>
                  </a:lnTo>
                  <a:lnTo>
                    <a:pt x="1929439" y="1619571"/>
                  </a:lnTo>
                  <a:lnTo>
                    <a:pt x="1921444" y="1574042"/>
                  </a:lnTo>
                  <a:lnTo>
                    <a:pt x="1918715" y="1527047"/>
                  </a:lnTo>
                  <a:close/>
                </a:path>
              </a:pathLst>
            </a:custGeom>
            <a:ln w="259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38905" y="5145786"/>
              <a:ext cx="265430" cy="132715"/>
            </a:xfrm>
            <a:custGeom>
              <a:avLst/>
              <a:gdLst/>
              <a:ahLst/>
              <a:cxnLst/>
              <a:rect l="l" t="t" r="r" b="b"/>
              <a:pathLst>
                <a:path w="265429" h="132714">
                  <a:moveTo>
                    <a:pt x="52197" y="63118"/>
                  </a:moveTo>
                  <a:lnTo>
                    <a:pt x="0" y="132587"/>
                  </a:lnTo>
                  <a:lnTo>
                    <a:pt x="86868" y="132587"/>
                  </a:lnTo>
                  <a:lnTo>
                    <a:pt x="78184" y="115188"/>
                  </a:lnTo>
                  <a:lnTo>
                    <a:pt x="63754" y="115188"/>
                  </a:lnTo>
                  <a:lnTo>
                    <a:pt x="52197" y="92075"/>
                  </a:lnTo>
                  <a:lnTo>
                    <a:pt x="63760" y="86288"/>
                  </a:lnTo>
                  <a:lnTo>
                    <a:pt x="52197" y="63118"/>
                  </a:lnTo>
                  <a:close/>
                </a:path>
                <a:path w="265429" h="132714">
                  <a:moveTo>
                    <a:pt x="63760" y="86288"/>
                  </a:moveTo>
                  <a:lnTo>
                    <a:pt x="52197" y="92075"/>
                  </a:lnTo>
                  <a:lnTo>
                    <a:pt x="63754" y="115188"/>
                  </a:lnTo>
                  <a:lnTo>
                    <a:pt x="75300" y="109410"/>
                  </a:lnTo>
                  <a:lnTo>
                    <a:pt x="63760" y="86288"/>
                  </a:lnTo>
                  <a:close/>
                </a:path>
                <a:path w="265429" h="132714">
                  <a:moveTo>
                    <a:pt x="75300" y="109410"/>
                  </a:moveTo>
                  <a:lnTo>
                    <a:pt x="63754" y="115188"/>
                  </a:lnTo>
                  <a:lnTo>
                    <a:pt x="78184" y="115188"/>
                  </a:lnTo>
                  <a:lnTo>
                    <a:pt x="75300" y="109410"/>
                  </a:lnTo>
                  <a:close/>
                </a:path>
                <a:path w="265429" h="132714">
                  <a:moveTo>
                    <a:pt x="189875" y="23177"/>
                  </a:moveTo>
                  <a:lnTo>
                    <a:pt x="63760" y="86288"/>
                  </a:lnTo>
                  <a:lnTo>
                    <a:pt x="75300" y="109410"/>
                  </a:lnTo>
                  <a:lnTo>
                    <a:pt x="201415" y="46299"/>
                  </a:lnTo>
                  <a:lnTo>
                    <a:pt x="189875" y="23177"/>
                  </a:lnTo>
                  <a:close/>
                </a:path>
                <a:path w="265429" h="132714">
                  <a:moveTo>
                    <a:pt x="252102" y="17399"/>
                  </a:moveTo>
                  <a:lnTo>
                    <a:pt x="201422" y="17399"/>
                  </a:lnTo>
                  <a:lnTo>
                    <a:pt x="212979" y="40512"/>
                  </a:lnTo>
                  <a:lnTo>
                    <a:pt x="201415" y="46299"/>
                  </a:lnTo>
                  <a:lnTo>
                    <a:pt x="212979" y="69468"/>
                  </a:lnTo>
                  <a:lnTo>
                    <a:pt x="252102" y="17399"/>
                  </a:lnTo>
                  <a:close/>
                </a:path>
                <a:path w="265429" h="132714">
                  <a:moveTo>
                    <a:pt x="201422" y="17399"/>
                  </a:moveTo>
                  <a:lnTo>
                    <a:pt x="189875" y="23177"/>
                  </a:lnTo>
                  <a:lnTo>
                    <a:pt x="201415" y="46299"/>
                  </a:lnTo>
                  <a:lnTo>
                    <a:pt x="212979" y="40512"/>
                  </a:lnTo>
                  <a:lnTo>
                    <a:pt x="201422" y="17399"/>
                  </a:lnTo>
                  <a:close/>
                </a:path>
                <a:path w="265429" h="132714">
                  <a:moveTo>
                    <a:pt x="265176" y="0"/>
                  </a:moveTo>
                  <a:lnTo>
                    <a:pt x="178308" y="0"/>
                  </a:lnTo>
                  <a:lnTo>
                    <a:pt x="189875" y="23177"/>
                  </a:lnTo>
                  <a:lnTo>
                    <a:pt x="201422" y="17399"/>
                  </a:lnTo>
                  <a:lnTo>
                    <a:pt x="252102" y="17399"/>
                  </a:lnTo>
                  <a:lnTo>
                    <a:pt x="265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329308" y="4398645"/>
            <a:ext cx="173482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Se</a:t>
            </a:r>
            <a:r>
              <a:rPr sz="1400" spc="-4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minimiza</a:t>
            </a:r>
            <a:r>
              <a:rPr sz="1400" spc="-2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la</a:t>
            </a:r>
            <a:r>
              <a:rPr sz="1400" spc="-2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distancia </a:t>
            </a:r>
            <a:r>
              <a:rPr sz="1400" spc="-305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85858"/>
                </a:solidFill>
                <a:latin typeface="Calibri"/>
                <a:cs typeface="Calibri"/>
              </a:rPr>
              <a:t>dentro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del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grupo 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(similaridad)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644013" y="4895088"/>
            <a:ext cx="896619" cy="257810"/>
          </a:xfrm>
          <a:custGeom>
            <a:avLst/>
            <a:gdLst/>
            <a:ahLst/>
            <a:cxnLst/>
            <a:rect l="l" t="t" r="r" b="b"/>
            <a:pathLst>
              <a:path w="896620" h="257810">
                <a:moveTo>
                  <a:pt x="821035" y="226897"/>
                </a:moveTo>
                <a:lnTo>
                  <a:pt x="813053" y="257556"/>
                </a:lnTo>
                <a:lnTo>
                  <a:pt x="896365" y="240030"/>
                </a:lnTo>
                <a:lnTo>
                  <a:pt x="885048" y="230124"/>
                </a:lnTo>
                <a:lnTo>
                  <a:pt x="833374" y="230124"/>
                </a:lnTo>
                <a:lnTo>
                  <a:pt x="821035" y="226897"/>
                </a:lnTo>
                <a:close/>
              </a:path>
              <a:path w="896620" h="257810">
                <a:moveTo>
                  <a:pt x="824240" y="214587"/>
                </a:moveTo>
                <a:lnTo>
                  <a:pt x="821035" y="226897"/>
                </a:lnTo>
                <a:lnTo>
                  <a:pt x="833374" y="230124"/>
                </a:lnTo>
                <a:lnTo>
                  <a:pt x="836549" y="217805"/>
                </a:lnTo>
                <a:lnTo>
                  <a:pt x="824240" y="214587"/>
                </a:lnTo>
                <a:close/>
              </a:path>
              <a:path w="896620" h="257810">
                <a:moveTo>
                  <a:pt x="832231" y="183895"/>
                </a:moveTo>
                <a:lnTo>
                  <a:pt x="824240" y="214587"/>
                </a:lnTo>
                <a:lnTo>
                  <a:pt x="836549" y="217805"/>
                </a:lnTo>
                <a:lnTo>
                  <a:pt x="833374" y="230124"/>
                </a:lnTo>
                <a:lnTo>
                  <a:pt x="885048" y="230124"/>
                </a:lnTo>
                <a:lnTo>
                  <a:pt x="832231" y="183895"/>
                </a:lnTo>
                <a:close/>
              </a:path>
              <a:path w="896620" h="257810">
                <a:moveTo>
                  <a:pt x="3301" y="0"/>
                </a:moveTo>
                <a:lnTo>
                  <a:pt x="0" y="12192"/>
                </a:lnTo>
                <a:lnTo>
                  <a:pt x="821035" y="226897"/>
                </a:lnTo>
                <a:lnTo>
                  <a:pt x="824240" y="214587"/>
                </a:lnTo>
                <a:lnTo>
                  <a:pt x="3301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6423405" y="4318761"/>
            <a:ext cx="1761489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Se </a:t>
            </a:r>
            <a:r>
              <a:rPr sz="1400" spc="-10" dirty="0">
                <a:solidFill>
                  <a:srgbClr val="585858"/>
                </a:solidFill>
                <a:latin typeface="Calibri"/>
                <a:cs typeface="Calibri"/>
              </a:rPr>
              <a:t>maximiza 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la 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distancia </a:t>
            </a:r>
            <a:r>
              <a:rPr sz="1400" spc="-31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85858"/>
                </a:solidFill>
                <a:latin typeface="Calibri"/>
                <a:cs typeface="Calibri"/>
              </a:rPr>
              <a:t>entre 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los 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grupos </a:t>
            </a:r>
            <a:r>
              <a:rPr sz="1400" dirty="0">
                <a:solidFill>
                  <a:srgbClr val="585858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585858"/>
                </a:solidFill>
                <a:latin typeface="Calibri"/>
                <a:cs typeface="Calibri"/>
              </a:rPr>
              <a:t>(disimilaridad)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5529071" y="4659121"/>
            <a:ext cx="1037590" cy="457834"/>
          </a:xfrm>
          <a:custGeom>
            <a:avLst/>
            <a:gdLst/>
            <a:ahLst/>
            <a:cxnLst/>
            <a:rect l="l" t="t" r="r" b="b"/>
            <a:pathLst>
              <a:path w="1037590" h="457835">
                <a:moveTo>
                  <a:pt x="54863" y="387730"/>
                </a:moveTo>
                <a:lnTo>
                  <a:pt x="0" y="452881"/>
                </a:lnTo>
                <a:lnTo>
                  <a:pt x="85089" y="457707"/>
                </a:lnTo>
                <a:lnTo>
                  <a:pt x="74667" y="433577"/>
                </a:lnTo>
                <a:lnTo>
                  <a:pt x="60832" y="433577"/>
                </a:lnTo>
                <a:lnTo>
                  <a:pt x="55752" y="421894"/>
                </a:lnTo>
                <a:lnTo>
                  <a:pt x="67440" y="416846"/>
                </a:lnTo>
                <a:lnTo>
                  <a:pt x="54863" y="387730"/>
                </a:lnTo>
                <a:close/>
              </a:path>
              <a:path w="1037590" h="457835">
                <a:moveTo>
                  <a:pt x="67440" y="416846"/>
                </a:moveTo>
                <a:lnTo>
                  <a:pt x="55752" y="421894"/>
                </a:lnTo>
                <a:lnTo>
                  <a:pt x="60832" y="433577"/>
                </a:lnTo>
                <a:lnTo>
                  <a:pt x="72492" y="428542"/>
                </a:lnTo>
                <a:lnTo>
                  <a:pt x="67440" y="416846"/>
                </a:lnTo>
                <a:close/>
              </a:path>
              <a:path w="1037590" h="457835">
                <a:moveTo>
                  <a:pt x="72492" y="428542"/>
                </a:moveTo>
                <a:lnTo>
                  <a:pt x="60832" y="433577"/>
                </a:lnTo>
                <a:lnTo>
                  <a:pt x="74667" y="433577"/>
                </a:lnTo>
                <a:lnTo>
                  <a:pt x="72492" y="428542"/>
                </a:lnTo>
                <a:close/>
              </a:path>
              <a:path w="1037590" h="457835">
                <a:moveTo>
                  <a:pt x="1032636" y="0"/>
                </a:moveTo>
                <a:lnTo>
                  <a:pt x="67440" y="416846"/>
                </a:lnTo>
                <a:lnTo>
                  <a:pt x="72492" y="428542"/>
                </a:lnTo>
                <a:lnTo>
                  <a:pt x="1037589" y="11683"/>
                </a:lnTo>
                <a:lnTo>
                  <a:pt x="1032636" y="0"/>
                </a:lnTo>
                <a:close/>
              </a:path>
            </a:pathLst>
          </a:custGeom>
          <a:solidFill>
            <a:srgbClr val="497DB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8815705" y="6649742"/>
            <a:ext cx="14732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585858"/>
                </a:solidFill>
                <a:latin typeface="Arial MT"/>
                <a:cs typeface="Arial MT"/>
              </a:rPr>
              <a:t>7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49" name="Picture 4">
            <a:extLst>
              <a:ext uri="{FF2B5EF4-FFF2-40B4-BE49-F238E27FC236}">
                <a16:creationId xmlns:a16="http://schemas.microsoft.com/office/drawing/2014/main" id="{0B1F5D35-B40C-61EE-7FC1-29F79E48A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6" descr="Ingeniería de Sistemas - UNCP">
            <a:extLst>
              <a:ext uri="{FF2B5EF4-FFF2-40B4-BE49-F238E27FC236}">
                <a16:creationId xmlns:a16="http://schemas.microsoft.com/office/drawing/2014/main" id="{388778D5-15C7-50DC-CEFD-B9876EC49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Métodos</a:t>
            </a:r>
            <a:r>
              <a:rPr spc="15" dirty="0"/>
              <a:t> </a:t>
            </a:r>
            <a:r>
              <a:rPr dirty="0"/>
              <a:t>para</a:t>
            </a:r>
            <a:r>
              <a:rPr spc="-25" dirty="0"/>
              <a:t> </a:t>
            </a:r>
            <a:r>
              <a:rPr spc="-5" dirty="0"/>
              <a:t>Clustering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576" y="1424825"/>
            <a:ext cx="8659539" cy="481290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81298" y="6625767"/>
            <a:ext cx="28333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45"/>
              </a:lnSpc>
            </a:pPr>
            <a:r>
              <a:rPr sz="1000" spc="-5" dirty="0">
                <a:solidFill>
                  <a:srgbClr val="7E7E7E"/>
                </a:solidFill>
                <a:latin typeface="Calibri"/>
                <a:cs typeface="Calibri"/>
              </a:rPr>
              <a:t>https://scikit-learn.org/stable/modules/clustering.htm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15705" y="6649742"/>
            <a:ext cx="14732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z="1000" spc="-5" dirty="0">
                <a:solidFill>
                  <a:srgbClr val="585858"/>
                </a:solidFill>
                <a:latin typeface="Arial MT"/>
                <a:cs typeface="Arial MT"/>
              </a:rPr>
              <a:t>8</a:t>
            </a:fld>
            <a:endParaRPr sz="1000">
              <a:latin typeface="Arial MT"/>
              <a:cs typeface="Arial MT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208F4BAD-F531-C5D3-84E9-FECCC3B0D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Ingeniería de Sistemas - UNCP">
            <a:extLst>
              <a:ext uri="{FF2B5EF4-FFF2-40B4-BE49-F238E27FC236}">
                <a16:creationId xmlns:a16="http://schemas.microsoft.com/office/drawing/2014/main" id="{86C7F748-25FD-AF86-7817-749787C8E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Métodos</a:t>
            </a:r>
            <a:r>
              <a:rPr spc="15" dirty="0"/>
              <a:t> </a:t>
            </a:r>
            <a:r>
              <a:rPr dirty="0"/>
              <a:t>para</a:t>
            </a:r>
            <a:r>
              <a:rPr spc="-25" dirty="0"/>
              <a:t> </a:t>
            </a:r>
            <a:r>
              <a:rPr spc="-5" dirty="0"/>
              <a:t>Clustering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089" y="1079489"/>
            <a:ext cx="8670628" cy="522987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B4E8A-F487-A8BE-6346-DEFF05417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ngeniería de Sistemas - UNCP">
            <a:extLst>
              <a:ext uri="{FF2B5EF4-FFF2-40B4-BE49-F238E27FC236}">
                <a16:creationId xmlns:a16="http://schemas.microsoft.com/office/drawing/2014/main" id="{34107C76-701A-4984-ADC2-20DBD6086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Métodos</a:t>
            </a:r>
            <a:r>
              <a:rPr spc="15" dirty="0"/>
              <a:t> </a:t>
            </a:r>
            <a:r>
              <a:rPr dirty="0"/>
              <a:t>para</a:t>
            </a:r>
            <a:r>
              <a:rPr spc="-25" dirty="0"/>
              <a:t> </a:t>
            </a:r>
            <a:r>
              <a:rPr spc="-5" dirty="0"/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61331"/>
            <a:ext cx="6993890" cy="189547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Char char="•"/>
              <a:tabLst>
                <a:tab pos="20955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Métodos</a:t>
            </a:r>
            <a:r>
              <a:rPr sz="2000" spc="-70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jerárquicos</a:t>
            </a:r>
            <a:endParaRPr sz="20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39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Arial MT"/>
                <a:cs typeface="Arial MT"/>
              </a:rPr>
              <a:t>Encuentran clústeres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manera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sucesiva</a:t>
            </a:r>
            <a:endParaRPr sz="18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Arial MT"/>
                <a:cs typeface="Arial MT"/>
              </a:rPr>
              <a:t>Pueden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ser:</a:t>
            </a:r>
            <a:endParaRPr sz="1800">
              <a:latin typeface="Arial MT"/>
              <a:cs typeface="Arial MT"/>
            </a:endParaRPr>
          </a:p>
          <a:p>
            <a:pPr marL="611505" lvl="2" indent="-226695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611505" algn="l"/>
                <a:tab pos="612140" algn="l"/>
              </a:tabLst>
            </a:pPr>
            <a:r>
              <a:rPr sz="1600" i="1" spc="-5" dirty="0">
                <a:solidFill>
                  <a:srgbClr val="6F2F9F"/>
                </a:solidFill>
                <a:latin typeface="Arial"/>
                <a:cs typeface="Arial"/>
              </a:rPr>
              <a:t>Aglomerativos</a:t>
            </a:r>
            <a:r>
              <a:rPr sz="1600" i="1" spc="-30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(bottom-up)</a:t>
            </a:r>
            <a:endParaRPr sz="1400">
              <a:latin typeface="Arial MT"/>
              <a:cs typeface="Arial MT"/>
            </a:endParaRPr>
          </a:p>
          <a:p>
            <a:pPr marL="911860" lvl="3" indent="-229235">
              <a:lnSpc>
                <a:spcPct val="100000"/>
              </a:lnSpc>
              <a:spcBef>
                <a:spcPts val="365"/>
              </a:spcBef>
              <a:buChar char="–"/>
              <a:tabLst>
                <a:tab pos="912494" algn="l"/>
              </a:tabLst>
            </a:pPr>
            <a:r>
              <a:rPr sz="1500" dirty="0">
                <a:latin typeface="Arial MT"/>
                <a:cs typeface="Arial MT"/>
              </a:rPr>
              <a:t>Inicialmente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cada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instancia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es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un </a:t>
            </a:r>
            <a:r>
              <a:rPr sz="1500" dirty="0">
                <a:latin typeface="Arial MT"/>
                <a:cs typeface="Arial MT"/>
              </a:rPr>
              <a:t>clúster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diferente</a:t>
            </a:r>
            <a:endParaRPr sz="1500">
              <a:latin typeface="Arial MT"/>
              <a:cs typeface="Arial MT"/>
            </a:endParaRPr>
          </a:p>
          <a:p>
            <a:pPr marL="911860" lvl="3" indent="-229235">
              <a:lnSpc>
                <a:spcPct val="100000"/>
              </a:lnSpc>
              <a:spcBef>
                <a:spcPts val="359"/>
              </a:spcBef>
              <a:buChar char="–"/>
              <a:tabLst>
                <a:tab pos="912494" algn="l"/>
              </a:tabLst>
            </a:pPr>
            <a:r>
              <a:rPr sz="1500" spc="-5" dirty="0">
                <a:latin typeface="Arial MT"/>
                <a:cs typeface="Arial MT"/>
              </a:rPr>
              <a:t>Se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realiza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agrupamientos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para obtener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clústeres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más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grandes</a:t>
            </a:r>
            <a:r>
              <a:rPr sz="1500" spc="40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(AGNES)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9319" y="4384148"/>
            <a:ext cx="6265545" cy="8674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38125" indent="-226060">
              <a:lnSpc>
                <a:spcPct val="100000"/>
              </a:lnSpc>
              <a:spcBef>
                <a:spcPts val="484"/>
              </a:spcBef>
              <a:buFont typeface="Arial MT"/>
              <a:buChar char="•"/>
              <a:tabLst>
                <a:tab pos="238125" algn="l"/>
                <a:tab pos="238760" algn="l"/>
              </a:tabLst>
            </a:pPr>
            <a:r>
              <a:rPr sz="1600" i="1" spc="-5" dirty="0">
                <a:solidFill>
                  <a:srgbClr val="6F2F9F"/>
                </a:solidFill>
                <a:latin typeface="Arial"/>
                <a:cs typeface="Arial"/>
              </a:rPr>
              <a:t>Divisivos</a:t>
            </a:r>
            <a:r>
              <a:rPr sz="1600" i="1" spc="-45" dirty="0">
                <a:solidFill>
                  <a:srgbClr val="6F2F9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Arial MT"/>
                <a:cs typeface="Arial MT"/>
              </a:rPr>
              <a:t>(top-down)</a:t>
            </a:r>
            <a:endParaRPr sz="1400">
              <a:latin typeface="Arial MT"/>
              <a:cs typeface="Arial MT"/>
            </a:endParaRPr>
          </a:p>
          <a:p>
            <a:pPr marL="538480" lvl="1" indent="-229235">
              <a:lnSpc>
                <a:spcPct val="100000"/>
              </a:lnSpc>
              <a:spcBef>
                <a:spcPts val="360"/>
              </a:spcBef>
              <a:buChar char="–"/>
              <a:tabLst>
                <a:tab pos="539115" algn="l"/>
              </a:tabLst>
            </a:pPr>
            <a:r>
              <a:rPr sz="1500" dirty="0">
                <a:latin typeface="Arial MT"/>
                <a:cs typeface="Arial MT"/>
              </a:rPr>
              <a:t>Inicialmente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todas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las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instancias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forman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un </a:t>
            </a:r>
            <a:r>
              <a:rPr sz="1500" dirty="0">
                <a:latin typeface="Arial MT"/>
                <a:cs typeface="Arial MT"/>
              </a:rPr>
              <a:t>clúster</a:t>
            </a:r>
            <a:endParaRPr sz="1500">
              <a:latin typeface="Arial MT"/>
              <a:cs typeface="Arial MT"/>
            </a:endParaRPr>
          </a:p>
          <a:p>
            <a:pPr marL="538480" lvl="1" indent="-229235">
              <a:lnSpc>
                <a:spcPct val="100000"/>
              </a:lnSpc>
              <a:spcBef>
                <a:spcPts val="360"/>
              </a:spcBef>
              <a:buChar char="–"/>
              <a:tabLst>
                <a:tab pos="539115" algn="l"/>
              </a:tabLst>
            </a:pPr>
            <a:r>
              <a:rPr sz="1500" spc="-5" dirty="0">
                <a:latin typeface="Arial MT"/>
                <a:cs typeface="Arial MT"/>
              </a:rPr>
              <a:t>Se</a:t>
            </a:r>
            <a:r>
              <a:rPr sz="1500" dirty="0">
                <a:latin typeface="Arial MT"/>
                <a:cs typeface="Arial MT"/>
              </a:rPr>
              <a:t> realiza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divisiones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para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obtener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clústeres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más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pequeños</a:t>
            </a:r>
            <a:r>
              <a:rPr sz="1500" spc="50" dirty="0"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Arial MT"/>
                <a:cs typeface="Arial MT"/>
              </a:rPr>
              <a:t>(DIANA)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4705" y="3141047"/>
            <a:ext cx="5591154" cy="11252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1204" y="5453759"/>
            <a:ext cx="5662407" cy="113906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10</a:t>
            </a:fld>
            <a:endParaRPr spc="-5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091108BF-AD0C-1853-F850-1ED45FB7E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Ingeniería de Sistemas - UNCP">
            <a:extLst>
              <a:ext uri="{FF2B5EF4-FFF2-40B4-BE49-F238E27FC236}">
                <a16:creationId xmlns:a16="http://schemas.microsoft.com/office/drawing/2014/main" id="{0F53EACF-58BC-2ED4-828D-64084EE3E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Métodos</a:t>
            </a:r>
            <a:r>
              <a:rPr spc="15" dirty="0"/>
              <a:t> </a:t>
            </a:r>
            <a:r>
              <a:rPr dirty="0"/>
              <a:t>para</a:t>
            </a:r>
            <a:r>
              <a:rPr spc="-25" dirty="0"/>
              <a:t> </a:t>
            </a:r>
            <a:r>
              <a:rPr spc="-5" dirty="0"/>
              <a:t>Clustering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61331"/>
            <a:ext cx="7857490" cy="419925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590"/>
              </a:spcBef>
              <a:buChar char="•"/>
              <a:tabLst>
                <a:tab pos="20955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Métodos</a:t>
            </a:r>
            <a:r>
              <a:rPr sz="2000" spc="-7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Bayesianos</a:t>
            </a:r>
            <a:endParaRPr sz="20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39"/>
              </a:spcBef>
              <a:buChar char="-"/>
              <a:tabLst>
                <a:tab pos="389255" algn="l"/>
              </a:tabLst>
            </a:pPr>
            <a:r>
              <a:rPr sz="1800" spc="-15" dirty="0">
                <a:latin typeface="Arial MT"/>
                <a:cs typeface="Arial MT"/>
              </a:rPr>
              <a:t>Tratan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generar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una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distribución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 </a:t>
            </a:r>
            <a:r>
              <a:rPr sz="1800" spc="-5" dirty="0">
                <a:latin typeface="Arial MT"/>
                <a:cs typeface="Arial MT"/>
              </a:rPr>
              <a:t>posteriori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sobre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todas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las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particiones</a:t>
            </a:r>
            <a:endParaRPr sz="18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Arial MT"/>
                <a:cs typeface="Arial MT"/>
              </a:rPr>
              <a:t>Se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pueden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basar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decisiones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métodos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paramétricos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Arial MT"/>
              <a:buChar char="-"/>
            </a:pPr>
            <a:endParaRPr sz="2900">
              <a:latin typeface="Arial MT"/>
              <a:cs typeface="Arial MT"/>
            </a:endParaRPr>
          </a:p>
          <a:p>
            <a:pPr marL="208915" indent="-196850">
              <a:lnSpc>
                <a:spcPct val="100000"/>
              </a:lnSpc>
              <a:buChar char="•"/>
              <a:tabLst>
                <a:tab pos="20955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Métodos</a:t>
            </a:r>
            <a:r>
              <a:rPr sz="2000" spc="-6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particionales</a:t>
            </a:r>
            <a:endParaRPr sz="20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4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Arial MT"/>
                <a:cs typeface="Arial MT"/>
              </a:rPr>
              <a:t>Determinan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todos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los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clústeres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 manera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simultánea</a:t>
            </a:r>
            <a:endParaRPr sz="18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Arial MT"/>
                <a:cs typeface="Arial MT"/>
              </a:rPr>
              <a:t>Ejemplos:</a:t>
            </a:r>
            <a:endParaRPr sz="1800">
              <a:latin typeface="Arial MT"/>
              <a:cs typeface="Arial MT"/>
            </a:endParaRPr>
          </a:p>
          <a:p>
            <a:pPr marL="611505" lvl="2" indent="-226695">
              <a:lnSpc>
                <a:spcPct val="100000"/>
              </a:lnSpc>
              <a:spcBef>
                <a:spcPts val="390"/>
              </a:spcBef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Arial MT"/>
                <a:cs typeface="Arial MT"/>
              </a:rPr>
              <a:t>K-means</a:t>
            </a:r>
            <a:endParaRPr sz="1600">
              <a:latin typeface="Arial MT"/>
              <a:cs typeface="Arial MT"/>
            </a:endParaRPr>
          </a:p>
          <a:p>
            <a:pPr marL="611505" lvl="2" indent="-226695">
              <a:lnSpc>
                <a:spcPct val="100000"/>
              </a:lnSpc>
              <a:spcBef>
                <a:spcPts val="385"/>
              </a:spcBef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Arial MT"/>
                <a:cs typeface="Arial MT"/>
              </a:rPr>
              <a:t>Basados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en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modelos</a:t>
            </a:r>
            <a:endParaRPr sz="1600">
              <a:latin typeface="Arial MT"/>
              <a:cs typeface="Arial MT"/>
            </a:endParaRPr>
          </a:p>
          <a:p>
            <a:pPr marL="611505" lvl="2" indent="-226695">
              <a:lnSpc>
                <a:spcPct val="100000"/>
              </a:lnSpc>
              <a:spcBef>
                <a:spcPts val="385"/>
              </a:spcBef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Arial MT"/>
                <a:cs typeface="Arial MT"/>
              </a:rPr>
              <a:t>Basados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en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teoría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 grafos</a:t>
            </a:r>
            <a:endParaRPr sz="1600">
              <a:latin typeface="Arial MT"/>
              <a:cs typeface="Arial MT"/>
            </a:endParaRPr>
          </a:p>
          <a:p>
            <a:pPr marL="611505" lvl="2" indent="-226695">
              <a:lnSpc>
                <a:spcPct val="100000"/>
              </a:lnSpc>
              <a:spcBef>
                <a:spcPts val="385"/>
              </a:spcBef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Arial MT"/>
                <a:cs typeface="Arial MT"/>
              </a:rPr>
              <a:t>Mezclas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Gaussianos</a:t>
            </a:r>
            <a:endParaRPr sz="1600">
              <a:latin typeface="Arial MT"/>
              <a:cs typeface="Arial MT"/>
            </a:endParaRPr>
          </a:p>
          <a:p>
            <a:pPr marL="611505" lvl="2" indent="-226695">
              <a:lnSpc>
                <a:spcPct val="100000"/>
              </a:lnSpc>
              <a:spcBef>
                <a:spcPts val="385"/>
              </a:spcBef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Arial MT"/>
                <a:cs typeface="Arial MT"/>
              </a:rPr>
              <a:t>Basados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en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técnicas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espectrales</a:t>
            </a:r>
            <a:endParaRPr sz="1600">
              <a:latin typeface="Arial MT"/>
              <a:cs typeface="Arial MT"/>
            </a:endParaRPr>
          </a:p>
          <a:p>
            <a:pPr marL="611505" lvl="2" indent="-226695">
              <a:lnSpc>
                <a:spcPct val="100000"/>
              </a:lnSpc>
              <a:spcBef>
                <a:spcPts val="384"/>
              </a:spcBef>
              <a:buChar char="•"/>
              <a:tabLst>
                <a:tab pos="611505" algn="l"/>
                <a:tab pos="612140" algn="l"/>
              </a:tabLst>
            </a:pPr>
            <a:r>
              <a:rPr sz="1600" spc="-5" dirty="0">
                <a:latin typeface="Arial MT"/>
                <a:cs typeface="Arial MT"/>
              </a:rPr>
              <a:t>Basados en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densidad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Arial MT"/>
                <a:cs typeface="Arial MT"/>
              </a:rPr>
              <a:t>(DBSCAN,</a:t>
            </a:r>
            <a:r>
              <a:rPr sz="1400" spc="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Arial MT"/>
                <a:cs typeface="Arial MT"/>
              </a:rPr>
              <a:t>OPTICS)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E19E3-9BBF-4CEC-0E3F-2F5F32F2A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ngeniería de Sistemas - UNCP">
            <a:extLst>
              <a:ext uri="{FF2B5EF4-FFF2-40B4-BE49-F238E27FC236}">
                <a16:creationId xmlns:a16="http://schemas.microsoft.com/office/drawing/2014/main" id="{A49B7AC0-1DDB-6ADC-5450-49D458EE2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464" y="307593"/>
            <a:ext cx="47523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Clustering</a:t>
            </a:r>
            <a:r>
              <a:rPr spc="5" dirty="0"/>
              <a:t> </a:t>
            </a:r>
            <a:r>
              <a:rPr spc="-5" dirty="0"/>
              <a:t>usando</a:t>
            </a:r>
            <a:r>
              <a:rPr spc="20" dirty="0"/>
              <a:t> </a:t>
            </a:r>
            <a:r>
              <a:rPr spc="-5" dirty="0"/>
              <a:t>K-means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03" y="1160245"/>
            <a:ext cx="7831455" cy="979169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34315" indent="-196850">
              <a:lnSpc>
                <a:spcPct val="100000"/>
              </a:lnSpc>
              <a:spcBef>
                <a:spcPts val="595"/>
              </a:spcBef>
              <a:buChar char="•"/>
              <a:tabLst>
                <a:tab pos="234950" algn="l"/>
              </a:tabLst>
            </a:pPr>
            <a:r>
              <a:rPr sz="2000" dirty="0">
                <a:latin typeface="Arial MT"/>
                <a:cs typeface="Arial MT"/>
              </a:rPr>
              <a:t>Es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algoritmo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particional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basado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centroide</a:t>
            </a:r>
            <a:endParaRPr sz="2000">
              <a:latin typeface="Arial MT"/>
              <a:cs typeface="Arial MT"/>
            </a:endParaRPr>
          </a:p>
          <a:p>
            <a:pPr marL="414020" lvl="1" indent="-160655">
              <a:lnSpc>
                <a:spcPct val="100000"/>
              </a:lnSpc>
              <a:spcBef>
                <a:spcPts val="385"/>
              </a:spcBef>
              <a:buChar char="-"/>
              <a:tabLst>
                <a:tab pos="414655" algn="l"/>
              </a:tabLst>
            </a:pPr>
            <a:r>
              <a:rPr sz="1600" spc="-5" dirty="0">
                <a:latin typeface="Arial MT"/>
                <a:cs typeface="Arial MT"/>
              </a:rPr>
              <a:t>Genera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K</a:t>
            </a:r>
            <a:r>
              <a:rPr sz="1600" i="1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Arial MT"/>
                <a:cs typeface="Arial MT"/>
              </a:rPr>
              <a:t>clústeres</a:t>
            </a:r>
            <a:endParaRPr sz="1600">
              <a:latin typeface="Arial MT"/>
              <a:cs typeface="Arial MT"/>
            </a:endParaRPr>
          </a:p>
          <a:p>
            <a:pPr marL="414020" lvl="1" indent="-160655">
              <a:lnSpc>
                <a:spcPct val="100000"/>
              </a:lnSpc>
              <a:spcBef>
                <a:spcPts val="385"/>
              </a:spcBef>
              <a:buChar char="-"/>
              <a:tabLst>
                <a:tab pos="414655" algn="l"/>
              </a:tabLst>
            </a:pPr>
            <a:r>
              <a:rPr sz="1600" spc="-5" dirty="0">
                <a:latin typeface="Arial MT"/>
                <a:cs typeface="Arial MT"/>
              </a:rPr>
              <a:t>Cada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instancia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x</a:t>
            </a:r>
            <a:r>
              <a:rPr sz="1575" baseline="26455" dirty="0">
                <a:latin typeface="Times New Roman"/>
                <a:cs typeface="Times New Roman"/>
              </a:rPr>
              <a:t>(</a:t>
            </a:r>
            <a:r>
              <a:rPr sz="1575" i="1" baseline="26455" dirty="0">
                <a:latin typeface="Times New Roman"/>
                <a:cs typeface="Times New Roman"/>
              </a:rPr>
              <a:t>i</a:t>
            </a:r>
            <a:r>
              <a:rPr sz="1575" baseline="26455" dirty="0">
                <a:latin typeface="Times New Roman"/>
                <a:cs typeface="Times New Roman"/>
              </a:rPr>
              <a:t>)</a:t>
            </a:r>
            <a:r>
              <a:rPr sz="1575" spc="277" baseline="2645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Arial MT"/>
                <a:cs typeface="Arial MT"/>
              </a:rPr>
              <a:t>pertenecerá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al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grupo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cuyo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centroide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encuentra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más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cercano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295" y="2378841"/>
            <a:ext cx="2623525" cy="184745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3787" y="2378842"/>
            <a:ext cx="2623169" cy="18475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9617" y="4667297"/>
            <a:ext cx="2623064" cy="18418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71516" y="4691215"/>
            <a:ext cx="2623872" cy="184277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EF6464FD-0BBF-DF98-2A0D-FE5FD3645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ngeniería de Sistemas - UNCP">
            <a:extLst>
              <a:ext uri="{FF2B5EF4-FFF2-40B4-BE49-F238E27FC236}">
                <a16:creationId xmlns:a16="http://schemas.microsoft.com/office/drawing/2014/main" id="{E2109C27-56BE-7E68-1B6B-6E64888D9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464" y="307593"/>
            <a:ext cx="47523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Clustering</a:t>
            </a:r>
            <a:r>
              <a:rPr spc="5" dirty="0"/>
              <a:t> </a:t>
            </a:r>
            <a:r>
              <a:rPr spc="-5" dirty="0"/>
              <a:t>usando</a:t>
            </a:r>
            <a:r>
              <a:rPr spc="20" dirty="0"/>
              <a:t> </a:t>
            </a:r>
            <a:r>
              <a:rPr spc="-5" dirty="0"/>
              <a:t>K-means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6679" y="2418596"/>
            <a:ext cx="1848231" cy="6482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86885" y="3985984"/>
            <a:ext cx="2596137" cy="6475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2803" y="1158332"/>
            <a:ext cx="8162925" cy="432371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272415" indent="-196850">
              <a:lnSpc>
                <a:spcPct val="100000"/>
              </a:lnSpc>
              <a:spcBef>
                <a:spcPts val="610"/>
              </a:spcBef>
              <a:buChar char="•"/>
              <a:tabLst>
                <a:tab pos="27305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Clúster</a:t>
            </a:r>
            <a:endParaRPr sz="2000">
              <a:latin typeface="Arial MT"/>
              <a:cs typeface="Arial MT"/>
            </a:endParaRPr>
          </a:p>
          <a:p>
            <a:pPr marL="452120" lvl="1" indent="-160655">
              <a:lnSpc>
                <a:spcPct val="100000"/>
              </a:lnSpc>
              <a:spcBef>
                <a:spcPts val="400"/>
              </a:spcBef>
              <a:buChar char="-"/>
              <a:tabLst>
                <a:tab pos="452755" algn="l"/>
              </a:tabLst>
            </a:pPr>
            <a:r>
              <a:rPr sz="1600" spc="-5" dirty="0">
                <a:latin typeface="Arial MT"/>
                <a:cs typeface="Arial MT"/>
              </a:rPr>
              <a:t>Conjunto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instancias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agrupadas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según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la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distancia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al</a:t>
            </a:r>
            <a:r>
              <a:rPr sz="1600" spc="4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centroide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del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clúster</a:t>
            </a:r>
            <a:endParaRPr sz="1600">
              <a:latin typeface="Arial MT"/>
              <a:cs typeface="Arial MT"/>
            </a:endParaRPr>
          </a:p>
          <a:p>
            <a:pPr marL="452120" lvl="1" indent="-160655">
              <a:lnSpc>
                <a:spcPct val="100000"/>
              </a:lnSpc>
              <a:spcBef>
                <a:spcPts val="370"/>
              </a:spcBef>
              <a:buChar char="-"/>
              <a:tabLst>
                <a:tab pos="452755" algn="l"/>
              </a:tabLst>
            </a:pPr>
            <a:r>
              <a:rPr sz="1600" spc="-5" dirty="0">
                <a:latin typeface="Arial MT"/>
                <a:cs typeface="Arial MT"/>
              </a:rPr>
              <a:t>Número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elementos del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clúster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k</a:t>
            </a:r>
            <a:r>
              <a:rPr sz="1600" spc="-5" dirty="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Font typeface="Arial MT"/>
              <a:buChar char="-"/>
            </a:pPr>
            <a:endParaRPr sz="1500">
              <a:latin typeface="Arial MT"/>
              <a:cs typeface="Arial MT"/>
            </a:endParaRPr>
          </a:p>
          <a:p>
            <a:pPr marL="6450965" marR="240029" indent="-277495">
              <a:lnSpc>
                <a:spcPct val="100000"/>
              </a:lnSpc>
            </a:pPr>
            <a:r>
              <a:rPr sz="1400" i="1" spc="5" dirty="0">
                <a:latin typeface="Times New Roman"/>
                <a:cs typeface="Times New Roman"/>
              </a:rPr>
              <a:t>c</a:t>
            </a:r>
            <a:r>
              <a:rPr sz="1350" spc="7" baseline="24691" dirty="0">
                <a:latin typeface="Times New Roman"/>
                <a:cs typeface="Times New Roman"/>
              </a:rPr>
              <a:t>(</a:t>
            </a:r>
            <a:r>
              <a:rPr sz="1350" i="1" spc="7" baseline="24691" dirty="0">
                <a:latin typeface="Times New Roman"/>
                <a:cs typeface="Times New Roman"/>
              </a:rPr>
              <a:t>i</a:t>
            </a:r>
            <a:r>
              <a:rPr sz="1350" spc="7" baseline="24691" dirty="0">
                <a:latin typeface="Times New Roman"/>
                <a:cs typeface="Times New Roman"/>
              </a:rPr>
              <a:t>)</a:t>
            </a:r>
            <a:r>
              <a:rPr sz="1400" spc="5" dirty="0">
                <a:latin typeface="Calibri"/>
                <a:cs typeface="Calibri"/>
              </a:rPr>
              <a:t>: </a:t>
            </a:r>
            <a:r>
              <a:rPr sz="1400" spc="-10" dirty="0">
                <a:latin typeface="Calibri"/>
                <a:cs typeface="Calibri"/>
              </a:rPr>
              <a:t>número </a:t>
            </a:r>
            <a:r>
              <a:rPr sz="1400" spc="-5" dirty="0">
                <a:latin typeface="Calibri"/>
                <a:cs typeface="Calibri"/>
              </a:rPr>
              <a:t>del clúster </a:t>
            </a:r>
            <a:r>
              <a:rPr sz="1400" dirty="0">
                <a:latin typeface="Calibri"/>
                <a:cs typeface="Calibri"/>
              </a:rPr>
              <a:t> al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que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pertenece </a:t>
            </a:r>
            <a:r>
              <a:rPr sz="1400" b="1" i="1" spc="10" dirty="0">
                <a:latin typeface="Times New Roman"/>
                <a:cs typeface="Times New Roman"/>
              </a:rPr>
              <a:t>x</a:t>
            </a:r>
            <a:r>
              <a:rPr sz="1350" spc="15" baseline="24691" dirty="0">
                <a:latin typeface="Times New Roman"/>
                <a:cs typeface="Times New Roman"/>
              </a:rPr>
              <a:t>(</a:t>
            </a:r>
            <a:r>
              <a:rPr sz="1350" i="1" spc="15" baseline="24691" dirty="0">
                <a:latin typeface="Times New Roman"/>
                <a:cs typeface="Times New Roman"/>
              </a:rPr>
              <a:t>i</a:t>
            </a:r>
            <a:r>
              <a:rPr sz="1350" spc="15" baseline="24691" dirty="0">
                <a:latin typeface="Times New Roman"/>
                <a:cs typeface="Times New Roman"/>
              </a:rPr>
              <a:t>)</a:t>
            </a:r>
            <a:endParaRPr sz="1350" baseline="24691">
              <a:latin typeface="Times New Roman"/>
              <a:cs typeface="Times New Roman"/>
            </a:endParaRPr>
          </a:p>
          <a:p>
            <a:pPr marL="6262370">
              <a:lnSpc>
                <a:spcPct val="100000"/>
              </a:lnSpc>
            </a:pPr>
            <a:r>
              <a:rPr sz="1400" i="1" dirty="0">
                <a:latin typeface="Times New Roman"/>
                <a:cs typeface="Times New Roman"/>
              </a:rPr>
              <a:t>n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número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instancias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Calibri"/>
              <a:cs typeface="Calibri"/>
            </a:endParaRPr>
          </a:p>
          <a:p>
            <a:pPr marL="452120" lvl="1" indent="-160655">
              <a:lnSpc>
                <a:spcPct val="100000"/>
              </a:lnSpc>
              <a:spcBef>
                <a:spcPts val="5"/>
              </a:spcBef>
              <a:buChar char="-"/>
              <a:tabLst>
                <a:tab pos="452755" algn="l"/>
              </a:tabLst>
            </a:pPr>
            <a:r>
              <a:rPr sz="1600" spc="-5" dirty="0">
                <a:latin typeface="Arial MT"/>
                <a:cs typeface="Arial MT"/>
              </a:rPr>
              <a:t>Centroide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clúster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k</a:t>
            </a:r>
            <a:r>
              <a:rPr sz="1600" spc="-5" dirty="0">
                <a:latin typeface="Arial MT"/>
                <a:cs typeface="Arial MT"/>
              </a:rPr>
              <a:t>:</a:t>
            </a:r>
            <a:endParaRPr sz="1600">
              <a:latin typeface="Arial MT"/>
              <a:cs typeface="Arial MT"/>
            </a:endParaRPr>
          </a:p>
          <a:p>
            <a:pPr marL="675005" lvl="2" indent="-226060">
              <a:lnSpc>
                <a:spcPct val="100000"/>
              </a:lnSpc>
              <a:spcBef>
                <a:spcPts val="340"/>
              </a:spcBef>
              <a:buChar char="•"/>
              <a:tabLst>
                <a:tab pos="675005" algn="l"/>
                <a:tab pos="675640" algn="l"/>
              </a:tabLst>
            </a:pPr>
            <a:r>
              <a:rPr sz="1400" dirty="0">
                <a:latin typeface="Arial MT"/>
                <a:cs typeface="Arial MT"/>
              </a:rPr>
              <a:t>Promedio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todas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instancias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que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pertenecen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al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clúster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buFont typeface="Arial MT"/>
              <a:buChar char="•"/>
            </a:pPr>
            <a:endParaRPr sz="150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6224270">
              <a:lnSpc>
                <a:spcPct val="100000"/>
              </a:lnSpc>
            </a:pPr>
            <a:r>
              <a:rPr sz="1400" spc="45" dirty="0">
                <a:latin typeface="Cambria Math"/>
                <a:cs typeface="Cambria Math"/>
              </a:rPr>
              <a:t>𝜇</a:t>
            </a:r>
            <a:r>
              <a:rPr sz="1500" spc="67" baseline="-16666" dirty="0">
                <a:latin typeface="Cambria Math"/>
                <a:cs typeface="Cambria Math"/>
              </a:rPr>
              <a:t>𝑘</a:t>
            </a:r>
            <a:r>
              <a:rPr sz="1400" spc="45" dirty="0">
                <a:latin typeface="Calibri"/>
                <a:cs typeface="Calibri"/>
              </a:rPr>
              <a:t>: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centroide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del clúster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i="1" dirty="0">
                <a:latin typeface="Times New Roman"/>
                <a:cs typeface="Times New Roman"/>
              </a:rPr>
              <a:t>k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50">
              <a:latin typeface="Times New Roman"/>
              <a:cs typeface="Times New Roman"/>
            </a:endParaRPr>
          </a:p>
          <a:p>
            <a:pPr marL="272415" indent="-196850">
              <a:lnSpc>
                <a:spcPct val="100000"/>
              </a:lnSpc>
              <a:buChar char="•"/>
              <a:tabLst>
                <a:tab pos="273050" algn="l"/>
              </a:tabLst>
            </a:pPr>
            <a:r>
              <a:rPr sz="1800" spc="-5" dirty="0">
                <a:solidFill>
                  <a:srgbClr val="00AF50"/>
                </a:solidFill>
                <a:latin typeface="Arial MT"/>
                <a:cs typeface="Arial MT"/>
              </a:rPr>
              <a:t>Función</a:t>
            </a:r>
            <a:r>
              <a:rPr sz="1800" spc="-1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AF50"/>
                </a:solidFill>
                <a:latin typeface="Arial MT"/>
                <a:cs typeface="Arial MT"/>
              </a:rPr>
              <a:t>de</a:t>
            </a:r>
            <a:r>
              <a:rPr sz="1800" spc="-2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AF50"/>
                </a:solidFill>
                <a:latin typeface="Arial MT"/>
                <a:cs typeface="Arial MT"/>
              </a:rPr>
              <a:t>costo</a:t>
            </a:r>
            <a:endParaRPr sz="1800">
              <a:latin typeface="Arial MT"/>
              <a:cs typeface="Arial MT"/>
            </a:endParaRPr>
          </a:p>
          <a:p>
            <a:pPr marL="452120" lvl="1" indent="-160655">
              <a:lnSpc>
                <a:spcPct val="100000"/>
              </a:lnSpc>
              <a:spcBef>
                <a:spcPts val="490"/>
              </a:spcBef>
              <a:buChar char="-"/>
              <a:tabLst>
                <a:tab pos="452755" algn="l"/>
              </a:tabLst>
            </a:pPr>
            <a:r>
              <a:rPr sz="2400" spc="-7" baseline="3472" dirty="0">
                <a:latin typeface="Arial MT"/>
                <a:cs typeface="Arial MT"/>
              </a:rPr>
              <a:t>Promedio</a:t>
            </a:r>
            <a:r>
              <a:rPr sz="2400" baseline="3472" dirty="0">
                <a:latin typeface="Arial MT"/>
                <a:cs typeface="Arial MT"/>
              </a:rPr>
              <a:t> </a:t>
            </a:r>
            <a:r>
              <a:rPr sz="2400" spc="-7" baseline="3472" dirty="0">
                <a:latin typeface="Arial MT"/>
                <a:cs typeface="Arial MT"/>
              </a:rPr>
              <a:t>de</a:t>
            </a:r>
            <a:r>
              <a:rPr sz="2400" spc="30" baseline="3472" dirty="0">
                <a:latin typeface="Arial MT"/>
                <a:cs typeface="Arial MT"/>
              </a:rPr>
              <a:t> </a:t>
            </a:r>
            <a:r>
              <a:rPr sz="2400" spc="-7" baseline="3472" dirty="0">
                <a:latin typeface="Arial MT"/>
                <a:cs typeface="Arial MT"/>
              </a:rPr>
              <a:t>las distancias</a:t>
            </a:r>
            <a:r>
              <a:rPr sz="2400" spc="-15" baseline="3472" dirty="0">
                <a:latin typeface="Arial MT"/>
                <a:cs typeface="Arial MT"/>
              </a:rPr>
              <a:t> </a:t>
            </a:r>
            <a:r>
              <a:rPr sz="2400" spc="-7" baseline="3472" dirty="0">
                <a:latin typeface="Arial MT"/>
                <a:cs typeface="Arial MT"/>
              </a:rPr>
              <a:t>de</a:t>
            </a:r>
            <a:r>
              <a:rPr sz="2400" spc="30" baseline="3472" dirty="0">
                <a:latin typeface="Arial MT"/>
                <a:cs typeface="Arial MT"/>
              </a:rPr>
              <a:t> </a:t>
            </a:r>
            <a:r>
              <a:rPr sz="2400" spc="-7" baseline="3472" dirty="0">
                <a:latin typeface="Arial MT"/>
                <a:cs typeface="Arial MT"/>
              </a:rPr>
              <a:t>cada</a:t>
            </a:r>
            <a:r>
              <a:rPr sz="2400" baseline="3472" dirty="0">
                <a:latin typeface="Arial MT"/>
                <a:cs typeface="Arial MT"/>
              </a:rPr>
              <a:t> </a:t>
            </a:r>
            <a:r>
              <a:rPr sz="2400" spc="-7" baseline="3472" dirty="0">
                <a:latin typeface="Arial MT"/>
                <a:cs typeface="Arial MT"/>
              </a:rPr>
              <a:t>instancia</a:t>
            </a:r>
            <a:r>
              <a:rPr sz="2400" spc="22" baseline="3472" dirty="0">
                <a:latin typeface="Arial MT"/>
                <a:cs typeface="Arial MT"/>
              </a:rPr>
              <a:t> </a:t>
            </a:r>
            <a:r>
              <a:rPr sz="2400" b="1" i="1" spc="7" baseline="3472" dirty="0">
                <a:latin typeface="Times New Roman"/>
                <a:cs typeface="Times New Roman"/>
              </a:rPr>
              <a:t>x</a:t>
            </a:r>
            <a:r>
              <a:rPr sz="1575" spc="7" baseline="31746" dirty="0">
                <a:latin typeface="Times New Roman"/>
                <a:cs typeface="Times New Roman"/>
              </a:rPr>
              <a:t>(</a:t>
            </a:r>
            <a:r>
              <a:rPr sz="1575" i="1" spc="7" baseline="31746" dirty="0">
                <a:latin typeface="Times New Roman"/>
                <a:cs typeface="Times New Roman"/>
              </a:rPr>
              <a:t>i</a:t>
            </a:r>
            <a:r>
              <a:rPr sz="1575" spc="7" baseline="31746" dirty="0">
                <a:latin typeface="Times New Roman"/>
                <a:cs typeface="Times New Roman"/>
              </a:rPr>
              <a:t>)</a:t>
            </a:r>
            <a:r>
              <a:rPr sz="1575" spc="270" baseline="31746" dirty="0">
                <a:latin typeface="Times New Roman"/>
                <a:cs typeface="Times New Roman"/>
              </a:rPr>
              <a:t> </a:t>
            </a:r>
            <a:r>
              <a:rPr sz="2400" spc="-7" baseline="3472" dirty="0">
                <a:latin typeface="Arial MT"/>
                <a:cs typeface="Arial MT"/>
              </a:rPr>
              <a:t>a</a:t>
            </a:r>
            <a:r>
              <a:rPr sz="2400" baseline="3472" dirty="0">
                <a:latin typeface="Arial MT"/>
                <a:cs typeface="Arial MT"/>
              </a:rPr>
              <a:t> </a:t>
            </a:r>
            <a:r>
              <a:rPr sz="2400" spc="-7" baseline="3472" dirty="0">
                <a:latin typeface="Arial MT"/>
                <a:cs typeface="Arial MT"/>
              </a:rPr>
              <a:t>su</a:t>
            </a:r>
            <a:r>
              <a:rPr sz="2400" spc="7" baseline="3472" dirty="0">
                <a:latin typeface="Arial MT"/>
                <a:cs typeface="Arial MT"/>
              </a:rPr>
              <a:t> </a:t>
            </a:r>
            <a:r>
              <a:rPr sz="2400" spc="-7" baseline="3472" dirty="0">
                <a:latin typeface="Arial MT"/>
                <a:cs typeface="Arial MT"/>
              </a:rPr>
              <a:t>respectivo</a:t>
            </a:r>
            <a:r>
              <a:rPr sz="2400" spc="22" baseline="3472" dirty="0">
                <a:latin typeface="Arial MT"/>
                <a:cs typeface="Arial MT"/>
              </a:rPr>
              <a:t> </a:t>
            </a:r>
            <a:r>
              <a:rPr sz="2400" spc="-7" baseline="3472" dirty="0">
                <a:latin typeface="Arial MT"/>
                <a:cs typeface="Arial MT"/>
              </a:rPr>
              <a:t>centroide</a:t>
            </a:r>
            <a:r>
              <a:rPr sz="2400" spc="15" baseline="3472" dirty="0">
                <a:latin typeface="Arial MT"/>
                <a:cs typeface="Arial MT"/>
              </a:rPr>
              <a:t> </a:t>
            </a:r>
            <a:r>
              <a:rPr sz="2400" spc="52" baseline="3472" dirty="0">
                <a:latin typeface="Cambria Math"/>
                <a:cs typeface="Cambria Math"/>
              </a:rPr>
              <a:t>𝜇</a:t>
            </a:r>
            <a:r>
              <a:rPr sz="1725" spc="52" baseline="-21739" dirty="0">
                <a:latin typeface="Cambria Math"/>
                <a:cs typeface="Cambria Math"/>
              </a:rPr>
              <a:t>𝑐</a:t>
            </a:r>
            <a:r>
              <a:rPr sz="950" spc="35" dirty="0">
                <a:latin typeface="Cambria Math"/>
                <a:cs typeface="Cambria Math"/>
              </a:rPr>
              <a:t>(𝑖)</a:t>
            </a:r>
            <a:endParaRPr sz="950">
              <a:latin typeface="Cambria Math"/>
              <a:cs typeface="Cambria Math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27408" y="5637200"/>
            <a:ext cx="4964966" cy="55448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66008" y="6508191"/>
            <a:ext cx="32588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100" baseline="3968" dirty="0">
                <a:latin typeface="Cambria Math"/>
                <a:cs typeface="Cambria Math"/>
              </a:rPr>
              <a:t>𝜇</a:t>
            </a:r>
            <a:r>
              <a:rPr sz="1500" spc="262" baseline="-19444" dirty="0">
                <a:latin typeface="Cambria Math"/>
                <a:cs typeface="Cambria Math"/>
              </a:rPr>
              <a:t>𝑐</a:t>
            </a:r>
            <a:r>
              <a:rPr sz="850" spc="-10" dirty="0">
                <a:latin typeface="Cambria Math"/>
                <a:cs typeface="Cambria Math"/>
              </a:rPr>
              <a:t>(</a:t>
            </a:r>
            <a:r>
              <a:rPr sz="850" spc="140" dirty="0">
                <a:latin typeface="Cambria Math"/>
                <a:cs typeface="Cambria Math"/>
              </a:rPr>
              <a:t>𝑖</a:t>
            </a:r>
            <a:r>
              <a:rPr sz="850" spc="-5" dirty="0">
                <a:latin typeface="Cambria Math"/>
                <a:cs typeface="Cambria Math"/>
              </a:rPr>
              <a:t>)</a:t>
            </a:r>
            <a:r>
              <a:rPr sz="850" spc="-95" dirty="0">
                <a:latin typeface="Cambria Math"/>
                <a:cs typeface="Cambria Math"/>
              </a:rPr>
              <a:t> </a:t>
            </a:r>
            <a:r>
              <a:rPr sz="2100" baseline="3968" dirty="0">
                <a:latin typeface="Calibri"/>
                <a:cs typeface="Calibri"/>
              </a:rPr>
              <a:t>:</a:t>
            </a:r>
            <a:r>
              <a:rPr sz="2100" spc="-15" baseline="3968" dirty="0">
                <a:latin typeface="Calibri"/>
                <a:cs typeface="Calibri"/>
              </a:rPr>
              <a:t> c</a:t>
            </a:r>
            <a:r>
              <a:rPr sz="2100" spc="-7" baseline="3968" dirty="0">
                <a:latin typeface="Calibri"/>
                <a:cs typeface="Calibri"/>
              </a:rPr>
              <a:t>e</a:t>
            </a:r>
            <a:r>
              <a:rPr sz="2100" spc="-30" baseline="3968" dirty="0">
                <a:latin typeface="Calibri"/>
                <a:cs typeface="Calibri"/>
              </a:rPr>
              <a:t>n</a:t>
            </a:r>
            <a:r>
              <a:rPr sz="2100" baseline="3968" dirty="0">
                <a:latin typeface="Calibri"/>
                <a:cs typeface="Calibri"/>
              </a:rPr>
              <a:t>t</a:t>
            </a:r>
            <a:r>
              <a:rPr sz="2100" spc="-44" baseline="3968" dirty="0">
                <a:latin typeface="Calibri"/>
                <a:cs typeface="Calibri"/>
              </a:rPr>
              <a:t>r</a:t>
            </a:r>
            <a:r>
              <a:rPr sz="2100" spc="-7" baseline="3968" dirty="0">
                <a:latin typeface="Calibri"/>
                <a:cs typeface="Calibri"/>
              </a:rPr>
              <a:t>oid</a:t>
            </a:r>
            <a:r>
              <a:rPr sz="2100" baseline="3968" dirty="0">
                <a:latin typeface="Calibri"/>
                <a:cs typeface="Calibri"/>
              </a:rPr>
              <a:t>e</a:t>
            </a:r>
            <a:r>
              <a:rPr sz="2100" spc="15" baseline="3968" dirty="0">
                <a:latin typeface="Calibri"/>
                <a:cs typeface="Calibri"/>
              </a:rPr>
              <a:t> </a:t>
            </a:r>
            <a:r>
              <a:rPr sz="2100" spc="-15" baseline="3968" dirty="0">
                <a:latin typeface="Calibri"/>
                <a:cs typeface="Calibri"/>
              </a:rPr>
              <a:t>d</a:t>
            </a:r>
            <a:r>
              <a:rPr sz="2100" spc="-7" baseline="3968" dirty="0">
                <a:latin typeface="Calibri"/>
                <a:cs typeface="Calibri"/>
              </a:rPr>
              <a:t>e</a:t>
            </a:r>
            <a:r>
              <a:rPr sz="2100" baseline="3968" dirty="0">
                <a:latin typeface="Calibri"/>
                <a:cs typeface="Calibri"/>
              </a:rPr>
              <a:t>l</a:t>
            </a:r>
            <a:r>
              <a:rPr sz="2100" spc="7" baseline="3968" dirty="0">
                <a:latin typeface="Calibri"/>
                <a:cs typeface="Calibri"/>
              </a:rPr>
              <a:t> </a:t>
            </a:r>
            <a:r>
              <a:rPr sz="2100" spc="-15" baseline="3968" dirty="0">
                <a:latin typeface="Calibri"/>
                <a:cs typeface="Calibri"/>
              </a:rPr>
              <a:t>c</a:t>
            </a:r>
            <a:r>
              <a:rPr sz="2100" baseline="3968" dirty="0">
                <a:latin typeface="Calibri"/>
                <a:cs typeface="Calibri"/>
              </a:rPr>
              <a:t>l</a:t>
            </a:r>
            <a:r>
              <a:rPr sz="2100" spc="-7" baseline="3968" dirty="0">
                <a:latin typeface="Calibri"/>
                <a:cs typeface="Calibri"/>
              </a:rPr>
              <a:t>ú</a:t>
            </a:r>
            <a:r>
              <a:rPr sz="2100" spc="-15" baseline="3968" dirty="0">
                <a:latin typeface="Calibri"/>
                <a:cs typeface="Calibri"/>
              </a:rPr>
              <a:t>s</a:t>
            </a:r>
            <a:r>
              <a:rPr sz="2100" spc="-30" baseline="3968" dirty="0">
                <a:latin typeface="Calibri"/>
                <a:cs typeface="Calibri"/>
              </a:rPr>
              <a:t>t</a:t>
            </a:r>
            <a:r>
              <a:rPr sz="2100" spc="-7" baseline="3968" dirty="0">
                <a:latin typeface="Calibri"/>
                <a:cs typeface="Calibri"/>
              </a:rPr>
              <a:t>e</a:t>
            </a:r>
            <a:r>
              <a:rPr sz="2100" baseline="3968" dirty="0">
                <a:latin typeface="Calibri"/>
                <a:cs typeface="Calibri"/>
              </a:rPr>
              <a:t>r</a:t>
            </a:r>
            <a:r>
              <a:rPr sz="2100" spc="-7" baseline="3968" dirty="0">
                <a:latin typeface="Calibri"/>
                <a:cs typeface="Calibri"/>
              </a:rPr>
              <a:t> </a:t>
            </a:r>
            <a:r>
              <a:rPr sz="2100" spc="-15" baseline="3968" dirty="0">
                <a:latin typeface="Calibri"/>
                <a:cs typeface="Calibri"/>
              </a:rPr>
              <a:t>d</a:t>
            </a:r>
            <a:r>
              <a:rPr sz="2100" baseline="3968" dirty="0">
                <a:latin typeface="Calibri"/>
                <a:cs typeface="Calibri"/>
              </a:rPr>
              <a:t>e la</a:t>
            </a:r>
            <a:r>
              <a:rPr sz="2100" spc="-7" baseline="3968" dirty="0">
                <a:latin typeface="Calibri"/>
                <a:cs typeface="Calibri"/>
              </a:rPr>
              <a:t> </a:t>
            </a:r>
            <a:r>
              <a:rPr sz="2100" baseline="3968" dirty="0">
                <a:latin typeface="Calibri"/>
                <a:cs typeface="Calibri"/>
              </a:rPr>
              <a:t>i</a:t>
            </a:r>
            <a:r>
              <a:rPr sz="2100" spc="-7" baseline="3968" dirty="0">
                <a:latin typeface="Calibri"/>
                <a:cs typeface="Calibri"/>
              </a:rPr>
              <a:t>n</a:t>
            </a:r>
            <a:r>
              <a:rPr sz="2100" spc="-15" baseline="3968" dirty="0">
                <a:latin typeface="Calibri"/>
                <a:cs typeface="Calibri"/>
              </a:rPr>
              <a:t>s</a:t>
            </a:r>
            <a:r>
              <a:rPr sz="2100" spc="-30" baseline="3968" dirty="0">
                <a:latin typeface="Calibri"/>
                <a:cs typeface="Calibri"/>
              </a:rPr>
              <a:t>t</a:t>
            </a:r>
            <a:r>
              <a:rPr sz="2100" baseline="3968" dirty="0">
                <a:latin typeface="Calibri"/>
                <a:cs typeface="Calibri"/>
              </a:rPr>
              <a:t>a</a:t>
            </a:r>
            <a:r>
              <a:rPr sz="2100" spc="-15" baseline="3968" dirty="0">
                <a:latin typeface="Calibri"/>
                <a:cs typeface="Calibri"/>
              </a:rPr>
              <a:t>nc</a:t>
            </a:r>
            <a:r>
              <a:rPr sz="2100" baseline="3968" dirty="0">
                <a:latin typeface="Calibri"/>
                <a:cs typeface="Calibri"/>
              </a:rPr>
              <a:t>ia</a:t>
            </a:r>
            <a:r>
              <a:rPr sz="2100" spc="7" baseline="3968" dirty="0">
                <a:latin typeface="Calibri"/>
                <a:cs typeface="Calibri"/>
              </a:rPr>
              <a:t> </a:t>
            </a:r>
            <a:r>
              <a:rPr sz="2100" i="1" spc="-7" baseline="3968" dirty="0">
                <a:latin typeface="Times New Roman"/>
                <a:cs typeface="Times New Roman"/>
              </a:rPr>
              <a:t>x</a:t>
            </a:r>
            <a:r>
              <a:rPr sz="1350" spc="15" baseline="30864" dirty="0">
                <a:latin typeface="Times New Roman"/>
                <a:cs typeface="Times New Roman"/>
              </a:rPr>
              <a:t>(</a:t>
            </a:r>
            <a:r>
              <a:rPr sz="1350" i="1" spc="15" baseline="30864" dirty="0">
                <a:latin typeface="Times New Roman"/>
                <a:cs typeface="Times New Roman"/>
              </a:rPr>
              <a:t>i</a:t>
            </a:r>
            <a:r>
              <a:rPr sz="1350" spc="15" baseline="30864" dirty="0">
                <a:latin typeface="Times New Roman"/>
                <a:cs typeface="Times New Roman"/>
              </a:rPr>
              <a:t>)</a:t>
            </a:r>
            <a:endParaRPr sz="1350" baseline="30864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98E3402A-795F-6B1B-0AE8-8ED49B81C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Ingeniería de Sistemas - UNCP">
            <a:extLst>
              <a:ext uri="{FF2B5EF4-FFF2-40B4-BE49-F238E27FC236}">
                <a16:creationId xmlns:a16="http://schemas.microsoft.com/office/drawing/2014/main" id="{3B35B71E-EF17-1106-E2EE-4A3B71A6C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6464" y="307593"/>
            <a:ext cx="47523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Clustering</a:t>
            </a:r>
            <a:r>
              <a:rPr spc="5" dirty="0"/>
              <a:t> </a:t>
            </a:r>
            <a:r>
              <a:rPr spc="-5" dirty="0"/>
              <a:t>usando</a:t>
            </a:r>
            <a:r>
              <a:rPr spc="20" dirty="0"/>
              <a:t> </a:t>
            </a:r>
            <a:r>
              <a:rPr spc="-5" dirty="0"/>
              <a:t>K-means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603" y="1138471"/>
            <a:ext cx="7966075" cy="212979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21615" indent="-196850">
              <a:lnSpc>
                <a:spcPct val="100000"/>
              </a:lnSpc>
              <a:spcBef>
                <a:spcPts val="765"/>
              </a:spcBef>
              <a:buChar char="•"/>
              <a:tabLst>
                <a:tab pos="22225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Algoritmo:</a:t>
            </a:r>
            <a:endParaRPr sz="2000">
              <a:latin typeface="Arial MT"/>
              <a:cs typeface="Arial MT"/>
            </a:endParaRPr>
          </a:p>
          <a:p>
            <a:pPr marL="584200" lvl="1" indent="-343535">
              <a:lnSpc>
                <a:spcPct val="100000"/>
              </a:lnSpc>
              <a:spcBef>
                <a:spcPts val="595"/>
              </a:spcBef>
              <a:buAutoNum type="arabicPeriod"/>
              <a:tabLst>
                <a:tab pos="584200" algn="l"/>
                <a:tab pos="584835" algn="l"/>
              </a:tabLst>
            </a:pPr>
            <a:r>
              <a:rPr sz="1800" spc="-5" dirty="0">
                <a:latin typeface="Arial MT"/>
                <a:cs typeface="Arial MT"/>
              </a:rPr>
              <a:t>Inicialización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los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 MT"/>
                <a:cs typeface="Arial MT"/>
              </a:rPr>
              <a:t>centroides</a:t>
            </a:r>
            <a:endParaRPr sz="1800">
              <a:latin typeface="Arial MT"/>
              <a:cs typeface="Arial MT"/>
            </a:endParaRPr>
          </a:p>
          <a:p>
            <a:pPr marL="921385" lvl="2" indent="-226060">
              <a:lnSpc>
                <a:spcPct val="100000"/>
              </a:lnSpc>
              <a:spcBef>
                <a:spcPts val="405"/>
              </a:spcBef>
              <a:buChar char="•"/>
              <a:tabLst>
                <a:tab pos="921385" algn="l"/>
                <a:tab pos="922019" algn="l"/>
              </a:tabLst>
            </a:pPr>
            <a:r>
              <a:rPr sz="1600" spc="-5" dirty="0">
                <a:latin typeface="Arial MT"/>
                <a:cs typeface="Arial MT"/>
              </a:rPr>
              <a:t>Seleccionando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puntos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aleatorios en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el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espacio</a:t>
            </a:r>
            <a:endParaRPr sz="1600">
              <a:latin typeface="Arial MT"/>
              <a:cs typeface="Arial MT"/>
            </a:endParaRPr>
          </a:p>
          <a:p>
            <a:pPr marL="921385" lvl="2" indent="-226060">
              <a:lnSpc>
                <a:spcPct val="100000"/>
              </a:lnSpc>
              <a:spcBef>
                <a:spcPts val="385"/>
              </a:spcBef>
              <a:buChar char="•"/>
              <a:tabLst>
                <a:tab pos="921385" algn="l"/>
                <a:tab pos="922019" algn="l"/>
              </a:tabLst>
            </a:pPr>
            <a:r>
              <a:rPr sz="1600" spc="-5" dirty="0">
                <a:latin typeface="Arial MT"/>
                <a:cs typeface="Arial MT"/>
              </a:rPr>
              <a:t>Escogiendo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instancias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aleatorias</a:t>
            </a:r>
            <a:endParaRPr sz="1600">
              <a:latin typeface="Arial MT"/>
              <a:cs typeface="Arial MT"/>
            </a:endParaRPr>
          </a:p>
          <a:p>
            <a:pPr lvl="2"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1500">
              <a:latin typeface="Arial MT"/>
              <a:cs typeface="Arial MT"/>
            </a:endParaRPr>
          </a:p>
          <a:p>
            <a:pPr marL="584200" marR="55880" lvl="1" indent="-342900">
              <a:lnSpc>
                <a:spcPct val="100600"/>
              </a:lnSpc>
              <a:buAutoNum type="arabicPeriod"/>
              <a:tabLst>
                <a:tab pos="584200" algn="l"/>
                <a:tab pos="584835" algn="l"/>
              </a:tabLst>
            </a:pPr>
            <a:r>
              <a:rPr sz="1800" spc="-5" dirty="0">
                <a:latin typeface="Arial MT"/>
                <a:cs typeface="Arial MT"/>
              </a:rPr>
              <a:t>Asignación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 clúster: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minimizar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 MT"/>
                <a:cs typeface="Arial MT"/>
              </a:rPr>
              <a:t>con respecto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cada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c</a:t>
            </a:r>
            <a:r>
              <a:rPr sz="1800" spc="-7" baseline="25462" dirty="0">
                <a:latin typeface="Times New Roman"/>
                <a:cs typeface="Times New Roman"/>
              </a:rPr>
              <a:t>(</a:t>
            </a:r>
            <a:r>
              <a:rPr sz="1800" i="1" spc="-7" baseline="25462" dirty="0">
                <a:latin typeface="Times New Roman"/>
                <a:cs typeface="Times New Roman"/>
              </a:rPr>
              <a:t>i</a:t>
            </a:r>
            <a:r>
              <a:rPr sz="1800" spc="-7" baseline="25462" dirty="0">
                <a:latin typeface="Times New Roman"/>
                <a:cs typeface="Times New Roman"/>
              </a:rPr>
              <a:t>)</a:t>
            </a:r>
            <a:r>
              <a:rPr sz="1800" spc="-5" dirty="0">
                <a:latin typeface="Arial MT"/>
                <a:cs typeface="Arial MT"/>
              </a:rPr>
              <a:t>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manteniendo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centroides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constantes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711" y="3981704"/>
            <a:ext cx="7770495" cy="223075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5600" marR="473075" indent="-342900">
              <a:lnSpc>
                <a:spcPct val="100600"/>
              </a:lnSpc>
              <a:spcBef>
                <a:spcPts val="85"/>
              </a:spcBef>
              <a:buAutoNum type="arabicPeriod" startAt="3"/>
              <a:tabLst>
                <a:tab pos="354965" algn="l"/>
                <a:tab pos="355600" algn="l"/>
              </a:tabLst>
            </a:pPr>
            <a:r>
              <a:rPr sz="1800" spc="-5" dirty="0">
                <a:latin typeface="Arial MT"/>
                <a:cs typeface="Arial MT"/>
              </a:rPr>
              <a:t>Movimiento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del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centroide: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Minimizar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J</a:t>
            </a:r>
            <a:r>
              <a:rPr sz="1800" i="1" spc="6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 MT"/>
                <a:cs typeface="Arial MT"/>
              </a:rPr>
              <a:t>con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respecto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cada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centroide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manteniendo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asignaciones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clúster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constantes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AutoNum type="arabicPeriod" startAt="3"/>
            </a:pPr>
            <a:endParaRPr sz="155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354965" algn="l"/>
                <a:tab pos="355600" algn="l"/>
              </a:tabLst>
            </a:pPr>
            <a:r>
              <a:rPr sz="1800" spc="-5" dirty="0">
                <a:latin typeface="Arial MT"/>
                <a:cs typeface="Arial MT"/>
              </a:rPr>
              <a:t>Finalización: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repetir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 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 </a:t>
            </a:r>
            <a:r>
              <a:rPr sz="1800" spc="-5" dirty="0">
                <a:latin typeface="Arial MT"/>
                <a:cs typeface="Arial MT"/>
              </a:rPr>
              <a:t>hasta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que</a:t>
            </a:r>
            <a:r>
              <a:rPr sz="1800" dirty="0">
                <a:latin typeface="Arial MT"/>
                <a:cs typeface="Arial MT"/>
              </a:rPr>
              <a:t> se </a:t>
            </a:r>
            <a:r>
              <a:rPr sz="1800" spc="-5" dirty="0">
                <a:latin typeface="Arial MT"/>
                <a:cs typeface="Arial MT"/>
              </a:rPr>
              <a:t>satisfaga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alguno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los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siguientes</a:t>
            </a:r>
            <a:endParaRPr sz="18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criterios</a:t>
            </a:r>
            <a:endParaRPr sz="1800">
              <a:latin typeface="Arial MT"/>
              <a:cs typeface="Arial MT"/>
            </a:endParaRPr>
          </a:p>
          <a:p>
            <a:pPr marL="692150" lvl="1" indent="-226060">
              <a:lnSpc>
                <a:spcPct val="100000"/>
              </a:lnSpc>
              <a:spcBef>
                <a:spcPts val="390"/>
              </a:spcBef>
              <a:buChar char="•"/>
              <a:tabLst>
                <a:tab pos="692150" algn="l"/>
                <a:tab pos="692785" algn="l"/>
              </a:tabLst>
            </a:pPr>
            <a:r>
              <a:rPr sz="1600" spc="-80" dirty="0">
                <a:latin typeface="Arial MT"/>
                <a:cs typeface="Arial MT"/>
              </a:rPr>
              <a:t>Ya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no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hay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reasignaciones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instancias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clústeres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diferentes</a:t>
            </a:r>
            <a:endParaRPr sz="1600">
              <a:latin typeface="Arial MT"/>
              <a:cs typeface="Arial MT"/>
            </a:endParaRPr>
          </a:p>
          <a:p>
            <a:pPr marL="692150" lvl="1" indent="-226060">
              <a:lnSpc>
                <a:spcPct val="100000"/>
              </a:lnSpc>
              <a:spcBef>
                <a:spcPts val="385"/>
              </a:spcBef>
              <a:buChar char="•"/>
              <a:tabLst>
                <a:tab pos="692150" algn="l"/>
                <a:tab pos="692785" algn="l"/>
              </a:tabLst>
            </a:pPr>
            <a:r>
              <a:rPr sz="1600" spc="-80" dirty="0">
                <a:latin typeface="Arial MT"/>
                <a:cs typeface="Arial MT"/>
              </a:rPr>
              <a:t>Ya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no existe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cambio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en los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centroides</a:t>
            </a:r>
            <a:endParaRPr sz="1600">
              <a:latin typeface="Arial MT"/>
              <a:cs typeface="Arial MT"/>
            </a:endParaRPr>
          </a:p>
          <a:p>
            <a:pPr marL="692150" lvl="1" indent="-226060">
              <a:lnSpc>
                <a:spcPct val="100000"/>
              </a:lnSpc>
              <a:spcBef>
                <a:spcPts val="375"/>
              </a:spcBef>
              <a:buChar char="•"/>
              <a:tabLst>
                <a:tab pos="692150" algn="l"/>
                <a:tab pos="692785" algn="l"/>
              </a:tabLst>
            </a:pPr>
            <a:r>
              <a:rPr sz="1600" spc="-5" dirty="0">
                <a:latin typeface="Arial MT"/>
                <a:cs typeface="Arial MT"/>
              </a:rPr>
              <a:t>La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función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de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costo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J</a:t>
            </a:r>
            <a:r>
              <a:rPr sz="1600" i="1" spc="6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Arial MT"/>
                <a:cs typeface="Arial MT"/>
              </a:rPr>
              <a:t>presenta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una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disminución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mínima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9844" y="3420230"/>
            <a:ext cx="2778215" cy="40791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14</a:t>
            </a:fld>
            <a:endParaRPr spc="-5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8165C427-9D68-0A86-3CE5-DD784AFD2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Ingeniería de Sistemas - UNCP">
            <a:extLst>
              <a:ext uri="{FF2B5EF4-FFF2-40B4-BE49-F238E27FC236}">
                <a16:creationId xmlns:a16="http://schemas.microsoft.com/office/drawing/2014/main" id="{DBD358C7-0B62-8FEC-29FE-594BB4068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8845" y="307593"/>
            <a:ext cx="4767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Clustering</a:t>
            </a:r>
            <a:r>
              <a:rPr spc="15" dirty="0"/>
              <a:t> </a:t>
            </a:r>
            <a:r>
              <a:rPr spc="-5" dirty="0"/>
              <a:t>usando</a:t>
            </a:r>
            <a:r>
              <a:rPr spc="15" dirty="0"/>
              <a:t> </a:t>
            </a:r>
            <a:r>
              <a:rPr spc="-10" dirty="0"/>
              <a:t>DBSCAN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46303" y="1222628"/>
            <a:ext cx="8209915" cy="5011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5"/>
              </a:spcBef>
              <a:buChar char="•"/>
              <a:tabLst>
                <a:tab pos="209550" algn="l"/>
              </a:tabLst>
            </a:pPr>
            <a:r>
              <a:rPr sz="2000" dirty="0">
                <a:latin typeface="Arial MT"/>
                <a:cs typeface="Arial MT"/>
              </a:rPr>
              <a:t>“Density-Based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Spatial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Clustering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Applications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Noise”</a:t>
            </a:r>
            <a:endParaRPr sz="2000">
              <a:latin typeface="Arial MT"/>
              <a:cs typeface="Arial MT"/>
            </a:endParaRPr>
          </a:p>
          <a:p>
            <a:pPr marL="208915" indent="-196850">
              <a:lnSpc>
                <a:spcPct val="100000"/>
              </a:lnSpc>
              <a:spcBef>
                <a:spcPts val="1800"/>
              </a:spcBef>
              <a:buChar char="•"/>
              <a:tabLst>
                <a:tab pos="20955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Útil</a:t>
            </a:r>
            <a:r>
              <a:rPr sz="2000" spc="-45" dirty="0">
                <a:solidFill>
                  <a:srgbClr val="00AF5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cuando</a:t>
            </a:r>
            <a:endParaRPr sz="20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25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Arial MT"/>
                <a:cs typeface="Arial MT"/>
              </a:rPr>
              <a:t>No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se sabe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número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k</a:t>
            </a:r>
            <a:r>
              <a:rPr sz="1800" i="1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grupos</a:t>
            </a:r>
            <a:endParaRPr sz="18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45"/>
              </a:spcBef>
              <a:buChar char="-"/>
              <a:tabLst>
                <a:tab pos="389255" algn="l"/>
              </a:tabLst>
            </a:pPr>
            <a:r>
              <a:rPr sz="1800" dirty="0">
                <a:latin typeface="Arial MT"/>
                <a:cs typeface="Arial MT"/>
              </a:rPr>
              <a:t>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sabe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cómo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deben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agruparse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términos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densidad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(distancia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entre</a:t>
            </a:r>
            <a:endParaRPr sz="1600">
              <a:latin typeface="Arial MT"/>
              <a:cs typeface="Arial MT"/>
            </a:endParaRPr>
          </a:p>
          <a:p>
            <a:pPr marL="388620">
              <a:lnSpc>
                <a:spcPct val="100000"/>
              </a:lnSpc>
              <a:spcBef>
                <a:spcPts val="10"/>
              </a:spcBef>
            </a:pP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puntos</a:t>
            </a:r>
            <a:r>
              <a:rPr sz="16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en un</a:t>
            </a:r>
            <a:r>
              <a:rPr sz="16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grupo)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50">
              <a:latin typeface="Arial MT"/>
              <a:cs typeface="Arial MT"/>
            </a:endParaRPr>
          </a:p>
          <a:p>
            <a:pPr marL="208915" indent="-196850">
              <a:lnSpc>
                <a:spcPct val="100000"/>
              </a:lnSpc>
              <a:buChar char="•"/>
              <a:tabLst>
                <a:tab pos="209550" algn="l"/>
              </a:tabLst>
            </a:pPr>
            <a:r>
              <a:rPr sz="2000" dirty="0">
                <a:latin typeface="Arial MT"/>
                <a:cs typeface="Arial MT"/>
              </a:rPr>
              <a:t>Agrupa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puntos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que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están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dentro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distancia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umbral</a:t>
            </a:r>
            <a:endParaRPr sz="20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61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veces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llamado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“agrupamiento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Euclideano”</a:t>
            </a:r>
            <a:endParaRPr sz="1800">
              <a:latin typeface="Arial MT"/>
              <a:cs typeface="Arial MT"/>
            </a:endParaRPr>
          </a:p>
          <a:p>
            <a:pPr marL="388620" marR="245745" lvl="1" indent="-160020">
              <a:lnSpc>
                <a:spcPct val="100000"/>
              </a:lnSpc>
              <a:spcBef>
                <a:spcPts val="600"/>
              </a:spcBef>
              <a:buChar char="-"/>
              <a:tabLst>
                <a:tab pos="389255" algn="l"/>
              </a:tabLst>
            </a:pPr>
            <a:r>
              <a:rPr sz="1800" spc="-5" dirty="0">
                <a:latin typeface="Arial MT"/>
                <a:cs typeface="Arial MT"/>
              </a:rPr>
              <a:t>La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pertenencia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grupo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basa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la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distancia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euclideana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(entre</a:t>
            </a:r>
            <a:r>
              <a:rPr sz="14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el</a:t>
            </a:r>
            <a:r>
              <a:rPr sz="14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punto</a:t>
            </a:r>
            <a:r>
              <a:rPr sz="14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y </a:t>
            </a:r>
            <a:r>
              <a:rPr sz="1400" spc="-37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otros</a:t>
            </a:r>
            <a:r>
              <a:rPr sz="14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spc="-5" dirty="0">
                <a:solidFill>
                  <a:srgbClr val="7E7E7E"/>
                </a:solidFill>
                <a:latin typeface="Arial MT"/>
                <a:cs typeface="Arial MT"/>
              </a:rPr>
              <a:t>miembros</a:t>
            </a:r>
            <a:r>
              <a:rPr sz="14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del</a:t>
            </a:r>
            <a:r>
              <a:rPr sz="14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7E7E7E"/>
                </a:solidFill>
                <a:latin typeface="Arial MT"/>
                <a:cs typeface="Arial MT"/>
              </a:rPr>
              <a:t>grupo)</a:t>
            </a:r>
            <a:endParaRPr sz="1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Arial MT"/>
              <a:buChar char="-"/>
            </a:pPr>
            <a:endParaRPr sz="1550">
              <a:latin typeface="Arial MT"/>
              <a:cs typeface="Arial MT"/>
            </a:endParaRPr>
          </a:p>
          <a:p>
            <a:pPr marL="208915" indent="-196850">
              <a:lnSpc>
                <a:spcPct val="100000"/>
              </a:lnSpc>
              <a:buChar char="•"/>
              <a:tabLst>
                <a:tab pos="209550" algn="l"/>
              </a:tabLst>
            </a:pPr>
            <a:r>
              <a:rPr sz="2000" dirty="0">
                <a:solidFill>
                  <a:srgbClr val="00AF50"/>
                </a:solidFill>
                <a:latin typeface="Arial MT"/>
                <a:cs typeface="Arial MT"/>
              </a:rPr>
              <a:t>Idea:</a:t>
            </a:r>
            <a:endParaRPr sz="20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45"/>
              </a:spcBef>
              <a:buChar char="-"/>
              <a:tabLst>
                <a:tab pos="389255" algn="l"/>
              </a:tabLst>
            </a:pPr>
            <a:r>
              <a:rPr sz="1800" dirty="0">
                <a:latin typeface="Arial MT"/>
                <a:cs typeface="Arial MT"/>
              </a:rPr>
              <a:t>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añade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un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punto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aleatorio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 </a:t>
            </a:r>
            <a:r>
              <a:rPr sz="1800" spc="-10" dirty="0">
                <a:latin typeface="Arial MT"/>
                <a:cs typeface="Arial MT"/>
              </a:rPr>
              <a:t>un</a:t>
            </a:r>
            <a:r>
              <a:rPr sz="1800" spc="-5" dirty="0">
                <a:latin typeface="Arial MT"/>
                <a:cs typeface="Arial MT"/>
              </a:rPr>
              <a:t> grupo</a:t>
            </a:r>
            <a:endParaRPr sz="1800">
              <a:latin typeface="Arial MT"/>
              <a:cs typeface="Arial MT"/>
            </a:endParaRPr>
          </a:p>
          <a:p>
            <a:pPr marL="388620" marR="5080" lvl="1" indent="-160020">
              <a:lnSpc>
                <a:spcPct val="100000"/>
              </a:lnSpc>
              <a:spcBef>
                <a:spcPts val="430"/>
              </a:spcBef>
              <a:buChar char="-"/>
              <a:tabLst>
                <a:tab pos="389255" algn="l"/>
              </a:tabLst>
            </a:pPr>
            <a:r>
              <a:rPr sz="1800" dirty="0">
                <a:latin typeface="Arial MT"/>
                <a:cs typeface="Arial MT"/>
              </a:rPr>
              <a:t>Se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añade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los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vecinos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del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punto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los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vecinos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 los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vecinos,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hasta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completar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todo </a:t>
            </a:r>
            <a:r>
              <a:rPr sz="1800" spc="-10" dirty="0">
                <a:latin typeface="Arial MT"/>
                <a:cs typeface="Arial MT"/>
              </a:rPr>
              <a:t>el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grupo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(según</a:t>
            </a:r>
            <a:r>
              <a:rPr sz="160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cierta</a:t>
            </a:r>
            <a:r>
              <a:rPr sz="1600" spc="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Arial MT"/>
                <a:cs typeface="Arial MT"/>
              </a:rPr>
              <a:t>“distancia”)</a:t>
            </a:r>
            <a:endParaRPr sz="1600">
              <a:latin typeface="Arial MT"/>
              <a:cs typeface="Arial MT"/>
            </a:endParaRPr>
          </a:p>
          <a:p>
            <a:pPr marL="388620" lvl="1" indent="-160655">
              <a:lnSpc>
                <a:spcPct val="100000"/>
              </a:lnSpc>
              <a:spcBef>
                <a:spcPts val="434"/>
              </a:spcBef>
              <a:buChar char="-"/>
              <a:tabLst>
                <a:tab pos="389255" algn="l"/>
              </a:tabLst>
            </a:pPr>
            <a:r>
              <a:rPr sz="1800" dirty="0">
                <a:latin typeface="Arial MT"/>
                <a:cs typeface="Arial MT"/>
              </a:rPr>
              <a:t>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repite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otro</a:t>
            </a:r>
            <a:r>
              <a:rPr sz="1800" spc="-5" dirty="0">
                <a:latin typeface="Arial MT"/>
                <a:cs typeface="Arial MT"/>
              </a:rPr>
              <a:t> punto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aleatorio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agrupado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1F4316-1A58-E07A-887F-236BE5C04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Ingeniería de Sistemas - UNCP">
            <a:extLst>
              <a:ext uri="{FF2B5EF4-FFF2-40B4-BE49-F238E27FC236}">
                <a16:creationId xmlns:a16="http://schemas.microsoft.com/office/drawing/2014/main" id="{6DB4590C-A700-F201-9113-3A4101AA5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105" y="6637731"/>
            <a:ext cx="1657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585858"/>
                </a:solidFill>
                <a:latin typeface="Arial MT"/>
                <a:cs typeface="Arial MT"/>
              </a:rPr>
              <a:t>16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88845" y="307593"/>
            <a:ext cx="4767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Clustering</a:t>
            </a:r>
            <a:r>
              <a:rPr spc="15" dirty="0"/>
              <a:t> </a:t>
            </a:r>
            <a:r>
              <a:rPr spc="-5" dirty="0"/>
              <a:t>usando</a:t>
            </a:r>
            <a:r>
              <a:rPr spc="15" dirty="0"/>
              <a:t> </a:t>
            </a:r>
            <a:r>
              <a:rPr spc="-10" dirty="0"/>
              <a:t>DBSCAN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6303" y="1222628"/>
            <a:ext cx="18783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5"/>
              </a:spcBef>
              <a:buChar char="•"/>
              <a:tabLst>
                <a:tab pos="209550" algn="l"/>
              </a:tabLst>
            </a:pPr>
            <a:r>
              <a:rPr sz="2000" dirty="0">
                <a:latin typeface="Arial MT"/>
                <a:cs typeface="Arial MT"/>
              </a:rPr>
              <a:t>Agrupamiento: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6303" y="4003040"/>
            <a:ext cx="11417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indent="-196850">
              <a:lnSpc>
                <a:spcPct val="100000"/>
              </a:lnSpc>
              <a:spcBef>
                <a:spcPts val="100"/>
              </a:spcBef>
              <a:buChar char="•"/>
              <a:tabLst>
                <a:tab pos="209550" algn="l"/>
              </a:tabLst>
            </a:pPr>
            <a:r>
              <a:rPr sz="2000" dirty="0">
                <a:latin typeface="Arial MT"/>
                <a:cs typeface="Arial MT"/>
              </a:rPr>
              <a:t>Ejemplo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2155" y="1629155"/>
            <a:ext cx="2944608" cy="212598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510408" y="6591706"/>
            <a:ext cx="4125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</a:rPr>
              <a:t>https://</a:t>
            </a:r>
            <a:r>
              <a:rPr sz="1200" spc="-5" dirty="0">
                <a:solidFill>
                  <a:srgbClr val="7E7E7E"/>
                </a:solidFill>
                <a:latin typeface="Calibri"/>
                <a:cs typeface="Calibri"/>
                <a:hlinkClick r:id="rId3"/>
              </a:rPr>
              <a:t>www.naftaliharris.com/blog/visualizing-dbscan-clustering/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63421" y="4536519"/>
            <a:ext cx="5229274" cy="169221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110096" y="2369896"/>
            <a:ext cx="1603375" cy="757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6195" algn="just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Se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busca todos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los </a:t>
            </a:r>
            <a:r>
              <a:rPr sz="1600" spc="-3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“vecinos” según </a:t>
            </a:r>
            <a:r>
              <a:rPr sz="1600" spc="-5" dirty="0">
                <a:solidFill>
                  <a:srgbClr val="7E7E7E"/>
                </a:solidFill>
                <a:latin typeface="Calibri"/>
                <a:cs typeface="Calibri"/>
              </a:rPr>
              <a:t>la </a:t>
            </a:r>
            <a:r>
              <a:rPr sz="160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distancia</a:t>
            </a:r>
            <a:r>
              <a:rPr sz="1600" spc="-6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Calibri"/>
                <a:cs typeface="Calibri"/>
              </a:rPr>
              <a:t>aceptable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DA28A833-7EC4-7D7A-5EBC-709518F99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5" y="152399"/>
            <a:ext cx="685800" cy="5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Ingeniería de Sistemas - UNCP">
            <a:extLst>
              <a:ext uri="{FF2B5EF4-FFF2-40B4-BE49-F238E27FC236}">
                <a16:creationId xmlns:a16="http://schemas.microsoft.com/office/drawing/2014/main" id="{34B4BA13-0D4A-A7F0-62AC-174351B99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3574" y="152399"/>
            <a:ext cx="581085" cy="58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E7E7E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1745</TotalTime>
  <Words>972</Words>
  <Application>Microsoft Office PowerPoint</Application>
  <PresentationFormat>Presentación en pantalla (4:3)</PresentationFormat>
  <Paragraphs>179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4" baseType="lpstr">
      <vt:lpstr>Arial</vt:lpstr>
      <vt:lpstr>Arial MT</vt:lpstr>
      <vt:lpstr>Calibri</vt:lpstr>
      <vt:lpstr>Cambria Math</vt:lpstr>
      <vt:lpstr>Comic Sans MS</vt:lpstr>
      <vt:lpstr>Symbol</vt:lpstr>
      <vt:lpstr>Times New Roman</vt:lpstr>
      <vt:lpstr>Office Theme</vt:lpstr>
      <vt:lpstr>Agrupamiento (Clustering)</vt:lpstr>
      <vt:lpstr>Clustering</vt:lpstr>
      <vt:lpstr>Clustering</vt:lpstr>
      <vt:lpstr>Clasificación de Clústeres</vt:lpstr>
      <vt:lpstr>Clasificación de Clústeres</vt:lpstr>
      <vt:lpstr>Medidas de Proximidad</vt:lpstr>
      <vt:lpstr>Criterio de Evaluación</vt:lpstr>
      <vt:lpstr>Métodos para Clustering</vt:lpstr>
      <vt:lpstr>Métodos para Clustering</vt:lpstr>
      <vt:lpstr>Métodos para Clustering</vt:lpstr>
      <vt:lpstr>Métodos para Clustering</vt:lpstr>
      <vt:lpstr>Clustering usando K-means</vt:lpstr>
      <vt:lpstr>Clustering usando K-means</vt:lpstr>
      <vt:lpstr>Clustering usando K-means</vt:lpstr>
      <vt:lpstr>Clustering usando DBSCAN</vt:lpstr>
      <vt:lpstr>Clustering usando DBSCAN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Agrupamiento (Clustering)</dc:title>
  <cp:lastModifiedBy>JAIME ANTONIO HUAYTALLA PARIONA</cp:lastModifiedBy>
  <cp:revision>4</cp:revision>
  <dcterms:created xsi:type="dcterms:W3CDTF">2024-06-22T17:24:44Z</dcterms:created>
  <dcterms:modified xsi:type="dcterms:W3CDTF">2025-07-09T18:08:30Z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2020-10-29T00:00:00Z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2024-06-22T00:00:00Z</vt:filetime>
  </property>
</Properties>
</file>