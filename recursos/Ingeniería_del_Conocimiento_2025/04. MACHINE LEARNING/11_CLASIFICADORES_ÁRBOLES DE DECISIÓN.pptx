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331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63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3" r:id="rId31"/>
    <p:sldId id="374" r:id="rId32"/>
    <p:sldId id="372" r:id="rId3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1pPr>
    <a:lvl2pPr marL="0" marR="0" indent="45720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2pPr>
    <a:lvl3pPr marL="0" marR="0" indent="91440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3pPr>
    <a:lvl4pPr marL="0" marR="0" indent="137160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4pPr>
    <a:lvl5pPr marL="0" marR="0" indent="182880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5pPr>
    <a:lvl6pPr marL="0" marR="0" indent="228600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6pPr>
    <a:lvl7pPr marL="0" marR="0" indent="274320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7pPr>
    <a:lvl8pPr marL="0" marR="0" indent="320040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8pPr>
    <a:lvl9pPr marL="0" marR="0" indent="3657600" algn="ctr" defTabSz="821531" rtl="0" fontAlgn="auto" latinLnBrk="0" hangingPunct="0">
      <a:lnSpc>
        <a:spcPct val="80000"/>
      </a:lnSpc>
      <a:spcBef>
        <a:spcPts val="400"/>
      </a:spcBef>
      <a:spcAft>
        <a:spcPts val="0"/>
      </a:spcAft>
      <a:buClrTx/>
      <a:buSzTx/>
      <a:buFontTx/>
      <a:buNone/>
      <a:tabLst>
        <a:tab pos="812800" algn="l"/>
      </a:tabLst>
      <a:defRPr kumimoji="0" sz="2600" b="0" i="0" u="none" strike="noStrike" cap="none" spc="-26" normalizeH="0" baseline="0">
        <a:ln>
          <a:noFill/>
        </a:ln>
        <a:solidFill>
          <a:srgbClr val="000000"/>
        </a:solidFill>
        <a:effectLst/>
        <a:uFillTx/>
        <a:latin typeface="Graphik Compact Regular"/>
        <a:ea typeface="Graphik Compact Regular"/>
        <a:cs typeface="Graphik Compact Regular"/>
        <a:sym typeface="Graphik Compact Regular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EFA07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254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254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3712597"/>
              <a:satOff val="-23099"/>
              <a:lumOff val="5802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BCEF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2871FF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D1F6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E7FE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wholeTbl>
    <a:band2H>
      <a:tcTxStyle/>
      <a:tcStyle>
        <a:tcBdr/>
        <a:fill>
          <a:solidFill>
            <a:srgbClr val="EAEAEA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01"/>
    <p:restoredTop sz="94718"/>
  </p:normalViewPr>
  <p:slideViewPr>
    <p:cSldViewPr snapToGrid="0">
      <p:cViewPr varScale="1">
        <p:scale>
          <a:sx n="45" d="100"/>
          <a:sy n="45" d="100"/>
        </p:scale>
        <p:origin x="773" y="67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58412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Presentation Title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Presentation Subtitle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ow angle view of a building and palm trees under a bright sky"/>
          <p:cNvSpPr>
            <a:spLocks noGrp="1"/>
          </p:cNvSpPr>
          <p:nvPr>
            <p:ph type="pic" idx="21"/>
          </p:nvPr>
        </p:nvSpPr>
        <p:spPr>
          <a:xfrm>
            <a:off x="-254000" y="-3937000"/>
            <a:ext cx="24980900" cy="1873990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95400" y="4384675"/>
            <a:ext cx="21869400" cy="4699000"/>
          </a:xfrm>
          <a:prstGeom prst="rect">
            <a:avLst/>
          </a:prstGeom>
        </p:spPr>
        <p:txBody>
          <a:bodyPr/>
          <a:lstStyle/>
          <a:p>
            <a:r>
              <a:t>Presentation Title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95400" y="9268776"/>
            <a:ext cx="21869400" cy="1422714"/>
          </a:xfrm>
          <a:prstGeom prst="rect">
            <a:avLst/>
          </a:prstGeom>
        </p:spPr>
        <p:txBody>
          <a:bodyPr/>
          <a:lstStyle/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spcBef>
                <a:spcPts val="0"/>
              </a:spcBef>
              <a:tabLst/>
              <a:defRPr sz="2200" spc="-44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pPr>
            <a:endParaRPr/>
          </a:p>
        </p:txBody>
      </p:sp>
      <p:sp>
        <p:nvSpPr>
          <p:cNvPr id="31" name="Low angle view of a palm tree with Dubai’s skyscrapers in the background"/>
          <p:cNvSpPr>
            <a:spLocks noGrp="1"/>
          </p:cNvSpPr>
          <p:nvPr>
            <p:ph type="pic" idx="21"/>
          </p:nvPr>
        </p:nvSpPr>
        <p:spPr>
          <a:xfrm>
            <a:off x="14033251" y="-897806"/>
            <a:ext cx="10349536" cy="1551160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95400" y="3743016"/>
            <a:ext cx="11442700" cy="5334001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95400" y="9271000"/>
            <a:ext cx="11442700" cy="3175000"/>
          </a:xfrm>
          <a:prstGeom prst="rect">
            <a:avLst/>
          </a:prstGeom>
        </p:spPr>
        <p:txBody>
          <a:bodyPr/>
          <a:lstStyle/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spcBef>
                <a:spcPts val="0"/>
              </a:spcBef>
              <a:tabLst/>
              <a:defRPr sz="2200" spc="-44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pPr>
            <a:endParaRPr/>
          </a:p>
        </p:txBody>
      </p:sp>
      <p:sp>
        <p:nvSpPr>
          <p:cNvPr id="42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21869400" cy="429261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200"/>
              </a:spcBef>
              <a:defRPr sz="2000" spc="-59"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3543455"/>
            <a:ext cx="21869400" cy="694056"/>
          </a:xfrm>
          <a:prstGeom prst="rect">
            <a:avLst/>
          </a:prstGeom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95400" y="1620697"/>
            <a:ext cx="21869400" cy="1778386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Slide Title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95400" y="5270500"/>
            <a:ext cx="21869400" cy="7137400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300"/>
              </a:spcBef>
              <a:defRPr sz="4000" cap="none" spc="0"/>
            </a:lvl1pPr>
            <a:lvl2pPr defTabSz="584200">
              <a:spcBef>
                <a:spcPts val="3300"/>
              </a:spcBef>
              <a:defRPr sz="4000" cap="none" spc="0"/>
            </a:lvl2pPr>
            <a:lvl3pPr defTabSz="584200">
              <a:spcBef>
                <a:spcPts val="3300"/>
              </a:spcBef>
              <a:defRPr sz="4000" cap="none" spc="0"/>
            </a:lvl3pPr>
            <a:lvl4pPr defTabSz="584200">
              <a:spcBef>
                <a:spcPts val="3300"/>
              </a:spcBef>
              <a:defRPr sz="4000" cap="none" spc="0"/>
            </a:lvl4pPr>
            <a:lvl5pPr defTabSz="584200">
              <a:spcBef>
                <a:spcPts val="3300"/>
              </a:spcBef>
              <a:defRPr sz="4000" cap="none" spc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3706" y="12981031"/>
            <a:ext cx="361189" cy="4041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spcBef>
                <a:spcPts val="0"/>
              </a:spcBef>
              <a:tabLst/>
              <a:defRPr sz="2200" spc="-44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pPr>
            <a:endParaRPr/>
          </a:p>
        </p:txBody>
      </p:sp>
      <p:sp>
        <p:nvSpPr>
          <p:cNvPr id="54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21869400" cy="429261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200"/>
              </a:spcBef>
              <a:defRPr sz="2000" spc="-59"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95400" y="5270500"/>
            <a:ext cx="21869400" cy="7135317"/>
          </a:xfrm>
          <a:prstGeom prst="rect">
            <a:avLst/>
          </a:prstGeom>
        </p:spPr>
        <p:txBody>
          <a:bodyPr numCol="2" spcCol="1093469"/>
          <a:lstStyle>
            <a:lvl1pPr defTabSz="584200">
              <a:spcBef>
                <a:spcPts val="3300"/>
              </a:spcBef>
              <a:defRPr sz="4000" cap="none" spc="0"/>
            </a:lvl1pPr>
            <a:lvl2pPr defTabSz="584200">
              <a:spcBef>
                <a:spcPts val="3300"/>
              </a:spcBef>
              <a:defRPr sz="4000" cap="none" spc="0"/>
            </a:lvl2pPr>
            <a:lvl3pPr defTabSz="584200">
              <a:spcBef>
                <a:spcPts val="3300"/>
              </a:spcBef>
              <a:defRPr sz="4000" cap="none" spc="0"/>
            </a:lvl3pPr>
            <a:lvl4pPr defTabSz="584200">
              <a:spcBef>
                <a:spcPts val="3300"/>
              </a:spcBef>
              <a:defRPr sz="4000" cap="none" spc="0"/>
            </a:lvl4pPr>
            <a:lvl5pPr defTabSz="584200">
              <a:spcBef>
                <a:spcPts val="3300"/>
              </a:spcBef>
              <a:defRPr sz="4000" cap="none" spc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90149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spcBef>
                <a:spcPts val="0"/>
              </a:spcBef>
              <a:tabLst/>
              <a:defRPr sz="2200" spc="-44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pPr>
            <a:endParaRPr/>
          </a:p>
        </p:txBody>
      </p:sp>
      <p:sp>
        <p:nvSpPr>
          <p:cNvPr id="64" name="A blue and white director’s chair beside a pool with a floating blue inflatable ring"/>
          <p:cNvSpPr>
            <a:spLocks noGrp="1"/>
          </p:cNvSpPr>
          <p:nvPr>
            <p:ph type="pic" idx="21"/>
          </p:nvPr>
        </p:nvSpPr>
        <p:spPr>
          <a:xfrm>
            <a:off x="14034290" y="-250431"/>
            <a:ext cx="10358781" cy="142295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95400" y="5257800"/>
            <a:ext cx="11442700" cy="6886575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300"/>
              </a:spcBef>
              <a:defRPr sz="4000" cap="none" spc="0"/>
            </a:lvl1pPr>
            <a:lvl2pPr defTabSz="584200">
              <a:spcBef>
                <a:spcPts val="3300"/>
              </a:spcBef>
              <a:defRPr sz="4000" cap="none" spc="0"/>
            </a:lvl2pPr>
            <a:lvl3pPr defTabSz="584200">
              <a:spcBef>
                <a:spcPts val="3300"/>
              </a:spcBef>
              <a:defRPr sz="4000" cap="none" spc="0"/>
            </a:lvl3pPr>
            <a:lvl4pPr defTabSz="584200">
              <a:spcBef>
                <a:spcPts val="3300"/>
              </a:spcBef>
              <a:defRPr sz="4000" cap="none" spc="0"/>
            </a:lvl4pPr>
            <a:lvl5pPr defTabSz="584200">
              <a:spcBef>
                <a:spcPts val="3300"/>
              </a:spcBef>
              <a:defRPr sz="4000" cap="none" spc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6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12955885"/>
            <a:ext cx="11442700" cy="429261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200"/>
              </a:spcBef>
              <a:defRPr sz="2000" spc="-59"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6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95400" y="1625600"/>
            <a:ext cx="11442700" cy="2466975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Slide Title</a:t>
            </a:r>
          </a:p>
        </p:txBody>
      </p:sp>
      <p:sp>
        <p:nvSpPr>
          <p:cNvPr id="68" name="Slide Subtitl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295400" y="4092575"/>
            <a:ext cx="11442701" cy="678372"/>
          </a:xfrm>
          <a:prstGeom prst="rect">
            <a:avLst/>
          </a:prstGeom>
        </p:spPr>
        <p:txBody>
          <a:bodyPr/>
          <a:lstStyle>
            <a:lvl1pPr defTabSz="566674">
              <a:defRPr sz="3395" spc="-101"/>
            </a:lvl1pPr>
          </a:lstStyle>
          <a:p>
            <a:r>
              <a:t>Slide Subtitle</a:t>
            </a:r>
          </a:p>
        </p:txBody>
      </p:sp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95400" y="5404408"/>
            <a:ext cx="21869400" cy="2881785"/>
          </a:xfrm>
          <a:prstGeom prst="rect">
            <a:avLst/>
          </a:prstGeom>
        </p:spPr>
        <p:txBody>
          <a:bodyPr anchor="ctr"/>
          <a:lstStyle>
            <a:lvl1pPr defTabSz="825500">
              <a:defRPr sz="10200" spc="-408"/>
            </a:lvl1pPr>
          </a:lstStyle>
          <a:p>
            <a:r>
              <a:t>Section Title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spcBef>
                <a:spcPts val="0"/>
              </a:spcBef>
              <a:tabLst/>
              <a:defRPr sz="2200" spc="-44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pPr>
            <a:endParaRPr/>
          </a:p>
        </p:txBody>
      </p:sp>
      <p:sp>
        <p:nvSpPr>
          <p:cNvPr id="85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21869400" cy="429261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200"/>
              </a:spcBef>
              <a:defRPr sz="2000" spc="-59"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86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3543455"/>
            <a:ext cx="21869400" cy="694056"/>
          </a:xfrm>
          <a:prstGeom prst="rect">
            <a:avLst/>
          </a:prstGeom>
        </p:spPr>
        <p:txBody>
          <a:bodyPr/>
          <a:lstStyle/>
          <a:p>
            <a:r>
              <a:t>Slide Subtitle </a:t>
            </a:r>
          </a:p>
        </p:txBody>
      </p:sp>
      <p:sp>
        <p:nvSpPr>
          <p:cNvPr id="8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95400" y="1620697"/>
            <a:ext cx="21869400" cy="1778001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Slide Title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"/>
          <p:cNvSpPr/>
          <p:nvPr/>
        </p:nvSpPr>
        <p:spPr>
          <a:xfrm>
            <a:off x="-1" y="1270000"/>
            <a:ext cx="24384001" cy="124460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spcBef>
                <a:spcPts val="0"/>
              </a:spcBef>
              <a:tabLst/>
              <a:defRPr sz="2200" spc="-44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pPr>
            <a:endParaRPr/>
          </a:p>
        </p:txBody>
      </p:sp>
      <p:sp>
        <p:nvSpPr>
          <p:cNvPr id="96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12955885"/>
            <a:ext cx="21869400" cy="429261"/>
          </a:xfrm>
          <a:prstGeom prst="rect">
            <a:avLst/>
          </a:prstGeom>
        </p:spPr>
        <p:txBody>
          <a:bodyPr/>
          <a:lstStyle>
            <a:lvl1pPr defTabSz="584200">
              <a:spcBef>
                <a:spcPts val="3200"/>
              </a:spcBef>
              <a:defRPr sz="2000" spc="-59"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97" name="Agenda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95400" y="3543455"/>
            <a:ext cx="21869400" cy="694056"/>
          </a:xfrm>
          <a:prstGeom prst="rect">
            <a:avLst/>
          </a:prstGeom>
        </p:spPr>
        <p:txBody>
          <a:bodyPr/>
          <a:lstStyle/>
          <a:p>
            <a:r>
              <a:t>Agenda Subtitle</a:t>
            </a:r>
          </a:p>
        </p:txBody>
      </p:sp>
      <p:sp>
        <p:nvSpPr>
          <p:cNvPr id="9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95400" y="5118100"/>
            <a:ext cx="21869400" cy="7137400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Graphik"/>
              </a:defRPr>
            </a:lvl1pPr>
            <a:lvl2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Graphik"/>
              </a:defRPr>
            </a:lvl2pPr>
            <a:lvl3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Graphik"/>
              </a:defRPr>
            </a:lvl3pPr>
            <a:lvl4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Graphik"/>
              </a:defRPr>
            </a:lvl4pPr>
            <a:lvl5pPr defTabSz="825500">
              <a:spcBef>
                <a:spcPts val="3200"/>
              </a:spcBef>
              <a:defRPr sz="5400" b="1" u="sng" cap="none" spc="-53">
                <a:latin typeface="+mn-lt"/>
                <a:ea typeface="+mn-ea"/>
                <a:cs typeface="+mn-cs"/>
                <a:sym typeface="Graphik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95400" y="1620697"/>
            <a:ext cx="21869400" cy="1778001"/>
          </a:xfrm>
          <a:prstGeom prst="rect">
            <a:avLst/>
          </a:prstGeom>
        </p:spPr>
        <p:txBody>
          <a:bodyPr anchor="t"/>
          <a:lstStyle>
            <a:lvl1pPr defTabSz="584200">
              <a:defRPr sz="10000" spc="-400"/>
            </a:lvl1pPr>
          </a:lstStyle>
          <a:p>
            <a:r>
              <a:t>Agenda Title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98277" y="4927600"/>
            <a:ext cx="21863646" cy="3853767"/>
          </a:xfrm>
          <a:prstGeom prst="rect">
            <a:avLst/>
          </a:prstGeom>
        </p:spPr>
        <p:txBody>
          <a:bodyPr anchor="ctr"/>
          <a:lstStyle>
            <a:lvl1pPr algn="ctr" defTabSz="1160859">
              <a:defRPr sz="10200" b="1" spc="-408">
                <a:latin typeface="+mn-lt"/>
                <a:ea typeface="+mn-ea"/>
                <a:cs typeface="+mn-cs"/>
                <a:sym typeface="Graphik"/>
              </a:defRPr>
            </a:lvl1pPr>
            <a:lvl2pPr algn="ctr" defTabSz="1160859">
              <a:defRPr sz="10200" b="1" spc="-408">
                <a:latin typeface="+mn-lt"/>
                <a:ea typeface="+mn-ea"/>
                <a:cs typeface="+mn-cs"/>
                <a:sym typeface="Graphik"/>
              </a:defRPr>
            </a:lvl2pPr>
            <a:lvl3pPr algn="ctr" defTabSz="1160859">
              <a:defRPr sz="10200" b="1" spc="-408">
                <a:latin typeface="+mn-lt"/>
                <a:ea typeface="+mn-ea"/>
                <a:cs typeface="+mn-cs"/>
                <a:sym typeface="Graphik"/>
              </a:defRPr>
            </a:lvl3pPr>
            <a:lvl4pPr algn="ctr" defTabSz="1160859">
              <a:defRPr sz="10200" b="1" spc="-408">
                <a:latin typeface="+mn-lt"/>
                <a:ea typeface="+mn-ea"/>
                <a:cs typeface="+mn-cs"/>
                <a:sym typeface="Graphik"/>
              </a:defRPr>
            </a:lvl4pPr>
            <a:lvl5pPr algn="ctr" defTabSz="1160859">
              <a:defRPr sz="10200" b="1" spc="-408">
                <a:latin typeface="+mn-lt"/>
                <a:ea typeface="+mn-ea"/>
                <a:cs typeface="+mn-cs"/>
                <a:sym typeface="Graphik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95400" y="3587043"/>
            <a:ext cx="21869400" cy="4730168"/>
          </a:xfrm>
          <a:prstGeom prst="rect">
            <a:avLst/>
          </a:prstGeom>
        </p:spPr>
        <p:txBody>
          <a:bodyPr anchor="b"/>
          <a:lstStyle>
            <a:lvl1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Graphik"/>
              </a:defRPr>
            </a:lvl1pPr>
            <a:lvl2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Graphik"/>
              </a:defRPr>
            </a:lvl2pPr>
            <a:lvl3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Graphik"/>
              </a:defRPr>
            </a:lvl3pPr>
            <a:lvl4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Graphik"/>
              </a:defRPr>
            </a:lvl4pPr>
            <a:lvl5pPr algn="ctr" defTabSz="825500">
              <a:lnSpc>
                <a:spcPct val="70000"/>
              </a:lnSpc>
              <a:defRPr sz="22400" b="1" spc="-448">
                <a:latin typeface="+mn-lt"/>
                <a:ea typeface="+mn-ea"/>
                <a:cs typeface="+mn-cs"/>
                <a:sym typeface="Graphik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5400" y="8117284"/>
            <a:ext cx="21869400" cy="592456"/>
          </a:xfrm>
          <a:prstGeom prst="rect">
            <a:avLst/>
          </a:prstGeom>
        </p:spPr>
        <p:txBody>
          <a:bodyPr/>
          <a:lstStyle>
            <a:lvl1pPr algn="ctr" defTabSz="490727">
              <a:spcBef>
                <a:spcPts val="2600"/>
              </a:spcBef>
              <a:defRPr sz="2940" spc="-88"/>
            </a:lvl1pPr>
          </a:lstStyle>
          <a:p>
            <a:r>
              <a:t>Fact information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252674" y="10353079"/>
            <a:ext cx="20691414" cy="567945"/>
          </a:xfrm>
          <a:prstGeom prst="rect">
            <a:avLst/>
          </a:prstGeom>
        </p:spPr>
        <p:txBody>
          <a:bodyPr/>
          <a:lstStyle>
            <a:lvl1pPr defTabSz="584200">
              <a:defRPr sz="2800" spc="-84"/>
            </a:lvl1pPr>
          </a:lstStyle>
          <a:p>
            <a:r>
              <a:t>Attribution </a:t>
            </a:r>
          </a:p>
        </p:txBody>
      </p:sp>
      <p:sp>
        <p:nvSpPr>
          <p:cNvPr id="12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439912" y="4332885"/>
            <a:ext cx="21504176" cy="5497468"/>
          </a:xfrm>
          <a:prstGeom prst="rect">
            <a:avLst/>
          </a:prstGeom>
        </p:spPr>
        <p:txBody>
          <a:bodyPr anchor="b"/>
          <a:lstStyle>
            <a:lvl1pPr marL="714375" indent="-71437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Graphik"/>
              </a:defRPr>
            </a:lvl1pPr>
            <a:lvl2pPr marL="714375" indent="-25717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Graphik"/>
              </a:defRPr>
            </a:lvl2pPr>
            <a:lvl3pPr marL="714375" indent="20002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Graphik"/>
              </a:defRPr>
            </a:lvl3pPr>
            <a:lvl4pPr marL="714375" indent="65722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Graphik"/>
              </a:defRPr>
            </a:lvl4pPr>
            <a:lvl5pPr marL="714375" indent="1114425" defTabSz="1160859">
              <a:lnSpc>
                <a:spcPct val="70000"/>
              </a:lnSpc>
              <a:defRPr sz="13300" b="1" i="1" spc="-532">
                <a:latin typeface="+mn-lt"/>
                <a:ea typeface="+mn-ea"/>
                <a:cs typeface="+mn-cs"/>
                <a:sym typeface="Graphik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High angle view of a pink inflatable raft in a pool"/>
          <p:cNvSpPr>
            <a:spLocks noGrp="1"/>
          </p:cNvSpPr>
          <p:nvPr>
            <p:ph type="pic" idx="21"/>
          </p:nvPr>
        </p:nvSpPr>
        <p:spPr>
          <a:xfrm>
            <a:off x="5867400" y="0"/>
            <a:ext cx="20573997" cy="137159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4" name="Palm trees against a pink and purple sky after sunset"/>
          <p:cNvSpPr>
            <a:spLocks noGrp="1"/>
          </p:cNvSpPr>
          <p:nvPr>
            <p:ph type="pic" sz="half" idx="22"/>
          </p:nvPr>
        </p:nvSpPr>
        <p:spPr>
          <a:xfrm>
            <a:off x="-1" y="-1159934"/>
            <a:ext cx="12065001" cy="90508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A pink inflatable ring floating in a pool"/>
          <p:cNvSpPr>
            <a:spLocks noGrp="1"/>
          </p:cNvSpPr>
          <p:nvPr>
            <p:ph type="pic" sz="half" idx="23"/>
          </p:nvPr>
        </p:nvSpPr>
        <p:spPr>
          <a:xfrm>
            <a:off x="-1" y="6326054"/>
            <a:ext cx="12065001" cy="80433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Miami Beach palm trees against a pink sky after sunset with art deco buildings in the background"/>
          <p:cNvSpPr>
            <a:spLocks noGrp="1"/>
          </p:cNvSpPr>
          <p:nvPr>
            <p:ph type="pic" idx="21"/>
          </p:nvPr>
        </p:nvSpPr>
        <p:spPr>
          <a:xfrm>
            <a:off x="-368300" y="-482600"/>
            <a:ext cx="25133300" cy="167527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/>
          <p:cNvSpPr txBox="1">
            <a:spLocks noGrp="1"/>
          </p:cNvSpPr>
          <p:nvPr>
            <p:ph type="title"/>
          </p:nvPr>
        </p:nvSpPr>
        <p:spPr>
          <a:xfrm>
            <a:off x="1298349" y="4384675"/>
            <a:ext cx="21869401" cy="469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Presentation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298349" y="9268776"/>
            <a:ext cx="21869401" cy="140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Presentation Subtitle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7516" y="12979146"/>
            <a:ext cx="361189" cy="40411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3428914">
              <a:lnSpc>
                <a:spcPct val="100000"/>
              </a:lnSpc>
              <a:spcBef>
                <a:spcPts val="0"/>
              </a:spcBef>
              <a:tabLst/>
              <a:defRPr sz="1800" spc="0"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300" b="1" i="0" u="none" strike="noStrike" cap="all" spc="-665" baseline="0">
          <a:solidFill>
            <a:srgbClr val="000000"/>
          </a:solidFill>
          <a:uFillTx/>
          <a:latin typeface="+mn-lt"/>
          <a:ea typeface="+mn-ea"/>
          <a:cs typeface="+mn-cs"/>
          <a:sym typeface="Graphik"/>
        </a:defRPr>
      </a:lvl9pPr>
    </p:titleStyle>
    <p:body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all" spc="-104" baseline="0">
          <a:solidFill>
            <a:srgbClr val="000000"/>
          </a:solidFill>
          <a:uFillTx/>
          <a:latin typeface="Graphik-SemiboldItalic"/>
          <a:ea typeface="Graphik-SemiboldItalic"/>
          <a:cs typeface="Graphik-SemiboldItalic"/>
          <a:sym typeface="Graphik Semibold"/>
        </a:defRPr>
      </a:lvl9pPr>
    </p:bodyStyle>
    <p:otherStyle>
      <a:lvl1pPr marL="0" marR="0" indent="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floser/hitters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floser/hitters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floser/hitters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Introducción"/>
          <p:cNvSpPr txBox="1">
            <a:spLocks noGrp="1"/>
          </p:cNvSpPr>
          <p:nvPr>
            <p:ph type="title"/>
          </p:nvPr>
        </p:nvSpPr>
        <p:spPr>
          <a:xfrm>
            <a:off x="4894830" y="2546014"/>
            <a:ext cx="18326247" cy="4699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ES_tradnl" dirty="0">
                <a:solidFill>
                  <a:schemeClr val="tx1"/>
                </a:solidFill>
              </a:rPr>
              <a:t>Árboles de decisión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37764B19-5FA3-4192-DC81-601172C63823}"/>
              </a:ext>
            </a:extLst>
          </p:cNvPr>
          <p:cNvSpPr txBox="1">
            <a:spLocks/>
          </p:cNvSpPr>
          <p:nvPr/>
        </p:nvSpPr>
        <p:spPr>
          <a:xfrm>
            <a:off x="12192000" y="10549973"/>
            <a:ext cx="100584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6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s-PE" sz="3200" i="1" kern="0" noProof="0" dirty="0">
              <a:latin typeface="Aptos" panose="020B0004020202020204" pitchFamily="34" charset="0"/>
            </a:endParaRPr>
          </a:p>
          <a:p>
            <a:pPr algn="r"/>
            <a:r>
              <a:rPr lang="es-PE" sz="3200" i="1" kern="0" noProof="0" dirty="0" err="1">
                <a:latin typeface="Aptos" panose="020B0004020202020204" pitchFamily="34" charset="0"/>
              </a:rPr>
              <a:t>Msc</a:t>
            </a:r>
            <a:r>
              <a:rPr lang="es-PE" sz="3200" i="1" kern="0" noProof="0" dirty="0">
                <a:latin typeface="Aptos" panose="020B0004020202020204" pitchFamily="34" charset="0"/>
              </a:rPr>
              <a:t>. Jaime </a:t>
            </a:r>
            <a:r>
              <a:rPr lang="es-PE" sz="3200" i="1" kern="0" noProof="0" dirty="0" err="1">
                <a:latin typeface="Aptos" panose="020B0004020202020204" pitchFamily="34" charset="0"/>
              </a:rPr>
              <a:t>Huaytalla</a:t>
            </a:r>
            <a:r>
              <a:rPr lang="es-PE" sz="3200" i="1" kern="0" noProof="0" dirty="0">
                <a:latin typeface="Aptos" panose="020B0004020202020204" pitchFamily="34" charset="0"/>
              </a:rPr>
              <a:t> Pariona</a:t>
            </a:r>
          </a:p>
          <a:p>
            <a:pPr algn="r"/>
            <a:r>
              <a:rPr lang="es-PE" sz="3200" i="1" kern="0" noProof="0" dirty="0">
                <a:latin typeface="Aptos" panose="020B0004020202020204" pitchFamily="34" charset="0"/>
                <a:hlinkClick r:id="rId2"/>
              </a:rPr>
              <a:t>jhuaytalla@uncp.edu.pe</a:t>
            </a:r>
            <a:r>
              <a:rPr lang="es-PE" sz="3200" i="1" kern="0" noProof="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453FA11-987B-098C-6247-E608FE547D8C}"/>
              </a:ext>
            </a:extLst>
          </p:cNvPr>
          <p:cNvSpPr txBox="1"/>
          <p:nvPr/>
        </p:nvSpPr>
        <p:spPr>
          <a:xfrm>
            <a:off x="4894830" y="7602081"/>
            <a:ext cx="49673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000" cap="all" noProof="0" dirty="0">
                <a:latin typeface="Aptos" panose="020B0004020202020204" pitchFamily="34" charset="0"/>
              </a:rPr>
              <a:t>Machine </a:t>
            </a:r>
            <a:r>
              <a:rPr lang="es-PE" sz="4000" cap="all" noProof="0" dirty="0" err="1">
                <a:latin typeface="Aptos" panose="020B0004020202020204" pitchFamily="34" charset="0"/>
              </a:rPr>
              <a:t>Learning</a:t>
            </a:r>
            <a:r>
              <a:rPr lang="es-PE" sz="4000" cap="all" noProof="0" dirty="0">
                <a:latin typeface="Aptos" panose="020B0004020202020204" pitchFamily="34" charset="0"/>
              </a:rPr>
              <a:t> </a:t>
            </a:r>
          </a:p>
        </p:txBody>
      </p:sp>
      <p:pic>
        <p:nvPicPr>
          <p:cNvPr id="7" name="Picture 2" descr="Manual de Indentidad Visual Corporativa Marca UNCP - UNCP">
            <a:extLst>
              <a:ext uri="{FF2B5EF4-FFF2-40B4-BE49-F238E27FC236}">
                <a16:creationId xmlns:a16="http://schemas.microsoft.com/office/drawing/2014/main" id="{75AF7B0F-E7DD-38E7-C261-943ED6AC4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72" y="5261940"/>
            <a:ext cx="3410862" cy="297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49382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Arboles de decisión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ES_tradnl" dirty="0">
                <a:solidFill>
                  <a:schemeClr val="tx1"/>
                </a:solidFill>
              </a:rPr>
              <a:t>Árboles de decisión</a:t>
            </a:r>
          </a:p>
        </p:txBody>
      </p:sp>
    </p:spTree>
    <p:extLst>
      <p:ext uri="{BB962C8B-B14F-4D97-AF65-F5344CB8AC3E}">
        <p14:creationId xmlns:p14="http://schemas.microsoft.com/office/powerpoint/2010/main" val="314389692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Arboles de deci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/>
              <a:t>Árboles de decisión</a:t>
            </a:r>
          </a:p>
        </p:txBody>
      </p:sp>
      <p:sp>
        <p:nvSpPr>
          <p:cNvPr id="321" name="Los árboles de clasificación y regresión, conocidos como CART (Classification and Regression Trees), son una poderosa técnica de aprendizaje automático que se utiliza ampliamente para resolver problemas tanto de clasificación como de regresión.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 defTabSz="484886">
              <a:spcBef>
                <a:spcPts val="2700"/>
              </a:spcBef>
              <a:defRPr sz="3818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Los árboles de clasificación y regresión, conocidos como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CART</a:t>
            </a:r>
            <a:r>
              <a:rPr lang="es-ES_tradnl" dirty="0"/>
              <a:t> (</a:t>
            </a:r>
            <a:r>
              <a:rPr lang="es-ES_tradnl" dirty="0" err="1"/>
              <a:t>Classification</a:t>
            </a:r>
            <a:r>
              <a:rPr lang="es-ES_tradnl" dirty="0"/>
              <a:t> and </a:t>
            </a:r>
            <a:r>
              <a:rPr lang="es-ES_tradnl" dirty="0" err="1"/>
              <a:t>Regression</a:t>
            </a:r>
            <a:r>
              <a:rPr lang="es-ES_tradnl" dirty="0"/>
              <a:t> </a:t>
            </a:r>
            <a:r>
              <a:rPr lang="es-ES_tradnl" dirty="0" err="1"/>
              <a:t>Trees</a:t>
            </a:r>
            <a:r>
              <a:rPr lang="es-ES_tradnl" dirty="0"/>
              <a:t>), son una poderosa técnica de aprendizaje automático que se utiliza ampliamente para resolver problemas tanto de clasificación como de regresión. </a:t>
            </a:r>
          </a:p>
          <a:p>
            <a:pPr defTabSz="484886">
              <a:spcBef>
                <a:spcPts val="2700"/>
              </a:spcBef>
              <a:defRPr sz="3818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Los árboles CART son modelos de decisión que utilizan una estructura de árbol para realizar predicciones basadas en reglas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lógicas sencillas y fáciles de interpretar</a:t>
            </a:r>
            <a:r>
              <a:rPr lang="es-ES_tradnl" dirty="0"/>
              <a:t>.</a:t>
            </a:r>
          </a:p>
          <a:p>
            <a:pPr defTabSz="484886">
              <a:spcBef>
                <a:spcPts val="2700"/>
              </a:spcBef>
              <a:defRPr sz="3818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 defTabSz="484886">
              <a:spcBef>
                <a:spcPts val="2700"/>
              </a:spcBef>
              <a:defRPr sz="3818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 defTabSz="484886">
              <a:spcBef>
                <a:spcPts val="2700"/>
              </a:spcBef>
              <a:defRPr sz="3818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 defTabSz="484886">
              <a:spcBef>
                <a:spcPts val="2700"/>
              </a:spcBef>
              <a:defRPr sz="3818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 defTabSz="484886">
              <a:spcBef>
                <a:spcPts val="2700"/>
              </a:spcBef>
              <a:defRPr sz="3818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</p:txBody>
      </p:sp>
      <p:sp>
        <p:nvSpPr>
          <p:cNvPr id="322" name="Arboles de regresión"/>
          <p:cNvSpPr txBox="1"/>
          <p:nvPr/>
        </p:nvSpPr>
        <p:spPr>
          <a:xfrm>
            <a:off x="12959836" y="9467638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Arboles de regresión</a:t>
            </a:r>
          </a:p>
        </p:txBody>
      </p:sp>
      <p:sp>
        <p:nvSpPr>
          <p:cNvPr id="323" name="Arboles de clasificación"/>
          <p:cNvSpPr txBox="1"/>
          <p:nvPr/>
        </p:nvSpPr>
        <p:spPr>
          <a:xfrm>
            <a:off x="5566350" y="9467638"/>
            <a:ext cx="5416851" cy="656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Arboles de clasificación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2035FE9-4370-9756-70A5-0773D9AE7D73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10816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326" name="Empecemos con un ejemplo sencillo, usando el dataset Hitters (Dato de salarios de jugadores de Beisbol de 1987 y estadísticas deportivas de 1986)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Empecemos con un ejemplo sencillo, usando el </a:t>
            </a:r>
            <a:r>
              <a:rPr lang="es-ES_tradnl" dirty="0" err="1"/>
              <a:t>dataset</a:t>
            </a:r>
            <a:r>
              <a:rPr lang="es-ES_tradnl" dirty="0"/>
              <a:t> </a:t>
            </a:r>
            <a:r>
              <a:rPr lang="es-ES_tradnl" u="sng" dirty="0">
                <a:hlinkClick r:id="rId2"/>
              </a:rPr>
              <a:t>Hitters</a:t>
            </a:r>
            <a:r>
              <a:rPr lang="es-ES_tradnl" dirty="0"/>
              <a:t> (Dato de salarios de jugadores de Beisbol de 1987 y estadísticas deportivas de 1986)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</p:txBody>
      </p:sp>
      <p:sp>
        <p:nvSpPr>
          <p:cNvPr id="327" name="Years &lt; 4.5"/>
          <p:cNvSpPr txBox="1"/>
          <p:nvPr/>
        </p:nvSpPr>
        <p:spPr>
          <a:xfrm>
            <a:off x="10510885" y="6064038"/>
            <a:ext cx="4984257" cy="656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Years &lt; 4.5</a:t>
            </a:r>
          </a:p>
        </p:txBody>
      </p:sp>
      <p:sp>
        <p:nvSpPr>
          <p:cNvPr id="328" name="Hits &lt; 117.5"/>
          <p:cNvSpPr txBox="1"/>
          <p:nvPr/>
        </p:nvSpPr>
        <p:spPr>
          <a:xfrm>
            <a:off x="13304884" y="8513188"/>
            <a:ext cx="4984257" cy="656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Hits &lt; 117.5</a:t>
            </a:r>
          </a:p>
        </p:txBody>
      </p:sp>
      <p:sp>
        <p:nvSpPr>
          <p:cNvPr id="329" name="6.74 ($845.560)"/>
          <p:cNvSpPr txBox="1"/>
          <p:nvPr/>
        </p:nvSpPr>
        <p:spPr>
          <a:xfrm>
            <a:off x="16175085" y="10790721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6.74 ($845.560)</a:t>
            </a:r>
          </a:p>
        </p:txBody>
      </p:sp>
      <p:sp>
        <p:nvSpPr>
          <p:cNvPr id="330" name="6.00 ($403.428)"/>
          <p:cNvSpPr txBox="1"/>
          <p:nvPr/>
        </p:nvSpPr>
        <p:spPr>
          <a:xfrm>
            <a:off x="10510885" y="10790721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6.00 ($403.428)</a:t>
            </a:r>
          </a:p>
        </p:txBody>
      </p:sp>
      <p:sp>
        <p:nvSpPr>
          <p:cNvPr id="331" name="5.11 ($165.174)"/>
          <p:cNvSpPr txBox="1"/>
          <p:nvPr/>
        </p:nvSpPr>
        <p:spPr>
          <a:xfrm>
            <a:off x="4508019" y="8513188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5.11 ($165.174)</a:t>
            </a:r>
          </a:p>
        </p:txBody>
      </p:sp>
      <p:sp>
        <p:nvSpPr>
          <p:cNvPr id="332" name="Line"/>
          <p:cNvSpPr/>
          <p:nvPr/>
        </p:nvSpPr>
        <p:spPr>
          <a:xfrm flipH="1">
            <a:off x="7145204" y="6896109"/>
            <a:ext cx="5399155" cy="1406062"/>
          </a:xfrm>
          <a:prstGeom prst="line">
            <a:avLst/>
          </a:prstGeom>
          <a:ln w="1270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33" name="Line"/>
          <p:cNvSpPr/>
          <p:nvPr/>
        </p:nvSpPr>
        <p:spPr>
          <a:xfrm>
            <a:off x="13979103" y="6881718"/>
            <a:ext cx="1909193" cy="1392652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34" name="Line"/>
          <p:cNvSpPr/>
          <p:nvPr/>
        </p:nvSpPr>
        <p:spPr>
          <a:xfrm>
            <a:off x="16557203" y="9309575"/>
            <a:ext cx="1909193" cy="1392652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35" name="Line"/>
          <p:cNvSpPr/>
          <p:nvPr/>
        </p:nvSpPr>
        <p:spPr>
          <a:xfrm flipH="1">
            <a:off x="13210753" y="9311179"/>
            <a:ext cx="2089102" cy="1379217"/>
          </a:xfrm>
          <a:prstGeom prst="line">
            <a:avLst/>
          </a:prstGeom>
          <a:ln w="1270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" name="Se predice el logaritmos del salario (tiene una distribución mas de campana). Years es años jugando en las ligas. Hits es el numero de hits que realizó el año pasado.">
            <a:extLst>
              <a:ext uri="{FF2B5EF4-FFF2-40B4-BE49-F238E27FC236}">
                <a16:creationId xmlns:a16="http://schemas.microsoft.com/office/drawing/2014/main" id="{D65328CF-49A2-F84D-73EB-273643EBE98B}"/>
              </a:ext>
            </a:extLst>
          </p:cNvPr>
          <p:cNvSpPr txBox="1"/>
          <p:nvPr/>
        </p:nvSpPr>
        <p:spPr>
          <a:xfrm>
            <a:off x="1178848" y="12142082"/>
            <a:ext cx="22026304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000" spc="-29"/>
            </a:pPr>
            <a:r>
              <a:rPr lang="es-ES_tradnl" dirty="0"/>
              <a:t>Se predice el logaritmo del salario (tiene una distribución más de campana).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Years</a:t>
            </a:r>
            <a:r>
              <a:rPr lang="es-ES_tradnl" dirty="0"/>
              <a:t> es años jugando en las ligas.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Hits</a:t>
            </a:r>
            <a:r>
              <a:rPr lang="es-ES_tradnl" dirty="0"/>
              <a:t> es el número de hits que realizó el año pasado.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D560FF-9DE5-B4C6-A820-A40AEAF104CF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92731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339" name="Empecemos con un ejemplo sencillo, usando el dataset Hitters (Dato de salarios de jugadores de Beisbol de 1987 y estadísticas deportivas de 1986)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Empecemos con un ejemplo sencillo, usando el </a:t>
            </a:r>
            <a:r>
              <a:rPr lang="es-ES_tradnl" dirty="0" err="1"/>
              <a:t>dataset</a:t>
            </a:r>
            <a:r>
              <a:rPr lang="es-ES_tradnl" dirty="0"/>
              <a:t> </a:t>
            </a:r>
            <a:r>
              <a:rPr lang="es-ES_tradnl" u="sng" dirty="0">
                <a:hlinkClick r:id="rId2"/>
              </a:rPr>
              <a:t>Hitters</a:t>
            </a:r>
            <a:r>
              <a:rPr lang="es-ES_tradnl" dirty="0"/>
              <a:t> (Dato de salarios de jugadores de Beisbol de 1987 y estadísticas deportivas de 1986)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</p:txBody>
      </p:sp>
      <p:sp>
        <p:nvSpPr>
          <p:cNvPr id="345" name="Line"/>
          <p:cNvSpPr/>
          <p:nvPr/>
        </p:nvSpPr>
        <p:spPr>
          <a:xfrm flipH="1">
            <a:off x="7145204" y="6896109"/>
            <a:ext cx="5399155" cy="1406062"/>
          </a:xfrm>
          <a:prstGeom prst="line">
            <a:avLst/>
          </a:prstGeom>
          <a:ln w="1270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6" name="Line"/>
          <p:cNvSpPr/>
          <p:nvPr/>
        </p:nvSpPr>
        <p:spPr>
          <a:xfrm>
            <a:off x="13979103" y="6881718"/>
            <a:ext cx="1909193" cy="1392652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7" name="Line"/>
          <p:cNvSpPr/>
          <p:nvPr/>
        </p:nvSpPr>
        <p:spPr>
          <a:xfrm>
            <a:off x="16557203" y="9309575"/>
            <a:ext cx="1909193" cy="1392652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8" name="Line"/>
          <p:cNvSpPr/>
          <p:nvPr/>
        </p:nvSpPr>
        <p:spPr>
          <a:xfrm flipH="1">
            <a:off x="13210753" y="9311179"/>
            <a:ext cx="2089102" cy="1379217"/>
          </a:xfrm>
          <a:prstGeom prst="line">
            <a:avLst/>
          </a:prstGeom>
          <a:ln w="1270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9" name="Se predice el logaritmos del salario (tiene una distribución mas de campana). Years es años jugando en las ligas. Hits es el numero de hits que realizó el año pasado."/>
          <p:cNvSpPr txBox="1"/>
          <p:nvPr/>
        </p:nvSpPr>
        <p:spPr>
          <a:xfrm>
            <a:off x="1178848" y="12142082"/>
            <a:ext cx="22026304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000" spc="-29"/>
            </a:pPr>
            <a:r>
              <a:rPr lang="es-ES_tradnl" dirty="0"/>
              <a:t>Se predice el logaritmo del salario (tiene una distribución más de campana).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Years</a:t>
            </a:r>
            <a:r>
              <a:rPr lang="es-ES_tradnl" dirty="0"/>
              <a:t> es años jugando en las ligas.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Hits</a:t>
            </a:r>
            <a:r>
              <a:rPr lang="es-ES_tradnl" dirty="0"/>
              <a:t> es el número de hits que realizó el año pasado.</a:t>
            </a:r>
          </a:p>
        </p:txBody>
      </p:sp>
      <p:sp>
        <p:nvSpPr>
          <p:cNvPr id="350" name="R1 = {X | Years &lt; 4.5}"/>
          <p:cNvSpPr txBox="1"/>
          <p:nvPr/>
        </p:nvSpPr>
        <p:spPr>
          <a:xfrm>
            <a:off x="5682293" y="9267730"/>
            <a:ext cx="2635708" cy="542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R1 = {X | Years &lt; 4.5}</a:t>
            </a:r>
          </a:p>
        </p:txBody>
      </p:sp>
      <p:sp>
        <p:nvSpPr>
          <p:cNvPr id="351" name="R2 = {X | Years &gt;= 4.5, Hits&lt;117.5}"/>
          <p:cNvSpPr txBox="1"/>
          <p:nvPr/>
        </p:nvSpPr>
        <p:spPr>
          <a:xfrm>
            <a:off x="10915958" y="11545263"/>
            <a:ext cx="4174110" cy="542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R2 = {X | Years &gt;= 4.5, Hits&lt;117.5}</a:t>
            </a:r>
          </a:p>
        </p:txBody>
      </p:sp>
      <p:sp>
        <p:nvSpPr>
          <p:cNvPr id="352" name="R3 = {X | Years &gt;= 4.5, Hits&gt;=117.5}"/>
          <p:cNvSpPr txBox="1"/>
          <p:nvPr/>
        </p:nvSpPr>
        <p:spPr>
          <a:xfrm>
            <a:off x="16505039" y="11535807"/>
            <a:ext cx="4324351" cy="542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R3 = {X | Years &gt;= 4.5, Hits&gt;=117.5}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2B6EAB1-846D-1F58-497F-4E03BE62F8E8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5</a:t>
            </a:fld>
            <a:endParaRPr lang="en-US" sz="2800" dirty="0"/>
          </a:p>
        </p:txBody>
      </p:sp>
      <p:sp>
        <p:nvSpPr>
          <p:cNvPr id="4" name="Years &lt; 4.5">
            <a:extLst>
              <a:ext uri="{FF2B5EF4-FFF2-40B4-BE49-F238E27FC236}">
                <a16:creationId xmlns:a16="http://schemas.microsoft.com/office/drawing/2014/main" id="{BF7DD71F-89C1-3B57-D5D0-A6EAA3C04EC6}"/>
              </a:ext>
            </a:extLst>
          </p:cNvPr>
          <p:cNvSpPr txBox="1"/>
          <p:nvPr/>
        </p:nvSpPr>
        <p:spPr>
          <a:xfrm>
            <a:off x="10510885" y="6064038"/>
            <a:ext cx="4984257" cy="656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Years &lt; 4.5</a:t>
            </a:r>
          </a:p>
        </p:txBody>
      </p:sp>
      <p:sp>
        <p:nvSpPr>
          <p:cNvPr id="5" name="Hits &lt; 117.5">
            <a:extLst>
              <a:ext uri="{FF2B5EF4-FFF2-40B4-BE49-F238E27FC236}">
                <a16:creationId xmlns:a16="http://schemas.microsoft.com/office/drawing/2014/main" id="{7DC8CC40-344F-6CDF-8453-B34CA6C6FADD}"/>
              </a:ext>
            </a:extLst>
          </p:cNvPr>
          <p:cNvSpPr txBox="1"/>
          <p:nvPr/>
        </p:nvSpPr>
        <p:spPr>
          <a:xfrm>
            <a:off x="13304884" y="8513188"/>
            <a:ext cx="4984257" cy="656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Hits &lt; 117.5</a:t>
            </a:r>
          </a:p>
        </p:txBody>
      </p:sp>
      <p:sp>
        <p:nvSpPr>
          <p:cNvPr id="6" name="6.74 ($845.560)">
            <a:extLst>
              <a:ext uri="{FF2B5EF4-FFF2-40B4-BE49-F238E27FC236}">
                <a16:creationId xmlns:a16="http://schemas.microsoft.com/office/drawing/2014/main" id="{778B9509-6D48-FA4E-CCE5-ADAC761227C9}"/>
              </a:ext>
            </a:extLst>
          </p:cNvPr>
          <p:cNvSpPr txBox="1"/>
          <p:nvPr/>
        </p:nvSpPr>
        <p:spPr>
          <a:xfrm>
            <a:off x="16175085" y="10790721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6.74 ($845.560)</a:t>
            </a:r>
          </a:p>
        </p:txBody>
      </p:sp>
      <p:sp>
        <p:nvSpPr>
          <p:cNvPr id="7" name="6.00 ($403.428)">
            <a:extLst>
              <a:ext uri="{FF2B5EF4-FFF2-40B4-BE49-F238E27FC236}">
                <a16:creationId xmlns:a16="http://schemas.microsoft.com/office/drawing/2014/main" id="{930E09ED-ECFC-BE6A-66EE-F05F17C6EBCB}"/>
              </a:ext>
            </a:extLst>
          </p:cNvPr>
          <p:cNvSpPr txBox="1"/>
          <p:nvPr/>
        </p:nvSpPr>
        <p:spPr>
          <a:xfrm>
            <a:off x="10510885" y="10790721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6.00 ($403.428)</a:t>
            </a:r>
          </a:p>
        </p:txBody>
      </p:sp>
      <p:sp>
        <p:nvSpPr>
          <p:cNvPr id="8" name="5.11 ($165.174)">
            <a:extLst>
              <a:ext uri="{FF2B5EF4-FFF2-40B4-BE49-F238E27FC236}">
                <a16:creationId xmlns:a16="http://schemas.microsoft.com/office/drawing/2014/main" id="{25C88842-09E9-7B79-49AD-39EC769CE868}"/>
              </a:ext>
            </a:extLst>
          </p:cNvPr>
          <p:cNvSpPr txBox="1"/>
          <p:nvPr/>
        </p:nvSpPr>
        <p:spPr>
          <a:xfrm>
            <a:off x="4508019" y="8513188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5.11 ($165.174)</a:t>
            </a:r>
          </a:p>
        </p:txBody>
      </p:sp>
    </p:spTree>
    <p:extLst>
      <p:ext uri="{BB962C8B-B14F-4D97-AF65-F5344CB8AC3E}">
        <p14:creationId xmlns:p14="http://schemas.microsoft.com/office/powerpoint/2010/main" val="83792924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pic>
        <p:nvPicPr>
          <p:cNvPr id="355" name="output.png" descr="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261" y="3573991"/>
            <a:ext cx="10353678" cy="99592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5F3144D-8CB4-3F05-8DE2-914DCD3F6BD5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29094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358" name="Empecemos con un ejemplo sencillo, usando el dataset Hitters (Dato de salarios de jugadores de Beisbol de 1987 y estadísticas deportivas de 1986)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Empecemos con un ejemplo sencillo, usando el </a:t>
            </a:r>
            <a:r>
              <a:rPr lang="es-ES_tradnl" dirty="0" err="1"/>
              <a:t>dataset</a:t>
            </a:r>
            <a:r>
              <a:rPr lang="es-ES_tradnl" dirty="0"/>
              <a:t> </a:t>
            </a:r>
            <a:r>
              <a:rPr lang="es-ES_tradnl" u="sng" dirty="0">
                <a:hlinkClick r:id="rId2"/>
              </a:rPr>
              <a:t>Hitters</a:t>
            </a:r>
            <a:r>
              <a:rPr lang="es-ES_tradnl" dirty="0"/>
              <a:t> (Dato de salarios de jugadores de Beisbol de 1987 y estadísticas deportivas de 1986)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</p:txBody>
      </p:sp>
      <p:sp>
        <p:nvSpPr>
          <p:cNvPr id="359" name="Years &lt; 4.5"/>
          <p:cNvSpPr txBox="1"/>
          <p:nvPr/>
        </p:nvSpPr>
        <p:spPr>
          <a:xfrm>
            <a:off x="10510885" y="6064038"/>
            <a:ext cx="4984257" cy="656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Years</a:t>
            </a:r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 &lt; 4.5</a:t>
            </a:r>
          </a:p>
        </p:txBody>
      </p:sp>
      <p:sp>
        <p:nvSpPr>
          <p:cNvPr id="360" name="Hits &lt; 117.5"/>
          <p:cNvSpPr txBox="1"/>
          <p:nvPr/>
        </p:nvSpPr>
        <p:spPr>
          <a:xfrm>
            <a:off x="13304884" y="8513188"/>
            <a:ext cx="4984257" cy="6565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Hits &lt; 117.5</a:t>
            </a:r>
          </a:p>
        </p:txBody>
      </p:sp>
      <p:sp>
        <p:nvSpPr>
          <p:cNvPr id="361" name="6.74 ($845.560)"/>
          <p:cNvSpPr txBox="1"/>
          <p:nvPr/>
        </p:nvSpPr>
        <p:spPr>
          <a:xfrm>
            <a:off x="16175085" y="10790721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6.74 ($845.560)</a:t>
            </a:r>
          </a:p>
        </p:txBody>
      </p:sp>
      <p:sp>
        <p:nvSpPr>
          <p:cNvPr id="362" name="6.00 ($403.428)"/>
          <p:cNvSpPr txBox="1"/>
          <p:nvPr/>
        </p:nvSpPr>
        <p:spPr>
          <a:xfrm>
            <a:off x="10510885" y="10790721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6.00 ($403.428)</a:t>
            </a:r>
          </a:p>
        </p:txBody>
      </p:sp>
      <p:sp>
        <p:nvSpPr>
          <p:cNvPr id="363" name="5.11 ($165.174)"/>
          <p:cNvSpPr txBox="1"/>
          <p:nvPr/>
        </p:nvSpPr>
        <p:spPr>
          <a:xfrm>
            <a:off x="4508019" y="8513188"/>
            <a:ext cx="4984257" cy="656590"/>
          </a:xfrm>
          <a:prstGeom prst="rect">
            <a:avLst/>
          </a:prstGeom>
          <a:solidFill>
            <a:schemeClr val="accent4">
              <a:hueOff val="3712597"/>
              <a:satOff val="-23099"/>
              <a:lumOff val="580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5.11 ($165.174)</a:t>
            </a:r>
          </a:p>
        </p:txBody>
      </p:sp>
      <p:sp>
        <p:nvSpPr>
          <p:cNvPr id="364" name="Line"/>
          <p:cNvSpPr/>
          <p:nvPr/>
        </p:nvSpPr>
        <p:spPr>
          <a:xfrm flipH="1">
            <a:off x="7145204" y="6896109"/>
            <a:ext cx="5399155" cy="1406062"/>
          </a:xfrm>
          <a:prstGeom prst="line">
            <a:avLst/>
          </a:prstGeom>
          <a:ln w="1270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 lang="es-ES_tradnl"/>
          </a:p>
        </p:txBody>
      </p:sp>
      <p:sp>
        <p:nvSpPr>
          <p:cNvPr id="365" name="Line"/>
          <p:cNvSpPr/>
          <p:nvPr/>
        </p:nvSpPr>
        <p:spPr>
          <a:xfrm>
            <a:off x="13979103" y="6881718"/>
            <a:ext cx="1909193" cy="1392652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 lang="es-ES_tradnl"/>
          </a:p>
        </p:txBody>
      </p:sp>
      <p:sp>
        <p:nvSpPr>
          <p:cNvPr id="366" name="Line"/>
          <p:cNvSpPr/>
          <p:nvPr/>
        </p:nvSpPr>
        <p:spPr>
          <a:xfrm>
            <a:off x="16557203" y="9309575"/>
            <a:ext cx="1909193" cy="1392652"/>
          </a:xfrm>
          <a:prstGeom prst="line">
            <a:avLst/>
          </a:prstGeom>
          <a:ln w="1270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 lang="es-ES_tradnl"/>
          </a:p>
        </p:txBody>
      </p:sp>
      <p:sp>
        <p:nvSpPr>
          <p:cNvPr id="367" name="Line"/>
          <p:cNvSpPr/>
          <p:nvPr/>
        </p:nvSpPr>
        <p:spPr>
          <a:xfrm flipH="1">
            <a:off x="13210753" y="9311179"/>
            <a:ext cx="2089102" cy="1379217"/>
          </a:xfrm>
          <a:prstGeom prst="line">
            <a:avLst/>
          </a:prstGeom>
          <a:ln w="1270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 lang="es-ES_tradnl"/>
          </a:p>
        </p:txBody>
      </p:sp>
      <p:sp>
        <p:nvSpPr>
          <p:cNvPr id="368" name="Hoja, Nodo final"/>
          <p:cNvSpPr txBox="1"/>
          <p:nvPr/>
        </p:nvSpPr>
        <p:spPr>
          <a:xfrm>
            <a:off x="4508019" y="9292749"/>
            <a:ext cx="4984257" cy="6565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Hoja, Nodo final</a:t>
            </a:r>
          </a:p>
        </p:txBody>
      </p:sp>
      <p:sp>
        <p:nvSpPr>
          <p:cNvPr id="369" name="Leaf, Terminal node"/>
          <p:cNvSpPr txBox="1"/>
          <p:nvPr/>
        </p:nvSpPr>
        <p:spPr>
          <a:xfrm>
            <a:off x="4508019" y="10072309"/>
            <a:ext cx="4984257" cy="6565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Leaf, Terminal node</a:t>
            </a:r>
          </a:p>
        </p:txBody>
      </p:sp>
      <p:sp>
        <p:nvSpPr>
          <p:cNvPr id="370" name="Rama, Nodo interno"/>
          <p:cNvSpPr txBox="1"/>
          <p:nvPr/>
        </p:nvSpPr>
        <p:spPr>
          <a:xfrm>
            <a:off x="18588085" y="8148489"/>
            <a:ext cx="4984257" cy="6565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Rama, Nodo interno</a:t>
            </a:r>
          </a:p>
        </p:txBody>
      </p:sp>
      <p:sp>
        <p:nvSpPr>
          <p:cNvPr id="371" name="Branch, Internal Nodo"/>
          <p:cNvSpPr txBox="1"/>
          <p:nvPr/>
        </p:nvSpPr>
        <p:spPr>
          <a:xfrm>
            <a:off x="18588085" y="8940754"/>
            <a:ext cx="4984257" cy="6565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3300"/>
              </a:spcBef>
              <a:tabLst/>
              <a:defRPr sz="3600" spc="-72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Branch, </a:t>
            </a:r>
            <a:r>
              <a:rPr lang="es-ES_tradnl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Internal</a:t>
            </a:r>
            <a:r>
              <a:rPr lang="es-ES_tradnl" b="1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Compact" pitchFamily="2" charset="0"/>
              </a:rPr>
              <a:t> Nodo</a:t>
            </a:r>
          </a:p>
        </p:txBody>
      </p:sp>
      <p:sp>
        <p:nvSpPr>
          <p:cNvPr id="372" name="Este árbol de regresión es una sobre simplificación de la verdadero valores de regresión entre Salary, Years y Hits. Sin embargo, tiene sus ventaja porque es mas fácil entender y tienen mejor representación gráfica."/>
          <p:cNvSpPr txBox="1"/>
          <p:nvPr/>
        </p:nvSpPr>
        <p:spPr>
          <a:xfrm>
            <a:off x="1082010" y="11850748"/>
            <a:ext cx="22296180" cy="988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600" spc="-36"/>
            </a:pPr>
            <a:r>
              <a:rPr lang="es-ES_tradnl" dirty="0"/>
              <a:t>Este árbol de regresión es una sobre simplificación del verdadero valor de regresión entre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Salary</a:t>
            </a:r>
            <a:r>
              <a:rPr lang="es-ES_tradnl" dirty="0"/>
              <a:t>,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Years</a:t>
            </a:r>
            <a:r>
              <a:rPr lang="es-ES_tradnl" dirty="0"/>
              <a:t> e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Hits</a:t>
            </a:r>
            <a:r>
              <a:rPr lang="es-ES_tradnl" dirty="0"/>
              <a:t>. Sin embargo, tiene sus ventajas porque es más fácil entender y tienen mejor representación gráfica.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ADEC77F-F30B-C462-6F05-EF3BED0DFD86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2221445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375" name="Como construimos el proceso de construcción del árbol de regresión: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Como construimos el proceso de construcción del árbol de regresión:</a:t>
            </a:r>
          </a:p>
          <a:p>
            <a:pPr marL="1022350" indent="-1022350">
              <a:buSzPct val="100000"/>
              <a:buAutoNum type="arabicPeriod"/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Dividimos el espacio de observaciones, que son el set de los valores posibles X</a:t>
            </a:r>
            <a:r>
              <a:rPr lang="es-ES_tradnl" baseline="-25000" dirty="0"/>
              <a:t>1</a:t>
            </a:r>
            <a:r>
              <a:rPr lang="es-ES_tradnl" dirty="0"/>
              <a:t>, X</a:t>
            </a:r>
            <a:r>
              <a:rPr lang="es-ES_tradnl" baseline="-25000" dirty="0"/>
              <a:t>2</a:t>
            </a:r>
            <a:r>
              <a:rPr lang="es-ES_tradnl" dirty="0"/>
              <a:t>, …, </a:t>
            </a:r>
            <a:r>
              <a:rPr lang="es-ES_tradnl" dirty="0" err="1"/>
              <a:t>X</a:t>
            </a:r>
            <a:r>
              <a:rPr lang="es-ES_tradnl" baseline="-25000" dirty="0" err="1"/>
              <a:t>p</a:t>
            </a:r>
            <a:r>
              <a:rPr lang="es-ES_tradnl" dirty="0"/>
              <a:t>, en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J</a:t>
            </a:r>
            <a:r>
              <a:rPr lang="es-ES_tradnl" dirty="0"/>
              <a:t> regiones distintas y que no se solapan R</a:t>
            </a:r>
            <a:r>
              <a:rPr lang="es-ES_tradnl" baseline="-25000" dirty="0"/>
              <a:t>1</a:t>
            </a:r>
            <a:r>
              <a:rPr lang="es-ES_tradnl" dirty="0"/>
              <a:t>, R</a:t>
            </a:r>
            <a:r>
              <a:rPr lang="es-ES_tradnl" baseline="-25000" dirty="0"/>
              <a:t>2</a:t>
            </a:r>
            <a:r>
              <a:rPr lang="es-ES_tradnl" dirty="0"/>
              <a:t>, …, R</a:t>
            </a:r>
            <a:r>
              <a:rPr lang="es-ES_tradnl" baseline="-25000" dirty="0"/>
              <a:t>J</a:t>
            </a:r>
            <a:r>
              <a:rPr lang="es-ES_tradnl" dirty="0"/>
              <a:t>.</a:t>
            </a:r>
          </a:p>
          <a:p>
            <a:pPr marL="1022350" indent="-1022350">
              <a:buSzPct val="100000"/>
              <a:buAutoNum type="arabicPeriod"/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Para cada observación que cae en una región </a:t>
            </a:r>
            <a:r>
              <a:rPr lang="es-ES_tradnl" dirty="0" err="1"/>
              <a:t>R</a:t>
            </a:r>
            <a:r>
              <a:rPr lang="es-ES_tradnl" baseline="-25000" dirty="0" err="1"/>
              <a:t>j</a:t>
            </a:r>
            <a:r>
              <a:rPr lang="es-ES_tradnl" dirty="0"/>
              <a:t>, hacemos la misma predicción, la cual es simplemente la media de la respuesta de los valores de entrenamiento que están en </a:t>
            </a:r>
            <a:r>
              <a:rPr lang="es-ES_tradnl" dirty="0" err="1"/>
              <a:t>R</a:t>
            </a:r>
            <a:r>
              <a:rPr lang="es-ES_tradnl" baseline="-25000" dirty="0" err="1"/>
              <a:t>j</a:t>
            </a:r>
            <a:r>
              <a:rPr lang="es-ES_tradnl" dirty="0"/>
              <a:t>.</a:t>
            </a:r>
            <a:br>
              <a:rPr lang="es-ES_tradnl" dirty="0"/>
            </a:br>
            <a:br>
              <a:rPr lang="es-ES_tradnl" dirty="0"/>
            </a:br>
            <a:r>
              <a:rPr lang="es-ES_tradnl" dirty="0"/>
              <a:t>Podemos usar otra métrica de medición de posición central.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6B10879-F420-82F4-EB02-25E0AA99D826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190313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Cómo dividimos el espacio de observaciones?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95400" y="3710394"/>
                <a:ext cx="21869400" cy="9532780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¿Cómo dividimos el espacio de observaciones?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En teoría, el espacio lo podríamos dividir en cualquier tipo de regiones, pero se elige espacios </a:t>
                </a:r>
                <a:r>
                  <a:rPr lang="es-ES_tradnl" i="1" dirty="0">
                    <a:solidFill>
                      <a:schemeClr val="accent1">
                        <a:lumMod val="75000"/>
                      </a:schemeClr>
                    </a:solidFill>
                  </a:rPr>
                  <a:t>rectangulares</a:t>
                </a:r>
                <a:r>
                  <a:rPr lang="es-ES_tradnl" dirty="0"/>
                  <a:t> para simplificar el modelo.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El objetivo es encontrar cajas R</a:t>
                </a:r>
                <a:r>
                  <a:rPr lang="es-ES_tradnl" baseline="-25000" dirty="0"/>
                  <a:t>1</a:t>
                </a:r>
                <a:r>
                  <a:rPr lang="es-ES_tradnl" dirty="0"/>
                  <a:t>, …, R</a:t>
                </a:r>
                <a:r>
                  <a:rPr lang="es-ES_tradnl" baseline="-25000" dirty="0"/>
                  <a:t>J</a:t>
                </a:r>
                <a:r>
                  <a:rPr lang="es-ES_tradnl" dirty="0"/>
                  <a:t> que minimice la suma al cuadrado de los residuos, dado por:</a:t>
                </a:r>
                <a:br>
                  <a:rPr lang="es-ES_tradnl" dirty="0"/>
                </a:br>
                <a:endParaRPr lang="es-ES_tradnl" dirty="0"/>
              </a:p>
              <a:p>
                <a:pPr algn="ctr"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78" name="Cómo dividimos el espacio de observaciones?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400" y="3710394"/>
                <a:ext cx="21869400" cy="9532780"/>
              </a:xfrm>
              <a:prstGeom prst="rect">
                <a:avLst/>
              </a:prstGeom>
              <a:blipFill>
                <a:blip r:embed="rId2"/>
                <a:stretch>
                  <a:fillRect l="-1393" t="-1332" b="-1145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FA9EA59-0FD3-FD7E-7180-DE41EFD51611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887669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Cómo dividimos el espacio de observaciones?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95400" y="3710394"/>
                <a:ext cx="21869400" cy="9532780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¿Cómo dividimos el espacio de observaciones?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En teoría, el espacio lo podríamos dividir en cualquier tipo de regiones, pero se elige espacios </a:t>
                </a:r>
                <a:r>
                  <a:rPr lang="es-ES_tradnl" i="1" dirty="0">
                    <a:solidFill>
                      <a:schemeClr val="accent1">
                        <a:lumMod val="75000"/>
                      </a:schemeClr>
                    </a:solidFill>
                  </a:rPr>
                  <a:t>rectangulares</a:t>
                </a:r>
                <a:r>
                  <a:rPr lang="es-ES_tradnl" dirty="0"/>
                  <a:t> para simplificar el modelo.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El objetivo es encontrar cajas R</a:t>
                </a:r>
                <a:r>
                  <a:rPr lang="es-ES_tradnl" baseline="-25000" dirty="0"/>
                  <a:t>1</a:t>
                </a:r>
                <a:r>
                  <a:rPr lang="es-ES_tradnl" dirty="0"/>
                  <a:t>, …, R</a:t>
                </a:r>
                <a:r>
                  <a:rPr lang="es-ES_tradnl" baseline="-25000" dirty="0"/>
                  <a:t>J</a:t>
                </a:r>
                <a:r>
                  <a:rPr lang="es-ES_tradnl" dirty="0"/>
                  <a:t> que minimice la suma al cuadrado de los residuos, dado por:</a:t>
                </a:r>
                <a:br>
                  <a:rPr lang="es-ES_tradnl" dirty="0"/>
                </a:br>
                <a:endParaRPr lang="es-ES_tradnl" dirty="0"/>
              </a:p>
              <a:p>
                <a:pPr algn="ctr"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78" name="Cómo dividimos el espacio de observaciones?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400" y="3710394"/>
                <a:ext cx="21869400" cy="9532780"/>
              </a:xfrm>
              <a:prstGeom prst="rect">
                <a:avLst/>
              </a:prstGeom>
              <a:blipFill>
                <a:blip r:embed="rId2"/>
                <a:stretch>
                  <a:fillRect l="-1393" t="-1332" b="-1145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FA9EA59-0FD3-FD7E-7180-DE41EFD51611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10</a:t>
            </a:fld>
            <a:endParaRPr lang="en-US" sz="2800" dirty="0"/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5F5CD557-E48E-B700-6D1D-2419A2A4C7E1}"/>
              </a:ext>
            </a:extLst>
          </p:cNvPr>
          <p:cNvSpPr/>
          <p:nvPr/>
        </p:nvSpPr>
        <p:spPr>
          <a:xfrm>
            <a:off x="14048876" y="9506026"/>
            <a:ext cx="881070" cy="899215"/>
          </a:xfrm>
          <a:prstGeom prst="roundRect">
            <a:avLst>
              <a:gd name="adj" fmla="val 26776"/>
            </a:avLst>
          </a:prstGeom>
          <a:ln w="76200">
            <a:solidFill>
              <a:schemeClr val="accent5">
                <a:hueOff val="129701"/>
                <a:lumOff val="-2282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spcBef>
                <a:spcPts val="0"/>
              </a:spcBef>
              <a:tabLst/>
              <a:defRPr sz="2200" spc="-44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pPr>
            <a:endParaRPr lang="es-ES_tradnl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30EB95EC-25D5-44AB-9819-FEF39E52DD5D}"/>
              </a:ext>
            </a:extLst>
          </p:cNvPr>
          <p:cNvSpPr/>
          <p:nvPr/>
        </p:nvSpPr>
        <p:spPr>
          <a:xfrm>
            <a:off x="14929946" y="10436772"/>
            <a:ext cx="1141064" cy="1141064"/>
          </a:xfrm>
          <a:prstGeom prst="line">
            <a:avLst/>
          </a:prstGeom>
          <a:ln w="76200">
            <a:solidFill>
              <a:schemeClr val="accent5">
                <a:hueOff val="129701"/>
                <a:lumOff val="-22825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 lang="es-ES_tradnl"/>
          </a:p>
        </p:txBody>
      </p:sp>
      <p:sp>
        <p:nvSpPr>
          <p:cNvPr id="6" name="Es la media de y en la región RJ">
            <a:extLst>
              <a:ext uri="{FF2B5EF4-FFF2-40B4-BE49-F238E27FC236}">
                <a16:creationId xmlns:a16="http://schemas.microsoft.com/office/drawing/2014/main" id="{74ED081D-9843-59AF-AF28-7811BE3DDEAB}"/>
              </a:ext>
            </a:extLst>
          </p:cNvPr>
          <p:cNvSpPr txBox="1"/>
          <p:nvPr/>
        </p:nvSpPr>
        <p:spPr>
          <a:xfrm>
            <a:off x="14316889" y="11665686"/>
            <a:ext cx="6062703" cy="496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200" spc="-32"/>
            </a:pPr>
            <a:r>
              <a:rPr lang="es-ES_tradnl" dirty="0"/>
              <a:t>Es la media de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y</a:t>
            </a:r>
            <a:r>
              <a:rPr lang="es-ES_tradnl" dirty="0"/>
              <a:t> en la región R</a:t>
            </a:r>
            <a:r>
              <a:rPr lang="es-ES_tradnl" baseline="-25000" dirty="0"/>
              <a:t>J</a:t>
            </a:r>
            <a:r>
              <a:rPr lang="es-ES_tradnl" baseline="-5999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74568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389" name="Cómo dividimos el espacio de observaciones?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 defTabSz="578358">
              <a:spcBef>
                <a:spcPts val="3200"/>
              </a:spcBef>
              <a:defRPr sz="4554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¿Cómo dividimos el espacio de observaciones?</a:t>
            </a:r>
          </a:p>
          <a:p>
            <a:pPr defTabSz="578358">
              <a:spcBef>
                <a:spcPts val="3200"/>
              </a:spcBef>
              <a:defRPr sz="4554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Es imposible buscar todas las combinaciones posibles de valores para encontrar la minimizar a RSS.</a:t>
            </a:r>
          </a:p>
          <a:p>
            <a:pPr defTabSz="578358">
              <a:spcBef>
                <a:spcPts val="3200"/>
              </a:spcBef>
              <a:defRPr sz="4554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Tenemos que usar algún algoritmo de optimización. Para ello tomamos un algoritmo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top-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down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greedy</a:t>
            </a:r>
            <a:r>
              <a:rPr lang="es-ES_tradnl" dirty="0"/>
              <a:t> que es conocido como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Recursive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binary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splitting</a:t>
            </a:r>
            <a:r>
              <a:rPr lang="es-ES_tradnl" dirty="0"/>
              <a:t>.</a:t>
            </a:r>
          </a:p>
          <a:p>
            <a:pPr marL="737406" indent="-737406" defTabSz="578358">
              <a:spcBef>
                <a:spcPts val="3200"/>
              </a:spcBef>
              <a:buClr>
                <a:srgbClr val="000000"/>
              </a:buClr>
              <a:buSzPct val="200000"/>
              <a:buChar char="•"/>
              <a:defRPr sz="4554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Top-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down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:</a:t>
            </a:r>
            <a:r>
              <a:rPr lang="es-ES_tradnl" dirty="0"/>
              <a:t> Arrancamos desde el tronco del árbol y vamos bajando.</a:t>
            </a:r>
          </a:p>
          <a:p>
            <a:pPr marL="737406" indent="-737406" defTabSz="578358">
              <a:spcBef>
                <a:spcPts val="3200"/>
              </a:spcBef>
              <a:buClr>
                <a:srgbClr val="000000"/>
              </a:buClr>
              <a:buSzPct val="200000"/>
              <a:buChar char="•"/>
              <a:defRPr sz="4554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Greedy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:</a:t>
            </a:r>
            <a:r>
              <a:rPr lang="es-ES_tradnl" dirty="0"/>
              <a:t> En cada paso, se busca la mejor bifurcación en ese paso particular.</a:t>
            </a:r>
          </a:p>
          <a:p>
            <a:pPr defTabSz="578358">
              <a:spcBef>
                <a:spcPts val="3200"/>
              </a:spcBef>
              <a:defRPr sz="4554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F35E78-AF53-0533-4480-943F8F02833C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9161631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Recursive binary splitting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95400" y="3710394"/>
                <a:ext cx="21869400" cy="9532780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Recursive </a:t>
                </a:r>
                <a:r>
                  <a:rPr lang="es-ES_tradnl" dirty="0" err="1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binary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 </a:t>
                </a:r>
                <a:r>
                  <a:rPr lang="es-ES_tradnl" dirty="0" err="1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splitting</a:t>
                </a:r>
                <a:endParaRPr lang="es-ES_tradnl" dirty="0">
                  <a:latin typeface="Graphik Compact Bold"/>
                  <a:ea typeface="Graphik Compact Bold"/>
                  <a:cs typeface="Graphik Compact Bold"/>
                  <a:sym typeface="Graphik Compact Bold"/>
                </a:endParaRP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Se elije un </a:t>
                </a:r>
                <a:r>
                  <a:rPr lang="es-ES_tradnl" dirty="0" err="1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X</a:t>
                </a:r>
                <a:r>
                  <a:rPr lang="es-ES_tradnl" baseline="-25000" dirty="0" err="1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j</a:t>
                </a:r>
                <a:r>
                  <a:rPr lang="es-ES_tradnl" dirty="0"/>
                  <a:t> y el punto de corte </a:t>
                </a:r>
                <a:r>
                  <a:rPr lang="es-ES_tradnl" b="1" i="1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s</a:t>
                </a:r>
                <a:r>
                  <a:rPr lang="es-ES_tradnl" dirty="0"/>
                  <a:t> de tal forma que bifurca el espacio de </a:t>
                </a:r>
                <a:r>
                  <a:rPr lang="es-ES_tradnl" dirty="0" err="1"/>
                  <a:t>features</a:t>
                </a:r>
                <a:r>
                  <a:rPr lang="es-ES_tradnl" dirty="0"/>
                  <a:t> en dos regiones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s-ES_tradnl" dirty="0"/>
                  <a:t> que lleve a la mayor reducción de 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RSS</a:t>
                </a:r>
                <a:r>
                  <a:rPr lang="es-ES_tradnl" dirty="0"/>
                  <a:t>.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Es decir, para cada valor de j y cada valor de s:</a:t>
                </a:r>
              </a:p>
              <a:p>
                <a:pPr algn="ctr"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s-ES_tradnl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Y buscamos el valor de j y s que minimice esta ecuación: 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endParaRPr lang="es-ES_tradnl" dirty="0"/>
              </a:p>
            </p:txBody>
          </p:sp>
        </mc:Choice>
        <mc:Fallback xmlns="">
          <p:sp>
            <p:nvSpPr>
              <p:cNvPr id="392" name="Recursive binary splitting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400" y="3710394"/>
                <a:ext cx="21869400" cy="9532780"/>
              </a:xfrm>
              <a:prstGeom prst="rect">
                <a:avLst/>
              </a:prstGeom>
              <a:blipFill>
                <a:blip r:embed="rId2"/>
                <a:stretch>
                  <a:fillRect l="-1393" t="-1332" b="-197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EF56A9B-C379-DBE1-EA56-3CDEAC854A21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2429110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397" name="Recursive binary splitting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Recursive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binary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splitting</a:t>
            </a:r>
            <a:endParaRPr lang="es-ES_tradnl" dirty="0">
              <a:latin typeface="Graphik Compact Bold"/>
              <a:ea typeface="Graphik Compact Bold"/>
              <a:cs typeface="Graphik Compact Bold"/>
              <a:sym typeface="Graphik Compact Bold"/>
            </a:endParaRP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Y recursivamente repetimos esto para los segmentos que se generan, pero ahora tomando a las regiones formadas y aplicando este proceso, partimos en nuevas regiones. 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Este proceso continua hasta que llegamos a un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criterio de corte</a:t>
            </a:r>
            <a:r>
              <a:rPr lang="es-ES_tradnl" dirty="0"/>
              <a:t>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2E550DC-0CE0-D80E-6204-5501002520E2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9286177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400" name="Recursive binary splitting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Recursive binary splitting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dirty="0"/>
              <a:t> </a:t>
            </a:r>
          </a:p>
        </p:txBody>
      </p:sp>
      <p:pic>
        <p:nvPicPr>
          <p:cNvPr id="401" name="rect23432dsddllldd1.png" descr="rect23432dsddllld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30" y="5420777"/>
            <a:ext cx="20680540" cy="726177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BF015D9-B5C6-FB05-DAA3-CB1C23730682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210832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404" name="Podando los arboles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Podando los arboles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El proceso que se describió puede producir buenas predicciones del set de entrenamiento, pero muy fácilmente puede generar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overfitting</a:t>
            </a:r>
            <a:r>
              <a:rPr lang="es-ES_tradnl" dirty="0"/>
              <a:t>, haciendo que se desempeñe muy mal en el set de validación.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El caso más extremo es un árbol con una hoja por cada punto del set de entrenamiento.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Esto se debe a que el árbol es muy complejo. Un árbol más pequeño con menor regiones puede llevar a menos </a:t>
            </a:r>
            <a:r>
              <a:rPr lang="es-ES_tradnl" dirty="0">
                <a:solidFill>
                  <a:schemeClr val="accent3">
                    <a:satOff val="23024"/>
                    <a:lumOff val="-27718"/>
                  </a:schemeClr>
                </a:solidFill>
                <a:latin typeface="Graphik Compact Bold"/>
                <a:ea typeface="Graphik Compact Bold"/>
                <a:cs typeface="Graphik Compact Bold"/>
                <a:sym typeface="Graphik Compact Bold"/>
              </a:rPr>
              <a:t>varianza</a:t>
            </a:r>
            <a:r>
              <a:rPr lang="es-ES_tradnl" dirty="0"/>
              <a:t> y mejor interpretación a expensa de un poco de </a:t>
            </a:r>
            <a:r>
              <a:rPr lang="es-ES_tradnl" dirty="0">
                <a:solidFill>
                  <a:schemeClr val="accent6">
                    <a:lumOff val="-39947"/>
                  </a:schemeClr>
                </a:solidFill>
                <a:latin typeface="Graphik Compact Bold"/>
                <a:ea typeface="Graphik Compact Bold"/>
                <a:cs typeface="Graphik Compact Bold"/>
                <a:sym typeface="Graphik Compact Bold"/>
              </a:rPr>
              <a:t>sesgo</a:t>
            </a:r>
            <a:r>
              <a:rPr lang="es-ES_tradnl" dirty="0"/>
              <a:t>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AF0DC5-7534-C790-012A-8DA906414F65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957988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407" name="Podando los arboles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Podando los arboles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La estrategia más obvia es construir el árbol sólo mientras la disminución en el </a:t>
            </a:r>
            <a:r>
              <a:rPr lang="es-ES_tradnl" b="1" dirty="0"/>
              <a:t>RSS</a:t>
            </a:r>
            <a:r>
              <a:rPr lang="es-ES_tradnl" dirty="0"/>
              <a:t> sea mayor a un valor umbral (relativamente alto). Esta estrategia dará como resultado árboles más pequeños, pero es demasiado cortoplacista,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Una división aparentemente sin valor en las primeras etapas del árbol podría ser seguida por una división muy buena, es decir, una división que conduzca a una gran reducción del RSS más adelante.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5D26E6E-4BD2-BDDD-7103-3F599290B39F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6634609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410" name="Podando los arboles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Podando los arboles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Una mejor estrategia es llevar un paso de eliminación hacia atrás. Construimos un árbol enorme T</a:t>
            </a:r>
            <a:r>
              <a:rPr lang="es-ES_tradnl" baseline="-25000" dirty="0"/>
              <a:t>0</a:t>
            </a:r>
            <a:r>
              <a:rPr lang="es-ES_tradnl" dirty="0"/>
              <a:t>, y luego vamos podando para obtener un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sub-árbol</a:t>
            </a:r>
            <a:r>
              <a:rPr lang="es-ES_tradnl" dirty="0"/>
              <a:t>. 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¿Como hacemos? Intuitivamente es elegir un sub-árbol que disminuya el error de validación.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Pero de nuevo, </a:t>
            </a:r>
            <a:r>
              <a:rPr lang="es-ES_tradnl" dirty="0">
                <a:solidFill>
                  <a:schemeClr val="accent5">
                    <a:hueOff val="129701"/>
                    <a:lumOff val="-22825"/>
                  </a:schemeClr>
                </a:solidFill>
                <a:latin typeface="Graphik Compact Bold"/>
                <a:ea typeface="Graphik Compact Bold"/>
                <a:cs typeface="Graphik Compact Bold"/>
                <a:sym typeface="Graphik Compact Bold"/>
              </a:rPr>
              <a:t>estamos ante un problema demasiado complejo de iterar</a:t>
            </a:r>
            <a:r>
              <a:rPr lang="es-ES_tradnl" dirty="0"/>
              <a:t>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endParaRPr lang="es-ES_tradnl" dirty="0"/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111EBEB-8358-7056-AC42-9139ACE29930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243605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Podando los arboles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95400" y="3710394"/>
                <a:ext cx="21869400" cy="95327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defTabSz="531622">
                  <a:spcBef>
                    <a:spcPts val="3000"/>
                  </a:spcBef>
                  <a:defRPr sz="4186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Podando los arboles</a:t>
                </a:r>
              </a:p>
              <a:p>
                <a:pPr defTabSz="531622">
                  <a:spcBef>
                    <a:spcPts val="3000"/>
                  </a:spcBef>
                  <a:defRPr sz="4186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Vamos a introducir un valor de penalización α a nuestra formula de RSS. Dado un valor de α, existe un sub-árbol T perteneciente a T</a:t>
                </a:r>
                <a:r>
                  <a:rPr lang="es-ES_tradnl" baseline="-25000" dirty="0"/>
                  <a:t>0</a:t>
                </a:r>
                <a:r>
                  <a:rPr lang="es-ES_tradnl" dirty="0"/>
                  <a:t> que:</a:t>
                </a:r>
              </a:p>
              <a:p>
                <a:pPr defTabSz="531622">
                  <a:spcBef>
                    <a:spcPts val="3000"/>
                  </a:spcBef>
                  <a:defRPr sz="4186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s-ES_tradnl" dirty="0"/>
              </a:p>
              <a:p>
                <a:pPr defTabSz="531622">
                  <a:spcBef>
                    <a:spcPts val="3000"/>
                  </a:spcBef>
                  <a:defRPr sz="4186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…es mínimo. </a:t>
                </a:r>
              </a:p>
              <a:p>
                <a:pPr defTabSz="531622">
                  <a:spcBef>
                    <a:spcPts val="3000"/>
                  </a:spcBef>
                  <a:defRPr sz="4186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L indica el número de hojas del sub-árbol. </a:t>
                </a:r>
              </a:p>
              <a:p>
                <a:pPr defTabSz="531622">
                  <a:spcBef>
                    <a:spcPts val="3000"/>
                  </a:spcBef>
                  <a:defRPr sz="4186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α (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s-ES_tradnl" dirty="0"/>
                  <a:t>) presenta un </a:t>
                </a:r>
                <a:r>
                  <a:rPr lang="es-ES_tradnl" dirty="0" err="1"/>
                  <a:t>trade</a:t>
                </a:r>
                <a:r>
                  <a:rPr lang="es-ES_tradnl" dirty="0"/>
                  <a:t>-off entre complejidad del árbol y su capacidad de ajustar a los datos (Regularización). Si α=0 el árbol elegido es T</a:t>
                </a:r>
                <a:r>
                  <a:rPr lang="es-ES_tradnl" baseline="-25000" dirty="0"/>
                  <a:t>0</a:t>
                </a:r>
                <a:r>
                  <a:rPr lang="es-ES_tradnl" dirty="0"/>
                  <a:t>. Cuando más grande es α, el precio a pagar por el tamaño de árbol cada vez es mayor.</a:t>
                </a:r>
              </a:p>
            </p:txBody>
          </p:sp>
        </mc:Choice>
        <mc:Fallback xmlns="">
          <p:sp>
            <p:nvSpPr>
              <p:cNvPr id="413" name="Podando los arbol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400" y="3710394"/>
                <a:ext cx="21869400" cy="9532780"/>
              </a:xfrm>
              <a:prstGeom prst="rect">
                <a:avLst/>
              </a:prstGeom>
              <a:blipFill>
                <a:blip r:embed="rId2"/>
                <a:stretch>
                  <a:fillRect l="-1277" t="-1198" r="-58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92CE9D4-7EE1-676C-5A70-CE7E292904D2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071740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417" name="Podando los arboles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Podando los arboles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Algo interesante es que a medida que aumentamos α desde cero, las ramas se podan del árbol de una manera anidada y predecible, por lo que es fácil obtener la secuencia completa de subárboles en función de α. 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Podemos seleccionar un valor de α usando búsqueda de hiper-parámetros.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7C961F7-17CA-0933-B14C-1117CAD070CE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19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479507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Arboles de Regres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>
                <a:solidFill>
                  <a:schemeClr val="tx1"/>
                </a:solidFill>
              </a:rPr>
              <a:t>Árboles</a:t>
            </a:r>
            <a:r>
              <a:rPr lang="es-ES_tradnl" dirty="0"/>
              <a:t> de Regresión</a:t>
            </a:r>
          </a:p>
        </p:txBody>
      </p:sp>
      <p:sp>
        <p:nvSpPr>
          <p:cNvPr id="420" name="Algoritmo total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Algoritmo total</a:t>
            </a:r>
          </a:p>
          <a:p>
            <a:pPr marL="1022350" indent="-1022350">
              <a:buSzPct val="100000"/>
              <a:buAutoNum type="arabicPeriod"/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Usando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 Recursive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binary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 </a:t>
            </a:r>
            <a:r>
              <a:rPr lang="es-ES_tradnl" dirty="0" err="1">
                <a:latin typeface="Graphik Compact Bold"/>
                <a:ea typeface="Graphik Compact Bold"/>
                <a:cs typeface="Graphik Compact Bold"/>
                <a:sym typeface="Graphik Compact Bold"/>
              </a:rPr>
              <a:t>splitting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 </a:t>
            </a:r>
            <a:r>
              <a:rPr lang="es-ES_tradnl" dirty="0"/>
              <a:t>se crea el árbol más grande con el </a:t>
            </a:r>
            <a:r>
              <a:rPr lang="es-ES_tradnl" dirty="0" err="1"/>
              <a:t>dataset</a:t>
            </a:r>
            <a:r>
              <a:rPr lang="es-ES_tradnl" dirty="0"/>
              <a:t> de entrenamiento, terminando el entrenamiento cuando cada hoja tenga menos de un número determinado de observaciones.</a:t>
            </a:r>
          </a:p>
          <a:p>
            <a:pPr marL="1022350" indent="-1022350">
              <a:buSzPct val="100000"/>
              <a:buAutoNum type="arabicPeriod"/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Se aplica la técnica de podado de árbol para obtener un set de </a:t>
            </a:r>
            <a:r>
              <a:rPr lang="es-ES_tradnl" dirty="0" err="1"/>
              <a:t>sub-arboles</a:t>
            </a:r>
            <a:r>
              <a:rPr lang="es-ES_tradnl" dirty="0"/>
              <a:t> como función de α. Usando validación cruzada para elegir α. </a:t>
            </a:r>
          </a:p>
          <a:p>
            <a:pPr marL="1022350" indent="-1022350">
              <a:buSzPct val="100000"/>
              <a:buAutoNum type="arabicPeriod"/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Elija el sub-árbol del paso 2 que corresponde al valor de α que disminuya el error.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27B22B3-A400-FE5D-A807-A1B781DFE884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20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4698517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VAMOS A PRÁCTICAR UN POCO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 b="0" spc="-215">
                <a:solidFill>
                  <a:srgbClr val="FFFFFF"/>
                </a:solidFill>
                <a:latin typeface="Graphik Compact Bold"/>
                <a:ea typeface="Graphik Compact Bold"/>
                <a:cs typeface="Graphik Compact Bold"/>
                <a:sym typeface="Graphik Compact Bold"/>
              </a:defRPr>
            </a:lvl1pPr>
          </a:lstStyle>
          <a:p>
            <a:r>
              <a:rPr lang="es-ES_tradnl" dirty="0">
                <a:solidFill>
                  <a:schemeClr val="tx1"/>
                </a:solidFill>
              </a:rPr>
              <a:t>VAMOS A PRÁCTICAR UN POCO…</a:t>
            </a:r>
          </a:p>
        </p:txBody>
      </p:sp>
    </p:spTree>
    <p:extLst>
      <p:ext uri="{BB962C8B-B14F-4D97-AF65-F5344CB8AC3E}">
        <p14:creationId xmlns:p14="http://schemas.microsoft.com/office/powerpoint/2010/main" val="62789213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Arbol de clasificación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ES_tradnl" dirty="0">
                <a:solidFill>
                  <a:schemeClr val="tx1"/>
                </a:solidFill>
              </a:rPr>
              <a:t>Árbol de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168909945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Arbol de clasificac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/>
              <a:t>Árbol de clasificación</a:t>
            </a:r>
          </a:p>
        </p:txBody>
      </p:sp>
      <p:sp>
        <p:nvSpPr>
          <p:cNvPr id="427" name="Un árbol de clasificación es muy similar a uno de regresión, pero ahora se usa para predecir una variable cualitativa.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/>
              <a:t>Un árbol de clasificación es muy similar a uno de regresión, pero ahora se usa para predecir una </a:t>
            </a:r>
            <a:r>
              <a:rPr lang="es-ES_tradnl">
                <a:latin typeface="Graphik Compact Bold"/>
                <a:ea typeface="Graphik Compact Bold"/>
                <a:cs typeface="Graphik Compact Bold"/>
                <a:sym typeface="Graphik Compact Bold"/>
              </a:rPr>
              <a:t>variable cualitativa</a:t>
            </a:r>
            <a:r>
              <a:rPr lang="es-ES_tradnl"/>
              <a:t>. 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/>
              <a:t>En el caso de regresión, al llegar la hoja, obteníamos el valor con el promedio de los valores en la hoja. Ahora, obtenemos la clase en base a la </a:t>
            </a:r>
            <a:r>
              <a:rPr lang="es-ES_tradnl">
                <a:latin typeface="Graphik Compact Bold"/>
                <a:ea typeface="Graphik Compact Bold"/>
                <a:cs typeface="Graphik Compact Bold"/>
                <a:sym typeface="Graphik Compact Bold"/>
              </a:rPr>
              <a:t>clase que más ocurre </a:t>
            </a:r>
            <a:r>
              <a:rPr lang="es-ES_tradnl"/>
              <a:t>en las muestras que están en la hoja.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/>
              <a:t>Al interpretar los resultados de un </a:t>
            </a:r>
            <a:r>
              <a:rPr lang="es-ES_tradnl">
                <a:latin typeface="Graphik Compact Bold"/>
                <a:ea typeface="Graphik Compact Bold"/>
                <a:cs typeface="Graphik Compact Bold"/>
                <a:sym typeface="Graphik Compact Bold"/>
              </a:rPr>
              <a:t>árbol de clasificación</a:t>
            </a:r>
            <a:r>
              <a:rPr lang="es-ES_tradnl"/>
              <a:t>, a menudo estamos interesados no sólo en la predicción de clase correspondiente a una región de nodo terminal particular, sino también en las </a:t>
            </a:r>
            <a:r>
              <a:rPr lang="es-ES_tradnl">
                <a:latin typeface="Graphik Compact Bold"/>
                <a:ea typeface="Graphik Compact Bold"/>
                <a:cs typeface="Graphik Compact Bold"/>
                <a:sym typeface="Graphik Compact Bold"/>
              </a:rPr>
              <a:t>proporciones de clase entre las observaciones de entrenamiento</a:t>
            </a:r>
            <a:r>
              <a:rPr lang="es-ES_tradnl"/>
              <a:t> que caen en esa región.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5D6B39D-D51D-5325-C9CB-C8E0A75EDDB6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23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601203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Arbol de clasificac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/>
              <a:t>Árbol de clasificación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0" name="La forma en que se crea un árbol de clasificación es muy parecida al árbol de regresión con la estrategia top-down y greedy, pero no contamos con el error cuadrático.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95400" y="3896659"/>
                <a:ext cx="21869400" cy="8479271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/>
              <a:p>
                <a:pPr defTabSz="554990">
                  <a:spcBef>
                    <a:spcPts val="3100"/>
                  </a:spcBef>
                  <a:defRPr sz="437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La forma más simple en que se crea un árbol de clasificación es muy parecida al árbol de regresión con la estrategia 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top-</a:t>
                </a:r>
                <a:r>
                  <a:rPr lang="es-ES_tradnl" dirty="0" err="1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down</a:t>
                </a:r>
                <a:r>
                  <a:rPr lang="es-ES_tradnl" dirty="0"/>
                  <a:t> y </a:t>
                </a:r>
                <a:r>
                  <a:rPr lang="es-ES_tradnl" dirty="0" err="1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greedy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, </a:t>
                </a:r>
                <a:r>
                  <a:rPr lang="es-ES_tradnl" dirty="0"/>
                  <a:t>pero no contamos con el error cuadrático.</a:t>
                </a:r>
              </a:p>
              <a:p>
                <a:pPr defTabSz="554990">
                  <a:spcBef>
                    <a:spcPts val="3100"/>
                  </a:spcBef>
                  <a:defRPr sz="437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Una primera métrica que podemos usar es la 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tasa de error de clasificación</a:t>
                </a:r>
                <a:r>
                  <a:rPr lang="es-ES_tradnl" dirty="0"/>
                  <a:t>:</a:t>
                </a:r>
                <a:br>
                  <a:rPr lang="es-ES_tradnl" dirty="0"/>
                </a:br>
                <a:endParaRPr lang="es-ES_tradnl" dirty="0"/>
              </a:p>
              <a:p>
                <a:pPr defTabSz="554990">
                  <a:spcBef>
                    <a:spcPts val="3100"/>
                  </a:spcBef>
                  <a:defRPr sz="437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defTabSz="554990">
                  <a:spcBef>
                    <a:spcPts val="3100"/>
                  </a:spcBef>
                  <a:defRPr sz="437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Es la fracción de las observaciones de entrenamiento en esa región que no pertenecen a la clase más común.</a:t>
                </a:r>
              </a:p>
              <a:p>
                <a:pPr defTabSz="554990">
                  <a:spcBef>
                    <a:spcPts val="3100"/>
                  </a:spcBef>
                  <a:defRPr sz="437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𝑚𝑘</m:t>
                        </m:r>
                      </m:sub>
                    </m:sSub>
                  </m:oMath>
                </a14:m>
                <a:r>
                  <a:rPr lang="es-ES_tradnl" dirty="0"/>
                  <a:t> representa la proporción de las observaciones de entrenamiento en la región 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m</a:t>
                </a:r>
                <a:r>
                  <a:rPr lang="es-ES_tradnl" dirty="0"/>
                  <a:t> que son de la clase 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k</a:t>
                </a:r>
                <a:r>
                  <a:rPr lang="es-ES_tradnl" dirty="0"/>
                  <a:t>. </a:t>
                </a:r>
              </a:p>
              <a:p>
                <a:pPr defTabSz="554990">
                  <a:spcBef>
                    <a:spcPts val="3100"/>
                  </a:spcBef>
                  <a:defRPr sz="437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Ojo, el error de clasificación </a:t>
                </a:r>
                <a:r>
                  <a:rPr lang="es-ES_tradnl" dirty="0">
                    <a:solidFill>
                      <a:schemeClr val="accent5">
                        <a:hueOff val="129701"/>
                        <a:lumOff val="-22825"/>
                      </a:schemeClr>
                    </a:solidFill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no es suficientemente sensible para crecer a los árboles</a:t>
                </a:r>
                <a:r>
                  <a:rPr lang="es-ES_tradnl" dirty="0"/>
                  <a:t> y, en la práctica, son preferibles otras dos medidas.</a:t>
                </a:r>
              </a:p>
            </p:txBody>
          </p:sp>
        </mc:Choice>
        <mc:Fallback>
          <p:sp>
            <p:nvSpPr>
              <p:cNvPr id="430" name="La forma en que se crea un árbol de clasificación es muy parecida al árbol de regresión con la estrategia top-down y greedy, pero no contamos con el error cuadrático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400" y="3896659"/>
                <a:ext cx="21869400" cy="8479271"/>
              </a:xfrm>
              <a:prstGeom prst="rect">
                <a:avLst/>
              </a:prstGeom>
              <a:blipFill>
                <a:blip r:embed="rId2"/>
                <a:stretch>
                  <a:fillRect l="-1199" t="-1941" r="-11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6EA6F0-CE8C-6B18-2C9F-9BEAD17911CC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24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6648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Arbol de clasificac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/>
              <a:t>Árbol de clasificación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El indice de Gini, el cual es una medida de la desigualdad usada inicialmente para medir la desigualdad de los países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95400" y="3896660"/>
                <a:ext cx="21869400" cy="9532780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El índice de Gini</a:t>
                </a:r>
                <a:r>
                  <a:rPr lang="es-ES_tradnl" dirty="0"/>
                  <a:t>, el cual es una medida de la desigualdad usada inicialmente para medir la desigualdad de los países: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Como una medida de la varianza a través de todas las clases K. El cual se observa que el 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índice de Gini</a:t>
                </a:r>
                <a:r>
                  <a:rPr lang="es-ES_tradnl" dirty="0"/>
                  <a:t> toma un valor pequeño si todas las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𝑚𝑘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son cercanas a cero o uno. 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Por esto, se dice que el índice de Gini es una medida de la pureza de un nodo terminal</a:t>
                </a:r>
              </a:p>
            </p:txBody>
          </p:sp>
        </mc:Choice>
        <mc:Fallback xmlns="">
          <p:sp>
            <p:nvSpPr>
              <p:cNvPr id="435" name="El indice de Gini, el cual es una medida de la desigualdad usada inicialmente para medir la desigualdad de los países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400" y="3896660"/>
                <a:ext cx="21869400" cy="9532780"/>
              </a:xfrm>
              <a:prstGeom prst="rect">
                <a:avLst/>
              </a:prstGeom>
              <a:blipFill>
                <a:blip r:embed="rId2"/>
                <a:stretch>
                  <a:fillRect l="-1393" t="-87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9054AD4-6524-7351-1463-B0A1029713D7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25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921653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Arbol de clasificac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/>
              <a:t>Árbol de clasificación</a:t>
            </a:r>
          </a:p>
        </p:txBody>
      </p:sp>
      <p:sp>
        <p:nvSpPr>
          <p:cNvPr id="440" name="En un árbol de clasificación, queremos encontrar una rama de decisión que de mucha información.…"/>
          <p:cNvSpPr txBox="1">
            <a:spLocks noGrp="1"/>
          </p:cNvSpPr>
          <p:nvPr>
            <p:ph type="body" idx="1"/>
          </p:nvPr>
        </p:nvSpPr>
        <p:spPr>
          <a:xfrm>
            <a:off x="1295400" y="3896660"/>
            <a:ext cx="21869400" cy="9532780"/>
          </a:xfrm>
          <a:prstGeom prst="rect">
            <a:avLst/>
          </a:prstGeom>
        </p:spPr>
        <p:txBody>
          <a:bodyPr/>
          <a:lstStyle/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En un árbol de clasificación, queremos encontrar una rama de decisión que de mucha información.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Si en una rama, hace que todas las observaciones de una clase vayan para un lado y todas las otras observaciones de otra clase vayan para la otra,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va a ser una excelente rama para elegir</a:t>
            </a:r>
            <a:r>
              <a:rPr lang="es-ES_tradnl" dirty="0"/>
              <a:t>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En cambio, el caso que no afecta a como se mueven las clases, probablemente no es una buena opción.</a:t>
            </a:r>
          </a:p>
          <a:p>
            <a: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La forma que capturamos esta noción de </a:t>
            </a:r>
            <a:r>
              <a:rPr lang="es-ES_tradnl" dirty="0">
                <a:solidFill>
                  <a:schemeClr val="accent3">
                    <a:satOff val="-11207"/>
                    <a:lumOff val="-11741"/>
                  </a:schemeClr>
                </a:solidFill>
              </a:rPr>
              <a:t>cuanta información transmite</a:t>
            </a:r>
            <a:r>
              <a:rPr lang="es-ES_tradnl" dirty="0"/>
              <a:t> es con </a:t>
            </a:r>
            <a:r>
              <a:rPr lang="es-ES_tradnl" dirty="0">
                <a:latin typeface="Graphik Compact Bold"/>
                <a:ea typeface="Graphik Compact Bold"/>
                <a:cs typeface="Graphik Compact Bold"/>
                <a:sym typeface="Graphik Compact Bold"/>
              </a:rPr>
              <a:t>Entropía</a:t>
            </a:r>
            <a:r>
              <a:rPr lang="es-ES_tradnl" dirty="0"/>
              <a:t>. O también como medida de desorden.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0524E2B-B4C2-81BB-C27D-CA395D5FA42E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26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3244926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Arbol de clasificac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/>
              <a:t>Árbol de clasificación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Si en una hoja, todas las observaciones de entrenamiento son de una sola clase, la entropía es cero.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95400" y="3825521"/>
                <a:ext cx="21869400" cy="953277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Si en una hoja, todas las observaciones de entrenamiento son de una sola clase, la entropía es cero.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En cambio, si las clases están desperdigadas de forma uniforme entre la clase, la entropía es grande.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:r>
                  <a:rPr lang="es-ES_tradnl" dirty="0"/>
                  <a:t>La definición de </a:t>
                </a:r>
                <a:r>
                  <a:rPr lang="es-ES_tradnl" dirty="0">
                    <a:latin typeface="Graphik Compact Bold"/>
                    <a:ea typeface="Graphik Compact Bold"/>
                    <a:cs typeface="Graphik Compact Bold"/>
                    <a:sym typeface="Graphik Compact Bold"/>
                  </a:rPr>
                  <a:t>entropía</a:t>
                </a:r>
                <a:r>
                  <a:rPr lang="es-ES_tradnl" dirty="0"/>
                  <a:t> es: </a:t>
                </a:r>
              </a:p>
              <a:p>
                <a:pPr>
                  <a:defRPr sz="4600">
                    <a:latin typeface="Graphik Compact Regular"/>
                    <a:ea typeface="Graphik Compact Regular"/>
                    <a:cs typeface="Graphik Compact Regular"/>
                    <a:sym typeface="Graphik Compact Regular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br>
                  <a:rPr lang="es-ES_tradnl" dirty="0"/>
                </a:br>
                <a:r>
                  <a:rPr lang="es-ES_tradnl" dirty="0"/>
                  <a:t>Vemos que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𝑚𝑘</m:t>
                        </m:r>
                      </m:sub>
                    </m:sSub>
                  </m:oMath>
                </a14:m>
                <a:r>
                  <a:rPr lang="es-ES_tradnl" dirty="0"/>
                  <a:t> son cercanos a cero o a uno, la entropía es un valor pequeño. Si las proporciones son similares entre sí, este valor va a ser grande.  </a:t>
                </a:r>
              </a:p>
            </p:txBody>
          </p:sp>
        </mc:Choice>
        <mc:Fallback xmlns="">
          <p:sp>
            <p:nvSpPr>
              <p:cNvPr id="444" name="Si en una hoja, todas las observaciones de entrenamiento son de una sola clase, la entropía es cero.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5400" y="3825521"/>
                <a:ext cx="21869400" cy="9532779"/>
              </a:xfrm>
              <a:prstGeom prst="rect">
                <a:avLst/>
              </a:prstGeom>
              <a:blipFill>
                <a:blip r:embed="rId2"/>
                <a:stretch>
                  <a:fillRect l="-1393" t="-1332" r="-929" b="-4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5" name="lagrida_latex_editor32.png" descr="lagrida_latex_editor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9387" y="13782806"/>
            <a:ext cx="4364092" cy="1396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lagrida_latex_editor31.png" descr="lagrida_latex_editor31.png"/>
          <p:cNvPicPr>
            <a:picLocks noChangeAspect="1"/>
          </p:cNvPicPr>
          <p:nvPr/>
        </p:nvPicPr>
        <p:blipFill>
          <a:blip r:embed="rId4"/>
          <a:srcRect l="74729" r="4623"/>
          <a:stretch>
            <a:fillRect/>
          </a:stretch>
        </p:blipFill>
        <p:spPr>
          <a:xfrm>
            <a:off x="10072683" y="13782806"/>
            <a:ext cx="1079114" cy="103729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649C727-B817-3403-89E3-06C8AC9FB57A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27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994266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Arbol de clasificac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 dirty="0"/>
              <a:t>Árbol de clasificación</a:t>
            </a:r>
          </a:p>
        </p:txBody>
      </p:sp>
      <p:pic>
        <p:nvPicPr>
          <p:cNvPr id="450" name="lagrida_latex_editor32.png" descr="lagrida_latex_editor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387" y="13782806"/>
            <a:ext cx="4364092" cy="1396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" name="oukkktput.png" descr="oukkk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583" y="4125780"/>
            <a:ext cx="10246833" cy="851418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82559D3-B098-A5B5-D42F-66964CD8A654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28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688472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Arbol de clasificación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Arbol de clasificación</a:t>
            </a:r>
          </a:p>
        </p:txBody>
      </p:sp>
      <p:sp>
        <p:nvSpPr>
          <p:cNvPr id="454" name="Todo el resto es igual al árbol de regresión"/>
          <p:cNvSpPr txBox="1">
            <a:spLocks noGrp="1"/>
          </p:cNvSpPr>
          <p:nvPr>
            <p:ph type="body" idx="1"/>
          </p:nvPr>
        </p:nvSpPr>
        <p:spPr>
          <a:xfrm>
            <a:off x="1295400" y="3825521"/>
            <a:ext cx="21869400" cy="9532779"/>
          </a:xfrm>
          <a:prstGeom prst="rect">
            <a:avLst/>
          </a:prstGeom>
        </p:spPr>
        <p:txBody>
          <a:bodyPr/>
          <a:lstStyle>
            <a:lvl1pPr>
              <a:defRPr sz="460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</a:lstStyle>
          <a:p>
            <a:r>
              <a:rPr lang="es-ES_tradnl"/>
              <a:t>Todo el resto es igual al árbol de regresión</a:t>
            </a:r>
          </a:p>
        </p:txBody>
      </p:sp>
      <p:pic>
        <p:nvPicPr>
          <p:cNvPr id="455" name="lagrida_latex_editor32.png" descr="lagrida_latex_editor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387" y="13782806"/>
            <a:ext cx="4364092" cy="13968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2A5D960-8D0F-FF1A-A70A-089F7977536E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29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09666487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Ventajas y Desventajas de los arboles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>
            <a:normAutofit/>
          </a:bodyPr>
          <a:lstStyle>
            <a:lvl1pPr defTabSz="479044">
              <a:defRPr sz="8200" spc="-328"/>
            </a:lvl1pPr>
          </a:lstStyle>
          <a:p>
            <a:r>
              <a:rPr lang="es-ES_tradnl" dirty="0"/>
              <a:t>Ventajas y Desventajas de los árboles</a:t>
            </a:r>
          </a:p>
        </p:txBody>
      </p:sp>
      <p:sp>
        <p:nvSpPr>
          <p:cNvPr id="460" name="✅ Son fáciles de explicar a las personas, mas inclusive que a la regresión lineal.…"/>
          <p:cNvSpPr txBox="1">
            <a:spLocks noGrp="1"/>
          </p:cNvSpPr>
          <p:nvPr>
            <p:ph type="body" idx="1"/>
          </p:nvPr>
        </p:nvSpPr>
        <p:spPr>
          <a:xfrm>
            <a:off x="1295400" y="3710394"/>
            <a:ext cx="21869400" cy="9532780"/>
          </a:xfrm>
          <a:prstGeom prst="rect">
            <a:avLst/>
          </a:prstGeom>
        </p:spPr>
        <p:txBody>
          <a:bodyPr/>
          <a:lstStyle/>
          <a:p>
            <a:pPr defTabSz="554990">
              <a:spcBef>
                <a:spcPts val="3100"/>
              </a:spcBef>
              <a:defRPr sz="437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✅ Son fáciles de explicar a las personas, más inclusive que a la regresión lineal.</a:t>
            </a:r>
          </a:p>
          <a:p>
            <a:pPr defTabSz="554990">
              <a:spcBef>
                <a:spcPts val="3100"/>
              </a:spcBef>
              <a:defRPr sz="437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✅ Se hipotetiza que el árbol de decisión se acerca más a la forma que un humano piensa.</a:t>
            </a:r>
          </a:p>
          <a:p>
            <a:pPr defTabSz="554990">
              <a:spcBef>
                <a:spcPts val="3100"/>
              </a:spcBef>
              <a:defRPr sz="437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✅ Se puede representar gráficamente.</a:t>
            </a:r>
          </a:p>
          <a:p>
            <a:pPr defTabSz="554990">
              <a:spcBef>
                <a:spcPts val="3100"/>
              </a:spcBef>
              <a:defRPr sz="437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✅ Los árboles puede manejar fácilmente variables cualitativas sin necesidad de crear variables </a:t>
            </a:r>
            <a:r>
              <a:rPr lang="es-ES_tradnl" dirty="0" err="1"/>
              <a:t>dummy</a:t>
            </a:r>
            <a:r>
              <a:rPr lang="es-ES_tradnl" dirty="0"/>
              <a:t>.</a:t>
            </a:r>
          </a:p>
          <a:p>
            <a:pPr defTabSz="554990">
              <a:spcBef>
                <a:spcPts val="3100"/>
              </a:spcBef>
              <a:defRPr sz="437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🚫 No tienen el mismo nivel de exactitud de predicción que otros modelos</a:t>
            </a:r>
          </a:p>
          <a:p>
            <a:pPr defTabSz="554990">
              <a:spcBef>
                <a:spcPts val="3100"/>
              </a:spcBef>
              <a:defRPr sz="4370"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pPr>
            <a:r>
              <a:rPr lang="es-ES_tradnl" dirty="0"/>
              <a:t>🚫 No son robustos, pequeños cambios en los datos pueden cambiar grandes cambios en la predicción.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639C170-4C0C-13B3-51A0-43756F3329AC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30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580410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Ventajas y Desventajas de los arboles"/>
          <p:cNvSpPr txBox="1">
            <a:spLocks noGrp="1"/>
          </p:cNvSpPr>
          <p:nvPr>
            <p:ph type="title"/>
          </p:nvPr>
        </p:nvSpPr>
        <p:spPr>
          <a:xfrm>
            <a:off x="1295400" y="1622629"/>
            <a:ext cx="21869400" cy="1778386"/>
          </a:xfrm>
          <a:prstGeom prst="rect">
            <a:avLst/>
          </a:prstGeom>
        </p:spPr>
        <p:txBody>
          <a:bodyPr>
            <a:normAutofit/>
          </a:bodyPr>
          <a:lstStyle>
            <a:lvl1pPr defTabSz="479044">
              <a:defRPr sz="8200" spc="-328"/>
            </a:lvl1pPr>
          </a:lstStyle>
          <a:p>
            <a:r>
              <a:rPr lang="es-ES_tradnl" dirty="0"/>
              <a:t>Ventajas y Desventajas de los árboles</a:t>
            </a:r>
          </a:p>
        </p:txBody>
      </p:sp>
      <p:pic>
        <p:nvPicPr>
          <p:cNvPr id="463" name="g1ddd5750.png" descr="g1ddd57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82" y="3459664"/>
            <a:ext cx="11143636" cy="991945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236445D-84B5-D686-0361-312C9E717197}"/>
              </a:ext>
            </a:extLst>
          </p:cNvPr>
          <p:cNvSpPr txBox="1">
            <a:spLocks/>
          </p:cNvSpPr>
          <p:nvPr/>
        </p:nvSpPr>
        <p:spPr>
          <a:xfrm>
            <a:off x="23088600" y="13053322"/>
            <a:ext cx="1130945" cy="501163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1pPr>
            <a:lvl2pPr marL="0" marR="0" indent="457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2pPr>
            <a:lvl3pPr marL="0" marR="0" indent="914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3pPr>
            <a:lvl4pPr marL="0" marR="0" indent="1371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4pPr>
            <a:lvl5pPr marL="0" marR="0" indent="18288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5pPr>
            <a:lvl6pPr marL="0" marR="0" indent="22860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6pPr>
            <a:lvl7pPr marL="0" marR="0" indent="27432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7pPr>
            <a:lvl8pPr marL="0" marR="0" indent="32004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8pPr>
            <a:lvl9pPr marL="0" marR="0" indent="3657600" algn="ctr" defTabSz="821531" rtl="0" fontAlgn="auto" latinLnBrk="0" hangingPunct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812800" algn="l"/>
              </a:tabLst>
              <a:defRPr kumimoji="0" sz="2600" b="0" i="0" u="none" strike="noStrike" cap="none" spc="-26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 Compact Regular"/>
                <a:ea typeface="Graphik Compact Regular"/>
                <a:cs typeface="Graphik Compact Regular"/>
                <a:sym typeface="Graphik Compact Regular"/>
              </a:defRPr>
            </a:lvl9pPr>
          </a:lstStyle>
          <a:p>
            <a:fld id="{87E7843D-FF13-4365-9478-9625B70A2705}" type="slidenum">
              <a:rPr lang="en-US" sz="2800" smtClean="0"/>
              <a:pPr/>
              <a:t>31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453517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VAMOS A PRÁCTICAR UN POCO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 b="0" spc="-215">
                <a:solidFill>
                  <a:srgbClr val="FFFFFF"/>
                </a:solidFill>
                <a:latin typeface="Graphik Compact Bold"/>
                <a:ea typeface="Graphik Compact Bold"/>
                <a:cs typeface="Graphik Compact Bold"/>
                <a:sym typeface="Graphik Compact Bold"/>
              </a:defRPr>
            </a:lvl1pPr>
          </a:lstStyle>
          <a:p>
            <a:r>
              <a:rPr lang="es-ES_tradnl" dirty="0">
                <a:solidFill>
                  <a:schemeClr val="tx1"/>
                </a:solidFill>
              </a:rPr>
              <a:t>VAMOS A PRÁCTICAR UN POCO…</a:t>
            </a:r>
          </a:p>
        </p:txBody>
      </p:sp>
    </p:spTree>
    <p:extLst>
      <p:ext uri="{BB962C8B-B14F-4D97-AF65-F5344CB8AC3E}">
        <p14:creationId xmlns:p14="http://schemas.microsoft.com/office/powerpoint/2010/main" val="414063813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34_DynamicRainbow">
  <a:themeElements>
    <a:clrScheme name="34_DynamicRainbow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99DFF"/>
      </a:accent1>
      <a:accent2>
        <a:srgbClr val="00D4D2"/>
      </a:accent2>
      <a:accent3>
        <a:srgbClr val="38E53A"/>
      </a:accent3>
      <a:accent4>
        <a:srgbClr val="FFFA00"/>
      </a:accent4>
      <a:accent5>
        <a:srgbClr val="FF7D74"/>
      </a:accent5>
      <a:accent6>
        <a:srgbClr val="FF80E9"/>
      </a:accent6>
      <a:hlink>
        <a:srgbClr val="0000FF"/>
      </a:hlink>
      <a:folHlink>
        <a:srgbClr val="FF00FF"/>
      </a:folHlink>
    </a:clrScheme>
    <a:fontScheme name="34_DynamicRainbow">
      <a:majorFont>
        <a:latin typeface="Graphik"/>
        <a:ea typeface="Graphik"/>
        <a:cs typeface="Graphik"/>
      </a:majorFont>
      <a:minorFont>
        <a:latin typeface="Graphik"/>
        <a:ea typeface="Graphik"/>
        <a:cs typeface="Graphik"/>
      </a:minorFont>
    </a:fontScheme>
    <a:fmtScheme name="34_DynamicRainb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-44" normalizeH="0" baseline="0">
            <a:ln>
              <a:noFill/>
            </a:ln>
            <a:solidFill>
              <a:srgbClr val="FFFFFF"/>
            </a:solidFill>
            <a:effectLst/>
            <a:uFillTx/>
            <a:latin typeface="Graphik-SemiboldItalic"/>
            <a:ea typeface="Graphik-SemiboldItalic"/>
            <a:cs typeface="Graphik-SemiboldItalic"/>
            <a:sym typeface="Graphik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80000"/>
          </a:lnSpc>
          <a:spcBef>
            <a:spcPts val="400"/>
          </a:spcBef>
          <a:spcAft>
            <a:spcPts val="0"/>
          </a:spcAft>
          <a:buClrTx/>
          <a:buSzTx/>
          <a:buFontTx/>
          <a:buNone/>
          <a:tabLst>
            <a:tab pos="812800" algn="l"/>
          </a:tabLst>
          <a:defRPr kumimoji="0" sz="2600" b="0" i="0" u="none" strike="noStrike" cap="none" spc="-26" normalizeH="0" baseline="0">
            <a:ln>
              <a:noFill/>
            </a:ln>
            <a:solidFill>
              <a:srgbClr val="000000"/>
            </a:solidFill>
            <a:effectLst/>
            <a:uFillTx/>
            <a:latin typeface="Graphik Compact Regular"/>
            <a:ea typeface="Graphik Compact Regular"/>
            <a:cs typeface="Graphik Compact Regular"/>
            <a:sym typeface="Graphik Compac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4_DynamicRainbow">
  <a:themeElements>
    <a:clrScheme name="34_DynamicRainbow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99DFF"/>
      </a:accent1>
      <a:accent2>
        <a:srgbClr val="00D4D2"/>
      </a:accent2>
      <a:accent3>
        <a:srgbClr val="38E53A"/>
      </a:accent3>
      <a:accent4>
        <a:srgbClr val="FFFA00"/>
      </a:accent4>
      <a:accent5>
        <a:srgbClr val="FF7D74"/>
      </a:accent5>
      <a:accent6>
        <a:srgbClr val="FF80E9"/>
      </a:accent6>
      <a:hlink>
        <a:srgbClr val="0000FF"/>
      </a:hlink>
      <a:folHlink>
        <a:srgbClr val="FF00FF"/>
      </a:folHlink>
    </a:clrScheme>
    <a:fontScheme name="34_DynamicRainbow">
      <a:majorFont>
        <a:latin typeface="Graphik"/>
        <a:ea typeface="Graphik"/>
        <a:cs typeface="Graphik"/>
      </a:majorFont>
      <a:minorFont>
        <a:latin typeface="Graphik"/>
        <a:ea typeface="Graphik"/>
        <a:cs typeface="Graphik"/>
      </a:minorFont>
    </a:fontScheme>
    <a:fmtScheme name="34_DynamicRainb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-44" normalizeH="0" baseline="0">
            <a:ln>
              <a:noFill/>
            </a:ln>
            <a:solidFill>
              <a:srgbClr val="FFFFFF"/>
            </a:solidFill>
            <a:effectLst/>
            <a:uFillTx/>
            <a:latin typeface="Graphik-SemiboldItalic"/>
            <a:ea typeface="Graphik-SemiboldItalic"/>
            <a:cs typeface="Graphik-SemiboldItalic"/>
            <a:sym typeface="Graphik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80000"/>
          </a:lnSpc>
          <a:spcBef>
            <a:spcPts val="400"/>
          </a:spcBef>
          <a:spcAft>
            <a:spcPts val="0"/>
          </a:spcAft>
          <a:buClrTx/>
          <a:buSzTx/>
          <a:buFontTx/>
          <a:buNone/>
          <a:tabLst>
            <a:tab pos="812800" algn="l"/>
          </a:tabLst>
          <a:defRPr kumimoji="0" sz="2600" b="0" i="0" u="none" strike="noStrike" cap="none" spc="-26" normalizeH="0" baseline="0">
            <a:ln>
              <a:noFill/>
            </a:ln>
            <a:solidFill>
              <a:srgbClr val="000000"/>
            </a:solidFill>
            <a:effectLst/>
            <a:uFillTx/>
            <a:latin typeface="Graphik Compact Regular"/>
            <a:ea typeface="Graphik Compact Regular"/>
            <a:cs typeface="Graphik Compact Regular"/>
            <a:sym typeface="Graphik Compac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1987</Words>
  <Application>Microsoft Office PowerPoint</Application>
  <PresentationFormat>Personalizado</PresentationFormat>
  <Paragraphs>189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2" baseType="lpstr">
      <vt:lpstr>Aptos</vt:lpstr>
      <vt:lpstr>Cambria Math</vt:lpstr>
      <vt:lpstr>Graphik</vt:lpstr>
      <vt:lpstr>Graphik Compact</vt:lpstr>
      <vt:lpstr>Graphik Compact Bold</vt:lpstr>
      <vt:lpstr>Graphik Compact Regular</vt:lpstr>
      <vt:lpstr>Graphik-Medium</vt:lpstr>
      <vt:lpstr>Graphik-SemiboldItalic</vt:lpstr>
      <vt:lpstr>Helvetica Neue</vt:lpstr>
      <vt:lpstr>34_DynamicRainbow</vt:lpstr>
      <vt:lpstr>Árboles de decisión</vt:lpstr>
      <vt:lpstr>Presentación de PowerPoint</vt:lpstr>
      <vt:lpstr>Árboles de decisión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Árboles de Regresión</vt:lpstr>
      <vt:lpstr>Presentación de PowerPoint</vt:lpstr>
      <vt:lpstr>Presentación de PowerPoint</vt:lpstr>
      <vt:lpstr>Árbol de clasificación</vt:lpstr>
      <vt:lpstr>Árbol de clasificación</vt:lpstr>
      <vt:lpstr>Árbol de clasificación</vt:lpstr>
      <vt:lpstr>Árbol de clasificación</vt:lpstr>
      <vt:lpstr>Árbol de clasificación</vt:lpstr>
      <vt:lpstr>Árbol de clasificación</vt:lpstr>
      <vt:lpstr>Arbol de clasificación</vt:lpstr>
      <vt:lpstr>Ventajas y Desventajas de los árboles</vt:lpstr>
      <vt:lpstr>Ventajas y Desventajas de los árboles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Arboles de decisión</dc:title>
  <cp:lastModifiedBy>JAIME ANTONIO HUAYTALLA PARIONA</cp:lastModifiedBy>
  <cp:revision>16</cp:revision>
  <dcterms:modified xsi:type="dcterms:W3CDTF">2025-06-22T14:39:29Z</dcterms:modified>
</cp:coreProperties>
</file>