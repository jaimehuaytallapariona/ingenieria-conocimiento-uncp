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9144000" cy="6858000" type="screen4x3"/>
  <p:notesSz cx="9144000" cy="6858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A9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A9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A9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2130" y="6513986"/>
            <a:ext cx="1201869" cy="34401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806" y="119992"/>
            <a:ext cx="1042303" cy="49610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67948" y="236032"/>
            <a:ext cx="1944464" cy="17803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12251" y="103644"/>
            <a:ext cx="768857" cy="51128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75547" y="103644"/>
            <a:ext cx="375678" cy="51128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45651" y="103644"/>
            <a:ext cx="421398" cy="51128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3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42130" y="6513986"/>
            <a:ext cx="1201869" cy="34401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806" y="119992"/>
            <a:ext cx="1042303" cy="49610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99739" y="260350"/>
            <a:ext cx="2144521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5A9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3287927"/>
            <a:ext cx="7317105" cy="1470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15705" y="6665086"/>
            <a:ext cx="2044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mailto:jhuaytalla@uncp.edu.pe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jp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10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hyperlink" Target="http://tiney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26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8.png"/><Relationship Id="rId3" Type="http://schemas.openxmlformats.org/officeDocument/2006/relationships/image" Target="../media/image28.jpg"/><Relationship Id="rId7" Type="http://schemas.openxmlformats.org/officeDocument/2006/relationships/image" Target="../media/image32.png"/><Relationship Id="rId12" Type="http://schemas.openxmlformats.org/officeDocument/2006/relationships/image" Target="../media/image10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jp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8.jpg"/><Relationship Id="rId7" Type="http://schemas.openxmlformats.org/officeDocument/2006/relationships/image" Target="../media/image42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8.png"/><Relationship Id="rId5" Type="http://schemas.openxmlformats.org/officeDocument/2006/relationships/image" Target="../media/image47.png"/><Relationship Id="rId10" Type="http://schemas.openxmlformats.org/officeDocument/2006/relationships/image" Target="../media/image10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jpg"/><Relationship Id="rId13" Type="http://schemas.openxmlformats.org/officeDocument/2006/relationships/image" Target="../media/image68.png"/><Relationship Id="rId18" Type="http://schemas.openxmlformats.org/officeDocument/2006/relationships/image" Target="../media/image73.jpg"/><Relationship Id="rId3" Type="http://schemas.openxmlformats.org/officeDocument/2006/relationships/image" Target="../media/image58.png"/><Relationship Id="rId21" Type="http://schemas.openxmlformats.org/officeDocument/2006/relationships/image" Target="../media/image8.png"/><Relationship Id="rId7" Type="http://schemas.openxmlformats.org/officeDocument/2006/relationships/image" Target="../media/image62.png"/><Relationship Id="rId12" Type="http://schemas.openxmlformats.org/officeDocument/2006/relationships/image" Target="../media/image67.jpg"/><Relationship Id="rId17" Type="http://schemas.openxmlformats.org/officeDocument/2006/relationships/image" Target="../media/image72.jpg"/><Relationship Id="rId2" Type="http://schemas.openxmlformats.org/officeDocument/2006/relationships/image" Target="../media/image57.jpg"/><Relationship Id="rId16" Type="http://schemas.openxmlformats.org/officeDocument/2006/relationships/image" Target="../media/image71.jp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jp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jpg"/><Relationship Id="rId10" Type="http://schemas.openxmlformats.org/officeDocument/2006/relationships/image" Target="../media/image65.jpg"/><Relationship Id="rId19" Type="http://schemas.openxmlformats.org/officeDocument/2006/relationships/image" Target="../media/image74.jpg"/><Relationship Id="rId4" Type="http://schemas.openxmlformats.org/officeDocument/2006/relationships/image" Target="../media/image59.png"/><Relationship Id="rId9" Type="http://schemas.openxmlformats.org/officeDocument/2006/relationships/image" Target="../media/image64.jpg"/><Relationship Id="rId14" Type="http://schemas.openxmlformats.org/officeDocument/2006/relationships/image" Target="../media/image6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7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7" Type="http://schemas.openxmlformats.org/officeDocument/2006/relationships/image" Target="../media/image8.pn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7" Type="http://schemas.openxmlformats.org/officeDocument/2006/relationships/image" Target="../media/image8.png"/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6.jpg"/><Relationship Id="rId4" Type="http://schemas.openxmlformats.org/officeDocument/2006/relationships/image" Target="../media/image8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7" Type="http://schemas.openxmlformats.org/officeDocument/2006/relationships/image" Target="../media/image8.pn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7" Type="http://schemas.openxmlformats.org/officeDocument/2006/relationships/image" Target="../media/image8.pn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g"/><Relationship Id="rId7" Type="http://schemas.openxmlformats.org/officeDocument/2006/relationships/image" Target="../media/image8.png"/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00.png"/><Relationship Id="rId4" Type="http://schemas.openxmlformats.org/officeDocument/2006/relationships/image" Target="../media/image99.jp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8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12" Type="http://schemas.openxmlformats.org/officeDocument/2006/relationships/image" Target="../media/image1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png"/><Relationship Id="rId10" Type="http://schemas.openxmlformats.org/officeDocument/2006/relationships/image" Target="../media/image109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114.jpg"/><Relationship Id="rId7" Type="http://schemas.openxmlformats.org/officeDocument/2006/relationships/image" Target="../media/image118.png"/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11" Type="http://schemas.openxmlformats.org/officeDocument/2006/relationships/image" Target="../media/image8.png"/><Relationship Id="rId5" Type="http://schemas.openxmlformats.org/officeDocument/2006/relationships/image" Target="../media/image116.jpg"/><Relationship Id="rId10" Type="http://schemas.openxmlformats.org/officeDocument/2006/relationships/image" Target="../media/image10.png"/><Relationship Id="rId4" Type="http://schemas.openxmlformats.org/officeDocument/2006/relationships/image" Target="../media/image115.jpg"/><Relationship Id="rId9" Type="http://schemas.openxmlformats.org/officeDocument/2006/relationships/image" Target="../media/image1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24.jpg"/><Relationship Id="rId7" Type="http://schemas.openxmlformats.org/officeDocument/2006/relationships/image" Target="../media/image10.png"/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jpg"/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130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jpg"/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123.jp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4.png"/><Relationship Id="rId7" Type="http://schemas.openxmlformats.org/officeDocument/2006/relationships/image" Target="../media/image138.jpg"/><Relationship Id="rId12" Type="http://schemas.openxmlformats.org/officeDocument/2006/relationships/image" Target="../media/image8.png"/><Relationship Id="rId2" Type="http://schemas.openxmlformats.org/officeDocument/2006/relationships/image" Target="../media/image13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11" Type="http://schemas.openxmlformats.org/officeDocument/2006/relationships/image" Target="../media/image10.png"/><Relationship Id="rId5" Type="http://schemas.openxmlformats.org/officeDocument/2006/relationships/image" Target="../media/image136.png"/><Relationship Id="rId10" Type="http://schemas.openxmlformats.org/officeDocument/2006/relationships/image" Target="../media/image141.png"/><Relationship Id="rId4" Type="http://schemas.openxmlformats.org/officeDocument/2006/relationships/image" Target="../media/image135.png"/><Relationship Id="rId9" Type="http://schemas.openxmlformats.org/officeDocument/2006/relationships/image" Target="../media/image1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51.png"/><Relationship Id="rId7" Type="http://schemas.openxmlformats.org/officeDocument/2006/relationships/image" Target="../media/image155.png"/><Relationship Id="rId2" Type="http://schemas.openxmlformats.org/officeDocument/2006/relationships/image" Target="../media/image15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5" Type="http://schemas.openxmlformats.org/officeDocument/2006/relationships/image" Target="../media/image153.png"/><Relationship Id="rId4" Type="http://schemas.openxmlformats.org/officeDocument/2006/relationships/image" Target="../media/image152.png"/><Relationship Id="rId9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13" Type="http://schemas.openxmlformats.org/officeDocument/2006/relationships/image" Target="../media/image168.png"/><Relationship Id="rId18" Type="http://schemas.openxmlformats.org/officeDocument/2006/relationships/image" Target="../media/image173.png"/><Relationship Id="rId3" Type="http://schemas.openxmlformats.org/officeDocument/2006/relationships/image" Target="../media/image158.png"/><Relationship Id="rId7" Type="http://schemas.openxmlformats.org/officeDocument/2006/relationships/image" Target="../media/image162.png"/><Relationship Id="rId12" Type="http://schemas.openxmlformats.org/officeDocument/2006/relationships/image" Target="../media/image167.png"/><Relationship Id="rId17" Type="http://schemas.openxmlformats.org/officeDocument/2006/relationships/image" Target="../media/image172.png"/><Relationship Id="rId2" Type="http://schemas.openxmlformats.org/officeDocument/2006/relationships/image" Target="../media/image157.png"/><Relationship Id="rId16" Type="http://schemas.openxmlformats.org/officeDocument/2006/relationships/image" Target="../media/image171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11" Type="http://schemas.openxmlformats.org/officeDocument/2006/relationships/image" Target="../media/image166.png"/><Relationship Id="rId5" Type="http://schemas.openxmlformats.org/officeDocument/2006/relationships/image" Target="../media/image160.png"/><Relationship Id="rId15" Type="http://schemas.openxmlformats.org/officeDocument/2006/relationships/image" Target="../media/image170.png"/><Relationship Id="rId10" Type="http://schemas.openxmlformats.org/officeDocument/2006/relationships/image" Target="../media/image165.png"/><Relationship Id="rId19" Type="http://schemas.openxmlformats.org/officeDocument/2006/relationships/image" Target="../media/image10.png"/><Relationship Id="rId4" Type="http://schemas.openxmlformats.org/officeDocument/2006/relationships/image" Target="../media/image159.png"/><Relationship Id="rId9" Type="http://schemas.openxmlformats.org/officeDocument/2006/relationships/image" Target="../media/image164.png"/><Relationship Id="rId14" Type="http://schemas.openxmlformats.org/officeDocument/2006/relationships/image" Target="../media/image169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75.png"/><Relationship Id="rId7" Type="http://schemas.openxmlformats.org/officeDocument/2006/relationships/image" Target="../media/image179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8.png"/><Relationship Id="rId5" Type="http://schemas.openxmlformats.org/officeDocument/2006/relationships/image" Target="../media/image177.png"/><Relationship Id="rId4" Type="http://schemas.openxmlformats.org/officeDocument/2006/relationships/image" Target="../media/image176.png"/><Relationship Id="rId9" Type="http://schemas.openxmlformats.org/officeDocument/2006/relationships/image" Target="../media/image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jpg"/><Relationship Id="rId2" Type="http://schemas.openxmlformats.org/officeDocument/2006/relationships/image" Target="../media/image18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182.jp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jpg"/><Relationship Id="rId2" Type="http://schemas.openxmlformats.org/officeDocument/2006/relationships/image" Target="../media/image18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jpg"/><Relationship Id="rId13" Type="http://schemas.openxmlformats.org/officeDocument/2006/relationships/image" Target="../media/image197.png"/><Relationship Id="rId18" Type="http://schemas.openxmlformats.org/officeDocument/2006/relationships/image" Target="../media/image10.png"/><Relationship Id="rId3" Type="http://schemas.openxmlformats.org/officeDocument/2006/relationships/image" Target="../media/image187.png"/><Relationship Id="rId7" Type="http://schemas.openxmlformats.org/officeDocument/2006/relationships/image" Target="../media/image191.jpg"/><Relationship Id="rId12" Type="http://schemas.openxmlformats.org/officeDocument/2006/relationships/image" Target="../media/image196.png"/><Relationship Id="rId17" Type="http://schemas.openxmlformats.org/officeDocument/2006/relationships/image" Target="../media/image201.jpg"/><Relationship Id="rId2" Type="http://schemas.openxmlformats.org/officeDocument/2006/relationships/image" Target="../media/image186.png"/><Relationship Id="rId16" Type="http://schemas.openxmlformats.org/officeDocument/2006/relationships/image" Target="../media/image20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jpg"/><Relationship Id="rId11" Type="http://schemas.openxmlformats.org/officeDocument/2006/relationships/image" Target="../media/image195.png"/><Relationship Id="rId5" Type="http://schemas.openxmlformats.org/officeDocument/2006/relationships/image" Target="../media/image189.png"/><Relationship Id="rId15" Type="http://schemas.openxmlformats.org/officeDocument/2006/relationships/image" Target="../media/image199.png"/><Relationship Id="rId10" Type="http://schemas.openxmlformats.org/officeDocument/2006/relationships/image" Target="../media/image194.png"/><Relationship Id="rId19" Type="http://schemas.openxmlformats.org/officeDocument/2006/relationships/image" Target="../media/image8.png"/><Relationship Id="rId4" Type="http://schemas.openxmlformats.org/officeDocument/2006/relationships/image" Target="../media/image188.png"/><Relationship Id="rId9" Type="http://schemas.openxmlformats.org/officeDocument/2006/relationships/image" Target="../media/image193.png"/><Relationship Id="rId14" Type="http://schemas.openxmlformats.org/officeDocument/2006/relationships/image" Target="../media/image19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jpg"/><Relationship Id="rId2" Type="http://schemas.openxmlformats.org/officeDocument/2006/relationships/image" Target="../media/image20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-net.org/" TargetMode="External"/><Relationship Id="rId2" Type="http://schemas.openxmlformats.org/officeDocument/2006/relationships/hyperlink" Target="http://host.robots.ox.ac.uk/pascal/VOC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204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jpg"/><Relationship Id="rId2" Type="http://schemas.openxmlformats.org/officeDocument/2006/relationships/image" Target="../media/image20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szeliski.org/Book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/>
          <p:nvPr/>
        </p:nvSpPr>
        <p:spPr>
          <a:xfrm>
            <a:off x="2263520" y="2684642"/>
            <a:ext cx="5127880" cy="1282402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500"/>
              </a:spcBef>
            </a:pPr>
            <a:r>
              <a:rPr sz="4000" b="1" spc="-10" dirty="0" err="1">
                <a:latin typeface="Calibri"/>
                <a:cs typeface="Calibri"/>
              </a:rPr>
              <a:t>Introducción</a:t>
            </a:r>
            <a:r>
              <a:rPr sz="4000" b="1" spc="-10" dirty="0">
                <a:latin typeface="Calibri"/>
                <a:cs typeface="Calibri"/>
              </a:rPr>
              <a:t> </a:t>
            </a:r>
            <a:r>
              <a:rPr sz="4000" b="1" spc="-5" dirty="0">
                <a:latin typeface="Calibri"/>
                <a:cs typeface="Calibri"/>
              </a:rPr>
              <a:t>a </a:t>
            </a:r>
            <a:r>
              <a:rPr lang="es-PE" sz="4000" b="1" spc="-5" dirty="0">
                <a:latin typeface="Calibri"/>
                <a:cs typeface="Calibri"/>
              </a:rPr>
              <a:t>la </a:t>
            </a:r>
            <a:r>
              <a:rPr sz="4000" b="1" spc="-10" dirty="0">
                <a:latin typeface="Calibri"/>
                <a:cs typeface="Calibri"/>
              </a:rPr>
              <a:t>Visión </a:t>
            </a:r>
            <a:r>
              <a:rPr sz="4000" b="1" spc="-89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Computacional</a:t>
            </a:r>
            <a:r>
              <a:rPr sz="4000" b="1" spc="25" dirty="0">
                <a:latin typeface="Calibri"/>
                <a:cs typeface="Calibri"/>
              </a:rPr>
              <a:t> </a:t>
            </a:r>
            <a:r>
              <a:rPr sz="4000" b="1" spc="-5" dirty="0">
                <a:latin typeface="Calibri"/>
                <a:cs typeface="Calibri"/>
              </a:rPr>
              <a:t>(II)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81C319A-9CB5-4CC9-823F-D161581D13E0}"/>
              </a:ext>
            </a:extLst>
          </p:cNvPr>
          <p:cNvSpPr/>
          <p:nvPr/>
        </p:nvSpPr>
        <p:spPr>
          <a:xfrm>
            <a:off x="6248400" y="152400"/>
            <a:ext cx="27432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DB994CE-0946-AC7E-B26A-7DC20DAB7ABB}"/>
              </a:ext>
            </a:extLst>
          </p:cNvPr>
          <p:cNvSpPr txBox="1"/>
          <p:nvPr/>
        </p:nvSpPr>
        <p:spPr>
          <a:xfrm>
            <a:off x="2362200" y="4343400"/>
            <a:ext cx="3980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/>
              <a:t>Ing. Jaime Antonio </a:t>
            </a:r>
            <a:r>
              <a:rPr lang="es-PE" dirty="0" err="1"/>
              <a:t>Huaytalla</a:t>
            </a:r>
            <a:r>
              <a:rPr lang="es-PE" dirty="0"/>
              <a:t> Pariona</a:t>
            </a:r>
          </a:p>
          <a:p>
            <a:pPr algn="ctr"/>
            <a:r>
              <a:rPr lang="es-PE" dirty="0">
                <a:hlinkClick r:id="rId2"/>
              </a:rPr>
              <a:t>jhuaytalla@uncp.edu.pe</a:t>
            </a:r>
            <a:r>
              <a:rPr lang="es-PE" dirty="0"/>
              <a:t> 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B6A032E5-E7B4-0C91-DD2B-47821AEF2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1447800" cy="1232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Ingeniería de Sistemas - UNCP">
            <a:extLst>
              <a:ext uri="{FF2B5EF4-FFF2-40B4-BE49-F238E27FC236}">
                <a16:creationId xmlns:a16="http://schemas.microsoft.com/office/drawing/2014/main" id="{DD71F5D5-607B-6EBD-000D-E03E21C10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8599"/>
            <a:ext cx="1226735" cy="123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1105" y="6633464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585858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94226" y="581913"/>
            <a:ext cx="9544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60" dirty="0">
                <a:solidFill>
                  <a:srgbClr val="B51A00"/>
                </a:solidFill>
              </a:rPr>
              <a:t>Temas</a:t>
            </a:r>
            <a:endParaRPr sz="2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207" y="1465977"/>
            <a:ext cx="8459764" cy="70893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55091" y="1552955"/>
            <a:ext cx="8300084" cy="548640"/>
          </a:xfrm>
          <a:prstGeom prst="rect">
            <a:avLst/>
          </a:prstGeom>
          <a:solidFill>
            <a:srgbClr val="9BEDF7"/>
          </a:solidFill>
        </p:spPr>
        <p:txBody>
          <a:bodyPr vert="horz" wrap="square" lIns="0" tIns="50165" rIns="0" bIns="0" rtlCol="0">
            <a:spAutoFit/>
          </a:bodyPr>
          <a:lstStyle/>
          <a:p>
            <a:pPr marL="309245">
              <a:lnSpc>
                <a:spcPct val="100000"/>
              </a:lnSpc>
              <a:spcBef>
                <a:spcPts val="395"/>
              </a:spcBef>
              <a:tabLst>
                <a:tab pos="766445" algn="l"/>
              </a:tabLst>
            </a:pPr>
            <a:r>
              <a:rPr sz="2800" b="1" spc="-5" dirty="0">
                <a:solidFill>
                  <a:srgbClr val="0000FF"/>
                </a:solidFill>
                <a:latin typeface="Calibri"/>
                <a:cs typeface="Calibri"/>
              </a:rPr>
              <a:t>1.	</a:t>
            </a:r>
            <a:r>
              <a:rPr sz="2800" b="1" spc="-20" dirty="0">
                <a:solidFill>
                  <a:srgbClr val="0000FF"/>
                </a:solidFill>
                <a:latin typeface="Calibri"/>
                <a:cs typeface="Calibri"/>
              </a:rPr>
              <a:t>Detectores</a:t>
            </a:r>
            <a:r>
              <a:rPr sz="2800" b="1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00FF"/>
                </a:solidFill>
                <a:latin typeface="Calibri"/>
                <a:cs typeface="Calibri"/>
              </a:rPr>
              <a:t>Descriptores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068" y="2315032"/>
            <a:ext cx="4845685" cy="1176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AutoNum type="arabicPeriod" startAt="2"/>
              <a:tabLst>
                <a:tab pos="469265" algn="l"/>
                <a:tab pos="469900" algn="l"/>
              </a:tabLst>
            </a:pP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Correspondencia</a:t>
            </a:r>
            <a:r>
              <a:rPr sz="2800" spc="1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A6A6A6"/>
                </a:solidFill>
                <a:latin typeface="Calibri"/>
                <a:cs typeface="Calibri"/>
              </a:rPr>
              <a:t>de</a:t>
            </a:r>
            <a:r>
              <a:rPr sz="2800" spc="-2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A6A6A6"/>
                </a:solidFill>
                <a:latin typeface="Calibri"/>
                <a:cs typeface="Calibri"/>
              </a:rPr>
              <a:t>Imágenes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2345"/>
              </a:spcBef>
              <a:buAutoNum type="arabicPeriod" startAt="2"/>
              <a:tabLst>
                <a:tab pos="469265" algn="l"/>
                <a:tab pos="469900" algn="l"/>
              </a:tabLst>
            </a:pP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Detección</a:t>
            </a:r>
            <a:r>
              <a:rPr sz="2800" spc="-2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A6A6A6"/>
                </a:solidFill>
                <a:latin typeface="Calibri"/>
                <a:cs typeface="Calibri"/>
              </a:rPr>
              <a:t>de</a:t>
            </a: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Objetos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525DE73E-AB5E-40DD-77B5-296207916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0ED12E60-9482-A457-4CC0-C72B7A10B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1105" y="6633464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585858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60372" y="260350"/>
            <a:ext cx="62242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¿Para</a:t>
            </a:r>
            <a:r>
              <a:rPr spc="-40" dirty="0"/>
              <a:t> </a:t>
            </a:r>
            <a:r>
              <a:rPr dirty="0"/>
              <a:t>qué</a:t>
            </a:r>
            <a:r>
              <a:rPr spc="-25" dirty="0"/>
              <a:t> </a:t>
            </a:r>
            <a:r>
              <a:rPr spc="-15" dirty="0"/>
              <a:t>detectores </a:t>
            </a:r>
            <a:r>
              <a:rPr dirty="0"/>
              <a:t>y</a:t>
            </a:r>
            <a:r>
              <a:rPr spc="-20" dirty="0"/>
              <a:t> </a:t>
            </a:r>
            <a:r>
              <a:rPr spc="-5" dirty="0"/>
              <a:t>descriptores?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213865"/>
            <a:ext cx="7498080" cy="12954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Odometría</a:t>
            </a:r>
            <a:r>
              <a:rPr sz="2000" spc="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visual:</a:t>
            </a:r>
            <a:r>
              <a:rPr sz="2000" spc="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Estimación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dirty="0">
                <a:latin typeface="Calibri"/>
                <a:cs typeface="Calibri"/>
              </a:rPr>
              <a:t> la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posición/orientación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analizando</a:t>
            </a:r>
            <a:r>
              <a:rPr sz="2000" dirty="0">
                <a:latin typeface="Calibri"/>
                <a:cs typeface="Calibri"/>
              </a:rPr>
              <a:t> los</a:t>
            </a:r>
            <a:endParaRPr sz="2000">
              <a:latin typeface="Calibri"/>
              <a:cs typeface="Calibri"/>
            </a:endParaRPr>
          </a:p>
          <a:p>
            <a:pPr marL="208915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cambios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movimiento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genera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imágenes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cámara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Se </a:t>
            </a:r>
            <a:r>
              <a:rPr sz="1800" spc="-10" dirty="0">
                <a:latin typeface="Calibri"/>
                <a:cs typeface="Calibri"/>
              </a:rPr>
              <a:t>encuentra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“keypoints”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(puntos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interés)</a:t>
            </a:r>
            <a:r>
              <a:rPr sz="1600" spc="6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5" dirty="0">
                <a:latin typeface="Calibri"/>
                <a:cs typeface="Calibri"/>
              </a:rPr>
              <a:t> cada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imagen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Se </a:t>
            </a:r>
            <a:r>
              <a:rPr sz="1800" spc="-5" dirty="0">
                <a:latin typeface="Calibri"/>
                <a:cs typeface="Calibri"/>
              </a:rPr>
              <a:t>hace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seguimiento de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“keypoints”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imágenes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5409082"/>
            <a:ext cx="6972934" cy="75755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latin typeface="Calibri"/>
                <a:cs typeface="Calibri"/>
              </a:rPr>
              <a:t>Detectores: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permiten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encontrar “keypoints”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(puntos</a:t>
            </a:r>
            <a:r>
              <a:rPr sz="18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7E7E7E"/>
                </a:solidFill>
                <a:latin typeface="Calibri"/>
                <a:cs typeface="Calibri"/>
              </a:rPr>
              <a:t>característicos)</a:t>
            </a:r>
            <a:endParaRPr sz="18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latin typeface="Calibri"/>
                <a:cs typeface="Calibri"/>
              </a:rPr>
              <a:t>Descriptores: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caracterizan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cada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“keypoint”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72282" y="5076266"/>
            <a:ext cx="19443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https://youtu.be/2YnIMfw6bJY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9676" y="2564892"/>
            <a:ext cx="5615939" cy="249021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68322" y="6555435"/>
            <a:ext cx="6007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Forster</a:t>
            </a:r>
            <a:r>
              <a:rPr sz="12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et</a:t>
            </a:r>
            <a:r>
              <a:rPr sz="12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al.</a:t>
            </a:r>
            <a:r>
              <a:rPr sz="12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(2017)</a:t>
            </a:r>
            <a:r>
              <a:rPr sz="12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SVO:</a:t>
            </a:r>
            <a:r>
              <a:rPr sz="12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Semi-Direct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Visual</a:t>
            </a:r>
            <a:r>
              <a:rPr sz="12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Odometry</a:t>
            </a:r>
            <a:r>
              <a:rPr sz="12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for</a:t>
            </a:r>
            <a:r>
              <a:rPr sz="12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Monocular</a:t>
            </a:r>
            <a:r>
              <a:rPr sz="12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Multi-Camera</a:t>
            </a:r>
            <a:r>
              <a:rPr sz="12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Systems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50895" y="2831719"/>
            <a:ext cx="1306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Imagen</a:t>
            </a:r>
            <a:r>
              <a:rPr sz="12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2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12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cámara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93358" y="5053329"/>
            <a:ext cx="11404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Posición</a:t>
            </a:r>
            <a:r>
              <a:rPr sz="12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del</a:t>
            </a:r>
            <a:r>
              <a:rPr sz="12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robot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28BB5D63-0CA6-C8C1-73F0-0C360C469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Ingeniería de Sistemas - UNCP">
            <a:extLst>
              <a:ext uri="{FF2B5EF4-FFF2-40B4-BE49-F238E27FC236}">
                <a16:creationId xmlns:a16="http://schemas.microsoft.com/office/drawing/2014/main" id="{58DAE1C3-C532-4494-836B-7C8EA2781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0372" y="260350"/>
            <a:ext cx="62242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¿Para</a:t>
            </a:r>
            <a:r>
              <a:rPr spc="-40" dirty="0"/>
              <a:t> </a:t>
            </a:r>
            <a:r>
              <a:rPr dirty="0"/>
              <a:t>qué</a:t>
            </a:r>
            <a:r>
              <a:rPr spc="-25" dirty="0"/>
              <a:t> </a:t>
            </a:r>
            <a:r>
              <a:rPr spc="-15" dirty="0"/>
              <a:t>detectores </a:t>
            </a:r>
            <a:r>
              <a:rPr dirty="0"/>
              <a:t>y</a:t>
            </a:r>
            <a:r>
              <a:rPr spc="-20" dirty="0"/>
              <a:t> </a:t>
            </a:r>
            <a:r>
              <a:rPr spc="-5" dirty="0"/>
              <a:t>descriptores?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34187" y="2741663"/>
            <a:ext cx="3383915" cy="2795270"/>
            <a:chOff x="934187" y="2741663"/>
            <a:chExt cx="3383915" cy="27952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4187" y="2766034"/>
              <a:ext cx="3383329" cy="7193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2791" y="2741663"/>
              <a:ext cx="3297936" cy="8351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2311" y="2784347"/>
              <a:ext cx="3312160" cy="647700"/>
            </a:xfrm>
            <a:custGeom>
              <a:avLst/>
              <a:gdLst/>
              <a:ahLst/>
              <a:cxnLst/>
              <a:rect l="l" t="t" r="r" b="b"/>
              <a:pathLst>
                <a:path w="3312160" h="647700">
                  <a:moveTo>
                    <a:pt x="3203702" y="0"/>
                  </a:moveTo>
                  <a:lnTo>
                    <a:pt x="107950" y="0"/>
                  </a:lnTo>
                  <a:lnTo>
                    <a:pt x="65933" y="8491"/>
                  </a:lnTo>
                  <a:lnTo>
                    <a:pt x="31619" y="31638"/>
                  </a:lnTo>
                  <a:lnTo>
                    <a:pt x="8483" y="65954"/>
                  </a:lnTo>
                  <a:lnTo>
                    <a:pt x="0" y="107950"/>
                  </a:lnTo>
                  <a:lnTo>
                    <a:pt x="0" y="539750"/>
                  </a:lnTo>
                  <a:lnTo>
                    <a:pt x="8483" y="581745"/>
                  </a:lnTo>
                  <a:lnTo>
                    <a:pt x="31619" y="616061"/>
                  </a:lnTo>
                  <a:lnTo>
                    <a:pt x="65933" y="639208"/>
                  </a:lnTo>
                  <a:lnTo>
                    <a:pt x="107950" y="647700"/>
                  </a:lnTo>
                  <a:lnTo>
                    <a:pt x="3203702" y="647700"/>
                  </a:lnTo>
                  <a:lnTo>
                    <a:pt x="3245697" y="639208"/>
                  </a:lnTo>
                  <a:lnTo>
                    <a:pt x="3280013" y="616061"/>
                  </a:lnTo>
                  <a:lnTo>
                    <a:pt x="3303160" y="581745"/>
                  </a:lnTo>
                  <a:lnTo>
                    <a:pt x="3311652" y="539750"/>
                  </a:lnTo>
                  <a:lnTo>
                    <a:pt x="3311652" y="107950"/>
                  </a:lnTo>
                  <a:lnTo>
                    <a:pt x="3303160" y="65954"/>
                  </a:lnTo>
                  <a:lnTo>
                    <a:pt x="3280013" y="31638"/>
                  </a:lnTo>
                  <a:lnTo>
                    <a:pt x="3245697" y="8491"/>
                  </a:lnTo>
                  <a:lnTo>
                    <a:pt x="3203702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72311" y="2784347"/>
              <a:ext cx="3312160" cy="647700"/>
            </a:xfrm>
            <a:custGeom>
              <a:avLst/>
              <a:gdLst/>
              <a:ahLst/>
              <a:cxnLst/>
              <a:rect l="l" t="t" r="r" b="b"/>
              <a:pathLst>
                <a:path w="3312160" h="647700">
                  <a:moveTo>
                    <a:pt x="0" y="107950"/>
                  </a:moveTo>
                  <a:lnTo>
                    <a:pt x="8483" y="65954"/>
                  </a:lnTo>
                  <a:lnTo>
                    <a:pt x="31619" y="31638"/>
                  </a:lnTo>
                  <a:lnTo>
                    <a:pt x="65933" y="8491"/>
                  </a:lnTo>
                  <a:lnTo>
                    <a:pt x="107950" y="0"/>
                  </a:lnTo>
                  <a:lnTo>
                    <a:pt x="3203702" y="0"/>
                  </a:lnTo>
                  <a:lnTo>
                    <a:pt x="3245697" y="8491"/>
                  </a:lnTo>
                  <a:lnTo>
                    <a:pt x="3280013" y="31638"/>
                  </a:lnTo>
                  <a:lnTo>
                    <a:pt x="3303160" y="65954"/>
                  </a:lnTo>
                  <a:lnTo>
                    <a:pt x="3311652" y="107950"/>
                  </a:lnTo>
                  <a:lnTo>
                    <a:pt x="3311652" y="539750"/>
                  </a:lnTo>
                  <a:lnTo>
                    <a:pt x="3303160" y="581745"/>
                  </a:lnTo>
                  <a:lnTo>
                    <a:pt x="3280013" y="616061"/>
                  </a:lnTo>
                  <a:lnTo>
                    <a:pt x="3245697" y="639208"/>
                  </a:lnTo>
                  <a:lnTo>
                    <a:pt x="3203702" y="647700"/>
                  </a:lnTo>
                  <a:lnTo>
                    <a:pt x="107950" y="647700"/>
                  </a:lnTo>
                  <a:lnTo>
                    <a:pt x="65933" y="639208"/>
                  </a:lnTo>
                  <a:lnTo>
                    <a:pt x="31619" y="616061"/>
                  </a:lnTo>
                  <a:lnTo>
                    <a:pt x="8483" y="581745"/>
                  </a:lnTo>
                  <a:lnTo>
                    <a:pt x="0" y="539750"/>
                  </a:lnTo>
                  <a:lnTo>
                    <a:pt x="0" y="10795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4187" y="3791686"/>
              <a:ext cx="3383329" cy="71939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4795" y="3767315"/>
              <a:ext cx="3233928" cy="83516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72311" y="3810000"/>
              <a:ext cx="3312160" cy="647700"/>
            </a:xfrm>
            <a:custGeom>
              <a:avLst/>
              <a:gdLst/>
              <a:ahLst/>
              <a:cxnLst/>
              <a:rect l="l" t="t" r="r" b="b"/>
              <a:pathLst>
                <a:path w="3312160" h="647700">
                  <a:moveTo>
                    <a:pt x="3203702" y="0"/>
                  </a:moveTo>
                  <a:lnTo>
                    <a:pt x="107950" y="0"/>
                  </a:lnTo>
                  <a:lnTo>
                    <a:pt x="65933" y="8491"/>
                  </a:lnTo>
                  <a:lnTo>
                    <a:pt x="31619" y="31638"/>
                  </a:lnTo>
                  <a:lnTo>
                    <a:pt x="8483" y="65954"/>
                  </a:lnTo>
                  <a:lnTo>
                    <a:pt x="0" y="107950"/>
                  </a:lnTo>
                  <a:lnTo>
                    <a:pt x="0" y="539750"/>
                  </a:lnTo>
                  <a:lnTo>
                    <a:pt x="8483" y="581745"/>
                  </a:lnTo>
                  <a:lnTo>
                    <a:pt x="31619" y="616061"/>
                  </a:lnTo>
                  <a:lnTo>
                    <a:pt x="65933" y="639208"/>
                  </a:lnTo>
                  <a:lnTo>
                    <a:pt x="107950" y="647700"/>
                  </a:lnTo>
                  <a:lnTo>
                    <a:pt x="3203702" y="647700"/>
                  </a:lnTo>
                  <a:lnTo>
                    <a:pt x="3245697" y="639208"/>
                  </a:lnTo>
                  <a:lnTo>
                    <a:pt x="3280013" y="616061"/>
                  </a:lnTo>
                  <a:lnTo>
                    <a:pt x="3303160" y="581745"/>
                  </a:lnTo>
                  <a:lnTo>
                    <a:pt x="3311652" y="539750"/>
                  </a:lnTo>
                  <a:lnTo>
                    <a:pt x="3311652" y="107950"/>
                  </a:lnTo>
                  <a:lnTo>
                    <a:pt x="3303160" y="65954"/>
                  </a:lnTo>
                  <a:lnTo>
                    <a:pt x="3280013" y="31638"/>
                  </a:lnTo>
                  <a:lnTo>
                    <a:pt x="3245697" y="8491"/>
                  </a:lnTo>
                  <a:lnTo>
                    <a:pt x="3203702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72311" y="3810000"/>
              <a:ext cx="3312160" cy="647700"/>
            </a:xfrm>
            <a:custGeom>
              <a:avLst/>
              <a:gdLst/>
              <a:ahLst/>
              <a:cxnLst/>
              <a:rect l="l" t="t" r="r" b="b"/>
              <a:pathLst>
                <a:path w="3312160" h="647700">
                  <a:moveTo>
                    <a:pt x="0" y="107950"/>
                  </a:moveTo>
                  <a:lnTo>
                    <a:pt x="8483" y="65954"/>
                  </a:lnTo>
                  <a:lnTo>
                    <a:pt x="31619" y="31638"/>
                  </a:lnTo>
                  <a:lnTo>
                    <a:pt x="65933" y="8491"/>
                  </a:lnTo>
                  <a:lnTo>
                    <a:pt x="107950" y="0"/>
                  </a:lnTo>
                  <a:lnTo>
                    <a:pt x="3203702" y="0"/>
                  </a:lnTo>
                  <a:lnTo>
                    <a:pt x="3245697" y="8491"/>
                  </a:lnTo>
                  <a:lnTo>
                    <a:pt x="3280013" y="31638"/>
                  </a:lnTo>
                  <a:lnTo>
                    <a:pt x="3303160" y="65954"/>
                  </a:lnTo>
                  <a:lnTo>
                    <a:pt x="3311652" y="107950"/>
                  </a:lnTo>
                  <a:lnTo>
                    <a:pt x="3311652" y="539750"/>
                  </a:lnTo>
                  <a:lnTo>
                    <a:pt x="3303160" y="581745"/>
                  </a:lnTo>
                  <a:lnTo>
                    <a:pt x="3280013" y="616061"/>
                  </a:lnTo>
                  <a:lnTo>
                    <a:pt x="3245697" y="639208"/>
                  </a:lnTo>
                  <a:lnTo>
                    <a:pt x="3203702" y="647700"/>
                  </a:lnTo>
                  <a:lnTo>
                    <a:pt x="107950" y="647700"/>
                  </a:lnTo>
                  <a:lnTo>
                    <a:pt x="65933" y="639208"/>
                  </a:lnTo>
                  <a:lnTo>
                    <a:pt x="31619" y="616061"/>
                  </a:lnTo>
                  <a:lnTo>
                    <a:pt x="8483" y="581745"/>
                  </a:lnTo>
                  <a:lnTo>
                    <a:pt x="0" y="539750"/>
                  </a:lnTo>
                  <a:lnTo>
                    <a:pt x="0" y="10795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4187" y="4815846"/>
              <a:ext cx="3383329" cy="7208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87195" y="4928603"/>
              <a:ext cx="2875788" cy="56084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72311" y="4834127"/>
              <a:ext cx="3312160" cy="649605"/>
            </a:xfrm>
            <a:custGeom>
              <a:avLst/>
              <a:gdLst/>
              <a:ahLst/>
              <a:cxnLst/>
              <a:rect l="l" t="t" r="r" b="b"/>
              <a:pathLst>
                <a:path w="3312160" h="649604">
                  <a:moveTo>
                    <a:pt x="3203448" y="0"/>
                  </a:moveTo>
                  <a:lnTo>
                    <a:pt x="108203" y="0"/>
                  </a:lnTo>
                  <a:lnTo>
                    <a:pt x="66088" y="8495"/>
                  </a:lnTo>
                  <a:lnTo>
                    <a:pt x="31694" y="31670"/>
                  </a:lnTo>
                  <a:lnTo>
                    <a:pt x="8504" y="66061"/>
                  </a:lnTo>
                  <a:lnTo>
                    <a:pt x="0" y="108204"/>
                  </a:lnTo>
                  <a:lnTo>
                    <a:pt x="0" y="541020"/>
                  </a:lnTo>
                  <a:lnTo>
                    <a:pt x="8504" y="583162"/>
                  </a:lnTo>
                  <a:lnTo>
                    <a:pt x="31694" y="617553"/>
                  </a:lnTo>
                  <a:lnTo>
                    <a:pt x="66088" y="640728"/>
                  </a:lnTo>
                  <a:lnTo>
                    <a:pt x="108203" y="649224"/>
                  </a:lnTo>
                  <a:lnTo>
                    <a:pt x="3203448" y="649224"/>
                  </a:lnTo>
                  <a:lnTo>
                    <a:pt x="3245590" y="640728"/>
                  </a:lnTo>
                  <a:lnTo>
                    <a:pt x="3279981" y="617553"/>
                  </a:lnTo>
                  <a:lnTo>
                    <a:pt x="3303156" y="583162"/>
                  </a:lnTo>
                  <a:lnTo>
                    <a:pt x="3311652" y="541020"/>
                  </a:lnTo>
                  <a:lnTo>
                    <a:pt x="3311652" y="108204"/>
                  </a:lnTo>
                  <a:lnTo>
                    <a:pt x="3303156" y="66061"/>
                  </a:lnTo>
                  <a:lnTo>
                    <a:pt x="3279981" y="31670"/>
                  </a:lnTo>
                  <a:lnTo>
                    <a:pt x="3245590" y="8495"/>
                  </a:lnTo>
                  <a:lnTo>
                    <a:pt x="3203448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72311" y="4834127"/>
              <a:ext cx="3312160" cy="649605"/>
            </a:xfrm>
            <a:custGeom>
              <a:avLst/>
              <a:gdLst/>
              <a:ahLst/>
              <a:cxnLst/>
              <a:rect l="l" t="t" r="r" b="b"/>
              <a:pathLst>
                <a:path w="3312160" h="649604">
                  <a:moveTo>
                    <a:pt x="0" y="108204"/>
                  </a:moveTo>
                  <a:lnTo>
                    <a:pt x="8504" y="66061"/>
                  </a:lnTo>
                  <a:lnTo>
                    <a:pt x="31694" y="31670"/>
                  </a:lnTo>
                  <a:lnTo>
                    <a:pt x="66088" y="8495"/>
                  </a:lnTo>
                  <a:lnTo>
                    <a:pt x="108203" y="0"/>
                  </a:lnTo>
                  <a:lnTo>
                    <a:pt x="3203448" y="0"/>
                  </a:lnTo>
                  <a:lnTo>
                    <a:pt x="3245590" y="8495"/>
                  </a:lnTo>
                  <a:lnTo>
                    <a:pt x="3279981" y="31670"/>
                  </a:lnTo>
                  <a:lnTo>
                    <a:pt x="3303156" y="66061"/>
                  </a:lnTo>
                  <a:lnTo>
                    <a:pt x="3311652" y="108204"/>
                  </a:lnTo>
                  <a:lnTo>
                    <a:pt x="3311652" y="541020"/>
                  </a:lnTo>
                  <a:lnTo>
                    <a:pt x="3303156" y="583162"/>
                  </a:lnTo>
                  <a:lnTo>
                    <a:pt x="3279981" y="617553"/>
                  </a:lnTo>
                  <a:lnTo>
                    <a:pt x="3245590" y="640728"/>
                  </a:lnTo>
                  <a:lnTo>
                    <a:pt x="3203448" y="649224"/>
                  </a:lnTo>
                  <a:lnTo>
                    <a:pt x="108203" y="649224"/>
                  </a:lnTo>
                  <a:lnTo>
                    <a:pt x="66088" y="640728"/>
                  </a:lnTo>
                  <a:lnTo>
                    <a:pt x="31694" y="617553"/>
                  </a:lnTo>
                  <a:lnTo>
                    <a:pt x="8504" y="583162"/>
                  </a:lnTo>
                  <a:lnTo>
                    <a:pt x="0" y="541020"/>
                  </a:lnTo>
                  <a:lnTo>
                    <a:pt x="0" y="10820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7794" y="922782"/>
            <a:ext cx="5249545" cy="4371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085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Odometría</a:t>
            </a:r>
            <a:r>
              <a:rPr sz="2400" b="1" spc="-7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Visual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Principales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etapas</a:t>
            </a:r>
            <a:endParaRPr sz="2000">
              <a:latin typeface="Calibri"/>
              <a:cs typeface="Calibri"/>
            </a:endParaRPr>
          </a:p>
          <a:p>
            <a:pPr marR="884555" algn="ctr">
              <a:lnSpc>
                <a:spcPct val="100000"/>
              </a:lnSpc>
              <a:spcBef>
                <a:spcPts val="1005"/>
              </a:spcBef>
            </a:pP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Secuencia</a:t>
            </a:r>
            <a:r>
              <a:rPr sz="18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8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imágenes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 marR="858519" algn="ctr">
              <a:lnSpc>
                <a:spcPct val="100000"/>
              </a:lnSpc>
              <a:spcBef>
                <a:spcPts val="1380"/>
              </a:spcBef>
            </a:pPr>
            <a:r>
              <a:rPr sz="1800" spc="-10" dirty="0">
                <a:latin typeface="Calibri"/>
                <a:cs typeface="Calibri"/>
              </a:rPr>
              <a:t>Detección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puntos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interés</a:t>
            </a:r>
            <a:endParaRPr sz="1800">
              <a:latin typeface="Calibri"/>
              <a:cs typeface="Calibri"/>
            </a:endParaRPr>
          </a:p>
          <a:p>
            <a:pPr marR="859790"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(“features”)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 marR="862965" algn="ctr">
              <a:lnSpc>
                <a:spcPct val="100000"/>
              </a:lnSpc>
              <a:spcBef>
                <a:spcPts val="1550"/>
              </a:spcBef>
            </a:pPr>
            <a:r>
              <a:rPr sz="1800" spc="-5" dirty="0">
                <a:latin typeface="Calibri"/>
                <a:cs typeface="Calibri"/>
              </a:rPr>
              <a:t>Correspondencia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puntos</a:t>
            </a:r>
            <a:endParaRPr sz="1800">
              <a:latin typeface="Calibri"/>
              <a:cs typeface="Calibri"/>
            </a:endParaRPr>
          </a:p>
          <a:p>
            <a:pPr marR="861060" algn="ctr">
              <a:lnSpc>
                <a:spcPct val="100000"/>
              </a:lnSpc>
            </a:pPr>
            <a:r>
              <a:rPr sz="1800" spc="-15" dirty="0">
                <a:latin typeface="Calibri"/>
                <a:cs typeface="Calibri"/>
              </a:rPr>
              <a:t>(“feature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matching”)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50">
              <a:latin typeface="Calibri"/>
              <a:cs typeface="Calibri"/>
            </a:endParaRPr>
          </a:p>
          <a:p>
            <a:pPr marR="859155" algn="ctr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Estimación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movimiento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34187" y="5841454"/>
            <a:ext cx="3383915" cy="719455"/>
            <a:chOff x="934187" y="5841454"/>
            <a:chExt cx="3383915" cy="71945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4187" y="5841454"/>
              <a:ext cx="3383329" cy="71939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97151" y="5954268"/>
              <a:ext cx="2055876" cy="56084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72311" y="5859780"/>
              <a:ext cx="3312160" cy="647700"/>
            </a:xfrm>
            <a:custGeom>
              <a:avLst/>
              <a:gdLst/>
              <a:ahLst/>
              <a:cxnLst/>
              <a:rect l="l" t="t" r="r" b="b"/>
              <a:pathLst>
                <a:path w="3312160" h="647700">
                  <a:moveTo>
                    <a:pt x="3203702" y="0"/>
                  </a:moveTo>
                  <a:lnTo>
                    <a:pt x="107950" y="0"/>
                  </a:lnTo>
                  <a:lnTo>
                    <a:pt x="65933" y="8483"/>
                  </a:lnTo>
                  <a:lnTo>
                    <a:pt x="31619" y="31619"/>
                  </a:lnTo>
                  <a:lnTo>
                    <a:pt x="8483" y="65933"/>
                  </a:lnTo>
                  <a:lnTo>
                    <a:pt x="0" y="107950"/>
                  </a:lnTo>
                  <a:lnTo>
                    <a:pt x="0" y="539750"/>
                  </a:lnTo>
                  <a:lnTo>
                    <a:pt x="8483" y="581766"/>
                  </a:lnTo>
                  <a:lnTo>
                    <a:pt x="31619" y="616080"/>
                  </a:lnTo>
                  <a:lnTo>
                    <a:pt x="65933" y="639216"/>
                  </a:lnTo>
                  <a:lnTo>
                    <a:pt x="107950" y="647700"/>
                  </a:lnTo>
                  <a:lnTo>
                    <a:pt x="3203702" y="647700"/>
                  </a:lnTo>
                  <a:lnTo>
                    <a:pt x="3245697" y="639216"/>
                  </a:lnTo>
                  <a:lnTo>
                    <a:pt x="3280013" y="616080"/>
                  </a:lnTo>
                  <a:lnTo>
                    <a:pt x="3303160" y="581766"/>
                  </a:lnTo>
                  <a:lnTo>
                    <a:pt x="3311652" y="539750"/>
                  </a:lnTo>
                  <a:lnTo>
                    <a:pt x="3311652" y="107950"/>
                  </a:lnTo>
                  <a:lnTo>
                    <a:pt x="3303160" y="65933"/>
                  </a:lnTo>
                  <a:lnTo>
                    <a:pt x="3280013" y="31619"/>
                  </a:lnTo>
                  <a:lnTo>
                    <a:pt x="3245697" y="8483"/>
                  </a:lnTo>
                  <a:lnTo>
                    <a:pt x="3203702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72311" y="5859780"/>
              <a:ext cx="3312160" cy="647700"/>
            </a:xfrm>
            <a:custGeom>
              <a:avLst/>
              <a:gdLst/>
              <a:ahLst/>
              <a:cxnLst/>
              <a:rect l="l" t="t" r="r" b="b"/>
              <a:pathLst>
                <a:path w="3312160" h="647700">
                  <a:moveTo>
                    <a:pt x="0" y="107950"/>
                  </a:moveTo>
                  <a:lnTo>
                    <a:pt x="8483" y="65933"/>
                  </a:lnTo>
                  <a:lnTo>
                    <a:pt x="31619" y="31619"/>
                  </a:lnTo>
                  <a:lnTo>
                    <a:pt x="65933" y="8483"/>
                  </a:lnTo>
                  <a:lnTo>
                    <a:pt x="107950" y="0"/>
                  </a:lnTo>
                  <a:lnTo>
                    <a:pt x="3203702" y="0"/>
                  </a:lnTo>
                  <a:lnTo>
                    <a:pt x="3245697" y="8483"/>
                  </a:lnTo>
                  <a:lnTo>
                    <a:pt x="3280013" y="31619"/>
                  </a:lnTo>
                  <a:lnTo>
                    <a:pt x="3303160" y="65933"/>
                  </a:lnTo>
                  <a:lnTo>
                    <a:pt x="3311652" y="107950"/>
                  </a:lnTo>
                  <a:lnTo>
                    <a:pt x="3311652" y="539750"/>
                  </a:lnTo>
                  <a:lnTo>
                    <a:pt x="3303160" y="581766"/>
                  </a:lnTo>
                  <a:lnTo>
                    <a:pt x="3280013" y="616080"/>
                  </a:lnTo>
                  <a:lnTo>
                    <a:pt x="3245697" y="639216"/>
                  </a:lnTo>
                  <a:lnTo>
                    <a:pt x="3203702" y="647700"/>
                  </a:lnTo>
                  <a:lnTo>
                    <a:pt x="107950" y="647700"/>
                  </a:lnTo>
                  <a:lnTo>
                    <a:pt x="65933" y="639216"/>
                  </a:lnTo>
                  <a:lnTo>
                    <a:pt x="31619" y="616080"/>
                  </a:lnTo>
                  <a:lnTo>
                    <a:pt x="8483" y="581766"/>
                  </a:lnTo>
                  <a:lnTo>
                    <a:pt x="0" y="539750"/>
                  </a:lnTo>
                  <a:lnTo>
                    <a:pt x="0" y="10795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764029" y="6020206"/>
            <a:ext cx="17265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Optimización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local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412492" y="2346960"/>
            <a:ext cx="425450" cy="3576954"/>
            <a:chOff x="2412492" y="2346960"/>
            <a:chExt cx="425450" cy="3576954"/>
          </a:xfrm>
        </p:grpSpPr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12492" y="3393948"/>
              <a:ext cx="425195" cy="48005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65832" y="3421380"/>
              <a:ext cx="323088" cy="38862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465832" y="3421380"/>
              <a:ext cx="323215" cy="388620"/>
            </a:xfrm>
            <a:custGeom>
              <a:avLst/>
              <a:gdLst/>
              <a:ahLst/>
              <a:cxnLst/>
              <a:rect l="l" t="t" r="r" b="b"/>
              <a:pathLst>
                <a:path w="323214" h="388620">
                  <a:moveTo>
                    <a:pt x="242316" y="0"/>
                  </a:moveTo>
                  <a:lnTo>
                    <a:pt x="242316" y="227076"/>
                  </a:lnTo>
                  <a:lnTo>
                    <a:pt x="323088" y="227076"/>
                  </a:lnTo>
                  <a:lnTo>
                    <a:pt x="161544" y="388620"/>
                  </a:lnTo>
                  <a:lnTo>
                    <a:pt x="0" y="227076"/>
                  </a:lnTo>
                  <a:lnTo>
                    <a:pt x="80772" y="227076"/>
                  </a:lnTo>
                  <a:lnTo>
                    <a:pt x="80772" y="0"/>
                  </a:lnTo>
                  <a:lnTo>
                    <a:pt x="242316" y="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12492" y="4419587"/>
              <a:ext cx="425195" cy="47854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65832" y="4447032"/>
              <a:ext cx="323088" cy="38709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465832" y="4447032"/>
              <a:ext cx="323215" cy="387350"/>
            </a:xfrm>
            <a:custGeom>
              <a:avLst/>
              <a:gdLst/>
              <a:ahLst/>
              <a:cxnLst/>
              <a:rect l="l" t="t" r="r" b="b"/>
              <a:pathLst>
                <a:path w="323214" h="387350">
                  <a:moveTo>
                    <a:pt x="242316" y="0"/>
                  </a:moveTo>
                  <a:lnTo>
                    <a:pt x="242316" y="225552"/>
                  </a:lnTo>
                  <a:lnTo>
                    <a:pt x="323088" y="225552"/>
                  </a:lnTo>
                  <a:lnTo>
                    <a:pt x="161544" y="387096"/>
                  </a:lnTo>
                  <a:lnTo>
                    <a:pt x="0" y="225552"/>
                  </a:lnTo>
                  <a:lnTo>
                    <a:pt x="80772" y="225552"/>
                  </a:lnTo>
                  <a:lnTo>
                    <a:pt x="80772" y="0"/>
                  </a:lnTo>
                  <a:lnTo>
                    <a:pt x="242316" y="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12492" y="5443727"/>
              <a:ext cx="425195" cy="48005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65832" y="5471160"/>
              <a:ext cx="323088" cy="38862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465832" y="5471160"/>
              <a:ext cx="323215" cy="388620"/>
            </a:xfrm>
            <a:custGeom>
              <a:avLst/>
              <a:gdLst/>
              <a:ahLst/>
              <a:cxnLst/>
              <a:rect l="l" t="t" r="r" b="b"/>
              <a:pathLst>
                <a:path w="323214" h="388620">
                  <a:moveTo>
                    <a:pt x="242316" y="0"/>
                  </a:moveTo>
                  <a:lnTo>
                    <a:pt x="242316" y="227075"/>
                  </a:lnTo>
                  <a:lnTo>
                    <a:pt x="323088" y="227075"/>
                  </a:lnTo>
                  <a:lnTo>
                    <a:pt x="161544" y="388619"/>
                  </a:lnTo>
                  <a:lnTo>
                    <a:pt x="0" y="227075"/>
                  </a:lnTo>
                  <a:lnTo>
                    <a:pt x="80772" y="227075"/>
                  </a:lnTo>
                  <a:lnTo>
                    <a:pt x="80772" y="0"/>
                  </a:lnTo>
                  <a:lnTo>
                    <a:pt x="242316" y="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12492" y="2346960"/>
              <a:ext cx="425195" cy="48006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65832" y="2374392"/>
              <a:ext cx="323088" cy="38862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465832" y="2374392"/>
              <a:ext cx="323215" cy="388620"/>
            </a:xfrm>
            <a:custGeom>
              <a:avLst/>
              <a:gdLst/>
              <a:ahLst/>
              <a:cxnLst/>
              <a:rect l="l" t="t" r="r" b="b"/>
              <a:pathLst>
                <a:path w="323214" h="388619">
                  <a:moveTo>
                    <a:pt x="242316" y="0"/>
                  </a:moveTo>
                  <a:lnTo>
                    <a:pt x="242316" y="227075"/>
                  </a:lnTo>
                  <a:lnTo>
                    <a:pt x="323088" y="227075"/>
                  </a:lnTo>
                  <a:lnTo>
                    <a:pt x="161544" y="388620"/>
                  </a:lnTo>
                  <a:lnTo>
                    <a:pt x="0" y="227075"/>
                  </a:lnTo>
                  <a:lnTo>
                    <a:pt x="80772" y="227075"/>
                  </a:lnTo>
                  <a:lnTo>
                    <a:pt x="80772" y="0"/>
                  </a:lnTo>
                  <a:lnTo>
                    <a:pt x="242316" y="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6" name="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178552" y="2363723"/>
            <a:ext cx="2795016" cy="1922342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03291" y="4536947"/>
            <a:ext cx="3083052" cy="2063495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8910319" y="3716841"/>
            <a:ext cx="165735" cy="22606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z="1100" dirty="0">
                <a:solidFill>
                  <a:srgbClr val="7E7E7E"/>
                </a:solidFill>
                <a:latin typeface="Calibri"/>
                <a:cs typeface="Calibri"/>
              </a:rPr>
              <a:t>[Imágenes</a:t>
            </a:r>
            <a:r>
              <a:rPr sz="11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7E7E7E"/>
                </a:solidFill>
                <a:latin typeface="Calibri"/>
                <a:cs typeface="Calibri"/>
              </a:rPr>
              <a:t>de </a:t>
            </a:r>
            <a:r>
              <a:rPr sz="1100" dirty="0">
                <a:solidFill>
                  <a:srgbClr val="7E7E7E"/>
                </a:solidFill>
                <a:latin typeface="Calibri"/>
                <a:cs typeface="Calibri"/>
              </a:rPr>
              <a:t>Davide</a:t>
            </a:r>
            <a:r>
              <a:rPr sz="11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7E7E7E"/>
                </a:solidFill>
                <a:latin typeface="Calibri"/>
                <a:cs typeface="Calibri"/>
              </a:rPr>
              <a:t>Scaramuzza,</a:t>
            </a:r>
            <a:r>
              <a:rPr sz="11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7E7E7E"/>
                </a:solidFill>
                <a:latin typeface="Calibri"/>
                <a:cs typeface="Calibri"/>
              </a:rPr>
              <a:t>UZH]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815705" y="6665086"/>
            <a:ext cx="14033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z="1000" spc="-5" dirty="0">
                <a:solidFill>
                  <a:srgbClr val="585858"/>
                </a:solidFill>
                <a:latin typeface="Calibri"/>
                <a:cs typeface="Calibri"/>
              </a:rPr>
              <a:t>4</a:t>
            </a:fld>
            <a:endParaRPr sz="1000">
              <a:latin typeface="Calibri"/>
              <a:cs typeface="Calibri"/>
            </a:endParaRPr>
          </a:p>
        </p:txBody>
      </p:sp>
      <p:pic>
        <p:nvPicPr>
          <p:cNvPr id="40" name="Picture 4">
            <a:extLst>
              <a:ext uri="{FF2B5EF4-FFF2-40B4-BE49-F238E27FC236}">
                <a16:creationId xmlns:a16="http://schemas.microsoft.com/office/drawing/2014/main" id="{6ACFB32E-16BD-C503-7249-C447C05AC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6" descr="Ingeniería de Sistemas - UNCP">
            <a:extLst>
              <a:ext uri="{FF2B5EF4-FFF2-40B4-BE49-F238E27FC236}">
                <a16:creationId xmlns:a16="http://schemas.microsoft.com/office/drawing/2014/main" id="{A637A3D1-5A38-F6AB-7AB9-396EB360C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0372" y="260350"/>
            <a:ext cx="62242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¿Para</a:t>
            </a:r>
            <a:r>
              <a:rPr spc="-40" dirty="0"/>
              <a:t> </a:t>
            </a:r>
            <a:r>
              <a:rPr dirty="0"/>
              <a:t>qué</a:t>
            </a:r>
            <a:r>
              <a:rPr spc="-25" dirty="0"/>
              <a:t> </a:t>
            </a:r>
            <a:r>
              <a:rPr spc="-15" dirty="0"/>
              <a:t>detectores </a:t>
            </a:r>
            <a:r>
              <a:rPr dirty="0"/>
              <a:t>y</a:t>
            </a:r>
            <a:r>
              <a:rPr spc="-20" dirty="0"/>
              <a:t> </a:t>
            </a:r>
            <a:r>
              <a:rPr spc="-5" dirty="0"/>
              <a:t>descriptores?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52187"/>
            <a:ext cx="7536815" cy="269875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Feature</a:t>
            </a:r>
            <a:r>
              <a:rPr sz="2000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Matching: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9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Encontrar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puntos</a:t>
            </a:r>
            <a:r>
              <a:rPr sz="1800" spc="-5" dirty="0">
                <a:latin typeface="Calibri"/>
                <a:cs typeface="Calibri"/>
              </a:rPr>
              <a:t> 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interés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(“keypoints”)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correspondientes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imágenes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Aplicaciones:</a:t>
            </a:r>
            <a:endParaRPr sz="18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800" spc="-5" dirty="0">
                <a:latin typeface="Calibri"/>
                <a:cs typeface="Calibri"/>
              </a:rPr>
              <a:t>Creación</a:t>
            </a:r>
            <a:r>
              <a:rPr sz="1800" dirty="0">
                <a:latin typeface="Calibri"/>
                <a:cs typeface="Calibri"/>
              </a:rPr>
              <a:t> 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panoramas</a:t>
            </a:r>
            <a:endParaRPr sz="18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800" spc="-10" dirty="0">
                <a:latin typeface="Calibri"/>
                <a:cs typeface="Calibri"/>
              </a:rPr>
              <a:t>Reconocimiento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objetos</a:t>
            </a:r>
            <a:endParaRPr sz="18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800" spc="-10" dirty="0">
                <a:latin typeface="Calibri"/>
                <a:cs typeface="Calibri"/>
              </a:rPr>
              <a:t>Reconstrucción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3D</a:t>
            </a:r>
            <a:endParaRPr sz="18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800" spc="-10" dirty="0">
                <a:latin typeface="Calibri"/>
                <a:cs typeface="Calibri"/>
              </a:rPr>
              <a:t>Reconocimiento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lugares</a:t>
            </a:r>
            <a:endParaRPr sz="18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800" spc="-10" dirty="0">
                <a:latin typeface="Calibri"/>
                <a:cs typeface="Calibri"/>
              </a:rPr>
              <a:t>Indexamiento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bases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datos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</a:t>
            </a:r>
            <a:r>
              <a:rPr sz="1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http://tineye.com</a:t>
            </a:r>
            <a:r>
              <a:rPr sz="1800" spc="40" dirty="0">
                <a:solidFill>
                  <a:srgbClr val="0000FF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Google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Images)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52515" y="2014727"/>
            <a:ext cx="2502408" cy="13426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63267" y="4293108"/>
            <a:ext cx="5730239" cy="206854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815705" y="6665086"/>
            <a:ext cx="14033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z="1000" spc="-5" dirty="0">
                <a:solidFill>
                  <a:srgbClr val="585858"/>
                </a:solidFill>
                <a:latin typeface="Calibri"/>
                <a:cs typeface="Calibri"/>
              </a:rPr>
              <a:t>5</a:t>
            </a:fld>
            <a:endParaRPr sz="1000">
              <a:latin typeface="Calibri"/>
              <a:cs typeface="Calibri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F503583C-388D-90D3-889C-C074BE6BE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AE1993DE-FFEA-91F3-56EF-F8BCB9ECC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1105" y="6633464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585858"/>
                </a:solidFill>
                <a:latin typeface="Calibri"/>
                <a:cs typeface="Calibri"/>
              </a:rPr>
              <a:t>6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70100" y="260350"/>
            <a:ext cx="60045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Feature</a:t>
            </a:r>
            <a:r>
              <a:rPr spc="-40" dirty="0"/>
              <a:t> </a:t>
            </a:r>
            <a:r>
              <a:rPr spc="-10" dirty="0"/>
              <a:t>Matching:</a:t>
            </a:r>
            <a:r>
              <a:rPr spc="-55" dirty="0"/>
              <a:t> </a:t>
            </a:r>
            <a:r>
              <a:rPr spc="-10" dirty="0"/>
              <a:t>Enfoque</a:t>
            </a:r>
            <a:r>
              <a:rPr spc="-25" dirty="0"/>
              <a:t> </a:t>
            </a:r>
            <a:r>
              <a:rPr spc="-15" dirty="0"/>
              <a:t>General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6691" y="1602104"/>
            <a:ext cx="2177415" cy="8204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73050" marR="5080" indent="-260985">
              <a:lnSpc>
                <a:spcPct val="100499"/>
              </a:lnSpc>
              <a:spcBef>
                <a:spcPts val="90"/>
              </a:spcBef>
            </a:pPr>
            <a:r>
              <a:rPr sz="1800" spc="-5" dirty="0">
                <a:latin typeface="Calibri"/>
                <a:cs typeface="Calibri"/>
              </a:rPr>
              <a:t>1.</a:t>
            </a:r>
            <a:r>
              <a:rPr sz="1800" spc="2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Encontrar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puntos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interés </a:t>
            </a:r>
            <a:r>
              <a:rPr sz="1600" spc="-15" dirty="0">
                <a:latin typeface="Calibri"/>
                <a:cs typeface="Calibri"/>
              </a:rPr>
              <a:t>(</a:t>
            </a:r>
            <a:r>
              <a:rPr sz="1600" i="1" spc="-15" dirty="0">
                <a:latin typeface="Calibri"/>
                <a:cs typeface="Calibri"/>
              </a:rPr>
              <a:t>keypoints, </a:t>
            </a:r>
            <a:r>
              <a:rPr sz="1600" i="1" spc="-10" dirty="0"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9900CC"/>
                </a:solidFill>
                <a:latin typeface="Calibri"/>
                <a:cs typeface="Calibri"/>
              </a:rPr>
              <a:t>“detectores”</a:t>
            </a:r>
            <a:r>
              <a:rPr sz="1600" spc="-10" dirty="0"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6691" y="2699080"/>
            <a:ext cx="261493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0" marR="5080" indent="-26098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2.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Obtener </a:t>
            </a:r>
            <a:r>
              <a:rPr sz="1800" spc="-5" dirty="0">
                <a:latin typeface="Calibri"/>
                <a:cs typeface="Calibri"/>
              </a:rPr>
              <a:t>un </a:t>
            </a:r>
            <a:r>
              <a:rPr sz="1800" i="1" spc="-10" dirty="0">
                <a:solidFill>
                  <a:srgbClr val="9900CC"/>
                </a:solidFill>
                <a:latin typeface="Calibri"/>
                <a:cs typeface="Calibri"/>
              </a:rPr>
              <a:t>descriptor </a:t>
            </a:r>
            <a:r>
              <a:rPr sz="1800" i="1" spc="-5" dirty="0">
                <a:solidFill>
                  <a:srgbClr val="9900C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local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(vector)</a:t>
            </a:r>
            <a:r>
              <a:rPr sz="16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para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región alrededor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cada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punto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interés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6691" y="4101541"/>
            <a:ext cx="24803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0" marR="5080" indent="-260985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Calibri"/>
                <a:cs typeface="Calibri"/>
              </a:rPr>
              <a:t>3.</a:t>
            </a:r>
            <a:r>
              <a:rPr sz="1800" i="1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“Matching”</a:t>
            </a:r>
            <a:r>
              <a:rPr sz="1800" spc="-10" dirty="0">
                <a:latin typeface="Calibri"/>
                <a:cs typeface="Calibri"/>
              </a:rPr>
              <a:t>: encontrar </a:t>
            </a:r>
            <a:r>
              <a:rPr sz="1800" spc="-5" dirty="0">
                <a:latin typeface="Calibri"/>
                <a:cs typeface="Calibri"/>
              </a:rPr>
              <a:t> correspondencias </a:t>
            </a:r>
            <a:r>
              <a:rPr sz="1800" spc="-10" dirty="0">
                <a:latin typeface="Calibri"/>
                <a:cs typeface="Calibri"/>
              </a:rPr>
              <a:t>entre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descriptores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locales </a:t>
            </a:r>
            <a:r>
              <a:rPr sz="1800" dirty="0">
                <a:latin typeface="Calibri"/>
                <a:cs typeface="Calibri"/>
              </a:rPr>
              <a:t> basados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semejanza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3631" y="4777740"/>
            <a:ext cx="864107" cy="8641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57015" y="4779264"/>
            <a:ext cx="932688" cy="86563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708141" y="4482465"/>
            <a:ext cx="9144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955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rebuchet MS"/>
                <a:cs typeface="Trebuchet MS"/>
              </a:rPr>
              <a:t>Medida </a:t>
            </a:r>
            <a:r>
              <a:rPr sz="1400" b="1" dirty="0">
                <a:latin typeface="Trebuchet MS"/>
                <a:cs typeface="Trebuchet MS"/>
              </a:rPr>
              <a:t>de </a:t>
            </a:r>
            <a:r>
              <a:rPr sz="1400" b="1" spc="-409" dirty="0">
                <a:latin typeface="Trebuchet MS"/>
                <a:cs typeface="Trebuchet MS"/>
              </a:rPr>
              <a:t> </a:t>
            </a:r>
            <a:r>
              <a:rPr sz="1400" b="1" spc="-10" dirty="0">
                <a:latin typeface="Trebuchet MS"/>
                <a:cs typeface="Trebuchet MS"/>
              </a:rPr>
              <a:t>s</a:t>
            </a:r>
            <a:r>
              <a:rPr sz="1400" b="1" dirty="0">
                <a:latin typeface="Trebuchet MS"/>
                <a:cs typeface="Trebuchet MS"/>
              </a:rPr>
              <a:t>emej</a:t>
            </a:r>
            <a:r>
              <a:rPr sz="1400" b="1" spc="-5" dirty="0">
                <a:latin typeface="Trebuchet MS"/>
                <a:cs typeface="Trebuchet MS"/>
              </a:rPr>
              <a:t>anza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792683" y="5056391"/>
            <a:ext cx="666115" cy="307340"/>
            <a:chOff x="5792683" y="5056391"/>
            <a:chExt cx="666115" cy="30734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92683" y="5056391"/>
              <a:ext cx="666043" cy="3068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21679" y="5065775"/>
              <a:ext cx="612648" cy="25298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821679" y="5065775"/>
              <a:ext cx="612775" cy="253365"/>
            </a:xfrm>
            <a:custGeom>
              <a:avLst/>
              <a:gdLst/>
              <a:ahLst/>
              <a:cxnLst/>
              <a:rect l="l" t="t" r="r" b="b"/>
              <a:pathLst>
                <a:path w="612775" h="253364">
                  <a:moveTo>
                    <a:pt x="0" y="126492"/>
                  </a:moveTo>
                  <a:lnTo>
                    <a:pt x="122809" y="0"/>
                  </a:lnTo>
                  <a:lnTo>
                    <a:pt x="122809" y="63246"/>
                  </a:lnTo>
                  <a:lnTo>
                    <a:pt x="489839" y="63246"/>
                  </a:lnTo>
                  <a:lnTo>
                    <a:pt x="489839" y="0"/>
                  </a:lnTo>
                  <a:lnTo>
                    <a:pt x="612648" y="126492"/>
                  </a:lnTo>
                  <a:lnTo>
                    <a:pt x="489839" y="252984"/>
                  </a:lnTo>
                  <a:lnTo>
                    <a:pt x="489839" y="189737"/>
                  </a:lnTo>
                  <a:lnTo>
                    <a:pt x="122809" y="189737"/>
                  </a:lnTo>
                  <a:lnTo>
                    <a:pt x="122809" y="252984"/>
                  </a:lnTo>
                  <a:lnTo>
                    <a:pt x="0" y="126492"/>
                  </a:lnTo>
                  <a:close/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644135" y="4879847"/>
            <a:ext cx="854075" cy="584835"/>
            <a:chOff x="4644135" y="4879847"/>
            <a:chExt cx="854075" cy="584835"/>
          </a:xfrm>
        </p:grpSpPr>
        <p:sp>
          <p:nvSpPr>
            <p:cNvPr id="15" name="object 15"/>
            <p:cNvSpPr/>
            <p:nvPr/>
          </p:nvSpPr>
          <p:spPr>
            <a:xfrm>
              <a:off x="4644136" y="4928615"/>
              <a:ext cx="854075" cy="535940"/>
            </a:xfrm>
            <a:custGeom>
              <a:avLst/>
              <a:gdLst/>
              <a:ahLst/>
              <a:cxnLst/>
              <a:rect l="l" t="t" r="r" b="b"/>
              <a:pathLst>
                <a:path w="854075" h="535939">
                  <a:moveTo>
                    <a:pt x="854075" y="510540"/>
                  </a:moveTo>
                  <a:lnTo>
                    <a:pt x="841375" y="504190"/>
                  </a:lnTo>
                  <a:lnTo>
                    <a:pt x="803275" y="485140"/>
                  </a:lnTo>
                  <a:lnTo>
                    <a:pt x="803275" y="504190"/>
                  </a:lnTo>
                  <a:lnTo>
                    <a:pt x="31750" y="504190"/>
                  </a:lnTo>
                  <a:lnTo>
                    <a:pt x="31750" y="50800"/>
                  </a:lnTo>
                  <a:lnTo>
                    <a:pt x="50800" y="50800"/>
                  </a:lnTo>
                  <a:lnTo>
                    <a:pt x="44450" y="38100"/>
                  </a:lnTo>
                  <a:lnTo>
                    <a:pt x="25400" y="0"/>
                  </a:lnTo>
                  <a:lnTo>
                    <a:pt x="0" y="50800"/>
                  </a:lnTo>
                  <a:lnTo>
                    <a:pt x="19050" y="50800"/>
                  </a:lnTo>
                  <a:lnTo>
                    <a:pt x="19050" y="504190"/>
                  </a:lnTo>
                  <a:lnTo>
                    <a:pt x="19050" y="505460"/>
                  </a:lnTo>
                  <a:lnTo>
                    <a:pt x="19050" y="516890"/>
                  </a:lnTo>
                  <a:lnTo>
                    <a:pt x="803275" y="516890"/>
                  </a:lnTo>
                  <a:lnTo>
                    <a:pt x="803275" y="535940"/>
                  </a:lnTo>
                  <a:lnTo>
                    <a:pt x="841375" y="516890"/>
                  </a:lnTo>
                  <a:lnTo>
                    <a:pt x="854075" y="5105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21351" y="5178551"/>
              <a:ext cx="53340" cy="248920"/>
            </a:xfrm>
            <a:custGeom>
              <a:avLst/>
              <a:gdLst/>
              <a:ahLst/>
              <a:cxnLst/>
              <a:rect l="l" t="t" r="r" b="b"/>
              <a:pathLst>
                <a:path w="53339" h="248920">
                  <a:moveTo>
                    <a:pt x="53339" y="0"/>
                  </a:moveTo>
                  <a:lnTo>
                    <a:pt x="0" y="0"/>
                  </a:lnTo>
                  <a:lnTo>
                    <a:pt x="0" y="248412"/>
                  </a:lnTo>
                  <a:lnTo>
                    <a:pt x="53339" y="248412"/>
                  </a:lnTo>
                  <a:lnTo>
                    <a:pt x="53339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21351" y="5178551"/>
              <a:ext cx="53340" cy="248920"/>
            </a:xfrm>
            <a:custGeom>
              <a:avLst/>
              <a:gdLst/>
              <a:ahLst/>
              <a:cxnLst/>
              <a:rect l="l" t="t" r="r" b="b"/>
              <a:pathLst>
                <a:path w="53339" h="248920">
                  <a:moveTo>
                    <a:pt x="0" y="248412"/>
                  </a:moveTo>
                  <a:lnTo>
                    <a:pt x="53339" y="248412"/>
                  </a:lnTo>
                  <a:lnTo>
                    <a:pt x="53339" y="0"/>
                  </a:lnTo>
                  <a:lnTo>
                    <a:pt x="0" y="0"/>
                  </a:lnTo>
                  <a:lnTo>
                    <a:pt x="0" y="248412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71643" y="5178551"/>
              <a:ext cx="53340" cy="248920"/>
            </a:xfrm>
            <a:custGeom>
              <a:avLst/>
              <a:gdLst/>
              <a:ahLst/>
              <a:cxnLst/>
              <a:rect l="l" t="t" r="r" b="b"/>
              <a:pathLst>
                <a:path w="53339" h="248920">
                  <a:moveTo>
                    <a:pt x="53339" y="0"/>
                  </a:moveTo>
                  <a:lnTo>
                    <a:pt x="0" y="0"/>
                  </a:lnTo>
                  <a:lnTo>
                    <a:pt x="0" y="248412"/>
                  </a:lnTo>
                  <a:lnTo>
                    <a:pt x="53339" y="248412"/>
                  </a:lnTo>
                  <a:lnTo>
                    <a:pt x="53339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71643" y="5178551"/>
              <a:ext cx="53340" cy="248920"/>
            </a:xfrm>
            <a:custGeom>
              <a:avLst/>
              <a:gdLst/>
              <a:ahLst/>
              <a:cxnLst/>
              <a:rect l="l" t="t" r="r" b="b"/>
              <a:pathLst>
                <a:path w="53339" h="248920">
                  <a:moveTo>
                    <a:pt x="0" y="248412"/>
                  </a:moveTo>
                  <a:lnTo>
                    <a:pt x="53339" y="248412"/>
                  </a:lnTo>
                  <a:lnTo>
                    <a:pt x="53339" y="0"/>
                  </a:lnTo>
                  <a:lnTo>
                    <a:pt x="0" y="0"/>
                  </a:lnTo>
                  <a:lnTo>
                    <a:pt x="0" y="248412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24983" y="5178551"/>
              <a:ext cx="52069" cy="248920"/>
            </a:xfrm>
            <a:custGeom>
              <a:avLst/>
              <a:gdLst/>
              <a:ahLst/>
              <a:cxnLst/>
              <a:rect l="l" t="t" r="r" b="b"/>
              <a:pathLst>
                <a:path w="52070" h="248920">
                  <a:moveTo>
                    <a:pt x="51815" y="0"/>
                  </a:moveTo>
                  <a:lnTo>
                    <a:pt x="0" y="0"/>
                  </a:lnTo>
                  <a:lnTo>
                    <a:pt x="0" y="248412"/>
                  </a:lnTo>
                  <a:lnTo>
                    <a:pt x="51815" y="248412"/>
                  </a:lnTo>
                  <a:lnTo>
                    <a:pt x="51815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24983" y="5178551"/>
              <a:ext cx="52069" cy="248920"/>
            </a:xfrm>
            <a:custGeom>
              <a:avLst/>
              <a:gdLst/>
              <a:ahLst/>
              <a:cxnLst/>
              <a:rect l="l" t="t" r="r" b="b"/>
              <a:pathLst>
                <a:path w="52070" h="248920">
                  <a:moveTo>
                    <a:pt x="0" y="248412"/>
                  </a:moveTo>
                  <a:lnTo>
                    <a:pt x="51815" y="248412"/>
                  </a:lnTo>
                  <a:lnTo>
                    <a:pt x="51815" y="0"/>
                  </a:lnTo>
                  <a:lnTo>
                    <a:pt x="0" y="0"/>
                  </a:lnTo>
                  <a:lnTo>
                    <a:pt x="0" y="24841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76799" y="5053583"/>
              <a:ext cx="52069" cy="373380"/>
            </a:xfrm>
            <a:custGeom>
              <a:avLst/>
              <a:gdLst/>
              <a:ahLst/>
              <a:cxnLst/>
              <a:rect l="l" t="t" r="r" b="b"/>
              <a:pathLst>
                <a:path w="52070" h="373379">
                  <a:moveTo>
                    <a:pt x="51815" y="0"/>
                  </a:moveTo>
                  <a:lnTo>
                    <a:pt x="0" y="0"/>
                  </a:lnTo>
                  <a:lnTo>
                    <a:pt x="0" y="373380"/>
                  </a:lnTo>
                  <a:lnTo>
                    <a:pt x="51815" y="373380"/>
                  </a:lnTo>
                  <a:lnTo>
                    <a:pt x="51815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76799" y="5053583"/>
              <a:ext cx="52069" cy="373380"/>
            </a:xfrm>
            <a:custGeom>
              <a:avLst/>
              <a:gdLst/>
              <a:ahLst/>
              <a:cxnLst/>
              <a:rect l="l" t="t" r="r" b="b"/>
              <a:pathLst>
                <a:path w="52070" h="373379">
                  <a:moveTo>
                    <a:pt x="0" y="373380"/>
                  </a:moveTo>
                  <a:lnTo>
                    <a:pt x="51815" y="373380"/>
                  </a:lnTo>
                  <a:lnTo>
                    <a:pt x="51815" y="0"/>
                  </a:lnTo>
                  <a:lnTo>
                    <a:pt x="0" y="0"/>
                  </a:lnTo>
                  <a:lnTo>
                    <a:pt x="0" y="37338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927091" y="5178551"/>
              <a:ext cx="52069" cy="248920"/>
            </a:xfrm>
            <a:custGeom>
              <a:avLst/>
              <a:gdLst/>
              <a:ahLst/>
              <a:cxnLst/>
              <a:rect l="l" t="t" r="r" b="b"/>
              <a:pathLst>
                <a:path w="52070" h="248920">
                  <a:moveTo>
                    <a:pt x="51815" y="0"/>
                  </a:moveTo>
                  <a:lnTo>
                    <a:pt x="0" y="0"/>
                  </a:lnTo>
                  <a:lnTo>
                    <a:pt x="0" y="248412"/>
                  </a:lnTo>
                  <a:lnTo>
                    <a:pt x="51815" y="248412"/>
                  </a:lnTo>
                  <a:lnTo>
                    <a:pt x="51815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27091" y="5178551"/>
              <a:ext cx="52069" cy="248920"/>
            </a:xfrm>
            <a:custGeom>
              <a:avLst/>
              <a:gdLst/>
              <a:ahLst/>
              <a:cxnLst/>
              <a:rect l="l" t="t" r="r" b="b"/>
              <a:pathLst>
                <a:path w="52070" h="248920">
                  <a:moveTo>
                    <a:pt x="0" y="248412"/>
                  </a:moveTo>
                  <a:lnTo>
                    <a:pt x="51815" y="248412"/>
                  </a:lnTo>
                  <a:lnTo>
                    <a:pt x="51815" y="0"/>
                  </a:lnTo>
                  <a:lnTo>
                    <a:pt x="0" y="0"/>
                  </a:lnTo>
                  <a:lnTo>
                    <a:pt x="0" y="24841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78907" y="4971287"/>
              <a:ext cx="53340" cy="455930"/>
            </a:xfrm>
            <a:custGeom>
              <a:avLst/>
              <a:gdLst/>
              <a:ahLst/>
              <a:cxnLst/>
              <a:rect l="l" t="t" r="r" b="b"/>
              <a:pathLst>
                <a:path w="53339" h="455929">
                  <a:moveTo>
                    <a:pt x="53339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53339" y="455675"/>
                  </a:lnTo>
                  <a:lnTo>
                    <a:pt x="53339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978907" y="4971287"/>
              <a:ext cx="53340" cy="455930"/>
            </a:xfrm>
            <a:custGeom>
              <a:avLst/>
              <a:gdLst/>
              <a:ahLst/>
              <a:cxnLst/>
              <a:rect l="l" t="t" r="r" b="b"/>
              <a:pathLst>
                <a:path w="53339" h="455929">
                  <a:moveTo>
                    <a:pt x="0" y="455675"/>
                  </a:moveTo>
                  <a:lnTo>
                    <a:pt x="53339" y="455675"/>
                  </a:lnTo>
                  <a:lnTo>
                    <a:pt x="53339" y="0"/>
                  </a:lnTo>
                  <a:lnTo>
                    <a:pt x="0" y="0"/>
                  </a:lnTo>
                  <a:lnTo>
                    <a:pt x="0" y="455675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032247" y="4928615"/>
              <a:ext cx="50800" cy="498475"/>
            </a:xfrm>
            <a:custGeom>
              <a:avLst/>
              <a:gdLst/>
              <a:ahLst/>
              <a:cxnLst/>
              <a:rect l="l" t="t" r="r" b="b"/>
              <a:pathLst>
                <a:path w="50800" h="498475">
                  <a:moveTo>
                    <a:pt x="50291" y="0"/>
                  </a:moveTo>
                  <a:lnTo>
                    <a:pt x="0" y="0"/>
                  </a:lnTo>
                  <a:lnTo>
                    <a:pt x="0" y="498348"/>
                  </a:lnTo>
                  <a:lnTo>
                    <a:pt x="50291" y="498348"/>
                  </a:lnTo>
                  <a:lnTo>
                    <a:pt x="50291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032247" y="4928615"/>
              <a:ext cx="50800" cy="498475"/>
            </a:xfrm>
            <a:custGeom>
              <a:avLst/>
              <a:gdLst/>
              <a:ahLst/>
              <a:cxnLst/>
              <a:rect l="l" t="t" r="r" b="b"/>
              <a:pathLst>
                <a:path w="50800" h="498475">
                  <a:moveTo>
                    <a:pt x="0" y="498348"/>
                  </a:moveTo>
                  <a:lnTo>
                    <a:pt x="50291" y="498348"/>
                  </a:lnTo>
                  <a:lnTo>
                    <a:pt x="50291" y="0"/>
                  </a:lnTo>
                  <a:lnTo>
                    <a:pt x="0" y="0"/>
                  </a:lnTo>
                  <a:lnTo>
                    <a:pt x="0" y="4983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082539" y="4885943"/>
              <a:ext cx="52069" cy="541020"/>
            </a:xfrm>
            <a:custGeom>
              <a:avLst/>
              <a:gdLst/>
              <a:ahLst/>
              <a:cxnLst/>
              <a:rect l="l" t="t" r="r" b="b"/>
              <a:pathLst>
                <a:path w="52070" h="541020">
                  <a:moveTo>
                    <a:pt x="51815" y="0"/>
                  </a:moveTo>
                  <a:lnTo>
                    <a:pt x="0" y="0"/>
                  </a:lnTo>
                  <a:lnTo>
                    <a:pt x="0" y="541019"/>
                  </a:lnTo>
                  <a:lnTo>
                    <a:pt x="51815" y="541019"/>
                  </a:lnTo>
                  <a:lnTo>
                    <a:pt x="51815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082539" y="4885943"/>
              <a:ext cx="52069" cy="541020"/>
            </a:xfrm>
            <a:custGeom>
              <a:avLst/>
              <a:gdLst/>
              <a:ahLst/>
              <a:cxnLst/>
              <a:rect l="l" t="t" r="r" b="b"/>
              <a:pathLst>
                <a:path w="52070" h="541020">
                  <a:moveTo>
                    <a:pt x="0" y="541019"/>
                  </a:moveTo>
                  <a:lnTo>
                    <a:pt x="51815" y="541019"/>
                  </a:lnTo>
                  <a:lnTo>
                    <a:pt x="51815" y="0"/>
                  </a:lnTo>
                  <a:lnTo>
                    <a:pt x="0" y="0"/>
                  </a:lnTo>
                  <a:lnTo>
                    <a:pt x="0" y="5410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134355" y="4885943"/>
              <a:ext cx="53340" cy="541020"/>
            </a:xfrm>
            <a:custGeom>
              <a:avLst/>
              <a:gdLst/>
              <a:ahLst/>
              <a:cxnLst/>
              <a:rect l="l" t="t" r="r" b="b"/>
              <a:pathLst>
                <a:path w="53339" h="541020">
                  <a:moveTo>
                    <a:pt x="53339" y="0"/>
                  </a:moveTo>
                  <a:lnTo>
                    <a:pt x="0" y="0"/>
                  </a:lnTo>
                  <a:lnTo>
                    <a:pt x="0" y="541019"/>
                  </a:lnTo>
                  <a:lnTo>
                    <a:pt x="53339" y="541019"/>
                  </a:lnTo>
                  <a:lnTo>
                    <a:pt x="53339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134355" y="4885943"/>
              <a:ext cx="53340" cy="541020"/>
            </a:xfrm>
            <a:custGeom>
              <a:avLst/>
              <a:gdLst/>
              <a:ahLst/>
              <a:cxnLst/>
              <a:rect l="l" t="t" r="r" b="b"/>
              <a:pathLst>
                <a:path w="53339" h="541020">
                  <a:moveTo>
                    <a:pt x="0" y="541019"/>
                  </a:moveTo>
                  <a:lnTo>
                    <a:pt x="53339" y="541019"/>
                  </a:lnTo>
                  <a:lnTo>
                    <a:pt x="53339" y="0"/>
                  </a:lnTo>
                  <a:lnTo>
                    <a:pt x="0" y="0"/>
                  </a:lnTo>
                  <a:lnTo>
                    <a:pt x="0" y="5410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187695" y="4928615"/>
              <a:ext cx="52069" cy="498475"/>
            </a:xfrm>
            <a:custGeom>
              <a:avLst/>
              <a:gdLst/>
              <a:ahLst/>
              <a:cxnLst/>
              <a:rect l="l" t="t" r="r" b="b"/>
              <a:pathLst>
                <a:path w="52070" h="498475">
                  <a:moveTo>
                    <a:pt x="51815" y="0"/>
                  </a:moveTo>
                  <a:lnTo>
                    <a:pt x="0" y="0"/>
                  </a:lnTo>
                  <a:lnTo>
                    <a:pt x="0" y="498348"/>
                  </a:lnTo>
                  <a:lnTo>
                    <a:pt x="51815" y="498348"/>
                  </a:lnTo>
                  <a:lnTo>
                    <a:pt x="51815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187695" y="4928615"/>
              <a:ext cx="52069" cy="498475"/>
            </a:xfrm>
            <a:custGeom>
              <a:avLst/>
              <a:gdLst/>
              <a:ahLst/>
              <a:cxnLst/>
              <a:rect l="l" t="t" r="r" b="b"/>
              <a:pathLst>
                <a:path w="52070" h="498475">
                  <a:moveTo>
                    <a:pt x="0" y="498348"/>
                  </a:moveTo>
                  <a:lnTo>
                    <a:pt x="51815" y="498348"/>
                  </a:lnTo>
                  <a:lnTo>
                    <a:pt x="51815" y="0"/>
                  </a:lnTo>
                  <a:lnTo>
                    <a:pt x="0" y="0"/>
                  </a:lnTo>
                  <a:lnTo>
                    <a:pt x="0" y="4983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237987" y="5178551"/>
              <a:ext cx="52069" cy="248920"/>
            </a:xfrm>
            <a:custGeom>
              <a:avLst/>
              <a:gdLst/>
              <a:ahLst/>
              <a:cxnLst/>
              <a:rect l="l" t="t" r="r" b="b"/>
              <a:pathLst>
                <a:path w="52070" h="248920">
                  <a:moveTo>
                    <a:pt x="51815" y="0"/>
                  </a:moveTo>
                  <a:lnTo>
                    <a:pt x="0" y="0"/>
                  </a:lnTo>
                  <a:lnTo>
                    <a:pt x="0" y="248412"/>
                  </a:lnTo>
                  <a:lnTo>
                    <a:pt x="51815" y="248412"/>
                  </a:lnTo>
                  <a:lnTo>
                    <a:pt x="51815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237987" y="5178551"/>
              <a:ext cx="52069" cy="248920"/>
            </a:xfrm>
            <a:custGeom>
              <a:avLst/>
              <a:gdLst/>
              <a:ahLst/>
              <a:cxnLst/>
              <a:rect l="l" t="t" r="r" b="b"/>
              <a:pathLst>
                <a:path w="52070" h="248920">
                  <a:moveTo>
                    <a:pt x="0" y="248412"/>
                  </a:moveTo>
                  <a:lnTo>
                    <a:pt x="51815" y="248412"/>
                  </a:lnTo>
                  <a:lnTo>
                    <a:pt x="51815" y="0"/>
                  </a:lnTo>
                  <a:lnTo>
                    <a:pt x="0" y="0"/>
                  </a:lnTo>
                  <a:lnTo>
                    <a:pt x="0" y="24841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289803" y="5178551"/>
              <a:ext cx="53340" cy="248920"/>
            </a:xfrm>
            <a:custGeom>
              <a:avLst/>
              <a:gdLst/>
              <a:ahLst/>
              <a:cxnLst/>
              <a:rect l="l" t="t" r="r" b="b"/>
              <a:pathLst>
                <a:path w="53339" h="248920">
                  <a:moveTo>
                    <a:pt x="53339" y="0"/>
                  </a:moveTo>
                  <a:lnTo>
                    <a:pt x="0" y="0"/>
                  </a:lnTo>
                  <a:lnTo>
                    <a:pt x="0" y="248412"/>
                  </a:lnTo>
                  <a:lnTo>
                    <a:pt x="53339" y="248412"/>
                  </a:lnTo>
                  <a:lnTo>
                    <a:pt x="53339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289803" y="5178551"/>
              <a:ext cx="53340" cy="248920"/>
            </a:xfrm>
            <a:custGeom>
              <a:avLst/>
              <a:gdLst/>
              <a:ahLst/>
              <a:cxnLst/>
              <a:rect l="l" t="t" r="r" b="b"/>
              <a:pathLst>
                <a:path w="53339" h="248920">
                  <a:moveTo>
                    <a:pt x="0" y="248412"/>
                  </a:moveTo>
                  <a:lnTo>
                    <a:pt x="53339" y="248412"/>
                  </a:lnTo>
                  <a:lnTo>
                    <a:pt x="53339" y="0"/>
                  </a:lnTo>
                  <a:lnTo>
                    <a:pt x="0" y="0"/>
                  </a:lnTo>
                  <a:lnTo>
                    <a:pt x="0" y="248412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0" name="object 4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93965" y="4500690"/>
            <a:ext cx="249053" cy="270793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6832600" y="4914900"/>
            <a:ext cx="782955" cy="517525"/>
            <a:chOff x="6832600" y="4914900"/>
            <a:chExt cx="782955" cy="517525"/>
          </a:xfrm>
        </p:grpSpPr>
        <p:sp>
          <p:nvSpPr>
            <p:cNvPr id="42" name="object 42"/>
            <p:cNvSpPr/>
            <p:nvPr/>
          </p:nvSpPr>
          <p:spPr>
            <a:xfrm>
              <a:off x="6832600" y="4920995"/>
              <a:ext cx="782955" cy="511175"/>
            </a:xfrm>
            <a:custGeom>
              <a:avLst/>
              <a:gdLst/>
              <a:ahLst/>
              <a:cxnLst/>
              <a:rect l="l" t="t" r="r" b="b"/>
              <a:pathLst>
                <a:path w="782954" h="511175">
                  <a:moveTo>
                    <a:pt x="782574" y="466344"/>
                  </a:moveTo>
                  <a:lnTo>
                    <a:pt x="769874" y="459994"/>
                  </a:lnTo>
                  <a:lnTo>
                    <a:pt x="731774" y="440944"/>
                  </a:lnTo>
                  <a:lnTo>
                    <a:pt x="731774" y="459994"/>
                  </a:lnTo>
                  <a:lnTo>
                    <a:pt x="31750" y="459994"/>
                  </a:lnTo>
                  <a:lnTo>
                    <a:pt x="31750" y="50800"/>
                  </a:lnTo>
                  <a:lnTo>
                    <a:pt x="50800" y="50800"/>
                  </a:lnTo>
                  <a:lnTo>
                    <a:pt x="44450" y="38100"/>
                  </a:lnTo>
                  <a:lnTo>
                    <a:pt x="25400" y="0"/>
                  </a:lnTo>
                  <a:lnTo>
                    <a:pt x="0" y="50800"/>
                  </a:lnTo>
                  <a:lnTo>
                    <a:pt x="19050" y="50800"/>
                  </a:lnTo>
                  <a:lnTo>
                    <a:pt x="19050" y="459994"/>
                  </a:lnTo>
                  <a:lnTo>
                    <a:pt x="19050" y="472694"/>
                  </a:lnTo>
                  <a:lnTo>
                    <a:pt x="19050" y="511048"/>
                  </a:lnTo>
                  <a:lnTo>
                    <a:pt x="31750" y="511048"/>
                  </a:lnTo>
                  <a:lnTo>
                    <a:pt x="31750" y="472694"/>
                  </a:lnTo>
                  <a:lnTo>
                    <a:pt x="731774" y="472694"/>
                  </a:lnTo>
                  <a:lnTo>
                    <a:pt x="731774" y="491744"/>
                  </a:lnTo>
                  <a:lnTo>
                    <a:pt x="769874" y="472694"/>
                  </a:lnTo>
                  <a:lnTo>
                    <a:pt x="782574" y="466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906768" y="5173979"/>
              <a:ext cx="47625" cy="251460"/>
            </a:xfrm>
            <a:custGeom>
              <a:avLst/>
              <a:gdLst/>
              <a:ahLst/>
              <a:cxnLst/>
              <a:rect l="l" t="t" r="r" b="b"/>
              <a:pathLst>
                <a:path w="47625" h="251460">
                  <a:moveTo>
                    <a:pt x="47244" y="0"/>
                  </a:moveTo>
                  <a:lnTo>
                    <a:pt x="0" y="0"/>
                  </a:lnTo>
                  <a:lnTo>
                    <a:pt x="0" y="251460"/>
                  </a:lnTo>
                  <a:lnTo>
                    <a:pt x="47244" y="251460"/>
                  </a:lnTo>
                  <a:lnTo>
                    <a:pt x="47244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906768" y="5173979"/>
              <a:ext cx="47625" cy="251460"/>
            </a:xfrm>
            <a:custGeom>
              <a:avLst/>
              <a:gdLst/>
              <a:ahLst/>
              <a:cxnLst/>
              <a:rect l="l" t="t" r="r" b="b"/>
              <a:pathLst>
                <a:path w="47625" h="251460">
                  <a:moveTo>
                    <a:pt x="0" y="251460"/>
                  </a:moveTo>
                  <a:lnTo>
                    <a:pt x="47244" y="251460"/>
                  </a:lnTo>
                  <a:lnTo>
                    <a:pt x="47244" y="0"/>
                  </a:lnTo>
                  <a:lnTo>
                    <a:pt x="0" y="0"/>
                  </a:lnTo>
                  <a:lnTo>
                    <a:pt x="0" y="25146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952487" y="5173979"/>
              <a:ext cx="47625" cy="251460"/>
            </a:xfrm>
            <a:custGeom>
              <a:avLst/>
              <a:gdLst/>
              <a:ahLst/>
              <a:cxnLst/>
              <a:rect l="l" t="t" r="r" b="b"/>
              <a:pathLst>
                <a:path w="47625" h="251460">
                  <a:moveTo>
                    <a:pt x="47244" y="0"/>
                  </a:moveTo>
                  <a:lnTo>
                    <a:pt x="0" y="0"/>
                  </a:lnTo>
                  <a:lnTo>
                    <a:pt x="0" y="251460"/>
                  </a:lnTo>
                  <a:lnTo>
                    <a:pt x="47244" y="251460"/>
                  </a:lnTo>
                  <a:lnTo>
                    <a:pt x="47244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952487" y="5173979"/>
              <a:ext cx="47625" cy="251460"/>
            </a:xfrm>
            <a:custGeom>
              <a:avLst/>
              <a:gdLst/>
              <a:ahLst/>
              <a:cxnLst/>
              <a:rect l="l" t="t" r="r" b="b"/>
              <a:pathLst>
                <a:path w="47625" h="251460">
                  <a:moveTo>
                    <a:pt x="0" y="251460"/>
                  </a:moveTo>
                  <a:lnTo>
                    <a:pt x="47244" y="251460"/>
                  </a:lnTo>
                  <a:lnTo>
                    <a:pt x="47244" y="0"/>
                  </a:lnTo>
                  <a:lnTo>
                    <a:pt x="0" y="0"/>
                  </a:lnTo>
                  <a:lnTo>
                    <a:pt x="0" y="25146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99731" y="5173979"/>
              <a:ext cx="48895" cy="251460"/>
            </a:xfrm>
            <a:custGeom>
              <a:avLst/>
              <a:gdLst/>
              <a:ahLst/>
              <a:cxnLst/>
              <a:rect l="l" t="t" r="r" b="b"/>
              <a:pathLst>
                <a:path w="48895" h="251460">
                  <a:moveTo>
                    <a:pt x="48768" y="0"/>
                  </a:moveTo>
                  <a:lnTo>
                    <a:pt x="0" y="0"/>
                  </a:lnTo>
                  <a:lnTo>
                    <a:pt x="0" y="251460"/>
                  </a:lnTo>
                  <a:lnTo>
                    <a:pt x="48768" y="251460"/>
                  </a:lnTo>
                  <a:lnTo>
                    <a:pt x="48768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999731" y="5173979"/>
              <a:ext cx="48895" cy="251460"/>
            </a:xfrm>
            <a:custGeom>
              <a:avLst/>
              <a:gdLst/>
              <a:ahLst/>
              <a:cxnLst/>
              <a:rect l="l" t="t" r="r" b="b"/>
              <a:pathLst>
                <a:path w="48895" h="251460">
                  <a:moveTo>
                    <a:pt x="0" y="251460"/>
                  </a:moveTo>
                  <a:lnTo>
                    <a:pt x="48768" y="251460"/>
                  </a:lnTo>
                  <a:lnTo>
                    <a:pt x="48768" y="0"/>
                  </a:lnTo>
                  <a:lnTo>
                    <a:pt x="0" y="0"/>
                  </a:lnTo>
                  <a:lnTo>
                    <a:pt x="0" y="25146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048500" y="5047487"/>
              <a:ext cx="47625" cy="378460"/>
            </a:xfrm>
            <a:custGeom>
              <a:avLst/>
              <a:gdLst/>
              <a:ahLst/>
              <a:cxnLst/>
              <a:rect l="l" t="t" r="r" b="b"/>
              <a:pathLst>
                <a:path w="47625" h="378460">
                  <a:moveTo>
                    <a:pt x="47244" y="0"/>
                  </a:moveTo>
                  <a:lnTo>
                    <a:pt x="0" y="0"/>
                  </a:lnTo>
                  <a:lnTo>
                    <a:pt x="0" y="377952"/>
                  </a:lnTo>
                  <a:lnTo>
                    <a:pt x="47244" y="377952"/>
                  </a:lnTo>
                  <a:lnTo>
                    <a:pt x="47244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048500" y="5047487"/>
              <a:ext cx="47625" cy="378460"/>
            </a:xfrm>
            <a:custGeom>
              <a:avLst/>
              <a:gdLst/>
              <a:ahLst/>
              <a:cxnLst/>
              <a:rect l="l" t="t" r="r" b="b"/>
              <a:pathLst>
                <a:path w="47625" h="378460">
                  <a:moveTo>
                    <a:pt x="0" y="377952"/>
                  </a:moveTo>
                  <a:lnTo>
                    <a:pt x="47244" y="377952"/>
                  </a:lnTo>
                  <a:lnTo>
                    <a:pt x="47244" y="0"/>
                  </a:lnTo>
                  <a:lnTo>
                    <a:pt x="0" y="0"/>
                  </a:lnTo>
                  <a:lnTo>
                    <a:pt x="0" y="37795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094220" y="5004815"/>
              <a:ext cx="47625" cy="421005"/>
            </a:xfrm>
            <a:custGeom>
              <a:avLst/>
              <a:gdLst/>
              <a:ahLst/>
              <a:cxnLst/>
              <a:rect l="l" t="t" r="r" b="b"/>
              <a:pathLst>
                <a:path w="47625" h="421004">
                  <a:moveTo>
                    <a:pt x="47244" y="0"/>
                  </a:moveTo>
                  <a:lnTo>
                    <a:pt x="0" y="0"/>
                  </a:lnTo>
                  <a:lnTo>
                    <a:pt x="0" y="420623"/>
                  </a:lnTo>
                  <a:lnTo>
                    <a:pt x="47244" y="420623"/>
                  </a:lnTo>
                  <a:lnTo>
                    <a:pt x="47244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094220" y="5004815"/>
              <a:ext cx="47625" cy="421005"/>
            </a:xfrm>
            <a:custGeom>
              <a:avLst/>
              <a:gdLst/>
              <a:ahLst/>
              <a:cxnLst/>
              <a:rect l="l" t="t" r="r" b="b"/>
              <a:pathLst>
                <a:path w="47625" h="421004">
                  <a:moveTo>
                    <a:pt x="0" y="420623"/>
                  </a:moveTo>
                  <a:lnTo>
                    <a:pt x="47244" y="420623"/>
                  </a:lnTo>
                  <a:lnTo>
                    <a:pt x="47244" y="0"/>
                  </a:lnTo>
                  <a:lnTo>
                    <a:pt x="0" y="0"/>
                  </a:lnTo>
                  <a:lnTo>
                    <a:pt x="0" y="42062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141463" y="5173979"/>
              <a:ext cx="48895" cy="251460"/>
            </a:xfrm>
            <a:custGeom>
              <a:avLst/>
              <a:gdLst/>
              <a:ahLst/>
              <a:cxnLst/>
              <a:rect l="l" t="t" r="r" b="b"/>
              <a:pathLst>
                <a:path w="48895" h="251460">
                  <a:moveTo>
                    <a:pt x="48768" y="0"/>
                  </a:moveTo>
                  <a:lnTo>
                    <a:pt x="0" y="0"/>
                  </a:lnTo>
                  <a:lnTo>
                    <a:pt x="0" y="251460"/>
                  </a:lnTo>
                  <a:lnTo>
                    <a:pt x="48768" y="251460"/>
                  </a:lnTo>
                  <a:lnTo>
                    <a:pt x="48768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141463" y="5173979"/>
              <a:ext cx="48895" cy="251460"/>
            </a:xfrm>
            <a:custGeom>
              <a:avLst/>
              <a:gdLst/>
              <a:ahLst/>
              <a:cxnLst/>
              <a:rect l="l" t="t" r="r" b="b"/>
              <a:pathLst>
                <a:path w="48895" h="251460">
                  <a:moveTo>
                    <a:pt x="0" y="251460"/>
                  </a:moveTo>
                  <a:lnTo>
                    <a:pt x="48768" y="251460"/>
                  </a:lnTo>
                  <a:lnTo>
                    <a:pt x="48768" y="0"/>
                  </a:lnTo>
                  <a:lnTo>
                    <a:pt x="0" y="0"/>
                  </a:lnTo>
                  <a:lnTo>
                    <a:pt x="0" y="25146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190231" y="4920995"/>
              <a:ext cx="45720" cy="504825"/>
            </a:xfrm>
            <a:custGeom>
              <a:avLst/>
              <a:gdLst/>
              <a:ahLst/>
              <a:cxnLst/>
              <a:rect l="l" t="t" r="r" b="b"/>
              <a:pathLst>
                <a:path w="45720" h="504825">
                  <a:moveTo>
                    <a:pt x="45720" y="0"/>
                  </a:moveTo>
                  <a:lnTo>
                    <a:pt x="0" y="0"/>
                  </a:lnTo>
                  <a:lnTo>
                    <a:pt x="0" y="504443"/>
                  </a:lnTo>
                  <a:lnTo>
                    <a:pt x="45720" y="504443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190231" y="4920995"/>
              <a:ext cx="45720" cy="504825"/>
            </a:xfrm>
            <a:custGeom>
              <a:avLst/>
              <a:gdLst/>
              <a:ahLst/>
              <a:cxnLst/>
              <a:rect l="l" t="t" r="r" b="b"/>
              <a:pathLst>
                <a:path w="45720" h="504825">
                  <a:moveTo>
                    <a:pt x="0" y="504443"/>
                  </a:moveTo>
                  <a:lnTo>
                    <a:pt x="45720" y="50444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0" y="50444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235952" y="5173979"/>
              <a:ext cx="47625" cy="251460"/>
            </a:xfrm>
            <a:custGeom>
              <a:avLst/>
              <a:gdLst/>
              <a:ahLst/>
              <a:cxnLst/>
              <a:rect l="l" t="t" r="r" b="b"/>
              <a:pathLst>
                <a:path w="47625" h="251460">
                  <a:moveTo>
                    <a:pt x="47244" y="0"/>
                  </a:moveTo>
                  <a:lnTo>
                    <a:pt x="0" y="0"/>
                  </a:lnTo>
                  <a:lnTo>
                    <a:pt x="0" y="251460"/>
                  </a:lnTo>
                  <a:lnTo>
                    <a:pt x="47244" y="251460"/>
                  </a:lnTo>
                  <a:lnTo>
                    <a:pt x="47244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235952" y="5173979"/>
              <a:ext cx="47625" cy="251460"/>
            </a:xfrm>
            <a:custGeom>
              <a:avLst/>
              <a:gdLst/>
              <a:ahLst/>
              <a:cxnLst/>
              <a:rect l="l" t="t" r="r" b="b"/>
              <a:pathLst>
                <a:path w="47625" h="251460">
                  <a:moveTo>
                    <a:pt x="0" y="251460"/>
                  </a:moveTo>
                  <a:lnTo>
                    <a:pt x="47244" y="251460"/>
                  </a:lnTo>
                  <a:lnTo>
                    <a:pt x="47244" y="0"/>
                  </a:lnTo>
                  <a:lnTo>
                    <a:pt x="0" y="0"/>
                  </a:lnTo>
                  <a:lnTo>
                    <a:pt x="0" y="25146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283195" y="5173979"/>
              <a:ext cx="48895" cy="251460"/>
            </a:xfrm>
            <a:custGeom>
              <a:avLst/>
              <a:gdLst/>
              <a:ahLst/>
              <a:cxnLst/>
              <a:rect l="l" t="t" r="r" b="b"/>
              <a:pathLst>
                <a:path w="48895" h="251460">
                  <a:moveTo>
                    <a:pt x="48768" y="0"/>
                  </a:moveTo>
                  <a:lnTo>
                    <a:pt x="0" y="0"/>
                  </a:lnTo>
                  <a:lnTo>
                    <a:pt x="0" y="251460"/>
                  </a:lnTo>
                  <a:lnTo>
                    <a:pt x="48768" y="251460"/>
                  </a:lnTo>
                  <a:lnTo>
                    <a:pt x="48768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283195" y="5173979"/>
              <a:ext cx="48895" cy="251460"/>
            </a:xfrm>
            <a:custGeom>
              <a:avLst/>
              <a:gdLst/>
              <a:ahLst/>
              <a:cxnLst/>
              <a:rect l="l" t="t" r="r" b="b"/>
              <a:pathLst>
                <a:path w="48895" h="251460">
                  <a:moveTo>
                    <a:pt x="0" y="251460"/>
                  </a:moveTo>
                  <a:lnTo>
                    <a:pt x="48768" y="251460"/>
                  </a:lnTo>
                  <a:lnTo>
                    <a:pt x="48768" y="0"/>
                  </a:lnTo>
                  <a:lnTo>
                    <a:pt x="0" y="0"/>
                  </a:lnTo>
                  <a:lnTo>
                    <a:pt x="0" y="25146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331963" y="5173979"/>
              <a:ext cx="47625" cy="251460"/>
            </a:xfrm>
            <a:custGeom>
              <a:avLst/>
              <a:gdLst/>
              <a:ahLst/>
              <a:cxnLst/>
              <a:rect l="l" t="t" r="r" b="b"/>
              <a:pathLst>
                <a:path w="47625" h="251460">
                  <a:moveTo>
                    <a:pt x="47244" y="0"/>
                  </a:moveTo>
                  <a:lnTo>
                    <a:pt x="0" y="0"/>
                  </a:lnTo>
                  <a:lnTo>
                    <a:pt x="0" y="251460"/>
                  </a:lnTo>
                  <a:lnTo>
                    <a:pt x="47244" y="251460"/>
                  </a:lnTo>
                  <a:lnTo>
                    <a:pt x="47244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331963" y="5173979"/>
              <a:ext cx="47625" cy="251460"/>
            </a:xfrm>
            <a:custGeom>
              <a:avLst/>
              <a:gdLst/>
              <a:ahLst/>
              <a:cxnLst/>
              <a:rect l="l" t="t" r="r" b="b"/>
              <a:pathLst>
                <a:path w="47625" h="251460">
                  <a:moveTo>
                    <a:pt x="0" y="251460"/>
                  </a:moveTo>
                  <a:lnTo>
                    <a:pt x="47244" y="251460"/>
                  </a:lnTo>
                  <a:lnTo>
                    <a:pt x="47244" y="0"/>
                  </a:lnTo>
                  <a:lnTo>
                    <a:pt x="0" y="0"/>
                  </a:lnTo>
                  <a:lnTo>
                    <a:pt x="0" y="25146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377683" y="5173979"/>
              <a:ext cx="47625" cy="251460"/>
            </a:xfrm>
            <a:custGeom>
              <a:avLst/>
              <a:gdLst/>
              <a:ahLst/>
              <a:cxnLst/>
              <a:rect l="l" t="t" r="r" b="b"/>
              <a:pathLst>
                <a:path w="47625" h="251460">
                  <a:moveTo>
                    <a:pt x="47244" y="0"/>
                  </a:moveTo>
                  <a:lnTo>
                    <a:pt x="0" y="0"/>
                  </a:lnTo>
                  <a:lnTo>
                    <a:pt x="0" y="251460"/>
                  </a:lnTo>
                  <a:lnTo>
                    <a:pt x="47244" y="251460"/>
                  </a:lnTo>
                  <a:lnTo>
                    <a:pt x="47244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377683" y="5173979"/>
              <a:ext cx="47625" cy="251460"/>
            </a:xfrm>
            <a:custGeom>
              <a:avLst/>
              <a:gdLst/>
              <a:ahLst/>
              <a:cxnLst/>
              <a:rect l="l" t="t" r="r" b="b"/>
              <a:pathLst>
                <a:path w="47625" h="251460">
                  <a:moveTo>
                    <a:pt x="0" y="251460"/>
                  </a:moveTo>
                  <a:lnTo>
                    <a:pt x="47244" y="251460"/>
                  </a:lnTo>
                  <a:lnTo>
                    <a:pt x="47244" y="0"/>
                  </a:lnTo>
                  <a:lnTo>
                    <a:pt x="0" y="0"/>
                  </a:lnTo>
                  <a:lnTo>
                    <a:pt x="0" y="25146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424927" y="5004815"/>
              <a:ext cx="48895" cy="421005"/>
            </a:xfrm>
            <a:custGeom>
              <a:avLst/>
              <a:gdLst/>
              <a:ahLst/>
              <a:cxnLst/>
              <a:rect l="l" t="t" r="r" b="b"/>
              <a:pathLst>
                <a:path w="48895" h="421004">
                  <a:moveTo>
                    <a:pt x="48768" y="0"/>
                  </a:moveTo>
                  <a:lnTo>
                    <a:pt x="0" y="0"/>
                  </a:lnTo>
                  <a:lnTo>
                    <a:pt x="0" y="420623"/>
                  </a:lnTo>
                  <a:lnTo>
                    <a:pt x="48768" y="420623"/>
                  </a:lnTo>
                  <a:lnTo>
                    <a:pt x="48768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424927" y="5004815"/>
              <a:ext cx="48895" cy="421005"/>
            </a:xfrm>
            <a:custGeom>
              <a:avLst/>
              <a:gdLst/>
              <a:ahLst/>
              <a:cxnLst/>
              <a:rect l="l" t="t" r="r" b="b"/>
              <a:pathLst>
                <a:path w="48895" h="421004">
                  <a:moveTo>
                    <a:pt x="0" y="420623"/>
                  </a:moveTo>
                  <a:lnTo>
                    <a:pt x="48768" y="420623"/>
                  </a:lnTo>
                  <a:lnTo>
                    <a:pt x="48768" y="0"/>
                  </a:lnTo>
                  <a:lnTo>
                    <a:pt x="0" y="0"/>
                  </a:lnTo>
                  <a:lnTo>
                    <a:pt x="0" y="42062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7" name="object 67"/>
          <p:cNvGrpSpPr/>
          <p:nvPr/>
        </p:nvGrpSpPr>
        <p:grpSpPr>
          <a:xfrm>
            <a:off x="3515867" y="1442719"/>
            <a:ext cx="5520690" cy="3365500"/>
            <a:chOff x="3515867" y="1442719"/>
            <a:chExt cx="5520690" cy="3365500"/>
          </a:xfrm>
        </p:grpSpPr>
        <p:pic>
          <p:nvPicPr>
            <p:cNvPr id="68" name="object 6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48700" y="4537266"/>
              <a:ext cx="247970" cy="270793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975" y="1442719"/>
              <a:ext cx="3005454" cy="3093084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7526654" y="3281171"/>
              <a:ext cx="622300" cy="640715"/>
            </a:xfrm>
            <a:custGeom>
              <a:avLst/>
              <a:gdLst/>
              <a:ahLst/>
              <a:cxnLst/>
              <a:rect l="l" t="t" r="r" b="b"/>
              <a:pathLst>
                <a:path w="622300" h="640714">
                  <a:moveTo>
                    <a:pt x="151638" y="640207"/>
                  </a:moveTo>
                  <a:lnTo>
                    <a:pt x="0" y="143763"/>
                  </a:lnTo>
                  <a:lnTo>
                    <a:pt x="470662" y="0"/>
                  </a:lnTo>
                  <a:lnTo>
                    <a:pt x="622300" y="496442"/>
                  </a:lnTo>
                  <a:lnTo>
                    <a:pt x="151638" y="640207"/>
                  </a:lnTo>
                  <a:close/>
                </a:path>
              </a:pathLst>
            </a:custGeom>
            <a:ln w="25400">
              <a:solidFill>
                <a:srgbClr val="EDEB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978394" y="2376550"/>
              <a:ext cx="106680" cy="107314"/>
            </a:xfrm>
            <a:custGeom>
              <a:avLst/>
              <a:gdLst/>
              <a:ahLst/>
              <a:cxnLst/>
              <a:rect l="l" t="t" r="r" b="b"/>
              <a:pathLst>
                <a:path w="106679" h="107314">
                  <a:moveTo>
                    <a:pt x="25019" y="106934"/>
                  </a:moveTo>
                  <a:lnTo>
                    <a:pt x="81787" y="0"/>
                  </a:lnTo>
                </a:path>
                <a:path w="106679" h="107314">
                  <a:moveTo>
                    <a:pt x="0" y="25019"/>
                  </a:moveTo>
                  <a:lnTo>
                    <a:pt x="106299" y="80137"/>
                  </a:lnTo>
                </a:path>
              </a:pathLst>
            </a:custGeom>
            <a:ln w="25400">
              <a:solidFill>
                <a:srgbClr val="EDEB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940296" y="3802506"/>
              <a:ext cx="57150" cy="107314"/>
            </a:xfrm>
            <a:custGeom>
              <a:avLst/>
              <a:gdLst/>
              <a:ahLst/>
              <a:cxnLst/>
              <a:rect l="l" t="t" r="r" b="b"/>
              <a:pathLst>
                <a:path w="57150" h="107314">
                  <a:moveTo>
                    <a:pt x="0" y="106807"/>
                  </a:moveTo>
                  <a:lnTo>
                    <a:pt x="56896" y="0"/>
                  </a:lnTo>
                </a:path>
              </a:pathLst>
            </a:custGeom>
            <a:ln w="25400">
              <a:solidFill>
                <a:srgbClr val="EDEB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915403" y="3827525"/>
              <a:ext cx="106680" cy="55244"/>
            </a:xfrm>
            <a:custGeom>
              <a:avLst/>
              <a:gdLst/>
              <a:ahLst/>
              <a:cxnLst/>
              <a:rect l="l" t="t" r="r" b="b"/>
              <a:pathLst>
                <a:path w="106679" h="55245">
                  <a:moveTo>
                    <a:pt x="0" y="0"/>
                  </a:moveTo>
                  <a:lnTo>
                    <a:pt x="106172" y="55118"/>
                  </a:lnTo>
                </a:path>
              </a:pathLst>
            </a:custGeom>
            <a:ln w="25400">
              <a:solidFill>
                <a:srgbClr val="EDEB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163815" y="3382137"/>
              <a:ext cx="57150" cy="107314"/>
            </a:xfrm>
            <a:custGeom>
              <a:avLst/>
              <a:gdLst/>
              <a:ahLst/>
              <a:cxnLst/>
              <a:rect l="l" t="t" r="r" b="b"/>
              <a:pathLst>
                <a:path w="57150" h="107314">
                  <a:moveTo>
                    <a:pt x="0" y="106807"/>
                  </a:moveTo>
                  <a:lnTo>
                    <a:pt x="56768" y="0"/>
                  </a:lnTo>
                </a:path>
              </a:pathLst>
            </a:custGeom>
            <a:ln w="25400">
              <a:solidFill>
                <a:srgbClr val="EDEB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517385" y="2217419"/>
              <a:ext cx="1393190" cy="1426845"/>
            </a:xfrm>
            <a:custGeom>
              <a:avLst/>
              <a:gdLst/>
              <a:ahLst/>
              <a:cxnLst/>
              <a:rect l="l" t="t" r="r" b="b"/>
              <a:pathLst>
                <a:path w="1393190" h="1426845">
                  <a:moveTo>
                    <a:pt x="621411" y="1189735"/>
                  </a:moveTo>
                  <a:lnTo>
                    <a:pt x="727583" y="1244727"/>
                  </a:lnTo>
                </a:path>
                <a:path w="1393190" h="1426845">
                  <a:moveTo>
                    <a:pt x="994283" y="106806"/>
                  </a:moveTo>
                  <a:lnTo>
                    <a:pt x="1051052" y="0"/>
                  </a:lnTo>
                </a:path>
                <a:path w="1393190" h="1426845">
                  <a:moveTo>
                    <a:pt x="969264" y="25018"/>
                  </a:moveTo>
                  <a:lnTo>
                    <a:pt x="1075436" y="80137"/>
                  </a:lnTo>
                </a:path>
                <a:path w="1393190" h="1426845">
                  <a:moveTo>
                    <a:pt x="25019" y="535177"/>
                  </a:moveTo>
                  <a:lnTo>
                    <a:pt x="81788" y="428370"/>
                  </a:lnTo>
                </a:path>
                <a:path w="1393190" h="1426845">
                  <a:moveTo>
                    <a:pt x="0" y="453389"/>
                  </a:moveTo>
                  <a:lnTo>
                    <a:pt x="106172" y="508380"/>
                  </a:lnTo>
                </a:path>
                <a:path w="1393190" h="1426845">
                  <a:moveTo>
                    <a:pt x="1311783" y="1426336"/>
                  </a:moveTo>
                  <a:lnTo>
                    <a:pt x="1368552" y="1319529"/>
                  </a:lnTo>
                </a:path>
                <a:path w="1393190" h="1426845">
                  <a:moveTo>
                    <a:pt x="1286764" y="1344421"/>
                  </a:moveTo>
                  <a:lnTo>
                    <a:pt x="1392936" y="1399539"/>
                  </a:lnTo>
                </a:path>
              </a:pathLst>
            </a:custGeom>
            <a:ln w="25400">
              <a:solidFill>
                <a:srgbClr val="EDEB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95108" y="3461638"/>
              <a:ext cx="89916" cy="137413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7711947" y="3519931"/>
              <a:ext cx="50800" cy="83185"/>
            </a:xfrm>
            <a:custGeom>
              <a:avLst/>
              <a:gdLst/>
              <a:ahLst/>
              <a:cxnLst/>
              <a:rect l="l" t="t" r="r" b="b"/>
              <a:pathLst>
                <a:path w="50800" h="83185">
                  <a:moveTo>
                    <a:pt x="17399" y="0"/>
                  </a:moveTo>
                  <a:lnTo>
                    <a:pt x="15621" y="634"/>
                  </a:lnTo>
                  <a:lnTo>
                    <a:pt x="0" y="15112"/>
                  </a:lnTo>
                  <a:lnTo>
                    <a:pt x="1397" y="16637"/>
                  </a:lnTo>
                  <a:lnTo>
                    <a:pt x="3428" y="14731"/>
                  </a:lnTo>
                  <a:lnTo>
                    <a:pt x="5206" y="13588"/>
                  </a:lnTo>
                  <a:lnTo>
                    <a:pt x="7493" y="12826"/>
                  </a:lnTo>
                  <a:lnTo>
                    <a:pt x="8381" y="12826"/>
                  </a:lnTo>
                  <a:lnTo>
                    <a:pt x="29082" y="70865"/>
                  </a:lnTo>
                  <a:lnTo>
                    <a:pt x="29718" y="73659"/>
                  </a:lnTo>
                  <a:lnTo>
                    <a:pt x="29463" y="75818"/>
                  </a:lnTo>
                  <a:lnTo>
                    <a:pt x="28955" y="76707"/>
                  </a:lnTo>
                  <a:lnTo>
                    <a:pt x="27177" y="78358"/>
                  </a:lnTo>
                  <a:lnTo>
                    <a:pt x="25019" y="79375"/>
                  </a:lnTo>
                  <a:lnTo>
                    <a:pt x="21462" y="80517"/>
                  </a:lnTo>
                  <a:lnTo>
                    <a:pt x="22098" y="82676"/>
                  </a:lnTo>
                  <a:lnTo>
                    <a:pt x="50419" y="74040"/>
                  </a:lnTo>
                  <a:lnTo>
                    <a:pt x="49783" y="71881"/>
                  </a:lnTo>
                  <a:lnTo>
                    <a:pt x="46354" y="72897"/>
                  </a:lnTo>
                  <a:lnTo>
                    <a:pt x="43942" y="73278"/>
                  </a:lnTo>
                  <a:lnTo>
                    <a:pt x="41401" y="72897"/>
                  </a:lnTo>
                  <a:lnTo>
                    <a:pt x="40385" y="72262"/>
                  </a:lnTo>
                  <a:lnTo>
                    <a:pt x="39116" y="70357"/>
                  </a:lnTo>
                  <a:lnTo>
                    <a:pt x="38100" y="67817"/>
                  </a:lnTo>
                  <a:lnTo>
                    <a:pt x="17399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15867" y="2028443"/>
              <a:ext cx="2142743" cy="2029967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3771137" y="2928365"/>
              <a:ext cx="443865" cy="421005"/>
            </a:xfrm>
            <a:custGeom>
              <a:avLst/>
              <a:gdLst/>
              <a:ahLst/>
              <a:cxnLst/>
              <a:rect l="l" t="t" r="r" b="b"/>
              <a:pathLst>
                <a:path w="443864" h="421004">
                  <a:moveTo>
                    <a:pt x="0" y="420624"/>
                  </a:moveTo>
                  <a:lnTo>
                    <a:pt x="443484" y="420624"/>
                  </a:lnTo>
                  <a:lnTo>
                    <a:pt x="443484" y="0"/>
                  </a:lnTo>
                  <a:lnTo>
                    <a:pt x="0" y="0"/>
                  </a:lnTo>
                  <a:lnTo>
                    <a:pt x="0" y="420624"/>
                  </a:lnTo>
                  <a:close/>
                </a:path>
              </a:pathLst>
            </a:custGeom>
            <a:ln w="25907">
              <a:solidFill>
                <a:srgbClr val="EDEB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949445" y="2312669"/>
              <a:ext cx="1260475" cy="1333500"/>
            </a:xfrm>
            <a:custGeom>
              <a:avLst/>
              <a:gdLst/>
              <a:ahLst/>
              <a:cxnLst/>
              <a:rect l="l" t="t" r="r" b="b"/>
              <a:pathLst>
                <a:path w="1260475" h="1333500">
                  <a:moveTo>
                    <a:pt x="0" y="826007"/>
                  </a:moveTo>
                  <a:lnTo>
                    <a:pt x="73025" y="899032"/>
                  </a:lnTo>
                </a:path>
                <a:path w="1260475" h="1333500">
                  <a:moveTo>
                    <a:pt x="73025" y="826007"/>
                  </a:moveTo>
                  <a:lnTo>
                    <a:pt x="1524" y="899032"/>
                  </a:lnTo>
                </a:path>
                <a:path w="1260475" h="1333500">
                  <a:moveTo>
                    <a:pt x="36575" y="35051"/>
                  </a:moveTo>
                  <a:lnTo>
                    <a:pt x="109600" y="108076"/>
                  </a:lnTo>
                </a:path>
                <a:path w="1260475" h="1333500">
                  <a:moveTo>
                    <a:pt x="109600" y="35051"/>
                  </a:moveTo>
                  <a:lnTo>
                    <a:pt x="38100" y="108076"/>
                  </a:lnTo>
                </a:path>
                <a:path w="1260475" h="1333500">
                  <a:moveTo>
                    <a:pt x="323088" y="321563"/>
                  </a:moveTo>
                  <a:lnTo>
                    <a:pt x="396113" y="394588"/>
                  </a:lnTo>
                </a:path>
                <a:path w="1260475" h="1333500">
                  <a:moveTo>
                    <a:pt x="396113" y="321563"/>
                  </a:moveTo>
                  <a:lnTo>
                    <a:pt x="324612" y="394588"/>
                  </a:lnTo>
                </a:path>
                <a:path w="1260475" h="1333500">
                  <a:moveTo>
                    <a:pt x="1187195" y="897635"/>
                  </a:moveTo>
                  <a:lnTo>
                    <a:pt x="1260220" y="970660"/>
                  </a:lnTo>
                </a:path>
                <a:path w="1260475" h="1333500">
                  <a:moveTo>
                    <a:pt x="1260220" y="897635"/>
                  </a:moveTo>
                  <a:lnTo>
                    <a:pt x="1188719" y="970660"/>
                  </a:lnTo>
                </a:path>
                <a:path w="1260475" h="1333500">
                  <a:moveTo>
                    <a:pt x="934212" y="1260347"/>
                  </a:moveTo>
                  <a:lnTo>
                    <a:pt x="1007237" y="1333372"/>
                  </a:lnTo>
                </a:path>
                <a:path w="1260475" h="1333500">
                  <a:moveTo>
                    <a:pt x="1007237" y="1260347"/>
                  </a:moveTo>
                  <a:lnTo>
                    <a:pt x="935736" y="1333372"/>
                  </a:lnTo>
                </a:path>
                <a:path w="1260475" h="1333500">
                  <a:moveTo>
                    <a:pt x="1078991" y="0"/>
                  </a:moveTo>
                  <a:lnTo>
                    <a:pt x="1152016" y="73025"/>
                  </a:lnTo>
                </a:path>
                <a:path w="1260475" h="1333500">
                  <a:moveTo>
                    <a:pt x="1152016" y="0"/>
                  </a:moveTo>
                  <a:lnTo>
                    <a:pt x="1080515" y="73025"/>
                  </a:lnTo>
                </a:path>
              </a:pathLst>
            </a:custGeom>
            <a:ln w="25908">
              <a:solidFill>
                <a:srgbClr val="EDEB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4002278" y="3094736"/>
            <a:ext cx="2438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i="1" spc="5" dirty="0">
                <a:solidFill>
                  <a:srgbClr val="EDEBE0"/>
                </a:solidFill>
                <a:latin typeface="Times New Roman"/>
                <a:cs typeface="Times New Roman"/>
              </a:rPr>
              <a:t>A</a:t>
            </a:r>
            <a:r>
              <a:rPr sz="1350" spc="7" baseline="-21604" dirty="0">
                <a:solidFill>
                  <a:srgbClr val="EDEBE0"/>
                </a:solidFill>
                <a:latin typeface="Times New Roman"/>
                <a:cs typeface="Times New Roman"/>
              </a:rPr>
              <a:t>1</a:t>
            </a:r>
            <a:endParaRPr sz="1350" baseline="-21604">
              <a:latin typeface="Times New Roman"/>
              <a:cs typeface="Times New Roman"/>
            </a:endParaRPr>
          </a:p>
        </p:txBody>
      </p:sp>
      <p:pic>
        <p:nvPicPr>
          <p:cNvPr id="82" name="object 8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591686" y="6000925"/>
            <a:ext cx="1357594" cy="250053"/>
          </a:xfrm>
          <a:prstGeom prst="rect">
            <a:avLst/>
          </a:prstGeom>
        </p:spPr>
      </p:pic>
      <p:grpSp>
        <p:nvGrpSpPr>
          <p:cNvPr id="83" name="object 83"/>
          <p:cNvGrpSpPr/>
          <p:nvPr/>
        </p:nvGrpSpPr>
        <p:grpSpPr>
          <a:xfrm>
            <a:off x="3972686" y="3150107"/>
            <a:ext cx="4199255" cy="1635760"/>
            <a:chOff x="3972686" y="3150107"/>
            <a:chExt cx="4199255" cy="1635760"/>
          </a:xfrm>
        </p:grpSpPr>
        <p:sp>
          <p:nvSpPr>
            <p:cNvPr id="84" name="object 84"/>
            <p:cNvSpPr/>
            <p:nvPr/>
          </p:nvSpPr>
          <p:spPr>
            <a:xfrm>
              <a:off x="4207001" y="3160013"/>
              <a:ext cx="3395979" cy="511175"/>
            </a:xfrm>
            <a:custGeom>
              <a:avLst/>
              <a:gdLst/>
              <a:ahLst/>
              <a:cxnLst/>
              <a:rect l="l" t="t" r="r" b="b"/>
              <a:pathLst>
                <a:path w="3395979" h="511175">
                  <a:moveTo>
                    <a:pt x="0" y="0"/>
                  </a:moveTo>
                  <a:lnTo>
                    <a:pt x="3395726" y="511175"/>
                  </a:lnTo>
                </a:path>
              </a:pathLst>
            </a:custGeom>
            <a:ln w="1981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972687" y="3398138"/>
              <a:ext cx="4199255" cy="1387475"/>
            </a:xfrm>
            <a:custGeom>
              <a:avLst/>
              <a:gdLst/>
              <a:ahLst/>
              <a:cxnLst/>
              <a:rect l="l" t="t" r="r" b="b"/>
              <a:pathLst>
                <a:path w="4199255" h="1387475">
                  <a:moveTo>
                    <a:pt x="86487" y="1194943"/>
                  </a:moveTo>
                  <a:lnTo>
                    <a:pt x="60579" y="1195705"/>
                  </a:lnTo>
                  <a:lnTo>
                    <a:pt x="25908" y="0"/>
                  </a:lnTo>
                  <a:lnTo>
                    <a:pt x="0" y="762"/>
                  </a:lnTo>
                  <a:lnTo>
                    <a:pt x="34671" y="1196467"/>
                  </a:lnTo>
                  <a:lnTo>
                    <a:pt x="8763" y="1197229"/>
                  </a:lnTo>
                  <a:lnTo>
                    <a:pt x="49784" y="1273810"/>
                  </a:lnTo>
                  <a:lnTo>
                    <a:pt x="79743" y="1209421"/>
                  </a:lnTo>
                  <a:lnTo>
                    <a:pt x="86487" y="1194943"/>
                  </a:lnTo>
                  <a:close/>
                </a:path>
                <a:path w="4199255" h="1387475">
                  <a:moveTo>
                    <a:pt x="4199128" y="1303274"/>
                  </a:moveTo>
                  <a:lnTo>
                    <a:pt x="4173791" y="1308430"/>
                  </a:lnTo>
                  <a:lnTo>
                    <a:pt x="4004183" y="476631"/>
                  </a:lnTo>
                  <a:lnTo>
                    <a:pt x="3978783" y="481711"/>
                  </a:lnTo>
                  <a:lnTo>
                    <a:pt x="4148378" y="1313599"/>
                  </a:lnTo>
                  <a:lnTo>
                    <a:pt x="4122928" y="1318768"/>
                  </a:lnTo>
                  <a:lnTo>
                    <a:pt x="4176522" y="1387221"/>
                  </a:lnTo>
                  <a:lnTo>
                    <a:pt x="4192892" y="1326388"/>
                  </a:lnTo>
                  <a:lnTo>
                    <a:pt x="4199128" y="1303274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4777866" y="5416493"/>
            <a:ext cx="721360" cy="38735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90"/>
              </a:spcBef>
            </a:pPr>
            <a:r>
              <a:rPr sz="1000" b="1" i="1" spc="-5" dirty="0">
                <a:latin typeface="Trebuchet MS"/>
                <a:cs typeface="Trebuchet MS"/>
              </a:rPr>
              <a:t>ejm.</a:t>
            </a:r>
            <a:r>
              <a:rPr sz="1000" b="1" i="1" spc="-10" dirty="0">
                <a:latin typeface="Trebuchet MS"/>
                <a:cs typeface="Trebuchet MS"/>
              </a:rPr>
              <a:t> </a:t>
            </a:r>
            <a:r>
              <a:rPr sz="1000" b="1" spc="-10" dirty="0">
                <a:latin typeface="Trebuchet MS"/>
                <a:cs typeface="Trebuchet MS"/>
              </a:rPr>
              <a:t>c</a:t>
            </a:r>
            <a:r>
              <a:rPr sz="1000" b="1" spc="-5" dirty="0">
                <a:latin typeface="Trebuchet MS"/>
                <a:cs typeface="Trebuchet MS"/>
              </a:rPr>
              <a:t>o</a:t>
            </a:r>
            <a:r>
              <a:rPr sz="1000" b="1" spc="-10" dirty="0">
                <a:latin typeface="Trebuchet MS"/>
                <a:cs typeface="Trebuchet MS"/>
              </a:rPr>
              <a:t>l</a:t>
            </a:r>
            <a:r>
              <a:rPr sz="1000" b="1" spc="-5" dirty="0">
                <a:latin typeface="Trebuchet MS"/>
                <a:cs typeface="Trebuchet MS"/>
              </a:rPr>
              <a:t>or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descriptor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953504" y="5398549"/>
            <a:ext cx="659130" cy="40259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245"/>
              </a:spcBef>
            </a:pPr>
            <a:r>
              <a:rPr sz="1000" b="1" i="1" spc="-5" dirty="0">
                <a:latin typeface="Trebuchet MS"/>
                <a:cs typeface="Trebuchet MS"/>
              </a:rPr>
              <a:t>ejm.</a:t>
            </a:r>
            <a:r>
              <a:rPr sz="1000" b="1" i="1" spc="-10" dirty="0">
                <a:latin typeface="Trebuchet MS"/>
                <a:cs typeface="Trebuchet MS"/>
              </a:rPr>
              <a:t> </a:t>
            </a:r>
            <a:r>
              <a:rPr sz="1000" b="1" spc="-15" dirty="0">
                <a:latin typeface="Trebuchet MS"/>
                <a:cs typeface="Trebuchet MS"/>
              </a:rPr>
              <a:t>c</a:t>
            </a:r>
            <a:r>
              <a:rPr sz="1000" b="1" spc="-5" dirty="0">
                <a:latin typeface="Trebuchet MS"/>
                <a:cs typeface="Trebuchet MS"/>
              </a:rPr>
              <a:t>o</a:t>
            </a:r>
            <a:r>
              <a:rPr sz="1000" b="1" spc="-15" dirty="0">
                <a:latin typeface="Trebuchet MS"/>
                <a:cs typeface="Trebuchet MS"/>
              </a:rPr>
              <a:t>l</a:t>
            </a:r>
            <a:r>
              <a:rPr sz="1000" b="1" spc="-5" dirty="0">
                <a:latin typeface="Trebuchet MS"/>
                <a:cs typeface="Trebuchet MS"/>
              </a:rPr>
              <a:t>or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descriptor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242305" y="6624319"/>
            <a:ext cx="22402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7E7E7E"/>
                </a:solidFill>
                <a:latin typeface="Calibri"/>
                <a:cs typeface="Calibri"/>
              </a:rPr>
              <a:t>[Bastian</a:t>
            </a:r>
            <a:r>
              <a:rPr sz="10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7E7E7E"/>
                </a:solidFill>
                <a:latin typeface="Calibri"/>
                <a:cs typeface="Calibri"/>
              </a:rPr>
              <a:t>Leibe</a:t>
            </a:r>
            <a:r>
              <a:rPr sz="10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7E7E7E"/>
                </a:solidFill>
                <a:latin typeface="Calibri"/>
                <a:cs typeface="Calibri"/>
              </a:rPr>
              <a:t>@</a:t>
            </a:r>
            <a:r>
              <a:rPr sz="10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7E7E7E"/>
                </a:solidFill>
                <a:latin typeface="Calibri"/>
                <a:cs typeface="Calibri"/>
              </a:rPr>
              <a:t>RWTH</a:t>
            </a:r>
            <a:r>
              <a:rPr sz="10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7E7E7E"/>
                </a:solidFill>
                <a:latin typeface="Calibri"/>
                <a:cs typeface="Calibri"/>
              </a:rPr>
              <a:t>Aachen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7E7E7E"/>
                </a:solidFill>
                <a:latin typeface="Calibri"/>
                <a:cs typeface="Calibri"/>
              </a:rPr>
              <a:t>University]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89" name="Picture 4">
            <a:extLst>
              <a:ext uri="{FF2B5EF4-FFF2-40B4-BE49-F238E27FC236}">
                <a16:creationId xmlns:a16="http://schemas.microsoft.com/office/drawing/2014/main" id="{72E9832F-A5D1-FD59-86A6-0EE0D1E48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6" descr="Ingeniería de Sistemas - UNCP">
            <a:extLst>
              <a:ext uri="{FF2B5EF4-FFF2-40B4-BE49-F238E27FC236}">
                <a16:creationId xmlns:a16="http://schemas.microsoft.com/office/drawing/2014/main" id="{3202170E-3C31-02F1-6358-86F72127C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3121" y="260350"/>
            <a:ext cx="18586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</a:t>
            </a:r>
            <a:r>
              <a:rPr spc="-30" dirty="0"/>
              <a:t>e</a:t>
            </a:r>
            <a:r>
              <a:rPr spc="-35" dirty="0"/>
              <a:t>t</a:t>
            </a:r>
            <a:r>
              <a:rPr spc="-5" dirty="0"/>
              <a:t>ec</a:t>
            </a:r>
            <a:r>
              <a:rPr spc="-35" dirty="0"/>
              <a:t>t</a:t>
            </a:r>
            <a:r>
              <a:rPr dirty="0"/>
              <a:t>o</a:t>
            </a:r>
            <a:r>
              <a:rPr spc="-30" dirty="0"/>
              <a:t>r</a:t>
            </a:r>
            <a:r>
              <a:rPr spc="-5" dirty="0"/>
              <a:t>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6134100" cy="1384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205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¿Qué</a:t>
            </a: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es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un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buen</a:t>
            </a: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detector?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Un</a:t>
            </a:r>
            <a:r>
              <a:rPr sz="2000" spc="-10" dirty="0">
                <a:latin typeface="Calibri"/>
                <a:cs typeface="Calibri"/>
              </a:rPr>
              <a:t> detector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debe ser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fácilmente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reconocible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(“invariante”)</a:t>
            </a:r>
            <a:endParaRPr sz="18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1800" spc="2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¿Qué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regiones</a:t>
            </a:r>
            <a:r>
              <a:rPr sz="1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son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más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 fácilmente</a:t>
            </a:r>
            <a:r>
              <a:rPr sz="1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identificables?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532" y="2709672"/>
            <a:ext cx="3672840" cy="34122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5691" y="2711195"/>
            <a:ext cx="3628644" cy="34122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02942" y="2457704"/>
            <a:ext cx="7854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Imagen</a:t>
            </a:r>
            <a:r>
              <a:rPr sz="1600" spc="-8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65772" y="2454910"/>
            <a:ext cx="7854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Imagen</a:t>
            </a:r>
            <a:r>
              <a:rPr sz="1600" spc="-8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02942" y="6078423"/>
            <a:ext cx="1428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17342" y="6078423"/>
            <a:ext cx="1358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B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31996" y="6078423"/>
            <a:ext cx="1339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C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19673" y="6078423"/>
            <a:ext cx="1428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34073" y="6078423"/>
            <a:ext cx="1358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B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48855" y="6078423"/>
            <a:ext cx="1339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C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113276" y="6300215"/>
            <a:ext cx="361315" cy="317500"/>
            <a:chOff x="4113276" y="6300215"/>
            <a:chExt cx="361315" cy="31750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3276" y="6300215"/>
              <a:ext cx="361188" cy="31696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67124" y="6328447"/>
              <a:ext cx="254762" cy="22466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167124" y="6328447"/>
              <a:ext cx="255270" cy="224790"/>
            </a:xfrm>
            <a:custGeom>
              <a:avLst/>
              <a:gdLst/>
              <a:ahLst/>
              <a:cxnLst/>
              <a:rect l="l" t="t" r="r" b="b"/>
              <a:pathLst>
                <a:path w="255270" h="224790">
                  <a:moveTo>
                    <a:pt x="114046" y="224663"/>
                  </a:moveTo>
                  <a:lnTo>
                    <a:pt x="63626" y="129120"/>
                  </a:lnTo>
                  <a:lnTo>
                    <a:pt x="0" y="162712"/>
                  </a:lnTo>
                  <a:lnTo>
                    <a:pt x="76962" y="0"/>
                  </a:lnTo>
                  <a:lnTo>
                    <a:pt x="254762" y="28359"/>
                  </a:lnTo>
                  <a:lnTo>
                    <a:pt x="191008" y="61950"/>
                  </a:lnTo>
                  <a:lnTo>
                    <a:pt x="241426" y="157492"/>
                  </a:lnTo>
                  <a:lnTo>
                    <a:pt x="114046" y="224663"/>
                  </a:lnTo>
                  <a:close/>
                </a:path>
              </a:pathLst>
            </a:custGeom>
            <a:ln w="9525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7458456" y="6263640"/>
            <a:ext cx="361315" cy="317500"/>
            <a:chOff x="7458456" y="6263640"/>
            <a:chExt cx="361315" cy="317500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58456" y="6263640"/>
              <a:ext cx="361188" cy="31696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12050" y="6291376"/>
              <a:ext cx="254761" cy="22466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512050" y="6291376"/>
              <a:ext cx="255270" cy="224790"/>
            </a:xfrm>
            <a:custGeom>
              <a:avLst/>
              <a:gdLst/>
              <a:ahLst/>
              <a:cxnLst/>
              <a:rect l="l" t="t" r="r" b="b"/>
              <a:pathLst>
                <a:path w="255270" h="224790">
                  <a:moveTo>
                    <a:pt x="114046" y="224662"/>
                  </a:moveTo>
                  <a:lnTo>
                    <a:pt x="63753" y="129120"/>
                  </a:lnTo>
                  <a:lnTo>
                    <a:pt x="0" y="162712"/>
                  </a:lnTo>
                  <a:lnTo>
                    <a:pt x="77089" y="0"/>
                  </a:lnTo>
                  <a:lnTo>
                    <a:pt x="254761" y="28359"/>
                  </a:lnTo>
                  <a:lnTo>
                    <a:pt x="191134" y="61950"/>
                  </a:lnTo>
                  <a:lnTo>
                    <a:pt x="241553" y="157492"/>
                  </a:lnTo>
                  <a:lnTo>
                    <a:pt x="114046" y="224662"/>
                  </a:lnTo>
                  <a:close/>
                </a:path>
              </a:pathLst>
            </a:custGeom>
            <a:ln w="952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6A8CB41A-16BC-C184-A19E-03A6CA129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Ingeniería de Sistemas - UNCP">
            <a:extLst>
              <a:ext uri="{FF2B5EF4-FFF2-40B4-BE49-F238E27FC236}">
                <a16:creationId xmlns:a16="http://schemas.microsoft.com/office/drawing/2014/main" id="{372A3537-3960-8B9B-74B7-941426451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3121" y="260350"/>
            <a:ext cx="18586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</a:t>
            </a:r>
            <a:r>
              <a:rPr spc="-30" dirty="0"/>
              <a:t>e</a:t>
            </a:r>
            <a:r>
              <a:rPr spc="-35" dirty="0"/>
              <a:t>t</a:t>
            </a:r>
            <a:r>
              <a:rPr spc="-5" dirty="0"/>
              <a:t>ec</a:t>
            </a:r>
            <a:r>
              <a:rPr spc="-35" dirty="0"/>
              <a:t>t</a:t>
            </a:r>
            <a:r>
              <a:rPr dirty="0"/>
              <a:t>o</a:t>
            </a:r>
            <a:r>
              <a:rPr spc="-30" dirty="0"/>
              <a:t>r</a:t>
            </a:r>
            <a:r>
              <a:rPr spc="-5" dirty="0"/>
              <a:t>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6657975" cy="2042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6570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Tipos</a:t>
            </a:r>
            <a:r>
              <a:rPr sz="2400" b="1" spc="-3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Puntos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 Interés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Esquina</a:t>
            </a:r>
            <a:r>
              <a:rPr sz="2000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AF50"/>
                </a:solidFill>
                <a:latin typeface="Calibri"/>
                <a:cs typeface="Calibri"/>
              </a:rPr>
              <a:t>(“</a:t>
            </a:r>
            <a:r>
              <a:rPr sz="1800" b="1" i="1" spc="-5" dirty="0">
                <a:solidFill>
                  <a:srgbClr val="00AF50"/>
                </a:solidFill>
                <a:latin typeface="Calibri"/>
                <a:cs typeface="Calibri"/>
              </a:rPr>
              <a:t>corner</a:t>
            </a:r>
            <a:r>
              <a:rPr sz="1800" spc="-5" dirty="0">
                <a:solidFill>
                  <a:srgbClr val="00AF50"/>
                </a:solidFill>
                <a:latin typeface="Calibri"/>
                <a:cs typeface="Calibri"/>
              </a:rPr>
              <a:t>”)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10" dirty="0">
                <a:latin typeface="Calibri"/>
                <a:cs typeface="Calibri"/>
              </a:rPr>
              <a:t> intersección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dos </a:t>
            </a:r>
            <a:r>
              <a:rPr sz="1800" dirty="0">
                <a:latin typeface="Calibri"/>
                <a:cs typeface="Calibri"/>
              </a:rPr>
              <a:t>o más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bordes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Tienen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alta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exactitud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localización</a:t>
            </a:r>
            <a:r>
              <a:rPr sz="1800" spc="6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(adecuados</a:t>
            </a:r>
            <a:r>
              <a:rPr sz="16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para</a:t>
            </a:r>
            <a:r>
              <a:rPr sz="16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odometría</a:t>
            </a:r>
            <a:r>
              <a:rPr sz="16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visual)</a:t>
            </a:r>
            <a:endParaRPr sz="16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Son </a:t>
            </a:r>
            <a:r>
              <a:rPr sz="1800" dirty="0">
                <a:latin typeface="Calibri"/>
                <a:cs typeface="Calibri"/>
              </a:rPr>
              <a:t>menos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distinguibles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“blobs”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202" y="5958332"/>
            <a:ext cx="6758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3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Detectores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esquinas: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Moravec,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Harris,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Shi-Tomasi,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SUSAN,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60" dirty="0">
                <a:latin typeface="Calibri"/>
                <a:cs typeface="Calibri"/>
              </a:rPr>
              <a:t>FAST,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8564" y="3212592"/>
            <a:ext cx="3166872" cy="250240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A7E6CDA9-E9CD-D78C-3895-F29187C44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B786963F-8B78-5D76-1A69-E300A89C3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3121" y="260350"/>
            <a:ext cx="18586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</a:t>
            </a:r>
            <a:r>
              <a:rPr spc="-30" dirty="0"/>
              <a:t>e</a:t>
            </a:r>
            <a:r>
              <a:rPr spc="-35" dirty="0"/>
              <a:t>t</a:t>
            </a:r>
            <a:r>
              <a:rPr spc="-5" dirty="0"/>
              <a:t>ec</a:t>
            </a:r>
            <a:r>
              <a:rPr spc="-35" dirty="0"/>
              <a:t>t</a:t>
            </a:r>
            <a:r>
              <a:rPr dirty="0"/>
              <a:t>o</a:t>
            </a:r>
            <a:r>
              <a:rPr spc="-30" dirty="0"/>
              <a:t>r</a:t>
            </a:r>
            <a:r>
              <a:rPr spc="-5" dirty="0"/>
              <a:t>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8237220" cy="1988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" algn="ctr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Tipos</a:t>
            </a:r>
            <a:r>
              <a:rPr sz="2400" b="1" spc="-3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Puntos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 Interés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Esquina</a:t>
            </a:r>
            <a:r>
              <a:rPr sz="2000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AF50"/>
                </a:solidFill>
                <a:latin typeface="Calibri"/>
                <a:cs typeface="Calibri"/>
              </a:rPr>
              <a:t>(“</a:t>
            </a:r>
            <a:r>
              <a:rPr sz="1800" b="1" i="1" spc="-5" dirty="0">
                <a:solidFill>
                  <a:srgbClr val="00AF50"/>
                </a:solidFill>
                <a:latin typeface="Calibri"/>
                <a:cs typeface="Calibri"/>
              </a:rPr>
              <a:t>corner</a:t>
            </a:r>
            <a:r>
              <a:rPr sz="1800" spc="-5" dirty="0">
                <a:solidFill>
                  <a:srgbClr val="00AF50"/>
                </a:solidFill>
                <a:latin typeface="Calibri"/>
                <a:cs typeface="Calibri"/>
              </a:rPr>
              <a:t>”)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Debe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reconocible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localmente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(en</a:t>
            </a:r>
            <a:r>
              <a:rPr sz="16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una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pequeña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ventana)</a:t>
            </a:r>
            <a:endParaRPr sz="1600">
              <a:latin typeface="Calibri"/>
              <a:cs typeface="Calibri"/>
            </a:endParaRPr>
          </a:p>
          <a:p>
            <a:pPr marL="388620" marR="5080" lvl="1" indent="-160020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Un </a:t>
            </a:r>
            <a:r>
              <a:rPr sz="1800" spc="-5" dirty="0">
                <a:latin typeface="Calibri"/>
                <a:cs typeface="Calibri"/>
              </a:rPr>
              <a:t>desplazamiento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ventana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cualquier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dirección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debe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dar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gran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variación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intensidad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63721" y="5350891"/>
            <a:ext cx="14185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6839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No </a:t>
            </a:r>
            <a:r>
              <a:rPr sz="1400" spc="-5" dirty="0">
                <a:latin typeface="Calibri"/>
                <a:cs typeface="Calibri"/>
              </a:rPr>
              <a:t>cambia </a:t>
            </a:r>
            <a:r>
              <a:rPr sz="1400" dirty="0">
                <a:latin typeface="Calibri"/>
                <a:cs typeface="Calibri"/>
              </a:rPr>
              <a:t>en la 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dirección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del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borde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749040" y="3709415"/>
            <a:ext cx="1647825" cy="1647825"/>
            <a:chOff x="3749040" y="3709415"/>
            <a:chExt cx="1647825" cy="16478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79514" y="3848892"/>
              <a:ext cx="1107826" cy="149882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753612" y="3713987"/>
              <a:ext cx="1638300" cy="1638300"/>
            </a:xfrm>
            <a:custGeom>
              <a:avLst/>
              <a:gdLst/>
              <a:ahLst/>
              <a:cxnLst/>
              <a:rect l="l" t="t" r="r" b="b"/>
              <a:pathLst>
                <a:path w="1638300" h="1638300">
                  <a:moveTo>
                    <a:pt x="0" y="1638300"/>
                  </a:moveTo>
                  <a:lnTo>
                    <a:pt x="1638300" y="1638300"/>
                  </a:lnTo>
                  <a:lnTo>
                    <a:pt x="1638300" y="0"/>
                  </a:lnTo>
                  <a:lnTo>
                    <a:pt x="0" y="0"/>
                  </a:lnTo>
                  <a:lnTo>
                    <a:pt x="0" y="16383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37660" y="4479035"/>
              <a:ext cx="489584" cy="487680"/>
            </a:xfrm>
            <a:custGeom>
              <a:avLst/>
              <a:gdLst/>
              <a:ahLst/>
              <a:cxnLst/>
              <a:rect l="l" t="t" r="r" b="b"/>
              <a:pathLst>
                <a:path w="489585" h="487679">
                  <a:moveTo>
                    <a:pt x="489203" y="0"/>
                  </a:moveTo>
                  <a:lnTo>
                    <a:pt x="0" y="0"/>
                  </a:lnTo>
                  <a:lnTo>
                    <a:pt x="0" y="487680"/>
                  </a:lnTo>
                  <a:lnTo>
                    <a:pt x="489203" y="487680"/>
                  </a:lnTo>
                  <a:lnTo>
                    <a:pt x="489203" y="0"/>
                  </a:lnTo>
                  <a:close/>
                </a:path>
              </a:pathLst>
            </a:custGeom>
            <a:solidFill>
              <a:srgbClr val="FFCC99">
                <a:alpha val="3960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37660" y="4479035"/>
              <a:ext cx="489584" cy="487680"/>
            </a:xfrm>
            <a:custGeom>
              <a:avLst/>
              <a:gdLst/>
              <a:ahLst/>
              <a:cxnLst/>
              <a:rect l="l" t="t" r="r" b="b"/>
              <a:pathLst>
                <a:path w="489585" h="487679">
                  <a:moveTo>
                    <a:pt x="0" y="487680"/>
                  </a:moveTo>
                  <a:lnTo>
                    <a:pt x="489203" y="487680"/>
                  </a:lnTo>
                  <a:lnTo>
                    <a:pt x="489203" y="0"/>
                  </a:lnTo>
                  <a:lnTo>
                    <a:pt x="0" y="0"/>
                  </a:lnTo>
                  <a:lnTo>
                    <a:pt x="0" y="48768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36492" y="4532375"/>
              <a:ext cx="76200" cy="380365"/>
            </a:xfrm>
            <a:custGeom>
              <a:avLst/>
              <a:gdLst/>
              <a:ahLst/>
              <a:cxnLst/>
              <a:rect l="l" t="t" r="r" b="b"/>
              <a:pathLst>
                <a:path w="76200" h="380364">
                  <a:moveTo>
                    <a:pt x="31750" y="304038"/>
                  </a:moveTo>
                  <a:lnTo>
                    <a:pt x="0" y="304038"/>
                  </a:lnTo>
                  <a:lnTo>
                    <a:pt x="38100" y="380238"/>
                  </a:lnTo>
                  <a:lnTo>
                    <a:pt x="69850" y="316738"/>
                  </a:lnTo>
                  <a:lnTo>
                    <a:pt x="31750" y="316738"/>
                  </a:lnTo>
                  <a:lnTo>
                    <a:pt x="31750" y="304038"/>
                  </a:lnTo>
                  <a:close/>
                </a:path>
                <a:path w="76200" h="38036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6738"/>
                  </a:lnTo>
                  <a:lnTo>
                    <a:pt x="44450" y="316738"/>
                  </a:lnTo>
                  <a:lnTo>
                    <a:pt x="44450" y="63500"/>
                  </a:lnTo>
                  <a:close/>
                </a:path>
                <a:path w="76200" h="380364">
                  <a:moveTo>
                    <a:pt x="76200" y="304038"/>
                  </a:moveTo>
                  <a:lnTo>
                    <a:pt x="44450" y="304038"/>
                  </a:lnTo>
                  <a:lnTo>
                    <a:pt x="44450" y="316738"/>
                  </a:lnTo>
                  <a:lnTo>
                    <a:pt x="69850" y="316738"/>
                  </a:lnTo>
                  <a:lnTo>
                    <a:pt x="76200" y="304038"/>
                  </a:lnTo>
                  <a:close/>
                </a:path>
                <a:path w="76200" h="38036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8036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184138" y="5350891"/>
            <a:ext cx="14687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 marR="5080" indent="-31242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Cambia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todas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las </a:t>
            </a:r>
            <a:r>
              <a:rPr sz="1400" spc="-3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direcciones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73140" y="3709415"/>
            <a:ext cx="1647825" cy="1647825"/>
            <a:chOff x="6073140" y="3709415"/>
            <a:chExt cx="1647825" cy="164782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03614" y="3848892"/>
              <a:ext cx="1107826" cy="149882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077712" y="3713987"/>
              <a:ext cx="1638300" cy="1638300"/>
            </a:xfrm>
            <a:custGeom>
              <a:avLst/>
              <a:gdLst/>
              <a:ahLst/>
              <a:cxnLst/>
              <a:rect l="l" t="t" r="r" b="b"/>
              <a:pathLst>
                <a:path w="1638300" h="1638300">
                  <a:moveTo>
                    <a:pt x="0" y="1638300"/>
                  </a:moveTo>
                  <a:lnTo>
                    <a:pt x="1638299" y="1638300"/>
                  </a:lnTo>
                  <a:lnTo>
                    <a:pt x="1638299" y="0"/>
                  </a:lnTo>
                  <a:lnTo>
                    <a:pt x="0" y="0"/>
                  </a:lnTo>
                  <a:lnTo>
                    <a:pt x="0" y="16383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69964" y="3934967"/>
              <a:ext cx="489584" cy="489584"/>
            </a:xfrm>
            <a:custGeom>
              <a:avLst/>
              <a:gdLst/>
              <a:ahLst/>
              <a:cxnLst/>
              <a:rect l="l" t="t" r="r" b="b"/>
              <a:pathLst>
                <a:path w="489584" h="489585">
                  <a:moveTo>
                    <a:pt x="489203" y="0"/>
                  </a:moveTo>
                  <a:lnTo>
                    <a:pt x="0" y="0"/>
                  </a:lnTo>
                  <a:lnTo>
                    <a:pt x="0" y="489203"/>
                  </a:lnTo>
                  <a:lnTo>
                    <a:pt x="489203" y="489203"/>
                  </a:lnTo>
                  <a:lnTo>
                    <a:pt x="489203" y="0"/>
                  </a:lnTo>
                  <a:close/>
                </a:path>
              </a:pathLst>
            </a:custGeom>
            <a:solidFill>
              <a:srgbClr val="FFCC99">
                <a:alpha val="3960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569964" y="3934967"/>
              <a:ext cx="489584" cy="489584"/>
            </a:xfrm>
            <a:custGeom>
              <a:avLst/>
              <a:gdLst/>
              <a:ahLst/>
              <a:cxnLst/>
              <a:rect l="l" t="t" r="r" b="b"/>
              <a:pathLst>
                <a:path w="489584" h="489585">
                  <a:moveTo>
                    <a:pt x="0" y="489203"/>
                  </a:moveTo>
                  <a:lnTo>
                    <a:pt x="489203" y="489203"/>
                  </a:lnTo>
                  <a:lnTo>
                    <a:pt x="489203" y="0"/>
                  </a:lnTo>
                  <a:lnTo>
                    <a:pt x="0" y="0"/>
                  </a:lnTo>
                  <a:lnTo>
                    <a:pt x="0" y="48920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6896" y="4419726"/>
              <a:ext cx="167385" cy="16738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6896" y="3771899"/>
              <a:ext cx="167385" cy="16738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54723" y="4419726"/>
              <a:ext cx="167385" cy="16738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54723" y="3771899"/>
              <a:ext cx="167385" cy="167386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791970" y="5350891"/>
            <a:ext cx="10369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 marR="5080" indent="-9779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Igual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todas </a:t>
            </a:r>
            <a:r>
              <a:rPr sz="1400" spc="-30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direcciones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507236" y="3709415"/>
            <a:ext cx="1647825" cy="1647825"/>
            <a:chOff x="1507236" y="3709415"/>
            <a:chExt cx="1647825" cy="1647825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7709" y="3848892"/>
              <a:ext cx="1107826" cy="149882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511808" y="3713987"/>
              <a:ext cx="1638300" cy="1638300"/>
            </a:xfrm>
            <a:custGeom>
              <a:avLst/>
              <a:gdLst/>
              <a:ahLst/>
              <a:cxnLst/>
              <a:rect l="l" t="t" r="r" b="b"/>
              <a:pathLst>
                <a:path w="1638300" h="1638300">
                  <a:moveTo>
                    <a:pt x="0" y="1638300"/>
                  </a:moveTo>
                  <a:lnTo>
                    <a:pt x="1638300" y="1638300"/>
                  </a:lnTo>
                  <a:lnTo>
                    <a:pt x="1638300" y="0"/>
                  </a:lnTo>
                  <a:lnTo>
                    <a:pt x="0" y="0"/>
                  </a:lnTo>
                  <a:lnTo>
                    <a:pt x="0" y="16383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439924" y="4479035"/>
              <a:ext cx="489584" cy="487680"/>
            </a:xfrm>
            <a:custGeom>
              <a:avLst/>
              <a:gdLst/>
              <a:ahLst/>
              <a:cxnLst/>
              <a:rect l="l" t="t" r="r" b="b"/>
              <a:pathLst>
                <a:path w="489585" h="487679">
                  <a:moveTo>
                    <a:pt x="489204" y="0"/>
                  </a:moveTo>
                  <a:lnTo>
                    <a:pt x="0" y="0"/>
                  </a:lnTo>
                  <a:lnTo>
                    <a:pt x="0" y="487680"/>
                  </a:lnTo>
                  <a:lnTo>
                    <a:pt x="489204" y="487680"/>
                  </a:lnTo>
                  <a:lnTo>
                    <a:pt x="489204" y="0"/>
                  </a:lnTo>
                  <a:close/>
                </a:path>
              </a:pathLst>
            </a:custGeom>
            <a:solidFill>
              <a:srgbClr val="FFCC99">
                <a:alpha val="3960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439924" y="4479035"/>
              <a:ext cx="489584" cy="487680"/>
            </a:xfrm>
            <a:custGeom>
              <a:avLst/>
              <a:gdLst/>
              <a:ahLst/>
              <a:cxnLst/>
              <a:rect l="l" t="t" r="r" b="b"/>
              <a:pathLst>
                <a:path w="489585" h="487679">
                  <a:moveTo>
                    <a:pt x="0" y="487680"/>
                  </a:moveTo>
                  <a:lnTo>
                    <a:pt x="489204" y="487680"/>
                  </a:lnTo>
                  <a:lnTo>
                    <a:pt x="489204" y="0"/>
                  </a:lnTo>
                  <a:lnTo>
                    <a:pt x="0" y="0"/>
                  </a:lnTo>
                  <a:lnTo>
                    <a:pt x="0" y="48768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24683" y="4962270"/>
              <a:ext cx="167386" cy="16738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76855" y="4962270"/>
              <a:ext cx="167386" cy="16738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76855" y="4315967"/>
              <a:ext cx="167386" cy="16738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24683" y="4315967"/>
              <a:ext cx="167386" cy="167386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731391" y="3426409"/>
            <a:ext cx="12630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03399"/>
                </a:solidFill>
                <a:latin typeface="Calibri"/>
                <a:cs typeface="Calibri"/>
              </a:rPr>
              <a:t>Región</a:t>
            </a:r>
            <a:r>
              <a:rPr sz="16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3399"/>
                </a:solidFill>
                <a:latin typeface="Calibri"/>
                <a:cs typeface="Calibri"/>
              </a:rPr>
              <a:t>“plana”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  <p:sp>
        <p:nvSpPr>
          <p:cNvPr id="32" name="object 32"/>
          <p:cNvSpPr txBox="1"/>
          <p:nvPr/>
        </p:nvSpPr>
        <p:spPr>
          <a:xfrm>
            <a:off x="4220971" y="3426409"/>
            <a:ext cx="6864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03399"/>
                </a:solidFill>
                <a:latin typeface="Calibri"/>
                <a:cs typeface="Calibri"/>
              </a:rPr>
              <a:t>“Bo</a:t>
            </a:r>
            <a:r>
              <a:rPr sz="1600" spc="-40" dirty="0">
                <a:solidFill>
                  <a:srgbClr val="003399"/>
                </a:solidFill>
                <a:latin typeface="Calibri"/>
                <a:cs typeface="Calibri"/>
              </a:rPr>
              <a:t>r</a:t>
            </a:r>
            <a:r>
              <a:rPr sz="1600" spc="-10" dirty="0">
                <a:solidFill>
                  <a:srgbClr val="003399"/>
                </a:solidFill>
                <a:latin typeface="Calibri"/>
                <a:cs typeface="Calibri"/>
              </a:rPr>
              <a:t>de”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80428" y="3426409"/>
            <a:ext cx="8382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03399"/>
                </a:solidFill>
                <a:latin typeface="Calibri"/>
                <a:cs typeface="Calibri"/>
              </a:rPr>
              <a:t>“Esqu</a:t>
            </a:r>
            <a:r>
              <a:rPr sz="1600" dirty="0">
                <a:solidFill>
                  <a:srgbClr val="003399"/>
                </a:solidFill>
                <a:latin typeface="Calibri"/>
                <a:cs typeface="Calibri"/>
              </a:rPr>
              <a:t>i</a:t>
            </a:r>
            <a:r>
              <a:rPr sz="1600" spc="-10" dirty="0">
                <a:solidFill>
                  <a:srgbClr val="003399"/>
                </a:solidFill>
                <a:latin typeface="Calibri"/>
                <a:cs typeface="Calibri"/>
              </a:rPr>
              <a:t>na”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5" name="Picture 4">
            <a:extLst>
              <a:ext uri="{FF2B5EF4-FFF2-40B4-BE49-F238E27FC236}">
                <a16:creationId xmlns:a16="http://schemas.microsoft.com/office/drawing/2014/main" id="{B1107087-883C-C1A0-A56D-FF39FE8D2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6" descr="Ingeniería de Sistemas - UNCP">
            <a:extLst>
              <a:ext uri="{FF2B5EF4-FFF2-40B4-BE49-F238E27FC236}">
                <a16:creationId xmlns:a16="http://schemas.microsoft.com/office/drawing/2014/main" id="{62E62106-A211-DFC0-67C8-730BA5C19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3121" y="260350"/>
            <a:ext cx="18586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</a:t>
            </a:r>
            <a:r>
              <a:rPr spc="-30" dirty="0"/>
              <a:t>e</a:t>
            </a:r>
            <a:r>
              <a:rPr spc="-35" dirty="0"/>
              <a:t>t</a:t>
            </a:r>
            <a:r>
              <a:rPr spc="-5" dirty="0"/>
              <a:t>ec</a:t>
            </a:r>
            <a:r>
              <a:rPr spc="-35" dirty="0"/>
              <a:t>t</a:t>
            </a:r>
            <a:r>
              <a:rPr dirty="0"/>
              <a:t>o</a:t>
            </a:r>
            <a:r>
              <a:rPr spc="-30" dirty="0"/>
              <a:t>r</a:t>
            </a:r>
            <a:r>
              <a:rPr spc="-5" dirty="0"/>
              <a:t>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8120380" cy="2317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0" algn="ctr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Tipos</a:t>
            </a:r>
            <a:r>
              <a:rPr sz="2400" b="1" spc="-3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Puntos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 Interés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Blob</a:t>
            </a:r>
            <a:endParaRPr sz="2000">
              <a:latin typeface="Calibri"/>
              <a:cs typeface="Calibri"/>
            </a:endParaRPr>
          </a:p>
          <a:p>
            <a:pPr marL="388620" marR="5080" lvl="1" indent="-160020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Es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cualquier</a:t>
            </a:r>
            <a:r>
              <a:rPr sz="1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otro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patrón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 que</a:t>
            </a:r>
            <a:r>
              <a:rPr sz="1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no</a:t>
            </a:r>
            <a:r>
              <a:rPr sz="1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sea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una</a:t>
            </a:r>
            <a:r>
              <a:rPr sz="1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esquina</a:t>
            </a:r>
            <a:r>
              <a:rPr sz="1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y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que</a:t>
            </a:r>
            <a:r>
              <a:rPr sz="1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difiera</a:t>
            </a:r>
            <a:r>
              <a:rPr sz="1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significativamente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 de </a:t>
            </a:r>
            <a:r>
              <a:rPr sz="1800" spc="-3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los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vecinos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Tienen</a:t>
            </a:r>
            <a:r>
              <a:rPr sz="1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menos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exactitud</a:t>
            </a:r>
            <a:r>
              <a:rPr sz="1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1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localización</a:t>
            </a:r>
            <a:r>
              <a:rPr sz="18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(que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las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esquinas)</a:t>
            </a:r>
            <a:endParaRPr sz="16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Son</a:t>
            </a:r>
            <a:r>
              <a:rPr sz="1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más</a:t>
            </a:r>
            <a:r>
              <a:rPr sz="1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distinguibles</a:t>
            </a:r>
            <a:r>
              <a:rPr sz="1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que</a:t>
            </a:r>
            <a:r>
              <a:rPr sz="1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las</a:t>
            </a:r>
            <a:r>
              <a:rPr sz="1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esquinas</a:t>
            </a:r>
            <a:r>
              <a:rPr sz="18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(adecuados</a:t>
            </a:r>
            <a:r>
              <a:rPr sz="16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para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reconocimiento</a:t>
            </a:r>
            <a:r>
              <a:rPr sz="16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6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lugares)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202" y="6122923"/>
            <a:ext cx="5911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1800" spc="3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Detectores</a:t>
            </a:r>
            <a:r>
              <a:rPr sz="1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1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“blobs”: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MSER,</a:t>
            </a:r>
            <a:r>
              <a:rPr sz="1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LOG,</a:t>
            </a:r>
            <a:r>
              <a:rPr sz="1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DoG</a:t>
            </a:r>
            <a:r>
              <a:rPr sz="1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(SIFT),</a:t>
            </a:r>
            <a:r>
              <a:rPr sz="1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SURF,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CenSurE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1820" y="3573779"/>
            <a:ext cx="3072384" cy="223113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994C2893-1DFD-E06C-897F-0B6FF0C7A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EA3812F8-EFC2-6B12-7C95-3F2E5EB8F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3121" y="260350"/>
            <a:ext cx="18586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</a:t>
            </a:r>
            <a:r>
              <a:rPr spc="-30" dirty="0"/>
              <a:t>e</a:t>
            </a:r>
            <a:r>
              <a:rPr spc="-35" dirty="0"/>
              <a:t>t</a:t>
            </a:r>
            <a:r>
              <a:rPr spc="-5" dirty="0"/>
              <a:t>ec</a:t>
            </a:r>
            <a:r>
              <a:rPr spc="-35" dirty="0"/>
              <a:t>t</a:t>
            </a:r>
            <a:r>
              <a:rPr dirty="0"/>
              <a:t>o</a:t>
            </a:r>
            <a:r>
              <a:rPr spc="-30" dirty="0"/>
              <a:t>r</a:t>
            </a:r>
            <a:r>
              <a:rPr spc="-5" dirty="0"/>
              <a:t>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37794" y="922782"/>
            <a:ext cx="6831965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034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Detector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Esquinas</a:t>
            </a:r>
            <a:r>
              <a:rPr sz="2400" b="1" spc="1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Harris/Shi-Tomasi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Algoritmo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03719" y="2060448"/>
            <a:ext cx="1783079" cy="178307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03719" y="4620767"/>
            <a:ext cx="1783079" cy="1783080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  <p:sp>
        <p:nvSpPr>
          <p:cNvPr id="22" name="object 22"/>
          <p:cNvSpPr txBox="1"/>
          <p:nvPr/>
        </p:nvSpPr>
        <p:spPr>
          <a:xfrm>
            <a:off x="7395209" y="6383223"/>
            <a:ext cx="8007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7E7E7E"/>
                </a:solidFill>
                <a:latin typeface="Calibri"/>
                <a:cs typeface="Calibri"/>
              </a:rPr>
              <a:t>Shi-Tomasi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79106" y="3844290"/>
            <a:ext cx="14331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Esquinas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con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Harris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5" name="Picture 4">
            <a:extLst>
              <a:ext uri="{FF2B5EF4-FFF2-40B4-BE49-F238E27FC236}">
                <a16:creationId xmlns:a16="http://schemas.microsoft.com/office/drawing/2014/main" id="{A3AE5ED4-02CB-2AB3-8309-2C79949E1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Ingeniería de Sistemas - UNCP">
            <a:extLst>
              <a:ext uri="{FF2B5EF4-FFF2-40B4-BE49-F238E27FC236}">
                <a16:creationId xmlns:a16="http://schemas.microsoft.com/office/drawing/2014/main" id="{41D9C898-9175-FE45-51C7-CADF78AEF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EE9800F1-5863-D3D9-2A7B-D1F880AEE7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32" y="2236728"/>
            <a:ext cx="5901317" cy="41126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3121" y="260350"/>
            <a:ext cx="18586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</a:t>
            </a:r>
            <a:r>
              <a:rPr spc="-30" dirty="0"/>
              <a:t>e</a:t>
            </a:r>
            <a:r>
              <a:rPr spc="-35" dirty="0"/>
              <a:t>t</a:t>
            </a:r>
            <a:r>
              <a:rPr spc="-5" dirty="0"/>
              <a:t>ec</a:t>
            </a:r>
            <a:r>
              <a:rPr spc="-35" dirty="0"/>
              <a:t>t</a:t>
            </a:r>
            <a:r>
              <a:rPr dirty="0"/>
              <a:t>o</a:t>
            </a:r>
            <a:r>
              <a:rPr spc="-30" dirty="0"/>
              <a:t>r</a:t>
            </a:r>
            <a:r>
              <a:rPr spc="-5" dirty="0"/>
              <a:t>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6831965" cy="1384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034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Detector</a:t>
            </a: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 Esquinas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 de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Harris/Shi-Tomasi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solidFill>
                  <a:srgbClr val="6F2F9F"/>
                </a:solidFill>
                <a:latin typeface="Comic Sans MS"/>
                <a:cs typeface="Comic Sans MS"/>
              </a:rPr>
              <a:t>Ejemplo</a:t>
            </a:r>
            <a:endParaRPr sz="2000">
              <a:latin typeface="Comic Sans MS"/>
              <a:cs typeface="Comic Sans MS"/>
            </a:endParaRPr>
          </a:p>
          <a:p>
            <a:pPr marL="228600">
              <a:lnSpc>
                <a:spcPct val="100000"/>
              </a:lnSpc>
              <a:spcBef>
                <a:spcPts val="415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Esquinas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(en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rojo)</a:t>
            </a:r>
            <a:r>
              <a:rPr sz="1400" spc="8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las</a:t>
            </a:r>
            <a:r>
              <a:rPr sz="1800" spc="-5" dirty="0">
                <a:latin typeface="Calibri"/>
                <a:cs typeface="Calibri"/>
              </a:rPr>
              <a:t> imágenes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202" y="5994908"/>
            <a:ext cx="6724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3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Notar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 </a:t>
            </a:r>
            <a:r>
              <a:rPr sz="1800" spc="-10" dirty="0">
                <a:latin typeface="Calibri"/>
                <a:cs typeface="Calibri"/>
              </a:rPr>
              <a:t>invarianza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cambios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color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10" dirty="0">
                <a:latin typeface="Calibri"/>
                <a:cs typeface="Calibri"/>
              </a:rPr>
              <a:t>transformaciones </a:t>
            </a:r>
            <a:r>
              <a:rPr sz="1800" spc="-5" dirty="0">
                <a:latin typeface="Calibri"/>
                <a:cs typeface="Calibri"/>
              </a:rPr>
              <a:t>geométricas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819" y="2537460"/>
            <a:ext cx="7687056" cy="321106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5AAA783D-88F7-7BB7-7564-0D39EE748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A9645014-72AE-DD2A-994A-864363693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3121" y="260350"/>
            <a:ext cx="18586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</a:t>
            </a:r>
            <a:r>
              <a:rPr spc="-30" dirty="0"/>
              <a:t>e</a:t>
            </a:r>
            <a:r>
              <a:rPr spc="-35" dirty="0"/>
              <a:t>t</a:t>
            </a:r>
            <a:r>
              <a:rPr spc="-5" dirty="0"/>
              <a:t>ec</a:t>
            </a:r>
            <a:r>
              <a:rPr spc="-35" dirty="0"/>
              <a:t>t</a:t>
            </a:r>
            <a:r>
              <a:rPr dirty="0"/>
              <a:t>o</a:t>
            </a:r>
            <a:r>
              <a:rPr spc="-30" dirty="0"/>
              <a:t>r</a:t>
            </a:r>
            <a:r>
              <a:rPr spc="-5" dirty="0"/>
              <a:t>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8229600" cy="2131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4765" algn="ctr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Detector</a:t>
            </a:r>
            <a:r>
              <a:rPr sz="2400" b="1" spc="-2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Blobs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usando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DoG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DoG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(Diferencia</a:t>
            </a:r>
            <a:r>
              <a:rPr sz="18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de Gaussianos)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5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Con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bajos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σ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detecta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características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(cambios</a:t>
            </a:r>
            <a:r>
              <a:rPr sz="14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4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intensidad)</a:t>
            </a:r>
            <a:r>
              <a:rPr sz="1400" spc="1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partes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pequeñas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Con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altos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σ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detecta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características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(cambios</a:t>
            </a:r>
            <a:r>
              <a:rPr sz="14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4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intensidad)</a:t>
            </a:r>
            <a:r>
              <a:rPr sz="1400" spc="1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partes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grandes</a:t>
            </a:r>
            <a:endParaRPr sz="18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88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latin typeface="Calibri"/>
                <a:cs typeface="Calibri"/>
              </a:rPr>
              <a:t>Puntos</a:t>
            </a:r>
            <a:r>
              <a:rPr sz="2000" dirty="0">
                <a:latin typeface="Calibri"/>
                <a:cs typeface="Calibri"/>
              </a:rPr>
              <a:t> de</a:t>
            </a:r>
            <a:r>
              <a:rPr sz="2000" spc="-10" dirty="0">
                <a:latin typeface="Calibri"/>
                <a:cs typeface="Calibri"/>
              </a:rPr>
              <a:t> interés: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máximos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mínimos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locales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consecutivos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(por</a:t>
            </a:r>
            <a:r>
              <a:rPr sz="16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“robustez”)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3054" y="3614263"/>
            <a:ext cx="829543" cy="60516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720171" y="3805332"/>
            <a:ext cx="296545" cy="273050"/>
            <a:chOff x="2720171" y="3805332"/>
            <a:chExt cx="296545" cy="2730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20171" y="3805332"/>
              <a:ext cx="296187" cy="27298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58439" y="3811523"/>
              <a:ext cx="231648" cy="2164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53867" y="3806951"/>
              <a:ext cx="240792" cy="225552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3698710" y="4191253"/>
            <a:ext cx="4131945" cy="1104265"/>
            <a:chOff x="3698710" y="4191253"/>
            <a:chExt cx="4131945" cy="110426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98710" y="4668717"/>
              <a:ext cx="850466" cy="62186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736721" y="4191253"/>
              <a:ext cx="730885" cy="477520"/>
            </a:xfrm>
            <a:custGeom>
              <a:avLst/>
              <a:gdLst/>
              <a:ahLst/>
              <a:cxnLst/>
              <a:rect l="l" t="t" r="r" b="b"/>
              <a:pathLst>
                <a:path w="730885" h="477520">
                  <a:moveTo>
                    <a:pt x="293497" y="477266"/>
                  </a:moveTo>
                  <a:lnTo>
                    <a:pt x="289585" y="428117"/>
                  </a:lnTo>
                  <a:lnTo>
                    <a:pt x="286766" y="392430"/>
                  </a:lnTo>
                  <a:lnTo>
                    <a:pt x="262585" y="407022"/>
                  </a:lnTo>
                  <a:lnTo>
                    <a:pt x="17018" y="0"/>
                  </a:lnTo>
                  <a:lnTo>
                    <a:pt x="0" y="10160"/>
                  </a:lnTo>
                  <a:lnTo>
                    <a:pt x="245643" y="417233"/>
                  </a:lnTo>
                  <a:lnTo>
                    <a:pt x="221488" y="431800"/>
                  </a:lnTo>
                  <a:lnTo>
                    <a:pt x="293497" y="477266"/>
                  </a:lnTo>
                  <a:close/>
                </a:path>
                <a:path w="730885" h="477520">
                  <a:moveTo>
                    <a:pt x="730631" y="18288"/>
                  </a:moveTo>
                  <a:lnTo>
                    <a:pt x="712597" y="10160"/>
                  </a:lnTo>
                  <a:lnTo>
                    <a:pt x="536549" y="403948"/>
                  </a:lnTo>
                  <a:lnTo>
                    <a:pt x="510794" y="392430"/>
                  </a:lnTo>
                  <a:lnTo>
                    <a:pt x="514477" y="477520"/>
                  </a:lnTo>
                  <a:lnTo>
                    <a:pt x="580390" y="423545"/>
                  </a:lnTo>
                  <a:lnTo>
                    <a:pt x="554558" y="412000"/>
                  </a:lnTo>
                  <a:lnTo>
                    <a:pt x="730631" y="18288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04339" y="4657293"/>
              <a:ext cx="839078" cy="62110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89428" y="4675555"/>
              <a:ext cx="849745" cy="61962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86694" y="4672520"/>
              <a:ext cx="843673" cy="620393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4814940" y="5770130"/>
            <a:ext cx="849630" cy="765175"/>
            <a:chOff x="4814940" y="5770130"/>
            <a:chExt cx="849630" cy="765175"/>
          </a:xfrm>
        </p:grpSpPr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14940" y="5923712"/>
              <a:ext cx="849033" cy="61123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15127" y="5770130"/>
              <a:ext cx="76200" cy="246062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5932073" y="5751842"/>
            <a:ext cx="848360" cy="782955"/>
            <a:chOff x="5932073" y="5751842"/>
            <a:chExt cx="848360" cy="782955"/>
          </a:xfrm>
        </p:grpSpPr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32073" y="5924453"/>
              <a:ext cx="848267" cy="60972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41364" y="5751842"/>
              <a:ext cx="76200" cy="246062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3903726" y="4228338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03953" y="4183126"/>
            <a:ext cx="118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-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872101" y="4189729"/>
            <a:ext cx="730885" cy="477520"/>
          </a:xfrm>
          <a:custGeom>
            <a:avLst/>
            <a:gdLst/>
            <a:ahLst/>
            <a:cxnLst/>
            <a:rect l="l" t="t" r="r" b="b"/>
            <a:pathLst>
              <a:path w="730885" h="477520">
                <a:moveTo>
                  <a:pt x="293497" y="477266"/>
                </a:moveTo>
                <a:lnTo>
                  <a:pt x="289585" y="428117"/>
                </a:lnTo>
                <a:lnTo>
                  <a:pt x="286766" y="392430"/>
                </a:lnTo>
                <a:lnTo>
                  <a:pt x="262585" y="407022"/>
                </a:lnTo>
                <a:lnTo>
                  <a:pt x="17018" y="0"/>
                </a:lnTo>
                <a:lnTo>
                  <a:pt x="0" y="10160"/>
                </a:lnTo>
                <a:lnTo>
                  <a:pt x="245643" y="417233"/>
                </a:lnTo>
                <a:lnTo>
                  <a:pt x="221488" y="431800"/>
                </a:lnTo>
                <a:lnTo>
                  <a:pt x="293497" y="477266"/>
                </a:lnTo>
                <a:close/>
              </a:path>
              <a:path w="730885" h="477520">
                <a:moveTo>
                  <a:pt x="730631" y="18288"/>
                </a:moveTo>
                <a:lnTo>
                  <a:pt x="712597" y="10160"/>
                </a:lnTo>
                <a:lnTo>
                  <a:pt x="536549" y="403948"/>
                </a:lnTo>
                <a:lnTo>
                  <a:pt x="510794" y="392430"/>
                </a:lnTo>
                <a:lnTo>
                  <a:pt x="514477" y="477520"/>
                </a:lnTo>
                <a:lnTo>
                  <a:pt x="580390" y="423545"/>
                </a:lnTo>
                <a:lnTo>
                  <a:pt x="554558" y="412000"/>
                </a:lnTo>
                <a:lnTo>
                  <a:pt x="730631" y="18288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039105" y="4226814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39334" y="4181602"/>
            <a:ext cx="118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-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908421" y="4189729"/>
            <a:ext cx="730885" cy="477520"/>
          </a:xfrm>
          <a:custGeom>
            <a:avLst/>
            <a:gdLst/>
            <a:ahLst/>
            <a:cxnLst/>
            <a:rect l="l" t="t" r="r" b="b"/>
            <a:pathLst>
              <a:path w="730884" h="477520">
                <a:moveTo>
                  <a:pt x="293497" y="477266"/>
                </a:moveTo>
                <a:lnTo>
                  <a:pt x="289585" y="428117"/>
                </a:lnTo>
                <a:lnTo>
                  <a:pt x="286766" y="392430"/>
                </a:lnTo>
                <a:lnTo>
                  <a:pt x="262585" y="407022"/>
                </a:lnTo>
                <a:lnTo>
                  <a:pt x="17018" y="0"/>
                </a:lnTo>
                <a:lnTo>
                  <a:pt x="0" y="10160"/>
                </a:lnTo>
                <a:lnTo>
                  <a:pt x="245643" y="417233"/>
                </a:lnTo>
                <a:lnTo>
                  <a:pt x="221488" y="431800"/>
                </a:lnTo>
                <a:lnTo>
                  <a:pt x="293497" y="477266"/>
                </a:lnTo>
                <a:close/>
              </a:path>
              <a:path w="730884" h="477520">
                <a:moveTo>
                  <a:pt x="730631" y="18288"/>
                </a:moveTo>
                <a:lnTo>
                  <a:pt x="712597" y="10160"/>
                </a:lnTo>
                <a:lnTo>
                  <a:pt x="536549" y="403948"/>
                </a:lnTo>
                <a:lnTo>
                  <a:pt x="510794" y="392430"/>
                </a:lnTo>
                <a:lnTo>
                  <a:pt x="514477" y="477520"/>
                </a:lnTo>
                <a:lnTo>
                  <a:pt x="580390" y="423545"/>
                </a:lnTo>
                <a:lnTo>
                  <a:pt x="554558" y="412000"/>
                </a:lnTo>
                <a:lnTo>
                  <a:pt x="730631" y="18288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075934" y="4226814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376161" y="4181602"/>
            <a:ext cx="118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-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970649" y="4206494"/>
            <a:ext cx="730885" cy="477520"/>
          </a:xfrm>
          <a:custGeom>
            <a:avLst/>
            <a:gdLst/>
            <a:ahLst/>
            <a:cxnLst/>
            <a:rect l="l" t="t" r="r" b="b"/>
            <a:pathLst>
              <a:path w="730884" h="477520">
                <a:moveTo>
                  <a:pt x="293497" y="477266"/>
                </a:moveTo>
                <a:lnTo>
                  <a:pt x="289585" y="428117"/>
                </a:lnTo>
                <a:lnTo>
                  <a:pt x="286766" y="392430"/>
                </a:lnTo>
                <a:lnTo>
                  <a:pt x="262585" y="407022"/>
                </a:lnTo>
                <a:lnTo>
                  <a:pt x="17018" y="0"/>
                </a:lnTo>
                <a:lnTo>
                  <a:pt x="0" y="10160"/>
                </a:lnTo>
                <a:lnTo>
                  <a:pt x="245643" y="417233"/>
                </a:lnTo>
                <a:lnTo>
                  <a:pt x="221488" y="431800"/>
                </a:lnTo>
                <a:lnTo>
                  <a:pt x="293497" y="477266"/>
                </a:lnTo>
                <a:close/>
              </a:path>
              <a:path w="730884" h="477520">
                <a:moveTo>
                  <a:pt x="730631" y="18288"/>
                </a:moveTo>
                <a:lnTo>
                  <a:pt x="712597" y="10160"/>
                </a:lnTo>
                <a:lnTo>
                  <a:pt x="536549" y="403948"/>
                </a:lnTo>
                <a:lnTo>
                  <a:pt x="510794" y="392430"/>
                </a:lnTo>
                <a:lnTo>
                  <a:pt x="514477" y="477520"/>
                </a:lnTo>
                <a:lnTo>
                  <a:pt x="580390" y="423545"/>
                </a:lnTo>
                <a:lnTo>
                  <a:pt x="554558" y="412000"/>
                </a:lnTo>
                <a:lnTo>
                  <a:pt x="730631" y="18288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138543" y="4243781"/>
            <a:ext cx="139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438770" y="4198696"/>
            <a:ext cx="1193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-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40553" y="5560567"/>
            <a:ext cx="581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m</a:t>
            </a:r>
            <a:r>
              <a:rPr sz="1200" spc="-10" dirty="0">
                <a:latin typeface="Calibri"/>
                <a:cs typeface="Calibri"/>
              </a:rPr>
              <a:t>a</a:t>
            </a:r>
            <a:r>
              <a:rPr sz="1200" spc="-5" dirty="0">
                <a:latin typeface="Calibri"/>
                <a:cs typeface="Calibri"/>
              </a:rPr>
              <a:t>x</a:t>
            </a:r>
            <a:r>
              <a:rPr sz="1200" dirty="0">
                <a:latin typeface="Calibri"/>
                <a:cs typeface="Calibri"/>
              </a:rPr>
              <a:t>/min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50660" y="5534659"/>
            <a:ext cx="581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m</a:t>
            </a:r>
            <a:r>
              <a:rPr sz="1200" spc="-10" dirty="0">
                <a:latin typeface="Calibri"/>
                <a:cs typeface="Calibri"/>
              </a:rPr>
              <a:t>a</a:t>
            </a:r>
            <a:r>
              <a:rPr sz="1200" spc="-5" dirty="0">
                <a:latin typeface="Calibri"/>
                <a:cs typeface="Calibri"/>
              </a:rPr>
              <a:t>x</a:t>
            </a:r>
            <a:r>
              <a:rPr sz="1200" dirty="0">
                <a:latin typeface="Calibri"/>
                <a:cs typeface="Calibri"/>
              </a:rPr>
              <a:t>/min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191255" y="3610355"/>
            <a:ext cx="3965575" cy="1967230"/>
            <a:chOff x="3191255" y="3610355"/>
            <a:chExt cx="3965575" cy="1967230"/>
          </a:xfrm>
        </p:grpSpPr>
        <p:sp>
          <p:nvSpPr>
            <p:cNvPr id="35" name="object 35"/>
            <p:cNvSpPr/>
            <p:nvPr/>
          </p:nvSpPr>
          <p:spPr>
            <a:xfrm>
              <a:off x="4405756" y="5298185"/>
              <a:ext cx="628015" cy="279400"/>
            </a:xfrm>
            <a:custGeom>
              <a:avLst/>
              <a:gdLst/>
              <a:ahLst/>
              <a:cxnLst/>
              <a:rect l="l" t="t" r="r" b="b"/>
              <a:pathLst>
                <a:path w="628014" h="279400">
                  <a:moveTo>
                    <a:pt x="7746" y="0"/>
                  </a:moveTo>
                  <a:lnTo>
                    <a:pt x="0" y="18287"/>
                  </a:lnTo>
                  <a:lnTo>
                    <a:pt x="145922" y="80263"/>
                  </a:lnTo>
                  <a:lnTo>
                    <a:pt x="153669" y="61975"/>
                  </a:lnTo>
                  <a:lnTo>
                    <a:pt x="7746" y="0"/>
                  </a:lnTo>
                  <a:close/>
                </a:path>
                <a:path w="628014" h="279400">
                  <a:moveTo>
                    <a:pt x="208406" y="85216"/>
                  </a:moveTo>
                  <a:lnTo>
                    <a:pt x="200659" y="103504"/>
                  </a:lnTo>
                  <a:lnTo>
                    <a:pt x="346582" y="165353"/>
                  </a:lnTo>
                  <a:lnTo>
                    <a:pt x="354329" y="147192"/>
                  </a:lnTo>
                  <a:lnTo>
                    <a:pt x="208406" y="85216"/>
                  </a:lnTo>
                  <a:close/>
                </a:path>
                <a:path w="628014" h="279400">
                  <a:moveTo>
                    <a:pt x="572515" y="209169"/>
                  </a:moveTo>
                  <a:lnTo>
                    <a:pt x="542797" y="279400"/>
                  </a:lnTo>
                  <a:lnTo>
                    <a:pt x="627760" y="274066"/>
                  </a:lnTo>
                  <a:lnTo>
                    <a:pt x="572515" y="209169"/>
                  </a:lnTo>
                  <a:close/>
                </a:path>
                <a:path w="628014" h="279400">
                  <a:moveTo>
                    <a:pt x="408939" y="170433"/>
                  </a:moveTo>
                  <a:lnTo>
                    <a:pt x="401192" y="188594"/>
                  </a:lnTo>
                  <a:lnTo>
                    <a:pt x="547115" y="250570"/>
                  </a:lnTo>
                  <a:lnTo>
                    <a:pt x="554863" y="232282"/>
                  </a:lnTo>
                  <a:lnTo>
                    <a:pt x="408939" y="170433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467095" y="5272023"/>
              <a:ext cx="745490" cy="283845"/>
            </a:xfrm>
            <a:custGeom>
              <a:avLst/>
              <a:gdLst/>
              <a:ahLst/>
              <a:cxnLst/>
              <a:rect l="l" t="t" r="r" b="b"/>
              <a:pathLst>
                <a:path w="745489" h="283845">
                  <a:moveTo>
                    <a:pt x="6603" y="0"/>
                  </a:moveTo>
                  <a:lnTo>
                    <a:pt x="0" y="18668"/>
                  </a:lnTo>
                  <a:lnTo>
                    <a:pt x="149351" y="71754"/>
                  </a:lnTo>
                  <a:lnTo>
                    <a:pt x="155955" y="53085"/>
                  </a:lnTo>
                  <a:lnTo>
                    <a:pt x="6603" y="0"/>
                  </a:lnTo>
                  <a:close/>
                </a:path>
                <a:path w="745489" h="283845">
                  <a:moveTo>
                    <a:pt x="211962" y="73025"/>
                  </a:moveTo>
                  <a:lnTo>
                    <a:pt x="205358" y="91693"/>
                  </a:lnTo>
                  <a:lnTo>
                    <a:pt x="354711" y="144653"/>
                  </a:lnTo>
                  <a:lnTo>
                    <a:pt x="361314" y="125984"/>
                  </a:lnTo>
                  <a:lnTo>
                    <a:pt x="211962" y="73025"/>
                  </a:lnTo>
                  <a:close/>
                </a:path>
                <a:path w="745489" h="283845">
                  <a:moveTo>
                    <a:pt x="417321" y="145922"/>
                  </a:moveTo>
                  <a:lnTo>
                    <a:pt x="410717" y="164591"/>
                  </a:lnTo>
                  <a:lnTo>
                    <a:pt x="560069" y="217550"/>
                  </a:lnTo>
                  <a:lnTo>
                    <a:pt x="566674" y="198881"/>
                  </a:lnTo>
                  <a:lnTo>
                    <a:pt x="417321" y="145922"/>
                  </a:lnTo>
                  <a:close/>
                </a:path>
                <a:path w="745489" h="283845">
                  <a:moveTo>
                    <a:pt x="670233" y="256720"/>
                  </a:moveTo>
                  <a:lnTo>
                    <a:pt x="660780" y="283337"/>
                  </a:lnTo>
                  <a:lnTo>
                    <a:pt x="745363" y="272922"/>
                  </a:lnTo>
                  <a:lnTo>
                    <a:pt x="733893" y="260984"/>
                  </a:lnTo>
                  <a:lnTo>
                    <a:pt x="682243" y="260984"/>
                  </a:lnTo>
                  <a:lnTo>
                    <a:pt x="670233" y="256720"/>
                  </a:lnTo>
                  <a:close/>
                </a:path>
                <a:path w="745489" h="283845">
                  <a:moveTo>
                    <a:pt x="676860" y="238059"/>
                  </a:moveTo>
                  <a:lnTo>
                    <a:pt x="670233" y="256720"/>
                  </a:lnTo>
                  <a:lnTo>
                    <a:pt x="682243" y="260984"/>
                  </a:lnTo>
                  <a:lnTo>
                    <a:pt x="688848" y="242315"/>
                  </a:lnTo>
                  <a:lnTo>
                    <a:pt x="676860" y="238059"/>
                  </a:lnTo>
                  <a:close/>
                </a:path>
                <a:path w="745489" h="283845">
                  <a:moveTo>
                    <a:pt x="686307" y="211454"/>
                  </a:moveTo>
                  <a:lnTo>
                    <a:pt x="676860" y="238059"/>
                  </a:lnTo>
                  <a:lnTo>
                    <a:pt x="688848" y="242315"/>
                  </a:lnTo>
                  <a:lnTo>
                    <a:pt x="682243" y="260984"/>
                  </a:lnTo>
                  <a:lnTo>
                    <a:pt x="733893" y="260984"/>
                  </a:lnTo>
                  <a:lnTo>
                    <a:pt x="686307" y="211454"/>
                  </a:lnTo>
                  <a:close/>
                </a:path>
                <a:path w="745489" h="283845">
                  <a:moveTo>
                    <a:pt x="622680" y="218820"/>
                  </a:moveTo>
                  <a:lnTo>
                    <a:pt x="616076" y="237489"/>
                  </a:lnTo>
                  <a:lnTo>
                    <a:pt x="670233" y="256720"/>
                  </a:lnTo>
                  <a:lnTo>
                    <a:pt x="676860" y="238059"/>
                  </a:lnTo>
                  <a:lnTo>
                    <a:pt x="622680" y="218820"/>
                  </a:lnTo>
                  <a:close/>
                </a:path>
              </a:pathLst>
            </a:custGeom>
            <a:solidFill>
              <a:srgbClr val="E3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172329" y="5279770"/>
              <a:ext cx="951230" cy="292735"/>
            </a:xfrm>
            <a:custGeom>
              <a:avLst/>
              <a:gdLst/>
              <a:ahLst/>
              <a:cxnLst/>
              <a:rect l="l" t="t" r="r" b="b"/>
              <a:pathLst>
                <a:path w="951229" h="292735">
                  <a:moveTo>
                    <a:pt x="45085" y="160909"/>
                  </a:moveTo>
                  <a:lnTo>
                    <a:pt x="36703" y="2667"/>
                  </a:lnTo>
                  <a:lnTo>
                    <a:pt x="16891" y="3683"/>
                  </a:lnTo>
                  <a:lnTo>
                    <a:pt x="25273" y="161925"/>
                  </a:lnTo>
                  <a:lnTo>
                    <a:pt x="45085" y="160909"/>
                  </a:lnTo>
                  <a:close/>
                </a:path>
                <a:path w="951229" h="292735">
                  <a:moveTo>
                    <a:pt x="76200" y="214376"/>
                  </a:moveTo>
                  <a:lnTo>
                    <a:pt x="0" y="218440"/>
                  </a:lnTo>
                  <a:lnTo>
                    <a:pt x="42164" y="292481"/>
                  </a:lnTo>
                  <a:lnTo>
                    <a:pt x="69557" y="229616"/>
                  </a:lnTo>
                  <a:lnTo>
                    <a:pt x="73647" y="220218"/>
                  </a:lnTo>
                  <a:lnTo>
                    <a:pt x="76200" y="214376"/>
                  </a:lnTo>
                  <a:close/>
                </a:path>
                <a:path w="951229" h="292735">
                  <a:moveTo>
                    <a:pt x="335280" y="238887"/>
                  </a:moveTo>
                  <a:lnTo>
                    <a:pt x="328676" y="220218"/>
                  </a:lnTo>
                  <a:lnTo>
                    <a:pt x="279628" y="237794"/>
                  </a:lnTo>
                  <a:lnTo>
                    <a:pt x="270129" y="211201"/>
                  </a:lnTo>
                  <a:lnTo>
                    <a:pt x="211201" y="272796"/>
                  </a:lnTo>
                  <a:lnTo>
                    <a:pt x="295783" y="282956"/>
                  </a:lnTo>
                  <a:lnTo>
                    <a:pt x="287832" y="260731"/>
                  </a:lnTo>
                  <a:lnTo>
                    <a:pt x="286296" y="256438"/>
                  </a:lnTo>
                  <a:lnTo>
                    <a:pt x="335280" y="238887"/>
                  </a:lnTo>
                  <a:close/>
                </a:path>
                <a:path w="951229" h="292735">
                  <a:moveTo>
                    <a:pt x="540512" y="165481"/>
                  </a:moveTo>
                  <a:lnTo>
                    <a:pt x="533908" y="146812"/>
                  </a:lnTo>
                  <a:lnTo>
                    <a:pt x="384556" y="200152"/>
                  </a:lnTo>
                  <a:lnTo>
                    <a:pt x="391287" y="218821"/>
                  </a:lnTo>
                  <a:lnTo>
                    <a:pt x="540512" y="165481"/>
                  </a:lnTo>
                  <a:close/>
                </a:path>
                <a:path w="951229" h="292735">
                  <a:moveTo>
                    <a:pt x="745744" y="92075"/>
                  </a:moveTo>
                  <a:lnTo>
                    <a:pt x="739013" y="73406"/>
                  </a:lnTo>
                  <a:lnTo>
                    <a:pt x="589788" y="126746"/>
                  </a:lnTo>
                  <a:lnTo>
                    <a:pt x="596519" y="145415"/>
                  </a:lnTo>
                  <a:lnTo>
                    <a:pt x="745744" y="92075"/>
                  </a:lnTo>
                  <a:close/>
                </a:path>
                <a:path w="951229" h="292735">
                  <a:moveTo>
                    <a:pt x="950849" y="18542"/>
                  </a:moveTo>
                  <a:lnTo>
                    <a:pt x="944245" y="0"/>
                  </a:lnTo>
                  <a:lnTo>
                    <a:pt x="795020" y="53340"/>
                  </a:lnTo>
                  <a:lnTo>
                    <a:pt x="801624" y="72009"/>
                  </a:lnTo>
                  <a:lnTo>
                    <a:pt x="950849" y="18542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316599" y="5298058"/>
              <a:ext cx="840105" cy="274320"/>
            </a:xfrm>
            <a:custGeom>
              <a:avLst/>
              <a:gdLst/>
              <a:ahLst/>
              <a:cxnLst/>
              <a:rect l="l" t="t" r="r" b="b"/>
              <a:pathLst>
                <a:path w="840104" h="274320">
                  <a:moveTo>
                    <a:pt x="45847" y="159385"/>
                  </a:moveTo>
                  <a:lnTo>
                    <a:pt x="36957" y="1143"/>
                  </a:lnTo>
                  <a:lnTo>
                    <a:pt x="17145" y="2159"/>
                  </a:lnTo>
                  <a:lnTo>
                    <a:pt x="26162" y="160401"/>
                  </a:lnTo>
                  <a:lnTo>
                    <a:pt x="45847" y="159385"/>
                  </a:lnTo>
                  <a:close/>
                </a:path>
                <a:path w="840104" h="274320">
                  <a:moveTo>
                    <a:pt x="76073" y="194818"/>
                  </a:moveTo>
                  <a:lnTo>
                    <a:pt x="0" y="199136"/>
                  </a:lnTo>
                  <a:lnTo>
                    <a:pt x="42418" y="273050"/>
                  </a:lnTo>
                  <a:lnTo>
                    <a:pt x="76073" y="194818"/>
                  </a:lnTo>
                  <a:close/>
                </a:path>
                <a:path w="840104" h="274320">
                  <a:moveTo>
                    <a:pt x="245872" y="274193"/>
                  </a:moveTo>
                  <a:lnTo>
                    <a:pt x="237566" y="252349"/>
                  </a:lnTo>
                  <a:lnTo>
                    <a:pt x="229908" y="232156"/>
                  </a:lnTo>
                  <a:lnTo>
                    <a:pt x="218821" y="202946"/>
                  </a:lnTo>
                  <a:lnTo>
                    <a:pt x="161163" y="265684"/>
                  </a:lnTo>
                  <a:lnTo>
                    <a:pt x="245872" y="274193"/>
                  </a:lnTo>
                  <a:close/>
                </a:path>
                <a:path w="840104" h="274320">
                  <a:moveTo>
                    <a:pt x="432308" y="173228"/>
                  </a:moveTo>
                  <a:lnTo>
                    <a:pt x="425323" y="154686"/>
                  </a:lnTo>
                  <a:lnTo>
                    <a:pt x="277114" y="211074"/>
                  </a:lnTo>
                  <a:lnTo>
                    <a:pt x="284099" y="229489"/>
                  </a:lnTo>
                  <a:lnTo>
                    <a:pt x="432308" y="173228"/>
                  </a:lnTo>
                  <a:close/>
                </a:path>
                <a:path w="840104" h="274320">
                  <a:moveTo>
                    <a:pt x="636016" y="95885"/>
                  </a:moveTo>
                  <a:lnTo>
                    <a:pt x="629031" y="77343"/>
                  </a:lnTo>
                  <a:lnTo>
                    <a:pt x="480822" y="133604"/>
                  </a:lnTo>
                  <a:lnTo>
                    <a:pt x="487934" y="152146"/>
                  </a:lnTo>
                  <a:lnTo>
                    <a:pt x="636016" y="95885"/>
                  </a:lnTo>
                  <a:close/>
                </a:path>
                <a:path w="840104" h="274320">
                  <a:moveTo>
                    <a:pt x="839851" y="18542"/>
                  </a:moveTo>
                  <a:lnTo>
                    <a:pt x="832739" y="0"/>
                  </a:lnTo>
                  <a:lnTo>
                    <a:pt x="684530" y="56261"/>
                  </a:lnTo>
                  <a:lnTo>
                    <a:pt x="691642" y="74803"/>
                  </a:lnTo>
                  <a:lnTo>
                    <a:pt x="839851" y="18542"/>
                  </a:lnTo>
                  <a:close/>
                </a:path>
              </a:pathLst>
            </a:custGeom>
            <a:solidFill>
              <a:srgbClr val="E3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91255" y="3610355"/>
              <a:ext cx="804671" cy="594359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3571113" y="3384245"/>
            <a:ext cx="113664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i="1" dirty="0">
                <a:solidFill>
                  <a:srgbClr val="7E7E7E"/>
                </a:solidFill>
                <a:latin typeface="Times New Roman"/>
                <a:cs typeface="Times New Roman"/>
              </a:rPr>
              <a:t>σ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1" name="object 4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259579" y="3608832"/>
            <a:ext cx="800100" cy="597407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4567173" y="3384245"/>
            <a:ext cx="19304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i="1" spc="-5" dirty="0">
                <a:solidFill>
                  <a:srgbClr val="7E7E7E"/>
                </a:solidFill>
                <a:latin typeface="Times New Roman"/>
                <a:cs typeface="Times New Roman"/>
              </a:rPr>
              <a:t>k</a:t>
            </a:r>
            <a:r>
              <a:rPr sz="1400" i="1" dirty="0">
                <a:solidFill>
                  <a:srgbClr val="7E7E7E"/>
                </a:solidFill>
                <a:latin typeface="Times New Roman"/>
                <a:cs typeface="Times New Roman"/>
              </a:rPr>
              <a:t>σ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321808" y="3605784"/>
            <a:ext cx="809243" cy="603503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5609844" y="3384245"/>
            <a:ext cx="3035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i="1" spc="5" dirty="0">
                <a:solidFill>
                  <a:srgbClr val="7E7E7E"/>
                </a:solidFill>
                <a:latin typeface="Times New Roman"/>
                <a:cs typeface="Times New Roman"/>
              </a:rPr>
              <a:t>k</a:t>
            </a:r>
            <a:r>
              <a:rPr sz="1350" spc="7" baseline="24691" dirty="0">
                <a:solidFill>
                  <a:srgbClr val="7E7E7E"/>
                </a:solidFill>
                <a:latin typeface="Times New Roman"/>
                <a:cs typeface="Times New Roman"/>
              </a:rPr>
              <a:t>2</a:t>
            </a:r>
            <a:r>
              <a:rPr sz="1400" i="1" spc="5" dirty="0">
                <a:solidFill>
                  <a:srgbClr val="7E7E7E"/>
                </a:solidFill>
                <a:latin typeface="Times New Roman"/>
                <a:cs typeface="Times New Roman"/>
              </a:rPr>
              <a:t>σ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5" name="object 4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393179" y="3610355"/>
            <a:ext cx="795527" cy="594359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6677914" y="3384245"/>
            <a:ext cx="3035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i="1" spc="5" dirty="0">
                <a:solidFill>
                  <a:srgbClr val="7E7E7E"/>
                </a:solidFill>
                <a:latin typeface="Times New Roman"/>
                <a:cs typeface="Times New Roman"/>
              </a:rPr>
              <a:t>k</a:t>
            </a:r>
            <a:r>
              <a:rPr sz="1350" spc="7" baseline="24691" dirty="0">
                <a:solidFill>
                  <a:srgbClr val="7E7E7E"/>
                </a:solidFill>
                <a:latin typeface="Times New Roman"/>
                <a:cs typeface="Times New Roman"/>
              </a:rPr>
              <a:t>3</a:t>
            </a:r>
            <a:r>
              <a:rPr sz="1400" i="1" spc="5" dirty="0">
                <a:solidFill>
                  <a:srgbClr val="7E7E7E"/>
                </a:solidFill>
                <a:latin typeface="Times New Roman"/>
                <a:cs typeface="Times New Roman"/>
              </a:rPr>
              <a:t>σ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7" name="object 4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465576" y="3619845"/>
            <a:ext cx="781285" cy="575380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7745856" y="3384245"/>
            <a:ext cx="3035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i="1" spc="5" dirty="0">
                <a:solidFill>
                  <a:srgbClr val="7E7E7E"/>
                </a:solidFill>
                <a:latin typeface="Times New Roman"/>
                <a:cs typeface="Times New Roman"/>
              </a:rPr>
              <a:t>k</a:t>
            </a:r>
            <a:r>
              <a:rPr sz="1350" spc="7" baseline="24691" dirty="0">
                <a:solidFill>
                  <a:srgbClr val="7E7E7E"/>
                </a:solidFill>
                <a:latin typeface="Times New Roman"/>
                <a:cs typeface="Times New Roman"/>
              </a:rPr>
              <a:t>4</a:t>
            </a:r>
            <a:r>
              <a:rPr sz="1400" i="1" spc="5" dirty="0">
                <a:solidFill>
                  <a:srgbClr val="7E7E7E"/>
                </a:solidFill>
                <a:latin typeface="Times New Roman"/>
                <a:cs typeface="Times New Roman"/>
              </a:rPr>
              <a:t>σ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925892" y="5201455"/>
            <a:ext cx="1474470" cy="1263015"/>
            <a:chOff x="925892" y="5201455"/>
            <a:chExt cx="1474470" cy="1263015"/>
          </a:xfrm>
        </p:grpSpPr>
        <p:pic>
          <p:nvPicPr>
            <p:cNvPr id="50" name="object 5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25892" y="5201455"/>
              <a:ext cx="1473923" cy="1262394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044701" y="5648705"/>
              <a:ext cx="273050" cy="180340"/>
            </a:xfrm>
            <a:custGeom>
              <a:avLst/>
              <a:gdLst/>
              <a:ahLst/>
              <a:cxnLst/>
              <a:rect l="l" t="t" r="r" b="b"/>
              <a:pathLst>
                <a:path w="273050" h="180339">
                  <a:moveTo>
                    <a:pt x="272796" y="0"/>
                  </a:moveTo>
                  <a:lnTo>
                    <a:pt x="0" y="0"/>
                  </a:lnTo>
                  <a:lnTo>
                    <a:pt x="0" y="179832"/>
                  </a:lnTo>
                  <a:lnTo>
                    <a:pt x="272796" y="179832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044701" y="5648705"/>
              <a:ext cx="273050" cy="180340"/>
            </a:xfrm>
            <a:custGeom>
              <a:avLst/>
              <a:gdLst/>
              <a:ahLst/>
              <a:cxnLst/>
              <a:rect l="l" t="t" r="r" b="b"/>
              <a:pathLst>
                <a:path w="273050" h="180339">
                  <a:moveTo>
                    <a:pt x="0" y="179832"/>
                  </a:moveTo>
                  <a:lnTo>
                    <a:pt x="272796" y="179832"/>
                  </a:lnTo>
                  <a:lnTo>
                    <a:pt x="272796" y="0"/>
                  </a:lnTo>
                  <a:lnTo>
                    <a:pt x="0" y="0"/>
                  </a:lnTo>
                  <a:lnTo>
                    <a:pt x="0" y="179832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50214" y="4713858"/>
            <a:ext cx="1547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0" marR="5080" indent="-337185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Búsqueda</a:t>
            </a:r>
            <a:r>
              <a:rPr sz="12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local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 de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máx</a:t>
            </a:r>
            <a:r>
              <a:rPr sz="12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y </a:t>
            </a:r>
            <a:r>
              <a:rPr sz="1200" spc="-254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min</a:t>
            </a:r>
            <a:r>
              <a:rPr sz="12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en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3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 DoG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  <p:pic>
        <p:nvPicPr>
          <p:cNvPr id="55" name="Picture 4">
            <a:extLst>
              <a:ext uri="{FF2B5EF4-FFF2-40B4-BE49-F238E27FC236}">
                <a16:creationId xmlns:a16="http://schemas.microsoft.com/office/drawing/2014/main" id="{F146A7B5-F884-5F54-7903-CA94E5474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6" descr="Ingeniería de Sistemas - UNCP">
            <a:extLst>
              <a:ext uri="{FF2B5EF4-FFF2-40B4-BE49-F238E27FC236}">
                <a16:creationId xmlns:a16="http://schemas.microsoft.com/office/drawing/2014/main" id="{4F17627F-F1F9-782F-688E-9484BBEB1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1105" y="6633464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</a:rPr>
              <a:t>14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43121" y="260350"/>
            <a:ext cx="18586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</a:t>
            </a:r>
            <a:r>
              <a:rPr spc="-30" dirty="0"/>
              <a:t>e</a:t>
            </a:r>
            <a:r>
              <a:rPr spc="-35" dirty="0"/>
              <a:t>t</a:t>
            </a:r>
            <a:r>
              <a:rPr spc="-5" dirty="0"/>
              <a:t>ec</a:t>
            </a:r>
            <a:r>
              <a:rPr spc="-35" dirty="0"/>
              <a:t>t</a:t>
            </a:r>
            <a:r>
              <a:rPr dirty="0"/>
              <a:t>o</a:t>
            </a:r>
            <a:r>
              <a:rPr spc="-30" dirty="0"/>
              <a:t>r</a:t>
            </a:r>
            <a:r>
              <a:rPr spc="-5" dirty="0"/>
              <a:t>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7794" y="922782"/>
            <a:ext cx="6043930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Detector</a:t>
            </a:r>
            <a:r>
              <a:rPr sz="2400" b="1" spc="-3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Blobs</a:t>
            </a: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usando DoG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solidFill>
                  <a:srgbClr val="6F2F9F"/>
                </a:solidFill>
                <a:latin typeface="Comic Sans MS"/>
                <a:cs typeface="Comic Sans MS"/>
              </a:rPr>
              <a:t>Ejemplo</a:t>
            </a:r>
            <a:endParaRPr sz="2000">
              <a:latin typeface="Comic Sans MS"/>
              <a:cs typeface="Comic Sans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45925" y="1700796"/>
            <a:ext cx="5363845" cy="4993640"/>
            <a:chOff x="2245925" y="1700796"/>
            <a:chExt cx="5363845" cy="49936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5925" y="1700796"/>
              <a:ext cx="2159958" cy="499361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61687" y="2209800"/>
              <a:ext cx="1258824" cy="422300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70219" y="2209800"/>
              <a:ext cx="2025396" cy="427329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307073" y="2879598"/>
              <a:ext cx="1289685" cy="323215"/>
            </a:xfrm>
            <a:custGeom>
              <a:avLst/>
              <a:gdLst/>
              <a:ahLst/>
              <a:cxnLst/>
              <a:rect l="l" t="t" r="r" b="b"/>
              <a:pathLst>
                <a:path w="1289684" h="323214">
                  <a:moveTo>
                    <a:pt x="1289303" y="0"/>
                  </a:moveTo>
                  <a:lnTo>
                    <a:pt x="0" y="0"/>
                  </a:lnTo>
                  <a:lnTo>
                    <a:pt x="0" y="323088"/>
                  </a:lnTo>
                  <a:lnTo>
                    <a:pt x="1289303" y="323088"/>
                  </a:lnTo>
                  <a:lnTo>
                    <a:pt x="12893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07073" y="2879598"/>
              <a:ext cx="1289685" cy="323215"/>
            </a:xfrm>
            <a:custGeom>
              <a:avLst/>
              <a:gdLst/>
              <a:ahLst/>
              <a:cxnLst/>
              <a:rect l="l" t="t" r="r" b="b"/>
              <a:pathLst>
                <a:path w="1289684" h="323214">
                  <a:moveTo>
                    <a:pt x="0" y="323088"/>
                  </a:moveTo>
                  <a:lnTo>
                    <a:pt x="1289303" y="323088"/>
                  </a:lnTo>
                  <a:lnTo>
                    <a:pt x="1289303" y="0"/>
                  </a:lnTo>
                  <a:lnTo>
                    <a:pt x="0" y="0"/>
                  </a:lnTo>
                  <a:lnTo>
                    <a:pt x="0" y="32308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786629" y="1969388"/>
            <a:ext cx="3422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D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oG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07073" y="2879598"/>
            <a:ext cx="1289685" cy="32321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09245">
              <a:lnSpc>
                <a:spcPct val="100000"/>
              </a:lnSpc>
              <a:spcBef>
                <a:spcPts val="290"/>
              </a:spcBef>
            </a:pP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Máximos</a:t>
            </a:r>
            <a:r>
              <a:rPr sz="12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72833" y="3086861"/>
            <a:ext cx="560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mí</a:t>
            </a:r>
            <a:r>
              <a:rPr sz="1200" spc="5" dirty="0">
                <a:solidFill>
                  <a:srgbClr val="7E7E7E"/>
                </a:solidFill>
                <a:latin typeface="Calibri"/>
                <a:cs typeface="Calibri"/>
              </a:rPr>
              <a:t>n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imos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15434" y="6624319"/>
            <a:ext cx="6076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7E7E7E"/>
                </a:solidFill>
                <a:latin typeface="Calibri"/>
                <a:cs typeface="Calibri"/>
              </a:rPr>
              <a:t>[aishack.in]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A440D95B-9D99-D04F-36BC-A77EBCCA1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Ingeniería de Sistemas - UNCP">
            <a:extLst>
              <a:ext uri="{FF2B5EF4-FFF2-40B4-BE49-F238E27FC236}">
                <a16:creationId xmlns:a16="http://schemas.microsoft.com/office/drawing/2014/main" id="{7139DFF4-46C7-8687-DFBC-649521BA5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3121" y="260350"/>
            <a:ext cx="18586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</a:t>
            </a:r>
            <a:r>
              <a:rPr spc="-30" dirty="0"/>
              <a:t>e</a:t>
            </a:r>
            <a:r>
              <a:rPr spc="-35" dirty="0"/>
              <a:t>t</a:t>
            </a:r>
            <a:r>
              <a:rPr spc="-5" dirty="0"/>
              <a:t>ec</a:t>
            </a:r>
            <a:r>
              <a:rPr spc="-35" dirty="0"/>
              <a:t>t</a:t>
            </a:r>
            <a:r>
              <a:rPr dirty="0"/>
              <a:t>o</a:t>
            </a:r>
            <a:r>
              <a:rPr spc="-30" dirty="0"/>
              <a:t>r</a:t>
            </a:r>
            <a:r>
              <a:rPr spc="-5" dirty="0"/>
              <a:t>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6043930" cy="1384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Detector</a:t>
            </a:r>
            <a:r>
              <a:rPr sz="2400" b="1" spc="-3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Blobs</a:t>
            </a: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usando DoG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solidFill>
                  <a:srgbClr val="6F2F9F"/>
                </a:solidFill>
                <a:latin typeface="Comic Sans MS"/>
                <a:cs typeface="Comic Sans MS"/>
              </a:rPr>
              <a:t>Ejemplo</a:t>
            </a:r>
            <a:endParaRPr sz="2000">
              <a:latin typeface="Comic Sans MS"/>
              <a:cs typeface="Comic Sans MS"/>
            </a:endParaRPr>
          </a:p>
          <a:p>
            <a:pPr marL="228600">
              <a:lnSpc>
                <a:spcPct val="100000"/>
              </a:lnSpc>
              <a:spcBef>
                <a:spcPts val="415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Puntos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detectados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usando</a:t>
            </a:r>
            <a:r>
              <a:rPr sz="1800" spc="-5" dirty="0">
                <a:latin typeface="Calibri"/>
                <a:cs typeface="Calibri"/>
              </a:rPr>
              <a:t> DoG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511" y="3214116"/>
            <a:ext cx="2462784" cy="177850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60035" y="2805683"/>
            <a:ext cx="3599688" cy="259384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957719" y="3852208"/>
            <a:ext cx="352425" cy="414020"/>
            <a:chOff x="3957719" y="3852208"/>
            <a:chExt cx="352425" cy="41402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57719" y="3852208"/>
              <a:ext cx="352370" cy="41390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95928" y="3860291"/>
              <a:ext cx="288036" cy="3611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995928" y="3860291"/>
              <a:ext cx="288290" cy="361315"/>
            </a:xfrm>
            <a:custGeom>
              <a:avLst/>
              <a:gdLst/>
              <a:ahLst/>
              <a:cxnLst/>
              <a:rect l="l" t="t" r="r" b="b"/>
              <a:pathLst>
                <a:path w="288289" h="361314">
                  <a:moveTo>
                    <a:pt x="0" y="90296"/>
                  </a:moveTo>
                  <a:lnTo>
                    <a:pt x="144018" y="90296"/>
                  </a:lnTo>
                  <a:lnTo>
                    <a:pt x="144018" y="0"/>
                  </a:lnTo>
                  <a:lnTo>
                    <a:pt x="288036" y="180593"/>
                  </a:lnTo>
                  <a:lnTo>
                    <a:pt x="144018" y="361187"/>
                  </a:lnTo>
                  <a:lnTo>
                    <a:pt x="144018" y="270890"/>
                  </a:lnTo>
                  <a:lnTo>
                    <a:pt x="0" y="270890"/>
                  </a:lnTo>
                  <a:lnTo>
                    <a:pt x="0" y="90296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161915" y="5502350"/>
            <a:ext cx="31197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El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tamaño</a:t>
            </a:r>
            <a:r>
              <a:rPr sz="12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los</a:t>
            </a:r>
            <a:r>
              <a:rPr sz="12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círculos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indica</a:t>
            </a:r>
            <a:r>
              <a:rPr sz="12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la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escala</a:t>
            </a:r>
            <a:r>
              <a:rPr sz="12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en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12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que</a:t>
            </a:r>
            <a:endParaRPr sz="12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se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detectó</a:t>
            </a:r>
            <a:r>
              <a:rPr sz="12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el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 punto</a:t>
            </a:r>
            <a:r>
              <a:rPr sz="12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interés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18DCC56B-0453-8A76-2EC7-7619245FB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Ingeniería de Sistemas - UNCP">
            <a:extLst>
              <a:ext uri="{FF2B5EF4-FFF2-40B4-BE49-F238E27FC236}">
                <a16:creationId xmlns:a16="http://schemas.microsoft.com/office/drawing/2014/main" id="{C306A288-1AE5-1DD5-6E8F-B0E3E1047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Descriptores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52187"/>
            <a:ext cx="7954645" cy="235077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¿Qué</a:t>
            </a:r>
            <a:r>
              <a:rPr sz="2000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es?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9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vector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contiene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características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una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región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alrededor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punto</a:t>
            </a:r>
            <a:endParaRPr sz="1800">
              <a:latin typeface="Calibri"/>
              <a:cs typeface="Calibri"/>
            </a:endParaRPr>
          </a:p>
          <a:p>
            <a:pPr marL="38862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interés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(identificado</a:t>
            </a:r>
            <a:r>
              <a:rPr sz="16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con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 un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detector)</a:t>
            </a:r>
            <a:endParaRPr sz="16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“Describe”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 </a:t>
            </a:r>
            <a:r>
              <a:rPr sz="1800" spc="-10" dirty="0">
                <a:latin typeface="Calibri"/>
                <a:cs typeface="Calibri"/>
              </a:rPr>
              <a:t>punto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identificado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detector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(su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vecindad)</a:t>
            </a:r>
            <a:endParaRPr sz="1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Calibri"/>
              <a:buChar char="-"/>
            </a:pPr>
            <a:endParaRPr sz="25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Uso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Obtener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correspondencias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puntos</a:t>
            </a:r>
            <a:r>
              <a:rPr sz="1800" dirty="0">
                <a:latin typeface="Calibri"/>
                <a:cs typeface="Calibri"/>
              </a:rPr>
              <a:t> 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interés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(“keypoints”)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imágenes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2144" y="3788664"/>
            <a:ext cx="7068311" cy="266395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7E31EF23-0623-A0CD-785A-5B523FFB4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Ingeniería de Sistemas - UNCP">
            <a:extLst>
              <a:ext uri="{FF2B5EF4-FFF2-40B4-BE49-F238E27FC236}">
                <a16:creationId xmlns:a16="http://schemas.microsoft.com/office/drawing/2014/main" id="{0C8A9FC5-D8FB-2836-314A-AC2331E3F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Descriptores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55576"/>
            <a:ext cx="8021320" cy="3316604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Principales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descriptores: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15"/>
              </a:spcBef>
              <a:buFont typeface="Calibri"/>
              <a:buChar char="-"/>
              <a:tabLst>
                <a:tab pos="389255" algn="l"/>
              </a:tabLst>
            </a:pPr>
            <a:r>
              <a:rPr sz="1800" i="1" u="heavy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SIFT</a:t>
            </a:r>
            <a:r>
              <a:rPr sz="1800" dirty="0">
                <a:latin typeface="Calibri"/>
                <a:cs typeface="Calibri"/>
              </a:rPr>
              <a:t>: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cale-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spc="-10" dirty="0">
                <a:latin typeface="Calibri"/>
                <a:cs typeface="Calibri"/>
              </a:rPr>
              <a:t>nvariant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1800" spc="-10" dirty="0">
                <a:latin typeface="Calibri"/>
                <a:cs typeface="Calibri"/>
              </a:rPr>
              <a:t>eature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spc="-15" dirty="0">
                <a:latin typeface="Calibri"/>
                <a:cs typeface="Calibri"/>
              </a:rPr>
              <a:t>ransform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00"/>
              </a:spcBef>
              <a:buFont typeface="Calibri"/>
              <a:buChar char="-"/>
              <a:tabLst>
                <a:tab pos="389255" algn="l"/>
              </a:tabLst>
            </a:pPr>
            <a:r>
              <a:rPr sz="1800" i="1" u="heavy" spc="-5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HOG</a:t>
            </a:r>
            <a:r>
              <a:rPr sz="1800" spc="-5" dirty="0">
                <a:latin typeface="Calibri"/>
                <a:cs typeface="Calibri"/>
              </a:rPr>
              <a:t>: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istogram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spc="-10" dirty="0">
                <a:latin typeface="Calibri"/>
                <a:cs typeface="Calibri"/>
              </a:rPr>
              <a:t>riented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1800" spc="-5" dirty="0">
                <a:latin typeface="Calibri"/>
                <a:cs typeface="Calibri"/>
              </a:rPr>
              <a:t>radients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395"/>
              </a:spcBef>
              <a:buFont typeface="Calibri"/>
              <a:buChar char="-"/>
              <a:tabLst>
                <a:tab pos="389255" algn="l"/>
              </a:tabLst>
            </a:pPr>
            <a:r>
              <a:rPr sz="1800" i="1" spc="-5" dirty="0">
                <a:solidFill>
                  <a:srgbClr val="6F2F9F"/>
                </a:solidFill>
                <a:latin typeface="Calibri"/>
                <a:cs typeface="Calibri"/>
              </a:rPr>
              <a:t>SURF</a:t>
            </a:r>
            <a:r>
              <a:rPr sz="1800" spc="-5" dirty="0">
                <a:latin typeface="Calibri"/>
                <a:cs typeface="Calibri"/>
              </a:rPr>
              <a:t>: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peeded-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obust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1800" spc="-5" dirty="0">
                <a:latin typeface="Calibri"/>
                <a:cs typeface="Calibri"/>
              </a:rPr>
              <a:t>eatures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(detector</a:t>
            </a:r>
            <a:r>
              <a:rPr sz="16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y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descriptor)</a:t>
            </a:r>
            <a:endParaRPr sz="16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09"/>
              </a:spcBef>
              <a:buFont typeface="Calibri"/>
              <a:buChar char="-"/>
              <a:tabLst>
                <a:tab pos="389255" algn="l"/>
              </a:tabLst>
            </a:pPr>
            <a:r>
              <a:rPr sz="1800" i="1" dirty="0">
                <a:solidFill>
                  <a:srgbClr val="6F2F9F"/>
                </a:solidFill>
                <a:latin typeface="Calibri"/>
                <a:cs typeface="Calibri"/>
              </a:rPr>
              <a:t>BRIEF</a:t>
            </a:r>
            <a:r>
              <a:rPr sz="1800" dirty="0">
                <a:latin typeface="Calibri"/>
                <a:cs typeface="Calibri"/>
              </a:rPr>
              <a:t>: 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1800" spc="-5" dirty="0">
                <a:latin typeface="Calibri"/>
                <a:cs typeface="Calibri"/>
              </a:rPr>
              <a:t>inary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obust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ndependent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lementary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1800" spc="-5" dirty="0">
                <a:latin typeface="Calibri"/>
                <a:cs typeface="Calibri"/>
              </a:rPr>
              <a:t>eatures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(aplicable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a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esquinas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o</a:t>
            </a:r>
            <a:r>
              <a:rPr sz="16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blobs)</a:t>
            </a:r>
            <a:endParaRPr sz="16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395"/>
              </a:spcBef>
              <a:buFont typeface="Calibri"/>
              <a:buChar char="-"/>
              <a:tabLst>
                <a:tab pos="389255" algn="l"/>
              </a:tabLst>
            </a:pPr>
            <a:r>
              <a:rPr sz="1800" i="1" spc="-5" dirty="0">
                <a:solidFill>
                  <a:srgbClr val="6F2F9F"/>
                </a:solidFill>
                <a:latin typeface="Calibri"/>
                <a:cs typeface="Calibri"/>
              </a:rPr>
              <a:t>ORB</a:t>
            </a:r>
            <a:r>
              <a:rPr sz="1800" spc="-5" dirty="0">
                <a:latin typeface="Calibri"/>
                <a:cs typeface="Calibri"/>
              </a:rPr>
              <a:t>: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spc="-10" dirty="0">
                <a:latin typeface="Calibri"/>
                <a:cs typeface="Calibri"/>
              </a:rPr>
              <a:t>riented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FAST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spc="-15" dirty="0">
                <a:latin typeface="Calibri"/>
                <a:cs typeface="Calibri"/>
              </a:rPr>
              <a:t>otated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1800" spc="-5" dirty="0">
                <a:latin typeface="Calibri"/>
                <a:cs typeface="Calibri"/>
              </a:rPr>
              <a:t>RIEF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(aplicable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a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esquinas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o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blobs)</a:t>
            </a:r>
            <a:endParaRPr sz="16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00"/>
              </a:spcBef>
              <a:buFont typeface="Calibri"/>
              <a:buChar char="-"/>
              <a:tabLst>
                <a:tab pos="389255" algn="l"/>
              </a:tabLst>
            </a:pPr>
            <a:r>
              <a:rPr sz="1800" i="1" dirty="0">
                <a:solidFill>
                  <a:srgbClr val="6F2F9F"/>
                </a:solidFill>
                <a:latin typeface="Calibri"/>
                <a:cs typeface="Calibri"/>
              </a:rPr>
              <a:t>BRISK</a:t>
            </a:r>
            <a:r>
              <a:rPr sz="1800" dirty="0">
                <a:latin typeface="Calibri"/>
                <a:cs typeface="Calibri"/>
              </a:rPr>
              <a:t>: 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1800" spc="-5" dirty="0">
                <a:latin typeface="Calibri"/>
                <a:cs typeface="Calibri"/>
              </a:rPr>
              <a:t>inary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obust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spc="-10" dirty="0">
                <a:latin typeface="Calibri"/>
                <a:cs typeface="Calibri"/>
              </a:rPr>
              <a:t>nvariant 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calable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K</a:t>
            </a:r>
            <a:r>
              <a:rPr sz="1800" spc="-5" dirty="0">
                <a:latin typeface="Calibri"/>
                <a:cs typeface="Calibri"/>
              </a:rPr>
              <a:t>eypoints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(aplicable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a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esquinas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o</a:t>
            </a:r>
            <a:r>
              <a:rPr sz="16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blobs)</a:t>
            </a:r>
            <a:endParaRPr sz="16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05"/>
              </a:spcBef>
              <a:buFont typeface="Calibri"/>
              <a:buChar char="-"/>
              <a:tabLst>
                <a:tab pos="389255" algn="l"/>
              </a:tabLst>
            </a:pPr>
            <a:r>
              <a:rPr sz="1800" i="1" spc="-10" dirty="0">
                <a:solidFill>
                  <a:srgbClr val="6F2F9F"/>
                </a:solidFill>
                <a:latin typeface="Calibri"/>
                <a:cs typeface="Calibri"/>
              </a:rPr>
              <a:t>FREAK</a:t>
            </a:r>
            <a:r>
              <a:rPr sz="1800" spc="-10" dirty="0">
                <a:latin typeface="Calibri"/>
                <a:cs typeface="Calibri"/>
              </a:rPr>
              <a:t>: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1800" spc="-5" dirty="0">
                <a:latin typeface="Calibri"/>
                <a:cs typeface="Calibri"/>
              </a:rPr>
              <a:t>ast 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RE</a:t>
            </a:r>
            <a:r>
              <a:rPr sz="1800" spc="-5" dirty="0">
                <a:latin typeface="Calibri"/>
                <a:cs typeface="Calibri"/>
              </a:rPr>
              <a:t>tin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A K</a:t>
            </a:r>
            <a:r>
              <a:rPr sz="1800" spc="-5" dirty="0">
                <a:latin typeface="Calibri"/>
                <a:cs typeface="Calibri"/>
              </a:rPr>
              <a:t>eypoint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(aplicable</a:t>
            </a:r>
            <a:r>
              <a:rPr sz="16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a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esquinas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o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blobs)</a:t>
            </a:r>
            <a:endParaRPr sz="16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395"/>
              </a:spcBef>
              <a:buFont typeface="Calibri"/>
              <a:buChar char="-"/>
              <a:tabLst>
                <a:tab pos="389255" algn="l"/>
              </a:tabLst>
            </a:pPr>
            <a:r>
              <a:rPr sz="1800" i="1" spc="-5" dirty="0">
                <a:solidFill>
                  <a:srgbClr val="6F2F9F"/>
                </a:solidFill>
                <a:latin typeface="Calibri"/>
                <a:cs typeface="Calibri"/>
              </a:rPr>
              <a:t>MOPS:</a:t>
            </a:r>
            <a:r>
              <a:rPr sz="1800" i="1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1800" spc="-5" dirty="0">
                <a:latin typeface="Calibri"/>
                <a:cs typeface="Calibri"/>
              </a:rPr>
              <a:t>ulti-scale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spc="-10" dirty="0">
                <a:latin typeface="Calibri"/>
                <a:cs typeface="Calibri"/>
              </a:rPr>
              <a:t>riented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1800" spc="-10" dirty="0">
                <a:latin typeface="Calibri"/>
                <a:cs typeface="Calibri"/>
              </a:rPr>
              <a:t>atche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00"/>
              </a:spcBef>
              <a:buFont typeface="Calibri"/>
              <a:buChar char="-"/>
              <a:tabLst>
                <a:tab pos="389255" algn="l"/>
              </a:tabLst>
            </a:pPr>
            <a:r>
              <a:rPr sz="1800" i="1" spc="-5" dirty="0">
                <a:solidFill>
                  <a:srgbClr val="6F2F9F"/>
                </a:solidFill>
                <a:latin typeface="Calibri"/>
                <a:cs typeface="Calibri"/>
              </a:rPr>
              <a:t>MSER:</a:t>
            </a:r>
            <a:r>
              <a:rPr sz="1800" i="1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1800" spc="-5" dirty="0">
                <a:latin typeface="Calibri"/>
                <a:cs typeface="Calibri"/>
              </a:rPr>
              <a:t>aximally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table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spc="-10" dirty="0">
                <a:latin typeface="Calibri"/>
                <a:cs typeface="Calibri"/>
              </a:rPr>
              <a:t>xtremal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egions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2520" y="4707635"/>
            <a:ext cx="1703831" cy="1793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73823" y="4707635"/>
            <a:ext cx="1702307" cy="1793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2960" y="4707635"/>
            <a:ext cx="1702307" cy="17937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72739" y="4707635"/>
            <a:ext cx="1703832" cy="179374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49653" y="6474358"/>
            <a:ext cx="2781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SIFT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  <p:sp>
        <p:nvSpPr>
          <p:cNvPr id="9" name="object 9"/>
          <p:cNvSpPr txBox="1"/>
          <p:nvPr/>
        </p:nvSpPr>
        <p:spPr>
          <a:xfrm>
            <a:off x="3497707" y="6474358"/>
            <a:ext cx="346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SURF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45658" y="6474358"/>
            <a:ext cx="3181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7E7E7E"/>
                </a:solidFill>
                <a:latin typeface="Calibri"/>
                <a:cs typeface="Calibri"/>
              </a:rPr>
              <a:t>F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A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S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40828" y="6474358"/>
            <a:ext cx="2914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O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R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B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9680113E-7103-311B-A098-81541A08C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Ingeniería de Sistemas - UNCP">
            <a:extLst>
              <a:ext uri="{FF2B5EF4-FFF2-40B4-BE49-F238E27FC236}">
                <a16:creationId xmlns:a16="http://schemas.microsoft.com/office/drawing/2014/main" id="{43E43A82-7A86-6A7B-163F-AE78ADE67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1105" y="6633464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</a:rPr>
              <a:t>18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Descriptores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7794" y="922782"/>
            <a:ext cx="8230870" cy="2573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SIFT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latin typeface="Calibri"/>
                <a:cs typeface="Calibri"/>
              </a:rPr>
              <a:t>Utiliza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puntos </a:t>
            </a:r>
            <a:r>
              <a:rPr sz="2000" spc="-5" dirty="0">
                <a:latin typeface="Calibri"/>
                <a:cs typeface="Calibri"/>
              </a:rPr>
              <a:t>de </a:t>
            </a:r>
            <a:r>
              <a:rPr sz="2000" spc="-10" dirty="0">
                <a:latin typeface="Calibri"/>
                <a:cs typeface="Calibri"/>
              </a:rPr>
              <a:t>interés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obtenidos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 </a:t>
            </a:r>
            <a:r>
              <a:rPr sz="2000" spc="-10" dirty="0">
                <a:latin typeface="Calibri"/>
                <a:cs typeface="Calibri"/>
              </a:rPr>
              <a:t>detector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DoG </a:t>
            </a:r>
            <a:r>
              <a:rPr sz="2000" spc="-10" dirty="0">
                <a:latin typeface="Calibri"/>
                <a:cs typeface="Calibri"/>
              </a:rPr>
              <a:t>piramidal</a:t>
            </a:r>
            <a:endParaRPr sz="20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Obtiene</a:t>
            </a:r>
            <a:r>
              <a:rPr sz="2000" dirty="0">
                <a:latin typeface="Calibri"/>
                <a:cs typeface="Calibri"/>
              </a:rPr>
              <a:t> una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descripción</a:t>
            </a:r>
            <a:r>
              <a:rPr sz="2000" dirty="0">
                <a:latin typeface="Calibri"/>
                <a:cs typeface="Calibri"/>
              </a:rPr>
              <a:t> 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cada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punto </a:t>
            </a:r>
            <a:r>
              <a:rPr sz="2000" spc="-5" dirty="0">
                <a:latin typeface="Calibri"/>
                <a:cs typeface="Calibri"/>
              </a:rPr>
              <a:t>por </a:t>
            </a:r>
            <a:r>
              <a:rPr sz="2000" spc="-10" dirty="0">
                <a:latin typeface="Calibri"/>
                <a:cs typeface="Calibri"/>
              </a:rPr>
              <a:t>separado</a:t>
            </a:r>
            <a:endParaRPr sz="20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Etapa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1:</a:t>
            </a:r>
            <a:r>
              <a:rPr sz="2000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“Estandarizar”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orientación</a:t>
            </a:r>
            <a:endParaRPr sz="18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30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realiza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histograma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(de</a:t>
            </a:r>
            <a:r>
              <a:rPr sz="16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36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barras)</a:t>
            </a:r>
            <a:r>
              <a:rPr sz="1600" spc="8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“orientación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gradiente”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alrededor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del</a:t>
            </a:r>
            <a:endParaRPr sz="1800">
              <a:latin typeface="Calibri"/>
              <a:cs typeface="Calibri"/>
            </a:endParaRPr>
          </a:p>
          <a:p>
            <a:pPr marL="38862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punto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interés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4202" y="6023864"/>
            <a:ext cx="6219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3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orientación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θ</a:t>
            </a:r>
            <a:r>
              <a:rPr sz="1800" dirty="0">
                <a:latin typeface="Calibri"/>
                <a:cs typeface="Calibri"/>
              </a:rPr>
              <a:t>)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 el </a:t>
            </a:r>
            <a:r>
              <a:rPr sz="1800" spc="-5" dirty="0">
                <a:latin typeface="Calibri"/>
                <a:cs typeface="Calibri"/>
              </a:rPr>
              <a:t>máximo</a:t>
            </a:r>
            <a:r>
              <a:rPr sz="1800" dirty="0">
                <a:latin typeface="Calibri"/>
                <a:cs typeface="Calibri"/>
              </a:rPr>
              <a:t> del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histograma: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“rota”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según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θ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6491" y="3717035"/>
            <a:ext cx="4248531" cy="21777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4667" y="4102608"/>
            <a:ext cx="1380744" cy="121005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3345099" y="4580926"/>
            <a:ext cx="317500" cy="299085"/>
            <a:chOff x="3345099" y="4580926"/>
            <a:chExt cx="317500" cy="29908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45099" y="4580926"/>
              <a:ext cx="317209" cy="29908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83280" y="4587239"/>
              <a:ext cx="252984" cy="24231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383280" y="4587239"/>
              <a:ext cx="253365" cy="242570"/>
            </a:xfrm>
            <a:custGeom>
              <a:avLst/>
              <a:gdLst/>
              <a:ahLst/>
              <a:cxnLst/>
              <a:rect l="l" t="t" r="r" b="b"/>
              <a:pathLst>
                <a:path w="253364" h="242570">
                  <a:moveTo>
                    <a:pt x="0" y="60579"/>
                  </a:moveTo>
                  <a:lnTo>
                    <a:pt x="131825" y="60579"/>
                  </a:lnTo>
                  <a:lnTo>
                    <a:pt x="131825" y="0"/>
                  </a:lnTo>
                  <a:lnTo>
                    <a:pt x="252984" y="121158"/>
                  </a:lnTo>
                  <a:lnTo>
                    <a:pt x="131825" y="242316"/>
                  </a:lnTo>
                  <a:lnTo>
                    <a:pt x="131825" y="181737"/>
                  </a:lnTo>
                  <a:lnTo>
                    <a:pt x="0" y="181737"/>
                  </a:lnTo>
                  <a:lnTo>
                    <a:pt x="0" y="60579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985007" y="6618223"/>
            <a:ext cx="391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7E7E7E"/>
                </a:solidFill>
                <a:latin typeface="Calibri"/>
                <a:cs typeface="Calibri"/>
              </a:rPr>
              <a:t>[Imagen</a:t>
            </a:r>
            <a:r>
              <a:rPr sz="900" spc="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7E7E7E"/>
                </a:solidFill>
                <a:latin typeface="Calibri"/>
                <a:cs typeface="Calibri"/>
              </a:rPr>
              <a:t>de:</a:t>
            </a:r>
            <a:r>
              <a:rPr sz="900" spc="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7E7E7E"/>
                </a:solidFill>
                <a:latin typeface="Calibri"/>
                <a:cs typeface="Calibri"/>
              </a:rPr>
              <a:t>aishack.in/tutorials/sift-scale-invariant-feature-transform-introduction]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6AB2BCAB-B45D-3914-5F1F-086F9ECA7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Ingeniería de Sistemas - UNCP">
            <a:extLst>
              <a:ext uri="{FF2B5EF4-FFF2-40B4-BE49-F238E27FC236}">
                <a16:creationId xmlns:a16="http://schemas.microsoft.com/office/drawing/2014/main" id="{67B68505-22F3-0708-F1A7-E17368BFA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Descriptores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7047230" cy="17138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1105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SIFT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Etapa</a:t>
            </a:r>
            <a:r>
              <a:rPr sz="2000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2:</a:t>
            </a:r>
            <a:r>
              <a:rPr sz="2000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Histograma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orientaciones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usa una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ventana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16x16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alrededor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punto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interés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(“keypoint”)</a:t>
            </a:r>
            <a:endParaRPr sz="16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ventana</a:t>
            </a:r>
            <a:r>
              <a:rPr sz="1800" spc="-5" dirty="0">
                <a:latin typeface="Calibri"/>
                <a:cs typeface="Calibri"/>
              </a:rPr>
              <a:t> se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divide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sub-ventanas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4x4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(16</a:t>
            </a:r>
            <a:r>
              <a:rPr sz="16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sub-ventanas)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202" y="5107304"/>
            <a:ext cx="7233284" cy="1151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0565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Ventana</a:t>
            </a:r>
            <a:r>
              <a:rPr sz="14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de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16x16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 píxeles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50">
              <a:latin typeface="Calibri"/>
              <a:cs typeface="Calibri"/>
            </a:endParaRPr>
          </a:p>
          <a:p>
            <a:pPr marL="172720" indent="-160020">
              <a:lnSpc>
                <a:spcPct val="100000"/>
              </a:lnSpc>
              <a:buChar char="-"/>
              <a:tabLst>
                <a:tab pos="172720" algn="l"/>
              </a:tabLst>
            </a:pPr>
            <a:r>
              <a:rPr sz="1800" spc="-5" dirty="0">
                <a:latin typeface="Calibri"/>
                <a:cs typeface="Calibri"/>
              </a:rPr>
              <a:t>En cada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sub-ventana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calcula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-10" dirty="0">
                <a:latin typeface="Calibri"/>
                <a:cs typeface="Calibri"/>
              </a:rPr>
              <a:t>histograma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orientaciones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gradiente</a:t>
            </a:r>
            <a:endParaRPr sz="1800">
              <a:latin typeface="Calibri"/>
              <a:cs typeface="Calibri"/>
            </a:endParaRPr>
          </a:p>
          <a:p>
            <a:pPr marL="172720" indent="-160020">
              <a:lnSpc>
                <a:spcPct val="100000"/>
              </a:lnSpc>
              <a:spcBef>
                <a:spcPts val="434"/>
              </a:spcBef>
              <a:buChar char="-"/>
              <a:tabLst>
                <a:tab pos="172720" algn="l"/>
              </a:tabLst>
            </a:pPr>
            <a:r>
              <a:rPr sz="1800" spc="-5" dirty="0">
                <a:latin typeface="Calibri"/>
                <a:cs typeface="Calibri"/>
              </a:rPr>
              <a:t>Se usa </a:t>
            </a:r>
            <a:r>
              <a:rPr sz="1800" dirty="0">
                <a:latin typeface="Calibri"/>
                <a:cs typeface="Calibri"/>
              </a:rPr>
              <a:t>8 </a:t>
            </a:r>
            <a:r>
              <a:rPr sz="1800" spc="-10" dirty="0">
                <a:latin typeface="Calibri"/>
                <a:cs typeface="Calibri"/>
              </a:rPr>
              <a:t>orientaciones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(8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“barras”)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71955" y="2866580"/>
            <a:ext cx="4333240" cy="2223770"/>
            <a:chOff x="1171955" y="2866580"/>
            <a:chExt cx="4333240" cy="22237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1955" y="2929127"/>
              <a:ext cx="2182368" cy="21610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701289" y="2879597"/>
              <a:ext cx="652780" cy="652780"/>
            </a:xfrm>
            <a:custGeom>
              <a:avLst/>
              <a:gdLst/>
              <a:ahLst/>
              <a:cxnLst/>
              <a:rect l="l" t="t" r="r" b="b"/>
              <a:pathLst>
                <a:path w="652779" h="652779">
                  <a:moveTo>
                    <a:pt x="0" y="326136"/>
                  </a:moveTo>
                  <a:lnTo>
                    <a:pt x="3536" y="277949"/>
                  </a:lnTo>
                  <a:lnTo>
                    <a:pt x="13811" y="231956"/>
                  </a:lnTo>
                  <a:lnTo>
                    <a:pt x="30317" y="188659"/>
                  </a:lnTo>
                  <a:lnTo>
                    <a:pt x="52551" y="148566"/>
                  </a:lnTo>
                  <a:lnTo>
                    <a:pt x="80007" y="112180"/>
                  </a:lnTo>
                  <a:lnTo>
                    <a:pt x="112180" y="80007"/>
                  </a:lnTo>
                  <a:lnTo>
                    <a:pt x="148566" y="52551"/>
                  </a:lnTo>
                  <a:lnTo>
                    <a:pt x="188659" y="30317"/>
                  </a:lnTo>
                  <a:lnTo>
                    <a:pt x="231956" y="13811"/>
                  </a:lnTo>
                  <a:lnTo>
                    <a:pt x="277949" y="3536"/>
                  </a:lnTo>
                  <a:lnTo>
                    <a:pt x="326136" y="0"/>
                  </a:lnTo>
                  <a:lnTo>
                    <a:pt x="374322" y="3536"/>
                  </a:lnTo>
                  <a:lnTo>
                    <a:pt x="420315" y="13811"/>
                  </a:lnTo>
                  <a:lnTo>
                    <a:pt x="463612" y="30317"/>
                  </a:lnTo>
                  <a:lnTo>
                    <a:pt x="503705" y="52551"/>
                  </a:lnTo>
                  <a:lnTo>
                    <a:pt x="540091" y="80007"/>
                  </a:lnTo>
                  <a:lnTo>
                    <a:pt x="572264" y="112180"/>
                  </a:lnTo>
                  <a:lnTo>
                    <a:pt x="599720" y="148566"/>
                  </a:lnTo>
                  <a:lnTo>
                    <a:pt x="621954" y="188659"/>
                  </a:lnTo>
                  <a:lnTo>
                    <a:pt x="638460" y="231956"/>
                  </a:lnTo>
                  <a:lnTo>
                    <a:pt x="648735" y="277949"/>
                  </a:lnTo>
                  <a:lnTo>
                    <a:pt x="652272" y="326136"/>
                  </a:lnTo>
                  <a:lnTo>
                    <a:pt x="648735" y="374322"/>
                  </a:lnTo>
                  <a:lnTo>
                    <a:pt x="638460" y="420315"/>
                  </a:lnTo>
                  <a:lnTo>
                    <a:pt x="621954" y="463612"/>
                  </a:lnTo>
                  <a:lnTo>
                    <a:pt x="599720" y="503705"/>
                  </a:lnTo>
                  <a:lnTo>
                    <a:pt x="572264" y="540091"/>
                  </a:lnTo>
                  <a:lnTo>
                    <a:pt x="540091" y="572264"/>
                  </a:lnTo>
                  <a:lnTo>
                    <a:pt x="503705" y="599720"/>
                  </a:lnTo>
                  <a:lnTo>
                    <a:pt x="463612" y="621954"/>
                  </a:lnTo>
                  <a:lnTo>
                    <a:pt x="420315" y="638460"/>
                  </a:lnTo>
                  <a:lnTo>
                    <a:pt x="374322" y="648735"/>
                  </a:lnTo>
                  <a:lnTo>
                    <a:pt x="326136" y="652272"/>
                  </a:lnTo>
                  <a:lnTo>
                    <a:pt x="277949" y="648735"/>
                  </a:lnTo>
                  <a:lnTo>
                    <a:pt x="231956" y="638460"/>
                  </a:lnTo>
                  <a:lnTo>
                    <a:pt x="188659" y="621954"/>
                  </a:lnTo>
                  <a:lnTo>
                    <a:pt x="148566" y="599720"/>
                  </a:lnTo>
                  <a:lnTo>
                    <a:pt x="112180" y="572264"/>
                  </a:lnTo>
                  <a:lnTo>
                    <a:pt x="80007" y="540091"/>
                  </a:lnTo>
                  <a:lnTo>
                    <a:pt x="52551" y="503705"/>
                  </a:lnTo>
                  <a:lnTo>
                    <a:pt x="30317" y="463612"/>
                  </a:lnTo>
                  <a:lnTo>
                    <a:pt x="13811" y="420315"/>
                  </a:lnTo>
                  <a:lnTo>
                    <a:pt x="3536" y="374322"/>
                  </a:lnTo>
                  <a:lnTo>
                    <a:pt x="0" y="326136"/>
                  </a:lnTo>
                  <a:close/>
                </a:path>
              </a:pathLst>
            </a:custGeom>
            <a:ln w="25908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36135" y="3325367"/>
              <a:ext cx="1368552" cy="1359408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6501384" y="3503676"/>
            <a:ext cx="2138680" cy="972185"/>
            <a:chOff x="6501384" y="3503676"/>
            <a:chExt cx="2138680" cy="972185"/>
          </a:xfrm>
        </p:grpSpPr>
        <p:sp>
          <p:nvSpPr>
            <p:cNvPr id="10" name="object 10"/>
            <p:cNvSpPr/>
            <p:nvPr/>
          </p:nvSpPr>
          <p:spPr>
            <a:xfrm>
              <a:off x="6505956" y="4372356"/>
              <a:ext cx="2133600" cy="103505"/>
            </a:xfrm>
            <a:custGeom>
              <a:avLst/>
              <a:gdLst/>
              <a:ahLst/>
              <a:cxnLst/>
              <a:rect l="l" t="t" r="r" b="b"/>
              <a:pathLst>
                <a:path w="2133600" h="103504">
                  <a:moveTo>
                    <a:pt x="2045080" y="0"/>
                  </a:moveTo>
                  <a:lnTo>
                    <a:pt x="2041144" y="1016"/>
                  </a:lnTo>
                  <a:lnTo>
                    <a:pt x="2037588" y="7112"/>
                  </a:lnTo>
                  <a:lnTo>
                    <a:pt x="2038603" y="11049"/>
                  </a:lnTo>
                  <a:lnTo>
                    <a:pt x="2097575" y="45449"/>
                  </a:lnTo>
                  <a:lnTo>
                    <a:pt x="2121027" y="45466"/>
                  </a:lnTo>
                  <a:lnTo>
                    <a:pt x="2121027" y="58166"/>
                  </a:lnTo>
                  <a:lnTo>
                    <a:pt x="2097548" y="58166"/>
                  </a:lnTo>
                  <a:lnTo>
                    <a:pt x="2038603" y="92456"/>
                  </a:lnTo>
                  <a:lnTo>
                    <a:pt x="2037588" y="96393"/>
                  </a:lnTo>
                  <a:lnTo>
                    <a:pt x="2039366" y="99441"/>
                  </a:lnTo>
                  <a:lnTo>
                    <a:pt x="2041017" y="102489"/>
                  </a:lnTo>
                  <a:lnTo>
                    <a:pt x="2044953" y="103505"/>
                  </a:lnTo>
                  <a:lnTo>
                    <a:pt x="2122709" y="58166"/>
                  </a:lnTo>
                  <a:lnTo>
                    <a:pt x="2121027" y="58166"/>
                  </a:lnTo>
                  <a:lnTo>
                    <a:pt x="2122738" y="58149"/>
                  </a:lnTo>
                  <a:lnTo>
                    <a:pt x="2133600" y="51816"/>
                  </a:lnTo>
                  <a:lnTo>
                    <a:pt x="2048002" y="1778"/>
                  </a:lnTo>
                  <a:lnTo>
                    <a:pt x="2045080" y="0"/>
                  </a:lnTo>
                  <a:close/>
                </a:path>
                <a:path w="2133600" h="103504">
                  <a:moveTo>
                    <a:pt x="2108477" y="51808"/>
                  </a:moveTo>
                  <a:lnTo>
                    <a:pt x="2097577" y="58149"/>
                  </a:lnTo>
                  <a:lnTo>
                    <a:pt x="2121027" y="58166"/>
                  </a:lnTo>
                  <a:lnTo>
                    <a:pt x="2121027" y="57277"/>
                  </a:lnTo>
                  <a:lnTo>
                    <a:pt x="2117852" y="57277"/>
                  </a:lnTo>
                  <a:lnTo>
                    <a:pt x="2108477" y="51808"/>
                  </a:lnTo>
                  <a:close/>
                </a:path>
                <a:path w="2133600" h="103504">
                  <a:moveTo>
                    <a:pt x="0" y="43942"/>
                  </a:moveTo>
                  <a:lnTo>
                    <a:pt x="0" y="56642"/>
                  </a:lnTo>
                  <a:lnTo>
                    <a:pt x="2097577" y="58149"/>
                  </a:lnTo>
                  <a:lnTo>
                    <a:pt x="2108477" y="51808"/>
                  </a:lnTo>
                  <a:lnTo>
                    <a:pt x="2097575" y="45449"/>
                  </a:lnTo>
                  <a:lnTo>
                    <a:pt x="0" y="43942"/>
                  </a:lnTo>
                  <a:close/>
                </a:path>
                <a:path w="2133600" h="103504">
                  <a:moveTo>
                    <a:pt x="2117852" y="46355"/>
                  </a:moveTo>
                  <a:lnTo>
                    <a:pt x="2108477" y="51808"/>
                  </a:lnTo>
                  <a:lnTo>
                    <a:pt x="2117852" y="57277"/>
                  </a:lnTo>
                  <a:lnTo>
                    <a:pt x="2117852" y="46355"/>
                  </a:lnTo>
                  <a:close/>
                </a:path>
                <a:path w="2133600" h="103504">
                  <a:moveTo>
                    <a:pt x="2121027" y="46355"/>
                  </a:moveTo>
                  <a:lnTo>
                    <a:pt x="2117852" y="46355"/>
                  </a:lnTo>
                  <a:lnTo>
                    <a:pt x="2117852" y="57277"/>
                  </a:lnTo>
                  <a:lnTo>
                    <a:pt x="2121027" y="57277"/>
                  </a:lnTo>
                  <a:lnTo>
                    <a:pt x="2121027" y="46355"/>
                  </a:lnTo>
                  <a:close/>
                </a:path>
                <a:path w="2133600" h="103504">
                  <a:moveTo>
                    <a:pt x="2097575" y="45449"/>
                  </a:moveTo>
                  <a:lnTo>
                    <a:pt x="2108477" y="51808"/>
                  </a:lnTo>
                  <a:lnTo>
                    <a:pt x="2117852" y="46355"/>
                  </a:lnTo>
                  <a:lnTo>
                    <a:pt x="2121027" y="46355"/>
                  </a:lnTo>
                  <a:lnTo>
                    <a:pt x="2121027" y="45466"/>
                  </a:lnTo>
                  <a:lnTo>
                    <a:pt x="2097575" y="454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05956" y="3508248"/>
              <a:ext cx="228600" cy="914400"/>
            </a:xfrm>
            <a:custGeom>
              <a:avLst/>
              <a:gdLst/>
              <a:ahLst/>
              <a:cxnLst/>
              <a:rect l="l" t="t" r="r" b="b"/>
              <a:pathLst>
                <a:path w="228600" h="914400">
                  <a:moveTo>
                    <a:pt x="2286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28600" y="9144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505956" y="3508248"/>
              <a:ext cx="228600" cy="914400"/>
            </a:xfrm>
            <a:custGeom>
              <a:avLst/>
              <a:gdLst/>
              <a:ahLst/>
              <a:cxnLst/>
              <a:rect l="l" t="t" r="r" b="b"/>
              <a:pathLst>
                <a:path w="228600" h="914400">
                  <a:moveTo>
                    <a:pt x="0" y="914400"/>
                  </a:moveTo>
                  <a:lnTo>
                    <a:pt x="228600" y="9144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34556" y="3965448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2286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228600" y="4572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34556" y="3965448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0" y="457200"/>
                  </a:moveTo>
                  <a:lnTo>
                    <a:pt x="228600" y="4572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963156" y="4119372"/>
              <a:ext cx="228600" cy="303530"/>
            </a:xfrm>
            <a:custGeom>
              <a:avLst/>
              <a:gdLst/>
              <a:ahLst/>
              <a:cxnLst/>
              <a:rect l="l" t="t" r="r" b="b"/>
              <a:pathLst>
                <a:path w="228600" h="303529">
                  <a:moveTo>
                    <a:pt x="228600" y="0"/>
                  </a:moveTo>
                  <a:lnTo>
                    <a:pt x="0" y="0"/>
                  </a:lnTo>
                  <a:lnTo>
                    <a:pt x="0" y="303275"/>
                  </a:lnTo>
                  <a:lnTo>
                    <a:pt x="228600" y="303275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63156" y="4119372"/>
              <a:ext cx="228600" cy="303530"/>
            </a:xfrm>
            <a:custGeom>
              <a:avLst/>
              <a:gdLst/>
              <a:ahLst/>
              <a:cxnLst/>
              <a:rect l="l" t="t" r="r" b="b"/>
              <a:pathLst>
                <a:path w="228600" h="303529">
                  <a:moveTo>
                    <a:pt x="0" y="303275"/>
                  </a:moveTo>
                  <a:lnTo>
                    <a:pt x="228600" y="30327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30327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191756" y="4343400"/>
              <a:ext cx="228600" cy="79375"/>
            </a:xfrm>
            <a:custGeom>
              <a:avLst/>
              <a:gdLst/>
              <a:ahLst/>
              <a:cxnLst/>
              <a:rect l="l" t="t" r="r" b="b"/>
              <a:pathLst>
                <a:path w="228600" h="79375">
                  <a:moveTo>
                    <a:pt x="228600" y="0"/>
                  </a:moveTo>
                  <a:lnTo>
                    <a:pt x="0" y="0"/>
                  </a:lnTo>
                  <a:lnTo>
                    <a:pt x="0" y="79248"/>
                  </a:lnTo>
                  <a:lnTo>
                    <a:pt x="228600" y="79248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91756" y="4343400"/>
              <a:ext cx="228600" cy="79375"/>
            </a:xfrm>
            <a:custGeom>
              <a:avLst/>
              <a:gdLst/>
              <a:ahLst/>
              <a:cxnLst/>
              <a:rect l="l" t="t" r="r" b="b"/>
              <a:pathLst>
                <a:path w="228600" h="79375">
                  <a:moveTo>
                    <a:pt x="0" y="79248"/>
                  </a:moveTo>
                  <a:lnTo>
                    <a:pt x="228600" y="79248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7924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20356" y="4119372"/>
              <a:ext cx="228600" cy="303530"/>
            </a:xfrm>
            <a:custGeom>
              <a:avLst/>
              <a:gdLst/>
              <a:ahLst/>
              <a:cxnLst/>
              <a:rect l="l" t="t" r="r" b="b"/>
              <a:pathLst>
                <a:path w="228600" h="303529">
                  <a:moveTo>
                    <a:pt x="228600" y="0"/>
                  </a:moveTo>
                  <a:lnTo>
                    <a:pt x="0" y="0"/>
                  </a:lnTo>
                  <a:lnTo>
                    <a:pt x="0" y="303275"/>
                  </a:lnTo>
                  <a:lnTo>
                    <a:pt x="228600" y="303275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420356" y="4119372"/>
              <a:ext cx="228600" cy="303530"/>
            </a:xfrm>
            <a:custGeom>
              <a:avLst/>
              <a:gdLst/>
              <a:ahLst/>
              <a:cxnLst/>
              <a:rect l="l" t="t" r="r" b="b"/>
              <a:pathLst>
                <a:path w="228600" h="303529">
                  <a:moveTo>
                    <a:pt x="0" y="303275"/>
                  </a:moveTo>
                  <a:lnTo>
                    <a:pt x="228600" y="30327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30327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648956" y="4343400"/>
              <a:ext cx="228600" cy="79375"/>
            </a:xfrm>
            <a:custGeom>
              <a:avLst/>
              <a:gdLst/>
              <a:ahLst/>
              <a:cxnLst/>
              <a:rect l="l" t="t" r="r" b="b"/>
              <a:pathLst>
                <a:path w="228600" h="79375">
                  <a:moveTo>
                    <a:pt x="228600" y="0"/>
                  </a:moveTo>
                  <a:lnTo>
                    <a:pt x="0" y="0"/>
                  </a:lnTo>
                  <a:lnTo>
                    <a:pt x="0" y="79248"/>
                  </a:lnTo>
                  <a:lnTo>
                    <a:pt x="228600" y="79248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648956" y="4343400"/>
              <a:ext cx="228600" cy="79375"/>
            </a:xfrm>
            <a:custGeom>
              <a:avLst/>
              <a:gdLst/>
              <a:ahLst/>
              <a:cxnLst/>
              <a:rect l="l" t="t" r="r" b="b"/>
              <a:pathLst>
                <a:path w="228600" h="79375">
                  <a:moveTo>
                    <a:pt x="0" y="79248"/>
                  </a:moveTo>
                  <a:lnTo>
                    <a:pt x="228600" y="79248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7924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877556" y="4119372"/>
              <a:ext cx="228600" cy="303530"/>
            </a:xfrm>
            <a:custGeom>
              <a:avLst/>
              <a:gdLst/>
              <a:ahLst/>
              <a:cxnLst/>
              <a:rect l="l" t="t" r="r" b="b"/>
              <a:pathLst>
                <a:path w="228600" h="303529">
                  <a:moveTo>
                    <a:pt x="228600" y="0"/>
                  </a:moveTo>
                  <a:lnTo>
                    <a:pt x="0" y="0"/>
                  </a:lnTo>
                  <a:lnTo>
                    <a:pt x="0" y="303275"/>
                  </a:lnTo>
                  <a:lnTo>
                    <a:pt x="228600" y="303275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877556" y="4119372"/>
              <a:ext cx="228600" cy="303530"/>
            </a:xfrm>
            <a:custGeom>
              <a:avLst/>
              <a:gdLst/>
              <a:ahLst/>
              <a:cxnLst/>
              <a:rect l="l" t="t" r="r" b="b"/>
              <a:pathLst>
                <a:path w="228600" h="303529">
                  <a:moveTo>
                    <a:pt x="0" y="303275"/>
                  </a:moveTo>
                  <a:lnTo>
                    <a:pt x="228600" y="30327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30327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06156" y="4119372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2286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28600" y="3048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106156" y="4119372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0" y="304800"/>
                  </a:moveTo>
                  <a:lnTo>
                    <a:pt x="228600" y="3048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458458" y="4415738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7E7E7E"/>
                </a:solidFill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74663" y="4326150"/>
            <a:ext cx="1955800" cy="59182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25"/>
              </a:spcBef>
            </a:pPr>
            <a:r>
              <a:rPr sz="1600" dirty="0">
                <a:solidFill>
                  <a:srgbClr val="7E7E7E"/>
                </a:solidFill>
                <a:latin typeface="Times New Roman"/>
                <a:cs typeface="Times New Roman"/>
              </a:rPr>
              <a:t>360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Histograma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 de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orientaciones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00321" y="4680584"/>
            <a:ext cx="14401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sub-ventana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 de</a:t>
            </a:r>
            <a:r>
              <a:rPr sz="14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4x4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346577" y="3315208"/>
            <a:ext cx="772795" cy="496570"/>
          </a:xfrm>
          <a:custGeom>
            <a:avLst/>
            <a:gdLst/>
            <a:ahLst/>
            <a:cxnLst/>
            <a:rect l="l" t="t" r="r" b="b"/>
            <a:pathLst>
              <a:path w="772795" h="496570">
                <a:moveTo>
                  <a:pt x="700162" y="465776"/>
                </a:moveTo>
                <a:lnTo>
                  <a:pt x="686308" y="487679"/>
                </a:lnTo>
                <a:lnTo>
                  <a:pt x="772668" y="496442"/>
                </a:lnTo>
                <a:lnTo>
                  <a:pt x="758361" y="472693"/>
                </a:lnTo>
                <a:lnTo>
                  <a:pt x="711073" y="472693"/>
                </a:lnTo>
                <a:lnTo>
                  <a:pt x="700162" y="465776"/>
                </a:lnTo>
                <a:close/>
              </a:path>
              <a:path w="772795" h="496570">
                <a:moveTo>
                  <a:pt x="713986" y="443919"/>
                </a:moveTo>
                <a:lnTo>
                  <a:pt x="700162" y="465776"/>
                </a:lnTo>
                <a:lnTo>
                  <a:pt x="711073" y="472693"/>
                </a:lnTo>
                <a:lnTo>
                  <a:pt x="724915" y="450849"/>
                </a:lnTo>
                <a:lnTo>
                  <a:pt x="713986" y="443919"/>
                </a:lnTo>
                <a:close/>
              </a:path>
              <a:path w="772795" h="496570">
                <a:moveTo>
                  <a:pt x="727837" y="422020"/>
                </a:moveTo>
                <a:lnTo>
                  <a:pt x="713986" y="443919"/>
                </a:lnTo>
                <a:lnTo>
                  <a:pt x="724915" y="450849"/>
                </a:lnTo>
                <a:lnTo>
                  <a:pt x="711073" y="472693"/>
                </a:lnTo>
                <a:lnTo>
                  <a:pt x="758361" y="472693"/>
                </a:lnTo>
                <a:lnTo>
                  <a:pt x="727837" y="422020"/>
                </a:lnTo>
                <a:close/>
              </a:path>
              <a:path w="772795" h="496570">
                <a:moveTo>
                  <a:pt x="13970" y="0"/>
                </a:moveTo>
                <a:lnTo>
                  <a:pt x="0" y="21843"/>
                </a:lnTo>
                <a:lnTo>
                  <a:pt x="700162" y="465776"/>
                </a:lnTo>
                <a:lnTo>
                  <a:pt x="713986" y="443919"/>
                </a:lnTo>
                <a:lnTo>
                  <a:pt x="1397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5871881" y="3928666"/>
            <a:ext cx="280670" cy="317500"/>
            <a:chOff x="5871881" y="3928666"/>
            <a:chExt cx="280670" cy="317500"/>
          </a:xfrm>
        </p:grpSpPr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71881" y="3928666"/>
              <a:ext cx="280661" cy="31735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10071" y="3936491"/>
              <a:ext cx="216407" cy="25755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910071" y="3936491"/>
              <a:ext cx="216535" cy="257810"/>
            </a:xfrm>
            <a:custGeom>
              <a:avLst/>
              <a:gdLst/>
              <a:ahLst/>
              <a:cxnLst/>
              <a:rect l="l" t="t" r="r" b="b"/>
              <a:pathLst>
                <a:path w="216535" h="257810">
                  <a:moveTo>
                    <a:pt x="0" y="64388"/>
                  </a:moveTo>
                  <a:lnTo>
                    <a:pt x="108203" y="64388"/>
                  </a:lnTo>
                  <a:lnTo>
                    <a:pt x="108203" y="0"/>
                  </a:lnTo>
                  <a:lnTo>
                    <a:pt x="216407" y="128777"/>
                  </a:lnTo>
                  <a:lnTo>
                    <a:pt x="108203" y="257555"/>
                  </a:lnTo>
                  <a:lnTo>
                    <a:pt x="108203" y="193166"/>
                  </a:lnTo>
                  <a:lnTo>
                    <a:pt x="0" y="193166"/>
                  </a:lnTo>
                  <a:lnTo>
                    <a:pt x="0" y="64388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  <p:pic>
        <p:nvPicPr>
          <p:cNvPr id="36" name="Picture 4">
            <a:extLst>
              <a:ext uri="{FF2B5EF4-FFF2-40B4-BE49-F238E27FC236}">
                <a16:creationId xmlns:a16="http://schemas.microsoft.com/office/drawing/2014/main" id="{6252D7E8-D5D8-F2B4-4878-3A056751E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6" descr="Ingeniería de Sistemas - UNCP">
            <a:extLst>
              <a:ext uri="{FF2B5EF4-FFF2-40B4-BE49-F238E27FC236}">
                <a16:creationId xmlns:a16="http://schemas.microsoft.com/office/drawing/2014/main" id="{3DF7F142-2A2E-E8E8-E88B-5B17558F3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Descriptores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7741284" cy="163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050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SIFT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Etapa</a:t>
            </a:r>
            <a:r>
              <a:rPr sz="2000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3:</a:t>
            </a:r>
            <a:r>
              <a:rPr sz="2000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Construcción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5" dirty="0">
                <a:latin typeface="Calibri"/>
                <a:cs typeface="Calibri"/>
              </a:rPr>
              <a:t> descriptor</a:t>
            </a:r>
            <a:endParaRPr sz="1800">
              <a:latin typeface="Calibri"/>
              <a:cs typeface="Calibri"/>
            </a:endParaRPr>
          </a:p>
          <a:p>
            <a:pPr marL="388620" marR="5080" indent="-160020">
              <a:lnSpc>
                <a:spcPct val="100899"/>
              </a:lnSpc>
              <a:spcBef>
                <a:spcPts val="42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3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Cada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punto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interés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tiene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16 </a:t>
            </a:r>
            <a:r>
              <a:rPr sz="1800" spc="-5" dirty="0">
                <a:latin typeface="Calibri"/>
                <a:cs typeface="Calibri"/>
              </a:rPr>
              <a:t>sub-ventanas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cada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una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histograma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(de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8 </a:t>
            </a:r>
            <a:r>
              <a:rPr sz="1600" spc="-3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orientaciones)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202" y="5671820"/>
            <a:ext cx="6859270" cy="6838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72720" indent="-160020">
              <a:lnSpc>
                <a:spcPct val="100000"/>
              </a:lnSpc>
              <a:spcBef>
                <a:spcPts val="530"/>
              </a:spcBef>
              <a:buChar char="-"/>
              <a:tabLst>
                <a:tab pos="172720" algn="l"/>
              </a:tabLst>
            </a:pPr>
            <a:r>
              <a:rPr sz="1800" spc="-5" dirty="0">
                <a:latin typeface="Calibri"/>
                <a:cs typeface="Calibri"/>
              </a:rPr>
              <a:t>El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descriptor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contiene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valores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los </a:t>
            </a:r>
            <a:r>
              <a:rPr sz="1800" spc="-10" dirty="0">
                <a:latin typeface="Calibri"/>
                <a:cs typeface="Calibri"/>
              </a:rPr>
              <a:t>histogramas: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16x8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128 </a:t>
            </a:r>
            <a:r>
              <a:rPr sz="1800" spc="-10" dirty="0">
                <a:latin typeface="Calibri"/>
                <a:cs typeface="Calibri"/>
              </a:rPr>
              <a:t>valores</a:t>
            </a:r>
            <a:endParaRPr sz="1800">
              <a:latin typeface="Calibri"/>
              <a:cs typeface="Calibri"/>
            </a:endParaRPr>
          </a:p>
          <a:p>
            <a:pPr marL="172720" indent="-160020">
              <a:lnSpc>
                <a:spcPct val="100000"/>
              </a:lnSpc>
              <a:spcBef>
                <a:spcPts val="434"/>
              </a:spcBef>
              <a:buChar char="-"/>
              <a:tabLst>
                <a:tab pos="172720" algn="l"/>
              </a:tabLst>
            </a:pPr>
            <a:r>
              <a:rPr sz="1800" spc="-10" dirty="0">
                <a:solidFill>
                  <a:srgbClr val="00AFEF"/>
                </a:solidFill>
                <a:latin typeface="Calibri"/>
                <a:cs typeface="Calibri"/>
              </a:rPr>
              <a:t>Descriptor:</a:t>
            </a:r>
            <a:r>
              <a:rPr sz="1800" spc="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vector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128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elementos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(por</a:t>
            </a:r>
            <a:r>
              <a:rPr sz="1600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cada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punto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interés)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1820" y="2770632"/>
            <a:ext cx="2673096" cy="264264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90ACAF2-E877-58D5-1891-E18E2D1F3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274AA3DF-0C79-3C9B-64EE-CC14F1845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1105" y="6633464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Descriptores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7794" y="922782"/>
            <a:ext cx="7406640" cy="2703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2330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SIFT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latin typeface="Calibri"/>
                <a:cs typeface="Calibri"/>
              </a:rPr>
              <a:t>Detalles </a:t>
            </a:r>
            <a:r>
              <a:rPr sz="2000" dirty="0">
                <a:latin typeface="Calibri"/>
                <a:cs typeface="Calibri"/>
              </a:rPr>
              <a:t>adicionales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pondera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los </a:t>
            </a:r>
            <a:r>
              <a:rPr sz="1800" spc="-10" dirty="0">
                <a:latin typeface="Calibri"/>
                <a:cs typeface="Calibri"/>
              </a:rPr>
              <a:t>píxeles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dirty="0">
                <a:latin typeface="Calibri"/>
                <a:cs typeface="Calibri"/>
              </a:rPr>
              <a:t> la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ventana con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función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Gaussiana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realiza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interpolación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“trilineal”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(en</a:t>
            </a:r>
            <a:r>
              <a:rPr sz="16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spc="-5" dirty="0">
                <a:solidFill>
                  <a:srgbClr val="7E7E7E"/>
                </a:solidFill>
                <a:latin typeface="Times New Roman"/>
                <a:cs typeface="Times New Roman"/>
              </a:rPr>
              <a:t>x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,</a:t>
            </a:r>
            <a:r>
              <a:rPr sz="16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spc="-5" dirty="0">
                <a:solidFill>
                  <a:srgbClr val="7E7E7E"/>
                </a:solidFill>
                <a:latin typeface="Times New Roman"/>
                <a:cs typeface="Times New Roman"/>
              </a:rPr>
              <a:t>y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,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spc="-5" dirty="0">
                <a:solidFill>
                  <a:srgbClr val="7E7E7E"/>
                </a:solidFill>
                <a:latin typeface="Times New Roman"/>
                <a:cs typeface="Times New Roman"/>
              </a:rPr>
              <a:t>θ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)</a:t>
            </a:r>
            <a:r>
              <a:rPr sz="1600" spc="6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para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asignación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gradiente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-10" dirty="0">
                <a:latin typeface="Calibri"/>
                <a:cs typeface="Calibri"/>
              </a:rPr>
              <a:t> normaliza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vector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dirty="0">
                <a:latin typeface="Calibri"/>
                <a:cs typeface="Calibri"/>
              </a:rPr>
              <a:t> 128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elementos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Font typeface="Calibri"/>
              <a:buChar char="-"/>
            </a:pPr>
            <a:endParaRPr sz="225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solidFill>
                  <a:srgbClr val="6F2F9F"/>
                </a:solidFill>
                <a:latin typeface="Comic Sans MS"/>
                <a:cs typeface="Comic Sans MS"/>
              </a:rPr>
              <a:t>Ejemplo</a:t>
            </a:r>
            <a:endParaRPr sz="2000">
              <a:latin typeface="Comic Sans MS"/>
              <a:cs typeface="Comic Sans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2492" y="3788664"/>
            <a:ext cx="4319015" cy="268833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961003" y="6594144"/>
            <a:ext cx="14376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7E7E7E"/>
                </a:solidFill>
                <a:latin typeface="Calibri"/>
                <a:cs typeface="Calibri"/>
              </a:rPr>
              <a:t>[Imagen</a:t>
            </a:r>
            <a:r>
              <a:rPr sz="10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0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7E7E7E"/>
                </a:solidFill>
                <a:latin typeface="Calibri"/>
                <a:cs typeface="Calibri"/>
              </a:rPr>
              <a:t>Ernest</a:t>
            </a:r>
            <a:r>
              <a:rPr sz="10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7E7E7E"/>
                </a:solidFill>
                <a:latin typeface="Calibri"/>
                <a:cs typeface="Calibri"/>
              </a:rPr>
              <a:t>Valveny]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620E3D4C-3DF1-E001-3480-C16934E02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EA2B8931-AFF3-66B2-C01B-F93EF171A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Descriptores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7829550" cy="2527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algn="ctr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HOG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un </a:t>
            </a:r>
            <a:r>
              <a:rPr sz="2000" spc="-10" dirty="0">
                <a:latin typeface="Calibri"/>
                <a:cs typeface="Calibri"/>
              </a:rPr>
              <a:t>descriptor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global</a:t>
            </a:r>
            <a:r>
              <a:rPr sz="2000" spc="-5" dirty="0">
                <a:latin typeface="Calibri"/>
                <a:cs typeface="Calibri"/>
              </a:rPr>
              <a:t> de</a:t>
            </a:r>
            <a:r>
              <a:rPr sz="2000" spc="-10" dirty="0">
                <a:latin typeface="Calibri"/>
                <a:cs typeface="Calibri"/>
              </a:rPr>
              <a:t> toda</a:t>
            </a:r>
            <a:r>
              <a:rPr sz="2000" spc="-5" dirty="0">
                <a:latin typeface="Calibri"/>
                <a:cs typeface="Calibri"/>
              </a:rPr>
              <a:t> la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imagen</a:t>
            </a:r>
            <a:endParaRPr sz="20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Pasos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divide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imagen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celdas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tamaño</a:t>
            </a:r>
            <a:r>
              <a:rPr sz="1800" spc="-5" dirty="0">
                <a:latin typeface="Calibri"/>
                <a:cs typeface="Calibri"/>
              </a:rPr>
              <a:t> fijo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(usualmente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6x6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u 8x8)</a:t>
            </a:r>
            <a:endParaRPr sz="16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En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cada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celda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calcula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histograma</a:t>
            </a:r>
            <a:r>
              <a:rPr sz="1800" spc="-5" dirty="0">
                <a:latin typeface="Calibri"/>
                <a:cs typeface="Calibri"/>
              </a:rPr>
              <a:t> 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orientación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gradiente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(ponderado</a:t>
            </a:r>
            <a:endParaRPr sz="1600">
              <a:latin typeface="Calibri"/>
              <a:cs typeface="Calibri"/>
            </a:endParaRPr>
          </a:p>
          <a:p>
            <a:pPr marL="388620">
              <a:lnSpc>
                <a:spcPct val="100000"/>
              </a:lnSpc>
              <a:spcBef>
                <a:spcPts val="25"/>
              </a:spcBef>
            </a:pP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según</a:t>
            </a:r>
            <a:r>
              <a:rPr sz="16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su</a:t>
            </a:r>
            <a:r>
              <a:rPr sz="16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magnitud)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0432" y="3656076"/>
            <a:ext cx="1348740" cy="270967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115055" y="3645408"/>
            <a:ext cx="3328670" cy="2763520"/>
            <a:chOff x="3115055" y="3645408"/>
            <a:chExt cx="3328670" cy="276352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14900" y="4186463"/>
              <a:ext cx="1528572" cy="14020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5055" y="3645408"/>
              <a:ext cx="1757171" cy="2763012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6785684" y="4452623"/>
            <a:ext cx="1652905" cy="1036955"/>
            <a:chOff x="6785684" y="4452623"/>
            <a:chExt cx="1652905" cy="103695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85684" y="4452623"/>
              <a:ext cx="1652369" cy="84005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084314" y="5145786"/>
              <a:ext cx="1161415" cy="330835"/>
            </a:xfrm>
            <a:custGeom>
              <a:avLst/>
              <a:gdLst/>
              <a:ahLst/>
              <a:cxnLst/>
              <a:rect l="l" t="t" r="r" b="b"/>
              <a:pathLst>
                <a:path w="1161415" h="330835">
                  <a:moveTo>
                    <a:pt x="1161287" y="0"/>
                  </a:moveTo>
                  <a:lnTo>
                    <a:pt x="0" y="0"/>
                  </a:lnTo>
                  <a:lnTo>
                    <a:pt x="0" y="330707"/>
                  </a:lnTo>
                  <a:lnTo>
                    <a:pt x="1161287" y="330707"/>
                  </a:lnTo>
                  <a:lnTo>
                    <a:pt x="11612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84314" y="5145786"/>
              <a:ext cx="1161415" cy="330835"/>
            </a:xfrm>
            <a:custGeom>
              <a:avLst/>
              <a:gdLst/>
              <a:ahLst/>
              <a:cxnLst/>
              <a:rect l="l" t="t" r="r" b="b"/>
              <a:pathLst>
                <a:path w="1161415" h="330835">
                  <a:moveTo>
                    <a:pt x="0" y="330707"/>
                  </a:moveTo>
                  <a:lnTo>
                    <a:pt x="1161287" y="330707"/>
                  </a:lnTo>
                  <a:lnTo>
                    <a:pt x="1161287" y="0"/>
                  </a:lnTo>
                  <a:lnTo>
                    <a:pt x="0" y="0"/>
                  </a:lnTo>
                  <a:lnTo>
                    <a:pt x="0" y="330707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64639" y="6388404"/>
            <a:ext cx="5619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Im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a</a:t>
            </a:r>
            <a:r>
              <a:rPr sz="1400" spc="-15" dirty="0">
                <a:solidFill>
                  <a:srgbClr val="7E7E7E"/>
                </a:solidFill>
                <a:latin typeface="Calibri"/>
                <a:cs typeface="Calibri"/>
              </a:rPr>
              <a:t>g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en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  <p:sp>
        <p:nvSpPr>
          <p:cNvPr id="13" name="object 13"/>
          <p:cNvSpPr txBox="1"/>
          <p:nvPr/>
        </p:nvSpPr>
        <p:spPr>
          <a:xfrm>
            <a:off x="3449828" y="6403644"/>
            <a:ext cx="7442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Gradiente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39665" y="5107304"/>
            <a:ext cx="3232785" cy="950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1530"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Histograma</a:t>
            </a:r>
            <a:endParaRPr sz="1400">
              <a:latin typeface="Calibri"/>
              <a:cs typeface="Calibri"/>
            </a:endParaRPr>
          </a:p>
          <a:p>
            <a:pPr marL="2083435" algn="ctr">
              <a:lnSpc>
                <a:spcPct val="100000"/>
              </a:lnSpc>
              <a:spcBef>
                <a:spcPts val="20"/>
              </a:spcBef>
            </a:pP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(ejm.</a:t>
            </a:r>
            <a:r>
              <a:rPr sz="12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9</a:t>
            </a:r>
            <a:r>
              <a:rPr sz="12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intervalos)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12700" marR="1957705" indent="150495">
              <a:lnSpc>
                <a:spcPct val="100000"/>
              </a:lnSpc>
            </a:pP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Orientación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del </a:t>
            </a:r>
            <a:r>
              <a:rPr sz="12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g</a:t>
            </a:r>
            <a:r>
              <a:rPr sz="1200" spc="-25" dirty="0">
                <a:solidFill>
                  <a:srgbClr val="7E7E7E"/>
                </a:solidFill>
                <a:latin typeface="Calibri"/>
                <a:cs typeface="Calibri"/>
              </a:rPr>
              <a:t>r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a</a:t>
            </a:r>
            <a:r>
              <a:rPr sz="1200" spc="5" dirty="0">
                <a:solidFill>
                  <a:srgbClr val="7E7E7E"/>
                </a:solidFill>
                <a:latin typeface="Calibri"/>
                <a:cs typeface="Calibri"/>
              </a:rPr>
              <a:t>d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ie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n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t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e</a:t>
            </a:r>
            <a:r>
              <a:rPr sz="12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en 1</a:t>
            </a:r>
            <a:r>
              <a:rPr sz="12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c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el</a:t>
            </a:r>
            <a:r>
              <a:rPr sz="1200" spc="5" dirty="0">
                <a:solidFill>
                  <a:srgbClr val="7E7E7E"/>
                </a:solidFill>
                <a:latin typeface="Calibri"/>
                <a:cs typeface="Calibri"/>
              </a:rPr>
              <a:t>d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3BED8906-42FC-5E57-7E21-689EF1430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Ingeniería de Sistemas - UNCP">
            <a:extLst>
              <a:ext uri="{FF2B5EF4-FFF2-40B4-BE49-F238E27FC236}">
                <a16:creationId xmlns:a16="http://schemas.microsoft.com/office/drawing/2014/main" id="{0B053323-0BC3-185F-99A4-6FABE34E2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Descriptores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1583947"/>
            <a:ext cx="7951470" cy="181863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Pasos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Normalización</a:t>
            </a:r>
            <a:endParaRPr sz="1800">
              <a:latin typeface="Calibri"/>
              <a:cs typeface="Calibri"/>
            </a:endParaRPr>
          </a:p>
          <a:p>
            <a:pPr marL="611505" lvl="2" indent="-226060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Calibri"/>
                <a:cs typeface="Calibri"/>
              </a:rPr>
              <a:t>Se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agrupa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celdas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en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“bloques”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(ej.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2x2</a:t>
            </a:r>
            <a:r>
              <a:rPr sz="14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celdas)</a:t>
            </a:r>
            <a:endParaRPr sz="1400">
              <a:latin typeface="Calibri"/>
              <a:cs typeface="Calibri"/>
            </a:endParaRPr>
          </a:p>
          <a:p>
            <a:pPr marL="611505" lvl="2" indent="-22606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Calibri"/>
                <a:cs typeface="Calibri"/>
              </a:rPr>
              <a:t>Se </a:t>
            </a:r>
            <a:r>
              <a:rPr sz="1600" spc="-10" dirty="0">
                <a:latin typeface="Calibri"/>
                <a:cs typeface="Calibri"/>
              </a:rPr>
              <a:t>concatena</a:t>
            </a:r>
            <a:r>
              <a:rPr sz="1600" spc="-5" dirty="0">
                <a:latin typeface="Calibri"/>
                <a:cs typeface="Calibri"/>
              </a:rPr>
              <a:t> los </a:t>
            </a:r>
            <a:r>
              <a:rPr sz="1600" spc="-10" dirty="0">
                <a:latin typeface="Calibri"/>
                <a:cs typeface="Calibri"/>
              </a:rPr>
              <a:t>histogramas </a:t>
            </a:r>
            <a:r>
              <a:rPr sz="1600" spc="-5" dirty="0">
                <a:latin typeface="Calibri"/>
                <a:cs typeface="Calibri"/>
              </a:rPr>
              <a:t>de </a:t>
            </a:r>
            <a:r>
              <a:rPr sz="1600" spc="-10" dirty="0">
                <a:latin typeface="Calibri"/>
                <a:cs typeface="Calibri"/>
              </a:rPr>
              <a:t>cada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bloque</a:t>
            </a:r>
            <a:endParaRPr sz="1600">
              <a:latin typeface="Calibri"/>
              <a:cs typeface="Calibri"/>
            </a:endParaRPr>
          </a:p>
          <a:p>
            <a:pPr marL="611505" lvl="2" indent="-226060">
              <a:lnSpc>
                <a:spcPts val="1920"/>
              </a:lnSpc>
              <a:spcBef>
                <a:spcPts val="39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Calibri"/>
                <a:cs typeface="Calibri"/>
              </a:rPr>
              <a:t>Se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normaliza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los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histogramas concatenados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(de</a:t>
            </a:r>
            <a:r>
              <a:rPr sz="14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cada</a:t>
            </a:r>
            <a:r>
              <a:rPr sz="14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bloque)</a:t>
            </a:r>
            <a:r>
              <a:rPr sz="1400" spc="6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usando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la </a:t>
            </a:r>
            <a:r>
              <a:rPr sz="1600" spc="-10" dirty="0">
                <a:latin typeface="Calibri"/>
                <a:cs typeface="Calibri"/>
              </a:rPr>
              <a:t>norma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L</a:t>
            </a:r>
            <a:r>
              <a:rPr sz="1600" spc="-5" dirty="0">
                <a:latin typeface="Times New Roman"/>
                <a:cs typeface="Times New Roman"/>
              </a:rPr>
              <a:t>-2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(objetivo:</a:t>
            </a:r>
            <a:endParaRPr sz="1400">
              <a:latin typeface="Calibri"/>
              <a:cs typeface="Calibri"/>
            </a:endParaRPr>
          </a:p>
          <a:p>
            <a:pPr marL="611505">
              <a:lnSpc>
                <a:spcPts val="1680"/>
              </a:lnSpc>
            </a:pP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minimizar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variaciones</a:t>
            </a:r>
            <a:r>
              <a:rPr sz="14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intensidad)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64533" y="922782"/>
            <a:ext cx="617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HOG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8134" y="4686171"/>
            <a:ext cx="1804832" cy="46202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040993" y="5309507"/>
            <a:ext cx="354330" cy="352425"/>
            <a:chOff x="6040993" y="5309507"/>
            <a:chExt cx="354330" cy="35242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40993" y="5309507"/>
              <a:ext cx="353840" cy="35237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76188" y="5327904"/>
              <a:ext cx="288036" cy="28803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076188" y="532790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144018"/>
                  </a:moveTo>
                  <a:lnTo>
                    <a:pt x="72009" y="144018"/>
                  </a:lnTo>
                  <a:lnTo>
                    <a:pt x="72009" y="0"/>
                  </a:lnTo>
                  <a:lnTo>
                    <a:pt x="216026" y="0"/>
                  </a:lnTo>
                  <a:lnTo>
                    <a:pt x="216026" y="144018"/>
                  </a:lnTo>
                  <a:lnTo>
                    <a:pt x="288036" y="144018"/>
                  </a:lnTo>
                  <a:lnTo>
                    <a:pt x="144017" y="288036"/>
                  </a:lnTo>
                  <a:lnTo>
                    <a:pt x="0" y="144018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722746" y="5684621"/>
            <a:ext cx="10636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Normalización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20422" y="3809472"/>
            <a:ext cx="1647189" cy="2567940"/>
            <a:chOff x="1720422" y="3809472"/>
            <a:chExt cx="1647189" cy="256794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20422" y="3809472"/>
              <a:ext cx="1301843" cy="256746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460498" y="4754117"/>
              <a:ext cx="548640" cy="692150"/>
            </a:xfrm>
            <a:custGeom>
              <a:avLst/>
              <a:gdLst/>
              <a:ahLst/>
              <a:cxnLst/>
              <a:rect l="l" t="t" r="r" b="b"/>
              <a:pathLst>
                <a:path w="548639" h="692150">
                  <a:moveTo>
                    <a:pt x="0" y="691895"/>
                  </a:moveTo>
                  <a:lnTo>
                    <a:pt x="548639" y="691895"/>
                  </a:lnTo>
                  <a:lnTo>
                    <a:pt x="548639" y="0"/>
                  </a:lnTo>
                  <a:lnTo>
                    <a:pt x="0" y="0"/>
                  </a:lnTo>
                  <a:lnTo>
                    <a:pt x="0" y="691895"/>
                  </a:lnTo>
                  <a:close/>
                </a:path>
              </a:pathLst>
            </a:custGeom>
            <a:ln w="38100">
              <a:solidFill>
                <a:srgbClr val="99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77401" y="4360163"/>
              <a:ext cx="789940" cy="1620520"/>
            </a:xfrm>
            <a:custGeom>
              <a:avLst/>
              <a:gdLst/>
              <a:ahLst/>
              <a:cxnLst/>
              <a:rect l="l" t="t" r="r" b="b"/>
              <a:pathLst>
                <a:path w="789939" h="1620520">
                  <a:moveTo>
                    <a:pt x="773112" y="1620151"/>
                  </a:moveTo>
                  <a:lnTo>
                    <a:pt x="759777" y="1579499"/>
                  </a:lnTo>
                  <a:lnTo>
                    <a:pt x="746569" y="1539201"/>
                  </a:lnTo>
                  <a:lnTo>
                    <a:pt x="724027" y="1561541"/>
                  </a:lnTo>
                  <a:lnTo>
                    <a:pt x="78879" y="910158"/>
                  </a:lnTo>
                  <a:lnTo>
                    <a:pt x="83693" y="903033"/>
                  </a:lnTo>
                  <a:lnTo>
                    <a:pt x="86563" y="888720"/>
                  </a:lnTo>
                  <a:lnTo>
                    <a:pt x="62979" y="853249"/>
                  </a:lnTo>
                  <a:lnTo>
                    <a:pt x="48666" y="850379"/>
                  </a:lnTo>
                  <a:lnTo>
                    <a:pt x="34315" y="853109"/>
                  </a:lnTo>
                  <a:lnTo>
                    <a:pt x="21653" y="861441"/>
                  </a:lnTo>
                  <a:lnTo>
                    <a:pt x="13195" y="873963"/>
                  </a:lnTo>
                  <a:lnTo>
                    <a:pt x="10325" y="888276"/>
                  </a:lnTo>
                  <a:lnTo>
                    <a:pt x="13055" y="902627"/>
                  </a:lnTo>
                  <a:lnTo>
                    <a:pt x="21399" y="915289"/>
                  </a:lnTo>
                  <a:lnTo>
                    <a:pt x="33909" y="923747"/>
                  </a:lnTo>
                  <a:lnTo>
                    <a:pt x="48221" y="926617"/>
                  </a:lnTo>
                  <a:lnTo>
                    <a:pt x="62572" y="923886"/>
                  </a:lnTo>
                  <a:lnTo>
                    <a:pt x="69811" y="919124"/>
                  </a:lnTo>
                  <a:lnTo>
                    <a:pt x="715010" y="1570482"/>
                  </a:lnTo>
                  <a:lnTo>
                    <a:pt x="692467" y="1592821"/>
                  </a:lnTo>
                  <a:lnTo>
                    <a:pt x="773112" y="1620151"/>
                  </a:lnTo>
                  <a:close/>
                </a:path>
                <a:path w="789939" h="1620520">
                  <a:moveTo>
                    <a:pt x="781875" y="1050544"/>
                  </a:moveTo>
                  <a:lnTo>
                    <a:pt x="766902" y="1034669"/>
                  </a:lnTo>
                  <a:lnTo>
                    <a:pt x="723455" y="988568"/>
                  </a:lnTo>
                  <a:lnTo>
                    <a:pt x="712508" y="1018336"/>
                  </a:lnTo>
                  <a:lnTo>
                    <a:pt x="348894" y="884605"/>
                  </a:lnTo>
                  <a:lnTo>
                    <a:pt x="350202" y="876058"/>
                  </a:lnTo>
                  <a:lnTo>
                    <a:pt x="349161" y="871855"/>
                  </a:lnTo>
                  <a:lnTo>
                    <a:pt x="346710" y="861860"/>
                  </a:lnTo>
                  <a:lnTo>
                    <a:pt x="338162" y="849998"/>
                  </a:lnTo>
                  <a:lnTo>
                    <a:pt x="325310" y="842010"/>
                  </a:lnTo>
                  <a:lnTo>
                    <a:pt x="310324" y="839724"/>
                  </a:lnTo>
                  <a:lnTo>
                    <a:pt x="296125" y="843216"/>
                  </a:lnTo>
                  <a:lnTo>
                    <a:pt x="284264" y="851763"/>
                  </a:lnTo>
                  <a:lnTo>
                    <a:pt x="276288" y="864616"/>
                  </a:lnTo>
                  <a:lnTo>
                    <a:pt x="273989" y="879602"/>
                  </a:lnTo>
                  <a:lnTo>
                    <a:pt x="277495" y="893800"/>
                  </a:lnTo>
                  <a:lnTo>
                    <a:pt x="286029" y="905662"/>
                  </a:lnTo>
                  <a:lnTo>
                    <a:pt x="298894" y="913638"/>
                  </a:lnTo>
                  <a:lnTo>
                    <a:pt x="313867" y="915936"/>
                  </a:lnTo>
                  <a:lnTo>
                    <a:pt x="328066" y="912431"/>
                  </a:lnTo>
                  <a:lnTo>
                    <a:pt x="339928" y="903897"/>
                  </a:lnTo>
                  <a:lnTo>
                    <a:pt x="344512" y="896518"/>
                  </a:lnTo>
                  <a:lnTo>
                    <a:pt x="708113" y="1030287"/>
                  </a:lnTo>
                  <a:lnTo>
                    <a:pt x="697153" y="1060069"/>
                  </a:lnTo>
                  <a:lnTo>
                    <a:pt x="781875" y="1050544"/>
                  </a:lnTo>
                  <a:close/>
                </a:path>
                <a:path w="789939" h="1620520">
                  <a:moveTo>
                    <a:pt x="789749" y="0"/>
                  </a:moveTo>
                  <a:lnTo>
                    <a:pt x="706310" y="17018"/>
                  </a:lnTo>
                  <a:lnTo>
                    <a:pt x="725893" y="42011"/>
                  </a:lnTo>
                  <a:lnTo>
                    <a:pt x="62826" y="561975"/>
                  </a:lnTo>
                  <a:lnTo>
                    <a:pt x="56248" y="556374"/>
                  </a:lnTo>
                  <a:lnTo>
                    <a:pt x="42354" y="551878"/>
                  </a:lnTo>
                  <a:lnTo>
                    <a:pt x="27774" y="552919"/>
                  </a:lnTo>
                  <a:lnTo>
                    <a:pt x="14287" y="559689"/>
                  </a:lnTo>
                  <a:lnTo>
                    <a:pt x="4483" y="571195"/>
                  </a:lnTo>
                  <a:lnTo>
                    <a:pt x="0" y="585089"/>
                  </a:lnTo>
                  <a:lnTo>
                    <a:pt x="1028" y="599668"/>
                  </a:lnTo>
                  <a:lnTo>
                    <a:pt x="7810" y="613156"/>
                  </a:lnTo>
                  <a:lnTo>
                    <a:pt x="19304" y="622960"/>
                  </a:lnTo>
                  <a:lnTo>
                    <a:pt x="33210" y="627456"/>
                  </a:lnTo>
                  <a:lnTo>
                    <a:pt x="47777" y="626414"/>
                  </a:lnTo>
                  <a:lnTo>
                    <a:pt x="61277" y="619633"/>
                  </a:lnTo>
                  <a:lnTo>
                    <a:pt x="71069" y="608139"/>
                  </a:lnTo>
                  <a:lnTo>
                    <a:pt x="75438" y="594614"/>
                  </a:lnTo>
                  <a:lnTo>
                    <a:pt x="75565" y="594233"/>
                  </a:lnTo>
                  <a:lnTo>
                    <a:pt x="74523" y="579666"/>
                  </a:lnTo>
                  <a:lnTo>
                    <a:pt x="70637" y="571944"/>
                  </a:lnTo>
                  <a:lnTo>
                    <a:pt x="733755" y="52044"/>
                  </a:lnTo>
                  <a:lnTo>
                    <a:pt x="753300" y="76962"/>
                  </a:lnTo>
                  <a:lnTo>
                    <a:pt x="773569" y="34163"/>
                  </a:lnTo>
                  <a:lnTo>
                    <a:pt x="789749" y="0"/>
                  </a:lnTo>
                  <a:close/>
                </a:path>
                <a:path w="789939" h="1620520">
                  <a:moveTo>
                    <a:pt x="789876" y="475488"/>
                  </a:moveTo>
                  <a:lnTo>
                    <a:pt x="707199" y="454406"/>
                  </a:lnTo>
                  <a:lnTo>
                    <a:pt x="713955" y="485432"/>
                  </a:lnTo>
                  <a:lnTo>
                    <a:pt x="342138" y="566458"/>
                  </a:lnTo>
                  <a:lnTo>
                    <a:pt x="338670" y="558533"/>
                  </a:lnTo>
                  <a:lnTo>
                    <a:pt x="328117" y="548424"/>
                  </a:lnTo>
                  <a:lnTo>
                    <a:pt x="314540" y="543039"/>
                  </a:lnTo>
                  <a:lnTo>
                    <a:pt x="299402" y="543306"/>
                  </a:lnTo>
                  <a:lnTo>
                    <a:pt x="285546" y="549376"/>
                  </a:lnTo>
                  <a:lnTo>
                    <a:pt x="275475" y="559917"/>
                  </a:lnTo>
                  <a:lnTo>
                    <a:pt x="270090" y="573455"/>
                  </a:lnTo>
                  <a:lnTo>
                    <a:pt x="270319" y="588518"/>
                  </a:lnTo>
                  <a:lnTo>
                    <a:pt x="276377" y="602399"/>
                  </a:lnTo>
                  <a:lnTo>
                    <a:pt x="286931" y="612508"/>
                  </a:lnTo>
                  <a:lnTo>
                    <a:pt x="300507" y="617943"/>
                  </a:lnTo>
                  <a:lnTo>
                    <a:pt x="315658" y="617728"/>
                  </a:lnTo>
                  <a:lnTo>
                    <a:pt x="329501" y="611670"/>
                  </a:lnTo>
                  <a:lnTo>
                    <a:pt x="339572" y="601116"/>
                  </a:lnTo>
                  <a:lnTo>
                    <a:pt x="344957" y="587540"/>
                  </a:lnTo>
                  <a:lnTo>
                    <a:pt x="344944" y="586740"/>
                  </a:lnTo>
                  <a:lnTo>
                    <a:pt x="344830" y="578916"/>
                  </a:lnTo>
                  <a:lnTo>
                    <a:pt x="716673" y="497903"/>
                  </a:lnTo>
                  <a:lnTo>
                    <a:pt x="723455" y="528955"/>
                  </a:lnTo>
                  <a:lnTo>
                    <a:pt x="780872" y="482727"/>
                  </a:lnTo>
                  <a:lnTo>
                    <a:pt x="789876" y="475488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26808" y="4099461"/>
            <a:ext cx="813627" cy="34824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24" y="4674561"/>
            <a:ext cx="814871" cy="34170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26833" y="5264607"/>
            <a:ext cx="790718" cy="331256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12452" y="5812535"/>
            <a:ext cx="790090" cy="327772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4693660" y="4812373"/>
            <a:ext cx="284480" cy="351790"/>
            <a:chOff x="4693660" y="4812373"/>
            <a:chExt cx="284480" cy="351790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93660" y="4812373"/>
              <a:ext cx="284305" cy="35134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32019" y="4821935"/>
              <a:ext cx="219455" cy="29718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732019" y="4821935"/>
              <a:ext cx="219710" cy="297180"/>
            </a:xfrm>
            <a:custGeom>
              <a:avLst/>
              <a:gdLst/>
              <a:ahLst/>
              <a:cxnLst/>
              <a:rect l="l" t="t" r="r" b="b"/>
              <a:pathLst>
                <a:path w="219710" h="297179">
                  <a:moveTo>
                    <a:pt x="0" y="74294"/>
                  </a:moveTo>
                  <a:lnTo>
                    <a:pt x="109727" y="74294"/>
                  </a:lnTo>
                  <a:lnTo>
                    <a:pt x="109727" y="0"/>
                  </a:lnTo>
                  <a:lnTo>
                    <a:pt x="219455" y="148589"/>
                  </a:lnTo>
                  <a:lnTo>
                    <a:pt x="109727" y="297180"/>
                  </a:lnTo>
                  <a:lnTo>
                    <a:pt x="109727" y="222884"/>
                  </a:lnTo>
                  <a:lnTo>
                    <a:pt x="0" y="222884"/>
                  </a:lnTo>
                  <a:lnTo>
                    <a:pt x="0" y="7429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EB0A16C2-5607-933C-04BC-A97291525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 descr="Ingeniería de Sistemas - UNCP">
            <a:extLst>
              <a:ext uri="{FF2B5EF4-FFF2-40B4-BE49-F238E27FC236}">
                <a16:creationId xmlns:a16="http://schemas.microsoft.com/office/drawing/2014/main" id="{141F7383-D2A4-891F-400F-0E10ECB1F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Descriptores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7811770" cy="1384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8470" algn="ctr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HOG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Pasos</a:t>
            </a:r>
            <a:endParaRPr sz="20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3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Concatenación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histogramas</a:t>
            </a:r>
            <a:r>
              <a:rPr sz="1800" spc="-5" dirty="0">
                <a:latin typeface="Calibri"/>
                <a:cs typeface="Calibri"/>
              </a:rPr>
              <a:t> 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boques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(con</a:t>
            </a:r>
            <a:r>
              <a:rPr sz="16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solapamiento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usualmente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1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celda)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394" y="5488330"/>
            <a:ext cx="7965440" cy="9632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4315" indent="-1968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4950" algn="l"/>
              </a:tabLst>
            </a:pPr>
            <a:r>
              <a:rPr sz="2000" spc="-10" dirty="0">
                <a:latin typeface="Calibri"/>
                <a:cs typeface="Calibri"/>
              </a:rPr>
              <a:t>Elementos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descriptor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i="1" spc="5" dirty="0">
                <a:latin typeface="Times New Roman"/>
                <a:cs typeface="Times New Roman"/>
              </a:rPr>
              <a:t>n</a:t>
            </a:r>
            <a:r>
              <a:rPr sz="1950" i="1" spc="7" baseline="-21367" dirty="0">
                <a:latin typeface="Times New Roman"/>
                <a:cs typeface="Times New Roman"/>
              </a:rPr>
              <a:t>b</a:t>
            </a:r>
            <a:r>
              <a:rPr sz="2000" i="1" spc="5" dirty="0">
                <a:latin typeface="Times New Roman"/>
                <a:cs typeface="Times New Roman"/>
              </a:rPr>
              <a:t>n</a:t>
            </a:r>
            <a:r>
              <a:rPr sz="1950" i="1" spc="7" baseline="-21367" dirty="0">
                <a:latin typeface="Times New Roman"/>
                <a:cs typeface="Times New Roman"/>
              </a:rPr>
              <a:t>c</a:t>
            </a:r>
            <a:r>
              <a:rPr sz="2000" i="1" spc="5" dirty="0">
                <a:latin typeface="Times New Roman"/>
                <a:cs typeface="Times New Roman"/>
              </a:rPr>
              <a:t>n</a:t>
            </a:r>
            <a:r>
              <a:rPr sz="1950" i="1" spc="7" baseline="-21367" dirty="0">
                <a:latin typeface="Times New Roman"/>
                <a:cs typeface="Times New Roman"/>
              </a:rPr>
              <a:t>i</a:t>
            </a:r>
            <a:r>
              <a:rPr sz="1950" i="1" spc="150" baseline="-21367" dirty="0"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</a:t>
            </a:r>
            <a:r>
              <a:rPr sz="1600" i="1" dirty="0">
                <a:solidFill>
                  <a:srgbClr val="7E7E7E"/>
                </a:solidFill>
                <a:latin typeface="Times New Roman"/>
                <a:cs typeface="Times New Roman"/>
              </a:rPr>
              <a:t>n</a:t>
            </a:r>
            <a:r>
              <a:rPr sz="1575" i="1" baseline="-21164" dirty="0">
                <a:solidFill>
                  <a:srgbClr val="7E7E7E"/>
                </a:solidFill>
                <a:latin typeface="Times New Roman"/>
                <a:cs typeface="Times New Roman"/>
              </a:rPr>
              <a:t>b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: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núm.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 bloques,</a:t>
            </a:r>
            <a:r>
              <a:rPr sz="16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7E7E7E"/>
                </a:solidFill>
                <a:latin typeface="Times New Roman"/>
                <a:cs typeface="Times New Roman"/>
              </a:rPr>
              <a:t>n</a:t>
            </a:r>
            <a:r>
              <a:rPr sz="1575" i="1" baseline="-21164" dirty="0">
                <a:solidFill>
                  <a:srgbClr val="7E7E7E"/>
                </a:solidFill>
                <a:latin typeface="Times New Roman"/>
                <a:cs typeface="Times New Roman"/>
              </a:rPr>
              <a:t>c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: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 núm.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celdas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por</a:t>
            </a:r>
            <a:r>
              <a:rPr sz="16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bloque,</a:t>
            </a:r>
            <a:r>
              <a:rPr sz="16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7E7E7E"/>
                </a:solidFill>
                <a:latin typeface="Times New Roman"/>
                <a:cs typeface="Times New Roman"/>
              </a:rPr>
              <a:t>n</a:t>
            </a:r>
            <a:r>
              <a:rPr sz="1575" i="1" baseline="-21164" dirty="0">
                <a:solidFill>
                  <a:srgbClr val="7E7E7E"/>
                </a:solidFill>
                <a:latin typeface="Times New Roman"/>
                <a:cs typeface="Times New Roman"/>
              </a:rPr>
              <a:t>i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234315">
              <a:lnSpc>
                <a:spcPct val="100000"/>
              </a:lnSpc>
              <a:spcBef>
                <a:spcPts val="20"/>
              </a:spcBef>
            </a:pP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número</a:t>
            </a:r>
            <a:r>
              <a:rPr sz="16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elementos</a:t>
            </a:r>
            <a:r>
              <a:rPr sz="16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en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cada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histograma)</a:t>
            </a:r>
            <a:endParaRPr sz="1600">
              <a:latin typeface="Calibri"/>
              <a:cs typeface="Calibri"/>
            </a:endParaRPr>
          </a:p>
          <a:p>
            <a:pPr marL="254000">
              <a:lnSpc>
                <a:spcPct val="100000"/>
              </a:lnSpc>
              <a:spcBef>
                <a:spcPts val="88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3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En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-5" dirty="0">
                <a:latin typeface="Calibri"/>
                <a:cs typeface="Calibri"/>
              </a:rPr>
              <a:t>ejemplo: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(28)(4)(9)</a:t>
            </a:r>
            <a:r>
              <a:rPr sz="1800" spc="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1008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elementos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03519" y="4053077"/>
            <a:ext cx="11328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Descriptor</a:t>
            </a:r>
            <a:r>
              <a:rPr sz="1400" spc="-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final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8894" y="2600941"/>
            <a:ext cx="1301843" cy="2567469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415539" y="2571750"/>
          <a:ext cx="1308731" cy="10081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8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62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9900CC"/>
                      </a:solidFill>
                      <a:prstDash val="solid"/>
                    </a:lnL>
                    <a:lnR w="38100">
                      <a:solidFill>
                        <a:srgbClr val="E36C09"/>
                      </a:solidFill>
                      <a:prstDash val="solid"/>
                    </a:lnR>
                    <a:lnT w="38100">
                      <a:solidFill>
                        <a:srgbClr val="9900CC"/>
                      </a:solidFill>
                      <a:prstDash val="solid"/>
                    </a:lnT>
                    <a:lnB w="3810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E36C09"/>
                      </a:solidFill>
                      <a:prstDash val="solid"/>
                    </a:lnL>
                    <a:lnR w="76200">
                      <a:solidFill>
                        <a:srgbClr val="00AFEF"/>
                      </a:solidFill>
                      <a:prstDash val="solid"/>
                    </a:lnR>
                    <a:lnT w="53975">
                      <a:solidFill>
                        <a:srgbClr val="E36C09"/>
                      </a:solidFill>
                      <a:prstDash val="solid"/>
                    </a:lnT>
                    <a:lnB w="38100">
                      <a:solidFill>
                        <a:srgbClr val="FFC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 cap="flat" cmpd="sng" algn="ctr">
                      <a:solidFill>
                        <a:srgbClr val="00A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>
                      <a:solidFill>
                        <a:srgbClr val="5F497A"/>
                      </a:solidFill>
                      <a:prstDash val="solid"/>
                    </a:lnR>
                    <a:lnT w="53975">
                      <a:solidFill>
                        <a:srgbClr val="5F497A"/>
                      </a:solidFill>
                      <a:prstDash val="solid"/>
                    </a:lnT>
                    <a:lnB w="53975">
                      <a:solidFill>
                        <a:srgbClr val="5F497A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5F497A"/>
                      </a:solidFill>
                      <a:prstDash val="solid"/>
                    </a:lnL>
                    <a:lnR w="38100">
                      <a:solidFill>
                        <a:srgbClr val="00AFEF"/>
                      </a:solidFill>
                      <a:prstDash val="solid"/>
                    </a:lnR>
                    <a:lnT w="53975">
                      <a:solidFill>
                        <a:srgbClr val="5F497A"/>
                      </a:solidFill>
                      <a:prstDash val="solid"/>
                    </a:lnT>
                    <a:lnB w="53975">
                      <a:solidFill>
                        <a:srgbClr val="5F497A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EF"/>
                      </a:solidFill>
                      <a:prstDash val="solid"/>
                    </a:lnL>
                    <a:lnR w="38100">
                      <a:solidFill>
                        <a:srgbClr val="5F497A"/>
                      </a:solidFill>
                      <a:prstDash val="solid"/>
                    </a:lnR>
                    <a:lnT w="38100">
                      <a:solidFill>
                        <a:srgbClr val="5F497A"/>
                      </a:solidFill>
                      <a:prstDash val="solid"/>
                    </a:lnT>
                    <a:lnB w="38100">
                      <a:solidFill>
                        <a:srgbClr val="5F497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66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C000"/>
                      </a:solidFill>
                      <a:prstDash val="solid"/>
                    </a:lnL>
                    <a:lnR w="38100">
                      <a:solidFill>
                        <a:srgbClr val="E36C09"/>
                      </a:solidFill>
                      <a:prstDash val="solid"/>
                    </a:lnR>
                    <a:lnT w="38100">
                      <a:solidFill>
                        <a:srgbClr val="FFC000"/>
                      </a:solidFill>
                      <a:prstDash val="solid"/>
                    </a:lnT>
                    <a:lnB w="38100">
                      <a:solidFill>
                        <a:srgbClr val="9900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E36C09"/>
                      </a:solidFill>
                      <a:prstDash val="solid"/>
                    </a:lnL>
                    <a:lnR w="76200">
                      <a:solidFill>
                        <a:srgbClr val="FFC000"/>
                      </a:solidFill>
                      <a:prstDash val="solid"/>
                    </a:lnR>
                    <a:lnT w="38100">
                      <a:solidFill>
                        <a:srgbClr val="FFC000"/>
                      </a:solidFill>
                      <a:prstDash val="solid"/>
                    </a:lnT>
                    <a:lnB w="53975">
                      <a:solidFill>
                        <a:srgbClr val="E36C09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76200">
                      <a:solidFill>
                        <a:srgbClr val="FFC000"/>
                      </a:solidFill>
                      <a:prstDash val="solid"/>
                    </a:lnL>
                    <a:lnR w="76200">
                      <a:solidFill>
                        <a:srgbClr val="5F497A"/>
                      </a:solidFill>
                      <a:prstDash val="solid"/>
                    </a:lnR>
                    <a:lnT w="53975">
                      <a:solidFill>
                        <a:srgbClr val="5F497A"/>
                      </a:solidFill>
                      <a:prstDash val="solid"/>
                    </a:lnT>
                    <a:lnB w="53975">
                      <a:solidFill>
                        <a:srgbClr val="5F497A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76200">
                      <a:solidFill>
                        <a:srgbClr val="5F497A"/>
                      </a:solidFill>
                      <a:prstDash val="solid"/>
                    </a:lnL>
                    <a:lnR w="38100">
                      <a:solidFill>
                        <a:srgbClr val="00AFEF"/>
                      </a:solidFill>
                      <a:prstDash val="solid"/>
                    </a:lnR>
                    <a:lnT w="53975">
                      <a:solidFill>
                        <a:srgbClr val="5F497A"/>
                      </a:solidFill>
                      <a:prstDash val="solid"/>
                    </a:lnT>
                    <a:lnB w="53975">
                      <a:solidFill>
                        <a:srgbClr val="5F497A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AFEF"/>
                      </a:solidFill>
                      <a:prstDash val="solid"/>
                    </a:lnL>
                    <a:lnR w="38100">
                      <a:solidFill>
                        <a:srgbClr val="5F497A"/>
                      </a:solidFill>
                      <a:prstDash val="solid"/>
                    </a:lnR>
                    <a:lnT w="38100">
                      <a:solidFill>
                        <a:srgbClr val="5F497A"/>
                      </a:solidFill>
                      <a:prstDash val="solid"/>
                    </a:lnT>
                    <a:lnB w="38100">
                      <a:solidFill>
                        <a:srgbClr val="5F497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22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C000"/>
                      </a:solidFill>
                      <a:prstDash val="solid"/>
                    </a:lnL>
                    <a:lnR w="38100">
                      <a:solidFill>
                        <a:srgbClr val="FFC000"/>
                      </a:solidFill>
                      <a:prstDash val="solid"/>
                    </a:lnR>
                    <a:lnT w="38100" cap="flat" cmpd="sng" algn="ctr">
                      <a:solidFill>
                        <a:srgbClr val="99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FFC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C000"/>
                      </a:solidFill>
                      <a:prstDash val="solid"/>
                    </a:lnL>
                    <a:lnT w="53975">
                      <a:solidFill>
                        <a:srgbClr val="5F497A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20" y="3602735"/>
            <a:ext cx="3657600" cy="43891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157718" y="3589096"/>
            <a:ext cx="2362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7E7E7E"/>
                </a:solidFill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F955C869-A286-41A2-E9CC-64B16D4AF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Ingeniería de Sistemas - UNCP">
            <a:extLst>
              <a:ext uri="{FF2B5EF4-FFF2-40B4-BE49-F238E27FC236}">
                <a16:creationId xmlns:a16="http://schemas.microsoft.com/office/drawing/2014/main" id="{13CC59CD-95B7-0CBE-91A4-1CADC19E9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Descriptores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1649095"/>
            <a:ext cx="12833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solidFill>
                  <a:srgbClr val="6F2F9F"/>
                </a:solidFill>
                <a:latin typeface="Comic Sans MS"/>
                <a:cs typeface="Comic Sans MS"/>
              </a:rPr>
              <a:t>Ejemplos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64533" y="922782"/>
            <a:ext cx="617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HOG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8048" y="2150364"/>
            <a:ext cx="2583179" cy="19263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2203" y="2150364"/>
            <a:ext cx="2650236" cy="192633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67711" y="4581144"/>
            <a:ext cx="2016252" cy="201625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52825" y="4582667"/>
            <a:ext cx="1987569" cy="198845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893455" y="2989524"/>
            <a:ext cx="352425" cy="412750"/>
            <a:chOff x="4893455" y="2989524"/>
            <a:chExt cx="352425" cy="41275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93455" y="2989524"/>
              <a:ext cx="352370" cy="41256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31664" y="2997707"/>
              <a:ext cx="288036" cy="35966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931664" y="2997707"/>
              <a:ext cx="288290" cy="360045"/>
            </a:xfrm>
            <a:custGeom>
              <a:avLst/>
              <a:gdLst/>
              <a:ahLst/>
              <a:cxnLst/>
              <a:rect l="l" t="t" r="r" b="b"/>
              <a:pathLst>
                <a:path w="288289" h="360045">
                  <a:moveTo>
                    <a:pt x="0" y="89915"/>
                  </a:moveTo>
                  <a:lnTo>
                    <a:pt x="144018" y="89915"/>
                  </a:lnTo>
                  <a:lnTo>
                    <a:pt x="144018" y="0"/>
                  </a:lnTo>
                  <a:lnTo>
                    <a:pt x="288036" y="179831"/>
                  </a:lnTo>
                  <a:lnTo>
                    <a:pt x="144018" y="359663"/>
                  </a:lnTo>
                  <a:lnTo>
                    <a:pt x="144018" y="269747"/>
                  </a:lnTo>
                  <a:lnTo>
                    <a:pt x="0" y="269747"/>
                  </a:lnTo>
                  <a:lnTo>
                    <a:pt x="0" y="89915"/>
                  </a:lnTo>
                  <a:close/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922411" y="5400618"/>
            <a:ext cx="352425" cy="414020"/>
            <a:chOff x="4922411" y="5400618"/>
            <a:chExt cx="352425" cy="414020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22411" y="5400618"/>
              <a:ext cx="352370" cy="41390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60620" y="5408676"/>
              <a:ext cx="288035" cy="36118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960620" y="5408676"/>
              <a:ext cx="288290" cy="361315"/>
            </a:xfrm>
            <a:custGeom>
              <a:avLst/>
              <a:gdLst/>
              <a:ahLst/>
              <a:cxnLst/>
              <a:rect l="l" t="t" r="r" b="b"/>
              <a:pathLst>
                <a:path w="288289" h="361314">
                  <a:moveTo>
                    <a:pt x="0" y="90297"/>
                  </a:moveTo>
                  <a:lnTo>
                    <a:pt x="144017" y="90297"/>
                  </a:lnTo>
                  <a:lnTo>
                    <a:pt x="144017" y="0"/>
                  </a:lnTo>
                  <a:lnTo>
                    <a:pt x="288035" y="180594"/>
                  </a:lnTo>
                  <a:lnTo>
                    <a:pt x="144017" y="361188"/>
                  </a:lnTo>
                  <a:lnTo>
                    <a:pt x="144017" y="270891"/>
                  </a:lnTo>
                  <a:lnTo>
                    <a:pt x="0" y="270891"/>
                  </a:lnTo>
                  <a:lnTo>
                    <a:pt x="0" y="90297"/>
                  </a:lnTo>
                  <a:close/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563A4161-4703-9724-D9F2-F59194391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Ingeniería de Sistemas - UNCP">
            <a:extLst>
              <a:ext uri="{FF2B5EF4-FFF2-40B4-BE49-F238E27FC236}">
                <a16:creationId xmlns:a16="http://schemas.microsoft.com/office/drawing/2014/main" id="{905BE3FA-5F09-0BA4-9003-43D9184FA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Descriptores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7579359" cy="2890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459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Basados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en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Deep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LIFT</a:t>
            </a:r>
            <a:r>
              <a:rPr sz="2000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(Learned</a:t>
            </a:r>
            <a:r>
              <a:rPr sz="18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Invariant</a:t>
            </a:r>
            <a:r>
              <a:rPr sz="18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Feature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7E7E7E"/>
                </a:solidFill>
                <a:latin typeface="Calibri"/>
                <a:cs typeface="Calibri"/>
              </a:rPr>
              <a:t>Transform)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Es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detector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10" dirty="0">
                <a:latin typeface="Calibri"/>
                <a:cs typeface="Calibri"/>
              </a:rPr>
              <a:t>descriptor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(entrenado</a:t>
            </a:r>
            <a:r>
              <a:rPr sz="1600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por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separado)</a:t>
            </a:r>
            <a:endParaRPr sz="1600">
              <a:latin typeface="Calibri"/>
              <a:cs typeface="Calibri"/>
            </a:endParaRPr>
          </a:p>
          <a:p>
            <a:pPr marL="611505" lvl="2" indent="-226060">
              <a:lnSpc>
                <a:spcPct val="100000"/>
              </a:lnSpc>
              <a:spcBef>
                <a:spcPts val="42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700" dirty="0">
                <a:latin typeface="Calibri"/>
                <a:cs typeface="Calibri"/>
              </a:rPr>
              <a:t>Una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red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neuronal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predice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la</a:t>
            </a:r>
            <a:r>
              <a:rPr sz="1700" spc="-5" dirty="0">
                <a:latin typeface="Calibri"/>
                <a:cs typeface="Calibri"/>
              </a:rPr>
              <a:t> localización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un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punto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interés</a:t>
            </a:r>
            <a:endParaRPr sz="1700">
              <a:latin typeface="Calibri"/>
              <a:cs typeface="Calibri"/>
            </a:endParaRPr>
          </a:p>
          <a:p>
            <a:pPr marL="611505" lvl="2" indent="-226060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700" spc="-10" dirty="0">
                <a:latin typeface="Calibri"/>
                <a:cs typeface="Calibri"/>
              </a:rPr>
              <a:t>Otra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red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predice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la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orientación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la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región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alrededor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del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punto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</a:t>
            </a:r>
            <a:r>
              <a:rPr sz="1700" spc="-5" dirty="0">
                <a:latin typeface="Calibri"/>
                <a:cs typeface="Calibri"/>
              </a:rPr>
              <a:t> interés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(para</a:t>
            </a:r>
            <a:endParaRPr sz="1600">
              <a:latin typeface="Calibri"/>
              <a:cs typeface="Calibri"/>
            </a:endParaRPr>
          </a:p>
          <a:p>
            <a:pPr marL="611505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“quitar”</a:t>
            </a:r>
            <a:r>
              <a:rPr sz="16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rotación)</a:t>
            </a:r>
            <a:endParaRPr sz="1600">
              <a:latin typeface="Calibri"/>
              <a:cs typeface="Calibri"/>
            </a:endParaRPr>
          </a:p>
          <a:p>
            <a:pPr marL="611505" lvl="2" indent="-226060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700" spc="-10" dirty="0">
                <a:latin typeface="Calibri"/>
                <a:cs typeface="Calibri"/>
              </a:rPr>
              <a:t>Otra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red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neuronal</a:t>
            </a:r>
            <a:r>
              <a:rPr sz="1700" spc="-10" dirty="0">
                <a:latin typeface="Calibri"/>
                <a:cs typeface="Calibri"/>
              </a:rPr>
              <a:t> genera </a:t>
            </a:r>
            <a:r>
              <a:rPr sz="1700" dirty="0">
                <a:latin typeface="Calibri"/>
                <a:cs typeface="Calibri"/>
              </a:rPr>
              <a:t>el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descriptor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la</a:t>
            </a:r>
            <a:r>
              <a:rPr sz="1700" spc="-5" dirty="0">
                <a:latin typeface="Calibri"/>
                <a:cs typeface="Calibri"/>
              </a:rPr>
              <a:t> región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(128</a:t>
            </a:r>
            <a:r>
              <a:rPr sz="16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elementos)</a:t>
            </a:r>
            <a:endParaRPr sz="16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2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más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repetible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SIFT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0783" y="4148328"/>
            <a:ext cx="6193536" cy="21080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64663" y="6599935"/>
            <a:ext cx="35458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5" dirty="0">
                <a:solidFill>
                  <a:srgbClr val="7E7E7E"/>
                </a:solidFill>
                <a:latin typeface="Calibri"/>
                <a:cs typeface="Calibri"/>
              </a:rPr>
              <a:t>Yi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et</a:t>
            </a:r>
            <a:r>
              <a:rPr sz="12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al.</a:t>
            </a:r>
            <a:r>
              <a:rPr sz="12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(2016),</a:t>
            </a:r>
            <a:r>
              <a:rPr sz="12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7E7E7E"/>
                </a:solidFill>
                <a:latin typeface="Calibri"/>
                <a:cs typeface="Calibri"/>
              </a:rPr>
              <a:t>LIFT:</a:t>
            </a:r>
            <a:r>
              <a:rPr sz="12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Learned</a:t>
            </a:r>
            <a:r>
              <a:rPr sz="12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Invariant</a:t>
            </a:r>
            <a:r>
              <a:rPr sz="12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Feature</a:t>
            </a:r>
            <a:r>
              <a:rPr sz="12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15" dirty="0">
                <a:solidFill>
                  <a:srgbClr val="7E7E7E"/>
                </a:solidFill>
                <a:latin typeface="Calibri"/>
                <a:cs typeface="Calibri"/>
              </a:rPr>
              <a:t>Transform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D21528A7-B466-1C1C-D06C-8B8FCF93D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DC48A7D7-7EA2-33C4-2FFF-2B8215AC0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Descriptores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7776209" cy="2701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4030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Basados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en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Deep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SuperPoint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Es </a:t>
            </a:r>
            <a:r>
              <a:rPr sz="1800" dirty="0">
                <a:latin typeface="Calibri"/>
                <a:cs typeface="Calibri"/>
              </a:rPr>
              <a:t>un </a:t>
            </a:r>
            <a:r>
              <a:rPr sz="1800" spc="-10" dirty="0">
                <a:latin typeface="Calibri"/>
                <a:cs typeface="Calibri"/>
              </a:rPr>
              <a:t>detector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descriptor: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aprende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ambos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simultáneo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Es entrenado</a:t>
            </a:r>
            <a:r>
              <a:rPr sz="1800" dirty="0">
                <a:latin typeface="Calibri"/>
                <a:cs typeface="Calibri"/>
              </a:rPr>
              <a:t> en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imágenes</a:t>
            </a:r>
            <a:r>
              <a:rPr sz="1800" spc="-10" dirty="0">
                <a:latin typeface="Calibri"/>
                <a:cs typeface="Calibri"/>
              </a:rPr>
              <a:t> sintéticas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 se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hace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“fine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tuning”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imágenes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reales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Detector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menos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exacto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SIFT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 </a:t>
            </a:r>
            <a:r>
              <a:rPr sz="1800" spc="-5" dirty="0">
                <a:latin typeface="Calibri"/>
                <a:cs typeface="Calibri"/>
              </a:rPr>
              <a:t>LIFT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Descriptor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funciona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mejor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SIFT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5" dirty="0">
                <a:latin typeface="Calibri"/>
                <a:cs typeface="Calibri"/>
              </a:rPr>
              <a:t> LIFT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Más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lento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SIFT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LIFT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2871" y="3790888"/>
            <a:ext cx="5594302" cy="253231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68882" y="6599935"/>
            <a:ext cx="561276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0" dirty="0">
                <a:solidFill>
                  <a:srgbClr val="7E7E7E"/>
                </a:solidFill>
                <a:latin typeface="Calibri"/>
                <a:cs typeface="Calibri"/>
              </a:rPr>
              <a:t>DeTone</a:t>
            </a:r>
            <a:r>
              <a:rPr sz="12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et</a:t>
            </a:r>
            <a:r>
              <a:rPr sz="12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al.</a:t>
            </a:r>
            <a:r>
              <a:rPr sz="12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(2018).</a:t>
            </a:r>
            <a:r>
              <a:rPr sz="1200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SuperPoint:</a:t>
            </a:r>
            <a:r>
              <a:rPr sz="12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Self-Supervised</a:t>
            </a:r>
            <a:r>
              <a:rPr sz="12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Interest Point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 Detection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 and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Description.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27</a:t>
            </a:fld>
            <a:endParaRPr spc="-5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0DBB6E9D-DC26-CB43-DE84-0E876356B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80DC83F6-7D0C-8110-5099-1E1370FD9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5002" y="260350"/>
            <a:ext cx="22542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Comparación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153" y="1124711"/>
            <a:ext cx="8832904" cy="50581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10153" y="6599935"/>
            <a:ext cx="257365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[Davide</a:t>
            </a:r>
            <a:r>
              <a:rPr sz="12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Scaramuzza,</a:t>
            </a:r>
            <a:r>
              <a:rPr sz="12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University</a:t>
            </a:r>
            <a:r>
              <a:rPr sz="12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of</a:t>
            </a:r>
            <a:r>
              <a:rPr sz="12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Zurich]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B1545B28-3988-6486-5DE2-3A06E89BF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Ingeniería de Sistemas - UNCP">
            <a:extLst>
              <a:ext uri="{FF2B5EF4-FFF2-40B4-BE49-F238E27FC236}">
                <a16:creationId xmlns:a16="http://schemas.microsoft.com/office/drawing/2014/main" id="{66325F3B-27A8-B31D-2E23-116773583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94226" y="581913"/>
            <a:ext cx="9544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60" dirty="0">
                <a:solidFill>
                  <a:srgbClr val="B51A00"/>
                </a:solidFill>
              </a:rPr>
              <a:t>Temas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207" y="2217309"/>
            <a:ext cx="8459764" cy="7089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2068" y="1591436"/>
            <a:ext cx="4189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2800" spc="-5" dirty="0">
                <a:solidFill>
                  <a:srgbClr val="A6A6A6"/>
                </a:solidFill>
                <a:latin typeface="Calibri"/>
                <a:cs typeface="Calibri"/>
              </a:rPr>
              <a:t>1.	</a:t>
            </a: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Detectores</a:t>
            </a:r>
            <a:r>
              <a:rPr sz="2800" spc="-3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A6A6A6"/>
                </a:solidFill>
                <a:latin typeface="Calibri"/>
                <a:cs typeface="Calibri"/>
              </a:rPr>
              <a:t>y</a:t>
            </a:r>
            <a:r>
              <a:rPr sz="2800" spc="-2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Descriptores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29</a:t>
            </a:fld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355091" y="2304288"/>
            <a:ext cx="8300084" cy="548640"/>
          </a:xfrm>
          <a:prstGeom prst="rect">
            <a:avLst/>
          </a:prstGeom>
          <a:solidFill>
            <a:srgbClr val="9BEDF7"/>
          </a:solidFill>
        </p:spPr>
        <p:txBody>
          <a:bodyPr vert="horz" wrap="square" lIns="0" tIns="22860" rIns="0" bIns="0" rtlCol="0">
            <a:spAutoFit/>
          </a:bodyPr>
          <a:lstStyle/>
          <a:p>
            <a:pPr marL="309245">
              <a:lnSpc>
                <a:spcPct val="100000"/>
              </a:lnSpc>
              <a:spcBef>
                <a:spcPts val="180"/>
              </a:spcBef>
              <a:tabLst>
                <a:tab pos="766445" algn="l"/>
              </a:tabLst>
            </a:pPr>
            <a:r>
              <a:rPr sz="2800" b="1" spc="-5" dirty="0">
                <a:solidFill>
                  <a:srgbClr val="0000FF"/>
                </a:solidFill>
                <a:latin typeface="Calibri"/>
                <a:cs typeface="Calibri"/>
              </a:rPr>
              <a:t>2.	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Correspondencia</a:t>
            </a:r>
            <a:r>
              <a:rPr sz="2800" b="1" spc="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Calibri"/>
                <a:cs typeface="Calibri"/>
              </a:rPr>
              <a:t>de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Imágenes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068" y="3039617"/>
            <a:ext cx="35725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2800" spc="-5" dirty="0">
                <a:solidFill>
                  <a:srgbClr val="A6A6A6"/>
                </a:solidFill>
                <a:latin typeface="Calibri"/>
                <a:cs typeface="Calibri"/>
              </a:rPr>
              <a:t>3.	</a:t>
            </a: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Detección</a:t>
            </a:r>
            <a:r>
              <a:rPr sz="2800" spc="-3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A6A6A6"/>
                </a:solidFill>
                <a:latin typeface="Calibri"/>
                <a:cs typeface="Calibri"/>
              </a:rPr>
              <a:t>de</a:t>
            </a:r>
            <a:r>
              <a:rPr sz="2800" spc="-2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Objetos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5564D7B9-09FE-97D7-0D28-2A94B4159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608AC1C6-7AD4-F836-9684-AEDC047D5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0557" y="260350"/>
            <a:ext cx="32645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Template</a:t>
            </a:r>
            <a:r>
              <a:rPr spc="-90" dirty="0"/>
              <a:t> </a:t>
            </a:r>
            <a:r>
              <a:rPr spc="-10" dirty="0"/>
              <a:t>Matching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1098906"/>
            <a:ext cx="5717540" cy="128714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100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Se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-5" dirty="0">
                <a:latin typeface="Calibri"/>
                <a:cs typeface="Calibri"/>
              </a:rPr>
              <a:t> conoce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“correspondencia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patrones”</a:t>
            </a:r>
            <a:endParaRPr sz="20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latin typeface="Calibri"/>
                <a:cs typeface="Calibri"/>
              </a:rPr>
              <a:t>Encuentra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áreas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similares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un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“patrón”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determinado</a:t>
            </a:r>
            <a:endParaRPr sz="20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92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solidFill>
                  <a:srgbClr val="6F2F9F"/>
                </a:solidFill>
                <a:latin typeface="Comic Sans MS"/>
                <a:cs typeface="Comic Sans MS"/>
              </a:rPr>
              <a:t>Ejemplo:</a:t>
            </a:r>
            <a:r>
              <a:rPr sz="2000" dirty="0">
                <a:solidFill>
                  <a:srgbClr val="6F2F9F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latin typeface="Calibri"/>
                <a:cs typeface="Calibri"/>
              </a:rPr>
              <a:t>encontrar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silla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794" y="5966256"/>
            <a:ext cx="796670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forma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más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simple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(y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menos</a:t>
            </a:r>
            <a:r>
              <a:rPr sz="1600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precisa)</a:t>
            </a:r>
            <a:r>
              <a:rPr sz="1600" spc="1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detectar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objeto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imagen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567" y="3403091"/>
            <a:ext cx="1072895" cy="171754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46022" y="5123434"/>
            <a:ext cx="3162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S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illa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98420" y="2644139"/>
            <a:ext cx="2837815" cy="2863850"/>
            <a:chOff x="2598420" y="2644139"/>
            <a:chExt cx="2837815" cy="286385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12136" y="2673095"/>
              <a:ext cx="2823972" cy="283464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627376" y="2673095"/>
              <a:ext cx="628015" cy="974090"/>
            </a:xfrm>
            <a:custGeom>
              <a:avLst/>
              <a:gdLst/>
              <a:ahLst/>
              <a:cxnLst/>
              <a:rect l="l" t="t" r="r" b="b"/>
              <a:pathLst>
                <a:path w="628014" h="974089">
                  <a:moveTo>
                    <a:pt x="0" y="973835"/>
                  </a:moveTo>
                  <a:lnTo>
                    <a:pt x="627888" y="973835"/>
                  </a:lnTo>
                  <a:lnTo>
                    <a:pt x="627888" y="0"/>
                  </a:lnTo>
                  <a:lnTo>
                    <a:pt x="0" y="0"/>
                  </a:lnTo>
                  <a:lnTo>
                    <a:pt x="0" y="973835"/>
                  </a:lnTo>
                  <a:close/>
                </a:path>
              </a:pathLst>
            </a:custGeom>
            <a:ln w="57912">
              <a:solidFill>
                <a:srgbClr val="F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186429" y="5519420"/>
            <a:ext cx="13398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Imagen</a:t>
            </a:r>
            <a:r>
              <a:rPr sz="14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prueba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12179" y="2651760"/>
            <a:ext cx="2863850" cy="2828925"/>
            <a:chOff x="6012179" y="2651760"/>
            <a:chExt cx="2863850" cy="282892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12179" y="2651760"/>
              <a:ext cx="2863596" cy="282854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040879" y="3308604"/>
              <a:ext cx="628015" cy="974090"/>
            </a:xfrm>
            <a:custGeom>
              <a:avLst/>
              <a:gdLst/>
              <a:ahLst/>
              <a:cxnLst/>
              <a:rect l="l" t="t" r="r" b="b"/>
              <a:pathLst>
                <a:path w="628015" h="974089">
                  <a:moveTo>
                    <a:pt x="0" y="973836"/>
                  </a:moveTo>
                  <a:lnTo>
                    <a:pt x="627887" y="973836"/>
                  </a:lnTo>
                  <a:lnTo>
                    <a:pt x="627887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57912">
              <a:solidFill>
                <a:srgbClr val="F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610350" y="5460593"/>
            <a:ext cx="14554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Correlación</a:t>
            </a:r>
            <a:r>
              <a:rPr sz="14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cruzada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614237" y="3867500"/>
            <a:ext cx="287020" cy="488950"/>
            <a:chOff x="5614237" y="3867500"/>
            <a:chExt cx="287020" cy="48895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14237" y="3867500"/>
              <a:ext cx="286894" cy="48839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52516" y="3874007"/>
              <a:ext cx="214884" cy="43129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652516" y="3874007"/>
              <a:ext cx="215265" cy="431800"/>
            </a:xfrm>
            <a:custGeom>
              <a:avLst/>
              <a:gdLst/>
              <a:ahLst/>
              <a:cxnLst/>
              <a:rect l="l" t="t" r="r" b="b"/>
              <a:pathLst>
                <a:path w="215264" h="431800">
                  <a:moveTo>
                    <a:pt x="0" y="107823"/>
                  </a:moveTo>
                  <a:lnTo>
                    <a:pt x="107442" y="107823"/>
                  </a:lnTo>
                  <a:lnTo>
                    <a:pt x="107442" y="0"/>
                  </a:lnTo>
                  <a:lnTo>
                    <a:pt x="214884" y="215646"/>
                  </a:lnTo>
                  <a:lnTo>
                    <a:pt x="107442" y="431292"/>
                  </a:lnTo>
                  <a:lnTo>
                    <a:pt x="107442" y="323469"/>
                  </a:lnTo>
                  <a:lnTo>
                    <a:pt x="0" y="323469"/>
                  </a:lnTo>
                  <a:lnTo>
                    <a:pt x="0" y="10782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30</a:t>
            </a:fld>
            <a:endParaRPr spc="-5" dirty="0"/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5ACDBEAA-9ADB-773D-DEFE-D1EC98588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Ingeniería de Sistemas - UNCP">
            <a:extLst>
              <a:ext uri="{FF2B5EF4-FFF2-40B4-BE49-F238E27FC236}">
                <a16:creationId xmlns:a16="http://schemas.microsoft.com/office/drawing/2014/main" id="{3A65CF42-6DAF-E5BA-5D01-4D81BFB58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0557" y="260350"/>
            <a:ext cx="32645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Template</a:t>
            </a:r>
            <a:r>
              <a:rPr spc="-90" dirty="0"/>
              <a:t> </a:t>
            </a:r>
            <a:r>
              <a:rPr spc="-10" dirty="0"/>
              <a:t>Matching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1150537"/>
            <a:ext cx="5319395" cy="72390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Se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realiza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5" dirty="0">
                <a:latin typeface="Calibri"/>
                <a:cs typeface="Calibri"/>
              </a:rPr>
              <a:t> correlación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del </a:t>
            </a:r>
            <a:r>
              <a:rPr sz="2000" spc="-15" dirty="0">
                <a:latin typeface="Calibri"/>
                <a:cs typeface="Calibri"/>
              </a:rPr>
              <a:t>patrón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imagen.</a:t>
            </a:r>
            <a:endParaRPr sz="20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45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3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Métrica: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correlación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cruzada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normalizada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202" y="3111246"/>
            <a:ext cx="3246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Métrica: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coeficiente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normalizado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7794" y="5546242"/>
            <a:ext cx="6836409" cy="75438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Se reconoce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objeto </a:t>
            </a:r>
            <a:r>
              <a:rPr sz="2000" dirty="0">
                <a:latin typeface="Calibri"/>
                <a:cs typeface="Calibri"/>
              </a:rPr>
              <a:t>cuando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</a:t>
            </a:r>
            <a:r>
              <a:rPr sz="2000" spc="-5" dirty="0">
                <a:latin typeface="Calibri"/>
                <a:cs typeface="Calibri"/>
              </a:rPr>
              <a:t> valor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R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es </a:t>
            </a:r>
            <a:r>
              <a:rPr sz="2000" spc="-10" dirty="0">
                <a:latin typeface="Calibri"/>
                <a:cs typeface="Calibri"/>
              </a:rPr>
              <a:t>máximo</a:t>
            </a:r>
            <a:endParaRPr sz="20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25" dirty="0">
                <a:latin typeface="Calibri"/>
                <a:cs typeface="Calibri"/>
              </a:rPr>
              <a:t>También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puede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usar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un criterio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para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encontrar </a:t>
            </a:r>
            <a:r>
              <a:rPr sz="2000" dirty="0">
                <a:latin typeface="Calibri"/>
                <a:cs typeface="Calibri"/>
              </a:rPr>
              <a:t>la </a:t>
            </a:r>
            <a:r>
              <a:rPr sz="2000" spc="-15" dirty="0">
                <a:latin typeface="Calibri"/>
                <a:cs typeface="Calibri"/>
              </a:rPr>
              <a:t>“diferencia”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1292" y="2218490"/>
            <a:ext cx="4786571" cy="72471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670418" y="2222119"/>
            <a:ext cx="87820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i="1" spc="-5" dirty="0">
                <a:latin typeface="Times New Roman"/>
                <a:cs typeface="Times New Roman"/>
              </a:rPr>
              <a:t>T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120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10" dirty="0">
                <a:latin typeface="Calibri"/>
                <a:cs typeface="Calibri"/>
              </a:rPr>
              <a:t>mp</a:t>
            </a:r>
            <a:r>
              <a:rPr sz="1400" dirty="0">
                <a:latin typeface="Calibri"/>
                <a:cs typeface="Calibri"/>
              </a:rPr>
              <a:t>l</a:t>
            </a:r>
            <a:r>
              <a:rPr sz="1400" spc="-15" dirty="0">
                <a:latin typeface="Calibri"/>
                <a:cs typeface="Calibri"/>
              </a:rPr>
              <a:t>at</a:t>
            </a:r>
            <a:r>
              <a:rPr sz="1400" dirty="0">
                <a:latin typeface="Calibri"/>
                <a:cs typeface="Calibri"/>
              </a:rPr>
              <a:t>e  </a:t>
            </a:r>
            <a:r>
              <a:rPr sz="1400" i="1" dirty="0">
                <a:latin typeface="Times New Roman"/>
                <a:cs typeface="Times New Roman"/>
              </a:rPr>
              <a:t>I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3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Imagen 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R</a:t>
            </a:r>
            <a:r>
              <a:rPr sz="1400" spc="-5" dirty="0">
                <a:latin typeface="Calibri"/>
                <a:cs typeface="Calibri"/>
              </a:rPr>
              <a:t>: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puntaje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23765" y="3707238"/>
            <a:ext cx="5205804" cy="76581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9832" y="4803580"/>
            <a:ext cx="6883983" cy="62795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31</a:t>
            </a:fld>
            <a:endParaRPr spc="-5" dirty="0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AEB485AC-A653-BC2D-D1D1-89EAECD7A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Ingeniería de Sistemas - UNCP">
            <a:extLst>
              <a:ext uri="{FF2B5EF4-FFF2-40B4-BE49-F238E27FC236}">
                <a16:creationId xmlns:a16="http://schemas.microsoft.com/office/drawing/2014/main" id="{0B57B994-0F94-3DA8-F3D5-044807AAC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0557" y="260350"/>
            <a:ext cx="32645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Template</a:t>
            </a:r>
            <a:r>
              <a:rPr spc="-90" dirty="0"/>
              <a:t> </a:t>
            </a:r>
            <a:r>
              <a:rPr spc="-10" dirty="0"/>
              <a:t>Matching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1150537"/>
            <a:ext cx="2802255" cy="72390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latin typeface="Calibri"/>
                <a:cs typeface="Calibri"/>
              </a:rPr>
              <a:t>Problemas:</a:t>
            </a:r>
            <a:endParaRPr sz="20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45"/>
              </a:spcBef>
            </a:pPr>
            <a:r>
              <a:rPr sz="1800" dirty="0">
                <a:solidFill>
                  <a:srgbClr val="6F2F9F"/>
                </a:solidFill>
                <a:latin typeface="Calibri"/>
                <a:cs typeface="Calibri"/>
              </a:rPr>
              <a:t>-</a:t>
            </a:r>
            <a:r>
              <a:rPr sz="1800" spc="2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6F2F9F"/>
                </a:solidFill>
                <a:latin typeface="Calibri"/>
                <a:cs typeface="Calibri"/>
              </a:rPr>
              <a:t>Ejemplo:</a:t>
            </a:r>
            <a:r>
              <a:rPr sz="1800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encontrar</a:t>
            </a:r>
            <a:r>
              <a:rPr sz="1800" spc="-5" dirty="0">
                <a:latin typeface="Calibri"/>
                <a:cs typeface="Calibri"/>
              </a:rPr>
              <a:t> la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silla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49700" y="1574672"/>
            <a:ext cx="1212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imagen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4202" y="5525820"/>
            <a:ext cx="7178040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marR="5080" indent="-160020">
              <a:lnSpc>
                <a:spcPct val="100000"/>
              </a:lnSpc>
              <a:spcBef>
                <a:spcPts val="100"/>
              </a:spcBef>
              <a:buChar char="-"/>
              <a:tabLst>
                <a:tab pos="172720" algn="l"/>
              </a:tabLst>
            </a:pPr>
            <a:r>
              <a:rPr sz="1800" dirty="0">
                <a:latin typeface="Calibri"/>
                <a:cs typeface="Calibri"/>
              </a:rPr>
              <a:t>No </a:t>
            </a:r>
            <a:r>
              <a:rPr sz="1800" spc="-5" dirty="0">
                <a:latin typeface="Calibri"/>
                <a:cs typeface="Calibri"/>
              </a:rPr>
              <a:t>funciona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cuando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hay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cambios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ángulo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desde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donde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ve,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cambios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iluminación,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cambios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articulación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 </a:t>
            </a:r>
            <a:r>
              <a:rPr sz="1800" dirty="0">
                <a:latin typeface="Calibri"/>
                <a:cs typeface="Calibri"/>
              </a:rPr>
              <a:t>las </a:t>
            </a:r>
            <a:r>
              <a:rPr sz="1800" spc="-5" dirty="0">
                <a:latin typeface="Calibri"/>
                <a:cs typeface="Calibri"/>
              </a:rPr>
              <a:t>partes,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oclusiones,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  <a:p>
            <a:pPr marL="172720" indent="-160020">
              <a:lnSpc>
                <a:spcPct val="100000"/>
              </a:lnSpc>
              <a:spcBef>
                <a:spcPts val="430"/>
              </a:spcBef>
              <a:buChar char="-"/>
              <a:tabLst>
                <a:tab pos="172720" algn="l"/>
              </a:tabLst>
            </a:pPr>
            <a:r>
              <a:rPr sz="1800" dirty="0">
                <a:latin typeface="Calibri"/>
                <a:cs typeface="Calibri"/>
              </a:rPr>
              <a:t>No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método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robusto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99160" y="2513076"/>
            <a:ext cx="3657600" cy="2707005"/>
            <a:chOff x="899160" y="2513076"/>
            <a:chExt cx="3657600" cy="270700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9160" y="2513076"/>
              <a:ext cx="3657600" cy="27066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782318" y="3277362"/>
              <a:ext cx="2306320" cy="1424940"/>
            </a:xfrm>
            <a:custGeom>
              <a:avLst/>
              <a:gdLst/>
              <a:ahLst/>
              <a:cxnLst/>
              <a:rect l="l" t="t" r="r" b="b"/>
              <a:pathLst>
                <a:path w="2306320" h="1424939">
                  <a:moveTo>
                    <a:pt x="512063" y="804671"/>
                  </a:moveTo>
                  <a:lnTo>
                    <a:pt x="934212" y="804671"/>
                  </a:lnTo>
                  <a:lnTo>
                    <a:pt x="934212" y="192024"/>
                  </a:lnTo>
                  <a:lnTo>
                    <a:pt x="512063" y="192024"/>
                  </a:lnTo>
                  <a:lnTo>
                    <a:pt x="512063" y="804671"/>
                  </a:lnTo>
                  <a:close/>
                </a:path>
                <a:path w="2306320" h="1424939">
                  <a:moveTo>
                    <a:pt x="1214627" y="612648"/>
                  </a:moveTo>
                  <a:lnTo>
                    <a:pt x="1636775" y="612648"/>
                  </a:lnTo>
                  <a:lnTo>
                    <a:pt x="1636775" y="0"/>
                  </a:lnTo>
                  <a:lnTo>
                    <a:pt x="1214627" y="0"/>
                  </a:lnTo>
                  <a:lnTo>
                    <a:pt x="1214627" y="612648"/>
                  </a:lnTo>
                  <a:close/>
                </a:path>
                <a:path w="2306320" h="1424939">
                  <a:moveTo>
                    <a:pt x="1883664" y="862583"/>
                  </a:moveTo>
                  <a:lnTo>
                    <a:pt x="2305812" y="862583"/>
                  </a:lnTo>
                  <a:lnTo>
                    <a:pt x="2305812" y="249936"/>
                  </a:lnTo>
                  <a:lnTo>
                    <a:pt x="1883664" y="249936"/>
                  </a:lnTo>
                  <a:lnTo>
                    <a:pt x="1883664" y="862583"/>
                  </a:lnTo>
                  <a:close/>
                </a:path>
                <a:path w="2306320" h="1424939">
                  <a:moveTo>
                    <a:pt x="0" y="1424939"/>
                  </a:moveTo>
                  <a:lnTo>
                    <a:pt x="422148" y="1424939"/>
                  </a:lnTo>
                  <a:lnTo>
                    <a:pt x="422148" y="812291"/>
                  </a:lnTo>
                  <a:lnTo>
                    <a:pt x="0" y="812291"/>
                  </a:lnTo>
                  <a:lnTo>
                    <a:pt x="0" y="1424939"/>
                  </a:lnTo>
                  <a:close/>
                </a:path>
              </a:pathLst>
            </a:custGeom>
            <a:ln w="28956">
              <a:solidFill>
                <a:srgbClr val="F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052059" y="2519172"/>
            <a:ext cx="3695700" cy="2710180"/>
            <a:chOff x="5052059" y="2519172"/>
            <a:chExt cx="3695700" cy="271018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2059" y="2519172"/>
              <a:ext cx="3695699" cy="27096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27597" y="3301745"/>
              <a:ext cx="2324100" cy="1424940"/>
            </a:xfrm>
            <a:custGeom>
              <a:avLst/>
              <a:gdLst/>
              <a:ahLst/>
              <a:cxnLst/>
              <a:rect l="l" t="t" r="r" b="b"/>
              <a:pathLst>
                <a:path w="2324100" h="1424939">
                  <a:moveTo>
                    <a:pt x="516636" y="804671"/>
                  </a:moveTo>
                  <a:lnTo>
                    <a:pt x="941831" y="804671"/>
                  </a:lnTo>
                  <a:lnTo>
                    <a:pt x="941831" y="192024"/>
                  </a:lnTo>
                  <a:lnTo>
                    <a:pt x="516636" y="192024"/>
                  </a:lnTo>
                  <a:lnTo>
                    <a:pt x="516636" y="804671"/>
                  </a:lnTo>
                  <a:close/>
                </a:path>
                <a:path w="2324100" h="1424939">
                  <a:moveTo>
                    <a:pt x="1223772" y="612647"/>
                  </a:moveTo>
                  <a:lnTo>
                    <a:pt x="1648968" y="612647"/>
                  </a:lnTo>
                  <a:lnTo>
                    <a:pt x="1648968" y="0"/>
                  </a:lnTo>
                  <a:lnTo>
                    <a:pt x="1223772" y="0"/>
                  </a:lnTo>
                  <a:lnTo>
                    <a:pt x="1223772" y="612647"/>
                  </a:lnTo>
                  <a:close/>
                </a:path>
                <a:path w="2324100" h="1424939">
                  <a:moveTo>
                    <a:pt x="1898903" y="862583"/>
                  </a:moveTo>
                  <a:lnTo>
                    <a:pt x="2324100" y="862583"/>
                  </a:lnTo>
                  <a:lnTo>
                    <a:pt x="2324100" y="249936"/>
                  </a:lnTo>
                  <a:lnTo>
                    <a:pt x="1898903" y="249936"/>
                  </a:lnTo>
                  <a:lnTo>
                    <a:pt x="1898903" y="862583"/>
                  </a:lnTo>
                  <a:close/>
                </a:path>
                <a:path w="2324100" h="1424939">
                  <a:moveTo>
                    <a:pt x="0" y="1424939"/>
                  </a:moveTo>
                  <a:lnTo>
                    <a:pt x="425196" y="1424939"/>
                  </a:lnTo>
                  <a:lnTo>
                    <a:pt x="425196" y="812291"/>
                  </a:lnTo>
                  <a:lnTo>
                    <a:pt x="0" y="812291"/>
                  </a:lnTo>
                  <a:lnTo>
                    <a:pt x="0" y="1424939"/>
                  </a:lnTo>
                  <a:close/>
                </a:path>
              </a:pathLst>
            </a:custGeom>
            <a:ln w="28956">
              <a:solidFill>
                <a:srgbClr val="F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446520" y="4308347"/>
          <a:ext cx="674369" cy="6118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18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00000"/>
                      </a:solidFill>
                      <a:prstDash val="solid"/>
                    </a:lnL>
                    <a:lnR w="38100">
                      <a:solidFill>
                        <a:srgbClr val="F00000"/>
                      </a:solidFill>
                      <a:prstDash val="solid"/>
                    </a:lnR>
                    <a:lnT w="38100">
                      <a:solidFill>
                        <a:srgbClr val="F00000"/>
                      </a:solidFill>
                      <a:prstDash val="solid"/>
                    </a:lnT>
                    <a:lnB w="38100">
                      <a:solidFill>
                        <a:srgbClr val="F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00000"/>
                      </a:solidFill>
                      <a:prstDash val="solid"/>
                    </a:lnL>
                    <a:lnR w="38100">
                      <a:solidFill>
                        <a:srgbClr val="F00000"/>
                      </a:solidFill>
                      <a:prstDash val="solid"/>
                    </a:lnR>
                    <a:lnT w="76200">
                      <a:solidFill>
                        <a:srgbClr val="F00000"/>
                      </a:solidFill>
                      <a:prstDash val="solid"/>
                    </a:lnT>
                    <a:lnB w="53975">
                      <a:solidFill>
                        <a:srgbClr val="F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00000"/>
                      </a:solidFill>
                      <a:prstDash val="solid"/>
                    </a:lnL>
                    <a:lnR w="38100">
                      <a:solidFill>
                        <a:srgbClr val="F00000"/>
                      </a:solidFill>
                      <a:prstDash val="solid"/>
                    </a:lnR>
                    <a:lnT w="38100">
                      <a:solidFill>
                        <a:srgbClr val="F00000"/>
                      </a:solidFill>
                      <a:prstDash val="solid"/>
                    </a:lnT>
                    <a:lnB w="38100">
                      <a:solidFill>
                        <a:srgbClr val="F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296667" y="4283964"/>
          <a:ext cx="668019" cy="6126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6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00000"/>
                      </a:solidFill>
                      <a:prstDash val="solid"/>
                    </a:lnL>
                    <a:lnR w="38100">
                      <a:solidFill>
                        <a:srgbClr val="F00000"/>
                      </a:solidFill>
                      <a:prstDash val="solid"/>
                    </a:lnR>
                    <a:lnT w="38100">
                      <a:solidFill>
                        <a:srgbClr val="F00000"/>
                      </a:solidFill>
                      <a:prstDash val="solid"/>
                    </a:lnT>
                    <a:lnB w="38100">
                      <a:solidFill>
                        <a:srgbClr val="F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00000"/>
                      </a:solidFill>
                      <a:prstDash val="solid"/>
                    </a:lnL>
                    <a:lnR w="38100">
                      <a:solidFill>
                        <a:srgbClr val="F00000"/>
                      </a:solidFill>
                      <a:prstDash val="solid"/>
                    </a:lnR>
                    <a:lnT w="53975">
                      <a:solidFill>
                        <a:srgbClr val="F00000"/>
                      </a:solidFill>
                      <a:prstDash val="solid"/>
                    </a:lnT>
                    <a:lnB w="53975">
                      <a:solidFill>
                        <a:srgbClr val="F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00000"/>
                      </a:solidFill>
                      <a:prstDash val="solid"/>
                    </a:lnL>
                    <a:lnR w="38100">
                      <a:solidFill>
                        <a:srgbClr val="F00000"/>
                      </a:solidFill>
                      <a:prstDash val="solid"/>
                    </a:lnR>
                    <a:lnT w="38100">
                      <a:solidFill>
                        <a:srgbClr val="F00000"/>
                      </a:solidFill>
                      <a:prstDash val="solid"/>
                    </a:lnT>
                    <a:lnB w="38100">
                      <a:solidFill>
                        <a:srgbClr val="F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48228" y="1342644"/>
            <a:ext cx="504444" cy="806196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32</a:t>
            </a:fld>
            <a:endParaRPr spc="-5" dirty="0"/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A8B3E468-9B6A-8041-58F1-34EC38E5E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Ingeniería de Sistemas - UNCP">
            <a:extLst>
              <a:ext uri="{FF2B5EF4-FFF2-40B4-BE49-F238E27FC236}">
                <a16:creationId xmlns:a16="http://schemas.microsoft.com/office/drawing/2014/main" id="{36FFA08F-8B45-4E4A-E019-F5713B984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1204" y="260350"/>
            <a:ext cx="51003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Correspondencia</a:t>
            </a:r>
            <a:r>
              <a:rPr spc="-6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spc="-10" dirty="0"/>
              <a:t>Imágenes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540" y="1150492"/>
            <a:ext cx="6420485" cy="72644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34315" indent="-19685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34950" algn="l"/>
              </a:tabLst>
            </a:pPr>
            <a:r>
              <a:rPr sz="2000" spc="-10" dirty="0">
                <a:latin typeface="Calibri"/>
                <a:cs typeface="Calibri"/>
              </a:rPr>
              <a:t>Consiste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 </a:t>
            </a:r>
            <a:r>
              <a:rPr sz="2000" spc="-10" dirty="0">
                <a:latin typeface="Calibri"/>
                <a:cs typeface="Calibri"/>
              </a:rPr>
              <a:t>encontrar </a:t>
            </a:r>
            <a:r>
              <a:rPr sz="2000" spc="-5" dirty="0">
                <a:latin typeface="Calibri"/>
                <a:cs typeface="Calibri"/>
              </a:rPr>
              <a:t>correspondencia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entre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descriptores</a:t>
            </a:r>
            <a:endParaRPr sz="2000">
              <a:latin typeface="Calibri"/>
              <a:cs typeface="Calibri"/>
            </a:endParaRPr>
          </a:p>
          <a:p>
            <a:pPr marL="254000">
              <a:lnSpc>
                <a:spcPct val="100000"/>
              </a:lnSpc>
              <a:spcBef>
                <a:spcPts val="455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30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Dado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descriptor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baseline="-20833" dirty="0">
                <a:latin typeface="Times New Roman"/>
                <a:cs typeface="Times New Roman"/>
              </a:rPr>
              <a:t>1</a:t>
            </a:r>
            <a:r>
              <a:rPr sz="1800" spc="165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… ¿a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qué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descriptor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I</a:t>
            </a:r>
            <a:r>
              <a:rPr sz="1800" spc="-7" baseline="-20833" dirty="0">
                <a:latin typeface="Times New Roman"/>
                <a:cs typeface="Times New Roman"/>
              </a:rPr>
              <a:t>2 </a:t>
            </a:r>
            <a:r>
              <a:rPr sz="1800" spc="-10" dirty="0">
                <a:latin typeface="Calibri"/>
                <a:cs typeface="Calibri"/>
              </a:rPr>
              <a:t>corresponde?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7840" y="3554270"/>
            <a:ext cx="6602730" cy="295338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47015" indent="-19685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247650" algn="l"/>
              </a:tabLst>
            </a:pPr>
            <a:r>
              <a:rPr sz="2000" spc="-10" dirty="0">
                <a:latin typeface="Calibri"/>
                <a:cs typeface="Calibri"/>
              </a:rPr>
              <a:t>Requiere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medir la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distancia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(</a:t>
            </a:r>
            <a:r>
              <a:rPr sz="2000" i="1" spc="5" dirty="0">
                <a:latin typeface="Times New Roman"/>
                <a:cs typeface="Times New Roman"/>
              </a:rPr>
              <a:t>d</a:t>
            </a:r>
            <a:r>
              <a:rPr sz="2000" spc="5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426720" lvl="1" indent="-160655">
              <a:lnSpc>
                <a:spcPct val="100000"/>
              </a:lnSpc>
              <a:spcBef>
                <a:spcPts val="425"/>
              </a:spcBef>
              <a:buChar char="-"/>
              <a:tabLst>
                <a:tab pos="427355" algn="l"/>
              </a:tabLst>
            </a:pPr>
            <a:r>
              <a:rPr sz="1800" spc="-10" dirty="0">
                <a:latin typeface="Calibri"/>
                <a:cs typeface="Calibri"/>
              </a:rPr>
              <a:t>Distancia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Calibri"/>
                <a:cs typeface="Calibri"/>
              </a:rPr>
              <a:t>L</a:t>
            </a:r>
            <a:r>
              <a:rPr sz="1800" spc="-7" baseline="-20833" dirty="0">
                <a:latin typeface="Calibri"/>
                <a:cs typeface="Calibri"/>
              </a:rPr>
              <a:t>1</a:t>
            </a:r>
            <a:r>
              <a:rPr sz="1800" spc="225" baseline="-20833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(SAD: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Sum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of</a:t>
            </a:r>
            <a:r>
              <a:rPr sz="16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Absolute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Difference)</a:t>
            </a:r>
            <a:endParaRPr sz="1600">
              <a:latin typeface="Calibri"/>
              <a:cs typeface="Calibri"/>
            </a:endParaRPr>
          </a:p>
          <a:p>
            <a:pPr marL="4267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427355" algn="l"/>
              </a:tabLst>
            </a:pPr>
            <a:r>
              <a:rPr sz="1800" spc="-10" dirty="0">
                <a:latin typeface="Calibri"/>
                <a:cs typeface="Calibri"/>
              </a:rPr>
              <a:t>Distancia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Calibri"/>
                <a:cs typeface="Calibri"/>
              </a:rPr>
              <a:t>L</a:t>
            </a:r>
            <a:r>
              <a:rPr sz="1800" spc="-7" baseline="-20833" dirty="0">
                <a:latin typeface="Calibri"/>
                <a:cs typeface="Calibri"/>
              </a:rPr>
              <a:t>2</a:t>
            </a:r>
            <a:r>
              <a:rPr sz="1800" spc="217" baseline="-20833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(SSD:</a:t>
            </a:r>
            <a:r>
              <a:rPr sz="16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Sum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of</a:t>
            </a:r>
            <a:r>
              <a:rPr sz="16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Squared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Difference)</a:t>
            </a:r>
            <a:endParaRPr sz="1600">
              <a:latin typeface="Calibri"/>
              <a:cs typeface="Calibri"/>
            </a:endParaRPr>
          </a:p>
          <a:p>
            <a:pPr marL="4267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427355" algn="l"/>
              </a:tabLst>
            </a:pPr>
            <a:r>
              <a:rPr sz="1800" spc="-10" dirty="0">
                <a:latin typeface="Calibri"/>
                <a:cs typeface="Calibri"/>
              </a:rPr>
              <a:t>Distancia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Hamming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(XOR)</a:t>
            </a:r>
            <a:r>
              <a:rPr sz="1800" spc="-15" dirty="0">
                <a:latin typeface="Calibri"/>
                <a:cs typeface="Calibri"/>
              </a:rPr>
              <a:t>: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solo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descriptor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binario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Char char="-"/>
            </a:pPr>
            <a:endParaRPr sz="1800">
              <a:latin typeface="Calibri"/>
              <a:cs typeface="Calibri"/>
            </a:endParaRPr>
          </a:p>
          <a:p>
            <a:pPr marL="247015" indent="-196850">
              <a:lnSpc>
                <a:spcPct val="100000"/>
              </a:lnSpc>
              <a:buFont typeface="Arial MT"/>
              <a:buChar char="•"/>
              <a:tabLst>
                <a:tab pos="247650" algn="l"/>
              </a:tabLst>
            </a:pP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Fuerza</a:t>
            </a:r>
            <a:r>
              <a:rPr sz="2000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bruta</a:t>
            </a:r>
            <a:r>
              <a:rPr sz="2000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(“brute</a:t>
            </a:r>
            <a:r>
              <a:rPr sz="16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force”)</a:t>
            </a:r>
            <a:endParaRPr sz="1600">
              <a:latin typeface="Calibri"/>
              <a:cs typeface="Calibri"/>
            </a:endParaRPr>
          </a:p>
          <a:p>
            <a:pPr marL="631190" lvl="1" indent="-224790">
              <a:lnSpc>
                <a:spcPct val="100000"/>
              </a:lnSpc>
              <a:spcBef>
                <a:spcPts val="455"/>
              </a:spcBef>
              <a:buChar char="-"/>
              <a:tabLst>
                <a:tab pos="631190" algn="l"/>
                <a:tab pos="631825" algn="l"/>
              </a:tabLst>
            </a:pPr>
            <a:r>
              <a:rPr sz="1800" spc="-5" dirty="0">
                <a:latin typeface="Calibri"/>
                <a:cs typeface="Calibri"/>
              </a:rPr>
              <a:t>Calcular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d</a:t>
            </a:r>
            <a:r>
              <a:rPr sz="1800" i="1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cada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descriptor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i="1" baseline="-20833" dirty="0">
                <a:latin typeface="Times New Roman"/>
                <a:cs typeface="Times New Roman"/>
              </a:rPr>
              <a:t>1</a:t>
            </a:r>
            <a:r>
              <a:rPr sz="1800" i="1" spc="157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todos</a:t>
            </a:r>
            <a:r>
              <a:rPr sz="1800" spc="-5" dirty="0">
                <a:latin typeface="Calibri"/>
                <a:cs typeface="Calibri"/>
              </a:rPr>
              <a:t> los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descriptores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baseline="-20833" dirty="0">
                <a:latin typeface="Times New Roman"/>
                <a:cs typeface="Times New Roman"/>
              </a:rPr>
              <a:t>2</a:t>
            </a:r>
            <a:endParaRPr sz="1800" baseline="-20833">
              <a:latin typeface="Times New Roman"/>
              <a:cs typeface="Times New Roman"/>
            </a:endParaRPr>
          </a:p>
          <a:p>
            <a:pPr marL="631190" lvl="1" indent="-224790">
              <a:lnSpc>
                <a:spcPct val="100000"/>
              </a:lnSpc>
              <a:spcBef>
                <a:spcPts val="430"/>
              </a:spcBef>
              <a:buChar char="-"/>
              <a:tabLst>
                <a:tab pos="631190" algn="l"/>
                <a:tab pos="631825" algn="l"/>
              </a:tabLst>
            </a:pPr>
            <a:r>
              <a:rPr sz="1800" spc="-5" dirty="0">
                <a:latin typeface="Calibri"/>
                <a:cs typeface="Calibri"/>
              </a:rPr>
              <a:t>Correspondencia: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descriptor</a:t>
            </a:r>
            <a:r>
              <a:rPr sz="1800" dirty="0">
                <a:latin typeface="Calibri"/>
                <a:cs typeface="Calibri"/>
              </a:rPr>
              <a:t> 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baseline="-20833" dirty="0">
                <a:latin typeface="Times New Roman"/>
                <a:cs typeface="Times New Roman"/>
              </a:rPr>
              <a:t>2</a:t>
            </a:r>
            <a:r>
              <a:rPr sz="1800" spc="172" baseline="-20833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libri"/>
                <a:cs typeface="Calibri"/>
              </a:rPr>
              <a:t>con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menor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distancia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d</a:t>
            </a:r>
            <a:r>
              <a:rPr sz="180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  <a:p>
            <a:pPr marL="631190" lvl="1" indent="-224790">
              <a:lnSpc>
                <a:spcPct val="100000"/>
              </a:lnSpc>
              <a:spcBef>
                <a:spcPts val="434"/>
              </a:spcBef>
              <a:buChar char="-"/>
              <a:tabLst>
                <a:tab pos="631190" algn="l"/>
                <a:tab pos="631825" algn="l"/>
              </a:tabLst>
            </a:pPr>
            <a:r>
              <a:rPr sz="1800" spc="-5" dirty="0">
                <a:latin typeface="Calibri"/>
                <a:cs typeface="Calibri"/>
              </a:rPr>
              <a:t>Descartar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distancias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mayores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cierto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umbral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(si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d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&gt; d</a:t>
            </a:r>
            <a:r>
              <a:rPr sz="1800" i="1" baseline="-20833" dirty="0">
                <a:latin typeface="Times New Roman"/>
                <a:cs typeface="Times New Roman"/>
              </a:rPr>
              <a:t>th</a:t>
            </a:r>
            <a:r>
              <a:rPr sz="180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35123" y="2193035"/>
            <a:ext cx="4837430" cy="1156970"/>
            <a:chOff x="2135123" y="2193035"/>
            <a:chExt cx="4837430" cy="11569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67655" y="2208275"/>
              <a:ext cx="2104644" cy="114147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08064" y="2717291"/>
              <a:ext cx="111252" cy="11125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32703" y="3025139"/>
              <a:ext cx="112776" cy="11125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86627" y="2615183"/>
              <a:ext cx="112776" cy="11125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22747" y="2717291"/>
              <a:ext cx="111251" cy="1112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28488" y="2307335"/>
              <a:ext cx="111251" cy="11125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35123" y="2193035"/>
              <a:ext cx="1944624" cy="112318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20923" y="2529839"/>
              <a:ext cx="96012" cy="9601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61843" y="2874263"/>
              <a:ext cx="96012" cy="929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27703" y="2651759"/>
              <a:ext cx="96012" cy="960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53739" y="2787395"/>
              <a:ext cx="94487" cy="9601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76827" y="3096767"/>
              <a:ext cx="96012" cy="9601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874264" y="2318765"/>
              <a:ext cx="3724275" cy="778510"/>
            </a:xfrm>
            <a:custGeom>
              <a:avLst/>
              <a:gdLst/>
              <a:ahLst/>
              <a:cxnLst/>
              <a:rect l="l" t="t" r="r" b="b"/>
              <a:pathLst>
                <a:path w="3724275" h="778510">
                  <a:moveTo>
                    <a:pt x="2310142" y="485267"/>
                  </a:moveTo>
                  <a:lnTo>
                    <a:pt x="2257552" y="485267"/>
                  </a:lnTo>
                  <a:lnTo>
                    <a:pt x="2243048" y="485267"/>
                  </a:lnTo>
                  <a:lnTo>
                    <a:pt x="2240661" y="512826"/>
                  </a:lnTo>
                  <a:lnTo>
                    <a:pt x="2310142" y="485267"/>
                  </a:lnTo>
                  <a:close/>
                </a:path>
                <a:path w="3724275" h="778510">
                  <a:moveTo>
                    <a:pt x="2856941" y="351155"/>
                  </a:moveTo>
                  <a:lnTo>
                    <a:pt x="2811399" y="351155"/>
                  </a:lnTo>
                  <a:lnTo>
                    <a:pt x="2796946" y="351155"/>
                  </a:lnTo>
                  <a:lnTo>
                    <a:pt x="2796286" y="379730"/>
                  </a:lnTo>
                  <a:lnTo>
                    <a:pt x="2856941" y="351155"/>
                  </a:lnTo>
                  <a:close/>
                </a:path>
                <a:path w="3724275" h="778510">
                  <a:moveTo>
                    <a:pt x="3699840" y="487426"/>
                  </a:moveTo>
                  <a:lnTo>
                    <a:pt x="3650856" y="487426"/>
                  </a:lnTo>
                  <a:lnTo>
                    <a:pt x="3636302" y="487426"/>
                  </a:lnTo>
                  <a:lnTo>
                    <a:pt x="3634740" y="515620"/>
                  </a:lnTo>
                  <a:lnTo>
                    <a:pt x="3699840" y="487426"/>
                  </a:lnTo>
                  <a:close/>
                </a:path>
                <a:path w="3724275" h="778510">
                  <a:moveTo>
                    <a:pt x="3723881" y="477012"/>
                  </a:moveTo>
                  <a:lnTo>
                    <a:pt x="3639566" y="428879"/>
                  </a:lnTo>
                  <a:lnTo>
                    <a:pt x="3637953" y="457809"/>
                  </a:lnTo>
                  <a:lnTo>
                    <a:pt x="898652" y="306387"/>
                  </a:lnTo>
                  <a:lnTo>
                    <a:pt x="2796959" y="350824"/>
                  </a:lnTo>
                  <a:lnTo>
                    <a:pt x="2811399" y="350824"/>
                  </a:lnTo>
                  <a:lnTo>
                    <a:pt x="2857652" y="350824"/>
                  </a:lnTo>
                  <a:lnTo>
                    <a:pt x="2884170" y="338328"/>
                  </a:lnTo>
                  <a:lnTo>
                    <a:pt x="2798318" y="292862"/>
                  </a:lnTo>
                  <a:lnTo>
                    <a:pt x="2797632" y="321868"/>
                  </a:lnTo>
                  <a:lnTo>
                    <a:pt x="296329" y="263321"/>
                  </a:lnTo>
                  <a:lnTo>
                    <a:pt x="2474417" y="57632"/>
                  </a:lnTo>
                  <a:lnTo>
                    <a:pt x="2477135" y="86487"/>
                  </a:lnTo>
                  <a:lnTo>
                    <a:pt x="2559558" y="35052"/>
                  </a:lnTo>
                  <a:lnTo>
                    <a:pt x="2539873" y="27432"/>
                  </a:lnTo>
                  <a:lnTo>
                    <a:pt x="2469007" y="0"/>
                  </a:lnTo>
                  <a:lnTo>
                    <a:pt x="2471712" y="28803"/>
                  </a:lnTo>
                  <a:lnTo>
                    <a:pt x="57277" y="256921"/>
                  </a:lnTo>
                  <a:lnTo>
                    <a:pt x="57353" y="257721"/>
                  </a:lnTo>
                  <a:lnTo>
                    <a:pt x="17907" y="256794"/>
                  </a:lnTo>
                  <a:lnTo>
                    <a:pt x="17881" y="257708"/>
                  </a:lnTo>
                  <a:lnTo>
                    <a:pt x="1524" y="256794"/>
                  </a:lnTo>
                  <a:lnTo>
                    <a:pt x="0" y="285750"/>
                  </a:lnTo>
                  <a:lnTo>
                    <a:pt x="6083" y="286092"/>
                  </a:lnTo>
                  <a:lnTo>
                    <a:pt x="5588" y="291846"/>
                  </a:lnTo>
                  <a:lnTo>
                    <a:pt x="47256" y="295427"/>
                  </a:lnTo>
                  <a:lnTo>
                    <a:pt x="45593" y="305308"/>
                  </a:lnTo>
                  <a:lnTo>
                    <a:pt x="2636101" y="749401"/>
                  </a:lnTo>
                  <a:lnTo>
                    <a:pt x="2631186" y="778002"/>
                  </a:lnTo>
                  <a:lnTo>
                    <a:pt x="2717444" y="751840"/>
                  </a:lnTo>
                  <a:lnTo>
                    <a:pt x="2724150" y="749808"/>
                  </a:lnTo>
                  <a:lnTo>
                    <a:pt x="2645918" y="692277"/>
                  </a:lnTo>
                  <a:lnTo>
                    <a:pt x="2641003" y="720839"/>
                  </a:lnTo>
                  <a:lnTo>
                    <a:pt x="270751" y="314629"/>
                  </a:lnTo>
                  <a:lnTo>
                    <a:pt x="2243150" y="484035"/>
                  </a:lnTo>
                  <a:lnTo>
                    <a:pt x="2257653" y="484035"/>
                  </a:lnTo>
                  <a:lnTo>
                    <a:pt x="2313254" y="484035"/>
                  </a:lnTo>
                  <a:lnTo>
                    <a:pt x="2330958" y="477012"/>
                  </a:lnTo>
                  <a:lnTo>
                    <a:pt x="2248154" y="426339"/>
                  </a:lnTo>
                  <a:lnTo>
                    <a:pt x="2245652" y="455206"/>
                  </a:lnTo>
                  <a:lnTo>
                    <a:pt x="767143" y="328129"/>
                  </a:lnTo>
                  <a:lnTo>
                    <a:pt x="3636353" y="486625"/>
                  </a:lnTo>
                  <a:lnTo>
                    <a:pt x="3650894" y="486625"/>
                  </a:lnTo>
                  <a:lnTo>
                    <a:pt x="3701694" y="486625"/>
                  </a:lnTo>
                  <a:lnTo>
                    <a:pt x="3723881" y="477012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912873" y="2993516"/>
            <a:ext cx="228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baseline="-20833" dirty="0">
                <a:latin typeface="Times New Roman"/>
                <a:cs typeface="Times New Roman"/>
              </a:rPr>
              <a:t>1</a:t>
            </a:r>
            <a:endParaRPr sz="1800" baseline="-20833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33</a:t>
            </a:fld>
            <a:endParaRPr spc="-5" dirty="0"/>
          </a:p>
        </p:txBody>
      </p:sp>
      <p:sp>
        <p:nvSpPr>
          <p:cNvPr id="20" name="object 20"/>
          <p:cNvSpPr txBox="1"/>
          <p:nvPr/>
        </p:nvSpPr>
        <p:spPr>
          <a:xfrm>
            <a:off x="4626228" y="3027426"/>
            <a:ext cx="228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baseline="-20833" dirty="0">
                <a:latin typeface="Times New Roman"/>
                <a:cs typeface="Times New Roman"/>
              </a:rPr>
              <a:t>2</a:t>
            </a:r>
            <a:endParaRPr sz="1800" baseline="-20833">
              <a:latin typeface="Times New Roman"/>
              <a:cs typeface="Times New Roman"/>
            </a:endParaRPr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578BC7DB-6EC2-1633-1E86-3191BAA26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Ingeniería de Sistemas - UNCP">
            <a:extLst>
              <a:ext uri="{FF2B5EF4-FFF2-40B4-BE49-F238E27FC236}">
                <a16:creationId xmlns:a16="http://schemas.microsoft.com/office/drawing/2014/main" id="{F2591FD5-40FD-1B2B-5152-35CAD27DA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1204" y="260350"/>
            <a:ext cx="51003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Correspondencia</a:t>
            </a:r>
            <a:r>
              <a:rPr spc="-6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spc="-10" dirty="0"/>
              <a:t>Imágenes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13865"/>
            <a:ext cx="6574155" cy="12192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Usar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menor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distancia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</a:t>
            </a:r>
            <a:r>
              <a:rPr sz="2000" spc="-10" dirty="0">
                <a:latin typeface="Calibri"/>
                <a:cs typeface="Calibri"/>
              </a:rPr>
              <a:t> detecta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“malas”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correspondencias</a:t>
            </a:r>
            <a:endParaRPr sz="20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1989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Alternativa</a:t>
            </a:r>
            <a:endParaRPr sz="20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Usar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NNDR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(Nearest</a:t>
            </a:r>
            <a:r>
              <a:rPr sz="1800" spc="-5" dirty="0">
                <a:latin typeface="Calibri"/>
                <a:cs typeface="Calibri"/>
              </a:rPr>
              <a:t> Neighbor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Distance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Ratio)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611505" indent="-22669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pc="-5" dirty="0"/>
              <a:t>Si</a:t>
            </a:r>
            <a:r>
              <a:rPr dirty="0"/>
              <a:t> </a:t>
            </a:r>
            <a:r>
              <a:rPr spc="-5" dirty="0"/>
              <a:t>NNDR</a:t>
            </a:r>
            <a:r>
              <a:rPr spc="20" dirty="0"/>
              <a:t> </a:t>
            </a:r>
            <a:r>
              <a:rPr spc="-5" dirty="0"/>
              <a:t>&gt;</a:t>
            </a:r>
            <a:r>
              <a:rPr spc="5" dirty="0"/>
              <a:t> </a:t>
            </a:r>
            <a:r>
              <a:rPr spc="-5" dirty="0"/>
              <a:t>0.8:</a:t>
            </a:r>
            <a:r>
              <a:rPr dirty="0"/>
              <a:t> </a:t>
            </a:r>
            <a:r>
              <a:rPr spc="-5" dirty="0"/>
              <a:t>“mala”</a:t>
            </a:r>
            <a:r>
              <a:rPr spc="5" dirty="0"/>
              <a:t> </a:t>
            </a:r>
            <a:r>
              <a:rPr spc="-10" dirty="0"/>
              <a:t>correspondencia</a:t>
            </a:r>
          </a:p>
          <a:p>
            <a:pPr marL="611505" indent="-22669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pc="-5" dirty="0"/>
              <a:t>SI</a:t>
            </a:r>
            <a:r>
              <a:rPr dirty="0"/>
              <a:t> </a:t>
            </a:r>
            <a:r>
              <a:rPr spc="-5" dirty="0"/>
              <a:t>NNDR</a:t>
            </a:r>
            <a:r>
              <a:rPr spc="20" dirty="0"/>
              <a:t> </a:t>
            </a:r>
            <a:r>
              <a:rPr spc="-5" dirty="0"/>
              <a:t>&lt;</a:t>
            </a:r>
            <a:r>
              <a:rPr spc="10" dirty="0"/>
              <a:t> </a:t>
            </a:r>
            <a:r>
              <a:rPr spc="-5" dirty="0"/>
              <a:t>0.8:</a:t>
            </a:r>
            <a:r>
              <a:rPr spc="15" dirty="0"/>
              <a:t> </a:t>
            </a:r>
            <a:r>
              <a:rPr spc="-5" dirty="0"/>
              <a:t>“buena”</a:t>
            </a:r>
            <a:r>
              <a:rPr spc="5" dirty="0"/>
              <a:t> </a:t>
            </a:r>
            <a:r>
              <a:rPr spc="-10" dirty="0"/>
              <a:t>correspondencia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pc="-10" dirty="0"/>
          </a:p>
          <a:p>
            <a:pPr marL="208915" indent="-1968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/>
              <a:t>Las</a:t>
            </a:r>
            <a:r>
              <a:rPr sz="2000" spc="10" dirty="0"/>
              <a:t> </a:t>
            </a:r>
            <a:r>
              <a:rPr sz="2000" spc="-5" dirty="0"/>
              <a:t>correspondencias</a:t>
            </a:r>
            <a:r>
              <a:rPr sz="2000" spc="-10" dirty="0"/>
              <a:t> </a:t>
            </a:r>
            <a:r>
              <a:rPr sz="2000" spc="-5" dirty="0"/>
              <a:t>se</a:t>
            </a:r>
            <a:r>
              <a:rPr sz="2000" spc="25" dirty="0"/>
              <a:t> </a:t>
            </a:r>
            <a:r>
              <a:rPr sz="2000" dirty="0"/>
              <a:t>pueden</a:t>
            </a:r>
            <a:r>
              <a:rPr sz="2000" spc="-5" dirty="0"/>
              <a:t> </a:t>
            </a:r>
            <a:r>
              <a:rPr sz="2000" dirty="0"/>
              <a:t>“refinar”</a:t>
            </a:r>
            <a:r>
              <a:rPr sz="2000" spc="-5" dirty="0"/>
              <a:t> </a:t>
            </a:r>
            <a:r>
              <a:rPr spc="-5" dirty="0">
                <a:solidFill>
                  <a:srgbClr val="7E7E7E"/>
                </a:solidFill>
              </a:rPr>
              <a:t>(ejm.</a:t>
            </a:r>
            <a:r>
              <a:rPr spc="20" dirty="0">
                <a:solidFill>
                  <a:srgbClr val="7E7E7E"/>
                </a:solidFill>
              </a:rPr>
              <a:t> </a:t>
            </a:r>
            <a:r>
              <a:rPr spc="-10" dirty="0">
                <a:solidFill>
                  <a:srgbClr val="7E7E7E"/>
                </a:solidFill>
              </a:rPr>
              <a:t>usando</a:t>
            </a:r>
            <a:r>
              <a:rPr spc="5" dirty="0">
                <a:solidFill>
                  <a:srgbClr val="7E7E7E"/>
                </a:solidFill>
              </a:rPr>
              <a:t> </a:t>
            </a:r>
            <a:r>
              <a:rPr spc="-10" dirty="0">
                <a:solidFill>
                  <a:srgbClr val="7E7E7E"/>
                </a:solidFill>
              </a:rPr>
              <a:t>RANSAC</a:t>
            </a:r>
            <a:r>
              <a:rPr spc="30" dirty="0">
                <a:solidFill>
                  <a:srgbClr val="7E7E7E"/>
                </a:solidFill>
              </a:rPr>
              <a:t> </a:t>
            </a:r>
            <a:r>
              <a:rPr spc="-15" dirty="0">
                <a:solidFill>
                  <a:srgbClr val="7E7E7E"/>
                </a:solidFill>
              </a:rPr>
              <a:t>para</a:t>
            </a:r>
            <a:r>
              <a:rPr spc="20" dirty="0">
                <a:solidFill>
                  <a:srgbClr val="7E7E7E"/>
                </a:solidFill>
              </a:rPr>
              <a:t> </a:t>
            </a:r>
            <a:r>
              <a:rPr spc="-10" dirty="0">
                <a:solidFill>
                  <a:srgbClr val="7E7E7E"/>
                </a:solidFill>
              </a:rPr>
              <a:t>evitar</a:t>
            </a:r>
            <a:endParaRPr sz="2000"/>
          </a:p>
          <a:p>
            <a:pPr marL="208915">
              <a:lnSpc>
                <a:spcPct val="100000"/>
              </a:lnSpc>
            </a:pPr>
            <a:r>
              <a:rPr spc="-25" dirty="0">
                <a:solidFill>
                  <a:srgbClr val="7E7E7E"/>
                </a:solidFill>
              </a:rPr>
              <a:t>“outliers”,</a:t>
            </a:r>
            <a:r>
              <a:rPr spc="10" dirty="0">
                <a:solidFill>
                  <a:srgbClr val="7E7E7E"/>
                </a:solidFill>
              </a:rPr>
              <a:t> </a:t>
            </a:r>
            <a:r>
              <a:rPr spc="-5" dirty="0">
                <a:solidFill>
                  <a:srgbClr val="7E7E7E"/>
                </a:solidFill>
              </a:rPr>
              <a:t>o</a:t>
            </a:r>
            <a:r>
              <a:rPr dirty="0">
                <a:solidFill>
                  <a:srgbClr val="7E7E7E"/>
                </a:solidFill>
              </a:rPr>
              <a:t> </a:t>
            </a:r>
            <a:r>
              <a:rPr spc="-5" dirty="0">
                <a:solidFill>
                  <a:srgbClr val="7E7E7E"/>
                </a:solidFill>
              </a:rPr>
              <a:t>verificación cruzada)</a:t>
            </a:r>
            <a:r>
              <a:rPr sz="2000" spc="-5" dirty="0"/>
              <a:t>, </a:t>
            </a:r>
            <a:r>
              <a:rPr sz="2000" dirty="0"/>
              <a:t>y</a:t>
            </a:r>
            <a:r>
              <a:rPr sz="2000" spc="-5" dirty="0"/>
              <a:t> hacer </a:t>
            </a:r>
            <a:r>
              <a:rPr sz="2000" dirty="0"/>
              <a:t>más</a:t>
            </a:r>
            <a:r>
              <a:rPr sz="2000" spc="5" dirty="0"/>
              <a:t> </a:t>
            </a:r>
            <a:r>
              <a:rPr sz="2000" spc="-5" dirty="0"/>
              <a:t>rápidas</a:t>
            </a:r>
            <a:r>
              <a:rPr sz="2000" spc="-40" dirty="0"/>
              <a:t> </a:t>
            </a:r>
            <a:r>
              <a:rPr spc="-5" dirty="0">
                <a:solidFill>
                  <a:srgbClr val="7E7E7E"/>
                </a:solidFill>
              </a:rPr>
              <a:t>(usando k-d </a:t>
            </a:r>
            <a:r>
              <a:rPr spc="-10" dirty="0">
                <a:solidFill>
                  <a:srgbClr val="7E7E7E"/>
                </a:solidFill>
              </a:rPr>
              <a:t>tree)</a:t>
            </a:r>
            <a:endParaRPr sz="20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2155" y="5012435"/>
            <a:ext cx="3019044" cy="151333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997828" y="5465165"/>
            <a:ext cx="1481455" cy="542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1600" marR="30480" indent="-64135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Usando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distancia </a:t>
            </a:r>
            <a:r>
              <a:rPr sz="1600" spc="-3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Euclideana</a:t>
            </a:r>
            <a:r>
              <a:rPr sz="16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(</a:t>
            </a:r>
            <a:r>
              <a:rPr sz="1800" i="1" spc="-5" dirty="0">
                <a:solidFill>
                  <a:srgbClr val="7E7E7E"/>
                </a:solidFill>
                <a:latin typeface="Times New Roman"/>
                <a:cs typeface="Times New Roman"/>
              </a:rPr>
              <a:t>L</a:t>
            </a:r>
            <a:r>
              <a:rPr sz="1800" spc="-7" baseline="-20833" dirty="0">
                <a:solidFill>
                  <a:srgbClr val="7E7E7E"/>
                </a:solidFill>
                <a:latin typeface="Times New Roman"/>
                <a:cs typeface="Times New Roman"/>
              </a:rPr>
              <a:t>2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82563" y="2577210"/>
            <a:ext cx="22225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7E7E7E"/>
                </a:solidFill>
                <a:latin typeface="Times New Roman"/>
                <a:cs typeface="Times New Roman"/>
              </a:rPr>
              <a:t>d</a:t>
            </a:r>
            <a:r>
              <a:rPr sz="1200" baseline="-20833" dirty="0">
                <a:solidFill>
                  <a:srgbClr val="7E7E7E"/>
                </a:solidFill>
                <a:latin typeface="Times New Roman"/>
                <a:cs typeface="Times New Roman"/>
              </a:rPr>
              <a:t>1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:</a:t>
            </a:r>
            <a:r>
              <a:rPr sz="12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distancia</a:t>
            </a:r>
            <a:r>
              <a:rPr sz="12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al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punto</a:t>
            </a:r>
            <a:r>
              <a:rPr sz="12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más</a:t>
            </a:r>
            <a:r>
              <a:rPr sz="12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cercano</a:t>
            </a:r>
            <a:endParaRPr sz="1200">
              <a:latin typeface="Calibri"/>
              <a:cs typeface="Calibri"/>
            </a:endParaRPr>
          </a:p>
          <a:p>
            <a:pPr marL="246379">
              <a:lnSpc>
                <a:spcPct val="100000"/>
              </a:lnSpc>
            </a:pP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2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I</a:t>
            </a:r>
            <a:r>
              <a:rPr sz="1200" spc="-7" baseline="-20833" dirty="0">
                <a:solidFill>
                  <a:srgbClr val="7E7E7E"/>
                </a:solidFill>
                <a:latin typeface="Calibri"/>
                <a:cs typeface="Calibri"/>
              </a:rPr>
              <a:t>2</a:t>
            </a:r>
            <a:endParaRPr sz="1200" baseline="-20833">
              <a:latin typeface="Calibri"/>
              <a:cs typeface="Calibri"/>
            </a:endParaRPr>
          </a:p>
          <a:p>
            <a:pPr marL="246379" marR="30480" indent="-208915">
              <a:lnSpc>
                <a:spcPct val="100000"/>
              </a:lnSpc>
            </a:pPr>
            <a:r>
              <a:rPr sz="1200" i="1" dirty="0">
                <a:solidFill>
                  <a:srgbClr val="7E7E7E"/>
                </a:solidFill>
                <a:latin typeface="Times New Roman"/>
                <a:cs typeface="Times New Roman"/>
              </a:rPr>
              <a:t>d</a:t>
            </a:r>
            <a:r>
              <a:rPr sz="1200" baseline="-20833" dirty="0">
                <a:solidFill>
                  <a:srgbClr val="7E7E7E"/>
                </a:solidFill>
                <a:latin typeface="Times New Roman"/>
                <a:cs typeface="Times New Roman"/>
              </a:rPr>
              <a:t>2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:</a:t>
            </a:r>
            <a:r>
              <a:rPr sz="12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distancia</a:t>
            </a:r>
            <a:r>
              <a:rPr sz="12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al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segundo</a:t>
            </a:r>
            <a:r>
              <a:rPr sz="12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punto</a:t>
            </a:r>
            <a:r>
              <a:rPr sz="12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más </a:t>
            </a:r>
            <a:r>
              <a:rPr sz="1200" spc="-2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cercano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 de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I</a:t>
            </a:r>
            <a:r>
              <a:rPr sz="1200" baseline="-20833" dirty="0">
                <a:solidFill>
                  <a:srgbClr val="7E7E7E"/>
                </a:solidFill>
                <a:latin typeface="Calibri"/>
                <a:cs typeface="Calibri"/>
              </a:rPr>
              <a:t>2</a:t>
            </a:r>
            <a:endParaRPr sz="1200" baseline="-20833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20678" y="2900515"/>
            <a:ext cx="271145" cy="0"/>
          </a:xfrm>
          <a:custGeom>
            <a:avLst/>
            <a:gdLst/>
            <a:ahLst/>
            <a:cxnLst/>
            <a:rect l="l" t="t" r="r" b="b"/>
            <a:pathLst>
              <a:path w="271145">
                <a:moveTo>
                  <a:pt x="0" y="0"/>
                </a:moveTo>
                <a:lnTo>
                  <a:pt x="270975" y="0"/>
                </a:lnTo>
              </a:path>
            </a:pathLst>
          </a:custGeom>
          <a:ln w="128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12479" y="2527783"/>
            <a:ext cx="277495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50" i="1" spc="-10" dirty="0">
                <a:latin typeface="Times New Roman"/>
                <a:cs typeface="Times New Roman"/>
              </a:rPr>
              <a:t>d</a:t>
            </a:r>
            <a:r>
              <a:rPr sz="1725" spc="-15" baseline="-26570" dirty="0">
                <a:latin typeface="Times New Roman"/>
                <a:cs typeface="Times New Roman"/>
              </a:rPr>
              <a:t>1</a:t>
            </a:r>
            <a:endParaRPr sz="1725" baseline="-2657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34</a:t>
            </a:fld>
            <a:endParaRPr spc="-5" dirty="0"/>
          </a:p>
        </p:txBody>
      </p:sp>
      <p:sp>
        <p:nvSpPr>
          <p:cNvPr id="10" name="object 10"/>
          <p:cNvSpPr txBox="1"/>
          <p:nvPr/>
        </p:nvSpPr>
        <p:spPr>
          <a:xfrm>
            <a:off x="4798884" y="2896646"/>
            <a:ext cx="293370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50" i="1" spc="50" dirty="0">
                <a:latin typeface="Times New Roman"/>
                <a:cs typeface="Times New Roman"/>
              </a:rPr>
              <a:t>d</a:t>
            </a:r>
            <a:r>
              <a:rPr sz="1725" spc="75" baseline="-26570" dirty="0">
                <a:latin typeface="Times New Roman"/>
                <a:cs typeface="Times New Roman"/>
              </a:rPr>
              <a:t>2</a:t>
            </a:r>
            <a:endParaRPr sz="1725" baseline="-2657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38248" y="2692844"/>
            <a:ext cx="930275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i="1" dirty="0">
                <a:latin typeface="Times New Roman"/>
                <a:cs typeface="Times New Roman"/>
              </a:rPr>
              <a:t>NNDR</a:t>
            </a:r>
            <a:r>
              <a:rPr sz="2050" i="1" spc="-70" dirty="0">
                <a:latin typeface="Times New Roman"/>
                <a:cs typeface="Times New Roman"/>
              </a:rPr>
              <a:t> </a:t>
            </a:r>
            <a:r>
              <a:rPr sz="2050" spc="-5" dirty="0">
                <a:latin typeface="Symbol"/>
                <a:cs typeface="Symbol"/>
              </a:rPr>
              <a:t></a:t>
            </a:r>
            <a:endParaRPr sz="2050">
              <a:latin typeface="Symbol"/>
              <a:cs typeface="Symbol"/>
            </a:endParaRP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C4ABC349-725E-8B5E-4284-D8B70ACBF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Ingeniería de Sistemas - UNCP">
            <a:extLst>
              <a:ext uri="{FF2B5EF4-FFF2-40B4-BE49-F238E27FC236}">
                <a16:creationId xmlns:a16="http://schemas.microsoft.com/office/drawing/2014/main" id="{8F886127-75C1-F807-8EB5-8C09E8E30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1204" y="260350"/>
            <a:ext cx="51003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Correspondencia</a:t>
            </a:r>
            <a:r>
              <a:rPr spc="-6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spc="-10" dirty="0"/>
              <a:t>Imágenes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7391400" cy="2299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4345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Transformaciones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 dirty="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Luego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detectar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correspondencias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puede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</a:t>
            </a:r>
            <a:r>
              <a:rPr sz="2000" dirty="0">
                <a:solidFill>
                  <a:srgbClr val="6F2F9F"/>
                </a:solidFill>
                <a:latin typeface="Calibri"/>
                <a:cs typeface="Calibri"/>
              </a:rPr>
              <a:t>localizar</a:t>
            </a:r>
            <a:r>
              <a:rPr sz="2000" dirty="0">
                <a:latin typeface="Calibri"/>
                <a:cs typeface="Calibri"/>
              </a:rPr>
              <a:t>”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objeto</a:t>
            </a:r>
            <a:endParaRPr sz="2000" dirty="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Usando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transformación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afín</a:t>
            </a:r>
            <a:endParaRPr sz="1800" dirty="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Usando </a:t>
            </a:r>
            <a:r>
              <a:rPr sz="1800" spc="-10" dirty="0">
                <a:latin typeface="Calibri"/>
                <a:cs typeface="Calibri"/>
              </a:rPr>
              <a:t>transformación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proyectiva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(homografía)</a:t>
            </a:r>
            <a:endParaRPr sz="16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Calibri"/>
              <a:buChar char="-"/>
            </a:pPr>
            <a:endParaRPr sz="1800" dirty="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20" dirty="0">
                <a:latin typeface="Calibri"/>
                <a:cs typeface="Calibri"/>
              </a:rPr>
              <a:t>Transformación</a:t>
            </a:r>
            <a:r>
              <a:rPr sz="2000" spc="-10" dirty="0">
                <a:latin typeface="Calibri"/>
                <a:cs typeface="Calibri"/>
              </a:rPr>
              <a:t> afín </a:t>
            </a:r>
            <a:r>
              <a:rPr sz="2000" spc="5" dirty="0">
                <a:latin typeface="Calibri"/>
                <a:cs typeface="Calibri"/>
              </a:rPr>
              <a:t>(</a:t>
            </a:r>
            <a:r>
              <a:rPr sz="2000" i="1" spc="5" dirty="0">
                <a:latin typeface="Times New Roman"/>
                <a:cs typeface="Times New Roman"/>
              </a:rPr>
              <a:t>T</a:t>
            </a:r>
            <a:r>
              <a:rPr sz="2000" spc="5" dirty="0">
                <a:latin typeface="Calibri"/>
                <a:cs typeface="Calibri"/>
              </a:rPr>
              <a:t>):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6102" y="4946944"/>
            <a:ext cx="6452235" cy="156718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10820" indent="-160020">
              <a:lnSpc>
                <a:spcPct val="100000"/>
              </a:lnSpc>
              <a:spcBef>
                <a:spcPts val="570"/>
              </a:spcBef>
              <a:buChar char="-"/>
              <a:tabLst>
                <a:tab pos="210820" algn="l"/>
              </a:tabLst>
            </a:pPr>
            <a:r>
              <a:rPr sz="1800" spc="-20" dirty="0">
                <a:latin typeface="Calibri"/>
                <a:cs typeface="Calibri"/>
              </a:rPr>
              <a:t>Términos:</a:t>
            </a:r>
            <a:endParaRPr sz="1800">
              <a:latin typeface="Calibri"/>
              <a:cs typeface="Calibri"/>
            </a:endParaRPr>
          </a:p>
          <a:p>
            <a:pPr marL="433070" lvl="1" indent="-226060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433070" algn="l"/>
                <a:tab pos="433705" algn="l"/>
              </a:tabLst>
            </a:pPr>
            <a:r>
              <a:rPr sz="1600" i="1" spc="-5" dirty="0">
                <a:latin typeface="Times New Roman"/>
                <a:cs typeface="Times New Roman"/>
              </a:rPr>
              <a:t>t</a:t>
            </a:r>
            <a:r>
              <a:rPr sz="1575" spc="-7" baseline="-21164" dirty="0">
                <a:latin typeface="Times New Roman"/>
                <a:cs typeface="Times New Roman"/>
              </a:rPr>
              <a:t>11</a:t>
            </a:r>
            <a:r>
              <a:rPr sz="1600" spc="-5" dirty="0">
                <a:latin typeface="Times New Roman"/>
                <a:cs typeface="Times New Roman"/>
              </a:rPr>
              <a:t>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i="1" spc="5" dirty="0">
                <a:latin typeface="Times New Roman"/>
                <a:cs typeface="Times New Roman"/>
              </a:rPr>
              <a:t>t</a:t>
            </a:r>
            <a:r>
              <a:rPr sz="1575" spc="7" baseline="-21164" dirty="0">
                <a:latin typeface="Times New Roman"/>
                <a:cs typeface="Times New Roman"/>
              </a:rPr>
              <a:t>22</a:t>
            </a:r>
            <a:r>
              <a:rPr sz="1600" spc="5" dirty="0">
                <a:latin typeface="Calibri"/>
                <a:cs typeface="Calibri"/>
              </a:rPr>
              <a:t>: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escalado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x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y</a:t>
            </a:r>
            <a:endParaRPr sz="1600">
              <a:latin typeface="Times New Roman"/>
              <a:cs typeface="Times New Roman"/>
            </a:endParaRPr>
          </a:p>
          <a:p>
            <a:pPr marL="433070" lvl="1" indent="-22606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433070" algn="l"/>
                <a:tab pos="433705" algn="l"/>
              </a:tabLst>
            </a:pPr>
            <a:r>
              <a:rPr sz="1600" i="1" spc="5" dirty="0">
                <a:latin typeface="Times New Roman"/>
                <a:cs typeface="Times New Roman"/>
              </a:rPr>
              <a:t>t</a:t>
            </a:r>
            <a:r>
              <a:rPr sz="1575" spc="7" baseline="-21164" dirty="0">
                <a:latin typeface="Times New Roman"/>
                <a:cs typeface="Times New Roman"/>
              </a:rPr>
              <a:t>12</a:t>
            </a:r>
            <a:r>
              <a:rPr sz="1600" spc="5" dirty="0">
                <a:latin typeface="Times New Roman"/>
                <a:cs typeface="Times New Roman"/>
              </a:rPr>
              <a:t>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i="1" spc="5" dirty="0">
                <a:latin typeface="Times New Roman"/>
                <a:cs typeface="Times New Roman"/>
              </a:rPr>
              <a:t>t</a:t>
            </a:r>
            <a:r>
              <a:rPr sz="1575" spc="7" baseline="-21164" dirty="0">
                <a:latin typeface="Times New Roman"/>
                <a:cs typeface="Times New Roman"/>
              </a:rPr>
              <a:t>21</a:t>
            </a:r>
            <a:r>
              <a:rPr sz="1600" spc="5" dirty="0">
                <a:latin typeface="Calibri"/>
                <a:cs typeface="Calibri"/>
              </a:rPr>
              <a:t>: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“shearing”</a:t>
            </a:r>
            <a:endParaRPr sz="1600">
              <a:latin typeface="Calibri"/>
              <a:cs typeface="Calibri"/>
            </a:endParaRPr>
          </a:p>
          <a:p>
            <a:pPr marL="433070" lvl="1" indent="-226060">
              <a:lnSpc>
                <a:spcPct val="100000"/>
              </a:lnSpc>
              <a:spcBef>
                <a:spcPts val="384"/>
              </a:spcBef>
              <a:buFont typeface="Arial MT"/>
              <a:buChar char="•"/>
              <a:tabLst>
                <a:tab pos="433070" algn="l"/>
                <a:tab pos="433705" algn="l"/>
              </a:tabLst>
            </a:pPr>
            <a:r>
              <a:rPr sz="1600" i="1" spc="5" dirty="0">
                <a:latin typeface="Times New Roman"/>
                <a:cs typeface="Times New Roman"/>
              </a:rPr>
              <a:t>t</a:t>
            </a:r>
            <a:r>
              <a:rPr sz="1575" spc="7" baseline="-21164" dirty="0">
                <a:latin typeface="Times New Roman"/>
                <a:cs typeface="Times New Roman"/>
              </a:rPr>
              <a:t>13</a:t>
            </a:r>
            <a:r>
              <a:rPr sz="1600" spc="5" dirty="0">
                <a:latin typeface="Times New Roman"/>
                <a:cs typeface="Times New Roman"/>
              </a:rPr>
              <a:t>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i="1" spc="5" dirty="0">
                <a:latin typeface="Times New Roman"/>
                <a:cs typeface="Times New Roman"/>
              </a:rPr>
              <a:t>t</a:t>
            </a:r>
            <a:r>
              <a:rPr sz="1575" spc="7" baseline="-21164" dirty="0">
                <a:latin typeface="Times New Roman"/>
                <a:cs typeface="Times New Roman"/>
              </a:rPr>
              <a:t>23</a:t>
            </a:r>
            <a:r>
              <a:rPr sz="1600" spc="5" dirty="0">
                <a:latin typeface="Calibri"/>
                <a:cs typeface="Calibri"/>
              </a:rPr>
              <a:t>: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traslación</a:t>
            </a:r>
            <a:endParaRPr sz="1600">
              <a:latin typeface="Calibri"/>
              <a:cs typeface="Calibri"/>
            </a:endParaRPr>
          </a:p>
          <a:p>
            <a:pPr marL="210820" indent="-160020">
              <a:lnSpc>
                <a:spcPct val="100000"/>
              </a:lnSpc>
              <a:spcBef>
                <a:spcPts val="400"/>
              </a:spcBef>
              <a:buChar char="-"/>
              <a:tabLst>
                <a:tab pos="210820" algn="l"/>
              </a:tabLst>
            </a:pPr>
            <a:r>
              <a:rPr sz="1800" spc="-10" dirty="0">
                <a:latin typeface="Calibri"/>
                <a:cs typeface="Calibri"/>
              </a:rPr>
              <a:t>Nota: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t</a:t>
            </a:r>
            <a:r>
              <a:rPr sz="1575" spc="-7" baseline="-21164" dirty="0">
                <a:latin typeface="Times New Roman"/>
                <a:cs typeface="Times New Roman"/>
              </a:rPr>
              <a:t>11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i="1" spc="5" dirty="0">
                <a:latin typeface="Times New Roman"/>
                <a:cs typeface="Times New Roman"/>
              </a:rPr>
              <a:t>t</a:t>
            </a:r>
            <a:r>
              <a:rPr sz="1575" spc="7" baseline="-21164" dirty="0">
                <a:latin typeface="Times New Roman"/>
                <a:cs typeface="Times New Roman"/>
              </a:rPr>
              <a:t>12</a:t>
            </a:r>
            <a:r>
              <a:rPr sz="1600" spc="5" dirty="0">
                <a:latin typeface="Calibri"/>
                <a:cs typeface="Calibri"/>
              </a:rPr>
              <a:t>,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i="1" spc="5" dirty="0">
                <a:latin typeface="Times New Roman"/>
                <a:cs typeface="Times New Roman"/>
              </a:rPr>
              <a:t>t</a:t>
            </a:r>
            <a:r>
              <a:rPr sz="1575" spc="7" baseline="-21164" dirty="0">
                <a:latin typeface="Times New Roman"/>
                <a:cs typeface="Times New Roman"/>
              </a:rPr>
              <a:t>21</a:t>
            </a:r>
            <a:r>
              <a:rPr sz="1600" spc="5" dirty="0">
                <a:latin typeface="Calibri"/>
                <a:cs typeface="Calibri"/>
              </a:rPr>
              <a:t>,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i="1" spc="5" dirty="0">
                <a:latin typeface="Times New Roman"/>
                <a:cs typeface="Times New Roman"/>
              </a:rPr>
              <a:t>t</a:t>
            </a:r>
            <a:r>
              <a:rPr sz="1575" spc="7" baseline="-21164" dirty="0">
                <a:latin typeface="Times New Roman"/>
                <a:cs typeface="Times New Roman"/>
              </a:rPr>
              <a:t>22</a:t>
            </a:r>
            <a:r>
              <a:rPr sz="1575" spc="165" baseline="-2116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Calibri"/>
                <a:cs typeface="Calibri"/>
              </a:rPr>
              <a:t>también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pueden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representar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una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rotación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(con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i="1" spc="5" dirty="0">
                <a:solidFill>
                  <a:srgbClr val="7E7E7E"/>
                </a:solidFill>
                <a:latin typeface="Times New Roman"/>
                <a:cs typeface="Times New Roman"/>
              </a:rPr>
              <a:t>t</a:t>
            </a:r>
            <a:r>
              <a:rPr sz="1350" spc="7" baseline="-21604" dirty="0">
                <a:solidFill>
                  <a:srgbClr val="7E7E7E"/>
                </a:solidFill>
                <a:latin typeface="Times New Roman"/>
                <a:cs typeface="Times New Roman"/>
              </a:rPr>
              <a:t>13</a:t>
            </a:r>
            <a:r>
              <a:rPr sz="1400" spc="5" dirty="0">
                <a:solidFill>
                  <a:srgbClr val="7E7E7E"/>
                </a:solidFill>
                <a:latin typeface="Calibri"/>
                <a:cs typeface="Calibri"/>
              </a:rPr>
              <a:t>=</a:t>
            </a:r>
            <a:r>
              <a:rPr sz="1400" i="1" spc="5" dirty="0">
                <a:solidFill>
                  <a:srgbClr val="7E7E7E"/>
                </a:solidFill>
                <a:latin typeface="Times New Roman"/>
                <a:cs typeface="Times New Roman"/>
              </a:rPr>
              <a:t>t</a:t>
            </a:r>
            <a:r>
              <a:rPr sz="1350" spc="7" baseline="-21604" dirty="0">
                <a:solidFill>
                  <a:srgbClr val="7E7E7E"/>
                </a:solidFill>
                <a:latin typeface="Times New Roman"/>
                <a:cs typeface="Times New Roman"/>
              </a:rPr>
              <a:t>23</a:t>
            </a:r>
            <a:r>
              <a:rPr sz="1400" spc="5" dirty="0">
                <a:solidFill>
                  <a:srgbClr val="7E7E7E"/>
                </a:solidFill>
                <a:latin typeface="Calibri"/>
                <a:cs typeface="Calibri"/>
              </a:rPr>
              <a:t>=</a:t>
            </a:r>
            <a:r>
              <a:rPr sz="1400" spc="5" dirty="0">
                <a:solidFill>
                  <a:srgbClr val="7E7E7E"/>
                </a:solidFill>
                <a:latin typeface="Times New Roman"/>
                <a:cs typeface="Times New Roman"/>
              </a:rPr>
              <a:t>0</a:t>
            </a:r>
            <a:r>
              <a:rPr sz="1400" spc="5" dirty="0">
                <a:solidFill>
                  <a:srgbClr val="7E7E7E"/>
                </a:solidFill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14108" y="3561410"/>
            <a:ext cx="187388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135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u</a:t>
            </a:r>
            <a:r>
              <a:rPr sz="1800" i="1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Times New Roman"/>
                <a:cs typeface="Times New Roman"/>
              </a:rPr>
              <a:t>t</a:t>
            </a:r>
            <a:r>
              <a:rPr sz="1800" spc="-22" baseline="-20833" dirty="0">
                <a:latin typeface="Times New Roman"/>
                <a:cs typeface="Times New Roman"/>
              </a:rPr>
              <a:t>11</a:t>
            </a:r>
            <a:r>
              <a:rPr sz="1800" i="1" spc="-15" dirty="0">
                <a:latin typeface="Times New Roman"/>
                <a:cs typeface="Times New Roman"/>
              </a:rPr>
              <a:t>x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+</a:t>
            </a:r>
            <a:r>
              <a:rPr sz="1800" i="1" spc="-2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baseline="-20833" dirty="0">
                <a:latin typeface="Times New Roman"/>
                <a:cs typeface="Times New Roman"/>
              </a:rPr>
              <a:t>12</a:t>
            </a:r>
            <a:r>
              <a:rPr sz="1800" spc="202" baseline="-20833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+</a:t>
            </a:r>
            <a:r>
              <a:rPr sz="1800" i="1" spc="-20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t</a:t>
            </a:r>
            <a:r>
              <a:rPr sz="1800" spc="-7" baseline="-20833" dirty="0">
                <a:latin typeface="Times New Roman"/>
                <a:cs typeface="Times New Roman"/>
              </a:rPr>
              <a:t>13</a:t>
            </a:r>
            <a:endParaRPr sz="1800" baseline="-20833" dirty="0">
              <a:latin typeface="Times New Roman"/>
              <a:cs typeface="Times New Roman"/>
            </a:endParaRPr>
          </a:p>
          <a:p>
            <a:pPr marL="53340">
              <a:lnSpc>
                <a:spcPts val="2135"/>
              </a:lnSpc>
            </a:pPr>
            <a:r>
              <a:rPr sz="1800" i="1" dirty="0">
                <a:latin typeface="Times New Roman"/>
                <a:cs typeface="Times New Roman"/>
              </a:rPr>
              <a:t>v</a:t>
            </a:r>
            <a:r>
              <a:rPr sz="1800" i="1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baseline="-20833" dirty="0">
                <a:latin typeface="Times New Roman"/>
                <a:cs typeface="Times New Roman"/>
              </a:rPr>
              <a:t>21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i="1" spc="-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+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baseline="-20833" dirty="0">
                <a:latin typeface="Times New Roman"/>
                <a:cs typeface="Times New Roman"/>
              </a:rPr>
              <a:t>22</a:t>
            </a:r>
            <a:r>
              <a:rPr sz="1800" spc="195" baseline="-20833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i="1" spc="-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+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baseline="-20833" dirty="0">
                <a:latin typeface="Times New Roman"/>
                <a:cs typeface="Times New Roman"/>
              </a:rPr>
              <a:t>23</a:t>
            </a:r>
          </a:p>
        </p:txBody>
      </p:sp>
      <p:grpSp>
        <p:nvGrpSpPr>
          <p:cNvPr id="19" name="object 19"/>
          <p:cNvGrpSpPr/>
          <p:nvPr/>
        </p:nvGrpSpPr>
        <p:grpSpPr>
          <a:xfrm>
            <a:off x="6103485" y="3673810"/>
            <a:ext cx="288925" cy="422275"/>
            <a:chOff x="6103485" y="3673810"/>
            <a:chExt cx="288925" cy="42227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03485" y="3673810"/>
              <a:ext cx="288304" cy="42169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41720" y="3686556"/>
              <a:ext cx="216407" cy="36118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141720" y="3686556"/>
              <a:ext cx="216535" cy="361315"/>
            </a:xfrm>
            <a:custGeom>
              <a:avLst/>
              <a:gdLst/>
              <a:ahLst/>
              <a:cxnLst/>
              <a:rect l="l" t="t" r="r" b="b"/>
              <a:pathLst>
                <a:path w="216535" h="361314">
                  <a:moveTo>
                    <a:pt x="0" y="90297"/>
                  </a:moveTo>
                  <a:lnTo>
                    <a:pt x="108203" y="90297"/>
                  </a:lnTo>
                  <a:lnTo>
                    <a:pt x="108203" y="0"/>
                  </a:lnTo>
                  <a:lnTo>
                    <a:pt x="216407" y="180594"/>
                  </a:lnTo>
                  <a:lnTo>
                    <a:pt x="108203" y="361188"/>
                  </a:lnTo>
                  <a:lnTo>
                    <a:pt x="108203" y="270891"/>
                  </a:lnTo>
                  <a:lnTo>
                    <a:pt x="0" y="270891"/>
                  </a:lnTo>
                  <a:lnTo>
                    <a:pt x="0" y="90297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35</a:t>
            </a:fld>
            <a:endParaRPr spc="-5" dirty="0"/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10398738-B492-81E0-6005-0B4ABC8A8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 descr="Ingeniería de Sistemas - UNCP">
            <a:extLst>
              <a:ext uri="{FF2B5EF4-FFF2-40B4-BE49-F238E27FC236}">
                <a16:creationId xmlns:a16="http://schemas.microsoft.com/office/drawing/2014/main" id="{271CE55C-39D7-53B7-00C3-423957DC8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567CDCD1-86C1-AF1F-8DC2-F4F6FFD6A1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3650" y="3352800"/>
            <a:ext cx="2983898" cy="177123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1204" y="260350"/>
            <a:ext cx="51003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Correspondencia</a:t>
            </a:r>
            <a:r>
              <a:rPr spc="-6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spc="-10" dirty="0"/>
              <a:t>Imágenes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5267960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4345">
              <a:lnSpc>
                <a:spcPct val="100000"/>
              </a:lnSpc>
              <a:spcBef>
                <a:spcPts val="100"/>
              </a:spcBef>
            </a:pPr>
            <a:r>
              <a:rPr sz="2400" b="1" spc="-125" dirty="0">
                <a:solidFill>
                  <a:srgbClr val="2092FA"/>
                </a:solidFill>
                <a:latin typeface="Calibri"/>
                <a:cs typeface="Calibri"/>
              </a:rPr>
              <a:t>T</a:t>
            </a:r>
            <a:r>
              <a:rPr sz="2400" b="1" spc="-50" dirty="0">
                <a:solidFill>
                  <a:srgbClr val="2092FA"/>
                </a:solidFill>
                <a:latin typeface="Calibri"/>
                <a:cs typeface="Calibri"/>
              </a:rPr>
              <a:t>r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an</a:t>
            </a:r>
            <a:r>
              <a:rPr sz="2400" b="1" spc="-25" dirty="0">
                <a:solidFill>
                  <a:srgbClr val="2092FA"/>
                </a:solidFill>
                <a:latin typeface="Calibri"/>
                <a:cs typeface="Calibri"/>
              </a:rPr>
              <a:t>s</a:t>
            </a:r>
            <a:r>
              <a:rPr sz="2400" b="1" spc="-40" dirty="0">
                <a:solidFill>
                  <a:srgbClr val="2092FA"/>
                </a:solidFill>
                <a:latin typeface="Calibri"/>
                <a:cs typeface="Calibri"/>
              </a:rPr>
              <a:t>f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or</a:t>
            </a:r>
            <a:r>
              <a:rPr sz="2400" b="1" spc="5" dirty="0">
                <a:solidFill>
                  <a:srgbClr val="2092FA"/>
                </a:solidFill>
                <a:latin typeface="Calibri"/>
                <a:cs typeface="Calibri"/>
              </a:rPr>
              <a:t>m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aci</a:t>
            </a:r>
            <a:r>
              <a:rPr sz="2400" b="1" spc="5" dirty="0">
                <a:solidFill>
                  <a:srgbClr val="2092FA"/>
                </a:solidFill>
                <a:latin typeface="Calibri"/>
                <a:cs typeface="Calibri"/>
              </a:rPr>
              <a:t>o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nes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25" dirty="0">
                <a:latin typeface="Calibri"/>
                <a:cs typeface="Calibri"/>
              </a:rPr>
              <a:t>Para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encontrar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 </a:t>
            </a:r>
            <a:r>
              <a:rPr sz="2000" spc="-10" dirty="0">
                <a:latin typeface="Calibri"/>
                <a:cs typeface="Calibri"/>
              </a:rPr>
              <a:t>transformación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afin: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0702" y="4345685"/>
            <a:ext cx="4897120" cy="189103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236220" indent="-160020">
              <a:lnSpc>
                <a:spcPct val="100000"/>
              </a:lnSpc>
              <a:spcBef>
                <a:spcPts val="1285"/>
              </a:spcBef>
              <a:buChar char="-"/>
              <a:tabLst>
                <a:tab pos="236220" algn="l"/>
              </a:tabLst>
            </a:pPr>
            <a:r>
              <a:rPr sz="1800" spc="-15" dirty="0">
                <a:latin typeface="Calibri"/>
                <a:cs typeface="Calibri"/>
              </a:rPr>
              <a:t>Hay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variables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(</a:t>
            </a:r>
            <a:r>
              <a:rPr sz="1800" i="1" spc="-15" dirty="0">
                <a:latin typeface="Times New Roman"/>
                <a:cs typeface="Times New Roman"/>
              </a:rPr>
              <a:t>t</a:t>
            </a:r>
            <a:r>
              <a:rPr sz="1800" spc="-22" baseline="-20833" dirty="0">
                <a:latin typeface="Times New Roman"/>
                <a:cs typeface="Times New Roman"/>
              </a:rPr>
              <a:t>11</a:t>
            </a:r>
            <a:r>
              <a:rPr sz="1800" spc="165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…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baseline="-20833" dirty="0">
                <a:latin typeface="Times New Roman"/>
                <a:cs typeface="Times New Roman"/>
              </a:rPr>
              <a:t>23</a:t>
            </a:r>
            <a:r>
              <a:rPr sz="180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  <a:p>
            <a:pPr marL="236220" indent="-160020">
              <a:lnSpc>
                <a:spcPct val="100000"/>
              </a:lnSpc>
              <a:spcBef>
                <a:spcPts val="1190"/>
              </a:spcBef>
              <a:buChar char="-"/>
              <a:tabLst>
                <a:tab pos="236220" algn="l"/>
              </a:tabLst>
            </a:pPr>
            <a:r>
              <a:rPr sz="1800" spc="-5" dirty="0">
                <a:latin typeface="Calibri"/>
                <a:cs typeface="Calibri"/>
              </a:rPr>
              <a:t>Cada</a:t>
            </a:r>
            <a:r>
              <a:rPr sz="1800" spc="-10" dirty="0">
                <a:latin typeface="Calibri"/>
                <a:cs typeface="Calibri"/>
              </a:rPr>
              <a:t> punto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da</a:t>
            </a:r>
            <a:r>
              <a:rPr sz="1800" dirty="0">
                <a:latin typeface="Calibri"/>
                <a:cs typeface="Calibri"/>
              </a:rPr>
              <a:t> 2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ecuaciones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(para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spc="-5" dirty="0">
                <a:solidFill>
                  <a:srgbClr val="7E7E7E"/>
                </a:solidFill>
                <a:latin typeface="Times New Roman"/>
                <a:cs typeface="Times New Roman"/>
              </a:rPr>
              <a:t>x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,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para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spc="-5" dirty="0">
                <a:solidFill>
                  <a:srgbClr val="7E7E7E"/>
                </a:solidFill>
                <a:latin typeface="Times New Roman"/>
                <a:cs typeface="Times New Roman"/>
              </a:rPr>
              <a:t>y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  <a:p>
            <a:pPr marL="662940" lvl="1" indent="-224154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662305" algn="l"/>
                <a:tab pos="662940" algn="l"/>
              </a:tabLst>
            </a:pPr>
            <a:r>
              <a:rPr sz="1600" spc="-5" dirty="0">
                <a:latin typeface="Calibri"/>
                <a:cs typeface="Calibri"/>
              </a:rPr>
              <a:t>Se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requiere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al </a:t>
            </a:r>
            <a:r>
              <a:rPr sz="1600" spc="-10" dirty="0">
                <a:latin typeface="Calibri"/>
                <a:cs typeface="Calibri"/>
              </a:rPr>
              <a:t>menos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3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puntos</a:t>
            </a:r>
            <a:r>
              <a:rPr sz="1600" spc="-5" dirty="0">
                <a:latin typeface="Calibri"/>
                <a:cs typeface="Calibri"/>
              </a:rPr>
              <a:t> de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correspondencia</a:t>
            </a:r>
            <a:endParaRPr sz="1600">
              <a:latin typeface="Calibri"/>
              <a:cs typeface="Calibri"/>
            </a:endParaRPr>
          </a:p>
          <a:p>
            <a:pPr marL="236220" marR="988694" indent="-236220" algn="r">
              <a:lnSpc>
                <a:spcPct val="100000"/>
              </a:lnSpc>
              <a:spcBef>
                <a:spcPts val="1180"/>
              </a:spcBef>
              <a:buChar char="-"/>
              <a:tabLst>
                <a:tab pos="236220" algn="l"/>
              </a:tabLst>
            </a:pPr>
            <a:r>
              <a:rPr sz="1800" spc="-5" dirty="0">
                <a:latin typeface="Calibri"/>
                <a:cs typeface="Calibri"/>
              </a:rPr>
              <a:t>En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práctica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tiene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más </a:t>
            </a:r>
            <a:r>
              <a:rPr sz="1800" spc="-5" dirty="0">
                <a:latin typeface="Calibri"/>
                <a:cs typeface="Calibri"/>
              </a:rPr>
              <a:t>de </a:t>
            </a:r>
            <a:r>
              <a:rPr sz="1800" dirty="0">
                <a:latin typeface="Calibri"/>
                <a:cs typeface="Calibri"/>
              </a:rPr>
              <a:t>3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puntos:</a:t>
            </a:r>
            <a:endParaRPr sz="1800">
              <a:latin typeface="Calibri"/>
              <a:cs typeface="Calibri"/>
            </a:endParaRPr>
          </a:p>
          <a:p>
            <a:pPr marL="223520" marR="940435" lvl="1" indent="-223520" algn="r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223520" algn="l"/>
                <a:tab pos="224154" algn="l"/>
              </a:tabLst>
            </a:pPr>
            <a:r>
              <a:rPr sz="1600" spc="-5" dirty="0">
                <a:latin typeface="Calibri"/>
                <a:cs typeface="Calibri"/>
              </a:rPr>
              <a:t>Usar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mínimos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cuadrados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(pseudo-inversa)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45937" y="2742146"/>
            <a:ext cx="8636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40797" y="2742146"/>
            <a:ext cx="8636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91484" y="3053354"/>
            <a:ext cx="14668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latin typeface="Times New Roman"/>
                <a:cs typeface="Times New Roman"/>
              </a:rPr>
              <a:t>13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40740" y="3056625"/>
            <a:ext cx="8636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48130" y="3371104"/>
            <a:ext cx="8636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42989" y="3371104"/>
            <a:ext cx="8636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67819" y="2599898"/>
            <a:ext cx="5099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3860" algn="l"/>
              </a:tabLst>
            </a:pPr>
            <a:r>
              <a:rPr sz="1650" i="1" spc="-5" dirty="0">
                <a:latin typeface="Times New Roman"/>
                <a:cs typeface="Times New Roman"/>
              </a:rPr>
              <a:t>x	y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85159" y="2914356"/>
            <a:ext cx="114109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0685" algn="l"/>
                <a:tab pos="747395" algn="l"/>
                <a:tab pos="1069340" algn="l"/>
              </a:tabLst>
            </a:pPr>
            <a:r>
              <a:rPr sz="1650" spc="-5" dirty="0">
                <a:latin typeface="Times New Roman"/>
                <a:cs typeface="Times New Roman"/>
              </a:rPr>
              <a:t>0	0	0	</a:t>
            </a:r>
            <a:r>
              <a:rPr sz="2475" i="1" spc="-7" baseline="1683" dirty="0">
                <a:latin typeface="Times New Roman"/>
                <a:cs typeface="Times New Roman"/>
              </a:rPr>
              <a:t>t</a:t>
            </a:r>
            <a:endParaRPr sz="2475" baseline="168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56900" y="3228834"/>
            <a:ext cx="5099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3860" algn="l"/>
              </a:tabLst>
            </a:pPr>
            <a:r>
              <a:rPr sz="1650" i="1" spc="-5" dirty="0">
                <a:latin typeface="Times New Roman"/>
                <a:cs typeface="Times New Roman"/>
              </a:rPr>
              <a:t>x	y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94579" y="2301796"/>
            <a:ext cx="68580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75" spc="89" baseline="5050" dirty="0">
                <a:latin typeface="Times New Roman"/>
                <a:cs typeface="Times New Roman"/>
              </a:rPr>
              <a:t>0</a:t>
            </a:r>
            <a:r>
              <a:rPr sz="1650" spc="-5" dirty="0">
                <a:latin typeface="Symbol"/>
                <a:cs typeface="Symbol"/>
              </a:rPr>
              <a:t></a:t>
            </a:r>
            <a:r>
              <a:rPr sz="1650" spc="-114" dirty="0">
                <a:latin typeface="Times New Roman"/>
                <a:cs typeface="Times New Roman"/>
              </a:rPr>
              <a:t> </a:t>
            </a:r>
            <a:r>
              <a:rPr sz="2475" spc="150" baseline="1683" dirty="0">
                <a:latin typeface="Symbol"/>
                <a:cs typeface="Symbol"/>
              </a:rPr>
              <a:t></a:t>
            </a:r>
            <a:r>
              <a:rPr sz="2475" i="1" spc="-120" baseline="5050" dirty="0">
                <a:latin typeface="Times New Roman"/>
                <a:cs typeface="Times New Roman"/>
              </a:rPr>
              <a:t>t</a:t>
            </a:r>
            <a:r>
              <a:rPr sz="1425" baseline="-14619" dirty="0">
                <a:latin typeface="Times New Roman"/>
                <a:cs typeface="Times New Roman"/>
              </a:rPr>
              <a:t>11</a:t>
            </a:r>
            <a:r>
              <a:rPr sz="1425" spc="37" baseline="-14619" dirty="0">
                <a:latin typeface="Times New Roman"/>
                <a:cs typeface="Times New Roman"/>
              </a:rPr>
              <a:t> </a:t>
            </a:r>
            <a:r>
              <a:rPr sz="2475" spc="-7" baseline="1683" dirty="0">
                <a:latin typeface="Symbol"/>
                <a:cs typeface="Symbol"/>
              </a:rPr>
              <a:t></a:t>
            </a:r>
            <a:endParaRPr sz="2475" baseline="1683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24563" y="2301796"/>
            <a:ext cx="438784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spc="5" dirty="0">
                <a:latin typeface="Symbol"/>
                <a:cs typeface="Symbol"/>
              </a:rPr>
              <a:t></a:t>
            </a:r>
            <a:r>
              <a:rPr sz="2475" i="1" spc="7" baseline="5050" dirty="0">
                <a:latin typeface="Times New Roman"/>
                <a:cs typeface="Times New Roman"/>
              </a:rPr>
              <a:t>u</a:t>
            </a:r>
            <a:r>
              <a:rPr sz="1425" spc="7" baseline="-17543" dirty="0">
                <a:latin typeface="Times New Roman"/>
                <a:cs typeface="Times New Roman"/>
              </a:rPr>
              <a:t>1</a:t>
            </a:r>
            <a:r>
              <a:rPr sz="1425" spc="-30" baseline="-17543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Symbol"/>
                <a:cs typeface="Symbol"/>
              </a:rPr>
              <a:t>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57062" y="2502704"/>
            <a:ext cx="30924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spc="-5" dirty="0">
                <a:latin typeface="Symbol"/>
                <a:cs typeface="Symbol"/>
              </a:rPr>
              <a:t></a:t>
            </a:r>
            <a:r>
              <a:rPr sz="1650" spc="-95" dirty="0">
                <a:latin typeface="Times New Roman"/>
                <a:cs typeface="Times New Roman"/>
              </a:rPr>
              <a:t> </a:t>
            </a:r>
            <a:r>
              <a:rPr sz="2475" spc="-7" baseline="-25252" dirty="0">
                <a:latin typeface="Times New Roman"/>
                <a:cs typeface="Times New Roman"/>
              </a:rPr>
              <a:t>0</a:t>
            </a:r>
            <a:endParaRPr sz="2475" baseline="-25252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67429" y="2502704"/>
            <a:ext cx="130873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  <a:tabLst>
                <a:tab pos="593725" algn="l"/>
                <a:tab pos="894715" algn="l"/>
              </a:tabLst>
            </a:pPr>
            <a:r>
              <a:rPr sz="2475" spc="104" baseline="-25252" dirty="0">
                <a:latin typeface="Times New Roman"/>
                <a:cs typeface="Times New Roman"/>
              </a:rPr>
              <a:t>1</a:t>
            </a:r>
            <a:r>
              <a:rPr sz="1650" spc="-5" dirty="0">
                <a:latin typeface="Symbol"/>
                <a:cs typeface="Symbol"/>
              </a:rPr>
              <a:t></a:t>
            </a:r>
            <a:r>
              <a:rPr sz="1650" spc="-114" dirty="0">
                <a:latin typeface="Times New Roman"/>
                <a:cs typeface="Times New Roman"/>
              </a:rPr>
              <a:t> </a:t>
            </a:r>
            <a:r>
              <a:rPr sz="2475" spc="97" baseline="1683" dirty="0">
                <a:latin typeface="Symbol"/>
                <a:cs typeface="Symbol"/>
              </a:rPr>
              <a:t></a:t>
            </a:r>
            <a:r>
              <a:rPr sz="2475" i="1" spc="-7" baseline="-25252" dirty="0">
                <a:latin typeface="Times New Roman"/>
                <a:cs typeface="Times New Roman"/>
              </a:rPr>
              <a:t>t</a:t>
            </a:r>
            <a:r>
              <a:rPr sz="2475" i="1" baseline="-25252" dirty="0">
                <a:latin typeface="Times New Roman"/>
                <a:cs typeface="Times New Roman"/>
              </a:rPr>
              <a:t>	</a:t>
            </a:r>
            <a:r>
              <a:rPr sz="2475" spc="-7" baseline="1683" dirty="0">
                <a:latin typeface="Symbol"/>
                <a:cs typeface="Symbol"/>
              </a:rPr>
              <a:t></a:t>
            </a:r>
            <a:r>
              <a:rPr sz="2475" baseline="1683" dirty="0">
                <a:latin typeface="Times New Roman"/>
                <a:cs typeface="Times New Roman"/>
              </a:rPr>
              <a:t>	</a:t>
            </a:r>
            <a:r>
              <a:rPr sz="1650" spc="-5" dirty="0">
                <a:latin typeface="Symbol"/>
                <a:cs typeface="Symbol"/>
              </a:rPr>
              <a:t></a:t>
            </a:r>
            <a:r>
              <a:rPr sz="1650" spc="-229" dirty="0">
                <a:latin typeface="Times New Roman"/>
                <a:cs typeface="Times New Roman"/>
              </a:rPr>
              <a:t> </a:t>
            </a:r>
            <a:r>
              <a:rPr sz="2475" i="1" spc="-7" baseline="-25252" dirty="0">
                <a:latin typeface="Times New Roman"/>
                <a:cs typeface="Times New Roman"/>
              </a:rPr>
              <a:t>v</a:t>
            </a:r>
            <a:r>
              <a:rPr sz="2475" i="1" baseline="-25252" dirty="0">
                <a:latin typeface="Times New Roman"/>
                <a:cs typeface="Times New Roman"/>
              </a:rPr>
              <a:t> </a:t>
            </a:r>
            <a:r>
              <a:rPr sz="2475" i="1" spc="-232" baseline="-25252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Symbol"/>
                <a:cs typeface="Symbol"/>
              </a:rPr>
              <a:t>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82462" y="2703624"/>
            <a:ext cx="10604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-5" dirty="0">
                <a:latin typeface="Symbol"/>
                <a:cs typeface="Symbol"/>
              </a:rPr>
              <a:t>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94827" y="2703624"/>
            <a:ext cx="88646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767715" algn="l"/>
              </a:tabLst>
            </a:pPr>
            <a:r>
              <a:rPr sz="1650" spc="-5" dirty="0">
                <a:latin typeface="Symbol"/>
                <a:cs typeface="Symbol"/>
              </a:rPr>
              <a:t></a:t>
            </a:r>
            <a:r>
              <a:rPr sz="1650" spc="-114" dirty="0">
                <a:latin typeface="Times New Roman"/>
                <a:cs typeface="Times New Roman"/>
              </a:rPr>
              <a:t> </a:t>
            </a:r>
            <a:r>
              <a:rPr sz="2475" spc="-7" baseline="1683" dirty="0">
                <a:latin typeface="Symbol"/>
                <a:cs typeface="Symbol"/>
              </a:rPr>
              <a:t></a:t>
            </a:r>
            <a:r>
              <a:rPr sz="2475" spc="75" baseline="1683" dirty="0">
                <a:latin typeface="Times New Roman"/>
                <a:cs typeface="Times New Roman"/>
              </a:rPr>
              <a:t> </a:t>
            </a:r>
            <a:r>
              <a:rPr sz="1425" baseline="23391" dirty="0">
                <a:latin typeface="Times New Roman"/>
                <a:cs typeface="Times New Roman"/>
              </a:rPr>
              <a:t>12</a:t>
            </a:r>
            <a:r>
              <a:rPr sz="1425" spc="89" baseline="23391" dirty="0">
                <a:latin typeface="Times New Roman"/>
                <a:cs typeface="Times New Roman"/>
              </a:rPr>
              <a:t> </a:t>
            </a:r>
            <a:r>
              <a:rPr sz="2475" spc="-7" baseline="1683" dirty="0">
                <a:latin typeface="Symbol"/>
                <a:cs typeface="Symbol"/>
              </a:rPr>
              <a:t></a:t>
            </a:r>
            <a:r>
              <a:rPr sz="2475" spc="-7" baseline="1683" dirty="0">
                <a:latin typeface="Times New Roman"/>
                <a:cs typeface="Times New Roman"/>
              </a:rPr>
              <a:t>	</a:t>
            </a:r>
            <a:r>
              <a:rPr sz="1650" spc="-5" dirty="0">
                <a:latin typeface="Symbol"/>
                <a:cs typeface="Symbol"/>
              </a:rPr>
              <a:t>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06673" y="2653942"/>
            <a:ext cx="25717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latin typeface="Times New Roman"/>
                <a:cs typeface="Times New Roman"/>
              </a:rPr>
              <a:t>1</a:t>
            </a:r>
            <a:r>
              <a:rPr sz="950" spc="20" dirty="0">
                <a:latin typeface="Times New Roman"/>
                <a:cs typeface="Times New Roman"/>
              </a:rPr>
              <a:t> </a:t>
            </a:r>
            <a:r>
              <a:rPr sz="2475" spc="-7" baseline="-13468" dirty="0">
                <a:latin typeface="Symbol"/>
                <a:cs typeface="Symbol"/>
              </a:rPr>
              <a:t></a:t>
            </a:r>
            <a:endParaRPr sz="2475" baseline="-13468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31661" y="2221870"/>
            <a:ext cx="1822450" cy="128333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595"/>
              </a:spcBef>
              <a:tabLst>
                <a:tab pos="565150" algn="l"/>
                <a:tab pos="924560" algn="l"/>
                <a:tab pos="1265555" algn="l"/>
                <a:tab pos="1654175" algn="l"/>
              </a:tabLst>
            </a:pPr>
            <a:r>
              <a:rPr sz="2475" spc="-7" baseline="-5050" dirty="0">
                <a:latin typeface="Symbol"/>
                <a:cs typeface="Symbol"/>
              </a:rPr>
              <a:t></a:t>
            </a:r>
            <a:r>
              <a:rPr sz="2475" spc="-270" baseline="-5050" dirty="0">
                <a:latin typeface="Times New Roman"/>
                <a:cs typeface="Times New Roman"/>
              </a:rPr>
              <a:t> </a:t>
            </a:r>
            <a:r>
              <a:rPr sz="1650" i="1" spc="-60" dirty="0">
                <a:latin typeface="Times New Roman"/>
                <a:cs typeface="Times New Roman"/>
              </a:rPr>
              <a:t>x</a:t>
            </a:r>
            <a:r>
              <a:rPr sz="1425" spc="-89" baseline="-26315" dirty="0">
                <a:latin typeface="Times New Roman"/>
                <a:cs typeface="Times New Roman"/>
              </a:rPr>
              <a:t>1	</a:t>
            </a:r>
            <a:r>
              <a:rPr sz="1650" i="1" spc="-45" dirty="0">
                <a:latin typeface="Times New Roman"/>
                <a:cs typeface="Times New Roman"/>
              </a:rPr>
              <a:t>y</a:t>
            </a:r>
            <a:r>
              <a:rPr sz="1425" spc="-67" baseline="-26315" dirty="0">
                <a:latin typeface="Times New Roman"/>
                <a:cs typeface="Times New Roman"/>
              </a:rPr>
              <a:t>1	</a:t>
            </a:r>
            <a:r>
              <a:rPr sz="1650" spc="-5" dirty="0">
                <a:latin typeface="Times New Roman"/>
                <a:cs typeface="Times New Roman"/>
              </a:rPr>
              <a:t>1	0	0</a:t>
            </a:r>
            <a:endParaRPr sz="1650">
              <a:latin typeface="Times New Roman"/>
              <a:cs typeface="Times New Roman"/>
            </a:endParaRPr>
          </a:p>
          <a:p>
            <a:pPr marL="579120">
              <a:lnSpc>
                <a:spcPct val="100000"/>
              </a:lnSpc>
              <a:spcBef>
                <a:spcPts val="495"/>
              </a:spcBef>
              <a:tabLst>
                <a:tab pos="925830" algn="l"/>
              </a:tabLst>
            </a:pPr>
            <a:r>
              <a:rPr sz="1650" spc="-5" dirty="0">
                <a:latin typeface="Times New Roman"/>
                <a:cs typeface="Times New Roman"/>
              </a:rPr>
              <a:t>0	0</a:t>
            </a:r>
            <a:endParaRPr sz="165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500"/>
              </a:spcBef>
              <a:tabLst>
                <a:tab pos="553720" algn="l"/>
                <a:tab pos="924560" algn="l"/>
              </a:tabLst>
            </a:pPr>
            <a:r>
              <a:rPr sz="2475" spc="-7" baseline="3367" dirty="0">
                <a:latin typeface="Symbol"/>
                <a:cs typeface="Symbol"/>
              </a:rPr>
              <a:t></a:t>
            </a:r>
            <a:r>
              <a:rPr sz="2475" spc="-397" baseline="3367" dirty="0">
                <a:latin typeface="Times New Roman"/>
                <a:cs typeface="Times New Roman"/>
              </a:rPr>
              <a:t> </a:t>
            </a:r>
            <a:r>
              <a:rPr sz="1650" i="1" spc="-10" dirty="0">
                <a:latin typeface="Times New Roman"/>
                <a:cs typeface="Times New Roman"/>
              </a:rPr>
              <a:t>x</a:t>
            </a:r>
            <a:r>
              <a:rPr sz="1425" spc="-15" baseline="-26315" dirty="0">
                <a:latin typeface="Times New Roman"/>
                <a:cs typeface="Times New Roman"/>
              </a:rPr>
              <a:t>2	</a:t>
            </a:r>
            <a:r>
              <a:rPr sz="1650" i="1" spc="5" dirty="0">
                <a:latin typeface="Times New Roman"/>
                <a:cs typeface="Times New Roman"/>
              </a:rPr>
              <a:t>y</a:t>
            </a:r>
            <a:r>
              <a:rPr sz="1425" spc="7" baseline="-26315" dirty="0">
                <a:latin typeface="Times New Roman"/>
                <a:cs typeface="Times New Roman"/>
              </a:rPr>
              <a:t>2	</a:t>
            </a:r>
            <a:r>
              <a:rPr sz="1650" spc="-5" dirty="0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  <a:p>
            <a:pPr marL="579120">
              <a:lnSpc>
                <a:spcPct val="100000"/>
              </a:lnSpc>
              <a:spcBef>
                <a:spcPts val="495"/>
              </a:spcBef>
              <a:tabLst>
                <a:tab pos="925830" algn="l"/>
              </a:tabLst>
            </a:pPr>
            <a:r>
              <a:rPr sz="1650" spc="-5" dirty="0">
                <a:latin typeface="Times New Roman"/>
                <a:cs typeface="Times New Roman"/>
              </a:rPr>
              <a:t>0	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32927" y="2914356"/>
            <a:ext cx="110553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7990" algn="l"/>
                <a:tab pos="729615" algn="l"/>
              </a:tabLst>
            </a:pPr>
            <a:r>
              <a:rPr sz="2475" spc="-7" baseline="3367" dirty="0">
                <a:latin typeface="Symbol"/>
                <a:cs typeface="Symbol"/>
              </a:rPr>
              <a:t></a:t>
            </a:r>
            <a:r>
              <a:rPr sz="2475" spc="-172" baseline="3367" dirty="0">
                <a:latin typeface="Times New Roman"/>
                <a:cs typeface="Times New Roman"/>
              </a:rPr>
              <a:t> </a:t>
            </a:r>
            <a:r>
              <a:rPr sz="2475" spc="-7" baseline="3367" dirty="0">
                <a:latin typeface="Symbol"/>
                <a:cs typeface="Symbol"/>
              </a:rPr>
              <a:t></a:t>
            </a:r>
            <a:r>
              <a:rPr sz="2475" spc="-7" baseline="3367" dirty="0">
                <a:latin typeface="Times New Roman"/>
                <a:cs typeface="Times New Roman"/>
              </a:rPr>
              <a:t>	</a:t>
            </a:r>
            <a:r>
              <a:rPr sz="2475" spc="-7" baseline="3367" dirty="0">
                <a:latin typeface="Symbol"/>
                <a:cs typeface="Symbol"/>
              </a:rPr>
              <a:t></a:t>
            </a:r>
            <a:r>
              <a:rPr sz="2475" spc="-7" baseline="3367" dirty="0">
                <a:latin typeface="Times New Roman"/>
                <a:cs typeface="Times New Roman"/>
              </a:rPr>
              <a:t>	</a:t>
            </a:r>
            <a:r>
              <a:rPr sz="2475" spc="7" baseline="3367" dirty="0">
                <a:latin typeface="Symbol"/>
                <a:cs typeface="Symbol"/>
              </a:rPr>
              <a:t></a:t>
            </a:r>
            <a:r>
              <a:rPr sz="1650" i="1" spc="5" dirty="0">
                <a:latin typeface="Times New Roman"/>
                <a:cs typeface="Times New Roman"/>
              </a:rPr>
              <a:t>u</a:t>
            </a:r>
            <a:r>
              <a:rPr sz="1650" i="1" spc="250" dirty="0">
                <a:latin typeface="Times New Roman"/>
                <a:cs typeface="Times New Roman"/>
              </a:rPr>
              <a:t> </a:t>
            </a:r>
            <a:r>
              <a:rPr sz="2475" spc="-7" baseline="3367" dirty="0">
                <a:latin typeface="Symbol"/>
                <a:cs typeface="Symbol"/>
              </a:rPr>
              <a:t></a:t>
            </a:r>
            <a:endParaRPr sz="2475" baseline="3367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83175" y="3068329"/>
            <a:ext cx="14033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-5" dirty="0">
                <a:latin typeface="Symbol"/>
                <a:cs typeface="Symbol"/>
              </a:rPr>
              <a:t>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57062" y="3105442"/>
            <a:ext cx="30924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spc="-5" dirty="0">
                <a:latin typeface="Symbol"/>
                <a:cs typeface="Symbol"/>
              </a:rPr>
              <a:t></a:t>
            </a:r>
            <a:r>
              <a:rPr sz="1650" spc="-95" dirty="0">
                <a:latin typeface="Times New Roman"/>
                <a:cs typeface="Times New Roman"/>
              </a:rPr>
              <a:t> </a:t>
            </a:r>
            <a:r>
              <a:rPr sz="2475" spc="-7" baseline="-31986" dirty="0">
                <a:latin typeface="Times New Roman"/>
                <a:cs typeface="Times New Roman"/>
              </a:rPr>
              <a:t>0</a:t>
            </a:r>
            <a:endParaRPr sz="2475" baseline="-31986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92829" y="3105442"/>
            <a:ext cx="127063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68325" algn="l"/>
                <a:tab pos="869315" algn="l"/>
              </a:tabLst>
            </a:pPr>
            <a:r>
              <a:rPr sz="2475" spc="52" baseline="-31986" dirty="0">
                <a:latin typeface="Times New Roman"/>
                <a:cs typeface="Times New Roman"/>
              </a:rPr>
              <a:t>1</a:t>
            </a:r>
            <a:r>
              <a:rPr sz="1650" spc="35" dirty="0">
                <a:latin typeface="Symbol"/>
                <a:cs typeface="Symbol"/>
              </a:rPr>
              <a:t></a:t>
            </a:r>
            <a:r>
              <a:rPr sz="1650" spc="-114" dirty="0">
                <a:latin typeface="Times New Roman"/>
                <a:cs typeface="Times New Roman"/>
              </a:rPr>
              <a:t> </a:t>
            </a:r>
            <a:r>
              <a:rPr sz="2475" spc="37" baseline="1683" dirty="0">
                <a:latin typeface="Symbol"/>
                <a:cs typeface="Symbol"/>
              </a:rPr>
              <a:t></a:t>
            </a:r>
            <a:r>
              <a:rPr sz="2475" i="1" spc="37" baseline="-31986" dirty="0">
                <a:latin typeface="Times New Roman"/>
                <a:cs typeface="Times New Roman"/>
              </a:rPr>
              <a:t>t	</a:t>
            </a:r>
            <a:r>
              <a:rPr sz="2475" spc="-7" baseline="1683" dirty="0">
                <a:latin typeface="Symbol"/>
                <a:cs typeface="Symbol"/>
              </a:rPr>
              <a:t></a:t>
            </a:r>
            <a:r>
              <a:rPr sz="2475" spc="-7" baseline="1683" dirty="0">
                <a:latin typeface="Times New Roman"/>
                <a:cs typeface="Times New Roman"/>
              </a:rPr>
              <a:t>	</a:t>
            </a:r>
            <a:r>
              <a:rPr sz="1650" spc="45" dirty="0">
                <a:latin typeface="Symbol"/>
                <a:cs typeface="Symbol"/>
              </a:rPr>
              <a:t></a:t>
            </a:r>
            <a:r>
              <a:rPr sz="2475" i="1" spc="67" baseline="-31986" dirty="0">
                <a:latin typeface="Times New Roman"/>
                <a:cs typeface="Times New Roman"/>
              </a:rPr>
              <a:t>v</a:t>
            </a:r>
            <a:r>
              <a:rPr sz="2475" i="1" spc="412" baseline="-31986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Symbol"/>
                <a:cs typeface="Symbol"/>
              </a:rPr>
              <a:t>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07527" y="3306382"/>
            <a:ext cx="87376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755015" algn="l"/>
              </a:tabLst>
            </a:pPr>
            <a:r>
              <a:rPr sz="1650" spc="-5" dirty="0">
                <a:latin typeface="Symbol"/>
                <a:cs typeface="Symbol"/>
              </a:rPr>
              <a:t></a:t>
            </a:r>
            <a:r>
              <a:rPr sz="1650" spc="-114" dirty="0">
                <a:latin typeface="Times New Roman"/>
                <a:cs typeface="Times New Roman"/>
              </a:rPr>
              <a:t> </a:t>
            </a:r>
            <a:r>
              <a:rPr sz="2475" spc="-7" baseline="1683" dirty="0">
                <a:latin typeface="Symbol"/>
                <a:cs typeface="Symbol"/>
              </a:rPr>
              <a:t></a:t>
            </a:r>
            <a:r>
              <a:rPr sz="2475" spc="202" baseline="1683" dirty="0">
                <a:latin typeface="Times New Roman"/>
                <a:cs typeface="Times New Roman"/>
              </a:rPr>
              <a:t> </a:t>
            </a:r>
            <a:r>
              <a:rPr sz="1425" baseline="11695" dirty="0">
                <a:latin typeface="Times New Roman"/>
                <a:cs typeface="Times New Roman"/>
              </a:rPr>
              <a:t>21</a:t>
            </a:r>
            <a:r>
              <a:rPr sz="1425" spc="-44" baseline="11695" dirty="0">
                <a:latin typeface="Times New Roman"/>
                <a:cs typeface="Times New Roman"/>
              </a:rPr>
              <a:t> </a:t>
            </a:r>
            <a:r>
              <a:rPr sz="2475" spc="-7" baseline="1683" dirty="0">
                <a:latin typeface="Symbol"/>
                <a:cs typeface="Symbol"/>
              </a:rPr>
              <a:t></a:t>
            </a:r>
            <a:r>
              <a:rPr sz="2475" spc="-7" baseline="1683" dirty="0">
                <a:latin typeface="Times New Roman"/>
                <a:cs typeface="Times New Roman"/>
              </a:rPr>
              <a:t>	</a:t>
            </a:r>
            <a:r>
              <a:rPr sz="1650" spc="-5" dirty="0">
                <a:latin typeface="Symbol"/>
                <a:cs typeface="Symbol"/>
              </a:rPr>
              <a:t>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08865" y="3282899"/>
            <a:ext cx="25463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latin typeface="Times New Roman"/>
                <a:cs typeface="Times New Roman"/>
              </a:rPr>
              <a:t>2</a:t>
            </a:r>
            <a:r>
              <a:rPr sz="950" spc="5" dirty="0">
                <a:latin typeface="Times New Roman"/>
                <a:cs typeface="Times New Roman"/>
              </a:rPr>
              <a:t> </a:t>
            </a:r>
            <a:r>
              <a:rPr sz="2475" spc="-7" baseline="-6734" dirty="0">
                <a:latin typeface="Symbol"/>
                <a:cs typeface="Symbol"/>
              </a:rPr>
              <a:t></a:t>
            </a:r>
            <a:endParaRPr sz="2475" baseline="-6734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07527" y="3507291"/>
            <a:ext cx="115633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755015" algn="l"/>
                <a:tab pos="1036955" algn="l"/>
              </a:tabLst>
            </a:pPr>
            <a:r>
              <a:rPr sz="1650" spc="-5" dirty="0">
                <a:latin typeface="Symbol"/>
                <a:cs typeface="Symbol"/>
              </a:rPr>
              <a:t></a:t>
            </a:r>
            <a:r>
              <a:rPr sz="1650" spc="-114" dirty="0">
                <a:latin typeface="Times New Roman"/>
                <a:cs typeface="Times New Roman"/>
              </a:rPr>
              <a:t> </a:t>
            </a:r>
            <a:r>
              <a:rPr sz="2475" spc="15" baseline="1683" dirty="0">
                <a:latin typeface="Symbol"/>
                <a:cs typeface="Symbol"/>
              </a:rPr>
              <a:t></a:t>
            </a:r>
            <a:r>
              <a:rPr sz="2475" i="1" spc="15" baseline="-8417" dirty="0">
                <a:latin typeface="Times New Roman"/>
                <a:cs typeface="Times New Roman"/>
              </a:rPr>
              <a:t>t</a:t>
            </a:r>
            <a:r>
              <a:rPr sz="1425" spc="15" baseline="-40935" dirty="0">
                <a:latin typeface="Times New Roman"/>
                <a:cs typeface="Times New Roman"/>
              </a:rPr>
              <a:t>22 </a:t>
            </a:r>
            <a:r>
              <a:rPr sz="2475" spc="-7" baseline="1683" dirty="0">
                <a:latin typeface="Symbol"/>
                <a:cs typeface="Symbol"/>
              </a:rPr>
              <a:t></a:t>
            </a:r>
            <a:r>
              <a:rPr sz="2475" spc="-7" baseline="1683" dirty="0">
                <a:latin typeface="Times New Roman"/>
                <a:cs typeface="Times New Roman"/>
              </a:rPr>
              <a:t>	</a:t>
            </a:r>
            <a:r>
              <a:rPr sz="1650" spc="-5" dirty="0">
                <a:latin typeface="Symbol"/>
                <a:cs typeface="Symbol"/>
              </a:rPr>
              <a:t></a:t>
            </a:r>
            <a:r>
              <a:rPr sz="1650" spc="-5" dirty="0">
                <a:latin typeface="Times New Roman"/>
                <a:cs typeface="Times New Roman"/>
              </a:rPr>
              <a:t>	</a:t>
            </a:r>
            <a:r>
              <a:rPr sz="1650" spc="-5" dirty="0">
                <a:latin typeface="Symbol"/>
                <a:cs typeface="Symbol"/>
              </a:rPr>
              <a:t>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32927" y="3708200"/>
            <a:ext cx="110553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7990" algn="l"/>
                <a:tab pos="729615" algn="l"/>
                <a:tab pos="1011555" algn="l"/>
              </a:tabLst>
            </a:pPr>
            <a:r>
              <a:rPr sz="1650" spc="-5" dirty="0">
                <a:latin typeface="Symbol"/>
                <a:cs typeface="Symbol"/>
              </a:rPr>
              <a:t></a:t>
            </a:r>
            <a:r>
              <a:rPr sz="1650" spc="-114" dirty="0">
                <a:latin typeface="Times New Roman"/>
                <a:cs typeface="Times New Roman"/>
              </a:rPr>
              <a:t> </a:t>
            </a:r>
            <a:r>
              <a:rPr sz="2475" spc="-7" baseline="1683" dirty="0">
                <a:latin typeface="Symbol"/>
                <a:cs typeface="Symbol"/>
              </a:rPr>
              <a:t></a:t>
            </a:r>
            <a:r>
              <a:rPr sz="2475" baseline="1683" dirty="0">
                <a:latin typeface="Times New Roman"/>
                <a:cs typeface="Times New Roman"/>
              </a:rPr>
              <a:t>	</a:t>
            </a:r>
            <a:r>
              <a:rPr sz="2475" spc="-7" baseline="1683" dirty="0">
                <a:latin typeface="Symbol"/>
                <a:cs typeface="Symbol"/>
              </a:rPr>
              <a:t></a:t>
            </a:r>
            <a:r>
              <a:rPr sz="2475" baseline="1683" dirty="0">
                <a:latin typeface="Times New Roman"/>
                <a:cs typeface="Times New Roman"/>
              </a:rPr>
              <a:t>	</a:t>
            </a:r>
            <a:r>
              <a:rPr sz="1650" spc="-5" dirty="0">
                <a:latin typeface="Symbol"/>
                <a:cs typeface="Symbol"/>
              </a:rPr>
              <a:t>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5" dirty="0">
                <a:latin typeface="Symbol"/>
                <a:cs typeface="Symbol"/>
              </a:rPr>
              <a:t>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082462" y="3306382"/>
            <a:ext cx="106045" cy="876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780"/>
              </a:lnSpc>
              <a:spcBef>
                <a:spcPts val="95"/>
              </a:spcBef>
            </a:pPr>
            <a:r>
              <a:rPr sz="1650" spc="-5" dirty="0">
                <a:latin typeface="Symbol"/>
                <a:cs typeface="Symbol"/>
              </a:rPr>
              <a:t></a:t>
            </a:r>
            <a:endParaRPr sz="1650">
              <a:latin typeface="Symbol"/>
              <a:cs typeface="Symbol"/>
            </a:endParaRPr>
          </a:p>
          <a:p>
            <a:pPr marL="12700">
              <a:lnSpc>
                <a:spcPts val="1580"/>
              </a:lnSpc>
            </a:pPr>
            <a:r>
              <a:rPr sz="1650" spc="-5" dirty="0">
                <a:latin typeface="Symbol"/>
                <a:cs typeface="Symbol"/>
              </a:rPr>
              <a:t></a:t>
            </a:r>
            <a:endParaRPr sz="1650">
              <a:latin typeface="Symbol"/>
              <a:cs typeface="Symbol"/>
            </a:endParaRPr>
          </a:p>
          <a:p>
            <a:pPr marL="12700">
              <a:lnSpc>
                <a:spcPts val="1575"/>
              </a:lnSpc>
            </a:pPr>
            <a:r>
              <a:rPr sz="1650" spc="-5" dirty="0">
                <a:latin typeface="Symbol"/>
                <a:cs typeface="Symbol"/>
              </a:rPr>
              <a:t></a:t>
            </a:r>
            <a:endParaRPr sz="1650">
              <a:latin typeface="Symbol"/>
              <a:cs typeface="Symbol"/>
            </a:endParaRPr>
          </a:p>
          <a:p>
            <a:pPr marL="12700">
              <a:lnSpc>
                <a:spcPts val="1770"/>
              </a:lnSpc>
            </a:pPr>
            <a:r>
              <a:rPr sz="1650" spc="-5" dirty="0">
                <a:latin typeface="Symbol"/>
                <a:cs typeface="Symbol"/>
              </a:rPr>
              <a:t>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107527" y="3910204"/>
            <a:ext cx="115633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755015" algn="l"/>
                <a:tab pos="1036955" algn="l"/>
              </a:tabLst>
            </a:pPr>
            <a:r>
              <a:rPr sz="2475" spc="-7" baseline="1683" dirty="0">
                <a:latin typeface="Symbol"/>
                <a:cs typeface="Symbol"/>
              </a:rPr>
              <a:t></a:t>
            </a:r>
            <a:r>
              <a:rPr sz="2475" spc="-172" baseline="1683" dirty="0">
                <a:latin typeface="Times New Roman"/>
                <a:cs typeface="Times New Roman"/>
              </a:rPr>
              <a:t> </a:t>
            </a:r>
            <a:r>
              <a:rPr sz="2475" spc="-172" baseline="10101" dirty="0">
                <a:latin typeface="Symbol"/>
                <a:cs typeface="Symbol"/>
              </a:rPr>
              <a:t></a:t>
            </a:r>
            <a:r>
              <a:rPr sz="1650" spc="-114" dirty="0">
                <a:latin typeface="Symbol"/>
                <a:cs typeface="Symbol"/>
              </a:rPr>
              <a:t></a:t>
            </a:r>
            <a:r>
              <a:rPr sz="2475" i="1" spc="-172" baseline="15151" dirty="0">
                <a:latin typeface="Times New Roman"/>
                <a:cs typeface="Times New Roman"/>
              </a:rPr>
              <a:t>t</a:t>
            </a:r>
            <a:r>
              <a:rPr sz="950" spc="-114" dirty="0">
                <a:latin typeface="Times New Roman"/>
                <a:cs typeface="Times New Roman"/>
              </a:rPr>
              <a:t>23</a:t>
            </a:r>
            <a:r>
              <a:rPr sz="950" spc="-5" dirty="0">
                <a:latin typeface="Times New Roman"/>
                <a:cs typeface="Times New Roman"/>
              </a:rPr>
              <a:t> </a:t>
            </a:r>
            <a:r>
              <a:rPr sz="2475" spc="-480" baseline="10101" dirty="0">
                <a:latin typeface="Symbol"/>
                <a:cs typeface="Symbol"/>
              </a:rPr>
              <a:t></a:t>
            </a:r>
            <a:r>
              <a:rPr sz="1650" spc="-320" dirty="0">
                <a:latin typeface="Symbol"/>
                <a:cs typeface="Symbol"/>
              </a:rPr>
              <a:t></a:t>
            </a:r>
            <a:r>
              <a:rPr sz="1650" spc="-320" dirty="0">
                <a:latin typeface="Times New Roman"/>
                <a:cs typeface="Times New Roman"/>
              </a:rPr>
              <a:t>	</a:t>
            </a:r>
            <a:r>
              <a:rPr sz="2475" spc="-7" baseline="1683" dirty="0">
                <a:latin typeface="Symbol"/>
                <a:cs typeface="Symbol"/>
              </a:rPr>
              <a:t></a:t>
            </a:r>
            <a:r>
              <a:rPr sz="2475" spc="-7" baseline="1683" dirty="0">
                <a:latin typeface="Times New Roman"/>
                <a:cs typeface="Times New Roman"/>
              </a:rPr>
              <a:t>	</a:t>
            </a:r>
            <a:r>
              <a:rPr sz="2475" spc="-7" baseline="1683" dirty="0">
                <a:latin typeface="Symbol"/>
                <a:cs typeface="Symbol"/>
              </a:rPr>
              <a:t></a:t>
            </a:r>
            <a:endParaRPr sz="2475" baseline="1683">
              <a:latin typeface="Symbol"/>
              <a:cs typeface="Symbo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236075" y="3523262"/>
            <a:ext cx="3023235" cy="675005"/>
            <a:chOff x="3236075" y="3523262"/>
            <a:chExt cx="3023235" cy="675005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6075" y="3523262"/>
              <a:ext cx="3022927" cy="36051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6075" y="3837743"/>
              <a:ext cx="3022927" cy="360515"/>
            </a:xfrm>
            <a:prstGeom prst="rect">
              <a:avLst/>
            </a:prstGeom>
          </p:spPr>
        </p:pic>
      </p:grp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36</a:t>
            </a:fld>
            <a:endParaRPr spc="-5" dirty="0"/>
          </a:p>
        </p:txBody>
      </p:sp>
      <p:pic>
        <p:nvPicPr>
          <p:cNvPr id="36" name="Picture 4">
            <a:extLst>
              <a:ext uri="{FF2B5EF4-FFF2-40B4-BE49-F238E27FC236}">
                <a16:creationId xmlns:a16="http://schemas.microsoft.com/office/drawing/2014/main" id="{10937337-3219-1A1E-88EE-828F5BBD7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6" descr="Ingeniería de Sistemas - UNCP">
            <a:extLst>
              <a:ext uri="{FF2B5EF4-FFF2-40B4-BE49-F238E27FC236}">
                <a16:creationId xmlns:a16="http://schemas.microsoft.com/office/drawing/2014/main" id="{5EC3E3F5-D785-0AE6-C5E9-7DD38DCC8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1204" y="260350"/>
            <a:ext cx="51003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Correspondencia</a:t>
            </a:r>
            <a:r>
              <a:rPr spc="-6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spc="-10" dirty="0"/>
              <a:t>Imágenes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5267960" cy="1384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4345">
              <a:lnSpc>
                <a:spcPct val="100000"/>
              </a:lnSpc>
              <a:spcBef>
                <a:spcPts val="100"/>
              </a:spcBef>
            </a:pPr>
            <a:r>
              <a:rPr sz="2400" b="1" spc="-125" dirty="0">
                <a:solidFill>
                  <a:srgbClr val="2092FA"/>
                </a:solidFill>
                <a:latin typeface="Calibri"/>
                <a:cs typeface="Calibri"/>
              </a:rPr>
              <a:t>T</a:t>
            </a:r>
            <a:r>
              <a:rPr sz="2400" b="1" spc="-50" dirty="0">
                <a:solidFill>
                  <a:srgbClr val="2092FA"/>
                </a:solidFill>
                <a:latin typeface="Calibri"/>
                <a:cs typeface="Calibri"/>
              </a:rPr>
              <a:t>r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an</a:t>
            </a:r>
            <a:r>
              <a:rPr sz="2400" b="1" spc="-25" dirty="0">
                <a:solidFill>
                  <a:srgbClr val="2092FA"/>
                </a:solidFill>
                <a:latin typeface="Calibri"/>
                <a:cs typeface="Calibri"/>
              </a:rPr>
              <a:t>s</a:t>
            </a:r>
            <a:r>
              <a:rPr sz="2400" b="1" spc="-40" dirty="0">
                <a:solidFill>
                  <a:srgbClr val="2092FA"/>
                </a:solidFill>
                <a:latin typeface="Calibri"/>
                <a:cs typeface="Calibri"/>
              </a:rPr>
              <a:t>f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or</a:t>
            </a:r>
            <a:r>
              <a:rPr sz="2400" b="1" spc="5" dirty="0">
                <a:solidFill>
                  <a:srgbClr val="2092FA"/>
                </a:solidFill>
                <a:latin typeface="Calibri"/>
                <a:cs typeface="Calibri"/>
              </a:rPr>
              <a:t>m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aci</a:t>
            </a:r>
            <a:r>
              <a:rPr sz="2400" b="1" spc="5" dirty="0">
                <a:solidFill>
                  <a:srgbClr val="2092FA"/>
                </a:solidFill>
                <a:latin typeface="Calibri"/>
                <a:cs typeface="Calibri"/>
              </a:rPr>
              <a:t>o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nes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solidFill>
                  <a:srgbClr val="6F2F9F"/>
                </a:solidFill>
                <a:latin typeface="Comic Sans MS"/>
                <a:cs typeface="Comic Sans MS"/>
              </a:rPr>
              <a:t>Ejemplo:</a:t>
            </a:r>
            <a:endParaRPr sz="2000">
              <a:latin typeface="Comic Sans MS"/>
              <a:cs typeface="Comic Sans MS"/>
            </a:endParaRPr>
          </a:p>
          <a:p>
            <a:pPr marL="228600">
              <a:lnSpc>
                <a:spcPct val="100000"/>
              </a:lnSpc>
              <a:spcBef>
                <a:spcPts val="415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Transformaciones </a:t>
            </a:r>
            <a:r>
              <a:rPr sz="1800" spc="-10" dirty="0">
                <a:latin typeface="Calibri"/>
                <a:cs typeface="Calibri"/>
              </a:rPr>
              <a:t>entre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objetos</a:t>
            </a:r>
            <a:r>
              <a:rPr sz="1800" spc="-5" dirty="0">
                <a:latin typeface="Calibri"/>
                <a:cs typeface="Calibri"/>
              </a:rPr>
              <a:t> usando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SIFT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49542" y="3934459"/>
            <a:ext cx="15563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845" marR="5080" indent="-1447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Cuadro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alrededor del </a:t>
            </a:r>
            <a:r>
              <a:rPr sz="1400" spc="-30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objeto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detectado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2492" y="2636520"/>
            <a:ext cx="4059935" cy="329945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37</a:t>
            </a:fld>
            <a:endParaRPr spc="-5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4EEF851A-2182-8253-8BA5-167F5DDE2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AD03F9E6-E7B5-909F-CA5B-EED25CD09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1204" y="260350"/>
            <a:ext cx="51003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Correspondencia</a:t>
            </a:r>
            <a:r>
              <a:rPr spc="-6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spc="-10" dirty="0"/>
              <a:t>Imágenes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7644130" cy="286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415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Aplicación:</a:t>
            </a:r>
            <a:r>
              <a:rPr sz="2400" b="1" spc="-5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Panorama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Procedimiento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Encontrar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puntos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interés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describirlos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(por</a:t>
            </a:r>
            <a:r>
              <a:rPr sz="16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ejemplo</a:t>
            </a:r>
            <a:r>
              <a:rPr sz="16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usando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 SIFT)</a:t>
            </a:r>
            <a:endParaRPr sz="1600">
              <a:latin typeface="Calibri"/>
              <a:cs typeface="Calibri"/>
            </a:endParaRPr>
          </a:p>
          <a:p>
            <a:pPr marL="388620" marR="213360" lvl="1" indent="-160020">
              <a:lnSpc>
                <a:spcPct val="100899"/>
              </a:lnSpc>
              <a:spcBef>
                <a:spcPts val="409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Hacer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correspondencia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descriptores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(por</a:t>
            </a:r>
            <a:r>
              <a:rPr sz="16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ejemplo</a:t>
            </a:r>
            <a:r>
              <a:rPr sz="16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usando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la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 distancia </a:t>
            </a:r>
            <a:r>
              <a:rPr sz="1600" spc="-3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euclideana)</a:t>
            </a:r>
            <a:endParaRPr sz="16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15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Encontrar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transformación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(afín)</a:t>
            </a:r>
            <a:r>
              <a:rPr sz="16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imágenes: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usar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mínimos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cuadrados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(se</a:t>
            </a:r>
            <a:endParaRPr sz="1600">
              <a:latin typeface="Calibri"/>
              <a:cs typeface="Calibri"/>
            </a:endParaRPr>
          </a:p>
          <a:p>
            <a:pPr marR="4537710" algn="ctr">
              <a:lnSpc>
                <a:spcPct val="100000"/>
              </a:lnSpc>
              <a:spcBef>
                <a:spcPts val="20"/>
              </a:spcBef>
            </a:pP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requiere</a:t>
            </a:r>
            <a:r>
              <a:rPr sz="16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al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menos</a:t>
            </a:r>
            <a:r>
              <a:rPr sz="16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3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 puntos)</a:t>
            </a:r>
            <a:endParaRPr sz="1600">
              <a:latin typeface="Calibri"/>
              <a:cs typeface="Calibri"/>
            </a:endParaRPr>
          </a:p>
          <a:p>
            <a:pPr marL="388620" marR="4476115" lvl="1" indent="-389255">
              <a:lnSpc>
                <a:spcPct val="100000"/>
              </a:lnSpc>
              <a:spcBef>
                <a:spcPts val="414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RANSAC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(descartar</a:t>
            </a:r>
            <a:r>
              <a:rPr sz="16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“outliers”)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411" y="4475988"/>
            <a:ext cx="8668512" cy="16565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50919" y="6625767"/>
            <a:ext cx="125793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5" dirty="0">
                <a:solidFill>
                  <a:srgbClr val="7E7E7E"/>
                </a:solidFill>
                <a:latin typeface="Calibri"/>
                <a:cs typeface="Calibri"/>
              </a:rPr>
              <a:t>[Imagen</a:t>
            </a:r>
            <a:r>
              <a:rPr sz="10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0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7E7E7E"/>
                </a:solidFill>
                <a:latin typeface="Calibri"/>
                <a:cs typeface="Calibri"/>
              </a:rPr>
              <a:t>J.C.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7E7E7E"/>
                </a:solidFill>
                <a:latin typeface="Calibri"/>
                <a:cs typeface="Calibri"/>
              </a:rPr>
              <a:t>Niebles]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38</a:t>
            </a:fld>
            <a:endParaRPr spc="-5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066A9AD4-0B38-AEFD-F682-9A92D330B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8AB66C45-FCB3-1317-91B9-DCAD136A2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94226" y="581913"/>
            <a:ext cx="9544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60" dirty="0">
                <a:solidFill>
                  <a:srgbClr val="B51A00"/>
                </a:solidFill>
              </a:rPr>
              <a:t>Temas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20" y="2982357"/>
            <a:ext cx="8458249" cy="7089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2068" y="1663445"/>
            <a:ext cx="4846320" cy="1176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Detectores</a:t>
            </a:r>
            <a:r>
              <a:rPr sz="2800" spc="-2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A6A6A6"/>
                </a:solidFill>
                <a:latin typeface="Calibri"/>
                <a:cs typeface="Calibri"/>
              </a:rPr>
              <a:t>y</a:t>
            </a: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 Descriptores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23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Correspondencia</a:t>
            </a:r>
            <a:r>
              <a:rPr sz="2800" spc="1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A6A6A6"/>
                </a:solidFill>
                <a:latin typeface="Calibri"/>
                <a:cs typeface="Calibri"/>
              </a:rPr>
              <a:t>de</a:t>
            </a: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A6A6A6"/>
                </a:solidFill>
                <a:latin typeface="Calibri"/>
                <a:cs typeface="Calibri"/>
              </a:rPr>
              <a:t>Imágenes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39</a:t>
            </a:fld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406908" y="3069335"/>
            <a:ext cx="8298180" cy="548640"/>
          </a:xfrm>
          <a:prstGeom prst="rect">
            <a:avLst/>
          </a:prstGeom>
          <a:solidFill>
            <a:srgbClr val="9BEDF7"/>
          </a:solidFill>
        </p:spPr>
        <p:txBody>
          <a:bodyPr vert="horz" wrap="square" lIns="0" tIns="53975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425"/>
              </a:spcBef>
              <a:tabLst>
                <a:tab pos="714375" algn="l"/>
              </a:tabLst>
            </a:pPr>
            <a:r>
              <a:rPr sz="2800" b="1" spc="-5" dirty="0">
                <a:solidFill>
                  <a:srgbClr val="0000FF"/>
                </a:solidFill>
                <a:latin typeface="Calibri"/>
                <a:cs typeface="Calibri"/>
              </a:rPr>
              <a:t>3.	</a:t>
            </a:r>
            <a:r>
              <a:rPr sz="2800" b="1" spc="-15" dirty="0">
                <a:solidFill>
                  <a:srgbClr val="0000FF"/>
                </a:solidFill>
                <a:latin typeface="Calibri"/>
                <a:cs typeface="Calibri"/>
              </a:rPr>
              <a:t>Detección</a:t>
            </a:r>
            <a:r>
              <a:rPr sz="2800" b="1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Calibri"/>
                <a:cs typeface="Calibri"/>
              </a:rPr>
              <a:t>de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00FF"/>
                </a:solidFill>
                <a:latin typeface="Calibri"/>
                <a:cs typeface="Calibri"/>
              </a:rPr>
              <a:t>Objetos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7519121-D717-6C56-DCEC-A7E3948B9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C4011525-4FB6-B022-B5F3-FAE47EC9C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9201" y="260350"/>
            <a:ext cx="362457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Detección</a:t>
            </a:r>
            <a:r>
              <a:rPr spc="-4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Objetos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52187"/>
            <a:ext cx="6883400" cy="105219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latin typeface="Calibri"/>
                <a:cs typeface="Calibri"/>
              </a:rPr>
              <a:t>Consiste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en: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9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Detectar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(localizar)</a:t>
            </a:r>
            <a:r>
              <a:rPr sz="18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dónde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encuentra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algún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objeto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una imagen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El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objeto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puede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pertenecer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varias categorías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(vehículos,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personas,</a:t>
            </a:r>
            <a:r>
              <a:rPr sz="16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etc.)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586688"/>
            <a:ext cx="1809114" cy="98615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Dificultades:</a:t>
            </a:r>
            <a:endParaRPr sz="2000">
              <a:latin typeface="Calibri"/>
              <a:cs typeface="Calibri"/>
            </a:endParaRPr>
          </a:p>
          <a:p>
            <a:pPr marL="550545" lvl="1" indent="-183515">
              <a:lnSpc>
                <a:spcPct val="100000"/>
              </a:lnSpc>
              <a:spcBef>
                <a:spcPts val="409"/>
              </a:spcBef>
              <a:buChar char="-"/>
              <a:tabLst>
                <a:tab pos="551180" algn="l"/>
              </a:tabLst>
            </a:pPr>
            <a:r>
              <a:rPr sz="1600" spc="-5" dirty="0">
                <a:latin typeface="Calibri"/>
                <a:cs typeface="Calibri"/>
              </a:rPr>
              <a:t>Iluminación</a:t>
            </a:r>
            <a:endParaRPr sz="1600">
              <a:latin typeface="Calibri"/>
              <a:cs typeface="Calibri"/>
            </a:endParaRPr>
          </a:p>
          <a:p>
            <a:pPr marL="550545" lvl="1" indent="-183515">
              <a:lnSpc>
                <a:spcPct val="100000"/>
              </a:lnSpc>
              <a:spcBef>
                <a:spcPts val="385"/>
              </a:spcBef>
              <a:buChar char="-"/>
              <a:tabLst>
                <a:tab pos="551180" algn="l"/>
              </a:tabLst>
            </a:pPr>
            <a:r>
              <a:rPr sz="1600" spc="-10" dirty="0">
                <a:latin typeface="Calibri"/>
                <a:cs typeface="Calibri"/>
              </a:rPr>
              <a:t>Deformaciones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9775" y="4961661"/>
            <a:ext cx="2052320" cy="6108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66370" indent="-154305">
              <a:lnSpc>
                <a:spcPct val="100000"/>
              </a:lnSpc>
              <a:spcBef>
                <a:spcPts val="484"/>
              </a:spcBef>
              <a:buChar char="-"/>
              <a:tabLst>
                <a:tab pos="167005" algn="l"/>
              </a:tabLst>
            </a:pPr>
            <a:r>
              <a:rPr sz="1600" spc="-5" dirty="0">
                <a:latin typeface="Calibri"/>
                <a:cs typeface="Calibri"/>
              </a:rPr>
              <a:t>Ángulo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observación</a:t>
            </a:r>
            <a:endParaRPr sz="1600">
              <a:latin typeface="Calibri"/>
              <a:cs typeface="Calibri"/>
            </a:endParaRPr>
          </a:p>
          <a:p>
            <a:pPr marL="166370" indent="-154305">
              <a:lnSpc>
                <a:spcPct val="100000"/>
              </a:lnSpc>
              <a:spcBef>
                <a:spcPts val="380"/>
              </a:spcBef>
              <a:buChar char="-"/>
              <a:tabLst>
                <a:tab pos="167005" algn="l"/>
              </a:tabLst>
            </a:pPr>
            <a:r>
              <a:rPr sz="1600" spc="-10" dirty="0">
                <a:latin typeface="Calibri"/>
                <a:cs typeface="Calibri"/>
              </a:rPr>
              <a:t>Variaciones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intra-clase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5823610"/>
            <a:ext cx="796353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 marR="5080" indent="-19685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Se</a:t>
            </a:r>
            <a:r>
              <a:rPr sz="2000" dirty="0">
                <a:latin typeface="Calibri"/>
                <a:cs typeface="Calibri"/>
              </a:rPr>
              <a:t> puede </a:t>
            </a:r>
            <a:r>
              <a:rPr sz="2000" spc="-5" dirty="0">
                <a:latin typeface="Calibri"/>
                <a:cs typeface="Calibri"/>
              </a:rPr>
              <a:t>usar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clasificación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(saber</a:t>
            </a:r>
            <a:r>
              <a:rPr sz="18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si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 en</a:t>
            </a:r>
            <a:r>
              <a:rPr sz="18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una</a:t>
            </a:r>
            <a:r>
              <a:rPr sz="18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imagen</a:t>
            </a:r>
            <a:r>
              <a:rPr sz="18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7E7E7E"/>
                </a:solidFill>
                <a:latin typeface="Calibri"/>
                <a:cs typeface="Calibri"/>
              </a:rPr>
              <a:t>hay</a:t>
            </a:r>
            <a:r>
              <a:rPr sz="18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un</a:t>
            </a:r>
            <a:r>
              <a:rPr sz="1800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objeto)</a:t>
            </a:r>
            <a:r>
              <a:rPr sz="1800" spc="6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primera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etapa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0339" y="2403348"/>
            <a:ext cx="3476244" cy="208940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503545" y="2811526"/>
            <a:ext cx="604520" cy="9251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00"/>
                </a:solidFill>
                <a:latin typeface="Calibri"/>
                <a:cs typeface="Calibri"/>
              </a:rPr>
              <a:t>Persona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15"/>
              </a:spcBef>
            </a:pP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Perro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20"/>
              </a:spcBef>
            </a:pPr>
            <a:r>
              <a:rPr sz="1400" spc="-5" dirty="0">
                <a:solidFill>
                  <a:srgbClr val="92D050"/>
                </a:solidFill>
                <a:latin typeface="Calibri"/>
                <a:cs typeface="Calibri"/>
              </a:rPr>
              <a:t>Silla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40</a:t>
            </a:fld>
            <a:endParaRPr spc="-5" dirty="0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98A78E71-A2FA-9811-4356-9EC1C5BFA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Ingeniería de Sistemas - UNCP">
            <a:extLst>
              <a:ext uri="{FF2B5EF4-FFF2-40B4-BE49-F238E27FC236}">
                <a16:creationId xmlns:a16="http://schemas.microsoft.com/office/drawing/2014/main" id="{3B28535E-5930-A826-C15C-59FD690FA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9201" y="260350"/>
            <a:ext cx="362457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Detección</a:t>
            </a:r>
            <a:r>
              <a:rPr spc="-4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Objetos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6765290" cy="4055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038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Enfoques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usuales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Se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suele </a:t>
            </a:r>
            <a:r>
              <a:rPr sz="2000" spc="-10" dirty="0">
                <a:latin typeface="Calibri"/>
                <a:cs typeface="Calibri"/>
              </a:rPr>
              <a:t>utilizar: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Características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locales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15" dirty="0">
                <a:latin typeface="Calibri"/>
                <a:cs typeface="Calibri"/>
              </a:rPr>
              <a:t>Ventanas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deslizantes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Modelos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partes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(deformables)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Bag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spc="-10" dirty="0">
                <a:latin typeface="Calibri"/>
                <a:cs typeface="Calibri"/>
              </a:rPr>
              <a:t>Features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Deep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Learning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Calibri"/>
              <a:buChar char="-"/>
            </a:pPr>
            <a:endParaRPr sz="25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Los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enfoques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tradicionales requieren: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5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Extracción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atributos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(“features”)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Uso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Machine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Learning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para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clasificación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 los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atributos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3019" y="5241035"/>
            <a:ext cx="1296924" cy="12508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1292" y="5473262"/>
            <a:ext cx="1845271" cy="80598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15258" y="5549595"/>
            <a:ext cx="14528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585858"/>
                </a:solidFill>
                <a:latin typeface="Calibri"/>
                <a:cs typeface="Calibri"/>
              </a:rPr>
              <a:t>extracción</a:t>
            </a:r>
            <a:r>
              <a:rPr sz="1200" spc="-3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85858"/>
                </a:solidFill>
                <a:latin typeface="Calibri"/>
                <a:cs typeface="Calibri"/>
              </a:rPr>
              <a:t>de</a:t>
            </a:r>
            <a:r>
              <a:rPr sz="1200" spc="-4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585858"/>
                </a:solidFill>
                <a:latin typeface="Calibri"/>
                <a:cs typeface="Calibri"/>
              </a:rPr>
              <a:t>atributos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45783" y="5744950"/>
            <a:ext cx="352425" cy="340995"/>
            <a:chOff x="2945783" y="5744950"/>
            <a:chExt cx="352425" cy="34099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45783" y="5744950"/>
              <a:ext cx="352370" cy="34077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83992" y="5751575"/>
              <a:ext cx="288035" cy="28346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983992" y="5751575"/>
              <a:ext cx="288290" cy="283845"/>
            </a:xfrm>
            <a:custGeom>
              <a:avLst/>
              <a:gdLst/>
              <a:ahLst/>
              <a:cxnLst/>
              <a:rect l="l" t="t" r="r" b="b"/>
              <a:pathLst>
                <a:path w="288289" h="283845">
                  <a:moveTo>
                    <a:pt x="0" y="70865"/>
                  </a:moveTo>
                  <a:lnTo>
                    <a:pt x="146303" y="70865"/>
                  </a:lnTo>
                  <a:lnTo>
                    <a:pt x="146303" y="0"/>
                  </a:lnTo>
                  <a:lnTo>
                    <a:pt x="288035" y="141732"/>
                  </a:lnTo>
                  <a:lnTo>
                    <a:pt x="146303" y="283464"/>
                  </a:lnTo>
                  <a:lnTo>
                    <a:pt x="146303" y="212598"/>
                  </a:lnTo>
                  <a:lnTo>
                    <a:pt x="0" y="212598"/>
                  </a:lnTo>
                  <a:lnTo>
                    <a:pt x="0" y="70865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826143" y="5734177"/>
            <a:ext cx="352425" cy="339725"/>
            <a:chOff x="5826143" y="5734177"/>
            <a:chExt cx="352425" cy="33972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26143" y="5734177"/>
              <a:ext cx="352370" cy="33943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64352" y="5740907"/>
              <a:ext cx="288036" cy="28193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864352" y="5740907"/>
              <a:ext cx="288290" cy="281940"/>
            </a:xfrm>
            <a:custGeom>
              <a:avLst/>
              <a:gdLst/>
              <a:ahLst/>
              <a:cxnLst/>
              <a:rect l="l" t="t" r="r" b="b"/>
              <a:pathLst>
                <a:path w="288289" h="281939">
                  <a:moveTo>
                    <a:pt x="0" y="70484"/>
                  </a:moveTo>
                  <a:lnTo>
                    <a:pt x="147065" y="70484"/>
                  </a:lnTo>
                  <a:lnTo>
                    <a:pt x="147065" y="0"/>
                  </a:lnTo>
                  <a:lnTo>
                    <a:pt x="288036" y="140969"/>
                  </a:lnTo>
                  <a:lnTo>
                    <a:pt x="147065" y="281939"/>
                  </a:lnTo>
                  <a:lnTo>
                    <a:pt x="147065" y="211454"/>
                  </a:lnTo>
                  <a:lnTo>
                    <a:pt x="0" y="211454"/>
                  </a:lnTo>
                  <a:lnTo>
                    <a:pt x="0" y="7048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533515" y="5338952"/>
            <a:ext cx="1899920" cy="1154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Entrenamiento </a:t>
            </a:r>
            <a:r>
              <a:rPr sz="1600" spc="-5" dirty="0">
                <a:latin typeface="Calibri"/>
                <a:cs typeface="Calibri"/>
              </a:rPr>
              <a:t>basado </a:t>
            </a:r>
            <a:r>
              <a:rPr sz="1600" spc="-35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en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atributos</a:t>
            </a:r>
            <a:endParaRPr sz="1600">
              <a:latin typeface="Calibri"/>
              <a:cs typeface="Calibri"/>
            </a:endParaRPr>
          </a:p>
          <a:p>
            <a:pPr marL="24765" marR="14604" indent="-1270" algn="ctr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(SVM, redes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neuronales,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random</a:t>
            </a:r>
            <a:r>
              <a:rPr sz="14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forest,</a:t>
            </a:r>
            <a:r>
              <a:rPr sz="14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AdaBoost, </a:t>
            </a:r>
            <a:r>
              <a:rPr sz="1400" spc="-30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etc.)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41</a:t>
            </a:fld>
            <a:endParaRPr spc="-5" dirty="0"/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E0CE727B-7F3E-30E8-BB97-2E7663E57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Ingeniería de Sistemas - UNCP">
            <a:extLst>
              <a:ext uri="{FF2B5EF4-FFF2-40B4-BE49-F238E27FC236}">
                <a16:creationId xmlns:a16="http://schemas.microsoft.com/office/drawing/2014/main" id="{D9B51BC7-A0B4-4EF4-B89D-56433D9AC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9201" y="260350"/>
            <a:ext cx="362457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Detección</a:t>
            </a:r>
            <a:r>
              <a:rPr spc="-4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Objetos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1583947"/>
            <a:ext cx="3370579" cy="269875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latin typeface="Calibri"/>
                <a:cs typeface="Calibri"/>
              </a:rPr>
              <a:t>Métodos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usuales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Support </a:t>
            </a:r>
            <a:r>
              <a:rPr sz="1800" spc="-20" dirty="0">
                <a:latin typeface="Calibri"/>
                <a:cs typeface="Calibri"/>
              </a:rPr>
              <a:t>Vector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Machines </a:t>
            </a:r>
            <a:r>
              <a:rPr sz="1800" spc="-10" dirty="0">
                <a:latin typeface="Calibri"/>
                <a:cs typeface="Calibri"/>
              </a:rPr>
              <a:t>(SVM)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K-nearest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neighbor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Naive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Bayes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Árboles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decisión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Random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Forest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Boosting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(ejemplo: </a:t>
            </a:r>
            <a:r>
              <a:rPr sz="1800" dirty="0">
                <a:latin typeface="Calibri"/>
                <a:cs typeface="Calibri"/>
              </a:rPr>
              <a:t>Ada </a:t>
            </a:r>
            <a:r>
              <a:rPr sz="1800" spc="-5" dirty="0">
                <a:latin typeface="Calibri"/>
                <a:cs typeface="Calibri"/>
              </a:rPr>
              <a:t>Boost)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Redes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neuronales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(simples)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794" y="4645914"/>
            <a:ext cx="8150859" cy="965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 marR="5080" indent="-19685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evaluación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realiza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base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algunas métricas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5" dirty="0">
                <a:latin typeface="Calibri"/>
                <a:cs typeface="Calibri"/>
              </a:rPr>
              <a:t> se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calculan 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partir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matriz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 confusión</a:t>
            </a:r>
            <a:endParaRPr sz="20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45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30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Métricas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más</a:t>
            </a:r>
            <a:r>
              <a:rPr sz="1800" spc="-5" dirty="0">
                <a:latin typeface="Calibri"/>
                <a:cs typeface="Calibri"/>
              </a:rPr>
              <a:t> usuales: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exactitud,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precisión,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recall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19629" y="922782"/>
            <a:ext cx="4907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Clasificación</a:t>
            </a:r>
            <a:r>
              <a:rPr sz="2400" b="1" spc="-4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usando</a:t>
            </a: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Machine</a:t>
            </a:r>
            <a:r>
              <a:rPr sz="2400" b="1" spc="-9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4252" y="2031492"/>
            <a:ext cx="2947034" cy="173583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579745" y="3935095"/>
            <a:ext cx="19253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Clasificación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de tres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clases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42</a:t>
            </a:fld>
            <a:endParaRPr spc="-5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F59222EF-21B9-E3EB-3148-FB46EEFD6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Ingeniería de Sistemas - UNCP">
            <a:extLst>
              <a:ext uri="{FF2B5EF4-FFF2-40B4-BE49-F238E27FC236}">
                <a16:creationId xmlns:a16="http://schemas.microsoft.com/office/drawing/2014/main" id="{D4909554-177D-B8A4-2627-EA559B963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9201" y="260350"/>
            <a:ext cx="362457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Detección</a:t>
            </a:r>
            <a:r>
              <a:rPr spc="-4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Objetos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5194300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86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Uso</a:t>
            </a:r>
            <a:r>
              <a:rPr sz="2400" b="1" spc="-4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los</a:t>
            </a:r>
            <a:r>
              <a:rPr sz="2400" b="1" spc="-3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Datos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Los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datos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suelen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dividir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202" y="3374900"/>
            <a:ext cx="8000365" cy="284861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2720" indent="-160020">
              <a:lnSpc>
                <a:spcPct val="100000"/>
              </a:lnSpc>
              <a:spcBef>
                <a:spcPts val="590"/>
              </a:spcBef>
              <a:buChar char="-"/>
              <a:tabLst>
                <a:tab pos="172720" algn="l"/>
              </a:tabLst>
            </a:pPr>
            <a:r>
              <a:rPr sz="2000" spc="-10" dirty="0">
                <a:solidFill>
                  <a:srgbClr val="9900CC"/>
                </a:solidFill>
                <a:latin typeface="Calibri"/>
                <a:cs typeface="Calibri"/>
              </a:rPr>
              <a:t>Conjunto</a:t>
            </a:r>
            <a:r>
              <a:rPr sz="2000" spc="-35" dirty="0">
                <a:solidFill>
                  <a:srgbClr val="9900C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9900CC"/>
                </a:solidFill>
                <a:latin typeface="Calibri"/>
                <a:cs typeface="Calibri"/>
              </a:rPr>
              <a:t>de</a:t>
            </a:r>
            <a:r>
              <a:rPr sz="2000" dirty="0">
                <a:solidFill>
                  <a:srgbClr val="9900C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9900CC"/>
                </a:solidFill>
                <a:latin typeface="Calibri"/>
                <a:cs typeface="Calibri"/>
              </a:rPr>
              <a:t>entrenamiento</a:t>
            </a:r>
            <a:r>
              <a:rPr sz="2000" spc="20" dirty="0">
                <a:solidFill>
                  <a:srgbClr val="9900CC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(training set)</a:t>
            </a:r>
            <a:endParaRPr sz="1600">
              <a:latin typeface="Calibri"/>
              <a:cs typeface="Calibri"/>
            </a:endParaRPr>
          </a:p>
          <a:p>
            <a:pPr marL="394970" lvl="1" indent="-22606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394970" algn="l"/>
                <a:tab pos="395605" algn="l"/>
              </a:tabLst>
            </a:pPr>
            <a:r>
              <a:rPr sz="1800" dirty="0">
                <a:latin typeface="Calibri"/>
                <a:cs typeface="Calibri"/>
              </a:rPr>
              <a:t>Usado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para</a:t>
            </a:r>
            <a:r>
              <a:rPr sz="1800" spc="-5" dirty="0">
                <a:latin typeface="Calibri"/>
                <a:cs typeface="Calibri"/>
              </a:rPr>
              <a:t> aprender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los </a:t>
            </a:r>
            <a:r>
              <a:rPr sz="1800" spc="-10" dirty="0">
                <a:latin typeface="Calibri"/>
                <a:cs typeface="Calibri"/>
              </a:rPr>
              <a:t>parámetros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determinar</a:t>
            </a:r>
            <a:r>
              <a:rPr sz="1800" dirty="0">
                <a:latin typeface="Calibri"/>
                <a:cs typeface="Calibri"/>
              </a:rPr>
              <a:t> el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mejor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modelo)</a:t>
            </a:r>
            <a:endParaRPr sz="1800">
              <a:latin typeface="Calibri"/>
              <a:cs typeface="Calibri"/>
            </a:endParaRPr>
          </a:p>
          <a:p>
            <a:pPr marL="394970" lvl="1" indent="-22606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94970" algn="l"/>
                <a:tab pos="395605" algn="l"/>
              </a:tabLst>
            </a:pPr>
            <a:r>
              <a:rPr sz="1800" spc="-5" dirty="0">
                <a:latin typeface="Calibri"/>
                <a:cs typeface="Calibri"/>
              </a:rPr>
              <a:t>Suele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incluir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subconjunto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validación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 </a:t>
            </a:r>
            <a:r>
              <a:rPr sz="1800" spc="-5" dirty="0">
                <a:latin typeface="Calibri"/>
                <a:cs typeface="Calibri"/>
              </a:rPr>
              <a:t>uso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validación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cruzada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(con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que</a:t>
            </a:r>
            <a:endParaRPr sz="1800">
              <a:latin typeface="Calibri"/>
              <a:cs typeface="Calibri"/>
            </a:endParaRPr>
          </a:p>
          <a:p>
            <a:pPr marL="39497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“afina”</a:t>
            </a:r>
            <a:r>
              <a:rPr sz="1800" dirty="0">
                <a:latin typeface="Calibri"/>
                <a:cs typeface="Calibri"/>
              </a:rPr>
              <a:t> el modelo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para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saber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qué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funciona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mejor)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Calibri"/>
              <a:cs typeface="Calibri"/>
            </a:endParaRPr>
          </a:p>
          <a:p>
            <a:pPr marL="172720" indent="-160020">
              <a:lnSpc>
                <a:spcPct val="100000"/>
              </a:lnSpc>
              <a:buChar char="-"/>
              <a:tabLst>
                <a:tab pos="172720" algn="l"/>
              </a:tabLst>
            </a:pPr>
            <a:r>
              <a:rPr sz="2000" spc="-10" dirty="0">
                <a:solidFill>
                  <a:srgbClr val="9900CC"/>
                </a:solidFill>
                <a:latin typeface="Calibri"/>
                <a:cs typeface="Calibri"/>
              </a:rPr>
              <a:t>Conjunto</a:t>
            </a:r>
            <a:r>
              <a:rPr sz="2000" spc="-40" dirty="0">
                <a:solidFill>
                  <a:srgbClr val="9900C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9900CC"/>
                </a:solidFill>
                <a:latin typeface="Calibri"/>
                <a:cs typeface="Calibri"/>
              </a:rPr>
              <a:t>de</a:t>
            </a:r>
            <a:r>
              <a:rPr sz="2000" spc="-10" dirty="0">
                <a:solidFill>
                  <a:srgbClr val="9900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9900CC"/>
                </a:solidFill>
                <a:latin typeface="Calibri"/>
                <a:cs typeface="Calibri"/>
              </a:rPr>
              <a:t>prueba</a:t>
            </a:r>
            <a:r>
              <a:rPr sz="2000" spc="-15" dirty="0">
                <a:solidFill>
                  <a:srgbClr val="9900CC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(test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set)</a:t>
            </a:r>
            <a:endParaRPr sz="1600">
              <a:latin typeface="Calibri"/>
              <a:cs typeface="Calibri"/>
            </a:endParaRPr>
          </a:p>
          <a:p>
            <a:pPr marL="394970" lvl="1" indent="-226060">
              <a:lnSpc>
                <a:spcPct val="100000"/>
              </a:lnSpc>
              <a:spcBef>
                <a:spcPts val="439"/>
              </a:spcBef>
              <a:buFont typeface="Arial MT"/>
              <a:buChar char="•"/>
              <a:tabLst>
                <a:tab pos="394970" algn="l"/>
                <a:tab pos="395605" algn="l"/>
              </a:tabLst>
            </a:pPr>
            <a:r>
              <a:rPr sz="1800" dirty="0">
                <a:latin typeface="Calibri"/>
                <a:cs typeface="Calibri"/>
              </a:rPr>
              <a:t>Usado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para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realizar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prueba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desempeño final</a:t>
            </a:r>
            <a:endParaRPr sz="1800">
              <a:latin typeface="Calibri"/>
              <a:cs typeface="Calibri"/>
            </a:endParaRPr>
          </a:p>
          <a:p>
            <a:pPr marL="394970" lvl="1" indent="-22606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94970" algn="l"/>
                <a:tab pos="395605" algn="l"/>
              </a:tabLst>
            </a:pPr>
            <a:r>
              <a:rPr sz="1800" dirty="0">
                <a:latin typeface="Calibri"/>
                <a:cs typeface="Calibri"/>
              </a:rPr>
              <a:t>NO</a:t>
            </a:r>
            <a:r>
              <a:rPr sz="1800" spc="-5" dirty="0">
                <a:latin typeface="Calibri"/>
                <a:cs typeface="Calibri"/>
              </a:rPr>
              <a:t> 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debe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usar</a:t>
            </a:r>
            <a:r>
              <a:rPr sz="1800" spc="-15" dirty="0">
                <a:latin typeface="Calibri"/>
                <a:cs typeface="Calibri"/>
              </a:rPr>
              <a:t> este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conjunto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para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“afinar”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 modelo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entrenado</a:t>
            </a:r>
            <a:endParaRPr sz="1800">
              <a:latin typeface="Calibri"/>
              <a:cs typeface="Calibri"/>
            </a:endParaRPr>
          </a:p>
          <a:p>
            <a:pPr marL="394970" lvl="1" indent="-22606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94970" algn="l"/>
                <a:tab pos="395605" algn="l"/>
              </a:tabLst>
            </a:pPr>
            <a:r>
              <a:rPr sz="1800" spc="-5" dirty="0">
                <a:latin typeface="Calibri"/>
                <a:cs typeface="Calibri"/>
              </a:rPr>
              <a:t>Se usa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solo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 </a:t>
            </a:r>
            <a:r>
              <a:rPr sz="1800" spc="-5" dirty="0">
                <a:latin typeface="Calibri"/>
                <a:cs typeface="Calibri"/>
              </a:rPr>
              <a:t>final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del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proceso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10739" y="2299716"/>
            <a:ext cx="5067300" cy="332740"/>
            <a:chOff x="2110739" y="2299716"/>
            <a:chExt cx="5067300" cy="332740"/>
          </a:xfrm>
        </p:grpSpPr>
        <p:sp>
          <p:nvSpPr>
            <p:cNvPr id="6" name="object 6"/>
            <p:cNvSpPr/>
            <p:nvPr/>
          </p:nvSpPr>
          <p:spPr>
            <a:xfrm>
              <a:off x="6156198" y="2312670"/>
              <a:ext cx="1009015" cy="288290"/>
            </a:xfrm>
            <a:custGeom>
              <a:avLst/>
              <a:gdLst/>
              <a:ahLst/>
              <a:cxnLst/>
              <a:rect l="l" t="t" r="r" b="b"/>
              <a:pathLst>
                <a:path w="1009015" h="288289">
                  <a:moveTo>
                    <a:pt x="1008888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1008888" y="288036"/>
                  </a:lnTo>
                  <a:lnTo>
                    <a:pt x="100888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56198" y="2312670"/>
              <a:ext cx="1009015" cy="288290"/>
            </a:xfrm>
            <a:custGeom>
              <a:avLst/>
              <a:gdLst/>
              <a:ahLst/>
              <a:cxnLst/>
              <a:rect l="l" t="t" r="r" b="b"/>
              <a:pathLst>
                <a:path w="1009015" h="288289">
                  <a:moveTo>
                    <a:pt x="0" y="288036"/>
                  </a:moveTo>
                  <a:lnTo>
                    <a:pt x="1008888" y="288036"/>
                  </a:lnTo>
                  <a:lnTo>
                    <a:pt x="1008888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25908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23693" y="2312670"/>
              <a:ext cx="4032885" cy="306705"/>
            </a:xfrm>
            <a:custGeom>
              <a:avLst/>
              <a:gdLst/>
              <a:ahLst/>
              <a:cxnLst/>
              <a:rect l="l" t="t" r="r" b="b"/>
              <a:pathLst>
                <a:path w="4032885" h="306705">
                  <a:moveTo>
                    <a:pt x="4032504" y="0"/>
                  </a:moveTo>
                  <a:lnTo>
                    <a:pt x="0" y="0"/>
                  </a:lnTo>
                  <a:lnTo>
                    <a:pt x="0" y="306324"/>
                  </a:lnTo>
                  <a:lnTo>
                    <a:pt x="4032504" y="306324"/>
                  </a:lnTo>
                  <a:lnTo>
                    <a:pt x="4032504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23693" y="2312670"/>
              <a:ext cx="4032885" cy="306705"/>
            </a:xfrm>
            <a:custGeom>
              <a:avLst/>
              <a:gdLst/>
              <a:ahLst/>
              <a:cxnLst/>
              <a:rect l="l" t="t" r="r" b="b"/>
              <a:pathLst>
                <a:path w="4032885" h="306705">
                  <a:moveTo>
                    <a:pt x="0" y="306324"/>
                  </a:moveTo>
                  <a:lnTo>
                    <a:pt x="4032504" y="306324"/>
                  </a:lnTo>
                  <a:lnTo>
                    <a:pt x="4032504" y="0"/>
                  </a:lnTo>
                  <a:lnTo>
                    <a:pt x="0" y="0"/>
                  </a:lnTo>
                  <a:lnTo>
                    <a:pt x="0" y="306324"/>
                  </a:lnTo>
                  <a:close/>
                </a:path>
              </a:pathLst>
            </a:custGeom>
            <a:ln w="25908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845433" y="2639313"/>
            <a:ext cx="110490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8145" marR="5080" indent="-38608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E</a:t>
            </a:r>
            <a:r>
              <a:rPr sz="1400" spc="-20" dirty="0">
                <a:latin typeface="Calibri"/>
                <a:cs typeface="Calibri"/>
              </a:rPr>
              <a:t>n</a:t>
            </a:r>
            <a:r>
              <a:rPr sz="1400" dirty="0">
                <a:latin typeface="Calibri"/>
                <a:cs typeface="Calibri"/>
              </a:rPr>
              <a:t>t</a:t>
            </a:r>
            <a:r>
              <a:rPr sz="1400" spc="-25" dirty="0">
                <a:latin typeface="Calibri"/>
                <a:cs typeface="Calibri"/>
              </a:rPr>
              <a:t>r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10" dirty="0">
                <a:latin typeface="Calibri"/>
                <a:cs typeface="Calibri"/>
              </a:rPr>
              <a:t>n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10" dirty="0">
                <a:latin typeface="Calibri"/>
                <a:cs typeface="Calibri"/>
              </a:rPr>
              <a:t>m</a:t>
            </a:r>
            <a:r>
              <a:rPr sz="1400" dirty="0">
                <a:latin typeface="Calibri"/>
                <a:cs typeface="Calibri"/>
              </a:rPr>
              <a:t>ie</a:t>
            </a:r>
            <a:r>
              <a:rPr sz="1400" spc="-20" dirty="0">
                <a:latin typeface="Calibri"/>
                <a:cs typeface="Calibri"/>
              </a:rPr>
              <a:t>n</a:t>
            </a:r>
            <a:r>
              <a:rPr sz="1400" spc="-1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o  </a:t>
            </a:r>
            <a:r>
              <a:rPr sz="1400" spc="-5" dirty="0">
                <a:latin typeface="Calibri"/>
                <a:cs typeface="Calibri"/>
              </a:rPr>
              <a:t>80%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43</a:t>
            </a:fld>
            <a:endParaRPr spc="-5" dirty="0"/>
          </a:p>
        </p:txBody>
      </p:sp>
      <p:sp>
        <p:nvSpPr>
          <p:cNvPr id="11" name="object 11"/>
          <p:cNvSpPr txBox="1"/>
          <p:nvPr/>
        </p:nvSpPr>
        <p:spPr>
          <a:xfrm>
            <a:off x="6458839" y="2621026"/>
            <a:ext cx="5397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4300" marR="5080" indent="-102235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P</a:t>
            </a:r>
            <a:r>
              <a:rPr sz="1400" dirty="0">
                <a:latin typeface="Calibri"/>
                <a:cs typeface="Calibri"/>
              </a:rPr>
              <a:t>ru</a:t>
            </a:r>
            <a:r>
              <a:rPr sz="1400" spc="-10" dirty="0">
                <a:latin typeface="Calibri"/>
                <a:cs typeface="Calibri"/>
              </a:rPr>
              <a:t>eb</a:t>
            </a:r>
            <a:r>
              <a:rPr sz="1400" dirty="0">
                <a:latin typeface="Calibri"/>
                <a:cs typeface="Calibri"/>
              </a:rPr>
              <a:t>a  </a:t>
            </a:r>
            <a:r>
              <a:rPr sz="1400" spc="-5" dirty="0">
                <a:latin typeface="Calibri"/>
                <a:cs typeface="Calibri"/>
              </a:rPr>
              <a:t>20%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C07DC98E-3A85-6B06-E34D-6ABC7A491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Ingeniería de Sistemas - UNCP">
            <a:extLst>
              <a:ext uri="{FF2B5EF4-FFF2-40B4-BE49-F238E27FC236}">
                <a16:creationId xmlns:a16="http://schemas.microsoft.com/office/drawing/2014/main" id="{41E504A7-85E4-3C11-A087-A8E904029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9201" y="260350"/>
            <a:ext cx="362457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Detección</a:t>
            </a:r>
            <a:r>
              <a:rPr spc="-4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Objetos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8266430" cy="228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Esquema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general</a:t>
            </a: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Clasificación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Procedimiento</a:t>
            </a:r>
            <a:endParaRPr sz="2000">
              <a:latin typeface="Calibri"/>
              <a:cs typeface="Calibri"/>
            </a:endParaRPr>
          </a:p>
          <a:p>
            <a:pPr marL="388620" marR="5080" lvl="1" indent="-160020">
              <a:lnSpc>
                <a:spcPct val="100899"/>
              </a:lnSpc>
              <a:spcBef>
                <a:spcPts val="42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extrae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características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importantes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(“features”)</a:t>
            </a:r>
            <a:r>
              <a:rPr sz="1600" spc="8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usando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descriptores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(y</a:t>
            </a:r>
            <a:r>
              <a:rPr sz="16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sus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respectivos </a:t>
            </a:r>
            <a:r>
              <a:rPr sz="1600" spc="-3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detectores)</a:t>
            </a:r>
            <a:endParaRPr sz="16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09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Usando </a:t>
            </a:r>
            <a:r>
              <a:rPr sz="1800" spc="-10" dirty="0">
                <a:latin typeface="Calibri"/>
                <a:cs typeface="Calibri"/>
              </a:rPr>
              <a:t>estas </a:t>
            </a:r>
            <a:r>
              <a:rPr sz="1800" spc="-15" dirty="0">
                <a:latin typeface="Calibri"/>
                <a:cs typeface="Calibri"/>
              </a:rPr>
              <a:t>características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entrena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clasificador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Usando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clasificador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entrenado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278595" y="5570151"/>
            <a:ext cx="1449705" cy="789940"/>
            <a:chOff x="7278595" y="5570151"/>
            <a:chExt cx="1449705" cy="7899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78595" y="5570151"/>
              <a:ext cx="1449380" cy="78958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16723" y="5588507"/>
              <a:ext cx="1377950" cy="718185"/>
            </a:xfrm>
            <a:custGeom>
              <a:avLst/>
              <a:gdLst/>
              <a:ahLst/>
              <a:cxnLst/>
              <a:rect l="l" t="t" r="r" b="b"/>
              <a:pathLst>
                <a:path w="1377950" h="718185">
                  <a:moveTo>
                    <a:pt x="1258061" y="0"/>
                  </a:moveTo>
                  <a:lnTo>
                    <a:pt x="119633" y="0"/>
                  </a:lnTo>
                  <a:lnTo>
                    <a:pt x="73080" y="9402"/>
                  </a:lnTo>
                  <a:lnTo>
                    <a:pt x="35051" y="35042"/>
                  </a:lnTo>
                  <a:lnTo>
                    <a:pt x="9405" y="73069"/>
                  </a:lnTo>
                  <a:lnTo>
                    <a:pt x="0" y="119633"/>
                  </a:lnTo>
                  <a:lnTo>
                    <a:pt x="0" y="598169"/>
                  </a:lnTo>
                  <a:lnTo>
                    <a:pt x="9405" y="644734"/>
                  </a:lnTo>
                  <a:lnTo>
                    <a:pt x="35051" y="682761"/>
                  </a:lnTo>
                  <a:lnTo>
                    <a:pt x="73080" y="708401"/>
                  </a:lnTo>
                  <a:lnTo>
                    <a:pt x="119633" y="717803"/>
                  </a:lnTo>
                  <a:lnTo>
                    <a:pt x="1258061" y="717803"/>
                  </a:lnTo>
                  <a:lnTo>
                    <a:pt x="1304615" y="708401"/>
                  </a:lnTo>
                  <a:lnTo>
                    <a:pt x="1342644" y="682761"/>
                  </a:lnTo>
                  <a:lnTo>
                    <a:pt x="1368290" y="644734"/>
                  </a:lnTo>
                  <a:lnTo>
                    <a:pt x="1377696" y="598169"/>
                  </a:lnTo>
                  <a:lnTo>
                    <a:pt x="1377696" y="119633"/>
                  </a:lnTo>
                  <a:lnTo>
                    <a:pt x="1368290" y="73069"/>
                  </a:lnTo>
                  <a:lnTo>
                    <a:pt x="1342643" y="35042"/>
                  </a:lnTo>
                  <a:lnTo>
                    <a:pt x="1304615" y="9402"/>
                  </a:lnTo>
                  <a:lnTo>
                    <a:pt x="1258061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16723" y="5588507"/>
              <a:ext cx="1377950" cy="718185"/>
            </a:xfrm>
            <a:custGeom>
              <a:avLst/>
              <a:gdLst/>
              <a:ahLst/>
              <a:cxnLst/>
              <a:rect l="l" t="t" r="r" b="b"/>
              <a:pathLst>
                <a:path w="1377950" h="718185">
                  <a:moveTo>
                    <a:pt x="0" y="119633"/>
                  </a:moveTo>
                  <a:lnTo>
                    <a:pt x="9405" y="73069"/>
                  </a:lnTo>
                  <a:lnTo>
                    <a:pt x="35051" y="35042"/>
                  </a:lnTo>
                  <a:lnTo>
                    <a:pt x="73080" y="9402"/>
                  </a:lnTo>
                  <a:lnTo>
                    <a:pt x="119633" y="0"/>
                  </a:lnTo>
                  <a:lnTo>
                    <a:pt x="1258061" y="0"/>
                  </a:lnTo>
                  <a:lnTo>
                    <a:pt x="1304615" y="9402"/>
                  </a:lnTo>
                  <a:lnTo>
                    <a:pt x="1342643" y="35042"/>
                  </a:lnTo>
                  <a:lnTo>
                    <a:pt x="1368290" y="73069"/>
                  </a:lnTo>
                  <a:lnTo>
                    <a:pt x="1377696" y="119633"/>
                  </a:lnTo>
                  <a:lnTo>
                    <a:pt x="1377696" y="598169"/>
                  </a:lnTo>
                  <a:lnTo>
                    <a:pt x="1368290" y="644734"/>
                  </a:lnTo>
                  <a:lnTo>
                    <a:pt x="1342644" y="682761"/>
                  </a:lnTo>
                  <a:lnTo>
                    <a:pt x="1304615" y="708401"/>
                  </a:lnTo>
                  <a:lnTo>
                    <a:pt x="1258061" y="717803"/>
                  </a:lnTo>
                  <a:lnTo>
                    <a:pt x="119633" y="717803"/>
                  </a:lnTo>
                  <a:lnTo>
                    <a:pt x="73080" y="708401"/>
                  </a:lnTo>
                  <a:lnTo>
                    <a:pt x="35051" y="682761"/>
                  </a:lnTo>
                  <a:lnTo>
                    <a:pt x="9405" y="644734"/>
                  </a:lnTo>
                  <a:lnTo>
                    <a:pt x="0" y="598169"/>
                  </a:lnTo>
                  <a:lnTo>
                    <a:pt x="0" y="11963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617714" y="5817209"/>
            <a:ext cx="7778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P</a:t>
            </a:r>
            <a:r>
              <a:rPr sz="1400" spc="-25" dirty="0">
                <a:latin typeface="Calibri"/>
                <a:cs typeface="Calibri"/>
              </a:rPr>
              <a:t>r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10" dirty="0">
                <a:latin typeface="Calibri"/>
                <a:cs typeface="Calibri"/>
              </a:rPr>
              <a:t>d</a:t>
            </a:r>
            <a:r>
              <a:rPr sz="1400" dirty="0">
                <a:latin typeface="Calibri"/>
                <a:cs typeface="Calibri"/>
              </a:rPr>
              <a:t>i</a:t>
            </a:r>
            <a:r>
              <a:rPr sz="1400" spc="-5" dirty="0">
                <a:latin typeface="Calibri"/>
                <a:cs typeface="Calibri"/>
              </a:rPr>
              <a:t>c</a:t>
            </a:r>
            <a:r>
              <a:rPr sz="1400" spc="-10" dirty="0">
                <a:latin typeface="Calibri"/>
                <a:cs typeface="Calibri"/>
              </a:rPr>
              <a:t>c</a:t>
            </a:r>
            <a:r>
              <a:rPr sz="1400" dirty="0">
                <a:latin typeface="Calibri"/>
                <a:cs typeface="Calibri"/>
              </a:rPr>
              <a:t>ión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181556" y="3988227"/>
            <a:ext cx="1583690" cy="789940"/>
            <a:chOff x="5181556" y="3988227"/>
            <a:chExt cx="1583690" cy="78994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1556" y="3988227"/>
              <a:ext cx="1583522" cy="78958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219699" y="4006596"/>
              <a:ext cx="1511935" cy="718185"/>
            </a:xfrm>
            <a:custGeom>
              <a:avLst/>
              <a:gdLst/>
              <a:ahLst/>
              <a:cxnLst/>
              <a:rect l="l" t="t" r="r" b="b"/>
              <a:pathLst>
                <a:path w="1511934" h="718185">
                  <a:moveTo>
                    <a:pt x="1392174" y="0"/>
                  </a:moveTo>
                  <a:lnTo>
                    <a:pt x="119634" y="0"/>
                  </a:lnTo>
                  <a:lnTo>
                    <a:pt x="73080" y="9405"/>
                  </a:lnTo>
                  <a:lnTo>
                    <a:pt x="35052" y="35051"/>
                  </a:lnTo>
                  <a:lnTo>
                    <a:pt x="9405" y="73080"/>
                  </a:lnTo>
                  <a:lnTo>
                    <a:pt x="0" y="119633"/>
                  </a:lnTo>
                  <a:lnTo>
                    <a:pt x="0" y="598169"/>
                  </a:lnTo>
                  <a:lnTo>
                    <a:pt x="9405" y="644723"/>
                  </a:lnTo>
                  <a:lnTo>
                    <a:pt x="35052" y="682751"/>
                  </a:lnTo>
                  <a:lnTo>
                    <a:pt x="73080" y="708398"/>
                  </a:lnTo>
                  <a:lnTo>
                    <a:pt x="119634" y="717803"/>
                  </a:lnTo>
                  <a:lnTo>
                    <a:pt x="1392174" y="717803"/>
                  </a:lnTo>
                  <a:lnTo>
                    <a:pt x="1438727" y="708398"/>
                  </a:lnTo>
                  <a:lnTo>
                    <a:pt x="1476755" y="682751"/>
                  </a:lnTo>
                  <a:lnTo>
                    <a:pt x="1502402" y="644723"/>
                  </a:lnTo>
                  <a:lnTo>
                    <a:pt x="1511807" y="598169"/>
                  </a:lnTo>
                  <a:lnTo>
                    <a:pt x="1511807" y="119633"/>
                  </a:lnTo>
                  <a:lnTo>
                    <a:pt x="1502402" y="73080"/>
                  </a:lnTo>
                  <a:lnTo>
                    <a:pt x="1476755" y="35051"/>
                  </a:lnTo>
                  <a:lnTo>
                    <a:pt x="1438727" y="9405"/>
                  </a:lnTo>
                  <a:lnTo>
                    <a:pt x="1392174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19699" y="4006596"/>
              <a:ext cx="1511935" cy="718185"/>
            </a:xfrm>
            <a:custGeom>
              <a:avLst/>
              <a:gdLst/>
              <a:ahLst/>
              <a:cxnLst/>
              <a:rect l="l" t="t" r="r" b="b"/>
              <a:pathLst>
                <a:path w="1511934" h="718185">
                  <a:moveTo>
                    <a:pt x="0" y="119633"/>
                  </a:moveTo>
                  <a:lnTo>
                    <a:pt x="9405" y="73080"/>
                  </a:lnTo>
                  <a:lnTo>
                    <a:pt x="35052" y="35051"/>
                  </a:lnTo>
                  <a:lnTo>
                    <a:pt x="73080" y="9405"/>
                  </a:lnTo>
                  <a:lnTo>
                    <a:pt x="119634" y="0"/>
                  </a:lnTo>
                  <a:lnTo>
                    <a:pt x="1392174" y="0"/>
                  </a:lnTo>
                  <a:lnTo>
                    <a:pt x="1438727" y="9405"/>
                  </a:lnTo>
                  <a:lnTo>
                    <a:pt x="1476755" y="35051"/>
                  </a:lnTo>
                  <a:lnTo>
                    <a:pt x="1502402" y="73080"/>
                  </a:lnTo>
                  <a:lnTo>
                    <a:pt x="1511807" y="119633"/>
                  </a:lnTo>
                  <a:lnTo>
                    <a:pt x="1511807" y="598169"/>
                  </a:lnTo>
                  <a:lnTo>
                    <a:pt x="1502402" y="644723"/>
                  </a:lnTo>
                  <a:lnTo>
                    <a:pt x="1476755" y="682751"/>
                  </a:lnTo>
                  <a:lnTo>
                    <a:pt x="1438727" y="708398"/>
                  </a:lnTo>
                  <a:lnTo>
                    <a:pt x="1392174" y="717803"/>
                  </a:lnTo>
                  <a:lnTo>
                    <a:pt x="119634" y="717803"/>
                  </a:lnTo>
                  <a:lnTo>
                    <a:pt x="73080" y="708398"/>
                  </a:lnTo>
                  <a:lnTo>
                    <a:pt x="35052" y="682751"/>
                  </a:lnTo>
                  <a:lnTo>
                    <a:pt x="9405" y="644723"/>
                  </a:lnTo>
                  <a:lnTo>
                    <a:pt x="0" y="598169"/>
                  </a:lnTo>
                  <a:lnTo>
                    <a:pt x="0" y="11963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424932" y="4234941"/>
            <a:ext cx="11049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Entrenamiento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022055" y="3988227"/>
            <a:ext cx="1511935" cy="789940"/>
            <a:chOff x="3022055" y="3988227"/>
            <a:chExt cx="1511935" cy="78994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22055" y="3988227"/>
              <a:ext cx="1511880" cy="78958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74491" y="4076674"/>
              <a:ext cx="1245120" cy="66753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060191" y="4006596"/>
              <a:ext cx="1440180" cy="718185"/>
            </a:xfrm>
            <a:custGeom>
              <a:avLst/>
              <a:gdLst/>
              <a:ahLst/>
              <a:cxnLst/>
              <a:rect l="l" t="t" r="r" b="b"/>
              <a:pathLst>
                <a:path w="1440179" h="718185">
                  <a:moveTo>
                    <a:pt x="1320545" y="0"/>
                  </a:moveTo>
                  <a:lnTo>
                    <a:pt x="119633" y="0"/>
                  </a:lnTo>
                  <a:lnTo>
                    <a:pt x="73080" y="9405"/>
                  </a:lnTo>
                  <a:lnTo>
                    <a:pt x="35051" y="35051"/>
                  </a:lnTo>
                  <a:lnTo>
                    <a:pt x="9405" y="73080"/>
                  </a:lnTo>
                  <a:lnTo>
                    <a:pt x="0" y="119633"/>
                  </a:lnTo>
                  <a:lnTo>
                    <a:pt x="0" y="598169"/>
                  </a:lnTo>
                  <a:lnTo>
                    <a:pt x="9405" y="644723"/>
                  </a:lnTo>
                  <a:lnTo>
                    <a:pt x="35051" y="682751"/>
                  </a:lnTo>
                  <a:lnTo>
                    <a:pt x="73080" y="708398"/>
                  </a:lnTo>
                  <a:lnTo>
                    <a:pt x="119633" y="717803"/>
                  </a:lnTo>
                  <a:lnTo>
                    <a:pt x="1320545" y="717803"/>
                  </a:lnTo>
                  <a:lnTo>
                    <a:pt x="1367099" y="708398"/>
                  </a:lnTo>
                  <a:lnTo>
                    <a:pt x="1405127" y="682751"/>
                  </a:lnTo>
                  <a:lnTo>
                    <a:pt x="1430774" y="644723"/>
                  </a:lnTo>
                  <a:lnTo>
                    <a:pt x="1440180" y="598169"/>
                  </a:lnTo>
                  <a:lnTo>
                    <a:pt x="1440180" y="119633"/>
                  </a:lnTo>
                  <a:lnTo>
                    <a:pt x="1430774" y="73080"/>
                  </a:lnTo>
                  <a:lnTo>
                    <a:pt x="1405127" y="35051"/>
                  </a:lnTo>
                  <a:lnTo>
                    <a:pt x="1367099" y="9405"/>
                  </a:lnTo>
                  <a:lnTo>
                    <a:pt x="1320545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60191" y="4006596"/>
              <a:ext cx="1440180" cy="718185"/>
            </a:xfrm>
            <a:custGeom>
              <a:avLst/>
              <a:gdLst/>
              <a:ahLst/>
              <a:cxnLst/>
              <a:rect l="l" t="t" r="r" b="b"/>
              <a:pathLst>
                <a:path w="1440179" h="718185">
                  <a:moveTo>
                    <a:pt x="0" y="119633"/>
                  </a:moveTo>
                  <a:lnTo>
                    <a:pt x="9405" y="73080"/>
                  </a:lnTo>
                  <a:lnTo>
                    <a:pt x="35051" y="35051"/>
                  </a:lnTo>
                  <a:lnTo>
                    <a:pt x="73080" y="9405"/>
                  </a:lnTo>
                  <a:lnTo>
                    <a:pt x="119633" y="0"/>
                  </a:lnTo>
                  <a:lnTo>
                    <a:pt x="1320545" y="0"/>
                  </a:lnTo>
                  <a:lnTo>
                    <a:pt x="1367099" y="9405"/>
                  </a:lnTo>
                  <a:lnTo>
                    <a:pt x="1405127" y="35051"/>
                  </a:lnTo>
                  <a:lnTo>
                    <a:pt x="1430774" y="73080"/>
                  </a:lnTo>
                  <a:lnTo>
                    <a:pt x="1440180" y="119633"/>
                  </a:lnTo>
                  <a:lnTo>
                    <a:pt x="1440180" y="598169"/>
                  </a:lnTo>
                  <a:lnTo>
                    <a:pt x="1430774" y="644723"/>
                  </a:lnTo>
                  <a:lnTo>
                    <a:pt x="1405127" y="682751"/>
                  </a:lnTo>
                  <a:lnTo>
                    <a:pt x="1367099" y="708398"/>
                  </a:lnTo>
                  <a:lnTo>
                    <a:pt x="1320545" y="717803"/>
                  </a:lnTo>
                  <a:lnTo>
                    <a:pt x="119633" y="717803"/>
                  </a:lnTo>
                  <a:lnTo>
                    <a:pt x="73080" y="708398"/>
                  </a:lnTo>
                  <a:lnTo>
                    <a:pt x="35051" y="682751"/>
                  </a:lnTo>
                  <a:lnTo>
                    <a:pt x="9405" y="644723"/>
                  </a:lnTo>
                  <a:lnTo>
                    <a:pt x="0" y="598169"/>
                  </a:lnTo>
                  <a:lnTo>
                    <a:pt x="0" y="11963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312033" y="4128261"/>
            <a:ext cx="9353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 marR="5080" indent="-9525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Detectores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 </a:t>
            </a:r>
            <a:r>
              <a:rPr sz="1400" spc="-30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</a:t>
            </a:r>
            <a:r>
              <a:rPr sz="1400" dirty="0">
                <a:latin typeface="Calibri"/>
                <a:cs typeface="Calibri"/>
              </a:rPr>
              <a:t>es</a:t>
            </a:r>
            <a:r>
              <a:rPr sz="1400" spc="-5" dirty="0">
                <a:latin typeface="Calibri"/>
                <a:cs typeface="Calibri"/>
              </a:rPr>
              <a:t>c</a:t>
            </a:r>
            <a:r>
              <a:rPr sz="1400" dirty="0">
                <a:latin typeface="Calibri"/>
                <a:cs typeface="Calibri"/>
              </a:rPr>
              <a:t>rip</a:t>
            </a:r>
            <a:r>
              <a:rPr sz="1400" spc="-20" dirty="0">
                <a:latin typeface="Calibri"/>
                <a:cs typeface="Calibri"/>
              </a:rPr>
              <a:t>t</a:t>
            </a:r>
            <a:r>
              <a:rPr sz="1400" spc="-5" dirty="0">
                <a:latin typeface="Calibri"/>
                <a:cs typeface="Calibri"/>
              </a:rPr>
              <a:t>o</a:t>
            </a:r>
            <a:r>
              <a:rPr sz="1400" spc="-20" dirty="0">
                <a:latin typeface="Calibri"/>
                <a:cs typeface="Calibri"/>
              </a:rPr>
              <a:t>r</a:t>
            </a:r>
            <a:r>
              <a:rPr sz="1400" dirty="0">
                <a:latin typeface="Calibri"/>
                <a:cs typeface="Calibri"/>
              </a:rPr>
              <a:t>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038315" y="5570151"/>
            <a:ext cx="1449705" cy="789940"/>
            <a:chOff x="5038315" y="5570151"/>
            <a:chExt cx="1449705" cy="78994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8315" y="5570151"/>
              <a:ext cx="1449380" cy="78958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60264" y="5658611"/>
              <a:ext cx="1245120" cy="66753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076444" y="5588507"/>
              <a:ext cx="1377950" cy="718185"/>
            </a:xfrm>
            <a:custGeom>
              <a:avLst/>
              <a:gdLst/>
              <a:ahLst/>
              <a:cxnLst/>
              <a:rect l="l" t="t" r="r" b="b"/>
              <a:pathLst>
                <a:path w="1377950" h="718185">
                  <a:moveTo>
                    <a:pt x="1258061" y="0"/>
                  </a:moveTo>
                  <a:lnTo>
                    <a:pt x="119633" y="0"/>
                  </a:lnTo>
                  <a:lnTo>
                    <a:pt x="73080" y="9402"/>
                  </a:lnTo>
                  <a:lnTo>
                    <a:pt x="35051" y="35042"/>
                  </a:lnTo>
                  <a:lnTo>
                    <a:pt x="9405" y="73069"/>
                  </a:lnTo>
                  <a:lnTo>
                    <a:pt x="0" y="119633"/>
                  </a:lnTo>
                  <a:lnTo>
                    <a:pt x="0" y="598169"/>
                  </a:lnTo>
                  <a:lnTo>
                    <a:pt x="9405" y="644734"/>
                  </a:lnTo>
                  <a:lnTo>
                    <a:pt x="35051" y="682761"/>
                  </a:lnTo>
                  <a:lnTo>
                    <a:pt x="73080" y="708401"/>
                  </a:lnTo>
                  <a:lnTo>
                    <a:pt x="119633" y="717803"/>
                  </a:lnTo>
                  <a:lnTo>
                    <a:pt x="1258061" y="717803"/>
                  </a:lnTo>
                  <a:lnTo>
                    <a:pt x="1304615" y="708401"/>
                  </a:lnTo>
                  <a:lnTo>
                    <a:pt x="1342643" y="682761"/>
                  </a:lnTo>
                  <a:lnTo>
                    <a:pt x="1368290" y="644734"/>
                  </a:lnTo>
                  <a:lnTo>
                    <a:pt x="1377695" y="598169"/>
                  </a:lnTo>
                  <a:lnTo>
                    <a:pt x="1377695" y="119633"/>
                  </a:lnTo>
                  <a:lnTo>
                    <a:pt x="1368290" y="73069"/>
                  </a:lnTo>
                  <a:lnTo>
                    <a:pt x="1342643" y="35042"/>
                  </a:lnTo>
                  <a:lnTo>
                    <a:pt x="1304615" y="9402"/>
                  </a:lnTo>
                  <a:lnTo>
                    <a:pt x="1258061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076444" y="5588507"/>
              <a:ext cx="1377950" cy="718185"/>
            </a:xfrm>
            <a:custGeom>
              <a:avLst/>
              <a:gdLst/>
              <a:ahLst/>
              <a:cxnLst/>
              <a:rect l="l" t="t" r="r" b="b"/>
              <a:pathLst>
                <a:path w="1377950" h="718185">
                  <a:moveTo>
                    <a:pt x="0" y="119633"/>
                  </a:moveTo>
                  <a:lnTo>
                    <a:pt x="9405" y="73069"/>
                  </a:lnTo>
                  <a:lnTo>
                    <a:pt x="35051" y="35042"/>
                  </a:lnTo>
                  <a:lnTo>
                    <a:pt x="73080" y="9402"/>
                  </a:lnTo>
                  <a:lnTo>
                    <a:pt x="119633" y="0"/>
                  </a:lnTo>
                  <a:lnTo>
                    <a:pt x="1258061" y="0"/>
                  </a:lnTo>
                  <a:lnTo>
                    <a:pt x="1304615" y="9402"/>
                  </a:lnTo>
                  <a:lnTo>
                    <a:pt x="1342643" y="35042"/>
                  </a:lnTo>
                  <a:lnTo>
                    <a:pt x="1368290" y="73069"/>
                  </a:lnTo>
                  <a:lnTo>
                    <a:pt x="1377695" y="119633"/>
                  </a:lnTo>
                  <a:lnTo>
                    <a:pt x="1377695" y="598169"/>
                  </a:lnTo>
                  <a:lnTo>
                    <a:pt x="1368290" y="644734"/>
                  </a:lnTo>
                  <a:lnTo>
                    <a:pt x="1342643" y="682761"/>
                  </a:lnTo>
                  <a:lnTo>
                    <a:pt x="1304615" y="708401"/>
                  </a:lnTo>
                  <a:lnTo>
                    <a:pt x="1258061" y="717803"/>
                  </a:lnTo>
                  <a:lnTo>
                    <a:pt x="119633" y="717803"/>
                  </a:lnTo>
                  <a:lnTo>
                    <a:pt x="73080" y="708401"/>
                  </a:lnTo>
                  <a:lnTo>
                    <a:pt x="35051" y="682761"/>
                  </a:lnTo>
                  <a:lnTo>
                    <a:pt x="9405" y="644734"/>
                  </a:lnTo>
                  <a:lnTo>
                    <a:pt x="0" y="598169"/>
                  </a:lnTo>
                  <a:lnTo>
                    <a:pt x="0" y="11963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298185" y="5710529"/>
            <a:ext cx="9353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 marR="5080" indent="-9525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Detectores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 </a:t>
            </a:r>
            <a:r>
              <a:rPr sz="1400" spc="-30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</a:t>
            </a:r>
            <a:r>
              <a:rPr sz="1400" dirty="0">
                <a:latin typeface="Calibri"/>
                <a:cs typeface="Calibri"/>
              </a:rPr>
              <a:t>es</a:t>
            </a:r>
            <a:r>
              <a:rPr sz="1400" spc="-5" dirty="0">
                <a:latin typeface="Calibri"/>
                <a:cs typeface="Calibri"/>
              </a:rPr>
              <a:t>c</a:t>
            </a:r>
            <a:r>
              <a:rPr sz="1400" dirty="0">
                <a:latin typeface="Calibri"/>
                <a:cs typeface="Calibri"/>
              </a:rPr>
              <a:t>rip</a:t>
            </a:r>
            <a:r>
              <a:rPr sz="1400" spc="-20" dirty="0">
                <a:latin typeface="Calibri"/>
                <a:cs typeface="Calibri"/>
              </a:rPr>
              <a:t>t</a:t>
            </a:r>
            <a:r>
              <a:rPr sz="1400" spc="-5" dirty="0">
                <a:latin typeface="Calibri"/>
                <a:cs typeface="Calibri"/>
              </a:rPr>
              <a:t>o</a:t>
            </a:r>
            <a:r>
              <a:rPr sz="1400" spc="-20" dirty="0">
                <a:latin typeface="Calibri"/>
                <a:cs typeface="Calibri"/>
              </a:rPr>
              <a:t>r</a:t>
            </a:r>
            <a:r>
              <a:rPr sz="1400" dirty="0">
                <a:latin typeface="Calibri"/>
                <a:cs typeface="Calibri"/>
              </a:rPr>
              <a:t>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223724" y="3988227"/>
            <a:ext cx="1557655" cy="789940"/>
            <a:chOff x="7223724" y="3988227"/>
            <a:chExt cx="1557655" cy="789940"/>
          </a:xfrm>
        </p:grpSpPr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23724" y="3988227"/>
              <a:ext cx="1557598" cy="78958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37120" y="4076674"/>
              <a:ext cx="1170444" cy="66753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261860" y="4006596"/>
              <a:ext cx="1485900" cy="718185"/>
            </a:xfrm>
            <a:custGeom>
              <a:avLst/>
              <a:gdLst/>
              <a:ahLst/>
              <a:cxnLst/>
              <a:rect l="l" t="t" r="r" b="b"/>
              <a:pathLst>
                <a:path w="1485900" h="718185">
                  <a:moveTo>
                    <a:pt x="1366266" y="0"/>
                  </a:moveTo>
                  <a:lnTo>
                    <a:pt x="119634" y="0"/>
                  </a:lnTo>
                  <a:lnTo>
                    <a:pt x="73080" y="9405"/>
                  </a:lnTo>
                  <a:lnTo>
                    <a:pt x="35051" y="35051"/>
                  </a:lnTo>
                  <a:lnTo>
                    <a:pt x="9405" y="73080"/>
                  </a:lnTo>
                  <a:lnTo>
                    <a:pt x="0" y="119633"/>
                  </a:lnTo>
                  <a:lnTo>
                    <a:pt x="0" y="598169"/>
                  </a:lnTo>
                  <a:lnTo>
                    <a:pt x="9405" y="644723"/>
                  </a:lnTo>
                  <a:lnTo>
                    <a:pt x="35052" y="682751"/>
                  </a:lnTo>
                  <a:lnTo>
                    <a:pt x="73080" y="708398"/>
                  </a:lnTo>
                  <a:lnTo>
                    <a:pt x="119634" y="717803"/>
                  </a:lnTo>
                  <a:lnTo>
                    <a:pt x="1366266" y="717803"/>
                  </a:lnTo>
                  <a:lnTo>
                    <a:pt x="1412819" y="708398"/>
                  </a:lnTo>
                  <a:lnTo>
                    <a:pt x="1450848" y="682751"/>
                  </a:lnTo>
                  <a:lnTo>
                    <a:pt x="1476494" y="644723"/>
                  </a:lnTo>
                  <a:lnTo>
                    <a:pt x="1485900" y="598169"/>
                  </a:lnTo>
                  <a:lnTo>
                    <a:pt x="1485900" y="119633"/>
                  </a:lnTo>
                  <a:lnTo>
                    <a:pt x="1476494" y="73080"/>
                  </a:lnTo>
                  <a:lnTo>
                    <a:pt x="1450848" y="35051"/>
                  </a:lnTo>
                  <a:lnTo>
                    <a:pt x="1412819" y="9405"/>
                  </a:lnTo>
                  <a:lnTo>
                    <a:pt x="1366266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61860" y="4006596"/>
              <a:ext cx="1485900" cy="718185"/>
            </a:xfrm>
            <a:custGeom>
              <a:avLst/>
              <a:gdLst/>
              <a:ahLst/>
              <a:cxnLst/>
              <a:rect l="l" t="t" r="r" b="b"/>
              <a:pathLst>
                <a:path w="1485900" h="718185">
                  <a:moveTo>
                    <a:pt x="0" y="119633"/>
                  </a:moveTo>
                  <a:lnTo>
                    <a:pt x="9405" y="73080"/>
                  </a:lnTo>
                  <a:lnTo>
                    <a:pt x="35051" y="35051"/>
                  </a:lnTo>
                  <a:lnTo>
                    <a:pt x="73080" y="9405"/>
                  </a:lnTo>
                  <a:lnTo>
                    <a:pt x="119634" y="0"/>
                  </a:lnTo>
                  <a:lnTo>
                    <a:pt x="1366266" y="0"/>
                  </a:lnTo>
                  <a:lnTo>
                    <a:pt x="1412819" y="9405"/>
                  </a:lnTo>
                  <a:lnTo>
                    <a:pt x="1450848" y="35051"/>
                  </a:lnTo>
                  <a:lnTo>
                    <a:pt x="1476494" y="73080"/>
                  </a:lnTo>
                  <a:lnTo>
                    <a:pt x="1485900" y="119633"/>
                  </a:lnTo>
                  <a:lnTo>
                    <a:pt x="1485900" y="598169"/>
                  </a:lnTo>
                  <a:lnTo>
                    <a:pt x="1476494" y="644723"/>
                  </a:lnTo>
                  <a:lnTo>
                    <a:pt x="1450848" y="682751"/>
                  </a:lnTo>
                  <a:lnTo>
                    <a:pt x="1412819" y="708398"/>
                  </a:lnTo>
                  <a:lnTo>
                    <a:pt x="1366266" y="717803"/>
                  </a:lnTo>
                  <a:lnTo>
                    <a:pt x="119634" y="717803"/>
                  </a:lnTo>
                  <a:lnTo>
                    <a:pt x="73080" y="708398"/>
                  </a:lnTo>
                  <a:lnTo>
                    <a:pt x="35052" y="682751"/>
                  </a:lnTo>
                  <a:lnTo>
                    <a:pt x="9405" y="644723"/>
                  </a:lnTo>
                  <a:lnTo>
                    <a:pt x="0" y="598169"/>
                  </a:lnTo>
                  <a:lnTo>
                    <a:pt x="0" y="11963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574406" y="4128261"/>
            <a:ext cx="8610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244" marR="5080" indent="-4318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</a:t>
            </a:r>
            <a:r>
              <a:rPr sz="1400" dirty="0">
                <a:latin typeface="Calibri"/>
                <a:cs typeface="Calibri"/>
              </a:rPr>
              <a:t>lasi</a:t>
            </a:r>
            <a:r>
              <a:rPr sz="1400" spc="-5" dirty="0">
                <a:latin typeface="Calibri"/>
                <a:cs typeface="Calibri"/>
              </a:rPr>
              <a:t>f</a:t>
            </a:r>
            <a:r>
              <a:rPr sz="1400" dirty="0">
                <a:latin typeface="Calibri"/>
                <a:cs typeface="Calibri"/>
              </a:rPr>
              <a:t>i</a:t>
            </a:r>
            <a:r>
              <a:rPr sz="1400" spc="-20" dirty="0">
                <a:latin typeface="Calibri"/>
                <a:cs typeface="Calibri"/>
              </a:rPr>
              <a:t>c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10" dirty="0">
                <a:latin typeface="Calibri"/>
                <a:cs typeface="Calibri"/>
              </a:rPr>
              <a:t>d</a:t>
            </a:r>
            <a:r>
              <a:rPr sz="1400" spc="-5" dirty="0">
                <a:latin typeface="Calibri"/>
                <a:cs typeface="Calibri"/>
              </a:rPr>
              <a:t>or  </a:t>
            </a:r>
            <a:r>
              <a:rPr sz="1400" spc="-10" dirty="0">
                <a:latin typeface="Calibri"/>
                <a:cs typeface="Calibri"/>
              </a:rPr>
              <a:t>entrenado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08053" y="3602718"/>
            <a:ext cx="7512050" cy="2717800"/>
            <a:chOff x="608053" y="3602718"/>
            <a:chExt cx="7512050" cy="2717800"/>
          </a:xfrm>
        </p:grpSpPr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8053" y="3602718"/>
              <a:ext cx="1842560" cy="157889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0747" y="3625595"/>
              <a:ext cx="1761744" cy="149809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46175" y="3621023"/>
              <a:ext cx="1771014" cy="1507490"/>
            </a:xfrm>
            <a:custGeom>
              <a:avLst/>
              <a:gdLst/>
              <a:ahLst/>
              <a:cxnLst/>
              <a:rect l="l" t="t" r="r" b="b"/>
              <a:pathLst>
                <a:path w="1771014" h="1507489">
                  <a:moveTo>
                    <a:pt x="0" y="1507236"/>
                  </a:moveTo>
                  <a:lnTo>
                    <a:pt x="1770888" y="1507236"/>
                  </a:lnTo>
                  <a:lnTo>
                    <a:pt x="1770888" y="0"/>
                  </a:lnTo>
                  <a:lnTo>
                    <a:pt x="0" y="0"/>
                  </a:lnTo>
                  <a:lnTo>
                    <a:pt x="0" y="1507236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13203" y="4267199"/>
              <a:ext cx="1162824" cy="23317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055875" y="4328159"/>
              <a:ext cx="1005205" cy="76200"/>
            </a:xfrm>
            <a:custGeom>
              <a:avLst/>
              <a:gdLst/>
              <a:ahLst/>
              <a:cxnLst/>
              <a:rect l="l" t="t" r="r" b="b"/>
              <a:pathLst>
                <a:path w="1005205" h="76200">
                  <a:moveTo>
                    <a:pt x="928497" y="0"/>
                  </a:moveTo>
                  <a:lnTo>
                    <a:pt x="928497" y="76200"/>
                  </a:lnTo>
                  <a:lnTo>
                    <a:pt x="991997" y="44450"/>
                  </a:lnTo>
                  <a:lnTo>
                    <a:pt x="941197" y="44450"/>
                  </a:lnTo>
                  <a:lnTo>
                    <a:pt x="941197" y="31750"/>
                  </a:lnTo>
                  <a:lnTo>
                    <a:pt x="991997" y="31750"/>
                  </a:lnTo>
                  <a:lnTo>
                    <a:pt x="928497" y="0"/>
                  </a:lnTo>
                  <a:close/>
                </a:path>
                <a:path w="1005205" h="76200">
                  <a:moveTo>
                    <a:pt x="928497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928497" y="44450"/>
                  </a:lnTo>
                  <a:lnTo>
                    <a:pt x="928497" y="31750"/>
                  </a:lnTo>
                  <a:close/>
                </a:path>
                <a:path w="1005205" h="76200">
                  <a:moveTo>
                    <a:pt x="991997" y="31750"/>
                  </a:moveTo>
                  <a:lnTo>
                    <a:pt x="941197" y="31750"/>
                  </a:lnTo>
                  <a:lnTo>
                    <a:pt x="941197" y="44450"/>
                  </a:lnTo>
                  <a:lnTo>
                    <a:pt x="991997" y="44450"/>
                  </a:lnTo>
                  <a:lnTo>
                    <a:pt x="1004697" y="38100"/>
                  </a:lnTo>
                  <a:lnTo>
                    <a:pt x="991997" y="3175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57700" y="4267199"/>
              <a:ext cx="877849" cy="23317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500371" y="4328159"/>
              <a:ext cx="720090" cy="76200"/>
            </a:xfrm>
            <a:custGeom>
              <a:avLst/>
              <a:gdLst/>
              <a:ahLst/>
              <a:cxnLst/>
              <a:rect l="l" t="t" r="r" b="b"/>
              <a:pathLst>
                <a:path w="720089" h="76200">
                  <a:moveTo>
                    <a:pt x="643889" y="0"/>
                  </a:moveTo>
                  <a:lnTo>
                    <a:pt x="643889" y="76200"/>
                  </a:lnTo>
                  <a:lnTo>
                    <a:pt x="707389" y="44450"/>
                  </a:lnTo>
                  <a:lnTo>
                    <a:pt x="656589" y="44450"/>
                  </a:lnTo>
                  <a:lnTo>
                    <a:pt x="656589" y="31750"/>
                  </a:lnTo>
                  <a:lnTo>
                    <a:pt x="707389" y="31750"/>
                  </a:lnTo>
                  <a:lnTo>
                    <a:pt x="643889" y="0"/>
                  </a:lnTo>
                  <a:close/>
                </a:path>
                <a:path w="720089" h="76200">
                  <a:moveTo>
                    <a:pt x="643889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643889" y="44450"/>
                  </a:lnTo>
                  <a:lnTo>
                    <a:pt x="643889" y="31750"/>
                  </a:lnTo>
                  <a:close/>
                </a:path>
                <a:path w="720089" h="76200">
                  <a:moveTo>
                    <a:pt x="707389" y="31750"/>
                  </a:moveTo>
                  <a:lnTo>
                    <a:pt x="656589" y="31750"/>
                  </a:lnTo>
                  <a:lnTo>
                    <a:pt x="656589" y="44450"/>
                  </a:lnTo>
                  <a:lnTo>
                    <a:pt x="707389" y="44450"/>
                  </a:lnTo>
                  <a:lnTo>
                    <a:pt x="720089" y="38100"/>
                  </a:lnTo>
                  <a:lnTo>
                    <a:pt x="707389" y="3175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88835" y="4267199"/>
              <a:ext cx="687349" cy="23317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731508" y="4328159"/>
              <a:ext cx="530225" cy="76200"/>
            </a:xfrm>
            <a:custGeom>
              <a:avLst/>
              <a:gdLst/>
              <a:ahLst/>
              <a:cxnLst/>
              <a:rect l="l" t="t" r="r" b="b"/>
              <a:pathLst>
                <a:path w="530225" h="76200">
                  <a:moveTo>
                    <a:pt x="453517" y="0"/>
                  </a:moveTo>
                  <a:lnTo>
                    <a:pt x="453517" y="76200"/>
                  </a:lnTo>
                  <a:lnTo>
                    <a:pt x="517017" y="44450"/>
                  </a:lnTo>
                  <a:lnTo>
                    <a:pt x="466217" y="44450"/>
                  </a:lnTo>
                  <a:lnTo>
                    <a:pt x="466217" y="31750"/>
                  </a:lnTo>
                  <a:lnTo>
                    <a:pt x="517017" y="31750"/>
                  </a:lnTo>
                  <a:lnTo>
                    <a:pt x="453517" y="0"/>
                  </a:lnTo>
                  <a:close/>
                </a:path>
                <a:path w="530225" h="76200">
                  <a:moveTo>
                    <a:pt x="453517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453517" y="44450"/>
                  </a:lnTo>
                  <a:lnTo>
                    <a:pt x="453517" y="31750"/>
                  </a:lnTo>
                  <a:close/>
                </a:path>
                <a:path w="530225" h="76200">
                  <a:moveTo>
                    <a:pt x="517017" y="31750"/>
                  </a:moveTo>
                  <a:lnTo>
                    <a:pt x="466217" y="31750"/>
                  </a:lnTo>
                  <a:lnTo>
                    <a:pt x="466217" y="44450"/>
                  </a:lnTo>
                  <a:lnTo>
                    <a:pt x="517017" y="44450"/>
                  </a:lnTo>
                  <a:lnTo>
                    <a:pt x="529717" y="38100"/>
                  </a:lnTo>
                  <a:lnTo>
                    <a:pt x="517017" y="3175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06896" y="4625339"/>
              <a:ext cx="1231379" cy="1383792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449314" y="4724399"/>
              <a:ext cx="1075055" cy="1226820"/>
            </a:xfrm>
            <a:custGeom>
              <a:avLst/>
              <a:gdLst/>
              <a:ahLst/>
              <a:cxnLst/>
              <a:rect l="l" t="t" r="r" b="b"/>
              <a:pathLst>
                <a:path w="1075054" h="1226820">
                  <a:moveTo>
                    <a:pt x="1019816" y="53128"/>
                  </a:moveTo>
                  <a:lnTo>
                    <a:pt x="0" y="1218031"/>
                  </a:lnTo>
                  <a:lnTo>
                    <a:pt x="9651" y="1226388"/>
                  </a:lnTo>
                  <a:lnTo>
                    <a:pt x="1029370" y="61477"/>
                  </a:lnTo>
                  <a:lnTo>
                    <a:pt x="1019816" y="53128"/>
                  </a:lnTo>
                  <a:close/>
                </a:path>
                <a:path w="1075054" h="1226820">
                  <a:moveTo>
                    <a:pt x="1063457" y="43561"/>
                  </a:moveTo>
                  <a:lnTo>
                    <a:pt x="1028191" y="43561"/>
                  </a:lnTo>
                  <a:lnTo>
                    <a:pt x="1037716" y="51943"/>
                  </a:lnTo>
                  <a:lnTo>
                    <a:pt x="1029370" y="61477"/>
                  </a:lnTo>
                  <a:lnTo>
                    <a:pt x="1053338" y="82423"/>
                  </a:lnTo>
                  <a:lnTo>
                    <a:pt x="1063457" y="43561"/>
                  </a:lnTo>
                  <a:close/>
                </a:path>
                <a:path w="1075054" h="1226820">
                  <a:moveTo>
                    <a:pt x="1028191" y="43561"/>
                  </a:moveTo>
                  <a:lnTo>
                    <a:pt x="1019816" y="53128"/>
                  </a:lnTo>
                  <a:lnTo>
                    <a:pt x="1029370" y="61477"/>
                  </a:lnTo>
                  <a:lnTo>
                    <a:pt x="1037716" y="51943"/>
                  </a:lnTo>
                  <a:lnTo>
                    <a:pt x="1028191" y="43561"/>
                  </a:lnTo>
                  <a:close/>
                </a:path>
                <a:path w="1075054" h="1226820">
                  <a:moveTo>
                    <a:pt x="1074801" y="0"/>
                  </a:moveTo>
                  <a:lnTo>
                    <a:pt x="995934" y="32257"/>
                  </a:lnTo>
                  <a:lnTo>
                    <a:pt x="1019816" y="53128"/>
                  </a:lnTo>
                  <a:lnTo>
                    <a:pt x="1028191" y="43561"/>
                  </a:lnTo>
                  <a:lnTo>
                    <a:pt x="1063457" y="43561"/>
                  </a:lnTo>
                  <a:lnTo>
                    <a:pt x="1074801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11841" y="5609805"/>
              <a:ext cx="710247" cy="71024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54551" y="5632703"/>
              <a:ext cx="629412" cy="629412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649979" y="5628131"/>
              <a:ext cx="638810" cy="638810"/>
            </a:xfrm>
            <a:custGeom>
              <a:avLst/>
              <a:gdLst/>
              <a:ahLst/>
              <a:cxnLst/>
              <a:rect l="l" t="t" r="r" b="b"/>
              <a:pathLst>
                <a:path w="638810" h="638810">
                  <a:moveTo>
                    <a:pt x="0" y="638556"/>
                  </a:moveTo>
                  <a:lnTo>
                    <a:pt x="638555" y="638556"/>
                  </a:lnTo>
                  <a:lnTo>
                    <a:pt x="638555" y="0"/>
                  </a:lnTo>
                  <a:lnTo>
                    <a:pt x="0" y="0"/>
                  </a:lnTo>
                  <a:lnTo>
                    <a:pt x="0" y="638556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41291" y="5847587"/>
              <a:ext cx="949439" cy="233172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283964" y="5908547"/>
              <a:ext cx="792480" cy="76200"/>
            </a:xfrm>
            <a:custGeom>
              <a:avLst/>
              <a:gdLst/>
              <a:ahLst/>
              <a:cxnLst/>
              <a:rect l="l" t="t" r="r" b="b"/>
              <a:pathLst>
                <a:path w="792479" h="76200">
                  <a:moveTo>
                    <a:pt x="715899" y="0"/>
                  </a:moveTo>
                  <a:lnTo>
                    <a:pt x="715899" y="76199"/>
                  </a:lnTo>
                  <a:lnTo>
                    <a:pt x="779399" y="44449"/>
                  </a:lnTo>
                  <a:lnTo>
                    <a:pt x="728599" y="44449"/>
                  </a:lnTo>
                  <a:lnTo>
                    <a:pt x="728599" y="31749"/>
                  </a:lnTo>
                  <a:lnTo>
                    <a:pt x="779399" y="31749"/>
                  </a:lnTo>
                  <a:lnTo>
                    <a:pt x="715899" y="0"/>
                  </a:lnTo>
                  <a:close/>
                </a:path>
                <a:path w="792479" h="76200">
                  <a:moveTo>
                    <a:pt x="715899" y="31749"/>
                  </a:moveTo>
                  <a:lnTo>
                    <a:pt x="0" y="31749"/>
                  </a:lnTo>
                  <a:lnTo>
                    <a:pt x="0" y="44449"/>
                  </a:lnTo>
                  <a:lnTo>
                    <a:pt x="715899" y="44449"/>
                  </a:lnTo>
                  <a:lnTo>
                    <a:pt x="715899" y="31749"/>
                  </a:lnTo>
                  <a:close/>
                </a:path>
                <a:path w="792479" h="76200">
                  <a:moveTo>
                    <a:pt x="779399" y="31749"/>
                  </a:moveTo>
                  <a:lnTo>
                    <a:pt x="728599" y="31749"/>
                  </a:lnTo>
                  <a:lnTo>
                    <a:pt x="728599" y="44449"/>
                  </a:lnTo>
                  <a:lnTo>
                    <a:pt x="779399" y="44449"/>
                  </a:lnTo>
                  <a:lnTo>
                    <a:pt x="792099" y="38099"/>
                  </a:lnTo>
                  <a:lnTo>
                    <a:pt x="779399" y="31749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886700" y="4701539"/>
              <a:ext cx="233172" cy="101955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967471" y="4724399"/>
              <a:ext cx="76200" cy="862965"/>
            </a:xfrm>
            <a:custGeom>
              <a:avLst/>
              <a:gdLst/>
              <a:ahLst/>
              <a:cxnLst/>
              <a:rect l="l" t="t" r="r" b="b"/>
              <a:pathLst>
                <a:path w="76200" h="862964">
                  <a:moveTo>
                    <a:pt x="31750" y="786511"/>
                  </a:moveTo>
                  <a:lnTo>
                    <a:pt x="0" y="786511"/>
                  </a:lnTo>
                  <a:lnTo>
                    <a:pt x="38100" y="862711"/>
                  </a:lnTo>
                  <a:lnTo>
                    <a:pt x="69850" y="799211"/>
                  </a:lnTo>
                  <a:lnTo>
                    <a:pt x="31750" y="799211"/>
                  </a:lnTo>
                  <a:lnTo>
                    <a:pt x="31750" y="786511"/>
                  </a:lnTo>
                  <a:close/>
                </a:path>
                <a:path w="76200" h="862964">
                  <a:moveTo>
                    <a:pt x="44450" y="0"/>
                  </a:moveTo>
                  <a:lnTo>
                    <a:pt x="31750" y="0"/>
                  </a:lnTo>
                  <a:lnTo>
                    <a:pt x="31750" y="799211"/>
                  </a:lnTo>
                  <a:lnTo>
                    <a:pt x="44450" y="799211"/>
                  </a:lnTo>
                  <a:lnTo>
                    <a:pt x="44450" y="0"/>
                  </a:lnTo>
                  <a:close/>
                </a:path>
                <a:path w="76200" h="862964">
                  <a:moveTo>
                    <a:pt x="76200" y="786511"/>
                  </a:moveTo>
                  <a:lnTo>
                    <a:pt x="44450" y="786511"/>
                  </a:lnTo>
                  <a:lnTo>
                    <a:pt x="44450" y="799211"/>
                  </a:lnTo>
                  <a:lnTo>
                    <a:pt x="69850" y="799211"/>
                  </a:lnTo>
                  <a:lnTo>
                    <a:pt x="76200" y="786511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1031544" y="5160009"/>
            <a:ext cx="11061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1915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Imágenes de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 e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n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t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r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e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n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a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m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ie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n</a:t>
            </a:r>
            <a:r>
              <a:rPr sz="1400" spc="-15" dirty="0">
                <a:solidFill>
                  <a:srgbClr val="7E7E7E"/>
                </a:solidFill>
                <a:latin typeface="Calibri"/>
                <a:cs typeface="Calibri"/>
              </a:rPr>
              <a:t>t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44</a:t>
            </a:fld>
            <a:endParaRPr spc="-5" dirty="0"/>
          </a:p>
        </p:txBody>
      </p:sp>
      <p:sp>
        <p:nvSpPr>
          <p:cNvPr id="52" name="object 52"/>
          <p:cNvSpPr txBox="1"/>
          <p:nvPr/>
        </p:nvSpPr>
        <p:spPr>
          <a:xfrm>
            <a:off x="3381247" y="6315557"/>
            <a:ext cx="1156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Imagen</a:t>
            </a:r>
            <a:r>
              <a:rPr sz="12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2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prueba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4" name="Picture 4">
            <a:extLst>
              <a:ext uri="{FF2B5EF4-FFF2-40B4-BE49-F238E27FC236}">
                <a16:creationId xmlns:a16="http://schemas.microsoft.com/office/drawing/2014/main" id="{52C91CEC-6F9C-22F3-4298-D88756214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6" descr="Ingeniería de Sistemas - UNCP">
            <a:extLst>
              <a:ext uri="{FF2B5EF4-FFF2-40B4-BE49-F238E27FC236}">
                <a16:creationId xmlns:a16="http://schemas.microsoft.com/office/drawing/2014/main" id="{E237AEB2-BFCD-D42C-85CC-5CD1C1E86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9201" y="260350"/>
            <a:ext cx="362457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Detección</a:t>
            </a:r>
            <a:r>
              <a:rPr spc="-4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Objetos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27760" y="3229355"/>
            <a:ext cx="4163695" cy="3296920"/>
            <a:chOff x="1127760" y="3229355"/>
            <a:chExt cx="4163695" cy="32969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8720" y="3281171"/>
              <a:ext cx="4102607" cy="32445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7760" y="3229355"/>
              <a:ext cx="754379" cy="14645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89482" y="3268217"/>
              <a:ext cx="635635" cy="1346200"/>
            </a:xfrm>
            <a:custGeom>
              <a:avLst/>
              <a:gdLst/>
              <a:ahLst/>
              <a:cxnLst/>
              <a:rect l="l" t="t" r="r" b="b"/>
              <a:pathLst>
                <a:path w="635635" h="1346200">
                  <a:moveTo>
                    <a:pt x="0" y="1345691"/>
                  </a:moveTo>
                  <a:lnTo>
                    <a:pt x="635507" y="1345691"/>
                  </a:lnTo>
                  <a:lnTo>
                    <a:pt x="635507" y="0"/>
                  </a:lnTo>
                  <a:lnTo>
                    <a:pt x="0" y="0"/>
                  </a:lnTo>
                  <a:lnTo>
                    <a:pt x="0" y="1345691"/>
                  </a:lnTo>
                  <a:close/>
                </a:path>
              </a:pathLst>
            </a:custGeom>
            <a:ln w="38100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37794" y="922782"/>
            <a:ext cx="7833359" cy="2764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3070" algn="ctr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2092FA"/>
                </a:solidFill>
                <a:latin typeface="Calibri"/>
                <a:cs typeface="Calibri"/>
              </a:rPr>
              <a:t>Ventanas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Deslizantes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Procedimiento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Utilizar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descriptor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clasificador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(ejemplo</a:t>
            </a:r>
            <a:r>
              <a:rPr sz="16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[Dalal-Triggs]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: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 HOG</a:t>
            </a:r>
            <a:r>
              <a:rPr sz="16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+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SVM)</a:t>
            </a:r>
            <a:endParaRPr sz="1600">
              <a:latin typeface="Calibri"/>
              <a:cs typeface="Calibri"/>
            </a:endParaRPr>
          </a:p>
          <a:p>
            <a:pPr marL="388620" marR="54610" lvl="1" indent="-160020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Deslizar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ventana</a:t>
            </a:r>
            <a:r>
              <a:rPr sz="1800" spc="-5" dirty="0">
                <a:latin typeface="Calibri"/>
                <a:cs typeface="Calibri"/>
              </a:rPr>
              <a:t> por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imagen: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cada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posición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verificar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 </a:t>
            </a:r>
            <a:r>
              <a:rPr sz="1800" spc="-10" dirty="0">
                <a:latin typeface="Calibri"/>
                <a:cs typeface="Calibri"/>
              </a:rPr>
              <a:t>encuentra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objeto </a:t>
            </a:r>
            <a:r>
              <a:rPr sz="1800" spc="-5" dirty="0">
                <a:latin typeface="Calibri"/>
                <a:cs typeface="Calibri"/>
              </a:rPr>
              <a:t>deseado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50">
              <a:latin typeface="Calibri"/>
              <a:cs typeface="Calibri"/>
            </a:endParaRPr>
          </a:p>
          <a:p>
            <a:pPr marL="5653405" marR="5080" indent="-20320" algn="r">
              <a:lnSpc>
                <a:spcPct val="100000"/>
              </a:lnSpc>
            </a:pP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Usando la misma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ventana,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¿se </a:t>
            </a:r>
            <a:r>
              <a:rPr sz="1400" spc="-30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podrá</a:t>
            </a:r>
            <a:r>
              <a:rPr sz="14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encontrar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un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ómnibus?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62547" y="4489196"/>
            <a:ext cx="20040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73735" marR="5080" indent="-66167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El </a:t>
            </a:r>
            <a:r>
              <a:rPr sz="1600" spc="-10" dirty="0">
                <a:latin typeface="Calibri"/>
                <a:cs typeface="Calibri"/>
              </a:rPr>
              <a:t>tamaño </a:t>
            </a:r>
            <a:r>
              <a:rPr sz="1600" spc="-5" dirty="0">
                <a:latin typeface="Calibri"/>
                <a:cs typeface="Calibri"/>
              </a:rPr>
              <a:t>de la </a:t>
            </a:r>
            <a:r>
              <a:rPr sz="1600" spc="-10" dirty="0">
                <a:latin typeface="Calibri"/>
                <a:cs typeface="Calibri"/>
              </a:rPr>
              <a:t>ventana </a:t>
            </a:r>
            <a:r>
              <a:rPr sz="1600" spc="-3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importa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984349" y="4033934"/>
            <a:ext cx="354330" cy="416559"/>
            <a:chOff x="6984349" y="4033934"/>
            <a:chExt cx="354330" cy="416559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84349" y="4033934"/>
              <a:ext cx="353840" cy="41633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19544" y="4052316"/>
              <a:ext cx="288035" cy="35204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019544" y="4052316"/>
              <a:ext cx="288290" cy="352425"/>
            </a:xfrm>
            <a:custGeom>
              <a:avLst/>
              <a:gdLst/>
              <a:ahLst/>
              <a:cxnLst/>
              <a:rect l="l" t="t" r="r" b="b"/>
              <a:pathLst>
                <a:path w="288290" h="352425">
                  <a:moveTo>
                    <a:pt x="0" y="208025"/>
                  </a:moveTo>
                  <a:lnTo>
                    <a:pt x="72008" y="208025"/>
                  </a:lnTo>
                  <a:lnTo>
                    <a:pt x="72008" y="0"/>
                  </a:lnTo>
                  <a:lnTo>
                    <a:pt x="216026" y="0"/>
                  </a:lnTo>
                  <a:lnTo>
                    <a:pt x="216026" y="208025"/>
                  </a:lnTo>
                  <a:lnTo>
                    <a:pt x="288035" y="208025"/>
                  </a:lnTo>
                  <a:lnTo>
                    <a:pt x="144017" y="352043"/>
                  </a:lnTo>
                  <a:lnTo>
                    <a:pt x="0" y="208025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993422" y="5141839"/>
            <a:ext cx="344805" cy="415290"/>
            <a:chOff x="6993422" y="5141839"/>
            <a:chExt cx="344805" cy="41529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93422" y="5141839"/>
              <a:ext cx="344767" cy="41491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19544" y="5160264"/>
              <a:ext cx="288035" cy="35052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019544" y="5160264"/>
              <a:ext cx="288290" cy="350520"/>
            </a:xfrm>
            <a:custGeom>
              <a:avLst/>
              <a:gdLst/>
              <a:ahLst/>
              <a:cxnLst/>
              <a:rect l="l" t="t" r="r" b="b"/>
              <a:pathLst>
                <a:path w="288290" h="350520">
                  <a:moveTo>
                    <a:pt x="0" y="206502"/>
                  </a:moveTo>
                  <a:lnTo>
                    <a:pt x="72008" y="206502"/>
                  </a:lnTo>
                  <a:lnTo>
                    <a:pt x="72008" y="0"/>
                  </a:lnTo>
                  <a:lnTo>
                    <a:pt x="216026" y="0"/>
                  </a:lnTo>
                  <a:lnTo>
                    <a:pt x="216026" y="206502"/>
                  </a:lnTo>
                  <a:lnTo>
                    <a:pt x="288035" y="206502"/>
                  </a:lnTo>
                  <a:lnTo>
                    <a:pt x="144017" y="350520"/>
                  </a:lnTo>
                  <a:lnTo>
                    <a:pt x="0" y="206502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057391" y="5641644"/>
            <a:ext cx="221361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Se </a:t>
            </a:r>
            <a:r>
              <a:rPr sz="1600" spc="-10" dirty="0">
                <a:latin typeface="Calibri"/>
                <a:cs typeface="Calibri"/>
              </a:rPr>
              <a:t>repite </a:t>
            </a:r>
            <a:r>
              <a:rPr sz="1600" spc="-5" dirty="0">
                <a:latin typeface="Calibri"/>
                <a:cs typeface="Calibri"/>
              </a:rPr>
              <a:t>la </a:t>
            </a:r>
            <a:r>
              <a:rPr sz="1600" spc="-10" dirty="0">
                <a:latin typeface="Calibri"/>
                <a:cs typeface="Calibri"/>
              </a:rPr>
              <a:t>búsqueda </a:t>
            </a:r>
            <a:r>
              <a:rPr sz="1600" spc="-15" dirty="0">
                <a:latin typeface="Calibri"/>
                <a:cs typeface="Calibri"/>
              </a:rPr>
              <a:t>para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ventanas </a:t>
            </a:r>
            <a:r>
              <a:rPr sz="1600" spc="-5" dirty="0">
                <a:latin typeface="Calibri"/>
                <a:cs typeface="Calibri"/>
              </a:rPr>
              <a:t>de </a:t>
            </a:r>
            <a:r>
              <a:rPr sz="1600" spc="-15" dirty="0">
                <a:latin typeface="Calibri"/>
                <a:cs typeface="Calibri"/>
              </a:rPr>
              <a:t>diferentes </a:t>
            </a:r>
            <a:r>
              <a:rPr sz="1600" spc="-10" dirty="0">
                <a:latin typeface="Calibri"/>
                <a:cs typeface="Calibri"/>
              </a:rPr>
              <a:t> tamaños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45</a:t>
            </a:fld>
            <a:endParaRPr spc="-5" dirty="0"/>
          </a:p>
        </p:txBody>
      </p:sp>
      <p:pic>
        <p:nvPicPr>
          <p:cNvPr id="19" name="Picture 4">
            <a:extLst>
              <a:ext uri="{FF2B5EF4-FFF2-40B4-BE49-F238E27FC236}">
                <a16:creationId xmlns:a16="http://schemas.microsoft.com/office/drawing/2014/main" id="{38AA63BA-1B9B-8C61-BBA6-89A5DF4F3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Ingeniería de Sistemas - UNCP">
            <a:extLst>
              <a:ext uri="{FF2B5EF4-FFF2-40B4-BE49-F238E27FC236}">
                <a16:creationId xmlns:a16="http://schemas.microsoft.com/office/drawing/2014/main" id="{74FAD372-D83A-E8E6-81C8-BF53DEFAD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9201" y="260350"/>
            <a:ext cx="362457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Detección</a:t>
            </a:r>
            <a:r>
              <a:rPr spc="-4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Objetos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5476875" cy="17138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02255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2092FA"/>
                </a:solidFill>
                <a:latin typeface="Calibri"/>
                <a:cs typeface="Calibri"/>
              </a:rPr>
              <a:t>Ventanas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 Deslizantes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Alternativa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No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modificar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tamaño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ventana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Modificar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tamaño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imagen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(multi-escala)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27304" y="2923032"/>
            <a:ext cx="4549140" cy="2954020"/>
            <a:chOff x="527304" y="2923032"/>
            <a:chExt cx="4549140" cy="29540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7531" y="3052572"/>
              <a:ext cx="3592068" cy="282397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258" y="2935986"/>
              <a:ext cx="4523740" cy="268605"/>
            </a:xfrm>
            <a:custGeom>
              <a:avLst/>
              <a:gdLst/>
              <a:ahLst/>
              <a:cxnLst/>
              <a:rect l="l" t="t" r="r" b="b"/>
              <a:pathLst>
                <a:path w="4523740" h="268605">
                  <a:moveTo>
                    <a:pt x="4523232" y="0"/>
                  </a:moveTo>
                  <a:lnTo>
                    <a:pt x="0" y="0"/>
                  </a:lnTo>
                  <a:lnTo>
                    <a:pt x="0" y="268224"/>
                  </a:lnTo>
                  <a:lnTo>
                    <a:pt x="4523232" y="268224"/>
                  </a:lnTo>
                  <a:lnTo>
                    <a:pt x="45232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0258" y="2935986"/>
              <a:ext cx="4523740" cy="268605"/>
            </a:xfrm>
            <a:custGeom>
              <a:avLst/>
              <a:gdLst/>
              <a:ahLst/>
              <a:cxnLst/>
              <a:rect l="l" t="t" r="r" b="b"/>
              <a:pathLst>
                <a:path w="4523740" h="268605">
                  <a:moveTo>
                    <a:pt x="0" y="268224"/>
                  </a:moveTo>
                  <a:lnTo>
                    <a:pt x="4523232" y="268224"/>
                  </a:lnTo>
                  <a:lnTo>
                    <a:pt x="4523232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7910" y="3429000"/>
            <a:ext cx="3785981" cy="246751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557896" y="5899505"/>
            <a:ext cx="12477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Pirámide</a:t>
            </a:r>
            <a:r>
              <a:rPr sz="14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HoG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78747" y="1967678"/>
            <a:ext cx="704426" cy="136314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188579" y="3234689"/>
            <a:ext cx="45465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Fi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l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t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r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46</a:t>
            </a:fld>
            <a:endParaRPr spc="-5" dirty="0"/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4ABD1974-1183-A2D9-8A92-332F394AC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Ingeniería de Sistemas - UNCP">
            <a:extLst>
              <a:ext uri="{FF2B5EF4-FFF2-40B4-BE49-F238E27FC236}">
                <a16:creationId xmlns:a16="http://schemas.microsoft.com/office/drawing/2014/main" id="{220BF501-30D2-38AC-0AEA-8CCA1C539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9201" y="260350"/>
            <a:ext cx="362457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Detección</a:t>
            </a:r>
            <a:r>
              <a:rPr spc="-4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Objetos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8070215" cy="1988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755" algn="ctr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Modelos</a:t>
            </a: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Partes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Deformables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Idea:</a:t>
            </a:r>
            <a:endParaRPr sz="2000">
              <a:latin typeface="Calibri"/>
              <a:cs typeface="Calibri"/>
            </a:endParaRPr>
          </a:p>
          <a:p>
            <a:pPr marL="388620" marR="5080" lvl="1" indent="-160020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Representar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objeto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como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una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colección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partes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tienen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una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configuración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deformable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15" dirty="0">
                <a:latin typeface="Calibri"/>
                <a:cs typeface="Calibri"/>
              </a:rPr>
              <a:t>Hay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conexiones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tipo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“resorte”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(deformables)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algunas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partes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3603" y="3302092"/>
            <a:ext cx="3090672" cy="23608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54202" y="5386527"/>
            <a:ext cx="7626984" cy="1073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56430" algn="ctr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solidFill>
                  <a:srgbClr val="7E7E7E"/>
                </a:solidFill>
                <a:latin typeface="Calibri"/>
                <a:cs typeface="Calibri"/>
              </a:rPr>
              <a:t>Ejemplo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: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cabeza, 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brazo</a:t>
            </a:r>
            <a:r>
              <a:rPr sz="16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derecho,</a:t>
            </a:r>
            <a:r>
              <a:rPr sz="1600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brazo</a:t>
            </a:r>
            <a:endParaRPr sz="1600">
              <a:latin typeface="Calibri"/>
              <a:cs typeface="Calibri"/>
            </a:endParaRPr>
          </a:p>
          <a:p>
            <a:pPr marL="4457065" algn="ctr">
              <a:lnSpc>
                <a:spcPct val="100000"/>
              </a:lnSpc>
            </a:pP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izquierdo,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etc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→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persona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Los </a:t>
            </a:r>
            <a:r>
              <a:rPr sz="1800" spc="-10" dirty="0">
                <a:latin typeface="Calibri"/>
                <a:cs typeface="Calibri"/>
              </a:rPr>
              <a:t>filtros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 </a:t>
            </a:r>
            <a:r>
              <a:rPr sz="1800" dirty="0">
                <a:latin typeface="Calibri"/>
                <a:cs typeface="Calibri"/>
              </a:rPr>
              <a:t>las </a:t>
            </a:r>
            <a:r>
              <a:rPr sz="1800" spc="-5" dirty="0">
                <a:latin typeface="Calibri"/>
                <a:cs typeface="Calibri"/>
              </a:rPr>
              <a:t>partes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tienen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detalles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más </a:t>
            </a:r>
            <a:r>
              <a:rPr sz="1800" spc="-5" dirty="0">
                <a:latin typeface="Calibri"/>
                <a:cs typeface="Calibri"/>
              </a:rPr>
              <a:t>finos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29543" y="3161970"/>
            <a:ext cx="1389599" cy="217691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47</a:t>
            </a:fld>
            <a:endParaRPr spc="-5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57A85B4B-CD8F-BDE4-A505-DEE52C40A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48A21B4B-BDFF-9001-3F8A-273B772D0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9201" y="260350"/>
            <a:ext cx="362457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Detección</a:t>
            </a:r>
            <a:r>
              <a:rPr spc="-4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Objetos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6170930" cy="1384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1074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Modelos</a:t>
            </a:r>
            <a:r>
              <a:rPr sz="2400" b="1" spc="-2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Partes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 Deformables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Ejemplo:</a:t>
            </a:r>
            <a:endParaRPr sz="20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Modelo</a:t>
            </a:r>
            <a:r>
              <a:rPr sz="1800" spc="-5" dirty="0">
                <a:latin typeface="Calibri"/>
                <a:cs typeface="Calibri"/>
              </a:rPr>
              <a:t> de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bicicleta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792" y="2493264"/>
            <a:ext cx="5049011" cy="41163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22680" y="4675123"/>
            <a:ext cx="1664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Componente</a:t>
            </a:r>
            <a:r>
              <a:rPr sz="16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lateral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48</a:t>
            </a:fld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1129690" y="5827572"/>
            <a:ext cx="16941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Componente</a:t>
            </a:r>
            <a:r>
              <a:rPr sz="16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frontal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3E686523-1EEF-DFCE-FA31-598429D92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750B803C-A94D-C9B0-8C4A-5A163624A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7794" y="922782"/>
            <a:ext cx="7625080" cy="1658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214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Clasificación</a:t>
            </a:r>
            <a:r>
              <a:rPr sz="2400" b="1" spc="-3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usando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Bag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of</a:t>
            </a: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Features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latin typeface="Calibri"/>
                <a:cs typeface="Calibri"/>
              </a:rPr>
              <a:t>Consiste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en:</a:t>
            </a:r>
            <a:endParaRPr sz="2000">
              <a:latin typeface="Calibri"/>
              <a:cs typeface="Calibri"/>
            </a:endParaRPr>
          </a:p>
          <a:p>
            <a:pPr marL="388620" marR="5080" indent="-16002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3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Extraer características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(“features”)</a:t>
            </a:r>
            <a:r>
              <a:rPr sz="16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conjunto</a:t>
            </a:r>
            <a:r>
              <a:rPr sz="1800" spc="-5" dirty="0">
                <a:latin typeface="Calibri"/>
                <a:cs typeface="Calibri"/>
              </a:rPr>
              <a:t> de </a:t>
            </a:r>
            <a:r>
              <a:rPr sz="1800" dirty="0">
                <a:latin typeface="Calibri"/>
                <a:cs typeface="Calibri"/>
              </a:rPr>
              <a:t>imágenes: </a:t>
            </a:r>
            <a:r>
              <a:rPr sz="1800" spc="-15" dirty="0">
                <a:latin typeface="Calibri"/>
                <a:cs typeface="Calibri"/>
              </a:rPr>
              <a:t>“diccionario”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“vocabulario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visual”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4202" y="4367021"/>
            <a:ext cx="6308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Representar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los </a:t>
            </a:r>
            <a:r>
              <a:rPr sz="1800" spc="-10" dirty="0">
                <a:latin typeface="Calibri"/>
                <a:cs typeface="Calibri"/>
              </a:rPr>
              <a:t>objetos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frecuencias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“palabras </a:t>
            </a:r>
            <a:r>
              <a:rPr sz="1800" dirty="0">
                <a:latin typeface="Calibri"/>
                <a:cs typeface="Calibri"/>
              </a:rPr>
              <a:t>visuales”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59201" y="260350"/>
            <a:ext cx="362457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Detección</a:t>
            </a:r>
            <a:r>
              <a:rPr spc="-4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Objetos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750173" y="3445345"/>
            <a:ext cx="279400" cy="351790"/>
            <a:chOff x="4750173" y="3445345"/>
            <a:chExt cx="279400" cy="3517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50173" y="3445345"/>
              <a:ext cx="279295" cy="35134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8408" y="3454908"/>
              <a:ext cx="214883" cy="29717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788408" y="3454908"/>
              <a:ext cx="215265" cy="297180"/>
            </a:xfrm>
            <a:custGeom>
              <a:avLst/>
              <a:gdLst/>
              <a:ahLst/>
              <a:cxnLst/>
              <a:rect l="l" t="t" r="r" b="b"/>
              <a:pathLst>
                <a:path w="215264" h="297179">
                  <a:moveTo>
                    <a:pt x="0" y="74294"/>
                  </a:moveTo>
                  <a:lnTo>
                    <a:pt x="107441" y="74294"/>
                  </a:lnTo>
                  <a:lnTo>
                    <a:pt x="107441" y="0"/>
                  </a:lnTo>
                  <a:lnTo>
                    <a:pt x="214883" y="148589"/>
                  </a:lnTo>
                  <a:lnTo>
                    <a:pt x="107441" y="297179"/>
                  </a:lnTo>
                  <a:lnTo>
                    <a:pt x="107441" y="222884"/>
                  </a:lnTo>
                  <a:lnTo>
                    <a:pt x="0" y="222884"/>
                  </a:lnTo>
                  <a:lnTo>
                    <a:pt x="0" y="7429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17447" y="4646676"/>
            <a:ext cx="2472055" cy="2019300"/>
            <a:chOff x="917447" y="4646676"/>
            <a:chExt cx="2472055" cy="2019300"/>
          </a:xfrm>
        </p:grpSpPr>
        <p:sp>
          <p:nvSpPr>
            <p:cNvPr id="10" name="object 10"/>
            <p:cNvSpPr/>
            <p:nvPr/>
          </p:nvSpPr>
          <p:spPr>
            <a:xfrm>
              <a:off x="2188463" y="6166104"/>
              <a:ext cx="134620" cy="134620"/>
            </a:xfrm>
            <a:custGeom>
              <a:avLst/>
              <a:gdLst/>
              <a:ahLst/>
              <a:cxnLst/>
              <a:rect l="l" t="t" r="r" b="b"/>
              <a:pathLst>
                <a:path w="134619" h="134620">
                  <a:moveTo>
                    <a:pt x="134112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134112" y="134112"/>
                  </a:lnTo>
                  <a:lnTo>
                    <a:pt x="134112" y="0"/>
                  </a:lnTo>
                  <a:close/>
                </a:path>
              </a:pathLst>
            </a:custGeom>
            <a:solidFill>
              <a:srgbClr val="B0EB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88463" y="6166104"/>
              <a:ext cx="134620" cy="134620"/>
            </a:xfrm>
            <a:custGeom>
              <a:avLst/>
              <a:gdLst/>
              <a:ahLst/>
              <a:cxnLst/>
              <a:rect l="l" t="t" r="r" b="b"/>
              <a:pathLst>
                <a:path w="134619" h="134620">
                  <a:moveTo>
                    <a:pt x="0" y="134112"/>
                  </a:moveTo>
                  <a:lnTo>
                    <a:pt x="134112" y="134112"/>
                  </a:lnTo>
                  <a:lnTo>
                    <a:pt x="134112" y="0"/>
                  </a:lnTo>
                  <a:lnTo>
                    <a:pt x="0" y="0"/>
                  </a:lnTo>
                  <a:lnTo>
                    <a:pt x="0" y="134112"/>
                  </a:lnTo>
                  <a:close/>
                </a:path>
              </a:pathLst>
            </a:custGeom>
            <a:ln w="12192">
              <a:solidFill>
                <a:srgbClr val="5D47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85315" y="6166104"/>
              <a:ext cx="134620" cy="134620"/>
            </a:xfrm>
            <a:custGeom>
              <a:avLst/>
              <a:gdLst/>
              <a:ahLst/>
              <a:cxnLst/>
              <a:rect l="l" t="t" r="r" b="b"/>
              <a:pathLst>
                <a:path w="134619" h="134620">
                  <a:moveTo>
                    <a:pt x="134112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134112" y="134112"/>
                  </a:lnTo>
                  <a:lnTo>
                    <a:pt x="134112" y="0"/>
                  </a:lnTo>
                  <a:close/>
                </a:path>
              </a:pathLst>
            </a:custGeom>
            <a:solidFill>
              <a:srgbClr val="B0EB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85315" y="6166104"/>
              <a:ext cx="134620" cy="134620"/>
            </a:xfrm>
            <a:custGeom>
              <a:avLst/>
              <a:gdLst/>
              <a:ahLst/>
              <a:cxnLst/>
              <a:rect l="l" t="t" r="r" b="b"/>
              <a:pathLst>
                <a:path w="134619" h="134620">
                  <a:moveTo>
                    <a:pt x="0" y="134112"/>
                  </a:moveTo>
                  <a:lnTo>
                    <a:pt x="134112" y="134112"/>
                  </a:lnTo>
                  <a:lnTo>
                    <a:pt x="134112" y="0"/>
                  </a:lnTo>
                  <a:lnTo>
                    <a:pt x="0" y="0"/>
                  </a:lnTo>
                  <a:lnTo>
                    <a:pt x="0" y="134112"/>
                  </a:lnTo>
                  <a:close/>
                </a:path>
              </a:pathLst>
            </a:custGeom>
            <a:ln w="12192">
              <a:solidFill>
                <a:srgbClr val="5D47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86127" y="4893564"/>
              <a:ext cx="134620" cy="1407160"/>
            </a:xfrm>
            <a:custGeom>
              <a:avLst/>
              <a:gdLst/>
              <a:ahLst/>
              <a:cxnLst/>
              <a:rect l="l" t="t" r="r" b="b"/>
              <a:pathLst>
                <a:path w="134619" h="1407160">
                  <a:moveTo>
                    <a:pt x="134112" y="0"/>
                  </a:moveTo>
                  <a:lnTo>
                    <a:pt x="0" y="0"/>
                  </a:lnTo>
                  <a:lnTo>
                    <a:pt x="0" y="1406652"/>
                  </a:lnTo>
                  <a:lnTo>
                    <a:pt x="134112" y="1406652"/>
                  </a:lnTo>
                  <a:lnTo>
                    <a:pt x="134112" y="0"/>
                  </a:lnTo>
                  <a:close/>
                </a:path>
              </a:pathLst>
            </a:custGeom>
            <a:solidFill>
              <a:srgbClr val="B0EB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86127" y="4893564"/>
              <a:ext cx="134620" cy="1407160"/>
            </a:xfrm>
            <a:custGeom>
              <a:avLst/>
              <a:gdLst/>
              <a:ahLst/>
              <a:cxnLst/>
              <a:rect l="l" t="t" r="r" b="b"/>
              <a:pathLst>
                <a:path w="134619" h="1407160">
                  <a:moveTo>
                    <a:pt x="0" y="1406652"/>
                  </a:moveTo>
                  <a:lnTo>
                    <a:pt x="134112" y="1406652"/>
                  </a:lnTo>
                  <a:lnTo>
                    <a:pt x="134112" y="0"/>
                  </a:lnTo>
                  <a:lnTo>
                    <a:pt x="0" y="0"/>
                  </a:lnTo>
                  <a:lnTo>
                    <a:pt x="0" y="1406652"/>
                  </a:lnTo>
                  <a:close/>
                </a:path>
              </a:pathLst>
            </a:custGeom>
            <a:ln w="12192">
              <a:solidFill>
                <a:srgbClr val="5D47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90443" y="5295900"/>
              <a:ext cx="134620" cy="1004569"/>
            </a:xfrm>
            <a:custGeom>
              <a:avLst/>
              <a:gdLst/>
              <a:ahLst/>
              <a:cxnLst/>
              <a:rect l="l" t="t" r="r" b="b"/>
              <a:pathLst>
                <a:path w="134619" h="1004570">
                  <a:moveTo>
                    <a:pt x="134112" y="0"/>
                  </a:moveTo>
                  <a:lnTo>
                    <a:pt x="0" y="0"/>
                  </a:lnTo>
                  <a:lnTo>
                    <a:pt x="0" y="1004316"/>
                  </a:lnTo>
                  <a:lnTo>
                    <a:pt x="134112" y="1004316"/>
                  </a:lnTo>
                  <a:lnTo>
                    <a:pt x="134112" y="0"/>
                  </a:lnTo>
                  <a:close/>
                </a:path>
              </a:pathLst>
            </a:custGeom>
            <a:solidFill>
              <a:srgbClr val="B0EB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90443" y="5295900"/>
              <a:ext cx="134620" cy="1004569"/>
            </a:xfrm>
            <a:custGeom>
              <a:avLst/>
              <a:gdLst/>
              <a:ahLst/>
              <a:cxnLst/>
              <a:rect l="l" t="t" r="r" b="b"/>
              <a:pathLst>
                <a:path w="134619" h="1004570">
                  <a:moveTo>
                    <a:pt x="0" y="1004316"/>
                  </a:moveTo>
                  <a:lnTo>
                    <a:pt x="134112" y="1004316"/>
                  </a:lnTo>
                  <a:lnTo>
                    <a:pt x="134112" y="0"/>
                  </a:lnTo>
                  <a:lnTo>
                    <a:pt x="0" y="0"/>
                  </a:lnTo>
                  <a:lnTo>
                    <a:pt x="0" y="1004316"/>
                  </a:lnTo>
                  <a:close/>
                </a:path>
              </a:pathLst>
            </a:custGeom>
            <a:ln w="12192">
              <a:solidFill>
                <a:srgbClr val="5D47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7363" y="6187440"/>
              <a:ext cx="2382012" cy="26210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050797" y="6236208"/>
              <a:ext cx="2209800" cy="129539"/>
            </a:xfrm>
            <a:custGeom>
              <a:avLst/>
              <a:gdLst/>
              <a:ahLst/>
              <a:cxnLst/>
              <a:rect l="l" t="t" r="r" b="b"/>
              <a:pathLst>
                <a:path w="2209800" h="129539">
                  <a:moveTo>
                    <a:pt x="2132076" y="0"/>
                  </a:moveTo>
                  <a:lnTo>
                    <a:pt x="2132076" y="129539"/>
                  </a:lnTo>
                  <a:lnTo>
                    <a:pt x="2194255" y="77723"/>
                  </a:lnTo>
                  <a:lnTo>
                    <a:pt x="2145029" y="77723"/>
                  </a:lnTo>
                  <a:lnTo>
                    <a:pt x="2145029" y="51815"/>
                  </a:lnTo>
                  <a:lnTo>
                    <a:pt x="2194255" y="51815"/>
                  </a:lnTo>
                  <a:lnTo>
                    <a:pt x="2132076" y="0"/>
                  </a:lnTo>
                  <a:close/>
                </a:path>
                <a:path w="2209800" h="129539">
                  <a:moveTo>
                    <a:pt x="2132076" y="51815"/>
                  </a:moveTo>
                  <a:lnTo>
                    <a:pt x="0" y="51815"/>
                  </a:lnTo>
                  <a:lnTo>
                    <a:pt x="0" y="77723"/>
                  </a:lnTo>
                  <a:lnTo>
                    <a:pt x="2132076" y="77723"/>
                  </a:lnTo>
                  <a:lnTo>
                    <a:pt x="2132076" y="51815"/>
                  </a:lnTo>
                  <a:close/>
                </a:path>
                <a:path w="2209800" h="129539">
                  <a:moveTo>
                    <a:pt x="2194255" y="51815"/>
                  </a:moveTo>
                  <a:lnTo>
                    <a:pt x="2145029" y="51815"/>
                  </a:lnTo>
                  <a:lnTo>
                    <a:pt x="2145029" y="77723"/>
                  </a:lnTo>
                  <a:lnTo>
                    <a:pt x="2194255" y="77723"/>
                  </a:lnTo>
                  <a:lnTo>
                    <a:pt x="2209800" y="64769"/>
                  </a:lnTo>
                  <a:lnTo>
                    <a:pt x="2194255" y="51815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7447" y="4646676"/>
              <a:ext cx="262102" cy="171297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86027" y="4760214"/>
              <a:ext cx="129539" cy="1541145"/>
            </a:xfrm>
            <a:custGeom>
              <a:avLst/>
              <a:gdLst/>
              <a:ahLst/>
              <a:cxnLst/>
              <a:rect l="l" t="t" r="r" b="b"/>
              <a:pathLst>
                <a:path w="129540" h="1541145">
                  <a:moveTo>
                    <a:pt x="77724" y="64769"/>
                  </a:moveTo>
                  <a:lnTo>
                    <a:pt x="51815" y="64769"/>
                  </a:lnTo>
                  <a:lnTo>
                    <a:pt x="51815" y="1540764"/>
                  </a:lnTo>
                  <a:lnTo>
                    <a:pt x="77724" y="1540764"/>
                  </a:lnTo>
                  <a:lnTo>
                    <a:pt x="77724" y="64769"/>
                  </a:lnTo>
                  <a:close/>
                </a:path>
                <a:path w="129540" h="1541145">
                  <a:moveTo>
                    <a:pt x="64769" y="0"/>
                  </a:moveTo>
                  <a:lnTo>
                    <a:pt x="0" y="77724"/>
                  </a:lnTo>
                  <a:lnTo>
                    <a:pt x="51815" y="77724"/>
                  </a:lnTo>
                  <a:lnTo>
                    <a:pt x="51815" y="64769"/>
                  </a:lnTo>
                  <a:lnTo>
                    <a:pt x="118744" y="64769"/>
                  </a:lnTo>
                  <a:lnTo>
                    <a:pt x="64769" y="0"/>
                  </a:lnTo>
                  <a:close/>
                </a:path>
                <a:path w="129540" h="1541145">
                  <a:moveTo>
                    <a:pt x="118744" y="64769"/>
                  </a:moveTo>
                  <a:lnTo>
                    <a:pt x="77724" y="64769"/>
                  </a:lnTo>
                  <a:lnTo>
                    <a:pt x="77724" y="77724"/>
                  </a:lnTo>
                  <a:lnTo>
                    <a:pt x="129540" y="77724"/>
                  </a:lnTo>
                  <a:lnTo>
                    <a:pt x="118744" y="64769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6331" y="6380988"/>
              <a:ext cx="335280" cy="23317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51203" y="6367272"/>
              <a:ext cx="274320" cy="29870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52015" y="6367272"/>
              <a:ext cx="335280" cy="23317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54351" y="6399276"/>
              <a:ext cx="467868" cy="24231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87195" y="5052475"/>
              <a:ext cx="510540" cy="621376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3741420" y="4690884"/>
            <a:ext cx="2446020" cy="1975485"/>
            <a:chOff x="3741420" y="4690884"/>
            <a:chExt cx="2446020" cy="1975485"/>
          </a:xfrm>
        </p:grpSpPr>
        <p:sp>
          <p:nvSpPr>
            <p:cNvPr id="28" name="object 28"/>
            <p:cNvSpPr/>
            <p:nvPr/>
          </p:nvSpPr>
          <p:spPr>
            <a:xfrm>
              <a:off x="5093208" y="6198107"/>
              <a:ext cx="134620" cy="134620"/>
            </a:xfrm>
            <a:custGeom>
              <a:avLst/>
              <a:gdLst/>
              <a:ahLst/>
              <a:cxnLst/>
              <a:rect l="l" t="t" r="r" b="b"/>
              <a:pathLst>
                <a:path w="134620" h="134620">
                  <a:moveTo>
                    <a:pt x="134112" y="0"/>
                  </a:moveTo>
                  <a:lnTo>
                    <a:pt x="0" y="0"/>
                  </a:lnTo>
                  <a:lnTo>
                    <a:pt x="0" y="134111"/>
                  </a:lnTo>
                  <a:lnTo>
                    <a:pt x="134112" y="134111"/>
                  </a:lnTo>
                  <a:lnTo>
                    <a:pt x="13411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093208" y="6198107"/>
              <a:ext cx="134620" cy="134620"/>
            </a:xfrm>
            <a:custGeom>
              <a:avLst/>
              <a:gdLst/>
              <a:ahLst/>
              <a:cxnLst/>
              <a:rect l="l" t="t" r="r" b="b"/>
              <a:pathLst>
                <a:path w="134620" h="134620">
                  <a:moveTo>
                    <a:pt x="0" y="134111"/>
                  </a:moveTo>
                  <a:lnTo>
                    <a:pt x="134112" y="134111"/>
                  </a:lnTo>
                  <a:lnTo>
                    <a:pt x="134112" y="0"/>
                  </a:lnTo>
                  <a:lnTo>
                    <a:pt x="0" y="0"/>
                  </a:lnTo>
                  <a:lnTo>
                    <a:pt x="0" y="13411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197096" y="5327903"/>
              <a:ext cx="132715" cy="1004569"/>
            </a:xfrm>
            <a:custGeom>
              <a:avLst/>
              <a:gdLst/>
              <a:ahLst/>
              <a:cxnLst/>
              <a:rect l="l" t="t" r="r" b="b"/>
              <a:pathLst>
                <a:path w="132714" h="1004570">
                  <a:moveTo>
                    <a:pt x="132587" y="0"/>
                  </a:moveTo>
                  <a:lnTo>
                    <a:pt x="0" y="0"/>
                  </a:lnTo>
                  <a:lnTo>
                    <a:pt x="0" y="1004316"/>
                  </a:lnTo>
                  <a:lnTo>
                    <a:pt x="132587" y="1004316"/>
                  </a:lnTo>
                  <a:lnTo>
                    <a:pt x="13258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197096" y="5327903"/>
              <a:ext cx="132715" cy="1004569"/>
            </a:xfrm>
            <a:custGeom>
              <a:avLst/>
              <a:gdLst/>
              <a:ahLst/>
              <a:cxnLst/>
              <a:rect l="l" t="t" r="r" b="b"/>
              <a:pathLst>
                <a:path w="132714" h="1004570">
                  <a:moveTo>
                    <a:pt x="0" y="1004316"/>
                  </a:moveTo>
                  <a:lnTo>
                    <a:pt x="132587" y="1004316"/>
                  </a:lnTo>
                  <a:lnTo>
                    <a:pt x="132587" y="0"/>
                  </a:lnTo>
                  <a:lnTo>
                    <a:pt x="0" y="0"/>
                  </a:lnTo>
                  <a:lnTo>
                    <a:pt x="0" y="100431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97908" y="6198107"/>
              <a:ext cx="134620" cy="134620"/>
            </a:xfrm>
            <a:custGeom>
              <a:avLst/>
              <a:gdLst/>
              <a:ahLst/>
              <a:cxnLst/>
              <a:rect l="l" t="t" r="r" b="b"/>
              <a:pathLst>
                <a:path w="134620" h="134620">
                  <a:moveTo>
                    <a:pt x="134112" y="0"/>
                  </a:moveTo>
                  <a:lnTo>
                    <a:pt x="0" y="0"/>
                  </a:lnTo>
                  <a:lnTo>
                    <a:pt x="0" y="134111"/>
                  </a:lnTo>
                  <a:lnTo>
                    <a:pt x="134112" y="134111"/>
                  </a:lnTo>
                  <a:lnTo>
                    <a:pt x="13411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97908" y="6198107"/>
              <a:ext cx="134620" cy="134620"/>
            </a:xfrm>
            <a:custGeom>
              <a:avLst/>
              <a:gdLst/>
              <a:ahLst/>
              <a:cxnLst/>
              <a:rect l="l" t="t" r="r" b="b"/>
              <a:pathLst>
                <a:path w="134620" h="134620">
                  <a:moveTo>
                    <a:pt x="0" y="134111"/>
                  </a:moveTo>
                  <a:lnTo>
                    <a:pt x="134112" y="134111"/>
                  </a:lnTo>
                  <a:lnTo>
                    <a:pt x="134112" y="0"/>
                  </a:lnTo>
                  <a:lnTo>
                    <a:pt x="0" y="0"/>
                  </a:lnTo>
                  <a:lnTo>
                    <a:pt x="0" y="13411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602224" y="6265163"/>
              <a:ext cx="134620" cy="67310"/>
            </a:xfrm>
            <a:custGeom>
              <a:avLst/>
              <a:gdLst/>
              <a:ahLst/>
              <a:cxnLst/>
              <a:rect l="l" t="t" r="r" b="b"/>
              <a:pathLst>
                <a:path w="134620" h="67310">
                  <a:moveTo>
                    <a:pt x="134112" y="0"/>
                  </a:moveTo>
                  <a:lnTo>
                    <a:pt x="0" y="0"/>
                  </a:lnTo>
                  <a:lnTo>
                    <a:pt x="0" y="67056"/>
                  </a:lnTo>
                  <a:lnTo>
                    <a:pt x="134112" y="67056"/>
                  </a:lnTo>
                  <a:lnTo>
                    <a:pt x="13411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602224" y="6265163"/>
              <a:ext cx="134620" cy="67310"/>
            </a:xfrm>
            <a:custGeom>
              <a:avLst/>
              <a:gdLst/>
              <a:ahLst/>
              <a:cxnLst/>
              <a:rect l="l" t="t" r="r" b="b"/>
              <a:pathLst>
                <a:path w="134620" h="67310">
                  <a:moveTo>
                    <a:pt x="0" y="67056"/>
                  </a:moveTo>
                  <a:lnTo>
                    <a:pt x="134112" y="67056"/>
                  </a:lnTo>
                  <a:lnTo>
                    <a:pt x="134112" y="0"/>
                  </a:lnTo>
                  <a:lnTo>
                    <a:pt x="0" y="0"/>
                  </a:lnTo>
                  <a:lnTo>
                    <a:pt x="0" y="6705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19144" y="6231635"/>
              <a:ext cx="2368296" cy="23783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862578" y="6294119"/>
              <a:ext cx="2208530" cy="78105"/>
            </a:xfrm>
            <a:custGeom>
              <a:avLst/>
              <a:gdLst/>
              <a:ahLst/>
              <a:cxnLst/>
              <a:rect l="l" t="t" r="r" b="b"/>
              <a:pathLst>
                <a:path w="2208529" h="78104">
                  <a:moveTo>
                    <a:pt x="2130552" y="0"/>
                  </a:moveTo>
                  <a:lnTo>
                    <a:pt x="2130552" y="77723"/>
                  </a:lnTo>
                  <a:lnTo>
                    <a:pt x="2182367" y="51815"/>
                  </a:lnTo>
                  <a:lnTo>
                    <a:pt x="2143506" y="51815"/>
                  </a:lnTo>
                  <a:lnTo>
                    <a:pt x="2143506" y="25907"/>
                  </a:lnTo>
                  <a:lnTo>
                    <a:pt x="2182367" y="25907"/>
                  </a:lnTo>
                  <a:lnTo>
                    <a:pt x="2130552" y="0"/>
                  </a:lnTo>
                  <a:close/>
                </a:path>
                <a:path w="2208529" h="78104">
                  <a:moveTo>
                    <a:pt x="2130552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2130552" y="51815"/>
                  </a:lnTo>
                  <a:lnTo>
                    <a:pt x="2130552" y="25907"/>
                  </a:lnTo>
                  <a:close/>
                </a:path>
                <a:path w="2208529" h="78104">
                  <a:moveTo>
                    <a:pt x="2182367" y="25907"/>
                  </a:moveTo>
                  <a:lnTo>
                    <a:pt x="2143506" y="25907"/>
                  </a:lnTo>
                  <a:lnTo>
                    <a:pt x="2143506" y="51815"/>
                  </a:lnTo>
                  <a:lnTo>
                    <a:pt x="2182367" y="51815"/>
                  </a:lnTo>
                  <a:lnTo>
                    <a:pt x="2208276" y="38861"/>
                  </a:lnTo>
                  <a:lnTo>
                    <a:pt x="2182367" y="25907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41420" y="4690884"/>
              <a:ext cx="237832" cy="170078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823716" y="4792217"/>
              <a:ext cx="78105" cy="1541145"/>
            </a:xfrm>
            <a:custGeom>
              <a:avLst/>
              <a:gdLst/>
              <a:ahLst/>
              <a:cxnLst/>
              <a:rect l="l" t="t" r="r" b="b"/>
              <a:pathLst>
                <a:path w="78104" h="1541145">
                  <a:moveTo>
                    <a:pt x="51816" y="64769"/>
                  </a:moveTo>
                  <a:lnTo>
                    <a:pt x="25908" y="64769"/>
                  </a:lnTo>
                  <a:lnTo>
                    <a:pt x="25908" y="1540763"/>
                  </a:lnTo>
                  <a:lnTo>
                    <a:pt x="51816" y="1540763"/>
                  </a:lnTo>
                  <a:lnTo>
                    <a:pt x="51816" y="64769"/>
                  </a:lnTo>
                  <a:close/>
                </a:path>
                <a:path w="78104" h="1541145">
                  <a:moveTo>
                    <a:pt x="38862" y="0"/>
                  </a:moveTo>
                  <a:lnTo>
                    <a:pt x="0" y="77723"/>
                  </a:lnTo>
                  <a:lnTo>
                    <a:pt x="25908" y="77723"/>
                  </a:lnTo>
                  <a:lnTo>
                    <a:pt x="25908" y="64769"/>
                  </a:lnTo>
                  <a:lnTo>
                    <a:pt x="71247" y="64769"/>
                  </a:lnTo>
                  <a:lnTo>
                    <a:pt x="38862" y="0"/>
                  </a:lnTo>
                  <a:close/>
                </a:path>
                <a:path w="78104" h="1541145">
                  <a:moveTo>
                    <a:pt x="71247" y="64769"/>
                  </a:moveTo>
                  <a:lnTo>
                    <a:pt x="51816" y="64769"/>
                  </a:lnTo>
                  <a:lnTo>
                    <a:pt x="51816" y="77723"/>
                  </a:lnTo>
                  <a:lnTo>
                    <a:pt x="77724" y="77723"/>
                  </a:lnTo>
                  <a:lnTo>
                    <a:pt x="71247" y="64769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35168" y="6380987"/>
              <a:ext cx="335279" cy="23317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62984" y="6367271"/>
              <a:ext cx="274320" cy="29870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63796" y="6399275"/>
              <a:ext cx="335279" cy="23317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02708" y="6399275"/>
              <a:ext cx="467867" cy="24231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27456" y="5097833"/>
              <a:ext cx="861043" cy="505887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6406896" y="4646676"/>
            <a:ext cx="2470785" cy="2019300"/>
            <a:chOff x="6406896" y="4646676"/>
            <a:chExt cx="2470785" cy="2019300"/>
          </a:xfrm>
        </p:grpSpPr>
        <p:sp>
          <p:nvSpPr>
            <p:cNvPr id="46" name="object 46"/>
            <p:cNvSpPr/>
            <p:nvPr/>
          </p:nvSpPr>
          <p:spPr>
            <a:xfrm>
              <a:off x="7744968" y="4724400"/>
              <a:ext cx="132715" cy="1576070"/>
            </a:xfrm>
            <a:custGeom>
              <a:avLst/>
              <a:gdLst/>
              <a:ahLst/>
              <a:cxnLst/>
              <a:rect l="l" t="t" r="r" b="b"/>
              <a:pathLst>
                <a:path w="132715" h="1576070">
                  <a:moveTo>
                    <a:pt x="132588" y="0"/>
                  </a:moveTo>
                  <a:lnTo>
                    <a:pt x="0" y="0"/>
                  </a:lnTo>
                  <a:lnTo>
                    <a:pt x="0" y="1575816"/>
                  </a:lnTo>
                  <a:lnTo>
                    <a:pt x="132588" y="1575816"/>
                  </a:lnTo>
                  <a:lnTo>
                    <a:pt x="132588" y="0"/>
                  </a:lnTo>
                  <a:close/>
                </a:path>
              </a:pathLst>
            </a:custGeom>
            <a:solidFill>
              <a:srgbClr val="B327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744968" y="4724400"/>
              <a:ext cx="132715" cy="1576070"/>
            </a:xfrm>
            <a:custGeom>
              <a:avLst/>
              <a:gdLst/>
              <a:ahLst/>
              <a:cxnLst/>
              <a:rect l="l" t="t" r="r" b="b"/>
              <a:pathLst>
                <a:path w="132715" h="1576070">
                  <a:moveTo>
                    <a:pt x="0" y="1575816"/>
                  </a:moveTo>
                  <a:lnTo>
                    <a:pt x="132588" y="1575816"/>
                  </a:lnTo>
                  <a:lnTo>
                    <a:pt x="132588" y="0"/>
                  </a:lnTo>
                  <a:lnTo>
                    <a:pt x="0" y="0"/>
                  </a:lnTo>
                  <a:lnTo>
                    <a:pt x="0" y="1575816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74764" y="6063996"/>
              <a:ext cx="132715" cy="236220"/>
            </a:xfrm>
            <a:custGeom>
              <a:avLst/>
              <a:gdLst/>
              <a:ahLst/>
              <a:cxnLst/>
              <a:rect l="l" t="t" r="r" b="b"/>
              <a:pathLst>
                <a:path w="132715" h="236220">
                  <a:moveTo>
                    <a:pt x="132588" y="0"/>
                  </a:moveTo>
                  <a:lnTo>
                    <a:pt x="0" y="0"/>
                  </a:lnTo>
                  <a:lnTo>
                    <a:pt x="0" y="236219"/>
                  </a:lnTo>
                  <a:lnTo>
                    <a:pt x="132588" y="236219"/>
                  </a:lnTo>
                  <a:lnTo>
                    <a:pt x="132588" y="0"/>
                  </a:lnTo>
                  <a:close/>
                </a:path>
              </a:pathLst>
            </a:custGeom>
            <a:solidFill>
              <a:srgbClr val="B327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874764" y="6063996"/>
              <a:ext cx="132715" cy="236220"/>
            </a:xfrm>
            <a:custGeom>
              <a:avLst/>
              <a:gdLst/>
              <a:ahLst/>
              <a:cxnLst/>
              <a:rect l="l" t="t" r="r" b="b"/>
              <a:pathLst>
                <a:path w="132715" h="236220">
                  <a:moveTo>
                    <a:pt x="0" y="236219"/>
                  </a:moveTo>
                  <a:lnTo>
                    <a:pt x="132588" y="236219"/>
                  </a:lnTo>
                  <a:lnTo>
                    <a:pt x="132588" y="0"/>
                  </a:lnTo>
                  <a:lnTo>
                    <a:pt x="0" y="0"/>
                  </a:lnTo>
                  <a:lnTo>
                    <a:pt x="0" y="2362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275576" y="5862828"/>
              <a:ext cx="134620" cy="437515"/>
            </a:xfrm>
            <a:custGeom>
              <a:avLst/>
              <a:gdLst/>
              <a:ahLst/>
              <a:cxnLst/>
              <a:rect l="l" t="t" r="r" b="b"/>
              <a:pathLst>
                <a:path w="134620" h="437514">
                  <a:moveTo>
                    <a:pt x="134111" y="0"/>
                  </a:moveTo>
                  <a:lnTo>
                    <a:pt x="0" y="0"/>
                  </a:lnTo>
                  <a:lnTo>
                    <a:pt x="0" y="437388"/>
                  </a:lnTo>
                  <a:lnTo>
                    <a:pt x="134111" y="437388"/>
                  </a:lnTo>
                  <a:lnTo>
                    <a:pt x="134111" y="0"/>
                  </a:lnTo>
                  <a:close/>
                </a:path>
              </a:pathLst>
            </a:custGeom>
            <a:solidFill>
              <a:srgbClr val="B327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275576" y="5862828"/>
              <a:ext cx="134620" cy="437515"/>
            </a:xfrm>
            <a:custGeom>
              <a:avLst/>
              <a:gdLst/>
              <a:ahLst/>
              <a:cxnLst/>
              <a:rect l="l" t="t" r="r" b="b"/>
              <a:pathLst>
                <a:path w="134620" h="437514">
                  <a:moveTo>
                    <a:pt x="0" y="437388"/>
                  </a:moveTo>
                  <a:lnTo>
                    <a:pt x="134111" y="437388"/>
                  </a:lnTo>
                  <a:lnTo>
                    <a:pt x="134111" y="0"/>
                  </a:lnTo>
                  <a:lnTo>
                    <a:pt x="0" y="0"/>
                  </a:lnTo>
                  <a:lnTo>
                    <a:pt x="0" y="43738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279892" y="6063996"/>
              <a:ext cx="134620" cy="236220"/>
            </a:xfrm>
            <a:custGeom>
              <a:avLst/>
              <a:gdLst/>
              <a:ahLst/>
              <a:cxnLst/>
              <a:rect l="l" t="t" r="r" b="b"/>
              <a:pathLst>
                <a:path w="134620" h="236220">
                  <a:moveTo>
                    <a:pt x="134111" y="0"/>
                  </a:moveTo>
                  <a:lnTo>
                    <a:pt x="0" y="0"/>
                  </a:lnTo>
                  <a:lnTo>
                    <a:pt x="0" y="236219"/>
                  </a:lnTo>
                  <a:lnTo>
                    <a:pt x="134111" y="236219"/>
                  </a:lnTo>
                  <a:lnTo>
                    <a:pt x="134111" y="0"/>
                  </a:lnTo>
                  <a:close/>
                </a:path>
              </a:pathLst>
            </a:custGeom>
            <a:solidFill>
              <a:srgbClr val="B327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279892" y="6063996"/>
              <a:ext cx="134620" cy="236220"/>
            </a:xfrm>
            <a:custGeom>
              <a:avLst/>
              <a:gdLst/>
              <a:ahLst/>
              <a:cxnLst/>
              <a:rect l="l" t="t" r="r" b="b"/>
              <a:pathLst>
                <a:path w="134620" h="236220">
                  <a:moveTo>
                    <a:pt x="0" y="236219"/>
                  </a:moveTo>
                  <a:lnTo>
                    <a:pt x="134111" y="236219"/>
                  </a:lnTo>
                  <a:lnTo>
                    <a:pt x="134111" y="0"/>
                  </a:lnTo>
                  <a:lnTo>
                    <a:pt x="0" y="0"/>
                  </a:lnTo>
                  <a:lnTo>
                    <a:pt x="0" y="2362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96812" y="6187440"/>
              <a:ext cx="2380488" cy="262102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6540246" y="6236208"/>
              <a:ext cx="2208530" cy="129539"/>
            </a:xfrm>
            <a:custGeom>
              <a:avLst/>
              <a:gdLst/>
              <a:ahLst/>
              <a:cxnLst/>
              <a:rect l="l" t="t" r="r" b="b"/>
              <a:pathLst>
                <a:path w="2208529" h="129539">
                  <a:moveTo>
                    <a:pt x="2130552" y="0"/>
                  </a:moveTo>
                  <a:lnTo>
                    <a:pt x="2130552" y="129539"/>
                  </a:lnTo>
                  <a:lnTo>
                    <a:pt x="2192731" y="77723"/>
                  </a:lnTo>
                  <a:lnTo>
                    <a:pt x="2143505" y="77723"/>
                  </a:lnTo>
                  <a:lnTo>
                    <a:pt x="2143505" y="51815"/>
                  </a:lnTo>
                  <a:lnTo>
                    <a:pt x="2192731" y="51815"/>
                  </a:lnTo>
                  <a:lnTo>
                    <a:pt x="2130552" y="0"/>
                  </a:lnTo>
                  <a:close/>
                </a:path>
                <a:path w="2208529" h="129539">
                  <a:moveTo>
                    <a:pt x="2130552" y="51815"/>
                  </a:moveTo>
                  <a:lnTo>
                    <a:pt x="0" y="51815"/>
                  </a:lnTo>
                  <a:lnTo>
                    <a:pt x="0" y="77723"/>
                  </a:lnTo>
                  <a:lnTo>
                    <a:pt x="2130552" y="77723"/>
                  </a:lnTo>
                  <a:lnTo>
                    <a:pt x="2130552" y="51815"/>
                  </a:lnTo>
                  <a:close/>
                </a:path>
                <a:path w="2208529" h="129539">
                  <a:moveTo>
                    <a:pt x="2192731" y="51815"/>
                  </a:moveTo>
                  <a:lnTo>
                    <a:pt x="2143505" y="51815"/>
                  </a:lnTo>
                  <a:lnTo>
                    <a:pt x="2143505" y="77723"/>
                  </a:lnTo>
                  <a:lnTo>
                    <a:pt x="2192731" y="77723"/>
                  </a:lnTo>
                  <a:lnTo>
                    <a:pt x="2208276" y="64769"/>
                  </a:lnTo>
                  <a:lnTo>
                    <a:pt x="2192731" y="51815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6896" y="4646676"/>
              <a:ext cx="262102" cy="1712976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475476" y="4760214"/>
              <a:ext cx="129539" cy="1541145"/>
            </a:xfrm>
            <a:custGeom>
              <a:avLst/>
              <a:gdLst/>
              <a:ahLst/>
              <a:cxnLst/>
              <a:rect l="l" t="t" r="r" b="b"/>
              <a:pathLst>
                <a:path w="129540" h="1541145">
                  <a:moveTo>
                    <a:pt x="77724" y="64769"/>
                  </a:moveTo>
                  <a:lnTo>
                    <a:pt x="51816" y="64769"/>
                  </a:lnTo>
                  <a:lnTo>
                    <a:pt x="51816" y="1540764"/>
                  </a:lnTo>
                  <a:lnTo>
                    <a:pt x="77724" y="1540764"/>
                  </a:lnTo>
                  <a:lnTo>
                    <a:pt x="77724" y="64769"/>
                  </a:lnTo>
                  <a:close/>
                </a:path>
                <a:path w="129540" h="1541145">
                  <a:moveTo>
                    <a:pt x="64770" y="0"/>
                  </a:moveTo>
                  <a:lnTo>
                    <a:pt x="0" y="77724"/>
                  </a:lnTo>
                  <a:lnTo>
                    <a:pt x="51816" y="77724"/>
                  </a:lnTo>
                  <a:lnTo>
                    <a:pt x="51816" y="64769"/>
                  </a:lnTo>
                  <a:lnTo>
                    <a:pt x="118745" y="64769"/>
                  </a:lnTo>
                  <a:lnTo>
                    <a:pt x="64770" y="0"/>
                  </a:lnTo>
                  <a:close/>
                </a:path>
                <a:path w="129540" h="1541145">
                  <a:moveTo>
                    <a:pt x="118745" y="64769"/>
                  </a:moveTo>
                  <a:lnTo>
                    <a:pt x="77724" y="64769"/>
                  </a:lnTo>
                  <a:lnTo>
                    <a:pt x="77724" y="77724"/>
                  </a:lnTo>
                  <a:lnTo>
                    <a:pt x="129540" y="77724"/>
                  </a:lnTo>
                  <a:lnTo>
                    <a:pt x="118745" y="64769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12836" y="6380988"/>
              <a:ext cx="335279" cy="23317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40652" y="6367272"/>
              <a:ext cx="274320" cy="29870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08520" y="6367272"/>
              <a:ext cx="335279" cy="23317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10856" y="6377940"/>
              <a:ext cx="467868" cy="242315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15405" y="4746802"/>
              <a:ext cx="678934" cy="837336"/>
            </a:xfrm>
            <a:prstGeom prst="rect">
              <a:avLst/>
            </a:prstGeom>
          </p:spPr>
        </p:pic>
      </p:grpSp>
      <p:pic>
        <p:nvPicPr>
          <p:cNvPr id="63" name="object 6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81455" y="2781300"/>
            <a:ext cx="3437738" cy="1356360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291328" y="3357371"/>
            <a:ext cx="3220212" cy="477011"/>
          </a:xfrm>
          <a:prstGeom prst="rect">
            <a:avLst/>
          </a:prstGeom>
        </p:spPr>
      </p:pic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49</a:t>
            </a:fld>
            <a:endParaRPr spc="-5" dirty="0"/>
          </a:p>
        </p:txBody>
      </p:sp>
      <p:pic>
        <p:nvPicPr>
          <p:cNvPr id="66" name="Picture 4">
            <a:extLst>
              <a:ext uri="{FF2B5EF4-FFF2-40B4-BE49-F238E27FC236}">
                <a16:creationId xmlns:a16="http://schemas.microsoft.com/office/drawing/2014/main" id="{EC215D52-64C7-FBFD-21A3-E8B9F9456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" descr="Ingeniería de Sistemas - UNCP">
            <a:extLst>
              <a:ext uri="{FF2B5EF4-FFF2-40B4-BE49-F238E27FC236}">
                <a16:creationId xmlns:a16="http://schemas.microsoft.com/office/drawing/2014/main" id="{5A04712F-14B1-5D2F-A012-978862BC4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9201" y="260350"/>
            <a:ext cx="362457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Detección</a:t>
            </a:r>
            <a:r>
              <a:rPr spc="-4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Objetos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6432550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214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Clasificación</a:t>
            </a:r>
            <a:r>
              <a:rPr sz="2400" b="1" spc="-3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usando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Bag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of</a:t>
            </a:r>
            <a:r>
              <a:rPr sz="2400" b="1" spc="-2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Features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Ejemplo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representación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objeto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839" y="2668523"/>
            <a:ext cx="2125980" cy="15941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94988" y="4299203"/>
            <a:ext cx="3947160" cy="31394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7794" y="4278884"/>
            <a:ext cx="8178165" cy="172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…..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00">
              <a:latin typeface="Arial"/>
              <a:cs typeface="Arial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Cada </a:t>
            </a:r>
            <a:r>
              <a:rPr sz="2000" spc="-10" dirty="0">
                <a:latin typeface="Calibri"/>
                <a:cs typeface="Calibri"/>
              </a:rPr>
              <a:t>vector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10" dirty="0">
                <a:latin typeface="Calibri"/>
                <a:cs typeface="Calibri"/>
              </a:rPr>
              <a:t> entrada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un clasificador</a:t>
            </a:r>
            <a:endParaRPr sz="20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25" dirty="0">
                <a:latin typeface="Calibri"/>
                <a:cs typeface="Calibri"/>
              </a:rPr>
              <a:t>Para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reconocer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objeto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utiliza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clasificador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entrenado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880103" y="2247900"/>
            <a:ext cx="4867910" cy="2013585"/>
            <a:chOff x="3880103" y="2247900"/>
            <a:chExt cx="4867910" cy="2013585"/>
          </a:xfrm>
        </p:grpSpPr>
        <p:sp>
          <p:nvSpPr>
            <p:cNvPr id="8" name="object 8"/>
            <p:cNvSpPr/>
            <p:nvPr/>
          </p:nvSpPr>
          <p:spPr>
            <a:xfrm>
              <a:off x="3880104" y="2247899"/>
              <a:ext cx="4867910" cy="2013585"/>
            </a:xfrm>
            <a:custGeom>
              <a:avLst/>
              <a:gdLst/>
              <a:ahLst/>
              <a:cxnLst/>
              <a:rect l="l" t="t" r="r" b="b"/>
              <a:pathLst>
                <a:path w="4867909" h="2013585">
                  <a:moveTo>
                    <a:pt x="4867656" y="1975104"/>
                  </a:moveTo>
                  <a:lnTo>
                    <a:pt x="4854956" y="1968754"/>
                  </a:lnTo>
                  <a:lnTo>
                    <a:pt x="4791456" y="1937004"/>
                  </a:lnTo>
                  <a:lnTo>
                    <a:pt x="4791456" y="1968754"/>
                  </a:lnTo>
                  <a:lnTo>
                    <a:pt x="44450" y="1968754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1975104"/>
                  </a:lnTo>
                  <a:lnTo>
                    <a:pt x="38100" y="1975104"/>
                  </a:lnTo>
                  <a:lnTo>
                    <a:pt x="38100" y="1981454"/>
                  </a:lnTo>
                  <a:lnTo>
                    <a:pt x="4791456" y="1981454"/>
                  </a:lnTo>
                  <a:lnTo>
                    <a:pt x="4791456" y="2013204"/>
                  </a:lnTo>
                  <a:lnTo>
                    <a:pt x="4854956" y="1981454"/>
                  </a:lnTo>
                  <a:lnTo>
                    <a:pt x="4867656" y="19751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86427" y="3796283"/>
              <a:ext cx="160020" cy="426720"/>
            </a:xfrm>
            <a:custGeom>
              <a:avLst/>
              <a:gdLst/>
              <a:ahLst/>
              <a:cxnLst/>
              <a:rect l="l" t="t" r="r" b="b"/>
              <a:pathLst>
                <a:path w="160020" h="426720">
                  <a:moveTo>
                    <a:pt x="160020" y="0"/>
                  </a:moveTo>
                  <a:lnTo>
                    <a:pt x="0" y="0"/>
                  </a:lnTo>
                  <a:lnTo>
                    <a:pt x="0" y="426719"/>
                  </a:lnTo>
                  <a:lnTo>
                    <a:pt x="160020" y="426719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86427" y="3796283"/>
              <a:ext cx="160020" cy="426720"/>
            </a:xfrm>
            <a:custGeom>
              <a:avLst/>
              <a:gdLst/>
              <a:ahLst/>
              <a:cxnLst/>
              <a:rect l="l" t="t" r="r" b="b"/>
              <a:pathLst>
                <a:path w="160020" h="426720">
                  <a:moveTo>
                    <a:pt x="0" y="426719"/>
                  </a:moveTo>
                  <a:lnTo>
                    <a:pt x="160020" y="426719"/>
                  </a:lnTo>
                  <a:lnTo>
                    <a:pt x="160020" y="0"/>
                  </a:lnTo>
                  <a:lnTo>
                    <a:pt x="0" y="0"/>
                  </a:lnTo>
                  <a:lnTo>
                    <a:pt x="0" y="426719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06467" y="2994659"/>
              <a:ext cx="160020" cy="1228725"/>
            </a:xfrm>
            <a:custGeom>
              <a:avLst/>
              <a:gdLst/>
              <a:ahLst/>
              <a:cxnLst/>
              <a:rect l="l" t="t" r="r" b="b"/>
              <a:pathLst>
                <a:path w="160020" h="1228725">
                  <a:moveTo>
                    <a:pt x="160020" y="0"/>
                  </a:moveTo>
                  <a:lnTo>
                    <a:pt x="0" y="0"/>
                  </a:lnTo>
                  <a:lnTo>
                    <a:pt x="0" y="1228344"/>
                  </a:lnTo>
                  <a:lnTo>
                    <a:pt x="160020" y="1228344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06467" y="2994659"/>
              <a:ext cx="160020" cy="1228725"/>
            </a:xfrm>
            <a:custGeom>
              <a:avLst/>
              <a:gdLst/>
              <a:ahLst/>
              <a:cxnLst/>
              <a:rect l="l" t="t" r="r" b="b"/>
              <a:pathLst>
                <a:path w="160020" h="1228725">
                  <a:moveTo>
                    <a:pt x="0" y="1228344"/>
                  </a:moveTo>
                  <a:lnTo>
                    <a:pt x="160020" y="1228344"/>
                  </a:lnTo>
                  <a:lnTo>
                    <a:pt x="160020" y="0"/>
                  </a:lnTo>
                  <a:lnTo>
                    <a:pt x="0" y="0"/>
                  </a:lnTo>
                  <a:lnTo>
                    <a:pt x="0" y="122834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79847" y="3208019"/>
              <a:ext cx="160020" cy="1015365"/>
            </a:xfrm>
            <a:custGeom>
              <a:avLst/>
              <a:gdLst/>
              <a:ahLst/>
              <a:cxnLst/>
              <a:rect l="l" t="t" r="r" b="b"/>
              <a:pathLst>
                <a:path w="160020" h="1015364">
                  <a:moveTo>
                    <a:pt x="160020" y="0"/>
                  </a:moveTo>
                  <a:lnTo>
                    <a:pt x="0" y="0"/>
                  </a:lnTo>
                  <a:lnTo>
                    <a:pt x="0" y="1014983"/>
                  </a:lnTo>
                  <a:lnTo>
                    <a:pt x="160020" y="1014983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79847" y="3208019"/>
              <a:ext cx="160020" cy="1015365"/>
            </a:xfrm>
            <a:custGeom>
              <a:avLst/>
              <a:gdLst/>
              <a:ahLst/>
              <a:cxnLst/>
              <a:rect l="l" t="t" r="r" b="b"/>
              <a:pathLst>
                <a:path w="160020" h="1015364">
                  <a:moveTo>
                    <a:pt x="0" y="1014983"/>
                  </a:moveTo>
                  <a:lnTo>
                    <a:pt x="160020" y="1014983"/>
                  </a:lnTo>
                  <a:lnTo>
                    <a:pt x="160020" y="0"/>
                  </a:lnTo>
                  <a:lnTo>
                    <a:pt x="0" y="0"/>
                  </a:lnTo>
                  <a:lnTo>
                    <a:pt x="0" y="101498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53227" y="4009644"/>
              <a:ext cx="160020" cy="213360"/>
            </a:xfrm>
            <a:custGeom>
              <a:avLst/>
              <a:gdLst/>
              <a:ahLst/>
              <a:cxnLst/>
              <a:rect l="l" t="t" r="r" b="b"/>
              <a:pathLst>
                <a:path w="160020" h="213360">
                  <a:moveTo>
                    <a:pt x="160020" y="0"/>
                  </a:moveTo>
                  <a:lnTo>
                    <a:pt x="0" y="0"/>
                  </a:lnTo>
                  <a:lnTo>
                    <a:pt x="0" y="213359"/>
                  </a:lnTo>
                  <a:lnTo>
                    <a:pt x="160020" y="213359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53227" y="4009644"/>
              <a:ext cx="160020" cy="213360"/>
            </a:xfrm>
            <a:custGeom>
              <a:avLst/>
              <a:gdLst/>
              <a:ahLst/>
              <a:cxnLst/>
              <a:rect l="l" t="t" r="r" b="b"/>
              <a:pathLst>
                <a:path w="160020" h="213360">
                  <a:moveTo>
                    <a:pt x="0" y="213359"/>
                  </a:moveTo>
                  <a:lnTo>
                    <a:pt x="160020" y="213359"/>
                  </a:lnTo>
                  <a:lnTo>
                    <a:pt x="160020" y="0"/>
                  </a:lnTo>
                  <a:lnTo>
                    <a:pt x="0" y="0"/>
                  </a:lnTo>
                  <a:lnTo>
                    <a:pt x="0" y="21335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26607" y="2621279"/>
              <a:ext cx="160020" cy="1602105"/>
            </a:xfrm>
            <a:custGeom>
              <a:avLst/>
              <a:gdLst/>
              <a:ahLst/>
              <a:cxnLst/>
              <a:rect l="l" t="t" r="r" b="b"/>
              <a:pathLst>
                <a:path w="160020" h="1602104">
                  <a:moveTo>
                    <a:pt x="160020" y="0"/>
                  </a:moveTo>
                  <a:lnTo>
                    <a:pt x="0" y="0"/>
                  </a:lnTo>
                  <a:lnTo>
                    <a:pt x="0" y="1601724"/>
                  </a:lnTo>
                  <a:lnTo>
                    <a:pt x="160020" y="1601724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26607" y="2621279"/>
              <a:ext cx="160020" cy="1602105"/>
            </a:xfrm>
            <a:custGeom>
              <a:avLst/>
              <a:gdLst/>
              <a:ahLst/>
              <a:cxnLst/>
              <a:rect l="l" t="t" r="r" b="b"/>
              <a:pathLst>
                <a:path w="160020" h="1602104">
                  <a:moveTo>
                    <a:pt x="0" y="1601724"/>
                  </a:moveTo>
                  <a:lnTo>
                    <a:pt x="160020" y="1601724"/>
                  </a:lnTo>
                  <a:lnTo>
                    <a:pt x="160020" y="0"/>
                  </a:lnTo>
                  <a:lnTo>
                    <a:pt x="0" y="0"/>
                  </a:lnTo>
                  <a:lnTo>
                    <a:pt x="0" y="160172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999987" y="3421380"/>
              <a:ext cx="160020" cy="802005"/>
            </a:xfrm>
            <a:custGeom>
              <a:avLst/>
              <a:gdLst/>
              <a:ahLst/>
              <a:cxnLst/>
              <a:rect l="l" t="t" r="r" b="b"/>
              <a:pathLst>
                <a:path w="160020" h="802004">
                  <a:moveTo>
                    <a:pt x="160020" y="0"/>
                  </a:moveTo>
                  <a:lnTo>
                    <a:pt x="0" y="0"/>
                  </a:lnTo>
                  <a:lnTo>
                    <a:pt x="0" y="801623"/>
                  </a:lnTo>
                  <a:lnTo>
                    <a:pt x="160020" y="801623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99987" y="3421380"/>
              <a:ext cx="160020" cy="802005"/>
            </a:xfrm>
            <a:custGeom>
              <a:avLst/>
              <a:gdLst/>
              <a:ahLst/>
              <a:cxnLst/>
              <a:rect l="l" t="t" r="r" b="b"/>
              <a:pathLst>
                <a:path w="160020" h="802004">
                  <a:moveTo>
                    <a:pt x="0" y="801623"/>
                  </a:moveTo>
                  <a:lnTo>
                    <a:pt x="160020" y="801623"/>
                  </a:lnTo>
                  <a:lnTo>
                    <a:pt x="160020" y="0"/>
                  </a:lnTo>
                  <a:lnTo>
                    <a:pt x="0" y="0"/>
                  </a:lnTo>
                  <a:lnTo>
                    <a:pt x="0" y="80162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373367" y="3101339"/>
              <a:ext cx="160020" cy="1122045"/>
            </a:xfrm>
            <a:custGeom>
              <a:avLst/>
              <a:gdLst/>
              <a:ahLst/>
              <a:cxnLst/>
              <a:rect l="l" t="t" r="r" b="b"/>
              <a:pathLst>
                <a:path w="160020" h="1122045">
                  <a:moveTo>
                    <a:pt x="160019" y="0"/>
                  </a:moveTo>
                  <a:lnTo>
                    <a:pt x="0" y="0"/>
                  </a:lnTo>
                  <a:lnTo>
                    <a:pt x="0" y="1121663"/>
                  </a:lnTo>
                  <a:lnTo>
                    <a:pt x="160019" y="1121663"/>
                  </a:lnTo>
                  <a:lnTo>
                    <a:pt x="160019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73367" y="3101339"/>
              <a:ext cx="160020" cy="1122045"/>
            </a:xfrm>
            <a:custGeom>
              <a:avLst/>
              <a:gdLst/>
              <a:ahLst/>
              <a:cxnLst/>
              <a:rect l="l" t="t" r="r" b="b"/>
              <a:pathLst>
                <a:path w="160020" h="1122045">
                  <a:moveTo>
                    <a:pt x="0" y="1121663"/>
                  </a:moveTo>
                  <a:lnTo>
                    <a:pt x="160019" y="1121663"/>
                  </a:lnTo>
                  <a:lnTo>
                    <a:pt x="160019" y="0"/>
                  </a:lnTo>
                  <a:lnTo>
                    <a:pt x="0" y="0"/>
                  </a:lnTo>
                  <a:lnTo>
                    <a:pt x="0" y="11216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94931" y="3634739"/>
              <a:ext cx="160020" cy="588645"/>
            </a:xfrm>
            <a:custGeom>
              <a:avLst/>
              <a:gdLst/>
              <a:ahLst/>
              <a:cxnLst/>
              <a:rect l="l" t="t" r="r" b="b"/>
              <a:pathLst>
                <a:path w="160020" h="588645">
                  <a:moveTo>
                    <a:pt x="160020" y="0"/>
                  </a:moveTo>
                  <a:lnTo>
                    <a:pt x="0" y="0"/>
                  </a:lnTo>
                  <a:lnTo>
                    <a:pt x="0" y="588263"/>
                  </a:lnTo>
                  <a:lnTo>
                    <a:pt x="160020" y="588263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694931" y="3634739"/>
              <a:ext cx="160020" cy="588645"/>
            </a:xfrm>
            <a:custGeom>
              <a:avLst/>
              <a:gdLst/>
              <a:ahLst/>
              <a:cxnLst/>
              <a:rect l="l" t="t" r="r" b="b"/>
              <a:pathLst>
                <a:path w="160020" h="588645">
                  <a:moveTo>
                    <a:pt x="0" y="588263"/>
                  </a:moveTo>
                  <a:lnTo>
                    <a:pt x="160020" y="588263"/>
                  </a:lnTo>
                  <a:lnTo>
                    <a:pt x="160020" y="0"/>
                  </a:lnTo>
                  <a:lnTo>
                    <a:pt x="0" y="0"/>
                  </a:lnTo>
                  <a:lnTo>
                    <a:pt x="0" y="5882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068311" y="2994659"/>
              <a:ext cx="160020" cy="1228725"/>
            </a:xfrm>
            <a:custGeom>
              <a:avLst/>
              <a:gdLst/>
              <a:ahLst/>
              <a:cxnLst/>
              <a:rect l="l" t="t" r="r" b="b"/>
              <a:pathLst>
                <a:path w="160020" h="1228725">
                  <a:moveTo>
                    <a:pt x="160020" y="0"/>
                  </a:moveTo>
                  <a:lnTo>
                    <a:pt x="0" y="0"/>
                  </a:lnTo>
                  <a:lnTo>
                    <a:pt x="0" y="1228344"/>
                  </a:lnTo>
                  <a:lnTo>
                    <a:pt x="160020" y="1228344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068311" y="2994659"/>
              <a:ext cx="160020" cy="1228725"/>
            </a:xfrm>
            <a:custGeom>
              <a:avLst/>
              <a:gdLst/>
              <a:ahLst/>
              <a:cxnLst/>
              <a:rect l="l" t="t" r="r" b="b"/>
              <a:pathLst>
                <a:path w="160020" h="1228725">
                  <a:moveTo>
                    <a:pt x="0" y="1228344"/>
                  </a:moveTo>
                  <a:lnTo>
                    <a:pt x="160020" y="1228344"/>
                  </a:lnTo>
                  <a:lnTo>
                    <a:pt x="160020" y="0"/>
                  </a:lnTo>
                  <a:lnTo>
                    <a:pt x="0" y="0"/>
                  </a:lnTo>
                  <a:lnTo>
                    <a:pt x="0" y="122834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441691" y="3902964"/>
              <a:ext cx="160020" cy="320040"/>
            </a:xfrm>
            <a:custGeom>
              <a:avLst/>
              <a:gdLst/>
              <a:ahLst/>
              <a:cxnLst/>
              <a:rect l="l" t="t" r="r" b="b"/>
              <a:pathLst>
                <a:path w="160020" h="320039">
                  <a:moveTo>
                    <a:pt x="160020" y="0"/>
                  </a:moveTo>
                  <a:lnTo>
                    <a:pt x="0" y="0"/>
                  </a:lnTo>
                  <a:lnTo>
                    <a:pt x="0" y="320039"/>
                  </a:lnTo>
                  <a:lnTo>
                    <a:pt x="160020" y="320039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441691" y="3902964"/>
              <a:ext cx="160020" cy="320040"/>
            </a:xfrm>
            <a:custGeom>
              <a:avLst/>
              <a:gdLst/>
              <a:ahLst/>
              <a:cxnLst/>
              <a:rect l="l" t="t" r="r" b="b"/>
              <a:pathLst>
                <a:path w="160020" h="320039">
                  <a:moveTo>
                    <a:pt x="0" y="320039"/>
                  </a:moveTo>
                  <a:lnTo>
                    <a:pt x="160020" y="320039"/>
                  </a:lnTo>
                  <a:lnTo>
                    <a:pt x="160020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761732" y="3314700"/>
              <a:ext cx="160020" cy="908685"/>
            </a:xfrm>
            <a:custGeom>
              <a:avLst/>
              <a:gdLst/>
              <a:ahLst/>
              <a:cxnLst/>
              <a:rect l="l" t="t" r="r" b="b"/>
              <a:pathLst>
                <a:path w="160020" h="908685">
                  <a:moveTo>
                    <a:pt x="160020" y="0"/>
                  </a:moveTo>
                  <a:lnTo>
                    <a:pt x="0" y="0"/>
                  </a:lnTo>
                  <a:lnTo>
                    <a:pt x="0" y="908304"/>
                  </a:lnTo>
                  <a:lnTo>
                    <a:pt x="160020" y="908304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761732" y="3314700"/>
              <a:ext cx="160020" cy="908685"/>
            </a:xfrm>
            <a:custGeom>
              <a:avLst/>
              <a:gdLst/>
              <a:ahLst/>
              <a:cxnLst/>
              <a:rect l="l" t="t" r="r" b="b"/>
              <a:pathLst>
                <a:path w="160020" h="908685">
                  <a:moveTo>
                    <a:pt x="0" y="908304"/>
                  </a:moveTo>
                  <a:lnTo>
                    <a:pt x="160020" y="908304"/>
                  </a:lnTo>
                  <a:lnTo>
                    <a:pt x="160020" y="0"/>
                  </a:lnTo>
                  <a:lnTo>
                    <a:pt x="0" y="0"/>
                  </a:lnTo>
                  <a:lnTo>
                    <a:pt x="0" y="90830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657472" y="2946998"/>
            <a:ext cx="228600" cy="88391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frecuencia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50</a:t>
            </a:fld>
            <a:endParaRPr spc="-5" dirty="0"/>
          </a:p>
        </p:txBody>
      </p:sp>
      <p:pic>
        <p:nvPicPr>
          <p:cNvPr id="33" name="Picture 4">
            <a:extLst>
              <a:ext uri="{FF2B5EF4-FFF2-40B4-BE49-F238E27FC236}">
                <a16:creationId xmlns:a16="http://schemas.microsoft.com/office/drawing/2014/main" id="{A121417A-D9BE-EDE4-E553-F865397AC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6" descr="Ingeniería de Sistemas - UNCP">
            <a:extLst>
              <a:ext uri="{FF2B5EF4-FFF2-40B4-BE49-F238E27FC236}">
                <a16:creationId xmlns:a16="http://schemas.microsoft.com/office/drawing/2014/main" id="{BA199E81-37BE-E720-AED1-D4F85AD90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9201" y="260350"/>
            <a:ext cx="362457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Detección</a:t>
            </a:r>
            <a:r>
              <a:rPr spc="-4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Objetos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52187"/>
            <a:ext cx="4403725" cy="131064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Bases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datos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para</a:t>
            </a:r>
            <a:r>
              <a:rPr sz="2000" spc="-10" dirty="0">
                <a:latin typeface="Calibri"/>
                <a:cs typeface="Calibri"/>
              </a:rPr>
              <a:t> entrenamiento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9"/>
              </a:spcBef>
              <a:buChar char="-"/>
              <a:tabLst>
                <a:tab pos="389255" algn="l"/>
              </a:tabLst>
            </a:pPr>
            <a:r>
              <a:rPr sz="1800" spc="-25" dirty="0">
                <a:latin typeface="Calibri"/>
                <a:cs typeface="Calibri"/>
              </a:rPr>
              <a:t>PASCAL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VOC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(Visual</a:t>
            </a:r>
            <a:r>
              <a:rPr sz="16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Object</a:t>
            </a:r>
            <a:r>
              <a:rPr sz="16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Classes)</a:t>
            </a:r>
            <a:r>
              <a:rPr sz="1600" spc="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Challenge</a:t>
            </a:r>
            <a:endParaRPr sz="18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10" dirty="0">
                <a:latin typeface="Calibri"/>
                <a:cs typeface="Calibri"/>
                <a:hlinkClick r:id="rId2"/>
              </a:rPr>
              <a:t>http://host.robots.ox.ac.uk/pascal/VOC</a:t>
            </a:r>
            <a:endParaRPr sz="16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384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Calibri"/>
                <a:cs typeface="Calibri"/>
              </a:rPr>
              <a:t>20</a:t>
            </a:r>
            <a:r>
              <a:rPr sz="1600" spc="-10" dirty="0">
                <a:latin typeface="Calibri"/>
                <a:cs typeface="Calibri"/>
              </a:rPr>
              <a:t> Categorías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2348" y="5321813"/>
            <a:ext cx="4899660" cy="94615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72720" indent="-160020">
              <a:lnSpc>
                <a:spcPct val="100000"/>
              </a:lnSpc>
              <a:spcBef>
                <a:spcPts val="555"/>
              </a:spcBef>
              <a:buChar char="-"/>
              <a:tabLst>
                <a:tab pos="172720" algn="l"/>
              </a:tabLst>
            </a:pPr>
            <a:r>
              <a:rPr sz="1800" spc="-5" dirty="0">
                <a:latin typeface="Calibri"/>
                <a:cs typeface="Calibri"/>
              </a:rPr>
              <a:t>ImageNet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Large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Scale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Visual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Recognition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Challenge</a:t>
            </a:r>
            <a:endParaRPr sz="1800">
              <a:latin typeface="Calibri"/>
              <a:cs typeface="Calibri"/>
            </a:endParaRPr>
          </a:p>
          <a:p>
            <a:pPr marL="394970" lvl="1" indent="-226060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394970" algn="l"/>
                <a:tab pos="395605" algn="l"/>
              </a:tabLst>
            </a:pPr>
            <a:r>
              <a:rPr sz="1600" spc="-5" dirty="0">
                <a:latin typeface="Calibri"/>
                <a:cs typeface="Calibri"/>
              </a:rPr>
              <a:t>200</a:t>
            </a:r>
            <a:r>
              <a:rPr sz="1600" spc="-10" dirty="0">
                <a:latin typeface="Calibri"/>
                <a:cs typeface="Calibri"/>
              </a:rPr>
              <a:t> categorías</a:t>
            </a:r>
            <a:endParaRPr sz="1600">
              <a:latin typeface="Calibri"/>
              <a:cs typeface="Calibri"/>
            </a:endParaRPr>
          </a:p>
          <a:p>
            <a:pPr marL="394970" lvl="1" indent="-22606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94970" algn="l"/>
                <a:tab pos="395605" algn="l"/>
              </a:tabLst>
            </a:pPr>
            <a:r>
              <a:rPr sz="1600" spc="-5" dirty="0">
                <a:latin typeface="Calibri"/>
                <a:cs typeface="Calibri"/>
                <a:hlinkClick r:id="rId3"/>
              </a:rPr>
              <a:t>http://image-net.org/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03603" y="2781300"/>
            <a:ext cx="6768083" cy="204520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51</a:t>
            </a:fld>
            <a:endParaRPr spc="-5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B30E3A0A-D7B0-898A-8CF6-7B2689889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54EA9A78-8980-78D8-5E97-4EC967418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9201" y="260350"/>
            <a:ext cx="362457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Detección</a:t>
            </a:r>
            <a:r>
              <a:rPr spc="-4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Objetos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52187"/>
            <a:ext cx="4307205" cy="131064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Bases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datos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para</a:t>
            </a:r>
            <a:r>
              <a:rPr sz="2000" spc="-10" dirty="0">
                <a:latin typeface="Calibri"/>
                <a:cs typeface="Calibri"/>
              </a:rPr>
              <a:t> entrenamiento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9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CoCo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(Common</a:t>
            </a:r>
            <a:r>
              <a:rPr sz="16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Objects</a:t>
            </a:r>
            <a:r>
              <a:rPr sz="16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in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Context) </a:t>
            </a:r>
            <a:r>
              <a:rPr sz="1800" spc="-5" dirty="0">
                <a:latin typeface="Calibri"/>
                <a:cs typeface="Calibri"/>
              </a:rPr>
              <a:t>challenge</a:t>
            </a:r>
            <a:endParaRPr sz="18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10" dirty="0">
                <a:latin typeface="Calibri"/>
                <a:cs typeface="Calibri"/>
              </a:rPr>
              <a:t>https://cocodataset.org</a:t>
            </a:r>
            <a:endParaRPr sz="16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384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Calibri"/>
                <a:cs typeface="Calibri"/>
              </a:rPr>
              <a:t>80</a:t>
            </a:r>
            <a:r>
              <a:rPr sz="1600" spc="-10" dirty="0">
                <a:latin typeface="Calibri"/>
                <a:cs typeface="Calibri"/>
              </a:rPr>
              <a:t> Categorías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196" y="4869179"/>
            <a:ext cx="6926580" cy="140360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7196" y="2781300"/>
            <a:ext cx="6926580" cy="174498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52</a:t>
            </a:fld>
            <a:endParaRPr spc="-5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BB64BEF-5B25-A807-36B0-3DC279D58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D220288B-CF8A-81EF-05FD-0D219D64B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463" y="1758442"/>
            <a:ext cx="8247380" cy="4154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5" dirty="0">
                <a:solidFill>
                  <a:srgbClr val="30859C"/>
                </a:solidFill>
                <a:latin typeface="Calibri"/>
                <a:cs typeface="Calibri"/>
              </a:rPr>
              <a:t>R.</a:t>
            </a:r>
            <a:r>
              <a:rPr sz="2000" spc="-15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0859C"/>
                </a:solidFill>
                <a:latin typeface="Calibri"/>
                <a:cs typeface="Calibri"/>
              </a:rPr>
              <a:t>Gonzales,</a:t>
            </a:r>
            <a:r>
              <a:rPr sz="2000" spc="5" dirty="0">
                <a:solidFill>
                  <a:srgbClr val="30859C"/>
                </a:solidFill>
                <a:latin typeface="Calibri"/>
                <a:cs typeface="Calibri"/>
              </a:rPr>
              <a:t> R.</a:t>
            </a:r>
            <a:r>
              <a:rPr sz="2000" spc="-2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0859C"/>
                </a:solidFill>
                <a:latin typeface="Calibri"/>
                <a:cs typeface="Calibri"/>
              </a:rPr>
              <a:t>Woods,</a:t>
            </a:r>
            <a:r>
              <a:rPr sz="2000" spc="-1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i="1" spc="-10" dirty="0">
                <a:solidFill>
                  <a:srgbClr val="30859C"/>
                </a:solidFill>
                <a:latin typeface="Calibri"/>
                <a:cs typeface="Calibri"/>
              </a:rPr>
              <a:t>Digital </a:t>
            </a:r>
            <a:r>
              <a:rPr sz="2000" i="1" dirty="0">
                <a:solidFill>
                  <a:srgbClr val="30859C"/>
                </a:solidFill>
                <a:latin typeface="Calibri"/>
                <a:cs typeface="Calibri"/>
              </a:rPr>
              <a:t>Image</a:t>
            </a:r>
            <a:r>
              <a:rPr sz="2000" i="1" spc="-15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0859C"/>
                </a:solidFill>
                <a:latin typeface="Calibri"/>
                <a:cs typeface="Calibri"/>
              </a:rPr>
              <a:t>Processing</a:t>
            </a:r>
            <a:r>
              <a:rPr sz="2000" spc="-5" dirty="0">
                <a:solidFill>
                  <a:srgbClr val="30859C"/>
                </a:solidFill>
                <a:latin typeface="Calibri"/>
                <a:cs typeface="Calibri"/>
              </a:rPr>
              <a:t>.</a:t>
            </a:r>
            <a:r>
              <a:rPr sz="2000" spc="-2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0859C"/>
                </a:solidFill>
                <a:latin typeface="Calibri"/>
                <a:cs typeface="Calibri"/>
              </a:rPr>
              <a:t>Pearson</a:t>
            </a:r>
            <a:r>
              <a:rPr sz="2000" spc="5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0859C"/>
                </a:solidFill>
                <a:latin typeface="Calibri"/>
                <a:cs typeface="Calibri"/>
              </a:rPr>
              <a:t>Edition,</a:t>
            </a:r>
            <a:r>
              <a:rPr sz="2000" spc="-2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0859C"/>
                </a:solidFill>
                <a:latin typeface="Calibri"/>
                <a:cs typeface="Calibri"/>
              </a:rPr>
              <a:t>2017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30859C"/>
              </a:buClr>
              <a:buFont typeface="Calibri"/>
              <a:buChar char="•"/>
            </a:pPr>
            <a:endParaRPr sz="2000">
              <a:latin typeface="Calibri"/>
              <a:cs typeface="Calibri"/>
            </a:endParaRPr>
          </a:p>
          <a:p>
            <a:pPr marL="354965" marR="508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30859C"/>
                </a:solidFill>
                <a:latin typeface="Calibri"/>
                <a:cs typeface="Calibri"/>
              </a:rPr>
              <a:t>E.</a:t>
            </a:r>
            <a:r>
              <a:rPr sz="2000" spc="-2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30859C"/>
                </a:solidFill>
                <a:latin typeface="Calibri"/>
                <a:cs typeface="Calibri"/>
              </a:rPr>
              <a:t>Trucco,</a:t>
            </a:r>
            <a:r>
              <a:rPr sz="2000" spc="-1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30859C"/>
                </a:solidFill>
                <a:latin typeface="Calibri"/>
                <a:cs typeface="Calibri"/>
              </a:rPr>
              <a:t>A.</a:t>
            </a:r>
            <a:r>
              <a:rPr sz="2000" spc="-5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0859C"/>
                </a:solidFill>
                <a:latin typeface="Calibri"/>
                <a:cs typeface="Calibri"/>
              </a:rPr>
              <a:t>Verri,</a:t>
            </a:r>
            <a:r>
              <a:rPr sz="2000" spc="15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0859C"/>
                </a:solidFill>
                <a:latin typeface="Calibri"/>
                <a:cs typeface="Calibri"/>
              </a:rPr>
              <a:t>Introductory</a:t>
            </a:r>
            <a:r>
              <a:rPr sz="2000" i="1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i="1" spc="-15" dirty="0">
                <a:solidFill>
                  <a:srgbClr val="30859C"/>
                </a:solidFill>
                <a:latin typeface="Calibri"/>
                <a:cs typeface="Calibri"/>
              </a:rPr>
              <a:t>Techniques</a:t>
            </a:r>
            <a:r>
              <a:rPr sz="2000" i="1" spc="-35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i="1" spc="-10" dirty="0">
                <a:solidFill>
                  <a:srgbClr val="30859C"/>
                </a:solidFill>
                <a:latin typeface="Calibri"/>
                <a:cs typeface="Calibri"/>
              </a:rPr>
              <a:t>for</a:t>
            </a:r>
            <a:r>
              <a:rPr sz="2000" i="1" spc="-5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i="1" spc="-15" dirty="0">
                <a:solidFill>
                  <a:srgbClr val="30859C"/>
                </a:solidFill>
                <a:latin typeface="Calibri"/>
                <a:cs typeface="Calibri"/>
              </a:rPr>
              <a:t>3-D</a:t>
            </a:r>
            <a:r>
              <a:rPr sz="2000" i="1" spc="-1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0859C"/>
                </a:solidFill>
                <a:latin typeface="Calibri"/>
                <a:cs typeface="Calibri"/>
              </a:rPr>
              <a:t>Computer</a:t>
            </a:r>
            <a:r>
              <a:rPr sz="2000" i="1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0859C"/>
                </a:solidFill>
                <a:latin typeface="Calibri"/>
                <a:cs typeface="Calibri"/>
              </a:rPr>
              <a:t>Vision</a:t>
            </a:r>
            <a:r>
              <a:rPr sz="2000" spc="-5" dirty="0">
                <a:solidFill>
                  <a:srgbClr val="30859C"/>
                </a:solidFill>
                <a:latin typeface="Calibri"/>
                <a:cs typeface="Calibri"/>
              </a:rPr>
              <a:t>.</a:t>
            </a:r>
            <a:r>
              <a:rPr sz="2000" spc="-2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0859C"/>
                </a:solidFill>
                <a:latin typeface="Calibri"/>
                <a:cs typeface="Calibri"/>
              </a:rPr>
              <a:t>Prentice </a:t>
            </a:r>
            <a:r>
              <a:rPr sz="2000" spc="-434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0859C"/>
                </a:solidFill>
                <a:latin typeface="Calibri"/>
                <a:cs typeface="Calibri"/>
              </a:rPr>
              <a:t>Hall,</a:t>
            </a:r>
            <a:r>
              <a:rPr sz="2000" spc="1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0859C"/>
                </a:solidFill>
                <a:latin typeface="Calibri"/>
                <a:cs typeface="Calibri"/>
              </a:rPr>
              <a:t>1998.</a:t>
            </a:r>
            <a:r>
              <a:rPr sz="2000" spc="-4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7E7E7E"/>
                </a:solidFill>
                <a:latin typeface="Calibri"/>
                <a:cs typeface="Calibri"/>
              </a:rPr>
              <a:t>(</a:t>
            </a:r>
            <a:r>
              <a:rPr sz="1800" i="1" spc="-5" dirty="0">
                <a:solidFill>
                  <a:srgbClr val="7E7E7E"/>
                </a:solidFill>
                <a:latin typeface="Calibri"/>
                <a:cs typeface="Calibri"/>
              </a:rPr>
              <a:t>Capítulos</a:t>
            </a:r>
            <a:r>
              <a:rPr sz="1800" i="1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i="1" spc="-5" dirty="0">
                <a:solidFill>
                  <a:srgbClr val="7E7E7E"/>
                </a:solidFill>
                <a:latin typeface="Calibri"/>
                <a:cs typeface="Calibri"/>
              </a:rPr>
              <a:t>3-5</a:t>
            </a:r>
            <a:r>
              <a:rPr sz="2000" spc="-5" dirty="0">
                <a:solidFill>
                  <a:srgbClr val="7E7E7E"/>
                </a:solidFill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30859C"/>
              </a:buClr>
              <a:buFont typeface="Calibri"/>
              <a:buChar char="•"/>
            </a:pP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000" spc="5" dirty="0">
                <a:solidFill>
                  <a:srgbClr val="30859C"/>
                </a:solidFill>
                <a:latin typeface="Calibri"/>
                <a:cs typeface="Calibri"/>
              </a:rPr>
              <a:t>R.</a:t>
            </a:r>
            <a:r>
              <a:rPr sz="2000" spc="-5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0859C"/>
                </a:solidFill>
                <a:latin typeface="Calibri"/>
                <a:cs typeface="Calibri"/>
              </a:rPr>
              <a:t>Szeliski.</a:t>
            </a:r>
            <a:r>
              <a:rPr sz="2000" spc="2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0859C"/>
                </a:solidFill>
                <a:latin typeface="Calibri"/>
                <a:cs typeface="Calibri"/>
              </a:rPr>
              <a:t>Computer</a:t>
            </a:r>
            <a:r>
              <a:rPr sz="2000" i="1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0859C"/>
                </a:solidFill>
                <a:latin typeface="Calibri"/>
                <a:cs typeface="Calibri"/>
              </a:rPr>
              <a:t>Vision:</a:t>
            </a:r>
            <a:r>
              <a:rPr sz="2000" i="1" spc="-15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30859C"/>
                </a:solidFill>
                <a:latin typeface="Calibri"/>
                <a:cs typeface="Calibri"/>
              </a:rPr>
              <a:t>Algorithms</a:t>
            </a:r>
            <a:r>
              <a:rPr sz="2000" i="1" spc="1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0859C"/>
                </a:solidFill>
                <a:latin typeface="Calibri"/>
                <a:cs typeface="Calibri"/>
              </a:rPr>
              <a:t>and</a:t>
            </a:r>
            <a:r>
              <a:rPr sz="2000" i="1" spc="-2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0859C"/>
                </a:solidFill>
                <a:latin typeface="Calibri"/>
                <a:cs typeface="Calibri"/>
              </a:rPr>
              <a:t>Applications</a:t>
            </a:r>
            <a:r>
              <a:rPr sz="2000" spc="-5" dirty="0">
                <a:solidFill>
                  <a:srgbClr val="30859C"/>
                </a:solidFill>
                <a:latin typeface="Calibri"/>
                <a:cs typeface="Calibri"/>
              </a:rPr>
              <a:t>.</a:t>
            </a:r>
            <a:r>
              <a:rPr sz="2000" spc="-1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30859C"/>
                </a:solidFill>
                <a:latin typeface="Calibri"/>
                <a:cs typeface="Calibri"/>
              </a:rPr>
              <a:t>Springer,</a:t>
            </a:r>
            <a:r>
              <a:rPr sz="2000" spc="-1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0859C"/>
                </a:solidFill>
                <a:latin typeface="Calibri"/>
                <a:cs typeface="Calibri"/>
              </a:rPr>
              <a:t>2010</a:t>
            </a:r>
            <a:endParaRPr sz="20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  <a:spcBef>
                <a:spcPts val="10"/>
              </a:spcBef>
            </a:pP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(</a:t>
            </a:r>
            <a:r>
              <a:rPr sz="1800" i="1" spc="-5" dirty="0">
                <a:solidFill>
                  <a:srgbClr val="7E7E7E"/>
                </a:solidFill>
                <a:latin typeface="Calibri"/>
                <a:cs typeface="Calibri"/>
              </a:rPr>
              <a:t>Capítulos</a:t>
            </a:r>
            <a:r>
              <a:rPr sz="1800" i="1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7E7E7E"/>
                </a:solidFill>
                <a:latin typeface="Calibri"/>
                <a:cs typeface="Calibri"/>
              </a:rPr>
              <a:t>4,</a:t>
            </a:r>
            <a:r>
              <a:rPr sz="1800" i="1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i="1" spc="-5" dirty="0">
                <a:solidFill>
                  <a:srgbClr val="7E7E7E"/>
                </a:solidFill>
                <a:latin typeface="Calibri"/>
                <a:cs typeface="Calibri"/>
              </a:rPr>
              <a:t>14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):</a:t>
            </a:r>
            <a:r>
              <a:rPr sz="1800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http://szeliski.org/Book/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250">
              <a:latin typeface="Calibri"/>
              <a:cs typeface="Calibri"/>
            </a:endParaRPr>
          </a:p>
          <a:p>
            <a:pPr marL="354965" marR="94488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000" spc="-25" dirty="0">
                <a:solidFill>
                  <a:srgbClr val="30859C"/>
                </a:solidFill>
                <a:latin typeface="Calibri"/>
                <a:cs typeface="Calibri"/>
              </a:rPr>
              <a:t>D. </a:t>
            </a:r>
            <a:r>
              <a:rPr sz="2000" spc="-15" dirty="0">
                <a:solidFill>
                  <a:srgbClr val="30859C"/>
                </a:solidFill>
                <a:latin typeface="Calibri"/>
                <a:cs typeface="Calibri"/>
              </a:rPr>
              <a:t>Forsyth, </a:t>
            </a:r>
            <a:r>
              <a:rPr sz="2000" spc="-10" dirty="0">
                <a:solidFill>
                  <a:srgbClr val="30859C"/>
                </a:solidFill>
                <a:latin typeface="Calibri"/>
                <a:cs typeface="Calibri"/>
              </a:rPr>
              <a:t>J. Ponce: </a:t>
            </a:r>
            <a:r>
              <a:rPr sz="2000" i="1" spc="-5" dirty="0">
                <a:solidFill>
                  <a:srgbClr val="30859C"/>
                </a:solidFill>
                <a:latin typeface="Calibri"/>
                <a:cs typeface="Calibri"/>
              </a:rPr>
              <a:t>Computer Vision, </a:t>
            </a:r>
            <a:r>
              <a:rPr sz="2000" i="1" dirty="0">
                <a:solidFill>
                  <a:srgbClr val="30859C"/>
                </a:solidFill>
                <a:latin typeface="Calibri"/>
                <a:cs typeface="Calibri"/>
              </a:rPr>
              <a:t>A Modern Approach</a:t>
            </a:r>
            <a:r>
              <a:rPr sz="2000" dirty="0">
                <a:solidFill>
                  <a:srgbClr val="30859C"/>
                </a:solidFill>
                <a:latin typeface="Calibri"/>
                <a:cs typeface="Calibri"/>
              </a:rPr>
              <a:t>, </a:t>
            </a:r>
            <a:r>
              <a:rPr sz="2000" spc="-15" dirty="0">
                <a:solidFill>
                  <a:srgbClr val="30859C"/>
                </a:solidFill>
                <a:latin typeface="Calibri"/>
                <a:cs typeface="Calibri"/>
              </a:rPr>
              <a:t>Pearson </a:t>
            </a:r>
            <a:r>
              <a:rPr sz="2000" spc="-44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0859C"/>
                </a:solidFill>
                <a:latin typeface="Calibri"/>
                <a:cs typeface="Calibri"/>
              </a:rPr>
              <a:t>Education,</a:t>
            </a:r>
            <a:r>
              <a:rPr sz="2000" spc="-35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0859C"/>
                </a:solidFill>
                <a:latin typeface="Calibri"/>
                <a:cs typeface="Calibri"/>
              </a:rPr>
              <a:t>NJ</a:t>
            </a:r>
            <a:r>
              <a:rPr sz="2000" spc="-1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0859C"/>
                </a:solidFill>
                <a:latin typeface="Calibri"/>
                <a:cs typeface="Calibri"/>
              </a:rPr>
              <a:t>2012</a:t>
            </a:r>
            <a:r>
              <a:rPr sz="2000" spc="-3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7E7E7E"/>
                </a:solidFill>
                <a:latin typeface="Calibri"/>
                <a:cs typeface="Calibri"/>
              </a:rPr>
              <a:t>(</a:t>
            </a:r>
            <a:r>
              <a:rPr sz="2000" i="1" spc="-5" dirty="0">
                <a:solidFill>
                  <a:srgbClr val="7E7E7E"/>
                </a:solidFill>
                <a:latin typeface="Calibri"/>
                <a:cs typeface="Calibri"/>
              </a:rPr>
              <a:t>Capítulos</a:t>
            </a:r>
            <a:r>
              <a:rPr sz="2000" i="1" spc="4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7E7E7E"/>
                </a:solidFill>
                <a:latin typeface="Calibri"/>
                <a:cs typeface="Calibri"/>
              </a:rPr>
              <a:t>5,</a:t>
            </a:r>
            <a:r>
              <a:rPr sz="20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7E7E7E"/>
                </a:solidFill>
                <a:latin typeface="Calibri"/>
                <a:cs typeface="Calibri"/>
              </a:rPr>
              <a:t>16,</a:t>
            </a:r>
            <a:r>
              <a:rPr sz="20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7E7E7E"/>
                </a:solidFill>
                <a:latin typeface="Calibri"/>
                <a:cs typeface="Calibri"/>
              </a:rPr>
              <a:t>17)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30859C"/>
              </a:buClr>
              <a:buFont typeface="Calibri"/>
              <a:buChar char="•"/>
            </a:pPr>
            <a:endParaRPr sz="2750">
              <a:latin typeface="Calibri"/>
              <a:cs typeface="Calibri"/>
            </a:endParaRPr>
          </a:p>
          <a:p>
            <a:pPr marL="354965" marR="1264285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000" spc="5" dirty="0">
                <a:solidFill>
                  <a:srgbClr val="30859C"/>
                </a:solidFill>
                <a:latin typeface="Calibri"/>
                <a:cs typeface="Calibri"/>
              </a:rPr>
              <a:t>R. </a:t>
            </a:r>
            <a:r>
              <a:rPr sz="2000" spc="-5" dirty="0">
                <a:solidFill>
                  <a:srgbClr val="30859C"/>
                </a:solidFill>
                <a:latin typeface="Calibri"/>
                <a:cs typeface="Calibri"/>
              </a:rPr>
              <a:t>Siegwart, </a:t>
            </a:r>
            <a:r>
              <a:rPr sz="2000" dirty="0">
                <a:solidFill>
                  <a:srgbClr val="30859C"/>
                </a:solidFill>
                <a:latin typeface="Calibri"/>
                <a:cs typeface="Calibri"/>
              </a:rPr>
              <a:t>R.I. Nourbakhsh, and </a:t>
            </a:r>
            <a:r>
              <a:rPr sz="2000" spc="-25" dirty="0">
                <a:solidFill>
                  <a:srgbClr val="30859C"/>
                </a:solidFill>
                <a:latin typeface="Calibri"/>
                <a:cs typeface="Calibri"/>
              </a:rPr>
              <a:t>D. </a:t>
            </a:r>
            <a:r>
              <a:rPr sz="2000" spc="-10" dirty="0">
                <a:solidFill>
                  <a:srgbClr val="30859C"/>
                </a:solidFill>
                <a:latin typeface="Calibri"/>
                <a:cs typeface="Calibri"/>
              </a:rPr>
              <a:t>Scaramuzza. </a:t>
            </a:r>
            <a:r>
              <a:rPr sz="2000" i="1" spc="-5" dirty="0">
                <a:solidFill>
                  <a:srgbClr val="30859C"/>
                </a:solidFill>
                <a:latin typeface="Calibri"/>
                <a:cs typeface="Calibri"/>
              </a:rPr>
              <a:t>Introduction </a:t>
            </a:r>
            <a:r>
              <a:rPr sz="2000" i="1" spc="-25" dirty="0">
                <a:solidFill>
                  <a:srgbClr val="30859C"/>
                </a:solidFill>
                <a:latin typeface="Calibri"/>
                <a:cs typeface="Calibri"/>
              </a:rPr>
              <a:t>to </a:t>
            </a:r>
            <a:r>
              <a:rPr sz="2000" i="1" spc="-44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30859C"/>
                </a:solidFill>
                <a:latin typeface="Calibri"/>
                <a:cs typeface="Calibri"/>
              </a:rPr>
              <a:t>Autonomous</a:t>
            </a:r>
            <a:r>
              <a:rPr sz="2000" i="1" spc="-45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0859C"/>
                </a:solidFill>
                <a:latin typeface="Calibri"/>
                <a:cs typeface="Calibri"/>
              </a:rPr>
              <a:t>Mobile</a:t>
            </a:r>
            <a:r>
              <a:rPr sz="2000" i="1" spc="-2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0859C"/>
                </a:solidFill>
                <a:latin typeface="Calibri"/>
                <a:cs typeface="Calibri"/>
              </a:rPr>
              <a:t>Robots</a:t>
            </a:r>
            <a:r>
              <a:rPr sz="2000" spc="-5" dirty="0">
                <a:solidFill>
                  <a:srgbClr val="30859C"/>
                </a:solidFill>
                <a:latin typeface="Calibri"/>
                <a:cs typeface="Calibri"/>
              </a:rPr>
              <a:t>.</a:t>
            </a:r>
            <a:r>
              <a:rPr sz="2000" spc="-4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0859C"/>
                </a:solidFill>
                <a:latin typeface="Calibri"/>
                <a:cs typeface="Calibri"/>
              </a:rPr>
              <a:t>MIT</a:t>
            </a:r>
            <a:r>
              <a:rPr sz="2000" spc="-15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0859C"/>
                </a:solidFill>
                <a:latin typeface="Calibri"/>
                <a:cs typeface="Calibri"/>
              </a:rPr>
              <a:t>press,</a:t>
            </a:r>
            <a:r>
              <a:rPr sz="2000" spc="5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0859C"/>
                </a:solidFill>
                <a:latin typeface="Calibri"/>
                <a:cs typeface="Calibri"/>
              </a:rPr>
              <a:t>2011.</a:t>
            </a:r>
            <a:r>
              <a:rPr sz="2000" spc="-25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7E7E7E"/>
                </a:solidFill>
                <a:latin typeface="Calibri"/>
                <a:cs typeface="Calibri"/>
              </a:rPr>
              <a:t>(</a:t>
            </a:r>
            <a:r>
              <a:rPr sz="2000" i="1" spc="-5" dirty="0">
                <a:solidFill>
                  <a:srgbClr val="7E7E7E"/>
                </a:solidFill>
                <a:latin typeface="Calibri"/>
                <a:cs typeface="Calibri"/>
              </a:rPr>
              <a:t>Capítulo</a:t>
            </a:r>
            <a:r>
              <a:rPr sz="2000" i="1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000" i="1" spc="10" dirty="0">
                <a:solidFill>
                  <a:srgbClr val="7E7E7E"/>
                </a:solidFill>
                <a:latin typeface="Calibri"/>
                <a:cs typeface="Calibri"/>
              </a:rPr>
              <a:t>4</a:t>
            </a:r>
            <a:r>
              <a:rPr sz="2000" spc="10" dirty="0">
                <a:solidFill>
                  <a:srgbClr val="7E7E7E"/>
                </a:solidFill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53</a:t>
            </a:fld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39134" y="820039"/>
            <a:ext cx="166497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0" dirty="0">
                <a:solidFill>
                  <a:srgbClr val="C00000"/>
                </a:solidFill>
              </a:rPr>
              <a:t>Referencias</a:t>
            </a:r>
            <a:endParaRPr sz="2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76BEE1-586D-75C3-6572-5AB89CD63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Ingeniería de Sistemas - UNCP">
            <a:extLst>
              <a:ext uri="{FF2B5EF4-FFF2-40B4-BE49-F238E27FC236}">
                <a16:creationId xmlns:a16="http://schemas.microsoft.com/office/drawing/2014/main" id="{2F84C02F-BAB7-BEEE-E51A-E348E8486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2999</Words>
  <Application>Microsoft Office PowerPoint</Application>
  <PresentationFormat>Presentación en pantalla (4:3)</PresentationFormat>
  <Paragraphs>598</Paragraphs>
  <Slides>53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53</vt:i4>
      </vt:variant>
    </vt:vector>
  </HeadingPairs>
  <TitlesOfParts>
    <vt:vector size="61" baseType="lpstr">
      <vt:lpstr>Arial</vt:lpstr>
      <vt:lpstr>Arial MT</vt:lpstr>
      <vt:lpstr>Calibri</vt:lpstr>
      <vt:lpstr>Comic Sans MS</vt:lpstr>
      <vt:lpstr>Symbol</vt:lpstr>
      <vt:lpstr>Times New Roman</vt:lpstr>
      <vt:lpstr>Trebuchet MS</vt:lpstr>
      <vt:lpstr>Office Theme</vt:lpstr>
      <vt:lpstr>Presentación de PowerPoint</vt:lpstr>
      <vt:lpstr>Temas</vt:lpstr>
      <vt:lpstr>¿Para qué detectores y descriptores?</vt:lpstr>
      <vt:lpstr>¿Para qué detectores y descriptores?</vt:lpstr>
      <vt:lpstr>¿Para qué detectores y descriptores?</vt:lpstr>
      <vt:lpstr>Feature Matching: Enfoque General</vt:lpstr>
      <vt:lpstr>Detectores</vt:lpstr>
      <vt:lpstr>Detectores</vt:lpstr>
      <vt:lpstr>Detectores</vt:lpstr>
      <vt:lpstr>Detectores</vt:lpstr>
      <vt:lpstr>Detectores</vt:lpstr>
      <vt:lpstr>Detectores</vt:lpstr>
      <vt:lpstr>Detectores</vt:lpstr>
      <vt:lpstr>Detectores</vt:lpstr>
      <vt:lpstr>Detectores</vt:lpstr>
      <vt:lpstr>Descriptores</vt:lpstr>
      <vt:lpstr>Descriptores</vt:lpstr>
      <vt:lpstr>Descriptores</vt:lpstr>
      <vt:lpstr>Descriptores</vt:lpstr>
      <vt:lpstr>Descriptores</vt:lpstr>
      <vt:lpstr>Descriptores</vt:lpstr>
      <vt:lpstr>Descriptores</vt:lpstr>
      <vt:lpstr>Descriptores</vt:lpstr>
      <vt:lpstr>Descriptores</vt:lpstr>
      <vt:lpstr>Descriptores</vt:lpstr>
      <vt:lpstr>Descriptores</vt:lpstr>
      <vt:lpstr>Descriptores</vt:lpstr>
      <vt:lpstr>Comparación</vt:lpstr>
      <vt:lpstr>Temas</vt:lpstr>
      <vt:lpstr>Template Matching</vt:lpstr>
      <vt:lpstr>Template Matching</vt:lpstr>
      <vt:lpstr>Template Matching</vt:lpstr>
      <vt:lpstr>Correspondencia de Imágenes</vt:lpstr>
      <vt:lpstr>Correspondencia de Imágenes</vt:lpstr>
      <vt:lpstr>Correspondencia de Imágenes</vt:lpstr>
      <vt:lpstr>Correspondencia de Imágenes</vt:lpstr>
      <vt:lpstr>Correspondencia de Imágenes</vt:lpstr>
      <vt:lpstr>Correspondencia de Imágenes</vt:lpstr>
      <vt:lpstr>Temas</vt:lpstr>
      <vt:lpstr>Detección de Objetos</vt:lpstr>
      <vt:lpstr>Detección de Objetos</vt:lpstr>
      <vt:lpstr>Detección de Objetos</vt:lpstr>
      <vt:lpstr>Detección de Objetos</vt:lpstr>
      <vt:lpstr>Detección de Objetos</vt:lpstr>
      <vt:lpstr>Detección de Objetos</vt:lpstr>
      <vt:lpstr>Detección de Objetos</vt:lpstr>
      <vt:lpstr>Detección de Objetos</vt:lpstr>
      <vt:lpstr>Detección de Objetos</vt:lpstr>
      <vt:lpstr>Detección de Objetos</vt:lpstr>
      <vt:lpstr>Detección de Objetos</vt:lpstr>
      <vt:lpstr>Detección de Objetos</vt:lpstr>
      <vt:lpstr>Detección de Objetos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JAIME ANTONIO HUAYTALLA PARIONA</cp:lastModifiedBy>
  <cp:revision>7</cp:revision>
  <dcterms:created xsi:type="dcterms:W3CDTF">2024-05-28T21:11:24Z</dcterms:created>
  <dcterms:modified xsi:type="dcterms:W3CDTF">2025-09-11T16:41:21Z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2024-05-28T00:00:00Z</vt:filetime>
  </property>
</Properties>
</file>