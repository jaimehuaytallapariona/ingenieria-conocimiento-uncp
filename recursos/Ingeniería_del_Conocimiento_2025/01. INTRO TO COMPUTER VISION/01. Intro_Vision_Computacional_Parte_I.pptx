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8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23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5A9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30859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8585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‹Nº›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5A9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30859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8585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‹Nº›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5A9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8585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‹Nº›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005A9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8585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‹Nº›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8585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‹Nº›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3">
              <a:lumMod val="40000"/>
              <a:lumOff val="6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42130" y="6513986"/>
            <a:ext cx="1201869" cy="34401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806" y="119992"/>
            <a:ext cx="1042303" cy="49610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07033" y="260350"/>
            <a:ext cx="6329933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005A9E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7463" y="1758442"/>
            <a:ext cx="8247380" cy="2185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30859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15705" y="6665086"/>
            <a:ext cx="217170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8585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‹Nº›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mailto:jhuaytalla@uncp.edu.pe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image" Target="../media/image10.png"/><Relationship Id="rId7" Type="http://schemas.openxmlformats.org/officeDocument/2006/relationships/image" Target="../media/image14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4.png"/><Relationship Id="rId4" Type="http://schemas.openxmlformats.org/officeDocument/2006/relationships/image" Target="../media/image11.png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1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7" Type="http://schemas.openxmlformats.org/officeDocument/2006/relationships/image" Target="../media/image4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2.png"/><Relationship Id="rId4" Type="http://schemas.openxmlformats.org/officeDocument/2006/relationships/image" Target="../media/image2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4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6.png"/><Relationship Id="rId7" Type="http://schemas.openxmlformats.org/officeDocument/2006/relationships/image" Target="../media/image5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jp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jpg"/><Relationship Id="rId2" Type="http://schemas.openxmlformats.org/officeDocument/2006/relationships/image" Target="../media/image43.png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5" Type="http://schemas.openxmlformats.org/officeDocument/2006/relationships/image" Target="../media/image5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7.png"/><Relationship Id="rId7" Type="http://schemas.openxmlformats.org/officeDocument/2006/relationships/image" Target="../media/image60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59.png"/><Relationship Id="rId10" Type="http://schemas.openxmlformats.org/officeDocument/2006/relationships/image" Target="../media/image4.png"/><Relationship Id="rId4" Type="http://schemas.openxmlformats.org/officeDocument/2006/relationships/image" Target="../media/image58.png"/><Relationship Id="rId9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g"/><Relationship Id="rId7" Type="http://schemas.openxmlformats.org/officeDocument/2006/relationships/image" Target="../media/image4.png"/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70.jpg"/><Relationship Id="rId4" Type="http://schemas.openxmlformats.org/officeDocument/2006/relationships/image" Target="../media/image69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10" Type="http://schemas.openxmlformats.org/officeDocument/2006/relationships/image" Target="../media/image4.png"/><Relationship Id="rId4" Type="http://schemas.openxmlformats.org/officeDocument/2006/relationships/image" Target="../media/image73.png"/><Relationship Id="rId9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g"/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81.png"/><Relationship Id="rId7" Type="http://schemas.openxmlformats.org/officeDocument/2006/relationships/image" Target="../media/image5.png"/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jpg"/><Relationship Id="rId5" Type="http://schemas.openxmlformats.org/officeDocument/2006/relationships/image" Target="../media/image83.jpg"/><Relationship Id="rId4" Type="http://schemas.openxmlformats.org/officeDocument/2006/relationships/image" Target="../media/image82.jp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4.png"/><Relationship Id="rId3" Type="http://schemas.openxmlformats.org/officeDocument/2006/relationships/image" Target="../media/image86.png"/><Relationship Id="rId7" Type="http://schemas.openxmlformats.org/officeDocument/2006/relationships/image" Target="../media/image90.jpg"/><Relationship Id="rId12" Type="http://schemas.openxmlformats.org/officeDocument/2006/relationships/image" Target="../media/image5.png"/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jpg"/><Relationship Id="rId11" Type="http://schemas.openxmlformats.org/officeDocument/2006/relationships/image" Target="../media/image94.jpg"/><Relationship Id="rId5" Type="http://schemas.openxmlformats.org/officeDocument/2006/relationships/image" Target="../media/image88.jpg"/><Relationship Id="rId10" Type="http://schemas.openxmlformats.org/officeDocument/2006/relationships/image" Target="../media/image93.jpg"/><Relationship Id="rId4" Type="http://schemas.openxmlformats.org/officeDocument/2006/relationships/image" Target="../media/image87.jpg"/><Relationship Id="rId9" Type="http://schemas.openxmlformats.org/officeDocument/2006/relationships/image" Target="../media/image92.jp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96.jpg"/><Relationship Id="rId7" Type="http://schemas.openxmlformats.org/officeDocument/2006/relationships/image" Target="../media/image100.png"/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Relationship Id="rId9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jpg"/><Relationship Id="rId7" Type="http://schemas.openxmlformats.org/officeDocument/2006/relationships/image" Target="../media/image4.png"/><Relationship Id="rId2" Type="http://schemas.openxmlformats.org/officeDocument/2006/relationships/image" Target="../media/image10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06.jpg"/><Relationship Id="rId4" Type="http://schemas.openxmlformats.org/officeDocument/2006/relationships/image" Target="../media/image105.jp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118.png"/><Relationship Id="rId3" Type="http://schemas.openxmlformats.org/officeDocument/2006/relationships/image" Target="../media/image108.jpg"/><Relationship Id="rId7" Type="http://schemas.openxmlformats.org/officeDocument/2006/relationships/image" Target="../media/image112.jpg"/><Relationship Id="rId12" Type="http://schemas.openxmlformats.org/officeDocument/2006/relationships/image" Target="../media/image117.png"/><Relationship Id="rId2" Type="http://schemas.openxmlformats.org/officeDocument/2006/relationships/image" Target="../media/image107.jpg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jpg"/><Relationship Id="rId11" Type="http://schemas.openxmlformats.org/officeDocument/2006/relationships/image" Target="../media/image116.png"/><Relationship Id="rId5" Type="http://schemas.openxmlformats.org/officeDocument/2006/relationships/image" Target="../media/image110.jpg"/><Relationship Id="rId15" Type="http://schemas.openxmlformats.org/officeDocument/2006/relationships/image" Target="../media/image5.png"/><Relationship Id="rId10" Type="http://schemas.openxmlformats.org/officeDocument/2006/relationships/image" Target="../media/image115.png"/><Relationship Id="rId4" Type="http://schemas.openxmlformats.org/officeDocument/2006/relationships/image" Target="../media/image109.jpg"/><Relationship Id="rId9" Type="http://schemas.openxmlformats.org/officeDocument/2006/relationships/image" Target="../media/image114.png"/><Relationship Id="rId14" Type="http://schemas.openxmlformats.org/officeDocument/2006/relationships/image" Target="../media/image1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7" Type="http://schemas.openxmlformats.org/officeDocument/2006/relationships/image" Target="../media/image4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23.jpg"/><Relationship Id="rId4" Type="http://schemas.openxmlformats.org/officeDocument/2006/relationships/image" Target="../media/image122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jpg"/><Relationship Id="rId7" Type="http://schemas.openxmlformats.org/officeDocument/2006/relationships/image" Target="../media/image4.png"/><Relationship Id="rId2" Type="http://schemas.openxmlformats.org/officeDocument/2006/relationships/image" Target="../media/image12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28.jpg"/><Relationship Id="rId4" Type="http://schemas.openxmlformats.org/officeDocument/2006/relationships/image" Target="../media/image127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 txBox="1"/>
          <p:nvPr/>
        </p:nvSpPr>
        <p:spPr>
          <a:xfrm>
            <a:off x="1967547" y="2590800"/>
            <a:ext cx="5208905" cy="1282402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500"/>
              </a:spcBef>
            </a:pPr>
            <a:r>
              <a:rPr sz="4000" b="1" spc="-10" dirty="0" err="1">
                <a:latin typeface="Calibri"/>
                <a:cs typeface="Calibri"/>
              </a:rPr>
              <a:t>Introducción</a:t>
            </a:r>
            <a:r>
              <a:rPr sz="4000" b="1" spc="-90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a</a:t>
            </a:r>
            <a:r>
              <a:rPr lang="es-PE" sz="4000" b="1" dirty="0">
                <a:latin typeface="Calibri"/>
                <a:cs typeface="Calibri"/>
              </a:rPr>
              <a:t> la</a:t>
            </a:r>
            <a:r>
              <a:rPr sz="4000" b="1" spc="-110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Visión Computacional</a:t>
            </a:r>
            <a:r>
              <a:rPr sz="4000" b="1" spc="-155" dirty="0">
                <a:latin typeface="Calibri"/>
                <a:cs typeface="Calibri"/>
              </a:rPr>
              <a:t> </a:t>
            </a:r>
            <a:r>
              <a:rPr sz="4000" b="1" spc="-25" dirty="0">
                <a:latin typeface="Calibri"/>
                <a:cs typeface="Calibri"/>
              </a:rPr>
              <a:t>(I)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45BF4E2-87E0-8636-B272-7B8AF237320D}"/>
              </a:ext>
            </a:extLst>
          </p:cNvPr>
          <p:cNvSpPr txBox="1"/>
          <p:nvPr/>
        </p:nvSpPr>
        <p:spPr>
          <a:xfrm>
            <a:off x="2362200" y="4267200"/>
            <a:ext cx="39805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dirty="0"/>
              <a:t>Ing. Jaime Antonio </a:t>
            </a:r>
            <a:r>
              <a:rPr lang="es-PE" dirty="0" err="1"/>
              <a:t>Huaytalla</a:t>
            </a:r>
            <a:r>
              <a:rPr lang="es-PE" dirty="0"/>
              <a:t> Pariona</a:t>
            </a:r>
          </a:p>
          <a:p>
            <a:pPr algn="ctr"/>
            <a:r>
              <a:rPr lang="es-PE" dirty="0">
                <a:hlinkClick r:id="rId2"/>
              </a:rPr>
              <a:t>jhuaytalla@uncp.edu.pe</a:t>
            </a:r>
            <a:r>
              <a:rPr lang="es-PE" dirty="0"/>
              <a:t> 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2B673297-754E-D753-1DE9-80D52FA477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"/>
            <a:ext cx="1447800" cy="1232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Ingeniería de Sistemas - UNCP">
            <a:extLst>
              <a:ext uri="{FF2B5EF4-FFF2-40B4-BE49-F238E27FC236}">
                <a16:creationId xmlns:a16="http://schemas.microsoft.com/office/drawing/2014/main" id="{1E2F6246-4CF1-8E6C-D06B-11E0A8182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28599"/>
            <a:ext cx="1226735" cy="1232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FE271-BEF9-3031-0713-CAAA8C3DC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1636E18-A90F-9CDC-6A70-EA6FA4AD42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59542" y="628388"/>
            <a:ext cx="344957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s-PE" sz="2800" spc="-50" dirty="0">
                <a:solidFill>
                  <a:srgbClr val="B51A00"/>
                </a:solidFill>
              </a:rPr>
              <a:t>AVISO LEGAL</a:t>
            </a:r>
            <a:endParaRPr sz="2800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8EEFDFA-0DD5-EE54-B338-6A98A541760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5D3E676-8149-41ED-DB13-98DE63D3D4B6}"/>
              </a:ext>
            </a:extLst>
          </p:cNvPr>
          <p:cNvSpPr txBox="1"/>
          <p:nvPr/>
        </p:nvSpPr>
        <p:spPr>
          <a:xfrm>
            <a:off x="942174" y="1524000"/>
            <a:ext cx="7391400" cy="13048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lang="es-PE" sz="2800" dirty="0">
                <a:latin typeface="Calibri"/>
                <a:cs typeface="Calibri"/>
              </a:rPr>
              <a:t>- El presente material didáctico ha sido elaborado a partir de las notas de clase del Curso de </a:t>
            </a:r>
            <a:r>
              <a:rPr lang="es-PE" sz="2800" dirty="0" err="1">
                <a:latin typeface="Calibri"/>
                <a:cs typeface="Calibri"/>
              </a:rPr>
              <a:t>Images</a:t>
            </a:r>
            <a:r>
              <a:rPr lang="es-PE" sz="2800" dirty="0">
                <a:latin typeface="Calibri"/>
                <a:cs typeface="Calibri"/>
              </a:rPr>
              <a:t> Processing del Dr. Oscar Ramos de UTEC.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6AB7659-226C-831D-45FE-695F6E24D5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ngeniería de Sistemas - UNCP">
            <a:extLst>
              <a:ext uri="{FF2B5EF4-FFF2-40B4-BE49-F238E27FC236}">
                <a16:creationId xmlns:a16="http://schemas.microsoft.com/office/drawing/2014/main" id="{308E0B62-4673-4DCB-432A-70FC4B462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8009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94226" y="581913"/>
            <a:ext cx="9550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solidFill>
                  <a:srgbClr val="B51A00"/>
                </a:solidFill>
              </a:rPr>
              <a:t>Temas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407" y="1424829"/>
            <a:ext cx="8459764" cy="70893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31291" y="1511808"/>
            <a:ext cx="8300084" cy="548640"/>
          </a:xfrm>
          <a:prstGeom prst="rect">
            <a:avLst/>
          </a:prstGeom>
          <a:solidFill>
            <a:srgbClr val="9BEDF7"/>
          </a:solidFill>
        </p:spPr>
        <p:txBody>
          <a:bodyPr vert="horz" wrap="square" lIns="0" tIns="11430" rIns="0" bIns="0" rtlCol="0">
            <a:spAutoFit/>
          </a:bodyPr>
          <a:lstStyle/>
          <a:p>
            <a:pPr marL="233045">
              <a:lnSpc>
                <a:spcPct val="100000"/>
              </a:lnSpc>
              <a:spcBef>
                <a:spcPts val="90"/>
              </a:spcBef>
              <a:tabLst>
                <a:tab pos="690245" algn="l"/>
              </a:tabLst>
            </a:pPr>
            <a:r>
              <a:rPr sz="2800" b="1" spc="-25" dirty="0">
                <a:solidFill>
                  <a:srgbClr val="0000FF"/>
                </a:solidFill>
                <a:latin typeface="Calibri"/>
                <a:cs typeface="Calibri"/>
              </a:rPr>
              <a:t>1.</a:t>
            </a:r>
            <a:r>
              <a:rPr sz="2800" b="1" dirty="0">
                <a:solidFill>
                  <a:srgbClr val="0000FF"/>
                </a:solidFill>
                <a:latin typeface="Calibri"/>
                <a:cs typeface="Calibri"/>
              </a:rPr>
              <a:t>	</a:t>
            </a:r>
            <a:r>
              <a:rPr sz="2800" b="1" spc="-10" dirty="0">
                <a:solidFill>
                  <a:srgbClr val="0000FF"/>
                </a:solidFill>
                <a:latin typeface="Calibri"/>
                <a:cs typeface="Calibri"/>
              </a:rPr>
              <a:t>Introducción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652068" y="2235199"/>
            <a:ext cx="5549900" cy="1176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AutoNum type="arabicPeriod" startAt="2"/>
              <a:tabLst>
                <a:tab pos="469265" algn="l"/>
              </a:tabLst>
            </a:pPr>
            <a:r>
              <a:rPr sz="2800" spc="-10" dirty="0">
                <a:solidFill>
                  <a:srgbClr val="A6A6A6"/>
                </a:solidFill>
                <a:latin typeface="Calibri"/>
                <a:cs typeface="Calibri"/>
              </a:rPr>
              <a:t>Procesamiento</a:t>
            </a:r>
            <a:r>
              <a:rPr sz="2800" spc="-6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A6A6A6"/>
                </a:solidFill>
                <a:latin typeface="Calibri"/>
                <a:cs typeface="Calibri"/>
              </a:rPr>
              <a:t>Básico</a:t>
            </a:r>
            <a:r>
              <a:rPr sz="2800" spc="-9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A6A6A6"/>
                </a:solidFill>
                <a:latin typeface="Calibri"/>
                <a:cs typeface="Calibri"/>
              </a:rPr>
              <a:t>de</a:t>
            </a:r>
            <a:r>
              <a:rPr sz="2800" spc="-7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A6A6A6"/>
                </a:solidFill>
                <a:latin typeface="Calibri"/>
                <a:cs typeface="Calibri"/>
              </a:rPr>
              <a:t>Imágenes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2340"/>
              </a:spcBef>
              <a:buAutoNum type="arabicPeriod" startAt="2"/>
              <a:tabLst>
                <a:tab pos="469265" algn="l"/>
              </a:tabLst>
            </a:pPr>
            <a:r>
              <a:rPr sz="2800" dirty="0">
                <a:solidFill>
                  <a:srgbClr val="A6A6A6"/>
                </a:solidFill>
                <a:latin typeface="Calibri"/>
                <a:cs typeface="Calibri"/>
              </a:rPr>
              <a:t>Filtros</a:t>
            </a:r>
            <a:r>
              <a:rPr sz="2800" spc="-9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A6A6A6"/>
                </a:solidFill>
                <a:latin typeface="Calibri"/>
                <a:cs typeface="Calibri"/>
              </a:rPr>
              <a:t>Lineales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A52851B2-DE88-6E08-51C6-251479CDF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ngeniería de Sistemas - UNCP">
            <a:extLst>
              <a:ext uri="{FF2B5EF4-FFF2-40B4-BE49-F238E27FC236}">
                <a16:creationId xmlns:a16="http://schemas.microsoft.com/office/drawing/2014/main" id="{C7650047-97B8-BDEF-3D83-CD71A220A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10867" y="2167127"/>
            <a:ext cx="7036434" cy="4441825"/>
            <a:chOff x="1610867" y="2167127"/>
            <a:chExt cx="7036434" cy="44418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31664" y="2167127"/>
              <a:ext cx="3715512" cy="263956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37156" y="4410455"/>
              <a:ext cx="2794635" cy="218694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220461" y="2899409"/>
              <a:ext cx="730250" cy="622300"/>
            </a:xfrm>
            <a:custGeom>
              <a:avLst/>
              <a:gdLst/>
              <a:ahLst/>
              <a:cxnLst/>
              <a:rect l="l" t="t" r="r" b="b"/>
              <a:pathLst>
                <a:path w="730250" h="622300">
                  <a:moveTo>
                    <a:pt x="0" y="621791"/>
                  </a:moveTo>
                  <a:lnTo>
                    <a:pt x="729996" y="621791"/>
                  </a:lnTo>
                  <a:lnTo>
                    <a:pt x="729996" y="0"/>
                  </a:lnTo>
                  <a:lnTo>
                    <a:pt x="0" y="0"/>
                  </a:lnTo>
                  <a:lnTo>
                    <a:pt x="0" y="621791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20773" y="2899409"/>
              <a:ext cx="4330700" cy="3699510"/>
            </a:xfrm>
            <a:custGeom>
              <a:avLst/>
              <a:gdLst/>
              <a:ahLst/>
              <a:cxnLst/>
              <a:rect l="l" t="t" r="r" b="b"/>
              <a:pathLst>
                <a:path w="4330700" h="3699509">
                  <a:moveTo>
                    <a:pt x="3600450" y="0"/>
                  </a:moveTo>
                  <a:lnTo>
                    <a:pt x="0" y="1512189"/>
                  </a:lnTo>
                </a:path>
                <a:path w="4330700" h="3699509">
                  <a:moveTo>
                    <a:pt x="4330319" y="621791"/>
                  </a:moveTo>
                  <a:lnTo>
                    <a:pt x="2811779" y="3699395"/>
                  </a:lnTo>
                </a:path>
                <a:path w="4330700" h="3699509">
                  <a:moveTo>
                    <a:pt x="4330319" y="0"/>
                  </a:moveTo>
                  <a:lnTo>
                    <a:pt x="2811779" y="1512189"/>
                  </a:lnTo>
                </a:path>
              </a:pathLst>
            </a:custGeom>
            <a:ln w="19812">
              <a:solidFill>
                <a:srgbClr val="497DBA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76655">
              <a:lnSpc>
                <a:spcPct val="100000"/>
              </a:lnSpc>
              <a:spcBef>
                <a:spcPts val="100"/>
              </a:spcBef>
            </a:pPr>
            <a:r>
              <a:rPr dirty="0"/>
              <a:t>¿Qué</a:t>
            </a:r>
            <a:r>
              <a:rPr spc="-15" dirty="0"/>
              <a:t> </a:t>
            </a:r>
            <a:r>
              <a:rPr dirty="0"/>
              <a:t>“ve”</a:t>
            </a:r>
            <a:r>
              <a:rPr spc="-35" dirty="0"/>
              <a:t> </a:t>
            </a:r>
            <a:r>
              <a:rPr dirty="0"/>
              <a:t>una</a:t>
            </a:r>
            <a:r>
              <a:rPr spc="-15" dirty="0"/>
              <a:t> </a:t>
            </a:r>
            <a:r>
              <a:rPr spc="-10" dirty="0"/>
              <a:t>cámara?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535940" y="1213865"/>
            <a:ext cx="5951855" cy="2060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dirty="0">
                <a:latin typeface="Calibri"/>
                <a:cs typeface="Calibri"/>
              </a:rPr>
              <a:t>Una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matriz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donde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cada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píxel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toma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(nivel</a:t>
            </a:r>
            <a:r>
              <a:rPr sz="18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8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Calibri"/>
                <a:cs typeface="Calibri"/>
              </a:rPr>
              <a:t>gris)</a:t>
            </a:r>
            <a:endParaRPr sz="18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spcBef>
                <a:spcPts val="1920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dirty="0">
                <a:latin typeface="Calibri"/>
                <a:cs typeface="Calibri"/>
              </a:rPr>
              <a:t>En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computadora:</a:t>
            </a:r>
            <a:endParaRPr sz="2000">
              <a:latin typeface="Calibri"/>
              <a:cs typeface="Calibri"/>
            </a:endParaRPr>
          </a:p>
          <a:p>
            <a:pPr marL="502284" lvl="1" indent="-191770">
              <a:lnSpc>
                <a:spcPct val="100000"/>
              </a:lnSpc>
              <a:spcBef>
                <a:spcPts val="655"/>
              </a:spcBef>
              <a:buChar char="-"/>
              <a:tabLst>
                <a:tab pos="502284" algn="l"/>
              </a:tabLst>
            </a:pPr>
            <a:r>
              <a:rPr sz="1800" dirty="0">
                <a:latin typeface="Calibri"/>
                <a:cs typeface="Calibri"/>
              </a:rPr>
              <a:t>Una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imagen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matriz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2D</a:t>
            </a:r>
            <a:r>
              <a:rPr sz="1800" spc="-25" dirty="0">
                <a:latin typeface="Calibri"/>
                <a:cs typeface="Calibri"/>
              </a:rPr>
              <a:t> de</a:t>
            </a:r>
            <a:endParaRPr sz="1800">
              <a:latin typeface="Calibri"/>
              <a:cs typeface="Calibri"/>
            </a:endParaRPr>
          </a:p>
          <a:p>
            <a:pPr marL="50165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números</a:t>
            </a:r>
            <a:endParaRPr sz="1800">
              <a:latin typeface="Calibri"/>
              <a:cs typeface="Calibri"/>
            </a:endParaRPr>
          </a:p>
          <a:p>
            <a:pPr marL="501650" marR="2454275" lvl="1" indent="-191135">
              <a:lnSpc>
                <a:spcPct val="100000"/>
              </a:lnSpc>
              <a:buChar char="-"/>
              <a:tabLst>
                <a:tab pos="501650" algn="l"/>
              </a:tabLst>
            </a:pPr>
            <a:r>
              <a:rPr sz="1800" dirty="0">
                <a:latin typeface="Calibri"/>
                <a:cs typeface="Calibri"/>
              </a:rPr>
              <a:t>Cualquier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matriz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puede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vista </a:t>
            </a:r>
            <a:r>
              <a:rPr sz="1800" dirty="0">
                <a:latin typeface="Calibri"/>
                <a:cs typeface="Calibri"/>
              </a:rPr>
              <a:t>como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imagen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24598C32-20EF-175B-D0AE-A55B1814F6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Ingeniería de Sistemas - UNCP">
            <a:extLst>
              <a:ext uri="{FF2B5EF4-FFF2-40B4-BE49-F238E27FC236}">
                <a16:creationId xmlns:a16="http://schemas.microsoft.com/office/drawing/2014/main" id="{A6E3F23A-1E6F-75FF-F661-23FEAE946A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Problema</a:t>
            </a:r>
            <a:r>
              <a:rPr spc="-5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dirty="0"/>
              <a:t>la</a:t>
            </a:r>
            <a:r>
              <a:rPr spc="-25" dirty="0"/>
              <a:t> </a:t>
            </a:r>
            <a:r>
              <a:rPr dirty="0"/>
              <a:t>Visión</a:t>
            </a:r>
            <a:r>
              <a:rPr spc="-45" dirty="0"/>
              <a:t> </a:t>
            </a:r>
            <a:r>
              <a:rPr spc="-10" dirty="0"/>
              <a:t>Computacional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13865"/>
            <a:ext cx="63392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dirty="0">
                <a:latin typeface="Calibri"/>
                <a:cs typeface="Calibri"/>
              </a:rPr>
              <a:t>“Brecha”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entre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los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píxeles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(valores</a:t>
            </a:r>
            <a:r>
              <a:rPr sz="16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numéricos)</a:t>
            </a:r>
            <a:r>
              <a:rPr sz="1600" spc="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“significado”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419855" y="4186394"/>
            <a:ext cx="3016250" cy="2066289"/>
            <a:chOff x="3419855" y="4186394"/>
            <a:chExt cx="3016250" cy="2066289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19855" y="4797552"/>
              <a:ext cx="2421636" cy="145469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61256" y="4186394"/>
              <a:ext cx="574593" cy="57315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92419" y="4204462"/>
              <a:ext cx="510285" cy="50863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892419" y="4204462"/>
              <a:ext cx="510540" cy="508634"/>
            </a:xfrm>
            <a:custGeom>
              <a:avLst/>
              <a:gdLst/>
              <a:ahLst/>
              <a:cxnLst/>
              <a:rect l="l" t="t" r="r" b="b"/>
              <a:pathLst>
                <a:path w="510539" h="508635">
                  <a:moveTo>
                    <a:pt x="0" y="406526"/>
                  </a:moveTo>
                  <a:lnTo>
                    <a:pt x="357377" y="51054"/>
                  </a:lnTo>
                  <a:lnTo>
                    <a:pt x="306704" y="0"/>
                  </a:lnTo>
                  <a:lnTo>
                    <a:pt x="510285" y="507"/>
                  </a:lnTo>
                  <a:lnTo>
                    <a:pt x="509777" y="204215"/>
                  </a:lnTo>
                  <a:lnTo>
                    <a:pt x="458977" y="153162"/>
                  </a:lnTo>
                  <a:lnTo>
                    <a:pt x="101600" y="508635"/>
                  </a:lnTo>
                  <a:lnTo>
                    <a:pt x="0" y="406526"/>
                  </a:lnTo>
                  <a:close/>
                </a:path>
              </a:pathLst>
            </a:custGeom>
            <a:ln w="9525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2785641" y="4140401"/>
            <a:ext cx="568960" cy="586105"/>
            <a:chOff x="2785641" y="4140401"/>
            <a:chExt cx="568960" cy="586105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85641" y="4140401"/>
              <a:ext cx="568822" cy="5856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7113" y="4152391"/>
              <a:ext cx="503682" cy="51981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817113" y="4152391"/>
              <a:ext cx="504190" cy="520065"/>
            </a:xfrm>
            <a:custGeom>
              <a:avLst/>
              <a:gdLst/>
              <a:ahLst/>
              <a:cxnLst/>
              <a:rect l="l" t="t" r="r" b="b"/>
              <a:pathLst>
                <a:path w="504189" h="520064">
                  <a:moveTo>
                    <a:pt x="104521" y="0"/>
                  </a:moveTo>
                  <a:lnTo>
                    <a:pt x="451358" y="365759"/>
                  </a:lnTo>
                  <a:lnTo>
                    <a:pt x="503682" y="316229"/>
                  </a:lnTo>
                  <a:lnTo>
                    <a:pt x="498221" y="519810"/>
                  </a:lnTo>
                  <a:lnTo>
                    <a:pt x="294640" y="514476"/>
                  </a:lnTo>
                  <a:lnTo>
                    <a:pt x="346963" y="464946"/>
                  </a:lnTo>
                  <a:lnTo>
                    <a:pt x="0" y="99186"/>
                  </a:lnTo>
                  <a:lnTo>
                    <a:pt x="104521" y="0"/>
                  </a:lnTo>
                  <a:close/>
                </a:path>
              </a:pathLst>
            </a:custGeom>
            <a:ln w="9525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85444" y="1917192"/>
            <a:ext cx="3110484" cy="2093975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978509" y="3663822"/>
            <a:ext cx="7283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Imagen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446776" y="1933955"/>
            <a:ext cx="3086100" cy="2060448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5531358" y="3663822"/>
            <a:ext cx="1059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Significado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17" name="object 17"/>
          <p:cNvSpPr txBox="1"/>
          <p:nvPr/>
        </p:nvSpPr>
        <p:spPr>
          <a:xfrm>
            <a:off x="3987546" y="6403644"/>
            <a:ext cx="12515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Matriz</a:t>
            </a:r>
            <a:r>
              <a:rPr sz="1400" spc="-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pixeles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9" name="Picture 4">
            <a:extLst>
              <a:ext uri="{FF2B5EF4-FFF2-40B4-BE49-F238E27FC236}">
                <a16:creationId xmlns:a16="http://schemas.microsoft.com/office/drawing/2014/main" id="{88132355-BFF2-0689-8DF2-267291EC9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6" descr="Ingeniería de Sistemas - UNCP">
            <a:extLst>
              <a:ext uri="{FF2B5EF4-FFF2-40B4-BE49-F238E27FC236}">
                <a16:creationId xmlns:a16="http://schemas.microsoft.com/office/drawing/2014/main" id="{2B250C43-CD5A-C1A2-DBC5-CD6A0FF3B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2105">
              <a:lnSpc>
                <a:spcPct val="100000"/>
              </a:lnSpc>
              <a:spcBef>
                <a:spcPts val="100"/>
              </a:spcBef>
            </a:pPr>
            <a:r>
              <a:rPr dirty="0"/>
              <a:t>Tipos</a:t>
            </a:r>
            <a:r>
              <a:rPr spc="-10" dirty="0"/>
              <a:t> </a:t>
            </a:r>
            <a:r>
              <a:rPr dirty="0"/>
              <a:t>de</a:t>
            </a:r>
            <a:r>
              <a:rPr spc="-10" dirty="0"/>
              <a:t> Imágenes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52187"/>
            <a:ext cx="6149340" cy="138176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dirty="0">
                <a:latin typeface="Calibri"/>
                <a:cs typeface="Calibri"/>
              </a:rPr>
              <a:t>Pueden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ser:</a:t>
            </a:r>
            <a:endParaRPr sz="2000">
              <a:latin typeface="Calibri"/>
              <a:cs typeface="Calibri"/>
            </a:endParaRPr>
          </a:p>
          <a:p>
            <a:pPr marL="389255" lvl="1" indent="-160655">
              <a:lnSpc>
                <a:spcPct val="100000"/>
              </a:lnSpc>
              <a:spcBef>
                <a:spcPts val="439"/>
              </a:spcBef>
              <a:buChar char="-"/>
              <a:tabLst>
                <a:tab pos="389255" algn="l"/>
              </a:tabLst>
            </a:pPr>
            <a:r>
              <a:rPr sz="1800" dirty="0">
                <a:latin typeface="Calibri"/>
                <a:cs typeface="Calibri"/>
              </a:rPr>
              <a:t>Imágenes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binarias: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{0,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1}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{0,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255}</a:t>
            </a:r>
            <a:endParaRPr sz="1800">
              <a:latin typeface="Calibri"/>
              <a:cs typeface="Calibri"/>
            </a:endParaRPr>
          </a:p>
          <a:p>
            <a:pPr marL="389890" lvl="1" indent="-161290">
              <a:lnSpc>
                <a:spcPct val="100000"/>
              </a:lnSpc>
              <a:spcBef>
                <a:spcPts val="430"/>
              </a:spcBef>
              <a:buChar char="-"/>
              <a:tabLst>
                <a:tab pos="389890" algn="l"/>
              </a:tabLst>
            </a:pPr>
            <a:r>
              <a:rPr sz="1800" dirty="0">
                <a:latin typeface="Calibri"/>
                <a:cs typeface="Calibri"/>
              </a:rPr>
              <a:t>Imágenes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escala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grises: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[0,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1]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[0,</a:t>
            </a:r>
            <a:r>
              <a:rPr sz="1800" spc="-20" dirty="0">
                <a:latin typeface="Calibri"/>
                <a:cs typeface="Calibri"/>
              </a:rPr>
              <a:t> 255]</a:t>
            </a:r>
            <a:endParaRPr sz="18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2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Imágenes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color: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[0,1]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AF50"/>
                </a:solidFill>
                <a:latin typeface="Calibri"/>
                <a:cs typeface="Calibri"/>
              </a:rPr>
              <a:t>[0,1]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0FF"/>
                </a:solidFill>
                <a:latin typeface="Calibri"/>
                <a:cs typeface="Calibri"/>
              </a:rPr>
              <a:t>[0,1]</a:t>
            </a:r>
            <a:r>
              <a:rPr sz="1800" spc="-3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C00000"/>
                </a:solidFill>
                <a:latin typeface="Calibri"/>
                <a:cs typeface="Calibri"/>
              </a:rPr>
              <a:t>[0,255]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AF50"/>
                </a:solidFill>
                <a:latin typeface="Calibri"/>
                <a:cs typeface="Calibri"/>
              </a:rPr>
              <a:t>[0,255]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Calibri"/>
                <a:cs typeface="Calibri"/>
              </a:rPr>
              <a:t>[0,255]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16040" y="3069335"/>
            <a:ext cx="2116836" cy="26304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07891" y="3069335"/>
            <a:ext cx="2304288" cy="26304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2311" y="3500003"/>
            <a:ext cx="2447543" cy="19818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525905" y="5848908"/>
            <a:ext cx="12547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Imagen</a:t>
            </a:r>
            <a:r>
              <a:rPr sz="1600" spc="-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binaria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18864" y="5827572"/>
            <a:ext cx="13004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Escala</a:t>
            </a:r>
            <a:r>
              <a:rPr sz="16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6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grises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81927" y="5827572"/>
            <a:ext cx="12407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Imagen</a:t>
            </a:r>
            <a:r>
              <a:rPr sz="16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a</a:t>
            </a:r>
            <a:r>
              <a:rPr sz="16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color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09DD9A4-401C-46C9-A985-197B90C37467}"/>
              </a:ext>
            </a:extLst>
          </p:cNvPr>
          <p:cNvSpPr/>
          <p:nvPr/>
        </p:nvSpPr>
        <p:spPr>
          <a:xfrm>
            <a:off x="13447" y="76200"/>
            <a:ext cx="1447800" cy="838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4" name="object 18">
            <a:extLst>
              <a:ext uri="{FF2B5EF4-FFF2-40B4-BE49-F238E27FC236}">
                <a16:creationId xmlns:a16="http://schemas.microsoft.com/office/drawing/2014/main" id="{D458D3DC-DB94-54F0-0E18-821BB4C8EDF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815705" y="6665086"/>
            <a:ext cx="2171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DCAA9ADD-ACC7-2E18-68D2-CF7266C33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Ingeniería de Sistemas - UNCP">
            <a:extLst>
              <a:ext uri="{FF2B5EF4-FFF2-40B4-BE49-F238E27FC236}">
                <a16:creationId xmlns:a16="http://schemas.microsoft.com/office/drawing/2014/main" id="{FB993797-F884-E4B3-77F3-028815267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2105">
              <a:lnSpc>
                <a:spcPct val="100000"/>
              </a:lnSpc>
              <a:spcBef>
                <a:spcPts val="100"/>
              </a:spcBef>
            </a:pPr>
            <a:r>
              <a:rPr dirty="0"/>
              <a:t>Tipos</a:t>
            </a:r>
            <a:r>
              <a:rPr spc="-10" dirty="0"/>
              <a:t> </a:t>
            </a:r>
            <a:r>
              <a:rPr dirty="0"/>
              <a:t>de</a:t>
            </a:r>
            <a:r>
              <a:rPr spc="-10" dirty="0"/>
              <a:t> Imágenes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52187"/>
            <a:ext cx="4959350" cy="105219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Número</a:t>
            </a:r>
            <a:r>
              <a:rPr sz="2000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000" spc="-2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canales</a:t>
            </a:r>
            <a:endParaRPr sz="2000">
              <a:latin typeface="Calibri"/>
              <a:cs typeface="Calibri"/>
            </a:endParaRPr>
          </a:p>
          <a:p>
            <a:pPr marL="389255" lvl="1" indent="-160655">
              <a:lnSpc>
                <a:spcPct val="100000"/>
              </a:lnSpc>
              <a:spcBef>
                <a:spcPts val="439"/>
              </a:spcBef>
              <a:buChar char="-"/>
              <a:tabLst>
                <a:tab pos="389255" algn="l"/>
              </a:tabLst>
            </a:pPr>
            <a:r>
              <a:rPr sz="1800" dirty="0">
                <a:latin typeface="Calibri"/>
                <a:cs typeface="Calibri"/>
              </a:rPr>
              <a:t>Imagen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escala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grises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(o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binaria)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canal</a:t>
            </a:r>
            <a:endParaRPr sz="1800">
              <a:latin typeface="Calibri"/>
              <a:cs typeface="Calibri"/>
            </a:endParaRPr>
          </a:p>
          <a:p>
            <a:pPr marL="389890" lvl="1" indent="-161290">
              <a:lnSpc>
                <a:spcPct val="100000"/>
              </a:lnSpc>
              <a:spcBef>
                <a:spcPts val="430"/>
              </a:spcBef>
              <a:buChar char="-"/>
              <a:tabLst>
                <a:tab pos="389890" algn="l"/>
              </a:tabLst>
            </a:pPr>
            <a:r>
              <a:rPr sz="1800" dirty="0">
                <a:latin typeface="Calibri"/>
                <a:cs typeface="Calibri"/>
              </a:rPr>
              <a:t>Imagen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color: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canales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(como</a:t>
            </a: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3</a:t>
            </a:r>
            <a:r>
              <a:rPr sz="16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imágenes</a:t>
            </a:r>
            <a:r>
              <a:rPr sz="16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en</a:t>
            </a:r>
            <a:r>
              <a:rPr sz="16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gris)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728208"/>
            <a:ext cx="2905760" cy="826135"/>
          </a:xfrm>
          <a:prstGeom prst="rect">
            <a:avLst/>
          </a:prstGeom>
        </p:spPr>
        <p:txBody>
          <a:bodyPr vert="horz" wrap="square" lIns="0" tIns="178435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140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Representación</a:t>
            </a:r>
            <a:r>
              <a:rPr sz="2000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000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píxeles</a:t>
            </a:r>
            <a:endParaRPr sz="2000">
              <a:latin typeface="Calibri"/>
              <a:cs typeface="Calibri"/>
            </a:endParaRPr>
          </a:p>
          <a:p>
            <a:pPr marR="397510" algn="r">
              <a:lnSpc>
                <a:spcPct val="100000"/>
              </a:lnSpc>
              <a:spcBef>
                <a:spcPts val="915"/>
              </a:spcBef>
            </a:pPr>
            <a:r>
              <a:rPr sz="1400" spc="-25" dirty="0">
                <a:latin typeface="Calibri"/>
                <a:cs typeface="Calibri"/>
              </a:rPr>
              <a:t>75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86582" y="2863418"/>
            <a:ext cx="2025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=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12614" y="2863418"/>
            <a:ext cx="2025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+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83705" y="2863418"/>
            <a:ext cx="2025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Calibri"/>
                <a:cs typeface="Calibri"/>
              </a:rPr>
              <a:t>+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6083" y="4581144"/>
            <a:ext cx="2159508" cy="197805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816100" y="6259169"/>
            <a:ext cx="29527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latin typeface="Calibri"/>
                <a:cs typeface="Calibri"/>
              </a:rPr>
              <a:t>148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08678" y="5611469"/>
            <a:ext cx="2952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Calibri"/>
                <a:cs typeface="Calibri"/>
              </a:rPr>
              <a:t>231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24144" y="4666488"/>
            <a:ext cx="1933955" cy="185402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279516" y="6043676"/>
            <a:ext cx="407670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9050" algn="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(</a:t>
            </a:r>
            <a:r>
              <a:rPr sz="1400" spc="-10" dirty="0">
                <a:solidFill>
                  <a:srgbClr val="C00000"/>
                </a:solidFill>
                <a:latin typeface="Calibri"/>
                <a:cs typeface="Calibri"/>
              </a:rPr>
              <a:t>213</a:t>
            </a:r>
            <a:r>
              <a:rPr sz="1400" spc="-10" dirty="0">
                <a:latin typeface="Calibri"/>
                <a:cs typeface="Calibri"/>
              </a:rPr>
              <a:t>,</a:t>
            </a:r>
            <a:endParaRPr sz="1400">
              <a:latin typeface="Calibri"/>
              <a:cs typeface="Calibri"/>
            </a:endParaRPr>
          </a:p>
          <a:p>
            <a:pPr marR="29845" algn="r">
              <a:lnSpc>
                <a:spcPct val="100000"/>
              </a:lnSpc>
              <a:spcBef>
                <a:spcPts val="5"/>
              </a:spcBef>
            </a:pPr>
            <a:r>
              <a:rPr sz="1400" spc="-25" dirty="0">
                <a:solidFill>
                  <a:srgbClr val="00AF50"/>
                </a:solidFill>
                <a:latin typeface="Calibri"/>
                <a:cs typeface="Calibri"/>
              </a:rPr>
              <a:t>60</a:t>
            </a:r>
            <a:r>
              <a:rPr sz="1400" spc="-25" dirty="0">
                <a:latin typeface="Calibri"/>
                <a:cs typeface="Calibri"/>
              </a:rPr>
              <a:t>,</a:t>
            </a:r>
            <a:endParaRPr sz="14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1400" spc="-25" dirty="0">
                <a:solidFill>
                  <a:srgbClr val="0000FF"/>
                </a:solidFill>
                <a:latin typeface="Calibri"/>
                <a:cs typeface="Calibri"/>
              </a:rPr>
              <a:t>67</a:t>
            </a:r>
            <a:r>
              <a:rPr sz="1400" spc="-25" dirty="0"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57338" y="5395341"/>
            <a:ext cx="431800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(</a:t>
            </a:r>
            <a:r>
              <a:rPr sz="1400" spc="-10" dirty="0">
                <a:solidFill>
                  <a:srgbClr val="C00000"/>
                </a:solidFill>
                <a:latin typeface="Calibri"/>
                <a:cs typeface="Calibri"/>
              </a:rPr>
              <a:t>249</a:t>
            </a:r>
            <a:r>
              <a:rPr sz="1400" spc="-10" dirty="0">
                <a:latin typeface="Calibri"/>
                <a:cs typeface="Calibri"/>
              </a:rPr>
              <a:t>,</a:t>
            </a:r>
            <a:endParaRPr sz="1400">
              <a:latin typeface="Calibri"/>
              <a:cs typeface="Calibri"/>
            </a:endParaRPr>
          </a:p>
          <a:p>
            <a:pPr marL="79375">
              <a:lnSpc>
                <a:spcPct val="100000"/>
              </a:lnSpc>
              <a:spcBef>
                <a:spcPts val="5"/>
              </a:spcBef>
            </a:pPr>
            <a:r>
              <a:rPr sz="1400" spc="-20" dirty="0">
                <a:solidFill>
                  <a:srgbClr val="00AF50"/>
                </a:solidFill>
                <a:latin typeface="Calibri"/>
                <a:cs typeface="Calibri"/>
              </a:rPr>
              <a:t>215</a:t>
            </a:r>
            <a:r>
              <a:rPr sz="1400" spc="-20" dirty="0">
                <a:latin typeface="Calibri"/>
                <a:cs typeface="Calibri"/>
              </a:rPr>
              <a:t>,</a:t>
            </a:r>
            <a:endParaRPr sz="1400">
              <a:latin typeface="Calibri"/>
              <a:cs typeface="Calibri"/>
            </a:endParaRPr>
          </a:p>
          <a:p>
            <a:pPr marL="94615">
              <a:lnSpc>
                <a:spcPct val="100000"/>
              </a:lnSpc>
            </a:pPr>
            <a:r>
              <a:rPr sz="1400" spc="-20" dirty="0">
                <a:solidFill>
                  <a:srgbClr val="0000FF"/>
                </a:solidFill>
                <a:latin typeface="Calibri"/>
                <a:cs typeface="Calibri"/>
              </a:rPr>
              <a:t>203</a:t>
            </a:r>
            <a:r>
              <a:rPr sz="1400" spc="-20" dirty="0"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25134" y="4440427"/>
            <a:ext cx="7531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(</a:t>
            </a:r>
            <a:r>
              <a:rPr sz="1400" dirty="0">
                <a:solidFill>
                  <a:srgbClr val="C00000"/>
                </a:solidFill>
                <a:latin typeface="Calibri"/>
                <a:cs typeface="Calibri"/>
              </a:rPr>
              <a:t>90</a:t>
            </a:r>
            <a:r>
              <a:rPr sz="1400" dirty="0">
                <a:latin typeface="Calibri"/>
                <a:cs typeface="Calibri"/>
              </a:rPr>
              <a:t>,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AF50"/>
                </a:solidFill>
                <a:latin typeface="Calibri"/>
                <a:cs typeface="Calibri"/>
              </a:rPr>
              <a:t>0</a:t>
            </a:r>
            <a:r>
              <a:rPr sz="1400" dirty="0">
                <a:latin typeface="Calibri"/>
                <a:cs typeface="Calibri"/>
              </a:rPr>
              <a:t>,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0000FF"/>
                </a:solidFill>
                <a:latin typeface="Calibri"/>
                <a:cs typeface="Calibri"/>
              </a:rPr>
              <a:t>53</a:t>
            </a:r>
            <a:r>
              <a:rPr sz="1400" spc="-25" dirty="0"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7655" y="2493264"/>
            <a:ext cx="1706880" cy="122759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14116" y="2494788"/>
            <a:ext cx="5472683" cy="1222248"/>
          </a:xfrm>
          <a:prstGeom prst="rect">
            <a:avLst/>
          </a:prstGeom>
        </p:spPr>
      </p:pic>
      <p:sp>
        <p:nvSpPr>
          <p:cNvPr id="20" name="object 18">
            <a:extLst>
              <a:ext uri="{FF2B5EF4-FFF2-40B4-BE49-F238E27FC236}">
                <a16:creationId xmlns:a16="http://schemas.microsoft.com/office/drawing/2014/main" id="{896DFF53-9598-EF81-4972-BA74B018CF0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815705" y="6665086"/>
            <a:ext cx="2171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pic>
        <p:nvPicPr>
          <p:cNvPr id="17" name="Picture 4">
            <a:extLst>
              <a:ext uri="{FF2B5EF4-FFF2-40B4-BE49-F238E27FC236}">
                <a16:creationId xmlns:a16="http://schemas.microsoft.com/office/drawing/2014/main" id="{F4DDF883-4F85-48CD-587E-5E0E1A8F8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 descr="Ingeniería de Sistemas - UNCP">
            <a:extLst>
              <a:ext uri="{FF2B5EF4-FFF2-40B4-BE49-F238E27FC236}">
                <a16:creationId xmlns:a16="http://schemas.microsoft.com/office/drawing/2014/main" id="{BB01CFF3-D003-DA99-6F8F-E0DC03C55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94226" y="581913"/>
            <a:ext cx="9550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solidFill>
                  <a:srgbClr val="B51A00"/>
                </a:solidFill>
              </a:rPr>
              <a:t>Temas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407" y="2118249"/>
            <a:ext cx="8459764" cy="70893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2068" y="1511046"/>
            <a:ext cx="41363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sz="2800" spc="-25" dirty="0">
                <a:solidFill>
                  <a:srgbClr val="A6A6A6"/>
                </a:solidFill>
                <a:latin typeface="Calibri"/>
                <a:cs typeface="Calibri"/>
              </a:rPr>
              <a:t>1.</a:t>
            </a:r>
            <a:r>
              <a:rPr sz="2800" dirty="0">
                <a:solidFill>
                  <a:srgbClr val="A6A6A6"/>
                </a:solidFill>
                <a:latin typeface="Calibri"/>
                <a:cs typeface="Calibri"/>
              </a:rPr>
              <a:t>	</a:t>
            </a:r>
            <a:r>
              <a:rPr sz="2800" spc="-10" dirty="0">
                <a:solidFill>
                  <a:srgbClr val="A6A6A6"/>
                </a:solidFill>
                <a:latin typeface="Calibri"/>
                <a:cs typeface="Calibri"/>
              </a:rPr>
              <a:t>Conceptos</a:t>
            </a:r>
            <a:r>
              <a:rPr sz="2800" spc="-9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A6A6A6"/>
                </a:solidFill>
                <a:latin typeface="Calibri"/>
                <a:cs typeface="Calibri"/>
              </a:rPr>
              <a:t>Introductorios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431291" y="2205227"/>
            <a:ext cx="8300084" cy="548640"/>
          </a:xfrm>
          <a:prstGeom prst="rect">
            <a:avLst/>
          </a:prstGeom>
          <a:solidFill>
            <a:srgbClr val="9BEDF7"/>
          </a:solidFill>
        </p:spPr>
        <p:txBody>
          <a:bodyPr vert="horz" wrap="square" lIns="0" tIns="41910" rIns="0" bIns="0" rtlCol="0">
            <a:spAutoFit/>
          </a:bodyPr>
          <a:lstStyle/>
          <a:p>
            <a:pPr marL="233045">
              <a:lnSpc>
                <a:spcPct val="100000"/>
              </a:lnSpc>
              <a:spcBef>
                <a:spcPts val="330"/>
              </a:spcBef>
              <a:tabLst>
                <a:tab pos="690245" algn="l"/>
              </a:tabLst>
            </a:pPr>
            <a:r>
              <a:rPr sz="2800" b="1" spc="-25" dirty="0">
                <a:solidFill>
                  <a:srgbClr val="0000FF"/>
                </a:solidFill>
                <a:latin typeface="Calibri"/>
                <a:cs typeface="Calibri"/>
              </a:rPr>
              <a:t>2.</a:t>
            </a:r>
            <a:r>
              <a:rPr sz="2800" b="1" dirty="0">
                <a:solidFill>
                  <a:srgbClr val="0000FF"/>
                </a:solidFill>
                <a:latin typeface="Calibri"/>
                <a:cs typeface="Calibri"/>
              </a:rPr>
              <a:t>	</a:t>
            </a:r>
            <a:r>
              <a:rPr sz="2800" b="1" spc="-10" dirty="0">
                <a:solidFill>
                  <a:srgbClr val="0000FF"/>
                </a:solidFill>
                <a:latin typeface="Calibri"/>
                <a:cs typeface="Calibri"/>
              </a:rPr>
              <a:t>Procesamiento</a:t>
            </a:r>
            <a:r>
              <a:rPr sz="2800" b="1" spc="-6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00FF"/>
                </a:solidFill>
                <a:latin typeface="Calibri"/>
                <a:cs typeface="Calibri"/>
              </a:rPr>
              <a:t>Básico</a:t>
            </a:r>
            <a:r>
              <a:rPr sz="2800" b="1" spc="-7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00FF"/>
                </a:solidFill>
                <a:latin typeface="Calibri"/>
                <a:cs typeface="Calibri"/>
              </a:rPr>
              <a:t>de</a:t>
            </a:r>
            <a:r>
              <a:rPr sz="2800" b="1" spc="-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Calibri"/>
                <a:cs typeface="Calibri"/>
              </a:rPr>
              <a:t>Imágenes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2068" y="2959099"/>
            <a:ext cx="26136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sz="2800" spc="-25" dirty="0">
                <a:solidFill>
                  <a:srgbClr val="A6A6A6"/>
                </a:solidFill>
                <a:latin typeface="Calibri"/>
                <a:cs typeface="Calibri"/>
              </a:rPr>
              <a:t>3.</a:t>
            </a:r>
            <a:r>
              <a:rPr sz="2800" dirty="0">
                <a:solidFill>
                  <a:srgbClr val="A6A6A6"/>
                </a:solidFill>
                <a:latin typeface="Calibri"/>
                <a:cs typeface="Calibri"/>
              </a:rPr>
              <a:t>	Filtros</a:t>
            </a:r>
            <a:r>
              <a:rPr sz="2800" spc="-9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A6A6A6"/>
                </a:solidFill>
                <a:latin typeface="Calibri"/>
                <a:cs typeface="Calibri"/>
              </a:rPr>
              <a:t>Lineales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6CDD09FD-20A3-A114-215B-DD0846EE93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Ingeniería de Sistemas - UNCP">
            <a:extLst>
              <a:ext uri="{FF2B5EF4-FFF2-40B4-BE49-F238E27FC236}">
                <a16:creationId xmlns:a16="http://schemas.microsoft.com/office/drawing/2014/main" id="{F42CD130-C701-4DED-0B56-3C48E9751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92829" y="260350"/>
            <a:ext cx="19589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Histograma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52187"/>
            <a:ext cx="7941945" cy="72326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dirty="0">
                <a:latin typeface="Calibri"/>
                <a:cs typeface="Calibri"/>
              </a:rPr>
              <a:t>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gráfico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muestra:</a:t>
            </a:r>
            <a:endParaRPr sz="20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439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229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cuánta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frecuencia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ocurre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cada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nivel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imagen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(distribución</a:t>
            </a:r>
            <a:r>
              <a:rPr sz="1600" spc="-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6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grises)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5066315"/>
            <a:ext cx="5606415" cy="105283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spc="-10" dirty="0">
                <a:solidFill>
                  <a:srgbClr val="6F2F9F"/>
                </a:solidFill>
                <a:latin typeface="Calibri"/>
                <a:cs typeface="Calibri"/>
              </a:rPr>
              <a:t>Nota:</a:t>
            </a:r>
            <a:endParaRPr sz="2000">
              <a:latin typeface="Calibri"/>
              <a:cs typeface="Calibri"/>
            </a:endParaRPr>
          </a:p>
          <a:p>
            <a:pPr marL="389890" lvl="1" indent="-161290">
              <a:lnSpc>
                <a:spcPct val="100000"/>
              </a:lnSpc>
              <a:spcBef>
                <a:spcPts val="440"/>
              </a:spcBef>
              <a:buChar char="-"/>
              <a:tabLst>
                <a:tab pos="389890" algn="l"/>
              </a:tabLst>
            </a:pPr>
            <a:r>
              <a:rPr sz="1800" dirty="0">
                <a:latin typeface="Calibri"/>
                <a:cs typeface="Calibri"/>
              </a:rPr>
              <a:t>No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brinda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información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espacial</a:t>
            </a:r>
            <a:endParaRPr sz="1800">
              <a:latin typeface="Calibri"/>
              <a:cs typeface="Calibri"/>
            </a:endParaRPr>
          </a:p>
          <a:p>
            <a:pPr marL="389890" lvl="1" indent="-161290">
              <a:lnSpc>
                <a:spcPct val="100000"/>
              </a:lnSpc>
              <a:spcBef>
                <a:spcPts val="434"/>
              </a:spcBef>
              <a:buChar char="-"/>
              <a:tabLst>
                <a:tab pos="389890" algn="l"/>
              </a:tabLst>
            </a:pPr>
            <a:r>
              <a:rPr sz="1800" spc="-10" dirty="0">
                <a:latin typeface="Calibri"/>
                <a:cs typeface="Calibri"/>
              </a:rPr>
              <a:t>Diferentes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imágenes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pueden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tener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mismo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histograma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71066" y="4387722"/>
            <a:ext cx="25457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6905" marR="5080" indent="-62484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Imagen</a:t>
            </a:r>
            <a:r>
              <a:rPr sz="1600" spc="-5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con</a:t>
            </a:r>
            <a:r>
              <a:rPr sz="16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256</a:t>
            </a:r>
            <a:r>
              <a:rPr sz="16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niveles</a:t>
            </a:r>
            <a:r>
              <a:rPr sz="16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6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7E7E7E"/>
                </a:solidFill>
                <a:latin typeface="Calibri"/>
                <a:cs typeface="Calibri"/>
              </a:rPr>
              <a:t>gris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(8 bits:</a:t>
            </a:r>
            <a:r>
              <a:rPr sz="16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0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a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7E7E7E"/>
                </a:solidFill>
                <a:latin typeface="Calibri"/>
                <a:cs typeface="Calibri"/>
              </a:rPr>
              <a:t>255)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5567" y="2161032"/>
            <a:ext cx="3514344" cy="2151888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364261" y="2201252"/>
            <a:ext cx="3402329" cy="1938020"/>
            <a:chOff x="5364261" y="2201252"/>
            <a:chExt cx="3402329" cy="1938020"/>
          </a:xfrm>
        </p:grpSpPr>
        <p:sp>
          <p:nvSpPr>
            <p:cNvPr id="8" name="object 8"/>
            <p:cNvSpPr/>
            <p:nvPr/>
          </p:nvSpPr>
          <p:spPr>
            <a:xfrm>
              <a:off x="5365213" y="2203060"/>
              <a:ext cx="3382645" cy="0"/>
            </a:xfrm>
            <a:custGeom>
              <a:avLst/>
              <a:gdLst/>
              <a:ahLst/>
              <a:cxnLst/>
              <a:rect l="l" t="t" r="r" b="b"/>
              <a:pathLst>
                <a:path w="3382645">
                  <a:moveTo>
                    <a:pt x="0" y="0"/>
                  </a:moveTo>
                  <a:lnTo>
                    <a:pt x="338229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752218" y="2207762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65214" y="3978558"/>
              <a:ext cx="3382645" cy="0"/>
            </a:xfrm>
            <a:custGeom>
              <a:avLst/>
              <a:gdLst/>
              <a:ahLst/>
              <a:cxnLst/>
              <a:rect l="l" t="t" r="r" b="b"/>
              <a:pathLst>
                <a:path w="3382645">
                  <a:moveTo>
                    <a:pt x="0" y="0"/>
                  </a:moveTo>
                  <a:lnTo>
                    <a:pt x="338229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52219" y="398326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747506" y="2203060"/>
              <a:ext cx="0" cy="1776095"/>
            </a:xfrm>
            <a:custGeom>
              <a:avLst/>
              <a:gdLst/>
              <a:ahLst/>
              <a:cxnLst/>
              <a:rect l="l" t="t" r="r" b="b"/>
              <a:pathLst>
                <a:path h="1776095">
                  <a:moveTo>
                    <a:pt x="0" y="17754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752218" y="2207762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65213" y="2203060"/>
              <a:ext cx="0" cy="1776095"/>
            </a:xfrm>
            <a:custGeom>
              <a:avLst/>
              <a:gdLst/>
              <a:ahLst/>
              <a:cxnLst/>
              <a:rect l="l" t="t" r="r" b="b"/>
              <a:pathLst>
                <a:path h="1776095">
                  <a:moveTo>
                    <a:pt x="0" y="17754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69935" y="2207762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365214" y="3978558"/>
              <a:ext cx="3382645" cy="0"/>
            </a:xfrm>
            <a:custGeom>
              <a:avLst/>
              <a:gdLst/>
              <a:ahLst/>
              <a:cxnLst/>
              <a:rect l="l" t="t" r="r" b="b"/>
              <a:pathLst>
                <a:path w="3382645">
                  <a:moveTo>
                    <a:pt x="0" y="0"/>
                  </a:moveTo>
                  <a:lnTo>
                    <a:pt x="338229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752219" y="398326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365213" y="2203060"/>
              <a:ext cx="0" cy="1776095"/>
            </a:xfrm>
            <a:custGeom>
              <a:avLst/>
              <a:gdLst/>
              <a:ahLst/>
              <a:cxnLst/>
              <a:rect l="l" t="t" r="r" b="b"/>
              <a:pathLst>
                <a:path h="1776095">
                  <a:moveTo>
                    <a:pt x="0" y="17754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369935" y="2207762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65214" y="3940708"/>
              <a:ext cx="0" cy="38100"/>
            </a:xfrm>
            <a:custGeom>
              <a:avLst/>
              <a:gdLst/>
              <a:ahLst/>
              <a:cxnLst/>
              <a:rect l="l" t="t" r="r" b="b"/>
              <a:pathLst>
                <a:path h="38100">
                  <a:moveTo>
                    <a:pt x="0" y="378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69936" y="394541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365213" y="2203060"/>
              <a:ext cx="0" cy="28575"/>
            </a:xfrm>
            <a:custGeom>
              <a:avLst/>
              <a:gdLst/>
              <a:ahLst/>
              <a:cxnLst/>
              <a:rect l="l" t="t" r="r" b="b"/>
              <a:pathLst>
                <a:path h="28575">
                  <a:moveTo>
                    <a:pt x="0" y="0"/>
                  </a:moveTo>
                  <a:lnTo>
                    <a:pt x="0" y="284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69935" y="223625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26724" y="3940708"/>
              <a:ext cx="0" cy="38100"/>
            </a:xfrm>
            <a:custGeom>
              <a:avLst/>
              <a:gdLst/>
              <a:ahLst/>
              <a:cxnLst/>
              <a:rect l="l" t="t" r="r" b="b"/>
              <a:pathLst>
                <a:path h="38100">
                  <a:moveTo>
                    <a:pt x="0" y="378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031436" y="394541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026723" y="2203060"/>
              <a:ext cx="0" cy="28575"/>
            </a:xfrm>
            <a:custGeom>
              <a:avLst/>
              <a:gdLst/>
              <a:ahLst/>
              <a:cxnLst/>
              <a:rect l="l" t="t" r="r" b="b"/>
              <a:pathLst>
                <a:path h="28575">
                  <a:moveTo>
                    <a:pt x="0" y="0"/>
                  </a:moveTo>
                  <a:lnTo>
                    <a:pt x="0" y="284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031436" y="223625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687998" y="3940708"/>
              <a:ext cx="0" cy="38100"/>
            </a:xfrm>
            <a:custGeom>
              <a:avLst/>
              <a:gdLst/>
              <a:ahLst/>
              <a:cxnLst/>
              <a:rect l="l" t="t" r="r" b="b"/>
              <a:pathLst>
                <a:path h="38100">
                  <a:moveTo>
                    <a:pt x="0" y="378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692711" y="394541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687998" y="2203060"/>
              <a:ext cx="0" cy="28575"/>
            </a:xfrm>
            <a:custGeom>
              <a:avLst/>
              <a:gdLst/>
              <a:ahLst/>
              <a:cxnLst/>
              <a:rect l="l" t="t" r="r" b="b"/>
              <a:pathLst>
                <a:path h="28575">
                  <a:moveTo>
                    <a:pt x="0" y="0"/>
                  </a:moveTo>
                  <a:lnTo>
                    <a:pt x="0" y="284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692711" y="223625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349367" y="3940708"/>
              <a:ext cx="0" cy="38100"/>
            </a:xfrm>
            <a:custGeom>
              <a:avLst/>
              <a:gdLst/>
              <a:ahLst/>
              <a:cxnLst/>
              <a:rect l="l" t="t" r="r" b="b"/>
              <a:pathLst>
                <a:path h="38100">
                  <a:moveTo>
                    <a:pt x="0" y="378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354079" y="394541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349367" y="2203060"/>
              <a:ext cx="0" cy="28575"/>
            </a:xfrm>
            <a:custGeom>
              <a:avLst/>
              <a:gdLst/>
              <a:ahLst/>
              <a:cxnLst/>
              <a:rect l="l" t="t" r="r" b="b"/>
              <a:pathLst>
                <a:path h="28575">
                  <a:moveTo>
                    <a:pt x="0" y="0"/>
                  </a:moveTo>
                  <a:lnTo>
                    <a:pt x="0" y="284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354079" y="223625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010641" y="3940708"/>
              <a:ext cx="0" cy="38100"/>
            </a:xfrm>
            <a:custGeom>
              <a:avLst/>
              <a:gdLst/>
              <a:ahLst/>
              <a:cxnLst/>
              <a:rect l="l" t="t" r="r" b="b"/>
              <a:pathLst>
                <a:path h="38100">
                  <a:moveTo>
                    <a:pt x="0" y="378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015354" y="394541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010641" y="2203060"/>
              <a:ext cx="0" cy="28575"/>
            </a:xfrm>
            <a:custGeom>
              <a:avLst/>
              <a:gdLst/>
              <a:ahLst/>
              <a:cxnLst/>
              <a:rect l="l" t="t" r="r" b="b"/>
              <a:pathLst>
                <a:path h="28575">
                  <a:moveTo>
                    <a:pt x="0" y="0"/>
                  </a:moveTo>
                  <a:lnTo>
                    <a:pt x="0" y="284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015354" y="223625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671916" y="3940708"/>
              <a:ext cx="0" cy="38100"/>
            </a:xfrm>
            <a:custGeom>
              <a:avLst/>
              <a:gdLst/>
              <a:ahLst/>
              <a:cxnLst/>
              <a:rect l="l" t="t" r="r" b="b"/>
              <a:pathLst>
                <a:path h="38100">
                  <a:moveTo>
                    <a:pt x="0" y="378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676628" y="394541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671916" y="2203060"/>
              <a:ext cx="0" cy="28575"/>
            </a:xfrm>
            <a:custGeom>
              <a:avLst/>
              <a:gdLst/>
              <a:ahLst/>
              <a:cxnLst/>
              <a:rect l="l" t="t" r="r" b="b"/>
              <a:pathLst>
                <a:path h="28575">
                  <a:moveTo>
                    <a:pt x="0" y="0"/>
                  </a:moveTo>
                  <a:lnTo>
                    <a:pt x="0" y="28493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676628" y="223625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365214" y="3978558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28575">
                  <a:moveTo>
                    <a:pt x="0" y="0"/>
                  </a:moveTo>
                  <a:lnTo>
                    <a:pt x="2852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398447" y="398326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709805" y="3978559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3770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714518" y="398326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365214" y="3515827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28575">
                  <a:moveTo>
                    <a:pt x="0" y="0"/>
                  </a:moveTo>
                  <a:lnTo>
                    <a:pt x="2852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398447" y="3520529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709805" y="3515827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3770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714518" y="3520529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365213" y="3053067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28575">
                  <a:moveTo>
                    <a:pt x="0" y="0"/>
                  </a:moveTo>
                  <a:lnTo>
                    <a:pt x="2852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398447" y="3057769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8709805" y="3053067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3770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8714518" y="3057769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365213" y="2590401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28575">
                  <a:moveTo>
                    <a:pt x="0" y="0"/>
                  </a:moveTo>
                  <a:lnTo>
                    <a:pt x="2852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398447" y="2595103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709805" y="2590401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3770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714518" y="2595103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365213" y="2203060"/>
              <a:ext cx="3382645" cy="0"/>
            </a:xfrm>
            <a:custGeom>
              <a:avLst/>
              <a:gdLst/>
              <a:ahLst/>
              <a:cxnLst/>
              <a:rect l="l" t="t" r="r" b="b"/>
              <a:pathLst>
                <a:path w="3382645">
                  <a:moveTo>
                    <a:pt x="0" y="0"/>
                  </a:moveTo>
                  <a:lnTo>
                    <a:pt x="338229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752218" y="2207762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365214" y="3978558"/>
              <a:ext cx="3382645" cy="0"/>
            </a:xfrm>
            <a:custGeom>
              <a:avLst/>
              <a:gdLst/>
              <a:ahLst/>
              <a:cxnLst/>
              <a:rect l="l" t="t" r="r" b="b"/>
              <a:pathLst>
                <a:path w="3382645">
                  <a:moveTo>
                    <a:pt x="0" y="0"/>
                  </a:moveTo>
                  <a:lnTo>
                    <a:pt x="338229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8752219" y="398326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8747506" y="2203060"/>
              <a:ext cx="0" cy="1776095"/>
            </a:xfrm>
            <a:custGeom>
              <a:avLst/>
              <a:gdLst/>
              <a:ahLst/>
              <a:cxnLst/>
              <a:rect l="l" t="t" r="r" b="b"/>
              <a:pathLst>
                <a:path h="1776095">
                  <a:moveTo>
                    <a:pt x="0" y="17754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8752218" y="2207762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365213" y="2203060"/>
              <a:ext cx="0" cy="1776095"/>
            </a:xfrm>
            <a:custGeom>
              <a:avLst/>
              <a:gdLst/>
              <a:ahLst/>
              <a:cxnLst/>
              <a:rect l="l" t="t" r="r" b="b"/>
              <a:pathLst>
                <a:path h="1776095">
                  <a:moveTo>
                    <a:pt x="0" y="177549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369935" y="2207762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365214" y="2203060"/>
              <a:ext cx="2315210" cy="1776095"/>
            </a:xfrm>
            <a:custGeom>
              <a:avLst/>
              <a:gdLst/>
              <a:ahLst/>
              <a:cxnLst/>
              <a:rect l="l" t="t" r="r" b="b"/>
              <a:pathLst>
                <a:path w="2315209" h="1776095">
                  <a:moveTo>
                    <a:pt x="0" y="1775498"/>
                  </a:moveTo>
                  <a:lnTo>
                    <a:pt x="0" y="1501576"/>
                  </a:lnTo>
                </a:path>
                <a:path w="2315209" h="1776095">
                  <a:moveTo>
                    <a:pt x="9434" y="1775498"/>
                  </a:moveTo>
                  <a:lnTo>
                    <a:pt x="9434" y="1482759"/>
                  </a:lnTo>
                </a:path>
                <a:path w="2315209" h="1776095">
                  <a:moveTo>
                    <a:pt x="19086" y="1775498"/>
                  </a:moveTo>
                  <a:lnTo>
                    <a:pt x="19086" y="1510979"/>
                  </a:lnTo>
                </a:path>
                <a:path w="2315209" h="1776095">
                  <a:moveTo>
                    <a:pt x="37946" y="1775498"/>
                  </a:moveTo>
                  <a:lnTo>
                    <a:pt x="37945" y="1492172"/>
                  </a:lnTo>
                </a:path>
                <a:path w="2315209" h="1776095">
                  <a:moveTo>
                    <a:pt x="47371" y="1775498"/>
                  </a:moveTo>
                  <a:lnTo>
                    <a:pt x="47371" y="1473129"/>
                  </a:lnTo>
                </a:path>
                <a:path w="2315209" h="1776095">
                  <a:moveTo>
                    <a:pt x="66221" y="1775498"/>
                  </a:moveTo>
                  <a:lnTo>
                    <a:pt x="66221" y="1463716"/>
                  </a:lnTo>
                </a:path>
                <a:path w="2315209" h="1776095">
                  <a:moveTo>
                    <a:pt x="75656" y="1775498"/>
                  </a:moveTo>
                  <a:lnTo>
                    <a:pt x="75656" y="1444908"/>
                  </a:lnTo>
                </a:path>
                <a:path w="2315209" h="1776095">
                  <a:moveTo>
                    <a:pt x="85081" y="1775498"/>
                  </a:moveTo>
                  <a:lnTo>
                    <a:pt x="85081" y="1463716"/>
                  </a:lnTo>
                </a:path>
                <a:path w="2315209" h="1776095">
                  <a:moveTo>
                    <a:pt x="103932" y="1775498"/>
                  </a:moveTo>
                  <a:lnTo>
                    <a:pt x="103932" y="1463716"/>
                  </a:lnTo>
                </a:path>
                <a:path w="2315209" h="1776095">
                  <a:moveTo>
                    <a:pt x="113357" y="1775498"/>
                  </a:moveTo>
                  <a:lnTo>
                    <a:pt x="113357" y="1473129"/>
                  </a:lnTo>
                </a:path>
                <a:path w="2315209" h="1776095">
                  <a:moveTo>
                    <a:pt x="132443" y="1775498"/>
                  </a:moveTo>
                  <a:lnTo>
                    <a:pt x="132443" y="1463716"/>
                  </a:lnTo>
                </a:path>
                <a:path w="2315209" h="1776095">
                  <a:moveTo>
                    <a:pt x="141878" y="1775498"/>
                  </a:moveTo>
                  <a:lnTo>
                    <a:pt x="141878" y="1473129"/>
                  </a:lnTo>
                </a:path>
                <a:path w="2315209" h="1776095">
                  <a:moveTo>
                    <a:pt x="151303" y="1775498"/>
                  </a:moveTo>
                  <a:lnTo>
                    <a:pt x="151303" y="1482759"/>
                  </a:lnTo>
                </a:path>
                <a:path w="2315209" h="1776095">
                  <a:moveTo>
                    <a:pt x="170153" y="1775498"/>
                  </a:moveTo>
                  <a:lnTo>
                    <a:pt x="170153" y="1492172"/>
                  </a:lnTo>
                </a:path>
                <a:path w="2315209" h="1776095">
                  <a:moveTo>
                    <a:pt x="179579" y="1775498"/>
                  </a:moveTo>
                  <a:lnTo>
                    <a:pt x="179578" y="1510979"/>
                  </a:lnTo>
                </a:path>
                <a:path w="2315209" h="1776095">
                  <a:moveTo>
                    <a:pt x="198438" y="1775498"/>
                  </a:moveTo>
                  <a:lnTo>
                    <a:pt x="198438" y="1520383"/>
                  </a:lnTo>
                </a:path>
                <a:path w="2315209" h="1776095">
                  <a:moveTo>
                    <a:pt x="207864" y="1775498"/>
                  </a:moveTo>
                  <a:lnTo>
                    <a:pt x="207864" y="1520383"/>
                  </a:lnTo>
                </a:path>
                <a:path w="2315209" h="1776095">
                  <a:moveTo>
                    <a:pt x="217289" y="1775498"/>
                  </a:moveTo>
                  <a:lnTo>
                    <a:pt x="217289" y="1529796"/>
                  </a:lnTo>
                </a:path>
                <a:path w="2315209" h="1776095">
                  <a:moveTo>
                    <a:pt x="236375" y="1775498"/>
                  </a:moveTo>
                  <a:lnTo>
                    <a:pt x="236375" y="1548830"/>
                  </a:lnTo>
                </a:path>
                <a:path w="2315209" h="1776095">
                  <a:moveTo>
                    <a:pt x="245800" y="1775498"/>
                  </a:moveTo>
                  <a:lnTo>
                    <a:pt x="245800" y="1558243"/>
                  </a:lnTo>
                </a:path>
                <a:path w="2315209" h="1776095">
                  <a:moveTo>
                    <a:pt x="264660" y="1775498"/>
                  </a:moveTo>
                  <a:lnTo>
                    <a:pt x="264660" y="1567646"/>
                  </a:lnTo>
                </a:path>
                <a:path w="2315209" h="1776095">
                  <a:moveTo>
                    <a:pt x="274085" y="1775498"/>
                  </a:moveTo>
                  <a:lnTo>
                    <a:pt x="274085" y="1567646"/>
                  </a:lnTo>
                </a:path>
                <a:path w="2315209" h="1776095">
                  <a:moveTo>
                    <a:pt x="283511" y="1775498"/>
                  </a:moveTo>
                  <a:lnTo>
                    <a:pt x="283511" y="1577050"/>
                  </a:lnTo>
                </a:path>
                <a:path w="2315209" h="1776095">
                  <a:moveTo>
                    <a:pt x="302370" y="1775498"/>
                  </a:moveTo>
                  <a:lnTo>
                    <a:pt x="302370" y="1586454"/>
                  </a:lnTo>
                </a:path>
                <a:path w="2315209" h="1776095">
                  <a:moveTo>
                    <a:pt x="311796" y="1775498"/>
                  </a:moveTo>
                  <a:lnTo>
                    <a:pt x="311796" y="1577050"/>
                  </a:lnTo>
                </a:path>
                <a:path w="2315209" h="1776095">
                  <a:moveTo>
                    <a:pt x="330646" y="1775498"/>
                  </a:moveTo>
                  <a:lnTo>
                    <a:pt x="330646" y="1596093"/>
                  </a:lnTo>
                </a:path>
                <a:path w="2315209" h="1776095">
                  <a:moveTo>
                    <a:pt x="340307" y="1775498"/>
                  </a:moveTo>
                  <a:lnTo>
                    <a:pt x="340307" y="1596093"/>
                  </a:lnTo>
                </a:path>
                <a:path w="2315209" h="1776095">
                  <a:moveTo>
                    <a:pt x="349732" y="1775498"/>
                  </a:moveTo>
                  <a:lnTo>
                    <a:pt x="349732" y="1596093"/>
                  </a:lnTo>
                </a:path>
                <a:path w="2315209" h="1776095">
                  <a:moveTo>
                    <a:pt x="368592" y="1775498"/>
                  </a:moveTo>
                  <a:lnTo>
                    <a:pt x="368592" y="1586454"/>
                  </a:lnTo>
                </a:path>
                <a:path w="2315209" h="1776095">
                  <a:moveTo>
                    <a:pt x="378017" y="1775498"/>
                  </a:moveTo>
                  <a:lnTo>
                    <a:pt x="378017" y="1596093"/>
                  </a:lnTo>
                </a:path>
                <a:path w="2315209" h="1776095">
                  <a:moveTo>
                    <a:pt x="396868" y="1775498"/>
                  </a:moveTo>
                  <a:lnTo>
                    <a:pt x="396868" y="1596093"/>
                  </a:lnTo>
                </a:path>
                <a:path w="2315209" h="1776095">
                  <a:moveTo>
                    <a:pt x="406293" y="1775498"/>
                  </a:moveTo>
                  <a:lnTo>
                    <a:pt x="406293" y="1586454"/>
                  </a:lnTo>
                </a:path>
                <a:path w="2315209" h="1776095">
                  <a:moveTo>
                    <a:pt x="415728" y="1775498"/>
                  </a:moveTo>
                  <a:lnTo>
                    <a:pt x="415728" y="1586454"/>
                  </a:lnTo>
                </a:path>
                <a:path w="2315209" h="1776095">
                  <a:moveTo>
                    <a:pt x="434578" y="1775498"/>
                  </a:moveTo>
                  <a:lnTo>
                    <a:pt x="434578" y="1577050"/>
                  </a:lnTo>
                </a:path>
                <a:path w="2315209" h="1776095">
                  <a:moveTo>
                    <a:pt x="444239" y="1775498"/>
                  </a:moveTo>
                  <a:lnTo>
                    <a:pt x="444239" y="1577050"/>
                  </a:lnTo>
                </a:path>
                <a:path w="2315209" h="1776095">
                  <a:moveTo>
                    <a:pt x="463090" y="1775498"/>
                  </a:moveTo>
                  <a:lnTo>
                    <a:pt x="463090" y="1567646"/>
                  </a:lnTo>
                </a:path>
                <a:path w="2315209" h="1776095">
                  <a:moveTo>
                    <a:pt x="472515" y="1775498"/>
                  </a:moveTo>
                  <a:lnTo>
                    <a:pt x="472515" y="1558243"/>
                  </a:lnTo>
                </a:path>
                <a:path w="2315209" h="1776095">
                  <a:moveTo>
                    <a:pt x="481949" y="1775498"/>
                  </a:moveTo>
                  <a:lnTo>
                    <a:pt x="481949" y="1548830"/>
                  </a:lnTo>
                </a:path>
                <a:path w="2315209" h="1776095">
                  <a:moveTo>
                    <a:pt x="500800" y="1775498"/>
                  </a:moveTo>
                  <a:lnTo>
                    <a:pt x="500800" y="1548830"/>
                  </a:lnTo>
                </a:path>
                <a:path w="2315209" h="1776095">
                  <a:moveTo>
                    <a:pt x="510225" y="1775498"/>
                  </a:moveTo>
                  <a:lnTo>
                    <a:pt x="510225" y="1539426"/>
                  </a:lnTo>
                </a:path>
                <a:path w="2315209" h="1776095">
                  <a:moveTo>
                    <a:pt x="529085" y="1775498"/>
                  </a:moveTo>
                  <a:lnTo>
                    <a:pt x="529085" y="1529796"/>
                  </a:lnTo>
                </a:path>
                <a:path w="2315209" h="1776095">
                  <a:moveTo>
                    <a:pt x="538510" y="1775498"/>
                  </a:moveTo>
                  <a:lnTo>
                    <a:pt x="538510" y="1529796"/>
                  </a:lnTo>
                </a:path>
                <a:path w="2315209" h="1776095">
                  <a:moveTo>
                    <a:pt x="547936" y="1775498"/>
                  </a:moveTo>
                  <a:lnTo>
                    <a:pt x="547936" y="1529796"/>
                  </a:lnTo>
                </a:path>
                <a:path w="2315209" h="1776095">
                  <a:moveTo>
                    <a:pt x="566975" y="1775498"/>
                  </a:moveTo>
                  <a:lnTo>
                    <a:pt x="566974" y="1529796"/>
                  </a:lnTo>
                </a:path>
                <a:path w="2315209" h="1776095">
                  <a:moveTo>
                    <a:pt x="576494" y="1775498"/>
                  </a:moveTo>
                  <a:lnTo>
                    <a:pt x="576494" y="1529796"/>
                  </a:lnTo>
                </a:path>
                <a:path w="2315209" h="1776095">
                  <a:moveTo>
                    <a:pt x="595344" y="1775498"/>
                  </a:moveTo>
                  <a:lnTo>
                    <a:pt x="595344" y="1529796"/>
                  </a:lnTo>
                </a:path>
                <a:path w="2315209" h="1776095">
                  <a:moveTo>
                    <a:pt x="604770" y="1775498"/>
                  </a:moveTo>
                  <a:lnTo>
                    <a:pt x="604770" y="1539426"/>
                  </a:lnTo>
                </a:path>
                <a:path w="2315209" h="1776095">
                  <a:moveTo>
                    <a:pt x="614195" y="1775498"/>
                  </a:moveTo>
                  <a:lnTo>
                    <a:pt x="614195" y="1539426"/>
                  </a:lnTo>
                </a:path>
                <a:path w="2315209" h="1776095">
                  <a:moveTo>
                    <a:pt x="633045" y="1775498"/>
                  </a:moveTo>
                  <a:lnTo>
                    <a:pt x="633045" y="1548830"/>
                  </a:lnTo>
                </a:path>
                <a:path w="2315209" h="1776095">
                  <a:moveTo>
                    <a:pt x="642471" y="1775498"/>
                  </a:moveTo>
                  <a:lnTo>
                    <a:pt x="642471" y="1539426"/>
                  </a:lnTo>
                </a:path>
                <a:path w="2315209" h="1776095">
                  <a:moveTo>
                    <a:pt x="661510" y="1775498"/>
                  </a:moveTo>
                  <a:lnTo>
                    <a:pt x="661510" y="1548830"/>
                  </a:lnTo>
                </a:path>
                <a:path w="2315209" h="1776095">
                  <a:moveTo>
                    <a:pt x="670935" y="1775498"/>
                  </a:moveTo>
                  <a:lnTo>
                    <a:pt x="670935" y="1548830"/>
                  </a:lnTo>
                </a:path>
                <a:path w="2315209" h="1776095">
                  <a:moveTo>
                    <a:pt x="689785" y="1775498"/>
                  </a:moveTo>
                  <a:lnTo>
                    <a:pt x="689785" y="1529796"/>
                  </a:lnTo>
                </a:path>
                <a:path w="2315209" h="1776095">
                  <a:moveTo>
                    <a:pt x="699211" y="1775498"/>
                  </a:moveTo>
                  <a:lnTo>
                    <a:pt x="699211" y="1529796"/>
                  </a:lnTo>
                </a:path>
                <a:path w="2315209" h="1776095">
                  <a:moveTo>
                    <a:pt x="708636" y="1775498"/>
                  </a:moveTo>
                  <a:lnTo>
                    <a:pt x="708636" y="1539426"/>
                  </a:lnTo>
                </a:path>
                <a:path w="2315209" h="1776095">
                  <a:moveTo>
                    <a:pt x="727486" y="1775498"/>
                  </a:moveTo>
                  <a:lnTo>
                    <a:pt x="727486" y="1529796"/>
                  </a:lnTo>
                </a:path>
                <a:path w="2315209" h="1776095">
                  <a:moveTo>
                    <a:pt x="736912" y="1775498"/>
                  </a:moveTo>
                  <a:lnTo>
                    <a:pt x="736911" y="1520383"/>
                  </a:lnTo>
                </a:path>
                <a:path w="2315209" h="1776095">
                  <a:moveTo>
                    <a:pt x="755762" y="1775498"/>
                  </a:moveTo>
                  <a:lnTo>
                    <a:pt x="755762" y="1529796"/>
                  </a:lnTo>
                </a:path>
                <a:path w="2315209" h="1776095">
                  <a:moveTo>
                    <a:pt x="765470" y="1775498"/>
                  </a:moveTo>
                  <a:lnTo>
                    <a:pt x="765470" y="1548830"/>
                  </a:lnTo>
                </a:path>
                <a:path w="2315209" h="1776095">
                  <a:moveTo>
                    <a:pt x="774895" y="1775498"/>
                  </a:moveTo>
                  <a:lnTo>
                    <a:pt x="774895" y="1539426"/>
                  </a:lnTo>
                </a:path>
                <a:path w="2315209" h="1776095">
                  <a:moveTo>
                    <a:pt x="793746" y="1775498"/>
                  </a:moveTo>
                  <a:lnTo>
                    <a:pt x="793746" y="1520383"/>
                  </a:lnTo>
                </a:path>
                <a:path w="2315209" h="1776095">
                  <a:moveTo>
                    <a:pt x="803171" y="1775498"/>
                  </a:moveTo>
                  <a:lnTo>
                    <a:pt x="803171" y="1510979"/>
                  </a:lnTo>
                </a:path>
                <a:path w="2315209" h="1776095">
                  <a:moveTo>
                    <a:pt x="822021" y="1775498"/>
                  </a:moveTo>
                  <a:lnTo>
                    <a:pt x="822021" y="1510979"/>
                  </a:lnTo>
                </a:path>
                <a:path w="2315209" h="1776095">
                  <a:moveTo>
                    <a:pt x="831447" y="1775498"/>
                  </a:moveTo>
                  <a:lnTo>
                    <a:pt x="831447" y="1492172"/>
                  </a:lnTo>
                </a:path>
                <a:path w="2315209" h="1776095">
                  <a:moveTo>
                    <a:pt x="840872" y="1775498"/>
                  </a:moveTo>
                  <a:lnTo>
                    <a:pt x="840872" y="1482759"/>
                  </a:lnTo>
                </a:path>
                <a:path w="2315209" h="1776095">
                  <a:moveTo>
                    <a:pt x="859722" y="1775498"/>
                  </a:moveTo>
                  <a:lnTo>
                    <a:pt x="859722" y="1492172"/>
                  </a:lnTo>
                </a:path>
                <a:path w="2315209" h="1776095">
                  <a:moveTo>
                    <a:pt x="869148" y="1775498"/>
                  </a:moveTo>
                  <a:lnTo>
                    <a:pt x="869148" y="1482759"/>
                  </a:lnTo>
                </a:path>
                <a:path w="2315209" h="1776095">
                  <a:moveTo>
                    <a:pt x="888281" y="1775498"/>
                  </a:moveTo>
                  <a:lnTo>
                    <a:pt x="888281" y="1463716"/>
                  </a:lnTo>
                </a:path>
                <a:path w="2315209" h="1776095">
                  <a:moveTo>
                    <a:pt x="897706" y="1775498"/>
                  </a:moveTo>
                  <a:lnTo>
                    <a:pt x="897706" y="1463716"/>
                  </a:lnTo>
                </a:path>
                <a:path w="2315209" h="1776095">
                  <a:moveTo>
                    <a:pt x="907131" y="1775498"/>
                  </a:moveTo>
                  <a:lnTo>
                    <a:pt x="907131" y="1463716"/>
                  </a:lnTo>
                </a:path>
                <a:path w="2315209" h="1776095">
                  <a:moveTo>
                    <a:pt x="925982" y="1775498"/>
                  </a:moveTo>
                  <a:lnTo>
                    <a:pt x="925982" y="1454312"/>
                  </a:lnTo>
                </a:path>
                <a:path w="2315209" h="1776095">
                  <a:moveTo>
                    <a:pt x="935407" y="1775498"/>
                  </a:moveTo>
                  <a:lnTo>
                    <a:pt x="935407" y="1454312"/>
                  </a:lnTo>
                </a:path>
                <a:path w="2315209" h="1776095">
                  <a:moveTo>
                    <a:pt x="954257" y="1775498"/>
                  </a:moveTo>
                  <a:lnTo>
                    <a:pt x="954257" y="1454312"/>
                  </a:lnTo>
                </a:path>
                <a:path w="2315209" h="1776095">
                  <a:moveTo>
                    <a:pt x="963683" y="1775498"/>
                  </a:moveTo>
                  <a:lnTo>
                    <a:pt x="963683" y="1473129"/>
                  </a:lnTo>
                </a:path>
                <a:path w="2315209" h="1776095">
                  <a:moveTo>
                    <a:pt x="973108" y="1775498"/>
                  </a:moveTo>
                  <a:lnTo>
                    <a:pt x="973108" y="1463716"/>
                  </a:lnTo>
                </a:path>
                <a:path w="2315209" h="1776095">
                  <a:moveTo>
                    <a:pt x="992147" y="1775498"/>
                  </a:moveTo>
                  <a:lnTo>
                    <a:pt x="992147" y="1463716"/>
                  </a:lnTo>
                </a:path>
                <a:path w="2315209" h="1776095">
                  <a:moveTo>
                    <a:pt x="1001572" y="1775498"/>
                  </a:moveTo>
                  <a:lnTo>
                    <a:pt x="1001572" y="1463716"/>
                  </a:lnTo>
                </a:path>
                <a:path w="2315209" h="1776095">
                  <a:moveTo>
                    <a:pt x="1020423" y="1775498"/>
                  </a:moveTo>
                  <a:lnTo>
                    <a:pt x="1020423" y="1435505"/>
                  </a:lnTo>
                </a:path>
                <a:path w="2315209" h="1776095">
                  <a:moveTo>
                    <a:pt x="1029848" y="1775498"/>
                  </a:moveTo>
                  <a:lnTo>
                    <a:pt x="1029848" y="1426091"/>
                  </a:lnTo>
                </a:path>
                <a:path w="2315209" h="1776095">
                  <a:moveTo>
                    <a:pt x="1039273" y="1775498"/>
                  </a:moveTo>
                  <a:lnTo>
                    <a:pt x="1039273" y="1426091"/>
                  </a:lnTo>
                </a:path>
                <a:path w="2315209" h="1776095">
                  <a:moveTo>
                    <a:pt x="1058124" y="1775498"/>
                  </a:moveTo>
                  <a:lnTo>
                    <a:pt x="1058123" y="1407058"/>
                  </a:lnTo>
                </a:path>
                <a:path w="2315209" h="1776095">
                  <a:moveTo>
                    <a:pt x="1067549" y="1775498"/>
                  </a:moveTo>
                  <a:lnTo>
                    <a:pt x="1067549" y="1397645"/>
                  </a:lnTo>
                </a:path>
                <a:path w="2315209" h="1776095">
                  <a:moveTo>
                    <a:pt x="1086682" y="1775498"/>
                  </a:moveTo>
                  <a:lnTo>
                    <a:pt x="1086682" y="1378837"/>
                  </a:lnTo>
                </a:path>
                <a:path w="2315209" h="1776095">
                  <a:moveTo>
                    <a:pt x="1096107" y="1775498"/>
                  </a:moveTo>
                  <a:lnTo>
                    <a:pt x="1096107" y="1350391"/>
                  </a:lnTo>
                </a:path>
                <a:path w="2315209" h="1776095">
                  <a:moveTo>
                    <a:pt x="1105532" y="1775498"/>
                  </a:moveTo>
                  <a:lnTo>
                    <a:pt x="1105532" y="1322170"/>
                  </a:lnTo>
                </a:path>
                <a:path w="2315209" h="1776095">
                  <a:moveTo>
                    <a:pt x="1124383" y="1775498"/>
                  </a:moveTo>
                  <a:lnTo>
                    <a:pt x="1124383" y="1303128"/>
                  </a:lnTo>
                </a:path>
                <a:path w="2315209" h="1776095">
                  <a:moveTo>
                    <a:pt x="1133808" y="1775498"/>
                  </a:moveTo>
                  <a:lnTo>
                    <a:pt x="1133808" y="1284320"/>
                  </a:lnTo>
                </a:path>
                <a:path w="2315209" h="1776095">
                  <a:moveTo>
                    <a:pt x="1152659" y="1775498"/>
                  </a:moveTo>
                  <a:lnTo>
                    <a:pt x="1152659" y="1265503"/>
                  </a:lnTo>
                </a:path>
                <a:path w="2315209" h="1776095">
                  <a:moveTo>
                    <a:pt x="1162084" y="1775498"/>
                  </a:moveTo>
                  <a:lnTo>
                    <a:pt x="1162084" y="1256099"/>
                  </a:lnTo>
                </a:path>
                <a:path w="2315209" h="1776095">
                  <a:moveTo>
                    <a:pt x="1171509" y="1775498"/>
                  </a:moveTo>
                  <a:lnTo>
                    <a:pt x="1171509" y="1227662"/>
                  </a:lnTo>
                </a:path>
                <a:path w="2315209" h="1776095">
                  <a:moveTo>
                    <a:pt x="1190360" y="1775498"/>
                  </a:moveTo>
                  <a:lnTo>
                    <a:pt x="1190359" y="1246696"/>
                  </a:lnTo>
                </a:path>
                <a:path w="2315209" h="1776095">
                  <a:moveTo>
                    <a:pt x="1200068" y="1775498"/>
                  </a:moveTo>
                  <a:lnTo>
                    <a:pt x="1200067" y="1237066"/>
                  </a:lnTo>
                </a:path>
                <a:path w="2315209" h="1776095">
                  <a:moveTo>
                    <a:pt x="1218918" y="1775498"/>
                  </a:moveTo>
                  <a:lnTo>
                    <a:pt x="1218918" y="1237066"/>
                  </a:lnTo>
                </a:path>
                <a:path w="2315209" h="1776095">
                  <a:moveTo>
                    <a:pt x="1228343" y="1775498"/>
                  </a:moveTo>
                  <a:lnTo>
                    <a:pt x="1228343" y="1237066"/>
                  </a:lnTo>
                </a:path>
                <a:path w="2315209" h="1776095">
                  <a:moveTo>
                    <a:pt x="1237768" y="1775498"/>
                  </a:moveTo>
                  <a:lnTo>
                    <a:pt x="1237768" y="1246696"/>
                  </a:lnTo>
                </a:path>
                <a:path w="2315209" h="1776095">
                  <a:moveTo>
                    <a:pt x="1256619" y="1775498"/>
                  </a:moveTo>
                  <a:lnTo>
                    <a:pt x="1256619" y="1227662"/>
                  </a:lnTo>
                </a:path>
                <a:path w="2315209" h="1776095">
                  <a:moveTo>
                    <a:pt x="1266044" y="1775498"/>
                  </a:moveTo>
                  <a:lnTo>
                    <a:pt x="1266044" y="1218259"/>
                  </a:lnTo>
                </a:path>
                <a:path w="2315209" h="1776095">
                  <a:moveTo>
                    <a:pt x="1284895" y="1775498"/>
                  </a:moveTo>
                  <a:lnTo>
                    <a:pt x="1284895" y="1227662"/>
                  </a:lnTo>
                </a:path>
                <a:path w="2315209" h="1776095">
                  <a:moveTo>
                    <a:pt x="1294320" y="1775498"/>
                  </a:moveTo>
                  <a:lnTo>
                    <a:pt x="1294320" y="1227662"/>
                  </a:lnTo>
                </a:path>
                <a:path w="2315209" h="1776095">
                  <a:moveTo>
                    <a:pt x="1303934" y="1775498"/>
                  </a:moveTo>
                  <a:lnTo>
                    <a:pt x="1303934" y="1218259"/>
                  </a:lnTo>
                </a:path>
                <a:path w="2315209" h="1776095">
                  <a:moveTo>
                    <a:pt x="1322784" y="1775498"/>
                  </a:moveTo>
                  <a:lnTo>
                    <a:pt x="1322784" y="1218259"/>
                  </a:lnTo>
                </a:path>
                <a:path w="2315209" h="1776095">
                  <a:moveTo>
                    <a:pt x="1332209" y="1775498"/>
                  </a:moveTo>
                  <a:lnTo>
                    <a:pt x="1332209" y="1208855"/>
                  </a:lnTo>
                </a:path>
                <a:path w="2315209" h="1776095">
                  <a:moveTo>
                    <a:pt x="1351060" y="1775498"/>
                  </a:moveTo>
                  <a:lnTo>
                    <a:pt x="1351060" y="1199451"/>
                  </a:lnTo>
                </a:path>
                <a:path w="2315209" h="1776095">
                  <a:moveTo>
                    <a:pt x="1360485" y="1775498"/>
                  </a:moveTo>
                  <a:lnTo>
                    <a:pt x="1360485" y="1218259"/>
                  </a:lnTo>
                </a:path>
                <a:path w="2315209" h="1776095">
                  <a:moveTo>
                    <a:pt x="1379336" y="1775498"/>
                  </a:moveTo>
                  <a:lnTo>
                    <a:pt x="1379335" y="1218259"/>
                  </a:lnTo>
                </a:path>
                <a:path w="2315209" h="1776095">
                  <a:moveTo>
                    <a:pt x="1388761" y="1775498"/>
                  </a:moveTo>
                  <a:lnTo>
                    <a:pt x="1388761" y="1199451"/>
                  </a:lnTo>
                </a:path>
                <a:path w="2315209" h="1776095">
                  <a:moveTo>
                    <a:pt x="1398280" y="1775498"/>
                  </a:moveTo>
                  <a:lnTo>
                    <a:pt x="1398280" y="1218259"/>
                  </a:lnTo>
                </a:path>
                <a:path w="2315209" h="1776095">
                  <a:moveTo>
                    <a:pt x="1417319" y="1775498"/>
                  </a:moveTo>
                  <a:lnTo>
                    <a:pt x="1417319" y="1227662"/>
                  </a:lnTo>
                </a:path>
                <a:path w="2315209" h="1776095">
                  <a:moveTo>
                    <a:pt x="1426744" y="1775498"/>
                  </a:moveTo>
                  <a:lnTo>
                    <a:pt x="1426744" y="1180361"/>
                  </a:lnTo>
                </a:path>
                <a:path w="2315209" h="1776095">
                  <a:moveTo>
                    <a:pt x="1445595" y="1775498"/>
                  </a:moveTo>
                  <a:lnTo>
                    <a:pt x="1445595" y="1170958"/>
                  </a:lnTo>
                </a:path>
                <a:path w="2315209" h="1776095">
                  <a:moveTo>
                    <a:pt x="1455020" y="1775498"/>
                  </a:moveTo>
                  <a:lnTo>
                    <a:pt x="1455020" y="1180361"/>
                  </a:lnTo>
                </a:path>
                <a:path w="2315209" h="1776095">
                  <a:moveTo>
                    <a:pt x="1464445" y="1775498"/>
                  </a:moveTo>
                  <a:lnTo>
                    <a:pt x="1464445" y="1170958"/>
                  </a:lnTo>
                </a:path>
                <a:path w="2315209" h="1776095">
                  <a:moveTo>
                    <a:pt x="1483296" y="1775498"/>
                  </a:moveTo>
                  <a:lnTo>
                    <a:pt x="1483296" y="1190047"/>
                  </a:lnTo>
                </a:path>
                <a:path w="2315209" h="1776095">
                  <a:moveTo>
                    <a:pt x="1492721" y="1775498"/>
                  </a:moveTo>
                  <a:lnTo>
                    <a:pt x="1492721" y="1180361"/>
                  </a:lnTo>
                </a:path>
                <a:path w="2315209" h="1776095">
                  <a:moveTo>
                    <a:pt x="1511854" y="1775498"/>
                  </a:moveTo>
                  <a:lnTo>
                    <a:pt x="1511854" y="1208855"/>
                  </a:lnTo>
                </a:path>
                <a:path w="2315209" h="1776095">
                  <a:moveTo>
                    <a:pt x="1521280" y="1775498"/>
                  </a:moveTo>
                  <a:lnTo>
                    <a:pt x="1521279" y="1218259"/>
                  </a:lnTo>
                </a:path>
                <a:path w="2315209" h="1776095">
                  <a:moveTo>
                    <a:pt x="1530705" y="1775498"/>
                  </a:moveTo>
                  <a:lnTo>
                    <a:pt x="1530705" y="1218259"/>
                  </a:lnTo>
                </a:path>
                <a:path w="2315209" h="1776095">
                  <a:moveTo>
                    <a:pt x="1549555" y="1775498"/>
                  </a:moveTo>
                  <a:lnTo>
                    <a:pt x="1549555" y="1246696"/>
                  </a:lnTo>
                </a:path>
                <a:path w="2315209" h="1776095">
                  <a:moveTo>
                    <a:pt x="1558980" y="1775498"/>
                  </a:moveTo>
                  <a:lnTo>
                    <a:pt x="1558980" y="1256099"/>
                  </a:lnTo>
                </a:path>
                <a:path w="2315209" h="1776095">
                  <a:moveTo>
                    <a:pt x="1577831" y="1775498"/>
                  </a:moveTo>
                  <a:lnTo>
                    <a:pt x="1577831" y="1274907"/>
                  </a:lnTo>
                </a:path>
                <a:path w="2315209" h="1776095">
                  <a:moveTo>
                    <a:pt x="1587256" y="1775498"/>
                  </a:moveTo>
                  <a:lnTo>
                    <a:pt x="1587256" y="1274907"/>
                  </a:lnTo>
                </a:path>
                <a:path w="2315209" h="1776095">
                  <a:moveTo>
                    <a:pt x="1596681" y="1775498"/>
                  </a:moveTo>
                  <a:lnTo>
                    <a:pt x="1596681" y="1274907"/>
                  </a:lnTo>
                </a:path>
                <a:path w="2315209" h="1776095">
                  <a:moveTo>
                    <a:pt x="1615532" y="1775498"/>
                  </a:moveTo>
                  <a:lnTo>
                    <a:pt x="1615532" y="1265503"/>
                  </a:lnTo>
                </a:path>
                <a:path w="2315209" h="1776095">
                  <a:moveTo>
                    <a:pt x="1625146" y="1775498"/>
                  </a:moveTo>
                  <a:lnTo>
                    <a:pt x="1625146" y="1274907"/>
                  </a:lnTo>
                </a:path>
                <a:path w="2315209" h="1776095">
                  <a:moveTo>
                    <a:pt x="1643996" y="1775498"/>
                  </a:moveTo>
                  <a:lnTo>
                    <a:pt x="1643996" y="1303128"/>
                  </a:lnTo>
                </a:path>
                <a:path w="2315209" h="1776095">
                  <a:moveTo>
                    <a:pt x="1653421" y="1775498"/>
                  </a:moveTo>
                  <a:lnTo>
                    <a:pt x="1653421" y="1303128"/>
                  </a:lnTo>
                </a:path>
                <a:path w="2315209" h="1776095">
                  <a:moveTo>
                    <a:pt x="1662847" y="1775498"/>
                  </a:moveTo>
                  <a:lnTo>
                    <a:pt x="1662847" y="1293724"/>
                  </a:lnTo>
                </a:path>
                <a:path w="2315209" h="1776095">
                  <a:moveTo>
                    <a:pt x="1681697" y="1775498"/>
                  </a:moveTo>
                  <a:lnTo>
                    <a:pt x="1681697" y="1293724"/>
                  </a:lnTo>
                </a:path>
                <a:path w="2315209" h="1776095">
                  <a:moveTo>
                    <a:pt x="1691217" y="1775498"/>
                  </a:moveTo>
                  <a:lnTo>
                    <a:pt x="1691216" y="1303128"/>
                  </a:lnTo>
                </a:path>
                <a:path w="2315209" h="1776095">
                  <a:moveTo>
                    <a:pt x="1710067" y="1775498"/>
                  </a:moveTo>
                  <a:lnTo>
                    <a:pt x="1710067" y="1284320"/>
                  </a:lnTo>
                </a:path>
                <a:path w="2315209" h="1776095">
                  <a:moveTo>
                    <a:pt x="1719492" y="1775498"/>
                  </a:moveTo>
                  <a:lnTo>
                    <a:pt x="1719492" y="1293724"/>
                  </a:lnTo>
                </a:path>
                <a:path w="2315209" h="1776095">
                  <a:moveTo>
                    <a:pt x="1729106" y="1775498"/>
                  </a:moveTo>
                  <a:lnTo>
                    <a:pt x="1729106" y="1293724"/>
                  </a:lnTo>
                </a:path>
                <a:path w="2315209" h="1776095">
                  <a:moveTo>
                    <a:pt x="1747956" y="1775498"/>
                  </a:moveTo>
                  <a:lnTo>
                    <a:pt x="1747956" y="1303128"/>
                  </a:lnTo>
                </a:path>
                <a:path w="2315209" h="1776095">
                  <a:moveTo>
                    <a:pt x="1757382" y="1775498"/>
                  </a:moveTo>
                  <a:lnTo>
                    <a:pt x="1757382" y="1312767"/>
                  </a:lnTo>
                </a:path>
                <a:path w="2315209" h="1776095">
                  <a:moveTo>
                    <a:pt x="1776232" y="1775498"/>
                  </a:moveTo>
                  <a:lnTo>
                    <a:pt x="1776232" y="1322170"/>
                  </a:lnTo>
                </a:path>
                <a:path w="2315209" h="1776095">
                  <a:moveTo>
                    <a:pt x="1785657" y="1775498"/>
                  </a:moveTo>
                  <a:lnTo>
                    <a:pt x="1785657" y="1331574"/>
                  </a:lnTo>
                </a:path>
                <a:path w="2315209" h="1776095">
                  <a:moveTo>
                    <a:pt x="1795083" y="1775498"/>
                  </a:moveTo>
                  <a:lnTo>
                    <a:pt x="1795083" y="1350391"/>
                  </a:lnTo>
                </a:path>
                <a:path w="2315209" h="1776095">
                  <a:moveTo>
                    <a:pt x="1813933" y="1775498"/>
                  </a:moveTo>
                  <a:lnTo>
                    <a:pt x="1813933" y="1340978"/>
                  </a:lnTo>
                </a:path>
                <a:path w="2315209" h="1776095">
                  <a:moveTo>
                    <a:pt x="1823358" y="1775498"/>
                  </a:moveTo>
                  <a:lnTo>
                    <a:pt x="1823358" y="1369434"/>
                  </a:lnTo>
                </a:path>
                <a:path w="2315209" h="1776095">
                  <a:moveTo>
                    <a:pt x="1842492" y="1775498"/>
                  </a:moveTo>
                  <a:lnTo>
                    <a:pt x="1842491" y="1350391"/>
                  </a:lnTo>
                </a:path>
                <a:path w="2315209" h="1776095">
                  <a:moveTo>
                    <a:pt x="1851917" y="1775498"/>
                  </a:moveTo>
                  <a:lnTo>
                    <a:pt x="1851917" y="1369434"/>
                  </a:lnTo>
                </a:path>
                <a:path w="2315209" h="1776095">
                  <a:moveTo>
                    <a:pt x="1861342" y="1775498"/>
                  </a:moveTo>
                  <a:lnTo>
                    <a:pt x="1861342" y="1369434"/>
                  </a:lnTo>
                </a:path>
                <a:path w="2315209" h="1776095">
                  <a:moveTo>
                    <a:pt x="1880192" y="1775498"/>
                  </a:moveTo>
                  <a:lnTo>
                    <a:pt x="1880192" y="1369434"/>
                  </a:lnTo>
                </a:path>
                <a:path w="2315209" h="1776095">
                  <a:moveTo>
                    <a:pt x="1889618" y="1775498"/>
                  </a:moveTo>
                  <a:lnTo>
                    <a:pt x="1889618" y="1378838"/>
                  </a:lnTo>
                </a:path>
                <a:path w="2315209" h="1776095">
                  <a:moveTo>
                    <a:pt x="1908468" y="1775498"/>
                  </a:moveTo>
                  <a:lnTo>
                    <a:pt x="1908468" y="1359795"/>
                  </a:lnTo>
                </a:path>
                <a:path w="2315209" h="1776095">
                  <a:moveTo>
                    <a:pt x="1917893" y="1775498"/>
                  </a:moveTo>
                  <a:lnTo>
                    <a:pt x="1917893" y="1340978"/>
                  </a:lnTo>
                </a:path>
                <a:path w="2315209" h="1776095">
                  <a:moveTo>
                    <a:pt x="1927319" y="1775498"/>
                  </a:moveTo>
                  <a:lnTo>
                    <a:pt x="1927319" y="1350391"/>
                  </a:lnTo>
                </a:path>
                <a:path w="2315209" h="1776095">
                  <a:moveTo>
                    <a:pt x="1946358" y="1775498"/>
                  </a:moveTo>
                  <a:lnTo>
                    <a:pt x="1946358" y="1369434"/>
                  </a:lnTo>
                </a:path>
                <a:path w="2315209" h="1776095">
                  <a:moveTo>
                    <a:pt x="1955783" y="1775498"/>
                  </a:moveTo>
                  <a:lnTo>
                    <a:pt x="1955783" y="1359795"/>
                  </a:lnTo>
                </a:path>
                <a:path w="2315209" h="1776095">
                  <a:moveTo>
                    <a:pt x="1974633" y="1775498"/>
                  </a:moveTo>
                  <a:lnTo>
                    <a:pt x="1974633" y="1359795"/>
                  </a:lnTo>
                </a:path>
                <a:path w="2315209" h="1776095">
                  <a:moveTo>
                    <a:pt x="1984153" y="1775498"/>
                  </a:moveTo>
                  <a:lnTo>
                    <a:pt x="1984153" y="1340978"/>
                  </a:lnTo>
                </a:path>
                <a:path w="2315209" h="1776095">
                  <a:moveTo>
                    <a:pt x="1993578" y="1775498"/>
                  </a:moveTo>
                  <a:lnTo>
                    <a:pt x="1993578" y="1331574"/>
                  </a:lnTo>
                </a:path>
                <a:path w="2315209" h="1776095">
                  <a:moveTo>
                    <a:pt x="2012429" y="1775498"/>
                  </a:moveTo>
                  <a:lnTo>
                    <a:pt x="2012428" y="1322170"/>
                  </a:lnTo>
                </a:path>
                <a:path w="2315209" h="1776095">
                  <a:moveTo>
                    <a:pt x="2021854" y="1775498"/>
                  </a:moveTo>
                  <a:lnTo>
                    <a:pt x="2021854" y="1303128"/>
                  </a:lnTo>
                </a:path>
                <a:path w="2315209" h="1776095">
                  <a:moveTo>
                    <a:pt x="2040704" y="1775498"/>
                  </a:moveTo>
                  <a:lnTo>
                    <a:pt x="2040704" y="1274907"/>
                  </a:lnTo>
                </a:path>
                <a:path w="2315209" h="1776095">
                  <a:moveTo>
                    <a:pt x="2050318" y="1775498"/>
                  </a:moveTo>
                  <a:lnTo>
                    <a:pt x="2050318" y="1237066"/>
                  </a:lnTo>
                </a:path>
                <a:path w="2315209" h="1776095">
                  <a:moveTo>
                    <a:pt x="2069168" y="1775498"/>
                  </a:moveTo>
                  <a:lnTo>
                    <a:pt x="2069168" y="1227662"/>
                  </a:lnTo>
                </a:path>
                <a:path w="2315209" h="1776095">
                  <a:moveTo>
                    <a:pt x="2078594" y="1775498"/>
                  </a:moveTo>
                  <a:lnTo>
                    <a:pt x="2078594" y="1190047"/>
                  </a:lnTo>
                </a:path>
                <a:path w="2315209" h="1776095">
                  <a:moveTo>
                    <a:pt x="2088019" y="1775498"/>
                  </a:moveTo>
                  <a:lnTo>
                    <a:pt x="2088019" y="1161554"/>
                  </a:lnTo>
                </a:path>
                <a:path w="2315209" h="1776095">
                  <a:moveTo>
                    <a:pt x="2106869" y="1775498"/>
                  </a:moveTo>
                  <a:lnTo>
                    <a:pt x="2106869" y="1086136"/>
                  </a:lnTo>
                </a:path>
                <a:path w="2315209" h="1776095">
                  <a:moveTo>
                    <a:pt x="2116295" y="1775498"/>
                  </a:moveTo>
                  <a:lnTo>
                    <a:pt x="2116294" y="925519"/>
                  </a:lnTo>
                </a:path>
                <a:path w="2315209" h="1776095">
                  <a:moveTo>
                    <a:pt x="2135145" y="1775498"/>
                  </a:moveTo>
                  <a:lnTo>
                    <a:pt x="2135145" y="698888"/>
                  </a:lnTo>
                </a:path>
                <a:path w="2315209" h="1776095">
                  <a:moveTo>
                    <a:pt x="2144570" y="1775498"/>
                  </a:moveTo>
                  <a:lnTo>
                    <a:pt x="2144570" y="623376"/>
                  </a:lnTo>
                </a:path>
                <a:path w="2315209" h="1776095">
                  <a:moveTo>
                    <a:pt x="2154278" y="1775498"/>
                  </a:moveTo>
                  <a:lnTo>
                    <a:pt x="2154278" y="415552"/>
                  </a:lnTo>
                </a:path>
                <a:path w="2315209" h="1776095">
                  <a:moveTo>
                    <a:pt x="2173129" y="1775498"/>
                  </a:moveTo>
                  <a:lnTo>
                    <a:pt x="2173129" y="132217"/>
                  </a:lnTo>
                </a:path>
                <a:path w="2315209" h="1776095">
                  <a:moveTo>
                    <a:pt x="2182554" y="1775498"/>
                  </a:moveTo>
                  <a:lnTo>
                    <a:pt x="2182554" y="217321"/>
                  </a:lnTo>
                </a:path>
                <a:path w="2315209" h="1776095">
                  <a:moveTo>
                    <a:pt x="2201404" y="1775498"/>
                  </a:moveTo>
                  <a:lnTo>
                    <a:pt x="2201404" y="56704"/>
                  </a:lnTo>
                </a:path>
                <a:path w="2315209" h="1776095">
                  <a:moveTo>
                    <a:pt x="2210830" y="1775498"/>
                  </a:moveTo>
                  <a:lnTo>
                    <a:pt x="2210829" y="0"/>
                  </a:lnTo>
                </a:path>
                <a:path w="2315209" h="1776095">
                  <a:moveTo>
                    <a:pt x="2220255" y="1775498"/>
                  </a:moveTo>
                  <a:lnTo>
                    <a:pt x="2220255" y="198513"/>
                  </a:lnTo>
                </a:path>
                <a:path w="2315209" h="1776095">
                  <a:moveTo>
                    <a:pt x="2239105" y="1775498"/>
                  </a:moveTo>
                  <a:lnTo>
                    <a:pt x="2239105" y="141808"/>
                  </a:lnTo>
                </a:path>
                <a:path w="2315209" h="1776095">
                  <a:moveTo>
                    <a:pt x="2248531" y="1775498"/>
                  </a:moveTo>
                  <a:lnTo>
                    <a:pt x="2248530" y="0"/>
                  </a:lnTo>
                </a:path>
                <a:path w="2315209" h="1776095">
                  <a:moveTo>
                    <a:pt x="2267570" y="1775498"/>
                  </a:moveTo>
                  <a:lnTo>
                    <a:pt x="2267569" y="0"/>
                  </a:lnTo>
                </a:path>
                <a:path w="2315209" h="1776095">
                  <a:moveTo>
                    <a:pt x="2277089" y="1775498"/>
                  </a:moveTo>
                  <a:lnTo>
                    <a:pt x="2277089" y="0"/>
                  </a:lnTo>
                </a:path>
                <a:path w="2315209" h="1776095">
                  <a:moveTo>
                    <a:pt x="2286514" y="1775498"/>
                  </a:moveTo>
                  <a:lnTo>
                    <a:pt x="2286514" y="0"/>
                  </a:lnTo>
                </a:path>
                <a:path w="2315209" h="1776095">
                  <a:moveTo>
                    <a:pt x="2305365" y="1775498"/>
                  </a:moveTo>
                  <a:lnTo>
                    <a:pt x="2305365" y="0"/>
                  </a:lnTo>
                </a:path>
                <a:path w="2315209" h="1776095">
                  <a:moveTo>
                    <a:pt x="2314790" y="1775498"/>
                  </a:moveTo>
                  <a:lnTo>
                    <a:pt x="2314790" y="0"/>
                  </a:lnTo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7698854" y="2202204"/>
              <a:ext cx="0" cy="1776730"/>
            </a:xfrm>
            <a:custGeom>
              <a:avLst/>
              <a:gdLst/>
              <a:ahLst/>
              <a:cxnLst/>
              <a:rect l="l" t="t" r="r" b="b"/>
              <a:pathLst>
                <a:path h="1776729">
                  <a:moveTo>
                    <a:pt x="0" y="177635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7708280" y="2203060"/>
              <a:ext cx="1039494" cy="1776095"/>
            </a:xfrm>
            <a:custGeom>
              <a:avLst/>
              <a:gdLst/>
              <a:ahLst/>
              <a:cxnLst/>
              <a:rect l="l" t="t" r="r" b="b"/>
              <a:pathLst>
                <a:path w="1039495" h="1776095">
                  <a:moveTo>
                    <a:pt x="0" y="1775498"/>
                  </a:moveTo>
                  <a:lnTo>
                    <a:pt x="0" y="0"/>
                  </a:lnTo>
                </a:path>
                <a:path w="1039495" h="1776095">
                  <a:moveTo>
                    <a:pt x="9425" y="1775498"/>
                  </a:moveTo>
                  <a:lnTo>
                    <a:pt x="9425" y="0"/>
                  </a:lnTo>
                </a:path>
                <a:path w="1039495" h="1776095">
                  <a:moveTo>
                    <a:pt x="28464" y="1775498"/>
                  </a:moveTo>
                  <a:lnTo>
                    <a:pt x="28464" y="0"/>
                  </a:lnTo>
                </a:path>
                <a:path w="1039495" h="1776095">
                  <a:moveTo>
                    <a:pt x="37889" y="1775498"/>
                  </a:moveTo>
                  <a:lnTo>
                    <a:pt x="37889" y="0"/>
                  </a:lnTo>
                </a:path>
                <a:path w="1039495" h="1776095">
                  <a:moveTo>
                    <a:pt x="56740" y="1775498"/>
                  </a:moveTo>
                  <a:lnTo>
                    <a:pt x="56739" y="0"/>
                  </a:lnTo>
                </a:path>
                <a:path w="1039495" h="1776095">
                  <a:moveTo>
                    <a:pt x="66165" y="1775498"/>
                  </a:moveTo>
                  <a:lnTo>
                    <a:pt x="66165" y="0"/>
                  </a:lnTo>
                </a:path>
                <a:path w="1039495" h="1776095">
                  <a:moveTo>
                    <a:pt x="75590" y="1775498"/>
                  </a:moveTo>
                  <a:lnTo>
                    <a:pt x="75590" y="0"/>
                  </a:lnTo>
                </a:path>
                <a:path w="1039495" h="1776095">
                  <a:moveTo>
                    <a:pt x="94441" y="1775498"/>
                  </a:moveTo>
                  <a:lnTo>
                    <a:pt x="94440" y="0"/>
                  </a:lnTo>
                </a:path>
                <a:path w="1039495" h="1776095">
                  <a:moveTo>
                    <a:pt x="103866" y="1775498"/>
                  </a:moveTo>
                  <a:lnTo>
                    <a:pt x="103866" y="0"/>
                  </a:lnTo>
                </a:path>
                <a:path w="1039495" h="1776095">
                  <a:moveTo>
                    <a:pt x="122716" y="1775498"/>
                  </a:moveTo>
                  <a:lnTo>
                    <a:pt x="122716" y="340040"/>
                  </a:lnTo>
                </a:path>
                <a:path w="1039495" h="1776095">
                  <a:moveTo>
                    <a:pt x="132424" y="1775498"/>
                  </a:moveTo>
                  <a:lnTo>
                    <a:pt x="132424" y="47300"/>
                  </a:lnTo>
                </a:path>
                <a:path w="1039495" h="1776095">
                  <a:moveTo>
                    <a:pt x="141850" y="1775498"/>
                  </a:moveTo>
                  <a:lnTo>
                    <a:pt x="141849" y="755499"/>
                  </a:lnTo>
                </a:path>
                <a:path w="1039495" h="1776095">
                  <a:moveTo>
                    <a:pt x="160700" y="1775498"/>
                  </a:moveTo>
                  <a:lnTo>
                    <a:pt x="160700" y="1170958"/>
                  </a:lnTo>
                </a:path>
                <a:path w="1039495" h="1776095">
                  <a:moveTo>
                    <a:pt x="170125" y="1775498"/>
                  </a:moveTo>
                  <a:lnTo>
                    <a:pt x="170125" y="1246696"/>
                  </a:lnTo>
                </a:path>
                <a:path w="1039495" h="1776095">
                  <a:moveTo>
                    <a:pt x="188976" y="1775498"/>
                  </a:moveTo>
                  <a:lnTo>
                    <a:pt x="188976" y="1265503"/>
                  </a:lnTo>
                </a:path>
                <a:path w="1039495" h="1776095">
                  <a:moveTo>
                    <a:pt x="198401" y="1775498"/>
                  </a:moveTo>
                  <a:lnTo>
                    <a:pt x="198401" y="1256099"/>
                  </a:lnTo>
                </a:path>
                <a:path w="1039495" h="1776095">
                  <a:moveTo>
                    <a:pt x="207826" y="1775498"/>
                  </a:moveTo>
                  <a:lnTo>
                    <a:pt x="207826" y="1256099"/>
                  </a:lnTo>
                </a:path>
                <a:path w="1039495" h="1776095">
                  <a:moveTo>
                    <a:pt x="226677" y="1775498"/>
                  </a:moveTo>
                  <a:lnTo>
                    <a:pt x="226677" y="1274907"/>
                  </a:lnTo>
                </a:path>
                <a:path w="1039495" h="1776095">
                  <a:moveTo>
                    <a:pt x="236385" y="1775498"/>
                  </a:moveTo>
                  <a:lnTo>
                    <a:pt x="236385" y="1284320"/>
                  </a:lnTo>
                </a:path>
                <a:path w="1039495" h="1776095">
                  <a:moveTo>
                    <a:pt x="255235" y="1775498"/>
                  </a:moveTo>
                  <a:lnTo>
                    <a:pt x="255235" y="1293724"/>
                  </a:lnTo>
                </a:path>
                <a:path w="1039495" h="1776095">
                  <a:moveTo>
                    <a:pt x="264660" y="1775498"/>
                  </a:moveTo>
                  <a:lnTo>
                    <a:pt x="264660" y="1312767"/>
                  </a:lnTo>
                </a:path>
                <a:path w="1039495" h="1776095">
                  <a:moveTo>
                    <a:pt x="274086" y="1775498"/>
                  </a:moveTo>
                  <a:lnTo>
                    <a:pt x="274086" y="1331574"/>
                  </a:lnTo>
                </a:path>
                <a:path w="1039495" h="1776095">
                  <a:moveTo>
                    <a:pt x="292936" y="1775498"/>
                  </a:moveTo>
                  <a:lnTo>
                    <a:pt x="292936" y="1369434"/>
                  </a:lnTo>
                </a:path>
                <a:path w="1039495" h="1776095">
                  <a:moveTo>
                    <a:pt x="302361" y="1775498"/>
                  </a:moveTo>
                  <a:lnTo>
                    <a:pt x="302361" y="1397645"/>
                  </a:lnTo>
                </a:path>
                <a:path w="1039495" h="1776095">
                  <a:moveTo>
                    <a:pt x="321212" y="1775498"/>
                  </a:moveTo>
                  <a:lnTo>
                    <a:pt x="321212" y="1416462"/>
                  </a:lnTo>
                </a:path>
                <a:path w="1039495" h="1776095">
                  <a:moveTo>
                    <a:pt x="330637" y="1775498"/>
                  </a:moveTo>
                  <a:lnTo>
                    <a:pt x="330637" y="1426092"/>
                  </a:lnTo>
                </a:path>
                <a:path w="1039495" h="1776095">
                  <a:moveTo>
                    <a:pt x="340062" y="1775498"/>
                  </a:moveTo>
                  <a:lnTo>
                    <a:pt x="340062" y="1463716"/>
                  </a:lnTo>
                </a:path>
                <a:path w="1039495" h="1776095">
                  <a:moveTo>
                    <a:pt x="359101" y="1775498"/>
                  </a:moveTo>
                  <a:lnTo>
                    <a:pt x="359101" y="1473129"/>
                  </a:lnTo>
                </a:path>
                <a:path w="1039495" h="1776095">
                  <a:moveTo>
                    <a:pt x="368526" y="1775498"/>
                  </a:moveTo>
                  <a:lnTo>
                    <a:pt x="368526" y="1492172"/>
                  </a:lnTo>
                </a:path>
                <a:path w="1039495" h="1776095">
                  <a:moveTo>
                    <a:pt x="387377" y="1775498"/>
                  </a:moveTo>
                  <a:lnTo>
                    <a:pt x="387377" y="1492172"/>
                  </a:lnTo>
                </a:path>
                <a:path w="1039495" h="1776095">
                  <a:moveTo>
                    <a:pt x="396802" y="1775498"/>
                  </a:moveTo>
                  <a:lnTo>
                    <a:pt x="396802" y="1510979"/>
                  </a:lnTo>
                </a:path>
                <a:path w="1039495" h="1776095">
                  <a:moveTo>
                    <a:pt x="415653" y="1775498"/>
                  </a:moveTo>
                  <a:lnTo>
                    <a:pt x="415653" y="1539426"/>
                  </a:lnTo>
                </a:path>
                <a:path w="1039495" h="1776095">
                  <a:moveTo>
                    <a:pt x="425078" y="1775498"/>
                  </a:moveTo>
                  <a:lnTo>
                    <a:pt x="425078" y="1548830"/>
                  </a:lnTo>
                </a:path>
                <a:path w="1039495" h="1776095">
                  <a:moveTo>
                    <a:pt x="434503" y="1775498"/>
                  </a:moveTo>
                  <a:lnTo>
                    <a:pt x="434503" y="1567647"/>
                  </a:lnTo>
                </a:path>
                <a:path w="1039495" h="1776095">
                  <a:moveTo>
                    <a:pt x="453636" y="1775498"/>
                  </a:moveTo>
                  <a:lnTo>
                    <a:pt x="453636" y="1586454"/>
                  </a:lnTo>
                </a:path>
                <a:path w="1039495" h="1776095">
                  <a:moveTo>
                    <a:pt x="463062" y="1775498"/>
                  </a:moveTo>
                  <a:lnTo>
                    <a:pt x="463062" y="1586454"/>
                  </a:lnTo>
                </a:path>
                <a:path w="1039495" h="1776095">
                  <a:moveTo>
                    <a:pt x="481912" y="1775498"/>
                  </a:moveTo>
                  <a:lnTo>
                    <a:pt x="481912" y="1596093"/>
                  </a:lnTo>
                </a:path>
                <a:path w="1039495" h="1776095">
                  <a:moveTo>
                    <a:pt x="491337" y="1775498"/>
                  </a:moveTo>
                  <a:lnTo>
                    <a:pt x="491337" y="1605497"/>
                  </a:lnTo>
                </a:path>
                <a:path w="1039495" h="1776095">
                  <a:moveTo>
                    <a:pt x="500762" y="1775498"/>
                  </a:moveTo>
                  <a:lnTo>
                    <a:pt x="500762" y="1614910"/>
                  </a:lnTo>
                </a:path>
                <a:path w="1039495" h="1776095">
                  <a:moveTo>
                    <a:pt x="519613" y="1775498"/>
                  </a:moveTo>
                  <a:lnTo>
                    <a:pt x="519613" y="1614910"/>
                  </a:lnTo>
                </a:path>
                <a:path w="1039495" h="1776095">
                  <a:moveTo>
                    <a:pt x="529038" y="1775498"/>
                  </a:moveTo>
                  <a:lnTo>
                    <a:pt x="529038" y="1614910"/>
                  </a:lnTo>
                </a:path>
                <a:path w="1039495" h="1776095">
                  <a:moveTo>
                    <a:pt x="547889" y="1775498"/>
                  </a:moveTo>
                  <a:lnTo>
                    <a:pt x="547889" y="1624314"/>
                  </a:lnTo>
                </a:path>
                <a:path w="1039495" h="1776095">
                  <a:moveTo>
                    <a:pt x="557597" y="1775498"/>
                  </a:moveTo>
                  <a:lnTo>
                    <a:pt x="557597" y="1624314"/>
                  </a:lnTo>
                </a:path>
                <a:path w="1039495" h="1776095">
                  <a:moveTo>
                    <a:pt x="567022" y="1775498"/>
                  </a:moveTo>
                  <a:lnTo>
                    <a:pt x="567022" y="1624314"/>
                  </a:lnTo>
                </a:path>
                <a:path w="1039495" h="1776095">
                  <a:moveTo>
                    <a:pt x="585872" y="1775498"/>
                  </a:moveTo>
                  <a:lnTo>
                    <a:pt x="585872" y="1633718"/>
                  </a:lnTo>
                </a:path>
                <a:path w="1039495" h="1776095">
                  <a:moveTo>
                    <a:pt x="595298" y="1775498"/>
                  </a:moveTo>
                  <a:lnTo>
                    <a:pt x="595298" y="1633718"/>
                  </a:lnTo>
                </a:path>
                <a:path w="1039495" h="1776095">
                  <a:moveTo>
                    <a:pt x="614148" y="1775498"/>
                  </a:moveTo>
                  <a:lnTo>
                    <a:pt x="614148" y="1633718"/>
                  </a:lnTo>
                </a:path>
                <a:path w="1039495" h="1776095">
                  <a:moveTo>
                    <a:pt x="623573" y="1775498"/>
                  </a:moveTo>
                  <a:lnTo>
                    <a:pt x="623573" y="1643121"/>
                  </a:lnTo>
                </a:path>
                <a:path w="1039495" h="1776095">
                  <a:moveTo>
                    <a:pt x="632999" y="1775498"/>
                  </a:moveTo>
                  <a:lnTo>
                    <a:pt x="632999" y="1643121"/>
                  </a:lnTo>
                </a:path>
                <a:path w="1039495" h="1776095">
                  <a:moveTo>
                    <a:pt x="651849" y="1775498"/>
                  </a:moveTo>
                  <a:lnTo>
                    <a:pt x="651849" y="1643121"/>
                  </a:lnTo>
                </a:path>
                <a:path w="1039495" h="1776095">
                  <a:moveTo>
                    <a:pt x="661274" y="1775498"/>
                  </a:moveTo>
                  <a:lnTo>
                    <a:pt x="661274" y="1652534"/>
                  </a:lnTo>
                </a:path>
                <a:path w="1039495" h="1776095">
                  <a:moveTo>
                    <a:pt x="680313" y="1775498"/>
                  </a:moveTo>
                  <a:lnTo>
                    <a:pt x="680313" y="1652534"/>
                  </a:lnTo>
                </a:path>
                <a:path w="1039495" h="1776095">
                  <a:moveTo>
                    <a:pt x="689738" y="1775498"/>
                  </a:moveTo>
                  <a:lnTo>
                    <a:pt x="689738" y="1652534"/>
                  </a:lnTo>
                </a:path>
                <a:path w="1039495" h="1776095">
                  <a:moveTo>
                    <a:pt x="699164" y="1775498"/>
                  </a:moveTo>
                  <a:lnTo>
                    <a:pt x="699164" y="1662164"/>
                  </a:lnTo>
                </a:path>
                <a:path w="1039495" h="1776095">
                  <a:moveTo>
                    <a:pt x="718014" y="1775498"/>
                  </a:moveTo>
                  <a:lnTo>
                    <a:pt x="718014" y="1662164"/>
                  </a:lnTo>
                </a:path>
                <a:path w="1039495" h="1776095">
                  <a:moveTo>
                    <a:pt x="727439" y="1775498"/>
                  </a:moveTo>
                  <a:lnTo>
                    <a:pt x="727439" y="1671568"/>
                  </a:lnTo>
                </a:path>
                <a:path w="1039495" h="1776095">
                  <a:moveTo>
                    <a:pt x="746290" y="1775498"/>
                  </a:moveTo>
                  <a:lnTo>
                    <a:pt x="746290" y="1671568"/>
                  </a:lnTo>
                </a:path>
                <a:path w="1039495" h="1776095">
                  <a:moveTo>
                    <a:pt x="755715" y="1775498"/>
                  </a:moveTo>
                  <a:lnTo>
                    <a:pt x="755715" y="1671568"/>
                  </a:lnTo>
                </a:path>
                <a:path w="1039495" h="1776095">
                  <a:moveTo>
                    <a:pt x="765235" y="1775498"/>
                  </a:moveTo>
                  <a:lnTo>
                    <a:pt x="765235" y="1671568"/>
                  </a:lnTo>
                </a:path>
                <a:path w="1039495" h="1776095">
                  <a:moveTo>
                    <a:pt x="784274" y="1775498"/>
                  </a:moveTo>
                  <a:lnTo>
                    <a:pt x="784274" y="1671568"/>
                  </a:lnTo>
                </a:path>
                <a:path w="1039495" h="1776095">
                  <a:moveTo>
                    <a:pt x="793699" y="1775498"/>
                  </a:moveTo>
                  <a:lnTo>
                    <a:pt x="793699" y="1680981"/>
                  </a:lnTo>
                </a:path>
                <a:path w="1039495" h="1776095">
                  <a:moveTo>
                    <a:pt x="812549" y="1775498"/>
                  </a:moveTo>
                  <a:lnTo>
                    <a:pt x="812549" y="1680981"/>
                  </a:lnTo>
                </a:path>
                <a:path w="1039495" h="1776095">
                  <a:moveTo>
                    <a:pt x="821974" y="1775498"/>
                  </a:moveTo>
                  <a:lnTo>
                    <a:pt x="821974" y="1671568"/>
                  </a:lnTo>
                </a:path>
                <a:path w="1039495" h="1776095">
                  <a:moveTo>
                    <a:pt x="831400" y="1775498"/>
                  </a:moveTo>
                  <a:lnTo>
                    <a:pt x="831400" y="1680981"/>
                  </a:lnTo>
                </a:path>
                <a:path w="1039495" h="1776095">
                  <a:moveTo>
                    <a:pt x="850250" y="1775498"/>
                  </a:moveTo>
                  <a:lnTo>
                    <a:pt x="850250" y="1680981"/>
                  </a:lnTo>
                </a:path>
                <a:path w="1039495" h="1776095">
                  <a:moveTo>
                    <a:pt x="859675" y="1775498"/>
                  </a:moveTo>
                  <a:lnTo>
                    <a:pt x="859675" y="1671568"/>
                  </a:lnTo>
                </a:path>
                <a:path w="1039495" h="1776095">
                  <a:moveTo>
                    <a:pt x="878809" y="1775498"/>
                  </a:moveTo>
                  <a:lnTo>
                    <a:pt x="878809" y="1671568"/>
                  </a:lnTo>
                </a:path>
                <a:path w="1039495" h="1776095">
                  <a:moveTo>
                    <a:pt x="888234" y="1775498"/>
                  </a:moveTo>
                  <a:lnTo>
                    <a:pt x="888234" y="1671568"/>
                  </a:lnTo>
                </a:path>
                <a:path w="1039495" h="1776095">
                  <a:moveTo>
                    <a:pt x="897659" y="1775498"/>
                  </a:moveTo>
                  <a:lnTo>
                    <a:pt x="897659" y="1662164"/>
                  </a:lnTo>
                </a:path>
                <a:path w="1039495" h="1776095">
                  <a:moveTo>
                    <a:pt x="916510" y="1775498"/>
                  </a:moveTo>
                  <a:lnTo>
                    <a:pt x="916510" y="1662164"/>
                  </a:lnTo>
                </a:path>
                <a:path w="1039495" h="1776095">
                  <a:moveTo>
                    <a:pt x="925935" y="1775498"/>
                  </a:moveTo>
                  <a:lnTo>
                    <a:pt x="925935" y="1662164"/>
                  </a:lnTo>
                </a:path>
                <a:path w="1039495" h="1776095">
                  <a:moveTo>
                    <a:pt x="944785" y="1775498"/>
                  </a:moveTo>
                  <a:lnTo>
                    <a:pt x="944785" y="1652534"/>
                  </a:lnTo>
                </a:path>
                <a:path w="1039495" h="1776095">
                  <a:moveTo>
                    <a:pt x="954211" y="1775498"/>
                  </a:moveTo>
                  <a:lnTo>
                    <a:pt x="954211" y="1633718"/>
                  </a:lnTo>
                </a:path>
                <a:path w="1039495" h="1776095">
                  <a:moveTo>
                    <a:pt x="963636" y="1775498"/>
                  </a:moveTo>
                  <a:lnTo>
                    <a:pt x="963636" y="1614910"/>
                  </a:lnTo>
                </a:path>
                <a:path w="1039495" h="1776095">
                  <a:moveTo>
                    <a:pt x="982486" y="1775498"/>
                  </a:moveTo>
                  <a:lnTo>
                    <a:pt x="982486" y="1586454"/>
                  </a:lnTo>
                </a:path>
                <a:path w="1039495" h="1776095">
                  <a:moveTo>
                    <a:pt x="992100" y="1775498"/>
                  </a:moveTo>
                  <a:lnTo>
                    <a:pt x="992100" y="1567647"/>
                  </a:lnTo>
                </a:path>
                <a:path w="1039495" h="1776095">
                  <a:moveTo>
                    <a:pt x="1010950" y="1775498"/>
                  </a:moveTo>
                  <a:lnTo>
                    <a:pt x="1010950" y="1567647"/>
                  </a:lnTo>
                </a:path>
                <a:path w="1039495" h="1776095">
                  <a:moveTo>
                    <a:pt x="1020376" y="1775498"/>
                  </a:moveTo>
                  <a:lnTo>
                    <a:pt x="1020376" y="1633718"/>
                  </a:lnTo>
                </a:path>
                <a:path w="1039495" h="1776095">
                  <a:moveTo>
                    <a:pt x="1039226" y="1775498"/>
                  </a:moveTo>
                  <a:lnTo>
                    <a:pt x="1039226" y="1737648"/>
                  </a:lnTo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65214" y="3977900"/>
              <a:ext cx="3382339" cy="152576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5365214" y="3978558"/>
              <a:ext cx="3382645" cy="151130"/>
            </a:xfrm>
            <a:custGeom>
              <a:avLst/>
              <a:gdLst/>
              <a:ahLst/>
              <a:cxnLst/>
              <a:rect l="l" t="t" r="r" b="b"/>
              <a:pathLst>
                <a:path w="3382645" h="151129">
                  <a:moveTo>
                    <a:pt x="0" y="0"/>
                  </a:moveTo>
                  <a:lnTo>
                    <a:pt x="3382292" y="0"/>
                  </a:lnTo>
                  <a:lnTo>
                    <a:pt x="3382292" y="150958"/>
                  </a:lnTo>
                  <a:lnTo>
                    <a:pt x="0" y="150958"/>
                  </a:lnTo>
                  <a:lnTo>
                    <a:pt x="0" y="0"/>
                  </a:lnTo>
                </a:path>
                <a:path w="3382645" h="151129">
                  <a:moveTo>
                    <a:pt x="0" y="150958"/>
                  </a:moveTo>
                  <a:lnTo>
                    <a:pt x="3382292" y="1509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8752219" y="4134219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365214" y="3978558"/>
              <a:ext cx="3382645" cy="0"/>
            </a:xfrm>
            <a:custGeom>
              <a:avLst/>
              <a:gdLst/>
              <a:ahLst/>
              <a:cxnLst/>
              <a:rect l="l" t="t" r="r" b="b"/>
              <a:pathLst>
                <a:path w="3382645">
                  <a:moveTo>
                    <a:pt x="0" y="0"/>
                  </a:moveTo>
                  <a:lnTo>
                    <a:pt x="338229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8752219" y="398326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8747506" y="3978559"/>
              <a:ext cx="0" cy="151130"/>
            </a:xfrm>
            <a:custGeom>
              <a:avLst/>
              <a:gdLst/>
              <a:ahLst/>
              <a:cxnLst/>
              <a:rect l="l" t="t" r="r" b="b"/>
              <a:pathLst>
                <a:path h="151129">
                  <a:moveTo>
                    <a:pt x="0" y="0"/>
                  </a:moveTo>
                  <a:lnTo>
                    <a:pt x="0" y="1509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8752219" y="4134219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365214" y="3978558"/>
              <a:ext cx="0" cy="151130"/>
            </a:xfrm>
            <a:custGeom>
              <a:avLst/>
              <a:gdLst/>
              <a:ahLst/>
              <a:cxnLst/>
              <a:rect l="l" t="t" r="r" b="b"/>
              <a:pathLst>
                <a:path h="151129">
                  <a:moveTo>
                    <a:pt x="0" y="0"/>
                  </a:moveTo>
                  <a:lnTo>
                    <a:pt x="0" y="1509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369936" y="4134219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5365214" y="4129517"/>
              <a:ext cx="3382645" cy="0"/>
            </a:xfrm>
            <a:custGeom>
              <a:avLst/>
              <a:gdLst/>
              <a:ahLst/>
              <a:cxnLst/>
              <a:rect l="l" t="t" r="r" b="b"/>
              <a:pathLst>
                <a:path w="3382645">
                  <a:moveTo>
                    <a:pt x="0" y="0"/>
                  </a:moveTo>
                  <a:lnTo>
                    <a:pt x="338229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8752219" y="4134219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5365214" y="3978558"/>
              <a:ext cx="0" cy="151130"/>
            </a:xfrm>
            <a:custGeom>
              <a:avLst/>
              <a:gdLst/>
              <a:ahLst/>
              <a:cxnLst/>
              <a:rect l="l" t="t" r="r" b="b"/>
              <a:pathLst>
                <a:path h="151129">
                  <a:moveTo>
                    <a:pt x="0" y="0"/>
                  </a:moveTo>
                  <a:lnTo>
                    <a:pt x="0" y="1509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5369936" y="4134219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5365214" y="4091893"/>
              <a:ext cx="0" cy="38100"/>
            </a:xfrm>
            <a:custGeom>
              <a:avLst/>
              <a:gdLst/>
              <a:ahLst/>
              <a:cxnLst/>
              <a:rect l="l" t="t" r="r" b="b"/>
              <a:pathLst>
                <a:path h="38100">
                  <a:moveTo>
                    <a:pt x="0" y="3762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369936" y="409659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5365214" y="3978558"/>
              <a:ext cx="0" cy="28575"/>
            </a:xfrm>
            <a:custGeom>
              <a:avLst/>
              <a:gdLst/>
              <a:ahLst/>
              <a:cxnLst/>
              <a:rect l="l" t="t" r="r" b="b"/>
              <a:pathLst>
                <a:path h="28575">
                  <a:moveTo>
                    <a:pt x="0" y="0"/>
                  </a:moveTo>
                  <a:lnTo>
                    <a:pt x="0" y="282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5369936" y="401148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6026724" y="4091893"/>
              <a:ext cx="0" cy="38100"/>
            </a:xfrm>
            <a:custGeom>
              <a:avLst/>
              <a:gdLst/>
              <a:ahLst/>
              <a:cxnLst/>
              <a:rect l="l" t="t" r="r" b="b"/>
              <a:pathLst>
                <a:path h="38100">
                  <a:moveTo>
                    <a:pt x="0" y="3762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6031436" y="409659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6026724" y="3978558"/>
              <a:ext cx="0" cy="28575"/>
            </a:xfrm>
            <a:custGeom>
              <a:avLst/>
              <a:gdLst/>
              <a:ahLst/>
              <a:cxnLst/>
              <a:rect l="l" t="t" r="r" b="b"/>
              <a:pathLst>
                <a:path h="28575">
                  <a:moveTo>
                    <a:pt x="0" y="0"/>
                  </a:moveTo>
                  <a:lnTo>
                    <a:pt x="0" y="282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6031436" y="401148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6687998" y="4091893"/>
              <a:ext cx="0" cy="38100"/>
            </a:xfrm>
            <a:custGeom>
              <a:avLst/>
              <a:gdLst/>
              <a:ahLst/>
              <a:cxnLst/>
              <a:rect l="l" t="t" r="r" b="b"/>
              <a:pathLst>
                <a:path h="38100">
                  <a:moveTo>
                    <a:pt x="0" y="3762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6692711" y="409659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6687998" y="3978558"/>
              <a:ext cx="0" cy="28575"/>
            </a:xfrm>
            <a:custGeom>
              <a:avLst/>
              <a:gdLst/>
              <a:ahLst/>
              <a:cxnLst/>
              <a:rect l="l" t="t" r="r" b="b"/>
              <a:pathLst>
                <a:path h="28575">
                  <a:moveTo>
                    <a:pt x="0" y="0"/>
                  </a:moveTo>
                  <a:lnTo>
                    <a:pt x="0" y="282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6692711" y="401148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7349367" y="4091893"/>
              <a:ext cx="0" cy="38100"/>
            </a:xfrm>
            <a:custGeom>
              <a:avLst/>
              <a:gdLst/>
              <a:ahLst/>
              <a:cxnLst/>
              <a:rect l="l" t="t" r="r" b="b"/>
              <a:pathLst>
                <a:path h="38100">
                  <a:moveTo>
                    <a:pt x="0" y="3762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7354079" y="409659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7349367" y="3978558"/>
              <a:ext cx="0" cy="28575"/>
            </a:xfrm>
            <a:custGeom>
              <a:avLst/>
              <a:gdLst/>
              <a:ahLst/>
              <a:cxnLst/>
              <a:rect l="l" t="t" r="r" b="b"/>
              <a:pathLst>
                <a:path h="28575">
                  <a:moveTo>
                    <a:pt x="0" y="0"/>
                  </a:moveTo>
                  <a:lnTo>
                    <a:pt x="0" y="282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7354079" y="401148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8010641" y="4091893"/>
              <a:ext cx="0" cy="38100"/>
            </a:xfrm>
            <a:custGeom>
              <a:avLst/>
              <a:gdLst/>
              <a:ahLst/>
              <a:cxnLst/>
              <a:rect l="l" t="t" r="r" b="b"/>
              <a:pathLst>
                <a:path h="38100">
                  <a:moveTo>
                    <a:pt x="0" y="3762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8015354" y="409659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8010641" y="3978558"/>
              <a:ext cx="0" cy="28575"/>
            </a:xfrm>
            <a:custGeom>
              <a:avLst/>
              <a:gdLst/>
              <a:ahLst/>
              <a:cxnLst/>
              <a:rect l="l" t="t" r="r" b="b"/>
              <a:pathLst>
                <a:path h="28575">
                  <a:moveTo>
                    <a:pt x="0" y="0"/>
                  </a:moveTo>
                  <a:lnTo>
                    <a:pt x="0" y="282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8015354" y="401148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8671916" y="4091893"/>
              <a:ext cx="0" cy="38100"/>
            </a:xfrm>
            <a:custGeom>
              <a:avLst/>
              <a:gdLst/>
              <a:ahLst/>
              <a:cxnLst/>
              <a:rect l="l" t="t" r="r" b="b"/>
              <a:pathLst>
                <a:path h="38100">
                  <a:moveTo>
                    <a:pt x="0" y="3762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8676628" y="409659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671916" y="3978559"/>
              <a:ext cx="0" cy="28575"/>
            </a:xfrm>
            <a:custGeom>
              <a:avLst/>
              <a:gdLst/>
              <a:ahLst/>
              <a:cxnLst/>
              <a:rect l="l" t="t" r="r" b="b"/>
              <a:pathLst>
                <a:path h="28575">
                  <a:moveTo>
                    <a:pt x="0" y="0"/>
                  </a:moveTo>
                  <a:lnTo>
                    <a:pt x="0" y="2822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8676628" y="401148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8" name="object 108"/>
          <p:cNvSpPr txBox="1"/>
          <p:nvPr/>
        </p:nvSpPr>
        <p:spPr>
          <a:xfrm>
            <a:off x="5644134" y="4092093"/>
            <a:ext cx="3145155" cy="80073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16230">
              <a:lnSpc>
                <a:spcPct val="100000"/>
              </a:lnSpc>
              <a:spcBef>
                <a:spcPts val="535"/>
              </a:spcBef>
              <a:tabLst>
                <a:tab pos="949325" algn="l"/>
                <a:tab pos="1610360" algn="l"/>
                <a:tab pos="2271395" algn="l"/>
                <a:tab pos="2933065" algn="l"/>
              </a:tabLst>
            </a:pPr>
            <a:r>
              <a:rPr sz="950" spc="-25" dirty="0">
                <a:latin typeface="Arial MT"/>
                <a:cs typeface="Arial MT"/>
              </a:rPr>
              <a:t>50</a:t>
            </a:r>
            <a:r>
              <a:rPr sz="950" dirty="0">
                <a:latin typeface="Arial MT"/>
                <a:cs typeface="Arial MT"/>
              </a:rPr>
              <a:t>	</a:t>
            </a:r>
            <a:r>
              <a:rPr sz="950" spc="-25" dirty="0">
                <a:latin typeface="Arial MT"/>
                <a:cs typeface="Arial MT"/>
              </a:rPr>
              <a:t>100</a:t>
            </a:r>
            <a:r>
              <a:rPr sz="950" dirty="0">
                <a:latin typeface="Arial MT"/>
                <a:cs typeface="Arial MT"/>
              </a:rPr>
              <a:t>	</a:t>
            </a:r>
            <a:r>
              <a:rPr sz="950" spc="-25" dirty="0">
                <a:latin typeface="Arial MT"/>
                <a:cs typeface="Arial MT"/>
              </a:rPr>
              <a:t>150</a:t>
            </a:r>
            <a:r>
              <a:rPr sz="950" dirty="0">
                <a:latin typeface="Arial MT"/>
                <a:cs typeface="Arial MT"/>
              </a:rPr>
              <a:t>	</a:t>
            </a:r>
            <a:r>
              <a:rPr sz="950" spc="-25" dirty="0">
                <a:latin typeface="Arial MT"/>
                <a:cs typeface="Arial MT"/>
              </a:rPr>
              <a:t>200</a:t>
            </a:r>
            <a:r>
              <a:rPr sz="950" dirty="0">
                <a:latin typeface="Arial MT"/>
                <a:cs typeface="Arial MT"/>
              </a:rPr>
              <a:t>	</a:t>
            </a:r>
            <a:r>
              <a:rPr sz="950" spc="-25" dirty="0">
                <a:latin typeface="Arial MT"/>
                <a:cs typeface="Arial MT"/>
              </a:rPr>
              <a:t>250</a:t>
            </a:r>
            <a:endParaRPr sz="950">
              <a:latin typeface="Arial MT"/>
              <a:cs typeface="Arial MT"/>
            </a:endParaRPr>
          </a:p>
          <a:p>
            <a:pPr marL="669290" marR="142240" indent="-657225">
              <a:lnSpc>
                <a:spcPct val="100000"/>
              </a:lnSpc>
              <a:spcBef>
                <a:spcPts val="690"/>
              </a:spcBef>
            </a:pP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Histograma</a:t>
            </a: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mostrando</a:t>
            </a: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la</a:t>
            </a:r>
            <a:r>
              <a:rPr sz="16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frecuencia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cada</a:t>
            </a:r>
            <a:r>
              <a:rPr sz="16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nivel</a:t>
            </a:r>
            <a:r>
              <a:rPr sz="16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7E7E7E"/>
                </a:solidFill>
                <a:latin typeface="Calibri"/>
                <a:cs typeface="Calibri"/>
              </a:rPr>
              <a:t>gris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4984163" y="2502170"/>
            <a:ext cx="358775" cy="156083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R="6350" algn="r">
              <a:lnSpc>
                <a:spcPct val="100000"/>
              </a:lnSpc>
              <a:spcBef>
                <a:spcPts val="114"/>
              </a:spcBef>
            </a:pPr>
            <a:r>
              <a:rPr sz="950" spc="-10" dirty="0">
                <a:latin typeface="Arial MT"/>
                <a:cs typeface="Arial MT"/>
              </a:rPr>
              <a:t>15000</a:t>
            </a: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950">
              <a:latin typeface="Arial MT"/>
              <a:cs typeface="Arial MT"/>
            </a:endParaRPr>
          </a:p>
          <a:p>
            <a:pPr marR="6350" algn="r">
              <a:lnSpc>
                <a:spcPct val="100000"/>
              </a:lnSpc>
            </a:pPr>
            <a:r>
              <a:rPr sz="950" spc="-10" dirty="0">
                <a:latin typeface="Arial MT"/>
                <a:cs typeface="Arial MT"/>
              </a:rPr>
              <a:t>10000</a:t>
            </a: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950">
              <a:latin typeface="Arial MT"/>
              <a:cs typeface="Arial MT"/>
            </a:endParaRPr>
          </a:p>
          <a:p>
            <a:pPr marR="6350" algn="r">
              <a:lnSpc>
                <a:spcPct val="100000"/>
              </a:lnSpc>
            </a:pPr>
            <a:r>
              <a:rPr sz="950" spc="-20" dirty="0">
                <a:latin typeface="Arial MT"/>
                <a:cs typeface="Arial MT"/>
              </a:rPr>
              <a:t>5000</a:t>
            </a: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95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</a:pPr>
            <a:r>
              <a:rPr sz="950" spc="-50" dirty="0">
                <a:latin typeface="Arial MT"/>
                <a:cs typeface="Arial MT"/>
              </a:rPr>
              <a:t>0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5324238" y="4145264"/>
            <a:ext cx="93980" cy="1727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spc="-50" dirty="0">
                <a:latin typeface="Arial MT"/>
                <a:cs typeface="Arial MT"/>
              </a:rPr>
              <a:t>0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111" name="object 111"/>
          <p:cNvGrpSpPr/>
          <p:nvPr/>
        </p:nvGrpSpPr>
        <p:grpSpPr>
          <a:xfrm>
            <a:off x="5364554" y="3977900"/>
            <a:ext cx="3397250" cy="161290"/>
            <a:chOff x="5364554" y="3977900"/>
            <a:chExt cx="3397250" cy="161290"/>
          </a:xfrm>
        </p:grpSpPr>
        <p:sp>
          <p:nvSpPr>
            <p:cNvPr id="112" name="object 112"/>
            <p:cNvSpPr/>
            <p:nvPr/>
          </p:nvSpPr>
          <p:spPr>
            <a:xfrm>
              <a:off x="5365214" y="3978558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28575">
                  <a:moveTo>
                    <a:pt x="0" y="0"/>
                  </a:moveTo>
                  <a:lnTo>
                    <a:pt x="2852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398447" y="398326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8709805" y="3978559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3770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8714518" y="398326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5365214" y="4054033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28575">
                  <a:moveTo>
                    <a:pt x="0" y="0"/>
                  </a:moveTo>
                  <a:lnTo>
                    <a:pt x="2852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5398447" y="405873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8709805" y="4054033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3770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8714518" y="405873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5365214" y="4129517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28575">
                  <a:moveTo>
                    <a:pt x="0" y="0"/>
                  </a:moveTo>
                  <a:lnTo>
                    <a:pt x="2852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5398447" y="4134219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8709805" y="4129517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3770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8714518" y="4134219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5365214" y="4129517"/>
              <a:ext cx="3382645" cy="0"/>
            </a:xfrm>
            <a:custGeom>
              <a:avLst/>
              <a:gdLst/>
              <a:ahLst/>
              <a:cxnLst/>
              <a:rect l="l" t="t" r="r" b="b"/>
              <a:pathLst>
                <a:path w="3382645">
                  <a:moveTo>
                    <a:pt x="0" y="0"/>
                  </a:moveTo>
                  <a:lnTo>
                    <a:pt x="338229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8752219" y="4134219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5365214" y="3978558"/>
              <a:ext cx="3382645" cy="0"/>
            </a:xfrm>
            <a:custGeom>
              <a:avLst/>
              <a:gdLst/>
              <a:ahLst/>
              <a:cxnLst/>
              <a:rect l="l" t="t" r="r" b="b"/>
              <a:pathLst>
                <a:path w="3382645">
                  <a:moveTo>
                    <a:pt x="0" y="0"/>
                  </a:moveTo>
                  <a:lnTo>
                    <a:pt x="3382292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8752219" y="398326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8747506" y="3978559"/>
              <a:ext cx="0" cy="151130"/>
            </a:xfrm>
            <a:custGeom>
              <a:avLst/>
              <a:gdLst/>
              <a:ahLst/>
              <a:cxnLst/>
              <a:rect l="l" t="t" r="r" b="b"/>
              <a:pathLst>
                <a:path h="151129">
                  <a:moveTo>
                    <a:pt x="0" y="0"/>
                  </a:moveTo>
                  <a:lnTo>
                    <a:pt x="0" y="1509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8752219" y="4134219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5365214" y="3978558"/>
              <a:ext cx="0" cy="151130"/>
            </a:xfrm>
            <a:custGeom>
              <a:avLst/>
              <a:gdLst/>
              <a:ahLst/>
              <a:cxnLst/>
              <a:rect l="l" t="t" r="r" b="b"/>
              <a:pathLst>
                <a:path h="151129">
                  <a:moveTo>
                    <a:pt x="0" y="0"/>
                  </a:moveTo>
                  <a:lnTo>
                    <a:pt x="0" y="15095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5369936" y="4134219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425" y="0"/>
                  </a:lnTo>
                </a:path>
              </a:pathLst>
            </a:custGeom>
            <a:ln w="94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2" name="object 13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052" y="5516879"/>
            <a:ext cx="655320" cy="656843"/>
          </a:xfrm>
          <a:prstGeom prst="rect">
            <a:avLst/>
          </a:prstGeom>
        </p:spPr>
      </p:pic>
      <p:pic>
        <p:nvPicPr>
          <p:cNvPr id="133" name="object 13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91628" y="5522976"/>
            <a:ext cx="624840" cy="627888"/>
          </a:xfrm>
          <a:prstGeom prst="rect">
            <a:avLst/>
          </a:prstGeom>
        </p:spPr>
      </p:pic>
      <p:sp>
        <p:nvSpPr>
          <p:cNvPr id="134" name="object 1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pic>
        <p:nvPicPr>
          <p:cNvPr id="135" name="Picture 4">
            <a:extLst>
              <a:ext uri="{FF2B5EF4-FFF2-40B4-BE49-F238E27FC236}">
                <a16:creationId xmlns:a16="http://schemas.microsoft.com/office/drawing/2014/main" id="{05712DE3-D422-B0DC-008C-BF84C3620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Picture 6" descr="Ingeniería de Sistemas - UNCP">
            <a:extLst>
              <a:ext uri="{FF2B5EF4-FFF2-40B4-BE49-F238E27FC236}">
                <a16:creationId xmlns:a16="http://schemas.microsoft.com/office/drawing/2014/main" id="{8DA2143C-2923-2C90-8284-1C98AF451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213865"/>
            <a:ext cx="7399655" cy="13379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spc="-10" dirty="0">
                <a:latin typeface="Calibri"/>
                <a:cs typeface="Calibri"/>
              </a:rPr>
              <a:t>Histograma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color: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suele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realizar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histograma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cada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canal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por</a:t>
            </a:r>
            <a:endParaRPr sz="2000">
              <a:latin typeface="Calibri"/>
              <a:cs typeface="Calibri"/>
            </a:endParaRPr>
          </a:p>
          <a:p>
            <a:pPr marL="208915">
              <a:lnSpc>
                <a:spcPct val="100000"/>
              </a:lnSpc>
            </a:pPr>
            <a:r>
              <a:rPr sz="2000" spc="-10" dirty="0">
                <a:latin typeface="Calibri"/>
                <a:cs typeface="Calibri"/>
              </a:rPr>
              <a:t>separado</a:t>
            </a:r>
            <a:endParaRPr sz="2000">
              <a:latin typeface="Calibri"/>
              <a:cs typeface="Calibri"/>
            </a:endParaRPr>
          </a:p>
          <a:p>
            <a:pPr marL="389890" lvl="1" indent="-161290">
              <a:lnSpc>
                <a:spcPct val="100000"/>
              </a:lnSpc>
              <a:spcBef>
                <a:spcPts val="610"/>
              </a:spcBef>
              <a:buChar char="-"/>
              <a:tabLst>
                <a:tab pos="389890" algn="l"/>
              </a:tabLst>
            </a:pPr>
            <a:r>
              <a:rPr sz="1800" dirty="0">
                <a:latin typeface="Calibri"/>
                <a:cs typeface="Calibri"/>
              </a:rPr>
              <a:t>Utilidad: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puede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“caracterizar”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objeto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(distinguirlo</a:t>
            </a:r>
            <a:r>
              <a:rPr sz="1600" spc="-6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6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otros</a:t>
            </a:r>
            <a:r>
              <a:rPr sz="16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objetos)</a:t>
            </a:r>
            <a:endParaRPr sz="1600">
              <a:latin typeface="Calibri"/>
              <a:cs typeface="Calibri"/>
            </a:endParaRPr>
          </a:p>
          <a:p>
            <a:pPr marL="389890" lvl="1" indent="-161290">
              <a:lnSpc>
                <a:spcPct val="100000"/>
              </a:lnSpc>
              <a:spcBef>
                <a:spcPts val="600"/>
              </a:spcBef>
              <a:buChar char="-"/>
              <a:tabLst>
                <a:tab pos="389890" algn="l"/>
              </a:tabLst>
            </a:pPr>
            <a:r>
              <a:rPr sz="1800" dirty="0">
                <a:latin typeface="Calibri"/>
                <a:cs typeface="Calibri"/>
              </a:rPr>
              <a:t>Se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puede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utilizar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como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“huella”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básica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reconocer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objetos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92829" y="260350"/>
            <a:ext cx="19589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Histograma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8985" y="2834335"/>
            <a:ext cx="5295048" cy="146983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6782" y="4921891"/>
            <a:ext cx="3813003" cy="1758634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070327" y="4494141"/>
            <a:ext cx="360680" cy="279400"/>
            <a:chOff x="4070327" y="4494141"/>
            <a:chExt cx="360680" cy="27940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70327" y="4494141"/>
              <a:ext cx="360229" cy="27929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08704" y="4509516"/>
              <a:ext cx="288036" cy="21488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108704" y="4509516"/>
              <a:ext cx="288290" cy="215265"/>
            </a:xfrm>
            <a:custGeom>
              <a:avLst/>
              <a:gdLst/>
              <a:ahLst/>
              <a:cxnLst/>
              <a:rect l="l" t="t" r="r" b="b"/>
              <a:pathLst>
                <a:path w="288289" h="215264">
                  <a:moveTo>
                    <a:pt x="216026" y="0"/>
                  </a:moveTo>
                  <a:lnTo>
                    <a:pt x="216026" y="107441"/>
                  </a:lnTo>
                  <a:lnTo>
                    <a:pt x="288036" y="107441"/>
                  </a:lnTo>
                  <a:lnTo>
                    <a:pt x="144018" y="214883"/>
                  </a:lnTo>
                  <a:lnTo>
                    <a:pt x="0" y="107441"/>
                  </a:lnTo>
                  <a:lnTo>
                    <a:pt x="72009" y="107441"/>
                  </a:lnTo>
                  <a:lnTo>
                    <a:pt x="72009" y="0"/>
                  </a:lnTo>
                  <a:lnTo>
                    <a:pt x="216026" y="0"/>
                  </a:lnTo>
                  <a:close/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D3BD367A-EF55-95D1-319F-B5E09B178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Ingeniería de Sistemas - UNCP">
            <a:extLst>
              <a:ext uri="{FF2B5EF4-FFF2-40B4-BE49-F238E27FC236}">
                <a16:creationId xmlns:a16="http://schemas.microsoft.com/office/drawing/2014/main" id="{61DB23D9-4446-7D4E-FC66-7CF3B5C3F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692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Thresholding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89005" y="3473150"/>
            <a:ext cx="127000" cy="18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i="1" spc="-25" dirty="0">
                <a:latin typeface="Times New Roman"/>
                <a:cs typeface="Times New Roman"/>
              </a:rPr>
              <a:t>th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0540" y="1153891"/>
            <a:ext cx="5480050" cy="229616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233045" indent="-19494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233045" algn="l"/>
              </a:tabLst>
            </a:pPr>
            <a:r>
              <a:rPr sz="2000" dirty="0">
                <a:latin typeface="Calibri"/>
                <a:cs typeface="Calibri"/>
              </a:rPr>
              <a:t>En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español: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“umbralización”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(threshold=umbral)</a:t>
            </a:r>
            <a:endParaRPr sz="1600">
              <a:latin typeface="Calibri"/>
              <a:cs typeface="Calibri"/>
            </a:endParaRPr>
          </a:p>
          <a:p>
            <a:pPr marL="232410" indent="-19431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32410" algn="l"/>
              </a:tabLst>
            </a:pPr>
            <a:r>
              <a:rPr sz="2000" spc="-10" dirty="0">
                <a:latin typeface="Calibri"/>
                <a:cs typeface="Calibri"/>
              </a:rPr>
              <a:t>Convierte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imagen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escala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grises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binario</a:t>
            </a:r>
            <a:endParaRPr sz="2000">
              <a:latin typeface="Calibri"/>
              <a:cs typeface="Calibri"/>
            </a:endParaRPr>
          </a:p>
          <a:p>
            <a:pPr marL="233045" indent="-19494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233045" algn="l"/>
              </a:tabLst>
            </a:pP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Procedimiento</a:t>
            </a:r>
            <a:endParaRPr sz="2000">
              <a:latin typeface="Calibri"/>
              <a:cs typeface="Calibri"/>
            </a:endParaRPr>
          </a:p>
          <a:p>
            <a:pPr marL="415290" lvl="1" indent="-161290">
              <a:lnSpc>
                <a:spcPct val="100000"/>
              </a:lnSpc>
              <a:spcBef>
                <a:spcPts val="455"/>
              </a:spcBef>
              <a:buChar char="-"/>
              <a:tabLst>
                <a:tab pos="415290" algn="l"/>
              </a:tabLst>
            </a:pPr>
            <a:r>
              <a:rPr sz="1800" dirty="0">
                <a:latin typeface="Calibri"/>
                <a:cs typeface="Calibri"/>
              </a:rPr>
              <a:t>Definir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threshold</a:t>
            </a:r>
            <a:r>
              <a:rPr sz="1800" i="1" spc="-20" dirty="0">
                <a:latin typeface="Calibri"/>
                <a:cs typeface="Calibri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T</a:t>
            </a:r>
            <a:r>
              <a:rPr sz="1800" i="1" spc="-85" dirty="0"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(en</a:t>
            </a: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el</a:t>
            </a:r>
            <a:r>
              <a:rPr sz="16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rango</a:t>
            </a:r>
            <a:r>
              <a:rPr sz="16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6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grises)</a:t>
            </a:r>
            <a:endParaRPr sz="1600">
              <a:latin typeface="Calibri"/>
              <a:cs typeface="Calibri"/>
            </a:endParaRPr>
          </a:p>
          <a:p>
            <a:pPr marL="415290" lvl="1" indent="-161290">
              <a:lnSpc>
                <a:spcPct val="100000"/>
              </a:lnSpc>
              <a:spcBef>
                <a:spcPts val="430"/>
              </a:spcBef>
              <a:buChar char="-"/>
              <a:tabLst>
                <a:tab pos="415290" algn="l"/>
              </a:tabLst>
            </a:pPr>
            <a:r>
              <a:rPr sz="1800" dirty="0">
                <a:latin typeface="Calibri"/>
                <a:cs typeface="Calibri"/>
              </a:rPr>
              <a:t>Para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cada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pixel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y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imagen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resultante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i="1" baseline="-20833" dirty="0">
                <a:latin typeface="Times New Roman"/>
                <a:cs typeface="Times New Roman"/>
              </a:rPr>
              <a:t>th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x</a:t>
            </a:r>
            <a:r>
              <a:rPr sz="1800" dirty="0">
                <a:latin typeface="Times New Roman"/>
                <a:cs typeface="Times New Roman"/>
              </a:rPr>
              <a:t>,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y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Calibri"/>
                <a:cs typeface="Calibri"/>
              </a:rPr>
              <a:t>es:</a:t>
            </a:r>
            <a:endParaRPr sz="1800">
              <a:latin typeface="Calibri"/>
              <a:cs typeface="Calibri"/>
            </a:endParaRPr>
          </a:p>
          <a:p>
            <a:pPr marR="344805" algn="r">
              <a:lnSpc>
                <a:spcPct val="100000"/>
              </a:lnSpc>
              <a:spcBef>
                <a:spcPts val="1215"/>
              </a:spcBef>
            </a:pPr>
            <a:r>
              <a:rPr sz="1750" dirty="0">
                <a:latin typeface="Times New Roman"/>
                <a:cs typeface="Times New Roman"/>
              </a:rPr>
              <a:t>si</a:t>
            </a:r>
            <a:r>
              <a:rPr sz="1750" spc="490" dirty="0">
                <a:latin typeface="Times New Roman"/>
                <a:cs typeface="Times New Roman"/>
              </a:rPr>
              <a:t> </a:t>
            </a:r>
            <a:r>
              <a:rPr sz="1750" i="1" dirty="0">
                <a:latin typeface="Times New Roman"/>
                <a:cs typeface="Times New Roman"/>
              </a:rPr>
              <a:t>I</a:t>
            </a:r>
            <a:r>
              <a:rPr sz="1750" i="1" spc="-225" dirty="0">
                <a:latin typeface="Times New Roman"/>
                <a:cs typeface="Times New Roman"/>
              </a:rPr>
              <a:t> </a:t>
            </a:r>
            <a:r>
              <a:rPr sz="1750" spc="50" dirty="0">
                <a:latin typeface="Times New Roman"/>
                <a:cs typeface="Times New Roman"/>
              </a:rPr>
              <a:t>(</a:t>
            </a:r>
            <a:r>
              <a:rPr sz="1750" i="1" spc="50" dirty="0">
                <a:latin typeface="Times New Roman"/>
                <a:cs typeface="Times New Roman"/>
              </a:rPr>
              <a:t>x</a:t>
            </a:r>
            <a:r>
              <a:rPr sz="1750" spc="50" dirty="0">
                <a:latin typeface="Times New Roman"/>
                <a:cs typeface="Times New Roman"/>
              </a:rPr>
              <a:t>,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i="1" dirty="0">
                <a:latin typeface="Times New Roman"/>
                <a:cs typeface="Times New Roman"/>
              </a:rPr>
              <a:t>y</a:t>
            </a:r>
            <a:r>
              <a:rPr sz="1750" dirty="0">
                <a:latin typeface="Times New Roman"/>
                <a:cs typeface="Times New Roman"/>
              </a:rPr>
              <a:t>)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Symbol"/>
                <a:cs typeface="Symbol"/>
              </a:rPr>
              <a:t></a:t>
            </a:r>
            <a:r>
              <a:rPr sz="1750" spc="-120" dirty="0">
                <a:latin typeface="Times New Roman"/>
                <a:cs typeface="Times New Roman"/>
              </a:rPr>
              <a:t> </a:t>
            </a:r>
            <a:r>
              <a:rPr sz="1750" i="1" spc="-50" dirty="0">
                <a:latin typeface="Times New Roman"/>
                <a:cs typeface="Times New Roman"/>
              </a:rPr>
              <a:t>T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79695" y="3320465"/>
            <a:ext cx="1392555" cy="2952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250825" algn="l"/>
              </a:tabLst>
            </a:pPr>
            <a:r>
              <a:rPr sz="1750" i="1" spc="-50" dirty="0">
                <a:latin typeface="Times New Roman"/>
                <a:cs typeface="Times New Roman"/>
              </a:rPr>
              <a:t>I</a:t>
            </a:r>
            <a:r>
              <a:rPr sz="1750" i="1" dirty="0">
                <a:latin typeface="Times New Roman"/>
                <a:cs typeface="Times New Roman"/>
              </a:rPr>
              <a:t>	</a:t>
            </a:r>
            <a:r>
              <a:rPr sz="1750" spc="50" dirty="0">
                <a:latin typeface="Times New Roman"/>
                <a:cs typeface="Times New Roman"/>
              </a:rPr>
              <a:t>(</a:t>
            </a:r>
            <a:r>
              <a:rPr sz="1750" i="1" spc="50" dirty="0">
                <a:latin typeface="Times New Roman"/>
                <a:cs typeface="Times New Roman"/>
              </a:rPr>
              <a:t>x</a:t>
            </a:r>
            <a:r>
              <a:rPr sz="1750" spc="50" dirty="0">
                <a:latin typeface="Times New Roman"/>
                <a:cs typeface="Times New Roman"/>
              </a:rPr>
              <a:t>,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i="1" dirty="0">
                <a:latin typeface="Times New Roman"/>
                <a:cs typeface="Times New Roman"/>
              </a:rPr>
              <a:t>y</a:t>
            </a:r>
            <a:r>
              <a:rPr sz="1750" dirty="0">
                <a:latin typeface="Times New Roman"/>
                <a:cs typeface="Times New Roman"/>
              </a:rPr>
              <a:t>)</a:t>
            </a:r>
            <a:r>
              <a:rPr sz="1750" spc="-1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Symbol"/>
                <a:cs typeface="Symbol"/>
              </a:rPr>
              <a:t></a:t>
            </a:r>
            <a:r>
              <a:rPr sz="1750" spc="-5" dirty="0">
                <a:latin typeface="Times New Roman"/>
                <a:cs typeface="Times New Roman"/>
              </a:rPr>
              <a:t> </a:t>
            </a:r>
            <a:r>
              <a:rPr sz="2625" baseline="36507" dirty="0">
                <a:latin typeface="Symbol"/>
                <a:cs typeface="Symbol"/>
              </a:rPr>
              <a:t></a:t>
            </a:r>
            <a:r>
              <a:rPr sz="2625" spc="44" baseline="36507" dirty="0">
                <a:latin typeface="Times New Roman"/>
                <a:cs typeface="Times New Roman"/>
              </a:rPr>
              <a:t>  </a:t>
            </a:r>
            <a:r>
              <a:rPr sz="2625" spc="-37" baseline="41269" dirty="0">
                <a:latin typeface="Times New Roman"/>
                <a:cs typeface="Times New Roman"/>
              </a:rPr>
              <a:t>0,</a:t>
            </a:r>
            <a:endParaRPr sz="2625" baseline="41269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91139" y="3492723"/>
            <a:ext cx="1986280" cy="2952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4"/>
              </a:spcBef>
              <a:tabLst>
                <a:tab pos="758825" algn="l"/>
              </a:tabLst>
            </a:pPr>
            <a:r>
              <a:rPr sz="2625" spc="-15" baseline="33333" dirty="0">
                <a:latin typeface="Symbol"/>
                <a:cs typeface="Symbol"/>
              </a:rPr>
              <a:t></a:t>
            </a:r>
            <a:r>
              <a:rPr sz="1750" spc="-10" dirty="0">
                <a:latin typeface="Times New Roman"/>
                <a:cs typeface="Times New Roman"/>
              </a:rPr>
              <a:t>255,</a:t>
            </a:r>
            <a:r>
              <a:rPr sz="1750" dirty="0">
                <a:latin typeface="Times New Roman"/>
                <a:cs typeface="Times New Roman"/>
              </a:rPr>
              <a:t>	si</a:t>
            </a:r>
            <a:r>
              <a:rPr sz="1750" spc="495" dirty="0">
                <a:latin typeface="Times New Roman"/>
                <a:cs typeface="Times New Roman"/>
              </a:rPr>
              <a:t> </a:t>
            </a:r>
            <a:r>
              <a:rPr sz="1750" i="1" dirty="0">
                <a:latin typeface="Times New Roman"/>
                <a:cs typeface="Times New Roman"/>
              </a:rPr>
              <a:t>I</a:t>
            </a:r>
            <a:r>
              <a:rPr sz="1750" i="1" spc="-225" dirty="0">
                <a:latin typeface="Times New Roman"/>
                <a:cs typeface="Times New Roman"/>
              </a:rPr>
              <a:t> </a:t>
            </a:r>
            <a:r>
              <a:rPr sz="1750" spc="50" dirty="0">
                <a:latin typeface="Times New Roman"/>
                <a:cs typeface="Times New Roman"/>
              </a:rPr>
              <a:t>(</a:t>
            </a:r>
            <a:r>
              <a:rPr sz="1750" i="1" spc="50" dirty="0">
                <a:latin typeface="Times New Roman"/>
                <a:cs typeface="Times New Roman"/>
              </a:rPr>
              <a:t>x</a:t>
            </a:r>
            <a:r>
              <a:rPr sz="1750" spc="50" dirty="0">
                <a:latin typeface="Times New Roman"/>
                <a:cs typeface="Times New Roman"/>
              </a:rPr>
              <a:t>,</a:t>
            </a:r>
            <a:r>
              <a:rPr sz="1750" spc="-30" dirty="0">
                <a:latin typeface="Times New Roman"/>
                <a:cs typeface="Times New Roman"/>
              </a:rPr>
              <a:t> </a:t>
            </a:r>
            <a:r>
              <a:rPr sz="1750" i="1" dirty="0">
                <a:latin typeface="Times New Roman"/>
                <a:cs typeface="Times New Roman"/>
              </a:rPr>
              <a:t>y</a:t>
            </a:r>
            <a:r>
              <a:rPr sz="1750" dirty="0">
                <a:latin typeface="Times New Roman"/>
                <a:cs typeface="Times New Roman"/>
              </a:rPr>
              <a:t>)</a:t>
            </a:r>
            <a:r>
              <a:rPr sz="1750" spc="-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Symbol"/>
                <a:cs typeface="Symbol"/>
              </a:rPr>
              <a:t></a:t>
            </a:r>
            <a:r>
              <a:rPr sz="1750" spc="-120" dirty="0">
                <a:latin typeface="Times New Roman"/>
                <a:cs typeface="Times New Roman"/>
              </a:rPr>
              <a:t> </a:t>
            </a:r>
            <a:r>
              <a:rPr sz="1750" i="1" spc="-50" dirty="0">
                <a:latin typeface="Times New Roman"/>
                <a:cs typeface="Times New Roman"/>
              </a:rPr>
              <a:t>T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29239" y="3545451"/>
            <a:ext cx="136525" cy="2952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spc="-50" dirty="0">
                <a:latin typeface="Symbol"/>
                <a:cs typeface="Symbol"/>
              </a:rPr>
              <a:t></a:t>
            </a:r>
            <a:endParaRPr sz="1750">
              <a:latin typeface="Symbol"/>
              <a:cs typeface="Symbo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7782" y="4187190"/>
            <a:ext cx="2612376" cy="105948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98349" y="4126991"/>
            <a:ext cx="2721170" cy="118326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67782" y="5487002"/>
            <a:ext cx="2612376" cy="94594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54651" y="5481861"/>
            <a:ext cx="2610928" cy="93805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490977" y="6460337"/>
            <a:ext cx="8845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Con</a:t>
            </a:r>
            <a:r>
              <a:rPr sz="14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7E7E7E"/>
                </a:solidFill>
                <a:latin typeface="Times New Roman"/>
                <a:cs typeface="Times New Roman"/>
              </a:rPr>
              <a:t>T</a:t>
            </a:r>
            <a:r>
              <a:rPr sz="1400" i="1" spc="-5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=</a:t>
            </a:r>
            <a:r>
              <a:rPr sz="14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100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13" name="object 13"/>
          <p:cNvSpPr txBox="1"/>
          <p:nvPr/>
        </p:nvSpPr>
        <p:spPr>
          <a:xfrm>
            <a:off x="6163817" y="6460337"/>
            <a:ext cx="8845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Con</a:t>
            </a:r>
            <a:r>
              <a:rPr sz="14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7E7E7E"/>
                </a:solidFill>
                <a:latin typeface="Times New Roman"/>
                <a:cs typeface="Times New Roman"/>
              </a:rPr>
              <a:t>T</a:t>
            </a:r>
            <a:r>
              <a:rPr sz="1400" i="1" spc="-45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=</a:t>
            </a:r>
            <a:r>
              <a:rPr sz="14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150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59551" y="3864102"/>
            <a:ext cx="7340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7E7E7E"/>
                </a:solidFill>
                <a:latin typeface="Calibri"/>
                <a:cs typeface="Calibri"/>
              </a:rPr>
              <a:t>Histograma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A5C1A30B-147B-3FA1-8C26-5A9A36C0DD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Ingeniería de Sistemas - UNCP">
            <a:extLst>
              <a:ext uri="{FF2B5EF4-FFF2-40B4-BE49-F238E27FC236}">
                <a16:creationId xmlns:a16="http://schemas.microsoft.com/office/drawing/2014/main" id="{9D24BF73-D19D-DB5E-B4D6-2A1E96118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692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Thresholding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1368" y="1150537"/>
            <a:ext cx="3096895" cy="72390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207010" indent="-194310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207010" algn="l"/>
              </a:tabLst>
            </a:pPr>
            <a:r>
              <a:rPr sz="2000" spc="-10" dirty="0">
                <a:latin typeface="Calibri"/>
                <a:cs typeface="Calibri"/>
              </a:rPr>
              <a:t>Ejemplo</a:t>
            </a:r>
            <a:endParaRPr sz="20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445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2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Imagen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original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histograma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7776" y="3879037"/>
            <a:ext cx="61385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2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Aplicación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0" dirty="0">
                <a:latin typeface="Calibri"/>
                <a:cs typeface="Calibri"/>
              </a:rPr>
              <a:t> diferentes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valores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umbrales: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100,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150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25" dirty="0">
                <a:latin typeface="Calibri"/>
                <a:cs typeface="Calibri"/>
              </a:rPr>
              <a:t> 200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7776" y="5715711"/>
            <a:ext cx="5802630" cy="768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2065" algn="ctr">
              <a:lnSpc>
                <a:spcPct val="100000"/>
              </a:lnSpc>
              <a:spcBef>
                <a:spcPts val="95"/>
              </a:spcBef>
              <a:tabLst>
                <a:tab pos="2780030" algn="l"/>
              </a:tabLst>
            </a:pPr>
            <a:r>
              <a:rPr sz="1600" i="1" spc="-10" dirty="0">
                <a:solidFill>
                  <a:srgbClr val="7E7E7E"/>
                </a:solidFill>
                <a:latin typeface="Times New Roman"/>
                <a:cs typeface="Times New Roman"/>
              </a:rPr>
              <a:t>T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=100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	</a:t>
            </a:r>
            <a:r>
              <a:rPr sz="1600" i="1" spc="-10" dirty="0">
                <a:solidFill>
                  <a:srgbClr val="7E7E7E"/>
                </a:solidFill>
                <a:latin typeface="Times New Roman"/>
                <a:cs typeface="Times New Roman"/>
              </a:rPr>
              <a:t>T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=150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77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254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umbral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controla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mantiene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imagen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9655" y="2173223"/>
            <a:ext cx="2752344" cy="137617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508" y="4436364"/>
            <a:ext cx="2465831" cy="123444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71315" y="4436364"/>
            <a:ext cx="2465832" cy="123444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26123" y="4436364"/>
            <a:ext cx="2467355" cy="123444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277227" y="5715711"/>
            <a:ext cx="5461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10" dirty="0">
                <a:solidFill>
                  <a:srgbClr val="7E7E7E"/>
                </a:solidFill>
                <a:latin typeface="Times New Roman"/>
                <a:cs typeface="Times New Roman"/>
              </a:rPr>
              <a:t>T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=200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569381" y="2180998"/>
            <a:ext cx="2347595" cy="1337945"/>
            <a:chOff x="5569381" y="2180998"/>
            <a:chExt cx="2347595" cy="1337945"/>
          </a:xfrm>
        </p:grpSpPr>
        <p:sp>
          <p:nvSpPr>
            <p:cNvPr id="12" name="object 12"/>
            <p:cNvSpPr/>
            <p:nvPr/>
          </p:nvSpPr>
          <p:spPr>
            <a:xfrm>
              <a:off x="5569837" y="2181588"/>
              <a:ext cx="2337435" cy="0"/>
            </a:xfrm>
            <a:custGeom>
              <a:avLst/>
              <a:gdLst/>
              <a:ahLst/>
              <a:cxnLst/>
              <a:rect l="l" t="t" r="r" b="b"/>
              <a:pathLst>
                <a:path w="2337434">
                  <a:moveTo>
                    <a:pt x="0" y="0"/>
                  </a:moveTo>
                  <a:lnTo>
                    <a:pt x="233706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910159" y="2184836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569837" y="3407712"/>
              <a:ext cx="2337435" cy="0"/>
            </a:xfrm>
            <a:custGeom>
              <a:avLst/>
              <a:gdLst/>
              <a:ahLst/>
              <a:cxnLst/>
              <a:rect l="l" t="t" r="r" b="b"/>
              <a:pathLst>
                <a:path w="2337434">
                  <a:moveTo>
                    <a:pt x="0" y="0"/>
                  </a:moveTo>
                  <a:lnTo>
                    <a:pt x="233706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910159" y="3410959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906902" y="2181589"/>
              <a:ext cx="0" cy="1226185"/>
            </a:xfrm>
            <a:custGeom>
              <a:avLst/>
              <a:gdLst/>
              <a:ahLst/>
              <a:cxnLst/>
              <a:rect l="l" t="t" r="r" b="b"/>
              <a:pathLst>
                <a:path h="1226185">
                  <a:moveTo>
                    <a:pt x="0" y="122612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910159" y="2184836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569837" y="2181588"/>
              <a:ext cx="0" cy="1226185"/>
            </a:xfrm>
            <a:custGeom>
              <a:avLst/>
              <a:gdLst/>
              <a:ahLst/>
              <a:cxnLst/>
              <a:rect l="l" t="t" r="r" b="b"/>
              <a:pathLst>
                <a:path h="1226185">
                  <a:moveTo>
                    <a:pt x="0" y="122612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573100" y="2184835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69837" y="3407712"/>
              <a:ext cx="2337435" cy="0"/>
            </a:xfrm>
            <a:custGeom>
              <a:avLst/>
              <a:gdLst/>
              <a:ahLst/>
              <a:cxnLst/>
              <a:rect l="l" t="t" r="r" b="b"/>
              <a:pathLst>
                <a:path w="2337434">
                  <a:moveTo>
                    <a:pt x="0" y="0"/>
                  </a:moveTo>
                  <a:lnTo>
                    <a:pt x="233706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910159" y="3410959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569837" y="2181588"/>
              <a:ext cx="0" cy="1226185"/>
            </a:xfrm>
            <a:custGeom>
              <a:avLst/>
              <a:gdLst/>
              <a:ahLst/>
              <a:cxnLst/>
              <a:rect l="l" t="t" r="r" b="b"/>
              <a:pathLst>
                <a:path h="1226185">
                  <a:moveTo>
                    <a:pt x="0" y="122612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573100" y="2184835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569837" y="3381573"/>
              <a:ext cx="0" cy="26670"/>
            </a:xfrm>
            <a:custGeom>
              <a:avLst/>
              <a:gdLst/>
              <a:ahLst/>
              <a:cxnLst/>
              <a:rect l="l" t="t" r="r" b="b"/>
              <a:pathLst>
                <a:path h="26670">
                  <a:moveTo>
                    <a:pt x="0" y="2613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573100" y="3384820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569837" y="2181588"/>
              <a:ext cx="0" cy="19685"/>
            </a:xfrm>
            <a:custGeom>
              <a:avLst/>
              <a:gdLst/>
              <a:ahLst/>
              <a:cxnLst/>
              <a:rect l="l" t="t" r="r" b="b"/>
              <a:pathLst>
                <a:path h="19685">
                  <a:moveTo>
                    <a:pt x="0" y="0"/>
                  </a:moveTo>
                  <a:lnTo>
                    <a:pt x="0" y="196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573100" y="2204512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026921" y="3381573"/>
              <a:ext cx="0" cy="26670"/>
            </a:xfrm>
            <a:custGeom>
              <a:avLst/>
              <a:gdLst/>
              <a:ahLst/>
              <a:cxnLst/>
              <a:rect l="l" t="t" r="r" b="b"/>
              <a:pathLst>
                <a:path h="26670">
                  <a:moveTo>
                    <a:pt x="0" y="2613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030177" y="3384820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026921" y="2181588"/>
              <a:ext cx="0" cy="19685"/>
            </a:xfrm>
            <a:custGeom>
              <a:avLst/>
              <a:gdLst/>
              <a:ahLst/>
              <a:cxnLst/>
              <a:rect l="l" t="t" r="r" b="b"/>
              <a:pathLst>
                <a:path h="19685">
                  <a:moveTo>
                    <a:pt x="0" y="0"/>
                  </a:moveTo>
                  <a:lnTo>
                    <a:pt x="0" y="196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030177" y="2204512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483842" y="3381573"/>
              <a:ext cx="0" cy="26670"/>
            </a:xfrm>
            <a:custGeom>
              <a:avLst/>
              <a:gdLst/>
              <a:ahLst/>
              <a:cxnLst/>
              <a:rect l="l" t="t" r="r" b="b"/>
              <a:pathLst>
                <a:path h="26670">
                  <a:moveTo>
                    <a:pt x="0" y="2613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487099" y="3384820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483842" y="2181588"/>
              <a:ext cx="0" cy="19685"/>
            </a:xfrm>
            <a:custGeom>
              <a:avLst/>
              <a:gdLst/>
              <a:ahLst/>
              <a:cxnLst/>
              <a:rect l="l" t="t" r="r" b="b"/>
              <a:pathLst>
                <a:path h="19685">
                  <a:moveTo>
                    <a:pt x="0" y="0"/>
                  </a:moveTo>
                  <a:lnTo>
                    <a:pt x="0" y="196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487099" y="2204512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940829" y="3381573"/>
              <a:ext cx="0" cy="26670"/>
            </a:xfrm>
            <a:custGeom>
              <a:avLst/>
              <a:gdLst/>
              <a:ahLst/>
              <a:cxnLst/>
              <a:rect l="l" t="t" r="r" b="b"/>
              <a:pathLst>
                <a:path h="26670">
                  <a:moveTo>
                    <a:pt x="0" y="2613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944085" y="3384820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940829" y="2181589"/>
              <a:ext cx="0" cy="19685"/>
            </a:xfrm>
            <a:custGeom>
              <a:avLst/>
              <a:gdLst/>
              <a:ahLst/>
              <a:cxnLst/>
              <a:rect l="l" t="t" r="r" b="b"/>
              <a:pathLst>
                <a:path h="19685">
                  <a:moveTo>
                    <a:pt x="0" y="0"/>
                  </a:moveTo>
                  <a:lnTo>
                    <a:pt x="0" y="196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944085" y="2204513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397750" y="3381573"/>
              <a:ext cx="0" cy="26670"/>
            </a:xfrm>
            <a:custGeom>
              <a:avLst/>
              <a:gdLst/>
              <a:ahLst/>
              <a:cxnLst/>
              <a:rect l="l" t="t" r="r" b="b"/>
              <a:pathLst>
                <a:path h="26670">
                  <a:moveTo>
                    <a:pt x="0" y="2613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401007" y="3384820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397750" y="2181589"/>
              <a:ext cx="0" cy="19685"/>
            </a:xfrm>
            <a:custGeom>
              <a:avLst/>
              <a:gdLst/>
              <a:ahLst/>
              <a:cxnLst/>
              <a:rect l="l" t="t" r="r" b="b"/>
              <a:pathLst>
                <a:path h="19685">
                  <a:moveTo>
                    <a:pt x="0" y="0"/>
                  </a:moveTo>
                  <a:lnTo>
                    <a:pt x="0" y="196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401006" y="2204513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854672" y="3381573"/>
              <a:ext cx="0" cy="26670"/>
            </a:xfrm>
            <a:custGeom>
              <a:avLst/>
              <a:gdLst/>
              <a:ahLst/>
              <a:cxnLst/>
              <a:rect l="l" t="t" r="r" b="b"/>
              <a:pathLst>
                <a:path h="26670">
                  <a:moveTo>
                    <a:pt x="0" y="2613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857928" y="3384820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854671" y="2181589"/>
              <a:ext cx="0" cy="19685"/>
            </a:xfrm>
            <a:custGeom>
              <a:avLst/>
              <a:gdLst/>
              <a:ahLst/>
              <a:cxnLst/>
              <a:rect l="l" t="t" r="r" b="b"/>
              <a:pathLst>
                <a:path h="19685">
                  <a:moveTo>
                    <a:pt x="0" y="0"/>
                  </a:moveTo>
                  <a:lnTo>
                    <a:pt x="0" y="1967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857928" y="2204513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569837" y="3407712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20">
                  <a:moveTo>
                    <a:pt x="0" y="0"/>
                  </a:moveTo>
                  <a:lnTo>
                    <a:pt x="197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592800" y="3410959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880852" y="3407712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2605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884109" y="3410959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569837" y="3088159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20">
                  <a:moveTo>
                    <a:pt x="0" y="0"/>
                  </a:moveTo>
                  <a:lnTo>
                    <a:pt x="197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592800" y="3091406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880852" y="3088159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2605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884108" y="3091406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569837" y="2768586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20">
                  <a:moveTo>
                    <a:pt x="0" y="0"/>
                  </a:moveTo>
                  <a:lnTo>
                    <a:pt x="197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592800" y="2771833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880852" y="2768586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2605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884108" y="2771833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569837" y="2449078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20">
                  <a:moveTo>
                    <a:pt x="0" y="0"/>
                  </a:moveTo>
                  <a:lnTo>
                    <a:pt x="197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592800" y="2452326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880852" y="2449079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2605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884108" y="2452326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569837" y="2181588"/>
              <a:ext cx="2337435" cy="0"/>
            </a:xfrm>
            <a:custGeom>
              <a:avLst/>
              <a:gdLst/>
              <a:ahLst/>
              <a:cxnLst/>
              <a:rect l="l" t="t" r="r" b="b"/>
              <a:pathLst>
                <a:path w="2337434">
                  <a:moveTo>
                    <a:pt x="0" y="0"/>
                  </a:moveTo>
                  <a:lnTo>
                    <a:pt x="233706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7910159" y="2184836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569837" y="3407712"/>
              <a:ext cx="2337435" cy="0"/>
            </a:xfrm>
            <a:custGeom>
              <a:avLst/>
              <a:gdLst/>
              <a:ahLst/>
              <a:cxnLst/>
              <a:rect l="l" t="t" r="r" b="b"/>
              <a:pathLst>
                <a:path w="2337434">
                  <a:moveTo>
                    <a:pt x="0" y="0"/>
                  </a:moveTo>
                  <a:lnTo>
                    <a:pt x="233706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7910159" y="3410959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7906902" y="2181589"/>
              <a:ext cx="0" cy="1226185"/>
            </a:xfrm>
            <a:custGeom>
              <a:avLst/>
              <a:gdLst/>
              <a:ahLst/>
              <a:cxnLst/>
              <a:rect l="l" t="t" r="r" b="b"/>
              <a:pathLst>
                <a:path h="1226185">
                  <a:moveTo>
                    <a:pt x="0" y="122612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7910159" y="2184836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569837" y="2181588"/>
              <a:ext cx="0" cy="1226185"/>
            </a:xfrm>
            <a:custGeom>
              <a:avLst/>
              <a:gdLst/>
              <a:ahLst/>
              <a:cxnLst/>
              <a:rect l="l" t="t" r="r" b="b"/>
              <a:pathLst>
                <a:path h="1226185">
                  <a:moveTo>
                    <a:pt x="0" y="122612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573100" y="2184835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569837" y="2181589"/>
              <a:ext cx="1599565" cy="1226185"/>
            </a:xfrm>
            <a:custGeom>
              <a:avLst/>
              <a:gdLst/>
              <a:ahLst/>
              <a:cxnLst/>
              <a:rect l="l" t="t" r="r" b="b"/>
              <a:pathLst>
                <a:path w="1599565" h="1226185">
                  <a:moveTo>
                    <a:pt x="0" y="1226123"/>
                  </a:moveTo>
                  <a:lnTo>
                    <a:pt x="0" y="1036957"/>
                  </a:lnTo>
                </a:path>
                <a:path w="1599565" h="1226185">
                  <a:moveTo>
                    <a:pt x="6519" y="1226123"/>
                  </a:moveTo>
                  <a:lnTo>
                    <a:pt x="6519" y="1023963"/>
                  </a:lnTo>
                </a:path>
                <a:path w="1599565" h="1226185">
                  <a:moveTo>
                    <a:pt x="13187" y="1226123"/>
                  </a:moveTo>
                  <a:lnTo>
                    <a:pt x="13187" y="1043451"/>
                  </a:lnTo>
                </a:path>
                <a:path w="1599565" h="1226185">
                  <a:moveTo>
                    <a:pt x="26219" y="1226123"/>
                  </a:moveTo>
                  <a:lnTo>
                    <a:pt x="26219" y="1030463"/>
                  </a:lnTo>
                </a:path>
                <a:path w="1599565" h="1226185">
                  <a:moveTo>
                    <a:pt x="32732" y="1226123"/>
                  </a:moveTo>
                  <a:lnTo>
                    <a:pt x="32732" y="1017313"/>
                  </a:lnTo>
                </a:path>
                <a:path w="1599565" h="1226185">
                  <a:moveTo>
                    <a:pt x="45757" y="1226123"/>
                  </a:moveTo>
                  <a:lnTo>
                    <a:pt x="45757" y="1010812"/>
                  </a:lnTo>
                </a:path>
                <a:path w="1599565" h="1226185">
                  <a:moveTo>
                    <a:pt x="52276" y="1226123"/>
                  </a:moveTo>
                  <a:lnTo>
                    <a:pt x="52276" y="997824"/>
                  </a:lnTo>
                </a:path>
                <a:path w="1599565" h="1226185">
                  <a:moveTo>
                    <a:pt x="58788" y="1226123"/>
                  </a:moveTo>
                  <a:lnTo>
                    <a:pt x="58788" y="1010812"/>
                  </a:lnTo>
                </a:path>
                <a:path w="1599565" h="1226185">
                  <a:moveTo>
                    <a:pt x="71814" y="1226123"/>
                  </a:moveTo>
                  <a:lnTo>
                    <a:pt x="71814" y="1010812"/>
                  </a:lnTo>
                </a:path>
                <a:path w="1599565" h="1226185">
                  <a:moveTo>
                    <a:pt x="78326" y="1226123"/>
                  </a:moveTo>
                  <a:lnTo>
                    <a:pt x="78326" y="1017313"/>
                  </a:lnTo>
                </a:path>
                <a:path w="1599565" h="1226185">
                  <a:moveTo>
                    <a:pt x="91514" y="1226123"/>
                  </a:moveTo>
                  <a:lnTo>
                    <a:pt x="91514" y="1010812"/>
                  </a:lnTo>
                </a:path>
                <a:path w="1599565" h="1226185">
                  <a:moveTo>
                    <a:pt x="98033" y="1226123"/>
                  </a:moveTo>
                  <a:lnTo>
                    <a:pt x="98033" y="1017313"/>
                  </a:lnTo>
                </a:path>
                <a:path w="1599565" h="1226185">
                  <a:moveTo>
                    <a:pt x="104546" y="1226123"/>
                  </a:moveTo>
                  <a:lnTo>
                    <a:pt x="104546" y="1023963"/>
                  </a:lnTo>
                </a:path>
                <a:path w="1599565" h="1226185">
                  <a:moveTo>
                    <a:pt x="117571" y="1226123"/>
                  </a:moveTo>
                  <a:lnTo>
                    <a:pt x="117571" y="1030463"/>
                  </a:lnTo>
                </a:path>
                <a:path w="1599565" h="1226185">
                  <a:moveTo>
                    <a:pt x="124083" y="1226123"/>
                  </a:moveTo>
                  <a:lnTo>
                    <a:pt x="124083" y="1043451"/>
                  </a:lnTo>
                </a:path>
                <a:path w="1599565" h="1226185">
                  <a:moveTo>
                    <a:pt x="137115" y="1226123"/>
                  </a:moveTo>
                  <a:lnTo>
                    <a:pt x="137115" y="1049945"/>
                  </a:lnTo>
                </a:path>
                <a:path w="1599565" h="1226185">
                  <a:moveTo>
                    <a:pt x="143628" y="1226123"/>
                  </a:moveTo>
                  <a:lnTo>
                    <a:pt x="143628" y="1049945"/>
                  </a:lnTo>
                </a:path>
                <a:path w="1599565" h="1226185">
                  <a:moveTo>
                    <a:pt x="150140" y="1226123"/>
                  </a:moveTo>
                  <a:lnTo>
                    <a:pt x="150140" y="1056446"/>
                  </a:lnTo>
                </a:path>
                <a:path w="1599565" h="1226185">
                  <a:moveTo>
                    <a:pt x="163328" y="1226123"/>
                  </a:moveTo>
                  <a:lnTo>
                    <a:pt x="163328" y="1069590"/>
                  </a:lnTo>
                </a:path>
                <a:path w="1599565" h="1226185">
                  <a:moveTo>
                    <a:pt x="169841" y="1226123"/>
                  </a:moveTo>
                  <a:lnTo>
                    <a:pt x="169841" y="1076090"/>
                  </a:lnTo>
                </a:path>
                <a:path w="1599565" h="1226185">
                  <a:moveTo>
                    <a:pt x="182872" y="1226123"/>
                  </a:moveTo>
                  <a:lnTo>
                    <a:pt x="182872" y="1082584"/>
                  </a:lnTo>
                </a:path>
                <a:path w="1599565" h="1226185">
                  <a:moveTo>
                    <a:pt x="189385" y="1226123"/>
                  </a:moveTo>
                  <a:lnTo>
                    <a:pt x="189385" y="1082584"/>
                  </a:lnTo>
                </a:path>
                <a:path w="1599565" h="1226185">
                  <a:moveTo>
                    <a:pt x="195897" y="1226123"/>
                  </a:moveTo>
                  <a:lnTo>
                    <a:pt x="195897" y="1089079"/>
                  </a:lnTo>
                </a:path>
                <a:path w="1599565" h="1226185">
                  <a:moveTo>
                    <a:pt x="208929" y="1226123"/>
                  </a:moveTo>
                  <a:lnTo>
                    <a:pt x="208929" y="1095573"/>
                  </a:lnTo>
                </a:path>
                <a:path w="1599565" h="1226185">
                  <a:moveTo>
                    <a:pt x="215442" y="1226123"/>
                  </a:moveTo>
                  <a:lnTo>
                    <a:pt x="215442" y="1089079"/>
                  </a:lnTo>
                </a:path>
                <a:path w="1599565" h="1226185">
                  <a:moveTo>
                    <a:pt x="228467" y="1226123"/>
                  </a:moveTo>
                  <a:lnTo>
                    <a:pt x="228467" y="1102229"/>
                  </a:lnTo>
                </a:path>
                <a:path w="1599565" h="1226185">
                  <a:moveTo>
                    <a:pt x="235142" y="1226123"/>
                  </a:moveTo>
                  <a:lnTo>
                    <a:pt x="235142" y="1102229"/>
                  </a:lnTo>
                </a:path>
                <a:path w="1599565" h="1226185">
                  <a:moveTo>
                    <a:pt x="241655" y="1226123"/>
                  </a:moveTo>
                  <a:lnTo>
                    <a:pt x="241655" y="1102229"/>
                  </a:lnTo>
                </a:path>
                <a:path w="1599565" h="1226185">
                  <a:moveTo>
                    <a:pt x="254686" y="1226123"/>
                  </a:moveTo>
                  <a:lnTo>
                    <a:pt x="254686" y="1095573"/>
                  </a:lnTo>
                </a:path>
                <a:path w="1599565" h="1226185">
                  <a:moveTo>
                    <a:pt x="261199" y="1226123"/>
                  </a:moveTo>
                  <a:lnTo>
                    <a:pt x="261199" y="1102229"/>
                  </a:lnTo>
                </a:path>
                <a:path w="1599565" h="1226185">
                  <a:moveTo>
                    <a:pt x="274224" y="1226123"/>
                  </a:moveTo>
                  <a:lnTo>
                    <a:pt x="274224" y="1102229"/>
                  </a:lnTo>
                </a:path>
                <a:path w="1599565" h="1226185">
                  <a:moveTo>
                    <a:pt x="280737" y="1226123"/>
                  </a:moveTo>
                  <a:lnTo>
                    <a:pt x="280737" y="1095573"/>
                  </a:lnTo>
                </a:path>
                <a:path w="1599565" h="1226185">
                  <a:moveTo>
                    <a:pt x="287256" y="1226123"/>
                  </a:moveTo>
                  <a:lnTo>
                    <a:pt x="287256" y="1095573"/>
                  </a:lnTo>
                </a:path>
                <a:path w="1599565" h="1226185">
                  <a:moveTo>
                    <a:pt x="300281" y="1226123"/>
                  </a:moveTo>
                  <a:lnTo>
                    <a:pt x="300281" y="1089079"/>
                  </a:lnTo>
                </a:path>
                <a:path w="1599565" h="1226185">
                  <a:moveTo>
                    <a:pt x="306956" y="1226123"/>
                  </a:moveTo>
                  <a:lnTo>
                    <a:pt x="306956" y="1089079"/>
                  </a:lnTo>
                </a:path>
                <a:path w="1599565" h="1226185">
                  <a:moveTo>
                    <a:pt x="319981" y="1226123"/>
                  </a:moveTo>
                  <a:lnTo>
                    <a:pt x="319981" y="1082584"/>
                  </a:lnTo>
                </a:path>
                <a:path w="1599565" h="1226185">
                  <a:moveTo>
                    <a:pt x="326494" y="1226123"/>
                  </a:moveTo>
                  <a:lnTo>
                    <a:pt x="326494" y="1076090"/>
                  </a:lnTo>
                </a:path>
                <a:path w="1599565" h="1226185">
                  <a:moveTo>
                    <a:pt x="333013" y="1226123"/>
                  </a:moveTo>
                  <a:lnTo>
                    <a:pt x="333013" y="1069590"/>
                  </a:lnTo>
                </a:path>
                <a:path w="1599565" h="1226185">
                  <a:moveTo>
                    <a:pt x="346038" y="1226123"/>
                  </a:moveTo>
                  <a:lnTo>
                    <a:pt x="346038" y="1069590"/>
                  </a:lnTo>
                </a:path>
                <a:path w="1599565" h="1226185">
                  <a:moveTo>
                    <a:pt x="352551" y="1226123"/>
                  </a:moveTo>
                  <a:lnTo>
                    <a:pt x="352551" y="1063096"/>
                  </a:lnTo>
                </a:path>
                <a:path w="1599565" h="1226185">
                  <a:moveTo>
                    <a:pt x="365582" y="1226123"/>
                  </a:moveTo>
                  <a:lnTo>
                    <a:pt x="365582" y="1056446"/>
                  </a:lnTo>
                </a:path>
                <a:path w="1599565" h="1226185">
                  <a:moveTo>
                    <a:pt x="372095" y="1226123"/>
                  </a:moveTo>
                  <a:lnTo>
                    <a:pt x="372095" y="1056446"/>
                  </a:lnTo>
                </a:path>
                <a:path w="1599565" h="1226185">
                  <a:moveTo>
                    <a:pt x="378607" y="1226123"/>
                  </a:moveTo>
                  <a:lnTo>
                    <a:pt x="378607" y="1056446"/>
                  </a:lnTo>
                </a:path>
                <a:path w="1599565" h="1226185">
                  <a:moveTo>
                    <a:pt x="391763" y="1226123"/>
                  </a:moveTo>
                  <a:lnTo>
                    <a:pt x="391763" y="1056446"/>
                  </a:lnTo>
                </a:path>
                <a:path w="1599565" h="1226185">
                  <a:moveTo>
                    <a:pt x="398340" y="1226123"/>
                  </a:moveTo>
                  <a:lnTo>
                    <a:pt x="398340" y="1056446"/>
                  </a:lnTo>
                </a:path>
                <a:path w="1599565" h="1226185">
                  <a:moveTo>
                    <a:pt x="411366" y="1226123"/>
                  </a:moveTo>
                  <a:lnTo>
                    <a:pt x="411365" y="1056446"/>
                  </a:lnTo>
                </a:path>
                <a:path w="1599565" h="1226185">
                  <a:moveTo>
                    <a:pt x="417878" y="1226123"/>
                  </a:moveTo>
                  <a:lnTo>
                    <a:pt x="417878" y="1063096"/>
                  </a:lnTo>
                </a:path>
                <a:path w="1599565" h="1226185">
                  <a:moveTo>
                    <a:pt x="424391" y="1226123"/>
                  </a:moveTo>
                  <a:lnTo>
                    <a:pt x="424391" y="1063096"/>
                  </a:lnTo>
                </a:path>
                <a:path w="1599565" h="1226185">
                  <a:moveTo>
                    <a:pt x="437416" y="1226123"/>
                  </a:moveTo>
                  <a:lnTo>
                    <a:pt x="437416" y="1069590"/>
                  </a:lnTo>
                </a:path>
                <a:path w="1599565" h="1226185">
                  <a:moveTo>
                    <a:pt x="443928" y="1226123"/>
                  </a:moveTo>
                  <a:lnTo>
                    <a:pt x="443928" y="1063096"/>
                  </a:lnTo>
                </a:path>
                <a:path w="1599565" h="1226185">
                  <a:moveTo>
                    <a:pt x="457084" y="1226123"/>
                  </a:moveTo>
                  <a:lnTo>
                    <a:pt x="457084" y="1069590"/>
                  </a:lnTo>
                </a:path>
                <a:path w="1599565" h="1226185">
                  <a:moveTo>
                    <a:pt x="463596" y="1226123"/>
                  </a:moveTo>
                  <a:lnTo>
                    <a:pt x="463596" y="1069590"/>
                  </a:lnTo>
                </a:path>
                <a:path w="1599565" h="1226185">
                  <a:moveTo>
                    <a:pt x="476621" y="1226123"/>
                  </a:moveTo>
                  <a:lnTo>
                    <a:pt x="476621" y="1056446"/>
                  </a:lnTo>
                </a:path>
                <a:path w="1599565" h="1226185">
                  <a:moveTo>
                    <a:pt x="483134" y="1226123"/>
                  </a:moveTo>
                  <a:lnTo>
                    <a:pt x="483134" y="1056446"/>
                  </a:lnTo>
                </a:path>
                <a:path w="1599565" h="1226185">
                  <a:moveTo>
                    <a:pt x="489647" y="1226123"/>
                  </a:moveTo>
                  <a:lnTo>
                    <a:pt x="489646" y="1063096"/>
                  </a:lnTo>
                </a:path>
                <a:path w="1599565" h="1226185">
                  <a:moveTo>
                    <a:pt x="502672" y="1226123"/>
                  </a:moveTo>
                  <a:lnTo>
                    <a:pt x="502672" y="1056446"/>
                  </a:lnTo>
                </a:path>
                <a:path w="1599565" h="1226185">
                  <a:moveTo>
                    <a:pt x="509184" y="1226123"/>
                  </a:moveTo>
                  <a:lnTo>
                    <a:pt x="509184" y="1049945"/>
                  </a:lnTo>
                </a:path>
                <a:path w="1599565" h="1226185">
                  <a:moveTo>
                    <a:pt x="522209" y="1226123"/>
                  </a:moveTo>
                  <a:lnTo>
                    <a:pt x="522209" y="1056446"/>
                  </a:lnTo>
                </a:path>
                <a:path w="1599565" h="1226185">
                  <a:moveTo>
                    <a:pt x="528917" y="1226123"/>
                  </a:moveTo>
                  <a:lnTo>
                    <a:pt x="528917" y="1069590"/>
                  </a:lnTo>
                </a:path>
                <a:path w="1599565" h="1226185">
                  <a:moveTo>
                    <a:pt x="535430" y="1226123"/>
                  </a:moveTo>
                  <a:lnTo>
                    <a:pt x="535430" y="1063096"/>
                  </a:lnTo>
                </a:path>
                <a:path w="1599565" h="1226185">
                  <a:moveTo>
                    <a:pt x="548455" y="1226123"/>
                  </a:moveTo>
                  <a:lnTo>
                    <a:pt x="548455" y="1049945"/>
                  </a:lnTo>
                </a:path>
                <a:path w="1599565" h="1226185">
                  <a:moveTo>
                    <a:pt x="554968" y="1226123"/>
                  </a:moveTo>
                  <a:lnTo>
                    <a:pt x="554967" y="1043451"/>
                  </a:lnTo>
                </a:path>
                <a:path w="1599565" h="1226185">
                  <a:moveTo>
                    <a:pt x="567993" y="1226123"/>
                  </a:moveTo>
                  <a:lnTo>
                    <a:pt x="567993" y="1043451"/>
                  </a:lnTo>
                </a:path>
                <a:path w="1599565" h="1226185">
                  <a:moveTo>
                    <a:pt x="574505" y="1226123"/>
                  </a:moveTo>
                  <a:lnTo>
                    <a:pt x="574505" y="1030463"/>
                  </a:lnTo>
                </a:path>
                <a:path w="1599565" h="1226185">
                  <a:moveTo>
                    <a:pt x="581018" y="1226123"/>
                  </a:moveTo>
                  <a:lnTo>
                    <a:pt x="581018" y="1023963"/>
                  </a:lnTo>
                </a:path>
                <a:path w="1599565" h="1226185">
                  <a:moveTo>
                    <a:pt x="594043" y="1226123"/>
                  </a:moveTo>
                  <a:lnTo>
                    <a:pt x="594043" y="1030463"/>
                  </a:lnTo>
                </a:path>
                <a:path w="1599565" h="1226185">
                  <a:moveTo>
                    <a:pt x="600555" y="1226123"/>
                  </a:moveTo>
                  <a:lnTo>
                    <a:pt x="600555" y="1023963"/>
                  </a:lnTo>
                </a:path>
                <a:path w="1599565" h="1226185">
                  <a:moveTo>
                    <a:pt x="613776" y="1226123"/>
                  </a:moveTo>
                  <a:lnTo>
                    <a:pt x="613776" y="1010812"/>
                  </a:lnTo>
                </a:path>
                <a:path w="1599565" h="1226185">
                  <a:moveTo>
                    <a:pt x="620289" y="1226123"/>
                  </a:moveTo>
                  <a:lnTo>
                    <a:pt x="620288" y="1010812"/>
                  </a:lnTo>
                </a:path>
                <a:path w="1599565" h="1226185">
                  <a:moveTo>
                    <a:pt x="626801" y="1226123"/>
                  </a:moveTo>
                  <a:lnTo>
                    <a:pt x="626801" y="1010812"/>
                  </a:lnTo>
                </a:path>
                <a:path w="1599565" h="1226185">
                  <a:moveTo>
                    <a:pt x="639826" y="1226123"/>
                  </a:moveTo>
                  <a:lnTo>
                    <a:pt x="639826" y="1004318"/>
                  </a:lnTo>
                </a:path>
                <a:path w="1599565" h="1226185">
                  <a:moveTo>
                    <a:pt x="646339" y="1226123"/>
                  </a:moveTo>
                  <a:lnTo>
                    <a:pt x="646339" y="1004318"/>
                  </a:lnTo>
                </a:path>
                <a:path w="1599565" h="1226185">
                  <a:moveTo>
                    <a:pt x="659364" y="1226123"/>
                  </a:moveTo>
                  <a:lnTo>
                    <a:pt x="659364" y="1004318"/>
                  </a:lnTo>
                </a:path>
                <a:path w="1599565" h="1226185">
                  <a:moveTo>
                    <a:pt x="665876" y="1226123"/>
                  </a:moveTo>
                  <a:lnTo>
                    <a:pt x="665876" y="1017313"/>
                  </a:lnTo>
                </a:path>
                <a:path w="1599565" h="1226185">
                  <a:moveTo>
                    <a:pt x="672389" y="1226123"/>
                  </a:moveTo>
                  <a:lnTo>
                    <a:pt x="672389" y="1010812"/>
                  </a:lnTo>
                </a:path>
                <a:path w="1599565" h="1226185">
                  <a:moveTo>
                    <a:pt x="685544" y="1226123"/>
                  </a:moveTo>
                  <a:lnTo>
                    <a:pt x="685544" y="1010812"/>
                  </a:lnTo>
                </a:path>
                <a:path w="1599565" h="1226185">
                  <a:moveTo>
                    <a:pt x="692057" y="1226123"/>
                  </a:moveTo>
                  <a:lnTo>
                    <a:pt x="692057" y="1010812"/>
                  </a:lnTo>
                </a:path>
                <a:path w="1599565" h="1226185">
                  <a:moveTo>
                    <a:pt x="705082" y="1226123"/>
                  </a:moveTo>
                  <a:lnTo>
                    <a:pt x="705082" y="991330"/>
                  </a:lnTo>
                </a:path>
                <a:path w="1599565" h="1226185">
                  <a:moveTo>
                    <a:pt x="711595" y="1226123"/>
                  </a:moveTo>
                  <a:lnTo>
                    <a:pt x="711595" y="984830"/>
                  </a:lnTo>
                </a:path>
                <a:path w="1599565" h="1226185">
                  <a:moveTo>
                    <a:pt x="718107" y="1226123"/>
                  </a:moveTo>
                  <a:lnTo>
                    <a:pt x="718107" y="984830"/>
                  </a:lnTo>
                </a:path>
                <a:path w="1599565" h="1226185">
                  <a:moveTo>
                    <a:pt x="731132" y="1226123"/>
                  </a:moveTo>
                  <a:lnTo>
                    <a:pt x="731132" y="971686"/>
                  </a:lnTo>
                </a:path>
                <a:path w="1599565" h="1226185">
                  <a:moveTo>
                    <a:pt x="737645" y="1226123"/>
                  </a:moveTo>
                  <a:lnTo>
                    <a:pt x="737645" y="965185"/>
                  </a:lnTo>
                </a:path>
                <a:path w="1599565" h="1226185">
                  <a:moveTo>
                    <a:pt x="750865" y="1226123"/>
                  </a:moveTo>
                  <a:lnTo>
                    <a:pt x="750865" y="952197"/>
                  </a:lnTo>
                </a:path>
                <a:path w="1599565" h="1226185">
                  <a:moveTo>
                    <a:pt x="757378" y="1226123"/>
                  </a:moveTo>
                  <a:lnTo>
                    <a:pt x="757378" y="932552"/>
                  </a:lnTo>
                </a:path>
                <a:path w="1599565" h="1226185">
                  <a:moveTo>
                    <a:pt x="763891" y="1226123"/>
                  </a:moveTo>
                  <a:lnTo>
                    <a:pt x="763890" y="913064"/>
                  </a:lnTo>
                </a:path>
                <a:path w="1599565" h="1226185">
                  <a:moveTo>
                    <a:pt x="776916" y="1226123"/>
                  </a:moveTo>
                  <a:lnTo>
                    <a:pt x="776916" y="899913"/>
                  </a:lnTo>
                </a:path>
                <a:path w="1599565" h="1226185">
                  <a:moveTo>
                    <a:pt x="783428" y="1226123"/>
                  </a:moveTo>
                  <a:lnTo>
                    <a:pt x="783428" y="886925"/>
                  </a:lnTo>
                </a:path>
                <a:path w="1599565" h="1226185">
                  <a:moveTo>
                    <a:pt x="796453" y="1226123"/>
                  </a:moveTo>
                  <a:lnTo>
                    <a:pt x="796453" y="873931"/>
                  </a:lnTo>
                </a:path>
                <a:path w="1599565" h="1226185">
                  <a:moveTo>
                    <a:pt x="802966" y="1226123"/>
                  </a:moveTo>
                  <a:lnTo>
                    <a:pt x="802966" y="867436"/>
                  </a:lnTo>
                </a:path>
                <a:path w="1599565" h="1226185">
                  <a:moveTo>
                    <a:pt x="809478" y="1226123"/>
                  </a:moveTo>
                  <a:lnTo>
                    <a:pt x="809478" y="847798"/>
                  </a:lnTo>
                </a:path>
                <a:path w="1599565" h="1226185">
                  <a:moveTo>
                    <a:pt x="822504" y="1226123"/>
                  </a:moveTo>
                  <a:lnTo>
                    <a:pt x="822503" y="860942"/>
                  </a:lnTo>
                </a:path>
                <a:path w="1599565" h="1226185">
                  <a:moveTo>
                    <a:pt x="829211" y="1226123"/>
                  </a:moveTo>
                  <a:lnTo>
                    <a:pt x="829211" y="854292"/>
                  </a:lnTo>
                </a:path>
                <a:path w="1599565" h="1226185">
                  <a:moveTo>
                    <a:pt x="842237" y="1226123"/>
                  </a:moveTo>
                  <a:lnTo>
                    <a:pt x="842237" y="854292"/>
                  </a:lnTo>
                </a:path>
                <a:path w="1599565" h="1226185">
                  <a:moveTo>
                    <a:pt x="848749" y="1226123"/>
                  </a:moveTo>
                  <a:lnTo>
                    <a:pt x="848749" y="854292"/>
                  </a:lnTo>
                </a:path>
                <a:path w="1599565" h="1226185">
                  <a:moveTo>
                    <a:pt x="855262" y="1226123"/>
                  </a:moveTo>
                  <a:lnTo>
                    <a:pt x="855262" y="860942"/>
                  </a:lnTo>
                </a:path>
                <a:path w="1599565" h="1226185">
                  <a:moveTo>
                    <a:pt x="868287" y="1226123"/>
                  </a:moveTo>
                  <a:lnTo>
                    <a:pt x="868287" y="847798"/>
                  </a:lnTo>
                </a:path>
                <a:path w="1599565" h="1226185">
                  <a:moveTo>
                    <a:pt x="874799" y="1226123"/>
                  </a:moveTo>
                  <a:lnTo>
                    <a:pt x="874799" y="841304"/>
                  </a:lnTo>
                </a:path>
                <a:path w="1599565" h="1226185">
                  <a:moveTo>
                    <a:pt x="887825" y="1226123"/>
                  </a:moveTo>
                  <a:lnTo>
                    <a:pt x="887824" y="847798"/>
                  </a:lnTo>
                </a:path>
                <a:path w="1599565" h="1226185">
                  <a:moveTo>
                    <a:pt x="894337" y="1226123"/>
                  </a:moveTo>
                  <a:lnTo>
                    <a:pt x="894337" y="847798"/>
                  </a:lnTo>
                </a:path>
                <a:path w="1599565" h="1226185">
                  <a:moveTo>
                    <a:pt x="900980" y="1226123"/>
                  </a:moveTo>
                  <a:lnTo>
                    <a:pt x="900980" y="841304"/>
                  </a:lnTo>
                </a:path>
                <a:path w="1599565" h="1226185">
                  <a:moveTo>
                    <a:pt x="914005" y="1226123"/>
                  </a:moveTo>
                  <a:lnTo>
                    <a:pt x="914005" y="841304"/>
                  </a:lnTo>
                </a:path>
                <a:path w="1599565" h="1226185">
                  <a:moveTo>
                    <a:pt x="920518" y="1226123"/>
                  </a:moveTo>
                  <a:lnTo>
                    <a:pt x="920518" y="834810"/>
                  </a:lnTo>
                </a:path>
                <a:path w="1599565" h="1226185">
                  <a:moveTo>
                    <a:pt x="933543" y="1226123"/>
                  </a:moveTo>
                  <a:lnTo>
                    <a:pt x="933543" y="828316"/>
                  </a:lnTo>
                </a:path>
                <a:path w="1599565" h="1226185">
                  <a:moveTo>
                    <a:pt x="940055" y="1226123"/>
                  </a:moveTo>
                  <a:lnTo>
                    <a:pt x="940055" y="841304"/>
                  </a:lnTo>
                </a:path>
                <a:path w="1599565" h="1226185">
                  <a:moveTo>
                    <a:pt x="953080" y="1226123"/>
                  </a:moveTo>
                  <a:lnTo>
                    <a:pt x="953080" y="841304"/>
                  </a:lnTo>
                </a:path>
                <a:path w="1599565" h="1226185">
                  <a:moveTo>
                    <a:pt x="959593" y="1226123"/>
                  </a:moveTo>
                  <a:lnTo>
                    <a:pt x="959593" y="828316"/>
                  </a:lnTo>
                </a:path>
                <a:path w="1599565" h="1226185">
                  <a:moveTo>
                    <a:pt x="966171" y="1226123"/>
                  </a:moveTo>
                  <a:lnTo>
                    <a:pt x="966171" y="841304"/>
                  </a:lnTo>
                </a:path>
                <a:path w="1599565" h="1226185">
                  <a:moveTo>
                    <a:pt x="979326" y="1226123"/>
                  </a:moveTo>
                  <a:lnTo>
                    <a:pt x="979326" y="847798"/>
                  </a:lnTo>
                </a:path>
                <a:path w="1599565" h="1226185">
                  <a:moveTo>
                    <a:pt x="985839" y="1226123"/>
                  </a:moveTo>
                  <a:lnTo>
                    <a:pt x="985839" y="815133"/>
                  </a:lnTo>
                </a:path>
                <a:path w="1599565" h="1226185">
                  <a:moveTo>
                    <a:pt x="998864" y="1226123"/>
                  </a:moveTo>
                  <a:lnTo>
                    <a:pt x="998864" y="808639"/>
                  </a:lnTo>
                </a:path>
                <a:path w="1599565" h="1226185">
                  <a:moveTo>
                    <a:pt x="1005376" y="1226123"/>
                  </a:moveTo>
                  <a:lnTo>
                    <a:pt x="1005376" y="815133"/>
                  </a:lnTo>
                </a:path>
                <a:path w="1599565" h="1226185">
                  <a:moveTo>
                    <a:pt x="1011889" y="1226123"/>
                  </a:moveTo>
                  <a:lnTo>
                    <a:pt x="1011889" y="808639"/>
                  </a:lnTo>
                </a:path>
                <a:path w="1599565" h="1226185">
                  <a:moveTo>
                    <a:pt x="1024914" y="1226123"/>
                  </a:moveTo>
                  <a:lnTo>
                    <a:pt x="1024914" y="821822"/>
                  </a:lnTo>
                </a:path>
                <a:path w="1599565" h="1226185">
                  <a:moveTo>
                    <a:pt x="1031427" y="1226123"/>
                  </a:moveTo>
                  <a:lnTo>
                    <a:pt x="1031426" y="815133"/>
                  </a:lnTo>
                </a:path>
                <a:path w="1599565" h="1226185">
                  <a:moveTo>
                    <a:pt x="1044647" y="1226123"/>
                  </a:moveTo>
                  <a:lnTo>
                    <a:pt x="1044647" y="834810"/>
                  </a:lnTo>
                </a:path>
                <a:path w="1599565" h="1226185">
                  <a:moveTo>
                    <a:pt x="1051160" y="1226123"/>
                  </a:moveTo>
                  <a:lnTo>
                    <a:pt x="1051160" y="841304"/>
                  </a:lnTo>
                </a:path>
                <a:path w="1599565" h="1226185">
                  <a:moveTo>
                    <a:pt x="1057672" y="1226123"/>
                  </a:moveTo>
                  <a:lnTo>
                    <a:pt x="1057672" y="841304"/>
                  </a:lnTo>
                </a:path>
                <a:path w="1599565" h="1226185">
                  <a:moveTo>
                    <a:pt x="1070697" y="1226123"/>
                  </a:moveTo>
                  <a:lnTo>
                    <a:pt x="1070697" y="860942"/>
                  </a:lnTo>
                </a:path>
                <a:path w="1599565" h="1226185">
                  <a:moveTo>
                    <a:pt x="1077210" y="1226123"/>
                  </a:moveTo>
                  <a:lnTo>
                    <a:pt x="1077210" y="867436"/>
                  </a:lnTo>
                </a:path>
                <a:path w="1599565" h="1226185">
                  <a:moveTo>
                    <a:pt x="1090235" y="1226123"/>
                  </a:moveTo>
                  <a:lnTo>
                    <a:pt x="1090235" y="880425"/>
                  </a:lnTo>
                </a:path>
                <a:path w="1599565" h="1226185">
                  <a:moveTo>
                    <a:pt x="1096748" y="1226123"/>
                  </a:moveTo>
                  <a:lnTo>
                    <a:pt x="1096747" y="880425"/>
                  </a:lnTo>
                </a:path>
                <a:path w="1599565" h="1226185">
                  <a:moveTo>
                    <a:pt x="1103260" y="1226123"/>
                  </a:moveTo>
                  <a:lnTo>
                    <a:pt x="1103260" y="880425"/>
                  </a:lnTo>
                </a:path>
                <a:path w="1599565" h="1226185">
                  <a:moveTo>
                    <a:pt x="1116285" y="1226123"/>
                  </a:moveTo>
                  <a:lnTo>
                    <a:pt x="1116285" y="873931"/>
                  </a:lnTo>
                </a:path>
                <a:path w="1599565" h="1226185">
                  <a:moveTo>
                    <a:pt x="1122928" y="1226123"/>
                  </a:moveTo>
                  <a:lnTo>
                    <a:pt x="1122928" y="880425"/>
                  </a:lnTo>
                </a:path>
                <a:path w="1599565" h="1226185">
                  <a:moveTo>
                    <a:pt x="1135953" y="1226123"/>
                  </a:moveTo>
                  <a:lnTo>
                    <a:pt x="1135953" y="899913"/>
                  </a:lnTo>
                </a:path>
                <a:path w="1599565" h="1226185">
                  <a:moveTo>
                    <a:pt x="1142466" y="1226123"/>
                  </a:moveTo>
                  <a:lnTo>
                    <a:pt x="1142466" y="899913"/>
                  </a:lnTo>
                </a:path>
                <a:path w="1599565" h="1226185">
                  <a:moveTo>
                    <a:pt x="1148978" y="1226123"/>
                  </a:moveTo>
                  <a:lnTo>
                    <a:pt x="1148978" y="893419"/>
                  </a:lnTo>
                </a:path>
                <a:path w="1599565" h="1226185">
                  <a:moveTo>
                    <a:pt x="1162003" y="1226123"/>
                  </a:moveTo>
                  <a:lnTo>
                    <a:pt x="1162003" y="893419"/>
                  </a:lnTo>
                </a:path>
                <a:path w="1599565" h="1226185">
                  <a:moveTo>
                    <a:pt x="1168581" y="1226123"/>
                  </a:moveTo>
                  <a:lnTo>
                    <a:pt x="1168581" y="899913"/>
                  </a:lnTo>
                </a:path>
                <a:path w="1599565" h="1226185">
                  <a:moveTo>
                    <a:pt x="1181606" y="1226123"/>
                  </a:moveTo>
                  <a:lnTo>
                    <a:pt x="1181606" y="886925"/>
                  </a:lnTo>
                </a:path>
                <a:path w="1599565" h="1226185">
                  <a:moveTo>
                    <a:pt x="1188119" y="1226123"/>
                  </a:moveTo>
                  <a:lnTo>
                    <a:pt x="1188119" y="893419"/>
                  </a:lnTo>
                </a:path>
                <a:path w="1599565" h="1226185">
                  <a:moveTo>
                    <a:pt x="1194762" y="1226123"/>
                  </a:moveTo>
                  <a:lnTo>
                    <a:pt x="1194762" y="893419"/>
                  </a:lnTo>
                </a:path>
                <a:path w="1599565" h="1226185">
                  <a:moveTo>
                    <a:pt x="1207787" y="1226123"/>
                  </a:moveTo>
                  <a:lnTo>
                    <a:pt x="1207787" y="899913"/>
                  </a:lnTo>
                </a:path>
                <a:path w="1599565" h="1226185">
                  <a:moveTo>
                    <a:pt x="1214299" y="1226123"/>
                  </a:moveTo>
                  <a:lnTo>
                    <a:pt x="1214299" y="906570"/>
                  </a:lnTo>
                </a:path>
                <a:path w="1599565" h="1226185">
                  <a:moveTo>
                    <a:pt x="1227324" y="1226123"/>
                  </a:moveTo>
                  <a:lnTo>
                    <a:pt x="1227324" y="913064"/>
                  </a:lnTo>
                </a:path>
                <a:path w="1599565" h="1226185">
                  <a:moveTo>
                    <a:pt x="1233837" y="1226123"/>
                  </a:moveTo>
                  <a:lnTo>
                    <a:pt x="1233837" y="919558"/>
                  </a:lnTo>
                </a:path>
                <a:path w="1599565" h="1226185">
                  <a:moveTo>
                    <a:pt x="1240350" y="1226123"/>
                  </a:moveTo>
                  <a:lnTo>
                    <a:pt x="1240349" y="932552"/>
                  </a:lnTo>
                </a:path>
                <a:path w="1599565" h="1226185">
                  <a:moveTo>
                    <a:pt x="1253375" y="1226123"/>
                  </a:moveTo>
                  <a:lnTo>
                    <a:pt x="1253375" y="926052"/>
                  </a:lnTo>
                </a:path>
                <a:path w="1599565" h="1226185">
                  <a:moveTo>
                    <a:pt x="1259887" y="1226123"/>
                  </a:moveTo>
                  <a:lnTo>
                    <a:pt x="1259887" y="945703"/>
                  </a:lnTo>
                </a:path>
                <a:path w="1599565" h="1226185">
                  <a:moveTo>
                    <a:pt x="1273108" y="1226123"/>
                  </a:moveTo>
                  <a:lnTo>
                    <a:pt x="1273108" y="932552"/>
                  </a:lnTo>
                </a:path>
                <a:path w="1599565" h="1226185">
                  <a:moveTo>
                    <a:pt x="1279620" y="1226123"/>
                  </a:moveTo>
                  <a:lnTo>
                    <a:pt x="1279620" y="945703"/>
                  </a:lnTo>
                </a:path>
                <a:path w="1599565" h="1226185">
                  <a:moveTo>
                    <a:pt x="1286133" y="1226123"/>
                  </a:moveTo>
                  <a:lnTo>
                    <a:pt x="1286133" y="945703"/>
                  </a:lnTo>
                </a:path>
                <a:path w="1599565" h="1226185">
                  <a:moveTo>
                    <a:pt x="1299158" y="1226123"/>
                  </a:moveTo>
                  <a:lnTo>
                    <a:pt x="1299158" y="945703"/>
                  </a:lnTo>
                </a:path>
                <a:path w="1599565" h="1226185">
                  <a:moveTo>
                    <a:pt x="1305671" y="1226123"/>
                  </a:moveTo>
                  <a:lnTo>
                    <a:pt x="1305670" y="952197"/>
                  </a:lnTo>
                </a:path>
                <a:path w="1599565" h="1226185">
                  <a:moveTo>
                    <a:pt x="1318696" y="1226123"/>
                  </a:moveTo>
                  <a:lnTo>
                    <a:pt x="1318696" y="939046"/>
                  </a:lnTo>
                </a:path>
                <a:path w="1599565" h="1226185">
                  <a:moveTo>
                    <a:pt x="1325208" y="1226123"/>
                  </a:moveTo>
                  <a:lnTo>
                    <a:pt x="1325208" y="926052"/>
                  </a:lnTo>
                </a:path>
                <a:path w="1599565" h="1226185">
                  <a:moveTo>
                    <a:pt x="1331721" y="1226123"/>
                  </a:moveTo>
                  <a:lnTo>
                    <a:pt x="1331721" y="932552"/>
                  </a:lnTo>
                </a:path>
                <a:path w="1599565" h="1226185">
                  <a:moveTo>
                    <a:pt x="1344876" y="1226123"/>
                  </a:moveTo>
                  <a:lnTo>
                    <a:pt x="1344876" y="945703"/>
                  </a:lnTo>
                </a:path>
                <a:path w="1599565" h="1226185">
                  <a:moveTo>
                    <a:pt x="1351389" y="1226123"/>
                  </a:moveTo>
                  <a:lnTo>
                    <a:pt x="1351389" y="939046"/>
                  </a:lnTo>
                </a:path>
                <a:path w="1599565" h="1226185">
                  <a:moveTo>
                    <a:pt x="1364414" y="1226123"/>
                  </a:moveTo>
                  <a:lnTo>
                    <a:pt x="1364414" y="939046"/>
                  </a:lnTo>
                </a:path>
                <a:path w="1599565" h="1226185">
                  <a:moveTo>
                    <a:pt x="1370992" y="1226123"/>
                  </a:moveTo>
                  <a:lnTo>
                    <a:pt x="1370991" y="926052"/>
                  </a:lnTo>
                </a:path>
                <a:path w="1599565" h="1226185">
                  <a:moveTo>
                    <a:pt x="1377504" y="1226123"/>
                  </a:moveTo>
                  <a:lnTo>
                    <a:pt x="1377504" y="919558"/>
                  </a:lnTo>
                </a:path>
                <a:path w="1599565" h="1226185">
                  <a:moveTo>
                    <a:pt x="1390529" y="1226123"/>
                  </a:moveTo>
                  <a:lnTo>
                    <a:pt x="1390529" y="913064"/>
                  </a:lnTo>
                </a:path>
                <a:path w="1599565" h="1226185">
                  <a:moveTo>
                    <a:pt x="1397042" y="1226123"/>
                  </a:moveTo>
                  <a:lnTo>
                    <a:pt x="1397042" y="899913"/>
                  </a:lnTo>
                </a:path>
                <a:path w="1599565" h="1226185">
                  <a:moveTo>
                    <a:pt x="1410067" y="1226123"/>
                  </a:moveTo>
                  <a:lnTo>
                    <a:pt x="1410067" y="880425"/>
                  </a:lnTo>
                </a:path>
                <a:path w="1599565" h="1226185">
                  <a:moveTo>
                    <a:pt x="1416710" y="1226123"/>
                  </a:moveTo>
                  <a:lnTo>
                    <a:pt x="1416710" y="854293"/>
                  </a:lnTo>
                </a:path>
                <a:path w="1599565" h="1226185">
                  <a:moveTo>
                    <a:pt x="1429735" y="1226123"/>
                  </a:moveTo>
                  <a:lnTo>
                    <a:pt x="1429735" y="847799"/>
                  </a:lnTo>
                </a:path>
                <a:path w="1599565" h="1226185">
                  <a:moveTo>
                    <a:pt x="1436247" y="1226123"/>
                  </a:moveTo>
                  <a:lnTo>
                    <a:pt x="1436247" y="821822"/>
                  </a:lnTo>
                </a:path>
                <a:path w="1599565" h="1226185">
                  <a:moveTo>
                    <a:pt x="1442760" y="1226123"/>
                  </a:moveTo>
                  <a:lnTo>
                    <a:pt x="1442760" y="802145"/>
                  </a:lnTo>
                </a:path>
                <a:path w="1599565" h="1226185">
                  <a:moveTo>
                    <a:pt x="1455785" y="1226123"/>
                  </a:moveTo>
                  <a:lnTo>
                    <a:pt x="1455785" y="750063"/>
                  </a:lnTo>
                </a:path>
                <a:path w="1599565" h="1226185">
                  <a:moveTo>
                    <a:pt x="1462298" y="1226123"/>
                  </a:moveTo>
                  <a:lnTo>
                    <a:pt x="1462298" y="639144"/>
                  </a:lnTo>
                </a:path>
                <a:path w="1599565" h="1226185">
                  <a:moveTo>
                    <a:pt x="1475323" y="1226123"/>
                  </a:moveTo>
                  <a:lnTo>
                    <a:pt x="1475323" y="482638"/>
                  </a:lnTo>
                </a:path>
                <a:path w="1599565" h="1226185">
                  <a:moveTo>
                    <a:pt x="1481835" y="1226123"/>
                  </a:moveTo>
                  <a:lnTo>
                    <a:pt x="1481835" y="430490"/>
                  </a:lnTo>
                </a:path>
                <a:path w="1599565" h="1226185">
                  <a:moveTo>
                    <a:pt x="1488543" y="1226123"/>
                  </a:moveTo>
                  <a:lnTo>
                    <a:pt x="1488543" y="286972"/>
                  </a:lnTo>
                </a:path>
                <a:path w="1599565" h="1226185">
                  <a:moveTo>
                    <a:pt x="1501568" y="1226123"/>
                  </a:moveTo>
                  <a:lnTo>
                    <a:pt x="1501568" y="91306"/>
                  </a:lnTo>
                </a:path>
                <a:path w="1599565" h="1226185">
                  <a:moveTo>
                    <a:pt x="1508081" y="1226123"/>
                  </a:moveTo>
                  <a:lnTo>
                    <a:pt x="1508081" y="150077"/>
                  </a:lnTo>
                </a:path>
                <a:path w="1599565" h="1226185">
                  <a:moveTo>
                    <a:pt x="1521106" y="1226123"/>
                  </a:moveTo>
                  <a:lnTo>
                    <a:pt x="1521106" y="39159"/>
                  </a:lnTo>
                </a:path>
                <a:path w="1599565" h="1226185">
                  <a:moveTo>
                    <a:pt x="1527619" y="1226123"/>
                  </a:moveTo>
                  <a:lnTo>
                    <a:pt x="1527618" y="0"/>
                  </a:lnTo>
                </a:path>
                <a:path w="1599565" h="1226185">
                  <a:moveTo>
                    <a:pt x="1534131" y="1226123"/>
                  </a:moveTo>
                  <a:lnTo>
                    <a:pt x="1534131" y="137089"/>
                  </a:lnTo>
                </a:path>
                <a:path w="1599565" h="1226185">
                  <a:moveTo>
                    <a:pt x="1547156" y="1226123"/>
                  </a:moveTo>
                  <a:lnTo>
                    <a:pt x="1547156" y="97930"/>
                  </a:lnTo>
                </a:path>
                <a:path w="1599565" h="1226185">
                  <a:moveTo>
                    <a:pt x="1553669" y="1226123"/>
                  </a:moveTo>
                  <a:lnTo>
                    <a:pt x="1553669" y="0"/>
                  </a:lnTo>
                </a:path>
                <a:path w="1599565" h="1226185">
                  <a:moveTo>
                    <a:pt x="1566824" y="1226123"/>
                  </a:moveTo>
                  <a:lnTo>
                    <a:pt x="1566824" y="0"/>
                  </a:lnTo>
                </a:path>
                <a:path w="1599565" h="1226185">
                  <a:moveTo>
                    <a:pt x="1573402" y="1226123"/>
                  </a:moveTo>
                  <a:lnTo>
                    <a:pt x="1573402" y="0"/>
                  </a:lnTo>
                </a:path>
                <a:path w="1599565" h="1226185">
                  <a:moveTo>
                    <a:pt x="1579915" y="1226123"/>
                  </a:moveTo>
                  <a:lnTo>
                    <a:pt x="1579914" y="0"/>
                  </a:lnTo>
                </a:path>
                <a:path w="1599565" h="1226185">
                  <a:moveTo>
                    <a:pt x="1592940" y="1226123"/>
                  </a:moveTo>
                  <a:lnTo>
                    <a:pt x="1592939" y="0"/>
                  </a:lnTo>
                </a:path>
                <a:path w="1599565" h="1226185">
                  <a:moveTo>
                    <a:pt x="1599452" y="1226123"/>
                  </a:moveTo>
                  <a:lnTo>
                    <a:pt x="1599452" y="0"/>
                  </a:lnTo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7182314" y="2180998"/>
              <a:ext cx="0" cy="1226820"/>
            </a:xfrm>
            <a:custGeom>
              <a:avLst/>
              <a:gdLst/>
              <a:ahLst/>
              <a:cxnLst/>
              <a:rect l="l" t="t" r="r" b="b"/>
              <a:pathLst>
                <a:path h="1226820">
                  <a:moveTo>
                    <a:pt x="0" y="122671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188827" y="2181589"/>
              <a:ext cx="718185" cy="1226185"/>
            </a:xfrm>
            <a:custGeom>
              <a:avLst/>
              <a:gdLst/>
              <a:ahLst/>
              <a:cxnLst/>
              <a:rect l="l" t="t" r="r" b="b"/>
              <a:pathLst>
                <a:path w="718184" h="1226185">
                  <a:moveTo>
                    <a:pt x="0" y="1226123"/>
                  </a:moveTo>
                  <a:lnTo>
                    <a:pt x="0" y="0"/>
                  </a:lnTo>
                </a:path>
                <a:path w="718184" h="1226185">
                  <a:moveTo>
                    <a:pt x="6512" y="1226123"/>
                  </a:moveTo>
                  <a:lnTo>
                    <a:pt x="6512" y="0"/>
                  </a:lnTo>
                </a:path>
                <a:path w="718184" h="1226185">
                  <a:moveTo>
                    <a:pt x="19668" y="1226123"/>
                  </a:moveTo>
                  <a:lnTo>
                    <a:pt x="19667" y="0"/>
                  </a:lnTo>
                </a:path>
                <a:path w="718184" h="1226185">
                  <a:moveTo>
                    <a:pt x="26180" y="1226123"/>
                  </a:moveTo>
                  <a:lnTo>
                    <a:pt x="26180" y="0"/>
                  </a:lnTo>
                </a:path>
                <a:path w="718184" h="1226185">
                  <a:moveTo>
                    <a:pt x="39205" y="1226123"/>
                  </a:moveTo>
                  <a:lnTo>
                    <a:pt x="39205" y="0"/>
                  </a:lnTo>
                </a:path>
                <a:path w="718184" h="1226185">
                  <a:moveTo>
                    <a:pt x="45718" y="1226123"/>
                  </a:moveTo>
                  <a:lnTo>
                    <a:pt x="45718" y="0"/>
                  </a:lnTo>
                </a:path>
                <a:path w="718184" h="1226185">
                  <a:moveTo>
                    <a:pt x="52231" y="1226123"/>
                  </a:moveTo>
                  <a:lnTo>
                    <a:pt x="52230" y="0"/>
                  </a:lnTo>
                </a:path>
                <a:path w="718184" h="1226185">
                  <a:moveTo>
                    <a:pt x="65256" y="1226123"/>
                  </a:moveTo>
                  <a:lnTo>
                    <a:pt x="65255" y="0"/>
                  </a:lnTo>
                </a:path>
                <a:path w="718184" h="1226185">
                  <a:moveTo>
                    <a:pt x="71768" y="1226123"/>
                  </a:moveTo>
                  <a:lnTo>
                    <a:pt x="71768" y="0"/>
                  </a:lnTo>
                </a:path>
                <a:path w="718184" h="1226185">
                  <a:moveTo>
                    <a:pt x="84793" y="1226123"/>
                  </a:moveTo>
                  <a:lnTo>
                    <a:pt x="84793" y="234825"/>
                  </a:lnTo>
                </a:path>
                <a:path w="718184" h="1226185">
                  <a:moveTo>
                    <a:pt x="91501" y="1226123"/>
                  </a:moveTo>
                  <a:lnTo>
                    <a:pt x="91501" y="32665"/>
                  </a:lnTo>
                </a:path>
                <a:path w="718184" h="1226185">
                  <a:moveTo>
                    <a:pt x="98014" y="1226123"/>
                  </a:moveTo>
                  <a:lnTo>
                    <a:pt x="98014" y="521732"/>
                  </a:lnTo>
                </a:path>
                <a:path w="718184" h="1226185">
                  <a:moveTo>
                    <a:pt x="111039" y="1226123"/>
                  </a:moveTo>
                  <a:lnTo>
                    <a:pt x="111039" y="808639"/>
                  </a:lnTo>
                </a:path>
                <a:path w="718184" h="1226185">
                  <a:moveTo>
                    <a:pt x="117552" y="1226123"/>
                  </a:moveTo>
                  <a:lnTo>
                    <a:pt x="117551" y="860943"/>
                  </a:lnTo>
                </a:path>
                <a:path w="718184" h="1226185">
                  <a:moveTo>
                    <a:pt x="130577" y="1226123"/>
                  </a:moveTo>
                  <a:lnTo>
                    <a:pt x="130577" y="873931"/>
                  </a:lnTo>
                </a:path>
                <a:path w="718184" h="1226185">
                  <a:moveTo>
                    <a:pt x="137089" y="1226123"/>
                  </a:moveTo>
                  <a:lnTo>
                    <a:pt x="137089" y="867437"/>
                  </a:lnTo>
                </a:path>
                <a:path w="718184" h="1226185">
                  <a:moveTo>
                    <a:pt x="143602" y="1226123"/>
                  </a:moveTo>
                  <a:lnTo>
                    <a:pt x="143602" y="867437"/>
                  </a:lnTo>
                </a:path>
                <a:path w="718184" h="1226185">
                  <a:moveTo>
                    <a:pt x="156627" y="1226123"/>
                  </a:moveTo>
                  <a:lnTo>
                    <a:pt x="156627" y="880425"/>
                  </a:lnTo>
                </a:path>
                <a:path w="718184" h="1226185">
                  <a:moveTo>
                    <a:pt x="163335" y="1226123"/>
                  </a:moveTo>
                  <a:lnTo>
                    <a:pt x="163335" y="886925"/>
                  </a:lnTo>
                </a:path>
                <a:path w="718184" h="1226185">
                  <a:moveTo>
                    <a:pt x="176360" y="1226123"/>
                  </a:moveTo>
                  <a:lnTo>
                    <a:pt x="176360" y="893419"/>
                  </a:lnTo>
                </a:path>
                <a:path w="718184" h="1226185">
                  <a:moveTo>
                    <a:pt x="182873" y="1226123"/>
                  </a:moveTo>
                  <a:lnTo>
                    <a:pt x="182872" y="906570"/>
                  </a:lnTo>
                </a:path>
                <a:path w="718184" h="1226185">
                  <a:moveTo>
                    <a:pt x="189385" y="1226123"/>
                  </a:moveTo>
                  <a:lnTo>
                    <a:pt x="189385" y="919558"/>
                  </a:lnTo>
                </a:path>
                <a:path w="718184" h="1226185">
                  <a:moveTo>
                    <a:pt x="202410" y="1226123"/>
                  </a:moveTo>
                  <a:lnTo>
                    <a:pt x="202410" y="945703"/>
                  </a:lnTo>
                </a:path>
                <a:path w="718184" h="1226185">
                  <a:moveTo>
                    <a:pt x="208923" y="1226123"/>
                  </a:moveTo>
                  <a:lnTo>
                    <a:pt x="208923" y="965185"/>
                  </a:lnTo>
                </a:path>
                <a:path w="718184" h="1226185">
                  <a:moveTo>
                    <a:pt x="221948" y="1226123"/>
                  </a:moveTo>
                  <a:lnTo>
                    <a:pt x="221948" y="978180"/>
                  </a:lnTo>
                </a:path>
                <a:path w="718184" h="1226185">
                  <a:moveTo>
                    <a:pt x="228460" y="1226123"/>
                  </a:moveTo>
                  <a:lnTo>
                    <a:pt x="228460" y="984830"/>
                  </a:lnTo>
                </a:path>
                <a:path w="718184" h="1226185">
                  <a:moveTo>
                    <a:pt x="234973" y="1226123"/>
                  </a:moveTo>
                  <a:lnTo>
                    <a:pt x="234973" y="1010812"/>
                  </a:lnTo>
                </a:path>
                <a:path w="718184" h="1226185">
                  <a:moveTo>
                    <a:pt x="248128" y="1226123"/>
                  </a:moveTo>
                  <a:lnTo>
                    <a:pt x="248128" y="1017313"/>
                  </a:lnTo>
                </a:path>
                <a:path w="718184" h="1226185">
                  <a:moveTo>
                    <a:pt x="254641" y="1226123"/>
                  </a:moveTo>
                  <a:lnTo>
                    <a:pt x="254641" y="1030463"/>
                  </a:lnTo>
                </a:path>
                <a:path w="718184" h="1226185">
                  <a:moveTo>
                    <a:pt x="267666" y="1226123"/>
                  </a:moveTo>
                  <a:lnTo>
                    <a:pt x="267666" y="1030463"/>
                  </a:lnTo>
                </a:path>
                <a:path w="718184" h="1226185">
                  <a:moveTo>
                    <a:pt x="274179" y="1226123"/>
                  </a:moveTo>
                  <a:lnTo>
                    <a:pt x="274179" y="1043451"/>
                  </a:lnTo>
                </a:path>
                <a:path w="718184" h="1226185">
                  <a:moveTo>
                    <a:pt x="287204" y="1226123"/>
                  </a:moveTo>
                  <a:lnTo>
                    <a:pt x="287204" y="1063096"/>
                  </a:lnTo>
                </a:path>
                <a:path w="718184" h="1226185">
                  <a:moveTo>
                    <a:pt x="293716" y="1226123"/>
                  </a:moveTo>
                  <a:lnTo>
                    <a:pt x="293716" y="1069590"/>
                  </a:lnTo>
                </a:path>
                <a:path w="718184" h="1226185">
                  <a:moveTo>
                    <a:pt x="300229" y="1226123"/>
                  </a:moveTo>
                  <a:lnTo>
                    <a:pt x="300229" y="1082585"/>
                  </a:lnTo>
                </a:path>
                <a:path w="718184" h="1226185">
                  <a:moveTo>
                    <a:pt x="313449" y="1226123"/>
                  </a:moveTo>
                  <a:lnTo>
                    <a:pt x="313449" y="1095573"/>
                  </a:lnTo>
                </a:path>
                <a:path w="718184" h="1226185">
                  <a:moveTo>
                    <a:pt x="319962" y="1226123"/>
                  </a:moveTo>
                  <a:lnTo>
                    <a:pt x="319962" y="1095573"/>
                  </a:lnTo>
                </a:path>
                <a:path w="718184" h="1226185">
                  <a:moveTo>
                    <a:pt x="332987" y="1226123"/>
                  </a:moveTo>
                  <a:lnTo>
                    <a:pt x="332987" y="1102229"/>
                  </a:lnTo>
                </a:path>
                <a:path w="718184" h="1226185">
                  <a:moveTo>
                    <a:pt x="339500" y="1226123"/>
                  </a:moveTo>
                  <a:lnTo>
                    <a:pt x="339500" y="1108723"/>
                  </a:lnTo>
                </a:path>
                <a:path w="718184" h="1226185">
                  <a:moveTo>
                    <a:pt x="346012" y="1226123"/>
                  </a:moveTo>
                  <a:lnTo>
                    <a:pt x="346012" y="1115224"/>
                  </a:lnTo>
                </a:path>
                <a:path w="718184" h="1226185">
                  <a:moveTo>
                    <a:pt x="359037" y="1226123"/>
                  </a:moveTo>
                  <a:lnTo>
                    <a:pt x="359037" y="1115224"/>
                  </a:lnTo>
                </a:path>
                <a:path w="718184" h="1226185">
                  <a:moveTo>
                    <a:pt x="365550" y="1226123"/>
                  </a:moveTo>
                  <a:lnTo>
                    <a:pt x="365550" y="1115224"/>
                  </a:lnTo>
                </a:path>
                <a:path w="718184" h="1226185">
                  <a:moveTo>
                    <a:pt x="378575" y="1226123"/>
                  </a:moveTo>
                  <a:lnTo>
                    <a:pt x="378575" y="1121718"/>
                  </a:lnTo>
                </a:path>
                <a:path w="718184" h="1226185">
                  <a:moveTo>
                    <a:pt x="385283" y="1226123"/>
                  </a:moveTo>
                  <a:lnTo>
                    <a:pt x="385283" y="1121718"/>
                  </a:lnTo>
                </a:path>
                <a:path w="718184" h="1226185">
                  <a:moveTo>
                    <a:pt x="391796" y="1226123"/>
                  </a:moveTo>
                  <a:lnTo>
                    <a:pt x="391795" y="1121718"/>
                  </a:lnTo>
                </a:path>
                <a:path w="718184" h="1226185">
                  <a:moveTo>
                    <a:pt x="404821" y="1226123"/>
                  </a:moveTo>
                  <a:lnTo>
                    <a:pt x="404821" y="1128212"/>
                  </a:lnTo>
                </a:path>
                <a:path w="718184" h="1226185">
                  <a:moveTo>
                    <a:pt x="411333" y="1226123"/>
                  </a:moveTo>
                  <a:lnTo>
                    <a:pt x="411333" y="1128212"/>
                  </a:lnTo>
                </a:path>
                <a:path w="718184" h="1226185">
                  <a:moveTo>
                    <a:pt x="424358" y="1226123"/>
                  </a:moveTo>
                  <a:lnTo>
                    <a:pt x="424358" y="1128212"/>
                  </a:lnTo>
                </a:path>
                <a:path w="718184" h="1226185">
                  <a:moveTo>
                    <a:pt x="430871" y="1226123"/>
                  </a:moveTo>
                  <a:lnTo>
                    <a:pt x="430871" y="1134706"/>
                  </a:lnTo>
                </a:path>
                <a:path w="718184" h="1226185">
                  <a:moveTo>
                    <a:pt x="437383" y="1226123"/>
                  </a:moveTo>
                  <a:lnTo>
                    <a:pt x="437383" y="1134706"/>
                  </a:lnTo>
                </a:path>
                <a:path w="718184" h="1226185">
                  <a:moveTo>
                    <a:pt x="450409" y="1226123"/>
                  </a:moveTo>
                  <a:lnTo>
                    <a:pt x="450409" y="1134706"/>
                  </a:lnTo>
                </a:path>
                <a:path w="718184" h="1226185">
                  <a:moveTo>
                    <a:pt x="456921" y="1226123"/>
                  </a:moveTo>
                  <a:lnTo>
                    <a:pt x="456921" y="1141207"/>
                  </a:lnTo>
                </a:path>
                <a:path w="718184" h="1226185">
                  <a:moveTo>
                    <a:pt x="470076" y="1226123"/>
                  </a:moveTo>
                  <a:lnTo>
                    <a:pt x="470076" y="1141207"/>
                  </a:lnTo>
                </a:path>
                <a:path w="718184" h="1226185">
                  <a:moveTo>
                    <a:pt x="476589" y="1226123"/>
                  </a:moveTo>
                  <a:lnTo>
                    <a:pt x="476589" y="1141207"/>
                  </a:lnTo>
                </a:path>
                <a:path w="718184" h="1226185">
                  <a:moveTo>
                    <a:pt x="483102" y="1226123"/>
                  </a:moveTo>
                  <a:lnTo>
                    <a:pt x="483102" y="1147856"/>
                  </a:lnTo>
                </a:path>
                <a:path w="718184" h="1226185">
                  <a:moveTo>
                    <a:pt x="496127" y="1226123"/>
                  </a:moveTo>
                  <a:lnTo>
                    <a:pt x="496127" y="1147856"/>
                  </a:lnTo>
                </a:path>
                <a:path w="718184" h="1226185">
                  <a:moveTo>
                    <a:pt x="502639" y="1226123"/>
                  </a:moveTo>
                  <a:lnTo>
                    <a:pt x="502639" y="1154351"/>
                  </a:lnTo>
                </a:path>
                <a:path w="718184" h="1226185">
                  <a:moveTo>
                    <a:pt x="515664" y="1226123"/>
                  </a:moveTo>
                  <a:lnTo>
                    <a:pt x="515664" y="1154351"/>
                  </a:lnTo>
                </a:path>
                <a:path w="718184" h="1226185">
                  <a:moveTo>
                    <a:pt x="522177" y="1226123"/>
                  </a:moveTo>
                  <a:lnTo>
                    <a:pt x="522177" y="1154351"/>
                  </a:lnTo>
                </a:path>
                <a:path w="718184" h="1226185">
                  <a:moveTo>
                    <a:pt x="528755" y="1226123"/>
                  </a:moveTo>
                  <a:lnTo>
                    <a:pt x="528755" y="1154351"/>
                  </a:lnTo>
                </a:path>
                <a:path w="718184" h="1226185">
                  <a:moveTo>
                    <a:pt x="541910" y="1226123"/>
                  </a:moveTo>
                  <a:lnTo>
                    <a:pt x="541910" y="1154351"/>
                  </a:lnTo>
                </a:path>
                <a:path w="718184" h="1226185">
                  <a:moveTo>
                    <a:pt x="548423" y="1226123"/>
                  </a:moveTo>
                  <a:lnTo>
                    <a:pt x="548423" y="1160851"/>
                  </a:lnTo>
                </a:path>
                <a:path w="718184" h="1226185">
                  <a:moveTo>
                    <a:pt x="561448" y="1226123"/>
                  </a:moveTo>
                  <a:lnTo>
                    <a:pt x="561448" y="1160851"/>
                  </a:lnTo>
                </a:path>
                <a:path w="718184" h="1226185">
                  <a:moveTo>
                    <a:pt x="567960" y="1226123"/>
                  </a:moveTo>
                  <a:lnTo>
                    <a:pt x="567960" y="1154351"/>
                  </a:lnTo>
                </a:path>
                <a:path w="718184" h="1226185">
                  <a:moveTo>
                    <a:pt x="574473" y="1226123"/>
                  </a:moveTo>
                  <a:lnTo>
                    <a:pt x="574473" y="1160851"/>
                  </a:lnTo>
                </a:path>
                <a:path w="718184" h="1226185">
                  <a:moveTo>
                    <a:pt x="587498" y="1226123"/>
                  </a:moveTo>
                  <a:lnTo>
                    <a:pt x="587498" y="1160851"/>
                  </a:lnTo>
                </a:path>
                <a:path w="718184" h="1226185">
                  <a:moveTo>
                    <a:pt x="594011" y="1226123"/>
                  </a:moveTo>
                  <a:lnTo>
                    <a:pt x="594011" y="1154351"/>
                  </a:lnTo>
                </a:path>
                <a:path w="718184" h="1226185">
                  <a:moveTo>
                    <a:pt x="607231" y="1226123"/>
                  </a:moveTo>
                  <a:lnTo>
                    <a:pt x="607231" y="1154351"/>
                  </a:lnTo>
                </a:path>
                <a:path w="718184" h="1226185">
                  <a:moveTo>
                    <a:pt x="613744" y="1226123"/>
                  </a:moveTo>
                  <a:lnTo>
                    <a:pt x="613744" y="1154351"/>
                  </a:lnTo>
                </a:path>
                <a:path w="718184" h="1226185">
                  <a:moveTo>
                    <a:pt x="620256" y="1226123"/>
                  </a:moveTo>
                  <a:lnTo>
                    <a:pt x="620256" y="1147856"/>
                  </a:lnTo>
                </a:path>
                <a:path w="718184" h="1226185">
                  <a:moveTo>
                    <a:pt x="633281" y="1226123"/>
                  </a:moveTo>
                  <a:lnTo>
                    <a:pt x="633281" y="1147856"/>
                  </a:lnTo>
                </a:path>
                <a:path w="718184" h="1226185">
                  <a:moveTo>
                    <a:pt x="639794" y="1226123"/>
                  </a:moveTo>
                  <a:lnTo>
                    <a:pt x="639794" y="1147856"/>
                  </a:lnTo>
                </a:path>
                <a:path w="718184" h="1226185">
                  <a:moveTo>
                    <a:pt x="652819" y="1226123"/>
                  </a:moveTo>
                  <a:lnTo>
                    <a:pt x="652819" y="1141207"/>
                  </a:lnTo>
                </a:path>
                <a:path w="718184" h="1226185">
                  <a:moveTo>
                    <a:pt x="659332" y="1226123"/>
                  </a:moveTo>
                  <a:lnTo>
                    <a:pt x="659332" y="1128212"/>
                  </a:lnTo>
                </a:path>
                <a:path w="718184" h="1226185">
                  <a:moveTo>
                    <a:pt x="665844" y="1226123"/>
                  </a:moveTo>
                  <a:lnTo>
                    <a:pt x="665844" y="1115224"/>
                  </a:lnTo>
                </a:path>
                <a:path w="718184" h="1226185">
                  <a:moveTo>
                    <a:pt x="678869" y="1226123"/>
                  </a:moveTo>
                  <a:lnTo>
                    <a:pt x="678869" y="1095573"/>
                  </a:lnTo>
                </a:path>
                <a:path w="718184" h="1226185">
                  <a:moveTo>
                    <a:pt x="685512" y="1226123"/>
                  </a:moveTo>
                  <a:lnTo>
                    <a:pt x="685512" y="1082585"/>
                  </a:lnTo>
                </a:path>
                <a:path w="718184" h="1226185">
                  <a:moveTo>
                    <a:pt x="698537" y="1226123"/>
                  </a:moveTo>
                  <a:lnTo>
                    <a:pt x="698537" y="1082585"/>
                  </a:lnTo>
                </a:path>
                <a:path w="718184" h="1226185">
                  <a:moveTo>
                    <a:pt x="705050" y="1226123"/>
                  </a:moveTo>
                  <a:lnTo>
                    <a:pt x="705050" y="1128212"/>
                  </a:lnTo>
                </a:path>
                <a:path w="718184" h="1226185">
                  <a:moveTo>
                    <a:pt x="718075" y="1226123"/>
                  </a:moveTo>
                  <a:lnTo>
                    <a:pt x="718075" y="1199984"/>
                  </a:lnTo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69837" y="3407257"/>
              <a:ext cx="2337098" cy="105366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5569837" y="3407712"/>
              <a:ext cx="2337435" cy="104775"/>
            </a:xfrm>
            <a:custGeom>
              <a:avLst/>
              <a:gdLst/>
              <a:ahLst/>
              <a:cxnLst/>
              <a:rect l="l" t="t" r="r" b="b"/>
              <a:pathLst>
                <a:path w="2337434" h="104775">
                  <a:moveTo>
                    <a:pt x="0" y="0"/>
                  </a:moveTo>
                  <a:lnTo>
                    <a:pt x="2337065" y="0"/>
                  </a:lnTo>
                  <a:lnTo>
                    <a:pt x="2337065" y="104249"/>
                  </a:lnTo>
                  <a:lnTo>
                    <a:pt x="0" y="104249"/>
                  </a:lnTo>
                  <a:lnTo>
                    <a:pt x="0" y="0"/>
                  </a:lnTo>
                </a:path>
                <a:path w="2337434" h="104775">
                  <a:moveTo>
                    <a:pt x="0" y="104249"/>
                  </a:moveTo>
                  <a:lnTo>
                    <a:pt x="2337065" y="1042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910159" y="3515208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569837" y="3407712"/>
              <a:ext cx="2337435" cy="0"/>
            </a:xfrm>
            <a:custGeom>
              <a:avLst/>
              <a:gdLst/>
              <a:ahLst/>
              <a:cxnLst/>
              <a:rect l="l" t="t" r="r" b="b"/>
              <a:pathLst>
                <a:path w="2337434">
                  <a:moveTo>
                    <a:pt x="0" y="0"/>
                  </a:moveTo>
                  <a:lnTo>
                    <a:pt x="233706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7910159" y="3410959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7906903" y="3407712"/>
              <a:ext cx="0" cy="104775"/>
            </a:xfrm>
            <a:custGeom>
              <a:avLst/>
              <a:gdLst/>
              <a:ahLst/>
              <a:cxnLst/>
              <a:rect l="l" t="t" r="r" b="b"/>
              <a:pathLst>
                <a:path h="104775">
                  <a:moveTo>
                    <a:pt x="0" y="0"/>
                  </a:moveTo>
                  <a:lnTo>
                    <a:pt x="0" y="1042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7910159" y="3515208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5569837" y="3407712"/>
              <a:ext cx="0" cy="104775"/>
            </a:xfrm>
            <a:custGeom>
              <a:avLst/>
              <a:gdLst/>
              <a:ahLst/>
              <a:cxnLst/>
              <a:rect l="l" t="t" r="r" b="b"/>
              <a:pathLst>
                <a:path h="104775">
                  <a:moveTo>
                    <a:pt x="0" y="0"/>
                  </a:moveTo>
                  <a:lnTo>
                    <a:pt x="0" y="1042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5573100" y="3515208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5569837" y="3511961"/>
              <a:ext cx="2337435" cy="0"/>
            </a:xfrm>
            <a:custGeom>
              <a:avLst/>
              <a:gdLst/>
              <a:ahLst/>
              <a:cxnLst/>
              <a:rect l="l" t="t" r="r" b="b"/>
              <a:pathLst>
                <a:path w="2337434">
                  <a:moveTo>
                    <a:pt x="0" y="0"/>
                  </a:moveTo>
                  <a:lnTo>
                    <a:pt x="233706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910159" y="3515208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5569837" y="3407712"/>
              <a:ext cx="0" cy="104775"/>
            </a:xfrm>
            <a:custGeom>
              <a:avLst/>
              <a:gdLst/>
              <a:ahLst/>
              <a:cxnLst/>
              <a:rect l="l" t="t" r="r" b="b"/>
              <a:pathLst>
                <a:path h="104775">
                  <a:moveTo>
                    <a:pt x="0" y="0"/>
                  </a:moveTo>
                  <a:lnTo>
                    <a:pt x="0" y="1042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5573100" y="3515208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5569837" y="3485978"/>
              <a:ext cx="0" cy="26034"/>
            </a:xfrm>
            <a:custGeom>
              <a:avLst/>
              <a:gdLst/>
              <a:ahLst/>
              <a:cxnLst/>
              <a:rect l="l" t="t" r="r" b="b"/>
              <a:pathLst>
                <a:path h="26035">
                  <a:moveTo>
                    <a:pt x="0" y="259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5573100" y="3489225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5569837" y="3407712"/>
              <a:ext cx="0" cy="19685"/>
            </a:xfrm>
            <a:custGeom>
              <a:avLst/>
              <a:gdLst/>
              <a:ahLst/>
              <a:cxnLst/>
              <a:rect l="l" t="t" r="r" b="b"/>
              <a:pathLst>
                <a:path h="19685">
                  <a:moveTo>
                    <a:pt x="0" y="0"/>
                  </a:moveTo>
                  <a:lnTo>
                    <a:pt x="0" y="19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5573100" y="3430447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6026921" y="3485978"/>
              <a:ext cx="0" cy="26034"/>
            </a:xfrm>
            <a:custGeom>
              <a:avLst/>
              <a:gdLst/>
              <a:ahLst/>
              <a:cxnLst/>
              <a:rect l="l" t="t" r="r" b="b"/>
              <a:pathLst>
                <a:path h="26035">
                  <a:moveTo>
                    <a:pt x="0" y="259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6030178" y="3489225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6026921" y="3407712"/>
              <a:ext cx="0" cy="19685"/>
            </a:xfrm>
            <a:custGeom>
              <a:avLst/>
              <a:gdLst/>
              <a:ahLst/>
              <a:cxnLst/>
              <a:rect l="l" t="t" r="r" b="b"/>
              <a:pathLst>
                <a:path h="19685">
                  <a:moveTo>
                    <a:pt x="0" y="0"/>
                  </a:moveTo>
                  <a:lnTo>
                    <a:pt x="0" y="19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6030177" y="3430447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6483843" y="3485978"/>
              <a:ext cx="0" cy="26034"/>
            </a:xfrm>
            <a:custGeom>
              <a:avLst/>
              <a:gdLst/>
              <a:ahLst/>
              <a:cxnLst/>
              <a:rect l="l" t="t" r="r" b="b"/>
              <a:pathLst>
                <a:path h="26035">
                  <a:moveTo>
                    <a:pt x="0" y="259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6487099" y="3489225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483842" y="3407712"/>
              <a:ext cx="0" cy="19685"/>
            </a:xfrm>
            <a:custGeom>
              <a:avLst/>
              <a:gdLst/>
              <a:ahLst/>
              <a:cxnLst/>
              <a:rect l="l" t="t" r="r" b="b"/>
              <a:pathLst>
                <a:path h="19685">
                  <a:moveTo>
                    <a:pt x="0" y="0"/>
                  </a:moveTo>
                  <a:lnTo>
                    <a:pt x="0" y="19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487099" y="3430447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940829" y="3485978"/>
              <a:ext cx="0" cy="26034"/>
            </a:xfrm>
            <a:custGeom>
              <a:avLst/>
              <a:gdLst/>
              <a:ahLst/>
              <a:cxnLst/>
              <a:rect l="l" t="t" r="r" b="b"/>
              <a:pathLst>
                <a:path h="26035">
                  <a:moveTo>
                    <a:pt x="0" y="259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944085" y="3489225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940829" y="3407712"/>
              <a:ext cx="0" cy="19685"/>
            </a:xfrm>
            <a:custGeom>
              <a:avLst/>
              <a:gdLst/>
              <a:ahLst/>
              <a:cxnLst/>
              <a:rect l="l" t="t" r="r" b="b"/>
              <a:pathLst>
                <a:path h="19685">
                  <a:moveTo>
                    <a:pt x="0" y="0"/>
                  </a:moveTo>
                  <a:lnTo>
                    <a:pt x="0" y="19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6944085" y="3430447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7397750" y="3485978"/>
              <a:ext cx="0" cy="26034"/>
            </a:xfrm>
            <a:custGeom>
              <a:avLst/>
              <a:gdLst/>
              <a:ahLst/>
              <a:cxnLst/>
              <a:rect l="l" t="t" r="r" b="b"/>
              <a:pathLst>
                <a:path h="26035">
                  <a:moveTo>
                    <a:pt x="0" y="259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7401007" y="3489225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7397750" y="3407712"/>
              <a:ext cx="0" cy="19685"/>
            </a:xfrm>
            <a:custGeom>
              <a:avLst/>
              <a:gdLst/>
              <a:ahLst/>
              <a:cxnLst/>
              <a:rect l="l" t="t" r="r" b="b"/>
              <a:pathLst>
                <a:path h="19685">
                  <a:moveTo>
                    <a:pt x="0" y="0"/>
                  </a:moveTo>
                  <a:lnTo>
                    <a:pt x="0" y="19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7401007" y="3430447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7854672" y="3485978"/>
              <a:ext cx="0" cy="26034"/>
            </a:xfrm>
            <a:custGeom>
              <a:avLst/>
              <a:gdLst/>
              <a:ahLst/>
              <a:cxnLst/>
              <a:rect l="l" t="t" r="r" b="b"/>
              <a:pathLst>
                <a:path h="26035">
                  <a:moveTo>
                    <a:pt x="0" y="259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7857928" y="3489225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7854672" y="3407712"/>
              <a:ext cx="0" cy="19685"/>
            </a:xfrm>
            <a:custGeom>
              <a:avLst/>
              <a:gdLst/>
              <a:ahLst/>
              <a:cxnLst/>
              <a:rect l="l" t="t" r="r" b="b"/>
              <a:pathLst>
                <a:path h="19685">
                  <a:moveTo>
                    <a:pt x="0" y="0"/>
                  </a:moveTo>
                  <a:lnTo>
                    <a:pt x="0" y="1948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7857928" y="3430448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569837" y="3407712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20">
                  <a:moveTo>
                    <a:pt x="0" y="0"/>
                  </a:moveTo>
                  <a:lnTo>
                    <a:pt x="197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5592800" y="3410959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7880852" y="3407712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2605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7884109" y="3410959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5569837" y="3459833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20">
                  <a:moveTo>
                    <a:pt x="0" y="0"/>
                  </a:moveTo>
                  <a:lnTo>
                    <a:pt x="197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5592800" y="3463080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7880852" y="3459833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2605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7884109" y="3463080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5569837" y="3511961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20">
                  <a:moveTo>
                    <a:pt x="0" y="0"/>
                  </a:moveTo>
                  <a:lnTo>
                    <a:pt x="1970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5592800" y="3515208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7880852" y="3511961"/>
              <a:ext cx="26670" cy="0"/>
            </a:xfrm>
            <a:custGeom>
              <a:avLst/>
              <a:gdLst/>
              <a:ahLst/>
              <a:cxnLst/>
              <a:rect l="l" t="t" r="r" b="b"/>
              <a:pathLst>
                <a:path w="26670">
                  <a:moveTo>
                    <a:pt x="26050" y="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7884109" y="3515208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5569837" y="3511961"/>
              <a:ext cx="2337435" cy="0"/>
            </a:xfrm>
            <a:custGeom>
              <a:avLst/>
              <a:gdLst/>
              <a:ahLst/>
              <a:cxnLst/>
              <a:rect l="l" t="t" r="r" b="b"/>
              <a:pathLst>
                <a:path w="2337434">
                  <a:moveTo>
                    <a:pt x="0" y="0"/>
                  </a:moveTo>
                  <a:lnTo>
                    <a:pt x="233706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7910159" y="3515208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5569837" y="3407712"/>
              <a:ext cx="2337435" cy="0"/>
            </a:xfrm>
            <a:custGeom>
              <a:avLst/>
              <a:gdLst/>
              <a:ahLst/>
              <a:cxnLst/>
              <a:rect l="l" t="t" r="r" b="b"/>
              <a:pathLst>
                <a:path w="2337434">
                  <a:moveTo>
                    <a:pt x="0" y="0"/>
                  </a:moveTo>
                  <a:lnTo>
                    <a:pt x="233706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7910159" y="3410959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7906903" y="3407712"/>
              <a:ext cx="0" cy="104775"/>
            </a:xfrm>
            <a:custGeom>
              <a:avLst/>
              <a:gdLst/>
              <a:ahLst/>
              <a:cxnLst/>
              <a:rect l="l" t="t" r="r" b="b"/>
              <a:pathLst>
                <a:path h="104775">
                  <a:moveTo>
                    <a:pt x="0" y="0"/>
                  </a:moveTo>
                  <a:lnTo>
                    <a:pt x="0" y="1042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7910159" y="3515208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4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5569837" y="3407712"/>
              <a:ext cx="0" cy="104775"/>
            </a:xfrm>
            <a:custGeom>
              <a:avLst/>
              <a:gdLst/>
              <a:ahLst/>
              <a:cxnLst/>
              <a:rect l="l" t="t" r="r" b="b"/>
              <a:pathLst>
                <a:path h="104775">
                  <a:moveTo>
                    <a:pt x="0" y="0"/>
                  </a:moveTo>
                  <a:lnTo>
                    <a:pt x="0" y="10424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5573100" y="3515208"/>
              <a:ext cx="6985" cy="0"/>
            </a:xfrm>
            <a:custGeom>
              <a:avLst/>
              <a:gdLst/>
              <a:ahLst/>
              <a:cxnLst/>
              <a:rect l="l" t="t" r="r" b="b"/>
              <a:pathLst>
                <a:path w="6985">
                  <a:moveTo>
                    <a:pt x="0" y="0"/>
                  </a:moveTo>
                  <a:lnTo>
                    <a:pt x="6512" y="0"/>
                  </a:lnTo>
                </a:path>
              </a:pathLst>
            </a:custGeom>
            <a:ln w="64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2" name="object 132"/>
          <p:cNvSpPr txBox="1"/>
          <p:nvPr/>
        </p:nvSpPr>
        <p:spPr>
          <a:xfrm>
            <a:off x="5302618" y="2384218"/>
            <a:ext cx="255904" cy="10858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R="5715" algn="r">
              <a:lnSpc>
                <a:spcPct val="100000"/>
              </a:lnSpc>
              <a:spcBef>
                <a:spcPts val="114"/>
              </a:spcBef>
            </a:pPr>
            <a:r>
              <a:rPr sz="650" spc="-10" dirty="0">
                <a:latin typeface="Arial MT"/>
                <a:cs typeface="Arial MT"/>
              </a:rPr>
              <a:t>15000</a:t>
            </a:r>
            <a:endParaRPr sz="6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650">
              <a:latin typeface="Arial MT"/>
              <a:cs typeface="Arial MT"/>
            </a:endParaRPr>
          </a:p>
          <a:p>
            <a:pPr marR="5715" algn="r">
              <a:lnSpc>
                <a:spcPct val="100000"/>
              </a:lnSpc>
            </a:pPr>
            <a:r>
              <a:rPr sz="650" spc="-10" dirty="0">
                <a:latin typeface="Arial MT"/>
                <a:cs typeface="Arial MT"/>
              </a:rPr>
              <a:t>10000</a:t>
            </a:r>
            <a:endParaRPr sz="6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650">
              <a:latin typeface="Arial MT"/>
              <a:cs typeface="Arial MT"/>
            </a:endParaRPr>
          </a:p>
          <a:p>
            <a:pPr marR="5715" algn="r">
              <a:lnSpc>
                <a:spcPct val="100000"/>
              </a:lnSpc>
            </a:pPr>
            <a:r>
              <a:rPr sz="650" spc="-20" dirty="0">
                <a:latin typeface="Arial MT"/>
                <a:cs typeface="Arial MT"/>
              </a:rPr>
              <a:t>5000</a:t>
            </a:r>
            <a:endParaRPr sz="6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65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</a:pPr>
            <a:r>
              <a:rPr sz="650" spc="-50" dirty="0">
                <a:latin typeface="Arial MT"/>
                <a:cs typeface="Arial MT"/>
              </a:rPr>
              <a:t>0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139" name="object 1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133" name="object 133"/>
          <p:cNvSpPr txBox="1"/>
          <p:nvPr/>
        </p:nvSpPr>
        <p:spPr>
          <a:xfrm>
            <a:off x="5537599" y="3518905"/>
            <a:ext cx="73025" cy="1276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650" spc="-50" dirty="0">
                <a:latin typeface="Arial MT"/>
                <a:cs typeface="Arial MT"/>
              </a:rPr>
              <a:t>0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5968503" y="3518905"/>
            <a:ext cx="117475" cy="1276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650" spc="-25" dirty="0">
                <a:latin typeface="Arial MT"/>
                <a:cs typeface="Arial MT"/>
              </a:rPr>
              <a:t>50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6405887" y="3518905"/>
            <a:ext cx="163195" cy="1276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650" spc="-25" dirty="0">
                <a:latin typeface="Arial MT"/>
                <a:cs typeface="Arial MT"/>
              </a:rPr>
              <a:t>100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6862809" y="3518905"/>
            <a:ext cx="163195" cy="1276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650" spc="-25" dirty="0">
                <a:latin typeface="Arial MT"/>
                <a:cs typeface="Arial MT"/>
              </a:rPr>
              <a:t>150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137" name="object 137"/>
          <p:cNvSpPr txBox="1"/>
          <p:nvPr/>
        </p:nvSpPr>
        <p:spPr>
          <a:xfrm>
            <a:off x="7319729" y="3518906"/>
            <a:ext cx="163195" cy="1276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650" spc="-25" dirty="0">
                <a:latin typeface="Arial MT"/>
                <a:cs typeface="Arial MT"/>
              </a:rPr>
              <a:t>200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7776651" y="3518906"/>
            <a:ext cx="163195" cy="1276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650" spc="-25" dirty="0">
                <a:latin typeface="Arial MT"/>
                <a:cs typeface="Arial MT"/>
              </a:rPr>
              <a:t>250</a:t>
            </a:r>
            <a:endParaRPr sz="650">
              <a:latin typeface="Arial MT"/>
              <a:cs typeface="Arial MT"/>
            </a:endParaRPr>
          </a:p>
        </p:txBody>
      </p:sp>
      <p:pic>
        <p:nvPicPr>
          <p:cNvPr id="140" name="Picture 4">
            <a:extLst>
              <a:ext uri="{FF2B5EF4-FFF2-40B4-BE49-F238E27FC236}">
                <a16:creationId xmlns:a16="http://schemas.microsoft.com/office/drawing/2014/main" id="{E3C92271-C712-2E9B-C4BE-CC13D25D98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Picture 6" descr="Ingeniería de Sistemas - UNCP">
            <a:extLst>
              <a:ext uri="{FF2B5EF4-FFF2-40B4-BE49-F238E27FC236}">
                <a16:creationId xmlns:a16="http://schemas.microsoft.com/office/drawing/2014/main" id="{197E4828-E238-3217-2F01-7647B6E38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3294">
              <a:lnSpc>
                <a:spcPct val="100000"/>
              </a:lnSpc>
              <a:spcBef>
                <a:spcPts val="100"/>
              </a:spcBef>
            </a:pPr>
            <a:r>
              <a:rPr dirty="0"/>
              <a:t>Operaciones</a:t>
            </a:r>
            <a:r>
              <a:rPr spc="-135" dirty="0"/>
              <a:t> </a:t>
            </a:r>
            <a:r>
              <a:rPr spc="-10" dirty="0"/>
              <a:t>Morfológicas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13865"/>
            <a:ext cx="64643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dirty="0">
                <a:latin typeface="Calibri"/>
                <a:cs typeface="Calibri"/>
              </a:rPr>
              <a:t>Son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operaciones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binarias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afectan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forma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región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419986"/>
            <a:ext cx="6928484" cy="160147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spc="-10" dirty="0">
                <a:latin typeface="Calibri"/>
                <a:cs typeface="Calibri"/>
              </a:rPr>
              <a:t>Operaciones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principales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son:</a:t>
            </a:r>
            <a:endParaRPr sz="2000">
              <a:latin typeface="Calibri"/>
              <a:cs typeface="Calibri"/>
            </a:endParaRPr>
          </a:p>
          <a:p>
            <a:pPr marL="389890" lvl="1" indent="-161290">
              <a:lnSpc>
                <a:spcPct val="100000"/>
              </a:lnSpc>
              <a:spcBef>
                <a:spcPts val="440"/>
              </a:spcBef>
              <a:buChar char="-"/>
              <a:tabLst>
                <a:tab pos="389890" algn="l"/>
              </a:tabLst>
            </a:pPr>
            <a:r>
              <a:rPr sz="1800" dirty="0">
                <a:latin typeface="Calibri"/>
                <a:cs typeface="Calibri"/>
              </a:rPr>
              <a:t>Erosión,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dilatación,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apertura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(opening)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cierre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(closing)</a:t>
            </a:r>
            <a:endParaRPr sz="1600">
              <a:latin typeface="Calibri"/>
              <a:cs typeface="Calibri"/>
            </a:endParaRPr>
          </a:p>
          <a:p>
            <a:pPr marL="207010" indent="-194310">
              <a:lnSpc>
                <a:spcPct val="100000"/>
              </a:lnSpc>
              <a:spcBef>
                <a:spcPts val="1915"/>
              </a:spcBef>
              <a:buFont typeface="Arial MT"/>
              <a:buChar char="•"/>
              <a:tabLst>
                <a:tab pos="207010" algn="l"/>
              </a:tabLst>
            </a:pP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Elemento</a:t>
            </a:r>
            <a:r>
              <a:rPr sz="2000" spc="-8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estructurante</a:t>
            </a:r>
            <a:r>
              <a:rPr sz="2000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0AF50"/>
                </a:solidFill>
                <a:latin typeface="Calibri"/>
                <a:cs typeface="Calibri"/>
              </a:rPr>
              <a:t>(kernel)</a:t>
            </a:r>
            <a:endParaRPr sz="1600">
              <a:latin typeface="Calibri"/>
              <a:cs typeface="Calibri"/>
            </a:endParaRPr>
          </a:p>
          <a:p>
            <a:pPr marL="389890" lvl="1" indent="-161290">
              <a:lnSpc>
                <a:spcPct val="100000"/>
              </a:lnSpc>
              <a:spcBef>
                <a:spcPts val="440"/>
              </a:spcBef>
              <a:buChar char="-"/>
              <a:tabLst>
                <a:tab pos="389890" algn="l"/>
              </a:tabLst>
            </a:pPr>
            <a:r>
              <a:rPr sz="1800" spc="-10" dirty="0">
                <a:latin typeface="Calibri"/>
                <a:cs typeface="Calibri"/>
              </a:rPr>
              <a:t>Pequeños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conjuntos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(sub-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imágenes) </a:t>
            </a:r>
            <a:r>
              <a:rPr sz="1800" dirty="0">
                <a:latin typeface="Calibri"/>
                <a:cs typeface="Calibri"/>
              </a:rPr>
              <a:t>que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usan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estas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operaciones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5567" y="1746504"/>
            <a:ext cx="3203885" cy="156667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70347" y="1772411"/>
            <a:ext cx="3534155" cy="154228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46031" y="5236852"/>
            <a:ext cx="3475865" cy="131841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B4D8D597-2845-C68A-9376-3FBB36F30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Ingeniería de Sistemas - UNCP">
            <a:extLst>
              <a:ext uri="{FF2B5EF4-FFF2-40B4-BE49-F238E27FC236}">
                <a16:creationId xmlns:a16="http://schemas.microsoft.com/office/drawing/2014/main" id="{8D307A64-3F54-A7D0-91E7-861D55A26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3294">
              <a:lnSpc>
                <a:spcPct val="100000"/>
              </a:lnSpc>
              <a:spcBef>
                <a:spcPts val="100"/>
              </a:spcBef>
            </a:pPr>
            <a:r>
              <a:rPr dirty="0"/>
              <a:t>Operaciones</a:t>
            </a:r>
            <a:r>
              <a:rPr spc="-135" dirty="0"/>
              <a:t> </a:t>
            </a:r>
            <a:r>
              <a:rPr spc="-10" dirty="0"/>
              <a:t>Morfológicas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52187"/>
            <a:ext cx="5073650" cy="72326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Erosión:</a:t>
            </a:r>
            <a:endParaRPr sz="20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439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2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Reduce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(erosiona)</a:t>
            </a:r>
            <a:r>
              <a:rPr sz="1600" spc="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tamaño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objetos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blancos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822743"/>
            <a:ext cx="4921885" cy="72326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Dilatación:</a:t>
            </a:r>
            <a:endParaRPr sz="20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439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2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Expande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(dilata)</a:t>
            </a:r>
            <a:r>
              <a:rPr sz="16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tamaño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objetos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blancos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78648" y="2141194"/>
            <a:ext cx="1422061" cy="142497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7196" y="2125979"/>
            <a:ext cx="1418026" cy="14112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66689" y="2129027"/>
            <a:ext cx="1423014" cy="1403603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2692817" y="2677240"/>
            <a:ext cx="280670" cy="342265"/>
            <a:chOff x="2692817" y="2677240"/>
            <a:chExt cx="280670" cy="34226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92817" y="2677240"/>
              <a:ext cx="280661" cy="34221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31008" y="2686811"/>
              <a:ext cx="216408" cy="28803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731008" y="2686811"/>
              <a:ext cx="216535" cy="288290"/>
            </a:xfrm>
            <a:custGeom>
              <a:avLst/>
              <a:gdLst/>
              <a:ahLst/>
              <a:cxnLst/>
              <a:rect l="l" t="t" r="r" b="b"/>
              <a:pathLst>
                <a:path w="216535" h="288289">
                  <a:moveTo>
                    <a:pt x="0" y="72009"/>
                  </a:moveTo>
                  <a:lnTo>
                    <a:pt x="108204" y="72009"/>
                  </a:lnTo>
                  <a:lnTo>
                    <a:pt x="108204" y="0"/>
                  </a:lnTo>
                  <a:lnTo>
                    <a:pt x="216408" y="144017"/>
                  </a:lnTo>
                  <a:lnTo>
                    <a:pt x="108204" y="288036"/>
                  </a:lnTo>
                  <a:lnTo>
                    <a:pt x="108204" y="216026"/>
                  </a:lnTo>
                  <a:lnTo>
                    <a:pt x="0" y="216026"/>
                  </a:lnTo>
                  <a:lnTo>
                    <a:pt x="0" y="72009"/>
                  </a:lnTo>
                  <a:close/>
                </a:path>
              </a:pathLst>
            </a:custGeom>
            <a:ln w="9143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09104" y="2141194"/>
            <a:ext cx="1426463" cy="1424971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6981353" y="2690956"/>
            <a:ext cx="280670" cy="342265"/>
            <a:chOff x="6981353" y="2690956"/>
            <a:chExt cx="280670" cy="342265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81353" y="2690956"/>
              <a:ext cx="280661" cy="34221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19544" y="2700527"/>
              <a:ext cx="216407" cy="28803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019544" y="2700527"/>
              <a:ext cx="216535" cy="288290"/>
            </a:xfrm>
            <a:custGeom>
              <a:avLst/>
              <a:gdLst/>
              <a:ahLst/>
              <a:cxnLst/>
              <a:rect l="l" t="t" r="r" b="b"/>
              <a:pathLst>
                <a:path w="216534" h="288289">
                  <a:moveTo>
                    <a:pt x="0" y="72009"/>
                  </a:moveTo>
                  <a:lnTo>
                    <a:pt x="108203" y="72009"/>
                  </a:lnTo>
                  <a:lnTo>
                    <a:pt x="108203" y="0"/>
                  </a:lnTo>
                  <a:lnTo>
                    <a:pt x="216407" y="144018"/>
                  </a:lnTo>
                  <a:lnTo>
                    <a:pt x="108203" y="288036"/>
                  </a:lnTo>
                  <a:lnTo>
                    <a:pt x="108203" y="216026"/>
                  </a:lnTo>
                  <a:lnTo>
                    <a:pt x="0" y="216026"/>
                  </a:lnTo>
                  <a:lnTo>
                    <a:pt x="0" y="72009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8908" y="4829555"/>
            <a:ext cx="1416516" cy="1411224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2682105" y="5380829"/>
            <a:ext cx="279400" cy="342265"/>
            <a:chOff x="2682105" y="5380829"/>
            <a:chExt cx="279400" cy="342265"/>
          </a:xfrm>
        </p:grpSpPr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82105" y="5380829"/>
              <a:ext cx="279295" cy="34221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20339" y="5390388"/>
              <a:ext cx="214884" cy="28803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720339" y="5390388"/>
              <a:ext cx="215265" cy="288290"/>
            </a:xfrm>
            <a:custGeom>
              <a:avLst/>
              <a:gdLst/>
              <a:ahLst/>
              <a:cxnLst/>
              <a:rect l="l" t="t" r="r" b="b"/>
              <a:pathLst>
                <a:path w="215264" h="288289">
                  <a:moveTo>
                    <a:pt x="0" y="72009"/>
                  </a:moveTo>
                  <a:lnTo>
                    <a:pt x="107442" y="72009"/>
                  </a:lnTo>
                  <a:lnTo>
                    <a:pt x="107442" y="0"/>
                  </a:lnTo>
                  <a:lnTo>
                    <a:pt x="214884" y="144018"/>
                  </a:lnTo>
                  <a:lnTo>
                    <a:pt x="107442" y="288036"/>
                  </a:lnTo>
                  <a:lnTo>
                    <a:pt x="107442" y="216027"/>
                  </a:lnTo>
                  <a:lnTo>
                    <a:pt x="0" y="216027"/>
                  </a:lnTo>
                  <a:lnTo>
                    <a:pt x="0" y="72009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2" name="object 2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057144" y="4833154"/>
            <a:ext cx="1383237" cy="1402502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380731" y="4733017"/>
            <a:ext cx="1246631" cy="1492522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562600" y="4724400"/>
            <a:ext cx="1242059" cy="1504188"/>
          </a:xfrm>
          <a:prstGeom prst="rect">
            <a:avLst/>
          </a:prstGeom>
        </p:spPr>
      </p:pic>
      <p:grpSp>
        <p:nvGrpSpPr>
          <p:cNvPr id="25" name="object 25"/>
          <p:cNvGrpSpPr/>
          <p:nvPr/>
        </p:nvGrpSpPr>
        <p:grpSpPr>
          <a:xfrm>
            <a:off x="6946301" y="5322917"/>
            <a:ext cx="280670" cy="342265"/>
            <a:chOff x="6946301" y="5322917"/>
            <a:chExt cx="280670" cy="342265"/>
          </a:xfrm>
        </p:grpSpPr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46301" y="5322917"/>
              <a:ext cx="280661" cy="34221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984491" y="5332476"/>
              <a:ext cx="216407" cy="288036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984491" y="5332476"/>
              <a:ext cx="216535" cy="288290"/>
            </a:xfrm>
            <a:custGeom>
              <a:avLst/>
              <a:gdLst/>
              <a:ahLst/>
              <a:cxnLst/>
              <a:rect l="l" t="t" r="r" b="b"/>
              <a:pathLst>
                <a:path w="216534" h="288289">
                  <a:moveTo>
                    <a:pt x="0" y="72009"/>
                  </a:moveTo>
                  <a:lnTo>
                    <a:pt x="108203" y="72009"/>
                  </a:lnTo>
                  <a:lnTo>
                    <a:pt x="108203" y="0"/>
                  </a:lnTo>
                  <a:lnTo>
                    <a:pt x="216407" y="144018"/>
                  </a:lnTo>
                  <a:lnTo>
                    <a:pt x="108203" y="288036"/>
                  </a:lnTo>
                  <a:lnTo>
                    <a:pt x="108203" y="216027"/>
                  </a:lnTo>
                  <a:lnTo>
                    <a:pt x="0" y="216027"/>
                  </a:lnTo>
                  <a:lnTo>
                    <a:pt x="0" y="72009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pic>
        <p:nvPicPr>
          <p:cNvPr id="30" name="Picture 4">
            <a:extLst>
              <a:ext uri="{FF2B5EF4-FFF2-40B4-BE49-F238E27FC236}">
                <a16:creationId xmlns:a16="http://schemas.microsoft.com/office/drawing/2014/main" id="{181CE58E-3772-8163-485E-D1E213FA99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6" descr="Ingeniería de Sistemas - UNCP">
            <a:extLst>
              <a:ext uri="{FF2B5EF4-FFF2-40B4-BE49-F238E27FC236}">
                <a16:creationId xmlns:a16="http://schemas.microsoft.com/office/drawing/2014/main" id="{73BEB139-F436-0B62-1624-350EDF2EE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3294">
              <a:lnSpc>
                <a:spcPct val="100000"/>
              </a:lnSpc>
              <a:spcBef>
                <a:spcPts val="100"/>
              </a:spcBef>
            </a:pPr>
            <a:r>
              <a:rPr dirty="0"/>
              <a:t>Operaciones</a:t>
            </a:r>
            <a:r>
              <a:rPr spc="-135" dirty="0"/>
              <a:t> </a:t>
            </a:r>
            <a:r>
              <a:rPr spc="-10" dirty="0"/>
              <a:t>Morfológicas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52187"/>
            <a:ext cx="3786504" cy="72326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Apertura</a:t>
            </a:r>
            <a:r>
              <a:rPr sz="2000" spc="-10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0AF50"/>
                </a:solidFill>
                <a:latin typeface="Calibri"/>
                <a:cs typeface="Calibri"/>
              </a:rPr>
              <a:t>(Opening)</a:t>
            </a: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439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2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erosión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seguida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dilatación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932471"/>
            <a:ext cx="3789045" cy="72326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Cierre</a:t>
            </a:r>
            <a:r>
              <a:rPr sz="2000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0AF50"/>
                </a:solidFill>
                <a:latin typeface="Calibri"/>
                <a:cs typeface="Calibri"/>
              </a:rPr>
              <a:t>(Closing)</a:t>
            </a: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439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254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dilatación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seguida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erosión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6017" y="2122932"/>
            <a:ext cx="2743750" cy="157429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36191" y="4896228"/>
            <a:ext cx="2808732" cy="16043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39813" y="2123811"/>
            <a:ext cx="2793774" cy="15932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42203" y="4934711"/>
            <a:ext cx="2802636" cy="1591056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638965" y="2756488"/>
            <a:ext cx="280670" cy="342265"/>
            <a:chOff x="4638965" y="2756488"/>
            <a:chExt cx="280670" cy="342265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38965" y="2756488"/>
              <a:ext cx="280661" cy="34221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77156" y="2766060"/>
              <a:ext cx="216408" cy="28803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677156" y="2766060"/>
              <a:ext cx="216535" cy="288290"/>
            </a:xfrm>
            <a:custGeom>
              <a:avLst/>
              <a:gdLst/>
              <a:ahLst/>
              <a:cxnLst/>
              <a:rect l="l" t="t" r="r" b="b"/>
              <a:pathLst>
                <a:path w="216535" h="288289">
                  <a:moveTo>
                    <a:pt x="0" y="72009"/>
                  </a:moveTo>
                  <a:lnTo>
                    <a:pt x="108204" y="72009"/>
                  </a:lnTo>
                  <a:lnTo>
                    <a:pt x="108204" y="0"/>
                  </a:lnTo>
                  <a:lnTo>
                    <a:pt x="216408" y="144017"/>
                  </a:lnTo>
                  <a:lnTo>
                    <a:pt x="108204" y="288036"/>
                  </a:lnTo>
                  <a:lnTo>
                    <a:pt x="108204" y="216026"/>
                  </a:lnTo>
                  <a:lnTo>
                    <a:pt x="0" y="216026"/>
                  </a:lnTo>
                  <a:lnTo>
                    <a:pt x="0" y="72009"/>
                  </a:lnTo>
                  <a:close/>
                </a:path>
              </a:pathLst>
            </a:custGeom>
            <a:ln w="9143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4747169" y="5615525"/>
            <a:ext cx="280670" cy="342265"/>
            <a:chOff x="4747169" y="5615525"/>
            <a:chExt cx="280670" cy="342265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47169" y="5615525"/>
              <a:ext cx="280661" cy="34221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85359" y="5625083"/>
              <a:ext cx="216407" cy="28803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785359" y="5625083"/>
              <a:ext cx="216535" cy="288290"/>
            </a:xfrm>
            <a:custGeom>
              <a:avLst/>
              <a:gdLst/>
              <a:ahLst/>
              <a:cxnLst/>
              <a:rect l="l" t="t" r="r" b="b"/>
              <a:pathLst>
                <a:path w="216535" h="288289">
                  <a:moveTo>
                    <a:pt x="0" y="72008"/>
                  </a:moveTo>
                  <a:lnTo>
                    <a:pt x="108203" y="72008"/>
                  </a:lnTo>
                  <a:lnTo>
                    <a:pt x="108203" y="0"/>
                  </a:lnTo>
                  <a:lnTo>
                    <a:pt x="216407" y="144017"/>
                  </a:lnTo>
                  <a:lnTo>
                    <a:pt x="108203" y="288035"/>
                  </a:lnTo>
                  <a:lnTo>
                    <a:pt x="108203" y="216026"/>
                  </a:lnTo>
                  <a:lnTo>
                    <a:pt x="0" y="216026"/>
                  </a:lnTo>
                  <a:lnTo>
                    <a:pt x="0" y="72008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pic>
        <p:nvPicPr>
          <p:cNvPr id="18" name="Picture 4">
            <a:extLst>
              <a:ext uri="{FF2B5EF4-FFF2-40B4-BE49-F238E27FC236}">
                <a16:creationId xmlns:a16="http://schemas.microsoft.com/office/drawing/2014/main" id="{206BF569-1928-7987-7D41-4E3146A353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6" descr="Ingeniería de Sistemas - UNCP">
            <a:extLst>
              <a:ext uri="{FF2B5EF4-FFF2-40B4-BE49-F238E27FC236}">
                <a16:creationId xmlns:a16="http://schemas.microsoft.com/office/drawing/2014/main" id="{41C29ED2-E298-98FB-0A46-D08CFFB57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Transformaciones</a:t>
            </a:r>
            <a:r>
              <a:rPr spc="-35" dirty="0"/>
              <a:t> </a:t>
            </a:r>
            <a:r>
              <a:rPr dirty="0"/>
              <a:t>Espaciales</a:t>
            </a:r>
            <a:r>
              <a:rPr spc="-35" dirty="0"/>
              <a:t> </a:t>
            </a:r>
            <a:r>
              <a:rPr spc="-10" dirty="0"/>
              <a:t>Afines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13865"/>
            <a:ext cx="59759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dirty="0">
                <a:latin typeface="Calibri"/>
                <a:cs typeface="Calibri"/>
              </a:rPr>
              <a:t>“Mueven”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píxeles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siguiendo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una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transformación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afín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0540" y="2980226"/>
            <a:ext cx="2790825" cy="106553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232410" indent="-194310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232410" algn="l"/>
              </a:tabLst>
            </a:pPr>
            <a:r>
              <a:rPr sz="2000" dirty="0">
                <a:latin typeface="Calibri"/>
                <a:cs typeface="Calibri"/>
              </a:rPr>
              <a:t>Algunos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casos:</a:t>
            </a:r>
            <a:endParaRPr sz="2000">
              <a:latin typeface="Calibri"/>
              <a:cs typeface="Calibri"/>
            </a:endParaRPr>
          </a:p>
          <a:p>
            <a:pPr marL="254000">
              <a:lnSpc>
                <a:spcPct val="100000"/>
              </a:lnSpc>
              <a:spcBef>
                <a:spcPts val="445"/>
              </a:spcBef>
            </a:pPr>
            <a:r>
              <a:rPr sz="1800" dirty="0">
                <a:solidFill>
                  <a:srgbClr val="9900CC"/>
                </a:solidFill>
                <a:latin typeface="Calibri"/>
                <a:cs typeface="Calibri"/>
              </a:rPr>
              <a:t>-</a:t>
            </a:r>
            <a:r>
              <a:rPr sz="1800" spc="260" dirty="0">
                <a:solidFill>
                  <a:srgbClr val="9900C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9900CC"/>
                </a:solidFill>
                <a:latin typeface="Calibri"/>
                <a:cs typeface="Calibri"/>
              </a:rPr>
              <a:t>Escalamiento</a:t>
            </a:r>
            <a:r>
              <a:rPr sz="1800" spc="-25" dirty="0">
                <a:solidFill>
                  <a:srgbClr val="9900C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9900CC"/>
                </a:solidFill>
                <a:latin typeface="Calibri"/>
                <a:cs typeface="Calibri"/>
              </a:rPr>
              <a:t>y</a:t>
            </a:r>
            <a:r>
              <a:rPr sz="1800" spc="-25" dirty="0">
                <a:solidFill>
                  <a:srgbClr val="9900C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9900CC"/>
                </a:solidFill>
                <a:latin typeface="Calibri"/>
                <a:cs typeface="Calibri"/>
              </a:rPr>
              <a:t>traslación</a:t>
            </a:r>
            <a:endParaRPr sz="1800">
              <a:latin typeface="Calibri"/>
              <a:cs typeface="Calibri"/>
            </a:endParaRPr>
          </a:p>
          <a:p>
            <a:pPr marL="1189355">
              <a:lnSpc>
                <a:spcPct val="100000"/>
              </a:lnSpc>
              <a:spcBef>
                <a:spcPts val="700"/>
              </a:spcBef>
            </a:pPr>
            <a:r>
              <a:rPr sz="2475" i="1" baseline="15151" dirty="0">
                <a:latin typeface="Times New Roman"/>
                <a:cs typeface="Times New Roman"/>
              </a:rPr>
              <a:t>x</a:t>
            </a:r>
            <a:r>
              <a:rPr sz="950" i="1" dirty="0">
                <a:latin typeface="Times New Roman"/>
                <a:cs typeface="Times New Roman"/>
              </a:rPr>
              <a:t>out</a:t>
            </a:r>
            <a:r>
              <a:rPr sz="950" i="1" spc="365" dirty="0">
                <a:latin typeface="Times New Roman"/>
                <a:cs typeface="Times New Roman"/>
              </a:rPr>
              <a:t> </a:t>
            </a:r>
            <a:r>
              <a:rPr sz="2475" baseline="15151" dirty="0">
                <a:latin typeface="Symbol"/>
                <a:cs typeface="Symbol"/>
              </a:rPr>
              <a:t></a:t>
            </a:r>
            <a:r>
              <a:rPr sz="2475" spc="-82" baseline="15151" dirty="0">
                <a:latin typeface="Times New Roman"/>
                <a:cs typeface="Times New Roman"/>
              </a:rPr>
              <a:t> </a:t>
            </a:r>
            <a:r>
              <a:rPr sz="2475" i="1" baseline="15151" dirty="0">
                <a:latin typeface="Times New Roman"/>
                <a:cs typeface="Times New Roman"/>
              </a:rPr>
              <a:t>c</a:t>
            </a:r>
            <a:r>
              <a:rPr sz="950" i="1" dirty="0">
                <a:latin typeface="Times New Roman"/>
                <a:cs typeface="Times New Roman"/>
              </a:rPr>
              <a:t>x</a:t>
            </a:r>
            <a:r>
              <a:rPr sz="950" i="1" spc="-55" dirty="0">
                <a:latin typeface="Times New Roman"/>
                <a:cs typeface="Times New Roman"/>
              </a:rPr>
              <a:t> </a:t>
            </a:r>
            <a:r>
              <a:rPr sz="2475" i="1" baseline="15151" dirty="0">
                <a:latin typeface="Times New Roman"/>
                <a:cs typeface="Times New Roman"/>
              </a:rPr>
              <a:t>x</a:t>
            </a:r>
            <a:r>
              <a:rPr sz="950" i="1" dirty="0">
                <a:latin typeface="Times New Roman"/>
                <a:cs typeface="Times New Roman"/>
              </a:rPr>
              <a:t>in</a:t>
            </a:r>
            <a:r>
              <a:rPr sz="950" i="1" spc="225" dirty="0">
                <a:latin typeface="Times New Roman"/>
                <a:cs typeface="Times New Roman"/>
              </a:rPr>
              <a:t> </a:t>
            </a:r>
            <a:r>
              <a:rPr sz="2475" baseline="15151" dirty="0">
                <a:latin typeface="Symbol"/>
                <a:cs typeface="Symbol"/>
              </a:rPr>
              <a:t></a:t>
            </a:r>
            <a:r>
              <a:rPr sz="2475" spc="-240" baseline="15151" dirty="0">
                <a:latin typeface="Times New Roman"/>
                <a:cs typeface="Times New Roman"/>
              </a:rPr>
              <a:t> </a:t>
            </a:r>
            <a:r>
              <a:rPr sz="2475" i="1" spc="-37" baseline="15151" dirty="0">
                <a:latin typeface="Times New Roman"/>
                <a:cs typeface="Times New Roman"/>
              </a:rPr>
              <a:t>t</a:t>
            </a:r>
            <a:r>
              <a:rPr sz="950" i="1" spc="-25" dirty="0">
                <a:latin typeface="Times New Roman"/>
                <a:cs typeface="Times New Roman"/>
              </a:rPr>
              <a:t>x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54779" y="2711195"/>
            <a:ext cx="1184275" cy="99060"/>
          </a:xfrm>
          <a:custGeom>
            <a:avLst/>
            <a:gdLst/>
            <a:ahLst/>
            <a:cxnLst/>
            <a:rect l="l" t="t" r="r" b="b"/>
            <a:pathLst>
              <a:path w="1184275" h="99060">
                <a:moveTo>
                  <a:pt x="1184148" y="0"/>
                </a:moveTo>
                <a:lnTo>
                  <a:pt x="1173003" y="19258"/>
                </a:lnTo>
                <a:lnTo>
                  <a:pt x="1142619" y="35004"/>
                </a:lnTo>
                <a:lnTo>
                  <a:pt x="1097565" y="45630"/>
                </a:lnTo>
                <a:lnTo>
                  <a:pt x="1042416" y="49529"/>
                </a:lnTo>
                <a:lnTo>
                  <a:pt x="733806" y="49529"/>
                </a:lnTo>
                <a:lnTo>
                  <a:pt x="678656" y="53429"/>
                </a:lnTo>
                <a:lnTo>
                  <a:pt x="633602" y="64055"/>
                </a:lnTo>
                <a:lnTo>
                  <a:pt x="603218" y="79801"/>
                </a:lnTo>
                <a:lnTo>
                  <a:pt x="592074" y="99059"/>
                </a:lnTo>
                <a:lnTo>
                  <a:pt x="580929" y="79801"/>
                </a:lnTo>
                <a:lnTo>
                  <a:pt x="550545" y="64055"/>
                </a:lnTo>
                <a:lnTo>
                  <a:pt x="505491" y="53429"/>
                </a:lnTo>
                <a:lnTo>
                  <a:pt x="450342" y="49529"/>
                </a:lnTo>
                <a:lnTo>
                  <a:pt x="141732" y="49529"/>
                </a:lnTo>
                <a:lnTo>
                  <a:pt x="86582" y="45630"/>
                </a:lnTo>
                <a:lnTo>
                  <a:pt x="41528" y="35004"/>
                </a:lnTo>
                <a:lnTo>
                  <a:pt x="11144" y="19258"/>
                </a:lnTo>
                <a:lnTo>
                  <a:pt x="0" y="0"/>
                </a:lnTo>
              </a:path>
            </a:pathLst>
          </a:custGeom>
          <a:ln w="9143">
            <a:solidFill>
              <a:srgbClr val="BC4A4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479163" y="281190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latin typeface="Times New Roman"/>
                <a:cs typeface="Times New Roman"/>
              </a:rPr>
              <a:t>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92280" y="2031906"/>
            <a:ext cx="485775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3384" algn="l"/>
              </a:tabLst>
            </a:pPr>
            <a:r>
              <a:rPr sz="1700" i="1" spc="-50" dirty="0">
                <a:latin typeface="Times New Roman"/>
                <a:cs typeface="Times New Roman"/>
              </a:rPr>
              <a:t>t</a:t>
            </a:r>
            <a:r>
              <a:rPr sz="1700" i="1" dirty="0">
                <a:latin typeface="Times New Roman"/>
                <a:cs typeface="Times New Roman"/>
              </a:rPr>
              <a:t>	</a:t>
            </a:r>
            <a:r>
              <a:rPr sz="1700" i="1" spc="-50" dirty="0">
                <a:latin typeface="Times New Roman"/>
                <a:cs typeface="Times New Roman"/>
              </a:rPr>
              <a:t>t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60641" y="1763772"/>
            <a:ext cx="2441575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5"/>
              </a:spcBef>
              <a:tabLst>
                <a:tab pos="767715" algn="l"/>
                <a:tab pos="1250315" algn="l"/>
                <a:tab pos="1650364" algn="l"/>
              </a:tabLst>
            </a:pPr>
            <a:r>
              <a:rPr sz="2550" spc="-30" baseline="9803" dirty="0">
                <a:latin typeface="Symbol"/>
                <a:cs typeface="Symbol"/>
              </a:rPr>
              <a:t></a:t>
            </a:r>
            <a:r>
              <a:rPr sz="2550" spc="-337" baseline="9803" dirty="0">
                <a:latin typeface="Times New Roman"/>
                <a:cs typeface="Times New Roman"/>
              </a:rPr>
              <a:t> </a:t>
            </a:r>
            <a:r>
              <a:rPr sz="2550" i="1" baseline="14705" dirty="0">
                <a:latin typeface="Times New Roman"/>
                <a:cs typeface="Times New Roman"/>
              </a:rPr>
              <a:t>x</a:t>
            </a:r>
            <a:r>
              <a:rPr sz="950" i="1" dirty="0">
                <a:latin typeface="Times New Roman"/>
                <a:cs typeface="Times New Roman"/>
              </a:rPr>
              <a:t>out</a:t>
            </a:r>
            <a:r>
              <a:rPr sz="950" i="1" spc="90" dirty="0">
                <a:latin typeface="Times New Roman"/>
                <a:cs typeface="Times New Roman"/>
              </a:rPr>
              <a:t> </a:t>
            </a:r>
            <a:r>
              <a:rPr sz="2550" spc="-75" baseline="9803" dirty="0">
                <a:latin typeface="Symbol"/>
                <a:cs typeface="Symbol"/>
              </a:rPr>
              <a:t></a:t>
            </a:r>
            <a:r>
              <a:rPr sz="2550" baseline="9803" dirty="0">
                <a:latin typeface="Times New Roman"/>
                <a:cs typeface="Times New Roman"/>
              </a:rPr>
              <a:t>	</a:t>
            </a:r>
            <a:r>
              <a:rPr sz="2550" spc="-30" baseline="9803" dirty="0">
                <a:latin typeface="Symbol"/>
                <a:cs typeface="Symbol"/>
              </a:rPr>
              <a:t></a:t>
            </a:r>
            <a:r>
              <a:rPr sz="2550" i="1" spc="-30" baseline="14705" dirty="0">
                <a:latin typeface="Times New Roman"/>
                <a:cs typeface="Times New Roman"/>
              </a:rPr>
              <a:t>t</a:t>
            </a:r>
            <a:r>
              <a:rPr sz="950" spc="-20" dirty="0">
                <a:latin typeface="Times New Roman"/>
                <a:cs typeface="Times New Roman"/>
              </a:rPr>
              <a:t>11</a:t>
            </a:r>
            <a:r>
              <a:rPr sz="950" dirty="0">
                <a:latin typeface="Times New Roman"/>
                <a:cs typeface="Times New Roman"/>
              </a:rPr>
              <a:t>	</a:t>
            </a:r>
            <a:r>
              <a:rPr sz="2550" i="1" spc="-37" baseline="14705" dirty="0">
                <a:latin typeface="Times New Roman"/>
                <a:cs typeface="Times New Roman"/>
              </a:rPr>
              <a:t>t</a:t>
            </a:r>
            <a:r>
              <a:rPr sz="950" spc="-25" dirty="0">
                <a:latin typeface="Times New Roman"/>
                <a:cs typeface="Times New Roman"/>
              </a:rPr>
              <a:t>12</a:t>
            </a:r>
            <a:r>
              <a:rPr sz="950" dirty="0">
                <a:latin typeface="Times New Roman"/>
                <a:cs typeface="Times New Roman"/>
              </a:rPr>
              <a:t>	</a:t>
            </a:r>
            <a:r>
              <a:rPr sz="2550" i="1" baseline="14705" dirty="0">
                <a:latin typeface="Times New Roman"/>
                <a:cs typeface="Times New Roman"/>
              </a:rPr>
              <a:t>t</a:t>
            </a:r>
            <a:r>
              <a:rPr sz="950" dirty="0">
                <a:latin typeface="Times New Roman"/>
                <a:cs typeface="Times New Roman"/>
              </a:rPr>
              <a:t>31</a:t>
            </a:r>
            <a:r>
              <a:rPr sz="950" spc="-55" dirty="0">
                <a:latin typeface="Times New Roman"/>
                <a:cs typeface="Times New Roman"/>
              </a:rPr>
              <a:t> </a:t>
            </a:r>
            <a:r>
              <a:rPr sz="2550" spc="-30" baseline="9803" dirty="0">
                <a:latin typeface="Symbol"/>
                <a:cs typeface="Symbol"/>
              </a:rPr>
              <a:t></a:t>
            </a:r>
            <a:r>
              <a:rPr sz="2550" spc="-195" baseline="9803" dirty="0">
                <a:latin typeface="Times New Roman"/>
                <a:cs typeface="Times New Roman"/>
              </a:rPr>
              <a:t> </a:t>
            </a:r>
            <a:r>
              <a:rPr sz="2550" spc="-30" baseline="9803" dirty="0">
                <a:latin typeface="Symbol"/>
                <a:cs typeface="Symbol"/>
              </a:rPr>
              <a:t></a:t>
            </a:r>
            <a:r>
              <a:rPr sz="2550" spc="-337" baseline="9803" dirty="0">
                <a:latin typeface="Times New Roman"/>
                <a:cs typeface="Times New Roman"/>
              </a:rPr>
              <a:t> </a:t>
            </a:r>
            <a:r>
              <a:rPr sz="2550" i="1" baseline="14705" dirty="0">
                <a:latin typeface="Times New Roman"/>
                <a:cs typeface="Times New Roman"/>
              </a:rPr>
              <a:t>x</a:t>
            </a:r>
            <a:r>
              <a:rPr sz="950" i="1" dirty="0">
                <a:latin typeface="Times New Roman"/>
                <a:cs typeface="Times New Roman"/>
              </a:rPr>
              <a:t>in</a:t>
            </a:r>
            <a:r>
              <a:rPr sz="950" i="1" spc="65" dirty="0">
                <a:latin typeface="Times New Roman"/>
                <a:cs typeface="Times New Roman"/>
              </a:rPr>
              <a:t> </a:t>
            </a:r>
            <a:r>
              <a:rPr sz="2550" spc="-75" baseline="9803" dirty="0">
                <a:latin typeface="Symbol"/>
                <a:cs typeface="Symbol"/>
              </a:rPr>
              <a:t></a:t>
            </a:r>
            <a:endParaRPr sz="2550" baseline="9803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81505" y="1931829"/>
            <a:ext cx="607695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700" spc="-20" dirty="0">
                <a:latin typeface="Symbol"/>
                <a:cs typeface="Symbol"/>
              </a:rPr>
              <a:t></a:t>
            </a:r>
            <a:r>
              <a:rPr sz="1700" spc="-130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Symbol"/>
                <a:cs typeface="Symbol"/>
              </a:rPr>
              <a:t></a:t>
            </a:r>
            <a:r>
              <a:rPr sz="1700" spc="-200" dirty="0">
                <a:latin typeface="Times New Roman"/>
                <a:cs typeface="Times New Roman"/>
              </a:rPr>
              <a:t> </a:t>
            </a:r>
            <a:r>
              <a:rPr sz="2550" i="1" baseline="-26143" dirty="0">
                <a:latin typeface="Times New Roman"/>
                <a:cs typeface="Times New Roman"/>
              </a:rPr>
              <a:t>y</a:t>
            </a:r>
            <a:r>
              <a:rPr sz="2550" i="1" spc="104" baseline="-26143" dirty="0">
                <a:latin typeface="Times New Roman"/>
                <a:cs typeface="Times New Roman"/>
              </a:rPr>
              <a:t>  </a:t>
            </a:r>
            <a:r>
              <a:rPr sz="1700" spc="-50" dirty="0">
                <a:latin typeface="Symbol"/>
                <a:cs typeface="Symbol"/>
              </a:rPr>
              <a:t>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86041" y="1931829"/>
            <a:ext cx="923925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438150" algn="l"/>
              </a:tabLst>
            </a:pPr>
            <a:r>
              <a:rPr sz="1700" spc="-20" dirty="0">
                <a:latin typeface="Symbol"/>
                <a:cs typeface="Symbol"/>
              </a:rPr>
              <a:t></a:t>
            </a:r>
            <a:r>
              <a:rPr sz="1700" spc="-190" dirty="0">
                <a:latin typeface="Times New Roman"/>
                <a:cs typeface="Times New Roman"/>
              </a:rPr>
              <a:t> </a:t>
            </a:r>
            <a:r>
              <a:rPr sz="2550" i="1" spc="-75" baseline="-26143" dirty="0">
                <a:latin typeface="Times New Roman"/>
                <a:cs typeface="Times New Roman"/>
              </a:rPr>
              <a:t>y</a:t>
            </a:r>
            <a:r>
              <a:rPr sz="2550" i="1" baseline="-26143" dirty="0">
                <a:latin typeface="Times New Roman"/>
                <a:cs typeface="Times New Roman"/>
              </a:rPr>
              <a:t>	</a:t>
            </a:r>
            <a:r>
              <a:rPr sz="1700" dirty="0">
                <a:latin typeface="Symbol"/>
                <a:cs typeface="Symbol"/>
              </a:rPr>
              <a:t>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2550" baseline="-26143" dirty="0">
                <a:latin typeface="Symbol"/>
                <a:cs typeface="Symbol"/>
              </a:rPr>
              <a:t></a:t>
            </a:r>
            <a:r>
              <a:rPr sz="2550" spc="-52" baseline="-26143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Symbol"/>
                <a:cs typeface="Symbol"/>
              </a:rPr>
              <a:t></a:t>
            </a:r>
            <a:r>
              <a:rPr sz="2550" i="1" spc="-37" baseline="-26143" dirty="0">
                <a:latin typeface="Times New Roman"/>
                <a:cs typeface="Times New Roman"/>
              </a:rPr>
              <a:t>t</a:t>
            </a:r>
            <a:endParaRPr sz="2550" baseline="-26143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11441" y="2138707"/>
            <a:ext cx="10668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-50" dirty="0">
                <a:latin typeface="Symbol"/>
                <a:cs typeface="Symbol"/>
              </a:rPr>
              <a:t>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90377" y="2087562"/>
            <a:ext cx="846455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538480" algn="l"/>
              </a:tabLst>
            </a:pPr>
            <a:r>
              <a:rPr sz="950" i="1" dirty="0">
                <a:latin typeface="Times New Roman"/>
                <a:cs typeface="Times New Roman"/>
              </a:rPr>
              <a:t>out</a:t>
            </a:r>
            <a:r>
              <a:rPr sz="950" i="1" spc="80" dirty="0">
                <a:latin typeface="Times New Roman"/>
                <a:cs typeface="Times New Roman"/>
              </a:rPr>
              <a:t> </a:t>
            </a:r>
            <a:r>
              <a:rPr sz="2550" spc="-75" baseline="-13071" dirty="0">
                <a:latin typeface="Symbol"/>
                <a:cs typeface="Symbol"/>
              </a:rPr>
              <a:t></a:t>
            </a:r>
            <a:r>
              <a:rPr sz="2550" baseline="-13071" dirty="0">
                <a:latin typeface="Times New Roman"/>
                <a:cs typeface="Times New Roman"/>
              </a:rPr>
              <a:t>	</a:t>
            </a:r>
            <a:r>
              <a:rPr sz="2550" baseline="-13071" dirty="0">
                <a:latin typeface="Symbol"/>
                <a:cs typeface="Symbol"/>
              </a:rPr>
              <a:t></a:t>
            </a:r>
            <a:r>
              <a:rPr sz="2550" spc="120" baseline="-13071" dirty="0">
                <a:latin typeface="Times New Roman"/>
                <a:cs typeface="Times New Roman"/>
              </a:rPr>
              <a:t> </a:t>
            </a:r>
            <a:r>
              <a:rPr sz="950" spc="-25" dirty="0">
                <a:latin typeface="Times New Roman"/>
                <a:cs typeface="Times New Roman"/>
              </a:rPr>
              <a:t>21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30258" y="2087562"/>
            <a:ext cx="1171575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434975" algn="l"/>
              </a:tabLst>
            </a:pPr>
            <a:r>
              <a:rPr sz="950" spc="-25" dirty="0">
                <a:latin typeface="Times New Roman"/>
                <a:cs typeface="Times New Roman"/>
              </a:rPr>
              <a:t>22</a:t>
            </a:r>
            <a:r>
              <a:rPr sz="950" dirty="0">
                <a:latin typeface="Times New Roman"/>
                <a:cs typeface="Times New Roman"/>
              </a:rPr>
              <a:t>	32</a:t>
            </a:r>
            <a:r>
              <a:rPr sz="950" spc="5" dirty="0">
                <a:latin typeface="Times New Roman"/>
                <a:cs typeface="Times New Roman"/>
              </a:rPr>
              <a:t> </a:t>
            </a:r>
            <a:r>
              <a:rPr sz="2550" spc="-30" baseline="-13071" dirty="0">
                <a:latin typeface="Symbol"/>
                <a:cs typeface="Symbol"/>
              </a:rPr>
              <a:t></a:t>
            </a:r>
            <a:r>
              <a:rPr sz="2550" spc="-195" baseline="-13071" dirty="0">
                <a:latin typeface="Times New Roman"/>
                <a:cs typeface="Times New Roman"/>
              </a:rPr>
              <a:t> </a:t>
            </a:r>
            <a:r>
              <a:rPr sz="2550" baseline="-13071" dirty="0">
                <a:latin typeface="Symbol"/>
                <a:cs typeface="Symbol"/>
              </a:rPr>
              <a:t></a:t>
            </a:r>
            <a:r>
              <a:rPr sz="2550" spc="82" baseline="-13071" dirty="0">
                <a:latin typeface="Times New Roman"/>
                <a:cs typeface="Times New Roman"/>
              </a:rPr>
              <a:t>  </a:t>
            </a:r>
            <a:r>
              <a:rPr sz="950" i="1" dirty="0">
                <a:latin typeface="Times New Roman"/>
                <a:cs typeface="Times New Roman"/>
              </a:rPr>
              <a:t>in</a:t>
            </a:r>
            <a:r>
              <a:rPr sz="950" i="1" spc="25" dirty="0">
                <a:latin typeface="Times New Roman"/>
                <a:cs typeface="Times New Roman"/>
              </a:rPr>
              <a:t> </a:t>
            </a:r>
            <a:r>
              <a:rPr sz="2550" spc="-75" baseline="-13071" dirty="0">
                <a:latin typeface="Symbol"/>
                <a:cs typeface="Symbol"/>
              </a:rPr>
              <a:t></a:t>
            </a:r>
            <a:endParaRPr sz="2550" baseline="-13071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86041" y="2355696"/>
            <a:ext cx="558165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550" spc="-502" baseline="3267" dirty="0">
                <a:latin typeface="Symbol"/>
                <a:cs typeface="Symbol"/>
              </a:rPr>
              <a:t></a:t>
            </a:r>
            <a:r>
              <a:rPr sz="2550" spc="-502" baseline="-14705" dirty="0">
                <a:latin typeface="Symbol"/>
                <a:cs typeface="Symbol"/>
              </a:rPr>
              <a:t></a:t>
            </a:r>
            <a:r>
              <a:rPr sz="2550" spc="569" baseline="-1470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</a:t>
            </a:r>
            <a:r>
              <a:rPr sz="1700" spc="425" dirty="0">
                <a:latin typeface="Times New Roman"/>
                <a:cs typeface="Times New Roman"/>
              </a:rPr>
              <a:t> </a:t>
            </a:r>
            <a:r>
              <a:rPr sz="2550" spc="-540" baseline="3267" dirty="0">
                <a:latin typeface="Symbol"/>
                <a:cs typeface="Symbol"/>
              </a:rPr>
              <a:t></a:t>
            </a:r>
            <a:r>
              <a:rPr sz="2550" spc="-540" baseline="-14705" dirty="0">
                <a:latin typeface="Symbol"/>
                <a:cs typeface="Symbol"/>
              </a:rPr>
              <a:t></a:t>
            </a:r>
            <a:endParaRPr sz="2550" baseline="-14705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65541" y="2355696"/>
            <a:ext cx="1736725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5"/>
              </a:spcBef>
              <a:tabLst>
                <a:tab pos="591820" algn="l"/>
                <a:tab pos="989965" algn="l"/>
              </a:tabLst>
            </a:pPr>
            <a:r>
              <a:rPr sz="2550" spc="-502" baseline="3267" dirty="0">
                <a:latin typeface="Symbol"/>
                <a:cs typeface="Symbol"/>
              </a:rPr>
              <a:t></a:t>
            </a:r>
            <a:r>
              <a:rPr sz="2550" spc="-502" baseline="-14705" dirty="0">
                <a:latin typeface="Symbol"/>
                <a:cs typeface="Symbol"/>
              </a:rPr>
              <a:t></a:t>
            </a:r>
            <a:r>
              <a:rPr sz="2550" spc="-22" baseline="-14705" dirty="0">
                <a:latin typeface="Times New Roman"/>
                <a:cs typeface="Times New Roman"/>
              </a:rPr>
              <a:t> </a:t>
            </a:r>
            <a:r>
              <a:rPr sz="1700" spc="-50" dirty="0">
                <a:latin typeface="Times New Roman"/>
                <a:cs typeface="Times New Roman"/>
              </a:rPr>
              <a:t>0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50" dirty="0">
                <a:latin typeface="Times New Roman"/>
                <a:cs typeface="Times New Roman"/>
              </a:rPr>
              <a:t>0</a:t>
            </a:r>
            <a:r>
              <a:rPr sz="1700" dirty="0">
                <a:latin typeface="Times New Roman"/>
                <a:cs typeface="Times New Roman"/>
              </a:rPr>
              <a:t>	1 </a:t>
            </a:r>
            <a:r>
              <a:rPr sz="2550" spc="-502" baseline="3267" dirty="0">
                <a:latin typeface="Symbol"/>
                <a:cs typeface="Symbol"/>
              </a:rPr>
              <a:t></a:t>
            </a:r>
            <a:r>
              <a:rPr sz="2550" spc="-502" baseline="-14705" dirty="0">
                <a:latin typeface="Symbol"/>
                <a:cs typeface="Symbol"/>
              </a:rPr>
              <a:t></a:t>
            </a:r>
            <a:r>
              <a:rPr sz="2550" spc="-195" baseline="-14705" dirty="0">
                <a:latin typeface="Times New Roman"/>
                <a:cs typeface="Times New Roman"/>
              </a:rPr>
              <a:t> </a:t>
            </a:r>
            <a:r>
              <a:rPr sz="2550" spc="-502" baseline="3267" dirty="0">
                <a:latin typeface="Symbol"/>
                <a:cs typeface="Symbol"/>
              </a:rPr>
              <a:t></a:t>
            </a:r>
            <a:r>
              <a:rPr sz="2550" spc="-502" baseline="-14705" dirty="0">
                <a:latin typeface="Symbol"/>
                <a:cs typeface="Symbol"/>
              </a:rPr>
              <a:t></a:t>
            </a:r>
            <a:r>
              <a:rPr sz="2550" spc="179" baseline="-1470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</a:t>
            </a:r>
            <a:r>
              <a:rPr sz="1700" spc="150" dirty="0">
                <a:latin typeface="Times New Roman"/>
                <a:cs typeface="Times New Roman"/>
              </a:rPr>
              <a:t> </a:t>
            </a:r>
            <a:r>
              <a:rPr sz="2550" spc="-555" baseline="3267" dirty="0">
                <a:latin typeface="Symbol"/>
                <a:cs typeface="Symbol"/>
              </a:rPr>
              <a:t></a:t>
            </a:r>
            <a:r>
              <a:rPr sz="2550" spc="-555" baseline="-14705" dirty="0">
                <a:latin typeface="Symbol"/>
                <a:cs typeface="Symbol"/>
              </a:rPr>
              <a:t></a:t>
            </a:r>
            <a:endParaRPr sz="2550" baseline="-14705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87593" y="4513888"/>
            <a:ext cx="226695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50" spc="-30" baseline="-4901" dirty="0">
                <a:latin typeface="Symbol"/>
                <a:cs typeface="Symbol"/>
              </a:rPr>
              <a:t></a:t>
            </a:r>
            <a:r>
              <a:rPr sz="2550" spc="-330" baseline="-4901" dirty="0">
                <a:latin typeface="Times New Roman"/>
                <a:cs typeface="Times New Roman"/>
              </a:rPr>
              <a:t> </a:t>
            </a:r>
            <a:r>
              <a:rPr sz="1700" i="1" spc="-50" dirty="0">
                <a:latin typeface="Times New Roman"/>
                <a:cs typeface="Times New Roman"/>
              </a:rPr>
              <a:t>x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92963" y="4513888"/>
            <a:ext cx="63373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14350" algn="l"/>
              </a:tabLst>
            </a:pPr>
            <a:r>
              <a:rPr sz="2550" spc="-37" baseline="-4901" dirty="0">
                <a:latin typeface="Symbol"/>
                <a:cs typeface="Symbol"/>
              </a:rPr>
              <a:t></a:t>
            </a:r>
            <a:r>
              <a:rPr sz="1700" i="1" spc="-25" dirty="0">
                <a:latin typeface="Times New Roman"/>
                <a:cs typeface="Times New Roman"/>
              </a:rPr>
              <a:t>c</a:t>
            </a:r>
            <a:r>
              <a:rPr sz="1700" i="1" dirty="0">
                <a:latin typeface="Times New Roman"/>
                <a:cs typeface="Times New Roman"/>
              </a:rPr>
              <a:t>	</a:t>
            </a:r>
            <a:r>
              <a:rPr sz="1700" spc="-50" dirty="0">
                <a:latin typeface="Times New Roman"/>
                <a:cs typeface="Times New Roman"/>
              </a:rPr>
              <a:t>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88121" y="4530769"/>
            <a:ext cx="1867535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61415" algn="l"/>
                <a:tab pos="1772920" algn="l"/>
              </a:tabLst>
            </a:pPr>
            <a:r>
              <a:rPr sz="1700" spc="-50" dirty="0">
                <a:latin typeface="Symbol"/>
                <a:cs typeface="Symbol"/>
              </a:rPr>
              <a:t>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2550" i="1" baseline="4901" dirty="0">
                <a:latin typeface="Times New Roman"/>
                <a:cs typeface="Times New Roman"/>
              </a:rPr>
              <a:t>t</a:t>
            </a:r>
            <a:r>
              <a:rPr sz="2550" i="1" spc="562" baseline="4901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Symbol"/>
                <a:cs typeface="Symbol"/>
              </a:rPr>
              <a:t></a:t>
            </a:r>
            <a:r>
              <a:rPr sz="1700" spc="-130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Symbol"/>
                <a:cs typeface="Symbol"/>
              </a:rPr>
              <a:t></a:t>
            </a:r>
            <a:r>
              <a:rPr sz="1700" spc="-220" dirty="0">
                <a:latin typeface="Times New Roman"/>
                <a:cs typeface="Times New Roman"/>
              </a:rPr>
              <a:t> </a:t>
            </a:r>
            <a:r>
              <a:rPr sz="2550" i="1" spc="-75" baseline="4901" dirty="0">
                <a:latin typeface="Times New Roman"/>
                <a:cs typeface="Times New Roman"/>
              </a:rPr>
              <a:t>x</a:t>
            </a:r>
            <a:r>
              <a:rPr sz="2550" i="1" baseline="4901" dirty="0">
                <a:latin typeface="Times New Roman"/>
                <a:cs typeface="Times New Roman"/>
              </a:rPr>
              <a:t>	</a:t>
            </a:r>
            <a:r>
              <a:rPr sz="1700" spc="-50" dirty="0">
                <a:latin typeface="Symbol"/>
                <a:cs typeface="Symbol"/>
              </a:rPr>
              <a:t>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87593" y="4660613"/>
            <a:ext cx="970280" cy="3619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10185">
              <a:lnSpc>
                <a:spcPts val="860"/>
              </a:lnSpc>
              <a:spcBef>
                <a:spcPts val="130"/>
              </a:spcBef>
              <a:tabLst>
                <a:tab pos="902335" algn="l"/>
              </a:tabLst>
            </a:pPr>
            <a:r>
              <a:rPr sz="950" i="1" spc="-25" dirty="0">
                <a:latin typeface="Times New Roman"/>
                <a:cs typeface="Times New Roman"/>
              </a:rPr>
              <a:t>out</a:t>
            </a:r>
            <a:r>
              <a:rPr sz="950" i="1" dirty="0">
                <a:latin typeface="Times New Roman"/>
                <a:cs typeface="Times New Roman"/>
              </a:rPr>
              <a:t>	</a:t>
            </a:r>
            <a:r>
              <a:rPr sz="950" i="1" spc="-50" dirty="0">
                <a:latin typeface="Times New Roman"/>
                <a:cs typeface="Times New Roman"/>
              </a:rPr>
              <a:t>x</a:t>
            </a: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ts val="1760"/>
              </a:lnSpc>
              <a:tabLst>
                <a:tab pos="412750" algn="l"/>
                <a:tab pos="717550" algn="l"/>
              </a:tabLst>
            </a:pPr>
            <a:r>
              <a:rPr sz="1700" spc="-50" dirty="0">
                <a:latin typeface="Symbol"/>
                <a:cs typeface="Symbol"/>
              </a:rPr>
              <a:t>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50" dirty="0">
                <a:latin typeface="Symbol"/>
                <a:cs typeface="Symbol"/>
              </a:rPr>
              <a:t>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50" dirty="0">
                <a:latin typeface="Symbol"/>
                <a:cs typeface="Symbol"/>
              </a:rPr>
              <a:t>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05337" y="4660613"/>
            <a:ext cx="650875" cy="3619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860"/>
              </a:lnSpc>
              <a:spcBef>
                <a:spcPts val="130"/>
              </a:spcBef>
              <a:tabLst>
                <a:tab pos="420370" algn="l"/>
              </a:tabLst>
            </a:pPr>
            <a:r>
              <a:rPr sz="950" i="1" spc="-50" dirty="0">
                <a:latin typeface="Times New Roman"/>
                <a:cs typeface="Times New Roman"/>
              </a:rPr>
              <a:t>x</a:t>
            </a:r>
            <a:r>
              <a:rPr sz="950" i="1" dirty="0">
                <a:latin typeface="Times New Roman"/>
                <a:cs typeface="Times New Roman"/>
              </a:rPr>
              <a:t>	</a:t>
            </a:r>
            <a:r>
              <a:rPr sz="950" i="1" spc="-25" dirty="0">
                <a:latin typeface="Times New Roman"/>
                <a:cs typeface="Times New Roman"/>
              </a:rPr>
              <a:t>in</a:t>
            </a:r>
            <a:endParaRPr sz="950">
              <a:latin typeface="Times New Roman"/>
              <a:cs typeface="Times New Roman"/>
            </a:endParaRPr>
          </a:p>
          <a:p>
            <a:pPr marL="105410">
              <a:lnSpc>
                <a:spcPts val="1760"/>
              </a:lnSpc>
              <a:tabLst>
                <a:tab pos="556260" algn="l"/>
              </a:tabLst>
            </a:pPr>
            <a:r>
              <a:rPr sz="1700" spc="-20" dirty="0">
                <a:latin typeface="Symbol"/>
                <a:cs typeface="Symbol"/>
              </a:rPr>
              <a:t></a:t>
            </a:r>
            <a:r>
              <a:rPr sz="1700" spc="-125" dirty="0">
                <a:latin typeface="Times New Roman"/>
                <a:cs typeface="Times New Roman"/>
              </a:rPr>
              <a:t> </a:t>
            </a:r>
            <a:r>
              <a:rPr sz="1700" spc="-60" dirty="0">
                <a:latin typeface="Symbol"/>
                <a:cs typeface="Symbol"/>
              </a:rPr>
              <a:t>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50" dirty="0">
                <a:latin typeface="Symbol"/>
                <a:cs typeface="Symbol"/>
              </a:rPr>
              <a:t>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62193" y="4838148"/>
            <a:ext cx="140081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204595" algn="l"/>
              </a:tabLst>
            </a:pPr>
            <a:r>
              <a:rPr sz="2550" spc="-30" baseline="-27777" dirty="0">
                <a:latin typeface="Symbol"/>
                <a:cs typeface="Symbol"/>
              </a:rPr>
              <a:t></a:t>
            </a:r>
            <a:r>
              <a:rPr sz="2550" spc="-292" baseline="-27777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y</a:t>
            </a:r>
            <a:r>
              <a:rPr sz="1425" i="1" baseline="-26315" dirty="0">
                <a:latin typeface="Times New Roman"/>
                <a:cs typeface="Times New Roman"/>
              </a:rPr>
              <a:t>out</a:t>
            </a:r>
            <a:r>
              <a:rPr sz="1425" i="1" spc="82" baseline="-26315" dirty="0">
                <a:latin typeface="Times New Roman"/>
                <a:cs typeface="Times New Roman"/>
              </a:rPr>
              <a:t> </a:t>
            </a:r>
            <a:r>
              <a:rPr sz="2550" baseline="-27777" dirty="0">
                <a:latin typeface="Symbol"/>
                <a:cs typeface="Symbol"/>
              </a:rPr>
              <a:t></a:t>
            </a:r>
            <a:r>
              <a:rPr sz="2550" baseline="-2777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Symbol"/>
                <a:cs typeface="Symbol"/>
              </a:rPr>
              <a:t>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2550" spc="-30" baseline="-27777" dirty="0">
                <a:latin typeface="Symbol"/>
                <a:cs typeface="Symbol"/>
              </a:rPr>
              <a:t></a:t>
            </a:r>
            <a:r>
              <a:rPr sz="2550" spc="-142" baseline="-27777" dirty="0">
                <a:latin typeface="Times New Roman"/>
                <a:cs typeface="Times New Roman"/>
              </a:rPr>
              <a:t> </a:t>
            </a:r>
            <a:r>
              <a:rPr sz="1700" spc="-50" dirty="0">
                <a:latin typeface="Times New Roman"/>
                <a:cs typeface="Times New Roman"/>
              </a:rPr>
              <a:t>0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i="1" spc="-25" dirty="0">
                <a:latin typeface="Times New Roman"/>
                <a:cs typeface="Times New Roman"/>
              </a:rPr>
              <a:t>c</a:t>
            </a:r>
            <a:r>
              <a:rPr sz="1425" i="1" spc="-37" baseline="-26315" dirty="0">
                <a:latin typeface="Times New Roman"/>
                <a:cs typeface="Times New Roman"/>
              </a:rPr>
              <a:t>y</a:t>
            </a:r>
            <a:endParaRPr sz="1425" baseline="-26315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07939" y="4893885"/>
            <a:ext cx="77343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550" i="1" spc="75" baseline="14705" dirty="0">
                <a:latin typeface="Times New Roman"/>
                <a:cs typeface="Times New Roman"/>
              </a:rPr>
              <a:t>t</a:t>
            </a:r>
            <a:r>
              <a:rPr sz="950" i="1" spc="50" dirty="0">
                <a:latin typeface="Times New Roman"/>
                <a:cs typeface="Times New Roman"/>
              </a:rPr>
              <a:t>y</a:t>
            </a:r>
            <a:r>
              <a:rPr sz="950" i="1" spc="40" dirty="0">
                <a:latin typeface="Times New Roman"/>
                <a:cs typeface="Times New Roman"/>
              </a:rPr>
              <a:t> </a:t>
            </a:r>
            <a:r>
              <a:rPr sz="2550" spc="-30" baseline="-13071" dirty="0">
                <a:latin typeface="Symbol"/>
                <a:cs typeface="Symbol"/>
              </a:rPr>
              <a:t></a:t>
            </a:r>
            <a:r>
              <a:rPr sz="2550" spc="-195" baseline="-13071" dirty="0">
                <a:latin typeface="Times New Roman"/>
                <a:cs typeface="Times New Roman"/>
              </a:rPr>
              <a:t> </a:t>
            </a:r>
            <a:r>
              <a:rPr sz="2550" spc="-30" baseline="-13071" dirty="0">
                <a:latin typeface="Symbol"/>
                <a:cs typeface="Symbol"/>
              </a:rPr>
              <a:t></a:t>
            </a:r>
            <a:r>
              <a:rPr sz="2550" spc="-292" baseline="-13071" dirty="0">
                <a:latin typeface="Times New Roman"/>
                <a:cs typeface="Times New Roman"/>
              </a:rPr>
              <a:t> </a:t>
            </a:r>
            <a:r>
              <a:rPr sz="2550" i="1" baseline="14705" dirty="0">
                <a:latin typeface="Times New Roman"/>
                <a:cs typeface="Times New Roman"/>
              </a:rPr>
              <a:t>y</a:t>
            </a:r>
            <a:r>
              <a:rPr sz="950" i="1" dirty="0">
                <a:latin typeface="Times New Roman"/>
                <a:cs typeface="Times New Roman"/>
              </a:rPr>
              <a:t>in</a:t>
            </a:r>
            <a:r>
              <a:rPr sz="950" i="1" spc="25" dirty="0">
                <a:latin typeface="Times New Roman"/>
                <a:cs typeface="Times New Roman"/>
              </a:rPr>
              <a:t> </a:t>
            </a:r>
            <a:r>
              <a:rPr sz="2550" spc="-75" baseline="-13071" dirty="0">
                <a:latin typeface="Symbol"/>
                <a:cs typeface="Symbol"/>
              </a:rPr>
              <a:t></a:t>
            </a:r>
            <a:endParaRPr sz="2550" baseline="-13071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36793" y="5162409"/>
            <a:ext cx="2357120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5"/>
              </a:spcBef>
              <a:tabLst>
                <a:tab pos="768350" algn="l"/>
                <a:tab pos="1270000" algn="l"/>
                <a:tab pos="1633855" algn="l"/>
              </a:tabLst>
            </a:pPr>
            <a:r>
              <a:rPr sz="2550" spc="-502" baseline="3267" dirty="0">
                <a:latin typeface="Symbol"/>
                <a:cs typeface="Symbol"/>
              </a:rPr>
              <a:t></a:t>
            </a:r>
            <a:r>
              <a:rPr sz="2550" spc="-502" baseline="-14705" dirty="0">
                <a:latin typeface="Symbol"/>
                <a:cs typeface="Symbol"/>
              </a:rPr>
              <a:t></a:t>
            </a:r>
            <a:r>
              <a:rPr sz="2550" spc="577" baseline="-1470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</a:t>
            </a:r>
            <a:r>
              <a:rPr sz="1700" spc="430" dirty="0">
                <a:latin typeface="Times New Roman"/>
                <a:cs typeface="Times New Roman"/>
              </a:rPr>
              <a:t> </a:t>
            </a:r>
            <a:r>
              <a:rPr sz="2550" spc="-540" baseline="3267" dirty="0">
                <a:latin typeface="Symbol"/>
                <a:cs typeface="Symbol"/>
              </a:rPr>
              <a:t></a:t>
            </a:r>
            <a:r>
              <a:rPr sz="2550" spc="-540" baseline="-14705" dirty="0">
                <a:latin typeface="Symbol"/>
                <a:cs typeface="Symbol"/>
              </a:rPr>
              <a:t></a:t>
            </a:r>
            <a:r>
              <a:rPr sz="2550" baseline="-14705" dirty="0">
                <a:latin typeface="Times New Roman"/>
                <a:cs typeface="Times New Roman"/>
              </a:rPr>
              <a:t>	</a:t>
            </a:r>
            <a:r>
              <a:rPr sz="2550" spc="-502" baseline="3267" dirty="0">
                <a:latin typeface="Symbol"/>
                <a:cs typeface="Symbol"/>
              </a:rPr>
              <a:t></a:t>
            </a:r>
            <a:r>
              <a:rPr sz="2550" spc="-502" baseline="-14705" dirty="0">
                <a:latin typeface="Symbol"/>
                <a:cs typeface="Symbol"/>
              </a:rPr>
              <a:t></a:t>
            </a:r>
            <a:r>
              <a:rPr sz="2550" spc="-135" baseline="-14705" dirty="0">
                <a:latin typeface="Times New Roman"/>
                <a:cs typeface="Times New Roman"/>
              </a:rPr>
              <a:t> </a:t>
            </a:r>
            <a:r>
              <a:rPr sz="1700" spc="-50" dirty="0">
                <a:latin typeface="Times New Roman"/>
                <a:cs typeface="Times New Roman"/>
              </a:rPr>
              <a:t>0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50" dirty="0">
                <a:latin typeface="Times New Roman"/>
                <a:cs typeface="Times New Roman"/>
              </a:rPr>
              <a:t>0</a:t>
            </a:r>
            <a:r>
              <a:rPr sz="1700" dirty="0">
                <a:latin typeface="Times New Roman"/>
                <a:cs typeface="Times New Roman"/>
              </a:rPr>
              <a:t>	</a:t>
            </a:r>
            <a:r>
              <a:rPr sz="1700" spc="-25" dirty="0">
                <a:latin typeface="Times New Roman"/>
                <a:cs typeface="Times New Roman"/>
              </a:rPr>
              <a:t>1</a:t>
            </a:r>
            <a:r>
              <a:rPr sz="1700" spc="-160" dirty="0">
                <a:latin typeface="Times New Roman"/>
                <a:cs typeface="Times New Roman"/>
              </a:rPr>
              <a:t> </a:t>
            </a:r>
            <a:r>
              <a:rPr sz="2550" spc="-502" baseline="3267" dirty="0">
                <a:latin typeface="Symbol"/>
                <a:cs typeface="Symbol"/>
              </a:rPr>
              <a:t></a:t>
            </a:r>
            <a:r>
              <a:rPr sz="2550" spc="-502" baseline="-14705" dirty="0">
                <a:latin typeface="Symbol"/>
                <a:cs typeface="Symbol"/>
              </a:rPr>
              <a:t></a:t>
            </a:r>
            <a:r>
              <a:rPr sz="2550" spc="-195" baseline="-14705" dirty="0">
                <a:latin typeface="Times New Roman"/>
                <a:cs typeface="Times New Roman"/>
              </a:rPr>
              <a:t> </a:t>
            </a:r>
            <a:r>
              <a:rPr sz="2550" spc="-502" baseline="3267" dirty="0">
                <a:latin typeface="Symbol"/>
                <a:cs typeface="Symbol"/>
              </a:rPr>
              <a:t></a:t>
            </a:r>
            <a:r>
              <a:rPr sz="2550" spc="-502" baseline="-14705" dirty="0">
                <a:latin typeface="Symbol"/>
                <a:cs typeface="Symbol"/>
              </a:rPr>
              <a:t></a:t>
            </a:r>
            <a:r>
              <a:rPr sz="2550" spc="179" baseline="-1470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</a:t>
            </a:r>
            <a:r>
              <a:rPr sz="1700" spc="165" dirty="0">
                <a:latin typeface="Times New Roman"/>
                <a:cs typeface="Times New Roman"/>
              </a:rPr>
              <a:t> </a:t>
            </a:r>
            <a:r>
              <a:rPr sz="2550" spc="-540" baseline="3267" dirty="0">
                <a:latin typeface="Symbol"/>
                <a:cs typeface="Symbol"/>
              </a:rPr>
              <a:t></a:t>
            </a:r>
            <a:r>
              <a:rPr sz="2550" spc="-540" baseline="-14705" dirty="0">
                <a:latin typeface="Symbol"/>
                <a:cs typeface="Symbol"/>
              </a:rPr>
              <a:t></a:t>
            </a:r>
            <a:endParaRPr sz="2550" baseline="-14705">
              <a:latin typeface="Symbol"/>
              <a:cs typeface="Symbol"/>
            </a:endParaRPr>
          </a:p>
        </p:txBody>
      </p: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5376" y="5641847"/>
            <a:ext cx="1338072" cy="955547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1671864" y="4091862"/>
            <a:ext cx="1282700" cy="2832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475" i="1" baseline="15151" dirty="0">
                <a:latin typeface="Times New Roman"/>
                <a:cs typeface="Times New Roman"/>
              </a:rPr>
              <a:t>y</a:t>
            </a:r>
            <a:r>
              <a:rPr sz="950" i="1" dirty="0">
                <a:latin typeface="Times New Roman"/>
                <a:cs typeface="Times New Roman"/>
              </a:rPr>
              <a:t>out</a:t>
            </a:r>
            <a:r>
              <a:rPr sz="950" i="1" spc="400" dirty="0">
                <a:latin typeface="Times New Roman"/>
                <a:cs typeface="Times New Roman"/>
              </a:rPr>
              <a:t> </a:t>
            </a:r>
            <a:r>
              <a:rPr sz="2475" baseline="15151" dirty="0">
                <a:latin typeface="Symbol"/>
                <a:cs typeface="Symbol"/>
              </a:rPr>
              <a:t></a:t>
            </a:r>
            <a:r>
              <a:rPr sz="2475" spc="-52" baseline="15151" dirty="0">
                <a:latin typeface="Times New Roman"/>
                <a:cs typeface="Times New Roman"/>
              </a:rPr>
              <a:t> </a:t>
            </a:r>
            <a:r>
              <a:rPr sz="2475" i="1" baseline="15151" dirty="0">
                <a:latin typeface="Times New Roman"/>
                <a:cs typeface="Times New Roman"/>
              </a:rPr>
              <a:t>c</a:t>
            </a:r>
            <a:r>
              <a:rPr sz="950" i="1" dirty="0">
                <a:latin typeface="Times New Roman"/>
                <a:cs typeface="Times New Roman"/>
              </a:rPr>
              <a:t>y</a:t>
            </a:r>
            <a:r>
              <a:rPr sz="950" i="1" spc="50" dirty="0">
                <a:latin typeface="Times New Roman"/>
                <a:cs typeface="Times New Roman"/>
              </a:rPr>
              <a:t> </a:t>
            </a:r>
            <a:r>
              <a:rPr sz="2475" i="1" baseline="15151" dirty="0">
                <a:latin typeface="Times New Roman"/>
                <a:cs typeface="Times New Roman"/>
              </a:rPr>
              <a:t>y</a:t>
            </a:r>
            <a:r>
              <a:rPr sz="950" i="1" dirty="0">
                <a:latin typeface="Times New Roman"/>
                <a:cs typeface="Times New Roman"/>
              </a:rPr>
              <a:t>in</a:t>
            </a:r>
            <a:r>
              <a:rPr sz="950" i="1" spc="254" dirty="0">
                <a:latin typeface="Times New Roman"/>
                <a:cs typeface="Times New Roman"/>
              </a:rPr>
              <a:t> </a:t>
            </a:r>
            <a:r>
              <a:rPr sz="2475" baseline="15151" dirty="0">
                <a:latin typeface="Symbol"/>
                <a:cs typeface="Symbol"/>
              </a:rPr>
              <a:t></a:t>
            </a:r>
            <a:r>
              <a:rPr sz="2475" spc="-225" baseline="15151" dirty="0">
                <a:latin typeface="Times New Roman"/>
                <a:cs typeface="Times New Roman"/>
              </a:rPr>
              <a:t> </a:t>
            </a:r>
            <a:r>
              <a:rPr sz="2475" i="1" spc="44" baseline="15151" dirty="0">
                <a:latin typeface="Times New Roman"/>
                <a:cs typeface="Times New Roman"/>
              </a:rPr>
              <a:t>t</a:t>
            </a:r>
            <a:r>
              <a:rPr sz="950" i="1" spc="30" dirty="0">
                <a:latin typeface="Times New Roman"/>
                <a:cs typeface="Times New Roman"/>
              </a:rPr>
              <a:t>y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652009" y="3415029"/>
            <a:ext cx="1058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9900CC"/>
                </a:solidFill>
                <a:latin typeface="Calibri"/>
                <a:cs typeface="Calibri"/>
              </a:rPr>
              <a:t>-</a:t>
            </a:r>
            <a:r>
              <a:rPr sz="1800" spc="305" dirty="0">
                <a:solidFill>
                  <a:srgbClr val="9900C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9900CC"/>
                </a:solidFill>
                <a:latin typeface="Calibri"/>
                <a:cs typeface="Calibri"/>
              </a:rPr>
              <a:t>Rotación: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7" name="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79364" y="5135879"/>
            <a:ext cx="1944624" cy="1389888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7162704" y="3956110"/>
            <a:ext cx="72263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550" baseline="4901" dirty="0">
                <a:latin typeface="Times New Roman"/>
                <a:cs typeface="Times New Roman"/>
              </a:rPr>
              <a:t>0</a:t>
            </a:r>
            <a:r>
              <a:rPr sz="1700" dirty="0">
                <a:latin typeface="Symbol"/>
                <a:cs typeface="Symbol"/>
              </a:rPr>
              <a:t></a:t>
            </a:r>
            <a:r>
              <a:rPr sz="1700" spc="-130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Symbol"/>
                <a:cs typeface="Symbol"/>
              </a:rPr>
              <a:t></a:t>
            </a:r>
            <a:r>
              <a:rPr sz="1700" spc="-220" dirty="0">
                <a:latin typeface="Times New Roman"/>
                <a:cs typeface="Times New Roman"/>
              </a:rPr>
              <a:t> </a:t>
            </a:r>
            <a:r>
              <a:rPr sz="2550" i="1" baseline="4901" dirty="0">
                <a:latin typeface="Times New Roman"/>
                <a:cs typeface="Times New Roman"/>
              </a:rPr>
              <a:t>x</a:t>
            </a:r>
            <a:r>
              <a:rPr sz="1425" i="1" baseline="-17543" dirty="0">
                <a:latin typeface="Times New Roman"/>
                <a:cs typeface="Times New Roman"/>
              </a:rPr>
              <a:t>in</a:t>
            </a:r>
            <a:r>
              <a:rPr sz="1425" i="1" spc="82" baseline="-17543" dirty="0">
                <a:latin typeface="Times New Roman"/>
                <a:cs typeface="Times New Roman"/>
              </a:rPr>
              <a:t> </a:t>
            </a:r>
            <a:r>
              <a:rPr sz="1700" spc="-50" dirty="0">
                <a:latin typeface="Symbol"/>
                <a:cs typeface="Symbol"/>
              </a:rPr>
              <a:t>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29" name="object 29"/>
          <p:cNvSpPr txBox="1"/>
          <p:nvPr/>
        </p:nvSpPr>
        <p:spPr>
          <a:xfrm>
            <a:off x="7162648" y="4162965"/>
            <a:ext cx="72263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550" baseline="-26143" dirty="0">
                <a:latin typeface="Times New Roman"/>
                <a:cs typeface="Times New Roman"/>
              </a:rPr>
              <a:t>0</a:t>
            </a:r>
            <a:r>
              <a:rPr sz="1700" dirty="0">
                <a:latin typeface="Symbol"/>
                <a:cs typeface="Symbol"/>
              </a:rPr>
              <a:t></a:t>
            </a:r>
            <a:r>
              <a:rPr sz="1700" spc="-12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Symbol"/>
                <a:cs typeface="Symbol"/>
              </a:rPr>
              <a:t></a:t>
            </a:r>
            <a:r>
              <a:rPr sz="1700" spc="-190" dirty="0">
                <a:latin typeface="Times New Roman"/>
                <a:cs typeface="Times New Roman"/>
              </a:rPr>
              <a:t> </a:t>
            </a:r>
            <a:r>
              <a:rPr sz="2550" i="1" baseline="-26143" dirty="0">
                <a:latin typeface="Times New Roman"/>
                <a:cs typeface="Times New Roman"/>
              </a:rPr>
              <a:t>y</a:t>
            </a:r>
            <a:r>
              <a:rPr sz="2550" i="1" spc="120" baseline="-26143" dirty="0">
                <a:latin typeface="Times New Roman"/>
                <a:cs typeface="Times New Roman"/>
              </a:rPr>
              <a:t>  </a:t>
            </a:r>
            <a:r>
              <a:rPr sz="1700" spc="-50" dirty="0">
                <a:latin typeface="Symbol"/>
                <a:cs typeface="Symbol"/>
              </a:rPr>
              <a:t>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000558" y="3994908"/>
            <a:ext cx="558165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550" spc="-30" baseline="9803" dirty="0">
                <a:latin typeface="Symbol"/>
                <a:cs typeface="Symbol"/>
              </a:rPr>
              <a:t></a:t>
            </a:r>
            <a:r>
              <a:rPr sz="2550" spc="-337" baseline="9803" dirty="0">
                <a:latin typeface="Times New Roman"/>
                <a:cs typeface="Times New Roman"/>
              </a:rPr>
              <a:t> </a:t>
            </a:r>
            <a:r>
              <a:rPr sz="2550" i="1" baseline="14705" dirty="0">
                <a:latin typeface="Times New Roman"/>
                <a:cs typeface="Times New Roman"/>
              </a:rPr>
              <a:t>x</a:t>
            </a:r>
            <a:r>
              <a:rPr sz="950" i="1" dirty="0">
                <a:latin typeface="Times New Roman"/>
                <a:cs typeface="Times New Roman"/>
              </a:rPr>
              <a:t>out</a:t>
            </a:r>
            <a:r>
              <a:rPr sz="950" i="1" spc="90" dirty="0">
                <a:latin typeface="Times New Roman"/>
                <a:cs typeface="Times New Roman"/>
              </a:rPr>
              <a:t> </a:t>
            </a:r>
            <a:r>
              <a:rPr sz="2550" spc="-75" baseline="9803" dirty="0">
                <a:latin typeface="Symbol"/>
                <a:cs typeface="Symbol"/>
              </a:rPr>
              <a:t></a:t>
            </a:r>
            <a:endParaRPr sz="2550" baseline="9803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731495" y="3876098"/>
            <a:ext cx="1329690" cy="995044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  <a:tabLst>
                <a:tab pos="730250" algn="l"/>
              </a:tabLst>
            </a:pPr>
            <a:r>
              <a:rPr sz="2550" spc="-15" baseline="-4901" dirty="0">
                <a:latin typeface="Symbol"/>
                <a:cs typeface="Symbol"/>
              </a:rPr>
              <a:t></a:t>
            </a:r>
            <a:r>
              <a:rPr sz="1700" spc="-10" dirty="0">
                <a:latin typeface="Times New Roman"/>
                <a:cs typeface="Times New Roman"/>
              </a:rPr>
              <a:t>cos</a:t>
            </a:r>
            <a:r>
              <a:rPr sz="1750" spc="-10" dirty="0">
                <a:latin typeface="Symbol"/>
                <a:cs typeface="Symbol"/>
              </a:rPr>
              <a:t></a:t>
            </a:r>
            <a:r>
              <a:rPr sz="1750" dirty="0">
                <a:latin typeface="Times New Roman"/>
                <a:cs typeface="Times New Roman"/>
              </a:rPr>
              <a:t>	</a:t>
            </a:r>
            <a:r>
              <a:rPr sz="1700" spc="-20" dirty="0">
                <a:latin typeface="Symbol"/>
                <a:cs typeface="Symbol"/>
              </a:rPr>
              <a:t></a:t>
            </a:r>
            <a:r>
              <a:rPr sz="1700" spc="-20" dirty="0">
                <a:latin typeface="Times New Roman"/>
                <a:cs typeface="Times New Roman"/>
              </a:rPr>
              <a:t>sin</a:t>
            </a:r>
            <a:r>
              <a:rPr sz="1750" spc="-20" dirty="0">
                <a:latin typeface="Symbol"/>
                <a:cs typeface="Symbol"/>
              </a:rPr>
              <a:t></a:t>
            </a:r>
            <a:endParaRPr sz="1750">
              <a:latin typeface="Symbol"/>
              <a:cs typeface="Symbol"/>
            </a:endParaRPr>
          </a:p>
          <a:p>
            <a:pPr marL="946785" marR="62865" indent="-163195">
              <a:lnSpc>
                <a:spcPts val="2550"/>
              </a:lnSpc>
              <a:spcBef>
                <a:spcPts val="90"/>
              </a:spcBef>
            </a:pPr>
            <a:r>
              <a:rPr sz="1700" spc="-20" dirty="0">
                <a:latin typeface="Times New Roman"/>
                <a:cs typeface="Times New Roman"/>
              </a:rPr>
              <a:t>cos</a:t>
            </a:r>
            <a:r>
              <a:rPr sz="1750" spc="-20" dirty="0">
                <a:latin typeface="Symbol"/>
                <a:cs typeface="Symbol"/>
              </a:rPr>
              <a:t></a:t>
            </a:r>
            <a:r>
              <a:rPr sz="1750" spc="-20" dirty="0">
                <a:latin typeface="Times New Roman"/>
                <a:cs typeface="Times New Roman"/>
              </a:rPr>
              <a:t> </a:t>
            </a:r>
            <a:r>
              <a:rPr sz="1700" spc="-50" dirty="0">
                <a:latin typeface="Times New Roman"/>
                <a:cs typeface="Times New Roman"/>
              </a:rPr>
              <a:t>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000558" y="4162965"/>
            <a:ext cx="281305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700" spc="-20" dirty="0">
                <a:latin typeface="Symbol"/>
                <a:cs typeface="Symbol"/>
              </a:rPr>
              <a:t></a:t>
            </a:r>
            <a:r>
              <a:rPr sz="1700" spc="-190" dirty="0">
                <a:latin typeface="Times New Roman"/>
                <a:cs typeface="Times New Roman"/>
              </a:rPr>
              <a:t> </a:t>
            </a:r>
            <a:r>
              <a:rPr sz="2550" i="1" spc="-75" baseline="-26143" dirty="0">
                <a:latin typeface="Times New Roman"/>
                <a:cs typeface="Times New Roman"/>
              </a:rPr>
              <a:t>y</a:t>
            </a:r>
            <a:endParaRPr sz="2550" baseline="-26143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401090" y="4251764"/>
            <a:ext cx="927735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550" baseline="26143" dirty="0">
                <a:latin typeface="Symbol"/>
                <a:cs typeface="Symbol"/>
              </a:rPr>
              <a:t></a:t>
            </a:r>
            <a:r>
              <a:rPr sz="2550" spc="-30" baseline="261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Symbol"/>
                <a:cs typeface="Symbol"/>
              </a:rPr>
              <a:t>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2550" spc="-15" baseline="26143" dirty="0">
                <a:latin typeface="Symbol"/>
                <a:cs typeface="Symbol"/>
              </a:rPr>
              <a:t></a:t>
            </a:r>
            <a:r>
              <a:rPr sz="1700" spc="-10" dirty="0">
                <a:latin typeface="Times New Roman"/>
                <a:cs typeface="Times New Roman"/>
              </a:rPr>
              <a:t>sin</a:t>
            </a:r>
            <a:r>
              <a:rPr sz="1750" spc="-10" dirty="0">
                <a:latin typeface="Symbol"/>
                <a:cs typeface="Symbol"/>
              </a:rPr>
              <a:t></a:t>
            </a:r>
            <a:endParaRPr sz="1750">
              <a:latin typeface="Symbol"/>
              <a:cs typeface="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025958" y="4369842"/>
            <a:ext cx="107314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-50" dirty="0">
                <a:latin typeface="Symbol"/>
                <a:cs typeface="Symbol"/>
              </a:rPr>
              <a:t>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205090" y="4318698"/>
            <a:ext cx="353695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50" i="1" dirty="0">
                <a:latin typeface="Times New Roman"/>
                <a:cs typeface="Times New Roman"/>
              </a:rPr>
              <a:t>out</a:t>
            </a:r>
            <a:r>
              <a:rPr sz="950" i="1" spc="80" dirty="0">
                <a:latin typeface="Times New Roman"/>
                <a:cs typeface="Times New Roman"/>
              </a:rPr>
              <a:t> </a:t>
            </a:r>
            <a:r>
              <a:rPr sz="2550" spc="-75" baseline="-13071" dirty="0">
                <a:latin typeface="Symbol"/>
                <a:cs typeface="Symbol"/>
              </a:rPr>
              <a:t></a:t>
            </a:r>
            <a:endParaRPr sz="2550" baseline="-13071">
              <a:latin typeface="Symbol"/>
              <a:cs typeface="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000558" y="4586833"/>
            <a:ext cx="558165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550" spc="-502" baseline="3267" dirty="0">
                <a:latin typeface="Symbol"/>
                <a:cs typeface="Symbol"/>
              </a:rPr>
              <a:t></a:t>
            </a:r>
            <a:r>
              <a:rPr sz="2550" spc="-502" baseline="-14705" dirty="0">
                <a:latin typeface="Symbol"/>
                <a:cs typeface="Symbol"/>
              </a:rPr>
              <a:t></a:t>
            </a:r>
            <a:r>
              <a:rPr sz="2550" spc="577" baseline="-1470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</a:t>
            </a:r>
            <a:r>
              <a:rPr sz="1700" spc="430" dirty="0">
                <a:latin typeface="Times New Roman"/>
                <a:cs typeface="Times New Roman"/>
              </a:rPr>
              <a:t> </a:t>
            </a:r>
            <a:r>
              <a:rPr sz="2550" spc="-540" baseline="3267" dirty="0">
                <a:latin typeface="Symbol"/>
                <a:cs typeface="Symbol"/>
              </a:rPr>
              <a:t></a:t>
            </a:r>
            <a:r>
              <a:rPr sz="2550" spc="-540" baseline="-14705" dirty="0">
                <a:latin typeface="Symbol"/>
                <a:cs typeface="Symbol"/>
              </a:rPr>
              <a:t></a:t>
            </a:r>
            <a:endParaRPr sz="2550" baseline="-14705">
              <a:latin typeface="Symbol"/>
              <a:cs typeface="Symbo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693395" y="4369842"/>
            <a:ext cx="445134" cy="501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ts val="1875"/>
              </a:lnSpc>
              <a:spcBef>
                <a:spcPts val="95"/>
              </a:spcBef>
            </a:pPr>
            <a:r>
              <a:rPr sz="1700" spc="-50" dirty="0">
                <a:latin typeface="Symbol"/>
                <a:cs typeface="Symbol"/>
              </a:rPr>
              <a:t></a:t>
            </a:r>
            <a:endParaRPr sz="1700">
              <a:latin typeface="Symbol"/>
              <a:cs typeface="Symbol"/>
            </a:endParaRPr>
          </a:p>
          <a:p>
            <a:pPr marL="50800">
              <a:lnSpc>
                <a:spcPts val="1875"/>
              </a:lnSpc>
              <a:tabLst>
                <a:tab pos="300355" algn="l"/>
              </a:tabLst>
            </a:pPr>
            <a:r>
              <a:rPr sz="2550" spc="-540" baseline="3267" dirty="0">
                <a:latin typeface="Symbol"/>
                <a:cs typeface="Symbol"/>
              </a:rPr>
              <a:t></a:t>
            </a:r>
            <a:r>
              <a:rPr sz="2550" spc="-540" baseline="-14705" dirty="0">
                <a:latin typeface="Symbol"/>
                <a:cs typeface="Symbol"/>
              </a:rPr>
              <a:t></a:t>
            </a:r>
            <a:r>
              <a:rPr sz="2550" baseline="-14705" dirty="0">
                <a:latin typeface="Times New Roman"/>
                <a:cs typeface="Times New Roman"/>
              </a:rPr>
              <a:t>	</a:t>
            </a:r>
            <a:r>
              <a:rPr sz="1700" spc="-50" dirty="0">
                <a:latin typeface="Times New Roman"/>
                <a:cs typeface="Times New Roman"/>
              </a:rPr>
              <a:t>0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302275" y="4369843"/>
            <a:ext cx="22606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-20" dirty="0">
                <a:latin typeface="Symbol"/>
                <a:cs typeface="Symbol"/>
              </a:rPr>
              <a:t></a:t>
            </a:r>
            <a:r>
              <a:rPr sz="1700" spc="-125" dirty="0">
                <a:latin typeface="Times New Roman"/>
                <a:cs typeface="Times New Roman"/>
              </a:rPr>
              <a:t> </a:t>
            </a:r>
            <a:r>
              <a:rPr sz="1700" spc="-60" dirty="0">
                <a:latin typeface="Symbol"/>
                <a:cs typeface="Symbol"/>
              </a:rPr>
              <a:t>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598888" y="4318698"/>
            <a:ext cx="286385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50" i="1" dirty="0">
                <a:latin typeface="Times New Roman"/>
                <a:cs typeface="Times New Roman"/>
              </a:rPr>
              <a:t>in</a:t>
            </a:r>
            <a:r>
              <a:rPr sz="950" i="1" spc="30" dirty="0">
                <a:latin typeface="Times New Roman"/>
                <a:cs typeface="Times New Roman"/>
              </a:rPr>
              <a:t> </a:t>
            </a:r>
            <a:r>
              <a:rPr sz="2550" spc="-75" baseline="-13071" dirty="0">
                <a:latin typeface="Symbol"/>
                <a:cs typeface="Symbol"/>
              </a:rPr>
              <a:t></a:t>
            </a:r>
            <a:endParaRPr sz="2550" baseline="-13071">
              <a:latin typeface="Symbol"/>
              <a:cs typeface="Symbo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161072" y="4586833"/>
            <a:ext cx="724535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700" spc="-210" dirty="0">
                <a:latin typeface="Times New Roman"/>
                <a:cs typeface="Times New Roman"/>
              </a:rPr>
              <a:t>1</a:t>
            </a:r>
            <a:r>
              <a:rPr sz="2550" spc="-315" baseline="3267" dirty="0">
                <a:latin typeface="Symbol"/>
                <a:cs typeface="Symbol"/>
              </a:rPr>
              <a:t></a:t>
            </a:r>
            <a:r>
              <a:rPr sz="2550" spc="-315" baseline="-14705" dirty="0">
                <a:latin typeface="Symbol"/>
                <a:cs typeface="Symbol"/>
              </a:rPr>
              <a:t></a:t>
            </a:r>
            <a:r>
              <a:rPr sz="2550" spc="-209" baseline="-14705" dirty="0">
                <a:latin typeface="Times New Roman"/>
                <a:cs typeface="Times New Roman"/>
              </a:rPr>
              <a:t> </a:t>
            </a:r>
            <a:r>
              <a:rPr sz="2550" spc="-502" baseline="3267" dirty="0">
                <a:latin typeface="Symbol"/>
                <a:cs typeface="Symbol"/>
              </a:rPr>
              <a:t></a:t>
            </a:r>
            <a:r>
              <a:rPr sz="2550" spc="-502" baseline="-14705" dirty="0">
                <a:latin typeface="Symbol"/>
                <a:cs typeface="Symbol"/>
              </a:rPr>
              <a:t></a:t>
            </a:r>
            <a:r>
              <a:rPr sz="2550" spc="187" baseline="-1470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</a:t>
            </a:r>
            <a:r>
              <a:rPr sz="1700" spc="170" dirty="0">
                <a:latin typeface="Times New Roman"/>
                <a:cs typeface="Times New Roman"/>
              </a:rPr>
              <a:t> </a:t>
            </a:r>
            <a:r>
              <a:rPr sz="2550" spc="-540" baseline="3267" dirty="0">
                <a:latin typeface="Symbol"/>
                <a:cs typeface="Symbol"/>
              </a:rPr>
              <a:t></a:t>
            </a:r>
            <a:r>
              <a:rPr sz="2550" spc="-540" baseline="-14705" dirty="0">
                <a:latin typeface="Symbol"/>
                <a:cs typeface="Symbol"/>
              </a:rPr>
              <a:t></a:t>
            </a:r>
            <a:endParaRPr sz="2550" baseline="-14705">
              <a:latin typeface="Symbol"/>
              <a:cs typeface="Symbol"/>
            </a:endParaRPr>
          </a:p>
        </p:txBody>
      </p:sp>
      <p:pic>
        <p:nvPicPr>
          <p:cNvPr id="42" name="Picture 4">
            <a:extLst>
              <a:ext uri="{FF2B5EF4-FFF2-40B4-BE49-F238E27FC236}">
                <a16:creationId xmlns:a16="http://schemas.microsoft.com/office/drawing/2014/main" id="{30653173-5BAB-C4AD-739E-2F337D4013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6" descr="Ingeniería de Sistemas - UNCP">
            <a:extLst>
              <a:ext uri="{FF2B5EF4-FFF2-40B4-BE49-F238E27FC236}">
                <a16:creationId xmlns:a16="http://schemas.microsoft.com/office/drawing/2014/main" id="{5FC65EEB-5379-2BD9-9A73-A48C71BCA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2589">
              <a:lnSpc>
                <a:spcPct val="100000"/>
              </a:lnSpc>
              <a:spcBef>
                <a:spcPts val="100"/>
              </a:spcBef>
            </a:pPr>
            <a:r>
              <a:rPr dirty="0"/>
              <a:t>Modelos</a:t>
            </a:r>
            <a:r>
              <a:rPr spc="-15" dirty="0"/>
              <a:t> </a:t>
            </a:r>
            <a:r>
              <a:rPr dirty="0"/>
              <a:t>de</a:t>
            </a:r>
            <a:r>
              <a:rPr spc="-5" dirty="0"/>
              <a:t> </a:t>
            </a:r>
            <a:r>
              <a:rPr spc="-10" dirty="0"/>
              <a:t>Color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52187"/>
            <a:ext cx="7054215" cy="211455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dirty="0">
                <a:latin typeface="Calibri"/>
                <a:cs typeface="Calibri"/>
              </a:rPr>
              <a:t>Modelo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color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espacio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color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(colorimétrico)</a:t>
            </a:r>
            <a:r>
              <a:rPr sz="1600" spc="9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sistema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color</a:t>
            </a:r>
            <a:endParaRPr sz="2000">
              <a:latin typeface="Calibri"/>
              <a:cs typeface="Calibri"/>
            </a:endParaRPr>
          </a:p>
          <a:p>
            <a:pPr marL="389255" lvl="1" indent="-160655">
              <a:lnSpc>
                <a:spcPct val="100000"/>
              </a:lnSpc>
              <a:spcBef>
                <a:spcPts val="439"/>
              </a:spcBef>
              <a:buChar char="-"/>
              <a:tabLst>
                <a:tab pos="389255" algn="l"/>
              </a:tabLst>
            </a:pPr>
            <a:r>
              <a:rPr sz="1800" dirty="0">
                <a:latin typeface="Calibri"/>
                <a:cs typeface="Calibri"/>
              </a:rPr>
              <a:t>Son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formas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representar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color</a:t>
            </a:r>
            <a:endParaRPr sz="1800">
              <a:latin typeface="Calibri"/>
              <a:cs typeface="Calibri"/>
            </a:endParaRPr>
          </a:p>
          <a:p>
            <a:pPr marL="387985" lvl="1" indent="-159385">
              <a:lnSpc>
                <a:spcPct val="100000"/>
              </a:lnSpc>
              <a:spcBef>
                <a:spcPts val="445"/>
              </a:spcBef>
              <a:buChar char="-"/>
              <a:tabLst>
                <a:tab pos="387985" algn="l"/>
              </a:tabLst>
            </a:pPr>
            <a:r>
              <a:rPr sz="1800" dirty="0">
                <a:solidFill>
                  <a:srgbClr val="6F2F9F"/>
                </a:solidFill>
                <a:latin typeface="Comic Sans MS"/>
                <a:cs typeface="Comic Sans MS"/>
              </a:rPr>
              <a:t>Ejemplos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RGB,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40" dirty="0">
                <a:latin typeface="Calibri"/>
                <a:cs typeface="Calibri"/>
              </a:rPr>
              <a:t>HSV, </a:t>
            </a:r>
            <a:r>
              <a:rPr sz="1800" spc="-30" dirty="0">
                <a:latin typeface="Calibri"/>
                <a:cs typeface="Calibri"/>
              </a:rPr>
              <a:t>YCbCr,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L*a*b,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etc.</a:t>
            </a:r>
            <a:endParaRPr sz="1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140"/>
              </a:spcBef>
              <a:buFont typeface="Calibri"/>
              <a:buChar char="-"/>
            </a:pPr>
            <a:endParaRPr sz="18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buFont typeface="Arial MT"/>
              <a:buChar char="•"/>
              <a:tabLst>
                <a:tab pos="207645" algn="l"/>
              </a:tabLst>
            </a:pP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RGB:</a:t>
            </a:r>
            <a:r>
              <a:rPr sz="2000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Red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Green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i="1" spc="-20" dirty="0">
                <a:latin typeface="Calibri"/>
                <a:cs typeface="Calibri"/>
              </a:rPr>
              <a:t>Blue</a:t>
            </a:r>
            <a:endParaRPr sz="1800">
              <a:latin typeface="Calibri"/>
              <a:cs typeface="Calibri"/>
            </a:endParaRPr>
          </a:p>
          <a:p>
            <a:pPr marL="389255" lvl="1" indent="-160655">
              <a:lnSpc>
                <a:spcPct val="100000"/>
              </a:lnSpc>
              <a:spcBef>
                <a:spcPts val="455"/>
              </a:spcBef>
              <a:buChar char="-"/>
              <a:tabLst>
                <a:tab pos="389255" algn="l"/>
              </a:tabLst>
            </a:pPr>
            <a:r>
              <a:rPr sz="1800" dirty="0">
                <a:latin typeface="Calibri"/>
                <a:cs typeface="Calibri"/>
              </a:rPr>
              <a:t>Un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punto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color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tiene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coordenadas: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r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g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b</a:t>
            </a:r>
            <a:r>
              <a:rPr sz="1800" spc="-25" dirty="0"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6989" y="3454817"/>
            <a:ext cx="3270147" cy="283993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07735" y="3887723"/>
            <a:ext cx="2196084" cy="196291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D8EF184D-BB16-90A5-77A9-CB51D1817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ngeniería de Sistemas - UNCP">
            <a:extLst>
              <a:ext uri="{FF2B5EF4-FFF2-40B4-BE49-F238E27FC236}">
                <a16:creationId xmlns:a16="http://schemas.microsoft.com/office/drawing/2014/main" id="{9CBB3203-772C-DF17-7281-24F0F50A9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2589">
              <a:lnSpc>
                <a:spcPct val="100000"/>
              </a:lnSpc>
              <a:spcBef>
                <a:spcPts val="100"/>
              </a:spcBef>
            </a:pPr>
            <a:r>
              <a:rPr dirty="0"/>
              <a:t>Modelos</a:t>
            </a:r>
            <a:r>
              <a:rPr spc="-15" dirty="0"/>
              <a:t> </a:t>
            </a:r>
            <a:r>
              <a:rPr dirty="0"/>
              <a:t>de</a:t>
            </a:r>
            <a:r>
              <a:rPr spc="-5" dirty="0"/>
              <a:t> </a:t>
            </a:r>
            <a:r>
              <a:rPr spc="-10" dirty="0"/>
              <a:t>Color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50492"/>
            <a:ext cx="4809490" cy="105410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HSV:</a:t>
            </a:r>
            <a:r>
              <a:rPr sz="2000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Hue,</a:t>
            </a:r>
            <a:r>
              <a:rPr sz="1800" i="1" spc="-5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Saturation,</a:t>
            </a:r>
            <a:r>
              <a:rPr sz="1800" i="1" spc="-55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Value</a:t>
            </a:r>
            <a:r>
              <a:rPr sz="1800" i="1" spc="-50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</a:t>
            </a:r>
            <a:r>
              <a:rPr sz="1600" i="1" spc="-10" dirty="0">
                <a:solidFill>
                  <a:srgbClr val="7E7E7E"/>
                </a:solidFill>
                <a:latin typeface="Calibri"/>
                <a:cs typeface="Calibri"/>
              </a:rPr>
              <a:t>intensity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)</a:t>
            </a:r>
            <a:endParaRPr sz="1600">
              <a:latin typeface="Calibri"/>
              <a:cs typeface="Calibri"/>
            </a:endParaRPr>
          </a:p>
          <a:p>
            <a:pPr marL="389255" lvl="1" indent="-160655">
              <a:lnSpc>
                <a:spcPct val="100000"/>
              </a:lnSpc>
              <a:spcBef>
                <a:spcPts val="455"/>
              </a:spcBef>
              <a:buChar char="-"/>
              <a:tabLst>
                <a:tab pos="389255" algn="l"/>
              </a:tabLst>
            </a:pPr>
            <a:r>
              <a:rPr sz="1800" dirty="0">
                <a:latin typeface="Calibri"/>
                <a:cs typeface="Calibri"/>
              </a:rPr>
              <a:t>Un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punto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color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tiene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coordenadas: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h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s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v</a:t>
            </a:r>
            <a:r>
              <a:rPr sz="1800" spc="-25" dirty="0"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  <a:p>
            <a:pPr marL="389890" lvl="1" indent="-161290">
              <a:lnSpc>
                <a:spcPct val="100000"/>
              </a:lnSpc>
              <a:spcBef>
                <a:spcPts val="420"/>
              </a:spcBef>
              <a:buChar char="-"/>
              <a:tabLst>
                <a:tab pos="389890" algn="l"/>
              </a:tabLst>
            </a:pPr>
            <a:r>
              <a:rPr sz="1800" dirty="0">
                <a:latin typeface="Calibri"/>
                <a:cs typeface="Calibri"/>
              </a:rPr>
              <a:t>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más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natural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percepción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humana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8034" y="2593848"/>
            <a:ext cx="5594755" cy="378714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740143" y="3377008"/>
            <a:ext cx="1958975" cy="2293620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45"/>
              </a:spcBef>
              <a:buClr>
                <a:srgbClr val="000000"/>
              </a:buClr>
              <a:buSzPct val="114285"/>
              <a:buFont typeface="Calibri"/>
              <a:buChar char="-"/>
              <a:tabLst>
                <a:tab pos="184150" algn="l"/>
              </a:tabLst>
            </a:pPr>
            <a:r>
              <a:rPr sz="1400" i="1" spc="-20" dirty="0">
                <a:solidFill>
                  <a:srgbClr val="00AF50"/>
                </a:solidFill>
                <a:latin typeface="Calibri"/>
                <a:cs typeface="Calibri"/>
              </a:rPr>
              <a:t>Hue</a:t>
            </a:r>
            <a:r>
              <a:rPr sz="1400" spc="-20" dirty="0"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  <a:spcBef>
                <a:spcPts val="215"/>
              </a:spcBef>
            </a:pPr>
            <a:r>
              <a:rPr sz="1400" dirty="0">
                <a:latin typeface="Calibri"/>
                <a:cs typeface="Calibri"/>
              </a:rPr>
              <a:t>Ángulo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antihorario</a:t>
            </a:r>
            <a:endParaRPr sz="140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  <a:spcBef>
                <a:spcPts val="254"/>
              </a:spcBef>
            </a:pPr>
            <a:r>
              <a:rPr sz="1400" spc="-10" dirty="0">
                <a:latin typeface="Calibri"/>
                <a:cs typeface="Calibri"/>
              </a:rPr>
              <a:t>comenzando</a:t>
            </a:r>
            <a:r>
              <a:rPr sz="1400" dirty="0">
                <a:latin typeface="Calibri"/>
                <a:cs typeface="Calibri"/>
              </a:rPr>
              <a:t> por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el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rojo</a:t>
            </a:r>
            <a:endParaRPr sz="1400">
              <a:latin typeface="Calibri"/>
              <a:cs typeface="Calibri"/>
            </a:endParaRPr>
          </a:p>
          <a:p>
            <a:pPr marL="184150" indent="-171450">
              <a:lnSpc>
                <a:spcPct val="100000"/>
              </a:lnSpc>
              <a:spcBef>
                <a:spcPts val="1250"/>
              </a:spcBef>
              <a:buClr>
                <a:srgbClr val="000000"/>
              </a:buClr>
              <a:buSzPct val="114285"/>
              <a:buFont typeface="Calibri"/>
              <a:buChar char="-"/>
              <a:tabLst>
                <a:tab pos="184150" algn="l"/>
              </a:tabLst>
            </a:pPr>
            <a:r>
              <a:rPr sz="1400" i="1" spc="-10" dirty="0">
                <a:solidFill>
                  <a:srgbClr val="00AF50"/>
                </a:solidFill>
                <a:latin typeface="Calibri"/>
                <a:cs typeface="Calibri"/>
              </a:rPr>
              <a:t>Saturación</a:t>
            </a:r>
            <a:r>
              <a:rPr sz="1400" spc="-10" dirty="0">
                <a:solidFill>
                  <a:srgbClr val="00AF50"/>
                </a:solidFill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  <a:spcBef>
                <a:spcPts val="215"/>
              </a:spcBef>
            </a:pPr>
            <a:r>
              <a:rPr sz="1400" spc="-10" dirty="0">
                <a:latin typeface="Calibri"/>
                <a:cs typeface="Calibri"/>
              </a:rPr>
              <a:t>Distancia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del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eje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vertical</a:t>
            </a:r>
            <a:endParaRPr sz="1400">
              <a:latin typeface="Calibri"/>
              <a:cs typeface="Calibri"/>
            </a:endParaRPr>
          </a:p>
          <a:p>
            <a:pPr marL="183515" marR="208915" indent="-171450">
              <a:lnSpc>
                <a:spcPct val="113100"/>
              </a:lnSpc>
              <a:spcBef>
                <a:spcPts val="1000"/>
              </a:spcBef>
              <a:buClr>
                <a:srgbClr val="000000"/>
              </a:buClr>
              <a:buSzPct val="114285"/>
              <a:buFont typeface="Calibri"/>
              <a:buChar char="-"/>
              <a:tabLst>
                <a:tab pos="194945" algn="l"/>
              </a:tabLst>
            </a:pPr>
            <a:r>
              <a:rPr sz="1400" i="1" spc="-10" dirty="0">
                <a:solidFill>
                  <a:srgbClr val="00AF50"/>
                </a:solidFill>
                <a:latin typeface="Calibri"/>
                <a:cs typeface="Calibri"/>
              </a:rPr>
              <a:t>Valor</a:t>
            </a:r>
            <a:r>
              <a:rPr sz="1400" i="1" spc="-5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AF50"/>
                </a:solidFill>
                <a:latin typeface="Calibri"/>
                <a:cs typeface="Calibri"/>
              </a:rPr>
              <a:t>(</a:t>
            </a:r>
            <a:r>
              <a:rPr sz="1400" i="1" spc="-10" dirty="0">
                <a:solidFill>
                  <a:srgbClr val="00AF50"/>
                </a:solidFill>
                <a:latin typeface="Calibri"/>
                <a:cs typeface="Calibri"/>
              </a:rPr>
              <a:t>intensidad</a:t>
            </a:r>
            <a:r>
              <a:rPr sz="1400" spc="-10" dirty="0">
                <a:solidFill>
                  <a:srgbClr val="00AF50"/>
                </a:solidFill>
                <a:latin typeface="Calibri"/>
                <a:cs typeface="Calibri"/>
              </a:rPr>
              <a:t>): 	</a:t>
            </a:r>
            <a:r>
              <a:rPr sz="1400" spc="-10" dirty="0">
                <a:latin typeface="Calibri"/>
                <a:cs typeface="Calibri"/>
              </a:rPr>
              <a:t>Distancia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del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negro</a:t>
            </a:r>
            <a:r>
              <a:rPr sz="1400" spc="-25" dirty="0">
                <a:latin typeface="Calibri"/>
                <a:cs typeface="Calibri"/>
              </a:rPr>
              <a:t> al 	</a:t>
            </a:r>
            <a:r>
              <a:rPr sz="1400" spc="-10" dirty="0">
                <a:latin typeface="Calibri"/>
                <a:cs typeface="Calibri"/>
              </a:rPr>
              <a:t>blanco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F9B037E1-7197-A2CE-220B-761290DA6E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ngeniería de Sistemas - UNCP">
            <a:extLst>
              <a:ext uri="{FF2B5EF4-FFF2-40B4-BE49-F238E27FC236}">
                <a16:creationId xmlns:a16="http://schemas.microsoft.com/office/drawing/2014/main" id="{0968563D-CF3F-BE14-8110-B1F6404CB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2589">
              <a:lnSpc>
                <a:spcPct val="100000"/>
              </a:lnSpc>
              <a:spcBef>
                <a:spcPts val="100"/>
              </a:spcBef>
            </a:pPr>
            <a:r>
              <a:rPr dirty="0"/>
              <a:t>Modelos</a:t>
            </a:r>
            <a:r>
              <a:rPr spc="-15" dirty="0"/>
              <a:t> </a:t>
            </a:r>
            <a:r>
              <a:rPr dirty="0"/>
              <a:t>de</a:t>
            </a:r>
            <a:r>
              <a:rPr spc="-5" dirty="0"/>
              <a:t> </a:t>
            </a:r>
            <a:r>
              <a:rPr spc="-10" dirty="0"/>
              <a:t>Color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50537"/>
            <a:ext cx="3694429" cy="105346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207010" indent="-194310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207010" algn="l"/>
              </a:tabLst>
            </a:pPr>
            <a:r>
              <a:rPr sz="2000" dirty="0">
                <a:latin typeface="Calibri"/>
                <a:cs typeface="Calibri"/>
              </a:rPr>
              <a:t>En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HSV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OpenCV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utiliza:</a:t>
            </a:r>
            <a:endParaRPr sz="2000">
              <a:latin typeface="Calibri"/>
              <a:cs typeface="Calibri"/>
            </a:endParaRPr>
          </a:p>
          <a:p>
            <a:pPr marL="539115" lvl="1" indent="-159385">
              <a:lnSpc>
                <a:spcPct val="100000"/>
              </a:lnSpc>
              <a:spcBef>
                <a:spcPts val="445"/>
              </a:spcBef>
              <a:buChar char="-"/>
              <a:tabLst>
                <a:tab pos="539115" algn="l"/>
              </a:tabLst>
            </a:pPr>
            <a:r>
              <a:rPr sz="1800" dirty="0">
                <a:latin typeface="Calibri"/>
                <a:cs typeface="Calibri"/>
              </a:rPr>
              <a:t>Hue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(eje</a:t>
            </a:r>
            <a:r>
              <a:rPr sz="1600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horizontal)</a:t>
            </a:r>
            <a:r>
              <a:rPr sz="1800" spc="-10" dirty="0">
                <a:latin typeface="Calibri"/>
                <a:cs typeface="Calibri"/>
              </a:rPr>
              <a:t>: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 179</a:t>
            </a:r>
            <a:endParaRPr sz="1800">
              <a:latin typeface="Calibri"/>
              <a:cs typeface="Calibri"/>
            </a:endParaRPr>
          </a:p>
          <a:p>
            <a:pPr marL="539115" lvl="1" indent="-159385">
              <a:lnSpc>
                <a:spcPct val="100000"/>
              </a:lnSpc>
              <a:spcBef>
                <a:spcPts val="430"/>
              </a:spcBef>
              <a:buChar char="-"/>
              <a:tabLst>
                <a:tab pos="539115" algn="l"/>
              </a:tabLst>
            </a:pPr>
            <a:r>
              <a:rPr sz="1800" spc="-10" dirty="0">
                <a:latin typeface="Calibri"/>
                <a:cs typeface="Calibri"/>
              </a:rPr>
              <a:t>Saturación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(eje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vertical)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255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3224" y="2233040"/>
            <a:ext cx="2973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2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Valor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(no</a:t>
            </a:r>
            <a:r>
              <a:rPr sz="16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mostrado)</a:t>
            </a:r>
            <a:r>
              <a:rPr sz="1800" spc="-10" dirty="0">
                <a:latin typeface="Calibri"/>
                <a:cs typeface="Calibri"/>
              </a:rPr>
              <a:t>: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255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768345"/>
            <a:ext cx="8021955" cy="1202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spc="-10" dirty="0">
                <a:latin typeface="Calibri"/>
                <a:cs typeface="Calibri"/>
              </a:rPr>
              <a:t>Seleccionando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intervalo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“Hue”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puede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seleccionar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color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un</a:t>
            </a:r>
            <a:endParaRPr sz="2000">
              <a:latin typeface="Calibri"/>
              <a:cs typeface="Calibri"/>
            </a:endParaRPr>
          </a:p>
          <a:p>
            <a:pPr marL="208915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rango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colores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(en</a:t>
            </a:r>
            <a:r>
              <a:rPr sz="18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la</a:t>
            </a:r>
            <a:r>
              <a:rPr sz="18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práctica</a:t>
            </a:r>
            <a:r>
              <a:rPr sz="18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puede</a:t>
            </a:r>
            <a:r>
              <a:rPr sz="18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ser</a:t>
            </a:r>
            <a:r>
              <a:rPr sz="1800" spc="-4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útil</a:t>
            </a:r>
            <a:r>
              <a:rPr sz="18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añadir</a:t>
            </a:r>
            <a:r>
              <a:rPr sz="18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Calibri"/>
                <a:cs typeface="Calibri"/>
              </a:rPr>
              <a:t>rangos</a:t>
            </a:r>
            <a:r>
              <a:rPr sz="1800" spc="-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8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Saturación</a:t>
            </a:r>
            <a:r>
              <a:rPr sz="18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7E7E7E"/>
                </a:solidFill>
                <a:latin typeface="Calibri"/>
                <a:cs typeface="Calibri"/>
              </a:rPr>
              <a:t>y</a:t>
            </a:r>
            <a:r>
              <a:rPr sz="18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Calibri"/>
                <a:cs typeface="Calibri"/>
              </a:rPr>
              <a:t>Valor)</a:t>
            </a:r>
            <a:endParaRPr sz="18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spcBef>
                <a:spcPts val="2060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dirty="0">
                <a:latin typeface="Calibri"/>
                <a:cs typeface="Calibri"/>
              </a:rPr>
              <a:t>Ejemplo: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selección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color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amarillo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1935" y="1391411"/>
            <a:ext cx="3758184" cy="118414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633206" y="2381503"/>
            <a:ext cx="2768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libri"/>
                <a:cs typeface="Calibri"/>
              </a:rPr>
              <a:t>Hue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3900" y="4437888"/>
            <a:ext cx="2554224" cy="153314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44823" y="4437888"/>
            <a:ext cx="2554224" cy="153314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561338" y="6006490"/>
            <a:ext cx="11436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Imagen</a:t>
            </a:r>
            <a:r>
              <a:rPr sz="1400" spc="-7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original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62678" y="6006490"/>
            <a:ext cx="3194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Hue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65747" y="4437888"/>
            <a:ext cx="2554224" cy="153314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889242" y="6006490"/>
            <a:ext cx="16141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Componente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Amarillo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pic>
        <p:nvPicPr>
          <p:cNvPr id="15" name="Picture 4">
            <a:extLst>
              <a:ext uri="{FF2B5EF4-FFF2-40B4-BE49-F238E27FC236}">
                <a16:creationId xmlns:a16="http://schemas.microsoft.com/office/drawing/2014/main" id="{4C265885-D567-C8AB-195F-B9E6E3A3B8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Ingeniería de Sistemas - UNCP">
            <a:extLst>
              <a:ext uri="{FF2B5EF4-FFF2-40B4-BE49-F238E27FC236}">
                <a16:creationId xmlns:a16="http://schemas.microsoft.com/office/drawing/2014/main" id="{25145058-7380-A070-1210-C83655A02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94226" y="581913"/>
            <a:ext cx="9550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solidFill>
                  <a:srgbClr val="B51A00"/>
                </a:solidFill>
              </a:rPr>
              <a:t>Temas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407" y="2837577"/>
            <a:ext cx="8459764" cy="70893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2068" y="1511046"/>
            <a:ext cx="5549900" cy="1176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469265" algn="l"/>
              </a:tabLst>
            </a:pPr>
            <a:r>
              <a:rPr sz="2800" spc="-10" dirty="0">
                <a:solidFill>
                  <a:srgbClr val="A6A6A6"/>
                </a:solidFill>
                <a:latin typeface="Calibri"/>
                <a:cs typeface="Calibri"/>
              </a:rPr>
              <a:t>Conceptos</a:t>
            </a:r>
            <a:r>
              <a:rPr sz="2800" spc="-8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A6A6A6"/>
                </a:solidFill>
                <a:latin typeface="Calibri"/>
                <a:cs typeface="Calibri"/>
              </a:rPr>
              <a:t>Introductorios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2340"/>
              </a:spcBef>
              <a:buAutoNum type="arabicPeriod"/>
              <a:tabLst>
                <a:tab pos="469265" algn="l"/>
              </a:tabLst>
            </a:pPr>
            <a:r>
              <a:rPr sz="2800" spc="-10" dirty="0">
                <a:solidFill>
                  <a:srgbClr val="A6A6A6"/>
                </a:solidFill>
                <a:latin typeface="Calibri"/>
                <a:cs typeface="Calibri"/>
              </a:rPr>
              <a:t>Procesamiento</a:t>
            </a:r>
            <a:r>
              <a:rPr sz="2800" spc="-6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A6A6A6"/>
                </a:solidFill>
                <a:latin typeface="Calibri"/>
                <a:cs typeface="Calibri"/>
              </a:rPr>
              <a:t>Básico</a:t>
            </a:r>
            <a:r>
              <a:rPr sz="2800" spc="-9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A6A6A6"/>
                </a:solidFill>
                <a:latin typeface="Calibri"/>
                <a:cs typeface="Calibri"/>
              </a:rPr>
              <a:t>de</a:t>
            </a:r>
            <a:r>
              <a:rPr sz="2800" spc="-7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A6A6A6"/>
                </a:solidFill>
                <a:latin typeface="Calibri"/>
                <a:cs typeface="Calibri"/>
              </a:rPr>
              <a:t>Imágenes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431291" y="2924555"/>
            <a:ext cx="8300084" cy="548640"/>
          </a:xfrm>
          <a:prstGeom prst="rect">
            <a:avLst/>
          </a:prstGeom>
          <a:solidFill>
            <a:srgbClr val="9BEDF7"/>
          </a:solidFill>
        </p:spPr>
        <p:txBody>
          <a:bodyPr vert="horz" wrap="square" lIns="0" tIns="46355" rIns="0" bIns="0" rtlCol="0">
            <a:spAutoFit/>
          </a:bodyPr>
          <a:lstStyle/>
          <a:p>
            <a:pPr marL="233045">
              <a:lnSpc>
                <a:spcPct val="100000"/>
              </a:lnSpc>
              <a:spcBef>
                <a:spcPts val="365"/>
              </a:spcBef>
              <a:tabLst>
                <a:tab pos="690245" algn="l"/>
              </a:tabLst>
            </a:pPr>
            <a:r>
              <a:rPr sz="2800" b="1" spc="-25" dirty="0">
                <a:solidFill>
                  <a:srgbClr val="0000FF"/>
                </a:solidFill>
                <a:latin typeface="Calibri"/>
                <a:cs typeface="Calibri"/>
              </a:rPr>
              <a:t>3.</a:t>
            </a:r>
            <a:r>
              <a:rPr sz="2800" b="1" dirty="0">
                <a:solidFill>
                  <a:srgbClr val="0000FF"/>
                </a:solidFill>
                <a:latin typeface="Calibri"/>
                <a:cs typeface="Calibri"/>
              </a:rPr>
              <a:t>	Filtros</a:t>
            </a:r>
            <a:r>
              <a:rPr sz="2800" b="1" spc="-1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Calibri"/>
                <a:cs typeface="Calibri"/>
              </a:rPr>
              <a:t>Lineales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65A78822-FE3C-0D48-38BC-B6847ED517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ngeniería de Sistemas - UNCP">
            <a:extLst>
              <a:ext uri="{FF2B5EF4-FFF2-40B4-BE49-F238E27FC236}">
                <a16:creationId xmlns:a16="http://schemas.microsoft.com/office/drawing/2014/main" id="{7CA4FA31-5816-8E20-56B7-950B5D682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11350">
              <a:lnSpc>
                <a:spcPct val="100000"/>
              </a:lnSpc>
              <a:spcBef>
                <a:spcPts val="100"/>
              </a:spcBef>
            </a:pPr>
            <a:r>
              <a:rPr dirty="0"/>
              <a:t>Filtros</a:t>
            </a:r>
            <a:r>
              <a:rPr spc="-110" dirty="0"/>
              <a:t> </a:t>
            </a:r>
            <a:r>
              <a:rPr spc="-10" dirty="0"/>
              <a:t>Lineales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4382" y="2365755"/>
            <a:ext cx="1064286" cy="94420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24994" y="2380989"/>
            <a:ext cx="1064286" cy="94387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107148" y="2796425"/>
            <a:ext cx="1203325" cy="149860"/>
            <a:chOff x="4107148" y="2796425"/>
            <a:chExt cx="1203325" cy="14986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07148" y="2796425"/>
              <a:ext cx="1202817" cy="14974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140707" y="2801239"/>
              <a:ext cx="1152525" cy="103505"/>
            </a:xfrm>
            <a:custGeom>
              <a:avLst/>
              <a:gdLst/>
              <a:ahLst/>
              <a:cxnLst/>
              <a:rect l="l" t="t" r="r" b="b"/>
              <a:pathLst>
                <a:path w="1152525" h="103505">
                  <a:moveTo>
                    <a:pt x="1127034" y="51688"/>
                  </a:moveTo>
                  <a:lnTo>
                    <a:pt x="1057147" y="92456"/>
                  </a:lnTo>
                  <a:lnTo>
                    <a:pt x="1056131" y="96265"/>
                  </a:lnTo>
                  <a:lnTo>
                    <a:pt x="1059688" y="102362"/>
                  </a:lnTo>
                  <a:lnTo>
                    <a:pt x="1063497" y="103377"/>
                  </a:lnTo>
                  <a:lnTo>
                    <a:pt x="1141253" y="58038"/>
                  </a:lnTo>
                  <a:lnTo>
                    <a:pt x="1139570" y="58038"/>
                  </a:lnTo>
                  <a:lnTo>
                    <a:pt x="1139570" y="57150"/>
                  </a:lnTo>
                  <a:lnTo>
                    <a:pt x="1136395" y="57150"/>
                  </a:lnTo>
                  <a:lnTo>
                    <a:pt x="1127034" y="51688"/>
                  </a:lnTo>
                  <a:close/>
                </a:path>
                <a:path w="1152525" h="103505">
                  <a:moveTo>
                    <a:pt x="1116148" y="45338"/>
                  </a:moveTo>
                  <a:lnTo>
                    <a:pt x="0" y="45338"/>
                  </a:lnTo>
                  <a:lnTo>
                    <a:pt x="0" y="58038"/>
                  </a:lnTo>
                  <a:lnTo>
                    <a:pt x="1116148" y="58038"/>
                  </a:lnTo>
                  <a:lnTo>
                    <a:pt x="1127034" y="51688"/>
                  </a:lnTo>
                  <a:lnTo>
                    <a:pt x="1116148" y="45338"/>
                  </a:lnTo>
                  <a:close/>
                </a:path>
                <a:path w="1152525" h="103505">
                  <a:moveTo>
                    <a:pt x="1141253" y="45338"/>
                  </a:moveTo>
                  <a:lnTo>
                    <a:pt x="1139570" y="45338"/>
                  </a:lnTo>
                  <a:lnTo>
                    <a:pt x="1139570" y="58038"/>
                  </a:lnTo>
                  <a:lnTo>
                    <a:pt x="1141253" y="58038"/>
                  </a:lnTo>
                  <a:lnTo>
                    <a:pt x="1152143" y="51688"/>
                  </a:lnTo>
                  <a:lnTo>
                    <a:pt x="1141253" y="45338"/>
                  </a:lnTo>
                  <a:close/>
                </a:path>
                <a:path w="1152525" h="103505">
                  <a:moveTo>
                    <a:pt x="1136395" y="46227"/>
                  </a:moveTo>
                  <a:lnTo>
                    <a:pt x="1127034" y="51688"/>
                  </a:lnTo>
                  <a:lnTo>
                    <a:pt x="1136395" y="57150"/>
                  </a:lnTo>
                  <a:lnTo>
                    <a:pt x="1136395" y="46227"/>
                  </a:lnTo>
                  <a:close/>
                </a:path>
                <a:path w="1152525" h="103505">
                  <a:moveTo>
                    <a:pt x="1139570" y="46227"/>
                  </a:moveTo>
                  <a:lnTo>
                    <a:pt x="1136395" y="46227"/>
                  </a:lnTo>
                  <a:lnTo>
                    <a:pt x="1136395" y="57150"/>
                  </a:lnTo>
                  <a:lnTo>
                    <a:pt x="1139570" y="57150"/>
                  </a:lnTo>
                  <a:lnTo>
                    <a:pt x="1139570" y="46227"/>
                  </a:lnTo>
                  <a:close/>
                </a:path>
                <a:path w="1152525" h="103505">
                  <a:moveTo>
                    <a:pt x="1063497" y="0"/>
                  </a:moveTo>
                  <a:lnTo>
                    <a:pt x="1059688" y="1015"/>
                  </a:lnTo>
                  <a:lnTo>
                    <a:pt x="1056131" y="7112"/>
                  </a:lnTo>
                  <a:lnTo>
                    <a:pt x="1057147" y="10922"/>
                  </a:lnTo>
                  <a:lnTo>
                    <a:pt x="1127034" y="51688"/>
                  </a:lnTo>
                  <a:lnTo>
                    <a:pt x="1136395" y="46227"/>
                  </a:lnTo>
                  <a:lnTo>
                    <a:pt x="1139570" y="46227"/>
                  </a:lnTo>
                  <a:lnTo>
                    <a:pt x="1139570" y="45338"/>
                  </a:lnTo>
                  <a:lnTo>
                    <a:pt x="1141253" y="45338"/>
                  </a:lnTo>
                  <a:lnTo>
                    <a:pt x="1063497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28755" y="4935043"/>
            <a:ext cx="1061821" cy="87073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99395" y="4920118"/>
            <a:ext cx="1101127" cy="88964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77399" y="4944131"/>
            <a:ext cx="1047656" cy="864768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5023073" y="5317121"/>
            <a:ext cx="802005" cy="149860"/>
            <a:chOff x="5023073" y="5317121"/>
            <a:chExt cx="802005" cy="149860"/>
          </a:xfrm>
        </p:grpSpPr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23073" y="5317121"/>
              <a:ext cx="801951" cy="14974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056632" y="5321934"/>
              <a:ext cx="742950" cy="103505"/>
            </a:xfrm>
            <a:custGeom>
              <a:avLst/>
              <a:gdLst/>
              <a:ahLst/>
              <a:cxnLst/>
              <a:rect l="l" t="t" r="r" b="b"/>
              <a:pathLst>
                <a:path w="742950" h="103504">
                  <a:moveTo>
                    <a:pt x="717586" y="51688"/>
                  </a:moveTo>
                  <a:lnTo>
                    <a:pt x="647700" y="92455"/>
                  </a:lnTo>
                  <a:lnTo>
                    <a:pt x="646683" y="96265"/>
                  </a:lnTo>
                  <a:lnTo>
                    <a:pt x="648462" y="99313"/>
                  </a:lnTo>
                  <a:lnTo>
                    <a:pt x="650113" y="102361"/>
                  </a:lnTo>
                  <a:lnTo>
                    <a:pt x="654050" y="103377"/>
                  </a:lnTo>
                  <a:lnTo>
                    <a:pt x="731805" y="58038"/>
                  </a:lnTo>
                  <a:lnTo>
                    <a:pt x="730122" y="58038"/>
                  </a:lnTo>
                  <a:lnTo>
                    <a:pt x="730122" y="57149"/>
                  </a:lnTo>
                  <a:lnTo>
                    <a:pt x="726947" y="57149"/>
                  </a:lnTo>
                  <a:lnTo>
                    <a:pt x="717586" y="51688"/>
                  </a:lnTo>
                  <a:close/>
                </a:path>
                <a:path w="742950" h="103504">
                  <a:moveTo>
                    <a:pt x="706700" y="45338"/>
                  </a:moveTo>
                  <a:lnTo>
                    <a:pt x="0" y="45338"/>
                  </a:lnTo>
                  <a:lnTo>
                    <a:pt x="0" y="58038"/>
                  </a:lnTo>
                  <a:lnTo>
                    <a:pt x="706700" y="58038"/>
                  </a:lnTo>
                  <a:lnTo>
                    <a:pt x="717586" y="51688"/>
                  </a:lnTo>
                  <a:lnTo>
                    <a:pt x="706700" y="45338"/>
                  </a:lnTo>
                  <a:close/>
                </a:path>
                <a:path w="742950" h="103504">
                  <a:moveTo>
                    <a:pt x="731805" y="45338"/>
                  </a:moveTo>
                  <a:lnTo>
                    <a:pt x="730122" y="45338"/>
                  </a:lnTo>
                  <a:lnTo>
                    <a:pt x="730122" y="58038"/>
                  </a:lnTo>
                  <a:lnTo>
                    <a:pt x="731805" y="58038"/>
                  </a:lnTo>
                  <a:lnTo>
                    <a:pt x="742695" y="51688"/>
                  </a:lnTo>
                  <a:lnTo>
                    <a:pt x="731805" y="45338"/>
                  </a:lnTo>
                  <a:close/>
                </a:path>
                <a:path w="742950" h="103504">
                  <a:moveTo>
                    <a:pt x="726947" y="46227"/>
                  </a:moveTo>
                  <a:lnTo>
                    <a:pt x="717586" y="51688"/>
                  </a:lnTo>
                  <a:lnTo>
                    <a:pt x="726947" y="57149"/>
                  </a:lnTo>
                  <a:lnTo>
                    <a:pt x="726947" y="46227"/>
                  </a:lnTo>
                  <a:close/>
                </a:path>
                <a:path w="742950" h="103504">
                  <a:moveTo>
                    <a:pt x="730122" y="46227"/>
                  </a:moveTo>
                  <a:lnTo>
                    <a:pt x="726947" y="46227"/>
                  </a:lnTo>
                  <a:lnTo>
                    <a:pt x="726947" y="57149"/>
                  </a:lnTo>
                  <a:lnTo>
                    <a:pt x="730122" y="57149"/>
                  </a:lnTo>
                  <a:lnTo>
                    <a:pt x="730122" y="46227"/>
                  </a:lnTo>
                  <a:close/>
                </a:path>
                <a:path w="742950" h="103504">
                  <a:moveTo>
                    <a:pt x="654050" y="0"/>
                  </a:moveTo>
                  <a:lnTo>
                    <a:pt x="650113" y="1015"/>
                  </a:lnTo>
                  <a:lnTo>
                    <a:pt x="648462" y="4063"/>
                  </a:lnTo>
                  <a:lnTo>
                    <a:pt x="646683" y="7111"/>
                  </a:lnTo>
                  <a:lnTo>
                    <a:pt x="647700" y="10921"/>
                  </a:lnTo>
                  <a:lnTo>
                    <a:pt x="717586" y="51688"/>
                  </a:lnTo>
                  <a:lnTo>
                    <a:pt x="726947" y="46227"/>
                  </a:lnTo>
                  <a:lnTo>
                    <a:pt x="730122" y="46227"/>
                  </a:lnTo>
                  <a:lnTo>
                    <a:pt x="730122" y="45338"/>
                  </a:lnTo>
                  <a:lnTo>
                    <a:pt x="731805" y="45338"/>
                  </a:lnTo>
                  <a:lnTo>
                    <a:pt x="65405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35940" y="1152187"/>
            <a:ext cx="7911465" cy="522922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Filtros:</a:t>
            </a:r>
            <a:endParaRPr sz="2000">
              <a:latin typeface="Calibri"/>
              <a:cs typeface="Calibri"/>
            </a:endParaRPr>
          </a:p>
          <a:p>
            <a:pPr marL="389255" lvl="1" indent="-160655">
              <a:lnSpc>
                <a:spcPct val="100000"/>
              </a:lnSpc>
              <a:spcBef>
                <a:spcPts val="439"/>
              </a:spcBef>
              <a:buChar char="-"/>
              <a:tabLst>
                <a:tab pos="389255" algn="l"/>
              </a:tabLst>
            </a:pPr>
            <a:r>
              <a:rPr sz="1800" dirty="0">
                <a:latin typeface="Calibri"/>
                <a:cs typeface="Calibri"/>
              </a:rPr>
              <a:t>Consisten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modificar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píxeles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basados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alguna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función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5" dirty="0">
                <a:latin typeface="Calibri"/>
                <a:cs typeface="Calibri"/>
              </a:rPr>
              <a:t> una</a:t>
            </a:r>
            <a:endParaRPr sz="1800">
              <a:latin typeface="Calibri"/>
              <a:cs typeface="Calibri"/>
            </a:endParaRPr>
          </a:p>
          <a:p>
            <a:pPr marL="38862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vecindad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dichos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píxeles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55"/>
              </a:spcBef>
            </a:pPr>
            <a:endParaRPr sz="1800">
              <a:latin typeface="Calibri"/>
              <a:cs typeface="Calibri"/>
            </a:endParaRPr>
          </a:p>
          <a:p>
            <a:pPr marL="3908425" marR="3449954" indent="-2540" algn="ctr">
              <a:lnSpc>
                <a:spcPct val="100000"/>
              </a:lnSpc>
            </a:pPr>
            <a:r>
              <a:rPr sz="1400" spc="-10" dirty="0">
                <a:solidFill>
                  <a:srgbClr val="404040"/>
                </a:solidFill>
                <a:latin typeface="Calibri"/>
                <a:cs typeface="Calibri"/>
              </a:rPr>
              <a:t>alguna función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4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buFont typeface="Arial MT"/>
              <a:buChar char="•"/>
              <a:tabLst>
                <a:tab pos="207645" algn="l"/>
              </a:tabLst>
            </a:pP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Filtro</a:t>
            </a:r>
            <a:r>
              <a:rPr sz="2000" spc="-7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lineal:</a:t>
            </a:r>
            <a:endParaRPr sz="2000">
              <a:latin typeface="Calibri"/>
              <a:cs typeface="Calibri"/>
            </a:endParaRPr>
          </a:p>
          <a:p>
            <a:pPr marL="388620" marR="5080" lvl="1" indent="-160020">
              <a:lnSpc>
                <a:spcPct val="100899"/>
              </a:lnSpc>
              <a:spcBef>
                <a:spcPts val="420"/>
              </a:spcBef>
              <a:buChar char="-"/>
              <a:tabLst>
                <a:tab pos="388620" algn="l"/>
                <a:tab pos="389890" algn="l"/>
              </a:tabLst>
            </a:pPr>
            <a:r>
              <a:rPr sz="1800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Reemplaza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cada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píxel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combinación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lineal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“vecinos”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(es</a:t>
            </a:r>
            <a:r>
              <a:rPr sz="16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un</a:t>
            </a:r>
            <a:r>
              <a:rPr sz="1600" spc="-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operador local)</a:t>
            </a:r>
            <a:endParaRPr sz="1600">
              <a:latin typeface="Calibri"/>
              <a:cs typeface="Calibri"/>
            </a:endParaRPr>
          </a:p>
          <a:p>
            <a:pPr marL="389255" lvl="1" indent="-160655">
              <a:lnSpc>
                <a:spcPct val="100000"/>
              </a:lnSpc>
              <a:spcBef>
                <a:spcPts val="415"/>
              </a:spcBef>
              <a:buChar char="-"/>
              <a:tabLst>
                <a:tab pos="389255" algn="l"/>
              </a:tabLst>
            </a:pPr>
            <a:r>
              <a:rPr sz="1800" dirty="0">
                <a:latin typeface="Calibri"/>
                <a:cs typeface="Calibri"/>
              </a:rPr>
              <a:t>La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combinación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lineal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determina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kernel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filtro</a:t>
            </a:r>
            <a:endParaRPr sz="1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905"/>
              </a:spcBef>
              <a:buFont typeface="Calibri"/>
              <a:buChar char="-"/>
            </a:pPr>
            <a:endParaRPr sz="1800">
              <a:latin typeface="Calibri"/>
              <a:cs typeface="Calibri"/>
            </a:endParaRPr>
          </a:p>
          <a:p>
            <a:pPr marL="1862455" algn="ctr">
              <a:lnSpc>
                <a:spcPct val="100000"/>
              </a:lnSpc>
            </a:pPr>
            <a:r>
              <a:rPr sz="2000" spc="-50" dirty="0">
                <a:latin typeface="Calibri"/>
                <a:cs typeface="Calibri"/>
              </a:rPr>
              <a:t>=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2000">
              <a:latin typeface="Calibri"/>
              <a:cs typeface="Calibri"/>
            </a:endParaRPr>
          </a:p>
          <a:p>
            <a:pPr marL="389890" lvl="1" indent="-161290">
              <a:lnSpc>
                <a:spcPct val="100000"/>
              </a:lnSpc>
              <a:buChar char="-"/>
              <a:tabLst>
                <a:tab pos="389890" algn="l"/>
              </a:tabLst>
            </a:pPr>
            <a:r>
              <a:rPr sz="1800" spc="-10" dirty="0">
                <a:latin typeface="Calibri"/>
                <a:cs typeface="Calibri"/>
              </a:rPr>
              <a:t>Implementa: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convolución</a:t>
            </a:r>
            <a:r>
              <a:rPr sz="1800" dirty="0">
                <a:latin typeface="Calibri"/>
                <a:cs typeface="Calibri"/>
              </a:rPr>
              <a:t> 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correlación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39392C9E-BEA1-DE56-FDFB-B3E2F6139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Ingeniería de Sistemas - UNCP">
            <a:extLst>
              <a:ext uri="{FF2B5EF4-FFF2-40B4-BE49-F238E27FC236}">
                <a16:creationId xmlns:a16="http://schemas.microsoft.com/office/drawing/2014/main" id="{053A23F2-C1A2-14C1-BFAC-2BC83250C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06317" y="260350"/>
            <a:ext cx="252920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005A9E"/>
                </a:solidFill>
                <a:latin typeface="Calibri"/>
                <a:cs typeface="Calibri"/>
              </a:rPr>
              <a:t>Filtros</a:t>
            </a:r>
            <a:r>
              <a:rPr sz="3200" b="1" spc="-110" dirty="0">
                <a:solidFill>
                  <a:srgbClr val="005A9E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005A9E"/>
                </a:solidFill>
                <a:latin typeface="Calibri"/>
                <a:cs typeface="Calibri"/>
              </a:rPr>
              <a:t>Lineales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52348" y="3036250"/>
            <a:ext cx="2788285" cy="68770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73355" indent="-160655">
              <a:lnSpc>
                <a:spcPct val="100000"/>
              </a:lnSpc>
              <a:spcBef>
                <a:spcPts val="545"/>
              </a:spcBef>
              <a:buChar char="-"/>
              <a:tabLst>
                <a:tab pos="173355" algn="l"/>
              </a:tabLst>
            </a:pPr>
            <a:r>
              <a:rPr sz="1800" spc="-10" dirty="0">
                <a:latin typeface="Calibri"/>
                <a:cs typeface="Calibri"/>
              </a:rPr>
              <a:t>Requiere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“reflejar”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kernel</a:t>
            </a:r>
            <a:endParaRPr sz="1800">
              <a:latin typeface="Calibri"/>
              <a:cs typeface="Calibri"/>
            </a:endParaRPr>
          </a:p>
          <a:p>
            <a:pPr marL="173990" indent="-161290">
              <a:lnSpc>
                <a:spcPct val="100000"/>
              </a:lnSpc>
              <a:spcBef>
                <a:spcPts val="450"/>
              </a:spcBef>
              <a:buChar char="-"/>
              <a:tabLst>
                <a:tab pos="173990" algn="l"/>
              </a:tabLst>
            </a:pPr>
            <a:r>
              <a:rPr sz="1800" dirty="0">
                <a:latin typeface="Calibri"/>
                <a:cs typeface="Calibri"/>
              </a:rPr>
              <a:t>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simétrico: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Cambria Math"/>
                <a:cs typeface="Cambria Math"/>
              </a:rPr>
              <a:t>∗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i="1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f</a:t>
            </a:r>
            <a:r>
              <a:rPr sz="1800" spc="-25" dirty="0">
                <a:latin typeface="Cambria Math"/>
                <a:cs typeface="Cambria Math"/>
              </a:rPr>
              <a:t>∗</a:t>
            </a:r>
            <a:r>
              <a:rPr sz="1800" i="1" spc="-25" dirty="0">
                <a:latin typeface="Times New Roman"/>
                <a:cs typeface="Times New Roman"/>
              </a:rPr>
              <a:t>I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059641"/>
            <a:ext cx="7962265" cy="124841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Correlación:</a:t>
            </a:r>
            <a:endParaRPr sz="20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445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2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Compara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semejanza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conjuntos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datos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(máximo</a:t>
            </a:r>
            <a:r>
              <a:rPr sz="16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valor</a:t>
            </a:r>
            <a:r>
              <a:rPr sz="16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cuando</a:t>
            </a:r>
            <a:r>
              <a:rPr sz="16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hay</a:t>
            </a:r>
            <a:r>
              <a:rPr sz="1600" spc="-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el</a:t>
            </a:r>
            <a:r>
              <a:rPr sz="16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mayor</a:t>
            </a:r>
            <a:endParaRPr sz="1600">
              <a:latin typeface="Calibri"/>
              <a:cs typeface="Calibri"/>
            </a:endParaRPr>
          </a:p>
          <a:p>
            <a:pPr marL="388620">
              <a:lnSpc>
                <a:spcPct val="100000"/>
              </a:lnSpc>
              <a:spcBef>
                <a:spcPts val="20"/>
              </a:spcBef>
            </a:pP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“match”)</a:t>
            </a:r>
            <a:endParaRPr sz="1600">
              <a:latin typeface="Calibri"/>
              <a:cs typeface="Calibri"/>
            </a:endParaRPr>
          </a:p>
          <a:p>
            <a:pPr marL="610870" algn="ctr">
              <a:lnSpc>
                <a:spcPct val="100000"/>
              </a:lnSpc>
              <a:spcBef>
                <a:spcPts val="685"/>
              </a:spcBef>
              <a:tabLst>
                <a:tab pos="1014730" algn="l"/>
              </a:tabLst>
            </a:pPr>
            <a:r>
              <a:rPr sz="1250" spc="-50" dirty="0">
                <a:latin typeface="Symbol"/>
                <a:cs typeface="Symbol"/>
              </a:rPr>
              <a:t></a:t>
            </a:r>
            <a:r>
              <a:rPr sz="1250" dirty="0">
                <a:latin typeface="Times New Roman"/>
                <a:cs typeface="Times New Roman"/>
              </a:rPr>
              <a:t>	</a:t>
            </a:r>
            <a:r>
              <a:rPr sz="1250" spc="-50" dirty="0">
                <a:latin typeface="Symbol"/>
                <a:cs typeface="Symbol"/>
              </a:rPr>
              <a:t></a:t>
            </a:r>
            <a:endParaRPr sz="125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6948" y="5066763"/>
            <a:ext cx="6666230" cy="113157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688464">
              <a:lnSpc>
                <a:spcPct val="100000"/>
              </a:lnSpc>
              <a:spcBef>
                <a:spcPts val="500"/>
              </a:spcBef>
            </a:pPr>
            <a:r>
              <a:rPr sz="2150" i="1" spc="-10" dirty="0">
                <a:latin typeface="Times New Roman"/>
                <a:cs typeface="Times New Roman"/>
              </a:rPr>
              <a:t>I</a:t>
            </a:r>
            <a:r>
              <a:rPr sz="2150" i="1" spc="-28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(</a:t>
            </a:r>
            <a:r>
              <a:rPr sz="2150" i="1" dirty="0">
                <a:latin typeface="Times New Roman"/>
                <a:cs typeface="Times New Roman"/>
              </a:rPr>
              <a:t>x</a:t>
            </a:r>
            <a:r>
              <a:rPr sz="2150" dirty="0">
                <a:latin typeface="Times New Roman"/>
                <a:cs typeface="Times New Roman"/>
              </a:rPr>
              <a:t>,</a:t>
            </a:r>
            <a:r>
              <a:rPr sz="2150" spc="-55" dirty="0">
                <a:latin typeface="Times New Roman"/>
                <a:cs typeface="Times New Roman"/>
              </a:rPr>
              <a:t> </a:t>
            </a:r>
            <a:r>
              <a:rPr sz="2150" i="1" dirty="0">
                <a:latin typeface="Times New Roman"/>
                <a:cs typeface="Times New Roman"/>
              </a:rPr>
              <a:t>y</a:t>
            </a:r>
            <a:r>
              <a:rPr sz="2150" dirty="0">
                <a:latin typeface="Times New Roman"/>
                <a:cs typeface="Times New Roman"/>
              </a:rPr>
              <a:t>)</a:t>
            </a:r>
            <a:r>
              <a:rPr sz="2150" spc="-20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Symbol"/>
                <a:cs typeface="Symbol"/>
              </a:rPr>
              <a:t></a:t>
            </a:r>
            <a:r>
              <a:rPr sz="2150" spc="215" dirty="0">
                <a:latin typeface="Times New Roman"/>
                <a:cs typeface="Times New Roman"/>
              </a:rPr>
              <a:t> </a:t>
            </a:r>
            <a:r>
              <a:rPr sz="2150" i="1" dirty="0">
                <a:latin typeface="Times New Roman"/>
                <a:cs typeface="Times New Roman"/>
              </a:rPr>
              <a:t>f</a:t>
            </a:r>
            <a:r>
              <a:rPr sz="2150" i="1" spc="-2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(</a:t>
            </a:r>
            <a:r>
              <a:rPr sz="2150" i="1" dirty="0">
                <a:latin typeface="Times New Roman"/>
                <a:cs typeface="Times New Roman"/>
              </a:rPr>
              <a:t>x</a:t>
            </a:r>
            <a:r>
              <a:rPr sz="2150" dirty="0">
                <a:latin typeface="Times New Roman"/>
                <a:cs typeface="Times New Roman"/>
              </a:rPr>
              <a:t>,</a:t>
            </a:r>
            <a:r>
              <a:rPr sz="2150" spc="-55" dirty="0">
                <a:latin typeface="Times New Roman"/>
                <a:cs typeface="Times New Roman"/>
              </a:rPr>
              <a:t> </a:t>
            </a:r>
            <a:r>
              <a:rPr sz="2150" i="1" dirty="0">
                <a:latin typeface="Times New Roman"/>
                <a:cs typeface="Times New Roman"/>
              </a:rPr>
              <a:t>y</a:t>
            </a:r>
            <a:r>
              <a:rPr sz="2150" dirty="0">
                <a:latin typeface="Times New Roman"/>
                <a:cs typeface="Times New Roman"/>
              </a:rPr>
              <a:t>)</a:t>
            </a:r>
            <a:r>
              <a:rPr sz="2150" spc="-2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Symbol"/>
                <a:cs typeface="Symbol"/>
              </a:rPr>
              <a:t></a:t>
            </a:r>
            <a:r>
              <a:rPr sz="2150" spc="220" dirty="0">
                <a:latin typeface="Times New Roman"/>
                <a:cs typeface="Times New Roman"/>
              </a:rPr>
              <a:t> </a:t>
            </a:r>
            <a:r>
              <a:rPr sz="4875" baseline="-8547" dirty="0">
                <a:latin typeface="Symbol"/>
                <a:cs typeface="Symbol"/>
              </a:rPr>
              <a:t></a:t>
            </a:r>
            <a:r>
              <a:rPr sz="4875" spc="202" baseline="-8547" dirty="0">
                <a:latin typeface="Times New Roman"/>
                <a:cs typeface="Times New Roman"/>
              </a:rPr>
              <a:t> </a:t>
            </a:r>
            <a:r>
              <a:rPr sz="4875" baseline="-8547" dirty="0">
                <a:latin typeface="Symbol"/>
                <a:cs typeface="Symbol"/>
              </a:rPr>
              <a:t></a:t>
            </a:r>
            <a:r>
              <a:rPr sz="4875" spc="-82" baseline="-8547" dirty="0">
                <a:latin typeface="Times New Roman"/>
                <a:cs typeface="Times New Roman"/>
              </a:rPr>
              <a:t> </a:t>
            </a:r>
            <a:r>
              <a:rPr sz="2150" i="1" spc="-10" dirty="0">
                <a:latin typeface="Times New Roman"/>
                <a:cs typeface="Times New Roman"/>
              </a:rPr>
              <a:t>I</a:t>
            </a:r>
            <a:r>
              <a:rPr sz="2150" i="1" spc="-275" dirty="0">
                <a:latin typeface="Times New Roman"/>
                <a:cs typeface="Times New Roman"/>
              </a:rPr>
              <a:t> </a:t>
            </a:r>
            <a:r>
              <a:rPr sz="2150" spc="65" dirty="0">
                <a:latin typeface="Times New Roman"/>
                <a:cs typeface="Times New Roman"/>
              </a:rPr>
              <a:t>(</a:t>
            </a:r>
            <a:r>
              <a:rPr sz="2150" i="1" spc="65" dirty="0">
                <a:latin typeface="Times New Roman"/>
                <a:cs typeface="Times New Roman"/>
              </a:rPr>
              <a:t>x</a:t>
            </a:r>
            <a:r>
              <a:rPr sz="2150" i="1" spc="-125" dirty="0">
                <a:latin typeface="Times New Roman"/>
                <a:cs typeface="Times New Roman"/>
              </a:rPr>
              <a:t> </a:t>
            </a:r>
            <a:r>
              <a:rPr sz="2150" spc="-20" dirty="0">
                <a:latin typeface="Symbol"/>
                <a:cs typeface="Symbol"/>
              </a:rPr>
              <a:t></a:t>
            </a:r>
            <a:r>
              <a:rPr sz="2150" spc="-215" dirty="0">
                <a:latin typeface="Times New Roman"/>
                <a:cs typeface="Times New Roman"/>
              </a:rPr>
              <a:t> </a:t>
            </a:r>
            <a:r>
              <a:rPr sz="2150" i="1" dirty="0">
                <a:latin typeface="Times New Roman"/>
                <a:cs typeface="Times New Roman"/>
              </a:rPr>
              <a:t>i</a:t>
            </a:r>
            <a:r>
              <a:rPr sz="2150" dirty="0">
                <a:latin typeface="Times New Roman"/>
                <a:cs typeface="Times New Roman"/>
              </a:rPr>
              <a:t>,</a:t>
            </a:r>
            <a:r>
              <a:rPr sz="2150" spc="-60" dirty="0">
                <a:latin typeface="Times New Roman"/>
                <a:cs typeface="Times New Roman"/>
              </a:rPr>
              <a:t> </a:t>
            </a:r>
            <a:r>
              <a:rPr sz="2150" i="1" dirty="0">
                <a:latin typeface="Times New Roman"/>
                <a:cs typeface="Times New Roman"/>
              </a:rPr>
              <a:t>y</a:t>
            </a:r>
            <a:r>
              <a:rPr sz="2150" i="1" spc="-9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Symbol"/>
                <a:cs typeface="Symbol"/>
              </a:rPr>
              <a:t></a:t>
            </a:r>
            <a:r>
              <a:rPr sz="2150" spc="270" dirty="0">
                <a:latin typeface="Times New Roman"/>
                <a:cs typeface="Times New Roman"/>
              </a:rPr>
              <a:t> </a:t>
            </a:r>
            <a:r>
              <a:rPr sz="2150" i="1" dirty="0">
                <a:latin typeface="Times New Roman"/>
                <a:cs typeface="Times New Roman"/>
              </a:rPr>
              <a:t>j</a:t>
            </a:r>
            <a:r>
              <a:rPr sz="2150" dirty="0">
                <a:latin typeface="Times New Roman"/>
                <a:cs typeface="Times New Roman"/>
              </a:rPr>
              <a:t>)</a:t>
            </a:r>
            <a:r>
              <a:rPr sz="2150" spc="-75" dirty="0">
                <a:latin typeface="Times New Roman"/>
                <a:cs typeface="Times New Roman"/>
              </a:rPr>
              <a:t> </a:t>
            </a:r>
            <a:r>
              <a:rPr sz="2150" i="1" dirty="0">
                <a:latin typeface="Times New Roman"/>
                <a:cs typeface="Times New Roman"/>
              </a:rPr>
              <a:t>f</a:t>
            </a:r>
            <a:r>
              <a:rPr sz="2150" i="1" spc="-1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(</a:t>
            </a:r>
            <a:r>
              <a:rPr sz="2150" i="1" dirty="0">
                <a:latin typeface="Times New Roman"/>
                <a:cs typeface="Times New Roman"/>
              </a:rPr>
              <a:t>i</a:t>
            </a:r>
            <a:r>
              <a:rPr sz="2150" dirty="0">
                <a:latin typeface="Times New Roman"/>
                <a:cs typeface="Times New Roman"/>
              </a:rPr>
              <a:t>,</a:t>
            </a:r>
            <a:r>
              <a:rPr sz="2150" spc="145" dirty="0">
                <a:latin typeface="Times New Roman"/>
                <a:cs typeface="Times New Roman"/>
              </a:rPr>
              <a:t> </a:t>
            </a:r>
            <a:r>
              <a:rPr sz="2150" i="1" spc="-25" dirty="0">
                <a:latin typeface="Times New Roman"/>
                <a:cs typeface="Times New Roman"/>
              </a:rPr>
              <a:t>j</a:t>
            </a:r>
            <a:r>
              <a:rPr sz="2150" spc="-25" dirty="0">
                <a:latin typeface="Times New Roman"/>
                <a:cs typeface="Times New Roman"/>
              </a:rPr>
              <a:t>)</a:t>
            </a:r>
            <a:endParaRPr sz="2150">
              <a:latin typeface="Times New Roman"/>
              <a:cs typeface="Times New Roman"/>
            </a:endParaRPr>
          </a:p>
          <a:p>
            <a:pPr marL="3718560">
              <a:lnSpc>
                <a:spcPct val="100000"/>
              </a:lnSpc>
              <a:spcBef>
                <a:spcPts val="155"/>
              </a:spcBef>
            </a:pPr>
            <a:r>
              <a:rPr sz="1250" i="1" dirty="0">
                <a:latin typeface="Times New Roman"/>
                <a:cs typeface="Times New Roman"/>
              </a:rPr>
              <a:t>i</a:t>
            </a:r>
            <a:r>
              <a:rPr sz="1250" dirty="0">
                <a:latin typeface="Symbol"/>
                <a:cs typeface="Symbol"/>
              </a:rPr>
              <a:t></a:t>
            </a:r>
            <a:r>
              <a:rPr sz="1250" spc="340" dirty="0">
                <a:latin typeface="Times New Roman"/>
                <a:cs typeface="Times New Roman"/>
              </a:rPr>
              <a:t> </a:t>
            </a:r>
            <a:r>
              <a:rPr sz="1250" i="1" spc="-20" dirty="0">
                <a:latin typeface="Times New Roman"/>
                <a:cs typeface="Times New Roman"/>
              </a:rPr>
              <a:t>j</a:t>
            </a:r>
            <a:r>
              <a:rPr sz="1250" i="1" spc="-180" dirty="0">
                <a:latin typeface="Times New Roman"/>
                <a:cs typeface="Times New Roman"/>
              </a:rPr>
              <a:t> </a:t>
            </a:r>
            <a:r>
              <a:rPr sz="1250" spc="-25" dirty="0">
                <a:latin typeface="Symbol"/>
                <a:cs typeface="Symbol"/>
              </a:rPr>
              <a:t></a:t>
            </a:r>
            <a:endParaRPr sz="1250">
              <a:latin typeface="Symbol"/>
              <a:cs typeface="Symbol"/>
            </a:endParaRPr>
          </a:p>
          <a:p>
            <a:pPr marL="38100">
              <a:lnSpc>
                <a:spcPct val="100000"/>
              </a:lnSpc>
              <a:spcBef>
                <a:spcPts val="59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2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requiere “reflejar”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 </a:t>
            </a:r>
            <a:r>
              <a:rPr sz="1800" spc="-10" dirty="0">
                <a:latin typeface="Calibri"/>
                <a:cs typeface="Calibri"/>
              </a:rPr>
              <a:t>kernel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28317" y="2212962"/>
            <a:ext cx="541020" cy="215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6559" algn="l"/>
              </a:tabLst>
            </a:pPr>
            <a:r>
              <a:rPr sz="1250" spc="-50" dirty="0">
                <a:latin typeface="Symbol"/>
                <a:cs typeface="Symbol"/>
              </a:rPr>
              <a:t></a:t>
            </a:r>
            <a:r>
              <a:rPr sz="1250" dirty="0">
                <a:latin typeface="Times New Roman"/>
                <a:cs typeface="Times New Roman"/>
              </a:rPr>
              <a:t>	</a:t>
            </a:r>
            <a:r>
              <a:rPr sz="1250" spc="-50" dirty="0">
                <a:latin typeface="Symbol"/>
                <a:cs typeface="Symbol"/>
              </a:rPr>
              <a:t></a:t>
            </a:r>
            <a:endParaRPr sz="125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0540" y="1150492"/>
            <a:ext cx="7950200" cy="181673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233045" indent="-19494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233045" algn="l"/>
              </a:tabLst>
            </a:pP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Convolución</a:t>
            </a:r>
            <a:endParaRPr sz="2000">
              <a:latin typeface="Calibri"/>
              <a:cs typeface="Calibri"/>
            </a:endParaRPr>
          </a:p>
          <a:p>
            <a:pPr marL="254000">
              <a:lnSpc>
                <a:spcPct val="100000"/>
              </a:lnSpc>
              <a:spcBef>
                <a:spcPts val="455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2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Expresa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cantidad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traslape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imagen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f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x,</a:t>
            </a:r>
            <a:r>
              <a:rPr sz="1800" i="1" spc="-50" dirty="0">
                <a:latin typeface="Times New Roman"/>
                <a:cs typeface="Times New Roman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y</a:t>
            </a:r>
            <a:r>
              <a:rPr sz="1800" dirty="0">
                <a:latin typeface="Times New Roman"/>
                <a:cs typeface="Times New Roman"/>
              </a:rPr>
              <a:t>)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(kernel)</a:t>
            </a:r>
            <a:r>
              <a:rPr sz="1600" spc="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mientras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traslada</a:t>
            </a:r>
            <a:endParaRPr sz="1800">
              <a:latin typeface="Calibri"/>
              <a:cs typeface="Calibri"/>
            </a:endParaRPr>
          </a:p>
          <a:p>
            <a:pPr marL="41402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sobre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otra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imagen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I</a:t>
            </a:r>
            <a:r>
              <a:rPr sz="1800" dirty="0">
                <a:latin typeface="Times New Roman"/>
                <a:cs typeface="Times New Roman"/>
              </a:rPr>
              <a:t>(</a:t>
            </a:r>
            <a:r>
              <a:rPr sz="1800" i="1" dirty="0">
                <a:latin typeface="Times New Roman"/>
                <a:cs typeface="Times New Roman"/>
              </a:rPr>
              <a:t>x,</a:t>
            </a:r>
            <a:r>
              <a:rPr sz="1800" i="1" spc="-65" dirty="0">
                <a:latin typeface="Times New Roman"/>
                <a:cs typeface="Times New Roman"/>
              </a:rPr>
              <a:t> </a:t>
            </a:r>
            <a:r>
              <a:rPr sz="1800" i="1" spc="-25" dirty="0">
                <a:latin typeface="Times New Roman"/>
                <a:cs typeface="Times New Roman"/>
              </a:rPr>
              <a:t>y</a:t>
            </a:r>
            <a:r>
              <a:rPr sz="1800" spc="-25" dirty="0">
                <a:latin typeface="Times New Roman"/>
                <a:cs typeface="Times New Roman"/>
              </a:rPr>
              <a:t>):</a:t>
            </a:r>
            <a:endParaRPr sz="1800">
              <a:latin typeface="Times New Roman"/>
              <a:cs typeface="Times New Roman"/>
            </a:endParaRPr>
          </a:p>
          <a:p>
            <a:pPr marL="633095" algn="ctr">
              <a:lnSpc>
                <a:spcPct val="100000"/>
              </a:lnSpc>
              <a:spcBef>
                <a:spcPts val="930"/>
              </a:spcBef>
            </a:pPr>
            <a:r>
              <a:rPr sz="2150" i="1" spc="-10" dirty="0">
                <a:latin typeface="Times New Roman"/>
                <a:cs typeface="Times New Roman"/>
              </a:rPr>
              <a:t>I</a:t>
            </a:r>
            <a:r>
              <a:rPr sz="2150" i="1" spc="-28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(</a:t>
            </a:r>
            <a:r>
              <a:rPr sz="2150" i="1" dirty="0">
                <a:latin typeface="Times New Roman"/>
                <a:cs typeface="Times New Roman"/>
              </a:rPr>
              <a:t>x</a:t>
            </a:r>
            <a:r>
              <a:rPr sz="2150" dirty="0">
                <a:latin typeface="Times New Roman"/>
                <a:cs typeface="Times New Roman"/>
              </a:rPr>
              <a:t>,</a:t>
            </a:r>
            <a:r>
              <a:rPr sz="2150" spc="-55" dirty="0">
                <a:latin typeface="Times New Roman"/>
                <a:cs typeface="Times New Roman"/>
              </a:rPr>
              <a:t> </a:t>
            </a:r>
            <a:r>
              <a:rPr sz="2150" i="1" dirty="0">
                <a:latin typeface="Times New Roman"/>
                <a:cs typeface="Times New Roman"/>
              </a:rPr>
              <a:t>y</a:t>
            </a:r>
            <a:r>
              <a:rPr sz="2150" dirty="0">
                <a:latin typeface="Times New Roman"/>
                <a:cs typeface="Times New Roman"/>
              </a:rPr>
              <a:t>)</a:t>
            </a:r>
            <a:r>
              <a:rPr sz="2150" spc="-27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Symbol"/>
                <a:cs typeface="Symbol"/>
              </a:rPr>
              <a:t></a:t>
            </a:r>
            <a:r>
              <a:rPr sz="2150" spc="150" dirty="0">
                <a:latin typeface="Times New Roman"/>
                <a:cs typeface="Times New Roman"/>
              </a:rPr>
              <a:t> </a:t>
            </a:r>
            <a:r>
              <a:rPr sz="2150" i="1" dirty="0">
                <a:latin typeface="Times New Roman"/>
                <a:cs typeface="Times New Roman"/>
              </a:rPr>
              <a:t>f</a:t>
            </a:r>
            <a:r>
              <a:rPr sz="2150" i="1" spc="-1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(</a:t>
            </a:r>
            <a:r>
              <a:rPr sz="2150" i="1" dirty="0">
                <a:latin typeface="Times New Roman"/>
                <a:cs typeface="Times New Roman"/>
              </a:rPr>
              <a:t>x</a:t>
            </a:r>
            <a:r>
              <a:rPr sz="2150" dirty="0">
                <a:latin typeface="Times New Roman"/>
                <a:cs typeface="Times New Roman"/>
              </a:rPr>
              <a:t>,</a:t>
            </a:r>
            <a:r>
              <a:rPr sz="2150" spc="-55" dirty="0">
                <a:latin typeface="Times New Roman"/>
                <a:cs typeface="Times New Roman"/>
              </a:rPr>
              <a:t> </a:t>
            </a:r>
            <a:r>
              <a:rPr sz="2150" i="1" dirty="0">
                <a:latin typeface="Times New Roman"/>
                <a:cs typeface="Times New Roman"/>
              </a:rPr>
              <a:t>y</a:t>
            </a:r>
            <a:r>
              <a:rPr sz="2150" dirty="0">
                <a:latin typeface="Times New Roman"/>
                <a:cs typeface="Times New Roman"/>
              </a:rPr>
              <a:t>)</a:t>
            </a:r>
            <a:r>
              <a:rPr sz="2150" spc="-1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Symbol"/>
                <a:cs typeface="Symbol"/>
              </a:rPr>
              <a:t></a:t>
            </a:r>
            <a:r>
              <a:rPr sz="2150" spc="225" dirty="0">
                <a:latin typeface="Times New Roman"/>
                <a:cs typeface="Times New Roman"/>
              </a:rPr>
              <a:t> </a:t>
            </a:r>
            <a:r>
              <a:rPr sz="4800" baseline="-8680" dirty="0">
                <a:latin typeface="Symbol"/>
                <a:cs typeface="Symbol"/>
              </a:rPr>
              <a:t></a:t>
            </a:r>
            <a:r>
              <a:rPr sz="4800" spc="217" baseline="-8680" dirty="0">
                <a:latin typeface="Times New Roman"/>
                <a:cs typeface="Times New Roman"/>
              </a:rPr>
              <a:t> </a:t>
            </a:r>
            <a:r>
              <a:rPr sz="4800" baseline="-8680" dirty="0">
                <a:latin typeface="Symbol"/>
                <a:cs typeface="Symbol"/>
              </a:rPr>
              <a:t></a:t>
            </a:r>
            <a:r>
              <a:rPr sz="4800" spc="-44" baseline="-8680" dirty="0">
                <a:latin typeface="Times New Roman"/>
                <a:cs typeface="Times New Roman"/>
              </a:rPr>
              <a:t> </a:t>
            </a:r>
            <a:r>
              <a:rPr sz="2150" i="1" spc="-10" dirty="0">
                <a:latin typeface="Times New Roman"/>
                <a:cs typeface="Times New Roman"/>
              </a:rPr>
              <a:t>I</a:t>
            </a:r>
            <a:r>
              <a:rPr sz="2150" i="1" spc="-275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(</a:t>
            </a:r>
            <a:r>
              <a:rPr sz="2150" i="1" dirty="0">
                <a:latin typeface="Times New Roman"/>
                <a:cs typeface="Times New Roman"/>
              </a:rPr>
              <a:t>i</a:t>
            </a:r>
            <a:r>
              <a:rPr sz="2150" dirty="0">
                <a:latin typeface="Times New Roman"/>
                <a:cs typeface="Times New Roman"/>
              </a:rPr>
              <a:t>,</a:t>
            </a:r>
            <a:r>
              <a:rPr sz="2150" spc="155" dirty="0">
                <a:latin typeface="Times New Roman"/>
                <a:cs typeface="Times New Roman"/>
              </a:rPr>
              <a:t> </a:t>
            </a:r>
            <a:r>
              <a:rPr sz="2150" i="1" dirty="0">
                <a:latin typeface="Times New Roman"/>
                <a:cs typeface="Times New Roman"/>
              </a:rPr>
              <a:t>j</a:t>
            </a:r>
            <a:r>
              <a:rPr sz="2150" dirty="0">
                <a:latin typeface="Times New Roman"/>
                <a:cs typeface="Times New Roman"/>
              </a:rPr>
              <a:t>)</a:t>
            </a:r>
            <a:r>
              <a:rPr sz="2150" spc="-65" dirty="0">
                <a:latin typeface="Times New Roman"/>
                <a:cs typeface="Times New Roman"/>
              </a:rPr>
              <a:t> </a:t>
            </a:r>
            <a:r>
              <a:rPr sz="2150" i="1" dirty="0">
                <a:latin typeface="Times New Roman"/>
                <a:cs typeface="Times New Roman"/>
              </a:rPr>
              <a:t>f</a:t>
            </a:r>
            <a:r>
              <a:rPr sz="2150" i="1" spc="-15" dirty="0">
                <a:latin typeface="Times New Roman"/>
                <a:cs typeface="Times New Roman"/>
              </a:rPr>
              <a:t> </a:t>
            </a:r>
            <a:r>
              <a:rPr sz="2150" spc="65" dirty="0">
                <a:latin typeface="Times New Roman"/>
                <a:cs typeface="Times New Roman"/>
              </a:rPr>
              <a:t>(</a:t>
            </a:r>
            <a:r>
              <a:rPr sz="2150" i="1" spc="65" dirty="0">
                <a:latin typeface="Times New Roman"/>
                <a:cs typeface="Times New Roman"/>
              </a:rPr>
              <a:t>x</a:t>
            </a:r>
            <a:r>
              <a:rPr sz="2150" i="1" spc="-120" dirty="0">
                <a:latin typeface="Times New Roman"/>
                <a:cs typeface="Times New Roman"/>
              </a:rPr>
              <a:t> </a:t>
            </a:r>
            <a:r>
              <a:rPr sz="2150" spc="-20" dirty="0">
                <a:latin typeface="Symbol"/>
                <a:cs typeface="Symbol"/>
              </a:rPr>
              <a:t></a:t>
            </a:r>
            <a:r>
              <a:rPr sz="2150" spc="-250" dirty="0">
                <a:latin typeface="Times New Roman"/>
                <a:cs typeface="Times New Roman"/>
              </a:rPr>
              <a:t> </a:t>
            </a:r>
            <a:r>
              <a:rPr sz="2150" i="1" dirty="0">
                <a:latin typeface="Times New Roman"/>
                <a:cs typeface="Times New Roman"/>
              </a:rPr>
              <a:t>i</a:t>
            </a:r>
            <a:r>
              <a:rPr sz="2150" dirty="0">
                <a:latin typeface="Times New Roman"/>
                <a:cs typeface="Times New Roman"/>
              </a:rPr>
              <a:t>,</a:t>
            </a:r>
            <a:r>
              <a:rPr sz="2150" spc="-60" dirty="0">
                <a:latin typeface="Times New Roman"/>
                <a:cs typeface="Times New Roman"/>
              </a:rPr>
              <a:t> </a:t>
            </a:r>
            <a:r>
              <a:rPr sz="2150" i="1" dirty="0">
                <a:latin typeface="Times New Roman"/>
                <a:cs typeface="Times New Roman"/>
              </a:rPr>
              <a:t>y</a:t>
            </a:r>
            <a:r>
              <a:rPr sz="2150" i="1" spc="-8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Symbol"/>
                <a:cs typeface="Symbol"/>
              </a:rPr>
              <a:t></a:t>
            </a:r>
            <a:r>
              <a:rPr sz="2150" spc="235" dirty="0">
                <a:latin typeface="Times New Roman"/>
                <a:cs typeface="Times New Roman"/>
              </a:rPr>
              <a:t> </a:t>
            </a:r>
            <a:r>
              <a:rPr sz="2150" i="1" spc="-25" dirty="0">
                <a:latin typeface="Times New Roman"/>
                <a:cs typeface="Times New Roman"/>
              </a:rPr>
              <a:t>j</a:t>
            </a:r>
            <a:r>
              <a:rPr sz="2150" spc="-25" dirty="0">
                <a:latin typeface="Times New Roman"/>
                <a:cs typeface="Times New Roman"/>
              </a:rPr>
              <a:t>)</a:t>
            </a:r>
            <a:endParaRPr sz="2150">
              <a:latin typeface="Times New Roman"/>
              <a:cs typeface="Times New Roman"/>
            </a:endParaRPr>
          </a:p>
          <a:p>
            <a:pPr marL="441959" algn="ctr">
              <a:lnSpc>
                <a:spcPct val="100000"/>
              </a:lnSpc>
              <a:spcBef>
                <a:spcPts val="155"/>
              </a:spcBef>
            </a:pPr>
            <a:r>
              <a:rPr sz="1250" i="1" dirty="0">
                <a:latin typeface="Times New Roman"/>
                <a:cs typeface="Times New Roman"/>
              </a:rPr>
              <a:t>i</a:t>
            </a:r>
            <a:r>
              <a:rPr sz="1250" dirty="0">
                <a:latin typeface="Symbol"/>
                <a:cs typeface="Symbol"/>
              </a:rPr>
              <a:t></a:t>
            </a:r>
            <a:r>
              <a:rPr sz="1250" spc="340" dirty="0">
                <a:latin typeface="Times New Roman"/>
                <a:cs typeface="Times New Roman"/>
              </a:rPr>
              <a:t> </a:t>
            </a:r>
            <a:r>
              <a:rPr sz="1250" i="1" spc="-20" dirty="0">
                <a:latin typeface="Times New Roman"/>
                <a:cs typeface="Times New Roman"/>
              </a:rPr>
              <a:t>j</a:t>
            </a:r>
            <a:r>
              <a:rPr sz="1250" i="1" spc="-175" dirty="0">
                <a:latin typeface="Times New Roman"/>
                <a:cs typeface="Times New Roman"/>
              </a:rPr>
              <a:t> </a:t>
            </a:r>
            <a:r>
              <a:rPr sz="1250" spc="-25" dirty="0">
                <a:latin typeface="Symbol"/>
                <a:cs typeface="Symbol"/>
              </a:rPr>
              <a:t></a:t>
            </a:r>
            <a:endParaRPr sz="1250">
              <a:latin typeface="Symbol"/>
              <a:cs typeface="Symbol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5B68EDF-5D74-1E63-E3C7-DA65B5EDE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Ingeniería de Sistemas - UNCP">
            <a:extLst>
              <a:ext uri="{FF2B5EF4-FFF2-40B4-BE49-F238E27FC236}">
                <a16:creationId xmlns:a16="http://schemas.microsoft.com/office/drawing/2014/main" id="{58CB27BA-01AE-289C-680F-35E6B367B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41105" y="6633464"/>
            <a:ext cx="153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585858"/>
                </a:solidFill>
                <a:latin typeface="Calibri"/>
                <a:cs typeface="Calibri"/>
              </a:rPr>
              <a:t>22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11350">
              <a:lnSpc>
                <a:spcPct val="100000"/>
              </a:lnSpc>
              <a:spcBef>
                <a:spcPts val="100"/>
              </a:spcBef>
            </a:pPr>
            <a:r>
              <a:rPr dirty="0"/>
              <a:t>Filtros</a:t>
            </a:r>
            <a:r>
              <a:rPr spc="-110" dirty="0"/>
              <a:t> </a:t>
            </a:r>
            <a:r>
              <a:rPr spc="-10" dirty="0"/>
              <a:t>Lineales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7794" y="922782"/>
            <a:ext cx="5261610" cy="5154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1879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Principales</a:t>
            </a:r>
            <a:r>
              <a:rPr sz="2400" b="1" spc="-6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Filtros</a:t>
            </a:r>
            <a:endParaRPr sz="24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spcBef>
                <a:spcPts val="281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000" i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i="1" dirty="0">
                <a:solidFill>
                  <a:srgbClr val="6F2F9F"/>
                </a:solidFill>
                <a:latin typeface="Calibri"/>
                <a:cs typeface="Calibri"/>
              </a:rPr>
              <a:t>suavizado</a:t>
            </a:r>
            <a:r>
              <a:rPr sz="2000" i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6F2F9F"/>
                </a:solidFill>
                <a:latin typeface="Calibri"/>
                <a:cs typeface="Calibri"/>
              </a:rPr>
              <a:t>(“smoothing”)</a:t>
            </a:r>
            <a:endParaRPr sz="1600">
              <a:latin typeface="Calibri"/>
              <a:cs typeface="Calibri"/>
            </a:endParaRPr>
          </a:p>
          <a:p>
            <a:pPr marL="389890" lvl="1" indent="-161290">
              <a:lnSpc>
                <a:spcPct val="100000"/>
              </a:lnSpc>
              <a:spcBef>
                <a:spcPts val="440"/>
              </a:spcBef>
              <a:buChar char="-"/>
              <a:tabLst>
                <a:tab pos="389890" algn="l"/>
              </a:tabLst>
            </a:pPr>
            <a:r>
              <a:rPr sz="1800" dirty="0">
                <a:latin typeface="Calibri"/>
                <a:cs typeface="Calibri"/>
              </a:rPr>
              <a:t>Uso: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eliminar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ruido</a:t>
            </a:r>
            <a:endParaRPr sz="1800">
              <a:latin typeface="Calibri"/>
              <a:cs typeface="Calibri"/>
            </a:endParaRPr>
          </a:p>
          <a:p>
            <a:pPr marL="389890" lvl="1" indent="-161290">
              <a:lnSpc>
                <a:spcPct val="100000"/>
              </a:lnSpc>
              <a:spcBef>
                <a:spcPts val="434"/>
              </a:spcBef>
              <a:buChar char="-"/>
              <a:tabLst>
                <a:tab pos="389890" algn="l"/>
              </a:tabLst>
            </a:pPr>
            <a:r>
              <a:rPr sz="1800" spc="-10" dirty="0">
                <a:latin typeface="Calibri"/>
                <a:cs typeface="Calibri"/>
              </a:rPr>
              <a:t>Ejemplos:</a:t>
            </a:r>
            <a:endParaRPr sz="1800">
              <a:latin typeface="Calibri"/>
              <a:cs typeface="Calibri"/>
            </a:endParaRPr>
          </a:p>
          <a:p>
            <a:pPr marL="735330" lvl="2" indent="-191135">
              <a:lnSpc>
                <a:spcPct val="100000"/>
              </a:lnSpc>
              <a:spcBef>
                <a:spcPts val="405"/>
              </a:spcBef>
              <a:buFont typeface="Arial MT"/>
              <a:buChar char="•"/>
              <a:tabLst>
                <a:tab pos="735330" algn="l"/>
              </a:tabLst>
            </a:pP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Filtro</a:t>
            </a:r>
            <a:r>
              <a:rPr sz="1600" spc="-4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de</a:t>
            </a:r>
            <a:r>
              <a:rPr sz="1600" spc="-2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media</a:t>
            </a:r>
            <a:r>
              <a:rPr sz="1600" spc="-3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85858"/>
                </a:solidFill>
                <a:latin typeface="Calibri"/>
                <a:cs typeface="Calibri"/>
              </a:rPr>
              <a:t>(averaging)</a:t>
            </a:r>
            <a:endParaRPr sz="1600">
              <a:latin typeface="Calibri"/>
              <a:cs typeface="Calibri"/>
            </a:endParaRPr>
          </a:p>
          <a:p>
            <a:pPr marL="735330" lvl="2" indent="-191135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735330" algn="l"/>
              </a:tabLst>
            </a:pP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Filtro</a:t>
            </a:r>
            <a:r>
              <a:rPr sz="1600" spc="-6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85858"/>
                </a:solidFill>
                <a:latin typeface="Calibri"/>
                <a:cs typeface="Calibri"/>
              </a:rPr>
              <a:t>Gaussiano</a:t>
            </a:r>
            <a:endParaRPr sz="160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1375"/>
              </a:spcBef>
              <a:buFont typeface="Arial MT"/>
              <a:buChar char="•"/>
            </a:pPr>
            <a:endParaRPr sz="16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i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000" i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i="1" spc="-10" dirty="0">
                <a:solidFill>
                  <a:srgbClr val="6F2F9F"/>
                </a:solidFill>
                <a:latin typeface="Calibri"/>
                <a:cs typeface="Calibri"/>
              </a:rPr>
              <a:t>agudizamiento</a:t>
            </a:r>
            <a:r>
              <a:rPr sz="2000" i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6F2F9F"/>
                </a:solidFill>
                <a:latin typeface="Calibri"/>
                <a:cs typeface="Calibri"/>
              </a:rPr>
              <a:t>(“sharpening”)</a:t>
            </a:r>
            <a:endParaRPr sz="1600">
              <a:latin typeface="Calibri"/>
              <a:cs typeface="Calibri"/>
            </a:endParaRPr>
          </a:p>
          <a:p>
            <a:pPr marL="389890" lvl="1" indent="-161290">
              <a:lnSpc>
                <a:spcPct val="100000"/>
              </a:lnSpc>
              <a:spcBef>
                <a:spcPts val="439"/>
              </a:spcBef>
              <a:buChar char="-"/>
              <a:tabLst>
                <a:tab pos="389890" algn="l"/>
              </a:tabLst>
            </a:pPr>
            <a:r>
              <a:rPr sz="1800" spc="-10" dirty="0">
                <a:latin typeface="Calibri"/>
                <a:cs typeface="Calibri"/>
              </a:rPr>
              <a:t>Usos:</a:t>
            </a:r>
            <a:endParaRPr sz="1800">
              <a:latin typeface="Calibri"/>
              <a:cs typeface="Calibri"/>
            </a:endParaRPr>
          </a:p>
          <a:p>
            <a:pPr marL="735330" lvl="2" indent="-191135">
              <a:lnSpc>
                <a:spcPct val="100000"/>
              </a:lnSpc>
              <a:spcBef>
                <a:spcPts val="405"/>
              </a:spcBef>
              <a:buFont typeface="Arial MT"/>
              <a:buChar char="•"/>
              <a:tabLst>
                <a:tab pos="735330" algn="l"/>
              </a:tabLst>
            </a:pPr>
            <a:r>
              <a:rPr sz="1600" spc="-10" dirty="0">
                <a:latin typeface="Calibri"/>
                <a:cs typeface="Calibri"/>
              </a:rPr>
              <a:t>Para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resaltar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los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detalles</a:t>
            </a:r>
            <a:endParaRPr sz="1600">
              <a:latin typeface="Calibri"/>
              <a:cs typeface="Calibri"/>
            </a:endParaRPr>
          </a:p>
          <a:p>
            <a:pPr marL="735330" lvl="2" indent="-191135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735330" algn="l"/>
              </a:tabLst>
            </a:pPr>
            <a:r>
              <a:rPr sz="1600" spc="-10" dirty="0">
                <a:latin typeface="Calibri"/>
                <a:cs typeface="Calibri"/>
              </a:rPr>
              <a:t>Para</a:t>
            </a:r>
            <a:r>
              <a:rPr sz="1600" spc="-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detectar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bordes</a:t>
            </a:r>
            <a:endParaRPr sz="1600">
              <a:latin typeface="Calibri"/>
              <a:cs typeface="Calibri"/>
            </a:endParaRPr>
          </a:p>
          <a:p>
            <a:pPr marL="389890" lvl="1" indent="-161290">
              <a:lnSpc>
                <a:spcPct val="100000"/>
              </a:lnSpc>
              <a:spcBef>
                <a:spcPts val="409"/>
              </a:spcBef>
              <a:buChar char="-"/>
              <a:tabLst>
                <a:tab pos="389890" algn="l"/>
              </a:tabLst>
            </a:pPr>
            <a:r>
              <a:rPr sz="1800" spc="-10" dirty="0">
                <a:latin typeface="Calibri"/>
                <a:cs typeface="Calibri"/>
              </a:rPr>
              <a:t>Ejemplos:</a:t>
            </a:r>
            <a:endParaRPr sz="1800">
              <a:latin typeface="Calibri"/>
              <a:cs typeface="Calibri"/>
            </a:endParaRPr>
          </a:p>
          <a:p>
            <a:pPr marL="735330" lvl="2" indent="-191135">
              <a:lnSpc>
                <a:spcPct val="100000"/>
              </a:lnSpc>
              <a:spcBef>
                <a:spcPts val="405"/>
              </a:spcBef>
              <a:buFont typeface="Arial MT"/>
              <a:buChar char="•"/>
              <a:tabLst>
                <a:tab pos="735330" algn="l"/>
              </a:tabLst>
            </a:pP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Filtro</a:t>
            </a:r>
            <a:r>
              <a:rPr sz="1600" spc="-4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de</a:t>
            </a:r>
            <a:r>
              <a:rPr sz="1600" spc="-3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85858"/>
                </a:solidFill>
                <a:latin typeface="Calibri"/>
                <a:cs typeface="Calibri"/>
              </a:rPr>
              <a:t>gradiente</a:t>
            </a:r>
            <a:endParaRPr sz="1600">
              <a:latin typeface="Calibri"/>
              <a:cs typeface="Calibri"/>
            </a:endParaRPr>
          </a:p>
          <a:p>
            <a:pPr marL="735330" lvl="2" indent="-191135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735330" algn="l"/>
              </a:tabLst>
            </a:pP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Filtro</a:t>
            </a:r>
            <a:r>
              <a:rPr sz="1600" spc="-3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de</a:t>
            </a:r>
            <a:r>
              <a:rPr sz="1600" spc="-2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85858"/>
                </a:solidFill>
                <a:latin typeface="Calibri"/>
                <a:cs typeface="Calibri"/>
              </a:rPr>
              <a:t>Laplaciano</a:t>
            </a:r>
            <a:endParaRPr sz="1600">
              <a:latin typeface="Calibri"/>
              <a:cs typeface="Calibri"/>
            </a:endParaRPr>
          </a:p>
          <a:p>
            <a:pPr marL="735330" lvl="2" indent="-191135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735330" algn="l"/>
              </a:tabLst>
            </a:pP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Filtro</a:t>
            </a:r>
            <a:r>
              <a:rPr sz="1600" spc="-4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85858"/>
                </a:solidFill>
                <a:latin typeface="Calibri"/>
                <a:cs typeface="Calibri"/>
              </a:rPr>
              <a:t>DoG,</a:t>
            </a:r>
            <a:r>
              <a:rPr sz="1600" spc="-2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585858"/>
                </a:solidFill>
                <a:latin typeface="Calibri"/>
                <a:cs typeface="Calibri"/>
              </a:rPr>
              <a:t>LoG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52515" y="1845564"/>
            <a:ext cx="2022347" cy="143560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79364" y="4509515"/>
            <a:ext cx="2016251" cy="144322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977509" y="6638645"/>
            <a:ext cx="12579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[Imagen</a:t>
            </a:r>
            <a:r>
              <a:rPr sz="10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0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E7E7E"/>
                </a:solidFill>
                <a:latin typeface="Calibri"/>
                <a:cs typeface="Calibri"/>
              </a:rPr>
              <a:t>J.C.</a:t>
            </a:r>
            <a:r>
              <a:rPr sz="10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7E7E7E"/>
                </a:solidFill>
                <a:latin typeface="Calibri"/>
                <a:cs typeface="Calibri"/>
              </a:rPr>
              <a:t>Niebles]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210F834F-3B3F-20CE-2B4D-A325B57584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Ingeniería de Sistemas - UNCP">
            <a:extLst>
              <a:ext uri="{FF2B5EF4-FFF2-40B4-BE49-F238E27FC236}">
                <a16:creationId xmlns:a16="http://schemas.microsoft.com/office/drawing/2014/main" id="{9727D75A-3278-3BCD-550C-B7425898C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11350">
              <a:lnSpc>
                <a:spcPct val="100000"/>
              </a:lnSpc>
              <a:spcBef>
                <a:spcPts val="100"/>
              </a:spcBef>
            </a:pPr>
            <a:r>
              <a:rPr dirty="0"/>
              <a:t>Filtros</a:t>
            </a:r>
            <a:r>
              <a:rPr spc="-110" dirty="0"/>
              <a:t> </a:t>
            </a:r>
            <a:r>
              <a:rPr spc="-10" dirty="0"/>
              <a:t>Lineales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5821045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6126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Suavizado:</a:t>
            </a:r>
            <a:r>
              <a:rPr sz="2400" b="1" spc="-7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Filtro</a:t>
            </a:r>
            <a:r>
              <a:rPr sz="2400" b="1" spc="-7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de</a:t>
            </a:r>
            <a:r>
              <a:rPr sz="2400" b="1" spc="-6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Media</a:t>
            </a:r>
            <a:endParaRPr sz="24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spcBef>
                <a:spcPts val="281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spc="-10" dirty="0">
                <a:latin typeface="Calibri"/>
                <a:cs typeface="Calibri"/>
              </a:rPr>
              <a:t>Ejemplo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7794" y="5608196"/>
            <a:ext cx="6057900" cy="72326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spc="-10" dirty="0">
                <a:solidFill>
                  <a:srgbClr val="C00000"/>
                </a:solidFill>
                <a:latin typeface="Calibri"/>
                <a:cs typeface="Calibri"/>
              </a:rPr>
              <a:t>Problema:</a:t>
            </a:r>
            <a:endParaRPr sz="20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44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229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Genera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imagen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más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suave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pero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efecto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“pixelado”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0011" y="2293620"/>
            <a:ext cx="1583436" cy="156667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62572" y="2453241"/>
            <a:ext cx="1256932" cy="121847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12179" y="2269235"/>
            <a:ext cx="1583435" cy="158343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51176" y="4224528"/>
            <a:ext cx="1374248" cy="136398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76444" y="4221479"/>
            <a:ext cx="1371600" cy="136702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419602" y="2819526"/>
            <a:ext cx="2787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0" dirty="0">
                <a:latin typeface="Calibri"/>
                <a:cs typeface="Calibri"/>
              </a:rPr>
              <a:t>*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64226" y="2747517"/>
            <a:ext cx="2787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0" dirty="0">
                <a:latin typeface="Calibri"/>
                <a:cs typeface="Calibri"/>
              </a:rPr>
              <a:t>=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416552" y="4712208"/>
            <a:ext cx="241300" cy="387350"/>
            <a:chOff x="4416552" y="4712208"/>
            <a:chExt cx="241300" cy="387350"/>
          </a:xfrm>
        </p:grpSpPr>
        <p:sp>
          <p:nvSpPr>
            <p:cNvPr id="13" name="object 13"/>
            <p:cNvSpPr/>
            <p:nvPr/>
          </p:nvSpPr>
          <p:spPr>
            <a:xfrm>
              <a:off x="4429506" y="4725162"/>
              <a:ext cx="215265" cy="361315"/>
            </a:xfrm>
            <a:custGeom>
              <a:avLst/>
              <a:gdLst/>
              <a:ahLst/>
              <a:cxnLst/>
              <a:rect l="l" t="t" r="r" b="b"/>
              <a:pathLst>
                <a:path w="215264" h="361314">
                  <a:moveTo>
                    <a:pt x="107442" y="0"/>
                  </a:moveTo>
                  <a:lnTo>
                    <a:pt x="107442" y="90296"/>
                  </a:lnTo>
                  <a:lnTo>
                    <a:pt x="0" y="90296"/>
                  </a:lnTo>
                  <a:lnTo>
                    <a:pt x="0" y="270890"/>
                  </a:lnTo>
                  <a:lnTo>
                    <a:pt x="107442" y="270890"/>
                  </a:lnTo>
                  <a:lnTo>
                    <a:pt x="107442" y="361188"/>
                  </a:lnTo>
                  <a:lnTo>
                    <a:pt x="214884" y="180594"/>
                  </a:lnTo>
                  <a:lnTo>
                    <a:pt x="107442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29506" y="4725162"/>
              <a:ext cx="215265" cy="361315"/>
            </a:xfrm>
            <a:custGeom>
              <a:avLst/>
              <a:gdLst/>
              <a:ahLst/>
              <a:cxnLst/>
              <a:rect l="l" t="t" r="r" b="b"/>
              <a:pathLst>
                <a:path w="215264" h="361314">
                  <a:moveTo>
                    <a:pt x="0" y="90296"/>
                  </a:moveTo>
                  <a:lnTo>
                    <a:pt x="107442" y="90296"/>
                  </a:lnTo>
                  <a:lnTo>
                    <a:pt x="107442" y="0"/>
                  </a:lnTo>
                  <a:lnTo>
                    <a:pt x="214884" y="180594"/>
                  </a:lnTo>
                  <a:lnTo>
                    <a:pt x="107442" y="361188"/>
                  </a:lnTo>
                  <a:lnTo>
                    <a:pt x="107442" y="270890"/>
                  </a:lnTo>
                  <a:lnTo>
                    <a:pt x="0" y="270890"/>
                  </a:lnTo>
                  <a:lnTo>
                    <a:pt x="0" y="90296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C8ECCDF3-7929-B35F-BE53-D7FAD95B92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Ingeniería de Sistemas - UNCP">
            <a:extLst>
              <a:ext uri="{FF2B5EF4-FFF2-40B4-BE49-F238E27FC236}">
                <a16:creationId xmlns:a16="http://schemas.microsoft.com/office/drawing/2014/main" id="{82F98958-C991-41CF-E1AD-76C1707C1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11350">
              <a:lnSpc>
                <a:spcPct val="100000"/>
              </a:lnSpc>
              <a:spcBef>
                <a:spcPts val="100"/>
              </a:spcBef>
            </a:pPr>
            <a:r>
              <a:rPr dirty="0"/>
              <a:t>Filtros</a:t>
            </a:r>
            <a:r>
              <a:rPr spc="-110" dirty="0"/>
              <a:t> </a:t>
            </a:r>
            <a:r>
              <a:rPr spc="-10" dirty="0"/>
              <a:t>Lineales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5875020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01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Suavizado:</a:t>
            </a:r>
            <a:r>
              <a:rPr sz="2400" b="1" spc="-9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Filtro</a:t>
            </a:r>
            <a:r>
              <a:rPr sz="2400" b="1" spc="-8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Gaussiano</a:t>
            </a:r>
            <a:endParaRPr sz="24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spcBef>
                <a:spcPts val="281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dirty="0">
                <a:latin typeface="Calibri"/>
                <a:cs typeface="Calibri"/>
              </a:rPr>
              <a:t>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aproximación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función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Gaussiana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-25" dirty="0">
                <a:latin typeface="Calibri"/>
                <a:cs typeface="Calibri"/>
              </a:rPr>
              <a:t> 2D: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2394" y="2940733"/>
            <a:ext cx="5213350" cy="72009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233045" indent="-19494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233045" algn="l"/>
              </a:tabLst>
            </a:pPr>
            <a:r>
              <a:rPr sz="2000" spc="-20" dirty="0">
                <a:latin typeface="Calibri"/>
                <a:cs typeface="Calibri"/>
              </a:rPr>
              <a:t>Efecto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varianza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(</a:t>
            </a:r>
            <a:r>
              <a:rPr sz="2000" i="1" spc="-20" dirty="0">
                <a:latin typeface="Times New Roman"/>
                <a:cs typeface="Times New Roman"/>
              </a:rPr>
              <a:t>σ</a:t>
            </a:r>
            <a:r>
              <a:rPr sz="1950" spc="-30" baseline="25641" dirty="0">
                <a:latin typeface="Times New Roman"/>
                <a:cs typeface="Times New Roman"/>
              </a:rPr>
              <a:t>2</a:t>
            </a:r>
            <a:r>
              <a:rPr sz="2000" spc="-20" dirty="0">
                <a:latin typeface="Calibri"/>
                <a:cs typeface="Calibri"/>
              </a:rPr>
              <a:t>):</a:t>
            </a:r>
            <a:endParaRPr sz="2000">
              <a:latin typeface="Calibri"/>
              <a:cs typeface="Calibri"/>
            </a:endParaRPr>
          </a:p>
          <a:p>
            <a:pPr marL="254000">
              <a:lnSpc>
                <a:spcPct val="100000"/>
              </a:lnSpc>
              <a:spcBef>
                <a:spcPts val="425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2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Mientras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más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grande,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más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grado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suavizado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60140" y="2541295"/>
            <a:ext cx="612140" cy="0"/>
          </a:xfrm>
          <a:custGeom>
            <a:avLst/>
            <a:gdLst/>
            <a:ahLst/>
            <a:cxnLst/>
            <a:rect l="l" t="t" r="r" b="b"/>
            <a:pathLst>
              <a:path w="612139">
                <a:moveTo>
                  <a:pt x="0" y="0"/>
                </a:moveTo>
                <a:lnTo>
                  <a:pt x="611961" y="0"/>
                </a:lnTo>
              </a:path>
            </a:pathLst>
          </a:custGeom>
          <a:ln w="135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99504" y="2343795"/>
            <a:ext cx="443865" cy="0"/>
          </a:xfrm>
          <a:custGeom>
            <a:avLst/>
            <a:gdLst/>
            <a:ahLst/>
            <a:cxnLst/>
            <a:rect l="l" t="t" r="r" b="b"/>
            <a:pathLst>
              <a:path w="443864">
                <a:moveTo>
                  <a:pt x="0" y="0"/>
                </a:moveTo>
                <a:lnTo>
                  <a:pt x="443335" y="0"/>
                </a:lnTo>
              </a:path>
            </a:pathLst>
          </a:custGeom>
          <a:ln w="64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838917" y="2523595"/>
            <a:ext cx="632460" cy="3714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150" spc="-20" dirty="0">
                <a:latin typeface="Times New Roman"/>
                <a:cs typeface="Times New Roman"/>
              </a:rPr>
              <a:t>2</a:t>
            </a:r>
            <a:r>
              <a:rPr sz="2250" spc="-20" dirty="0">
                <a:latin typeface="Symbol"/>
                <a:cs typeface="Symbol"/>
              </a:rPr>
              <a:t></a:t>
            </a:r>
            <a:r>
              <a:rPr sz="1875" spc="-30" baseline="42222" dirty="0">
                <a:latin typeface="Times New Roman"/>
                <a:cs typeface="Times New Roman"/>
              </a:rPr>
              <a:t>2</a:t>
            </a:r>
            <a:endParaRPr sz="1875" baseline="42222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70126" y="2308919"/>
            <a:ext cx="1235710" cy="3714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50" i="1" dirty="0">
                <a:latin typeface="Times New Roman"/>
                <a:cs typeface="Times New Roman"/>
              </a:rPr>
              <a:t>f</a:t>
            </a:r>
            <a:r>
              <a:rPr sz="2150" i="1" spc="10" dirty="0">
                <a:latin typeface="Times New Roman"/>
                <a:cs typeface="Times New Roman"/>
              </a:rPr>
              <a:t> </a:t>
            </a:r>
            <a:r>
              <a:rPr sz="2150" dirty="0">
                <a:latin typeface="Times New Roman"/>
                <a:cs typeface="Times New Roman"/>
              </a:rPr>
              <a:t>(</a:t>
            </a:r>
            <a:r>
              <a:rPr sz="2150" i="1" dirty="0">
                <a:latin typeface="Times New Roman"/>
                <a:cs typeface="Times New Roman"/>
              </a:rPr>
              <a:t>x</a:t>
            </a:r>
            <a:r>
              <a:rPr sz="2150" dirty="0">
                <a:latin typeface="Times New Roman"/>
                <a:cs typeface="Times New Roman"/>
              </a:rPr>
              <a:t>,</a:t>
            </a:r>
            <a:r>
              <a:rPr sz="2150" spc="-25" dirty="0">
                <a:latin typeface="Times New Roman"/>
                <a:cs typeface="Times New Roman"/>
              </a:rPr>
              <a:t> </a:t>
            </a:r>
            <a:r>
              <a:rPr sz="2150" i="1" spc="-135" dirty="0">
                <a:latin typeface="Times New Roman"/>
                <a:cs typeface="Times New Roman"/>
              </a:rPr>
              <a:t>y</a:t>
            </a:r>
            <a:r>
              <a:rPr sz="2150" spc="-135" dirty="0">
                <a:latin typeface="Times New Roman"/>
                <a:cs typeface="Times New Roman"/>
              </a:rPr>
              <a:t>,</a:t>
            </a:r>
            <a:r>
              <a:rPr sz="2250" spc="-135" dirty="0">
                <a:latin typeface="Symbol"/>
                <a:cs typeface="Symbol"/>
              </a:rPr>
              <a:t></a:t>
            </a:r>
            <a:r>
              <a:rPr sz="2150" spc="-135" dirty="0">
                <a:latin typeface="Times New Roman"/>
                <a:cs typeface="Times New Roman"/>
              </a:rPr>
              <a:t>)</a:t>
            </a:r>
            <a:r>
              <a:rPr sz="2150" spc="10" dirty="0">
                <a:latin typeface="Times New Roman"/>
                <a:cs typeface="Times New Roman"/>
              </a:rPr>
              <a:t> </a:t>
            </a:r>
            <a:r>
              <a:rPr sz="2150" spc="-50" dirty="0">
                <a:latin typeface="Symbol"/>
                <a:cs typeface="Symbol"/>
              </a:rPr>
              <a:t></a:t>
            </a:r>
            <a:endParaRPr sz="215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85620" y="2150080"/>
            <a:ext cx="160020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spc="-50" dirty="0">
                <a:latin typeface="Times New Roman"/>
                <a:cs typeface="Times New Roman"/>
              </a:rPr>
              <a:t>1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01571" y="2323223"/>
            <a:ext cx="145415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i="1" spc="-50" dirty="0">
                <a:latin typeface="Times New Roman"/>
                <a:cs typeface="Times New Roman"/>
              </a:rPr>
              <a:t>e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69465" y="2273857"/>
            <a:ext cx="266700" cy="2260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950" spc="-37" baseline="-23504" dirty="0">
                <a:latin typeface="Symbol"/>
                <a:cs typeface="Symbol"/>
              </a:rPr>
              <a:t></a:t>
            </a:r>
            <a:r>
              <a:rPr sz="900" spc="-25" dirty="0">
                <a:latin typeface="Times New Roman"/>
                <a:cs typeface="Times New Roman"/>
              </a:rPr>
              <a:t>2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04745" y="2113270"/>
            <a:ext cx="653415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75" baseline="-35555" dirty="0">
                <a:latin typeface="Symbol"/>
                <a:cs typeface="Symbol"/>
              </a:rPr>
              <a:t></a:t>
            </a:r>
            <a:r>
              <a:rPr sz="1875" spc="569" baseline="-35555" dirty="0">
                <a:latin typeface="Times New Roman"/>
                <a:cs typeface="Times New Roman"/>
              </a:rPr>
              <a:t> </a:t>
            </a:r>
            <a:r>
              <a:rPr sz="1250" i="1" dirty="0">
                <a:latin typeface="Times New Roman"/>
                <a:cs typeface="Times New Roman"/>
              </a:rPr>
              <a:t>x</a:t>
            </a:r>
            <a:r>
              <a:rPr sz="1350" baseline="33950" dirty="0">
                <a:latin typeface="Times New Roman"/>
                <a:cs typeface="Times New Roman"/>
              </a:rPr>
              <a:t>2</a:t>
            </a:r>
            <a:r>
              <a:rPr sz="1350" spc="-30" baseline="33950" dirty="0">
                <a:latin typeface="Times New Roman"/>
                <a:cs typeface="Times New Roman"/>
              </a:rPr>
              <a:t> </a:t>
            </a:r>
            <a:r>
              <a:rPr sz="1250" spc="-30" dirty="0">
                <a:latin typeface="Symbol"/>
                <a:cs typeface="Symbol"/>
              </a:rPr>
              <a:t></a:t>
            </a:r>
            <a:r>
              <a:rPr sz="1250" spc="-114" dirty="0">
                <a:latin typeface="Times New Roman"/>
                <a:cs typeface="Times New Roman"/>
              </a:rPr>
              <a:t> </a:t>
            </a:r>
            <a:r>
              <a:rPr sz="1250" i="1" spc="-25" dirty="0">
                <a:latin typeface="Times New Roman"/>
                <a:cs typeface="Times New Roman"/>
              </a:rPr>
              <a:t>y</a:t>
            </a:r>
            <a:r>
              <a:rPr sz="1350" spc="-37" baseline="33950" dirty="0">
                <a:latin typeface="Times New Roman"/>
                <a:cs typeface="Times New Roman"/>
              </a:rPr>
              <a:t>2</a:t>
            </a:r>
            <a:endParaRPr sz="1350" baseline="33950">
              <a:latin typeface="Times New Roman"/>
              <a:cs typeface="Times New Roman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0055" y="3941064"/>
            <a:ext cx="1993392" cy="146913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0055" y="5606796"/>
            <a:ext cx="743712" cy="74828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78935" y="3936491"/>
            <a:ext cx="1955291" cy="147828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10940" y="5611367"/>
            <a:ext cx="742188" cy="743711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09715" y="3906011"/>
            <a:ext cx="2061972" cy="153924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150864" y="5640323"/>
            <a:ext cx="734567" cy="742188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989350" y="1805666"/>
            <a:ext cx="1396659" cy="1157255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6806945" y="6457594"/>
            <a:ext cx="6553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i="1" dirty="0">
                <a:latin typeface="Times New Roman"/>
                <a:cs typeface="Times New Roman"/>
              </a:rPr>
              <a:t>σ</a:t>
            </a:r>
            <a:r>
              <a:rPr sz="1400" i="1" spc="-5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Calibri"/>
                <a:cs typeface="Calibri"/>
              </a:rPr>
              <a:t>grande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70633" y="6417665"/>
            <a:ext cx="79502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i="1" dirty="0">
                <a:latin typeface="Times New Roman"/>
                <a:cs typeface="Times New Roman"/>
              </a:rPr>
              <a:t>σ</a:t>
            </a:r>
            <a:r>
              <a:rPr sz="1400" i="1" spc="-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Calibri"/>
                <a:cs typeface="Calibri"/>
              </a:rPr>
              <a:t>pequeño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65020" y="5644896"/>
            <a:ext cx="1165859" cy="64922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576584" y="5649500"/>
            <a:ext cx="1109447" cy="644619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954023" y="5672348"/>
            <a:ext cx="1213086" cy="673567"/>
          </a:xfrm>
          <a:prstGeom prst="rect">
            <a:avLst/>
          </a:prstGeom>
        </p:spPr>
      </p:pic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pic>
        <p:nvPicPr>
          <p:cNvPr id="26" name="Picture 4">
            <a:extLst>
              <a:ext uri="{FF2B5EF4-FFF2-40B4-BE49-F238E27FC236}">
                <a16:creationId xmlns:a16="http://schemas.microsoft.com/office/drawing/2014/main" id="{2ABE53E4-2FD2-EC2B-1D74-DB6BBCB5E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6" descr="Ingeniería de Sistemas - UNCP">
            <a:extLst>
              <a:ext uri="{FF2B5EF4-FFF2-40B4-BE49-F238E27FC236}">
                <a16:creationId xmlns:a16="http://schemas.microsoft.com/office/drawing/2014/main" id="{48138602-29EC-D289-9B5F-6DD884BB9A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11350">
              <a:lnSpc>
                <a:spcPct val="100000"/>
              </a:lnSpc>
              <a:spcBef>
                <a:spcPts val="100"/>
              </a:spcBef>
            </a:pPr>
            <a:r>
              <a:rPr dirty="0"/>
              <a:t>Filtros</a:t>
            </a:r>
            <a:r>
              <a:rPr spc="-110" dirty="0"/>
              <a:t> </a:t>
            </a:r>
            <a:r>
              <a:rPr spc="-10" dirty="0"/>
              <a:t>Lineales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6719570" cy="1056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3285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Diferencia</a:t>
            </a:r>
            <a:r>
              <a:rPr sz="2400" b="1" spc="-8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de</a:t>
            </a:r>
            <a:r>
              <a:rPr sz="2400" b="1" spc="-7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Gaussianas</a:t>
            </a:r>
            <a:r>
              <a:rPr sz="2400" b="1" spc="-5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(DoG)</a:t>
            </a:r>
            <a:endParaRPr sz="24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spcBef>
                <a:spcPts val="2830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spc="-25" dirty="0">
                <a:latin typeface="Calibri"/>
                <a:cs typeface="Calibri"/>
              </a:rPr>
              <a:t>Toma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diferencia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entre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imágenes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filtradas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σ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libri"/>
                <a:cs typeface="Calibri"/>
              </a:rPr>
              <a:t>creciente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202" y="3766184"/>
            <a:ext cx="1028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Comic Sans MS"/>
                <a:cs typeface="Comic Sans MS"/>
              </a:rPr>
              <a:t>-</a:t>
            </a:r>
            <a:r>
              <a:rPr sz="1800" spc="-40" dirty="0">
                <a:solidFill>
                  <a:srgbClr val="6F2F9F"/>
                </a:solidFill>
                <a:latin typeface="Comic Sans MS"/>
                <a:cs typeface="Comic Sans MS"/>
              </a:rPr>
              <a:t> </a:t>
            </a:r>
            <a:r>
              <a:rPr sz="1800" spc="-10" dirty="0">
                <a:solidFill>
                  <a:srgbClr val="6F2F9F"/>
                </a:solidFill>
                <a:latin typeface="Comic Sans MS"/>
                <a:cs typeface="Comic Sans MS"/>
              </a:rPr>
              <a:t>Ejemplo</a:t>
            </a:r>
            <a:endParaRPr sz="1800">
              <a:latin typeface="Comic Sans MS"/>
              <a:cs typeface="Comic Sans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2948" y="2179320"/>
            <a:ext cx="3157728" cy="1399002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760220" y="4192523"/>
            <a:ext cx="5664835" cy="2476500"/>
            <a:chOff x="1760220" y="4192523"/>
            <a:chExt cx="5664835" cy="24765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0220" y="4192523"/>
              <a:ext cx="5664708" cy="112663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79887" y="5542787"/>
              <a:ext cx="1107964" cy="112623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543048" y="5251322"/>
              <a:ext cx="4126229" cy="302895"/>
            </a:xfrm>
            <a:custGeom>
              <a:avLst/>
              <a:gdLst/>
              <a:ahLst/>
              <a:cxnLst/>
              <a:rect l="l" t="t" r="r" b="b"/>
              <a:pathLst>
                <a:path w="4126229" h="302895">
                  <a:moveTo>
                    <a:pt x="301498" y="302895"/>
                  </a:moveTo>
                  <a:lnTo>
                    <a:pt x="283514" y="248920"/>
                  </a:lnTo>
                  <a:lnTo>
                    <a:pt x="261112" y="181610"/>
                  </a:lnTo>
                  <a:lnTo>
                    <a:pt x="234162" y="208521"/>
                  </a:lnTo>
                  <a:lnTo>
                    <a:pt x="26924" y="1397"/>
                  </a:lnTo>
                  <a:lnTo>
                    <a:pt x="0" y="28321"/>
                  </a:lnTo>
                  <a:lnTo>
                    <a:pt x="207213" y="235419"/>
                  </a:lnTo>
                  <a:lnTo>
                    <a:pt x="180213" y="262382"/>
                  </a:lnTo>
                  <a:lnTo>
                    <a:pt x="301498" y="302895"/>
                  </a:lnTo>
                  <a:close/>
                </a:path>
                <a:path w="4126229" h="302895">
                  <a:moveTo>
                    <a:pt x="702564" y="28956"/>
                  </a:moveTo>
                  <a:lnTo>
                    <a:pt x="676910" y="762"/>
                  </a:lnTo>
                  <a:lnTo>
                    <a:pt x="444881" y="211848"/>
                  </a:lnTo>
                  <a:lnTo>
                    <a:pt x="419227" y="183642"/>
                  </a:lnTo>
                  <a:lnTo>
                    <a:pt x="373126" y="302895"/>
                  </a:lnTo>
                  <a:lnTo>
                    <a:pt x="496189" y="268224"/>
                  </a:lnTo>
                  <a:lnTo>
                    <a:pt x="482206" y="252857"/>
                  </a:lnTo>
                  <a:lnTo>
                    <a:pt x="470535" y="240042"/>
                  </a:lnTo>
                  <a:lnTo>
                    <a:pt x="702564" y="28956"/>
                  </a:lnTo>
                  <a:close/>
                </a:path>
                <a:path w="4126229" h="302895">
                  <a:moveTo>
                    <a:pt x="1453642" y="302895"/>
                  </a:moveTo>
                  <a:lnTo>
                    <a:pt x="1435658" y="248920"/>
                  </a:lnTo>
                  <a:lnTo>
                    <a:pt x="1413256" y="181610"/>
                  </a:lnTo>
                  <a:lnTo>
                    <a:pt x="1386306" y="208521"/>
                  </a:lnTo>
                  <a:lnTo>
                    <a:pt x="1179068" y="1397"/>
                  </a:lnTo>
                  <a:lnTo>
                    <a:pt x="1152144" y="28321"/>
                  </a:lnTo>
                  <a:lnTo>
                    <a:pt x="1359357" y="235419"/>
                  </a:lnTo>
                  <a:lnTo>
                    <a:pt x="1332357" y="262382"/>
                  </a:lnTo>
                  <a:lnTo>
                    <a:pt x="1453642" y="302895"/>
                  </a:lnTo>
                  <a:close/>
                </a:path>
                <a:path w="4126229" h="302895">
                  <a:moveTo>
                    <a:pt x="1866011" y="29210"/>
                  </a:moveTo>
                  <a:lnTo>
                    <a:pt x="1840865" y="508"/>
                  </a:lnTo>
                  <a:lnTo>
                    <a:pt x="1598612" y="213144"/>
                  </a:lnTo>
                  <a:lnTo>
                    <a:pt x="1573530" y="184531"/>
                  </a:lnTo>
                  <a:lnTo>
                    <a:pt x="1525270" y="302895"/>
                  </a:lnTo>
                  <a:lnTo>
                    <a:pt x="1648841" y="270383"/>
                  </a:lnTo>
                  <a:lnTo>
                    <a:pt x="1634794" y="254381"/>
                  </a:lnTo>
                  <a:lnTo>
                    <a:pt x="1623771" y="241820"/>
                  </a:lnTo>
                  <a:lnTo>
                    <a:pt x="1866011" y="29210"/>
                  </a:lnTo>
                  <a:close/>
                </a:path>
                <a:path w="4126229" h="302895">
                  <a:moveTo>
                    <a:pt x="2605786" y="302895"/>
                  </a:moveTo>
                  <a:lnTo>
                    <a:pt x="2587802" y="248920"/>
                  </a:lnTo>
                  <a:lnTo>
                    <a:pt x="2565400" y="181610"/>
                  </a:lnTo>
                  <a:lnTo>
                    <a:pt x="2538450" y="208521"/>
                  </a:lnTo>
                  <a:lnTo>
                    <a:pt x="2331212" y="1397"/>
                  </a:lnTo>
                  <a:lnTo>
                    <a:pt x="2304288" y="28321"/>
                  </a:lnTo>
                  <a:lnTo>
                    <a:pt x="2511501" y="235419"/>
                  </a:lnTo>
                  <a:lnTo>
                    <a:pt x="2484501" y="262382"/>
                  </a:lnTo>
                  <a:lnTo>
                    <a:pt x="2605786" y="302895"/>
                  </a:lnTo>
                  <a:close/>
                </a:path>
                <a:path w="4126229" h="302895">
                  <a:moveTo>
                    <a:pt x="2978912" y="29210"/>
                  </a:moveTo>
                  <a:lnTo>
                    <a:pt x="2954020" y="381"/>
                  </a:lnTo>
                  <a:lnTo>
                    <a:pt x="2707221" y="213702"/>
                  </a:lnTo>
                  <a:lnTo>
                    <a:pt x="2682367" y="184912"/>
                  </a:lnTo>
                  <a:lnTo>
                    <a:pt x="2633218" y="302895"/>
                  </a:lnTo>
                  <a:lnTo>
                    <a:pt x="2757043" y="271399"/>
                  </a:lnTo>
                  <a:lnTo>
                    <a:pt x="2742895" y="255016"/>
                  </a:lnTo>
                  <a:lnTo>
                    <a:pt x="2732163" y="242595"/>
                  </a:lnTo>
                  <a:lnTo>
                    <a:pt x="2978912" y="29210"/>
                  </a:lnTo>
                  <a:close/>
                </a:path>
                <a:path w="4126229" h="302895">
                  <a:moveTo>
                    <a:pt x="3686302" y="302895"/>
                  </a:moveTo>
                  <a:lnTo>
                    <a:pt x="3668318" y="248920"/>
                  </a:lnTo>
                  <a:lnTo>
                    <a:pt x="3645916" y="181610"/>
                  </a:lnTo>
                  <a:lnTo>
                    <a:pt x="3618966" y="208521"/>
                  </a:lnTo>
                  <a:lnTo>
                    <a:pt x="3411728" y="1397"/>
                  </a:lnTo>
                  <a:lnTo>
                    <a:pt x="3384804" y="28321"/>
                  </a:lnTo>
                  <a:lnTo>
                    <a:pt x="3592017" y="235419"/>
                  </a:lnTo>
                  <a:lnTo>
                    <a:pt x="3565017" y="262382"/>
                  </a:lnTo>
                  <a:lnTo>
                    <a:pt x="3686302" y="302895"/>
                  </a:lnTo>
                  <a:close/>
                </a:path>
                <a:path w="4126229" h="302895">
                  <a:moveTo>
                    <a:pt x="4125976" y="29718"/>
                  </a:moveTo>
                  <a:lnTo>
                    <a:pt x="4101973" y="0"/>
                  </a:lnTo>
                  <a:lnTo>
                    <a:pt x="3834815" y="216128"/>
                  </a:lnTo>
                  <a:lnTo>
                    <a:pt x="3810889" y="186563"/>
                  </a:lnTo>
                  <a:lnTo>
                    <a:pt x="3757930" y="302895"/>
                  </a:lnTo>
                  <a:lnTo>
                    <a:pt x="3882771" y="275336"/>
                  </a:lnTo>
                  <a:lnTo>
                    <a:pt x="3868572" y="257810"/>
                  </a:lnTo>
                  <a:lnTo>
                    <a:pt x="3858806" y="245757"/>
                  </a:lnTo>
                  <a:lnTo>
                    <a:pt x="4125976" y="29718"/>
                  </a:lnTo>
                  <a:close/>
                </a:path>
              </a:pathLst>
            </a:custGeom>
            <a:solidFill>
              <a:srgbClr val="E36C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59480" y="5542787"/>
              <a:ext cx="1143000" cy="112623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74108" y="5542787"/>
              <a:ext cx="1132332" cy="112623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78067" y="5542787"/>
              <a:ext cx="1141476" cy="1126236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2260649" y="2230898"/>
            <a:ext cx="756285" cy="14465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87630" algn="just">
              <a:lnSpc>
                <a:spcPct val="100000"/>
              </a:lnSpc>
              <a:spcBef>
                <a:spcPts val="110"/>
              </a:spcBef>
            </a:pPr>
            <a:r>
              <a:rPr sz="1200" i="1" dirty="0">
                <a:latin typeface="Times New Roman"/>
                <a:cs typeface="Times New Roman"/>
              </a:rPr>
              <a:t>I</a:t>
            </a:r>
            <a:r>
              <a:rPr sz="1200" i="1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*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</a:t>
            </a:r>
            <a:r>
              <a:rPr sz="1200" i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</a:t>
            </a:r>
            <a:r>
              <a:rPr sz="1200" i="1" dirty="0">
                <a:latin typeface="Times New Roman"/>
                <a:cs typeface="Times New Roman"/>
              </a:rPr>
              <a:t>k</a:t>
            </a:r>
            <a:r>
              <a:rPr sz="1200" i="1" spc="-165" dirty="0">
                <a:latin typeface="Times New Roman"/>
                <a:cs typeface="Times New Roman"/>
              </a:rPr>
              <a:t> </a:t>
            </a:r>
            <a:r>
              <a:rPr sz="1050" spc="-37" baseline="43650" dirty="0">
                <a:latin typeface="Times New Roman"/>
                <a:cs typeface="Times New Roman"/>
              </a:rPr>
              <a:t>4</a:t>
            </a:r>
            <a:r>
              <a:rPr sz="1250" spc="-25" dirty="0">
                <a:latin typeface="Symbol"/>
                <a:cs typeface="Symbol"/>
              </a:rPr>
              <a:t></a:t>
            </a:r>
            <a:r>
              <a:rPr sz="1200" spc="-25" dirty="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  <a:p>
            <a:pPr marL="38100" marR="50165" indent="34290" algn="just">
              <a:lnSpc>
                <a:spcPct val="157400"/>
              </a:lnSpc>
              <a:spcBef>
                <a:spcPts val="110"/>
              </a:spcBef>
            </a:pPr>
            <a:r>
              <a:rPr sz="1200" i="1" dirty="0">
                <a:latin typeface="Times New Roman"/>
                <a:cs typeface="Times New Roman"/>
              </a:rPr>
              <a:t>I</a:t>
            </a:r>
            <a:r>
              <a:rPr sz="1200" i="1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*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</a:t>
            </a:r>
            <a:r>
              <a:rPr sz="1200" i="1" spc="40" dirty="0">
                <a:latin typeface="Times New Roman"/>
                <a:cs typeface="Times New Roman"/>
              </a:rPr>
              <a:t> </a:t>
            </a:r>
            <a:r>
              <a:rPr sz="1200" spc="-100" dirty="0">
                <a:latin typeface="Times New Roman"/>
                <a:cs typeface="Times New Roman"/>
              </a:rPr>
              <a:t>(</a:t>
            </a:r>
            <a:r>
              <a:rPr sz="1200" i="1" spc="-100" dirty="0">
                <a:latin typeface="Times New Roman"/>
                <a:cs typeface="Times New Roman"/>
              </a:rPr>
              <a:t>k</a:t>
            </a:r>
            <a:r>
              <a:rPr sz="1200" i="1" spc="25" dirty="0">
                <a:latin typeface="Times New Roman"/>
                <a:cs typeface="Times New Roman"/>
              </a:rPr>
              <a:t> </a:t>
            </a:r>
            <a:r>
              <a:rPr sz="1050" spc="-37" baseline="43650" dirty="0">
                <a:latin typeface="Times New Roman"/>
                <a:cs typeface="Times New Roman"/>
              </a:rPr>
              <a:t>3</a:t>
            </a:r>
            <a:r>
              <a:rPr sz="1250" spc="-25" dirty="0">
                <a:latin typeface="Symbol"/>
                <a:cs typeface="Symbol"/>
              </a:rPr>
              <a:t></a:t>
            </a:r>
            <a:r>
              <a:rPr sz="1200" spc="-25" dirty="0">
                <a:latin typeface="Times New Roman"/>
                <a:cs typeface="Times New Roman"/>
              </a:rPr>
              <a:t>) </a:t>
            </a:r>
            <a:r>
              <a:rPr sz="1200" i="1" dirty="0">
                <a:latin typeface="Times New Roman"/>
                <a:cs typeface="Times New Roman"/>
              </a:rPr>
              <a:t>I</a:t>
            </a:r>
            <a:r>
              <a:rPr sz="1200" i="1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*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</a:t>
            </a:r>
            <a:r>
              <a:rPr sz="1200" i="1" spc="30" dirty="0">
                <a:latin typeface="Times New Roman"/>
                <a:cs typeface="Times New Roman"/>
              </a:rPr>
              <a:t> </a:t>
            </a:r>
            <a:r>
              <a:rPr sz="1200" spc="-80" dirty="0">
                <a:latin typeface="Times New Roman"/>
                <a:cs typeface="Times New Roman"/>
              </a:rPr>
              <a:t>(</a:t>
            </a:r>
            <a:r>
              <a:rPr sz="1200" i="1" spc="-80" dirty="0">
                <a:latin typeface="Times New Roman"/>
                <a:cs typeface="Times New Roman"/>
              </a:rPr>
              <a:t>k</a:t>
            </a:r>
            <a:r>
              <a:rPr sz="1200" i="1" spc="5" dirty="0">
                <a:latin typeface="Times New Roman"/>
                <a:cs typeface="Times New Roman"/>
              </a:rPr>
              <a:t> </a:t>
            </a:r>
            <a:r>
              <a:rPr sz="1050" spc="-37" baseline="43650" dirty="0">
                <a:latin typeface="Times New Roman"/>
                <a:cs typeface="Times New Roman"/>
              </a:rPr>
              <a:t>2</a:t>
            </a:r>
            <a:r>
              <a:rPr sz="1250" spc="-25" dirty="0">
                <a:latin typeface="Symbol"/>
                <a:cs typeface="Symbol"/>
              </a:rPr>
              <a:t></a:t>
            </a:r>
            <a:r>
              <a:rPr sz="1200" spc="-25" dirty="0">
                <a:latin typeface="Times New Roman"/>
                <a:cs typeface="Times New Roman"/>
              </a:rPr>
              <a:t>) </a:t>
            </a:r>
            <a:r>
              <a:rPr sz="1300" i="1" dirty="0">
                <a:latin typeface="Times New Roman"/>
                <a:cs typeface="Times New Roman"/>
              </a:rPr>
              <a:t>I</a:t>
            </a:r>
            <a:r>
              <a:rPr sz="1300" i="1" spc="-3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*</a:t>
            </a:r>
            <a:r>
              <a:rPr sz="1300" spc="80" dirty="0">
                <a:latin typeface="Times New Roman"/>
                <a:cs typeface="Times New Roman"/>
              </a:rPr>
              <a:t> </a:t>
            </a:r>
            <a:r>
              <a:rPr sz="1300" i="1" dirty="0">
                <a:latin typeface="Times New Roman"/>
                <a:cs typeface="Times New Roman"/>
              </a:rPr>
              <a:t>f </a:t>
            </a:r>
            <a:r>
              <a:rPr sz="1300" spc="-20" dirty="0">
                <a:latin typeface="Times New Roman"/>
                <a:cs typeface="Times New Roman"/>
              </a:rPr>
              <a:t>(</a:t>
            </a:r>
            <a:r>
              <a:rPr sz="1300" i="1" spc="-20" dirty="0">
                <a:latin typeface="Times New Roman"/>
                <a:cs typeface="Times New Roman"/>
              </a:rPr>
              <a:t>k</a:t>
            </a:r>
            <a:r>
              <a:rPr sz="1400" spc="-20" dirty="0">
                <a:latin typeface="Symbol"/>
                <a:cs typeface="Symbol"/>
              </a:rPr>
              <a:t></a:t>
            </a:r>
            <a:r>
              <a:rPr sz="1300" spc="-20" dirty="0">
                <a:latin typeface="Times New Roman"/>
                <a:cs typeface="Times New Roman"/>
              </a:rPr>
              <a:t>)</a:t>
            </a:r>
            <a:endParaRPr sz="1300">
              <a:latin typeface="Times New Roman"/>
              <a:cs typeface="Times New Roman"/>
            </a:endParaRPr>
          </a:p>
          <a:p>
            <a:pPr marL="71120" algn="just">
              <a:lnSpc>
                <a:spcPct val="100000"/>
              </a:lnSpc>
              <a:spcBef>
                <a:spcPts val="800"/>
              </a:spcBef>
            </a:pPr>
            <a:r>
              <a:rPr sz="1200" i="1" dirty="0">
                <a:latin typeface="Times New Roman"/>
                <a:cs typeface="Times New Roman"/>
              </a:rPr>
              <a:t>I</a:t>
            </a:r>
            <a:r>
              <a:rPr sz="1200" i="1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*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</a:t>
            </a:r>
            <a:r>
              <a:rPr sz="1200" i="1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(</a:t>
            </a:r>
            <a:r>
              <a:rPr sz="1250" spc="-25" dirty="0">
                <a:latin typeface="Symbol"/>
                <a:cs typeface="Symbol"/>
              </a:rPr>
              <a:t></a:t>
            </a:r>
            <a:r>
              <a:rPr sz="1200" spc="-25" dirty="0">
                <a:latin typeface="Times New Roman"/>
                <a:cs typeface="Times New Roman"/>
              </a:rPr>
              <a:t>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14" name="object 14"/>
          <p:cNvSpPr txBox="1"/>
          <p:nvPr/>
        </p:nvSpPr>
        <p:spPr>
          <a:xfrm>
            <a:off x="6125323" y="2666665"/>
            <a:ext cx="1404620" cy="727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95"/>
              </a:spcBef>
            </a:pPr>
            <a:r>
              <a:rPr sz="1200" i="1" dirty="0">
                <a:latin typeface="Times New Roman"/>
                <a:cs typeface="Times New Roman"/>
              </a:rPr>
              <a:t>I</a:t>
            </a:r>
            <a:r>
              <a:rPr sz="1200" i="1" spc="-45" dirty="0">
                <a:latin typeface="Times New Roman"/>
                <a:cs typeface="Times New Roman"/>
              </a:rPr>
              <a:t> </a:t>
            </a:r>
            <a:r>
              <a:rPr sz="1200" spc="-90" dirty="0">
                <a:latin typeface="Times New Roman"/>
                <a:cs typeface="Times New Roman"/>
              </a:rPr>
              <a:t>*</a:t>
            </a:r>
            <a:r>
              <a:rPr sz="2850" spc="-135" baseline="-4385" dirty="0">
                <a:latin typeface="Symbol"/>
                <a:cs typeface="Symbol"/>
              </a:rPr>
              <a:t></a:t>
            </a:r>
            <a:r>
              <a:rPr sz="2850" spc="-217" baseline="-438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</a:t>
            </a:r>
            <a:r>
              <a:rPr sz="1200" i="1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</a:t>
            </a:r>
            <a:r>
              <a:rPr sz="1200" i="1" dirty="0">
                <a:latin typeface="Times New Roman"/>
                <a:cs typeface="Times New Roman"/>
              </a:rPr>
              <a:t>k</a:t>
            </a:r>
            <a:r>
              <a:rPr sz="1200" i="1" spc="-165" dirty="0">
                <a:latin typeface="Times New Roman"/>
                <a:cs typeface="Times New Roman"/>
              </a:rPr>
              <a:t> </a:t>
            </a:r>
            <a:r>
              <a:rPr sz="1050" spc="-202" baseline="43650" dirty="0">
                <a:latin typeface="Times New Roman"/>
                <a:cs typeface="Times New Roman"/>
              </a:rPr>
              <a:t>2</a:t>
            </a:r>
            <a:r>
              <a:rPr sz="1250" spc="-135" dirty="0">
                <a:latin typeface="Symbol"/>
                <a:cs typeface="Symbol"/>
              </a:rPr>
              <a:t></a:t>
            </a:r>
            <a:r>
              <a:rPr sz="1200" spc="-135" dirty="0">
                <a:latin typeface="Times New Roman"/>
                <a:cs typeface="Times New Roman"/>
              </a:rPr>
              <a:t>)</a:t>
            </a:r>
            <a:r>
              <a:rPr sz="1200" spc="-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Symbol"/>
                <a:cs typeface="Symbol"/>
              </a:rPr>
              <a:t>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i="1" dirty="0">
                <a:latin typeface="Times New Roman"/>
                <a:cs typeface="Times New Roman"/>
              </a:rPr>
              <a:t>f</a:t>
            </a:r>
            <a:r>
              <a:rPr sz="1200" i="1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(</a:t>
            </a:r>
            <a:r>
              <a:rPr sz="1200" i="1" spc="-20" dirty="0">
                <a:latin typeface="Times New Roman"/>
                <a:cs typeface="Times New Roman"/>
              </a:rPr>
              <a:t>k</a:t>
            </a:r>
            <a:r>
              <a:rPr sz="1250" spc="-20" dirty="0">
                <a:latin typeface="Symbol"/>
                <a:cs typeface="Symbol"/>
              </a:rPr>
              <a:t></a:t>
            </a:r>
            <a:r>
              <a:rPr sz="1200" spc="-20" dirty="0">
                <a:latin typeface="Times New Roman"/>
                <a:cs typeface="Times New Roman"/>
              </a:rPr>
              <a:t>)</a:t>
            </a:r>
            <a:r>
              <a:rPr sz="2850" spc="-30" baseline="-4385" dirty="0">
                <a:latin typeface="Symbol"/>
                <a:cs typeface="Symbol"/>
              </a:rPr>
              <a:t></a:t>
            </a:r>
            <a:endParaRPr sz="2850" baseline="-4385">
              <a:latin typeface="Symbol"/>
              <a:cs typeface="Symbol"/>
            </a:endParaRPr>
          </a:p>
          <a:p>
            <a:pPr marL="38100">
              <a:lnSpc>
                <a:spcPct val="100000"/>
              </a:lnSpc>
              <a:spcBef>
                <a:spcPts val="1380"/>
              </a:spcBef>
            </a:pPr>
            <a:r>
              <a:rPr sz="1800" i="1" baseline="4629" dirty="0">
                <a:latin typeface="Times New Roman"/>
                <a:cs typeface="Times New Roman"/>
              </a:rPr>
              <a:t>I</a:t>
            </a:r>
            <a:r>
              <a:rPr sz="1800" i="1" spc="-82" baseline="4629" dirty="0">
                <a:latin typeface="Times New Roman"/>
                <a:cs typeface="Times New Roman"/>
              </a:rPr>
              <a:t> </a:t>
            </a:r>
            <a:r>
              <a:rPr sz="1800" baseline="4629" dirty="0">
                <a:latin typeface="Times New Roman"/>
                <a:cs typeface="Times New Roman"/>
              </a:rPr>
              <a:t>*</a:t>
            </a:r>
            <a:r>
              <a:rPr sz="1550" dirty="0">
                <a:latin typeface="Symbol"/>
                <a:cs typeface="Symbol"/>
              </a:rPr>
              <a:t></a:t>
            </a:r>
            <a:r>
              <a:rPr sz="1550" spc="-70" dirty="0">
                <a:latin typeface="Times New Roman"/>
                <a:cs typeface="Times New Roman"/>
              </a:rPr>
              <a:t> </a:t>
            </a:r>
            <a:r>
              <a:rPr sz="1800" i="1" baseline="4629" dirty="0">
                <a:latin typeface="Times New Roman"/>
                <a:cs typeface="Times New Roman"/>
              </a:rPr>
              <a:t>f</a:t>
            </a:r>
            <a:r>
              <a:rPr sz="1800" i="1" spc="-37" baseline="4629" dirty="0">
                <a:latin typeface="Times New Roman"/>
                <a:cs typeface="Times New Roman"/>
              </a:rPr>
              <a:t> </a:t>
            </a:r>
            <a:r>
              <a:rPr sz="1800" spc="-127" baseline="4629" dirty="0">
                <a:latin typeface="Times New Roman"/>
                <a:cs typeface="Times New Roman"/>
              </a:rPr>
              <a:t>(</a:t>
            </a:r>
            <a:r>
              <a:rPr sz="1800" i="1" spc="-127" baseline="4629" dirty="0">
                <a:latin typeface="Times New Roman"/>
                <a:cs typeface="Times New Roman"/>
              </a:rPr>
              <a:t>k</a:t>
            </a:r>
            <a:r>
              <a:rPr sz="1875" spc="-127" baseline="4444" dirty="0">
                <a:latin typeface="Symbol"/>
                <a:cs typeface="Symbol"/>
              </a:rPr>
              <a:t></a:t>
            </a:r>
            <a:r>
              <a:rPr sz="1800" spc="-127" baseline="4629" dirty="0">
                <a:latin typeface="Times New Roman"/>
                <a:cs typeface="Times New Roman"/>
              </a:rPr>
              <a:t>)</a:t>
            </a:r>
            <a:r>
              <a:rPr sz="1800" spc="-150" baseline="4629" dirty="0">
                <a:latin typeface="Times New Roman"/>
                <a:cs typeface="Times New Roman"/>
              </a:rPr>
              <a:t> </a:t>
            </a:r>
            <a:r>
              <a:rPr sz="1800" baseline="4629" dirty="0">
                <a:latin typeface="Symbol"/>
                <a:cs typeface="Symbol"/>
              </a:rPr>
              <a:t></a:t>
            </a:r>
            <a:r>
              <a:rPr sz="1800" spc="179" baseline="4629" dirty="0">
                <a:latin typeface="Times New Roman"/>
                <a:cs typeface="Times New Roman"/>
              </a:rPr>
              <a:t> </a:t>
            </a:r>
            <a:r>
              <a:rPr sz="1800" i="1" baseline="4629" dirty="0">
                <a:latin typeface="Times New Roman"/>
                <a:cs typeface="Times New Roman"/>
              </a:rPr>
              <a:t>f</a:t>
            </a:r>
            <a:r>
              <a:rPr sz="1800" i="1" spc="-37" baseline="4629" dirty="0">
                <a:latin typeface="Times New Roman"/>
                <a:cs typeface="Times New Roman"/>
              </a:rPr>
              <a:t> </a:t>
            </a:r>
            <a:r>
              <a:rPr sz="1800" spc="-30" baseline="4629" dirty="0">
                <a:latin typeface="Times New Roman"/>
                <a:cs typeface="Times New Roman"/>
              </a:rPr>
              <a:t>(</a:t>
            </a:r>
            <a:r>
              <a:rPr sz="1875" spc="-30" baseline="4444" dirty="0">
                <a:latin typeface="Symbol"/>
                <a:cs typeface="Symbol"/>
              </a:rPr>
              <a:t></a:t>
            </a:r>
            <a:r>
              <a:rPr sz="1800" spc="-30" baseline="4629" dirty="0">
                <a:latin typeface="Times New Roman"/>
                <a:cs typeface="Times New Roman"/>
              </a:rPr>
              <a:t>)</a:t>
            </a:r>
            <a:r>
              <a:rPr sz="1550" spc="-20" dirty="0">
                <a:latin typeface="Symbol"/>
                <a:cs typeface="Symbol"/>
              </a:rPr>
              <a:t></a:t>
            </a:r>
            <a:endParaRPr sz="1550">
              <a:latin typeface="Symbol"/>
              <a:cs typeface="Symbol"/>
            </a:endParaRPr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A34B886E-0673-C6A2-E920-D7184F068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Ingeniería de Sistemas - UNCP">
            <a:extLst>
              <a:ext uri="{FF2B5EF4-FFF2-40B4-BE49-F238E27FC236}">
                <a16:creationId xmlns:a16="http://schemas.microsoft.com/office/drawing/2014/main" id="{EFCE221D-114C-F3E8-4AA4-B3716C5D38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11350">
              <a:lnSpc>
                <a:spcPct val="100000"/>
              </a:lnSpc>
              <a:spcBef>
                <a:spcPts val="100"/>
              </a:spcBef>
            </a:pPr>
            <a:r>
              <a:rPr dirty="0"/>
              <a:t>Filtros</a:t>
            </a:r>
            <a:r>
              <a:rPr spc="-110" dirty="0"/>
              <a:t> </a:t>
            </a:r>
            <a:r>
              <a:rPr spc="-10" dirty="0"/>
              <a:t>Lineales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6803390" cy="1384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3746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Gradiente</a:t>
            </a:r>
            <a:r>
              <a:rPr sz="2400" b="1" spc="-6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de</a:t>
            </a:r>
            <a:r>
              <a:rPr sz="2400" b="1" spc="-5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una</a:t>
            </a:r>
            <a:r>
              <a:rPr sz="2400" b="1" spc="-5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Imagen</a:t>
            </a:r>
            <a:endParaRPr sz="24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spcBef>
                <a:spcPts val="281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spc="-10" dirty="0">
                <a:latin typeface="Calibri"/>
                <a:cs typeface="Calibri"/>
              </a:rPr>
              <a:t>Operadores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para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derivadas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parciales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(diferencias</a:t>
            </a:r>
            <a:r>
              <a:rPr sz="1600" spc="-7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finitas)</a:t>
            </a:r>
            <a:r>
              <a:rPr sz="2000" spc="-10" dirty="0"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386080">
              <a:lnSpc>
                <a:spcPct val="100000"/>
              </a:lnSpc>
              <a:spcBef>
                <a:spcPts val="440"/>
              </a:spcBef>
              <a:tabLst>
                <a:tab pos="4670425" algn="l"/>
              </a:tabLst>
            </a:pPr>
            <a:r>
              <a:rPr sz="1800" dirty="0">
                <a:solidFill>
                  <a:srgbClr val="6F2F9F"/>
                </a:solidFill>
                <a:latin typeface="Calibri"/>
                <a:cs typeface="Calibri"/>
              </a:rPr>
              <a:t>-</a:t>
            </a:r>
            <a:r>
              <a:rPr sz="1800" spc="3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6F2F9F"/>
                </a:solidFill>
                <a:latin typeface="Calibri"/>
                <a:cs typeface="Calibri"/>
              </a:rPr>
              <a:t>Operadores</a:t>
            </a:r>
            <a:r>
              <a:rPr sz="1800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1800" spc="-10" dirty="0">
                <a:solidFill>
                  <a:srgbClr val="6F2F9F"/>
                </a:solidFill>
                <a:latin typeface="Calibri"/>
                <a:cs typeface="Calibri"/>
              </a:rPr>
              <a:t> Prewitt</a:t>
            </a:r>
            <a:r>
              <a:rPr sz="1800" dirty="0">
                <a:solidFill>
                  <a:srgbClr val="6F2F9F"/>
                </a:solidFill>
                <a:latin typeface="Calibri"/>
                <a:cs typeface="Calibri"/>
              </a:rPr>
              <a:t>	-</a:t>
            </a:r>
            <a:r>
              <a:rPr sz="1800" spc="3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6F2F9F"/>
                </a:solidFill>
                <a:latin typeface="Calibri"/>
                <a:cs typeface="Calibri"/>
              </a:rPr>
              <a:t>Operadores</a:t>
            </a:r>
            <a:r>
              <a:rPr sz="1800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1800" spc="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6F2F9F"/>
                </a:solidFill>
                <a:latin typeface="Calibri"/>
                <a:cs typeface="Calibri"/>
              </a:rPr>
              <a:t>Sobel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7794" y="3657980"/>
            <a:ext cx="13144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Gradiente: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2394" y="5877559"/>
            <a:ext cx="55105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3045" indent="-1949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33045" algn="l"/>
                <a:tab pos="3058795" algn="l"/>
              </a:tabLst>
            </a:pP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Orientación</a:t>
            </a:r>
            <a:r>
              <a:rPr sz="2000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del</a:t>
            </a:r>
            <a:r>
              <a:rPr sz="2000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gradiente:</a:t>
            </a: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	</a:t>
            </a:r>
            <a:r>
              <a:rPr sz="3000" spc="-67" baseline="-4166" dirty="0">
                <a:latin typeface="Symbol"/>
                <a:cs typeface="Symbol"/>
              </a:rPr>
              <a:t></a:t>
            </a:r>
            <a:r>
              <a:rPr sz="3000" i="1" spc="-67" baseline="-4166" dirty="0">
                <a:latin typeface="Times New Roman"/>
                <a:cs typeface="Times New Roman"/>
              </a:rPr>
              <a:t>I</a:t>
            </a:r>
            <a:r>
              <a:rPr sz="3000" i="1" spc="-390" baseline="-4166" dirty="0">
                <a:latin typeface="Times New Roman"/>
                <a:cs typeface="Times New Roman"/>
              </a:rPr>
              <a:t> </a:t>
            </a:r>
            <a:r>
              <a:rPr sz="3000" baseline="-4166" dirty="0">
                <a:latin typeface="Times New Roman"/>
                <a:cs typeface="Times New Roman"/>
              </a:rPr>
              <a:t>(</a:t>
            </a:r>
            <a:r>
              <a:rPr sz="3000" i="1" baseline="-4166" dirty="0">
                <a:latin typeface="Times New Roman"/>
                <a:cs typeface="Times New Roman"/>
              </a:rPr>
              <a:t>x</a:t>
            </a:r>
            <a:r>
              <a:rPr sz="3000" baseline="-4166" dirty="0">
                <a:latin typeface="Times New Roman"/>
                <a:cs typeface="Times New Roman"/>
              </a:rPr>
              <a:t>,</a:t>
            </a:r>
            <a:r>
              <a:rPr sz="3000" spc="-284" baseline="-4166" dirty="0">
                <a:latin typeface="Times New Roman"/>
                <a:cs typeface="Times New Roman"/>
              </a:rPr>
              <a:t> </a:t>
            </a:r>
            <a:r>
              <a:rPr sz="3000" spc="-67" baseline="-4166" dirty="0">
                <a:latin typeface="Times New Roman"/>
                <a:cs typeface="Times New Roman"/>
              </a:rPr>
              <a:t>y)</a:t>
            </a:r>
            <a:r>
              <a:rPr sz="3000" spc="-44" baseline="-4166" dirty="0">
                <a:latin typeface="Times New Roman"/>
                <a:cs typeface="Times New Roman"/>
              </a:rPr>
              <a:t> </a:t>
            </a:r>
            <a:r>
              <a:rPr sz="3000" baseline="-4166" dirty="0">
                <a:latin typeface="Symbol"/>
                <a:cs typeface="Symbol"/>
              </a:rPr>
              <a:t></a:t>
            </a:r>
            <a:r>
              <a:rPr sz="3000" spc="-89" baseline="-4166" dirty="0">
                <a:latin typeface="Times New Roman"/>
                <a:cs typeface="Times New Roman"/>
              </a:rPr>
              <a:t> </a:t>
            </a:r>
            <a:r>
              <a:rPr sz="3000" baseline="-4166" dirty="0">
                <a:latin typeface="Times New Roman"/>
                <a:cs typeface="Times New Roman"/>
              </a:rPr>
              <a:t>arctan(</a:t>
            </a:r>
            <a:r>
              <a:rPr sz="3000" i="1" baseline="-4166" dirty="0">
                <a:latin typeface="Times New Roman"/>
                <a:cs typeface="Times New Roman"/>
              </a:rPr>
              <a:t>I</a:t>
            </a:r>
            <a:r>
              <a:rPr sz="1725" i="1" baseline="-31400" dirty="0">
                <a:latin typeface="Times New Roman"/>
                <a:cs typeface="Times New Roman"/>
              </a:rPr>
              <a:t>y</a:t>
            </a:r>
            <a:r>
              <a:rPr sz="1725" i="1" spc="509" baseline="-31400" dirty="0">
                <a:latin typeface="Times New Roman"/>
                <a:cs typeface="Times New Roman"/>
              </a:rPr>
              <a:t> </a:t>
            </a:r>
            <a:r>
              <a:rPr sz="3000" baseline="-4166" dirty="0">
                <a:latin typeface="Times New Roman"/>
                <a:cs typeface="Times New Roman"/>
              </a:rPr>
              <a:t>/</a:t>
            </a:r>
            <a:r>
              <a:rPr sz="3000" spc="-22" baseline="-4166" dirty="0">
                <a:latin typeface="Times New Roman"/>
                <a:cs typeface="Times New Roman"/>
              </a:rPr>
              <a:t> </a:t>
            </a:r>
            <a:r>
              <a:rPr sz="3000" i="1" spc="82" baseline="-4166" dirty="0">
                <a:latin typeface="Times New Roman"/>
                <a:cs typeface="Times New Roman"/>
              </a:rPr>
              <a:t>I</a:t>
            </a:r>
            <a:r>
              <a:rPr sz="1725" i="1" spc="82" baseline="-31400" dirty="0">
                <a:latin typeface="Times New Roman"/>
                <a:cs typeface="Times New Roman"/>
              </a:rPr>
              <a:t>x</a:t>
            </a:r>
            <a:r>
              <a:rPr sz="1725" i="1" spc="-52" baseline="-31400" dirty="0">
                <a:latin typeface="Times New Roman"/>
                <a:cs typeface="Times New Roman"/>
              </a:rPr>
              <a:t> </a:t>
            </a:r>
            <a:r>
              <a:rPr sz="3000" spc="-75" baseline="-4166" dirty="0">
                <a:latin typeface="Times New Roman"/>
                <a:cs typeface="Times New Roman"/>
              </a:rPr>
              <a:t>)</a:t>
            </a:r>
            <a:endParaRPr sz="3000" baseline="-4166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18758" y="2940108"/>
            <a:ext cx="755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-50" dirty="0">
                <a:latin typeface="Times New Roman"/>
                <a:cs typeface="Times New Roman"/>
              </a:rPr>
              <a:t>x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1996" y="2805565"/>
            <a:ext cx="648970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550" i="1" dirty="0">
                <a:latin typeface="Times New Roman"/>
                <a:cs typeface="Times New Roman"/>
              </a:rPr>
              <a:t>G</a:t>
            </a:r>
            <a:r>
              <a:rPr sz="1550" i="1" spc="60" dirty="0">
                <a:latin typeface="Times New Roman"/>
                <a:cs typeface="Times New Roman"/>
              </a:rPr>
              <a:t>  </a:t>
            </a:r>
            <a:r>
              <a:rPr sz="1550" dirty="0">
                <a:latin typeface="Symbol"/>
                <a:cs typeface="Symbol"/>
              </a:rPr>
              <a:t></a:t>
            </a:r>
            <a:r>
              <a:rPr sz="1550" spc="-20" dirty="0">
                <a:latin typeface="Times New Roman"/>
                <a:cs typeface="Times New Roman"/>
              </a:rPr>
              <a:t> </a:t>
            </a:r>
            <a:r>
              <a:rPr sz="2325" spc="-37" baseline="25089" dirty="0">
                <a:latin typeface="Symbol"/>
                <a:cs typeface="Symbol"/>
              </a:rPr>
              <a:t></a:t>
            </a:r>
            <a:r>
              <a:rPr sz="1550" spc="-25" dirty="0">
                <a:latin typeface="Times New Roman"/>
                <a:cs typeface="Times New Roman"/>
              </a:rPr>
              <a:t>1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58080" y="2940108"/>
            <a:ext cx="755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-50" dirty="0">
                <a:latin typeface="Times New Roman"/>
                <a:cs typeface="Times New Roman"/>
              </a:rPr>
              <a:t>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75821" y="2713663"/>
            <a:ext cx="302260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325" baseline="-25089" dirty="0">
                <a:latin typeface="Times New Roman"/>
                <a:cs typeface="Times New Roman"/>
              </a:rPr>
              <a:t>0</a:t>
            </a:r>
            <a:r>
              <a:rPr sz="2325" spc="30" baseline="-25089" dirty="0">
                <a:latin typeface="Times New Roman"/>
                <a:cs typeface="Times New Roman"/>
              </a:rPr>
              <a:t> </a:t>
            </a:r>
            <a:r>
              <a:rPr sz="1550" spc="-50" dirty="0">
                <a:latin typeface="Symbol"/>
                <a:cs typeface="Symbol"/>
              </a:rPr>
              <a:t></a:t>
            </a:r>
            <a:endParaRPr sz="155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87917" y="2940108"/>
            <a:ext cx="755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-50" dirty="0">
                <a:latin typeface="Times New Roman"/>
                <a:cs typeface="Times New Roman"/>
              </a:rPr>
              <a:t>x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21299" y="2805565"/>
            <a:ext cx="669290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550" i="1" dirty="0">
                <a:latin typeface="Times New Roman"/>
                <a:cs typeface="Times New Roman"/>
              </a:rPr>
              <a:t>G</a:t>
            </a:r>
            <a:r>
              <a:rPr sz="1550" i="1" spc="60" dirty="0">
                <a:latin typeface="Times New Roman"/>
                <a:cs typeface="Times New Roman"/>
              </a:rPr>
              <a:t>  </a:t>
            </a:r>
            <a:r>
              <a:rPr sz="1550" dirty="0">
                <a:latin typeface="Symbol"/>
                <a:cs typeface="Symbol"/>
              </a:rPr>
              <a:t></a:t>
            </a:r>
            <a:r>
              <a:rPr sz="1550" spc="-20" dirty="0">
                <a:latin typeface="Times New Roman"/>
                <a:cs typeface="Times New Roman"/>
              </a:rPr>
              <a:t> </a:t>
            </a:r>
            <a:r>
              <a:rPr sz="2325" spc="-37" baseline="25089" dirty="0">
                <a:latin typeface="Symbol"/>
                <a:cs typeface="Symbol"/>
              </a:rPr>
              <a:t></a:t>
            </a:r>
            <a:r>
              <a:rPr sz="1550" spc="-25" dirty="0">
                <a:latin typeface="Times New Roman"/>
                <a:cs typeface="Times New Roman"/>
              </a:rPr>
              <a:t>2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01876" y="2448160"/>
            <a:ext cx="5495925" cy="91757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580"/>
              </a:spcBef>
              <a:tabLst>
                <a:tab pos="424180" algn="l"/>
                <a:tab pos="704215" algn="l"/>
                <a:tab pos="1742439" algn="l"/>
                <a:tab pos="2239010" algn="l"/>
                <a:tab pos="2609850" algn="l"/>
                <a:tab pos="4470400" algn="l"/>
                <a:tab pos="4829175" algn="l"/>
                <a:tab pos="5116830" algn="l"/>
              </a:tabLst>
            </a:pPr>
            <a:r>
              <a:rPr sz="2325" spc="-37" baseline="-3584" dirty="0">
                <a:latin typeface="Symbol"/>
                <a:cs typeface="Symbol"/>
              </a:rPr>
              <a:t></a:t>
            </a:r>
            <a:r>
              <a:rPr sz="1550" spc="-25" dirty="0">
                <a:latin typeface="Times New Roman"/>
                <a:cs typeface="Times New Roman"/>
              </a:rPr>
              <a:t>1</a:t>
            </a:r>
            <a:r>
              <a:rPr sz="1550" dirty="0">
                <a:latin typeface="Times New Roman"/>
                <a:cs typeface="Times New Roman"/>
              </a:rPr>
              <a:t>	</a:t>
            </a:r>
            <a:r>
              <a:rPr sz="1550" spc="-50" dirty="0">
                <a:latin typeface="Times New Roman"/>
                <a:cs typeface="Times New Roman"/>
              </a:rPr>
              <a:t>0</a:t>
            </a:r>
            <a:r>
              <a:rPr sz="1550" dirty="0">
                <a:latin typeface="Times New Roman"/>
                <a:cs typeface="Times New Roman"/>
              </a:rPr>
              <a:t>	</a:t>
            </a:r>
            <a:r>
              <a:rPr sz="1550" spc="-25" dirty="0">
                <a:latin typeface="Symbol"/>
                <a:cs typeface="Symbol"/>
              </a:rPr>
              <a:t></a:t>
            </a:r>
            <a:r>
              <a:rPr sz="1550" spc="-25" dirty="0">
                <a:latin typeface="Times New Roman"/>
                <a:cs typeface="Times New Roman"/>
              </a:rPr>
              <a:t>1</a:t>
            </a:r>
            <a:r>
              <a:rPr sz="2325" spc="-37" baseline="-3584" dirty="0">
                <a:latin typeface="Symbol"/>
                <a:cs typeface="Symbol"/>
              </a:rPr>
              <a:t></a:t>
            </a:r>
            <a:r>
              <a:rPr sz="2325" baseline="-3584" dirty="0">
                <a:latin typeface="Times New Roman"/>
                <a:cs typeface="Times New Roman"/>
              </a:rPr>
              <a:t>	</a:t>
            </a:r>
            <a:r>
              <a:rPr sz="2325" baseline="-3584" dirty="0">
                <a:latin typeface="Symbol"/>
                <a:cs typeface="Symbol"/>
              </a:rPr>
              <a:t></a:t>
            </a:r>
            <a:r>
              <a:rPr sz="2325" spc="-7" baseline="-3584" dirty="0">
                <a:latin typeface="Times New Roman"/>
                <a:cs typeface="Times New Roman"/>
              </a:rPr>
              <a:t> </a:t>
            </a:r>
            <a:r>
              <a:rPr sz="1550" spc="-50" dirty="0">
                <a:latin typeface="Times New Roman"/>
                <a:cs typeface="Times New Roman"/>
              </a:rPr>
              <a:t>1</a:t>
            </a:r>
            <a:r>
              <a:rPr sz="1550" dirty="0">
                <a:latin typeface="Times New Roman"/>
                <a:cs typeface="Times New Roman"/>
              </a:rPr>
              <a:t>	</a:t>
            </a:r>
            <a:r>
              <a:rPr sz="1550" spc="-50" dirty="0">
                <a:latin typeface="Times New Roman"/>
                <a:cs typeface="Times New Roman"/>
              </a:rPr>
              <a:t>1</a:t>
            </a:r>
            <a:r>
              <a:rPr sz="1550" dirty="0">
                <a:latin typeface="Times New Roman"/>
                <a:cs typeface="Times New Roman"/>
              </a:rPr>
              <a:t>	1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2325" spc="-75" baseline="-3584" dirty="0">
                <a:latin typeface="Symbol"/>
                <a:cs typeface="Symbol"/>
              </a:rPr>
              <a:t></a:t>
            </a:r>
            <a:r>
              <a:rPr sz="2325" baseline="-3584" dirty="0">
                <a:latin typeface="Times New Roman"/>
                <a:cs typeface="Times New Roman"/>
              </a:rPr>
              <a:t>	</a:t>
            </a:r>
            <a:r>
              <a:rPr sz="2325" spc="-37" baseline="-3584" dirty="0">
                <a:latin typeface="Symbol"/>
                <a:cs typeface="Symbol"/>
              </a:rPr>
              <a:t></a:t>
            </a:r>
            <a:r>
              <a:rPr sz="1550" spc="-25" dirty="0">
                <a:latin typeface="Times New Roman"/>
                <a:cs typeface="Times New Roman"/>
              </a:rPr>
              <a:t>1</a:t>
            </a:r>
            <a:r>
              <a:rPr sz="1550" dirty="0">
                <a:latin typeface="Times New Roman"/>
                <a:cs typeface="Times New Roman"/>
              </a:rPr>
              <a:t>	</a:t>
            </a:r>
            <a:r>
              <a:rPr sz="1550" spc="-50" dirty="0">
                <a:latin typeface="Times New Roman"/>
                <a:cs typeface="Times New Roman"/>
              </a:rPr>
              <a:t>0</a:t>
            </a:r>
            <a:r>
              <a:rPr sz="1550" dirty="0">
                <a:latin typeface="Times New Roman"/>
                <a:cs typeface="Times New Roman"/>
              </a:rPr>
              <a:t>	</a:t>
            </a:r>
            <a:r>
              <a:rPr sz="1550" spc="-25" dirty="0">
                <a:latin typeface="Symbol"/>
                <a:cs typeface="Symbol"/>
              </a:rPr>
              <a:t></a:t>
            </a:r>
            <a:r>
              <a:rPr sz="1550" spc="-25" dirty="0">
                <a:latin typeface="Times New Roman"/>
                <a:cs typeface="Times New Roman"/>
              </a:rPr>
              <a:t>1</a:t>
            </a:r>
            <a:r>
              <a:rPr sz="2325" spc="-37" baseline="-3584" dirty="0">
                <a:latin typeface="Symbol"/>
                <a:cs typeface="Symbol"/>
              </a:rPr>
              <a:t></a:t>
            </a:r>
            <a:endParaRPr sz="2325" baseline="-3584">
              <a:latin typeface="Symbol"/>
              <a:cs typeface="Symbol"/>
            </a:endParaRPr>
          </a:p>
          <a:p>
            <a:pPr marL="101600">
              <a:lnSpc>
                <a:spcPts val="1315"/>
              </a:lnSpc>
              <a:spcBef>
                <a:spcPts val="480"/>
              </a:spcBef>
              <a:tabLst>
                <a:tab pos="424180" algn="l"/>
                <a:tab pos="704215" algn="l"/>
                <a:tab pos="1321435" algn="l"/>
                <a:tab pos="2240915" algn="l"/>
                <a:tab pos="4829175" algn="l"/>
              </a:tabLst>
            </a:pPr>
            <a:r>
              <a:rPr sz="2325" spc="-75" baseline="-26881" dirty="0">
                <a:latin typeface="Symbol"/>
                <a:cs typeface="Symbol"/>
              </a:rPr>
              <a:t></a:t>
            </a:r>
            <a:r>
              <a:rPr sz="2325" baseline="-26881" dirty="0">
                <a:latin typeface="Times New Roman"/>
                <a:cs typeface="Times New Roman"/>
              </a:rPr>
              <a:t>	</a:t>
            </a:r>
            <a:r>
              <a:rPr sz="1550" spc="-50" dirty="0">
                <a:latin typeface="Times New Roman"/>
                <a:cs typeface="Times New Roman"/>
              </a:rPr>
              <a:t>0</a:t>
            </a:r>
            <a:r>
              <a:rPr sz="1550" dirty="0">
                <a:latin typeface="Times New Roman"/>
                <a:cs typeface="Times New Roman"/>
              </a:rPr>
              <a:t>	</a:t>
            </a:r>
            <a:r>
              <a:rPr sz="1550" spc="-25" dirty="0">
                <a:latin typeface="Symbol"/>
                <a:cs typeface="Symbol"/>
              </a:rPr>
              <a:t></a:t>
            </a:r>
            <a:r>
              <a:rPr sz="1550" spc="-25" dirty="0">
                <a:latin typeface="Times New Roman"/>
                <a:cs typeface="Times New Roman"/>
              </a:rPr>
              <a:t>1</a:t>
            </a:r>
            <a:r>
              <a:rPr sz="2325" spc="-37" baseline="25089" dirty="0">
                <a:latin typeface="Symbol"/>
                <a:cs typeface="Symbol"/>
              </a:rPr>
              <a:t></a:t>
            </a:r>
            <a:r>
              <a:rPr sz="2325" baseline="25089" dirty="0">
                <a:latin typeface="Times New Roman"/>
                <a:cs typeface="Times New Roman"/>
              </a:rPr>
              <a:t>	</a:t>
            </a:r>
            <a:r>
              <a:rPr sz="1550" i="1" dirty="0">
                <a:latin typeface="Times New Roman"/>
                <a:cs typeface="Times New Roman"/>
              </a:rPr>
              <a:t>G</a:t>
            </a:r>
            <a:r>
              <a:rPr sz="1550" i="1" spc="90" dirty="0">
                <a:latin typeface="Times New Roman"/>
                <a:cs typeface="Times New Roman"/>
              </a:rPr>
              <a:t>  </a:t>
            </a:r>
            <a:r>
              <a:rPr sz="1550" dirty="0">
                <a:latin typeface="Symbol"/>
                <a:cs typeface="Symbol"/>
              </a:rPr>
              <a:t></a:t>
            </a:r>
            <a:r>
              <a:rPr sz="1550" spc="-25" dirty="0">
                <a:latin typeface="Times New Roman"/>
                <a:cs typeface="Times New Roman"/>
              </a:rPr>
              <a:t> </a:t>
            </a:r>
            <a:r>
              <a:rPr sz="2325" baseline="25089" dirty="0">
                <a:latin typeface="Symbol"/>
                <a:cs typeface="Symbol"/>
              </a:rPr>
              <a:t></a:t>
            </a:r>
            <a:r>
              <a:rPr sz="2325" spc="22" baseline="25089" dirty="0">
                <a:latin typeface="Times New Roman"/>
                <a:cs typeface="Times New Roman"/>
              </a:rPr>
              <a:t> </a:t>
            </a:r>
            <a:r>
              <a:rPr sz="1550" spc="-50" dirty="0">
                <a:latin typeface="Times New Roman"/>
                <a:cs typeface="Times New Roman"/>
              </a:rPr>
              <a:t>0</a:t>
            </a:r>
            <a:r>
              <a:rPr sz="1550" dirty="0">
                <a:latin typeface="Times New Roman"/>
                <a:cs typeface="Times New Roman"/>
              </a:rPr>
              <a:t>	</a:t>
            </a:r>
            <a:r>
              <a:rPr sz="1550" spc="-50" dirty="0">
                <a:latin typeface="Times New Roman"/>
                <a:cs typeface="Times New Roman"/>
              </a:rPr>
              <a:t>0</a:t>
            </a:r>
            <a:r>
              <a:rPr sz="1550" dirty="0">
                <a:latin typeface="Times New Roman"/>
                <a:cs typeface="Times New Roman"/>
              </a:rPr>
              <a:t>	</a:t>
            </a:r>
            <a:r>
              <a:rPr sz="1550" spc="-50" dirty="0">
                <a:latin typeface="Times New Roman"/>
                <a:cs typeface="Times New Roman"/>
              </a:rPr>
              <a:t>0</a:t>
            </a:r>
            <a:endParaRPr sz="1550">
              <a:latin typeface="Times New Roman"/>
              <a:cs typeface="Times New Roman"/>
            </a:endParaRPr>
          </a:p>
          <a:p>
            <a:pPr marR="43180" algn="ctr">
              <a:lnSpc>
                <a:spcPts val="1170"/>
              </a:lnSpc>
              <a:tabLst>
                <a:tab pos="842644" algn="l"/>
                <a:tab pos="1863089" algn="l"/>
                <a:tab pos="3569970" algn="l"/>
              </a:tabLst>
            </a:pPr>
            <a:r>
              <a:rPr sz="1550" spc="-50" dirty="0">
                <a:latin typeface="Symbol"/>
                <a:cs typeface="Symbol"/>
              </a:rPr>
              <a:t></a:t>
            </a:r>
            <a:r>
              <a:rPr sz="1550" dirty="0">
                <a:latin typeface="Times New Roman"/>
                <a:cs typeface="Times New Roman"/>
              </a:rPr>
              <a:t>	</a:t>
            </a:r>
            <a:r>
              <a:rPr sz="1550" spc="-50" dirty="0">
                <a:latin typeface="Symbol"/>
                <a:cs typeface="Symbol"/>
              </a:rPr>
              <a:t></a:t>
            </a:r>
            <a:r>
              <a:rPr sz="1550" dirty="0">
                <a:latin typeface="Times New Roman"/>
                <a:cs typeface="Times New Roman"/>
              </a:rPr>
              <a:t>	</a:t>
            </a:r>
            <a:r>
              <a:rPr sz="1550" spc="-50" dirty="0">
                <a:latin typeface="Symbol"/>
                <a:cs typeface="Symbol"/>
              </a:rPr>
              <a:t></a:t>
            </a:r>
            <a:r>
              <a:rPr sz="1550" dirty="0">
                <a:latin typeface="Times New Roman"/>
                <a:cs typeface="Times New Roman"/>
              </a:rPr>
              <a:t>	</a:t>
            </a:r>
            <a:r>
              <a:rPr sz="1550" spc="-50" dirty="0">
                <a:latin typeface="Symbol"/>
                <a:cs typeface="Symbol"/>
              </a:rPr>
              <a:t></a:t>
            </a:r>
            <a:endParaRPr sz="1550">
              <a:latin typeface="Symbol"/>
              <a:cs typeface="Symbol"/>
            </a:endParaRPr>
          </a:p>
          <a:p>
            <a:pPr marL="101600">
              <a:lnSpc>
                <a:spcPts val="1714"/>
              </a:lnSpc>
              <a:tabLst>
                <a:tab pos="424180" algn="l"/>
                <a:tab pos="704215" algn="l"/>
                <a:tab pos="1742439" algn="l"/>
                <a:tab pos="2196465" algn="l"/>
                <a:tab pos="2567305" algn="l"/>
                <a:tab pos="4470400" algn="l"/>
                <a:tab pos="4829175" algn="l"/>
              </a:tabLst>
            </a:pPr>
            <a:r>
              <a:rPr sz="2325" spc="-37" baseline="1792" dirty="0">
                <a:latin typeface="Symbol"/>
                <a:cs typeface="Symbol"/>
              </a:rPr>
              <a:t></a:t>
            </a:r>
            <a:r>
              <a:rPr sz="2325" spc="-37" baseline="-14336" dirty="0">
                <a:latin typeface="Symbol"/>
                <a:cs typeface="Symbol"/>
              </a:rPr>
              <a:t></a:t>
            </a:r>
            <a:r>
              <a:rPr sz="1550" spc="-25" dirty="0">
                <a:latin typeface="Times New Roman"/>
                <a:cs typeface="Times New Roman"/>
              </a:rPr>
              <a:t>1</a:t>
            </a:r>
            <a:r>
              <a:rPr sz="1550" dirty="0">
                <a:latin typeface="Times New Roman"/>
                <a:cs typeface="Times New Roman"/>
              </a:rPr>
              <a:t>	</a:t>
            </a:r>
            <a:r>
              <a:rPr sz="1550" spc="-50" dirty="0">
                <a:latin typeface="Times New Roman"/>
                <a:cs typeface="Times New Roman"/>
              </a:rPr>
              <a:t>0</a:t>
            </a:r>
            <a:r>
              <a:rPr sz="1550" dirty="0">
                <a:latin typeface="Times New Roman"/>
                <a:cs typeface="Times New Roman"/>
              </a:rPr>
              <a:t>	</a:t>
            </a:r>
            <a:r>
              <a:rPr sz="1550" spc="-20" dirty="0">
                <a:latin typeface="Symbol"/>
                <a:cs typeface="Symbol"/>
              </a:rPr>
              <a:t></a:t>
            </a:r>
            <a:r>
              <a:rPr sz="1550" spc="-20" dirty="0">
                <a:latin typeface="Times New Roman"/>
                <a:cs typeface="Times New Roman"/>
              </a:rPr>
              <a:t>1</a:t>
            </a:r>
            <a:r>
              <a:rPr sz="2325" spc="-30" baseline="-14336" dirty="0">
                <a:latin typeface="Symbol"/>
                <a:cs typeface="Symbol"/>
              </a:rPr>
              <a:t></a:t>
            </a:r>
            <a:r>
              <a:rPr sz="2325" spc="-30" baseline="1792" dirty="0">
                <a:latin typeface="Symbol"/>
                <a:cs typeface="Symbol"/>
              </a:rPr>
              <a:t></a:t>
            </a:r>
            <a:r>
              <a:rPr sz="2325" baseline="1792" dirty="0">
                <a:latin typeface="Times New Roman"/>
                <a:cs typeface="Times New Roman"/>
              </a:rPr>
              <a:t>	</a:t>
            </a:r>
            <a:r>
              <a:rPr sz="2325" spc="-30" baseline="1792" dirty="0">
                <a:latin typeface="Symbol"/>
                <a:cs typeface="Symbol"/>
              </a:rPr>
              <a:t></a:t>
            </a:r>
            <a:r>
              <a:rPr sz="2325" spc="-30" baseline="-14336" dirty="0">
                <a:latin typeface="Symbol"/>
                <a:cs typeface="Symbol"/>
              </a:rPr>
              <a:t></a:t>
            </a:r>
            <a:r>
              <a:rPr sz="1550" spc="-20" dirty="0">
                <a:latin typeface="Symbol"/>
                <a:cs typeface="Symbol"/>
              </a:rPr>
              <a:t></a:t>
            </a:r>
            <a:r>
              <a:rPr sz="1550" spc="-20" dirty="0">
                <a:latin typeface="Times New Roman"/>
                <a:cs typeface="Times New Roman"/>
              </a:rPr>
              <a:t>1</a:t>
            </a:r>
            <a:r>
              <a:rPr sz="1550" dirty="0">
                <a:latin typeface="Times New Roman"/>
                <a:cs typeface="Times New Roman"/>
              </a:rPr>
              <a:t>	</a:t>
            </a:r>
            <a:r>
              <a:rPr sz="1550" spc="-25" dirty="0">
                <a:latin typeface="Symbol"/>
                <a:cs typeface="Symbol"/>
              </a:rPr>
              <a:t></a:t>
            </a:r>
            <a:r>
              <a:rPr sz="1550" spc="-25" dirty="0">
                <a:latin typeface="Times New Roman"/>
                <a:cs typeface="Times New Roman"/>
              </a:rPr>
              <a:t>1</a:t>
            </a:r>
            <a:r>
              <a:rPr sz="1550" dirty="0">
                <a:latin typeface="Times New Roman"/>
                <a:cs typeface="Times New Roman"/>
              </a:rPr>
              <a:t>	</a:t>
            </a:r>
            <a:r>
              <a:rPr sz="1550" spc="-20" dirty="0">
                <a:latin typeface="Symbol"/>
                <a:cs typeface="Symbol"/>
              </a:rPr>
              <a:t></a:t>
            </a:r>
            <a:r>
              <a:rPr sz="1550" spc="-20" dirty="0">
                <a:latin typeface="Times New Roman"/>
                <a:cs typeface="Times New Roman"/>
              </a:rPr>
              <a:t>1</a:t>
            </a:r>
            <a:r>
              <a:rPr sz="2325" spc="-30" baseline="-14336" dirty="0">
                <a:latin typeface="Symbol"/>
                <a:cs typeface="Symbol"/>
              </a:rPr>
              <a:t></a:t>
            </a:r>
            <a:r>
              <a:rPr sz="2325" spc="-30" baseline="1792" dirty="0">
                <a:latin typeface="Symbol"/>
                <a:cs typeface="Symbol"/>
              </a:rPr>
              <a:t></a:t>
            </a:r>
            <a:r>
              <a:rPr sz="2325" baseline="1792" dirty="0">
                <a:latin typeface="Times New Roman"/>
                <a:cs typeface="Times New Roman"/>
              </a:rPr>
              <a:t>	</a:t>
            </a:r>
            <a:r>
              <a:rPr sz="2325" spc="-37" baseline="1792" dirty="0">
                <a:latin typeface="Symbol"/>
                <a:cs typeface="Symbol"/>
              </a:rPr>
              <a:t></a:t>
            </a:r>
            <a:r>
              <a:rPr sz="2325" spc="-37" baseline="-14336" dirty="0">
                <a:latin typeface="Symbol"/>
                <a:cs typeface="Symbol"/>
              </a:rPr>
              <a:t></a:t>
            </a:r>
            <a:r>
              <a:rPr sz="1550" spc="-25" dirty="0">
                <a:latin typeface="Times New Roman"/>
                <a:cs typeface="Times New Roman"/>
              </a:rPr>
              <a:t>1</a:t>
            </a:r>
            <a:r>
              <a:rPr sz="1550" dirty="0">
                <a:latin typeface="Times New Roman"/>
                <a:cs typeface="Times New Roman"/>
              </a:rPr>
              <a:t>	</a:t>
            </a:r>
            <a:r>
              <a:rPr sz="1550" spc="-50" dirty="0">
                <a:latin typeface="Times New Roman"/>
                <a:cs typeface="Times New Roman"/>
              </a:rPr>
              <a:t>0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80678" y="2903641"/>
            <a:ext cx="353695" cy="4622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0480" algn="r">
              <a:lnSpc>
                <a:spcPts val="1714"/>
              </a:lnSpc>
              <a:spcBef>
                <a:spcPts val="105"/>
              </a:spcBef>
            </a:pPr>
            <a:r>
              <a:rPr sz="1550" spc="-50" dirty="0">
                <a:latin typeface="Symbol"/>
                <a:cs typeface="Symbol"/>
              </a:rPr>
              <a:t></a:t>
            </a:r>
            <a:endParaRPr sz="1550">
              <a:latin typeface="Symbol"/>
              <a:cs typeface="Symbol"/>
            </a:endParaRPr>
          </a:p>
          <a:p>
            <a:pPr marL="38100">
              <a:lnSpc>
                <a:spcPts val="1714"/>
              </a:lnSpc>
            </a:pPr>
            <a:r>
              <a:rPr sz="1550" spc="-105" dirty="0">
                <a:latin typeface="Symbol"/>
                <a:cs typeface="Symbol"/>
              </a:rPr>
              <a:t></a:t>
            </a:r>
            <a:r>
              <a:rPr sz="1550" spc="-105" dirty="0">
                <a:latin typeface="Times New Roman"/>
                <a:cs typeface="Times New Roman"/>
              </a:rPr>
              <a:t>1</a:t>
            </a:r>
            <a:r>
              <a:rPr sz="2325" spc="-157" baseline="1792" dirty="0">
                <a:latin typeface="Symbol"/>
                <a:cs typeface="Symbol"/>
              </a:rPr>
              <a:t></a:t>
            </a:r>
            <a:r>
              <a:rPr sz="2325" spc="-157" baseline="-14336" dirty="0">
                <a:latin typeface="Symbol"/>
                <a:cs typeface="Symbol"/>
              </a:rPr>
              <a:t></a:t>
            </a:r>
            <a:endParaRPr sz="2325" baseline="-14336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250126" y="2940108"/>
            <a:ext cx="755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i="1" spc="-50" dirty="0">
                <a:latin typeface="Times New Roman"/>
                <a:cs typeface="Times New Roman"/>
              </a:rPr>
              <a:t>y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382337" y="2713663"/>
            <a:ext cx="302260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325" baseline="-25089" dirty="0">
                <a:latin typeface="Times New Roman"/>
                <a:cs typeface="Times New Roman"/>
              </a:rPr>
              <a:t>0</a:t>
            </a:r>
            <a:r>
              <a:rPr sz="2325" spc="30" baseline="-25089" dirty="0">
                <a:latin typeface="Times New Roman"/>
                <a:cs typeface="Times New Roman"/>
              </a:rPr>
              <a:t> </a:t>
            </a:r>
            <a:r>
              <a:rPr sz="1550" spc="-50" dirty="0">
                <a:latin typeface="Symbol"/>
                <a:cs typeface="Symbol"/>
              </a:rPr>
              <a:t></a:t>
            </a:r>
            <a:endParaRPr sz="15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60376" y="2448160"/>
            <a:ext cx="2237105" cy="91757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025525" algn="ctr">
              <a:lnSpc>
                <a:spcPct val="100000"/>
              </a:lnSpc>
              <a:spcBef>
                <a:spcPts val="580"/>
              </a:spcBef>
              <a:tabLst>
                <a:tab pos="1532255" algn="l"/>
                <a:tab pos="1906905" algn="l"/>
              </a:tabLst>
            </a:pPr>
            <a:r>
              <a:rPr sz="2325" baseline="-3584" dirty="0">
                <a:latin typeface="Symbol"/>
                <a:cs typeface="Symbol"/>
              </a:rPr>
              <a:t></a:t>
            </a:r>
            <a:r>
              <a:rPr sz="2325" spc="-7" baseline="-3584" dirty="0">
                <a:latin typeface="Times New Roman"/>
                <a:cs typeface="Times New Roman"/>
              </a:rPr>
              <a:t> </a:t>
            </a:r>
            <a:r>
              <a:rPr sz="1550" spc="-50" dirty="0">
                <a:latin typeface="Times New Roman"/>
                <a:cs typeface="Times New Roman"/>
              </a:rPr>
              <a:t>1</a:t>
            </a:r>
            <a:r>
              <a:rPr sz="1550" dirty="0">
                <a:latin typeface="Times New Roman"/>
                <a:cs typeface="Times New Roman"/>
              </a:rPr>
              <a:t>	</a:t>
            </a:r>
            <a:r>
              <a:rPr sz="1550" spc="-50" dirty="0">
                <a:latin typeface="Times New Roman"/>
                <a:cs typeface="Times New Roman"/>
              </a:rPr>
              <a:t>2</a:t>
            </a:r>
            <a:r>
              <a:rPr sz="1550" dirty="0">
                <a:latin typeface="Times New Roman"/>
                <a:cs typeface="Times New Roman"/>
              </a:rPr>
              <a:t>	1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2325" spc="-75" baseline="-3584" dirty="0">
                <a:latin typeface="Symbol"/>
                <a:cs typeface="Symbol"/>
              </a:rPr>
              <a:t></a:t>
            </a:r>
            <a:endParaRPr sz="2325" baseline="-3584">
              <a:latin typeface="Symbol"/>
              <a:cs typeface="Symbol"/>
            </a:endParaRPr>
          </a:p>
          <a:p>
            <a:pPr marL="50800">
              <a:lnSpc>
                <a:spcPct val="100000"/>
              </a:lnSpc>
              <a:spcBef>
                <a:spcPts val="480"/>
              </a:spcBef>
              <a:tabLst>
                <a:tab pos="655320" algn="l"/>
                <a:tab pos="1581150" algn="l"/>
              </a:tabLst>
            </a:pPr>
            <a:r>
              <a:rPr sz="1550" spc="-25" dirty="0">
                <a:latin typeface="Symbol"/>
                <a:cs typeface="Symbol"/>
              </a:rPr>
              <a:t></a:t>
            </a:r>
            <a:r>
              <a:rPr sz="1550" spc="-25" dirty="0">
                <a:latin typeface="Times New Roman"/>
                <a:cs typeface="Times New Roman"/>
              </a:rPr>
              <a:t>2</a:t>
            </a:r>
            <a:r>
              <a:rPr sz="2325" spc="-37" baseline="25089" dirty="0">
                <a:latin typeface="Symbol"/>
                <a:cs typeface="Symbol"/>
              </a:rPr>
              <a:t></a:t>
            </a:r>
            <a:r>
              <a:rPr sz="2325" baseline="25089" dirty="0">
                <a:latin typeface="Times New Roman"/>
                <a:cs typeface="Times New Roman"/>
              </a:rPr>
              <a:t>	</a:t>
            </a:r>
            <a:r>
              <a:rPr sz="1550" i="1" dirty="0">
                <a:latin typeface="Times New Roman"/>
                <a:cs typeface="Times New Roman"/>
              </a:rPr>
              <a:t>G</a:t>
            </a:r>
            <a:r>
              <a:rPr sz="1550" i="1" spc="90" dirty="0">
                <a:latin typeface="Times New Roman"/>
                <a:cs typeface="Times New Roman"/>
              </a:rPr>
              <a:t>  </a:t>
            </a:r>
            <a:r>
              <a:rPr sz="1550" dirty="0">
                <a:latin typeface="Symbol"/>
                <a:cs typeface="Symbol"/>
              </a:rPr>
              <a:t></a:t>
            </a:r>
            <a:r>
              <a:rPr sz="1550" spc="-25" dirty="0">
                <a:latin typeface="Times New Roman"/>
                <a:cs typeface="Times New Roman"/>
              </a:rPr>
              <a:t> </a:t>
            </a:r>
            <a:r>
              <a:rPr sz="2325" baseline="25089" dirty="0">
                <a:latin typeface="Symbol"/>
                <a:cs typeface="Symbol"/>
              </a:rPr>
              <a:t></a:t>
            </a:r>
            <a:r>
              <a:rPr sz="2325" spc="22" baseline="25089" dirty="0">
                <a:latin typeface="Times New Roman"/>
                <a:cs typeface="Times New Roman"/>
              </a:rPr>
              <a:t> </a:t>
            </a:r>
            <a:r>
              <a:rPr sz="1550" spc="-50" dirty="0">
                <a:latin typeface="Times New Roman"/>
                <a:cs typeface="Times New Roman"/>
              </a:rPr>
              <a:t>0</a:t>
            </a:r>
            <a:r>
              <a:rPr sz="1550" dirty="0">
                <a:latin typeface="Times New Roman"/>
                <a:cs typeface="Times New Roman"/>
              </a:rPr>
              <a:t>	</a:t>
            </a:r>
            <a:r>
              <a:rPr sz="1550" spc="-50" dirty="0">
                <a:latin typeface="Times New Roman"/>
                <a:cs typeface="Times New Roman"/>
              </a:rPr>
              <a:t>0</a:t>
            </a:r>
            <a:endParaRPr sz="1550">
              <a:latin typeface="Times New Roman"/>
              <a:cs typeface="Times New Roman"/>
            </a:endParaRPr>
          </a:p>
          <a:p>
            <a:pPr marL="1026160" algn="ctr">
              <a:lnSpc>
                <a:spcPct val="100000"/>
              </a:lnSpc>
              <a:spcBef>
                <a:spcPts val="480"/>
              </a:spcBef>
            </a:pPr>
            <a:r>
              <a:rPr sz="1550" spc="-25" dirty="0">
                <a:latin typeface="Symbol"/>
                <a:cs typeface="Symbol"/>
              </a:rPr>
              <a:t></a:t>
            </a:r>
            <a:r>
              <a:rPr sz="1550" spc="-25" dirty="0">
                <a:latin typeface="Times New Roman"/>
                <a:cs typeface="Times New Roman"/>
              </a:rPr>
              <a:t>2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98673" y="2903640"/>
            <a:ext cx="362585" cy="4622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ts val="1714"/>
              </a:lnSpc>
              <a:spcBef>
                <a:spcPts val="105"/>
              </a:spcBef>
            </a:pPr>
            <a:r>
              <a:rPr sz="1550" spc="-50" dirty="0">
                <a:latin typeface="Symbol"/>
                <a:cs typeface="Symbol"/>
              </a:rPr>
              <a:t></a:t>
            </a:r>
            <a:endParaRPr sz="1550">
              <a:latin typeface="Symbol"/>
              <a:cs typeface="Symbol"/>
            </a:endParaRPr>
          </a:p>
          <a:p>
            <a:pPr marL="38100">
              <a:lnSpc>
                <a:spcPts val="1714"/>
              </a:lnSpc>
            </a:pPr>
            <a:r>
              <a:rPr sz="2325" spc="-120" baseline="1792" dirty="0">
                <a:latin typeface="Symbol"/>
                <a:cs typeface="Symbol"/>
              </a:rPr>
              <a:t></a:t>
            </a:r>
            <a:r>
              <a:rPr sz="2325" spc="-120" baseline="-14336" dirty="0">
                <a:latin typeface="Symbol"/>
                <a:cs typeface="Symbol"/>
              </a:rPr>
              <a:t></a:t>
            </a:r>
            <a:r>
              <a:rPr sz="1550" spc="-80" dirty="0">
                <a:latin typeface="Symbol"/>
                <a:cs typeface="Symbol"/>
              </a:rPr>
              <a:t></a:t>
            </a:r>
            <a:r>
              <a:rPr sz="1550" spc="-80" dirty="0">
                <a:latin typeface="Times New Roman"/>
                <a:cs typeface="Times New Roman"/>
              </a:rPr>
              <a:t>1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37914" y="2903641"/>
            <a:ext cx="346710" cy="4622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0480" algn="r">
              <a:lnSpc>
                <a:spcPts val="1714"/>
              </a:lnSpc>
              <a:spcBef>
                <a:spcPts val="105"/>
              </a:spcBef>
            </a:pPr>
            <a:r>
              <a:rPr sz="1550" spc="-50" dirty="0">
                <a:latin typeface="Symbol"/>
                <a:cs typeface="Symbol"/>
              </a:rPr>
              <a:t></a:t>
            </a:r>
            <a:endParaRPr sz="1550">
              <a:latin typeface="Symbol"/>
              <a:cs typeface="Symbol"/>
            </a:endParaRPr>
          </a:p>
          <a:p>
            <a:pPr marL="38100">
              <a:lnSpc>
                <a:spcPts val="1714"/>
              </a:lnSpc>
            </a:pPr>
            <a:r>
              <a:rPr sz="1550" spc="-120" dirty="0">
                <a:latin typeface="Symbol"/>
                <a:cs typeface="Symbol"/>
              </a:rPr>
              <a:t></a:t>
            </a:r>
            <a:r>
              <a:rPr sz="1550" spc="-120" dirty="0">
                <a:latin typeface="Times New Roman"/>
                <a:cs typeface="Times New Roman"/>
              </a:rPr>
              <a:t>1</a:t>
            </a:r>
            <a:r>
              <a:rPr sz="2325" spc="-179" baseline="1792" dirty="0">
                <a:latin typeface="Symbol"/>
                <a:cs typeface="Symbol"/>
              </a:rPr>
              <a:t></a:t>
            </a:r>
            <a:r>
              <a:rPr sz="2325" spc="-179" baseline="-14336" dirty="0">
                <a:latin typeface="Symbol"/>
                <a:cs typeface="Symbol"/>
              </a:rPr>
              <a:t></a:t>
            </a:r>
            <a:endParaRPr sz="2325" baseline="-14336">
              <a:latin typeface="Symbol"/>
              <a:cs typeface="Symbo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415108" y="5251113"/>
            <a:ext cx="975994" cy="397510"/>
            <a:chOff x="4415108" y="5251113"/>
            <a:chExt cx="975994" cy="397510"/>
          </a:xfrm>
        </p:grpSpPr>
        <p:sp>
          <p:nvSpPr>
            <p:cNvPr id="20" name="object 20"/>
            <p:cNvSpPr/>
            <p:nvPr/>
          </p:nvSpPr>
          <p:spPr>
            <a:xfrm>
              <a:off x="4417998" y="5257377"/>
              <a:ext cx="972819" cy="391160"/>
            </a:xfrm>
            <a:custGeom>
              <a:avLst/>
              <a:gdLst/>
              <a:ahLst/>
              <a:cxnLst/>
              <a:rect l="l" t="t" r="r" b="b"/>
              <a:pathLst>
                <a:path w="972820" h="391160">
                  <a:moveTo>
                    <a:pt x="0" y="263457"/>
                  </a:moveTo>
                  <a:lnTo>
                    <a:pt x="23866" y="243687"/>
                  </a:lnTo>
                </a:path>
                <a:path w="972820" h="391160">
                  <a:moveTo>
                    <a:pt x="24510" y="243029"/>
                  </a:moveTo>
                  <a:lnTo>
                    <a:pt x="84487" y="389929"/>
                  </a:lnTo>
                </a:path>
                <a:path w="972820" h="391160">
                  <a:moveTo>
                    <a:pt x="84487" y="390586"/>
                  </a:moveTo>
                  <a:lnTo>
                    <a:pt x="150244" y="657"/>
                  </a:lnTo>
                </a:path>
                <a:path w="972820" h="391160">
                  <a:moveTo>
                    <a:pt x="150244" y="0"/>
                  </a:moveTo>
                  <a:lnTo>
                    <a:pt x="972286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15108" y="5251113"/>
              <a:ext cx="975994" cy="396875"/>
            </a:xfrm>
            <a:custGeom>
              <a:avLst/>
              <a:gdLst/>
              <a:ahLst/>
              <a:cxnLst/>
              <a:rect l="l" t="t" r="r" b="b"/>
              <a:pathLst>
                <a:path w="975995" h="396875">
                  <a:moveTo>
                    <a:pt x="975530" y="0"/>
                  </a:moveTo>
                  <a:lnTo>
                    <a:pt x="148288" y="0"/>
                  </a:lnTo>
                  <a:lnTo>
                    <a:pt x="87062" y="361615"/>
                  </a:lnTo>
                  <a:lnTo>
                    <a:pt x="34166" y="238428"/>
                  </a:lnTo>
                  <a:lnTo>
                    <a:pt x="0" y="266086"/>
                  </a:lnTo>
                  <a:lnTo>
                    <a:pt x="5162" y="272685"/>
                  </a:lnTo>
                  <a:lnTo>
                    <a:pt x="20635" y="259526"/>
                  </a:lnTo>
                  <a:lnTo>
                    <a:pt x="81231" y="396521"/>
                  </a:lnTo>
                  <a:lnTo>
                    <a:pt x="93499" y="396521"/>
                  </a:lnTo>
                  <a:lnTo>
                    <a:pt x="157968" y="12488"/>
                  </a:lnTo>
                  <a:lnTo>
                    <a:pt x="975530" y="12488"/>
                  </a:lnTo>
                  <a:lnTo>
                    <a:pt x="975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12394" y="5259228"/>
            <a:ext cx="5006340" cy="37909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233045" indent="-194945">
              <a:lnSpc>
                <a:spcPts val="625"/>
              </a:lnSpc>
              <a:spcBef>
                <a:spcPts val="170"/>
              </a:spcBef>
              <a:buFont typeface="Arial MT"/>
              <a:buChar char="•"/>
              <a:tabLst>
                <a:tab pos="233045" algn="l"/>
                <a:tab pos="4173854" algn="l"/>
                <a:tab pos="4491990" algn="l"/>
              </a:tabLst>
            </a:pP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Magnitud</a:t>
            </a:r>
            <a:r>
              <a:rPr sz="2000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del</a:t>
            </a:r>
            <a:r>
              <a:rPr sz="2000" spc="-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gradiente:</a:t>
            </a:r>
            <a:r>
              <a:rPr sz="2000" spc="3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925" baseline="1424" dirty="0">
                <a:latin typeface="Times New Roman"/>
                <a:cs typeface="Times New Roman"/>
              </a:rPr>
              <a:t>|</a:t>
            </a:r>
            <a:r>
              <a:rPr sz="2925" spc="-270" baseline="1424" dirty="0">
                <a:latin typeface="Times New Roman"/>
                <a:cs typeface="Times New Roman"/>
              </a:rPr>
              <a:t> </a:t>
            </a:r>
            <a:r>
              <a:rPr sz="2925" spc="-15" baseline="1424" dirty="0">
                <a:latin typeface="Symbol"/>
                <a:cs typeface="Symbol"/>
              </a:rPr>
              <a:t></a:t>
            </a:r>
            <a:r>
              <a:rPr sz="2925" i="1" spc="-15" baseline="1424" dirty="0">
                <a:latin typeface="Times New Roman"/>
                <a:cs typeface="Times New Roman"/>
              </a:rPr>
              <a:t>I</a:t>
            </a:r>
            <a:r>
              <a:rPr sz="2925" i="1" spc="-382" baseline="1424" dirty="0">
                <a:latin typeface="Times New Roman"/>
                <a:cs typeface="Times New Roman"/>
              </a:rPr>
              <a:t> </a:t>
            </a:r>
            <a:r>
              <a:rPr sz="2925" baseline="1424" dirty="0">
                <a:latin typeface="Times New Roman"/>
                <a:cs typeface="Times New Roman"/>
              </a:rPr>
              <a:t>(</a:t>
            </a:r>
            <a:r>
              <a:rPr sz="2925" i="1" baseline="1424" dirty="0">
                <a:latin typeface="Times New Roman"/>
                <a:cs typeface="Times New Roman"/>
              </a:rPr>
              <a:t>x</a:t>
            </a:r>
            <a:r>
              <a:rPr sz="2925" baseline="1424" dirty="0">
                <a:latin typeface="Times New Roman"/>
                <a:cs typeface="Times New Roman"/>
              </a:rPr>
              <a:t>,</a:t>
            </a:r>
            <a:r>
              <a:rPr sz="2925" spc="-277" baseline="1424" dirty="0">
                <a:latin typeface="Times New Roman"/>
                <a:cs typeface="Times New Roman"/>
              </a:rPr>
              <a:t> </a:t>
            </a:r>
            <a:r>
              <a:rPr sz="2925" spc="-67" baseline="1424" dirty="0">
                <a:latin typeface="Times New Roman"/>
                <a:cs typeface="Times New Roman"/>
              </a:rPr>
              <a:t>y)</a:t>
            </a:r>
            <a:r>
              <a:rPr sz="2925" spc="-247" baseline="1424" dirty="0">
                <a:latin typeface="Times New Roman"/>
                <a:cs typeface="Times New Roman"/>
              </a:rPr>
              <a:t> </a:t>
            </a:r>
            <a:r>
              <a:rPr sz="2925" spc="-37" baseline="1424" dirty="0">
                <a:latin typeface="Times New Roman"/>
                <a:cs typeface="Times New Roman"/>
              </a:rPr>
              <a:t>|</a:t>
            </a:r>
            <a:r>
              <a:rPr sz="2925" spc="-37" baseline="1424" dirty="0">
                <a:latin typeface="Symbol"/>
                <a:cs typeface="Symbol"/>
              </a:rPr>
              <a:t></a:t>
            </a:r>
            <a:r>
              <a:rPr sz="2925" baseline="1424" dirty="0">
                <a:latin typeface="Times New Roman"/>
                <a:cs typeface="Times New Roman"/>
              </a:rPr>
              <a:t>	</a:t>
            </a:r>
            <a:r>
              <a:rPr sz="2925" i="1" spc="60" baseline="1424" dirty="0">
                <a:latin typeface="Times New Roman"/>
                <a:cs typeface="Times New Roman"/>
              </a:rPr>
              <a:t>I</a:t>
            </a:r>
            <a:r>
              <a:rPr sz="1725" i="1" spc="60" baseline="-24154" dirty="0">
                <a:latin typeface="Times New Roman"/>
                <a:cs typeface="Times New Roman"/>
              </a:rPr>
              <a:t>x</a:t>
            </a:r>
            <a:r>
              <a:rPr sz="1725" i="1" baseline="-24154" dirty="0">
                <a:latin typeface="Times New Roman"/>
                <a:cs typeface="Times New Roman"/>
              </a:rPr>
              <a:t>	</a:t>
            </a:r>
            <a:r>
              <a:rPr sz="2925" baseline="1424" dirty="0">
                <a:latin typeface="Symbol"/>
                <a:cs typeface="Symbol"/>
              </a:rPr>
              <a:t></a:t>
            </a:r>
            <a:r>
              <a:rPr sz="2925" spc="-120" baseline="1424" dirty="0">
                <a:latin typeface="Times New Roman"/>
                <a:cs typeface="Times New Roman"/>
              </a:rPr>
              <a:t> </a:t>
            </a:r>
            <a:r>
              <a:rPr sz="2925" i="1" spc="-75" baseline="1424" dirty="0">
                <a:latin typeface="Times New Roman"/>
                <a:cs typeface="Times New Roman"/>
              </a:rPr>
              <a:t>I</a:t>
            </a:r>
            <a:endParaRPr sz="2925" baseline="1424">
              <a:latin typeface="Times New Roman"/>
              <a:cs typeface="Times New Roman"/>
            </a:endParaRPr>
          </a:p>
          <a:p>
            <a:pPr marR="55880" algn="r">
              <a:lnSpc>
                <a:spcPts val="680"/>
              </a:lnSpc>
              <a:tabLst>
                <a:tab pos="516890" algn="l"/>
              </a:tabLst>
            </a:pPr>
            <a:r>
              <a:rPr sz="1150" spc="-50" dirty="0">
                <a:latin typeface="Times New Roman"/>
                <a:cs typeface="Times New Roman"/>
              </a:rPr>
              <a:t>2</a:t>
            </a:r>
            <a:r>
              <a:rPr sz="1150" dirty="0">
                <a:latin typeface="Times New Roman"/>
                <a:cs typeface="Times New Roman"/>
              </a:rPr>
              <a:t>	</a:t>
            </a:r>
            <a:r>
              <a:rPr sz="1150" spc="-50" dirty="0">
                <a:latin typeface="Times New Roman"/>
                <a:cs typeface="Times New Roman"/>
              </a:rPr>
              <a:t>2</a:t>
            </a:r>
            <a:endParaRPr sz="1150">
              <a:latin typeface="Times New Roman"/>
              <a:cs typeface="Times New Roman"/>
            </a:endParaRPr>
          </a:p>
          <a:p>
            <a:pPr marR="143510" algn="r">
              <a:lnSpc>
                <a:spcPct val="100000"/>
              </a:lnSpc>
              <a:spcBef>
                <a:spcPts val="25"/>
              </a:spcBef>
            </a:pPr>
            <a:r>
              <a:rPr sz="1150" i="1" spc="-50" dirty="0">
                <a:latin typeface="Times New Roman"/>
                <a:cs typeface="Times New Roman"/>
              </a:rPr>
              <a:t>y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303274" y="4361520"/>
            <a:ext cx="302895" cy="408940"/>
            <a:chOff x="5303274" y="4361520"/>
            <a:chExt cx="302895" cy="40894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03274" y="4361520"/>
              <a:ext cx="302551" cy="40877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41620" y="4372355"/>
              <a:ext cx="237743" cy="35204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341620" y="4372355"/>
              <a:ext cx="238125" cy="352425"/>
            </a:xfrm>
            <a:custGeom>
              <a:avLst/>
              <a:gdLst/>
              <a:ahLst/>
              <a:cxnLst/>
              <a:rect l="l" t="t" r="r" b="b"/>
              <a:pathLst>
                <a:path w="238125" h="352425">
                  <a:moveTo>
                    <a:pt x="0" y="88011"/>
                  </a:moveTo>
                  <a:lnTo>
                    <a:pt x="118871" y="88011"/>
                  </a:lnTo>
                  <a:lnTo>
                    <a:pt x="118871" y="0"/>
                  </a:lnTo>
                  <a:lnTo>
                    <a:pt x="237743" y="176022"/>
                  </a:lnTo>
                  <a:lnTo>
                    <a:pt x="118871" y="352044"/>
                  </a:lnTo>
                  <a:lnTo>
                    <a:pt x="118871" y="264033"/>
                  </a:lnTo>
                  <a:lnTo>
                    <a:pt x="0" y="264033"/>
                  </a:lnTo>
                  <a:lnTo>
                    <a:pt x="0" y="88011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957413" y="4521625"/>
            <a:ext cx="85725" cy="1911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i="1" spc="-50" dirty="0">
                <a:latin typeface="Times New Roman"/>
                <a:cs typeface="Times New Roman"/>
              </a:rPr>
              <a:t>x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730119" y="4521625"/>
            <a:ext cx="85725" cy="1911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i="1" spc="-50" dirty="0">
                <a:latin typeface="Times New Roman"/>
                <a:cs typeface="Times New Roman"/>
              </a:rPr>
              <a:t>x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098411" y="4359455"/>
            <a:ext cx="655955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dirty="0">
                <a:latin typeface="Symbol"/>
                <a:cs typeface="Symbol"/>
              </a:rPr>
              <a:t></a:t>
            </a:r>
            <a:r>
              <a:rPr sz="1850" spc="1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I</a:t>
            </a:r>
            <a:r>
              <a:rPr sz="1850" i="1" spc="-4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Symbol"/>
                <a:cs typeface="Symbol"/>
              </a:rPr>
              <a:t></a:t>
            </a:r>
            <a:r>
              <a:rPr sz="1850" spc="-290" dirty="0">
                <a:latin typeface="Times New Roman"/>
                <a:cs typeface="Times New Roman"/>
              </a:rPr>
              <a:t> </a:t>
            </a:r>
            <a:r>
              <a:rPr sz="1850" i="1" spc="-50" dirty="0">
                <a:latin typeface="Times New Roman"/>
                <a:cs typeface="Times New Roman"/>
              </a:rPr>
              <a:t>G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76960" y="4546138"/>
            <a:ext cx="243204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25" dirty="0">
                <a:latin typeface="Symbol"/>
                <a:cs typeface="Symbol"/>
              </a:rPr>
              <a:t></a:t>
            </a:r>
            <a:r>
              <a:rPr sz="1850" i="1" spc="-25" dirty="0">
                <a:latin typeface="Times New Roman"/>
                <a:cs typeface="Times New Roman"/>
              </a:rPr>
              <a:t>x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53380" y="4208846"/>
            <a:ext cx="636270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850" u="sng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</a:t>
            </a:r>
            <a:r>
              <a:rPr sz="185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1850" i="1" spc="290" dirty="0">
                <a:latin typeface="Times New Roman"/>
                <a:cs typeface="Times New Roman"/>
              </a:rPr>
              <a:t> </a:t>
            </a:r>
            <a:r>
              <a:rPr sz="2775" baseline="-36036" dirty="0">
                <a:latin typeface="Symbol"/>
                <a:cs typeface="Symbol"/>
              </a:rPr>
              <a:t></a:t>
            </a:r>
            <a:r>
              <a:rPr sz="2775" spc="15" baseline="-36036" dirty="0">
                <a:latin typeface="Times New Roman"/>
                <a:cs typeface="Times New Roman"/>
              </a:rPr>
              <a:t> </a:t>
            </a:r>
            <a:r>
              <a:rPr sz="2775" i="1" spc="-75" baseline="-36036" dirty="0">
                <a:latin typeface="Times New Roman"/>
                <a:cs typeface="Times New Roman"/>
              </a:rPr>
              <a:t>I</a:t>
            </a:r>
            <a:endParaRPr sz="2775" baseline="-36036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964564" y="4501681"/>
            <a:ext cx="85725" cy="1911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i="1" spc="-50" dirty="0">
                <a:latin typeface="Times New Roman"/>
                <a:cs typeface="Times New Roman"/>
              </a:rPr>
              <a:t>y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746882" y="4501681"/>
            <a:ext cx="85725" cy="1911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i="1" spc="-50" dirty="0">
                <a:latin typeface="Times New Roman"/>
                <a:cs typeface="Times New Roman"/>
              </a:rPr>
              <a:t>y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108092" y="4339592"/>
            <a:ext cx="656590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dirty="0">
                <a:latin typeface="Symbol"/>
                <a:cs typeface="Symbol"/>
              </a:rPr>
              <a:t></a:t>
            </a:r>
            <a:r>
              <a:rPr sz="1850" spc="1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I</a:t>
            </a:r>
            <a:r>
              <a:rPr sz="1850" i="1" spc="-4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Symbol"/>
                <a:cs typeface="Symbol"/>
              </a:rPr>
              <a:t></a:t>
            </a:r>
            <a:r>
              <a:rPr sz="1850" spc="-290" dirty="0">
                <a:latin typeface="Times New Roman"/>
                <a:cs typeface="Times New Roman"/>
              </a:rPr>
              <a:t> </a:t>
            </a:r>
            <a:r>
              <a:rPr sz="1850" i="1" spc="-50" dirty="0">
                <a:latin typeface="Times New Roman"/>
                <a:cs typeface="Times New Roman"/>
              </a:rPr>
              <a:t>G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373423" y="4526196"/>
            <a:ext cx="243204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25" dirty="0">
                <a:latin typeface="Symbol"/>
                <a:cs typeface="Symbol"/>
              </a:rPr>
              <a:t></a:t>
            </a:r>
            <a:r>
              <a:rPr sz="1850" i="1" spc="-25" dirty="0">
                <a:latin typeface="Times New Roman"/>
                <a:cs typeface="Times New Roman"/>
              </a:rPr>
              <a:t>y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351664" y="4189039"/>
            <a:ext cx="638175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850" u="sng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</a:t>
            </a:r>
            <a:r>
              <a:rPr sz="185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1850" i="1" spc="310" dirty="0">
                <a:latin typeface="Times New Roman"/>
                <a:cs typeface="Times New Roman"/>
              </a:rPr>
              <a:t> </a:t>
            </a:r>
            <a:r>
              <a:rPr sz="2775" baseline="-36036" dirty="0">
                <a:latin typeface="Symbol"/>
                <a:cs typeface="Symbol"/>
              </a:rPr>
              <a:t></a:t>
            </a:r>
            <a:r>
              <a:rPr sz="2775" spc="15" baseline="-36036" dirty="0">
                <a:latin typeface="Times New Roman"/>
                <a:cs typeface="Times New Roman"/>
              </a:rPr>
              <a:t> </a:t>
            </a:r>
            <a:r>
              <a:rPr sz="2775" i="1" spc="-75" baseline="-36036" dirty="0">
                <a:latin typeface="Times New Roman"/>
                <a:cs typeface="Times New Roman"/>
              </a:rPr>
              <a:t>I</a:t>
            </a:r>
            <a:endParaRPr sz="2775" baseline="-36036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947366" y="4339133"/>
            <a:ext cx="1557020" cy="3282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950" spc="-10" dirty="0">
                <a:latin typeface="Symbol"/>
                <a:cs typeface="Symbol"/>
              </a:rPr>
              <a:t></a:t>
            </a:r>
            <a:r>
              <a:rPr sz="1950" i="1" spc="-10" dirty="0">
                <a:latin typeface="Times New Roman"/>
                <a:cs typeface="Times New Roman"/>
              </a:rPr>
              <a:t>I</a:t>
            </a:r>
            <a:r>
              <a:rPr sz="1950" i="1" spc="-25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(</a:t>
            </a:r>
            <a:r>
              <a:rPr sz="1950" i="1" dirty="0">
                <a:latin typeface="Times New Roman"/>
                <a:cs typeface="Times New Roman"/>
              </a:rPr>
              <a:t>x</a:t>
            </a:r>
            <a:r>
              <a:rPr sz="1950" dirty="0">
                <a:latin typeface="Times New Roman"/>
                <a:cs typeface="Times New Roman"/>
              </a:rPr>
              <a:t>,</a:t>
            </a:r>
            <a:r>
              <a:rPr sz="1950" spc="-17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y)</a:t>
            </a:r>
            <a:r>
              <a:rPr sz="1950" spc="-1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</a:t>
            </a:r>
            <a:r>
              <a:rPr sz="1950" spc="10" dirty="0">
                <a:latin typeface="Times New Roman"/>
                <a:cs typeface="Times New Roman"/>
              </a:rPr>
              <a:t> </a:t>
            </a:r>
            <a:r>
              <a:rPr sz="2925" spc="-15" baseline="41310" dirty="0">
                <a:latin typeface="Symbol"/>
                <a:cs typeface="Symbol"/>
              </a:rPr>
              <a:t></a:t>
            </a:r>
            <a:r>
              <a:rPr sz="2925" spc="-450" baseline="41310" dirty="0">
                <a:latin typeface="Times New Roman"/>
                <a:cs typeface="Times New Roman"/>
              </a:rPr>
              <a:t> </a:t>
            </a:r>
            <a:r>
              <a:rPr sz="2925" i="1" spc="97" baseline="45584" dirty="0">
                <a:latin typeface="Times New Roman"/>
                <a:cs typeface="Times New Roman"/>
              </a:rPr>
              <a:t>I</a:t>
            </a:r>
            <a:r>
              <a:rPr sz="1725" i="1" spc="97" baseline="53140" dirty="0">
                <a:latin typeface="Times New Roman"/>
                <a:cs typeface="Times New Roman"/>
              </a:rPr>
              <a:t>x</a:t>
            </a:r>
            <a:r>
              <a:rPr sz="1725" i="1" spc="127" baseline="53140" dirty="0">
                <a:latin typeface="Times New Roman"/>
                <a:cs typeface="Times New Roman"/>
              </a:rPr>
              <a:t> </a:t>
            </a:r>
            <a:r>
              <a:rPr sz="2925" spc="-75" baseline="41310" dirty="0">
                <a:latin typeface="Symbol"/>
                <a:cs typeface="Symbol"/>
              </a:rPr>
              <a:t></a:t>
            </a:r>
            <a:endParaRPr sz="2925" baseline="41310">
              <a:latin typeface="Symbol"/>
              <a:cs typeface="Symbo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003487" y="4396344"/>
            <a:ext cx="501015" cy="3282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367030" algn="l"/>
              </a:tabLst>
            </a:pPr>
            <a:r>
              <a:rPr sz="1950" spc="40" dirty="0">
                <a:latin typeface="Symbol"/>
                <a:cs typeface="Symbol"/>
              </a:rPr>
              <a:t></a:t>
            </a:r>
            <a:r>
              <a:rPr sz="2925" i="1" spc="60" baseline="-27065" dirty="0">
                <a:latin typeface="Times New Roman"/>
                <a:cs typeface="Times New Roman"/>
              </a:rPr>
              <a:t>I</a:t>
            </a:r>
            <a:r>
              <a:rPr sz="2925" i="1" baseline="-27065" dirty="0">
                <a:latin typeface="Times New Roman"/>
                <a:cs typeface="Times New Roman"/>
              </a:rPr>
              <a:t>	</a:t>
            </a:r>
            <a:r>
              <a:rPr sz="1950" spc="-50" dirty="0">
                <a:latin typeface="Symbol"/>
                <a:cs typeface="Symbol"/>
              </a:rPr>
              <a:t>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028887" y="4610763"/>
            <a:ext cx="120650" cy="3282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spc="-50" dirty="0">
                <a:latin typeface="Symbol"/>
                <a:cs typeface="Symbol"/>
              </a:rPr>
              <a:t></a:t>
            </a:r>
            <a:endParaRPr sz="1950">
              <a:latin typeface="Symbol"/>
              <a:cs typeface="Symbo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226573" y="4579222"/>
            <a:ext cx="277495" cy="3282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150" i="1" dirty="0">
                <a:latin typeface="Times New Roman"/>
                <a:cs typeface="Times New Roman"/>
              </a:rPr>
              <a:t>y</a:t>
            </a:r>
            <a:r>
              <a:rPr sz="1150" i="1" spc="30" dirty="0">
                <a:latin typeface="Times New Roman"/>
                <a:cs typeface="Times New Roman"/>
              </a:rPr>
              <a:t> </a:t>
            </a:r>
            <a:r>
              <a:rPr sz="2925" spc="-75" baseline="-7122" dirty="0">
                <a:latin typeface="Symbol"/>
                <a:cs typeface="Symbol"/>
              </a:rPr>
              <a:t></a:t>
            </a:r>
            <a:endParaRPr sz="2925" baseline="-7122">
              <a:latin typeface="Symbol"/>
              <a:cs typeface="Symbo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738619" y="5303901"/>
            <a:ext cx="5829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7E7E7E"/>
                </a:solidFill>
                <a:latin typeface="Calibri"/>
                <a:cs typeface="Calibri"/>
              </a:rPr>
              <a:t>“bordes”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849618" y="5909259"/>
            <a:ext cx="144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direcciones</a:t>
            </a:r>
            <a:r>
              <a:rPr sz="1200" spc="-6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normales</a:t>
            </a:r>
            <a:r>
              <a:rPr sz="1200" spc="-5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7E7E7E"/>
                </a:solidFill>
                <a:latin typeface="Calibri"/>
                <a:cs typeface="Calibri"/>
              </a:rPr>
              <a:t>a</a:t>
            </a:r>
            <a:endParaRPr sz="120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</a:pPr>
            <a:r>
              <a:rPr sz="1200" dirty="0">
                <a:solidFill>
                  <a:srgbClr val="7E7E7E"/>
                </a:solidFill>
                <a:latin typeface="Calibri"/>
                <a:cs typeface="Calibri"/>
              </a:rPr>
              <a:t>los</a:t>
            </a:r>
            <a:r>
              <a:rPr sz="1200" spc="-10" dirty="0">
                <a:solidFill>
                  <a:srgbClr val="7E7E7E"/>
                </a:solidFill>
                <a:latin typeface="Calibri"/>
                <a:cs typeface="Calibri"/>
              </a:rPr>
              <a:t> “bordes”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913120" y="5398008"/>
            <a:ext cx="633095" cy="76200"/>
          </a:xfrm>
          <a:custGeom>
            <a:avLst/>
            <a:gdLst/>
            <a:ahLst/>
            <a:cxnLst/>
            <a:rect l="l" t="t" r="r" b="b"/>
            <a:pathLst>
              <a:path w="633095" h="76200">
                <a:moveTo>
                  <a:pt x="76200" y="0"/>
                </a:moveTo>
                <a:lnTo>
                  <a:pt x="0" y="38099"/>
                </a:lnTo>
                <a:lnTo>
                  <a:pt x="76200" y="76199"/>
                </a:lnTo>
                <a:lnTo>
                  <a:pt x="76200" y="44449"/>
                </a:lnTo>
                <a:lnTo>
                  <a:pt x="63500" y="44449"/>
                </a:lnTo>
                <a:lnTo>
                  <a:pt x="63500" y="31749"/>
                </a:lnTo>
                <a:lnTo>
                  <a:pt x="76200" y="31749"/>
                </a:lnTo>
                <a:lnTo>
                  <a:pt x="76200" y="0"/>
                </a:lnTo>
                <a:close/>
              </a:path>
              <a:path w="633095" h="76200">
                <a:moveTo>
                  <a:pt x="76200" y="31749"/>
                </a:moveTo>
                <a:lnTo>
                  <a:pt x="63500" y="31749"/>
                </a:lnTo>
                <a:lnTo>
                  <a:pt x="63500" y="44449"/>
                </a:lnTo>
                <a:lnTo>
                  <a:pt x="76200" y="44449"/>
                </a:lnTo>
                <a:lnTo>
                  <a:pt x="76200" y="31749"/>
                </a:lnTo>
                <a:close/>
              </a:path>
              <a:path w="633095" h="76200">
                <a:moveTo>
                  <a:pt x="633095" y="31749"/>
                </a:moveTo>
                <a:lnTo>
                  <a:pt x="76200" y="31749"/>
                </a:lnTo>
                <a:lnTo>
                  <a:pt x="76200" y="44449"/>
                </a:lnTo>
                <a:lnTo>
                  <a:pt x="633095" y="44449"/>
                </a:lnTo>
                <a:lnTo>
                  <a:pt x="633095" y="31749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339840" y="6072962"/>
            <a:ext cx="375920" cy="76200"/>
          </a:xfrm>
          <a:custGeom>
            <a:avLst/>
            <a:gdLst/>
            <a:ahLst/>
            <a:cxnLst/>
            <a:rect l="l" t="t" r="r" b="b"/>
            <a:pathLst>
              <a:path w="375920" h="76200">
                <a:moveTo>
                  <a:pt x="74802" y="0"/>
                </a:moveTo>
                <a:lnTo>
                  <a:pt x="0" y="40754"/>
                </a:lnTo>
                <a:lnTo>
                  <a:pt x="77470" y="76161"/>
                </a:lnTo>
                <a:lnTo>
                  <a:pt x="76374" y="44869"/>
                </a:lnTo>
                <a:lnTo>
                  <a:pt x="63626" y="44869"/>
                </a:lnTo>
                <a:lnTo>
                  <a:pt x="63246" y="32181"/>
                </a:lnTo>
                <a:lnTo>
                  <a:pt x="75914" y="31737"/>
                </a:lnTo>
                <a:lnTo>
                  <a:pt x="74802" y="0"/>
                </a:lnTo>
                <a:close/>
              </a:path>
              <a:path w="375920" h="76200">
                <a:moveTo>
                  <a:pt x="75914" y="31737"/>
                </a:moveTo>
                <a:lnTo>
                  <a:pt x="63246" y="32181"/>
                </a:lnTo>
                <a:lnTo>
                  <a:pt x="63626" y="44869"/>
                </a:lnTo>
                <a:lnTo>
                  <a:pt x="76358" y="44423"/>
                </a:lnTo>
                <a:lnTo>
                  <a:pt x="75914" y="31737"/>
                </a:lnTo>
                <a:close/>
              </a:path>
              <a:path w="375920" h="76200">
                <a:moveTo>
                  <a:pt x="76358" y="44423"/>
                </a:moveTo>
                <a:lnTo>
                  <a:pt x="63626" y="44869"/>
                </a:lnTo>
                <a:lnTo>
                  <a:pt x="76374" y="44869"/>
                </a:lnTo>
                <a:lnTo>
                  <a:pt x="76358" y="44423"/>
                </a:lnTo>
                <a:close/>
              </a:path>
              <a:path w="375920" h="76200">
                <a:moveTo>
                  <a:pt x="374904" y="21259"/>
                </a:moveTo>
                <a:lnTo>
                  <a:pt x="75914" y="31737"/>
                </a:lnTo>
                <a:lnTo>
                  <a:pt x="76358" y="44423"/>
                </a:lnTo>
                <a:lnTo>
                  <a:pt x="375412" y="33959"/>
                </a:lnTo>
                <a:lnTo>
                  <a:pt x="374904" y="21259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pic>
        <p:nvPicPr>
          <p:cNvPr id="46" name="Picture 4">
            <a:extLst>
              <a:ext uri="{FF2B5EF4-FFF2-40B4-BE49-F238E27FC236}">
                <a16:creationId xmlns:a16="http://schemas.microsoft.com/office/drawing/2014/main" id="{872D2EF3-FC1E-F130-9F49-FE589744F2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6" descr="Ingeniería de Sistemas - UNCP">
            <a:extLst>
              <a:ext uri="{FF2B5EF4-FFF2-40B4-BE49-F238E27FC236}">
                <a16:creationId xmlns:a16="http://schemas.microsoft.com/office/drawing/2014/main" id="{4EF64E4F-DCCE-63A5-83F6-30F5AD9121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11350">
              <a:lnSpc>
                <a:spcPct val="100000"/>
              </a:lnSpc>
              <a:spcBef>
                <a:spcPts val="100"/>
              </a:spcBef>
            </a:pPr>
            <a:r>
              <a:rPr dirty="0"/>
              <a:t>Filtros</a:t>
            </a:r>
            <a:r>
              <a:rPr spc="-110" dirty="0"/>
              <a:t> </a:t>
            </a:r>
            <a:r>
              <a:rPr spc="-10" dirty="0"/>
              <a:t>Lineales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5744845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3746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Gradiente</a:t>
            </a:r>
            <a:r>
              <a:rPr sz="2400" b="1" spc="-6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de</a:t>
            </a:r>
            <a:r>
              <a:rPr sz="2400" b="1" spc="-5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una</a:t>
            </a:r>
            <a:r>
              <a:rPr sz="2400" b="1" spc="-5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Imagen</a:t>
            </a:r>
            <a:endParaRPr sz="24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spcBef>
                <a:spcPts val="281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spc="-10" dirty="0">
                <a:latin typeface="Calibri"/>
                <a:cs typeface="Calibri"/>
              </a:rPr>
              <a:t>Ejemplo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9160" y="2199132"/>
            <a:ext cx="2039112" cy="19232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95700" y="2171700"/>
            <a:ext cx="2100072" cy="197662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43471" y="2171700"/>
            <a:ext cx="2142744" cy="197662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07891" y="4753355"/>
            <a:ext cx="2069591" cy="191566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93088" y="4170934"/>
            <a:ext cx="12998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Imagen</a:t>
            </a:r>
            <a:r>
              <a:rPr sz="1600" spc="-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original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4138040" y="4172458"/>
            <a:ext cx="11493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Derivada</a:t>
            </a:r>
            <a:r>
              <a:rPr sz="16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en</a:t>
            </a:r>
            <a:r>
              <a:rPr sz="16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i="1" spc="-50" dirty="0">
                <a:solidFill>
                  <a:srgbClr val="7E7E7E"/>
                </a:solidFill>
                <a:latin typeface="Times New Roman"/>
                <a:cs typeface="Times New Roman"/>
              </a:rPr>
              <a:t>x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46772" y="4172458"/>
            <a:ext cx="11493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Derivada</a:t>
            </a:r>
            <a:r>
              <a:rPr sz="16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en</a:t>
            </a:r>
            <a:r>
              <a:rPr sz="16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i="1" spc="-50" dirty="0">
                <a:solidFill>
                  <a:srgbClr val="7E7E7E"/>
                </a:solidFill>
                <a:latin typeface="Times New Roman"/>
                <a:cs typeface="Times New Roman"/>
              </a:rPr>
              <a:t>y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88482" y="5394756"/>
            <a:ext cx="1257935" cy="7581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 indent="-1270" algn="ctr">
              <a:lnSpc>
                <a:spcPct val="100299"/>
              </a:lnSpc>
              <a:spcBef>
                <a:spcPts val="90"/>
              </a:spcBef>
            </a:pP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Magnitud</a:t>
            </a:r>
            <a:r>
              <a:rPr sz="16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7E7E7E"/>
                </a:solidFill>
                <a:latin typeface="Calibri"/>
                <a:cs typeface="Calibri"/>
              </a:rPr>
              <a:t>del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gradiente</a:t>
            </a:r>
            <a:r>
              <a:rPr sz="16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de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7E7E7E"/>
                </a:solidFill>
                <a:latin typeface="Calibri"/>
                <a:cs typeface="Calibri"/>
              </a:rPr>
              <a:t>la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imagen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34255AF7-EAE0-0C40-DC70-20900E753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Ingeniería de Sistemas - UNCP">
            <a:extLst>
              <a:ext uri="{FF2B5EF4-FFF2-40B4-BE49-F238E27FC236}">
                <a16:creationId xmlns:a16="http://schemas.microsoft.com/office/drawing/2014/main" id="{D458E9E4-9312-F322-702A-08E297413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11350">
              <a:lnSpc>
                <a:spcPct val="100000"/>
              </a:lnSpc>
              <a:spcBef>
                <a:spcPts val="100"/>
              </a:spcBef>
            </a:pPr>
            <a:r>
              <a:rPr dirty="0"/>
              <a:t>Filtros</a:t>
            </a:r>
            <a:r>
              <a:rPr spc="-110" dirty="0"/>
              <a:t> </a:t>
            </a:r>
            <a:r>
              <a:rPr spc="-10" dirty="0"/>
              <a:t>Lineales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7924165" cy="168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5440" algn="ctr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Gradiente</a:t>
            </a:r>
            <a:r>
              <a:rPr sz="2400" b="1" spc="-6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de</a:t>
            </a:r>
            <a:r>
              <a:rPr sz="2400" b="1" spc="-5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una</a:t>
            </a:r>
            <a:r>
              <a:rPr sz="2400" b="1" spc="-5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Imagen</a:t>
            </a:r>
            <a:endParaRPr sz="24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spcBef>
                <a:spcPts val="281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dirty="0">
                <a:latin typeface="Calibri"/>
                <a:cs typeface="Calibri"/>
              </a:rPr>
              <a:t>La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orientación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gradiente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puede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información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sobre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“forma”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un</a:t>
            </a:r>
            <a:endParaRPr sz="2000">
              <a:latin typeface="Calibri"/>
              <a:cs typeface="Calibri"/>
            </a:endParaRPr>
          </a:p>
          <a:p>
            <a:pPr marL="208915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objeto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quiere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clasificar</a:t>
            </a:r>
            <a:endParaRPr sz="20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44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2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Ayuda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distinguir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objeto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otro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“caracterizarlo”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188" y="3011353"/>
            <a:ext cx="1310515" cy="134243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8535" y="4938662"/>
            <a:ext cx="1369800" cy="137069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69107" y="2961132"/>
            <a:ext cx="1440180" cy="142951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69107" y="4879847"/>
            <a:ext cx="1440180" cy="142951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16196" y="3406140"/>
            <a:ext cx="4271772" cy="48158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25340" y="5353811"/>
            <a:ext cx="4267200" cy="481584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2327029" y="3482247"/>
            <a:ext cx="217170" cy="374015"/>
            <a:chOff x="2327029" y="3482247"/>
            <a:chExt cx="217170" cy="374015"/>
          </a:xfrm>
        </p:grpSpPr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27029" y="3482247"/>
              <a:ext cx="216619" cy="37356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65248" y="3489959"/>
              <a:ext cx="144779" cy="31394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365248" y="3489959"/>
              <a:ext cx="144780" cy="314325"/>
            </a:xfrm>
            <a:custGeom>
              <a:avLst/>
              <a:gdLst/>
              <a:ahLst/>
              <a:cxnLst/>
              <a:rect l="l" t="t" r="r" b="b"/>
              <a:pathLst>
                <a:path w="144780" h="314325">
                  <a:moveTo>
                    <a:pt x="0" y="78486"/>
                  </a:moveTo>
                  <a:lnTo>
                    <a:pt x="72389" y="78486"/>
                  </a:lnTo>
                  <a:lnTo>
                    <a:pt x="72389" y="0"/>
                  </a:lnTo>
                  <a:lnTo>
                    <a:pt x="144779" y="156971"/>
                  </a:lnTo>
                  <a:lnTo>
                    <a:pt x="72389" y="313944"/>
                  </a:lnTo>
                  <a:lnTo>
                    <a:pt x="72389" y="235457"/>
                  </a:lnTo>
                  <a:lnTo>
                    <a:pt x="0" y="235457"/>
                  </a:lnTo>
                  <a:lnTo>
                    <a:pt x="0" y="78486"/>
                  </a:lnTo>
                  <a:close/>
                </a:path>
              </a:pathLst>
            </a:custGeom>
            <a:ln w="9144">
              <a:solidFill>
                <a:srgbClr val="7C5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4346272" y="3482247"/>
            <a:ext cx="215265" cy="374015"/>
            <a:chOff x="4346272" y="3482247"/>
            <a:chExt cx="215265" cy="374015"/>
          </a:xfrm>
        </p:grpSpPr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46272" y="3482247"/>
              <a:ext cx="215235" cy="37356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84548" y="3489959"/>
              <a:ext cx="143255" cy="31394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384548" y="3489959"/>
              <a:ext cx="143510" cy="314325"/>
            </a:xfrm>
            <a:custGeom>
              <a:avLst/>
              <a:gdLst/>
              <a:ahLst/>
              <a:cxnLst/>
              <a:rect l="l" t="t" r="r" b="b"/>
              <a:pathLst>
                <a:path w="143510" h="314325">
                  <a:moveTo>
                    <a:pt x="0" y="78486"/>
                  </a:moveTo>
                  <a:lnTo>
                    <a:pt x="71627" y="78486"/>
                  </a:lnTo>
                  <a:lnTo>
                    <a:pt x="71627" y="0"/>
                  </a:lnTo>
                  <a:lnTo>
                    <a:pt x="143255" y="156971"/>
                  </a:lnTo>
                  <a:lnTo>
                    <a:pt x="71627" y="313944"/>
                  </a:lnTo>
                  <a:lnTo>
                    <a:pt x="71627" y="235457"/>
                  </a:lnTo>
                  <a:lnTo>
                    <a:pt x="0" y="235457"/>
                  </a:lnTo>
                  <a:lnTo>
                    <a:pt x="0" y="78486"/>
                  </a:lnTo>
                  <a:close/>
                </a:path>
              </a:pathLst>
            </a:custGeom>
            <a:ln w="9144">
              <a:solidFill>
                <a:srgbClr val="7C5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2378845" y="5429881"/>
            <a:ext cx="217170" cy="374015"/>
            <a:chOff x="2378845" y="5429881"/>
            <a:chExt cx="217170" cy="374015"/>
          </a:xfrm>
        </p:grpSpPr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78845" y="5429881"/>
              <a:ext cx="216619" cy="37356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417064" y="5437631"/>
              <a:ext cx="144780" cy="31394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417064" y="5437631"/>
              <a:ext cx="144780" cy="314325"/>
            </a:xfrm>
            <a:custGeom>
              <a:avLst/>
              <a:gdLst/>
              <a:ahLst/>
              <a:cxnLst/>
              <a:rect l="l" t="t" r="r" b="b"/>
              <a:pathLst>
                <a:path w="144780" h="314325">
                  <a:moveTo>
                    <a:pt x="0" y="78486"/>
                  </a:moveTo>
                  <a:lnTo>
                    <a:pt x="72390" y="78486"/>
                  </a:lnTo>
                  <a:lnTo>
                    <a:pt x="72390" y="0"/>
                  </a:lnTo>
                  <a:lnTo>
                    <a:pt x="144780" y="156972"/>
                  </a:lnTo>
                  <a:lnTo>
                    <a:pt x="72390" y="313944"/>
                  </a:lnTo>
                  <a:lnTo>
                    <a:pt x="72390" y="235458"/>
                  </a:lnTo>
                  <a:lnTo>
                    <a:pt x="0" y="235458"/>
                  </a:lnTo>
                  <a:lnTo>
                    <a:pt x="0" y="78486"/>
                  </a:lnTo>
                  <a:close/>
                </a:path>
              </a:pathLst>
            </a:custGeom>
            <a:ln w="9144">
              <a:solidFill>
                <a:srgbClr val="7C5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4346272" y="5445121"/>
            <a:ext cx="215265" cy="374015"/>
            <a:chOff x="4346272" y="5445121"/>
            <a:chExt cx="215265" cy="374015"/>
          </a:xfrm>
        </p:grpSpPr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346272" y="5445121"/>
              <a:ext cx="215235" cy="37356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84548" y="5452872"/>
              <a:ext cx="143255" cy="31394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384548" y="5452872"/>
              <a:ext cx="143510" cy="314325"/>
            </a:xfrm>
            <a:custGeom>
              <a:avLst/>
              <a:gdLst/>
              <a:ahLst/>
              <a:cxnLst/>
              <a:rect l="l" t="t" r="r" b="b"/>
              <a:pathLst>
                <a:path w="143510" h="314325">
                  <a:moveTo>
                    <a:pt x="0" y="78485"/>
                  </a:moveTo>
                  <a:lnTo>
                    <a:pt x="71627" y="78485"/>
                  </a:lnTo>
                  <a:lnTo>
                    <a:pt x="71627" y="0"/>
                  </a:lnTo>
                  <a:lnTo>
                    <a:pt x="143255" y="156971"/>
                  </a:lnTo>
                  <a:lnTo>
                    <a:pt x="71627" y="313943"/>
                  </a:lnTo>
                  <a:lnTo>
                    <a:pt x="71627" y="235457"/>
                  </a:lnTo>
                  <a:lnTo>
                    <a:pt x="0" y="235457"/>
                  </a:lnTo>
                  <a:lnTo>
                    <a:pt x="0" y="78485"/>
                  </a:lnTo>
                  <a:close/>
                </a:path>
              </a:pathLst>
            </a:custGeom>
            <a:ln w="9144">
              <a:solidFill>
                <a:srgbClr val="7C5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pic>
        <p:nvPicPr>
          <p:cNvPr id="27" name="Picture 4">
            <a:extLst>
              <a:ext uri="{FF2B5EF4-FFF2-40B4-BE49-F238E27FC236}">
                <a16:creationId xmlns:a16="http://schemas.microsoft.com/office/drawing/2014/main" id="{CA49B2F0-0875-6D30-3042-FB4A469C5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6" descr="Ingeniería de Sistemas - UNCP">
            <a:extLst>
              <a:ext uri="{FF2B5EF4-FFF2-40B4-BE49-F238E27FC236}">
                <a16:creationId xmlns:a16="http://schemas.microsoft.com/office/drawing/2014/main" id="{B45232A6-CE0F-F65B-288D-287F1CDC8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11350">
              <a:lnSpc>
                <a:spcPct val="100000"/>
              </a:lnSpc>
              <a:spcBef>
                <a:spcPts val="100"/>
              </a:spcBef>
            </a:pPr>
            <a:r>
              <a:rPr dirty="0"/>
              <a:t>Filtros</a:t>
            </a:r>
            <a:r>
              <a:rPr spc="-110" dirty="0"/>
              <a:t> </a:t>
            </a:r>
            <a:r>
              <a:rPr spc="-10" dirty="0"/>
              <a:t>Lineales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5460365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194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Operador</a:t>
            </a:r>
            <a:r>
              <a:rPr sz="2400" b="1" spc="-5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Laplaciano</a:t>
            </a:r>
            <a:endParaRPr sz="24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spcBef>
                <a:spcPts val="281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dirty="0">
                <a:latin typeface="Calibri"/>
                <a:cs typeface="Calibri"/>
              </a:rPr>
              <a:t>Definición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Laplaciano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7794" y="3109341"/>
            <a:ext cx="11322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spc="-10" dirty="0">
                <a:latin typeface="Calibri"/>
                <a:cs typeface="Calibri"/>
              </a:rPr>
              <a:t>Ejemplo: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7794" y="5535043"/>
            <a:ext cx="6227445" cy="72326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7645" indent="-194945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spc="-10" dirty="0">
                <a:solidFill>
                  <a:srgbClr val="C00000"/>
                </a:solidFill>
                <a:latin typeface="Calibri"/>
                <a:cs typeface="Calibri"/>
              </a:rPr>
              <a:t>Problema:</a:t>
            </a:r>
            <a:endParaRPr sz="20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44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254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Puede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incrementar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ruido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imagen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(es</a:t>
            </a:r>
            <a:r>
              <a:rPr sz="16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la</a:t>
            </a:r>
            <a:r>
              <a:rPr sz="1600" spc="-4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segunda</a:t>
            </a:r>
            <a:r>
              <a:rPr sz="16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derivada)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613073" y="2341883"/>
            <a:ext cx="344805" cy="296545"/>
            <a:chOff x="4613073" y="2341883"/>
            <a:chExt cx="344805" cy="29654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3073" y="2341883"/>
              <a:ext cx="344635" cy="29648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51248" y="2348484"/>
              <a:ext cx="280415" cy="23926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651248" y="2348484"/>
              <a:ext cx="280670" cy="239395"/>
            </a:xfrm>
            <a:custGeom>
              <a:avLst/>
              <a:gdLst/>
              <a:ahLst/>
              <a:cxnLst/>
              <a:rect l="l" t="t" r="r" b="b"/>
              <a:pathLst>
                <a:path w="280670" h="239394">
                  <a:moveTo>
                    <a:pt x="0" y="59816"/>
                  </a:moveTo>
                  <a:lnTo>
                    <a:pt x="160781" y="59816"/>
                  </a:lnTo>
                  <a:lnTo>
                    <a:pt x="160781" y="0"/>
                  </a:lnTo>
                  <a:lnTo>
                    <a:pt x="280415" y="119633"/>
                  </a:lnTo>
                  <a:lnTo>
                    <a:pt x="160781" y="239267"/>
                  </a:lnTo>
                  <a:lnTo>
                    <a:pt x="160781" y="179450"/>
                  </a:lnTo>
                  <a:lnTo>
                    <a:pt x="0" y="179450"/>
                  </a:lnTo>
                  <a:lnTo>
                    <a:pt x="0" y="59816"/>
                  </a:lnTo>
                  <a:close/>
                </a:path>
              </a:pathLst>
            </a:custGeom>
            <a:ln w="9144">
              <a:solidFill>
                <a:srgbClr val="49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2960092" y="2478032"/>
            <a:ext cx="340995" cy="0"/>
          </a:xfrm>
          <a:custGeom>
            <a:avLst/>
            <a:gdLst/>
            <a:ahLst/>
            <a:cxnLst/>
            <a:rect l="l" t="t" r="r" b="b"/>
            <a:pathLst>
              <a:path w="340995">
                <a:moveTo>
                  <a:pt x="0" y="0"/>
                </a:moveTo>
                <a:lnTo>
                  <a:pt x="340866" y="0"/>
                </a:lnTo>
              </a:path>
            </a:pathLst>
          </a:custGeom>
          <a:ln w="11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524127" y="2478032"/>
            <a:ext cx="344805" cy="0"/>
          </a:xfrm>
          <a:custGeom>
            <a:avLst/>
            <a:gdLst/>
            <a:ahLst/>
            <a:cxnLst/>
            <a:rect l="l" t="t" r="r" b="b"/>
            <a:pathLst>
              <a:path w="344804">
                <a:moveTo>
                  <a:pt x="0" y="0"/>
                </a:moveTo>
                <a:lnTo>
                  <a:pt x="344531" y="0"/>
                </a:lnTo>
              </a:path>
            </a:pathLst>
          </a:custGeom>
          <a:ln w="118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920264" y="2136406"/>
            <a:ext cx="962025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616585" algn="l"/>
              </a:tabLst>
            </a:pPr>
            <a:r>
              <a:rPr sz="1850" spc="50" dirty="0">
                <a:latin typeface="Symbol"/>
                <a:cs typeface="Symbol"/>
              </a:rPr>
              <a:t></a:t>
            </a:r>
            <a:r>
              <a:rPr sz="1575" spc="75" baseline="44973" dirty="0">
                <a:latin typeface="Times New Roman"/>
                <a:cs typeface="Times New Roman"/>
              </a:rPr>
              <a:t>2</a:t>
            </a:r>
            <a:r>
              <a:rPr sz="1575" spc="-165" baseline="44973" dirty="0">
                <a:latin typeface="Times New Roman"/>
                <a:cs typeface="Times New Roman"/>
              </a:rPr>
              <a:t> </a:t>
            </a:r>
            <a:r>
              <a:rPr sz="1850" i="1" spc="-50" dirty="0">
                <a:latin typeface="Times New Roman"/>
                <a:cs typeface="Times New Roman"/>
              </a:rPr>
              <a:t>I</a:t>
            </a:r>
            <a:r>
              <a:rPr sz="1850" i="1" dirty="0">
                <a:latin typeface="Times New Roman"/>
                <a:cs typeface="Times New Roman"/>
              </a:rPr>
              <a:t>	</a:t>
            </a:r>
            <a:r>
              <a:rPr sz="1850" spc="50" dirty="0">
                <a:latin typeface="Symbol"/>
                <a:cs typeface="Symbol"/>
              </a:rPr>
              <a:t></a:t>
            </a:r>
            <a:r>
              <a:rPr sz="1575" spc="75" baseline="44973" dirty="0">
                <a:latin typeface="Times New Roman"/>
                <a:cs typeface="Times New Roman"/>
              </a:rPr>
              <a:t>2</a:t>
            </a:r>
            <a:r>
              <a:rPr sz="1575" spc="-165" baseline="44973" dirty="0">
                <a:latin typeface="Times New Roman"/>
                <a:cs typeface="Times New Roman"/>
              </a:rPr>
              <a:t> </a:t>
            </a:r>
            <a:r>
              <a:rPr sz="1850" i="1" spc="-50" dirty="0">
                <a:latin typeface="Times New Roman"/>
                <a:cs typeface="Times New Roman"/>
              </a:rPr>
              <a:t>I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01336" y="2286887"/>
            <a:ext cx="1214120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1047115" algn="l"/>
              </a:tabLst>
            </a:pPr>
            <a:r>
              <a:rPr sz="1850" dirty="0">
                <a:latin typeface="Symbol"/>
                <a:cs typeface="Symbol"/>
              </a:rPr>
              <a:t></a:t>
            </a:r>
            <a:r>
              <a:rPr sz="1575" baseline="44973" dirty="0">
                <a:latin typeface="Times New Roman"/>
                <a:cs typeface="Times New Roman"/>
              </a:rPr>
              <a:t>2</a:t>
            </a:r>
            <a:r>
              <a:rPr sz="1575" spc="-157" baseline="44973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I</a:t>
            </a:r>
            <a:r>
              <a:rPr sz="1850" i="1" spc="210" dirty="0">
                <a:latin typeface="Times New Roman"/>
                <a:cs typeface="Times New Roman"/>
              </a:rPr>
              <a:t> </a:t>
            </a:r>
            <a:r>
              <a:rPr sz="1850" spc="-50" dirty="0">
                <a:latin typeface="Symbol"/>
                <a:cs typeface="Symbol"/>
              </a:rPr>
              <a:t>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50" dirty="0">
                <a:latin typeface="Symbol"/>
                <a:cs typeface="Symbol"/>
              </a:rPr>
              <a:t></a:t>
            </a:r>
            <a:endParaRPr sz="185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20265" y="2473389"/>
            <a:ext cx="965835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614680" algn="l"/>
              </a:tabLst>
            </a:pPr>
            <a:r>
              <a:rPr sz="1850" spc="-25" dirty="0">
                <a:latin typeface="Symbol"/>
                <a:cs typeface="Symbol"/>
              </a:rPr>
              <a:t></a:t>
            </a:r>
            <a:r>
              <a:rPr sz="1850" i="1" spc="-25" dirty="0">
                <a:latin typeface="Times New Roman"/>
                <a:cs typeface="Times New Roman"/>
              </a:rPr>
              <a:t>x</a:t>
            </a:r>
            <a:r>
              <a:rPr sz="1575" spc="-37" baseline="44973" dirty="0">
                <a:latin typeface="Times New Roman"/>
                <a:cs typeface="Times New Roman"/>
              </a:rPr>
              <a:t>2</a:t>
            </a:r>
            <a:r>
              <a:rPr sz="1575" baseline="44973" dirty="0">
                <a:latin typeface="Times New Roman"/>
                <a:cs typeface="Times New Roman"/>
              </a:rPr>
              <a:t>	</a:t>
            </a:r>
            <a:r>
              <a:rPr sz="1850" spc="-25" dirty="0">
                <a:latin typeface="Symbol"/>
                <a:cs typeface="Symbol"/>
              </a:rPr>
              <a:t></a:t>
            </a:r>
            <a:r>
              <a:rPr sz="1850" i="1" spc="-25" dirty="0">
                <a:latin typeface="Times New Roman"/>
                <a:cs typeface="Times New Roman"/>
              </a:rPr>
              <a:t>y</a:t>
            </a:r>
            <a:r>
              <a:rPr sz="1575" spc="-37" baseline="44973" dirty="0">
                <a:latin typeface="Times New Roman"/>
                <a:cs typeface="Times New Roman"/>
              </a:rPr>
              <a:t>2</a:t>
            </a:r>
            <a:endParaRPr sz="1575" baseline="44973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80821" y="2209333"/>
            <a:ext cx="294005" cy="311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2775" spc="-37" baseline="-25525" dirty="0">
                <a:latin typeface="Times New Roman"/>
                <a:cs typeface="Times New Roman"/>
              </a:rPr>
              <a:t>1</a:t>
            </a:r>
            <a:r>
              <a:rPr sz="1850" spc="-25" dirty="0">
                <a:latin typeface="Symbol"/>
                <a:cs typeface="Symbol"/>
              </a:rPr>
              <a:t></a:t>
            </a:r>
            <a:endParaRPr sz="18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92508" y="1889165"/>
            <a:ext cx="1607820" cy="110109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695"/>
              </a:spcBef>
              <a:tabLst>
                <a:tab pos="927100" algn="l"/>
                <a:tab pos="1327785" algn="l"/>
              </a:tabLst>
            </a:pPr>
            <a:r>
              <a:rPr sz="2775" spc="-37" baseline="-4504" dirty="0">
                <a:latin typeface="Symbol"/>
                <a:cs typeface="Symbol"/>
              </a:rPr>
              <a:t></a:t>
            </a:r>
            <a:r>
              <a:rPr sz="1850" spc="-25" dirty="0">
                <a:latin typeface="Times New Roman"/>
                <a:cs typeface="Times New Roman"/>
              </a:rPr>
              <a:t>0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50" dirty="0">
                <a:latin typeface="Times New Roman"/>
                <a:cs typeface="Times New Roman"/>
              </a:rPr>
              <a:t>1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25" dirty="0">
                <a:latin typeface="Times New Roman"/>
                <a:cs typeface="Times New Roman"/>
              </a:rPr>
              <a:t>0</a:t>
            </a:r>
            <a:r>
              <a:rPr sz="2775" spc="-37" baseline="-4504" dirty="0">
                <a:latin typeface="Symbol"/>
                <a:cs typeface="Symbol"/>
              </a:rPr>
              <a:t></a:t>
            </a:r>
            <a:endParaRPr sz="2775" baseline="-4504">
              <a:latin typeface="Symbol"/>
              <a:cs typeface="Symbol"/>
            </a:endParaRPr>
          </a:p>
          <a:p>
            <a:pPr marL="76200">
              <a:lnSpc>
                <a:spcPts val="1575"/>
              </a:lnSpc>
              <a:spcBef>
                <a:spcPts val="605"/>
              </a:spcBef>
              <a:tabLst>
                <a:tab pos="867410" algn="l"/>
              </a:tabLst>
            </a:pPr>
            <a:r>
              <a:rPr sz="1850" i="1" dirty="0">
                <a:latin typeface="Times New Roman"/>
                <a:cs typeface="Times New Roman"/>
              </a:rPr>
              <a:t>f</a:t>
            </a:r>
            <a:r>
              <a:rPr sz="1850" i="1" spc="36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2775" spc="-37" baseline="25525" dirty="0">
                <a:latin typeface="Symbol"/>
                <a:cs typeface="Symbol"/>
              </a:rPr>
              <a:t></a:t>
            </a:r>
            <a:r>
              <a:rPr sz="1850" spc="-25" dirty="0">
                <a:latin typeface="Times New Roman"/>
                <a:cs typeface="Times New Roman"/>
              </a:rPr>
              <a:t>1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25" dirty="0">
                <a:latin typeface="Symbol"/>
                <a:cs typeface="Symbol"/>
              </a:rPr>
              <a:t></a:t>
            </a:r>
            <a:r>
              <a:rPr sz="1850" spc="-25" dirty="0">
                <a:latin typeface="Times New Roman"/>
                <a:cs typeface="Times New Roman"/>
              </a:rPr>
              <a:t>4</a:t>
            </a:r>
            <a:endParaRPr sz="1850">
              <a:latin typeface="Times New Roman"/>
              <a:cs typeface="Times New Roman"/>
            </a:endParaRPr>
          </a:p>
          <a:p>
            <a:pPr marL="434340">
              <a:lnSpc>
                <a:spcPts val="1410"/>
              </a:lnSpc>
              <a:tabLst>
                <a:tab pos="1454150" algn="l"/>
              </a:tabLst>
            </a:pPr>
            <a:r>
              <a:rPr sz="1850" spc="-50" dirty="0">
                <a:latin typeface="Symbol"/>
                <a:cs typeface="Symbol"/>
              </a:rPr>
              <a:t>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50" dirty="0">
                <a:latin typeface="Symbol"/>
                <a:cs typeface="Symbol"/>
              </a:rPr>
              <a:t></a:t>
            </a:r>
            <a:endParaRPr sz="1850">
              <a:latin typeface="Symbol"/>
              <a:cs typeface="Symbol"/>
            </a:endParaRPr>
          </a:p>
          <a:p>
            <a:pPr marL="434340">
              <a:lnSpc>
                <a:spcPts val="2055"/>
              </a:lnSpc>
              <a:tabLst>
                <a:tab pos="927100" algn="l"/>
                <a:tab pos="1327785" algn="l"/>
              </a:tabLst>
            </a:pPr>
            <a:r>
              <a:rPr sz="2775" spc="-37" baseline="3003" dirty="0">
                <a:latin typeface="Symbol"/>
                <a:cs typeface="Symbol"/>
              </a:rPr>
              <a:t></a:t>
            </a:r>
            <a:r>
              <a:rPr sz="2775" spc="-37" baseline="-15015" dirty="0">
                <a:latin typeface="Symbol"/>
                <a:cs typeface="Symbol"/>
              </a:rPr>
              <a:t></a:t>
            </a:r>
            <a:r>
              <a:rPr sz="1850" spc="-25" dirty="0">
                <a:latin typeface="Times New Roman"/>
                <a:cs typeface="Times New Roman"/>
              </a:rPr>
              <a:t>0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50" dirty="0">
                <a:latin typeface="Times New Roman"/>
                <a:cs typeface="Times New Roman"/>
              </a:rPr>
              <a:t>1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65" dirty="0">
                <a:latin typeface="Times New Roman"/>
                <a:cs typeface="Times New Roman"/>
              </a:rPr>
              <a:t>0</a:t>
            </a:r>
            <a:r>
              <a:rPr sz="2775" spc="-97" baseline="3003" dirty="0">
                <a:latin typeface="Symbol"/>
                <a:cs typeface="Symbol"/>
              </a:rPr>
              <a:t></a:t>
            </a:r>
            <a:r>
              <a:rPr sz="2775" spc="-97" baseline="-15015" dirty="0">
                <a:latin typeface="Symbol"/>
                <a:cs typeface="Symbol"/>
              </a:rPr>
              <a:t></a:t>
            </a:r>
            <a:endParaRPr sz="2775" baseline="-15015">
              <a:latin typeface="Symbol"/>
              <a:cs typeface="Symbo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63267" y="3590544"/>
            <a:ext cx="2676144" cy="154838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92623" y="3572255"/>
            <a:ext cx="2676144" cy="1527047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417445" y="5128640"/>
            <a:ext cx="12998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Imagen</a:t>
            </a:r>
            <a:r>
              <a:rPr sz="1600" spc="-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original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20" name="object 20"/>
          <p:cNvSpPr txBox="1"/>
          <p:nvPr/>
        </p:nvSpPr>
        <p:spPr>
          <a:xfrm>
            <a:off x="5854446" y="5108828"/>
            <a:ext cx="90296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Laplaciano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367778" y="2226310"/>
            <a:ext cx="1181100" cy="45465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 marR="5080" indent="-38100">
              <a:lnSpc>
                <a:spcPct val="100699"/>
              </a:lnSpc>
              <a:spcBef>
                <a:spcPts val="90"/>
              </a:spcBef>
            </a:pP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Existen</a:t>
            </a:r>
            <a:r>
              <a:rPr sz="14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también </a:t>
            </a:r>
            <a:r>
              <a:rPr sz="1400" dirty="0">
                <a:solidFill>
                  <a:srgbClr val="7E7E7E"/>
                </a:solidFill>
                <a:latin typeface="Calibri"/>
                <a:cs typeface="Calibri"/>
              </a:rPr>
              <a:t>otras</a:t>
            </a:r>
            <a:r>
              <a:rPr sz="1400" spc="-5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7E7E7E"/>
                </a:solidFill>
                <a:latin typeface="Calibri"/>
                <a:cs typeface="Calibri"/>
              </a:rPr>
              <a:t>máscaras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23" name="Picture 4">
            <a:extLst>
              <a:ext uri="{FF2B5EF4-FFF2-40B4-BE49-F238E27FC236}">
                <a16:creationId xmlns:a16="http://schemas.microsoft.com/office/drawing/2014/main" id="{BF5F2D7B-D0EA-B203-EB08-0B6F07EA2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6" descr="Ingeniería de Sistemas - UNCP">
            <a:extLst>
              <a:ext uri="{FF2B5EF4-FFF2-40B4-BE49-F238E27FC236}">
                <a16:creationId xmlns:a16="http://schemas.microsoft.com/office/drawing/2014/main" id="{5088F912-D603-7E97-2530-48AAF296C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11350">
              <a:lnSpc>
                <a:spcPct val="100000"/>
              </a:lnSpc>
              <a:spcBef>
                <a:spcPts val="100"/>
              </a:spcBef>
            </a:pPr>
            <a:r>
              <a:rPr dirty="0"/>
              <a:t>Filtros</a:t>
            </a:r>
            <a:r>
              <a:rPr spc="-110" dirty="0"/>
              <a:t> </a:t>
            </a:r>
            <a:r>
              <a:rPr spc="-10" dirty="0"/>
              <a:t>Lineales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7123430" cy="32594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1201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Aplicación:</a:t>
            </a:r>
            <a:r>
              <a:rPr sz="2400" b="1" spc="-8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Detección</a:t>
            </a:r>
            <a:r>
              <a:rPr sz="2400" b="1" spc="-7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de</a:t>
            </a:r>
            <a:r>
              <a:rPr sz="2400" b="1" spc="-5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Bordes</a:t>
            </a:r>
            <a:endParaRPr sz="24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spcBef>
                <a:spcPts val="281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dirty="0">
                <a:solidFill>
                  <a:srgbClr val="6F2F9F"/>
                </a:solidFill>
                <a:latin typeface="Calibri"/>
                <a:cs typeface="Calibri"/>
              </a:rPr>
              <a:t>Objetivo:</a:t>
            </a:r>
            <a:r>
              <a:rPr sz="2000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Identificar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cambios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bruscos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(discontinuidades)</a:t>
            </a:r>
            <a:r>
              <a:rPr sz="16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imagen</a:t>
            </a:r>
            <a:endParaRPr sz="18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44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2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Mucha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información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encuentra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bordes</a:t>
            </a:r>
            <a:endParaRPr sz="18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spcBef>
                <a:spcPts val="198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Detector</a:t>
            </a:r>
            <a:r>
              <a:rPr sz="2000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000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bordes</a:t>
            </a:r>
            <a:r>
              <a:rPr sz="2000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000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00AF50"/>
                </a:solidFill>
                <a:latin typeface="Calibri"/>
                <a:cs typeface="Calibri"/>
              </a:rPr>
              <a:t>Canny</a:t>
            </a:r>
            <a:endParaRPr sz="2000">
              <a:latin typeface="Calibri"/>
              <a:cs typeface="Calibri"/>
            </a:endParaRPr>
          </a:p>
          <a:p>
            <a:pPr marL="736600" lvl="1" indent="-273050">
              <a:lnSpc>
                <a:spcPct val="100000"/>
              </a:lnSpc>
              <a:spcBef>
                <a:spcPts val="440"/>
              </a:spcBef>
              <a:buAutoNum type="arabicPeriod"/>
              <a:tabLst>
                <a:tab pos="736600" algn="l"/>
              </a:tabLst>
            </a:pPr>
            <a:r>
              <a:rPr sz="1800" dirty="0">
                <a:latin typeface="Calibri"/>
                <a:cs typeface="Calibri"/>
              </a:rPr>
              <a:t>Suavizado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imagen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(con</a:t>
            </a:r>
            <a:r>
              <a:rPr sz="1600" spc="-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un</a:t>
            </a:r>
            <a:r>
              <a:rPr sz="16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filtro</a:t>
            </a:r>
            <a:r>
              <a:rPr sz="1600" spc="-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Gaussiano)</a:t>
            </a:r>
            <a:endParaRPr sz="1600">
              <a:latin typeface="Calibri"/>
              <a:cs typeface="Calibri"/>
            </a:endParaRPr>
          </a:p>
          <a:p>
            <a:pPr marL="736600" lvl="1" indent="-273050">
              <a:lnSpc>
                <a:spcPct val="100000"/>
              </a:lnSpc>
              <a:spcBef>
                <a:spcPts val="450"/>
              </a:spcBef>
              <a:buAutoNum type="arabicPeriod"/>
              <a:tabLst>
                <a:tab pos="736600" algn="l"/>
              </a:tabLst>
            </a:pPr>
            <a:r>
              <a:rPr sz="1800" dirty="0">
                <a:latin typeface="Calibri"/>
                <a:cs typeface="Calibri"/>
              </a:rPr>
              <a:t>Cálculo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magnitud </a:t>
            </a:r>
            <a:r>
              <a:rPr sz="1800" dirty="0">
                <a:latin typeface="Cambria Math"/>
                <a:cs typeface="Cambria Math"/>
              </a:rPr>
              <a:t>|𝛻𝐼|</a:t>
            </a:r>
            <a:r>
              <a:rPr sz="1800" spc="-15" dirty="0">
                <a:latin typeface="Cambria Math"/>
                <a:cs typeface="Cambria Math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dirección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mbria Math"/>
                <a:cs typeface="Cambria Math"/>
              </a:rPr>
              <a:t>∠𝐼</a:t>
            </a:r>
            <a:r>
              <a:rPr sz="1800" spc="55" dirty="0">
                <a:latin typeface="Cambria Math"/>
                <a:cs typeface="Cambria Math"/>
              </a:rPr>
              <a:t>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gradiente</a:t>
            </a:r>
            <a:endParaRPr sz="1800">
              <a:latin typeface="Calibri"/>
              <a:cs typeface="Calibri"/>
            </a:endParaRPr>
          </a:p>
          <a:p>
            <a:pPr marL="736600" lvl="1" indent="-273050">
              <a:lnSpc>
                <a:spcPct val="100000"/>
              </a:lnSpc>
              <a:spcBef>
                <a:spcPts val="415"/>
              </a:spcBef>
              <a:buAutoNum type="arabicPeriod"/>
              <a:tabLst>
                <a:tab pos="736600" algn="l"/>
              </a:tabLst>
            </a:pPr>
            <a:r>
              <a:rPr sz="1800" dirty="0">
                <a:latin typeface="Calibri"/>
                <a:cs typeface="Calibri"/>
              </a:rPr>
              <a:t>Supresión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máximos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largo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gradiente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(crea</a:t>
            </a:r>
            <a:r>
              <a:rPr sz="1600" spc="-2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líneas</a:t>
            </a:r>
            <a:r>
              <a:rPr sz="1600" spc="-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finas)</a:t>
            </a:r>
            <a:endParaRPr sz="1600">
              <a:latin typeface="Calibri"/>
              <a:cs typeface="Calibri"/>
            </a:endParaRPr>
          </a:p>
          <a:p>
            <a:pPr marL="736600" lvl="1" indent="-273050">
              <a:lnSpc>
                <a:spcPct val="100000"/>
              </a:lnSpc>
              <a:spcBef>
                <a:spcPts val="434"/>
              </a:spcBef>
              <a:buAutoNum type="arabicPeriod"/>
              <a:tabLst>
                <a:tab pos="736600" algn="l"/>
              </a:tabLst>
            </a:pPr>
            <a:r>
              <a:rPr sz="1800" dirty="0">
                <a:latin typeface="Calibri"/>
                <a:cs typeface="Calibri"/>
              </a:rPr>
              <a:t>Aplicación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histéresis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(doble</a:t>
            </a:r>
            <a:r>
              <a:rPr sz="1600" spc="-3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umbral)</a:t>
            </a:r>
            <a:r>
              <a:rPr sz="1600" spc="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análisis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conectividad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1975" y="4373879"/>
            <a:ext cx="6669024" cy="218236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98AE9191-B4B9-6A9A-6FF4-1114AB92CB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Ingeniería de Sistemas - UNCP">
            <a:extLst>
              <a:ext uri="{FF2B5EF4-FFF2-40B4-BE49-F238E27FC236}">
                <a16:creationId xmlns:a16="http://schemas.microsoft.com/office/drawing/2014/main" id="{3749BAE2-741A-DE34-CB70-FA8A379E69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11350">
              <a:lnSpc>
                <a:spcPct val="100000"/>
              </a:lnSpc>
              <a:spcBef>
                <a:spcPts val="100"/>
              </a:spcBef>
            </a:pPr>
            <a:r>
              <a:rPr dirty="0"/>
              <a:t>Filtros</a:t>
            </a:r>
            <a:r>
              <a:rPr spc="-110" dirty="0"/>
              <a:t> </a:t>
            </a:r>
            <a:r>
              <a:rPr spc="-10" dirty="0"/>
              <a:t>Lineales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794" y="922782"/>
            <a:ext cx="6718934" cy="1384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455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Aplicación:</a:t>
            </a:r>
            <a:r>
              <a:rPr sz="2400" b="1" spc="-8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Detección</a:t>
            </a:r>
            <a:r>
              <a:rPr sz="2400" b="1" spc="-70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2092FA"/>
                </a:solidFill>
                <a:latin typeface="Calibri"/>
                <a:cs typeface="Calibri"/>
              </a:rPr>
              <a:t>de</a:t>
            </a:r>
            <a:r>
              <a:rPr sz="2400" b="1" spc="-55" dirty="0">
                <a:solidFill>
                  <a:srgbClr val="2092FA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2092FA"/>
                </a:solidFill>
                <a:latin typeface="Calibri"/>
                <a:cs typeface="Calibri"/>
              </a:rPr>
              <a:t>Líneas</a:t>
            </a:r>
            <a:endParaRPr sz="2400">
              <a:latin typeface="Calibri"/>
              <a:cs typeface="Calibri"/>
            </a:endParaRPr>
          </a:p>
          <a:p>
            <a:pPr marL="207645" indent="-194945">
              <a:lnSpc>
                <a:spcPct val="100000"/>
              </a:lnSpc>
              <a:spcBef>
                <a:spcPts val="2815"/>
              </a:spcBef>
              <a:buFont typeface="Arial MT"/>
              <a:buChar char="•"/>
              <a:tabLst>
                <a:tab pos="207645" algn="l"/>
              </a:tabLst>
            </a:pPr>
            <a:r>
              <a:rPr sz="2000" spc="-25" dirty="0">
                <a:solidFill>
                  <a:srgbClr val="00AF50"/>
                </a:solidFill>
                <a:latin typeface="Calibri"/>
                <a:cs typeface="Calibri"/>
              </a:rPr>
              <a:t>Transformada</a:t>
            </a: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AF50"/>
                </a:solidFill>
                <a:latin typeface="Calibri"/>
                <a:cs typeface="Calibri"/>
              </a:rPr>
              <a:t>de</a:t>
            </a:r>
            <a:r>
              <a:rPr sz="2000" spc="-1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Calibri"/>
                <a:cs typeface="Calibri"/>
              </a:rPr>
              <a:t>Hough</a:t>
            </a:r>
            <a:endParaRPr sz="2000">
              <a:latin typeface="Calibri"/>
              <a:cs typeface="Calibri"/>
            </a:endParaRPr>
          </a:p>
          <a:p>
            <a:pPr marL="228600">
              <a:lnSpc>
                <a:spcPct val="100000"/>
              </a:lnSpc>
              <a:spcBef>
                <a:spcPts val="440"/>
              </a:spcBef>
            </a:pPr>
            <a:r>
              <a:rPr sz="1800" dirty="0">
                <a:latin typeface="Calibri"/>
                <a:cs typeface="Calibri"/>
              </a:rPr>
              <a:t>-</a:t>
            </a:r>
            <a:r>
              <a:rPr sz="1800" spc="2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utiliza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detectar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líneas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(u</a:t>
            </a:r>
            <a:r>
              <a:rPr sz="16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otras</a:t>
            </a:r>
            <a:r>
              <a:rPr sz="1600" spc="-3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formas</a:t>
            </a:r>
            <a:r>
              <a:rPr sz="16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geométricas</a:t>
            </a:r>
            <a:r>
              <a:rPr sz="16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como</a:t>
            </a:r>
            <a:r>
              <a:rPr sz="1600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círculos)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6732" y="5158740"/>
            <a:ext cx="1859280" cy="140055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27380" y="5464251"/>
            <a:ext cx="1157605" cy="1065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Transformada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Calibri"/>
                <a:cs typeface="Calibri"/>
              </a:rPr>
              <a:t>de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Hough</a:t>
            </a:r>
            <a:endParaRPr sz="1600">
              <a:latin typeface="Calibri"/>
              <a:cs typeface="Calibri"/>
            </a:endParaRPr>
          </a:p>
          <a:p>
            <a:pPr marL="50800" marR="43815" indent="-1270" algn="ctr">
              <a:lnSpc>
                <a:spcPct val="100000"/>
              </a:lnSpc>
              <a:spcBef>
                <a:spcPts val="25"/>
              </a:spcBef>
            </a:pPr>
            <a:r>
              <a:rPr sz="1200" spc="-10" dirty="0">
                <a:solidFill>
                  <a:srgbClr val="7E7E7E"/>
                </a:solidFill>
                <a:latin typeface="Calibri"/>
                <a:cs typeface="Calibri"/>
              </a:rPr>
              <a:t>(acumuladores brillantes</a:t>
            </a:r>
            <a:r>
              <a:rPr sz="1200" spc="1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7E7E7E"/>
                </a:solidFill>
                <a:latin typeface="Calibri"/>
                <a:cs typeface="Calibri"/>
              </a:rPr>
              <a:t>indican líneas)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49239" y="4414520"/>
            <a:ext cx="13112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Líneas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detectadas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3311" y="2532948"/>
            <a:ext cx="2722464" cy="179295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35879" y="4849367"/>
            <a:ext cx="2735579" cy="180289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26735" y="2528316"/>
            <a:ext cx="2735580" cy="180136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973707" y="4314825"/>
            <a:ext cx="11595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Salida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Canny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2DB25B2F-4D25-FCF1-C460-403C6E273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Ingeniería de Sistemas - UNCP">
            <a:extLst>
              <a:ext uri="{FF2B5EF4-FFF2-40B4-BE49-F238E27FC236}">
                <a16:creationId xmlns:a16="http://schemas.microsoft.com/office/drawing/2014/main" id="{DBB1A5BC-07FB-5730-E70A-7344BEB1C7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</a:tabLst>
            </a:pPr>
            <a:r>
              <a:rPr dirty="0"/>
              <a:t>R.</a:t>
            </a:r>
            <a:r>
              <a:rPr spc="-55" dirty="0"/>
              <a:t> </a:t>
            </a:r>
            <a:r>
              <a:rPr dirty="0"/>
              <a:t>Gonzales,</a:t>
            </a:r>
            <a:r>
              <a:rPr spc="-30" dirty="0"/>
              <a:t> </a:t>
            </a:r>
            <a:r>
              <a:rPr dirty="0"/>
              <a:t>R.</a:t>
            </a:r>
            <a:r>
              <a:rPr spc="-55" dirty="0"/>
              <a:t> </a:t>
            </a:r>
            <a:r>
              <a:rPr spc="-10" dirty="0"/>
              <a:t>Woods,</a:t>
            </a:r>
            <a:r>
              <a:rPr spc="-65" dirty="0"/>
              <a:t> </a:t>
            </a:r>
            <a:r>
              <a:rPr i="1" dirty="0">
                <a:latin typeface="Calibri"/>
                <a:cs typeface="Calibri"/>
              </a:rPr>
              <a:t>Digital</a:t>
            </a:r>
            <a:r>
              <a:rPr i="1" spc="-4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Image</a:t>
            </a:r>
            <a:r>
              <a:rPr i="1" spc="-5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Processing</a:t>
            </a:r>
            <a:r>
              <a:rPr dirty="0"/>
              <a:t>.</a:t>
            </a:r>
            <a:r>
              <a:rPr spc="-55" dirty="0"/>
              <a:t> </a:t>
            </a:r>
            <a:r>
              <a:rPr spc="-10" dirty="0"/>
              <a:t>Pearson</a:t>
            </a:r>
            <a:r>
              <a:rPr spc="-30" dirty="0"/>
              <a:t> </a:t>
            </a:r>
            <a:r>
              <a:rPr dirty="0"/>
              <a:t>Edition,</a:t>
            </a:r>
            <a:r>
              <a:rPr spc="-45" dirty="0"/>
              <a:t> </a:t>
            </a:r>
            <a:r>
              <a:rPr spc="-20" dirty="0"/>
              <a:t>2017</a:t>
            </a: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30859C"/>
              </a:buClr>
              <a:buFont typeface="Calibri"/>
              <a:buChar char="•"/>
            </a:pPr>
            <a:endParaRPr spc="-20" dirty="0"/>
          </a:p>
          <a:p>
            <a:pPr marL="354965" marR="5080" indent="-342900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dirty="0"/>
              <a:t>E.</a:t>
            </a:r>
            <a:r>
              <a:rPr spc="-55" dirty="0"/>
              <a:t> </a:t>
            </a:r>
            <a:r>
              <a:rPr spc="-20" dirty="0"/>
              <a:t>Trucco,</a:t>
            </a:r>
            <a:r>
              <a:rPr spc="-50" dirty="0"/>
              <a:t> </a:t>
            </a:r>
            <a:r>
              <a:rPr dirty="0"/>
              <a:t>A.</a:t>
            </a:r>
            <a:r>
              <a:rPr spc="-35" dirty="0"/>
              <a:t> </a:t>
            </a:r>
            <a:r>
              <a:rPr spc="-10" dirty="0"/>
              <a:t>Verri,</a:t>
            </a:r>
            <a:r>
              <a:rPr spc="-20" dirty="0"/>
              <a:t> </a:t>
            </a:r>
            <a:r>
              <a:rPr i="1" dirty="0">
                <a:latin typeface="Calibri"/>
                <a:cs typeface="Calibri"/>
              </a:rPr>
              <a:t>Introductory</a:t>
            </a:r>
            <a:r>
              <a:rPr i="1" spc="-35" dirty="0">
                <a:latin typeface="Calibri"/>
                <a:cs typeface="Calibri"/>
              </a:rPr>
              <a:t> </a:t>
            </a:r>
            <a:r>
              <a:rPr i="1" spc="-20" dirty="0">
                <a:latin typeface="Calibri"/>
                <a:cs typeface="Calibri"/>
              </a:rPr>
              <a:t>Techniques</a:t>
            </a:r>
            <a:r>
              <a:rPr i="1" spc="-7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for</a:t>
            </a:r>
            <a:r>
              <a:rPr i="1" spc="-35" dirty="0">
                <a:latin typeface="Calibri"/>
                <a:cs typeface="Calibri"/>
              </a:rPr>
              <a:t> </a:t>
            </a:r>
            <a:r>
              <a:rPr i="1" spc="-20" dirty="0">
                <a:latin typeface="Calibri"/>
                <a:cs typeface="Calibri"/>
              </a:rPr>
              <a:t>3-</a:t>
            </a:r>
            <a:r>
              <a:rPr i="1" dirty="0">
                <a:latin typeface="Calibri"/>
                <a:cs typeface="Calibri"/>
              </a:rPr>
              <a:t>D</a:t>
            </a:r>
            <a:r>
              <a:rPr i="1" spc="-5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Computer</a:t>
            </a:r>
            <a:r>
              <a:rPr i="1" spc="-4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Vision</a:t>
            </a:r>
            <a:r>
              <a:rPr dirty="0"/>
              <a:t>.</a:t>
            </a:r>
            <a:r>
              <a:rPr spc="-50" dirty="0"/>
              <a:t> </a:t>
            </a:r>
            <a:r>
              <a:rPr spc="-10" dirty="0"/>
              <a:t>Prentice </a:t>
            </a:r>
            <a:r>
              <a:rPr dirty="0"/>
              <a:t>Hall,</a:t>
            </a:r>
            <a:r>
              <a:rPr spc="-15" dirty="0"/>
              <a:t> </a:t>
            </a:r>
            <a:r>
              <a:rPr dirty="0"/>
              <a:t>1998.</a:t>
            </a:r>
            <a:r>
              <a:rPr spc="-75" dirty="0"/>
              <a:t> </a:t>
            </a:r>
            <a:r>
              <a:rPr dirty="0">
                <a:solidFill>
                  <a:srgbClr val="7E7E7E"/>
                </a:solidFill>
              </a:rPr>
              <a:t>(</a:t>
            </a:r>
            <a:r>
              <a:rPr sz="1800" i="1" dirty="0">
                <a:solidFill>
                  <a:srgbClr val="7E7E7E"/>
                </a:solidFill>
                <a:latin typeface="Calibri"/>
                <a:cs typeface="Calibri"/>
              </a:rPr>
              <a:t>Capítulos</a:t>
            </a:r>
            <a:r>
              <a:rPr sz="1800" i="1" spc="-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7E7E7E"/>
                </a:solidFill>
                <a:latin typeface="Calibri"/>
                <a:cs typeface="Calibri"/>
              </a:rPr>
              <a:t>3-</a:t>
            </a:r>
            <a:r>
              <a:rPr sz="1800" i="1" spc="-25" dirty="0">
                <a:solidFill>
                  <a:srgbClr val="7E7E7E"/>
                </a:solidFill>
                <a:latin typeface="Calibri"/>
                <a:cs typeface="Calibri"/>
              </a:rPr>
              <a:t>5</a:t>
            </a:r>
            <a:r>
              <a:rPr spc="-25" dirty="0">
                <a:solidFill>
                  <a:srgbClr val="7E7E7E"/>
                </a:solidFill>
              </a:rPr>
              <a:t>)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30859C"/>
              </a:buClr>
              <a:buFont typeface="Calibri"/>
              <a:buChar char="•"/>
            </a:pP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dirty="0"/>
              <a:t>D.</a:t>
            </a:r>
            <a:r>
              <a:rPr spc="-55" dirty="0"/>
              <a:t> </a:t>
            </a:r>
            <a:r>
              <a:rPr spc="-10" dirty="0"/>
              <a:t>Forsyth,</a:t>
            </a:r>
            <a:r>
              <a:rPr spc="-45" dirty="0"/>
              <a:t> </a:t>
            </a:r>
            <a:r>
              <a:rPr dirty="0"/>
              <a:t>J.</a:t>
            </a:r>
            <a:r>
              <a:rPr spc="-40" dirty="0"/>
              <a:t> </a:t>
            </a:r>
            <a:r>
              <a:rPr dirty="0"/>
              <a:t>Ponce:</a:t>
            </a:r>
            <a:r>
              <a:rPr spc="-35" dirty="0"/>
              <a:t> </a:t>
            </a:r>
            <a:r>
              <a:rPr i="1" dirty="0">
                <a:latin typeface="Calibri"/>
                <a:cs typeface="Calibri"/>
              </a:rPr>
              <a:t>Computer</a:t>
            </a:r>
            <a:r>
              <a:rPr i="1" spc="-5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Vision,</a:t>
            </a:r>
            <a:r>
              <a:rPr i="1" spc="-2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A</a:t>
            </a:r>
            <a:r>
              <a:rPr i="1" spc="-35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Modern</a:t>
            </a:r>
            <a:r>
              <a:rPr i="1" spc="-70" dirty="0">
                <a:latin typeface="Calibri"/>
                <a:cs typeface="Calibri"/>
              </a:rPr>
              <a:t> </a:t>
            </a:r>
            <a:r>
              <a:rPr i="1" dirty="0">
                <a:latin typeface="Calibri"/>
                <a:cs typeface="Calibri"/>
              </a:rPr>
              <a:t>Approach</a:t>
            </a:r>
            <a:r>
              <a:rPr dirty="0"/>
              <a:t>,</a:t>
            </a:r>
            <a:r>
              <a:rPr spc="-60" dirty="0"/>
              <a:t> </a:t>
            </a:r>
            <a:r>
              <a:rPr spc="-10" dirty="0"/>
              <a:t>Pearson</a:t>
            </a:r>
          </a:p>
          <a:p>
            <a:pPr marL="354965">
              <a:lnSpc>
                <a:spcPct val="100000"/>
              </a:lnSpc>
            </a:pPr>
            <a:r>
              <a:rPr dirty="0"/>
              <a:t>Education,</a:t>
            </a:r>
            <a:r>
              <a:rPr spc="-50" dirty="0"/>
              <a:t> </a:t>
            </a:r>
            <a:r>
              <a:rPr dirty="0"/>
              <a:t>NJ</a:t>
            </a:r>
            <a:r>
              <a:rPr spc="-35" dirty="0"/>
              <a:t> </a:t>
            </a:r>
            <a:r>
              <a:rPr dirty="0"/>
              <a:t>2012</a:t>
            </a:r>
            <a:r>
              <a:rPr spc="-50" dirty="0"/>
              <a:t> </a:t>
            </a:r>
            <a:r>
              <a:rPr dirty="0">
                <a:solidFill>
                  <a:srgbClr val="7E7E7E"/>
                </a:solidFill>
              </a:rPr>
              <a:t>(</a:t>
            </a:r>
            <a:r>
              <a:rPr i="1" dirty="0">
                <a:solidFill>
                  <a:srgbClr val="7E7E7E"/>
                </a:solidFill>
                <a:latin typeface="Calibri"/>
                <a:cs typeface="Calibri"/>
              </a:rPr>
              <a:t>Capítulo</a:t>
            </a:r>
            <a:r>
              <a:rPr i="1" spc="4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pc="-25" dirty="0">
                <a:solidFill>
                  <a:srgbClr val="7E7E7E"/>
                </a:solidFill>
              </a:rPr>
              <a:t>5)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39134" y="820039"/>
            <a:ext cx="166560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0" dirty="0">
                <a:solidFill>
                  <a:srgbClr val="C00000"/>
                </a:solidFill>
              </a:rPr>
              <a:t>Referencias</a:t>
            </a:r>
            <a:endParaRPr sz="2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1AB18A-017C-8DC8-BC6C-4C48A2A26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Ingeniería de Sistemas - UNCP">
            <a:extLst>
              <a:ext uri="{FF2B5EF4-FFF2-40B4-BE49-F238E27FC236}">
                <a16:creationId xmlns:a16="http://schemas.microsoft.com/office/drawing/2014/main" id="{2E7BF903-ECFE-AA11-6CA9-2117A14CE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2081</Words>
  <Application>Microsoft Office PowerPoint</Application>
  <PresentationFormat>Presentación en pantalla (4:3)</PresentationFormat>
  <Paragraphs>414</Paragraphs>
  <Slides>33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40" baseType="lpstr">
      <vt:lpstr>Arial MT</vt:lpstr>
      <vt:lpstr>Calibri</vt:lpstr>
      <vt:lpstr>Cambria Math</vt:lpstr>
      <vt:lpstr>Comic Sans MS</vt:lpstr>
      <vt:lpstr>Symbol</vt:lpstr>
      <vt:lpstr>Times New Roman</vt:lpstr>
      <vt:lpstr>Office Theme</vt:lpstr>
      <vt:lpstr>Presentación de PowerPoint</vt:lpstr>
      <vt:lpstr>AVISO LEGAL</vt:lpstr>
      <vt:lpstr>Temas</vt:lpstr>
      <vt:lpstr>¿Qué “ve” una cámara?</vt:lpstr>
      <vt:lpstr>Problema de la Visión Computacional</vt:lpstr>
      <vt:lpstr>Tipos de Imágenes</vt:lpstr>
      <vt:lpstr>Tipos de Imágenes</vt:lpstr>
      <vt:lpstr>Temas</vt:lpstr>
      <vt:lpstr>Histograma</vt:lpstr>
      <vt:lpstr>Histograma</vt:lpstr>
      <vt:lpstr>Thresholding</vt:lpstr>
      <vt:lpstr>Thresholding</vt:lpstr>
      <vt:lpstr>Operaciones Morfológicas</vt:lpstr>
      <vt:lpstr>Operaciones Morfológicas</vt:lpstr>
      <vt:lpstr>Operaciones Morfológicas</vt:lpstr>
      <vt:lpstr>Transformaciones Espaciales Afines</vt:lpstr>
      <vt:lpstr>Modelos de Color</vt:lpstr>
      <vt:lpstr>Modelos de Color</vt:lpstr>
      <vt:lpstr>Modelos de Color</vt:lpstr>
      <vt:lpstr>Temas</vt:lpstr>
      <vt:lpstr>Filtros Lineales</vt:lpstr>
      <vt:lpstr>Presentación de PowerPoint</vt:lpstr>
      <vt:lpstr>Filtros Lineales</vt:lpstr>
      <vt:lpstr>Filtros Lineales</vt:lpstr>
      <vt:lpstr>Filtros Lineales</vt:lpstr>
      <vt:lpstr>Filtros Lineales</vt:lpstr>
      <vt:lpstr>Filtros Lineales</vt:lpstr>
      <vt:lpstr>Filtros Lineales</vt:lpstr>
      <vt:lpstr>Filtros Lineales</vt:lpstr>
      <vt:lpstr>Filtros Lineales</vt:lpstr>
      <vt:lpstr>Filtros Lineales</vt:lpstr>
      <vt:lpstr>Filtros Lineales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JAIME ANTONIO HUAYTALLA PARIONA</cp:lastModifiedBy>
  <cp:revision>6</cp:revision>
  <dcterms:created xsi:type="dcterms:W3CDTF">2024-05-21T21:09:24Z</dcterms:created>
  <dcterms:modified xsi:type="dcterms:W3CDTF">2025-04-24T17:30:56Z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2024-04-12T00:00:00Z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2024-05-21T00:00:00Z</vt:filetime>
  </property>
  <property fmtid="{D5CDD505-2E9C-101B-9397-08002B2CF9AE}" pid="5" name="Producer">
    <vt:lpwstr>Microsoft® PowerPoint® 2019</vt:lpwstr>
  </property>
</Properties>
</file>