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733" y="6513986"/>
            <a:ext cx="1202266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06" y="120005"/>
            <a:ext cx="1040821" cy="49760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6368" y="341196"/>
            <a:ext cx="3829249" cy="2419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6344" y="213372"/>
            <a:ext cx="820674" cy="51586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8408" y="213372"/>
            <a:ext cx="384822" cy="51586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74608" y="213372"/>
            <a:ext cx="436625" cy="5158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58086" y="2692260"/>
            <a:ext cx="5227827" cy="111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1733" y="6513986"/>
            <a:ext cx="1202266" cy="3440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06" y="120005"/>
            <a:ext cx="1040821" cy="4976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6812" y="304926"/>
            <a:ext cx="4770374" cy="45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3419932"/>
            <a:ext cx="7837170" cy="2609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6975" y="6651686"/>
            <a:ext cx="229234" cy="168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ctrTitle"/>
          </p:nvPr>
        </p:nvSpPr>
        <p:spPr>
          <a:xfrm>
            <a:off x="1958086" y="2692260"/>
            <a:ext cx="5227827" cy="670696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560"/>
              </a:spcBef>
            </a:pPr>
            <a:r>
              <a:rPr sz="4000" dirty="0">
                <a:solidFill>
                  <a:srgbClr val="000000"/>
                </a:solidFill>
              </a:rPr>
              <a:t>Redes</a:t>
            </a:r>
            <a:r>
              <a:rPr sz="4000" spc="-3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Neuronales</a:t>
            </a:r>
            <a:r>
              <a:rPr sz="4000" spc="-45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(II)</a:t>
            </a:r>
            <a:endParaRPr sz="40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4C4033-B1BD-90A2-8D69-F909C76C8675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0C3BD6FC-46A6-1CFE-3D5A-DD821DC56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35AB511C-9547-82A0-3E7D-BC94B4A8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74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2128"/>
            <a:ext cx="6484620" cy="13811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58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¿Qué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Deep</a:t>
            </a:r>
            <a:r>
              <a:rPr sz="2000" spc="-10" dirty="0">
                <a:latin typeface="Arial MT"/>
                <a:cs typeface="Arial MT"/>
              </a:rPr>
              <a:t> Learning?</a:t>
            </a:r>
            <a:endParaRPr sz="20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4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Red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ocultas</a:t>
            </a:r>
            <a:endParaRPr sz="18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Las capas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ocultas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“identificación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características”</a:t>
            </a:r>
            <a:endParaRPr sz="18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Solo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funciona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bien si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muchos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datos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2820680"/>
            <a:ext cx="7086600" cy="34155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74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4483"/>
            <a:ext cx="23310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Deep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Learning: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dirty="0"/>
              <a:t>Cada</a:t>
            </a:r>
            <a:r>
              <a:rPr spc="-50" dirty="0"/>
              <a:t> </a:t>
            </a:r>
            <a:r>
              <a:rPr dirty="0"/>
              <a:t>parte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una</a:t>
            </a:r>
            <a:r>
              <a:rPr spc="-50" dirty="0"/>
              <a:t> </a:t>
            </a:r>
            <a:r>
              <a:rPr dirty="0"/>
              <a:t>red</a:t>
            </a:r>
            <a:r>
              <a:rPr spc="-70" dirty="0"/>
              <a:t> </a:t>
            </a:r>
            <a:r>
              <a:rPr dirty="0"/>
              <a:t>neuronal</a:t>
            </a:r>
            <a:r>
              <a:rPr spc="-30" dirty="0"/>
              <a:t> </a:t>
            </a:r>
            <a:r>
              <a:rPr dirty="0"/>
              <a:t>profunda</a:t>
            </a:r>
            <a:r>
              <a:rPr spc="-50" dirty="0"/>
              <a:t> </a:t>
            </a:r>
            <a:r>
              <a:rPr dirty="0"/>
              <a:t>transforma</a:t>
            </a:r>
            <a:r>
              <a:rPr spc="-125" dirty="0"/>
              <a:t> </a:t>
            </a:r>
            <a:r>
              <a:rPr spc="-25" dirty="0"/>
              <a:t>su</a:t>
            </a:r>
          </a:p>
          <a:p>
            <a:pPr marL="207645">
              <a:lnSpc>
                <a:spcPct val="100000"/>
              </a:lnSpc>
            </a:pPr>
            <a:r>
              <a:rPr dirty="0"/>
              <a:t>representación</a:t>
            </a:r>
            <a:r>
              <a:rPr spc="-15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dirty="0"/>
              <a:t>un</a:t>
            </a:r>
            <a:r>
              <a:rPr spc="-70" dirty="0"/>
              <a:t> </a:t>
            </a:r>
            <a:r>
              <a:rPr dirty="0"/>
              <a:t>nivel</a:t>
            </a:r>
            <a:r>
              <a:rPr spc="-1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abstracción</a:t>
            </a:r>
            <a:r>
              <a:rPr spc="-35" dirty="0"/>
              <a:t> </a:t>
            </a:r>
            <a:r>
              <a:rPr dirty="0"/>
              <a:t>más</a:t>
            </a:r>
            <a:r>
              <a:rPr spc="-100" dirty="0"/>
              <a:t> </a:t>
            </a:r>
            <a:r>
              <a:rPr spc="-20" dirty="0"/>
              <a:t>alto</a:t>
            </a: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pc="-20" dirty="0"/>
          </a:p>
          <a:p>
            <a:pPr marL="193040" marR="6703059" indent="-193040" algn="r">
              <a:lnSpc>
                <a:spcPct val="100000"/>
              </a:lnSpc>
              <a:spcBef>
                <a:spcPts val="5"/>
              </a:spcBef>
              <a:buChar char="•"/>
              <a:tabLst>
                <a:tab pos="193040" algn="l"/>
              </a:tabLst>
            </a:pPr>
            <a:r>
              <a:rPr spc="-10" dirty="0"/>
              <a:t>Ejemplo</a:t>
            </a:r>
          </a:p>
          <a:p>
            <a:pPr marL="158115" marR="6674484" lvl="1" indent="-158115" algn="r">
              <a:lnSpc>
                <a:spcPct val="100000"/>
              </a:lnSpc>
              <a:spcBef>
                <a:spcPts val="439"/>
              </a:spcBef>
              <a:buChar char="-"/>
              <a:tabLst>
                <a:tab pos="158115" algn="l"/>
              </a:tabLst>
            </a:pPr>
            <a:r>
              <a:rPr sz="1800" spc="-10" dirty="0">
                <a:latin typeface="Arial MT"/>
                <a:cs typeface="Arial MT"/>
              </a:rPr>
              <a:t>Imagen</a:t>
            </a:r>
            <a:endParaRPr sz="1800">
              <a:latin typeface="Arial MT"/>
              <a:cs typeface="Arial MT"/>
            </a:endParaRPr>
          </a:p>
          <a:p>
            <a:pPr marL="610235" lvl="2" indent="-222885">
              <a:lnSpc>
                <a:spcPct val="100000"/>
              </a:lnSpc>
              <a:spcBef>
                <a:spcPts val="370"/>
              </a:spcBef>
              <a:buChar char="•"/>
              <a:tabLst>
                <a:tab pos="610235" algn="l"/>
              </a:tabLst>
            </a:pPr>
            <a:r>
              <a:rPr sz="1600" dirty="0">
                <a:latin typeface="Arial MT"/>
                <a:cs typeface="Arial MT"/>
              </a:rPr>
              <a:t>Pixel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Borde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Arial MT"/>
                <a:cs typeface="Arial MT"/>
              </a:rPr>
              <a:t>Textura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Parte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 MT"/>
                <a:cs typeface="Arial MT"/>
              </a:rPr>
              <a:t>Objecto</a:t>
            </a:r>
            <a:endParaRPr sz="16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45"/>
              </a:spcBef>
              <a:buChar char="-"/>
              <a:tabLst>
                <a:tab pos="386715" algn="l"/>
              </a:tabLst>
            </a:pPr>
            <a:r>
              <a:rPr sz="1800" spc="-10" dirty="0">
                <a:latin typeface="Arial MT"/>
                <a:cs typeface="Arial MT"/>
              </a:rPr>
              <a:t>Texto</a:t>
            </a:r>
            <a:endParaRPr sz="1800">
              <a:latin typeface="Arial MT"/>
              <a:cs typeface="Arial MT"/>
            </a:endParaRPr>
          </a:p>
          <a:p>
            <a:pPr marL="610235" lvl="2" indent="-222885">
              <a:lnSpc>
                <a:spcPct val="100000"/>
              </a:lnSpc>
              <a:spcBef>
                <a:spcPts val="370"/>
              </a:spcBef>
              <a:buChar char="•"/>
              <a:tabLst>
                <a:tab pos="610235" algn="l"/>
              </a:tabLst>
            </a:pPr>
            <a:r>
              <a:rPr sz="1600" dirty="0">
                <a:latin typeface="Arial MT"/>
                <a:cs typeface="Arial MT"/>
              </a:rPr>
              <a:t>Caracter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Palabra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Grupo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palabras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Proposición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Oración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→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Arial MT"/>
                <a:cs typeface="Arial MT"/>
              </a:rPr>
              <a:t>Historia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8172" y="2089404"/>
            <a:ext cx="951230" cy="737870"/>
          </a:xfrm>
          <a:prstGeom prst="rect">
            <a:avLst/>
          </a:prstGeom>
          <a:ln w="27432">
            <a:solidFill>
              <a:srgbClr val="8EB4E2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42875" marR="139700" algn="ctr">
              <a:lnSpc>
                <a:spcPct val="100000"/>
              </a:lnSpc>
              <a:spcBef>
                <a:spcPts val="280"/>
              </a:spcBef>
            </a:pPr>
            <a:r>
              <a:rPr sz="1400" spc="-25" dirty="0">
                <a:latin typeface="Calibri"/>
                <a:cs typeface="Calibri"/>
              </a:rPr>
              <a:t>Atributos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bajo nivel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6347" y="2089404"/>
            <a:ext cx="871855" cy="741045"/>
          </a:xfrm>
          <a:prstGeom prst="rect">
            <a:avLst/>
          </a:prstGeom>
          <a:ln w="27431">
            <a:solidFill>
              <a:srgbClr val="8EB4E2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56210" marR="99060" indent="-52069" algn="just">
              <a:lnSpc>
                <a:spcPct val="100000"/>
              </a:lnSpc>
              <a:spcBef>
                <a:spcPts val="285"/>
              </a:spcBef>
            </a:pPr>
            <a:r>
              <a:rPr sz="1400" spc="-25" dirty="0">
                <a:latin typeface="Calibri"/>
                <a:cs typeface="Calibri"/>
              </a:rPr>
              <a:t>Atributos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nivel medio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0323" y="2417064"/>
            <a:ext cx="291465" cy="82550"/>
          </a:xfrm>
          <a:custGeom>
            <a:avLst/>
            <a:gdLst/>
            <a:ahLst/>
            <a:cxnLst/>
            <a:rect l="l" t="t" r="r" b="b"/>
            <a:pathLst>
              <a:path w="291464" h="82550">
                <a:moveTo>
                  <a:pt x="208787" y="0"/>
                </a:moveTo>
                <a:lnTo>
                  <a:pt x="208787" y="82296"/>
                </a:lnTo>
                <a:lnTo>
                  <a:pt x="263652" y="54863"/>
                </a:lnTo>
                <a:lnTo>
                  <a:pt x="222503" y="54863"/>
                </a:lnTo>
                <a:lnTo>
                  <a:pt x="222503" y="27432"/>
                </a:lnTo>
                <a:lnTo>
                  <a:pt x="263652" y="27432"/>
                </a:lnTo>
                <a:lnTo>
                  <a:pt x="208787" y="0"/>
                </a:lnTo>
                <a:close/>
              </a:path>
              <a:path w="291464" h="82550">
                <a:moveTo>
                  <a:pt x="208787" y="27432"/>
                </a:moveTo>
                <a:lnTo>
                  <a:pt x="0" y="27432"/>
                </a:lnTo>
                <a:lnTo>
                  <a:pt x="0" y="54863"/>
                </a:lnTo>
                <a:lnTo>
                  <a:pt x="208787" y="54863"/>
                </a:lnTo>
                <a:lnTo>
                  <a:pt x="208787" y="27432"/>
                </a:lnTo>
                <a:close/>
              </a:path>
              <a:path w="291464" h="82550">
                <a:moveTo>
                  <a:pt x="263652" y="27432"/>
                </a:moveTo>
                <a:lnTo>
                  <a:pt x="222503" y="27432"/>
                </a:lnTo>
                <a:lnTo>
                  <a:pt x="222503" y="54863"/>
                </a:lnTo>
                <a:lnTo>
                  <a:pt x="263652" y="54863"/>
                </a:lnTo>
                <a:lnTo>
                  <a:pt x="291083" y="41148"/>
                </a:lnTo>
                <a:lnTo>
                  <a:pt x="263652" y="27432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7435" y="2412110"/>
            <a:ext cx="438150" cy="82550"/>
          </a:xfrm>
          <a:custGeom>
            <a:avLst/>
            <a:gdLst/>
            <a:ahLst/>
            <a:cxnLst/>
            <a:rect l="l" t="t" r="r" b="b"/>
            <a:pathLst>
              <a:path w="438150" h="82550">
                <a:moveTo>
                  <a:pt x="355600" y="0"/>
                </a:moveTo>
                <a:lnTo>
                  <a:pt x="355518" y="26288"/>
                </a:lnTo>
                <a:lnTo>
                  <a:pt x="355472" y="41401"/>
                </a:lnTo>
                <a:lnTo>
                  <a:pt x="355346" y="82296"/>
                </a:lnTo>
                <a:lnTo>
                  <a:pt x="410635" y="54863"/>
                </a:lnTo>
                <a:lnTo>
                  <a:pt x="369062" y="54863"/>
                </a:lnTo>
                <a:lnTo>
                  <a:pt x="369188" y="27431"/>
                </a:lnTo>
                <a:lnTo>
                  <a:pt x="410043" y="27431"/>
                </a:lnTo>
                <a:lnTo>
                  <a:pt x="355600" y="0"/>
                </a:lnTo>
                <a:close/>
              </a:path>
              <a:path w="438150" h="82550">
                <a:moveTo>
                  <a:pt x="0" y="26288"/>
                </a:moveTo>
                <a:lnTo>
                  <a:pt x="0" y="53721"/>
                </a:lnTo>
                <a:lnTo>
                  <a:pt x="369061" y="54863"/>
                </a:lnTo>
                <a:lnTo>
                  <a:pt x="355430" y="54863"/>
                </a:lnTo>
                <a:lnTo>
                  <a:pt x="355515" y="27431"/>
                </a:lnTo>
                <a:lnTo>
                  <a:pt x="369188" y="27431"/>
                </a:lnTo>
                <a:lnTo>
                  <a:pt x="0" y="26288"/>
                </a:lnTo>
                <a:close/>
              </a:path>
              <a:path w="438150" h="82550">
                <a:moveTo>
                  <a:pt x="410043" y="27431"/>
                </a:moveTo>
                <a:lnTo>
                  <a:pt x="369188" y="27431"/>
                </a:lnTo>
                <a:lnTo>
                  <a:pt x="369062" y="54863"/>
                </a:lnTo>
                <a:lnTo>
                  <a:pt x="410635" y="54863"/>
                </a:lnTo>
                <a:lnTo>
                  <a:pt x="437768" y="41401"/>
                </a:lnTo>
                <a:lnTo>
                  <a:pt x="410043" y="27431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59196" y="2421254"/>
            <a:ext cx="382270" cy="82550"/>
          </a:xfrm>
          <a:custGeom>
            <a:avLst/>
            <a:gdLst/>
            <a:ahLst/>
            <a:cxnLst/>
            <a:rect l="l" t="t" r="r" b="b"/>
            <a:pathLst>
              <a:path w="382270" h="82550">
                <a:moveTo>
                  <a:pt x="299592" y="0"/>
                </a:moveTo>
                <a:lnTo>
                  <a:pt x="299465" y="27432"/>
                </a:lnTo>
                <a:lnTo>
                  <a:pt x="299338" y="54864"/>
                </a:lnTo>
                <a:lnTo>
                  <a:pt x="299212" y="82296"/>
                </a:lnTo>
                <a:lnTo>
                  <a:pt x="354587" y="54864"/>
                </a:lnTo>
                <a:lnTo>
                  <a:pt x="313054" y="54864"/>
                </a:lnTo>
                <a:lnTo>
                  <a:pt x="313181" y="27432"/>
                </a:lnTo>
                <a:lnTo>
                  <a:pt x="354036" y="27432"/>
                </a:lnTo>
                <a:lnTo>
                  <a:pt x="299592" y="0"/>
                </a:lnTo>
                <a:close/>
              </a:path>
              <a:path w="382270" h="82550">
                <a:moveTo>
                  <a:pt x="0" y="26289"/>
                </a:moveTo>
                <a:lnTo>
                  <a:pt x="0" y="53721"/>
                </a:lnTo>
                <a:lnTo>
                  <a:pt x="313055" y="54864"/>
                </a:lnTo>
                <a:lnTo>
                  <a:pt x="299338" y="54864"/>
                </a:lnTo>
                <a:lnTo>
                  <a:pt x="299465" y="27432"/>
                </a:lnTo>
                <a:lnTo>
                  <a:pt x="313181" y="27432"/>
                </a:lnTo>
                <a:lnTo>
                  <a:pt x="0" y="26289"/>
                </a:lnTo>
                <a:close/>
              </a:path>
              <a:path w="382270" h="82550">
                <a:moveTo>
                  <a:pt x="354036" y="27432"/>
                </a:moveTo>
                <a:lnTo>
                  <a:pt x="313181" y="27432"/>
                </a:lnTo>
                <a:lnTo>
                  <a:pt x="313054" y="54864"/>
                </a:lnTo>
                <a:lnTo>
                  <a:pt x="354587" y="54864"/>
                </a:lnTo>
                <a:lnTo>
                  <a:pt x="381762" y="41402"/>
                </a:lnTo>
                <a:lnTo>
                  <a:pt x="354036" y="27432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52004" y="2278379"/>
            <a:ext cx="1036319" cy="368935"/>
          </a:xfrm>
          <a:prstGeom prst="rect">
            <a:avLst/>
          </a:prstGeom>
          <a:ln w="27432">
            <a:solidFill>
              <a:srgbClr val="8EB4E2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235"/>
              </a:spcBef>
            </a:pPr>
            <a:r>
              <a:rPr sz="1800" b="1" spc="-10" dirty="0">
                <a:latin typeface="Calibri"/>
                <a:cs typeface="Calibri"/>
              </a:rPr>
              <a:t>Salida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0411" y="2089404"/>
            <a:ext cx="914400" cy="741045"/>
          </a:xfrm>
          <a:prstGeom prst="rect">
            <a:avLst/>
          </a:prstGeom>
          <a:ln w="27431">
            <a:solidFill>
              <a:srgbClr val="8EB4E2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27000" marR="119380" algn="ctr">
              <a:lnSpc>
                <a:spcPct val="100000"/>
              </a:lnSpc>
              <a:spcBef>
                <a:spcPts val="285"/>
              </a:spcBef>
            </a:pPr>
            <a:r>
              <a:rPr sz="1400" spc="-25" dirty="0">
                <a:latin typeface="Calibri"/>
                <a:cs typeface="Calibri"/>
              </a:rPr>
              <a:t>Atributos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alto nivel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14901" y="2422651"/>
            <a:ext cx="375285" cy="82550"/>
          </a:xfrm>
          <a:custGeom>
            <a:avLst/>
            <a:gdLst/>
            <a:ahLst/>
            <a:cxnLst/>
            <a:rect l="l" t="t" r="r" b="b"/>
            <a:pathLst>
              <a:path w="375285" h="82550">
                <a:moveTo>
                  <a:pt x="293115" y="0"/>
                </a:moveTo>
                <a:lnTo>
                  <a:pt x="292481" y="82296"/>
                </a:lnTo>
                <a:lnTo>
                  <a:pt x="348293" y="54990"/>
                </a:lnTo>
                <a:lnTo>
                  <a:pt x="306324" y="54990"/>
                </a:lnTo>
                <a:lnTo>
                  <a:pt x="306577" y="27559"/>
                </a:lnTo>
                <a:lnTo>
                  <a:pt x="346981" y="27559"/>
                </a:lnTo>
                <a:lnTo>
                  <a:pt x="293115" y="0"/>
                </a:lnTo>
                <a:close/>
              </a:path>
              <a:path w="375285" h="82550">
                <a:moveTo>
                  <a:pt x="253" y="24892"/>
                </a:moveTo>
                <a:lnTo>
                  <a:pt x="96" y="41910"/>
                </a:lnTo>
                <a:lnTo>
                  <a:pt x="0" y="52324"/>
                </a:lnTo>
                <a:lnTo>
                  <a:pt x="306323" y="54990"/>
                </a:lnTo>
                <a:lnTo>
                  <a:pt x="292691" y="54990"/>
                </a:lnTo>
                <a:lnTo>
                  <a:pt x="292792" y="41910"/>
                </a:lnTo>
                <a:lnTo>
                  <a:pt x="292903" y="27559"/>
                </a:lnTo>
                <a:lnTo>
                  <a:pt x="306578" y="27559"/>
                </a:lnTo>
                <a:lnTo>
                  <a:pt x="253" y="24892"/>
                </a:lnTo>
                <a:close/>
              </a:path>
              <a:path w="375285" h="82550">
                <a:moveTo>
                  <a:pt x="346981" y="27559"/>
                </a:moveTo>
                <a:lnTo>
                  <a:pt x="306577" y="27559"/>
                </a:lnTo>
                <a:lnTo>
                  <a:pt x="306445" y="41910"/>
                </a:lnTo>
                <a:lnTo>
                  <a:pt x="306324" y="54990"/>
                </a:lnTo>
                <a:lnTo>
                  <a:pt x="348293" y="54990"/>
                </a:lnTo>
                <a:lnTo>
                  <a:pt x="375031" y="41910"/>
                </a:lnTo>
                <a:lnTo>
                  <a:pt x="346981" y="27559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46291" y="2199132"/>
            <a:ext cx="1100455" cy="521334"/>
          </a:xfrm>
          <a:prstGeom prst="rect">
            <a:avLst/>
          </a:prstGeom>
          <a:ln w="27432">
            <a:solidFill>
              <a:srgbClr val="8EB4E2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latin typeface="Calibri"/>
                <a:cs typeface="Calibri"/>
              </a:rPr>
              <a:t>Clasificador</a:t>
            </a:r>
            <a:endParaRPr sz="1400">
              <a:latin typeface="Calibri"/>
              <a:cs typeface="Calibri"/>
            </a:endParaRPr>
          </a:p>
          <a:p>
            <a:pPr marL="16002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entrenable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52716" y="2421254"/>
            <a:ext cx="382270" cy="82550"/>
          </a:xfrm>
          <a:custGeom>
            <a:avLst/>
            <a:gdLst/>
            <a:ahLst/>
            <a:cxnLst/>
            <a:rect l="l" t="t" r="r" b="b"/>
            <a:pathLst>
              <a:path w="382270" h="82550">
                <a:moveTo>
                  <a:pt x="299592" y="0"/>
                </a:moveTo>
                <a:lnTo>
                  <a:pt x="299465" y="27432"/>
                </a:lnTo>
                <a:lnTo>
                  <a:pt x="299338" y="54864"/>
                </a:lnTo>
                <a:lnTo>
                  <a:pt x="299211" y="82296"/>
                </a:lnTo>
                <a:lnTo>
                  <a:pt x="354587" y="54864"/>
                </a:lnTo>
                <a:lnTo>
                  <a:pt x="313054" y="54864"/>
                </a:lnTo>
                <a:lnTo>
                  <a:pt x="313181" y="27432"/>
                </a:lnTo>
                <a:lnTo>
                  <a:pt x="354036" y="27432"/>
                </a:lnTo>
                <a:lnTo>
                  <a:pt x="299592" y="0"/>
                </a:lnTo>
                <a:close/>
              </a:path>
              <a:path w="382270" h="82550">
                <a:moveTo>
                  <a:pt x="0" y="26289"/>
                </a:moveTo>
                <a:lnTo>
                  <a:pt x="0" y="53721"/>
                </a:lnTo>
                <a:lnTo>
                  <a:pt x="313055" y="54864"/>
                </a:lnTo>
                <a:lnTo>
                  <a:pt x="299338" y="54864"/>
                </a:lnTo>
                <a:lnTo>
                  <a:pt x="299465" y="27432"/>
                </a:lnTo>
                <a:lnTo>
                  <a:pt x="313181" y="27432"/>
                </a:lnTo>
                <a:lnTo>
                  <a:pt x="0" y="26289"/>
                </a:lnTo>
                <a:close/>
              </a:path>
              <a:path w="382270" h="82550">
                <a:moveTo>
                  <a:pt x="354036" y="27432"/>
                </a:moveTo>
                <a:lnTo>
                  <a:pt x="313181" y="27432"/>
                </a:lnTo>
                <a:lnTo>
                  <a:pt x="313054" y="54864"/>
                </a:lnTo>
                <a:lnTo>
                  <a:pt x="354587" y="54864"/>
                </a:lnTo>
                <a:lnTo>
                  <a:pt x="381761" y="41402"/>
                </a:lnTo>
                <a:lnTo>
                  <a:pt x="354036" y="27432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3627" y="2275332"/>
            <a:ext cx="996950" cy="368935"/>
          </a:xfrm>
          <a:prstGeom prst="rect">
            <a:avLst/>
          </a:prstGeom>
          <a:ln w="27432">
            <a:solidFill>
              <a:srgbClr val="8EB4E2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74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4483"/>
            <a:ext cx="7544434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poder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aprender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(y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extraer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características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adecuadas),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Deep</a:t>
            </a:r>
            <a:endParaRPr sz="2000">
              <a:latin typeface="Arial MT"/>
              <a:cs typeface="Arial MT"/>
            </a:endParaRPr>
          </a:p>
          <a:p>
            <a:pPr marL="20764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cantidad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21173"/>
            <a:ext cx="7031355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305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Cantidad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datos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Gran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cantidad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implica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cantidad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parámetros</a:t>
            </a:r>
            <a:endParaRPr sz="20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4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requiere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mejores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algoritmos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optimización</a:t>
            </a:r>
            <a:endParaRPr sz="1800">
              <a:latin typeface="Arial MT"/>
              <a:cs typeface="Arial MT"/>
            </a:endParaRPr>
          </a:p>
          <a:p>
            <a:pPr marL="386715" lvl="1" indent="-157480">
              <a:lnSpc>
                <a:spcPct val="100000"/>
              </a:lnSpc>
              <a:spcBef>
                <a:spcPts val="430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necesario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realizar</a:t>
            </a:r>
            <a:r>
              <a:rPr sz="1800" spc="-10" dirty="0">
                <a:latin typeface="Arial MT"/>
                <a:cs typeface="Arial MT"/>
              </a:rPr>
              <a:t> regularización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93976" y="2080260"/>
            <a:ext cx="4569460" cy="2708275"/>
            <a:chOff x="2093976" y="2080260"/>
            <a:chExt cx="4569460" cy="2708275"/>
          </a:xfrm>
        </p:grpSpPr>
        <p:sp>
          <p:nvSpPr>
            <p:cNvPr id="6" name="object 6"/>
            <p:cNvSpPr/>
            <p:nvPr/>
          </p:nvSpPr>
          <p:spPr>
            <a:xfrm>
              <a:off x="2093976" y="2080259"/>
              <a:ext cx="4569460" cy="2708275"/>
            </a:xfrm>
            <a:custGeom>
              <a:avLst/>
              <a:gdLst/>
              <a:ahLst/>
              <a:cxnLst/>
              <a:rect l="l" t="t" r="r" b="b"/>
              <a:pathLst>
                <a:path w="4569459" h="2708275">
                  <a:moveTo>
                    <a:pt x="4569079" y="2667000"/>
                  </a:moveTo>
                  <a:lnTo>
                    <a:pt x="4541647" y="2653284"/>
                  </a:lnTo>
                  <a:lnTo>
                    <a:pt x="4486770" y="2625852"/>
                  </a:lnTo>
                  <a:lnTo>
                    <a:pt x="4486770" y="2653284"/>
                  </a:lnTo>
                  <a:lnTo>
                    <a:pt x="79248" y="2653284"/>
                  </a:lnTo>
                  <a:lnTo>
                    <a:pt x="79248" y="118872"/>
                  </a:lnTo>
                  <a:lnTo>
                    <a:pt x="118872" y="118872"/>
                  </a:lnTo>
                  <a:lnTo>
                    <a:pt x="108966" y="99060"/>
                  </a:lnTo>
                  <a:lnTo>
                    <a:pt x="59436" y="0"/>
                  </a:lnTo>
                  <a:lnTo>
                    <a:pt x="0" y="118872"/>
                  </a:lnTo>
                  <a:lnTo>
                    <a:pt x="39624" y="118872"/>
                  </a:lnTo>
                  <a:lnTo>
                    <a:pt x="39624" y="2667000"/>
                  </a:lnTo>
                  <a:lnTo>
                    <a:pt x="59436" y="2667000"/>
                  </a:lnTo>
                  <a:lnTo>
                    <a:pt x="59436" y="2680716"/>
                  </a:lnTo>
                  <a:lnTo>
                    <a:pt x="4486770" y="2680716"/>
                  </a:lnTo>
                  <a:lnTo>
                    <a:pt x="4486770" y="2708148"/>
                  </a:lnTo>
                  <a:lnTo>
                    <a:pt x="4541647" y="2680716"/>
                  </a:lnTo>
                  <a:lnTo>
                    <a:pt x="4569079" y="266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54047" y="3664196"/>
              <a:ext cx="1327785" cy="1077595"/>
            </a:xfrm>
            <a:custGeom>
              <a:avLst/>
              <a:gdLst/>
              <a:ahLst/>
              <a:cxnLst/>
              <a:rect l="l" t="t" r="r" b="b"/>
              <a:pathLst>
                <a:path w="1327785" h="1077595">
                  <a:moveTo>
                    <a:pt x="0" y="1076967"/>
                  </a:moveTo>
                  <a:lnTo>
                    <a:pt x="4105" y="1031410"/>
                  </a:lnTo>
                  <a:lnTo>
                    <a:pt x="10116" y="986420"/>
                  </a:lnTo>
                  <a:lnTo>
                    <a:pt x="17993" y="942030"/>
                  </a:lnTo>
                  <a:lnTo>
                    <a:pt x="27699" y="898268"/>
                  </a:lnTo>
                  <a:lnTo>
                    <a:pt x="39197" y="855167"/>
                  </a:lnTo>
                  <a:lnTo>
                    <a:pt x="52448" y="812756"/>
                  </a:lnTo>
                  <a:lnTo>
                    <a:pt x="67415" y="771066"/>
                  </a:lnTo>
                  <a:lnTo>
                    <a:pt x="84060" y="730128"/>
                  </a:lnTo>
                  <a:lnTo>
                    <a:pt x="102345" y="689973"/>
                  </a:lnTo>
                  <a:lnTo>
                    <a:pt x="122232" y="650630"/>
                  </a:lnTo>
                  <a:lnTo>
                    <a:pt x="143684" y="612130"/>
                  </a:lnTo>
                  <a:lnTo>
                    <a:pt x="166663" y="574505"/>
                  </a:lnTo>
                  <a:lnTo>
                    <a:pt x="191131" y="537784"/>
                  </a:lnTo>
                  <a:lnTo>
                    <a:pt x="217050" y="501998"/>
                  </a:lnTo>
                  <a:lnTo>
                    <a:pt x="244383" y="467178"/>
                  </a:lnTo>
                  <a:lnTo>
                    <a:pt x="273091" y="433355"/>
                  </a:lnTo>
                  <a:lnTo>
                    <a:pt x="303137" y="400558"/>
                  </a:lnTo>
                  <a:lnTo>
                    <a:pt x="334484" y="368819"/>
                  </a:lnTo>
                  <a:lnTo>
                    <a:pt x="367092" y="338168"/>
                  </a:lnTo>
                  <a:lnTo>
                    <a:pt x="400926" y="308635"/>
                  </a:lnTo>
                  <a:lnTo>
                    <a:pt x="435946" y="280252"/>
                  </a:lnTo>
                  <a:lnTo>
                    <a:pt x="472115" y="253048"/>
                  </a:lnTo>
                  <a:lnTo>
                    <a:pt x="509396" y="227055"/>
                  </a:lnTo>
                  <a:lnTo>
                    <a:pt x="547750" y="202303"/>
                  </a:lnTo>
                  <a:lnTo>
                    <a:pt x="587140" y="178823"/>
                  </a:lnTo>
                  <a:lnTo>
                    <a:pt x="627527" y="156645"/>
                  </a:lnTo>
                  <a:lnTo>
                    <a:pt x="668875" y="135799"/>
                  </a:lnTo>
                  <a:lnTo>
                    <a:pt x="711145" y="116317"/>
                  </a:lnTo>
                  <a:lnTo>
                    <a:pt x="754300" y="98228"/>
                  </a:lnTo>
                  <a:lnTo>
                    <a:pt x="798301" y="81565"/>
                  </a:lnTo>
                  <a:lnTo>
                    <a:pt x="843112" y="66356"/>
                  </a:lnTo>
                  <a:lnTo>
                    <a:pt x="888694" y="52633"/>
                  </a:lnTo>
                  <a:lnTo>
                    <a:pt x="935009" y="40426"/>
                  </a:lnTo>
                  <a:lnTo>
                    <a:pt x="982020" y="29765"/>
                  </a:lnTo>
                  <a:lnTo>
                    <a:pt x="1029689" y="20683"/>
                  </a:lnTo>
                  <a:lnTo>
                    <a:pt x="1077978" y="13208"/>
                  </a:lnTo>
                  <a:lnTo>
                    <a:pt x="1126850" y="7371"/>
                  </a:lnTo>
                  <a:lnTo>
                    <a:pt x="1176266" y="3204"/>
                  </a:lnTo>
                  <a:lnTo>
                    <a:pt x="1226189" y="737"/>
                  </a:lnTo>
                  <a:lnTo>
                    <a:pt x="1276580" y="0"/>
                  </a:lnTo>
                  <a:lnTo>
                    <a:pt x="1327403" y="1023"/>
                  </a:lnTo>
                </a:path>
              </a:pathLst>
            </a:custGeom>
            <a:ln w="285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82340" y="3537204"/>
              <a:ext cx="2936240" cy="130810"/>
            </a:xfrm>
            <a:custGeom>
              <a:avLst/>
              <a:gdLst/>
              <a:ahLst/>
              <a:cxnLst/>
              <a:rect l="l" t="t" r="r" b="b"/>
              <a:pathLst>
                <a:path w="2936240" h="130810">
                  <a:moveTo>
                    <a:pt x="0" y="130683"/>
                  </a:moveTo>
                  <a:lnTo>
                    <a:pt x="2936113" y="0"/>
                  </a:lnTo>
                </a:path>
              </a:pathLst>
            </a:custGeom>
            <a:ln w="274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68812" y="2889947"/>
            <a:ext cx="283210" cy="10941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14"/>
              </a:lnSpc>
            </a:pPr>
            <a:r>
              <a:rPr sz="1800" spc="-10" dirty="0">
                <a:latin typeface="Times New Roman"/>
                <a:cs typeface="Times New Roman"/>
              </a:rPr>
              <a:t>Desempeño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3963" y="3620770"/>
            <a:ext cx="1628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00FF"/>
                </a:solidFill>
                <a:latin typeface="Times New Roman"/>
                <a:cs typeface="Times New Roman"/>
              </a:rPr>
              <a:t>Machine</a:t>
            </a:r>
            <a:r>
              <a:rPr sz="18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0000FF"/>
                </a:solidFill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031" y="2052129"/>
            <a:ext cx="4114419" cy="270014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842375" y="6651686"/>
            <a:ext cx="97155" cy="16891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000" spc="-50" dirty="0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794" y="304926"/>
            <a:ext cx="5861685" cy="1867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9825" algn="ctr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005A9E"/>
                </a:solidFill>
                <a:latin typeface="Arial"/>
                <a:cs typeface="Arial"/>
              </a:rPr>
              <a:t>Regularización</a:t>
            </a:r>
            <a:endParaRPr sz="2800">
              <a:latin typeface="Arial"/>
              <a:cs typeface="Arial"/>
            </a:endParaRPr>
          </a:p>
          <a:p>
            <a:pPr marL="2404745" algn="ctr">
              <a:lnSpc>
                <a:spcPct val="100000"/>
              </a:lnSpc>
              <a:spcBef>
                <a:spcPts val="160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Regularización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9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Norma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utiliza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alguna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regularizar los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pesos</a:t>
            </a:r>
            <a:endParaRPr sz="20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Usualmente: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norma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Frobenius: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794" y="3304997"/>
            <a:ext cx="72707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9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regularizada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(asumiendo</a:t>
            </a:r>
            <a:r>
              <a:rPr sz="1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7E7E7E"/>
                </a:solidFill>
                <a:latin typeface="Times New Roman"/>
                <a:cs typeface="Times New Roman"/>
              </a:rPr>
              <a:t>L</a:t>
            </a:r>
            <a:r>
              <a:rPr sz="1800" i="1" spc="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capas</a:t>
            </a:r>
            <a:r>
              <a:rPr sz="1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y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7E7E7E"/>
                </a:solidFill>
                <a:latin typeface="Times New Roman"/>
                <a:cs typeface="Times New Roman"/>
              </a:rPr>
              <a:t>n</a:t>
            </a:r>
            <a:r>
              <a:rPr sz="1800" i="1" spc="3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instancias)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652848"/>
            <a:ext cx="4300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sz="1800" dirty="0">
                <a:latin typeface="Arial MT"/>
                <a:cs typeface="Arial MT"/>
              </a:rPr>
              <a:t>Derivada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función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regularización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202" y="5970219"/>
            <a:ext cx="6908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afecta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actualización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(no del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bias)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0EA6BEE6-D374-1EFD-74D2-90AC0BCD5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276437"/>
            <a:ext cx="5496745" cy="913040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BE1A258E-8208-D6EB-E9F5-16774CA7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42" y="3750082"/>
            <a:ext cx="3842115" cy="917838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C52EDDC7-8E54-34E7-268A-C7C4FB783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56" y="5025762"/>
            <a:ext cx="7411715" cy="9178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88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668010" cy="90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Regularización</a:t>
            </a:r>
            <a:r>
              <a:rPr sz="2000" b="1" spc="-4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</a:t>
            </a:r>
            <a:r>
              <a:rPr sz="2000" b="1" spc="-9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Norma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Actualización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parámetros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802" y="3519042"/>
            <a:ext cx="7889875" cy="559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actualización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factorizar: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“decaimiento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ponderado”</a:t>
            </a:r>
            <a:endParaRPr sz="1800" dirty="0">
              <a:latin typeface="Arial MT"/>
              <a:cs typeface="Arial MT"/>
            </a:endParaRPr>
          </a:p>
          <a:p>
            <a:pPr marR="782955" algn="ctr">
              <a:lnSpc>
                <a:spcPct val="100000"/>
              </a:lnSpc>
              <a:spcBef>
                <a:spcPts val="35"/>
              </a:spcBef>
            </a:pP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B2D6634F-CDE5-AB8C-1B6B-96795A78B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31" y="1981828"/>
            <a:ext cx="3681735" cy="1427147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E52459A9-710B-B2C4-0B9C-AF6EB913E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64" y="3971826"/>
            <a:ext cx="3643472" cy="22291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88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8152765" cy="2258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205" algn="ctr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Dropout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Retira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cada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capa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manera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aleatoria</a:t>
            </a:r>
            <a:endParaRPr sz="20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4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Durante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entrenamiento: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tiene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probabilidad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de estar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presente</a:t>
            </a:r>
            <a:endParaRPr sz="18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Durante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prueba: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neuronas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presentes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94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Ejemplo: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durante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entrenamiento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3589038"/>
            <a:ext cx="2450591" cy="22112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9696" y="3595147"/>
            <a:ext cx="2414016" cy="21746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47570" y="5949188"/>
            <a:ext cx="15805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Red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neuronal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inicial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6056121" y="5955284"/>
            <a:ext cx="2204720" cy="421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23495" algn="r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Red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neuronal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“dropout”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(las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X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indican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que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usan)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88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Regularización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7903209" cy="157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3220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“Early</a:t>
            </a:r>
            <a:r>
              <a:rPr sz="2000" b="1" spc="-5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Stopping”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analiza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error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conjunto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entrenamiento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conjunto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</a:t>
            </a:r>
            <a:endParaRPr sz="2000">
              <a:latin typeface="Arial MT"/>
              <a:cs typeface="Arial MT"/>
            </a:endParaRPr>
          </a:p>
          <a:p>
            <a:pPr marL="207645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validación</a:t>
            </a:r>
            <a:endParaRPr sz="20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spcBef>
                <a:spcPts val="480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detiene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algoritmo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realice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“overfitting”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9706" y="3008932"/>
            <a:ext cx="3750702" cy="28074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91232" y="3028314"/>
            <a:ext cx="3956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 MT"/>
                <a:cs typeface="Arial MT"/>
              </a:rPr>
              <a:t>error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6064758" y="4526660"/>
            <a:ext cx="8102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 MT"/>
                <a:cs typeface="Arial MT"/>
              </a:rPr>
              <a:t>validación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6445" y="5282006"/>
            <a:ext cx="11537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entrenamiento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446" y="5767832"/>
            <a:ext cx="16059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Arial MT"/>
                <a:cs typeface="Arial MT"/>
              </a:rPr>
              <a:t>número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“épocas”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9738" y="5815685"/>
            <a:ext cx="115189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 MT"/>
                <a:cs typeface="Arial MT"/>
              </a:rPr>
              <a:t>detener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entrenamiento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Algoritmos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Optimización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92936" y="2481072"/>
            <a:ext cx="5066030" cy="241300"/>
            <a:chOff x="1392936" y="2481072"/>
            <a:chExt cx="5066030" cy="241300"/>
          </a:xfrm>
        </p:grpSpPr>
        <p:sp>
          <p:nvSpPr>
            <p:cNvPr id="4" name="object 4"/>
            <p:cNvSpPr/>
            <p:nvPr/>
          </p:nvSpPr>
          <p:spPr>
            <a:xfrm>
              <a:off x="1405128" y="2493264"/>
              <a:ext cx="5041900" cy="216535"/>
            </a:xfrm>
            <a:custGeom>
              <a:avLst/>
              <a:gdLst/>
              <a:ahLst/>
              <a:cxnLst/>
              <a:rect l="l" t="t" r="r" b="b"/>
              <a:pathLst>
                <a:path w="5041900" h="216535">
                  <a:moveTo>
                    <a:pt x="5041392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5041392" y="216408"/>
                  </a:lnTo>
                  <a:lnTo>
                    <a:pt x="5041392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5128" y="2493264"/>
              <a:ext cx="5041900" cy="216535"/>
            </a:xfrm>
            <a:custGeom>
              <a:avLst/>
              <a:gdLst/>
              <a:ahLst/>
              <a:cxnLst/>
              <a:rect l="l" t="t" r="r" b="b"/>
              <a:pathLst>
                <a:path w="5041900" h="216535">
                  <a:moveTo>
                    <a:pt x="0" y="216408"/>
                  </a:moveTo>
                  <a:lnTo>
                    <a:pt x="5041392" y="216408"/>
                  </a:lnTo>
                  <a:lnTo>
                    <a:pt x="5041392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3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92936" y="3212592"/>
            <a:ext cx="5066030" cy="241300"/>
            <a:chOff x="1392936" y="3212592"/>
            <a:chExt cx="5066030" cy="241300"/>
          </a:xfrm>
        </p:grpSpPr>
        <p:sp>
          <p:nvSpPr>
            <p:cNvPr id="7" name="object 7"/>
            <p:cNvSpPr/>
            <p:nvPr/>
          </p:nvSpPr>
          <p:spPr>
            <a:xfrm>
              <a:off x="1405128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46634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6344" y="216408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5128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0" y="216408"/>
                  </a:moveTo>
                  <a:lnTo>
                    <a:pt x="466344" y="216408"/>
                  </a:lnTo>
                  <a:lnTo>
                    <a:pt x="466344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8048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469392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9392" y="216408"/>
                  </a:lnTo>
                  <a:lnTo>
                    <a:pt x="469392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08048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0" y="216408"/>
                  </a:moveTo>
                  <a:lnTo>
                    <a:pt x="469392" y="216408"/>
                  </a:lnTo>
                  <a:lnTo>
                    <a:pt x="469392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4016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46634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6344" y="216408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4016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0" y="216408"/>
                  </a:moveTo>
                  <a:lnTo>
                    <a:pt x="466344" y="216408"/>
                  </a:lnTo>
                  <a:lnTo>
                    <a:pt x="466344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16936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469391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9391" y="216408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16936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0" y="216408"/>
                  </a:moveTo>
                  <a:lnTo>
                    <a:pt x="469391" y="216408"/>
                  </a:lnTo>
                  <a:lnTo>
                    <a:pt x="469391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22903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46634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6344" y="216408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22903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0" y="216408"/>
                  </a:moveTo>
                  <a:lnTo>
                    <a:pt x="466344" y="216408"/>
                  </a:lnTo>
                  <a:lnTo>
                    <a:pt x="466344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1919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469391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9391" y="216408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1919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0" y="216408"/>
                  </a:moveTo>
                  <a:lnTo>
                    <a:pt x="469391" y="216408"/>
                  </a:lnTo>
                  <a:lnTo>
                    <a:pt x="469391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43984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469391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9391" y="216408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43984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0" y="216408"/>
                  </a:moveTo>
                  <a:lnTo>
                    <a:pt x="469391" y="216408"/>
                  </a:lnTo>
                  <a:lnTo>
                    <a:pt x="469391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56047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466344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6344" y="216408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56047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0" y="216408"/>
                  </a:moveTo>
                  <a:lnTo>
                    <a:pt x="466344" y="216408"/>
                  </a:lnTo>
                  <a:lnTo>
                    <a:pt x="466344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68112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466343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6343" y="216408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68112" y="3224784"/>
              <a:ext cx="466725" cy="216535"/>
            </a:xfrm>
            <a:custGeom>
              <a:avLst/>
              <a:gdLst/>
              <a:ahLst/>
              <a:cxnLst/>
              <a:rect l="l" t="t" r="r" b="b"/>
              <a:pathLst>
                <a:path w="466725" h="216535">
                  <a:moveTo>
                    <a:pt x="0" y="216408"/>
                  </a:moveTo>
                  <a:lnTo>
                    <a:pt x="466343" y="216408"/>
                  </a:lnTo>
                  <a:lnTo>
                    <a:pt x="466343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77127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469391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469391" y="216408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77127" y="3224784"/>
              <a:ext cx="469900" cy="216535"/>
            </a:xfrm>
            <a:custGeom>
              <a:avLst/>
              <a:gdLst/>
              <a:ahLst/>
              <a:cxnLst/>
              <a:rect l="l" t="t" r="r" b="b"/>
              <a:pathLst>
                <a:path w="469900" h="216535">
                  <a:moveTo>
                    <a:pt x="0" y="216408"/>
                  </a:moveTo>
                  <a:lnTo>
                    <a:pt x="469391" y="216408"/>
                  </a:lnTo>
                  <a:lnTo>
                    <a:pt x="469391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24384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750405" y="2842239"/>
            <a:ext cx="281940" cy="283210"/>
            <a:chOff x="3750405" y="2842239"/>
            <a:chExt cx="281940" cy="28321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0405" y="2842239"/>
              <a:ext cx="281495" cy="2827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4091" y="2857500"/>
              <a:ext cx="216408" cy="21640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9519" y="2852928"/>
              <a:ext cx="225552" cy="22555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37794" y="936751"/>
            <a:ext cx="8037830" cy="537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9870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Descenso</a:t>
            </a:r>
            <a:r>
              <a:rPr sz="2000" b="1" spc="-2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del</a:t>
            </a:r>
            <a:r>
              <a:rPr sz="2000" b="1" spc="-65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Gradiente</a:t>
            </a:r>
            <a:r>
              <a:rPr sz="2000" b="1" spc="-5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Mini-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Batch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divide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entrenamiento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(“batch”)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(“mini-</a:t>
            </a:r>
            <a:endParaRPr sz="2000">
              <a:latin typeface="Arial MT"/>
              <a:cs typeface="Arial MT"/>
            </a:endParaRPr>
          </a:p>
          <a:p>
            <a:pPr marL="207645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batches”)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Arial MT"/>
              <a:cs typeface="Arial MT"/>
            </a:endParaRPr>
          </a:p>
          <a:p>
            <a:pPr marL="624459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Batch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600">
              <a:latin typeface="Arial MT"/>
              <a:cs typeface="Arial MT"/>
            </a:endParaRPr>
          </a:p>
          <a:p>
            <a:pPr marL="624459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Mini-batches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6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bucle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utiliza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cada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mini-batches</a:t>
            </a:r>
            <a:endParaRPr sz="20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45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En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actualización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 parámetros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 utiliza 1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mini-batch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(diferente)</a:t>
            </a:r>
            <a:endParaRPr sz="16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30"/>
              </a:spcBef>
              <a:buChar char="-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derivada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“aproximada”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(no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usa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todo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el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batch)</a:t>
            </a:r>
            <a:endParaRPr sz="16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34"/>
              </a:spcBef>
              <a:buChar char="-"/>
              <a:tabLst>
                <a:tab pos="386715" algn="l"/>
              </a:tabLst>
            </a:pP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tiempo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entrenamiento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Época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(“epoch”)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“pasada”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todos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(todos</a:t>
            </a:r>
            <a:r>
              <a:rPr sz="16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los</a:t>
            </a:r>
            <a:r>
              <a:rPr sz="16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mini-</a:t>
            </a:r>
            <a:endParaRPr sz="1600">
              <a:latin typeface="Arial MT"/>
              <a:cs typeface="Arial MT"/>
            </a:endParaRPr>
          </a:p>
          <a:p>
            <a:pPr marL="207645">
              <a:lnSpc>
                <a:spcPct val="100000"/>
              </a:lnSpc>
              <a:spcBef>
                <a:spcPts val="15"/>
              </a:spcBef>
            </a:pP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batches)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Algoritmos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Optimización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202" y="5987975"/>
            <a:ext cx="68897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5"/>
              </a:lnSpc>
            </a:pPr>
            <a:r>
              <a:rPr sz="1700" dirty="0">
                <a:latin typeface="Arial MT"/>
                <a:cs typeface="Arial MT"/>
              </a:rPr>
              <a:t>-</a:t>
            </a:r>
            <a:r>
              <a:rPr sz="1700" spc="21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QMH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37794" y="936751"/>
            <a:ext cx="5518150" cy="5005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0385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2092FA"/>
                </a:solidFill>
                <a:latin typeface="Arial"/>
                <a:cs typeface="Arial"/>
              </a:rPr>
              <a:t>Métodos</a:t>
            </a:r>
            <a:r>
              <a:rPr sz="2000" b="1" spc="-70" dirty="0">
                <a:solidFill>
                  <a:srgbClr val="2092F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092FA"/>
                </a:solidFill>
                <a:latin typeface="Arial"/>
                <a:cs typeface="Arial"/>
              </a:rPr>
              <a:t>Principales</a:t>
            </a:r>
            <a:endParaRPr sz="2000">
              <a:latin typeface="Arial"/>
              <a:cs typeface="Arial"/>
            </a:endParaRPr>
          </a:p>
          <a:p>
            <a:pPr marL="205740" indent="-193040">
              <a:lnSpc>
                <a:spcPct val="100000"/>
              </a:lnSpc>
              <a:spcBef>
                <a:spcPts val="2135"/>
              </a:spcBef>
              <a:buChar char="•"/>
              <a:tabLst>
                <a:tab pos="205740" algn="l"/>
              </a:tabLst>
            </a:pPr>
            <a:r>
              <a:rPr sz="2000" dirty="0">
                <a:latin typeface="Arial MT"/>
                <a:cs typeface="Arial MT"/>
              </a:rPr>
              <a:t>Son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modificaciones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descenso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gradiente</a:t>
            </a:r>
            <a:endParaRPr sz="2000">
              <a:latin typeface="Arial MT"/>
              <a:cs typeface="Arial MT"/>
            </a:endParaRPr>
          </a:p>
          <a:p>
            <a:pPr marL="205740" indent="-193040">
              <a:lnSpc>
                <a:spcPct val="100000"/>
              </a:lnSpc>
              <a:spcBef>
                <a:spcPts val="480"/>
              </a:spcBef>
              <a:buChar char="•"/>
              <a:tabLst>
                <a:tab pos="205740" algn="l"/>
              </a:tabLst>
            </a:pPr>
            <a:r>
              <a:rPr sz="2000" spc="-10" dirty="0">
                <a:latin typeface="Arial MT"/>
                <a:cs typeface="Arial MT"/>
              </a:rPr>
              <a:t>Métodos:</a:t>
            </a:r>
            <a:endParaRPr sz="20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20"/>
              </a:spcBef>
              <a:buChar char="-"/>
              <a:tabLst>
                <a:tab pos="387350" algn="l"/>
              </a:tabLst>
            </a:pPr>
            <a:r>
              <a:rPr sz="1700" dirty="0">
                <a:latin typeface="Arial MT"/>
                <a:cs typeface="Arial MT"/>
              </a:rPr>
              <a:t>Descenso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gradiente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momentum</a:t>
            </a:r>
            <a:endParaRPr sz="17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09"/>
              </a:spcBef>
              <a:buChar char="-"/>
              <a:tabLst>
                <a:tab pos="386715" algn="l"/>
              </a:tabLst>
            </a:pPr>
            <a:r>
              <a:rPr sz="1700" dirty="0">
                <a:latin typeface="Arial MT"/>
                <a:cs typeface="Arial MT"/>
              </a:rPr>
              <a:t>Gradiente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acelerado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Nesterov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Adagrad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RMSprop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dirty="0">
                <a:latin typeface="Arial MT"/>
                <a:cs typeface="Arial MT"/>
              </a:rPr>
              <a:t>Algoritmo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Adam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5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AdaMax</a:t>
            </a:r>
            <a:endParaRPr sz="17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09"/>
              </a:spcBef>
              <a:buChar char="-"/>
              <a:tabLst>
                <a:tab pos="386715" algn="l"/>
              </a:tabLst>
            </a:pPr>
            <a:r>
              <a:rPr sz="1700" spc="-10" dirty="0">
                <a:latin typeface="Arial MT"/>
                <a:cs typeface="Arial MT"/>
              </a:rPr>
              <a:t>Nadam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AMSGrad</a:t>
            </a:r>
            <a:endParaRPr sz="17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09"/>
              </a:spcBef>
              <a:buChar char="-"/>
              <a:tabLst>
                <a:tab pos="386715" algn="l"/>
              </a:tabLst>
            </a:pPr>
            <a:r>
              <a:rPr sz="1700" spc="-10" dirty="0">
                <a:latin typeface="Arial MT"/>
                <a:cs typeface="Arial MT"/>
              </a:rPr>
              <a:t>AdamW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QHAdam</a:t>
            </a:r>
            <a:endParaRPr sz="1700">
              <a:latin typeface="Arial MT"/>
              <a:cs typeface="Arial MT"/>
            </a:endParaRPr>
          </a:p>
          <a:p>
            <a:pPr marL="386715" lvl="1" indent="-158115">
              <a:lnSpc>
                <a:spcPct val="100000"/>
              </a:lnSpc>
              <a:spcBef>
                <a:spcPts val="405"/>
              </a:spcBef>
              <a:buChar char="-"/>
              <a:tabLst>
                <a:tab pos="386715" algn="l"/>
              </a:tabLst>
            </a:pPr>
            <a:r>
              <a:rPr sz="1700" spc="-10" dirty="0">
                <a:latin typeface="Arial MT"/>
                <a:cs typeface="Arial MT"/>
              </a:rPr>
              <a:t>AggMo</a:t>
            </a:r>
            <a:endParaRPr sz="1700">
              <a:latin typeface="Arial MT"/>
              <a:cs typeface="Arial MT"/>
            </a:endParaRPr>
          </a:p>
          <a:p>
            <a:pPr marL="387350" lvl="1" indent="-158750">
              <a:lnSpc>
                <a:spcPct val="100000"/>
              </a:lnSpc>
              <a:spcBef>
                <a:spcPts val="409"/>
              </a:spcBef>
              <a:buChar char="-"/>
              <a:tabLst>
                <a:tab pos="387350" algn="l"/>
              </a:tabLst>
            </a:pPr>
            <a:r>
              <a:rPr sz="1700" spc="-10" dirty="0">
                <a:latin typeface="Arial MT"/>
                <a:cs typeface="Arial MT"/>
              </a:rPr>
              <a:t>YellowFin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449</Words>
  <Application>Microsoft Office PowerPoint</Application>
  <PresentationFormat>Presentación en pantalla (4:3)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Redes Neuronales (II)</vt:lpstr>
      <vt:lpstr>Introducción</vt:lpstr>
      <vt:lpstr>Introducción</vt:lpstr>
      <vt:lpstr>Introducción</vt:lpstr>
      <vt:lpstr>Presentación de PowerPoint</vt:lpstr>
      <vt:lpstr>Regularización</vt:lpstr>
      <vt:lpstr>Regularización</vt:lpstr>
      <vt:lpstr>Regularización</vt:lpstr>
      <vt:lpstr>Algoritmos de Optimización</vt:lpstr>
      <vt:lpstr>Algoritmos de Optimización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1</cp:revision>
  <dcterms:created xsi:type="dcterms:W3CDTF">2025-04-14T02:01:31Z</dcterms:created>
  <dcterms:modified xsi:type="dcterms:W3CDTF">2025-04-14T02:06:57Z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2025-04-14T00:00:00Z</vt:filetime>
  </property>
  <property fmtid="{D5CDD505-2E9C-101B-9397-08002B2CF9AE}" pid="5" name="Producer">
    <vt:lpwstr>Microsoft® PowerPoint® 2016</vt:lpwstr>
  </property>
</Properties>
</file>